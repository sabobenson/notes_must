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7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04800"/>
            <a:ext cx="70104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52600" y="1524000"/>
            <a:ext cx="34290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0" y="1524000"/>
            <a:ext cx="34290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905000" y="64008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16413" y="6400800"/>
            <a:ext cx="2084387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391400" y="64008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0D833D4F-83CD-4F96-87B8-A86FC623743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04800"/>
            <a:ext cx="70104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52600" y="1524000"/>
            <a:ext cx="7010400" cy="45720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05000" y="64008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16413" y="6400800"/>
            <a:ext cx="2084387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91400" y="64008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1E733B46-093E-4D4E-B19A-D3C4A6E3972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www.jpeg.org/jpeg2000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ET 8403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85800"/>
          </a:xfrm>
        </p:spPr>
        <p:txBody>
          <a:bodyPr/>
          <a:lstStyle/>
          <a:p>
            <a:r>
              <a:rPr lang="en-GB" dirty="0" smtClean="0"/>
              <a:t>INFORMATION THEORY AND CODING</a:t>
            </a:r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600200" y="4800600"/>
            <a:ext cx="64008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3200" dirty="0" smtClean="0">
                <a:solidFill>
                  <a:schemeClr val="tx1">
                    <a:tint val="75000"/>
                  </a:schemeClr>
                </a:solidFill>
              </a:rPr>
              <a:t>Dr. </a:t>
            </a:r>
            <a:r>
              <a:rPr lang="en-GB" sz="3200" dirty="0" err="1" smtClean="0">
                <a:solidFill>
                  <a:schemeClr val="tx1">
                    <a:tint val="75000"/>
                  </a:schemeClr>
                </a:solidFill>
              </a:rPr>
              <a:t>Joseph.S.Salawa</a:t>
            </a:r>
            <a:endParaRPr lang="en-GB" sz="3200" dirty="0" smtClean="0">
              <a:solidFill>
                <a:schemeClr val="tx1">
                  <a:tint val="75000"/>
                </a:scheme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0754556575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GB" dirty="0" smtClean="0"/>
              <a:t>What is Information Theory?</a:t>
            </a:r>
          </a:p>
          <a:p>
            <a:pPr algn="just"/>
            <a:r>
              <a:rPr lang="en-GB" dirty="0" smtClean="0"/>
              <a:t>IT is a branch of math (a strictly deductive system). (C. Shannon)</a:t>
            </a:r>
          </a:p>
          <a:p>
            <a:pPr algn="just"/>
            <a:r>
              <a:rPr lang="en-GB" dirty="0" smtClean="0"/>
              <a:t>General statistical concept of communication. (N. Wiener, What is IT?)</a:t>
            </a:r>
          </a:p>
          <a:p>
            <a:pPr algn="just"/>
            <a:r>
              <a:rPr lang="en-GB" dirty="0" smtClean="0"/>
              <a:t>It was build upon the work of Shannon (1948)</a:t>
            </a:r>
          </a:p>
          <a:p>
            <a:pPr algn="just"/>
            <a:r>
              <a:rPr lang="en-GB" dirty="0" smtClean="0"/>
              <a:t>It answers to two fundamental questions in Communications Theory:</a:t>
            </a:r>
          </a:p>
          <a:p>
            <a:pPr algn="just"/>
            <a:r>
              <a:rPr lang="en-GB" dirty="0" smtClean="0"/>
              <a:t>What is the fundamental limit for information compression?</a:t>
            </a:r>
          </a:p>
          <a:p>
            <a:pPr algn="just"/>
            <a:r>
              <a:rPr lang="en-GB" dirty="0" smtClean="0"/>
              <a:t>What is the fundamental limit on information transmission rate over a communications channel?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Digital Communications Systems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fundamental problem of communication is that of reproducing at one point either exactly or approximately a message selected at another point. (Claude Shannon: A Mathematical Theory of Communications, 1948)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 smtClean="0"/>
              <a:t>Source</a:t>
            </a:r>
          </a:p>
          <a:p>
            <a:pPr algn="just"/>
            <a:r>
              <a:rPr lang="en-GB" dirty="0" smtClean="0"/>
              <a:t>Source Coder: Convert an analog or digital source into bits.</a:t>
            </a:r>
          </a:p>
          <a:p>
            <a:pPr algn="just"/>
            <a:r>
              <a:rPr lang="en-GB" dirty="0" smtClean="0"/>
              <a:t>Channel Coder: Protection against errors/erasures in the channel.</a:t>
            </a:r>
          </a:p>
          <a:p>
            <a:pPr algn="just"/>
            <a:r>
              <a:rPr lang="en-GB" dirty="0" smtClean="0"/>
              <a:t>Modulator: Each binary sequence is assigned to a waveform</a:t>
            </a:r>
          </a:p>
          <a:p>
            <a:pPr algn="just"/>
            <a:r>
              <a:rPr lang="en-GB" dirty="0" smtClean="0"/>
              <a:t>Channel: Physical Medium to send information from transmitter to receiver. Source of randomness.</a:t>
            </a:r>
          </a:p>
          <a:p>
            <a:pPr algn="just"/>
            <a:r>
              <a:rPr lang="en-GB" dirty="0" smtClean="0"/>
              <a:t>Demodulator, Channel Decoder, Source Decoder, Sink.</a:t>
            </a:r>
          </a:p>
          <a:p>
            <a:pPr algn="just"/>
            <a:r>
              <a:rPr lang="en-GB" dirty="0" smtClean="0"/>
              <a:t>Modulator + Channel = Discrete Channel.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71475"/>
            <a:ext cx="7010400" cy="771525"/>
          </a:xfrm>
        </p:spPr>
        <p:txBody>
          <a:bodyPr>
            <a:normAutofit fontScale="90000"/>
          </a:bodyPr>
          <a:lstStyle/>
          <a:p>
            <a:r>
              <a:rPr lang="en-US" altLang="ja-JP" sz="3600">
                <a:ea typeface="ＭＳ Ｐゴシック" pitchFamily="34" charset="-128"/>
              </a:rPr>
              <a:t>Model of a Digital Communication System</a:t>
            </a:r>
            <a:endParaRPr lang="en-GB" sz="3600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 flipH="1">
            <a:off x="2414588" y="4903788"/>
            <a:ext cx="4176712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2414588" y="3103563"/>
            <a:ext cx="41751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685800" y="4471988"/>
            <a:ext cx="1728788" cy="792162"/>
          </a:xfrm>
          <a:prstGeom prst="rect">
            <a:avLst/>
          </a:prstGeom>
          <a:solidFill>
            <a:srgbClr val="66FF3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400">
                <a:latin typeface="Times New Roman" pitchFamily="18" charset="0"/>
                <a:ea typeface="ＭＳ Ｐゴシック" pitchFamily="34" charset="-128"/>
              </a:rPr>
              <a:t>Destination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3062288" y="4471988"/>
            <a:ext cx="1728787" cy="792162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400">
                <a:latin typeface="Times New Roman" pitchFamily="18" charset="0"/>
                <a:ea typeface="ＭＳ Ｐゴシック" pitchFamily="34" charset="-128"/>
              </a:rPr>
              <a:t>Decoding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5726113" y="3679825"/>
            <a:ext cx="1728787" cy="792163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000">
                <a:latin typeface="Times New Roman" pitchFamily="18" charset="0"/>
                <a:ea typeface="ＭＳ Ｐゴシック" pitchFamily="34" charset="-128"/>
              </a:rPr>
              <a:t>Communication</a:t>
            </a:r>
          </a:p>
          <a:p>
            <a:pPr algn="ctr">
              <a:spcBef>
                <a:spcPct val="20000"/>
              </a:spcBef>
            </a:pPr>
            <a:r>
              <a:rPr lang="en-US" altLang="ja-JP" sz="2000">
                <a:latin typeface="Times New Roman" pitchFamily="18" charset="0"/>
                <a:ea typeface="ＭＳ Ｐゴシック" pitchFamily="34" charset="-128"/>
              </a:rPr>
              <a:t>Channel</a:t>
            </a:r>
            <a:endParaRPr lang="en-GB" altLang="ja-JP" sz="20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3062288" y="2743200"/>
            <a:ext cx="1728787" cy="792163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400">
                <a:latin typeface="Times New Roman" pitchFamily="18" charset="0"/>
                <a:ea typeface="ＭＳ Ｐゴシック" pitchFamily="34" charset="-128"/>
              </a:rPr>
              <a:t>Coding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85800" y="2743200"/>
            <a:ext cx="1728788" cy="792163"/>
          </a:xfrm>
          <a:prstGeom prst="rect">
            <a:avLst/>
          </a:prstGeom>
          <a:solidFill>
            <a:srgbClr val="66FF3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000">
                <a:latin typeface="Times New Roman" pitchFamily="18" charset="0"/>
                <a:ea typeface="ＭＳ Ｐゴシック" pitchFamily="34" charset="-128"/>
              </a:rPr>
              <a:t>Information</a:t>
            </a:r>
          </a:p>
          <a:p>
            <a:pPr algn="ctr">
              <a:spcBef>
                <a:spcPct val="20000"/>
              </a:spcBef>
            </a:pPr>
            <a:r>
              <a:rPr lang="en-US" altLang="ja-JP" sz="2000">
                <a:latin typeface="Times New Roman" pitchFamily="18" charset="0"/>
                <a:ea typeface="ＭＳ Ｐゴシック" pitchFamily="34" charset="-128"/>
              </a:rPr>
              <a:t>Source</a:t>
            </a:r>
            <a:endParaRPr lang="en-GB" altLang="ja-JP" sz="20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6589713" y="3103563"/>
            <a:ext cx="1587" cy="5762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6591300" y="4471988"/>
            <a:ext cx="0" cy="431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2630488" y="252730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 flipH="1" flipV="1">
            <a:off x="7094538" y="4471988"/>
            <a:ext cx="7143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4789488" y="2384425"/>
            <a:ext cx="576262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V="1">
            <a:off x="4214813" y="526415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1765300" y="1879600"/>
            <a:ext cx="2160588" cy="6477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i="1">
                <a:solidFill>
                  <a:srgbClr val="990000"/>
                </a:solidFill>
                <a:latin typeface="Times New Roman" pitchFamily="18" charset="0"/>
                <a:ea typeface="ＭＳ Ｐゴシック" pitchFamily="34" charset="-128"/>
              </a:rPr>
              <a:t>Message</a:t>
            </a:r>
          </a:p>
          <a:p>
            <a:pPr algn="ctr">
              <a:spcBef>
                <a:spcPct val="20000"/>
              </a:spcBef>
            </a:pPr>
            <a:r>
              <a:rPr lang="en-US" altLang="ja-JP">
                <a:latin typeface="Times New Roman" pitchFamily="18" charset="0"/>
                <a:ea typeface="ＭＳ Ｐゴシック" pitchFamily="34" charset="-128"/>
              </a:rPr>
              <a:t>e.g. English symbols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5365750" y="1879600"/>
            <a:ext cx="2736850" cy="79216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>
                <a:solidFill>
                  <a:srgbClr val="990000"/>
                </a:solidFill>
                <a:latin typeface="Times New Roman" pitchFamily="18" charset="0"/>
                <a:ea typeface="ＭＳ Ｐゴシック" pitchFamily="34" charset="-128"/>
              </a:rPr>
              <a:t>Encoder</a:t>
            </a:r>
          </a:p>
          <a:p>
            <a:pPr algn="ctr">
              <a:spcBef>
                <a:spcPct val="20000"/>
              </a:spcBef>
            </a:pPr>
            <a:r>
              <a:rPr lang="en-US" altLang="ja-JP">
                <a:latin typeface="Times New Roman" pitchFamily="18" charset="0"/>
                <a:ea typeface="ＭＳ Ｐゴシック" pitchFamily="34" charset="-128"/>
              </a:rPr>
              <a:t>e.g. English to 0,1 sequence</a:t>
            </a:r>
            <a:endParaRPr lang="en-GB" altLang="ja-JP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6518275" y="5335588"/>
            <a:ext cx="1512888" cy="720725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>
                <a:latin typeface="Times New Roman" pitchFamily="18" charset="0"/>
                <a:ea typeface="ＭＳ Ｐゴシック" pitchFamily="34" charset="-128"/>
              </a:rPr>
              <a:t>Can have noise</a:t>
            </a:r>
          </a:p>
          <a:p>
            <a:pPr algn="ctr">
              <a:spcBef>
                <a:spcPct val="20000"/>
              </a:spcBef>
            </a:pPr>
            <a:r>
              <a:rPr lang="en-US" altLang="ja-JP">
                <a:latin typeface="Times New Roman" pitchFamily="18" charset="0"/>
                <a:ea typeface="ＭＳ Ｐゴシック" pitchFamily="34" charset="-128"/>
              </a:rPr>
              <a:t>or distortion</a:t>
            </a:r>
            <a:endParaRPr lang="en-GB" altLang="ja-JP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87" name="Rectangle 19"/>
          <p:cNvSpPr>
            <a:spLocks noChangeArrowheads="1"/>
          </p:cNvSpPr>
          <p:nvPr/>
        </p:nvSpPr>
        <p:spPr bwMode="auto">
          <a:xfrm>
            <a:off x="2917825" y="5840413"/>
            <a:ext cx="2736850" cy="71913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>
                <a:solidFill>
                  <a:srgbClr val="990000"/>
                </a:solidFill>
                <a:latin typeface="Times New Roman" pitchFamily="18" charset="0"/>
                <a:ea typeface="ＭＳ Ｐゴシック" pitchFamily="34" charset="-128"/>
              </a:rPr>
              <a:t>Decoder</a:t>
            </a:r>
          </a:p>
          <a:p>
            <a:pPr algn="ctr">
              <a:spcBef>
                <a:spcPct val="20000"/>
              </a:spcBef>
            </a:pPr>
            <a:r>
              <a:rPr lang="en-US" altLang="ja-JP">
                <a:latin typeface="Times New Roman" pitchFamily="18" charset="0"/>
                <a:ea typeface="ＭＳ Ｐゴシック" pitchFamily="34" charset="-128"/>
              </a:rPr>
              <a:t>e.g. 0,1 sequence to English</a:t>
            </a:r>
            <a:endParaRPr lang="en-GB" altLang="ja-JP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6589713" y="3103563"/>
            <a:ext cx="1587" cy="5762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89" name="AutoShape 21"/>
          <p:cNvSpPr>
            <a:spLocks noChangeArrowheads="1"/>
          </p:cNvSpPr>
          <p:nvPr/>
        </p:nvSpPr>
        <p:spPr bwMode="auto">
          <a:xfrm>
            <a:off x="2414588" y="2959100"/>
            <a:ext cx="647700" cy="288925"/>
          </a:xfrm>
          <a:prstGeom prst="rightArrow">
            <a:avLst>
              <a:gd name="adj1" fmla="val 50000"/>
              <a:gd name="adj2" fmla="val 56044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0" name="AutoShape 22"/>
          <p:cNvSpPr>
            <a:spLocks noChangeArrowheads="1"/>
          </p:cNvSpPr>
          <p:nvPr/>
        </p:nvSpPr>
        <p:spPr bwMode="auto">
          <a:xfrm>
            <a:off x="4789488" y="4759325"/>
            <a:ext cx="1800225" cy="288925"/>
          </a:xfrm>
          <a:prstGeom prst="leftArrow">
            <a:avLst>
              <a:gd name="adj1" fmla="val 50000"/>
              <a:gd name="adj2" fmla="val 155769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>
            <a:off x="6589713" y="4471988"/>
            <a:ext cx="0" cy="503237"/>
          </a:xfrm>
          <a:prstGeom prst="line">
            <a:avLst/>
          </a:prstGeom>
          <a:noFill/>
          <a:ln w="1016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>
            <a:off x="4789488" y="3103563"/>
            <a:ext cx="1873250" cy="0"/>
          </a:xfrm>
          <a:prstGeom prst="line">
            <a:avLst/>
          </a:prstGeom>
          <a:noFill/>
          <a:ln w="1016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3" name="AutoShape 25"/>
          <p:cNvSpPr>
            <a:spLocks noChangeArrowheads="1"/>
          </p:cNvSpPr>
          <p:nvPr/>
        </p:nvSpPr>
        <p:spPr bwMode="auto">
          <a:xfrm>
            <a:off x="6446838" y="3103563"/>
            <a:ext cx="287337" cy="576262"/>
          </a:xfrm>
          <a:prstGeom prst="downArrow">
            <a:avLst>
              <a:gd name="adj1" fmla="val 50000"/>
              <a:gd name="adj2" fmla="val 50138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794" name="AutoShape 26"/>
          <p:cNvSpPr>
            <a:spLocks noChangeArrowheads="1"/>
          </p:cNvSpPr>
          <p:nvPr/>
        </p:nvSpPr>
        <p:spPr bwMode="auto">
          <a:xfrm>
            <a:off x="2414588" y="4759325"/>
            <a:ext cx="647700" cy="287338"/>
          </a:xfrm>
          <a:prstGeom prst="leftArrow">
            <a:avLst>
              <a:gd name="adj1" fmla="val 50000"/>
              <a:gd name="adj2" fmla="val 56353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nimBg="1"/>
      <p:bldP spid="32772" grpId="0" animBg="1"/>
      <p:bldP spid="32773" grpId="0" animBg="1" autoUpdateAnimBg="0"/>
      <p:bldP spid="32774" grpId="0" animBg="1" autoUpdateAnimBg="0"/>
      <p:bldP spid="32775" grpId="0" animBg="1" autoUpdateAnimBg="0"/>
      <p:bldP spid="32776" grpId="0" animBg="1" autoUpdateAnimBg="0"/>
      <p:bldP spid="32777" grpId="0" animBg="1" autoUpdateAnimBg="0"/>
      <p:bldP spid="32778" grpId="0" animBg="1"/>
      <p:bldP spid="32779" grpId="0" animBg="1"/>
      <p:bldP spid="32780" grpId="0" animBg="1"/>
      <p:bldP spid="32781" grpId="0" animBg="1"/>
      <p:bldP spid="32782" grpId="0" animBg="1"/>
      <p:bldP spid="32783" grpId="0" animBg="1"/>
      <p:bldP spid="32784" grpId="0" animBg="1" autoUpdateAnimBg="0"/>
      <p:bldP spid="32785" grpId="0" animBg="1" autoUpdateAnimBg="0"/>
      <p:bldP spid="32786" grpId="0" animBg="1" autoUpdateAnimBg="0"/>
      <p:bldP spid="32787" grpId="0" animBg="1" autoUpdateAnimBg="0"/>
      <p:bldP spid="32788" grpId="0" animBg="1"/>
      <p:bldP spid="32789" grpId="0" animBg="1"/>
      <p:bldP spid="32790" grpId="0" animBg="1"/>
      <p:bldP spid="32791" grpId="0" animBg="1"/>
      <p:bldP spid="32792" grpId="0" animBg="1"/>
      <p:bldP spid="32793" grpId="0" animBg="1"/>
      <p:bldP spid="3279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/>
              <a:t>Communication Channel Includes</a:t>
            </a: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2209800"/>
            <a:ext cx="1676400" cy="125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 descr="D-Link%20DI-713P%20Wireless%20Broadband%20rout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2209800"/>
            <a:ext cx="1752600" cy="1241425"/>
          </a:xfrm>
          <a:prstGeom prst="rect">
            <a:avLst/>
          </a:prstGeom>
          <a:noFill/>
        </p:spPr>
      </p:pic>
      <p:pic>
        <p:nvPicPr>
          <p:cNvPr id="39942" name="Picture 6" descr="c_ml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7400" y="4267200"/>
            <a:ext cx="1981200" cy="1485900"/>
          </a:xfrm>
          <a:prstGeom prst="rect">
            <a:avLst/>
          </a:prstGeom>
          <a:noFill/>
        </p:spPr>
      </p:pic>
      <p:pic>
        <p:nvPicPr>
          <p:cNvPr id="39943" name="Picture 7" descr="catalogm_19903669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4495800"/>
            <a:ext cx="1752600" cy="1311275"/>
          </a:xfrm>
          <a:prstGeom prst="rect">
            <a:avLst/>
          </a:prstGeom>
          <a:noFill/>
        </p:spPr>
      </p:pic>
      <p:pic>
        <p:nvPicPr>
          <p:cNvPr id="39944" name="Picture 8" descr="catalog_m_t199135035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43400" y="2133600"/>
            <a:ext cx="1752600" cy="1752600"/>
          </a:xfrm>
          <a:prstGeom prst="rect">
            <a:avLst/>
          </a:prstGeom>
          <a:noFill/>
        </p:spPr>
      </p:pic>
      <p:pic>
        <p:nvPicPr>
          <p:cNvPr id="39945" name="Picture 9" descr="Ocean Optics Optical Fiber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81800" y="4114800"/>
            <a:ext cx="1741488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334000" cy="1828800"/>
          </a:xfrm>
        </p:spPr>
        <p:txBody>
          <a:bodyPr/>
          <a:lstStyle/>
          <a:p>
            <a:r>
              <a:rPr lang="en-US" altLang="zh-TW"/>
              <a:t>Shannon’s Definition of Communication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676400" y="2667000"/>
            <a:ext cx="72390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TW" sz="2800" b="1"/>
              <a:t>“The fundamental problem of communication is that of reproducing at one point either exactly or approximately a message selected at  another point.”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1676400" y="4768850"/>
            <a:ext cx="6761163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>
                <a:solidFill>
                  <a:srgbClr val="FF3300"/>
                </a:solidFill>
              </a:rPr>
              <a:t>“Frequently the messages have </a:t>
            </a:r>
            <a:r>
              <a:rPr lang="en-US" altLang="zh-TW" sz="2800" i="1">
                <a:solidFill>
                  <a:srgbClr val="FF3300"/>
                </a:solidFill>
              </a:rPr>
              <a:t>meaning”</a:t>
            </a:r>
            <a:endParaRPr lang="en-US" altLang="zh-TW" sz="2800">
              <a:solidFill>
                <a:srgbClr val="FF3300"/>
              </a:solidFill>
            </a:endParaRPr>
          </a:p>
          <a:p>
            <a:endParaRPr lang="en-US" altLang="zh-TW">
              <a:solidFill>
                <a:srgbClr val="FF3300"/>
              </a:solidFill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914400" y="5957888"/>
            <a:ext cx="8283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>
                <a:solidFill>
                  <a:srgbClr val="FF3300"/>
                </a:solidFill>
              </a:rPr>
              <a:t>“... [which is] irrelevant to the engineering problem.”</a:t>
            </a:r>
          </a:p>
        </p:txBody>
      </p:sp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600" y="381000"/>
            <a:ext cx="1774825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30725" grpId="0"/>
      <p:bldP spid="307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010400" cy="838200"/>
          </a:xfrm>
        </p:spPr>
        <p:txBody>
          <a:bodyPr/>
          <a:lstStyle/>
          <a:p>
            <a:r>
              <a:rPr lang="en-US" altLang="zh-TW"/>
              <a:t>Shannon Wants to…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/>
              <a:t>Shannon wants to find a way for “</a:t>
            </a:r>
            <a:r>
              <a:rPr lang="en-US" altLang="zh-TW" sz="2800" b="1" dirty="0">
                <a:solidFill>
                  <a:srgbClr val="FF3300"/>
                </a:solidFill>
              </a:rPr>
              <a:t>reliably</a:t>
            </a:r>
            <a:r>
              <a:rPr lang="en-US" altLang="zh-TW" sz="2400" dirty="0"/>
              <a:t>”  transmitting data throughout the channel at “</a:t>
            </a:r>
            <a:r>
              <a:rPr lang="en-US" altLang="zh-TW" sz="2800" b="1" dirty="0">
                <a:solidFill>
                  <a:srgbClr val="FF3300"/>
                </a:solidFill>
              </a:rPr>
              <a:t>maximal</a:t>
            </a:r>
            <a:r>
              <a:rPr lang="en-US" altLang="zh-TW" sz="2400" dirty="0"/>
              <a:t>” possible rate. </a:t>
            </a:r>
          </a:p>
        </p:txBody>
      </p:sp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3962400" y="2895600"/>
            <a:ext cx="5181600" cy="3810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4343400" y="5867400"/>
            <a:ext cx="46212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2400"/>
              <a:t>For example, maximizing the speed of ADSL @ your home</a:t>
            </a:r>
          </a:p>
        </p:txBody>
      </p:sp>
      <p:sp>
        <p:nvSpPr>
          <p:cNvPr id="35880" name="Line 40"/>
          <p:cNvSpPr>
            <a:spLocks noChangeShapeType="1"/>
          </p:cNvSpPr>
          <p:nvPr/>
        </p:nvSpPr>
        <p:spPr bwMode="auto">
          <a:xfrm flipH="1">
            <a:off x="3679825" y="5360988"/>
            <a:ext cx="417671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5881" name="Line 41"/>
          <p:cNvSpPr>
            <a:spLocks noChangeShapeType="1"/>
          </p:cNvSpPr>
          <p:nvPr/>
        </p:nvSpPr>
        <p:spPr bwMode="auto">
          <a:xfrm>
            <a:off x="3679825" y="3560763"/>
            <a:ext cx="41751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5882" name="Rectangle 42"/>
          <p:cNvSpPr>
            <a:spLocks noChangeArrowheads="1"/>
          </p:cNvSpPr>
          <p:nvPr/>
        </p:nvSpPr>
        <p:spPr bwMode="auto">
          <a:xfrm>
            <a:off x="1951038" y="4929188"/>
            <a:ext cx="1728787" cy="792162"/>
          </a:xfrm>
          <a:prstGeom prst="rect">
            <a:avLst/>
          </a:prstGeom>
          <a:solidFill>
            <a:srgbClr val="66FF3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400">
                <a:latin typeface="Times New Roman" pitchFamily="18" charset="0"/>
                <a:ea typeface="ＭＳ Ｐゴシック" pitchFamily="34" charset="-128"/>
              </a:rPr>
              <a:t>Destination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5883" name="Rectangle 43"/>
          <p:cNvSpPr>
            <a:spLocks noChangeArrowheads="1"/>
          </p:cNvSpPr>
          <p:nvPr/>
        </p:nvSpPr>
        <p:spPr bwMode="auto">
          <a:xfrm>
            <a:off x="4327525" y="4929188"/>
            <a:ext cx="1728788" cy="792162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400">
                <a:latin typeface="Times New Roman" pitchFamily="18" charset="0"/>
                <a:ea typeface="ＭＳ Ｐゴシック" pitchFamily="34" charset="-128"/>
              </a:rPr>
              <a:t>Decoding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5884" name="Rectangle 44"/>
          <p:cNvSpPr>
            <a:spLocks noChangeArrowheads="1"/>
          </p:cNvSpPr>
          <p:nvPr/>
        </p:nvSpPr>
        <p:spPr bwMode="auto">
          <a:xfrm>
            <a:off x="6991350" y="4137025"/>
            <a:ext cx="1728788" cy="792163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000">
                <a:latin typeface="Times New Roman" pitchFamily="18" charset="0"/>
                <a:ea typeface="ＭＳ Ｐゴシック" pitchFamily="34" charset="-128"/>
              </a:rPr>
              <a:t>Communication</a:t>
            </a:r>
          </a:p>
          <a:p>
            <a:pPr algn="ctr">
              <a:spcBef>
                <a:spcPct val="20000"/>
              </a:spcBef>
            </a:pPr>
            <a:r>
              <a:rPr lang="en-US" altLang="ja-JP" sz="2000">
                <a:latin typeface="Times New Roman" pitchFamily="18" charset="0"/>
                <a:ea typeface="ＭＳ Ｐゴシック" pitchFamily="34" charset="-128"/>
              </a:rPr>
              <a:t>Channel</a:t>
            </a:r>
            <a:endParaRPr lang="en-GB" altLang="ja-JP" sz="20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5885" name="Rectangle 45"/>
          <p:cNvSpPr>
            <a:spLocks noChangeArrowheads="1"/>
          </p:cNvSpPr>
          <p:nvPr/>
        </p:nvSpPr>
        <p:spPr bwMode="auto">
          <a:xfrm>
            <a:off x="4327525" y="3200400"/>
            <a:ext cx="1728788" cy="792163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400">
                <a:latin typeface="Times New Roman" pitchFamily="18" charset="0"/>
                <a:ea typeface="ＭＳ Ｐゴシック" pitchFamily="34" charset="-128"/>
              </a:rPr>
              <a:t>Coding</a:t>
            </a:r>
            <a:endParaRPr lang="en-GB" altLang="ja-JP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5886" name="Rectangle 46"/>
          <p:cNvSpPr>
            <a:spLocks noChangeArrowheads="1"/>
          </p:cNvSpPr>
          <p:nvPr/>
        </p:nvSpPr>
        <p:spPr bwMode="auto">
          <a:xfrm>
            <a:off x="1951038" y="3200400"/>
            <a:ext cx="1728787" cy="792163"/>
          </a:xfrm>
          <a:prstGeom prst="rect">
            <a:avLst/>
          </a:prstGeom>
          <a:solidFill>
            <a:srgbClr val="66FF3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ja-JP" sz="2000" dirty="0">
                <a:latin typeface="Times New Roman" pitchFamily="18" charset="0"/>
                <a:ea typeface="ＭＳ Ｐゴシック" pitchFamily="34" charset="-128"/>
              </a:rPr>
              <a:t>Information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latin typeface="Times New Roman" pitchFamily="18" charset="0"/>
                <a:ea typeface="ＭＳ Ｐゴシック" pitchFamily="34" charset="-128"/>
              </a:rPr>
              <a:t>Source</a:t>
            </a:r>
            <a:endParaRPr lang="en-GB" altLang="ja-JP" sz="2000" dirty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5887" name="Line 47"/>
          <p:cNvSpPr>
            <a:spLocks noChangeShapeType="1"/>
          </p:cNvSpPr>
          <p:nvPr/>
        </p:nvSpPr>
        <p:spPr bwMode="auto">
          <a:xfrm>
            <a:off x="7854950" y="3560763"/>
            <a:ext cx="1588" cy="5762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5888" name="Line 48"/>
          <p:cNvSpPr>
            <a:spLocks noChangeShapeType="1"/>
          </p:cNvSpPr>
          <p:nvPr/>
        </p:nvSpPr>
        <p:spPr bwMode="auto">
          <a:xfrm>
            <a:off x="7856538" y="4929188"/>
            <a:ext cx="0" cy="431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5894" name="Line 54"/>
          <p:cNvSpPr>
            <a:spLocks noChangeShapeType="1"/>
          </p:cNvSpPr>
          <p:nvPr/>
        </p:nvSpPr>
        <p:spPr bwMode="auto">
          <a:xfrm>
            <a:off x="7854950" y="3560763"/>
            <a:ext cx="1588" cy="5762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5895" name="AutoShape 55"/>
          <p:cNvSpPr>
            <a:spLocks noChangeArrowheads="1"/>
          </p:cNvSpPr>
          <p:nvPr/>
        </p:nvSpPr>
        <p:spPr bwMode="auto">
          <a:xfrm>
            <a:off x="3679825" y="3416300"/>
            <a:ext cx="647700" cy="288925"/>
          </a:xfrm>
          <a:prstGeom prst="rightArrow">
            <a:avLst>
              <a:gd name="adj1" fmla="val 50000"/>
              <a:gd name="adj2" fmla="val 56044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896" name="AutoShape 56"/>
          <p:cNvSpPr>
            <a:spLocks noChangeArrowheads="1"/>
          </p:cNvSpPr>
          <p:nvPr/>
        </p:nvSpPr>
        <p:spPr bwMode="auto">
          <a:xfrm>
            <a:off x="6054725" y="5216525"/>
            <a:ext cx="1800225" cy="288925"/>
          </a:xfrm>
          <a:prstGeom prst="leftArrow">
            <a:avLst>
              <a:gd name="adj1" fmla="val 50000"/>
              <a:gd name="adj2" fmla="val 155769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897" name="Line 57"/>
          <p:cNvSpPr>
            <a:spLocks noChangeShapeType="1"/>
          </p:cNvSpPr>
          <p:nvPr/>
        </p:nvSpPr>
        <p:spPr bwMode="auto">
          <a:xfrm>
            <a:off x="7854950" y="4929188"/>
            <a:ext cx="0" cy="503237"/>
          </a:xfrm>
          <a:prstGeom prst="line">
            <a:avLst/>
          </a:prstGeom>
          <a:noFill/>
          <a:ln w="1016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35898" name="Line 58"/>
          <p:cNvSpPr>
            <a:spLocks noChangeShapeType="1"/>
          </p:cNvSpPr>
          <p:nvPr/>
        </p:nvSpPr>
        <p:spPr bwMode="auto">
          <a:xfrm>
            <a:off x="6054725" y="3560763"/>
            <a:ext cx="1873250" cy="0"/>
          </a:xfrm>
          <a:prstGeom prst="line">
            <a:avLst/>
          </a:prstGeom>
          <a:noFill/>
          <a:ln w="1016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899" name="AutoShape 59"/>
          <p:cNvSpPr>
            <a:spLocks noChangeArrowheads="1"/>
          </p:cNvSpPr>
          <p:nvPr/>
        </p:nvSpPr>
        <p:spPr bwMode="auto">
          <a:xfrm>
            <a:off x="7712075" y="3560763"/>
            <a:ext cx="287338" cy="576262"/>
          </a:xfrm>
          <a:prstGeom prst="downArrow">
            <a:avLst>
              <a:gd name="adj1" fmla="val 50000"/>
              <a:gd name="adj2" fmla="val 50138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900" name="AutoShape 60"/>
          <p:cNvSpPr>
            <a:spLocks noChangeArrowheads="1"/>
          </p:cNvSpPr>
          <p:nvPr/>
        </p:nvSpPr>
        <p:spPr bwMode="auto">
          <a:xfrm>
            <a:off x="3679825" y="5216525"/>
            <a:ext cx="647700" cy="287338"/>
          </a:xfrm>
          <a:prstGeom prst="leftArrow">
            <a:avLst>
              <a:gd name="adj1" fmla="val 50000"/>
              <a:gd name="adj2" fmla="val 56353"/>
            </a:avLst>
          </a:prstGeom>
          <a:solidFill>
            <a:schemeClr val="tx1"/>
          </a:solidFill>
          <a:ln w="508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Shannon’s Vision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533400" y="2667000"/>
            <a:ext cx="1471613" cy="1116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Data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998788" y="2667000"/>
            <a:ext cx="1493837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Source</a:t>
            </a:r>
          </a:p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Encoding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7581900" y="3467100"/>
            <a:ext cx="1562100" cy="9826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998788" y="4029075"/>
            <a:ext cx="1493837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Source Decoding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533400" y="4029075"/>
            <a:ext cx="1471613" cy="1116013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User</a:t>
            </a:r>
          </a:p>
        </p:txBody>
      </p:sp>
      <p:cxnSp>
        <p:nvCxnSpPr>
          <p:cNvPr id="21512" name="AutoShape 8"/>
          <p:cNvCxnSpPr>
            <a:cxnSpLocks noChangeShapeType="1"/>
            <a:stCxn id="21517" idx="3"/>
            <a:endCxn id="21509" idx="0"/>
          </p:cNvCxnSpPr>
          <p:nvPr/>
        </p:nvCxnSpPr>
        <p:spPr bwMode="auto">
          <a:xfrm>
            <a:off x="6980238" y="3225800"/>
            <a:ext cx="1382712" cy="241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1513" name="AutoShape 9"/>
          <p:cNvCxnSpPr>
            <a:cxnSpLocks noChangeShapeType="1"/>
            <a:stCxn id="21509" idx="2"/>
            <a:endCxn id="21518" idx="3"/>
          </p:cNvCxnSpPr>
          <p:nvPr/>
        </p:nvCxnSpPr>
        <p:spPr bwMode="auto">
          <a:xfrm rot="5400000">
            <a:off x="7602538" y="3827463"/>
            <a:ext cx="138112" cy="138271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1514" name="AutoShape 10"/>
          <p:cNvCxnSpPr>
            <a:cxnSpLocks noChangeShapeType="1"/>
            <a:stCxn id="21507" idx="3"/>
            <a:endCxn id="21508" idx="1"/>
          </p:cNvCxnSpPr>
          <p:nvPr/>
        </p:nvCxnSpPr>
        <p:spPr bwMode="auto">
          <a:xfrm>
            <a:off x="2005013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15" name="AutoShape 11"/>
          <p:cNvCxnSpPr>
            <a:cxnSpLocks noChangeShapeType="1"/>
            <a:stCxn id="21510" idx="1"/>
            <a:endCxn id="21511" idx="3"/>
          </p:cNvCxnSpPr>
          <p:nvPr/>
        </p:nvCxnSpPr>
        <p:spPr bwMode="auto">
          <a:xfrm flipH="1">
            <a:off x="2005013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16" name="AutoShape 12"/>
          <p:cNvCxnSpPr>
            <a:cxnSpLocks noChangeShapeType="1"/>
            <a:stCxn id="21508" idx="3"/>
            <a:endCxn id="21517" idx="1"/>
          </p:cNvCxnSpPr>
          <p:nvPr/>
        </p:nvCxnSpPr>
        <p:spPr bwMode="auto">
          <a:xfrm>
            <a:off x="4492625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5486400" y="2667000"/>
            <a:ext cx="1493838" cy="111601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 Encoding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5486400" y="4029075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 Decoding</a:t>
            </a:r>
          </a:p>
        </p:txBody>
      </p:sp>
      <p:cxnSp>
        <p:nvCxnSpPr>
          <p:cNvPr id="21519" name="AutoShape 15"/>
          <p:cNvCxnSpPr>
            <a:cxnSpLocks noChangeShapeType="1"/>
            <a:stCxn id="21510" idx="3"/>
            <a:endCxn id="21518" idx="1"/>
          </p:cNvCxnSpPr>
          <p:nvPr/>
        </p:nvCxnSpPr>
        <p:spPr bwMode="auto">
          <a:xfrm>
            <a:off x="4492625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pic>
        <p:nvPicPr>
          <p:cNvPr id="21520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304800"/>
            <a:ext cx="1774825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 autoUpdateAnimBg="0"/>
      <p:bldP spid="21508" grpId="0" animBg="1" autoUpdateAnimBg="0"/>
      <p:bldP spid="21509" grpId="0" animBg="1" autoUpdateAnimBg="0"/>
      <p:bldP spid="21510" grpId="0" animBg="1" autoUpdateAnimBg="0"/>
      <p:bldP spid="21511" grpId="0" animBg="1" autoUpdateAnimBg="0"/>
      <p:bldP spid="21517" grpId="0" animBg="1" autoUpdateAnimBg="0"/>
      <p:bldP spid="2151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Example: Disk Storage 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533400" y="2667000"/>
            <a:ext cx="1471613" cy="1116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Data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2998788" y="2667000"/>
            <a:ext cx="1493837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Zip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7581900" y="3467100"/>
            <a:ext cx="1562100" cy="9826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2998788" y="4029075"/>
            <a:ext cx="1493837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Unzip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533400" y="4029075"/>
            <a:ext cx="1471613" cy="1116013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User</a:t>
            </a:r>
          </a:p>
        </p:txBody>
      </p:sp>
      <p:cxnSp>
        <p:nvCxnSpPr>
          <p:cNvPr id="19466" name="AutoShape 10"/>
          <p:cNvCxnSpPr>
            <a:cxnSpLocks noChangeShapeType="1"/>
            <a:stCxn id="19471" idx="3"/>
            <a:endCxn id="19463" idx="0"/>
          </p:cNvCxnSpPr>
          <p:nvPr/>
        </p:nvCxnSpPr>
        <p:spPr bwMode="auto">
          <a:xfrm>
            <a:off x="6980238" y="3225800"/>
            <a:ext cx="1382712" cy="241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9467" name="AutoShape 11"/>
          <p:cNvCxnSpPr>
            <a:cxnSpLocks noChangeShapeType="1"/>
            <a:stCxn id="19463" idx="2"/>
            <a:endCxn id="19472" idx="3"/>
          </p:cNvCxnSpPr>
          <p:nvPr/>
        </p:nvCxnSpPr>
        <p:spPr bwMode="auto">
          <a:xfrm rot="5400000">
            <a:off x="7602538" y="3827463"/>
            <a:ext cx="138112" cy="138271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9468" name="AutoShape 12"/>
          <p:cNvCxnSpPr>
            <a:cxnSpLocks noChangeShapeType="1"/>
            <a:stCxn id="19461" idx="3"/>
            <a:endCxn id="19462" idx="1"/>
          </p:cNvCxnSpPr>
          <p:nvPr/>
        </p:nvCxnSpPr>
        <p:spPr bwMode="auto">
          <a:xfrm>
            <a:off x="2005013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69" name="AutoShape 13"/>
          <p:cNvCxnSpPr>
            <a:cxnSpLocks noChangeShapeType="1"/>
            <a:stCxn id="19464" idx="1"/>
            <a:endCxn id="19465" idx="3"/>
          </p:cNvCxnSpPr>
          <p:nvPr/>
        </p:nvCxnSpPr>
        <p:spPr bwMode="auto">
          <a:xfrm flipH="1">
            <a:off x="2005013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0" name="AutoShape 14"/>
          <p:cNvCxnSpPr>
            <a:cxnSpLocks noChangeShapeType="1"/>
            <a:stCxn id="19462" idx="3"/>
            <a:endCxn id="19471" idx="1"/>
          </p:cNvCxnSpPr>
          <p:nvPr/>
        </p:nvCxnSpPr>
        <p:spPr bwMode="auto">
          <a:xfrm>
            <a:off x="4492625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5486400" y="2667000"/>
            <a:ext cx="1493838" cy="111601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Add CRC</a:t>
            </a:r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5486400" y="4029075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Verify CRC</a:t>
            </a:r>
          </a:p>
        </p:txBody>
      </p:sp>
      <p:cxnSp>
        <p:nvCxnSpPr>
          <p:cNvPr id="19473" name="AutoShape 17"/>
          <p:cNvCxnSpPr>
            <a:cxnSpLocks noChangeShapeType="1"/>
            <a:stCxn id="19464" idx="3"/>
            <a:endCxn id="19472" idx="1"/>
          </p:cNvCxnSpPr>
          <p:nvPr/>
        </p:nvCxnSpPr>
        <p:spPr bwMode="auto">
          <a:xfrm>
            <a:off x="4492625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pic>
        <p:nvPicPr>
          <p:cNvPr id="19474" name="Picture 18" descr="c_ml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990600"/>
            <a:ext cx="1981200" cy="14859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 autoUpdateAnimBg="0"/>
      <p:bldP spid="19462" grpId="0" animBg="1" autoUpdateAnimBg="0"/>
      <p:bldP spid="19463" grpId="0" animBg="1" autoUpdateAnimBg="0"/>
      <p:bldP spid="19464" grpId="0" animBg="1" autoUpdateAnimBg="0"/>
      <p:bldP spid="19465" grpId="0" animBg="1" autoUpdateAnimBg="0"/>
      <p:bldP spid="19471" grpId="0" animBg="1" autoUpdateAnimBg="0"/>
      <p:bldP spid="1947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/>
              <a:t>In terms of Information Theory Terminology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828800" y="1600200"/>
            <a:ext cx="1493838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Zip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4267200" y="1600200"/>
            <a:ext cx="1493838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Source</a:t>
            </a:r>
          </a:p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Encoding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3657600" y="19050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19800" y="1981200"/>
            <a:ext cx="271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Data Compression</a:t>
            </a: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1828800" y="4141788"/>
            <a:ext cx="1493838" cy="1116012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Add CRC</a:t>
            </a: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4267200" y="4141788"/>
            <a:ext cx="1493838" cy="1116012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 Encoding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3657600" y="4460875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</a:t>
            </a:r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1828800" y="2895600"/>
            <a:ext cx="1493838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Unzip</a:t>
            </a:r>
          </a:p>
        </p:txBody>
      </p:sp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4267200" y="2895600"/>
            <a:ext cx="1493838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Source Decoding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3657600" y="3138488"/>
            <a:ext cx="3921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</a:t>
            </a:r>
          </a:p>
        </p:txBody>
      </p:sp>
      <p:sp>
        <p:nvSpPr>
          <p:cNvPr id="22543" name="Rectangle 15"/>
          <p:cNvSpPr>
            <a:spLocks noChangeArrowheads="1"/>
          </p:cNvSpPr>
          <p:nvPr/>
        </p:nvSpPr>
        <p:spPr bwMode="auto">
          <a:xfrm>
            <a:off x="1828800" y="5486400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Verify CRC</a:t>
            </a:r>
          </a:p>
        </p:txBody>
      </p:sp>
      <p:sp>
        <p:nvSpPr>
          <p:cNvPr id="22544" name="Rectangle 16"/>
          <p:cNvSpPr>
            <a:spLocks noChangeArrowheads="1"/>
          </p:cNvSpPr>
          <p:nvPr/>
        </p:nvSpPr>
        <p:spPr bwMode="auto">
          <a:xfrm>
            <a:off x="4267200" y="5486400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 Decoding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3657600" y="5805488"/>
            <a:ext cx="3921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6019800" y="3200400"/>
            <a:ext cx="3033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Data Decompression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6019800" y="4419600"/>
            <a:ext cx="2319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Error Protection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6019800" y="5867400"/>
            <a:ext cx="2354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Error Correction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 autoUpdateAnimBg="0"/>
      <p:bldP spid="22533" grpId="0" animBg="1" autoUpdateAnimBg="0"/>
      <p:bldP spid="22535" grpId="0"/>
      <p:bldP spid="22536" grpId="0" animBg="1" autoUpdateAnimBg="0"/>
      <p:bldP spid="22537" grpId="0" animBg="1" autoUpdateAnimBg="0"/>
      <p:bldP spid="22539" grpId="0" animBg="1" autoUpdateAnimBg="0"/>
      <p:bldP spid="22540" grpId="0" animBg="1" autoUpdateAnimBg="0"/>
      <p:bldP spid="22543" grpId="0" animBg="1" autoUpdateAnimBg="0"/>
      <p:bldP spid="22544" grpId="0" animBg="1" autoUpdateAnimBg="0"/>
      <p:bldP spid="22546" grpId="0"/>
      <p:bldP spid="22547" grpId="0"/>
      <p:bldP spid="225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Example: VCD and DVD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533400" y="2667000"/>
            <a:ext cx="1471613" cy="1116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Moive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998788" y="2667000"/>
            <a:ext cx="1493837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MPEG</a:t>
            </a:r>
          </a:p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Encoder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7581900" y="3467100"/>
            <a:ext cx="1562100" cy="9826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CD/DVD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2998788" y="4029075"/>
            <a:ext cx="1493837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MPEG Decoder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533400" y="4029075"/>
            <a:ext cx="1471613" cy="1116013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TV</a:t>
            </a:r>
          </a:p>
        </p:txBody>
      </p:sp>
      <p:cxnSp>
        <p:nvCxnSpPr>
          <p:cNvPr id="27656" name="AutoShape 8"/>
          <p:cNvCxnSpPr>
            <a:cxnSpLocks noChangeShapeType="1"/>
            <a:stCxn id="27661" idx="3"/>
            <a:endCxn id="27653" idx="0"/>
          </p:cNvCxnSpPr>
          <p:nvPr/>
        </p:nvCxnSpPr>
        <p:spPr bwMode="auto">
          <a:xfrm>
            <a:off x="6980238" y="3225800"/>
            <a:ext cx="1382712" cy="241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7657" name="AutoShape 9"/>
          <p:cNvCxnSpPr>
            <a:cxnSpLocks noChangeShapeType="1"/>
            <a:stCxn id="27653" idx="2"/>
            <a:endCxn id="27662" idx="3"/>
          </p:cNvCxnSpPr>
          <p:nvPr/>
        </p:nvCxnSpPr>
        <p:spPr bwMode="auto">
          <a:xfrm rot="5400000">
            <a:off x="7602538" y="3827463"/>
            <a:ext cx="138112" cy="138271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7658" name="AutoShape 10"/>
          <p:cNvCxnSpPr>
            <a:cxnSpLocks noChangeShapeType="1"/>
            <a:stCxn id="27651" idx="3"/>
            <a:endCxn id="27652" idx="1"/>
          </p:cNvCxnSpPr>
          <p:nvPr/>
        </p:nvCxnSpPr>
        <p:spPr bwMode="auto">
          <a:xfrm>
            <a:off x="2005013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659" name="AutoShape 11"/>
          <p:cNvCxnSpPr>
            <a:cxnSpLocks noChangeShapeType="1"/>
            <a:stCxn id="27654" idx="1"/>
            <a:endCxn id="27655" idx="3"/>
          </p:cNvCxnSpPr>
          <p:nvPr/>
        </p:nvCxnSpPr>
        <p:spPr bwMode="auto">
          <a:xfrm flipH="1">
            <a:off x="2005013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660" name="AutoShape 12"/>
          <p:cNvCxnSpPr>
            <a:cxnSpLocks noChangeShapeType="1"/>
            <a:stCxn id="27652" idx="3"/>
            <a:endCxn id="27661" idx="1"/>
          </p:cNvCxnSpPr>
          <p:nvPr/>
        </p:nvCxnSpPr>
        <p:spPr bwMode="auto">
          <a:xfrm>
            <a:off x="4492625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5486400" y="2667000"/>
            <a:ext cx="1493838" cy="111601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RS Encoding</a:t>
            </a: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5486400" y="4029075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RS Decoding</a:t>
            </a:r>
          </a:p>
        </p:txBody>
      </p:sp>
      <p:cxnSp>
        <p:nvCxnSpPr>
          <p:cNvPr id="27663" name="AutoShape 15"/>
          <p:cNvCxnSpPr>
            <a:cxnSpLocks noChangeShapeType="1"/>
            <a:stCxn id="27654" idx="3"/>
            <a:endCxn id="27662" idx="1"/>
          </p:cNvCxnSpPr>
          <p:nvPr/>
        </p:nvCxnSpPr>
        <p:spPr bwMode="auto">
          <a:xfrm>
            <a:off x="4492625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2346325" y="5954713"/>
            <a:ext cx="423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000"/>
              <a:t>RS stands for Reed-Solomon Code.</a:t>
            </a:r>
          </a:p>
        </p:txBody>
      </p:sp>
      <p:pic>
        <p:nvPicPr>
          <p:cNvPr id="27667" name="Picture 19" descr="catalogm_19903669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1066800"/>
            <a:ext cx="1752600" cy="13112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 autoUpdateAnimBg="0"/>
      <p:bldP spid="27652" grpId="0" animBg="1" autoUpdateAnimBg="0"/>
      <p:bldP spid="27653" grpId="0" animBg="1" autoUpdateAnimBg="0"/>
      <p:bldP spid="27654" grpId="0" animBg="1" autoUpdateAnimBg="0"/>
      <p:bldP spid="27655" grpId="0" animBg="1" autoUpdateAnimBg="0"/>
      <p:bldP spid="27661" grpId="0" animBg="1" autoUpdateAnimBg="0"/>
      <p:bldP spid="2766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20" name="Picture 20" descr="catalog_m_t19913503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438400"/>
            <a:ext cx="1371600" cy="1371600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Example: Cellular Phone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998788" y="2667000"/>
            <a:ext cx="1493837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Speech Encoding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7581900" y="3467100"/>
            <a:ext cx="1562100" cy="9826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2998788" y="4029075"/>
            <a:ext cx="1493837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Speech Decoding</a:t>
            </a:r>
          </a:p>
        </p:txBody>
      </p:sp>
      <p:cxnSp>
        <p:nvCxnSpPr>
          <p:cNvPr id="25608" name="AutoShape 8"/>
          <p:cNvCxnSpPr>
            <a:cxnSpLocks noChangeShapeType="1"/>
            <a:stCxn id="25613" idx="3"/>
            <a:endCxn id="25605" idx="0"/>
          </p:cNvCxnSpPr>
          <p:nvPr/>
        </p:nvCxnSpPr>
        <p:spPr bwMode="auto">
          <a:xfrm>
            <a:off x="6980238" y="3225800"/>
            <a:ext cx="1382712" cy="241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5609" name="AutoShape 9"/>
          <p:cNvCxnSpPr>
            <a:cxnSpLocks noChangeShapeType="1"/>
            <a:stCxn id="25605" idx="2"/>
            <a:endCxn id="25614" idx="3"/>
          </p:cNvCxnSpPr>
          <p:nvPr/>
        </p:nvCxnSpPr>
        <p:spPr bwMode="auto">
          <a:xfrm rot="5400000">
            <a:off x="7602538" y="3827463"/>
            <a:ext cx="138112" cy="138271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5610" name="AutoShape 10"/>
          <p:cNvCxnSpPr>
            <a:cxnSpLocks noChangeShapeType="1"/>
            <a:endCxn id="25604" idx="1"/>
          </p:cNvCxnSpPr>
          <p:nvPr/>
        </p:nvCxnSpPr>
        <p:spPr bwMode="auto">
          <a:xfrm>
            <a:off x="2005013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5611" name="AutoShape 11"/>
          <p:cNvCxnSpPr>
            <a:cxnSpLocks noChangeShapeType="1"/>
            <a:stCxn id="25606" idx="1"/>
          </p:cNvCxnSpPr>
          <p:nvPr/>
        </p:nvCxnSpPr>
        <p:spPr bwMode="auto">
          <a:xfrm flipH="1">
            <a:off x="2005013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5612" name="AutoShape 12"/>
          <p:cNvCxnSpPr>
            <a:cxnSpLocks noChangeShapeType="1"/>
            <a:stCxn id="25604" idx="3"/>
            <a:endCxn id="25613" idx="1"/>
          </p:cNvCxnSpPr>
          <p:nvPr/>
        </p:nvCxnSpPr>
        <p:spPr bwMode="auto">
          <a:xfrm>
            <a:off x="4492625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5486400" y="2667000"/>
            <a:ext cx="1493838" cy="111601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CC Encoding</a:t>
            </a:r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5486400" y="4029075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CC Decoding</a:t>
            </a:r>
          </a:p>
        </p:txBody>
      </p:sp>
      <p:cxnSp>
        <p:nvCxnSpPr>
          <p:cNvPr id="25615" name="AutoShape 15"/>
          <p:cNvCxnSpPr>
            <a:cxnSpLocks noChangeShapeType="1"/>
            <a:stCxn id="25606" idx="3"/>
            <a:endCxn id="25614" idx="1"/>
          </p:cNvCxnSpPr>
          <p:nvPr/>
        </p:nvCxnSpPr>
        <p:spPr bwMode="auto">
          <a:xfrm>
            <a:off x="4492625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2346325" y="5954713"/>
            <a:ext cx="4094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000"/>
              <a:t>CC stands for Convolutional Code.</a:t>
            </a: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2362200" y="1676400"/>
            <a:ext cx="6781800" cy="4191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6858000" y="5489575"/>
            <a:ext cx="186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GSM/CDMA</a:t>
            </a:r>
          </a:p>
        </p:txBody>
      </p:sp>
      <p:pic>
        <p:nvPicPr>
          <p:cNvPr id="25622" name="Picture 22" descr="catalog_m_t19913503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038600"/>
            <a:ext cx="1371600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 autoUpdateAnimBg="0"/>
      <p:bldP spid="25605" grpId="0" animBg="1" autoUpdateAnimBg="0"/>
      <p:bldP spid="25606" grpId="0" animBg="1" autoUpdateAnimBg="0"/>
      <p:bldP spid="25613" grpId="0" animBg="1" autoUpdateAnimBg="0"/>
      <p:bldP spid="25614" grpId="0" animBg="1" autoUpdateAnimBg="0"/>
      <p:bldP spid="25618" grpId="0" animBg="1"/>
      <p:bldP spid="256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/>
              <a:t>Example: WLAN IEEE 802.11b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533400" y="2667000"/>
            <a:ext cx="1471613" cy="1116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Data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998788" y="2667000"/>
            <a:ext cx="1493837" cy="1116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Zip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7581900" y="3467100"/>
            <a:ext cx="1562100" cy="9826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Channel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2998788" y="4029075"/>
            <a:ext cx="1493837" cy="11160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Unzip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533400" y="4029075"/>
            <a:ext cx="1471613" cy="1116013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User</a:t>
            </a:r>
          </a:p>
        </p:txBody>
      </p:sp>
      <p:cxnSp>
        <p:nvCxnSpPr>
          <p:cNvPr id="28680" name="AutoShape 8"/>
          <p:cNvCxnSpPr>
            <a:cxnSpLocks noChangeShapeType="1"/>
            <a:stCxn id="28685" idx="3"/>
            <a:endCxn id="28677" idx="0"/>
          </p:cNvCxnSpPr>
          <p:nvPr/>
        </p:nvCxnSpPr>
        <p:spPr bwMode="auto">
          <a:xfrm>
            <a:off x="6980238" y="3225800"/>
            <a:ext cx="1382712" cy="2413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8681" name="AutoShape 9"/>
          <p:cNvCxnSpPr>
            <a:cxnSpLocks noChangeShapeType="1"/>
            <a:stCxn id="28677" idx="2"/>
            <a:endCxn id="28686" idx="3"/>
          </p:cNvCxnSpPr>
          <p:nvPr/>
        </p:nvCxnSpPr>
        <p:spPr bwMode="auto">
          <a:xfrm rot="5400000">
            <a:off x="7602538" y="3827463"/>
            <a:ext cx="138112" cy="138271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28682" name="AutoShape 10"/>
          <p:cNvCxnSpPr>
            <a:cxnSpLocks noChangeShapeType="1"/>
            <a:stCxn id="28675" idx="3"/>
            <a:endCxn id="28676" idx="1"/>
          </p:cNvCxnSpPr>
          <p:nvPr/>
        </p:nvCxnSpPr>
        <p:spPr bwMode="auto">
          <a:xfrm>
            <a:off x="2005013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8683" name="AutoShape 11"/>
          <p:cNvCxnSpPr>
            <a:cxnSpLocks noChangeShapeType="1"/>
            <a:stCxn id="28678" idx="1"/>
            <a:endCxn id="28679" idx="3"/>
          </p:cNvCxnSpPr>
          <p:nvPr/>
        </p:nvCxnSpPr>
        <p:spPr bwMode="auto">
          <a:xfrm flipH="1">
            <a:off x="2005013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8684" name="AutoShape 12"/>
          <p:cNvCxnSpPr>
            <a:cxnSpLocks noChangeShapeType="1"/>
            <a:stCxn id="28676" idx="3"/>
            <a:endCxn id="28685" idx="1"/>
          </p:cNvCxnSpPr>
          <p:nvPr/>
        </p:nvCxnSpPr>
        <p:spPr bwMode="auto">
          <a:xfrm>
            <a:off x="4492625" y="3225800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5486400" y="2667000"/>
            <a:ext cx="1493838" cy="111601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CC Encoding</a:t>
            </a: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5486400" y="4029075"/>
            <a:ext cx="1493838" cy="11160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r>
              <a:rPr kumimoji="0" lang="en-US" altLang="zh-TW" sz="2400">
                <a:solidFill>
                  <a:srgbClr val="FF3300"/>
                </a:solidFill>
              </a:rPr>
              <a:t>CC Decoding</a:t>
            </a:r>
          </a:p>
        </p:txBody>
      </p:sp>
      <p:cxnSp>
        <p:nvCxnSpPr>
          <p:cNvPr id="28687" name="AutoShape 15"/>
          <p:cNvCxnSpPr>
            <a:cxnSpLocks noChangeShapeType="1"/>
            <a:stCxn id="28678" idx="3"/>
            <a:endCxn id="28686" idx="1"/>
          </p:cNvCxnSpPr>
          <p:nvPr/>
        </p:nvCxnSpPr>
        <p:spPr bwMode="auto">
          <a:xfrm>
            <a:off x="4492625" y="4587875"/>
            <a:ext cx="9937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2346325" y="5954713"/>
            <a:ext cx="4094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000"/>
              <a:t>CC stands for Convolutional Code.</a:t>
            </a:r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4876800" y="1676400"/>
            <a:ext cx="4267200" cy="4191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6858000" y="5489575"/>
            <a:ext cx="2065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IEEE 802.11b</a:t>
            </a:r>
          </a:p>
        </p:txBody>
      </p:sp>
      <p:pic>
        <p:nvPicPr>
          <p:cNvPr id="28691" name="Picture 19" descr="D-Link%20DI-713P%20Wireless%20Broadband%20rou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143000"/>
            <a:ext cx="1752600" cy="12414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nimBg="1" autoUpdateAnimBg="0"/>
      <p:bldP spid="28676" grpId="0" animBg="1" autoUpdateAnimBg="0"/>
      <p:bldP spid="28677" grpId="0" animBg="1" autoUpdateAnimBg="0"/>
      <p:bldP spid="28678" grpId="0" animBg="1" autoUpdateAnimBg="0"/>
      <p:bldP spid="28679" grpId="0" animBg="1" autoUpdateAnimBg="0"/>
      <p:bldP spid="28685" grpId="0" animBg="1" autoUpdateAnimBg="0"/>
      <p:bldP spid="28686" grpId="0" animBg="1" autoUpdateAnimBg="0"/>
      <p:bldP spid="28689" grpId="0" animBg="1"/>
      <p:bldP spid="286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Shannon Theory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TW"/>
              <a:t>The original 1948 Shannon Theory contains:</a:t>
            </a:r>
          </a:p>
          <a:p>
            <a:pPr marL="609600" indent="-609600"/>
            <a:endParaRPr lang="en-US" altLang="zh-TW"/>
          </a:p>
          <a:p>
            <a:pPr marL="990600" lvl="1" indent="-533400">
              <a:buFontTx/>
              <a:buAutoNum type="arabicPeriod"/>
            </a:pPr>
            <a:r>
              <a:rPr lang="en-US" altLang="zh-TW"/>
              <a:t>Measurement of Information</a:t>
            </a:r>
          </a:p>
          <a:p>
            <a:pPr marL="990600" lvl="1" indent="-533400">
              <a:buFontTx/>
              <a:buAutoNum type="arabicPeriod"/>
            </a:pPr>
            <a:r>
              <a:rPr lang="en-US" altLang="zh-TW"/>
              <a:t>Source Coding Theory</a:t>
            </a:r>
          </a:p>
          <a:p>
            <a:pPr marL="990600" lvl="1" indent="-533400">
              <a:buFontTx/>
              <a:buAutoNum type="arabicPeriod"/>
            </a:pPr>
            <a:r>
              <a:rPr lang="en-US" altLang="zh-TW"/>
              <a:t>Channel Coding Theory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/>
              <a:t>Measurement of Information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TW"/>
              <a:t>Shannon’s first question is</a:t>
            </a:r>
          </a:p>
          <a:p>
            <a:pPr marL="609600" indent="-609600" algn="ctr">
              <a:buFontTx/>
              <a:buNone/>
            </a:pPr>
            <a:r>
              <a:rPr lang="en-US" altLang="zh-TW">
                <a:solidFill>
                  <a:srgbClr val="FF3300"/>
                </a:solidFill>
              </a:rPr>
              <a:t>“How to measure information</a:t>
            </a:r>
          </a:p>
          <a:p>
            <a:pPr marL="609600" indent="-609600" algn="ctr">
              <a:buFontTx/>
              <a:buNone/>
            </a:pPr>
            <a:r>
              <a:rPr lang="en-US" altLang="zh-TW">
                <a:solidFill>
                  <a:srgbClr val="FF3300"/>
                </a:solidFill>
              </a:rPr>
              <a:t> in terms of bits?”</a:t>
            </a:r>
          </a:p>
          <a:p>
            <a:pPr marL="609600" indent="-609600">
              <a:buFontTx/>
              <a:buAutoNum type="arabicPeriod"/>
            </a:pPr>
            <a:endParaRPr lang="en-US" altLang="zh-TW">
              <a:solidFill>
                <a:srgbClr val="FF3300"/>
              </a:solidFill>
            </a:endParaRPr>
          </a:p>
        </p:txBody>
      </p:sp>
      <p:pic>
        <p:nvPicPr>
          <p:cNvPr id="43013" name="Picture 5" descr="dice2_e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3657600"/>
            <a:ext cx="800100" cy="571500"/>
          </a:xfrm>
          <a:prstGeom prst="rect">
            <a:avLst/>
          </a:prstGeom>
          <a:noFill/>
        </p:spPr>
      </p:pic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3810000" y="3657600"/>
            <a:ext cx="1341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 ? bits</a:t>
            </a:r>
          </a:p>
        </p:txBody>
      </p:sp>
      <p:pic>
        <p:nvPicPr>
          <p:cNvPr id="43016" name="Picture 8" descr="royalflush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4876800"/>
            <a:ext cx="1676400" cy="977900"/>
          </a:xfrm>
          <a:prstGeom prst="rect">
            <a:avLst/>
          </a:prstGeom>
          <a:noFill/>
        </p:spPr>
      </p:pic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3810000" y="5181600"/>
            <a:ext cx="1341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 ?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/>
      <p:bldP spid="430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Or this…</a:t>
            </a: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4700" y="1600200"/>
            <a:ext cx="1181100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4038600"/>
            <a:ext cx="4914900" cy="211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5334000" y="2057400"/>
            <a:ext cx="1341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 ? bits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7239000" y="5029200"/>
            <a:ext cx="1341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= ?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/>
      <p:bldP spid="440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All events are probabilistic!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524000"/>
            <a:ext cx="6629400" cy="2971800"/>
          </a:xfrm>
        </p:spPr>
        <p:txBody>
          <a:bodyPr/>
          <a:lstStyle/>
          <a:p>
            <a:r>
              <a:rPr lang="en-US" altLang="zh-TW" sz="2800"/>
              <a:t>Using Probability Theory, Shannon showed that there is </a:t>
            </a:r>
            <a:r>
              <a:rPr lang="en-US" altLang="zh-TW" sz="2800">
                <a:solidFill>
                  <a:srgbClr val="FF3300"/>
                </a:solidFill>
              </a:rPr>
              <a:t>only one way</a:t>
            </a:r>
            <a:r>
              <a:rPr lang="en-US" altLang="zh-TW" sz="2800"/>
              <a:t> to measure information in terms of number of bits: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209800" y="3962400"/>
          <a:ext cx="6019800" cy="1195388"/>
        </p:xfrm>
        <a:graphic>
          <a:graphicData uri="http://schemas.openxmlformats.org/presentationml/2006/ole">
            <p:oleObj spid="_x0000_s1026" name="Equation" r:id="rId3" imgW="1726920" imgH="342720" progId="Equation.3">
              <p:embed/>
            </p:oleObj>
          </a:graphicData>
        </a:graphic>
      </p:graphicFrame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2346325" y="5551488"/>
            <a:ext cx="44418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800"/>
              <a:t>called  the </a:t>
            </a:r>
            <a:r>
              <a:rPr lang="en-US" altLang="zh-TW" sz="2800">
                <a:solidFill>
                  <a:srgbClr val="FF3300"/>
                </a:solidFill>
              </a:rPr>
              <a:t>entropy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For example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524000"/>
            <a:ext cx="6705600" cy="2819400"/>
          </a:xfrm>
        </p:spPr>
        <p:txBody>
          <a:bodyPr/>
          <a:lstStyle/>
          <a:p>
            <a:r>
              <a:rPr lang="en-US" altLang="zh-TW" sz="2800"/>
              <a:t>Tossing a dice:</a:t>
            </a:r>
          </a:p>
          <a:p>
            <a:pPr lvl="1"/>
            <a:r>
              <a:rPr lang="en-US" altLang="zh-TW" sz="2400"/>
              <a:t>Outcomes are 1,2,3,4,5,6</a:t>
            </a:r>
          </a:p>
          <a:p>
            <a:pPr lvl="1"/>
            <a:r>
              <a:rPr lang="en-US" altLang="zh-TW" sz="2400"/>
              <a:t>Each occurs at probability 1/6</a:t>
            </a:r>
          </a:p>
          <a:p>
            <a:pPr lvl="1"/>
            <a:r>
              <a:rPr lang="en-US" altLang="zh-TW" sz="2400"/>
              <a:t>Information provided by tossing a dice is</a:t>
            </a:r>
          </a:p>
          <a:p>
            <a:pPr>
              <a:buFontTx/>
              <a:buNone/>
            </a:pPr>
            <a:endParaRPr lang="en-US" altLang="zh-TW" sz="2800"/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438400" y="3810000"/>
          <a:ext cx="5715000" cy="1931988"/>
        </p:xfrm>
        <a:graphic>
          <a:graphicData uri="http://schemas.openxmlformats.org/presentationml/2006/ole">
            <p:oleObj spid="_x0000_s2050" name="Equation" r:id="rId3" imgW="2628720" imgH="888840" progId="Equation.3">
              <p:embed/>
            </p:oleObj>
          </a:graphicData>
        </a:graphic>
      </p:graphicFrame>
      <p:pic>
        <p:nvPicPr>
          <p:cNvPr id="48134" name="Picture 6" descr="dice2_e0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53200" y="1447800"/>
            <a:ext cx="1371600" cy="979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105400" y="1600200"/>
            <a:ext cx="3657600" cy="1676400"/>
          </a:xfrm>
        </p:spPr>
        <p:txBody>
          <a:bodyPr/>
          <a:lstStyle/>
          <a:p>
            <a:r>
              <a:rPr lang="en-US" altLang="zh-TW"/>
              <a:t>Wait!</a:t>
            </a:r>
            <a:br>
              <a:rPr lang="en-US" altLang="zh-TW"/>
            </a:br>
            <a:r>
              <a:rPr lang="en-US" altLang="zh-TW"/>
              <a:t>It is nonsense!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4724400"/>
            <a:ext cx="7010400" cy="1447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zh-TW" sz="2800">
                <a:solidFill>
                  <a:srgbClr val="FF3300"/>
                </a:solidFill>
              </a:rPr>
              <a:t>The number 2.585-bits is not an integer!!</a:t>
            </a:r>
          </a:p>
          <a:p>
            <a:pPr algn="ctr">
              <a:buFontTx/>
              <a:buNone/>
            </a:pPr>
            <a:r>
              <a:rPr lang="en-US" altLang="zh-TW" sz="2800">
                <a:solidFill>
                  <a:srgbClr val="FF3300"/>
                </a:solidFill>
              </a:rPr>
              <a:t>What does you mean?</a:t>
            </a:r>
          </a:p>
        </p:txBody>
      </p:sp>
      <p:pic>
        <p:nvPicPr>
          <p:cNvPr id="50181" name="Picture 5" descr="j01379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533400"/>
            <a:ext cx="3071813" cy="38766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334000" cy="1981200"/>
          </a:xfrm>
        </p:spPr>
        <p:txBody>
          <a:bodyPr/>
          <a:lstStyle/>
          <a:p>
            <a:r>
              <a:rPr lang="en-US" altLang="zh-TW"/>
              <a:t>Shannon’s First </a:t>
            </a:r>
            <a:r>
              <a:rPr lang="en-US" altLang="zh-TW">
                <a:solidFill>
                  <a:srgbClr val="FF3300"/>
                </a:solidFill>
              </a:rPr>
              <a:t>Source Coding</a:t>
            </a:r>
            <a:r>
              <a:rPr lang="en-US" altLang="zh-TW"/>
              <a:t> Theorem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514600"/>
            <a:ext cx="7010400" cy="3733800"/>
          </a:xfrm>
        </p:spPr>
        <p:txBody>
          <a:bodyPr/>
          <a:lstStyle/>
          <a:p>
            <a:r>
              <a:rPr lang="en-US" altLang="zh-TW" sz="3600"/>
              <a:t>Shannon showed:</a:t>
            </a:r>
          </a:p>
          <a:p>
            <a:pPr>
              <a:buFontTx/>
              <a:buNone/>
            </a:pPr>
            <a:r>
              <a:rPr lang="en-US" altLang="zh-TW" sz="3600"/>
              <a:t>	“To reliably store the information generated by some random source </a:t>
            </a:r>
            <a:r>
              <a:rPr lang="en-US" altLang="zh-TW" sz="3600" b="1" i="1"/>
              <a:t>X</a:t>
            </a:r>
            <a:r>
              <a:rPr lang="en-US" altLang="zh-TW" sz="3600"/>
              <a:t>, you need no more/less than, on the average, </a:t>
            </a:r>
            <a:r>
              <a:rPr lang="en-US" altLang="zh-TW" sz="3600" b="1" i="1">
                <a:solidFill>
                  <a:srgbClr val="FF3300"/>
                </a:solidFill>
              </a:rPr>
              <a:t>H(X)</a:t>
            </a:r>
            <a:r>
              <a:rPr lang="en-US" altLang="zh-TW" sz="3600"/>
              <a:t> bits for each outcome.”</a:t>
            </a: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304800"/>
            <a:ext cx="1774825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Meaning: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/>
              <a:t>If I toss a dice 1,000,000 times and record values from each trial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/>
              <a:t>		1,3,4,6,2,5,2,4,5,2,4,5,6,1,….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In principle, I need 3 bits for storing each outcome as 3 bits covers 1-8. So I need </a:t>
            </a:r>
            <a:r>
              <a:rPr lang="en-US" altLang="zh-TW" sz="2800">
                <a:solidFill>
                  <a:srgbClr val="FF3300"/>
                </a:solidFill>
              </a:rPr>
              <a:t>3,000,000</a:t>
            </a:r>
            <a:r>
              <a:rPr lang="en-US" altLang="zh-TW" sz="2800"/>
              <a:t> bits for storing the information.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Using ASCII representation,  computer needs </a:t>
            </a:r>
            <a:r>
              <a:rPr lang="en-US" altLang="zh-TW" sz="2800">
                <a:solidFill>
                  <a:srgbClr val="FF3300"/>
                </a:solidFill>
              </a:rPr>
              <a:t>8 bits=1 byte</a:t>
            </a:r>
            <a:r>
              <a:rPr lang="en-US" altLang="zh-TW" sz="2800"/>
              <a:t> for storing each outcome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The resulting file has size </a:t>
            </a:r>
            <a:r>
              <a:rPr lang="en-US" altLang="zh-TW" sz="2800">
                <a:solidFill>
                  <a:srgbClr val="FF3300"/>
                </a:solidFill>
              </a:rPr>
              <a:t>8,000,000</a:t>
            </a:r>
            <a:r>
              <a:rPr lang="en-US" altLang="zh-TW" sz="2800"/>
              <a:t> bits</a:t>
            </a:r>
          </a:p>
        </p:txBody>
      </p:sp>
      <p:pic>
        <p:nvPicPr>
          <p:cNvPr id="53252" name="Picture 4" descr="dice2_e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81000"/>
            <a:ext cx="1371600" cy="979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But Shannon said: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524000"/>
            <a:ext cx="7010400" cy="3276600"/>
          </a:xfrm>
        </p:spPr>
        <p:txBody>
          <a:bodyPr/>
          <a:lstStyle/>
          <a:p>
            <a:r>
              <a:rPr lang="en-US" altLang="zh-TW" sz="2800"/>
              <a:t>You only need 2.585 bits for storing each outcome.</a:t>
            </a:r>
          </a:p>
          <a:p>
            <a:r>
              <a:rPr lang="en-US" altLang="zh-TW" sz="2800"/>
              <a:t>So, the file can be compressed to yield size 	</a:t>
            </a:r>
          </a:p>
          <a:p>
            <a:pPr>
              <a:buFontTx/>
              <a:buNone/>
            </a:pPr>
            <a:r>
              <a:rPr lang="en-US" altLang="zh-TW" sz="2800"/>
              <a:t>		</a:t>
            </a:r>
            <a:r>
              <a:rPr lang="en-US" altLang="zh-TW" sz="2800">
                <a:solidFill>
                  <a:srgbClr val="FF3300"/>
                </a:solidFill>
              </a:rPr>
              <a:t>2.585x1,000,000=2,585,000 bits</a:t>
            </a:r>
          </a:p>
          <a:p>
            <a:r>
              <a:rPr lang="en-US" altLang="zh-TW" sz="2800"/>
              <a:t>Optimal Compression Ratio is: 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587625" y="4876800"/>
          <a:ext cx="5414963" cy="1223963"/>
        </p:xfrm>
        <a:graphic>
          <a:graphicData uri="http://schemas.openxmlformats.org/presentationml/2006/ole">
            <p:oleObj spid="_x0000_s3074" name="Equation" r:id="rId3" imgW="185400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Let’s Do Some Test!</a:t>
            </a:r>
          </a:p>
        </p:txBody>
      </p:sp>
      <p:graphicFrame>
        <p:nvGraphicFramePr>
          <p:cNvPr id="56372" name="Group 52"/>
          <p:cNvGraphicFramePr>
            <a:graphicFrameLocks noGrp="1"/>
          </p:cNvGraphicFramePr>
          <p:nvPr>
            <p:ph idx="1"/>
          </p:nvPr>
        </p:nvGraphicFramePr>
        <p:xfrm>
          <a:off x="1752600" y="1524000"/>
          <a:ext cx="7162800" cy="4809744"/>
        </p:xfrm>
        <a:graphic>
          <a:graphicData uri="http://schemas.openxmlformats.org/drawingml/2006/table">
            <a:tbl>
              <a:tblPr/>
              <a:tblGrid>
                <a:gridCol w="2387600"/>
                <a:gridCol w="2387600"/>
                <a:gridCol w="2387600"/>
              </a:tblGrid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File Size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Compression Ratio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 Compression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8,000,000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100%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Shannon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2,585,000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32.31%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4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Winzip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2,930,736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36.63%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WinRAR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2,859,336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35.74%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6376" name="Picture 56" descr="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495800"/>
            <a:ext cx="585788" cy="623888"/>
          </a:xfrm>
          <a:prstGeom prst="rect">
            <a:avLst/>
          </a:prstGeom>
          <a:noFill/>
        </p:spPr>
      </p:pic>
      <p:pic>
        <p:nvPicPr>
          <p:cNvPr id="56380" name="Picture 60" descr="ap3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1988" y="5394325"/>
            <a:ext cx="760412" cy="930275"/>
          </a:xfrm>
          <a:prstGeom prst="rect">
            <a:avLst/>
          </a:prstGeom>
          <a:noFill/>
        </p:spPr>
      </p:pic>
      <p:pic>
        <p:nvPicPr>
          <p:cNvPr id="56381" name="Picture 6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429000"/>
            <a:ext cx="7524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7391400" cy="838200"/>
          </a:xfrm>
        </p:spPr>
        <p:txBody>
          <a:bodyPr/>
          <a:lstStyle/>
          <a:p>
            <a:r>
              <a:rPr lang="en-US" altLang="zh-TW" sz="3600"/>
              <a:t>But With 50 Years of Hard Work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70104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000" b="1"/>
              <a:t>We have discovered a lot of good codes: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Hamming codes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Convolutional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Concatenated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Low density parity check (LDPC) codes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Reed-Muller codes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Reed-Solomon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BCH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Finite Geometry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Cyclic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Golay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Goppa codes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Algebraic Geometry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Turbo codes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Zig-Zag codes,</a:t>
            </a:r>
          </a:p>
          <a:p>
            <a:pPr lvl="1">
              <a:lnSpc>
                <a:spcPct val="80000"/>
              </a:lnSpc>
            </a:pPr>
            <a:r>
              <a:rPr lang="en-US" altLang="zh-TW" sz="1800"/>
              <a:t>Accumulate codes and Product-accumulate codes,</a:t>
            </a:r>
          </a:p>
          <a:p>
            <a:pPr lvl="1">
              <a:lnSpc>
                <a:spcPct val="80000"/>
              </a:lnSpc>
            </a:pPr>
            <a:r>
              <a:rPr lang="en-US" altLang="zh-TW" sz="2000" b="1"/>
              <a:t>…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2057400" y="5942013"/>
            <a:ext cx="6858000" cy="167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2400" b="1"/>
              <a:t>We now come very close to the dream Shannon had 50 years ago! </a:t>
            </a:r>
            <a:r>
              <a:rPr lang="en-US" altLang="zh-TW" sz="3200" b="1">
                <a:sym typeface="Wingdings" pitchFamily="2" charset="2"/>
              </a:rPr>
              <a:t></a:t>
            </a:r>
            <a:endParaRPr lang="en-US" altLang="zh-TW" sz="3200" b="1"/>
          </a:p>
          <a:p>
            <a:pPr lvl="1"/>
            <a:endParaRPr lang="en-US" altLang="zh-TW" sz="2400" b="1"/>
          </a:p>
          <a:p>
            <a:endParaRPr lang="en-US" altLang="zh-TW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Nowadays…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1905000" y="1447800"/>
            <a:ext cx="549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Source Coding Theorem has applied to</a:t>
            </a: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1828800" y="4267200"/>
            <a:ext cx="566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Channel Coding Theorem has applied to</a:t>
            </a:r>
          </a:p>
        </p:txBody>
      </p:sp>
      <p:pic>
        <p:nvPicPr>
          <p:cNvPr id="79879" name="Picture 7" descr="JPEG 2000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1981200"/>
            <a:ext cx="731838" cy="571500"/>
          </a:xfrm>
          <a:prstGeom prst="rect">
            <a:avLst/>
          </a:prstGeom>
          <a:noFill/>
        </p:spPr>
      </p:pic>
      <p:pic>
        <p:nvPicPr>
          <p:cNvPr id="79880" name="Picture 8" descr="Siz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33600" y="3124200"/>
            <a:ext cx="585788" cy="623888"/>
          </a:xfrm>
          <a:prstGeom prst="rect">
            <a:avLst/>
          </a:prstGeom>
          <a:noFill/>
        </p:spPr>
      </p:pic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3108325" y="2017713"/>
            <a:ext cx="1530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/>
              <a:t>Image </a:t>
            </a:r>
          </a:p>
          <a:p>
            <a:r>
              <a:rPr lang="en-US" altLang="zh-TW"/>
              <a:t>Compression</a:t>
            </a:r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3124200" y="3124200"/>
            <a:ext cx="1530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/>
              <a:t>Data</a:t>
            </a:r>
          </a:p>
          <a:p>
            <a:r>
              <a:rPr lang="en-US" altLang="zh-TW"/>
              <a:t>Compression</a:t>
            </a:r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5867400" y="1981200"/>
            <a:ext cx="1530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/>
              <a:t>Audio/Video</a:t>
            </a:r>
          </a:p>
          <a:p>
            <a:r>
              <a:rPr lang="en-US" altLang="zh-TW"/>
              <a:t>Compression</a:t>
            </a:r>
          </a:p>
        </p:txBody>
      </p:sp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5867400" y="3200400"/>
            <a:ext cx="1530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/>
              <a:t>Audio</a:t>
            </a:r>
          </a:p>
          <a:p>
            <a:r>
              <a:rPr lang="en-US" altLang="zh-TW"/>
              <a:t>Compression</a:t>
            </a:r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4876800" y="2057400"/>
            <a:ext cx="1081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MPEG</a:t>
            </a: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4876800" y="3276600"/>
            <a:ext cx="811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/>
              <a:t>MP3</a:t>
            </a:r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2117725" y="4837113"/>
            <a:ext cx="51530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zh-TW"/>
              <a:t>VCD/DVD – Reed-Solomon Codes</a:t>
            </a:r>
          </a:p>
          <a:p>
            <a:pPr>
              <a:buFontTx/>
              <a:buChar char="•"/>
            </a:pPr>
            <a:r>
              <a:rPr lang="en-US" altLang="zh-TW"/>
              <a:t>Wireless Communication – Convolutional Codes</a:t>
            </a:r>
          </a:p>
          <a:p>
            <a:pPr>
              <a:buFontTx/>
              <a:buChar char="•"/>
            </a:pPr>
            <a:r>
              <a:rPr lang="en-US" altLang="zh-TW"/>
              <a:t>Optical Communication – Reed-Solomon Codes</a:t>
            </a:r>
          </a:p>
          <a:p>
            <a:pPr>
              <a:buFontTx/>
              <a:buChar char="•"/>
            </a:pPr>
            <a:r>
              <a:rPr lang="en-US" altLang="zh-TW"/>
              <a:t>Computer Network – LT codes, Raptor Codes</a:t>
            </a:r>
          </a:p>
          <a:p>
            <a:pPr>
              <a:buFontTx/>
              <a:buChar char="•"/>
            </a:pPr>
            <a:r>
              <a:rPr lang="en-US" altLang="zh-TW"/>
              <a:t>Space 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Shannon's information theory deals with limits on data compression (source coding) and reliable data transmission (channel coding) { How much can data can be compressed?</a:t>
            </a:r>
          </a:p>
          <a:p>
            <a:r>
              <a:rPr lang="en-GB" dirty="0" smtClean="0"/>
              <a:t>{ How fast can data be reliably transmitted over a noisy channel?</a:t>
            </a:r>
          </a:p>
          <a:p>
            <a:r>
              <a:rPr lang="en-GB" i="1" dirty="0" smtClean="0"/>
              <a:t> Two basic \point-to-point" communication theorems (Shannon 1948)</a:t>
            </a:r>
          </a:p>
          <a:p>
            <a:r>
              <a:rPr lang="en-GB" dirty="0" smtClean="0"/>
              <a:t>{ Source coding theorem: the minimum rate at which data can be </a:t>
            </a:r>
            <a:r>
              <a:rPr lang="en-GB" i="1" dirty="0" smtClean="0"/>
              <a:t>compressed </a:t>
            </a:r>
            <a:r>
              <a:rPr lang="en-GB" i="1" dirty="0" err="1" smtClean="0"/>
              <a:t>losslessly</a:t>
            </a:r>
            <a:r>
              <a:rPr lang="en-GB" i="1" dirty="0" smtClean="0"/>
              <a:t> is the entropy rate of the source</a:t>
            </a:r>
          </a:p>
          <a:p>
            <a:r>
              <a:rPr lang="en-GB" dirty="0" smtClean="0"/>
              <a:t>{ Channel coding theorem: The maximum rate at which data can be </a:t>
            </a:r>
            <a:r>
              <a:rPr lang="en-GB" i="1" dirty="0" smtClean="0"/>
              <a:t>reliably transmitted is the channel capacity of the channel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Axiomatic Approach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76400"/>
            <a:ext cx="7315200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828800"/>
            <a:ext cx="8228301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Probability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6338" y="1976438"/>
            <a:ext cx="67913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Bayes</a:t>
            </a:r>
            <a:r>
              <a:rPr lang="en-GB" dirty="0" smtClean="0"/>
              <a:t> Rule</a:t>
            </a:r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743200"/>
            <a:ext cx="6249273" cy="161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Independence between Events</a:t>
            </a:r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2541" y="1909763"/>
            <a:ext cx="8312368" cy="334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066925"/>
            <a:ext cx="77057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Information?</a:t>
            </a:r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828800"/>
            <a:ext cx="74009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2743200"/>
            <a:ext cx="71437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7000" y="3886200"/>
            <a:ext cx="30956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5800" y="4953000"/>
            <a:ext cx="56483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066800"/>
            <a:ext cx="72961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2514600"/>
            <a:ext cx="751522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Entropy ??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                           NEXT LECTURE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Thank you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893</Words>
  <Application>Microsoft Office PowerPoint</Application>
  <PresentationFormat>On-screen Show (4:3)</PresentationFormat>
  <Paragraphs>224</Paragraphs>
  <Slides>36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Equation</vt:lpstr>
      <vt:lpstr>ET 8403</vt:lpstr>
      <vt:lpstr>Introduction </vt:lpstr>
      <vt:lpstr>Digital Communications Systems</vt:lpstr>
      <vt:lpstr>Slide 4</vt:lpstr>
      <vt:lpstr>Model of a Digital Communication System</vt:lpstr>
      <vt:lpstr>Communication Channel Includes</vt:lpstr>
      <vt:lpstr>Shannon’s Definition of Communication</vt:lpstr>
      <vt:lpstr>Shannon Wants to…</vt:lpstr>
      <vt:lpstr>Shannon’s Vision</vt:lpstr>
      <vt:lpstr>Example: Disk Storage </vt:lpstr>
      <vt:lpstr>In terms of Information Theory Terminology</vt:lpstr>
      <vt:lpstr>Example: VCD and DVD</vt:lpstr>
      <vt:lpstr>Example: Cellular Phone</vt:lpstr>
      <vt:lpstr>Example: WLAN IEEE 802.11b</vt:lpstr>
      <vt:lpstr>Shannon Theory</vt:lpstr>
      <vt:lpstr>Measurement of Information</vt:lpstr>
      <vt:lpstr>Or this…</vt:lpstr>
      <vt:lpstr>All events are probabilistic!</vt:lpstr>
      <vt:lpstr>For example</vt:lpstr>
      <vt:lpstr>Wait! It is nonsense!</vt:lpstr>
      <vt:lpstr>Shannon’s First Source Coding Theorem</vt:lpstr>
      <vt:lpstr>Meaning:</vt:lpstr>
      <vt:lpstr>But Shannon said:</vt:lpstr>
      <vt:lpstr>Let’s Do Some Test!</vt:lpstr>
      <vt:lpstr>But With 50 Years of Hard Work</vt:lpstr>
      <vt:lpstr>Nowadays…</vt:lpstr>
      <vt:lpstr>Slide 27</vt:lpstr>
      <vt:lpstr>Axiomatic Approach</vt:lpstr>
      <vt:lpstr>Slide 29</vt:lpstr>
      <vt:lpstr>Conditional Probability</vt:lpstr>
      <vt:lpstr>Bayes Rule</vt:lpstr>
      <vt:lpstr>Independence between Events</vt:lpstr>
      <vt:lpstr>Slide 33</vt:lpstr>
      <vt:lpstr>What is Information?</vt:lpstr>
      <vt:lpstr>Slide 35</vt:lpstr>
      <vt:lpstr>Slide 36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8403</dc:title>
  <dc:creator>user</dc:creator>
  <cp:lastModifiedBy>Windows User</cp:lastModifiedBy>
  <cp:revision>3</cp:revision>
  <dcterms:created xsi:type="dcterms:W3CDTF">2006-08-16T00:00:00Z</dcterms:created>
  <dcterms:modified xsi:type="dcterms:W3CDTF">2024-11-04T15:52:06Z</dcterms:modified>
</cp:coreProperties>
</file>