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256" r:id="rId2"/>
    <p:sldId id="257" r:id="rId3"/>
    <p:sldId id="371" r:id="rId4"/>
    <p:sldId id="372" r:id="rId5"/>
    <p:sldId id="373" r:id="rId6"/>
    <p:sldId id="313" r:id="rId7"/>
    <p:sldId id="374" r:id="rId8"/>
    <p:sldId id="375" r:id="rId9"/>
    <p:sldId id="376" r:id="rId10"/>
    <p:sldId id="377" r:id="rId11"/>
    <p:sldId id="378" r:id="rId12"/>
    <p:sldId id="379" r:id="rId13"/>
    <p:sldId id="380" r:id="rId14"/>
    <p:sldId id="381" r:id="rId15"/>
    <p:sldId id="322" r:id="rId16"/>
    <p:sldId id="323" r:id="rId17"/>
    <p:sldId id="383" r:id="rId18"/>
    <p:sldId id="384" r:id="rId19"/>
    <p:sldId id="385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86" r:id="rId28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347" r:id="rId41"/>
    <p:sldId id="348" r:id="rId42"/>
    <p:sldId id="349" r:id="rId43"/>
    <p:sldId id="350" r:id="rId44"/>
    <p:sldId id="387" r:id="rId45"/>
    <p:sldId id="352" r:id="rId46"/>
    <p:sldId id="388" r:id="rId47"/>
    <p:sldId id="353" r:id="rId48"/>
    <p:sldId id="355" r:id="rId49"/>
    <p:sldId id="389" r:id="rId50"/>
    <p:sldId id="390" r:id="rId51"/>
    <p:sldId id="361" r:id="rId52"/>
    <p:sldId id="263" r:id="rId53"/>
    <p:sldId id="366" r:id="rId54"/>
    <p:sldId id="367" r:id="rId55"/>
    <p:sldId id="368" r:id="rId56"/>
    <p:sldId id="369" r:id="rId57"/>
    <p:sldId id="370" r:id="rId58"/>
    <p:sldId id="391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C0D959-CDAE-24F5-4620-457E9AFDE4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4FF9B7-C1DC-5C2A-209C-784CAAC466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EF7FC-487B-4E9D-8F2E-2B51B46DC10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9C81D-EBFC-CF3B-FAD6-6F1AAC2682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DE9E8-34ED-0448-7BBE-59341210FD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CA78E-4B9F-4892-A79D-EEE995724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538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2F5C5-E85C-48A8-91B8-F4698F6CCB3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CE6D4-BE8B-4C10-A29D-B1AE03E20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3101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52FAB-3DC6-5878-1239-CB60C2A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807CF-C4DB-143D-3658-0F61E7E51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1980F-046E-60C6-58E3-9C1171947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3D34-F5A7-4D59-B3D0-0D73AD8D1C2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AF2F7-61D3-BC3C-588C-46C90ED2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6BDD7-0ED9-B8B3-8A7F-732D69EF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462F-4F37-48F3-861B-38915B341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2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DEEF5-BD83-5F9F-A1F6-0D2839CD8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619C-5B75-D858-29D9-9B615561F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59772-5A12-24DD-DFDC-401512AEC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3D34-F5A7-4D59-B3D0-0D73AD8D1C2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A6DCB-E9AA-901B-E1F7-263CE420A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E837B-4940-462C-2B2E-C06DFC6C0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462F-4F37-48F3-861B-38915B341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9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5FCEA-0653-CBC8-A15F-0319A9FB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9D6B3-52AA-6D2E-0F3B-BAADDAE2A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F2C4B-E6B2-D47D-A11E-ADDB5E2F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3D34-F5A7-4D59-B3D0-0D73AD8D1C2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97593-F006-D52A-9F27-3F60E2E0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E4DA4-2385-2EDC-9EC3-6381C2DB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462F-4F37-48F3-861B-38915B341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18BC-3BC7-4D6F-E3B7-311F054F7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345A4-D0E3-77D3-6511-6FE4E98C67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3CB2F-6444-D2EF-FBB5-2A771DD3A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4F5E2-AD2E-D2B6-9FDC-2568BB3D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3D34-F5A7-4D59-B3D0-0D73AD8D1C2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CA448-C7C8-1754-C0E2-63C67E8FC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731B4-E4E5-8A96-1498-ECF89958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462F-4F37-48F3-861B-38915B341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8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5A78-1BF2-15DA-FB52-8BD8B015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761B3-FE72-5A9A-7958-8C359AB31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406C3-18E7-C507-F092-8916BDF9D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F1015A-3E53-BF4F-AA4D-D34688B50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6CA27F-9E56-3793-0279-E64989733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2E2000-4B04-1C82-6DC8-3A1312040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3D34-F5A7-4D59-B3D0-0D73AD8D1C2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934E80-6D16-152A-C13D-B525DF7C3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E846D-65CC-C56F-5C76-1407C608F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462F-4F37-48F3-861B-38915B341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8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8B05B-B715-72E6-DF86-771ADB91A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5E7D67-B201-D47A-1B54-3A2777B12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3D34-F5A7-4D59-B3D0-0D73AD8D1C2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2C395-27A4-8E81-E803-E2B573C8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48B94-F3BC-C3C6-D335-79E10915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462F-4F37-48F3-861B-38915B341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230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8728F-B4A6-326B-B145-105389D77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3D34-F5A7-4D59-B3D0-0D73AD8D1C2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7BFFC9-2B06-49BF-5377-384E8520F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64F77-40E8-6D7D-2AF3-7B018FC0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462F-4F37-48F3-861B-38915B341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7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E4B2-AAAF-8206-8B8E-98E525ED0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97684-BD02-2DA3-46F8-10FC024D8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40A83-EA91-82B6-6D46-AB1EA45A2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4980B-6B80-7FCF-6618-C3292CCA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3D34-F5A7-4D59-B3D0-0D73AD8D1C2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782DC-9CDC-DEC1-AEAC-261A442CC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BE7CD-F622-6B90-205E-3F58675D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462F-4F37-48F3-861B-38915B341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5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07545-0A92-6E15-7B46-E593B032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170D5-7F79-9C07-B752-1D94FC37E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32880-B949-316D-D7C7-8D05774E2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AF7D-F81D-AD80-2CC9-2385740E3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3D34-F5A7-4D59-B3D0-0D73AD8D1C2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3A96D-57AC-EC34-DC78-01A1F8DE5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34E2F-A4E9-94E8-A52E-5A07A37F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462F-4F37-48F3-861B-38915B341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9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B644B-7E8B-8A42-2BCF-F11E0C62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5CA43-6546-359A-109A-FB835AD23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E2082-C2B3-43C8-E894-F974B74E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3D34-F5A7-4D59-B3D0-0D73AD8D1C2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C5544-5F9D-D05B-078B-F39E1C39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08C6F-85D3-84E6-EA34-24D16A97A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462F-4F37-48F3-861B-38915B341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65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1835EC-3636-555D-31E7-9F04D1137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985B6-E626-9FFF-6BFC-99F8D327E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94222-CFEC-8C38-9C8F-E4EB0A53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3D34-F5A7-4D59-B3D0-0D73AD8D1C2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2137C-6540-55EF-822B-A26EC999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70509-BA60-3358-B490-D27BDEAC7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462F-4F37-48F3-861B-38915B341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1EDE7B-C74C-06F3-00E3-8928180BA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82D6D-03E0-EAAD-283D-374AB0CA9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08E7A-9733-203E-B771-348B273DF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B3D34-F5A7-4D59-B3D0-0D73AD8D1C2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9F622-06B7-E58B-83CA-82D943C63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5C02E-8DE5-15CF-E936-8A2A6C54A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2462F-4F37-48F3-861B-38915B341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7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934A-2B3C-E32B-8B0D-2749873D67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EMPIRICAL PROPAGATION MODELS</a:t>
            </a:r>
          </a:p>
        </p:txBody>
      </p:sp>
    </p:spTree>
    <p:extLst>
      <p:ext uri="{BB962C8B-B14F-4D97-AF65-F5344CB8AC3E}">
        <p14:creationId xmlns:p14="http://schemas.microsoft.com/office/powerpoint/2010/main" val="22639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515E1-CADF-5EA7-474B-04194F5DA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0D601-33FF-6A1E-93DD-2B624D59C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Empirical propagation models are </a:t>
            </a:r>
            <a:r>
              <a:rPr lang="en-US" b="1" dirty="0"/>
              <a:t>measurement-based radio wave propagation models</a:t>
            </a:r>
            <a:r>
              <a:rPr lang="en-US" dirty="0"/>
              <a:t> developed from extensive field experiments.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Unlike theoretical models (e.g., Free Space), empirical models incorporate </a:t>
            </a:r>
            <a:r>
              <a:rPr lang="en-US" b="1" dirty="0"/>
              <a:t>real environmental effects</a:t>
            </a:r>
            <a:r>
              <a:rPr lang="en-US" dirty="0"/>
              <a:t> such as buildings, terrain, foliage, and human activity.</a:t>
            </a:r>
          </a:p>
        </p:txBody>
      </p:sp>
    </p:spTree>
    <p:extLst>
      <p:ext uri="{BB962C8B-B14F-4D97-AF65-F5344CB8AC3E}">
        <p14:creationId xmlns:p14="http://schemas.microsoft.com/office/powerpoint/2010/main" val="155801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8FB5A-E122-6A31-1F3A-1D8093C3F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6894"/>
            <a:ext cx="10515600" cy="5981351"/>
          </a:xfrm>
        </p:spPr>
        <p:txBody>
          <a:bodyPr>
            <a:normAutofit lnSpcReduction="10000"/>
          </a:bodyPr>
          <a:lstStyle/>
          <a:p>
            <a:pPr marL="356870" indent="-344170" algn="just">
              <a:lnSpc>
                <a:spcPct val="150000"/>
              </a:lnSpc>
              <a:spcBef>
                <a:spcPts val="110"/>
              </a:spcBef>
              <a:buClr>
                <a:srgbClr val="009999"/>
              </a:buClr>
              <a:buSzPct val="65909"/>
              <a:buFont typeface="Wingdings"/>
              <a:buChar char=""/>
              <a:tabLst>
                <a:tab pos="356870" algn="l"/>
              </a:tabLst>
            </a:pPr>
            <a:r>
              <a:rPr lang="en-US" sz="2200" dirty="0">
                <a:latin typeface="Arial"/>
                <a:cs typeface="Arial"/>
              </a:rPr>
              <a:t>The</a:t>
            </a:r>
            <a:r>
              <a:rPr lang="en-US" sz="2200" spc="-6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mobile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radio</a:t>
            </a:r>
            <a:r>
              <a:rPr lang="en-US" sz="2200" spc="-6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channel</a:t>
            </a:r>
            <a:r>
              <a:rPr lang="en-US" sz="2200" spc="-4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places</a:t>
            </a:r>
            <a:r>
              <a:rPr lang="en-US" sz="2200" spc="-10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fundamental</a:t>
            </a:r>
            <a:r>
              <a:rPr lang="en-US" sz="22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limitations</a:t>
            </a:r>
            <a:r>
              <a:rPr lang="en-US" sz="2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spc="-25" dirty="0">
                <a:latin typeface="Arial"/>
                <a:cs typeface="Arial"/>
              </a:rPr>
              <a:t>on</a:t>
            </a:r>
            <a:r>
              <a:rPr lang="en-US" sz="2200" dirty="0">
                <a:latin typeface="Arial"/>
                <a:cs typeface="Arial"/>
              </a:rPr>
              <a:t> the</a:t>
            </a:r>
            <a:r>
              <a:rPr lang="en-US" sz="2200" spc="-30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performance</a:t>
            </a:r>
            <a:r>
              <a:rPr lang="en-US" sz="22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of</a:t>
            </a:r>
            <a:r>
              <a:rPr lang="en-US" sz="2200" spc="-1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a wireless</a:t>
            </a:r>
            <a:r>
              <a:rPr lang="en-US" sz="2200" spc="2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communication</a:t>
            </a:r>
            <a:r>
              <a:rPr lang="en-US" sz="2200" spc="-50" dirty="0">
                <a:latin typeface="Arial"/>
                <a:cs typeface="Arial"/>
              </a:rPr>
              <a:t> </a:t>
            </a:r>
            <a:r>
              <a:rPr lang="en-US" sz="2200" spc="-10" dirty="0">
                <a:latin typeface="Arial"/>
                <a:cs typeface="Arial"/>
              </a:rPr>
              <a:t>system</a:t>
            </a:r>
            <a:endParaRPr lang="en-US" sz="2200" dirty="0">
              <a:latin typeface="Arial"/>
              <a:cs typeface="Arial"/>
            </a:endParaRPr>
          </a:p>
          <a:p>
            <a:pPr marL="356870" indent="-344170" algn="just">
              <a:lnSpc>
                <a:spcPct val="150000"/>
              </a:lnSpc>
              <a:spcBef>
                <a:spcPts val="530"/>
              </a:spcBef>
              <a:buClr>
                <a:srgbClr val="009999"/>
              </a:buClr>
              <a:buSzPct val="65909"/>
              <a:buFont typeface="Wingdings"/>
              <a:buChar char=""/>
              <a:tabLst>
                <a:tab pos="356870" algn="l"/>
              </a:tabLst>
            </a:pPr>
            <a:r>
              <a:rPr lang="en-US" sz="2200" dirty="0">
                <a:latin typeface="Arial"/>
                <a:cs typeface="Arial"/>
              </a:rPr>
              <a:t>The</a:t>
            </a:r>
            <a:r>
              <a:rPr lang="en-US" sz="2200" spc="-5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wireless</a:t>
            </a:r>
            <a:r>
              <a:rPr lang="en-US" sz="2200" spc="-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transmission</a:t>
            </a:r>
            <a:r>
              <a:rPr lang="en-US" sz="2200" spc="-7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path</a:t>
            </a:r>
            <a:r>
              <a:rPr lang="en-US" sz="2200" spc="-4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may</a:t>
            </a:r>
            <a:r>
              <a:rPr lang="en-US" sz="2200" spc="-50" dirty="0">
                <a:latin typeface="Arial"/>
                <a:cs typeface="Arial"/>
              </a:rPr>
              <a:t> </a:t>
            </a:r>
            <a:r>
              <a:rPr lang="en-US" sz="2200" spc="-25" dirty="0">
                <a:latin typeface="Arial"/>
                <a:cs typeface="Arial"/>
              </a:rPr>
              <a:t>be</a:t>
            </a:r>
            <a:endParaRPr lang="en-US" sz="2200" dirty="0">
              <a:latin typeface="Arial"/>
              <a:cs typeface="Arial"/>
            </a:endParaRPr>
          </a:p>
          <a:p>
            <a:pPr marL="682625" lvl="1" indent="-325755" algn="just">
              <a:lnSpc>
                <a:spcPct val="150000"/>
              </a:lnSpc>
              <a:spcBef>
                <a:spcPts val="530"/>
              </a:spcBef>
              <a:buClr>
                <a:srgbClr val="4B6C4E"/>
              </a:buClr>
              <a:buSzPct val="59090"/>
              <a:buFont typeface="Wingdings"/>
              <a:buChar char=""/>
              <a:tabLst>
                <a:tab pos="682625" algn="l"/>
              </a:tabLst>
            </a:pPr>
            <a:r>
              <a:rPr lang="en-US" sz="2200" dirty="0">
                <a:latin typeface="Arial"/>
                <a:cs typeface="Arial"/>
              </a:rPr>
              <a:t>Line</a:t>
            </a:r>
            <a:r>
              <a:rPr lang="en-US" sz="2200" spc="-1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of</a:t>
            </a:r>
            <a:r>
              <a:rPr lang="en-US" sz="2200" spc="-1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Sight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10" dirty="0">
                <a:latin typeface="Arial"/>
                <a:cs typeface="Arial"/>
              </a:rPr>
              <a:t>(LOS)</a:t>
            </a:r>
            <a:endParaRPr lang="en-US" sz="2200" dirty="0">
              <a:latin typeface="Arial"/>
              <a:cs typeface="Arial"/>
            </a:endParaRPr>
          </a:p>
          <a:p>
            <a:pPr marL="682625" lvl="1" indent="-325755" algn="just">
              <a:lnSpc>
                <a:spcPct val="150000"/>
              </a:lnSpc>
              <a:spcBef>
                <a:spcPts val="530"/>
              </a:spcBef>
              <a:buClr>
                <a:srgbClr val="4B6C4E"/>
              </a:buClr>
              <a:buSzPct val="59090"/>
              <a:buFont typeface="Wingdings"/>
              <a:buChar char=""/>
              <a:tabLst>
                <a:tab pos="682625" algn="l"/>
              </a:tabLst>
            </a:pPr>
            <a:r>
              <a:rPr lang="en-US" sz="2200" dirty="0">
                <a:latin typeface="Arial"/>
                <a:cs typeface="Arial"/>
              </a:rPr>
              <a:t>Non</a:t>
            </a:r>
            <a:r>
              <a:rPr lang="en-US" sz="2200" spc="-1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line</a:t>
            </a:r>
            <a:r>
              <a:rPr lang="en-US" sz="2200" spc="-1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of</a:t>
            </a:r>
            <a:r>
              <a:rPr lang="en-US" sz="2200" spc="-2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Sight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10" dirty="0">
                <a:latin typeface="Arial"/>
                <a:cs typeface="Arial"/>
              </a:rPr>
              <a:t>(NLOS)</a:t>
            </a:r>
            <a:endParaRPr lang="en-US" sz="2200" dirty="0">
              <a:latin typeface="Arial"/>
              <a:cs typeface="Arial"/>
            </a:endParaRPr>
          </a:p>
          <a:p>
            <a:pPr marL="356870" indent="-344170" algn="just">
              <a:lnSpc>
                <a:spcPct val="150000"/>
              </a:lnSpc>
              <a:spcBef>
                <a:spcPts val="530"/>
              </a:spcBef>
              <a:buClr>
                <a:srgbClr val="009999"/>
              </a:buClr>
              <a:buSzPct val="65909"/>
              <a:buFont typeface="Wingdings"/>
              <a:buChar char=""/>
              <a:tabLst>
                <a:tab pos="356870" algn="l"/>
              </a:tabLst>
            </a:pPr>
            <a:r>
              <a:rPr lang="en-US" sz="2200" dirty="0">
                <a:latin typeface="Arial"/>
                <a:cs typeface="Arial"/>
              </a:rPr>
              <a:t>Radio</a:t>
            </a:r>
            <a:r>
              <a:rPr lang="en-US" sz="2200" spc="-3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channels</a:t>
            </a:r>
            <a:r>
              <a:rPr lang="en-US" sz="2200" spc="-3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are</a:t>
            </a:r>
            <a:r>
              <a:rPr lang="en-US" sz="2200" spc="-35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random</a:t>
            </a:r>
            <a:r>
              <a:rPr lang="en-US" sz="2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and</a:t>
            </a:r>
            <a:r>
              <a:rPr lang="en-US" sz="2200" spc="-30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time</a:t>
            </a:r>
            <a:r>
              <a:rPr lang="en-US" sz="22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spc="-10" dirty="0">
                <a:solidFill>
                  <a:srgbClr val="FF0000"/>
                </a:solidFill>
                <a:latin typeface="Arial"/>
                <a:cs typeface="Arial"/>
              </a:rPr>
              <a:t>varying</a:t>
            </a:r>
            <a:endParaRPr lang="en-US" sz="2200" dirty="0">
              <a:latin typeface="Arial"/>
              <a:cs typeface="Arial"/>
            </a:endParaRPr>
          </a:p>
          <a:p>
            <a:pPr marL="356870" indent="-344170" algn="just">
              <a:lnSpc>
                <a:spcPct val="150000"/>
              </a:lnSpc>
              <a:spcBef>
                <a:spcPts val="530"/>
              </a:spcBef>
              <a:buClr>
                <a:srgbClr val="009999"/>
              </a:buClr>
              <a:buSzPct val="65909"/>
              <a:buFont typeface="Wingdings"/>
              <a:buChar char=""/>
              <a:tabLst>
                <a:tab pos="356870" algn="l"/>
              </a:tabLst>
            </a:pPr>
            <a:r>
              <a:rPr lang="en-US" sz="2200" dirty="0">
                <a:latin typeface="Arial"/>
                <a:cs typeface="Arial"/>
              </a:rPr>
              <a:t>Modeling</a:t>
            </a:r>
            <a:r>
              <a:rPr lang="en-US" sz="2200" spc="1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radio</a:t>
            </a:r>
            <a:r>
              <a:rPr lang="en-US" sz="2200" spc="-2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channels</a:t>
            </a:r>
            <a:r>
              <a:rPr lang="en-US" sz="2200" spc="-4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have</a:t>
            </a:r>
            <a:r>
              <a:rPr lang="en-US" sz="2200" spc="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been</a:t>
            </a:r>
            <a:r>
              <a:rPr lang="en-US" sz="2200" spc="-4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one</a:t>
            </a:r>
            <a:r>
              <a:rPr lang="en-US" sz="2200" spc="-3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of</a:t>
            </a:r>
            <a:r>
              <a:rPr lang="en-US" sz="2200" spc="-2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the</a:t>
            </a:r>
            <a:r>
              <a:rPr lang="en-US" sz="2200" spc="-20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difficult</a:t>
            </a:r>
            <a:r>
              <a:rPr lang="en-US" sz="22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parts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25" dirty="0">
                <a:latin typeface="Arial"/>
                <a:cs typeface="Arial"/>
              </a:rPr>
              <a:t>of</a:t>
            </a:r>
            <a:r>
              <a:rPr lang="en-US" sz="2200" dirty="0">
                <a:latin typeface="Arial"/>
                <a:cs typeface="Arial"/>
              </a:rPr>
              <a:t> mobile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radio</a:t>
            </a:r>
            <a:r>
              <a:rPr lang="en-US" sz="2200" spc="-3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design</a:t>
            </a:r>
            <a:r>
              <a:rPr lang="en-US" sz="2200" spc="-8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and</a:t>
            </a:r>
            <a:r>
              <a:rPr lang="en-US" sz="2200" spc="-3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is</a:t>
            </a:r>
            <a:r>
              <a:rPr lang="en-US" sz="2200" spc="-15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done</a:t>
            </a:r>
            <a:r>
              <a:rPr lang="en-US" sz="2400" spc="-8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in</a:t>
            </a:r>
            <a:r>
              <a:rPr lang="en-US" sz="2400" spc="-20" dirty="0"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statistical</a:t>
            </a:r>
            <a:r>
              <a:rPr lang="en-US" sz="24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400" spc="-10" dirty="0">
                <a:solidFill>
                  <a:srgbClr val="FF0000"/>
                </a:solidFill>
                <a:latin typeface="Arial"/>
                <a:cs typeface="Arial"/>
              </a:rPr>
              <a:t>manner</a:t>
            </a:r>
            <a:endParaRPr lang="en-US" sz="2400" dirty="0">
              <a:latin typeface="Arial"/>
              <a:cs typeface="Arial"/>
            </a:endParaRPr>
          </a:p>
          <a:p>
            <a:pPr marL="356870" indent="-344170" algn="just">
              <a:lnSpc>
                <a:spcPct val="150000"/>
              </a:lnSpc>
              <a:spcBef>
                <a:spcPts val="535"/>
              </a:spcBef>
              <a:buClr>
                <a:srgbClr val="009999"/>
              </a:buClr>
              <a:buSzPct val="65909"/>
              <a:buFont typeface="Wingdings"/>
              <a:buChar char=""/>
              <a:tabLst>
                <a:tab pos="356870" algn="l"/>
              </a:tabLst>
            </a:pPr>
            <a:r>
              <a:rPr lang="en-US" sz="2200" dirty="0">
                <a:latin typeface="Arial"/>
                <a:cs typeface="Arial"/>
              </a:rPr>
              <a:t>When</a:t>
            </a:r>
            <a:r>
              <a:rPr lang="en-US" sz="2200" spc="-9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electrons</a:t>
            </a:r>
            <a:r>
              <a:rPr lang="en-US" sz="2200" spc="-2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move, they</a:t>
            </a:r>
            <a:r>
              <a:rPr lang="en-US" sz="2200" spc="-2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create</a:t>
            </a:r>
            <a:r>
              <a:rPr lang="en-US" sz="2200" spc="-35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EM</a:t>
            </a:r>
            <a:r>
              <a:rPr lang="en-US" sz="22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waves</a:t>
            </a:r>
            <a:r>
              <a:rPr lang="en-US" sz="2200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that</a:t>
            </a:r>
            <a:r>
              <a:rPr lang="en-US" sz="2200" spc="-35" dirty="0">
                <a:latin typeface="Arial"/>
                <a:cs typeface="Arial"/>
              </a:rPr>
              <a:t> </a:t>
            </a:r>
            <a:r>
              <a:rPr lang="en-US" sz="2200" spc="-25" dirty="0">
                <a:latin typeface="Arial"/>
                <a:cs typeface="Arial"/>
              </a:rPr>
              <a:t>can</a:t>
            </a:r>
            <a:r>
              <a:rPr lang="en-US" sz="2200" dirty="0">
                <a:latin typeface="Arial"/>
                <a:cs typeface="Arial"/>
              </a:rPr>
              <a:t> propagate</a:t>
            </a:r>
            <a:r>
              <a:rPr lang="en-US" sz="2200" spc="-6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through</a:t>
            </a:r>
            <a:r>
              <a:rPr lang="en-US" sz="2200" spc="-60" dirty="0">
                <a:latin typeface="Arial"/>
                <a:cs typeface="Arial"/>
              </a:rPr>
              <a:t> </a:t>
            </a:r>
            <a:r>
              <a:rPr lang="en-US" sz="2200" spc="-10" dirty="0">
                <a:latin typeface="Arial"/>
                <a:cs typeface="Arial"/>
              </a:rPr>
              <a:t>space.</a:t>
            </a:r>
            <a:endParaRPr lang="en-US" sz="2200" dirty="0">
              <a:latin typeface="Arial"/>
              <a:cs typeface="Arial"/>
            </a:endParaRPr>
          </a:p>
          <a:p>
            <a:pPr marL="356870" marR="586740" indent="-344805" algn="just">
              <a:lnSpc>
                <a:spcPct val="150000"/>
              </a:lnSpc>
              <a:spcBef>
                <a:spcPts val="530"/>
              </a:spcBef>
              <a:buClr>
                <a:srgbClr val="009999"/>
              </a:buClr>
              <a:buSzPct val="65909"/>
              <a:buFont typeface="Wingdings"/>
              <a:buChar char=""/>
              <a:tabLst>
                <a:tab pos="356870" algn="l"/>
              </a:tabLst>
            </a:pPr>
            <a:r>
              <a:rPr lang="en-US" sz="2200" dirty="0">
                <a:latin typeface="Arial"/>
                <a:cs typeface="Arial"/>
              </a:rPr>
              <a:t>By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using</a:t>
            </a:r>
            <a:r>
              <a:rPr lang="en-US" sz="2200" spc="-15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antennas</a:t>
            </a:r>
            <a:r>
              <a:rPr lang="en-US" sz="22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we</a:t>
            </a:r>
            <a:r>
              <a:rPr lang="en-US" sz="2200" spc="1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can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transmit</a:t>
            </a:r>
            <a:r>
              <a:rPr lang="en-US" sz="2200" spc="-5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and</a:t>
            </a:r>
            <a:r>
              <a:rPr lang="en-US" sz="2200" spc="-2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receive</a:t>
            </a:r>
            <a:r>
              <a:rPr lang="en-US" sz="2200" spc="-2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these</a:t>
            </a:r>
            <a:r>
              <a:rPr lang="en-US" sz="2200" spc="-40" dirty="0">
                <a:latin typeface="Arial"/>
                <a:cs typeface="Arial"/>
              </a:rPr>
              <a:t> </a:t>
            </a:r>
            <a:r>
              <a:rPr lang="en-US" sz="2200" spc="-25" dirty="0">
                <a:latin typeface="Arial"/>
                <a:cs typeface="Arial"/>
              </a:rPr>
              <a:t>EM </a:t>
            </a:r>
            <a:r>
              <a:rPr lang="en-US" sz="2200" spc="-20" dirty="0">
                <a:latin typeface="Arial"/>
                <a:cs typeface="Arial"/>
              </a:rPr>
              <a:t>wave</a:t>
            </a:r>
            <a:endParaRPr lang="en-US" sz="2200" dirty="0">
              <a:latin typeface="Arial"/>
              <a:cs typeface="Arial"/>
            </a:endParaRPr>
          </a:p>
          <a:p>
            <a:pPr marL="356870" indent="-344170" algn="just">
              <a:lnSpc>
                <a:spcPct val="150000"/>
              </a:lnSpc>
              <a:spcBef>
                <a:spcPts val="530"/>
              </a:spcBef>
              <a:buClr>
                <a:srgbClr val="009999"/>
              </a:buClr>
              <a:buSzPct val="65909"/>
              <a:buFont typeface="Wingdings"/>
              <a:buChar char=""/>
              <a:tabLst>
                <a:tab pos="356870" algn="l"/>
              </a:tabLst>
            </a:pPr>
            <a:r>
              <a:rPr lang="en-US" sz="2200" dirty="0">
                <a:latin typeface="Arial"/>
                <a:cs typeface="Arial"/>
              </a:rPr>
              <a:t>Microwave</a:t>
            </a:r>
            <a:r>
              <a:rPr lang="en-US" sz="2200" spc="2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,Infrared</a:t>
            </a:r>
            <a:r>
              <a:rPr lang="en-US" sz="2200" spc="-10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visible</a:t>
            </a:r>
            <a:r>
              <a:rPr lang="en-US" sz="2200" spc="-1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light</a:t>
            </a:r>
            <a:r>
              <a:rPr lang="en-US" sz="2200" spc="-50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and</a:t>
            </a:r>
            <a:r>
              <a:rPr lang="en-US" sz="2200" spc="-35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radio</a:t>
            </a:r>
            <a:r>
              <a:rPr lang="en-US" sz="22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waves</a:t>
            </a:r>
            <a:r>
              <a:rPr lang="en-US" sz="22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can</a:t>
            </a:r>
            <a:r>
              <a:rPr lang="en-US" sz="2200" spc="-45" dirty="0">
                <a:latin typeface="Arial"/>
                <a:cs typeface="Arial"/>
              </a:rPr>
              <a:t> </a:t>
            </a:r>
            <a:r>
              <a:rPr lang="en-US" sz="2200" dirty="0">
                <a:latin typeface="Arial"/>
                <a:cs typeface="Arial"/>
              </a:rPr>
              <a:t>be</a:t>
            </a:r>
            <a:r>
              <a:rPr lang="en-US" sz="2200" spc="-45" dirty="0">
                <a:latin typeface="Arial"/>
                <a:cs typeface="Arial"/>
              </a:rPr>
              <a:t> </a:t>
            </a:r>
            <a:r>
              <a:rPr lang="en-US" sz="2200" spc="-10" dirty="0">
                <a:latin typeface="Arial"/>
                <a:cs typeface="Arial"/>
              </a:rPr>
              <a:t>used.</a:t>
            </a:r>
            <a:endParaRPr lang="en-US" sz="22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14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D12F-758C-3FE7-EEC8-B0C75E6BF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99"/>
                </a:solidFill>
                <a:latin typeface="Arial"/>
                <a:cs typeface="Arial"/>
              </a:rPr>
              <a:t>Properties</a:t>
            </a:r>
            <a:r>
              <a:rPr lang="en-US" spc="-3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3399"/>
                </a:solidFill>
                <a:latin typeface="Arial"/>
                <a:cs typeface="Arial"/>
              </a:rPr>
              <a:t>of</a:t>
            </a:r>
            <a:r>
              <a:rPr lang="en-US" spc="-3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3399"/>
                </a:solidFill>
                <a:latin typeface="Arial"/>
                <a:cs typeface="Arial"/>
              </a:rPr>
              <a:t>Radio</a:t>
            </a:r>
            <a:r>
              <a:rPr lang="en-US" spc="-2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003399"/>
                </a:solidFill>
                <a:latin typeface="Arial"/>
                <a:cs typeface="Arial"/>
              </a:rPr>
              <a:t>Waves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5C0B5-61DB-2925-25DA-E7C96958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56870" indent="-344170">
              <a:spcBef>
                <a:spcPts val="110"/>
              </a:spcBef>
              <a:buClr>
                <a:srgbClr val="009999"/>
              </a:buClr>
              <a:buSzPct val="65909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Are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easy</a:t>
            </a:r>
            <a:r>
              <a:rPr lang="en-US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lang="en-US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generate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165"/>
              </a:spcBef>
              <a:buClr>
                <a:srgbClr val="009999"/>
              </a:buClr>
              <a:buFont typeface="Wingdings"/>
              <a:buChar char=""/>
            </a:pPr>
            <a:endParaRPr lang="en-US" dirty="0">
              <a:latin typeface="Arial"/>
              <a:cs typeface="Arial"/>
            </a:endParaRPr>
          </a:p>
          <a:p>
            <a:pPr marL="356870" indent="-344170">
              <a:buClr>
                <a:srgbClr val="009999"/>
              </a:buClr>
              <a:buSzPct val="65909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Can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travel</a:t>
            </a:r>
            <a:r>
              <a:rPr lang="en-US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long</a:t>
            </a:r>
            <a:r>
              <a:rPr lang="en-US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distances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170"/>
              </a:spcBef>
              <a:buClr>
                <a:srgbClr val="009999"/>
              </a:buClr>
              <a:buFont typeface="Wingdings"/>
              <a:buChar char=""/>
            </a:pPr>
            <a:endParaRPr lang="en-US" dirty="0">
              <a:latin typeface="Arial"/>
              <a:cs typeface="Arial"/>
            </a:endParaRPr>
          </a:p>
          <a:p>
            <a:pPr marL="356870" indent="-344170">
              <a:spcBef>
                <a:spcPts val="5"/>
              </a:spcBef>
              <a:buClr>
                <a:srgbClr val="009999"/>
              </a:buClr>
              <a:buSzPct val="65909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Can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penetrate</a:t>
            </a:r>
            <a:r>
              <a:rPr lang="en-US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buildings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165"/>
              </a:spcBef>
              <a:buClr>
                <a:srgbClr val="009999"/>
              </a:buClr>
              <a:buFont typeface="Wingdings"/>
              <a:buChar char=""/>
            </a:pPr>
            <a:endParaRPr lang="en-US" dirty="0">
              <a:latin typeface="Arial"/>
              <a:cs typeface="Arial"/>
            </a:endParaRPr>
          </a:p>
          <a:p>
            <a:pPr marL="356870" indent="-344170">
              <a:buClr>
                <a:srgbClr val="009999"/>
              </a:buClr>
              <a:buSzPct val="65909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May</a:t>
            </a:r>
            <a:r>
              <a:rPr lang="en-US" spc="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be</a:t>
            </a:r>
            <a:r>
              <a:rPr lang="en-US" spc="-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used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both</a:t>
            </a:r>
            <a:r>
              <a:rPr lang="en-US" spc="-15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indoor</a:t>
            </a:r>
            <a:r>
              <a:rPr lang="en-US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outdoor</a:t>
            </a:r>
            <a:r>
              <a:rPr lang="en-US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coverage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170"/>
              </a:spcBef>
              <a:buClr>
                <a:srgbClr val="009999"/>
              </a:buClr>
              <a:buFont typeface="Wingdings"/>
              <a:buChar char=""/>
            </a:pPr>
            <a:endParaRPr lang="en-US" dirty="0">
              <a:latin typeface="Arial"/>
              <a:cs typeface="Arial"/>
            </a:endParaRPr>
          </a:p>
          <a:p>
            <a:pPr marL="356870" indent="-344170">
              <a:buClr>
                <a:srgbClr val="009999"/>
              </a:buClr>
              <a:buSzPct val="65909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Are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omni-directional</a:t>
            </a:r>
            <a:r>
              <a:rPr lang="en-US" spc="-10" dirty="0">
                <a:latin typeface="Arial"/>
                <a:cs typeface="Arial"/>
              </a:rPr>
              <a:t>-</a:t>
            </a:r>
            <a:r>
              <a:rPr lang="en-US" dirty="0">
                <a:latin typeface="Arial"/>
                <a:cs typeface="Arial"/>
              </a:rPr>
              <a:t>can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travel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</a:t>
            </a:r>
            <a:r>
              <a:rPr lang="en-US" spc="-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all</a:t>
            </a:r>
            <a:r>
              <a:rPr lang="en-US" spc="-1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directions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170"/>
              </a:spcBef>
              <a:buClr>
                <a:srgbClr val="009999"/>
              </a:buClr>
              <a:buFont typeface="Wingdings"/>
              <a:buChar char=""/>
            </a:pPr>
            <a:endParaRPr lang="en-US" dirty="0">
              <a:latin typeface="Arial"/>
              <a:cs typeface="Arial"/>
            </a:endParaRPr>
          </a:p>
          <a:p>
            <a:pPr marL="356870" indent="-344170">
              <a:buClr>
                <a:srgbClr val="009999"/>
              </a:buClr>
              <a:buSzPct val="65909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Can</a:t>
            </a:r>
            <a:r>
              <a:rPr lang="en-US" spc="-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be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narrowly</a:t>
            </a:r>
            <a:r>
              <a:rPr lang="en-US" spc="35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focused</a:t>
            </a:r>
            <a:r>
              <a:rPr lang="en-US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at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high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frequencies(&gt;100MHz)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using</a:t>
            </a:r>
            <a:endParaRPr lang="en-US" dirty="0">
              <a:latin typeface="Arial"/>
              <a:cs typeface="Arial"/>
            </a:endParaRPr>
          </a:p>
          <a:p>
            <a:pPr marL="356870"/>
            <a:r>
              <a:rPr lang="en-US" dirty="0">
                <a:latin typeface="Arial"/>
                <a:cs typeface="Arial"/>
              </a:rPr>
              <a:t>parabolic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antenna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91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6B246-9695-14F8-8B3E-B7551654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99"/>
                </a:solidFill>
                <a:latin typeface="Arial"/>
                <a:cs typeface="Arial"/>
              </a:rPr>
              <a:t>Outdoor</a:t>
            </a:r>
            <a:r>
              <a:rPr lang="en-US" spc="-12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3399"/>
                </a:solidFill>
                <a:latin typeface="Arial"/>
                <a:cs typeface="Arial"/>
              </a:rPr>
              <a:t>propagation</a:t>
            </a:r>
            <a:r>
              <a:rPr lang="en-US" spc="-114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003399"/>
                </a:solidFill>
                <a:latin typeface="Arial"/>
                <a:cs typeface="Arial"/>
              </a:rPr>
              <a:t>Environment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FDF92-6F41-073D-635B-173379520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080" indent="-5080">
              <a:lnSpc>
                <a:spcPct val="150000"/>
              </a:lnSpc>
              <a:spcBef>
                <a:spcPts val="100"/>
              </a:spcBef>
              <a:buClr>
                <a:srgbClr val="009999"/>
              </a:buClr>
              <a:buSzPct val="61666"/>
              <a:buFont typeface="Wingdings"/>
              <a:buChar char=""/>
              <a:tabLst>
                <a:tab pos="194945" algn="l"/>
              </a:tabLst>
            </a:pPr>
            <a:r>
              <a:rPr lang="en-US" sz="3000" dirty="0">
                <a:latin typeface="Arial"/>
                <a:cs typeface="Arial"/>
              </a:rPr>
              <a:t>Based</a:t>
            </a:r>
            <a:r>
              <a:rPr lang="en-US" sz="3000" spc="-35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on</a:t>
            </a:r>
            <a:r>
              <a:rPr lang="en-US" sz="3000" spc="-35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the</a:t>
            </a:r>
            <a:r>
              <a:rPr lang="en-US" sz="3000" spc="-35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coverage</a:t>
            </a:r>
            <a:r>
              <a:rPr lang="en-US" sz="3000" spc="-60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area,</a:t>
            </a:r>
            <a:r>
              <a:rPr lang="en-US" sz="3000" spc="-30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the</a:t>
            </a:r>
            <a:r>
              <a:rPr lang="en-US" sz="3000" spc="-35" dirty="0">
                <a:latin typeface="Arial"/>
                <a:cs typeface="Arial"/>
              </a:rPr>
              <a:t> </a:t>
            </a:r>
            <a:r>
              <a:rPr lang="en-US" sz="3000" spc="-10" dirty="0">
                <a:latin typeface="Arial"/>
                <a:cs typeface="Arial"/>
              </a:rPr>
              <a:t>Outdoor </a:t>
            </a:r>
            <a:r>
              <a:rPr lang="en-US" sz="3000" dirty="0">
                <a:latin typeface="Arial"/>
                <a:cs typeface="Arial"/>
              </a:rPr>
              <a:t>propagation</a:t>
            </a:r>
            <a:r>
              <a:rPr lang="en-US" sz="3000" spc="-95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environment</a:t>
            </a:r>
            <a:r>
              <a:rPr lang="en-US" sz="3000" spc="-70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may</a:t>
            </a:r>
            <a:r>
              <a:rPr lang="en-US" sz="3000" spc="-45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be</a:t>
            </a:r>
            <a:r>
              <a:rPr lang="en-US" sz="3000" spc="-20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divided</a:t>
            </a:r>
            <a:r>
              <a:rPr lang="en-US" sz="3000" spc="-45" dirty="0">
                <a:latin typeface="Arial"/>
                <a:cs typeface="Arial"/>
              </a:rPr>
              <a:t> </a:t>
            </a:r>
            <a:r>
              <a:rPr lang="en-US" sz="3000" spc="-20" dirty="0">
                <a:latin typeface="Arial"/>
                <a:cs typeface="Arial"/>
              </a:rPr>
              <a:t>into </a:t>
            </a:r>
            <a:r>
              <a:rPr lang="en-US" sz="3000" dirty="0">
                <a:latin typeface="Arial"/>
                <a:cs typeface="Arial"/>
              </a:rPr>
              <a:t>three</a:t>
            </a:r>
            <a:r>
              <a:rPr lang="en-US" sz="3000" spc="-45" dirty="0">
                <a:latin typeface="Arial"/>
                <a:cs typeface="Arial"/>
              </a:rPr>
              <a:t> </a:t>
            </a:r>
            <a:r>
              <a:rPr lang="en-US" sz="3000" spc="-10" dirty="0">
                <a:latin typeface="Arial"/>
                <a:cs typeface="Arial"/>
              </a:rPr>
              <a:t>categories</a:t>
            </a:r>
            <a:endParaRPr lang="en-US" sz="3000" dirty="0">
              <a:latin typeface="Arial"/>
              <a:cs typeface="Arial"/>
            </a:endParaRPr>
          </a:p>
          <a:p>
            <a:pPr marL="755650" lvl="1" indent="-422909">
              <a:lnSpc>
                <a:spcPct val="150000"/>
              </a:lnSpc>
              <a:spcBef>
                <a:spcPts val="730"/>
              </a:spcBef>
              <a:buAutoNum type="arabicPeriod"/>
              <a:tabLst>
                <a:tab pos="755650" algn="l"/>
              </a:tabLst>
            </a:pPr>
            <a:r>
              <a:rPr lang="en-US" sz="3000" dirty="0">
                <a:latin typeface="Arial"/>
                <a:cs typeface="Arial"/>
              </a:rPr>
              <a:t>Propagation</a:t>
            </a:r>
            <a:r>
              <a:rPr lang="en-US" sz="3000" spc="-85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in</a:t>
            </a:r>
            <a:r>
              <a:rPr lang="en-US" sz="3000" spc="5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Macro</a:t>
            </a:r>
            <a:r>
              <a:rPr lang="en-US" sz="3000" spc="-20" dirty="0">
                <a:latin typeface="Arial"/>
                <a:cs typeface="Arial"/>
              </a:rPr>
              <a:t> </a:t>
            </a:r>
            <a:r>
              <a:rPr lang="en-US" sz="3000" spc="-10" dirty="0">
                <a:latin typeface="Arial"/>
                <a:cs typeface="Arial"/>
              </a:rPr>
              <a:t>cells</a:t>
            </a:r>
            <a:endParaRPr lang="en-US" sz="3000" dirty="0">
              <a:latin typeface="Arial"/>
              <a:cs typeface="Arial"/>
            </a:endParaRPr>
          </a:p>
          <a:p>
            <a:pPr marL="756285" lvl="1" indent="-423545">
              <a:lnSpc>
                <a:spcPct val="150000"/>
              </a:lnSpc>
              <a:spcBef>
                <a:spcPts val="720"/>
              </a:spcBef>
              <a:buAutoNum type="arabicPeriod"/>
              <a:tabLst>
                <a:tab pos="756285" algn="l"/>
              </a:tabLst>
            </a:pPr>
            <a:r>
              <a:rPr lang="en-US" sz="3000" dirty="0">
                <a:latin typeface="Arial"/>
                <a:cs typeface="Arial"/>
              </a:rPr>
              <a:t>Propagation</a:t>
            </a:r>
            <a:r>
              <a:rPr lang="en-US" sz="3000" spc="-100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in</a:t>
            </a:r>
            <a:r>
              <a:rPr lang="en-US" sz="3000" spc="-10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Micro</a:t>
            </a:r>
            <a:r>
              <a:rPr lang="en-US" sz="3000" spc="-30" dirty="0">
                <a:latin typeface="Arial"/>
                <a:cs typeface="Arial"/>
              </a:rPr>
              <a:t> </a:t>
            </a:r>
            <a:r>
              <a:rPr lang="en-US" sz="3000" spc="-10" dirty="0">
                <a:latin typeface="Arial"/>
                <a:cs typeface="Arial"/>
              </a:rPr>
              <a:t>cells</a:t>
            </a:r>
            <a:endParaRPr lang="en-US" sz="3000" dirty="0">
              <a:latin typeface="Arial"/>
              <a:cs typeface="Arial"/>
            </a:endParaRPr>
          </a:p>
          <a:p>
            <a:pPr marL="756285" lvl="1" indent="-423545">
              <a:lnSpc>
                <a:spcPct val="150000"/>
              </a:lnSpc>
              <a:spcBef>
                <a:spcPts val="720"/>
              </a:spcBef>
              <a:buAutoNum type="arabicPeriod"/>
              <a:tabLst>
                <a:tab pos="756285" algn="l"/>
              </a:tabLst>
            </a:pPr>
            <a:r>
              <a:rPr lang="en-US" sz="3000" dirty="0">
                <a:latin typeface="Arial"/>
                <a:cs typeface="Arial"/>
              </a:rPr>
              <a:t>Propagation</a:t>
            </a:r>
            <a:r>
              <a:rPr lang="en-US" sz="3000" spc="-90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in</a:t>
            </a:r>
            <a:r>
              <a:rPr lang="en-US" sz="3000" spc="-10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street</a:t>
            </a:r>
            <a:r>
              <a:rPr lang="en-US" sz="3000" spc="-65" dirty="0">
                <a:latin typeface="Arial"/>
                <a:cs typeface="Arial"/>
              </a:rPr>
              <a:t> </a:t>
            </a:r>
            <a:r>
              <a:rPr lang="en-US" sz="3000" dirty="0">
                <a:latin typeface="Arial"/>
                <a:cs typeface="Arial"/>
              </a:rPr>
              <a:t>Micro</a:t>
            </a:r>
            <a:r>
              <a:rPr lang="en-US" sz="3000" spc="-30" dirty="0">
                <a:latin typeface="Arial"/>
                <a:cs typeface="Arial"/>
              </a:rPr>
              <a:t> </a:t>
            </a:r>
            <a:r>
              <a:rPr lang="en-US" sz="3000" spc="-10" dirty="0">
                <a:latin typeface="Arial"/>
                <a:cs typeface="Arial"/>
              </a:rPr>
              <a:t>cells</a:t>
            </a:r>
            <a:endParaRPr lang="en-US" sz="3000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192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016232"/>
            <a:ext cx="8305800" cy="52251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60246" y="201637"/>
            <a:ext cx="8056245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Outdoor</a:t>
            </a:r>
            <a:r>
              <a:rPr sz="4200" spc="-12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propagation</a:t>
            </a:r>
            <a:r>
              <a:rPr sz="4200" spc="-114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Environment</a:t>
            </a:r>
            <a:endParaRPr sz="4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8132953" y="4305296"/>
            <a:ext cx="546734" cy="24263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090"/>
              </a:lnSpc>
            </a:pPr>
            <a:r>
              <a:rPr spc="-25" dirty="0"/>
              <a:t>53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90283-7291-FEA5-23DC-5BBF0892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99"/>
                </a:solidFill>
                <a:latin typeface="Arial"/>
                <a:cs typeface="Arial"/>
              </a:rPr>
              <a:t>Outdoor</a:t>
            </a:r>
            <a:r>
              <a:rPr lang="en-US" spc="-12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3399"/>
                </a:solidFill>
                <a:latin typeface="Arial"/>
                <a:cs typeface="Arial"/>
              </a:rPr>
              <a:t>propagation</a:t>
            </a:r>
            <a:r>
              <a:rPr lang="en-US" spc="-114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003399"/>
                </a:solidFill>
                <a:latin typeface="Arial"/>
                <a:cs typeface="Arial"/>
              </a:rPr>
              <a:t>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7CBC3-8C28-290B-6037-B705D11D1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080" indent="-5080">
              <a:spcBef>
                <a:spcPts val="100"/>
              </a:spcBef>
              <a:buClr>
                <a:srgbClr val="009999"/>
              </a:buClr>
              <a:buSzPct val="61666"/>
              <a:buFont typeface="Wingdings"/>
              <a:buChar char=""/>
              <a:tabLst>
                <a:tab pos="194945" algn="l"/>
              </a:tabLst>
            </a:pPr>
            <a:r>
              <a:rPr lang="en-US" dirty="0">
                <a:latin typeface="Arial"/>
                <a:cs typeface="Arial"/>
              </a:rPr>
              <a:t>Outdoor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radio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transmission</a:t>
            </a:r>
            <a:r>
              <a:rPr lang="en-US" spc="-9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takes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place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spc="-20" dirty="0">
                <a:latin typeface="Arial"/>
                <a:cs typeface="Arial"/>
              </a:rPr>
              <a:t>over </a:t>
            </a:r>
            <a:r>
              <a:rPr lang="en-US" dirty="0">
                <a:latin typeface="Arial"/>
                <a:cs typeface="Arial"/>
              </a:rPr>
              <a:t>an</a:t>
            </a:r>
            <a:r>
              <a:rPr lang="en-US" spc="-10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irregular</a:t>
            </a:r>
            <a:r>
              <a:rPr lang="en-US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terrain.</a:t>
            </a:r>
            <a:endParaRPr lang="en-US" dirty="0">
              <a:latin typeface="Arial"/>
              <a:cs typeface="Arial"/>
            </a:endParaRPr>
          </a:p>
          <a:p>
            <a:pPr marL="12700" marR="708660" indent="-5080">
              <a:spcBef>
                <a:spcPts val="725"/>
              </a:spcBef>
              <a:buClr>
                <a:srgbClr val="009999"/>
              </a:buClr>
              <a:buSzPct val="61666"/>
              <a:buFont typeface="Wingdings"/>
              <a:buChar char=""/>
              <a:tabLst>
                <a:tab pos="194945" algn="l"/>
              </a:tabLst>
            </a:pPr>
            <a:r>
              <a:rPr lang="en-US" dirty="0">
                <a:latin typeface="Arial"/>
                <a:cs typeface="Arial"/>
              </a:rPr>
              <a:t>	The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terrain</a:t>
            </a:r>
            <a:r>
              <a:rPr lang="en-US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profile</a:t>
            </a:r>
            <a:r>
              <a:rPr lang="en-US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must</a:t>
            </a:r>
            <a:r>
              <a:rPr lang="en-US" spc="-1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be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taken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spc="-20" dirty="0">
                <a:latin typeface="Arial"/>
                <a:cs typeface="Arial"/>
              </a:rPr>
              <a:t>into </a:t>
            </a:r>
            <a:r>
              <a:rPr lang="en-US" dirty="0">
                <a:latin typeface="Arial"/>
                <a:cs typeface="Arial"/>
              </a:rPr>
              <a:t>consideration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estimating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path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20" dirty="0">
                <a:latin typeface="Arial"/>
                <a:cs typeface="Arial"/>
              </a:rPr>
              <a:t>loss</a:t>
            </a:r>
            <a:endParaRPr lang="en-US" dirty="0">
              <a:latin typeface="Arial"/>
              <a:cs typeface="Arial"/>
            </a:endParaRPr>
          </a:p>
          <a:p>
            <a:pPr marL="439420">
              <a:spcBef>
                <a:spcPts val="1325"/>
              </a:spcBef>
            </a:pPr>
            <a:r>
              <a:rPr lang="en-US" sz="2000" dirty="0">
                <a:latin typeface="Arial"/>
                <a:cs typeface="Arial"/>
              </a:rPr>
              <a:t>e.g.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trees</a:t>
            </a:r>
            <a:r>
              <a:rPr lang="en-US" sz="2000" spc="-6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buildings</a:t>
            </a:r>
            <a:r>
              <a:rPr lang="en-US" sz="2000" spc="-4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and</a:t>
            </a:r>
            <a:r>
              <a:rPr lang="en-US" sz="2000" spc="-5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hills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must</a:t>
            </a:r>
            <a:r>
              <a:rPr lang="en-US" sz="2000" spc="-8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be</a:t>
            </a:r>
            <a:r>
              <a:rPr lang="en-US" sz="2000" spc="-55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taken</a:t>
            </a:r>
            <a:endParaRPr lang="en-US" sz="2000" dirty="0">
              <a:latin typeface="Arial"/>
              <a:cs typeface="Arial"/>
            </a:endParaRPr>
          </a:p>
          <a:p>
            <a:pPr marL="1021715">
              <a:spcBef>
                <a:spcPts val="695"/>
              </a:spcBef>
            </a:pPr>
            <a:r>
              <a:rPr lang="en-US" sz="2000" dirty="0">
                <a:latin typeface="Arial"/>
                <a:cs typeface="Arial"/>
              </a:rPr>
              <a:t>into</a:t>
            </a:r>
            <a:r>
              <a:rPr lang="en-US" sz="2000" spc="-50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consideration</a:t>
            </a:r>
            <a:endParaRPr lang="en-US" sz="2000" dirty="0">
              <a:latin typeface="Arial"/>
              <a:cs typeface="Arial"/>
            </a:endParaRPr>
          </a:p>
          <a:p>
            <a:pPr marL="194945" indent="-187325">
              <a:spcBef>
                <a:spcPts val="725"/>
              </a:spcBef>
              <a:buClr>
                <a:srgbClr val="009999"/>
              </a:buClr>
              <a:buSzPct val="61666"/>
              <a:buFont typeface="Wingdings"/>
              <a:buChar char=""/>
              <a:tabLst>
                <a:tab pos="194945" algn="l"/>
              </a:tabLst>
            </a:pPr>
            <a:r>
              <a:rPr lang="en-US" dirty="0">
                <a:latin typeface="Arial"/>
                <a:cs typeface="Arial"/>
              </a:rPr>
              <a:t>Some</a:t>
            </a:r>
            <a:r>
              <a:rPr lang="en-US" spc="-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common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models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used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are</a:t>
            </a:r>
            <a:endParaRPr lang="en-US" dirty="0">
              <a:latin typeface="Arial"/>
              <a:cs typeface="Arial"/>
            </a:endParaRPr>
          </a:p>
          <a:p>
            <a:pPr marL="170815" indent="-158750">
              <a:spcBef>
                <a:spcPts val="575"/>
              </a:spcBef>
              <a:buClr>
                <a:srgbClr val="009999"/>
              </a:buClr>
              <a:buSzPct val="60416"/>
              <a:buFont typeface="Wingdings"/>
              <a:buChar char=""/>
              <a:tabLst>
                <a:tab pos="170815" algn="l"/>
              </a:tabLst>
            </a:pPr>
            <a:r>
              <a:rPr lang="en-US" sz="2000" dirty="0">
                <a:latin typeface="Arial"/>
                <a:cs typeface="Arial"/>
              </a:rPr>
              <a:t>Longley</a:t>
            </a:r>
            <a:r>
              <a:rPr lang="en-US" sz="2000" spc="-8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Rice</a:t>
            </a:r>
            <a:r>
              <a:rPr lang="en-US" sz="2000" spc="-85" dirty="0">
                <a:latin typeface="Arial"/>
                <a:cs typeface="Arial"/>
              </a:rPr>
              <a:t> </a:t>
            </a:r>
            <a:r>
              <a:rPr lang="en-US" sz="2000" spc="-20" dirty="0">
                <a:latin typeface="Arial"/>
                <a:cs typeface="Arial"/>
              </a:rPr>
              <a:t>Model</a:t>
            </a:r>
            <a:endParaRPr lang="en-US" sz="2000" dirty="0">
              <a:latin typeface="Arial"/>
              <a:cs typeface="Arial"/>
            </a:endParaRPr>
          </a:p>
          <a:p>
            <a:pPr marL="170180" indent="-158750">
              <a:spcBef>
                <a:spcPts val="580"/>
              </a:spcBef>
              <a:buClr>
                <a:srgbClr val="009999"/>
              </a:buClr>
              <a:buSzPct val="60416"/>
              <a:buFont typeface="Wingdings"/>
              <a:buChar char=""/>
              <a:tabLst>
                <a:tab pos="170180" algn="l"/>
              </a:tabLst>
            </a:pPr>
            <a:r>
              <a:rPr lang="en-US" sz="2000" dirty="0">
                <a:latin typeface="Arial"/>
                <a:cs typeface="Arial"/>
              </a:rPr>
              <a:t>Okumura</a:t>
            </a:r>
            <a:r>
              <a:rPr lang="en-US" sz="2000" spc="-90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Model</a:t>
            </a:r>
            <a:endParaRPr lang="en-US" sz="2000" dirty="0">
              <a:latin typeface="Arial"/>
              <a:cs typeface="Arial"/>
            </a:endParaRPr>
          </a:p>
          <a:p>
            <a:pPr marL="170180" indent="-158750">
              <a:spcBef>
                <a:spcPts val="575"/>
              </a:spcBef>
              <a:buClr>
                <a:srgbClr val="009999"/>
              </a:buClr>
              <a:buSzPct val="60416"/>
              <a:buFont typeface="Wingdings"/>
              <a:buChar char=""/>
              <a:tabLst>
                <a:tab pos="170180" algn="l"/>
              </a:tabLst>
            </a:pPr>
            <a:r>
              <a:rPr lang="en-US" sz="2000" dirty="0">
                <a:latin typeface="Arial"/>
                <a:cs typeface="Arial"/>
              </a:rPr>
              <a:t>Hatta</a:t>
            </a:r>
            <a:r>
              <a:rPr lang="en-US" sz="2000" spc="-50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model</a:t>
            </a:r>
            <a:endParaRPr lang="en-US" sz="2000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08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1D09-ABC4-2AFC-168B-62ABF257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99"/>
                </a:solidFill>
                <a:latin typeface="Arial"/>
                <a:cs typeface="Arial"/>
              </a:rPr>
              <a:t>Longley</a:t>
            </a:r>
            <a:r>
              <a:rPr lang="en-US" spc="-3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3399"/>
                </a:solidFill>
                <a:latin typeface="Arial"/>
                <a:cs typeface="Arial"/>
              </a:rPr>
              <a:t>Rice</a:t>
            </a:r>
            <a:r>
              <a:rPr lang="en-US" spc="-2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003399"/>
                </a:solidFill>
                <a:latin typeface="Arial"/>
                <a:cs typeface="Arial"/>
              </a:rPr>
              <a:t>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C4ADB-E55F-A3B0-046B-C7EA8E960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6870" marR="146685" indent="-344805">
              <a:spcBef>
                <a:spcPts val="90"/>
              </a:spcBef>
              <a:buClr>
                <a:srgbClr val="009999"/>
              </a:buClr>
              <a:buSzPct val="63461"/>
              <a:buFont typeface="Wingdings"/>
              <a:buChar char=""/>
              <a:tabLst>
                <a:tab pos="356870" algn="l"/>
              </a:tabLst>
            </a:pPr>
            <a:r>
              <a:rPr lang="en-US" sz="2600" dirty="0">
                <a:latin typeface="Arial"/>
                <a:cs typeface="Arial"/>
              </a:rPr>
              <a:t>Longley</a:t>
            </a:r>
            <a:r>
              <a:rPr lang="en-US" sz="2600" spc="-4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Rice</a:t>
            </a:r>
            <a:r>
              <a:rPr lang="en-US" sz="2600" spc="-5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Model</a:t>
            </a:r>
            <a:r>
              <a:rPr lang="en-US" sz="2600" spc="-1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is</a:t>
            </a:r>
            <a:r>
              <a:rPr lang="en-US" sz="2600" spc="-7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applicable</a:t>
            </a:r>
            <a:r>
              <a:rPr lang="en-US" sz="2600" spc="-1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to</a:t>
            </a:r>
            <a:r>
              <a:rPr lang="en-US" sz="2600" spc="-5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point</a:t>
            </a:r>
            <a:r>
              <a:rPr lang="en-US" sz="2600" spc="-5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to</a:t>
            </a:r>
            <a:r>
              <a:rPr lang="en-US" sz="2600" spc="-55" dirty="0">
                <a:latin typeface="Arial"/>
                <a:cs typeface="Arial"/>
              </a:rPr>
              <a:t> </a:t>
            </a:r>
            <a:r>
              <a:rPr lang="en-US" sz="2600" spc="-10" dirty="0">
                <a:latin typeface="Arial"/>
                <a:cs typeface="Arial"/>
              </a:rPr>
              <a:t>point communication.</a:t>
            </a:r>
            <a:endParaRPr lang="en-US" sz="2600" dirty="0">
              <a:latin typeface="Arial"/>
              <a:cs typeface="Arial"/>
            </a:endParaRPr>
          </a:p>
          <a:p>
            <a:pPr marL="356870" indent="-344170">
              <a:spcBef>
                <a:spcPts val="625"/>
              </a:spcBef>
              <a:buClr>
                <a:srgbClr val="009999"/>
              </a:buClr>
              <a:buSzPct val="63461"/>
              <a:buFont typeface="Wingdings"/>
              <a:buChar char=""/>
              <a:tabLst>
                <a:tab pos="356870" algn="l"/>
              </a:tabLst>
            </a:pPr>
            <a:r>
              <a:rPr lang="en-US" sz="2600" dirty="0">
                <a:latin typeface="Arial"/>
                <a:cs typeface="Arial"/>
              </a:rPr>
              <a:t>It</a:t>
            </a:r>
            <a:r>
              <a:rPr lang="en-US" sz="2600" spc="-5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covers</a:t>
            </a:r>
            <a:r>
              <a:rPr lang="en-US" sz="2600" spc="-2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40MHz</a:t>
            </a:r>
            <a:r>
              <a:rPr lang="en-US" sz="2600" spc="-1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to</a:t>
            </a:r>
            <a:r>
              <a:rPr lang="en-US" sz="2600" spc="-6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300</a:t>
            </a:r>
            <a:r>
              <a:rPr lang="en-US" sz="2600" spc="-25" dirty="0">
                <a:latin typeface="Arial"/>
                <a:cs typeface="Arial"/>
              </a:rPr>
              <a:t> GHz</a:t>
            </a:r>
            <a:endParaRPr lang="en-US" sz="2600" dirty="0">
              <a:latin typeface="Arial"/>
              <a:cs typeface="Arial"/>
            </a:endParaRPr>
          </a:p>
          <a:p>
            <a:pPr marL="356870" indent="-344170">
              <a:spcBef>
                <a:spcPts val="630"/>
              </a:spcBef>
              <a:buClr>
                <a:srgbClr val="009999"/>
              </a:buClr>
              <a:buSzPct val="63461"/>
              <a:buFont typeface="Wingdings"/>
              <a:buChar char=""/>
              <a:tabLst>
                <a:tab pos="356870" algn="l"/>
              </a:tabLst>
            </a:pPr>
            <a:r>
              <a:rPr lang="en-US" sz="2600" dirty="0">
                <a:latin typeface="Arial"/>
                <a:cs typeface="Arial"/>
              </a:rPr>
              <a:t>It</a:t>
            </a:r>
            <a:r>
              <a:rPr lang="en-US" sz="2600" spc="-3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can</a:t>
            </a:r>
            <a:r>
              <a:rPr lang="en-US" sz="2600" spc="-3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be</a:t>
            </a:r>
            <a:r>
              <a:rPr lang="en-US" sz="2600" spc="-3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used</a:t>
            </a:r>
            <a:r>
              <a:rPr lang="en-US" sz="2600" spc="-1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in</a:t>
            </a:r>
            <a:r>
              <a:rPr lang="en-US" sz="2600" spc="-5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wide</a:t>
            </a:r>
            <a:r>
              <a:rPr lang="en-US" sz="2600" spc="-1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range</a:t>
            </a:r>
            <a:r>
              <a:rPr lang="en-US" sz="2600" spc="-2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of</a:t>
            </a:r>
            <a:r>
              <a:rPr lang="en-US" sz="2600" spc="-30" dirty="0">
                <a:latin typeface="Arial"/>
                <a:cs typeface="Arial"/>
              </a:rPr>
              <a:t> </a:t>
            </a:r>
            <a:r>
              <a:rPr lang="en-US" sz="2600" spc="-10" dirty="0">
                <a:latin typeface="Arial"/>
                <a:cs typeface="Arial"/>
              </a:rPr>
              <a:t>terrain</a:t>
            </a:r>
            <a:endParaRPr lang="en-US" sz="2600" dirty="0">
              <a:latin typeface="Arial"/>
              <a:cs typeface="Arial"/>
            </a:endParaRPr>
          </a:p>
          <a:p>
            <a:pPr marL="355600" marR="570865" indent="-343535" algn="just">
              <a:spcBef>
                <a:spcPts val="625"/>
              </a:spcBef>
              <a:buClr>
                <a:srgbClr val="009999"/>
              </a:buClr>
              <a:buSzPct val="63461"/>
              <a:buFont typeface="Wingdings"/>
              <a:buChar char=""/>
              <a:tabLst>
                <a:tab pos="356870" algn="l"/>
              </a:tabLst>
            </a:pPr>
            <a:r>
              <a:rPr lang="en-US" sz="2600" dirty="0">
                <a:latin typeface="Arial"/>
                <a:cs typeface="Arial"/>
              </a:rPr>
              <a:t>Path</a:t>
            </a:r>
            <a:r>
              <a:rPr lang="en-US" sz="2600" spc="-4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geometry</a:t>
            </a:r>
            <a:r>
              <a:rPr lang="en-US" sz="2600" spc="-4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of</a:t>
            </a:r>
            <a:r>
              <a:rPr lang="en-US" sz="2600" spc="-6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terrain</a:t>
            </a:r>
            <a:r>
              <a:rPr lang="en-US" sz="2600" spc="-6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and</a:t>
            </a:r>
            <a:r>
              <a:rPr lang="en-US" sz="2600" spc="-4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the</a:t>
            </a:r>
            <a:r>
              <a:rPr lang="en-US" sz="2600" spc="-6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refractivity</a:t>
            </a:r>
            <a:r>
              <a:rPr lang="en-US" sz="2600" spc="-20" dirty="0">
                <a:latin typeface="Arial"/>
                <a:cs typeface="Arial"/>
              </a:rPr>
              <a:t> </a:t>
            </a:r>
            <a:r>
              <a:rPr lang="en-US" sz="2600" spc="-25" dirty="0">
                <a:latin typeface="Arial"/>
                <a:cs typeface="Arial"/>
              </a:rPr>
              <a:t>of 	</a:t>
            </a:r>
            <a:r>
              <a:rPr lang="en-US" sz="2600" dirty="0">
                <a:latin typeface="Arial"/>
                <a:cs typeface="Arial"/>
              </a:rPr>
              <a:t>troposphere</a:t>
            </a:r>
            <a:r>
              <a:rPr lang="en-US" sz="2600" spc="-4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is</a:t>
            </a:r>
            <a:r>
              <a:rPr lang="en-US" sz="2600" spc="-8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used</a:t>
            </a:r>
            <a:r>
              <a:rPr lang="en-US" sz="2600" spc="-8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for</a:t>
            </a:r>
            <a:r>
              <a:rPr lang="en-US" sz="2600" spc="-8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transmission</a:t>
            </a:r>
            <a:r>
              <a:rPr lang="en-US" sz="2600" spc="-4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path</a:t>
            </a:r>
            <a:r>
              <a:rPr lang="en-US" sz="2600" spc="-85" dirty="0">
                <a:latin typeface="Arial"/>
                <a:cs typeface="Arial"/>
              </a:rPr>
              <a:t> </a:t>
            </a:r>
            <a:r>
              <a:rPr lang="en-US" sz="2600" spc="-20" dirty="0">
                <a:latin typeface="Arial"/>
                <a:cs typeface="Arial"/>
              </a:rPr>
              <a:t>loss 	</a:t>
            </a:r>
            <a:r>
              <a:rPr lang="en-US" sz="2600" spc="-10" dirty="0">
                <a:latin typeface="Arial"/>
                <a:cs typeface="Arial"/>
              </a:rPr>
              <a:t>calculations</a:t>
            </a:r>
            <a:endParaRPr lang="en-US" sz="2600" dirty="0">
              <a:latin typeface="Arial"/>
              <a:cs typeface="Arial"/>
            </a:endParaRPr>
          </a:p>
          <a:p>
            <a:pPr marL="356870" marR="5080" indent="-344805" algn="just">
              <a:spcBef>
                <a:spcPts val="625"/>
              </a:spcBef>
              <a:buClr>
                <a:srgbClr val="009999"/>
              </a:buClr>
              <a:buSzPct val="63461"/>
              <a:buFont typeface="Wingdings"/>
              <a:buChar char=""/>
              <a:tabLst>
                <a:tab pos="356870" algn="l"/>
              </a:tabLst>
            </a:pPr>
            <a:r>
              <a:rPr lang="en-US" sz="2600" dirty="0">
                <a:latin typeface="Arial"/>
                <a:cs typeface="Arial"/>
              </a:rPr>
              <a:t>Geometrical</a:t>
            </a:r>
            <a:r>
              <a:rPr lang="en-US" sz="2600" spc="-3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optics</a:t>
            </a:r>
            <a:r>
              <a:rPr lang="en-US" sz="2600" spc="-6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is</a:t>
            </a:r>
            <a:r>
              <a:rPr lang="en-US" sz="2600" spc="-8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also</a:t>
            </a:r>
            <a:r>
              <a:rPr lang="en-US" sz="2600" spc="-4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used</a:t>
            </a:r>
            <a:r>
              <a:rPr lang="en-US" sz="2600" spc="-6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along</a:t>
            </a:r>
            <a:r>
              <a:rPr lang="en-US" sz="2600" spc="-5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with</a:t>
            </a:r>
            <a:r>
              <a:rPr lang="en-US" sz="2600" spc="-4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the</a:t>
            </a:r>
            <a:r>
              <a:rPr lang="en-US" sz="2600" spc="-65" dirty="0">
                <a:latin typeface="Arial"/>
                <a:cs typeface="Arial"/>
              </a:rPr>
              <a:t> </a:t>
            </a:r>
            <a:r>
              <a:rPr lang="en-US" sz="2600" spc="-25" dirty="0">
                <a:latin typeface="Arial"/>
                <a:cs typeface="Arial"/>
              </a:rPr>
              <a:t>two </a:t>
            </a:r>
            <a:r>
              <a:rPr lang="en-US" sz="2600" dirty="0">
                <a:latin typeface="Arial"/>
                <a:cs typeface="Arial"/>
              </a:rPr>
              <a:t>ray</a:t>
            </a:r>
            <a:r>
              <a:rPr lang="en-US" sz="2600" spc="-6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model</a:t>
            </a:r>
            <a:r>
              <a:rPr lang="en-US" sz="2600" spc="-5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for</a:t>
            </a:r>
            <a:r>
              <a:rPr lang="en-US" sz="2600" spc="-6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the</a:t>
            </a:r>
            <a:r>
              <a:rPr lang="en-US" sz="2600" spc="-6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calculation</a:t>
            </a:r>
            <a:r>
              <a:rPr lang="en-US" sz="2600" spc="-15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of</a:t>
            </a:r>
            <a:r>
              <a:rPr lang="en-US" sz="2600" spc="-60" dirty="0">
                <a:latin typeface="Arial"/>
                <a:cs typeface="Arial"/>
              </a:rPr>
              <a:t> </a:t>
            </a:r>
            <a:r>
              <a:rPr lang="en-US" sz="2600" dirty="0">
                <a:latin typeface="Arial"/>
                <a:cs typeface="Arial"/>
              </a:rPr>
              <a:t>signal</a:t>
            </a:r>
            <a:r>
              <a:rPr lang="en-US" sz="2600" spc="-55" dirty="0">
                <a:latin typeface="Arial"/>
                <a:cs typeface="Arial"/>
              </a:rPr>
              <a:t> </a:t>
            </a:r>
            <a:r>
              <a:rPr lang="en-US" sz="2600" spc="-10" dirty="0">
                <a:latin typeface="Arial"/>
                <a:cs typeface="Arial"/>
              </a:rPr>
              <a:t>strength.</a:t>
            </a:r>
            <a:endParaRPr lang="en-US" sz="2600" dirty="0">
              <a:latin typeface="Arial"/>
              <a:cs typeface="Arial"/>
            </a:endParaRPr>
          </a:p>
          <a:p>
            <a:pPr marL="356235" indent="-343535" algn="just">
              <a:spcBef>
                <a:spcPts val="630"/>
              </a:spcBef>
              <a:buClr>
                <a:srgbClr val="009999"/>
              </a:buClr>
              <a:buSzPct val="63461"/>
              <a:buFont typeface="Wingdings"/>
              <a:buChar char=""/>
              <a:tabLst>
                <a:tab pos="356235" algn="l"/>
              </a:tabLst>
            </a:pPr>
            <a:r>
              <a:rPr lang="en-US" sz="2600" dirty="0">
                <a:latin typeface="Arial"/>
                <a:cs typeface="Arial"/>
              </a:rPr>
              <a:t>Two</a:t>
            </a:r>
            <a:r>
              <a:rPr lang="en-US" sz="2600" spc="-40" dirty="0">
                <a:latin typeface="Arial"/>
                <a:cs typeface="Arial"/>
              </a:rPr>
              <a:t> </a:t>
            </a:r>
            <a:r>
              <a:rPr lang="en-US" sz="2600" spc="-10" dirty="0">
                <a:latin typeface="Arial"/>
                <a:cs typeface="Arial"/>
              </a:rPr>
              <a:t>modes</a:t>
            </a:r>
            <a:endParaRPr lang="en-US" sz="2600" dirty="0">
              <a:latin typeface="Arial"/>
              <a:cs typeface="Arial"/>
            </a:endParaRPr>
          </a:p>
          <a:p>
            <a:pPr marL="682625" lvl="1" indent="-325755" algn="just">
              <a:spcBef>
                <a:spcPts val="585"/>
              </a:spcBef>
              <a:buClr>
                <a:srgbClr val="4B6C4E"/>
              </a:buClr>
              <a:buSzPct val="60416"/>
              <a:buFont typeface="Wingdings"/>
              <a:buChar char=""/>
              <a:tabLst>
                <a:tab pos="682625" algn="l"/>
              </a:tabLst>
            </a:pPr>
            <a:r>
              <a:rPr lang="en-US" dirty="0">
                <a:latin typeface="Arial"/>
                <a:cs typeface="Arial"/>
              </a:rPr>
              <a:t>Point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point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mode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prediction</a:t>
            </a:r>
            <a:endParaRPr lang="en-US" dirty="0">
              <a:latin typeface="Arial"/>
              <a:cs typeface="Arial"/>
            </a:endParaRPr>
          </a:p>
          <a:p>
            <a:pPr marL="681990" lvl="1" indent="-325120" algn="just">
              <a:spcBef>
                <a:spcPts val="575"/>
              </a:spcBef>
              <a:buClr>
                <a:srgbClr val="4B6C4E"/>
              </a:buClr>
              <a:buSzPct val="60416"/>
              <a:buFont typeface="Wingdings"/>
              <a:buChar char=""/>
              <a:tabLst>
                <a:tab pos="681990" algn="l"/>
              </a:tabLst>
            </a:pPr>
            <a:r>
              <a:rPr lang="en-US" dirty="0">
                <a:latin typeface="Arial"/>
                <a:cs typeface="Arial"/>
              </a:rPr>
              <a:t>Area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mode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prediction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047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8D626-336D-ED86-A3D6-654BBA802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B9E3E-A06F-3732-B3C5-9D1FBF46B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56870" marR="5080" indent="-344805">
              <a:spcBef>
                <a:spcPts val="11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Longley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Rice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Model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is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normally available</a:t>
            </a:r>
            <a:r>
              <a:rPr lang="en-US" spc="-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as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spc="-50" dirty="0">
                <a:latin typeface="Arial"/>
                <a:cs typeface="Arial"/>
              </a:rPr>
              <a:t>a </a:t>
            </a:r>
            <a:r>
              <a:rPr lang="en-US" dirty="0">
                <a:latin typeface="Arial"/>
                <a:cs typeface="Arial"/>
              </a:rPr>
              <a:t>computer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program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which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takes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inputs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as</a:t>
            </a:r>
            <a:endParaRPr lang="en-US" dirty="0">
              <a:latin typeface="Arial"/>
              <a:cs typeface="Arial"/>
            </a:endParaRPr>
          </a:p>
          <a:p>
            <a:pPr marL="520700" lvl="1" indent="-165100">
              <a:spcBef>
                <a:spcPts val="595"/>
              </a:spcBef>
              <a:buClr>
                <a:srgbClr val="4B6C4E"/>
              </a:buClr>
              <a:buSzPct val="56250"/>
              <a:buFont typeface="Wingdings"/>
              <a:buChar char=""/>
              <a:tabLst>
                <a:tab pos="520700" algn="l"/>
              </a:tabLst>
            </a:pPr>
            <a:r>
              <a:rPr lang="en-US" dirty="0">
                <a:latin typeface="Arial"/>
                <a:cs typeface="Arial"/>
              </a:rPr>
              <a:t>Transmission</a:t>
            </a:r>
            <a:r>
              <a:rPr lang="en-US" spc="-16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frequency</a:t>
            </a:r>
            <a:endParaRPr lang="en-US" dirty="0">
              <a:latin typeface="Arial"/>
              <a:cs typeface="Arial"/>
            </a:endParaRPr>
          </a:p>
          <a:p>
            <a:pPr marL="520700" lvl="1" indent="-165100">
              <a:spcBef>
                <a:spcPts val="575"/>
              </a:spcBef>
              <a:buClr>
                <a:srgbClr val="4B6C4E"/>
              </a:buClr>
              <a:buSzPct val="56250"/>
              <a:buFont typeface="Wingdings"/>
              <a:buChar char=""/>
              <a:tabLst>
                <a:tab pos="520700" algn="l"/>
              </a:tabLst>
            </a:pPr>
            <a:r>
              <a:rPr lang="en-US" dirty="0">
                <a:latin typeface="Arial"/>
                <a:cs typeface="Arial"/>
              </a:rPr>
              <a:t>Path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length</a:t>
            </a:r>
            <a:endParaRPr lang="en-US" dirty="0">
              <a:latin typeface="Arial"/>
              <a:cs typeface="Arial"/>
            </a:endParaRPr>
          </a:p>
          <a:p>
            <a:pPr marL="520700" lvl="1" indent="-165100">
              <a:spcBef>
                <a:spcPts val="580"/>
              </a:spcBef>
              <a:buClr>
                <a:srgbClr val="4B6C4E"/>
              </a:buClr>
              <a:buSzPct val="56250"/>
              <a:buFont typeface="Wingdings"/>
              <a:buChar char=""/>
              <a:tabLst>
                <a:tab pos="520700" algn="l"/>
              </a:tabLst>
            </a:pPr>
            <a:r>
              <a:rPr lang="en-US" spc="-10" dirty="0">
                <a:latin typeface="Arial"/>
                <a:cs typeface="Arial"/>
              </a:rPr>
              <a:t>Polarization</a:t>
            </a:r>
            <a:endParaRPr lang="en-US" dirty="0">
              <a:latin typeface="Arial"/>
              <a:cs typeface="Arial"/>
            </a:endParaRPr>
          </a:p>
          <a:p>
            <a:pPr marL="520700" lvl="1" indent="-165100">
              <a:spcBef>
                <a:spcPts val="580"/>
              </a:spcBef>
              <a:buClr>
                <a:srgbClr val="4B6C4E"/>
              </a:buClr>
              <a:buSzPct val="56250"/>
              <a:buFont typeface="Wingdings"/>
              <a:buChar char=""/>
              <a:tabLst>
                <a:tab pos="520700" algn="l"/>
              </a:tabLst>
            </a:pPr>
            <a:r>
              <a:rPr lang="en-US" dirty="0">
                <a:latin typeface="Arial"/>
                <a:cs typeface="Arial"/>
              </a:rPr>
              <a:t>Antenna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heights</a:t>
            </a:r>
            <a:endParaRPr lang="en-US" dirty="0">
              <a:latin typeface="Arial"/>
              <a:cs typeface="Arial"/>
            </a:endParaRPr>
          </a:p>
          <a:p>
            <a:pPr marL="520700" lvl="1" indent="-165100">
              <a:spcBef>
                <a:spcPts val="575"/>
              </a:spcBef>
              <a:buClr>
                <a:srgbClr val="4B6C4E"/>
              </a:buClr>
              <a:buSzPct val="56250"/>
              <a:buFont typeface="Wingdings"/>
              <a:buChar char=""/>
              <a:tabLst>
                <a:tab pos="520700" algn="l"/>
              </a:tabLst>
            </a:pPr>
            <a:r>
              <a:rPr lang="en-US" dirty="0">
                <a:latin typeface="Arial"/>
                <a:cs typeface="Arial"/>
              </a:rPr>
              <a:t>Surface</a:t>
            </a:r>
            <a:r>
              <a:rPr lang="en-US" spc="-9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reflectivity</a:t>
            </a:r>
            <a:endParaRPr lang="en-US" dirty="0">
              <a:latin typeface="Arial"/>
              <a:cs typeface="Arial"/>
            </a:endParaRPr>
          </a:p>
          <a:p>
            <a:pPr marL="520700" lvl="1" indent="-165100">
              <a:spcBef>
                <a:spcPts val="580"/>
              </a:spcBef>
              <a:buClr>
                <a:srgbClr val="4B6C4E"/>
              </a:buClr>
              <a:buSzPct val="56250"/>
              <a:buFont typeface="Wingdings"/>
              <a:buChar char=""/>
              <a:tabLst>
                <a:tab pos="520700" algn="l"/>
              </a:tabLst>
            </a:pPr>
            <a:r>
              <a:rPr lang="en-US" dirty="0">
                <a:latin typeface="Arial"/>
                <a:cs typeface="Arial"/>
              </a:rPr>
              <a:t>Ground</a:t>
            </a:r>
            <a:r>
              <a:rPr lang="en-US" spc="-9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conductivity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dialectic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constants</a:t>
            </a:r>
            <a:endParaRPr lang="en-US" dirty="0">
              <a:latin typeface="Arial"/>
              <a:cs typeface="Arial"/>
            </a:endParaRPr>
          </a:p>
          <a:p>
            <a:pPr marL="520700" lvl="1" indent="-165100">
              <a:spcBef>
                <a:spcPts val="575"/>
              </a:spcBef>
              <a:buClr>
                <a:srgbClr val="4B6C4E"/>
              </a:buClr>
              <a:buSzPct val="56250"/>
              <a:buFont typeface="Wingdings"/>
              <a:buChar char=""/>
              <a:tabLst>
                <a:tab pos="520700" algn="l"/>
              </a:tabLst>
            </a:pPr>
            <a:r>
              <a:rPr lang="en-US" dirty="0">
                <a:latin typeface="Arial"/>
                <a:cs typeface="Arial"/>
              </a:rPr>
              <a:t>Climate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factors</a:t>
            </a:r>
            <a:endParaRPr lang="en-US" dirty="0">
              <a:latin typeface="Arial"/>
              <a:cs typeface="Arial"/>
            </a:endParaRPr>
          </a:p>
          <a:p>
            <a:pPr marL="356870" marR="62230" indent="191135">
              <a:spcBef>
                <a:spcPts val="655"/>
              </a:spcBef>
              <a:buClr>
                <a:srgbClr val="4B6C4E"/>
              </a:buClr>
              <a:buSzPct val="55357"/>
              <a:buFont typeface="Wingdings"/>
              <a:buChar char=""/>
              <a:tabLst>
                <a:tab pos="548005" algn="l"/>
              </a:tabLst>
            </a:pPr>
            <a:r>
              <a:rPr lang="en-US" dirty="0">
                <a:latin typeface="Arial"/>
                <a:cs typeface="Arial"/>
              </a:rPr>
              <a:t>A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problem with</a:t>
            </a:r>
            <a:r>
              <a:rPr lang="en-US" spc="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Longley</a:t>
            </a:r>
            <a:r>
              <a:rPr lang="en-US" spc="-1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rice</a:t>
            </a:r>
            <a:r>
              <a:rPr lang="en-US" spc="-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is</a:t>
            </a:r>
            <a:r>
              <a:rPr lang="en-US" spc="-1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that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It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doesn't </a:t>
            </a:r>
            <a:r>
              <a:rPr lang="en-US" dirty="0">
                <a:latin typeface="Arial"/>
                <a:cs typeface="Arial"/>
              </a:rPr>
              <a:t>take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into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account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buildings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multipath.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950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83EF-24A4-738E-5478-CDA4FFA03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Okumura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79504-AD4C-CFE3-5688-B59B4CE4A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6870" marR="1156970" indent="-344805"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In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1968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Okumura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did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lot</a:t>
            </a:r>
            <a:r>
              <a:rPr lang="en-US" spc="-1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-10" dirty="0"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measurements</a:t>
            </a:r>
            <a:r>
              <a:rPr lang="en-US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and </a:t>
            </a:r>
            <a:r>
              <a:rPr lang="en-US" dirty="0">
                <a:latin typeface="Arial"/>
                <a:cs typeface="Arial"/>
              </a:rPr>
              <a:t>produce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new</a:t>
            </a:r>
            <a:r>
              <a:rPr lang="en-US" spc="-8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model.</a:t>
            </a:r>
            <a:endParaRPr lang="en-US" dirty="0">
              <a:latin typeface="Arial"/>
              <a:cs typeface="Arial"/>
            </a:endParaRPr>
          </a:p>
          <a:p>
            <a:pPr marL="356870" marR="274320" indent="-344805">
              <a:spcBef>
                <a:spcPts val="57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new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model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was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used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9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signal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prediction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</a:t>
            </a:r>
            <a:r>
              <a:rPr lang="en-US" spc="30" dirty="0"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Urban areas.</a:t>
            </a:r>
            <a:endParaRPr lang="en-US" dirty="0">
              <a:latin typeface="Arial"/>
              <a:cs typeface="Arial"/>
            </a:endParaRPr>
          </a:p>
          <a:p>
            <a:pPr marL="356870" marR="410209" indent="-344805">
              <a:spcBef>
                <a:spcPts val="58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Okumura</a:t>
            </a:r>
            <a:r>
              <a:rPr lang="en-US" spc="-8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introduced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-5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graphical</a:t>
            </a:r>
            <a:r>
              <a:rPr lang="en-US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r>
              <a:rPr lang="en-US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predict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the </a:t>
            </a:r>
            <a:r>
              <a:rPr lang="en-US" dirty="0">
                <a:latin typeface="Arial"/>
                <a:cs typeface="Arial"/>
              </a:rPr>
              <a:t>median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attenuation</a:t>
            </a:r>
            <a:r>
              <a:rPr lang="en-US" spc="-9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relative</a:t>
            </a:r>
            <a:r>
              <a:rPr lang="en-US" spc="-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free-space</a:t>
            </a:r>
            <a:r>
              <a:rPr lang="en-US" spc="-1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9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quasi- </a:t>
            </a:r>
            <a:r>
              <a:rPr lang="en-US" dirty="0">
                <a:latin typeface="Arial"/>
                <a:cs typeface="Arial"/>
              </a:rPr>
              <a:t>smooth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terrain</a:t>
            </a:r>
            <a:endParaRPr lang="en-US" dirty="0">
              <a:latin typeface="Arial"/>
              <a:cs typeface="Arial"/>
            </a:endParaRPr>
          </a:p>
          <a:p>
            <a:pPr marL="356870" marR="5080" indent="-344805">
              <a:spcBef>
                <a:spcPts val="58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model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consists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-15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set</a:t>
            </a:r>
            <a:r>
              <a:rPr lang="en-US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lang="en-US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curves</a:t>
            </a:r>
            <a:r>
              <a:rPr lang="en-US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developed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spc="-20" dirty="0">
                <a:latin typeface="Arial"/>
                <a:cs typeface="Arial"/>
              </a:rPr>
              <a:t>from </a:t>
            </a:r>
            <a:r>
              <a:rPr lang="en-US" dirty="0">
                <a:latin typeface="Arial"/>
                <a:cs typeface="Arial"/>
              </a:rPr>
              <a:t>measurements</a:t>
            </a:r>
            <a:r>
              <a:rPr lang="en-US" spc="-10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is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valid</a:t>
            </a:r>
            <a:r>
              <a:rPr lang="en-US" spc="-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particular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set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system </a:t>
            </a:r>
            <a:r>
              <a:rPr lang="en-US" dirty="0">
                <a:latin typeface="Arial"/>
                <a:cs typeface="Arial"/>
              </a:rPr>
              <a:t>parameters</a:t>
            </a:r>
            <a:r>
              <a:rPr lang="en-US" spc="-9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terms</a:t>
            </a:r>
            <a:r>
              <a:rPr lang="en-US" spc="-9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carrier</a:t>
            </a:r>
            <a:r>
              <a:rPr lang="en-US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frequency,</a:t>
            </a:r>
            <a:r>
              <a:rPr lang="en-US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antenna</a:t>
            </a:r>
            <a:r>
              <a:rPr lang="en-US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Arial"/>
                <a:cs typeface="Arial"/>
              </a:rPr>
              <a:t>height</a:t>
            </a:r>
            <a:r>
              <a:rPr lang="en-US" spc="-10" dirty="0">
                <a:latin typeface="Arial"/>
                <a:cs typeface="Arial"/>
              </a:rPr>
              <a:t>, </a:t>
            </a:r>
            <a:r>
              <a:rPr lang="en-US" spc="-20" dirty="0">
                <a:latin typeface="Arial"/>
                <a:cs typeface="Arial"/>
              </a:rPr>
              <a:t>etc.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4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4460-A557-52E9-E0ED-B1D058F2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4285D-6FA6-1081-9202-4322E2F42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56235" indent="-343535" algn="just"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235" algn="l"/>
              </a:tabLst>
            </a:pPr>
            <a:r>
              <a:rPr lang="en-US" dirty="0">
                <a:latin typeface="Arial"/>
                <a:cs typeface="Arial"/>
              </a:rPr>
              <a:t>First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all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model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determined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free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space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path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spc="-20" dirty="0">
                <a:latin typeface="Arial"/>
                <a:cs typeface="Arial"/>
              </a:rPr>
              <a:t>loss</a:t>
            </a:r>
            <a:endParaRPr lang="en-US" dirty="0">
              <a:latin typeface="Arial"/>
              <a:cs typeface="Arial"/>
            </a:endParaRPr>
          </a:p>
          <a:p>
            <a:pPr marL="356870" algn="just">
              <a:spcBef>
                <a:spcPts val="5"/>
              </a:spcBef>
            </a:pPr>
            <a:r>
              <a:rPr lang="en-US" dirty="0">
                <a:latin typeface="Arial"/>
                <a:cs typeface="Arial"/>
              </a:rPr>
              <a:t>of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link.</a:t>
            </a:r>
            <a:endParaRPr lang="en-US" dirty="0">
              <a:latin typeface="Arial"/>
              <a:cs typeface="Arial"/>
            </a:endParaRPr>
          </a:p>
          <a:p>
            <a:pPr marL="356870" marR="256540" indent="-344805" algn="just">
              <a:spcBef>
                <a:spcPts val="57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After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free-space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path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loss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has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been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computed,</a:t>
            </a:r>
            <a:r>
              <a:rPr lang="en-US" spc="-95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the </a:t>
            </a:r>
            <a:r>
              <a:rPr lang="en-US" dirty="0">
                <a:latin typeface="Arial"/>
                <a:cs typeface="Arial"/>
              </a:rPr>
              <a:t>median</a:t>
            </a:r>
            <a:r>
              <a:rPr lang="en-US" spc="-9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attenuation,</a:t>
            </a:r>
            <a:r>
              <a:rPr lang="en-US" spc="-1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as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given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by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Okumura’s</a:t>
            </a:r>
            <a:r>
              <a:rPr lang="en-US" spc="-10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curves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has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be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taken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account</a:t>
            </a:r>
            <a:endParaRPr lang="en-US" dirty="0">
              <a:latin typeface="Arial"/>
              <a:cs typeface="Arial"/>
            </a:endParaRPr>
          </a:p>
          <a:p>
            <a:pPr marL="355600" marR="66040" indent="-343535" algn="just">
              <a:spcBef>
                <a:spcPts val="58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model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was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designed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9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use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frequency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range 	</a:t>
            </a:r>
            <a:r>
              <a:rPr lang="en-US" dirty="0">
                <a:latin typeface="Arial"/>
                <a:cs typeface="Arial"/>
              </a:rPr>
              <a:t>200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up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1920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MHz</a:t>
            </a:r>
            <a:r>
              <a:rPr lang="en-US" spc="-1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mostly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urban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propagation 	environment.</a:t>
            </a:r>
            <a:endParaRPr lang="en-US" dirty="0">
              <a:latin typeface="Arial"/>
              <a:cs typeface="Arial"/>
            </a:endParaRPr>
          </a:p>
          <a:p>
            <a:pPr marL="356870" marR="36830" indent="-344805">
              <a:spcBef>
                <a:spcPts val="58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Okumura’s</a:t>
            </a:r>
            <a:r>
              <a:rPr lang="en-US" spc="-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model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assumes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that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path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loss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between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TX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RX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terrestrial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propagation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environment </a:t>
            </a:r>
            <a:r>
              <a:rPr lang="en-US" dirty="0">
                <a:latin typeface="Arial"/>
                <a:cs typeface="Arial"/>
              </a:rPr>
              <a:t>can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be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expressed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as: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276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AF0E8-0B8A-EE41-5156-21FD9364F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1CA56A-3B21-EFC4-283B-BDD607709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Frequency Range: 150 MHz – 1920 MHz</a:t>
                </a:r>
              </a:p>
              <a:p>
                <a:r>
                  <a:rPr lang="en-US" b="1" dirty="0"/>
                  <a:t>Distance: 1 – 100 km</a:t>
                </a:r>
              </a:p>
              <a:p>
                <a:r>
                  <a:rPr lang="en-US" b="1" dirty="0"/>
                  <a:t>Environment: Urban, suburban, open areas</a:t>
                </a:r>
              </a:p>
              <a:p>
                <a:r>
                  <a:rPr lang="en-US" b="1" dirty="0"/>
                  <a:t>Path Loss Expression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𝑃𝐿</m:t>
                    </m:r>
                    <m:r>
                      <a:rPr lang="en-US"/>
                      <m:t>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𝐿</m:t>
                        </m:r>
                      </m:e>
                      <m:sub>
                        <m:r>
                          <a:rPr lang="ar-AE" i="1"/>
                          <m:t>𝐹𝑆</m:t>
                        </m:r>
                      </m:sub>
                    </m:sSub>
                    <m:r>
                      <a:rPr lang="ar-AE"/>
                      <m:t>+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𝐴</m:t>
                        </m:r>
                      </m:e>
                      <m:sub>
                        <m:r>
                          <a:rPr lang="ar-AE" i="1"/>
                          <m:t>𝑚𝑢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𝑓</m:t>
                        </m:r>
                      </m:e>
                      <m:mo separator="true">,</m:mo>
                      <m:e>
                        <m:r>
                          <a:rPr lang="ar-AE" i="1"/>
                          <m:t>𝑑</m:t>
                        </m:r>
                      </m:e>
                    </m:d>
                    <m:r>
                      <a:rPr lang="ar-AE"/>
                      <m:t>−</m:t>
                    </m:r>
                    <m:r>
                      <a:rPr lang="ar-AE" i="1"/>
                      <m:t>𝐺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h</m:t>
                            </m:r>
                          </m:e>
                          <m:sub>
                            <m:r>
                              <a:rPr lang="ar-AE" i="1"/>
                              <m:t>𝑡</m:t>
                            </m:r>
                          </m:sub>
                        </m:sSub>
                      </m:e>
                    </m:d>
                    <m:r>
                      <a:rPr lang="ar-AE"/>
                      <m:t>−</m:t>
                    </m:r>
                    <m:r>
                      <a:rPr lang="ar-AE" i="1"/>
                      <m:t>𝐺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h</m:t>
                            </m:r>
                          </m:e>
                          <m:sub>
                            <m:r>
                              <a:rPr lang="ar-AE" i="1"/>
                              <m:t>𝑟</m:t>
                            </m:r>
                          </m:sub>
                        </m:sSub>
                      </m:e>
                    </m:d>
                    <m:r>
                      <a:rPr lang="ar-AE"/>
                      <m:t>−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𝐺</m:t>
                        </m:r>
                      </m:e>
                      <m:sub>
                        <m:r>
                          <a:rPr lang="ar-AE" i="1"/>
                          <m:t>𝑎𝑟𝑒𝑎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1CA56A-3B21-EFC4-283B-BDD607709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32F9F55-90FB-43C9-FEC8-07779E28A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81" y="4825708"/>
            <a:ext cx="4788146" cy="1149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28CD63-2A30-CCB3-D1E6-8AACEC7F6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073371"/>
            <a:ext cx="4877051" cy="9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91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2FD6EF-E11F-3C87-5E6D-B7A911092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63" y="1621078"/>
            <a:ext cx="5728243" cy="2409586"/>
          </a:xfrm>
          <a:prstGeom prst="rect">
            <a:avLst/>
          </a:prstGeom>
        </p:spPr>
      </p:pic>
      <p:sp>
        <p:nvSpPr>
          <p:cNvPr id="6" name="object 5"/>
          <p:cNvSpPr txBox="1"/>
          <p:nvPr/>
        </p:nvSpPr>
        <p:spPr>
          <a:xfrm>
            <a:off x="1327988" y="677676"/>
            <a:ext cx="10515599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495934" indent="-5080">
              <a:spcBef>
                <a:spcPts val="100"/>
              </a:spcBef>
              <a:buClr>
                <a:srgbClr val="009999"/>
              </a:buClr>
              <a:buSzPct val="60416"/>
              <a:buFont typeface="Wingdings"/>
              <a:buChar char=""/>
              <a:tabLst>
                <a:tab pos="170815" algn="l"/>
                <a:tab pos="1366520" algn="l"/>
              </a:tabLst>
            </a:pPr>
            <a:r>
              <a:rPr sz="2400" i="1" spc="-10" dirty="0">
                <a:solidFill>
                  <a:srgbClr val="3333FF"/>
                </a:solidFill>
                <a:latin typeface="Arial"/>
                <a:cs typeface="Arial"/>
              </a:rPr>
              <a:t>	A</a:t>
            </a:r>
            <a:r>
              <a:rPr sz="2400" i="1" spc="-15" baseline="-20833" dirty="0">
                <a:solidFill>
                  <a:srgbClr val="3333FF"/>
                </a:solidFill>
                <a:latin typeface="Arial"/>
                <a:cs typeface="Arial"/>
              </a:rPr>
              <a:t>mu</a:t>
            </a:r>
            <a:r>
              <a:rPr sz="2400" i="1" spc="-10" dirty="0">
                <a:solidFill>
                  <a:srgbClr val="3333FF"/>
                </a:solidFill>
                <a:latin typeface="Arial"/>
                <a:cs typeface="Arial"/>
              </a:rPr>
              <a:t>(f,d)</a:t>
            </a:r>
            <a:r>
              <a:rPr sz="2400" i="1" dirty="0">
                <a:solidFill>
                  <a:srgbClr val="3333FF"/>
                </a:solidFill>
                <a:latin typeface="Arial"/>
                <a:cs typeface="Arial"/>
              </a:rPr>
              <a:t>	</a:t>
            </a:r>
            <a:r>
              <a:rPr sz="2400" dirty="0">
                <a:latin typeface="Arial"/>
                <a:cs typeface="Arial"/>
              </a:rPr>
              <a:t>&amp;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3333FF"/>
                </a:solidFill>
                <a:latin typeface="Arial"/>
                <a:cs typeface="Arial"/>
              </a:rPr>
              <a:t>G</a:t>
            </a:r>
            <a:r>
              <a:rPr sz="2400" i="1" baseline="-20833" dirty="0">
                <a:solidFill>
                  <a:srgbClr val="3333FF"/>
                </a:solidFill>
                <a:latin typeface="Arial"/>
                <a:cs typeface="Arial"/>
              </a:rPr>
              <a:t>AREA</a:t>
            </a:r>
            <a:r>
              <a:rPr sz="2400" i="1" spc="202" baseline="-20833" dirty="0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been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plotted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wide range</a:t>
            </a:r>
            <a:r>
              <a:rPr sz="2400" spc="-25" dirty="0">
                <a:latin typeface="Arial"/>
                <a:cs typeface="Arial"/>
              </a:rPr>
              <a:t> of </a:t>
            </a:r>
            <a:r>
              <a:rPr sz="2400" spc="-10" dirty="0">
                <a:latin typeface="Arial"/>
                <a:cs typeface="Arial"/>
              </a:rPr>
              <a:t>frequencies</a:t>
            </a:r>
            <a:endParaRPr lang="en-US" sz="2400" spc="-10" dirty="0">
              <a:latin typeface="Arial"/>
              <a:cs typeface="Arial"/>
            </a:endParaRPr>
          </a:p>
          <a:p>
            <a:pPr marL="25400" marR="495934" indent="-5080">
              <a:spcBef>
                <a:spcPts val="100"/>
              </a:spcBef>
              <a:buClr>
                <a:srgbClr val="009999"/>
              </a:buClr>
              <a:buSzPct val="60416"/>
              <a:buFont typeface="Wingdings"/>
              <a:buChar char=""/>
              <a:tabLst>
                <a:tab pos="170815" algn="l"/>
                <a:tab pos="1366520" algn="l"/>
              </a:tabLst>
            </a:pPr>
            <a:r>
              <a:rPr sz="2400" dirty="0">
                <a:latin typeface="Arial"/>
                <a:cs typeface="Arial"/>
              </a:rPr>
              <a:t>Antenna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gain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20dB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10dB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decade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6"/>
          <p:cNvSpPr txBox="1"/>
          <p:nvPr/>
        </p:nvSpPr>
        <p:spPr>
          <a:xfrm>
            <a:off x="1452285" y="4594313"/>
            <a:ext cx="10515598" cy="184409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58115" indent="-150495">
              <a:spcBef>
                <a:spcPts val="540"/>
              </a:spcBef>
              <a:buClr>
                <a:srgbClr val="009999"/>
              </a:buClr>
              <a:buSzPct val="60416"/>
              <a:buFont typeface="Wingdings"/>
              <a:buChar char=""/>
              <a:tabLst>
                <a:tab pos="158115" algn="l"/>
              </a:tabLst>
            </a:pPr>
            <a:r>
              <a:rPr lang="en-US" sz="2400" b="1" dirty="0">
                <a:latin typeface="Arial"/>
                <a:cs typeface="Arial"/>
              </a:rPr>
              <a:t>M</a:t>
            </a:r>
            <a:r>
              <a:rPr sz="2400" b="1" dirty="0">
                <a:latin typeface="Arial"/>
                <a:cs typeface="Arial"/>
              </a:rPr>
              <a:t>odel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corrected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for</a:t>
            </a:r>
            <a:endParaRPr sz="2400" dirty="0">
              <a:latin typeface="Arial"/>
              <a:cs typeface="Arial"/>
            </a:endParaRPr>
          </a:p>
          <a:p>
            <a:pPr marL="104139" marR="5080">
              <a:lnSpc>
                <a:spcPts val="3720"/>
              </a:lnSpc>
              <a:spcBef>
                <a:spcPts val="265"/>
              </a:spcBef>
            </a:pPr>
            <a:r>
              <a:rPr sz="2700" i="1" dirty="0">
                <a:latin typeface="Symbol"/>
                <a:cs typeface="Symbol"/>
              </a:rPr>
              <a:t></a:t>
            </a:r>
            <a:r>
              <a:rPr sz="2600" i="1" dirty="0">
                <a:latin typeface="Arial"/>
                <a:cs typeface="Arial"/>
              </a:rPr>
              <a:t>h</a:t>
            </a:r>
            <a:r>
              <a:rPr sz="2600" i="1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10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terrain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undulation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height,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isolated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ridge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height </a:t>
            </a:r>
            <a:r>
              <a:rPr sz="2600" dirty="0">
                <a:latin typeface="Arial"/>
                <a:cs typeface="Arial"/>
              </a:rPr>
              <a:t>average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terrain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slope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mixed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land/sea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parameter</a:t>
            </a:r>
            <a:endParaRPr sz="2600" dirty="0">
              <a:latin typeface="Arial"/>
              <a:cs typeface="Arial"/>
            </a:endParaRPr>
          </a:p>
          <a:p>
            <a:pPr marR="1400810" algn="r">
              <a:spcBef>
                <a:spcPts val="1145"/>
              </a:spcBef>
            </a:pP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7577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16DC33-8CDB-0AF1-4423-E4E0F81B8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146" y="1237129"/>
            <a:ext cx="7011419" cy="5432612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2077986" y="568460"/>
            <a:ext cx="6683375" cy="319318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latin typeface="Arial"/>
                <a:cs typeface="Arial"/>
              </a:rPr>
              <a:t>Median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Attenuation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Relative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Free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Space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/>
              <a:t>=</a:t>
            </a:r>
            <a:r>
              <a:rPr sz="2000" spc="-60" dirty="0"/>
              <a:t> </a:t>
            </a:r>
            <a:r>
              <a:rPr sz="2000" i="1" dirty="0">
                <a:solidFill>
                  <a:srgbClr val="3333FF"/>
                </a:solidFill>
                <a:latin typeface="Arial"/>
                <a:cs typeface="Arial"/>
              </a:rPr>
              <a:t>A</a:t>
            </a:r>
            <a:r>
              <a:rPr sz="2025" i="1" baseline="-20576" dirty="0">
                <a:solidFill>
                  <a:srgbClr val="3333FF"/>
                </a:solidFill>
                <a:latin typeface="Arial"/>
                <a:cs typeface="Arial"/>
              </a:rPr>
              <a:t>mu</a:t>
            </a:r>
            <a:r>
              <a:rPr sz="2000" i="1" dirty="0">
                <a:solidFill>
                  <a:srgbClr val="3333FF"/>
                </a:solidFill>
                <a:latin typeface="Arial"/>
                <a:cs typeface="Arial"/>
              </a:rPr>
              <a:t>(f,d)</a:t>
            </a:r>
            <a:r>
              <a:rPr sz="2000" i="1" spc="-100" dirty="0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sz="2000" i="1" spc="-20" dirty="0">
                <a:solidFill>
                  <a:srgbClr val="3333FF"/>
                </a:solidFill>
                <a:latin typeface="Arial"/>
                <a:cs typeface="Arial"/>
              </a:rPr>
              <a:t>(dB)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4215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Correction</a:t>
            </a:r>
            <a:r>
              <a:rPr sz="4200" spc="-8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Factor</a:t>
            </a:r>
            <a:r>
              <a:rPr sz="4200" spc="-9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G</a:t>
            </a:r>
            <a:r>
              <a:rPr sz="4200" spc="-15" baseline="-20833" dirty="0">
                <a:solidFill>
                  <a:srgbClr val="003399"/>
                </a:solidFill>
                <a:latin typeface="Arial"/>
                <a:cs typeface="Arial"/>
              </a:rPr>
              <a:t>AREA</a:t>
            </a:r>
            <a:endParaRPr sz="4200" baseline="-20833"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F75739-6CF4-34AA-ACEF-7402441C4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959" y="1203589"/>
            <a:ext cx="5431394" cy="52721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9459" y="4064273"/>
            <a:ext cx="6705600" cy="16105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Example</a:t>
            </a:r>
            <a:endParaRPr sz="4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8132953" y="4305296"/>
            <a:ext cx="546734" cy="24263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090"/>
              </a:lnSpc>
            </a:pPr>
            <a:r>
              <a:rPr spc="-25" dirty="0"/>
              <a:t>63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0" y="1332934"/>
            <a:ext cx="7318733" cy="18454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D389D-B2A9-1905-1F46-4F3E9D838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2A5D3-1017-A62B-A2AA-687005DF2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56870" indent="-344170"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Most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widely</a:t>
            </a:r>
            <a:r>
              <a:rPr lang="en-US" spc="-1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used</a:t>
            </a:r>
            <a:r>
              <a:rPr lang="en-US" spc="-9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model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Radio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frequency.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270"/>
              </a:spcBef>
              <a:buClr>
                <a:srgbClr val="009999"/>
              </a:buClr>
              <a:buFont typeface="Wingdings"/>
              <a:buChar char=""/>
            </a:pPr>
            <a:endParaRPr lang="en-US" dirty="0">
              <a:latin typeface="Arial"/>
              <a:cs typeface="Arial"/>
            </a:endParaRPr>
          </a:p>
          <a:p>
            <a:pPr marL="356870" indent="-344170">
              <a:spcBef>
                <a:spcPts val="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Predicting</a:t>
            </a:r>
            <a:r>
              <a:rPr lang="en-US" spc="-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behavior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-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cellular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communication</a:t>
            </a:r>
            <a:r>
              <a:rPr lang="en-US" spc="-1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spc="-10" dirty="0" err="1">
                <a:latin typeface="Arial"/>
                <a:cs typeface="Arial"/>
              </a:rPr>
              <a:t>built</a:t>
            </a:r>
            <a:r>
              <a:rPr lang="en-US" dirty="0" err="1">
                <a:latin typeface="Arial"/>
                <a:cs typeface="Arial"/>
              </a:rPr>
              <a:t>up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areas.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275"/>
              </a:spcBef>
            </a:pPr>
            <a:endParaRPr lang="en-US" dirty="0">
              <a:latin typeface="Arial"/>
              <a:cs typeface="Arial"/>
            </a:endParaRPr>
          </a:p>
          <a:p>
            <a:pPr marL="356870" indent="-344170">
              <a:buClr>
                <a:srgbClr val="009999"/>
              </a:buClr>
              <a:buSzPct val="64583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Applicable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transmission</a:t>
            </a:r>
            <a:r>
              <a:rPr lang="en-US" spc="-9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inside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cities.</a:t>
            </a:r>
            <a:endParaRPr lang="en-US" dirty="0">
              <a:latin typeface="Arial"/>
              <a:cs typeface="Arial"/>
            </a:endParaRPr>
          </a:p>
          <a:p>
            <a:pPr marL="0" indent="0">
              <a:spcBef>
                <a:spcPts val="1275"/>
              </a:spcBef>
              <a:buClr>
                <a:srgbClr val="009999"/>
              </a:buClr>
              <a:buNone/>
            </a:pPr>
            <a:endParaRPr lang="en-US" dirty="0">
              <a:latin typeface="Arial"/>
              <a:cs typeface="Arial"/>
            </a:endParaRPr>
          </a:p>
          <a:p>
            <a:pPr marL="356870" indent="-344170">
              <a:buClr>
                <a:srgbClr val="009999"/>
              </a:buClr>
              <a:buSzPct val="64583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Suited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point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point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broadcast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transmission.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275"/>
              </a:spcBef>
              <a:buClr>
                <a:srgbClr val="009999"/>
              </a:buClr>
              <a:buFont typeface="Wingdings"/>
              <a:buChar char=""/>
            </a:pPr>
            <a:endParaRPr lang="en-US" dirty="0">
              <a:latin typeface="Arial"/>
              <a:cs typeface="Arial"/>
            </a:endParaRPr>
          </a:p>
          <a:p>
            <a:pPr marL="356870" marR="349885" indent="-344805">
              <a:buClr>
                <a:srgbClr val="009999"/>
              </a:buClr>
              <a:buSzPct val="64583"/>
              <a:buFont typeface="Wingdings"/>
              <a:buChar char=""/>
              <a:tabLst>
                <a:tab pos="356870" algn="l"/>
              </a:tabLst>
            </a:pPr>
            <a:r>
              <a:rPr lang="en-US" dirty="0">
                <a:latin typeface="Arial"/>
                <a:cs typeface="Arial"/>
              </a:rPr>
              <a:t>150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MHz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1.5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GHz,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Transmission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height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up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spc="-20" dirty="0">
                <a:latin typeface="Arial"/>
                <a:cs typeface="Arial"/>
              </a:rPr>
              <a:t>200m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link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distance</a:t>
            </a:r>
            <a:r>
              <a:rPr lang="en-US" spc="-9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less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than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20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Km.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708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6B6DE-EA0E-0004-198A-A48078B35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26E3E-AF19-920A-4CF5-40F33F5C0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200660" indent="-127000">
              <a:spcBef>
                <a:spcPts val="90"/>
              </a:spcBef>
              <a:buClr>
                <a:srgbClr val="009999"/>
              </a:buClr>
              <a:buSzPct val="60000"/>
              <a:buFont typeface="Wingdings"/>
              <a:buChar char=""/>
              <a:tabLst>
                <a:tab pos="200660" algn="l"/>
              </a:tabLst>
            </a:pPr>
            <a:r>
              <a:rPr lang="en-US" dirty="0">
                <a:latin typeface="Arial"/>
                <a:cs typeface="Arial"/>
              </a:rPr>
              <a:t>Hata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transformed</a:t>
            </a:r>
            <a:r>
              <a:rPr lang="en-US" spc="-1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Okumura’s</a:t>
            </a:r>
            <a:r>
              <a:rPr lang="en-US" spc="-11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graphical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model</a:t>
            </a:r>
            <a:r>
              <a:rPr lang="en-US" spc="-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into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analytical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framework.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060"/>
              </a:spcBef>
              <a:buClr>
                <a:srgbClr val="009999"/>
              </a:buClr>
              <a:buFont typeface="Wingdings"/>
              <a:buChar char=""/>
            </a:pPr>
            <a:endParaRPr lang="en-US" dirty="0">
              <a:latin typeface="Arial"/>
              <a:cs typeface="Arial"/>
            </a:endParaRPr>
          </a:p>
          <a:p>
            <a:pPr marL="200660" indent="-127000">
              <a:spcBef>
                <a:spcPts val="5"/>
              </a:spcBef>
              <a:buClr>
                <a:srgbClr val="009999"/>
              </a:buClr>
              <a:buSzPct val="60000"/>
              <a:buFont typeface="Wingdings"/>
              <a:buChar char=""/>
              <a:tabLst>
                <a:tab pos="200660" algn="l"/>
              </a:tabLst>
            </a:pP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Hata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model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9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urban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areas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is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given</a:t>
            </a:r>
            <a:r>
              <a:rPr lang="en-US" spc="-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by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empirical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formula: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040"/>
              </a:spcBef>
              <a:buClr>
                <a:srgbClr val="009999"/>
              </a:buClr>
              <a:buFont typeface="Wingdings"/>
              <a:buChar char=""/>
            </a:pPr>
            <a:endParaRPr lang="en-US" dirty="0">
              <a:latin typeface="Arial"/>
              <a:cs typeface="Arial"/>
            </a:endParaRPr>
          </a:p>
          <a:p>
            <a:pPr marL="76200"/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L50,</a:t>
            </a:r>
            <a:r>
              <a:rPr lang="en-US" spc="-15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baseline="-20000" dirty="0">
                <a:solidFill>
                  <a:srgbClr val="276DFF"/>
                </a:solidFill>
                <a:latin typeface="Arial"/>
                <a:cs typeface="Arial"/>
              </a:rPr>
              <a:t>urban</a:t>
            </a:r>
            <a:r>
              <a:rPr lang="en-US" spc="247" baseline="-20000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=</a:t>
            </a:r>
            <a:r>
              <a:rPr lang="en-US" spc="-40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69.55</a:t>
            </a:r>
            <a:r>
              <a:rPr lang="en-US" spc="-10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dB</a:t>
            </a:r>
            <a:r>
              <a:rPr lang="en-US" spc="-30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+26.16</a:t>
            </a:r>
            <a:r>
              <a:rPr lang="en-US" spc="-10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log(f</a:t>
            </a:r>
            <a:r>
              <a:rPr lang="en-US" baseline="-20000" dirty="0">
                <a:solidFill>
                  <a:srgbClr val="276DFF"/>
                </a:solidFill>
                <a:latin typeface="Arial"/>
                <a:cs typeface="Arial"/>
              </a:rPr>
              <a:t>c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)-</a:t>
            </a:r>
            <a:r>
              <a:rPr lang="en-US" spc="-45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3.82</a:t>
            </a:r>
            <a:r>
              <a:rPr lang="en-US" spc="-15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log(</a:t>
            </a:r>
            <a:r>
              <a:rPr lang="en-US" dirty="0" err="1">
                <a:solidFill>
                  <a:srgbClr val="276DFF"/>
                </a:solidFill>
                <a:latin typeface="Arial"/>
                <a:cs typeface="Arial"/>
              </a:rPr>
              <a:t>h</a:t>
            </a:r>
            <a:r>
              <a:rPr lang="en-US" baseline="-20000" dirty="0" err="1">
                <a:solidFill>
                  <a:srgbClr val="276DFF"/>
                </a:solidFill>
                <a:latin typeface="Arial"/>
                <a:cs typeface="Arial"/>
              </a:rPr>
              <a:t>t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)</a:t>
            </a:r>
            <a:r>
              <a:rPr lang="en-US" spc="-20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spc="-25" dirty="0">
                <a:solidFill>
                  <a:srgbClr val="276DFF"/>
                </a:solidFill>
                <a:latin typeface="Arial"/>
                <a:cs typeface="Arial"/>
              </a:rPr>
              <a:t>-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a(</a:t>
            </a:r>
            <a:r>
              <a:rPr lang="en-US" dirty="0" err="1">
                <a:solidFill>
                  <a:srgbClr val="276DFF"/>
                </a:solidFill>
                <a:latin typeface="Arial"/>
                <a:cs typeface="Arial"/>
              </a:rPr>
              <a:t>h</a:t>
            </a:r>
            <a:r>
              <a:rPr lang="en-US" baseline="-20000" dirty="0" err="1">
                <a:solidFill>
                  <a:srgbClr val="276DFF"/>
                </a:solidFill>
                <a:latin typeface="Arial"/>
                <a:cs typeface="Arial"/>
              </a:rPr>
              <a:t>r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) +</a:t>
            </a:r>
            <a:r>
              <a:rPr lang="en-US" spc="-35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(44.9</a:t>
            </a:r>
            <a:r>
              <a:rPr lang="en-US" spc="-10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−</a:t>
            </a:r>
            <a:r>
              <a:rPr lang="en-US" spc="-40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6.55</a:t>
            </a:r>
            <a:r>
              <a:rPr lang="en-US" spc="-10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log(</a:t>
            </a:r>
            <a:r>
              <a:rPr lang="en-US" dirty="0" err="1">
                <a:solidFill>
                  <a:srgbClr val="276DFF"/>
                </a:solidFill>
                <a:latin typeface="Arial"/>
                <a:cs typeface="Arial"/>
              </a:rPr>
              <a:t>h</a:t>
            </a:r>
            <a:r>
              <a:rPr lang="en-US" baseline="-20000" dirty="0" err="1">
                <a:solidFill>
                  <a:srgbClr val="276DFF"/>
                </a:solidFill>
                <a:latin typeface="Arial"/>
                <a:cs typeface="Arial"/>
              </a:rPr>
              <a:t>t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))</a:t>
            </a:r>
            <a:r>
              <a:rPr lang="en-US" spc="-25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276DFF"/>
                </a:solidFill>
                <a:latin typeface="Arial"/>
                <a:cs typeface="Arial"/>
              </a:rPr>
              <a:t>log(d)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175"/>
              </a:spcBef>
            </a:pPr>
            <a:endParaRPr lang="en-US" dirty="0">
              <a:latin typeface="Arial"/>
              <a:cs typeface="Arial"/>
            </a:endParaRPr>
          </a:p>
          <a:p>
            <a:pPr marL="200660" indent="-127000">
              <a:buClr>
                <a:srgbClr val="009999"/>
              </a:buClr>
              <a:buSzPct val="60000"/>
              <a:buFont typeface="Wingdings"/>
              <a:buChar char=""/>
              <a:tabLst>
                <a:tab pos="200660" algn="l"/>
              </a:tabLst>
            </a:pPr>
            <a:r>
              <a:rPr lang="en-US" dirty="0">
                <a:latin typeface="Arial"/>
                <a:cs typeface="Arial"/>
              </a:rPr>
              <a:t>Where</a:t>
            </a:r>
            <a:r>
              <a:rPr lang="en-US" spc="-1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L50,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sz="3200" baseline="-20576" dirty="0">
                <a:latin typeface="Arial"/>
                <a:cs typeface="Arial"/>
              </a:rPr>
              <a:t>urban</a:t>
            </a:r>
            <a:r>
              <a:rPr lang="en-US" sz="3200" spc="172" baseline="-20576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is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median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path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loss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spc="-25" dirty="0" err="1">
                <a:latin typeface="Arial"/>
                <a:cs typeface="Arial"/>
              </a:rPr>
              <a:t>dB.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060"/>
              </a:spcBef>
              <a:buClr>
                <a:srgbClr val="009999"/>
              </a:buClr>
              <a:buFont typeface="Wingdings"/>
              <a:buChar char=""/>
            </a:pPr>
            <a:endParaRPr lang="en-US" dirty="0">
              <a:latin typeface="Arial"/>
              <a:cs typeface="Arial"/>
            </a:endParaRPr>
          </a:p>
          <a:p>
            <a:pPr marL="200660" indent="-127000">
              <a:buClr>
                <a:srgbClr val="009999"/>
              </a:buClr>
              <a:buSzPct val="60000"/>
              <a:buFont typeface="Wingdings"/>
              <a:buChar char=""/>
              <a:tabLst>
                <a:tab pos="200660" algn="l"/>
              </a:tabLst>
            </a:pP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formula</a:t>
            </a:r>
            <a:r>
              <a:rPr lang="en-US" spc="-1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is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valid</a:t>
            </a:r>
            <a:r>
              <a:rPr lang="en-US" spc="-15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for</a:t>
            </a:r>
            <a:endParaRPr lang="en-US" dirty="0">
              <a:latin typeface="Arial"/>
              <a:cs typeface="Arial"/>
            </a:endParaRPr>
          </a:p>
          <a:p>
            <a:pPr marL="76200">
              <a:spcBef>
                <a:spcPts val="484"/>
              </a:spcBef>
            </a:pPr>
            <a:r>
              <a:rPr lang="en-US" dirty="0">
                <a:latin typeface="Arial"/>
                <a:cs typeface="Arial"/>
              </a:rPr>
              <a:t>150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MHz&lt;=f</a:t>
            </a:r>
            <a:r>
              <a:rPr lang="en-US" sz="3200" spc="-15" baseline="-20576" dirty="0">
                <a:latin typeface="Arial"/>
                <a:cs typeface="Arial"/>
              </a:rPr>
              <a:t>c</a:t>
            </a:r>
            <a:r>
              <a:rPr lang="en-US" spc="-10" dirty="0">
                <a:latin typeface="Arial"/>
                <a:cs typeface="Arial"/>
              </a:rPr>
              <a:t>&lt;=1.5GHz,</a:t>
            </a:r>
            <a:endParaRPr lang="en-US" dirty="0">
              <a:latin typeface="Arial"/>
              <a:cs typeface="Arial"/>
            </a:endParaRPr>
          </a:p>
          <a:p>
            <a:pPr marL="76200">
              <a:spcBef>
                <a:spcPts val="480"/>
              </a:spcBef>
            </a:pPr>
            <a:r>
              <a:rPr lang="en-US" dirty="0">
                <a:latin typeface="Arial"/>
                <a:cs typeface="Arial"/>
              </a:rPr>
              <a:t>1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m&lt;=</a:t>
            </a:r>
            <a:r>
              <a:rPr lang="en-US" dirty="0" err="1">
                <a:latin typeface="Arial"/>
                <a:cs typeface="Arial"/>
              </a:rPr>
              <a:t>h</a:t>
            </a:r>
            <a:r>
              <a:rPr lang="en-US" sz="3200" baseline="-20576" dirty="0" err="1">
                <a:latin typeface="Arial"/>
                <a:cs typeface="Arial"/>
              </a:rPr>
              <a:t>r</a:t>
            </a:r>
            <a:r>
              <a:rPr lang="en-US" dirty="0">
                <a:latin typeface="Arial"/>
                <a:cs typeface="Arial"/>
              </a:rPr>
              <a:t>&lt;=10m,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30m&lt;=</a:t>
            </a:r>
            <a:r>
              <a:rPr lang="en-US" spc="-10" dirty="0" err="1">
                <a:latin typeface="Arial"/>
                <a:cs typeface="Arial"/>
              </a:rPr>
              <a:t>h</a:t>
            </a:r>
            <a:r>
              <a:rPr lang="en-US" sz="3200" spc="-15" baseline="-20576" dirty="0" err="1">
                <a:latin typeface="Arial"/>
                <a:cs typeface="Arial"/>
              </a:rPr>
              <a:t>t</a:t>
            </a:r>
            <a:r>
              <a:rPr lang="en-US" spc="-10" dirty="0">
                <a:latin typeface="Arial"/>
                <a:cs typeface="Arial"/>
              </a:rPr>
              <a:t>&lt;=200m,</a:t>
            </a:r>
            <a:endParaRPr lang="en-US" dirty="0">
              <a:latin typeface="Arial"/>
              <a:cs typeface="Arial"/>
            </a:endParaRPr>
          </a:p>
          <a:p>
            <a:pPr marL="76200">
              <a:spcBef>
                <a:spcPts val="480"/>
              </a:spcBef>
            </a:pPr>
            <a:r>
              <a:rPr lang="en-US" spc="-10" dirty="0">
                <a:latin typeface="Arial"/>
                <a:cs typeface="Arial"/>
              </a:rPr>
              <a:t>1km&lt;d&lt;20km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662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BD9E-3ED9-C78B-4303-4BDAAEDBA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3C19E-0495-6DB4-6199-95E0F5F28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87960" marR="43180" indent="-127000">
              <a:lnSpc>
                <a:spcPct val="120100"/>
              </a:lnSpc>
              <a:spcBef>
                <a:spcPts val="100"/>
              </a:spcBef>
              <a:buClr>
                <a:srgbClr val="009999"/>
              </a:buClr>
              <a:buSzPct val="60000"/>
              <a:buFont typeface="Wingdings"/>
              <a:buChar char=""/>
              <a:tabLst>
                <a:tab pos="551180" algn="l"/>
              </a:tabLst>
            </a:pP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correction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factor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a(</a:t>
            </a:r>
            <a:r>
              <a:rPr lang="en-US" dirty="0" err="1">
                <a:latin typeface="Arial"/>
                <a:cs typeface="Arial"/>
              </a:rPr>
              <a:t>h</a:t>
            </a:r>
            <a:r>
              <a:rPr lang="en-US" sz="3200" baseline="-20576" dirty="0" err="1">
                <a:latin typeface="Arial"/>
                <a:cs typeface="Arial"/>
              </a:rPr>
              <a:t>r</a:t>
            </a:r>
            <a:r>
              <a:rPr lang="en-US" dirty="0">
                <a:latin typeface="Arial"/>
                <a:cs typeface="Arial"/>
              </a:rPr>
              <a:t>)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9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mobile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antenna</a:t>
            </a:r>
            <a:r>
              <a:rPr lang="en-US" spc="-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height</a:t>
            </a:r>
            <a:r>
              <a:rPr lang="en-US" spc="-5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hr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small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or 	</a:t>
            </a:r>
            <a:r>
              <a:rPr lang="en-US" spc="-10" dirty="0">
                <a:latin typeface="Arial"/>
                <a:cs typeface="Arial"/>
              </a:rPr>
              <a:t>medium-</a:t>
            </a:r>
            <a:r>
              <a:rPr lang="en-US" dirty="0">
                <a:latin typeface="Arial"/>
                <a:cs typeface="Arial"/>
              </a:rPr>
              <a:t>sized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city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is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given</a:t>
            </a:r>
            <a:r>
              <a:rPr lang="en-US" spc="5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by:</a:t>
            </a:r>
            <a:endParaRPr lang="en-US" dirty="0">
              <a:latin typeface="Arial"/>
              <a:cs typeface="Arial"/>
            </a:endParaRPr>
          </a:p>
          <a:p>
            <a:pPr marL="63500">
              <a:spcBef>
                <a:spcPts val="480"/>
              </a:spcBef>
            </a:pPr>
            <a:r>
              <a:rPr lang="en-US" dirty="0">
                <a:latin typeface="Arial"/>
                <a:cs typeface="Arial"/>
              </a:rPr>
              <a:t>a(</a:t>
            </a:r>
            <a:r>
              <a:rPr lang="en-US" dirty="0" err="1">
                <a:latin typeface="Arial"/>
                <a:cs typeface="Arial"/>
              </a:rPr>
              <a:t>h</a:t>
            </a:r>
            <a:r>
              <a:rPr lang="en-US" sz="3200" baseline="-20576" dirty="0" err="1">
                <a:latin typeface="Arial"/>
                <a:cs typeface="Arial"/>
              </a:rPr>
              <a:t>r</a:t>
            </a:r>
            <a:r>
              <a:rPr lang="en-US" dirty="0">
                <a:latin typeface="Arial"/>
                <a:cs typeface="Arial"/>
              </a:rPr>
              <a:t>)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=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(1.1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logf</a:t>
            </a:r>
            <a:r>
              <a:rPr lang="en-US" sz="3200" baseline="-20576" dirty="0" err="1">
                <a:latin typeface="Arial"/>
                <a:cs typeface="Arial"/>
              </a:rPr>
              <a:t>c</a:t>
            </a:r>
            <a:r>
              <a:rPr lang="en-US" sz="3200" spc="225" baseline="-20576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−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0.7)</a:t>
            </a:r>
            <a:r>
              <a:rPr lang="en-US" dirty="0" err="1">
                <a:latin typeface="Arial"/>
                <a:cs typeface="Arial"/>
              </a:rPr>
              <a:t>h</a:t>
            </a:r>
            <a:r>
              <a:rPr lang="en-US" sz="3200" baseline="-20576" dirty="0" err="1">
                <a:latin typeface="Arial"/>
                <a:cs typeface="Arial"/>
              </a:rPr>
              <a:t>r</a:t>
            </a:r>
            <a:r>
              <a:rPr lang="en-US" sz="3200" spc="270" baseline="-20576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−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(1.56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log(f</a:t>
            </a:r>
            <a:r>
              <a:rPr lang="en-US" sz="3200" baseline="-20576" dirty="0">
                <a:latin typeface="Arial"/>
                <a:cs typeface="Arial"/>
              </a:rPr>
              <a:t>c</a:t>
            </a:r>
            <a:r>
              <a:rPr lang="en-US" dirty="0">
                <a:latin typeface="Arial"/>
                <a:cs typeface="Arial"/>
              </a:rPr>
              <a:t>)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−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0.8)</a:t>
            </a:r>
            <a:r>
              <a:rPr lang="en-US" spc="-25" dirty="0">
                <a:latin typeface="Arial"/>
                <a:cs typeface="Arial"/>
              </a:rPr>
              <a:t> dB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060"/>
              </a:spcBef>
            </a:pPr>
            <a:endParaRPr lang="en-US" dirty="0">
              <a:latin typeface="Arial"/>
              <a:cs typeface="Arial"/>
            </a:endParaRPr>
          </a:p>
          <a:p>
            <a:pPr marL="187325" indent="-127000">
              <a:spcBef>
                <a:spcPts val="5"/>
              </a:spcBef>
              <a:buClr>
                <a:srgbClr val="009999"/>
              </a:buClr>
              <a:buSzPct val="60000"/>
              <a:buFont typeface="Wingdings"/>
              <a:buChar char=""/>
              <a:tabLst>
                <a:tab pos="187325" algn="l"/>
              </a:tabLst>
            </a:pP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large</a:t>
            </a:r>
            <a:r>
              <a:rPr lang="en-US" spc="-1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city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it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is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given</a:t>
            </a:r>
            <a:r>
              <a:rPr lang="en-US" spc="10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by</a:t>
            </a:r>
            <a:endParaRPr lang="en-US" dirty="0">
              <a:latin typeface="Arial"/>
              <a:cs typeface="Arial"/>
            </a:endParaRPr>
          </a:p>
          <a:p>
            <a:pPr marL="63500">
              <a:spcBef>
                <a:spcPts val="480"/>
              </a:spcBef>
              <a:tabLst>
                <a:tab pos="4069715" algn="l"/>
              </a:tabLst>
            </a:pPr>
            <a:r>
              <a:rPr lang="en-US" dirty="0">
                <a:latin typeface="Arial"/>
                <a:cs typeface="Arial"/>
              </a:rPr>
              <a:t>a(</a:t>
            </a:r>
            <a:r>
              <a:rPr lang="en-US" dirty="0" err="1">
                <a:latin typeface="Arial"/>
                <a:cs typeface="Arial"/>
              </a:rPr>
              <a:t>h</a:t>
            </a:r>
            <a:r>
              <a:rPr lang="en-US" sz="3200" baseline="-20576" dirty="0" err="1">
                <a:latin typeface="Arial"/>
                <a:cs typeface="Arial"/>
              </a:rPr>
              <a:t>r</a:t>
            </a:r>
            <a:r>
              <a:rPr lang="en-US" dirty="0">
                <a:latin typeface="Arial"/>
                <a:cs typeface="Arial"/>
              </a:rPr>
              <a:t>)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=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8.29[log(1.54h</a:t>
            </a:r>
            <a:r>
              <a:rPr lang="en-US" sz="3200" spc="-15" baseline="-20576" dirty="0">
                <a:latin typeface="Arial"/>
                <a:cs typeface="Arial"/>
              </a:rPr>
              <a:t>r</a:t>
            </a:r>
            <a:r>
              <a:rPr lang="en-US" spc="-10" dirty="0">
                <a:latin typeface="Arial"/>
                <a:cs typeface="Arial"/>
              </a:rPr>
              <a:t>)]</a:t>
            </a:r>
            <a:r>
              <a:rPr lang="en-US" sz="3200" spc="-15" baseline="24691" dirty="0">
                <a:latin typeface="Arial"/>
                <a:cs typeface="Arial"/>
              </a:rPr>
              <a:t>2</a:t>
            </a:r>
            <a:r>
              <a:rPr lang="en-US" sz="3200" spc="52" baseline="24691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−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1.10</a:t>
            </a:r>
            <a:r>
              <a:rPr lang="en-US" spc="-5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dB</a:t>
            </a:r>
            <a:r>
              <a:rPr lang="en-US" dirty="0">
                <a:latin typeface="Arial"/>
                <a:cs typeface="Arial"/>
              </a:rPr>
              <a:t>	for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</a:t>
            </a:r>
            <a:r>
              <a:rPr lang="en-US" sz="3200" baseline="-20576" dirty="0">
                <a:latin typeface="Arial"/>
                <a:cs typeface="Arial"/>
              </a:rPr>
              <a:t>c</a:t>
            </a:r>
            <a:r>
              <a:rPr lang="en-US" sz="3200" spc="165" baseline="-20576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&lt;=300</a:t>
            </a:r>
            <a:r>
              <a:rPr lang="en-US" spc="20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MHz</a:t>
            </a:r>
            <a:endParaRPr lang="en-US" dirty="0">
              <a:latin typeface="Arial"/>
              <a:cs typeface="Arial"/>
            </a:endParaRPr>
          </a:p>
          <a:p>
            <a:pPr marL="66040">
              <a:spcBef>
                <a:spcPts val="480"/>
              </a:spcBef>
            </a:pPr>
            <a:r>
              <a:rPr lang="en-US" dirty="0">
                <a:latin typeface="Arial"/>
                <a:cs typeface="Arial"/>
              </a:rPr>
              <a:t>3.20[log</a:t>
            </a:r>
            <a:r>
              <a:rPr lang="en-US" spc="-1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(11.75h</a:t>
            </a:r>
            <a:r>
              <a:rPr lang="en-US" sz="3200" baseline="-20576" dirty="0">
                <a:latin typeface="Arial"/>
                <a:cs typeface="Arial"/>
              </a:rPr>
              <a:t>r</a:t>
            </a:r>
            <a:r>
              <a:rPr lang="en-US" dirty="0">
                <a:latin typeface="Arial"/>
                <a:cs typeface="Arial"/>
              </a:rPr>
              <a:t>)]</a:t>
            </a:r>
            <a:r>
              <a:rPr lang="en-US" sz="3200" baseline="24691" dirty="0">
                <a:latin typeface="Arial"/>
                <a:cs typeface="Arial"/>
              </a:rPr>
              <a:t>2</a:t>
            </a:r>
            <a:r>
              <a:rPr lang="en-US" sz="3200" spc="209" baseline="24691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−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4.97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dB</a:t>
            </a:r>
            <a:r>
              <a:rPr lang="en-US" spc="-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</a:t>
            </a:r>
            <a:r>
              <a:rPr lang="en-US" sz="3200" baseline="-20576" dirty="0">
                <a:latin typeface="Arial"/>
                <a:cs typeface="Arial"/>
              </a:rPr>
              <a:t>c</a:t>
            </a:r>
            <a:r>
              <a:rPr lang="en-US" sz="3200" spc="142" baseline="-20576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&gt;=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300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MHz</a:t>
            </a:r>
            <a:endParaRPr lang="en-US" dirty="0">
              <a:latin typeface="Arial"/>
              <a:cs typeface="Arial"/>
            </a:endParaRPr>
          </a:p>
          <a:p>
            <a:pPr>
              <a:spcBef>
                <a:spcPts val="1060"/>
              </a:spcBef>
            </a:pPr>
            <a:endParaRPr lang="en-US" dirty="0">
              <a:latin typeface="Arial"/>
              <a:cs typeface="Arial"/>
            </a:endParaRPr>
          </a:p>
          <a:p>
            <a:pPr marL="187325" indent="-127000">
              <a:buClr>
                <a:srgbClr val="009999"/>
              </a:buClr>
              <a:buSzPct val="60000"/>
              <a:buFont typeface="Wingdings"/>
              <a:buChar char=""/>
              <a:tabLst>
                <a:tab pos="187325" algn="l"/>
              </a:tabLst>
            </a:pPr>
            <a:r>
              <a:rPr lang="en-US" dirty="0">
                <a:latin typeface="Arial"/>
                <a:cs typeface="Arial"/>
              </a:rPr>
              <a:t>To</a:t>
            </a:r>
            <a:r>
              <a:rPr lang="en-US" spc="-9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obtain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path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loss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9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suburban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area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standard</a:t>
            </a:r>
            <a:r>
              <a:rPr lang="en-US" spc="-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Hata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model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is</a:t>
            </a:r>
            <a:endParaRPr lang="en-US" dirty="0">
              <a:latin typeface="Arial"/>
              <a:cs typeface="Arial"/>
            </a:endParaRPr>
          </a:p>
          <a:p>
            <a:pPr marL="63500">
              <a:spcBef>
                <a:spcPts val="5"/>
              </a:spcBef>
            </a:pPr>
            <a:r>
              <a:rPr lang="en-US" dirty="0">
                <a:latin typeface="Arial"/>
                <a:cs typeface="Arial"/>
              </a:rPr>
              <a:t>modified</a:t>
            </a:r>
            <a:r>
              <a:rPr lang="en-US" spc="-85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as</a:t>
            </a:r>
            <a:endParaRPr lang="en-US" dirty="0">
              <a:latin typeface="Arial"/>
              <a:cs typeface="Arial"/>
            </a:endParaRPr>
          </a:p>
          <a:p>
            <a:pPr marL="66040">
              <a:spcBef>
                <a:spcPts val="480"/>
              </a:spcBef>
            </a:pP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L</a:t>
            </a:r>
            <a:r>
              <a:rPr lang="en-US" sz="3200" baseline="-20576" dirty="0">
                <a:solidFill>
                  <a:srgbClr val="276DFF"/>
                </a:solidFill>
                <a:latin typeface="Arial"/>
                <a:cs typeface="Arial"/>
              </a:rPr>
              <a:t>50</a:t>
            </a:r>
            <a:r>
              <a:rPr lang="en-US" sz="3200" spc="412" baseline="-20576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spc="-20" dirty="0">
                <a:solidFill>
                  <a:srgbClr val="276DFF"/>
                </a:solidFill>
                <a:latin typeface="Arial"/>
                <a:cs typeface="Arial"/>
              </a:rPr>
              <a:t>=L</a:t>
            </a:r>
            <a:r>
              <a:rPr lang="en-US" sz="3200" spc="-30" baseline="-20576" dirty="0">
                <a:solidFill>
                  <a:srgbClr val="276DFF"/>
                </a:solidFill>
                <a:latin typeface="Arial"/>
                <a:cs typeface="Arial"/>
              </a:rPr>
              <a:t>50</a:t>
            </a:r>
            <a:r>
              <a:rPr lang="en-US" spc="-20" dirty="0">
                <a:solidFill>
                  <a:srgbClr val="276DFF"/>
                </a:solidFill>
                <a:latin typeface="Arial"/>
                <a:cs typeface="Arial"/>
              </a:rPr>
              <a:t>(urban)-</a:t>
            </a:r>
            <a:r>
              <a:rPr lang="en-US" spc="-10" dirty="0">
                <a:solidFill>
                  <a:srgbClr val="276DFF"/>
                </a:solidFill>
                <a:latin typeface="Arial"/>
                <a:cs typeface="Arial"/>
              </a:rPr>
              <a:t>2[log(f</a:t>
            </a:r>
            <a:r>
              <a:rPr lang="en-US" sz="3200" spc="-15" baseline="-20576" dirty="0">
                <a:solidFill>
                  <a:srgbClr val="276DFF"/>
                </a:solidFill>
                <a:latin typeface="Arial"/>
                <a:cs typeface="Arial"/>
              </a:rPr>
              <a:t>c</a:t>
            </a:r>
            <a:r>
              <a:rPr lang="en-US" spc="-10" dirty="0">
                <a:solidFill>
                  <a:srgbClr val="276DFF"/>
                </a:solidFill>
                <a:latin typeface="Arial"/>
                <a:cs typeface="Arial"/>
              </a:rPr>
              <a:t>/28)]</a:t>
            </a:r>
            <a:r>
              <a:rPr lang="en-US" sz="3200" spc="-15" baseline="24691" dirty="0">
                <a:solidFill>
                  <a:srgbClr val="276DFF"/>
                </a:solidFill>
                <a:latin typeface="Arial"/>
                <a:cs typeface="Arial"/>
              </a:rPr>
              <a:t>2</a:t>
            </a:r>
            <a:r>
              <a:rPr lang="en-US" spc="-10" dirty="0">
                <a:solidFill>
                  <a:srgbClr val="276DFF"/>
                </a:solidFill>
                <a:latin typeface="Arial"/>
                <a:cs typeface="Arial"/>
              </a:rPr>
              <a:t>-</a:t>
            </a:r>
            <a:r>
              <a:rPr lang="en-US" spc="-25" dirty="0">
                <a:solidFill>
                  <a:srgbClr val="276DFF"/>
                </a:solidFill>
                <a:latin typeface="Arial"/>
                <a:cs typeface="Arial"/>
              </a:rPr>
              <a:t>5.4</a:t>
            </a:r>
            <a:endParaRPr lang="en-US" dirty="0">
              <a:latin typeface="Arial"/>
              <a:cs typeface="Arial"/>
            </a:endParaRPr>
          </a:p>
          <a:p>
            <a:pPr marL="187960" indent="-127000">
              <a:spcBef>
                <a:spcPts val="480"/>
              </a:spcBef>
              <a:buClr>
                <a:srgbClr val="009999"/>
              </a:buClr>
              <a:buSzPct val="60000"/>
              <a:buFont typeface="Wingdings"/>
              <a:buChar char=""/>
              <a:tabLst>
                <a:tab pos="187960" algn="l"/>
              </a:tabLst>
            </a:pPr>
            <a:r>
              <a:rPr lang="en-US" dirty="0">
                <a:latin typeface="Arial"/>
                <a:cs typeface="Arial"/>
              </a:rPr>
              <a:t>For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rural</a:t>
            </a:r>
            <a:r>
              <a:rPr lang="en-US" spc="-3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areas</a:t>
            </a:r>
            <a:endParaRPr lang="en-US" dirty="0">
              <a:latin typeface="Arial"/>
              <a:cs typeface="Arial"/>
            </a:endParaRPr>
          </a:p>
          <a:p>
            <a:pPr marL="66040">
              <a:spcBef>
                <a:spcPts val="484"/>
              </a:spcBef>
            </a:pP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L</a:t>
            </a:r>
            <a:r>
              <a:rPr lang="en-US" sz="3200" baseline="-20576" dirty="0">
                <a:solidFill>
                  <a:srgbClr val="276DFF"/>
                </a:solidFill>
                <a:latin typeface="Arial"/>
                <a:cs typeface="Arial"/>
              </a:rPr>
              <a:t>50</a:t>
            </a:r>
            <a:r>
              <a:rPr lang="en-US" sz="3200" spc="187" baseline="-20576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276DFF"/>
                </a:solidFill>
                <a:latin typeface="Arial"/>
                <a:cs typeface="Arial"/>
              </a:rPr>
              <a:t>=L</a:t>
            </a:r>
            <a:r>
              <a:rPr lang="en-US" sz="3200" spc="-15" baseline="-20576" dirty="0">
                <a:solidFill>
                  <a:srgbClr val="276DFF"/>
                </a:solidFill>
                <a:latin typeface="Arial"/>
                <a:cs typeface="Arial"/>
              </a:rPr>
              <a:t>50</a:t>
            </a:r>
            <a:r>
              <a:rPr lang="en-US" spc="-10" dirty="0">
                <a:solidFill>
                  <a:srgbClr val="276DFF"/>
                </a:solidFill>
                <a:latin typeface="Arial"/>
                <a:cs typeface="Arial"/>
              </a:rPr>
              <a:t>(urban)-4.78log(f</a:t>
            </a:r>
            <a:r>
              <a:rPr lang="en-US" sz="3200" spc="-15" baseline="-20576" dirty="0">
                <a:solidFill>
                  <a:srgbClr val="276DFF"/>
                </a:solidFill>
                <a:latin typeface="Arial"/>
                <a:cs typeface="Arial"/>
              </a:rPr>
              <a:t>c</a:t>
            </a:r>
            <a:r>
              <a:rPr lang="en-US" spc="-10" dirty="0">
                <a:solidFill>
                  <a:srgbClr val="276DFF"/>
                </a:solidFill>
                <a:latin typeface="Arial"/>
                <a:cs typeface="Arial"/>
              </a:rPr>
              <a:t>)</a:t>
            </a:r>
            <a:r>
              <a:rPr lang="en-US" sz="3200" spc="-15" baseline="24691" dirty="0">
                <a:solidFill>
                  <a:srgbClr val="276DFF"/>
                </a:solidFill>
                <a:latin typeface="Arial"/>
                <a:cs typeface="Arial"/>
              </a:rPr>
              <a:t>2</a:t>
            </a:r>
            <a:r>
              <a:rPr lang="en-US" spc="-10" dirty="0">
                <a:solidFill>
                  <a:srgbClr val="276DFF"/>
                </a:solidFill>
                <a:latin typeface="Arial"/>
                <a:cs typeface="Arial"/>
              </a:rPr>
              <a:t>-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18.33logf</a:t>
            </a:r>
            <a:r>
              <a:rPr lang="en-US" sz="3200" baseline="-20576" dirty="0">
                <a:solidFill>
                  <a:srgbClr val="276DFF"/>
                </a:solidFill>
                <a:latin typeface="Arial"/>
                <a:cs typeface="Arial"/>
              </a:rPr>
              <a:t>c</a:t>
            </a:r>
            <a:r>
              <a:rPr lang="en-US" sz="3200" spc="494" baseline="-20576" dirty="0">
                <a:solidFill>
                  <a:srgbClr val="276D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276DFF"/>
                </a:solidFill>
                <a:latin typeface="Arial"/>
                <a:cs typeface="Arial"/>
              </a:rPr>
              <a:t>-</a:t>
            </a:r>
            <a:r>
              <a:rPr lang="en-US" spc="-10" dirty="0">
                <a:solidFill>
                  <a:srgbClr val="276DFF"/>
                </a:solidFill>
                <a:latin typeface="Arial"/>
                <a:cs typeface="Arial"/>
              </a:rPr>
              <a:t>40.98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228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Indoor</a:t>
            </a:r>
            <a:r>
              <a:rPr sz="4200" spc="-6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Models</a:t>
            </a:r>
            <a:endParaRPr sz="4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8132953" y="4305296"/>
            <a:ext cx="546734" cy="24263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090"/>
              </a:lnSpc>
            </a:pPr>
            <a:r>
              <a:rPr spc="-25" dirty="0"/>
              <a:t>67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1871" y="1317156"/>
            <a:ext cx="10845208" cy="488236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643255" indent="-10795">
              <a:spcBef>
                <a:spcPts val="110"/>
              </a:spcBef>
              <a:buClr>
                <a:srgbClr val="009999"/>
              </a:buClr>
              <a:buSzPct val="60714"/>
              <a:buFont typeface="Wingdings"/>
              <a:buChar char=""/>
              <a:tabLst>
                <a:tab pos="186055" algn="l"/>
              </a:tabLst>
            </a:pPr>
            <a:r>
              <a:rPr sz="2800" dirty="0">
                <a:latin typeface="Arial"/>
                <a:cs typeface="Arial"/>
              </a:rPr>
              <a:t>	Indoor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Channels are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different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from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traditional </a:t>
            </a:r>
            <a:r>
              <a:rPr sz="2800" dirty="0">
                <a:latin typeface="Arial"/>
                <a:cs typeface="Arial"/>
              </a:rPr>
              <a:t>channels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two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ways</a:t>
            </a:r>
            <a:endParaRPr sz="2800" dirty="0">
              <a:latin typeface="Arial"/>
              <a:cs typeface="Arial"/>
            </a:endParaRPr>
          </a:p>
          <a:p>
            <a:pPr marL="480695" lvl="1" indent="-255904">
              <a:spcBef>
                <a:spcPts val="1340"/>
              </a:spcBef>
              <a:buSzPct val="95833"/>
              <a:buAutoNum type="arabicPeriod"/>
              <a:tabLst>
                <a:tab pos="480695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distances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covered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much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smaller</a:t>
            </a:r>
            <a:endParaRPr sz="2400" dirty="0">
              <a:latin typeface="Arial"/>
              <a:cs typeface="Arial"/>
            </a:endParaRPr>
          </a:p>
          <a:p>
            <a:pPr marL="586105" marR="462280" lvl="1" indent="-255270">
              <a:lnSpc>
                <a:spcPct val="124200"/>
              </a:lnSpc>
              <a:spcBef>
                <a:spcPts val="745"/>
              </a:spcBef>
              <a:buSzPct val="95833"/>
              <a:buAutoNum type="arabicPeriod"/>
              <a:tabLst>
                <a:tab pos="68580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variability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environment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much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greater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	</a:t>
            </a:r>
            <a:r>
              <a:rPr sz="2400" dirty="0">
                <a:latin typeface="Arial"/>
                <a:cs typeface="Arial"/>
              </a:rPr>
              <a:t>much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small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range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Tx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Rx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separation.</a:t>
            </a:r>
            <a:endParaRPr sz="2400" dirty="0">
              <a:latin typeface="Arial"/>
              <a:cs typeface="Arial"/>
            </a:endParaRPr>
          </a:p>
          <a:p>
            <a:pPr lvl="1">
              <a:spcBef>
                <a:spcPts val="2280"/>
              </a:spcBef>
              <a:buFont typeface="Arial"/>
              <a:buAutoNum type="arabicPeriod"/>
            </a:pPr>
            <a:endParaRPr sz="2400" dirty="0">
              <a:latin typeface="Arial"/>
              <a:cs typeface="Arial"/>
            </a:endParaRPr>
          </a:p>
          <a:p>
            <a:pPr marL="194945" indent="-192405">
              <a:spcBef>
                <a:spcPts val="5"/>
              </a:spcBef>
              <a:buClr>
                <a:srgbClr val="009999"/>
              </a:buClr>
              <a:buSzPct val="60000"/>
              <a:buFont typeface="Wingdings"/>
              <a:buChar char=""/>
              <a:tabLst>
                <a:tab pos="194945" algn="l"/>
              </a:tabLst>
            </a:pPr>
            <a:r>
              <a:rPr sz="3000" dirty="0">
                <a:latin typeface="Arial"/>
                <a:cs typeface="Arial"/>
              </a:rPr>
              <a:t>Propagation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inside</a:t>
            </a:r>
            <a:r>
              <a:rPr sz="3000" spc="-6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building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influenced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by:</a:t>
            </a:r>
            <a:endParaRPr sz="3000" dirty="0">
              <a:latin typeface="Arial"/>
              <a:cs typeface="Arial"/>
            </a:endParaRPr>
          </a:p>
          <a:p>
            <a:pPr marL="450215" indent="-184785">
              <a:spcBef>
                <a:spcPts val="575"/>
              </a:spcBef>
              <a:buChar char="-"/>
              <a:tabLst>
                <a:tab pos="450215" algn="l"/>
              </a:tabLst>
            </a:pPr>
            <a:r>
              <a:rPr sz="2400" dirty="0">
                <a:latin typeface="Arial"/>
                <a:cs typeface="Arial"/>
              </a:rPr>
              <a:t>Layout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building</a:t>
            </a:r>
            <a:endParaRPr sz="2400" dirty="0">
              <a:latin typeface="Arial"/>
              <a:cs typeface="Arial"/>
            </a:endParaRPr>
          </a:p>
          <a:p>
            <a:pPr marL="450215" indent="-184785">
              <a:spcBef>
                <a:spcPts val="575"/>
              </a:spcBef>
              <a:buChar char="-"/>
              <a:tabLst>
                <a:tab pos="450215" algn="l"/>
              </a:tabLst>
            </a:pPr>
            <a:r>
              <a:rPr sz="2400" dirty="0">
                <a:latin typeface="Arial"/>
                <a:cs typeface="Arial"/>
              </a:rPr>
              <a:t>Construction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materials</a:t>
            </a:r>
            <a:endParaRPr sz="2400" dirty="0">
              <a:latin typeface="Arial"/>
              <a:cs typeface="Arial"/>
            </a:endParaRPr>
          </a:p>
          <a:p>
            <a:pPr marL="450215" indent="-184785">
              <a:spcBef>
                <a:spcPts val="580"/>
              </a:spcBef>
              <a:buChar char="-"/>
              <a:tabLst>
                <a:tab pos="450215" algn="l"/>
              </a:tabLst>
            </a:pPr>
            <a:r>
              <a:rPr sz="2400" dirty="0">
                <a:latin typeface="Arial"/>
                <a:cs typeface="Arial"/>
              </a:rPr>
              <a:t>Building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Type: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office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Home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factory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Indoor</a:t>
            </a:r>
            <a:r>
              <a:rPr sz="4200" spc="-6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Models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888" y="1542611"/>
            <a:ext cx="10196623" cy="4697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-1905">
              <a:spcBef>
                <a:spcPts val="110"/>
              </a:spcBef>
              <a:buClr>
                <a:srgbClr val="009999"/>
              </a:buClr>
              <a:buSzPct val="60714"/>
              <a:buFont typeface="Wingdings"/>
              <a:buChar char=""/>
              <a:tabLst>
                <a:tab pos="185420" algn="l"/>
              </a:tabLst>
            </a:pPr>
            <a:r>
              <a:rPr sz="2800" dirty="0">
                <a:latin typeface="Arial"/>
                <a:cs typeface="Arial"/>
              </a:rPr>
              <a:t>	Indoor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models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dominated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same </a:t>
            </a:r>
            <a:r>
              <a:rPr sz="2800" dirty="0">
                <a:latin typeface="Arial"/>
                <a:cs typeface="Arial"/>
              </a:rPr>
              <a:t>mechanism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out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door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models:</a:t>
            </a:r>
            <a:endParaRPr sz="2800" dirty="0">
              <a:latin typeface="Arial"/>
              <a:cs typeface="Arial"/>
            </a:endParaRPr>
          </a:p>
          <a:p>
            <a:pPr marL="523875" lvl="1" indent="-215900">
              <a:spcBef>
                <a:spcPts val="675"/>
              </a:spcBef>
              <a:buSzPct val="116666"/>
              <a:buChar char="-"/>
              <a:tabLst>
                <a:tab pos="523875" algn="l"/>
              </a:tabLst>
            </a:pPr>
            <a:r>
              <a:rPr sz="2400" dirty="0">
                <a:latin typeface="Arial"/>
                <a:cs typeface="Arial"/>
              </a:rPr>
              <a:t>Reflection,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Diffraction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scattering</a:t>
            </a:r>
            <a:endParaRPr sz="2400" dirty="0">
              <a:latin typeface="Arial"/>
              <a:cs typeface="Arial"/>
            </a:endParaRPr>
          </a:p>
          <a:p>
            <a:pPr marL="185420" indent="-174625">
              <a:spcBef>
                <a:spcPts val="675"/>
              </a:spcBef>
              <a:buClr>
                <a:srgbClr val="009999"/>
              </a:buClr>
              <a:buSzPct val="60714"/>
              <a:buFont typeface="Wingdings"/>
              <a:buChar char=""/>
              <a:tabLst>
                <a:tab pos="185420" algn="l"/>
              </a:tabLst>
            </a:pPr>
            <a:r>
              <a:rPr sz="2800" dirty="0">
                <a:latin typeface="Arial"/>
                <a:cs typeface="Arial"/>
              </a:rPr>
              <a:t>Conditions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much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more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variable</a:t>
            </a:r>
            <a:endParaRPr sz="2800" dirty="0">
              <a:latin typeface="Arial"/>
              <a:cs typeface="Arial"/>
            </a:endParaRPr>
          </a:p>
          <a:p>
            <a:pPr marL="523875" lvl="1" indent="-215900">
              <a:spcBef>
                <a:spcPts val="670"/>
              </a:spcBef>
              <a:buSzPct val="116666"/>
              <a:buChar char="-"/>
              <a:tabLst>
                <a:tab pos="523875" algn="l"/>
              </a:tabLst>
            </a:pPr>
            <a:r>
              <a:rPr sz="2400" dirty="0">
                <a:latin typeface="Arial"/>
                <a:cs typeface="Arial"/>
              </a:rPr>
              <a:t>Doors/Windows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open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not</a:t>
            </a:r>
            <a:endParaRPr sz="2400" dirty="0">
              <a:latin typeface="Arial"/>
              <a:cs typeface="Arial"/>
            </a:endParaRPr>
          </a:p>
          <a:p>
            <a:pPr marL="450215" lvl="1" indent="-184785">
              <a:spcBef>
                <a:spcPts val="595"/>
              </a:spcBef>
              <a:buChar char="-"/>
              <a:tabLst>
                <a:tab pos="450215" algn="l"/>
              </a:tabLst>
            </a:pPr>
            <a:r>
              <a:rPr sz="2400" dirty="0">
                <a:latin typeface="Arial"/>
                <a:cs typeface="Arial"/>
              </a:rPr>
              <a:t>Antenna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mounting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desk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ceiling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etc</a:t>
            </a:r>
            <a:endParaRPr sz="2400" dirty="0">
              <a:latin typeface="Arial"/>
              <a:cs typeface="Arial"/>
            </a:endParaRPr>
          </a:p>
          <a:p>
            <a:pPr marL="450215" lvl="1" indent="-184785">
              <a:spcBef>
                <a:spcPts val="580"/>
              </a:spcBef>
              <a:buChar char="-"/>
              <a:tabLst>
                <a:tab pos="450215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levels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floor</a:t>
            </a:r>
            <a:endParaRPr sz="2400" dirty="0">
              <a:latin typeface="Arial"/>
              <a:cs typeface="Arial"/>
            </a:endParaRPr>
          </a:p>
          <a:p>
            <a:pPr marL="185420" indent="-174625">
              <a:spcBef>
                <a:spcPts val="655"/>
              </a:spcBef>
              <a:buClr>
                <a:srgbClr val="009999"/>
              </a:buClr>
              <a:buSzPct val="60714"/>
              <a:buFont typeface="Wingdings"/>
              <a:buChar char=""/>
              <a:tabLst>
                <a:tab pos="185420" algn="l"/>
              </a:tabLst>
            </a:pPr>
            <a:r>
              <a:rPr sz="2800" dirty="0">
                <a:latin typeface="Arial"/>
                <a:cs typeface="Arial"/>
              </a:rPr>
              <a:t>Indoor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models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classifies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as</a:t>
            </a:r>
            <a:endParaRPr sz="2800" dirty="0">
              <a:latin typeface="Arial"/>
              <a:cs typeface="Arial"/>
            </a:endParaRPr>
          </a:p>
          <a:p>
            <a:pPr marL="492759" lvl="1" indent="-184785">
              <a:spcBef>
                <a:spcPts val="1075"/>
              </a:spcBef>
              <a:buChar char="-"/>
              <a:tabLst>
                <a:tab pos="492759" algn="l"/>
              </a:tabLst>
            </a:pPr>
            <a:r>
              <a:rPr sz="2400" dirty="0">
                <a:latin typeface="Arial"/>
                <a:cs typeface="Arial"/>
              </a:rPr>
              <a:t>Line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sight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(LOS)</a:t>
            </a:r>
            <a:endParaRPr sz="2400" dirty="0">
              <a:latin typeface="Arial"/>
              <a:cs typeface="Arial"/>
            </a:endParaRPr>
          </a:p>
          <a:p>
            <a:pPr marL="450215" lvl="1" indent="-184785">
              <a:spcBef>
                <a:spcPts val="675"/>
              </a:spcBef>
              <a:buChar char="-"/>
              <a:tabLst>
                <a:tab pos="450215" algn="l"/>
              </a:tabLst>
            </a:pPr>
            <a:r>
              <a:rPr sz="2400" dirty="0">
                <a:latin typeface="Arial"/>
                <a:cs typeface="Arial"/>
              </a:rPr>
              <a:t>Obstructed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(OBS)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varying degree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clutter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60244" y="201637"/>
            <a:ext cx="3405504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Indoor</a:t>
            </a:r>
            <a:r>
              <a:rPr sz="4200" spc="-6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Models</a:t>
            </a:r>
            <a:endParaRPr sz="4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8132953" y="4305296"/>
            <a:ext cx="546734" cy="24263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090"/>
              </a:lnSpc>
            </a:pPr>
            <a:r>
              <a:rPr spc="-25" dirty="0"/>
              <a:t>69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1238" y="860792"/>
            <a:ext cx="10451804" cy="5493170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L="286385" indent="-187325">
              <a:spcBef>
                <a:spcPts val="1755"/>
              </a:spcBef>
              <a:buClr>
                <a:srgbClr val="009999"/>
              </a:buClr>
              <a:buSzPct val="61666"/>
              <a:buFont typeface="Wingdings"/>
              <a:buChar char=""/>
              <a:tabLst>
                <a:tab pos="286385" algn="l"/>
              </a:tabLst>
            </a:pPr>
            <a:r>
              <a:rPr sz="3000" dirty="0">
                <a:latin typeface="Arial"/>
                <a:cs typeface="Arial"/>
              </a:rPr>
              <a:t>Portable</a:t>
            </a:r>
            <a:r>
              <a:rPr sz="3000" spc="-9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receiver</a:t>
            </a:r>
            <a:r>
              <a:rPr sz="3000" spc="-4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usually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experience</a:t>
            </a:r>
            <a:endParaRPr sz="3000" dirty="0">
              <a:latin typeface="Arial"/>
              <a:cs typeface="Arial"/>
            </a:endParaRPr>
          </a:p>
          <a:p>
            <a:pPr marL="608965" lvl="1" indent="-184785">
              <a:spcBef>
                <a:spcPts val="1320"/>
              </a:spcBef>
              <a:buClr>
                <a:srgbClr val="000000"/>
              </a:buClr>
              <a:buChar char="-"/>
              <a:tabLst>
                <a:tab pos="608965" algn="l"/>
              </a:tabLst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Rayleigh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fading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OBS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propagation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paths</a:t>
            </a:r>
            <a:endParaRPr sz="2400" dirty="0">
              <a:latin typeface="Arial"/>
              <a:cs typeface="Arial"/>
            </a:endParaRPr>
          </a:p>
          <a:p>
            <a:pPr marL="624205" lvl="1" indent="-184785">
              <a:spcBef>
                <a:spcPts val="700"/>
              </a:spcBef>
              <a:buClr>
                <a:srgbClr val="000000"/>
              </a:buClr>
              <a:buChar char="-"/>
              <a:tabLst>
                <a:tab pos="624205" algn="l"/>
              </a:tabLst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Ricean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fading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LOS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propagation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path</a:t>
            </a:r>
            <a:endParaRPr sz="2400" dirty="0">
              <a:latin typeface="Arial"/>
              <a:cs typeface="Arial"/>
            </a:endParaRPr>
          </a:p>
          <a:p>
            <a:pPr marL="104139" marR="1079500" indent="-5080">
              <a:spcBef>
                <a:spcPts val="720"/>
              </a:spcBef>
              <a:buClr>
                <a:srgbClr val="009999"/>
              </a:buClr>
              <a:buSzPct val="61666"/>
              <a:buFont typeface="Wingdings"/>
              <a:buChar char=""/>
              <a:tabLst>
                <a:tab pos="286385" algn="l"/>
              </a:tabLst>
            </a:pPr>
            <a:r>
              <a:rPr sz="3000" dirty="0">
                <a:latin typeface="Arial"/>
                <a:cs typeface="Arial"/>
              </a:rPr>
              <a:t>	Indoors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models</a:t>
            </a:r>
            <a:r>
              <a:rPr sz="3000" spc="-5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are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effected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by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type </a:t>
            </a:r>
            <a:r>
              <a:rPr sz="3000" spc="-35" dirty="0">
                <a:latin typeface="Arial"/>
                <a:cs typeface="Arial"/>
              </a:rPr>
              <a:t>of </a:t>
            </a:r>
            <a:r>
              <a:rPr sz="3000" dirty="0">
                <a:latin typeface="Arial"/>
                <a:cs typeface="Arial"/>
              </a:rPr>
              <a:t>building</a:t>
            </a:r>
            <a:r>
              <a:rPr sz="3000" spc="-10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e.g.</a:t>
            </a:r>
            <a:r>
              <a:rPr sz="3000" spc="-4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Residential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buildings,</a:t>
            </a:r>
            <a:r>
              <a:rPr sz="3000" spc="-9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offices, </a:t>
            </a:r>
            <a:r>
              <a:rPr sz="3000" dirty="0">
                <a:latin typeface="Arial"/>
                <a:cs typeface="Arial"/>
              </a:rPr>
              <a:t>stores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and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sports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area</a:t>
            </a:r>
            <a:r>
              <a:rPr sz="3000" spc="-45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etc.</a:t>
            </a:r>
            <a:endParaRPr sz="3000" dirty="0">
              <a:latin typeface="Arial"/>
              <a:cs typeface="Arial"/>
            </a:endParaRPr>
          </a:p>
          <a:p>
            <a:pPr marL="286385" indent="-187325">
              <a:spcBef>
                <a:spcPts val="725"/>
              </a:spcBef>
              <a:buClr>
                <a:srgbClr val="009999"/>
              </a:buClr>
              <a:buSzPct val="61666"/>
              <a:buFont typeface="Wingdings"/>
              <a:buChar char=""/>
              <a:tabLst>
                <a:tab pos="286385" algn="l"/>
              </a:tabLst>
            </a:pPr>
            <a:r>
              <a:rPr sz="3000" dirty="0">
                <a:latin typeface="Arial"/>
                <a:cs typeface="Arial"/>
              </a:rPr>
              <a:t>Multipath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delay</a:t>
            </a:r>
            <a:r>
              <a:rPr sz="3000" spc="-4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spread</a:t>
            </a:r>
            <a:endParaRPr sz="3000" dirty="0">
              <a:latin typeface="Arial"/>
              <a:cs typeface="Arial"/>
            </a:endParaRPr>
          </a:p>
          <a:p>
            <a:pPr marL="624205" lvl="1" indent="-184785">
              <a:spcBef>
                <a:spcPts val="580"/>
              </a:spcBef>
              <a:buChar char="-"/>
              <a:tabLst>
                <a:tab pos="624205" algn="l"/>
              </a:tabLst>
            </a:pPr>
            <a:r>
              <a:rPr sz="2400" dirty="0">
                <a:latin typeface="Arial"/>
                <a:cs typeface="Arial"/>
              </a:rPr>
              <a:t>Building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small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amount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metal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hard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partition</a:t>
            </a:r>
            <a:endParaRPr sz="2400" dirty="0">
              <a:latin typeface="Arial"/>
              <a:cs typeface="Arial"/>
            </a:endParaRPr>
          </a:p>
          <a:p>
            <a:pPr marL="692150"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have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small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delay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spread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30</a:t>
            </a:r>
            <a:r>
              <a:rPr sz="2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60ns</a:t>
            </a:r>
            <a:endParaRPr sz="2400" dirty="0">
              <a:latin typeface="Arial"/>
              <a:cs typeface="Arial"/>
            </a:endParaRPr>
          </a:p>
          <a:p>
            <a:pPr marL="624205" lvl="1" indent="-184785">
              <a:spcBef>
                <a:spcPts val="580"/>
              </a:spcBef>
              <a:buChar char="-"/>
              <a:tabLst>
                <a:tab pos="624205" algn="l"/>
              </a:tabLst>
            </a:pPr>
            <a:r>
              <a:rPr sz="2400" dirty="0">
                <a:latin typeface="Arial"/>
                <a:cs typeface="Arial"/>
              </a:rPr>
              <a:t>Building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large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amount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metal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open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isles</a:t>
            </a:r>
            <a:endParaRPr sz="2400" dirty="0">
              <a:latin typeface="Arial"/>
              <a:cs typeface="Arial"/>
            </a:endParaRPr>
          </a:p>
          <a:p>
            <a:pPr marL="12700">
              <a:spcBef>
                <a:spcPts val="575"/>
              </a:spcBef>
              <a:tabLst>
                <a:tab pos="692150" algn="l"/>
                <a:tab pos="8241665" algn="l"/>
              </a:tabLst>
            </a:pPr>
            <a:r>
              <a:rPr sz="2400" u="sng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	have</a:t>
            </a:r>
            <a:r>
              <a:rPr sz="2400" u="sng" spc="-30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400" u="sng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delay</a:t>
            </a:r>
            <a:r>
              <a:rPr sz="2400" u="sng" spc="-50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400" u="sng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spread</a:t>
            </a:r>
            <a:r>
              <a:rPr sz="2400" u="sng" spc="-50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400" u="sng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up</a:t>
            </a:r>
            <a:r>
              <a:rPr sz="2400" u="sng" spc="-45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400" u="sng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to</a:t>
            </a:r>
            <a:r>
              <a:rPr sz="2400" u="sng" spc="-40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400" u="sng" spc="-10" dirty="0">
                <a:solidFill>
                  <a:srgbClr val="FF0000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300n</a:t>
            </a:r>
            <a:r>
              <a:rPr lang="en-US" sz="2400" u="sng" spc="-10" dirty="0">
                <a:solidFill>
                  <a:srgbClr val="FF0000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s</a:t>
            </a:r>
            <a:r>
              <a:rPr lang="en-US" sz="2400" u="sng" dirty="0">
                <a:solidFill>
                  <a:srgbClr val="FF0000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	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Partition</a:t>
            </a:r>
            <a:r>
              <a:rPr sz="4200" spc="-4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losses</a:t>
            </a:r>
            <a:r>
              <a:rPr sz="4200" spc="-8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(same</a:t>
            </a:r>
            <a:r>
              <a:rPr sz="4200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floor)</a:t>
            </a:r>
            <a:endParaRPr sz="4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5670" y="1428788"/>
            <a:ext cx="7820659" cy="4944942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94945" indent="-187325">
              <a:spcBef>
                <a:spcPts val="819"/>
              </a:spcBef>
              <a:buClr>
                <a:srgbClr val="009999"/>
              </a:buClr>
              <a:buSzPct val="61666"/>
              <a:buFont typeface="Wingdings"/>
              <a:buChar char=""/>
              <a:tabLst>
                <a:tab pos="194945" algn="l"/>
              </a:tabLst>
            </a:pPr>
            <a:r>
              <a:rPr sz="3000" dirty="0">
                <a:latin typeface="Arial"/>
                <a:cs typeface="Arial"/>
              </a:rPr>
              <a:t>Two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types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of</a:t>
            </a:r>
            <a:r>
              <a:rPr sz="3000" spc="-5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partitions</a:t>
            </a:r>
            <a:endParaRPr sz="3000" dirty="0">
              <a:latin typeface="Arial"/>
              <a:cs typeface="Arial"/>
            </a:endParaRPr>
          </a:p>
          <a:p>
            <a:pPr marL="648970" lvl="1" indent="-422909">
              <a:spcBef>
                <a:spcPts val="720"/>
              </a:spcBef>
              <a:buAutoNum type="arabicPeriod"/>
              <a:tabLst>
                <a:tab pos="648970" algn="l"/>
              </a:tabLst>
            </a:pPr>
            <a:r>
              <a:rPr sz="3000" dirty="0">
                <a:latin typeface="Arial"/>
                <a:cs typeface="Arial"/>
              </a:rPr>
              <a:t>hard</a:t>
            </a:r>
            <a:r>
              <a:rPr sz="3000" spc="-6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partitions:</a:t>
            </a:r>
            <a:r>
              <a:rPr sz="3000" spc="-6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Walls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of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room</a:t>
            </a:r>
            <a:endParaRPr sz="3000" dirty="0">
              <a:latin typeface="Arial"/>
              <a:cs typeface="Arial"/>
            </a:endParaRPr>
          </a:p>
          <a:p>
            <a:pPr marL="647700" marR="481330" lvl="1" indent="-422275">
              <a:lnSpc>
                <a:spcPct val="120100"/>
              </a:lnSpc>
              <a:buAutoNum type="arabicPeriod"/>
              <a:tabLst>
                <a:tab pos="649605" algn="l"/>
              </a:tabLst>
            </a:pPr>
            <a:r>
              <a:rPr sz="3000" dirty="0">
                <a:latin typeface="Arial"/>
                <a:cs typeface="Arial"/>
              </a:rPr>
              <a:t>Soft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partitions</a:t>
            </a:r>
            <a:r>
              <a:rPr sz="3000" spc="-9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: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Moveable</a:t>
            </a:r>
            <a:r>
              <a:rPr sz="3000" spc="-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partitions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that 	</a:t>
            </a:r>
            <a:r>
              <a:rPr sz="3000" dirty="0">
                <a:latin typeface="Arial"/>
                <a:cs typeface="Arial"/>
              </a:rPr>
              <a:t>donot</a:t>
            </a:r>
            <a:r>
              <a:rPr sz="3000" spc="-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span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to</a:t>
            </a:r>
            <a:r>
              <a:rPr sz="3000" spc="3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ceiling</a:t>
            </a:r>
            <a:endParaRPr sz="3000" dirty="0">
              <a:latin typeface="Arial"/>
              <a:cs typeface="Arial"/>
            </a:endParaRPr>
          </a:p>
          <a:p>
            <a:pPr lvl="1">
              <a:spcBef>
                <a:spcPts val="1595"/>
              </a:spcBef>
              <a:buFont typeface="Arial"/>
              <a:buAutoNum type="arabicPeriod"/>
            </a:pPr>
            <a:endParaRPr sz="3000" dirty="0">
              <a:latin typeface="Arial"/>
              <a:cs typeface="Arial"/>
            </a:endParaRPr>
          </a:p>
          <a:p>
            <a:pPr marL="12700" marR="534035" indent="-5080">
              <a:buClr>
                <a:srgbClr val="009999"/>
              </a:buClr>
              <a:buSzPct val="61666"/>
              <a:buFont typeface="Wingdings"/>
              <a:buChar char=""/>
              <a:tabLst>
                <a:tab pos="194945" algn="l"/>
              </a:tabLst>
            </a:pPr>
            <a:r>
              <a:rPr sz="3000" dirty="0">
                <a:latin typeface="Arial"/>
                <a:cs typeface="Arial"/>
              </a:rPr>
              <a:t>	Partitions</a:t>
            </a:r>
            <a:r>
              <a:rPr sz="3000" spc="-9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vary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widely</a:t>
            </a:r>
            <a:r>
              <a:rPr sz="3000" spc="-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their</a:t>
            </a:r>
            <a:r>
              <a:rPr sz="3000" spc="-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Physical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and </a:t>
            </a:r>
            <a:r>
              <a:rPr sz="3000" dirty="0">
                <a:latin typeface="Arial"/>
                <a:cs typeface="Arial"/>
              </a:rPr>
              <a:t>electrical</a:t>
            </a:r>
            <a:r>
              <a:rPr sz="3000" spc="-9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properties.</a:t>
            </a:r>
            <a:endParaRPr sz="3000" dirty="0">
              <a:latin typeface="Arial"/>
              <a:cs typeface="Arial"/>
            </a:endParaRPr>
          </a:p>
          <a:p>
            <a:pPr>
              <a:spcBef>
                <a:spcPts val="1595"/>
              </a:spcBef>
              <a:buClr>
                <a:srgbClr val="009999"/>
              </a:buClr>
              <a:buFont typeface="Wingdings"/>
              <a:buChar char=""/>
            </a:pPr>
            <a:endParaRPr sz="3000" dirty="0">
              <a:latin typeface="Arial"/>
              <a:cs typeface="Arial"/>
            </a:endParaRPr>
          </a:p>
          <a:p>
            <a:pPr marL="194945" indent="-187325">
              <a:buClr>
                <a:srgbClr val="009999"/>
              </a:buClr>
              <a:buSzPct val="61666"/>
              <a:buFont typeface="Wingdings"/>
              <a:buChar char=""/>
              <a:tabLst>
                <a:tab pos="194945" algn="l"/>
              </a:tabLst>
            </a:pPr>
            <a:r>
              <a:rPr sz="3000" dirty="0">
                <a:latin typeface="Arial"/>
                <a:cs typeface="Arial"/>
              </a:rPr>
              <a:t>Path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loss</a:t>
            </a:r>
            <a:r>
              <a:rPr sz="3000" spc="-6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depend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upon</a:t>
            </a:r>
            <a:r>
              <a:rPr sz="3000" spc="-6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the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types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of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partitions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Partition</a:t>
            </a:r>
            <a:r>
              <a:rPr sz="4200" spc="-4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losses</a:t>
            </a:r>
            <a:r>
              <a:rPr sz="4200" spc="-8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(same</a:t>
            </a:r>
            <a:r>
              <a:rPr sz="4200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floor)</a:t>
            </a:r>
            <a:endParaRPr sz="4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8132953" y="4305296"/>
            <a:ext cx="546734" cy="24263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090"/>
              </a:lnSpc>
            </a:pPr>
            <a:r>
              <a:rPr spc="-25" dirty="0"/>
              <a:t>71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1456" y="1180214"/>
            <a:ext cx="8763000" cy="41998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Partitions</a:t>
            </a:r>
            <a:r>
              <a:rPr sz="4200" spc="-7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losses</a:t>
            </a:r>
            <a:r>
              <a:rPr sz="4200" spc="-7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(between</a:t>
            </a:r>
            <a:r>
              <a:rPr sz="4200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floors)</a:t>
            </a:r>
            <a:endParaRPr sz="4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1200" y="1432568"/>
            <a:ext cx="8015605" cy="45781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984885" indent="-515620">
              <a:spcBef>
                <a:spcPts val="10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527685" algn="l"/>
              </a:tabLst>
            </a:pPr>
            <a:r>
              <a:rPr sz="3000" dirty="0">
                <a:latin typeface="Arial"/>
                <a:cs typeface="Arial"/>
              </a:rPr>
              <a:t>Partition</a:t>
            </a:r>
            <a:r>
              <a:rPr sz="3000" spc="-6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losses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between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the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two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floors </a:t>
            </a:r>
            <a:r>
              <a:rPr sz="3000" dirty="0">
                <a:latin typeface="Arial"/>
                <a:cs typeface="Arial"/>
              </a:rPr>
              <a:t>depend</a:t>
            </a:r>
            <a:r>
              <a:rPr sz="3000" spc="-55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on</a:t>
            </a:r>
            <a:endParaRPr sz="3000" dirty="0">
              <a:latin typeface="Arial"/>
              <a:cs typeface="Arial"/>
            </a:endParaRPr>
          </a:p>
          <a:p>
            <a:pPr marL="527685" indent="-514984">
              <a:spcBef>
                <a:spcPts val="580"/>
              </a:spcBef>
              <a:buClr>
                <a:srgbClr val="009999"/>
              </a:buClr>
              <a:buSzPct val="64583"/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External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dimension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material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buildings</a:t>
            </a:r>
            <a:endParaRPr sz="2400" dirty="0">
              <a:latin typeface="Arial"/>
              <a:cs typeface="Arial"/>
            </a:endParaRPr>
          </a:p>
          <a:p>
            <a:pPr marL="527685" indent="-514984">
              <a:spcBef>
                <a:spcPts val="580"/>
              </a:spcBef>
              <a:buClr>
                <a:srgbClr val="009999"/>
              </a:buClr>
              <a:buSzPct val="64583"/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Types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construction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floors</a:t>
            </a:r>
            <a:endParaRPr sz="2400" dirty="0">
              <a:latin typeface="Arial"/>
              <a:cs typeface="Arial"/>
            </a:endParaRPr>
          </a:p>
          <a:p>
            <a:pPr marL="527685" indent="-514984">
              <a:spcBef>
                <a:spcPts val="575"/>
              </a:spcBef>
              <a:buClr>
                <a:srgbClr val="009999"/>
              </a:buClr>
              <a:buSzPct val="64583"/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External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surroundings</a:t>
            </a:r>
            <a:endParaRPr sz="2400" dirty="0">
              <a:latin typeface="Arial"/>
              <a:cs typeface="Arial"/>
            </a:endParaRPr>
          </a:p>
          <a:p>
            <a:pPr marL="527685" indent="-514984">
              <a:spcBef>
                <a:spcPts val="580"/>
              </a:spcBef>
              <a:buClr>
                <a:srgbClr val="009999"/>
              </a:buClr>
              <a:buSzPct val="64583"/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No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windows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used</a:t>
            </a:r>
            <a:endParaRPr sz="2400" dirty="0">
              <a:latin typeface="Arial"/>
              <a:cs typeface="Arial"/>
            </a:endParaRPr>
          </a:p>
          <a:p>
            <a:pPr marL="527685" indent="-514984">
              <a:spcBef>
                <a:spcPts val="580"/>
              </a:spcBef>
              <a:buClr>
                <a:srgbClr val="009999"/>
              </a:buClr>
              <a:buSzPct val="64583"/>
              <a:buAutoNum type="arabicPeriod"/>
              <a:tabLst>
                <a:tab pos="527685" algn="l"/>
              </a:tabLst>
            </a:pPr>
            <a:r>
              <a:rPr sz="2400" dirty="0">
                <a:latin typeface="Arial"/>
                <a:cs typeface="Arial"/>
              </a:rPr>
              <a:t>Tinting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windows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1350"/>
              </a:spcBef>
              <a:buClr>
                <a:srgbClr val="009999"/>
              </a:buClr>
              <a:buFont typeface="Arial"/>
              <a:buAutoNum type="arabicPeriod"/>
            </a:pPr>
            <a:endParaRPr sz="2400" dirty="0">
              <a:latin typeface="Arial"/>
              <a:cs typeface="Arial"/>
            </a:endParaRPr>
          </a:p>
          <a:p>
            <a:pPr marL="527685" marR="5080" lvl="1" indent="-515620">
              <a:buClr>
                <a:srgbClr val="009999"/>
              </a:buClr>
              <a:buSzPct val="64285"/>
              <a:buFont typeface="Wingdings"/>
              <a:buChar char=""/>
              <a:tabLst>
                <a:tab pos="527685" algn="l"/>
              </a:tabLst>
            </a:pPr>
            <a:r>
              <a:rPr sz="2800" dirty="0">
                <a:latin typeface="Arial"/>
                <a:cs typeface="Arial"/>
              </a:rPr>
              <a:t>Floor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Attenuation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Factor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(FAF)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increases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we </a:t>
            </a:r>
            <a:r>
              <a:rPr sz="2800" dirty="0">
                <a:latin typeface="Arial"/>
                <a:cs typeface="Arial"/>
              </a:rPr>
              <a:t>increase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floors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Partitions</a:t>
            </a:r>
            <a:r>
              <a:rPr sz="4200" spc="-7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losses</a:t>
            </a:r>
            <a:r>
              <a:rPr sz="4200" spc="-7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(between</a:t>
            </a:r>
            <a:r>
              <a:rPr sz="4200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floors)</a:t>
            </a:r>
            <a:endParaRPr sz="4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8132953" y="4305296"/>
            <a:ext cx="546734" cy="24263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090"/>
              </a:lnSpc>
            </a:pPr>
            <a:r>
              <a:rPr spc="-25" dirty="0"/>
              <a:t>73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6786" y="1210576"/>
            <a:ext cx="8724014" cy="491377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DD52-EB33-7FC0-BFF0-1A35E483F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99"/>
                </a:solidFill>
                <a:latin typeface="Arial"/>
                <a:cs typeface="Arial"/>
              </a:rPr>
              <a:t>Log</a:t>
            </a:r>
            <a:r>
              <a:rPr lang="en-US" spc="-6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3399"/>
                </a:solidFill>
                <a:latin typeface="Arial"/>
                <a:cs typeface="Arial"/>
              </a:rPr>
              <a:t>distance</a:t>
            </a:r>
            <a:r>
              <a:rPr lang="en-US" spc="-9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3399"/>
                </a:solidFill>
                <a:latin typeface="Arial"/>
                <a:cs typeface="Arial"/>
              </a:rPr>
              <a:t>path</a:t>
            </a:r>
            <a:r>
              <a:rPr lang="en-US" spc="-8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3399"/>
                </a:solidFill>
                <a:latin typeface="Arial"/>
                <a:cs typeface="Arial"/>
              </a:rPr>
              <a:t>loss</a:t>
            </a:r>
            <a:r>
              <a:rPr lang="en-US" spc="-8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003399"/>
                </a:solidFill>
                <a:latin typeface="Arial"/>
                <a:cs typeface="Arial"/>
              </a:rPr>
              <a:t>model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0B613E-19C2-B9F4-7E7F-244C3E007C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Most empirical models follow the log-distance path loss formula: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𝑃𝐿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𝑑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 i="1"/>
                        <m:t>𝑃𝐿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𝑑</m:t>
                              </m:r>
                            </m:e>
                            <m:sub>
                              <m:r>
                                <a:rPr lang="ar-AE"/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/>
                        <m:t>+</m:t>
                      </m:r>
                      <m:r>
                        <a:rPr lang="ar-AE"/>
                        <m:t>10</m:t>
                      </m:r>
                      <m:r>
                        <a:rPr lang="ar-AE" i="1"/>
                        <m:t>𝑛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func>
                            <m:funcPr>
                              <m:ctrlPr>
                                <a:rPr lang="ar-AE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/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f>
                            <m:fPr>
                              <m:ctrlPr>
                                <a:rPr lang="ar-AE" i="1"/>
                              </m:ctrlPr>
                            </m:fPr>
                            <m:num>
                              <m:r>
                                <a:rPr lang="ar-AE" i="1"/>
                                <m:t>𝑑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𝑑</m:t>
                                  </m:r>
                                </m:e>
                                <m:sub>
                                  <m:r>
                                    <a:rPr lang="ar-AE"/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ar-AE"/>
                        <m:t>+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𝑋</m:t>
                          </m:r>
                        </m:e>
                        <m:sub>
                          <m:r>
                            <a:rPr lang="ar-AE" i="1"/>
                            <m:t>𝜎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𝑃𝐿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𝑑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US" dirty="0"/>
                  <a:t>Path loss at distance </a:t>
                </a:r>
                <a14:m>
                  <m:oMath xmlns:m="http://schemas.openxmlformats.org/officeDocument/2006/math">
                    <m:r>
                      <a:rPr lang="en-US" i="1"/>
                      <m:t>𝑑</m:t>
                    </m:r>
                  </m:oMath>
                </a14:m>
                <a:r>
                  <a:rPr lang="en-US" dirty="0"/>
                  <a:t>(dB)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𝑃𝐿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𝑑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US" dirty="0"/>
                  <a:t>Path loss at reference distance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</m:oMath>
                </a14:m>
                <a:r>
                  <a:rPr lang="en-US" dirty="0"/>
                  <a:t>= Path loss exponent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𝑋</m:t>
                        </m:r>
                      </m:e>
                      <m:sub>
                        <m:r>
                          <a:rPr lang="ar-AE" i="1"/>
                          <m:t>𝜎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Shadow fading (log-normal)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0B613E-19C2-B9F4-7E7F-244C3E007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2433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Log</a:t>
            </a:r>
            <a:r>
              <a:rPr sz="4200" spc="-6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distance</a:t>
            </a:r>
            <a:r>
              <a:rPr sz="4200" spc="-9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path</a:t>
            </a:r>
            <a:r>
              <a:rPr sz="4200" spc="-8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loss</a:t>
            </a:r>
            <a:r>
              <a:rPr sz="4200" spc="-8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model</a:t>
            </a:r>
            <a:endParaRPr sz="4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8132953" y="4305296"/>
            <a:ext cx="546734" cy="24263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090"/>
              </a:lnSpc>
            </a:pPr>
            <a:r>
              <a:rPr spc="-25" dirty="0"/>
              <a:t>75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090" y="1479414"/>
            <a:ext cx="9812990" cy="479946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629018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Ericsson</a:t>
            </a:r>
            <a:r>
              <a:rPr sz="4000" spc="-7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Multiple Break</a:t>
            </a:r>
            <a:r>
              <a:rPr sz="4000" spc="-1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Point </a:t>
            </a:r>
            <a:r>
              <a:rPr sz="4000" spc="-10" dirty="0">
                <a:solidFill>
                  <a:srgbClr val="003399"/>
                </a:solidFill>
                <a:latin typeface="Arial"/>
                <a:cs typeface="Arial"/>
              </a:rPr>
              <a:t>Model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8132953" y="4305296"/>
            <a:ext cx="546734" cy="24263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090"/>
              </a:lnSpc>
            </a:pPr>
            <a:r>
              <a:rPr spc="-25" dirty="0"/>
              <a:t>76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186" y="1247024"/>
            <a:ext cx="8229600" cy="463561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981200" y="4208318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8288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Attenuation</a:t>
            </a:r>
            <a:r>
              <a:rPr sz="4200" spc="-5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factor</a:t>
            </a:r>
            <a:r>
              <a:rPr sz="4200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model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8132953" y="4305296"/>
            <a:ext cx="546734" cy="24263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090"/>
              </a:lnSpc>
            </a:pPr>
            <a:r>
              <a:rPr spc="-25" dirty="0"/>
              <a:t>77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34222" y="1260897"/>
            <a:ext cx="7971155" cy="4116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spcBef>
                <a:spcPts val="90"/>
              </a:spcBef>
              <a:buClr>
                <a:srgbClr val="009999"/>
              </a:buClr>
              <a:buSzPct val="63461"/>
              <a:buFont typeface="Wingdings"/>
              <a:buChar char=""/>
              <a:tabLst>
                <a:tab pos="356870" algn="l"/>
              </a:tabLst>
            </a:pPr>
            <a:r>
              <a:rPr sz="2600" dirty="0">
                <a:latin typeface="Arial"/>
                <a:cs typeface="Arial"/>
              </a:rPr>
              <a:t>Obtained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by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measurement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multiple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floors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building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3488" y="2034842"/>
            <a:ext cx="4669465" cy="3766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5477" y="3298613"/>
            <a:ext cx="7288646" cy="24423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840" y="1091046"/>
            <a:ext cx="9692640" cy="52792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Attenuation</a:t>
            </a:r>
            <a:r>
              <a:rPr sz="4200" spc="-5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factor</a:t>
            </a:r>
            <a:r>
              <a:rPr sz="4200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model</a:t>
            </a:r>
            <a:endParaRPr sz="4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8132953" y="4305296"/>
            <a:ext cx="546734" cy="24263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090"/>
              </a:lnSpc>
            </a:pPr>
            <a:r>
              <a:rPr spc="-25" dirty="0"/>
              <a:t>78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Signal</a:t>
            </a:r>
            <a:r>
              <a:rPr sz="4200" spc="-11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penetration</a:t>
            </a:r>
            <a:r>
              <a:rPr sz="4200" spc="-6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into</a:t>
            </a:r>
            <a:r>
              <a:rPr sz="4200" spc="-10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building</a:t>
            </a:r>
            <a:endParaRPr sz="4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8132953" y="4305296"/>
            <a:ext cx="546734" cy="24263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090"/>
              </a:lnSpc>
            </a:pPr>
            <a:r>
              <a:rPr spc="-25" dirty="0"/>
              <a:t>79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983989"/>
            <a:ext cx="10988040" cy="5178341"/>
          </a:xfrm>
          <a:prstGeom prst="rect">
            <a:avLst/>
          </a:prstGeom>
        </p:spPr>
        <p:txBody>
          <a:bodyPr vert="horz" wrap="square" lIns="0" tIns="248920" rIns="0" bIns="0" rtlCol="0">
            <a:spAutoFit/>
          </a:bodyPr>
          <a:lstStyle/>
          <a:p>
            <a:pPr marL="286385" indent="-196850">
              <a:spcBef>
                <a:spcPts val="1960"/>
              </a:spcBef>
              <a:buClr>
                <a:srgbClr val="009999"/>
              </a:buClr>
              <a:buSzPct val="61666"/>
              <a:buFont typeface="Wingdings"/>
              <a:buChar char=""/>
              <a:tabLst>
                <a:tab pos="286385" algn="l"/>
              </a:tabLst>
            </a:pPr>
            <a:r>
              <a:rPr sz="30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Effect</a:t>
            </a:r>
            <a:r>
              <a:rPr sz="30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0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30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0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frequency</a:t>
            </a:r>
            <a:endParaRPr sz="3000" dirty="0">
              <a:latin typeface="Arial"/>
              <a:cs typeface="Arial"/>
            </a:endParaRPr>
          </a:p>
          <a:p>
            <a:pPr marL="271780">
              <a:spcBef>
                <a:spcPts val="1490"/>
              </a:spcBef>
            </a:pPr>
            <a:r>
              <a:rPr sz="2400" dirty="0">
                <a:latin typeface="Arial"/>
                <a:cs typeface="Arial"/>
              </a:rPr>
              <a:t>-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Penetration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decreases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increasing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frequency</a:t>
            </a:r>
            <a:endParaRPr sz="2400" dirty="0">
              <a:latin typeface="Arial"/>
              <a:cs typeface="Arial"/>
            </a:endParaRPr>
          </a:p>
          <a:p>
            <a:pPr marL="286385" indent="-196850">
              <a:spcBef>
                <a:spcPts val="2380"/>
              </a:spcBef>
              <a:buClr>
                <a:srgbClr val="009999"/>
              </a:buClr>
              <a:buSzPct val="61666"/>
              <a:buFont typeface="Wingdings"/>
              <a:buChar char=""/>
              <a:tabLst>
                <a:tab pos="286385" algn="l"/>
              </a:tabLst>
            </a:pPr>
            <a:r>
              <a:rPr sz="30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Effect</a:t>
            </a:r>
            <a:r>
              <a:rPr sz="30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0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30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0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Height</a:t>
            </a:r>
            <a:endParaRPr sz="3000" dirty="0">
              <a:latin typeface="Arial"/>
              <a:cs typeface="Arial"/>
            </a:endParaRPr>
          </a:p>
          <a:p>
            <a:pPr marL="104139" marR="174625" indent="-8890">
              <a:spcBef>
                <a:spcPts val="1290"/>
              </a:spcBef>
              <a:buClr>
                <a:srgbClr val="009999"/>
              </a:buClr>
              <a:buSzPct val="59615"/>
              <a:buFont typeface="Wingdings"/>
              <a:buChar char=""/>
              <a:tabLst>
                <a:tab pos="265430" algn="l"/>
              </a:tabLst>
            </a:pPr>
            <a:r>
              <a:rPr sz="2600" dirty="0">
                <a:latin typeface="Arial"/>
                <a:cs typeface="Arial"/>
              </a:rPr>
              <a:t>	Penetration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loss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decreases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with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height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building </a:t>
            </a:r>
            <a:r>
              <a:rPr sz="2600" dirty="0">
                <a:latin typeface="Arial"/>
                <a:cs typeface="Arial"/>
              </a:rPr>
              <a:t>up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some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certain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height.</a:t>
            </a:r>
            <a:endParaRPr sz="2600" dirty="0">
              <a:latin typeface="Arial"/>
              <a:cs typeface="Arial"/>
            </a:endParaRPr>
          </a:p>
          <a:p>
            <a:pPr marL="317500">
              <a:spcBef>
                <a:spcPts val="1530"/>
              </a:spcBef>
            </a:pPr>
            <a:r>
              <a:rPr sz="2200" dirty="0">
                <a:latin typeface="Arial"/>
                <a:cs typeface="Arial"/>
              </a:rPr>
              <a:t>-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At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lower</a:t>
            </a:r>
            <a:r>
              <a:rPr sz="2200" spc="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heights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Urban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clutter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induces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greater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attenuation</a:t>
            </a:r>
            <a:endParaRPr sz="2200" dirty="0">
              <a:latin typeface="Arial"/>
              <a:cs typeface="Arial"/>
            </a:endParaRPr>
          </a:p>
          <a:p>
            <a:pPr marL="429895" lvl="1" indent="-170180">
              <a:spcBef>
                <a:spcPts val="695"/>
              </a:spcBef>
              <a:buChar char="-"/>
              <a:tabLst>
                <a:tab pos="429895" algn="l"/>
              </a:tabLst>
            </a:pPr>
            <a:r>
              <a:rPr sz="2200" dirty="0">
                <a:latin typeface="Arial"/>
                <a:cs typeface="Arial"/>
              </a:rPr>
              <a:t>Up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some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height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attenuation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decreases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but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then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again</a:t>
            </a:r>
            <a:endParaRPr sz="2200" dirty="0">
              <a:latin typeface="Arial"/>
              <a:cs typeface="Arial"/>
            </a:endParaRPr>
          </a:p>
          <a:p>
            <a:pPr marL="494030">
              <a:spcBef>
                <a:spcPts val="530"/>
              </a:spcBef>
            </a:pPr>
            <a:r>
              <a:rPr sz="2200" dirty="0">
                <a:latin typeface="Arial"/>
                <a:cs typeface="Arial"/>
              </a:rPr>
              <a:t>increase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after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few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floors</a:t>
            </a:r>
            <a:endParaRPr sz="2200" dirty="0">
              <a:latin typeface="Arial"/>
              <a:cs typeface="Arial"/>
            </a:endParaRPr>
          </a:p>
          <a:p>
            <a:pPr marL="429895" lvl="1" indent="-170180">
              <a:spcBef>
                <a:spcPts val="535"/>
              </a:spcBef>
              <a:buChar char="-"/>
              <a:tabLst>
                <a:tab pos="429895" algn="l"/>
              </a:tabLst>
            </a:pPr>
            <a:r>
              <a:rPr sz="2200" dirty="0">
                <a:latin typeface="Arial"/>
                <a:cs typeface="Arial"/>
              </a:rPr>
              <a:t>Increase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attenuation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at higher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floors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is due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the</a:t>
            </a:r>
            <a:endParaRPr sz="2200" dirty="0">
              <a:latin typeface="Arial"/>
              <a:cs typeface="Arial"/>
            </a:endParaRPr>
          </a:p>
          <a:p>
            <a:pPr marL="12700">
              <a:spcBef>
                <a:spcPts val="525"/>
              </a:spcBef>
              <a:tabLst>
                <a:tab pos="494030" algn="l"/>
                <a:tab pos="8241665" algn="l"/>
              </a:tabLst>
            </a:pPr>
            <a:r>
              <a:rPr sz="2200" u="sng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	Shadowing</a:t>
            </a:r>
            <a:r>
              <a:rPr sz="2200" u="sng" spc="-25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200" u="sng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effects</a:t>
            </a:r>
            <a:r>
              <a:rPr sz="2200" u="sng" spc="-90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200" u="sng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of</a:t>
            </a:r>
            <a:r>
              <a:rPr sz="2200" u="sng" spc="-40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200" u="sng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adjacent</a:t>
            </a:r>
            <a:r>
              <a:rPr sz="2200" u="sng" spc="-55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200" u="sng" spc="-10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buildings</a:t>
            </a:r>
            <a:r>
              <a:rPr sz="2200" u="sng" dirty="0"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	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94360" y="507161"/>
            <a:ext cx="10576560" cy="629660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Large,</a:t>
            </a:r>
            <a:r>
              <a:rPr sz="4000" spc="-6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medium</a:t>
            </a:r>
            <a:r>
              <a:rPr sz="4000" spc="-2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and</a:t>
            </a:r>
            <a:r>
              <a:rPr sz="4000" spc="-3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small</a:t>
            </a:r>
            <a:r>
              <a:rPr sz="4000" spc="-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spc="-10" dirty="0">
                <a:solidFill>
                  <a:srgbClr val="003399"/>
                </a:solidFill>
                <a:latin typeface="Arial"/>
                <a:cs typeface="Arial"/>
              </a:rPr>
              <a:t>scale fading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840" y="1203959"/>
            <a:ext cx="11826240" cy="553767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56870" marR="68580" indent="-344805">
              <a:lnSpc>
                <a:spcPct val="150000"/>
              </a:lnSpc>
              <a:spcBef>
                <a:spcPts val="440"/>
              </a:spcBef>
              <a:buClr>
                <a:srgbClr val="009999"/>
              </a:buClr>
              <a:buSzPct val="63461"/>
              <a:buFont typeface="Wingdings"/>
              <a:buChar char=""/>
              <a:tabLst>
                <a:tab pos="356870" algn="l"/>
              </a:tabLst>
            </a:pP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Large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Scale</a:t>
            </a:r>
            <a:r>
              <a:rPr sz="26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Fading: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Average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signal</a:t>
            </a:r>
            <a:r>
              <a:rPr sz="2600" spc="-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power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attenuation/path loss</a:t>
            </a:r>
            <a:r>
              <a:rPr sz="2600" spc="-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due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sz="26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motion</a:t>
            </a:r>
            <a:r>
              <a:rPr sz="26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over</a:t>
            </a:r>
            <a:r>
              <a:rPr sz="26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large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areas.</a:t>
            </a:r>
            <a:endParaRPr sz="2600" dirty="0">
              <a:latin typeface="Arial"/>
              <a:cs typeface="Arial"/>
            </a:endParaRPr>
          </a:p>
          <a:p>
            <a:pPr marL="356870" marR="259715" indent="-344805">
              <a:lnSpc>
                <a:spcPct val="150000"/>
              </a:lnSpc>
              <a:spcBef>
                <a:spcPts val="625"/>
              </a:spcBef>
              <a:buClr>
                <a:srgbClr val="009999"/>
              </a:buClr>
              <a:buSzPct val="63461"/>
              <a:buFont typeface="Wingdings"/>
              <a:buChar char=""/>
              <a:tabLst>
                <a:tab pos="356870" algn="l"/>
              </a:tabLst>
            </a:pP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Medium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scale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fading: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Local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variation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in</a:t>
            </a:r>
            <a:r>
              <a:rPr sz="26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average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signal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power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around</a:t>
            </a:r>
            <a:r>
              <a:rPr sz="26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mean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average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power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due</a:t>
            </a:r>
            <a:r>
              <a:rPr sz="2600" spc="-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to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shadowing</a:t>
            </a:r>
            <a:r>
              <a:rPr sz="2600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by</a:t>
            </a:r>
            <a:r>
              <a:rPr sz="2600" spc="-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local</a:t>
            </a:r>
            <a:r>
              <a:rPr sz="2600" spc="-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obstructions</a:t>
            </a:r>
            <a:endParaRPr sz="2600" dirty="0">
              <a:latin typeface="Arial"/>
              <a:cs typeface="Arial"/>
            </a:endParaRPr>
          </a:p>
          <a:p>
            <a:pPr marL="356870" marR="5080" indent="-344805">
              <a:lnSpc>
                <a:spcPct val="150000"/>
              </a:lnSpc>
              <a:spcBef>
                <a:spcPts val="580"/>
              </a:spcBef>
              <a:buClr>
                <a:srgbClr val="009999"/>
              </a:buClr>
              <a:buSzPct val="63461"/>
              <a:buFont typeface="Wingdings"/>
              <a:buChar char=""/>
              <a:tabLst>
                <a:tab pos="356870" algn="l"/>
              </a:tabLst>
            </a:pP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Small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scale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fading: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large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variation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in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signal</a:t>
            </a:r>
            <a:r>
              <a:rPr sz="26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power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due</a:t>
            </a:r>
            <a:r>
              <a:rPr sz="26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sz="26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small</a:t>
            </a:r>
            <a:r>
              <a:rPr sz="26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changes</a:t>
            </a:r>
            <a:r>
              <a:rPr sz="2600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in</a:t>
            </a:r>
            <a:r>
              <a:rPr sz="26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distance</a:t>
            </a:r>
            <a:r>
              <a:rPr sz="26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between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transmitter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and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receiver</a:t>
            </a:r>
            <a:r>
              <a:rPr sz="26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(Also</a:t>
            </a:r>
            <a:r>
              <a:rPr sz="26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called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Rayleigh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fading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when</a:t>
            </a:r>
            <a:r>
              <a:rPr sz="26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no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LOS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available).</a:t>
            </a:r>
            <a:r>
              <a:rPr sz="2600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It</a:t>
            </a:r>
            <a:r>
              <a:rPr sz="26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26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called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Rayleigh</a:t>
            </a:r>
            <a:r>
              <a:rPr sz="26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fading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due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600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fact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that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various</a:t>
            </a:r>
            <a:r>
              <a:rPr sz="2600" spc="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multipaths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at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receiver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with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random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amplitude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&amp;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delay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add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up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together</a:t>
            </a:r>
            <a:r>
              <a:rPr sz="26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to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render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rayleigh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PDF</a:t>
            </a:r>
            <a:r>
              <a:rPr sz="26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for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total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signal.</a:t>
            </a:r>
            <a:endParaRPr sz="2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2741" y="12089"/>
            <a:ext cx="6251575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Cause</a:t>
            </a:r>
            <a:r>
              <a:rPr sz="4200" spc="-2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of</a:t>
            </a:r>
            <a:r>
              <a:rPr sz="4200" spc="-6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Multipath</a:t>
            </a:r>
            <a:r>
              <a:rPr sz="4200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Fading</a:t>
            </a:r>
            <a:endParaRPr sz="4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800" y="1063517"/>
            <a:ext cx="11706528" cy="50176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marR="561975" indent="-344805" algn="just">
              <a:lnSpc>
                <a:spcPct val="150000"/>
              </a:lnSpc>
              <a:spcBef>
                <a:spcPts val="105"/>
              </a:spcBef>
              <a:buClr>
                <a:srgbClr val="009999"/>
              </a:buClr>
              <a:buSzPct val="64285"/>
              <a:buFont typeface="Wingdings"/>
              <a:buChar char=""/>
              <a:tabLst>
                <a:tab pos="356870" algn="l"/>
              </a:tabLst>
            </a:pP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Fading</a:t>
            </a:r>
            <a:r>
              <a:rPr sz="28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:</a:t>
            </a:r>
            <a:r>
              <a:rPr sz="28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Fluctuation</a:t>
            </a:r>
            <a:r>
              <a:rPr sz="28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in</a:t>
            </a:r>
            <a:r>
              <a:rPr sz="28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8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received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 signal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power</a:t>
            </a:r>
            <a:r>
              <a:rPr sz="2800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due</a:t>
            </a:r>
            <a:r>
              <a:rPr sz="2800" spc="-25" dirty="0">
                <a:solidFill>
                  <a:srgbClr val="00AF50"/>
                </a:solidFill>
                <a:latin typeface="Arial"/>
                <a:cs typeface="Arial"/>
              </a:rPr>
              <a:t> to</a:t>
            </a:r>
            <a:endParaRPr sz="2800" dirty="0">
              <a:latin typeface="Arial"/>
              <a:cs typeface="Arial"/>
            </a:endParaRPr>
          </a:p>
          <a:p>
            <a:pPr marL="683260" marR="5080" lvl="1" indent="-327025" algn="just">
              <a:lnSpc>
                <a:spcPct val="150000"/>
              </a:lnSpc>
              <a:spcBef>
                <a:spcPts val="635"/>
              </a:spcBef>
              <a:buClr>
                <a:srgbClr val="4B6C4E"/>
              </a:buClr>
              <a:buSzPct val="59615"/>
              <a:buFont typeface="Wingdings"/>
              <a:buChar char=""/>
              <a:tabLst>
                <a:tab pos="683260" algn="l"/>
                <a:tab pos="2319655" algn="l"/>
              </a:tabLst>
            </a:pP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Variations</a:t>
            </a:r>
            <a:r>
              <a:rPr sz="26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in</a:t>
            </a:r>
            <a:r>
              <a:rPr sz="2600" spc="-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6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received</a:t>
            </a:r>
            <a:r>
              <a:rPr sz="26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singal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amplitude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(Different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objects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present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on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radio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signal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20" dirty="0">
                <a:solidFill>
                  <a:srgbClr val="00AF50"/>
                </a:solidFill>
                <a:latin typeface="Arial"/>
                <a:cs typeface="Arial"/>
              </a:rPr>
              <a:t>path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produce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attenuation of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it’s</a:t>
            </a:r>
            <a:r>
              <a:rPr sz="26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power</a:t>
            </a:r>
            <a:r>
              <a:rPr sz="2600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as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they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can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scatter</a:t>
            </a:r>
            <a:r>
              <a:rPr sz="26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or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absorb</a:t>
            </a:r>
            <a:r>
              <a:rPr sz="26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part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6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signal</a:t>
            </a:r>
            <a:r>
              <a:rPr sz="26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power, </a:t>
            </a:r>
            <a:r>
              <a:rPr sz="2600" spc="-20" dirty="0">
                <a:solidFill>
                  <a:srgbClr val="00AF50"/>
                </a:solidFill>
                <a:latin typeface="Arial"/>
                <a:cs typeface="Arial"/>
              </a:rPr>
              <a:t>thus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producing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	a</a:t>
            </a:r>
            <a:r>
              <a:rPr sz="26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variation</a:t>
            </a:r>
            <a:r>
              <a:rPr sz="2600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6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amplitude</a:t>
            </a:r>
            <a:endParaRPr sz="2600" dirty="0">
              <a:latin typeface="Arial"/>
              <a:cs typeface="Arial"/>
            </a:endParaRPr>
          </a:p>
          <a:p>
            <a:pPr marL="683260" lvl="1" indent="-326390" algn="just">
              <a:lnSpc>
                <a:spcPct val="150000"/>
              </a:lnSpc>
              <a:spcBef>
                <a:spcPts val="630"/>
              </a:spcBef>
              <a:buClr>
                <a:srgbClr val="4B6C4E"/>
              </a:buClr>
              <a:buSzPct val="59615"/>
              <a:buFont typeface="Wingdings"/>
              <a:buChar char=""/>
              <a:tabLst>
                <a:tab pos="683260" algn="l"/>
              </a:tabLst>
            </a:pP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Variations</a:t>
            </a:r>
            <a:r>
              <a:rPr sz="2600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in</a:t>
            </a:r>
            <a:r>
              <a:rPr sz="26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signal</a:t>
            </a:r>
            <a:r>
              <a:rPr sz="26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phase</a:t>
            </a:r>
            <a:endParaRPr sz="2600" dirty="0">
              <a:latin typeface="Arial"/>
              <a:cs typeface="Arial"/>
            </a:endParaRPr>
          </a:p>
          <a:p>
            <a:pPr marL="683260" marR="244475" lvl="1" indent="-327025" algn="just">
              <a:lnSpc>
                <a:spcPct val="150000"/>
              </a:lnSpc>
              <a:spcBef>
                <a:spcPts val="630"/>
              </a:spcBef>
              <a:buClr>
                <a:srgbClr val="4B6C4E"/>
              </a:buClr>
              <a:buSzPct val="59615"/>
              <a:buFont typeface="Wingdings"/>
              <a:buChar char=""/>
              <a:tabLst>
                <a:tab pos="683260" algn="l"/>
              </a:tabLst>
            </a:pP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Variations</a:t>
            </a:r>
            <a:r>
              <a:rPr sz="26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in</a:t>
            </a:r>
            <a:r>
              <a:rPr sz="2600" spc="-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received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signal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angle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of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arrival</a:t>
            </a:r>
            <a:r>
              <a:rPr sz="2600" spc="-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(different</a:t>
            </a:r>
            <a:r>
              <a:rPr sz="26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paths</a:t>
            </a:r>
            <a:r>
              <a:rPr sz="26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travelling</a:t>
            </a:r>
            <a:r>
              <a:rPr sz="26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different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distances</a:t>
            </a:r>
            <a:r>
              <a:rPr sz="26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may</a:t>
            </a:r>
            <a:r>
              <a:rPr sz="2600" spc="-9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have</a:t>
            </a:r>
            <a:r>
              <a:rPr sz="26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different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phases</a:t>
            </a:r>
            <a:r>
              <a:rPr sz="26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&amp;</a:t>
            </a:r>
            <a:r>
              <a:rPr sz="2600" spc="-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angle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 arrival)</a:t>
            </a:r>
            <a:endParaRPr sz="2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Causes</a:t>
            </a:r>
            <a:r>
              <a:rPr sz="4200" spc="-10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of</a:t>
            </a:r>
            <a:r>
              <a:rPr sz="4200" spc="-10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Multipath</a:t>
            </a:r>
            <a:r>
              <a:rPr sz="4200" spc="-10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fading</a:t>
            </a:r>
            <a:r>
              <a:rPr sz="4200" spc="-8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Cont..</a:t>
            </a:r>
            <a:endParaRPr sz="4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520" y="1105646"/>
            <a:ext cx="11567160" cy="39020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marR="5080" indent="-344805">
              <a:lnSpc>
                <a:spcPct val="150000"/>
              </a:lnSpc>
              <a:spcBef>
                <a:spcPts val="110"/>
              </a:spcBef>
              <a:buClr>
                <a:srgbClr val="009999"/>
              </a:buClr>
              <a:buSzPct val="64285"/>
              <a:buFont typeface="Wingdings"/>
              <a:buChar char=""/>
              <a:tabLst>
                <a:tab pos="356870" algn="l"/>
              </a:tabLst>
            </a:pP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Reflections</a:t>
            </a:r>
            <a:r>
              <a:rPr sz="28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and diffraction</a:t>
            </a:r>
            <a:r>
              <a:rPr sz="28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from</a:t>
            </a:r>
            <a:r>
              <a:rPr sz="28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object</a:t>
            </a:r>
            <a:r>
              <a:rPr sz="2800" spc="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create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many</a:t>
            </a:r>
            <a:r>
              <a:rPr sz="28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different</a:t>
            </a:r>
            <a:r>
              <a:rPr sz="28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EM</a:t>
            </a:r>
            <a:r>
              <a:rPr sz="28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waves</a:t>
            </a:r>
            <a:r>
              <a:rPr sz="2800" spc="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which</a:t>
            </a:r>
            <a:r>
              <a:rPr sz="2800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are</a:t>
            </a:r>
            <a:r>
              <a:rPr sz="28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received</a:t>
            </a:r>
            <a:r>
              <a:rPr sz="28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0AF50"/>
                </a:solidFill>
                <a:latin typeface="Arial"/>
                <a:cs typeface="Arial"/>
              </a:rPr>
              <a:t>in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mobile</a:t>
            </a:r>
            <a:r>
              <a:rPr sz="28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antenna.</a:t>
            </a:r>
            <a:r>
              <a:rPr sz="28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These</a:t>
            </a:r>
            <a:r>
              <a:rPr sz="28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waves</a:t>
            </a:r>
            <a:r>
              <a:rPr sz="2800" spc="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usually</a:t>
            </a:r>
            <a:r>
              <a:rPr sz="28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0AF50"/>
                </a:solidFill>
                <a:latin typeface="Arial"/>
                <a:cs typeface="Arial"/>
              </a:rPr>
              <a:t>come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from</a:t>
            </a:r>
            <a:r>
              <a:rPr sz="28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many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different</a:t>
            </a:r>
            <a:r>
              <a:rPr sz="28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directions</a:t>
            </a:r>
            <a:r>
              <a:rPr sz="28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and</a:t>
            </a:r>
            <a:r>
              <a:rPr sz="2800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delay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 varies.</a:t>
            </a:r>
            <a:endParaRPr sz="2800" dirty="0">
              <a:latin typeface="Arial"/>
              <a:cs typeface="Arial"/>
            </a:endParaRPr>
          </a:p>
          <a:p>
            <a:pPr marL="356870" marR="220979" indent="-344805">
              <a:lnSpc>
                <a:spcPct val="150000"/>
              </a:lnSpc>
              <a:spcBef>
                <a:spcPts val="680"/>
              </a:spcBef>
              <a:buClr>
                <a:srgbClr val="009999"/>
              </a:buClr>
              <a:buSzPct val="64285"/>
              <a:buFont typeface="Wingdings"/>
              <a:buChar char=""/>
              <a:tabLst>
                <a:tab pos="356870" algn="l"/>
              </a:tabLst>
            </a:pP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In</a:t>
            </a:r>
            <a:r>
              <a:rPr sz="28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8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receiver,</a:t>
            </a:r>
            <a:r>
              <a:rPr sz="28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8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waves</a:t>
            </a:r>
            <a:r>
              <a:rPr sz="2800" spc="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are</a:t>
            </a:r>
            <a:r>
              <a:rPr sz="28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added</a:t>
            </a:r>
            <a:r>
              <a:rPr sz="28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either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constructively</a:t>
            </a:r>
            <a:r>
              <a:rPr sz="28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or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destructively</a:t>
            </a:r>
            <a:r>
              <a:rPr sz="28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and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create</a:t>
            </a:r>
            <a:r>
              <a:rPr sz="28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a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0AF50"/>
                </a:solidFill>
                <a:latin typeface="Arial"/>
                <a:cs typeface="Arial"/>
              </a:rPr>
              <a:t>Rx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signal</a:t>
            </a:r>
            <a:r>
              <a:rPr sz="28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which</a:t>
            </a:r>
            <a:r>
              <a:rPr sz="2800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may</a:t>
            </a:r>
            <a:r>
              <a:rPr sz="28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very</a:t>
            </a:r>
            <a:r>
              <a:rPr sz="2800" spc="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rapidly</a:t>
            </a:r>
            <a:r>
              <a:rPr sz="28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in</a:t>
            </a:r>
            <a:r>
              <a:rPr sz="28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phase</a:t>
            </a:r>
            <a:r>
              <a:rPr sz="28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0AF50"/>
                </a:solidFill>
                <a:latin typeface="Arial"/>
                <a:cs typeface="Arial"/>
              </a:rPr>
              <a:t>and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amplitude</a:t>
            </a:r>
            <a:r>
              <a:rPr sz="28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depending</a:t>
            </a:r>
            <a:r>
              <a:rPr sz="28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on</a:t>
            </a:r>
            <a:r>
              <a:rPr sz="28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8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local</a:t>
            </a:r>
            <a:r>
              <a:rPr sz="28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objects</a:t>
            </a:r>
            <a:r>
              <a:rPr sz="2800" spc="-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0AF50"/>
                </a:solidFill>
                <a:latin typeface="Arial"/>
                <a:cs typeface="Arial"/>
              </a:rPr>
              <a:t>and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how</a:t>
            </a:r>
            <a:r>
              <a:rPr sz="28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mobile</a:t>
            </a:r>
            <a:r>
              <a:rPr sz="2800" spc="-20" dirty="0">
                <a:solidFill>
                  <a:srgbClr val="00AF50"/>
                </a:solidFill>
                <a:latin typeface="Arial"/>
                <a:cs typeface="Arial"/>
              </a:rPr>
              <a:t> moves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60244" y="199385"/>
            <a:ext cx="7512684" cy="1245213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Practical</a:t>
            </a:r>
            <a:r>
              <a:rPr sz="4000" spc="-6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examples</a:t>
            </a:r>
            <a:r>
              <a:rPr sz="4000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of</a:t>
            </a:r>
            <a:r>
              <a:rPr sz="4000" spc="-2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small</a:t>
            </a:r>
            <a:r>
              <a:rPr sz="4000" spc="-5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spc="-20" dirty="0">
                <a:solidFill>
                  <a:srgbClr val="003399"/>
                </a:solidFill>
                <a:latin typeface="Arial"/>
                <a:cs typeface="Arial"/>
              </a:rPr>
              <a:t>scale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multipath</a:t>
            </a:r>
            <a:r>
              <a:rPr sz="4000" spc="-6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spc="-10" dirty="0">
                <a:solidFill>
                  <a:srgbClr val="003399"/>
                </a:solidFill>
                <a:latin typeface="Arial"/>
                <a:cs typeface="Arial"/>
              </a:rPr>
              <a:t>fading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5760" y="1730928"/>
            <a:ext cx="11460480" cy="443031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56870" indent="-344170" algn="just">
              <a:lnSpc>
                <a:spcPct val="150000"/>
              </a:lnSpc>
              <a:spcBef>
                <a:spcPts val="805"/>
              </a:spcBef>
              <a:buClr>
                <a:srgbClr val="009999"/>
              </a:buClr>
              <a:buSzPct val="64285"/>
              <a:buFont typeface="Wingdings"/>
              <a:buChar char=""/>
              <a:tabLst>
                <a:tab pos="356870" algn="l"/>
              </a:tabLst>
            </a:pP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Common examples</a:t>
            </a:r>
            <a:r>
              <a:rPr sz="2800" spc="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sz="28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multipath</a:t>
            </a:r>
            <a:r>
              <a:rPr sz="28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fading</a:t>
            </a:r>
            <a:r>
              <a:rPr sz="28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0AF50"/>
                </a:solidFill>
                <a:latin typeface="Arial"/>
                <a:cs typeface="Arial"/>
              </a:rPr>
              <a:t>are</a:t>
            </a:r>
            <a:endParaRPr sz="2800" dirty="0">
              <a:latin typeface="Arial"/>
              <a:cs typeface="Arial"/>
            </a:endParaRPr>
          </a:p>
          <a:p>
            <a:pPr marL="683260" marR="31750" lvl="1" indent="-326390" algn="just">
              <a:lnSpc>
                <a:spcPct val="150000"/>
              </a:lnSpc>
              <a:spcBef>
                <a:spcPts val="635"/>
              </a:spcBef>
              <a:buFont typeface="Wingdings"/>
              <a:buChar char=""/>
              <a:tabLst>
                <a:tab pos="683260" algn="l"/>
                <a:tab pos="774700" algn="l"/>
              </a:tabLst>
            </a:pPr>
            <a:r>
              <a:rPr sz="1550" dirty="0">
                <a:solidFill>
                  <a:srgbClr val="4B6C4E"/>
                </a:solidFill>
                <a:latin typeface="Times New Roman"/>
                <a:cs typeface="Times New Roman"/>
              </a:rPr>
              <a:t>	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temporary</a:t>
            </a:r>
            <a:r>
              <a:rPr sz="26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failure</a:t>
            </a:r>
            <a:r>
              <a:rPr sz="26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sz="26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communication</a:t>
            </a:r>
            <a:r>
              <a:rPr sz="26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due</a:t>
            </a:r>
            <a:r>
              <a:rPr sz="26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sz="2600" spc="-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a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severe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drop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in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channel</a:t>
            </a:r>
            <a:r>
              <a:rPr sz="26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signal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noise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ratio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(You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may</a:t>
            </a:r>
            <a:r>
              <a:rPr sz="26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have</a:t>
            </a:r>
            <a:r>
              <a:rPr sz="2600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also</a:t>
            </a:r>
            <a:r>
              <a:rPr sz="26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experienced</a:t>
            </a:r>
            <a:r>
              <a:rPr sz="2600" spc="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this.</a:t>
            </a:r>
            <a:r>
              <a:rPr sz="26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And</a:t>
            </a:r>
            <a:r>
              <a:rPr sz="26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you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moved</a:t>
            </a:r>
            <a:r>
              <a:rPr sz="2600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</a:t>
            </a:r>
            <a:r>
              <a:rPr sz="26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steps</a:t>
            </a:r>
            <a:r>
              <a:rPr sz="2600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away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&amp;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noted</a:t>
            </a:r>
            <a:r>
              <a:rPr sz="2600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that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reception 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is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better.</a:t>
            </a:r>
            <a:r>
              <a:rPr sz="2600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It</a:t>
            </a:r>
            <a:r>
              <a:rPr sz="26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due</a:t>
            </a:r>
            <a:r>
              <a:rPr sz="26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small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scale</a:t>
            </a:r>
            <a:r>
              <a:rPr sz="26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fading</a:t>
            </a:r>
            <a:r>
              <a:rPr sz="2600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effects.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00AF50"/>
                </a:solidFill>
                <a:latin typeface="Wingdings"/>
                <a:cs typeface="Wingdings"/>
              </a:rPr>
              <a:t>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)</a:t>
            </a:r>
            <a:endParaRPr sz="2600" dirty="0">
              <a:latin typeface="Arial"/>
              <a:cs typeface="Arial"/>
            </a:endParaRPr>
          </a:p>
          <a:p>
            <a:pPr marL="683260" marR="5080" lvl="1" indent="-326390" algn="just">
              <a:lnSpc>
                <a:spcPct val="150000"/>
              </a:lnSpc>
              <a:spcBef>
                <a:spcPts val="630"/>
              </a:spcBef>
              <a:buClr>
                <a:srgbClr val="4B6C4E"/>
              </a:buClr>
              <a:buSzPct val="59615"/>
              <a:buFont typeface="Wingdings"/>
              <a:buChar char=""/>
              <a:tabLst>
                <a:tab pos="683260" algn="l"/>
              </a:tabLst>
            </a:pP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FM</a:t>
            </a:r>
            <a:r>
              <a:rPr sz="2600" spc="-114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radio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transmission</a:t>
            </a:r>
            <a:r>
              <a:rPr sz="26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experiencing</a:t>
            </a:r>
            <a:r>
              <a:rPr sz="2600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intermittent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loss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broadcast</a:t>
            </a:r>
            <a:r>
              <a:rPr sz="2600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when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away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from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station.</a:t>
            </a:r>
            <a:endParaRPr sz="2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Multipath</a:t>
            </a:r>
            <a:r>
              <a:rPr sz="4200" spc="-5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Fading-</a:t>
            </a:r>
            <a:r>
              <a:rPr sz="4200" spc="-3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Most</a:t>
            </a:r>
            <a:r>
              <a:rPr sz="4200" spc="-5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difficult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3771" y="1486967"/>
            <a:ext cx="11190515" cy="255550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marR="5080" indent="-344805" algn="just">
              <a:lnSpc>
                <a:spcPct val="200000"/>
              </a:lnSpc>
              <a:spcBef>
                <a:spcPts val="110"/>
              </a:spcBef>
              <a:buClr>
                <a:srgbClr val="009999"/>
              </a:buClr>
              <a:buSzPct val="64285"/>
              <a:buFont typeface="Wingdings"/>
              <a:buChar char=""/>
              <a:tabLst>
                <a:tab pos="356870" algn="l"/>
                <a:tab pos="3666490" algn="l"/>
              </a:tabLst>
            </a:pP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Fades</a:t>
            </a:r>
            <a:r>
              <a:rPr sz="28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40</a:t>
            </a:r>
            <a:r>
              <a:rPr sz="28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dB</a:t>
            </a:r>
            <a:r>
              <a:rPr sz="28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or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more</a:t>
            </a:r>
            <a:r>
              <a:rPr sz="2800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below</a:t>
            </a:r>
            <a:r>
              <a:rPr sz="2800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local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 average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level</a:t>
            </a:r>
            <a:r>
              <a:rPr sz="2800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are</a:t>
            </a:r>
            <a:r>
              <a:rPr sz="28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frequent,</a:t>
            </a:r>
            <a:r>
              <a:rPr sz="28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with</a:t>
            </a:r>
            <a:r>
              <a:rPr sz="28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successive</a:t>
            </a:r>
            <a:r>
              <a:rPr sz="28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nulls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occurring</a:t>
            </a:r>
            <a:r>
              <a:rPr sz="2800" spc="-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every</a:t>
            </a:r>
            <a:r>
              <a:rPr sz="28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0AF50"/>
                </a:solidFill>
                <a:latin typeface="Arial"/>
                <a:cs typeface="Arial"/>
              </a:rPr>
              <a:t>half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	wavelength</a:t>
            </a:r>
            <a:r>
              <a:rPr sz="28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or</a:t>
            </a:r>
            <a:r>
              <a:rPr sz="28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0AF50"/>
                </a:solidFill>
                <a:latin typeface="Arial"/>
                <a:cs typeface="Arial"/>
              </a:rPr>
              <a:t>so</a:t>
            </a:r>
            <a:endParaRPr sz="2800" dirty="0">
              <a:latin typeface="Arial"/>
              <a:cs typeface="Arial"/>
            </a:endParaRPr>
          </a:p>
          <a:p>
            <a:pPr marL="356870" indent="-344170" algn="just">
              <a:lnSpc>
                <a:spcPct val="200000"/>
              </a:lnSpc>
              <a:spcBef>
                <a:spcPts val="675"/>
              </a:spcBef>
              <a:buClr>
                <a:srgbClr val="009999"/>
              </a:buClr>
              <a:buSzPct val="64285"/>
              <a:buFont typeface="Wingdings"/>
              <a:buChar char=""/>
              <a:tabLst>
                <a:tab pos="356870" algn="l"/>
              </a:tabLst>
            </a:pP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Referred</a:t>
            </a:r>
            <a:r>
              <a:rPr sz="2800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sz="28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as</a:t>
            </a:r>
            <a:r>
              <a:rPr sz="28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Rayleigh</a:t>
            </a:r>
            <a:r>
              <a:rPr sz="2800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Fading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60244" y="12089"/>
            <a:ext cx="67564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Rayleigh</a:t>
            </a:r>
            <a:r>
              <a:rPr sz="4200" spc="-12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Fading</a:t>
            </a:r>
            <a:r>
              <a:rPr sz="4200" spc="-13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Mechanism</a:t>
            </a:r>
            <a:endParaRPr sz="4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8444" y="4043190"/>
            <a:ext cx="5126732" cy="26550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8790" y="1129684"/>
            <a:ext cx="7011034" cy="36420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1198880" indent="-344805">
              <a:spcBef>
                <a:spcPts val="100"/>
              </a:spcBef>
              <a:buClr>
                <a:srgbClr val="009999"/>
              </a:buClr>
              <a:buSzPct val="65000"/>
              <a:buFont typeface="Wingdings"/>
              <a:buChar char=""/>
              <a:tabLst>
                <a:tab pos="356870" algn="l"/>
              </a:tabLst>
            </a:pPr>
            <a:r>
              <a:rPr sz="3000" dirty="0">
                <a:latin typeface="Arial"/>
                <a:cs typeface="Arial"/>
              </a:rPr>
              <a:t>Rayleigh</a:t>
            </a:r>
            <a:r>
              <a:rPr sz="3000" spc="-4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fading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manifests</a:t>
            </a:r>
            <a:r>
              <a:rPr sz="3000" spc="-5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in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two </a:t>
            </a:r>
            <a:r>
              <a:rPr sz="3000" spc="-10" dirty="0">
                <a:latin typeface="Arial"/>
                <a:cs typeface="Arial"/>
              </a:rPr>
              <a:t>mechanism</a:t>
            </a:r>
            <a:endParaRPr sz="3000" dirty="0">
              <a:latin typeface="Arial"/>
              <a:cs typeface="Arial"/>
            </a:endParaRPr>
          </a:p>
          <a:p>
            <a:pPr marL="683260" marR="607695" lvl="1" indent="-326390">
              <a:spcBef>
                <a:spcPts val="615"/>
              </a:spcBef>
              <a:buClr>
                <a:srgbClr val="4B6C4E"/>
              </a:buClr>
              <a:buSzPct val="59615"/>
              <a:buFont typeface="Wingdings"/>
              <a:buChar char=""/>
              <a:tabLst>
                <a:tab pos="683260" algn="l"/>
              </a:tabLst>
            </a:pPr>
            <a:r>
              <a:rPr sz="2600" b="1" dirty="0">
                <a:solidFill>
                  <a:srgbClr val="006FC0"/>
                </a:solidFill>
                <a:latin typeface="Arial"/>
                <a:cs typeface="Arial"/>
              </a:rPr>
              <a:t>Time</a:t>
            </a:r>
            <a:r>
              <a:rPr sz="2600" b="1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6FC0"/>
                </a:solidFill>
                <a:latin typeface="Arial"/>
                <a:cs typeface="Arial"/>
              </a:rPr>
              <a:t>spreading</a:t>
            </a:r>
            <a:r>
              <a:rPr sz="26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due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multipath</a:t>
            </a:r>
            <a:r>
              <a:rPr sz="26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(time dispersion)</a:t>
            </a:r>
            <a:endParaRPr sz="2600" dirty="0">
              <a:latin typeface="Arial"/>
              <a:cs typeface="Arial"/>
            </a:endParaRPr>
          </a:p>
          <a:p>
            <a:pPr marL="683260" marR="5080" lvl="1" indent="-326390">
              <a:spcBef>
                <a:spcPts val="630"/>
              </a:spcBef>
              <a:buClr>
                <a:srgbClr val="4B6C4E"/>
              </a:buClr>
              <a:buSzPct val="59615"/>
              <a:buFont typeface="Wingdings"/>
              <a:buChar char=""/>
              <a:tabLst>
                <a:tab pos="683260" algn="l"/>
              </a:tabLst>
            </a:pPr>
            <a:r>
              <a:rPr sz="2600" b="1" dirty="0">
                <a:solidFill>
                  <a:srgbClr val="006FC0"/>
                </a:solidFill>
                <a:latin typeface="Arial"/>
                <a:cs typeface="Arial"/>
              </a:rPr>
              <a:t>Time</a:t>
            </a:r>
            <a:r>
              <a:rPr sz="2600" b="1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6FC0"/>
                </a:solidFill>
                <a:latin typeface="Arial"/>
                <a:cs typeface="Arial"/>
              </a:rPr>
              <a:t>variant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behaviour</a:t>
            </a:r>
            <a:r>
              <a:rPr sz="2600" spc="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channel</a:t>
            </a:r>
            <a:r>
              <a:rPr sz="2600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due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6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motion</a:t>
            </a:r>
            <a:r>
              <a:rPr sz="26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and</a:t>
            </a:r>
            <a:r>
              <a:rPr sz="26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subsequent</a:t>
            </a:r>
            <a:r>
              <a:rPr sz="2600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changes</a:t>
            </a:r>
            <a:r>
              <a:rPr sz="2600" spc="-25" dirty="0">
                <a:solidFill>
                  <a:srgbClr val="00AF50"/>
                </a:solidFill>
                <a:latin typeface="Arial"/>
                <a:cs typeface="Arial"/>
              </a:rPr>
              <a:t> in </a:t>
            </a:r>
            <a:r>
              <a:rPr sz="2600" dirty="0">
                <a:solidFill>
                  <a:srgbClr val="00AF50"/>
                </a:solidFill>
                <a:latin typeface="Arial"/>
                <a:cs typeface="Arial"/>
              </a:rPr>
              <a:t>propagation</a:t>
            </a:r>
            <a:r>
              <a:rPr sz="2600" spc="-1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0AF50"/>
                </a:solidFill>
                <a:latin typeface="Arial"/>
                <a:cs typeface="Arial"/>
              </a:rPr>
              <a:t>paths</a:t>
            </a:r>
            <a:endParaRPr sz="2600" dirty="0">
              <a:latin typeface="Arial"/>
              <a:cs typeface="Arial"/>
            </a:endParaRPr>
          </a:p>
          <a:p>
            <a:pPr marL="356870" indent="-344170">
              <a:spcBef>
                <a:spcPts val="730"/>
              </a:spcBef>
              <a:buClr>
                <a:srgbClr val="009999"/>
              </a:buClr>
              <a:buSzPct val="65000"/>
              <a:buFont typeface="Wingdings"/>
              <a:buChar char=""/>
              <a:tabLst>
                <a:tab pos="356870" algn="l"/>
              </a:tabLst>
            </a:pPr>
            <a:r>
              <a:rPr sz="3000" dirty="0">
                <a:solidFill>
                  <a:srgbClr val="00AF50"/>
                </a:solidFill>
                <a:latin typeface="Arial"/>
                <a:cs typeface="Arial"/>
              </a:rPr>
              <a:t>Rayleigh</a:t>
            </a:r>
            <a:r>
              <a:rPr sz="30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3000" spc="-20" dirty="0">
                <a:solidFill>
                  <a:srgbClr val="00AF50"/>
                </a:solidFill>
                <a:latin typeface="Arial"/>
                <a:cs typeface="Arial"/>
              </a:rPr>
              <a:t>PDF: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Rayleigh</a:t>
            </a:r>
            <a:r>
              <a:rPr sz="4200" spc="-17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Fading</a:t>
            </a:r>
            <a:endParaRPr sz="4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0246" y="1105645"/>
            <a:ext cx="342074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170">
              <a:spcBef>
                <a:spcPts val="110"/>
              </a:spcBef>
              <a:buClr>
                <a:srgbClr val="009999"/>
              </a:buClr>
              <a:buSzPct val="64285"/>
              <a:buFont typeface="Wingdings"/>
              <a:buChar char=""/>
              <a:tabLst>
                <a:tab pos="356870" algn="l"/>
              </a:tabLst>
            </a:pP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8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Rayleigh</a:t>
            </a:r>
            <a:r>
              <a:rPr sz="2800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AF50"/>
                </a:solidFill>
                <a:latin typeface="Arial"/>
                <a:cs typeface="Arial"/>
              </a:rPr>
              <a:t>pdf</a:t>
            </a:r>
            <a:r>
              <a:rPr sz="28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5634" y="2021644"/>
            <a:ext cx="5257800" cy="9746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6194" y="3429000"/>
            <a:ext cx="7915275" cy="22045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5000" y="4125357"/>
            <a:ext cx="4772025" cy="25268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With</a:t>
            </a:r>
            <a:r>
              <a:rPr sz="4200" spc="-13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Rayleigh</a:t>
            </a:r>
            <a:r>
              <a:rPr sz="4200" spc="-5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Fading</a:t>
            </a:r>
            <a:endParaRPr sz="4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131" y="1262586"/>
            <a:ext cx="11038900" cy="379415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2899" y="1674938"/>
            <a:ext cx="9844306" cy="44173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60246" y="199385"/>
            <a:ext cx="6045835" cy="1245213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Rayleigh</a:t>
            </a:r>
            <a:r>
              <a:rPr sz="4000" spc="-7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Fading</a:t>
            </a:r>
            <a:r>
              <a:rPr sz="4000" spc="-6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spc="-10" dirty="0">
                <a:solidFill>
                  <a:srgbClr val="003399"/>
                </a:solidFill>
                <a:latin typeface="Arial"/>
                <a:cs typeface="Arial"/>
              </a:rPr>
              <a:t>waveform envelope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0" y="155864"/>
            <a:ext cx="8229600" cy="415636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8288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796290" y="810728"/>
            <a:ext cx="8764905" cy="1716665"/>
            <a:chOff x="0" y="1066800"/>
            <a:chExt cx="8764905" cy="25177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66800"/>
              <a:ext cx="4662946" cy="25176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40324" y="1147571"/>
              <a:ext cx="3124200" cy="2286000"/>
            </a:xfrm>
            <a:custGeom>
              <a:avLst/>
              <a:gdLst/>
              <a:ahLst/>
              <a:cxnLst/>
              <a:rect l="l" t="t" r="r" b="b"/>
              <a:pathLst>
                <a:path w="3124200" h="2286000">
                  <a:moveTo>
                    <a:pt x="3124200" y="2132203"/>
                  </a:moveTo>
                  <a:lnTo>
                    <a:pt x="3084398" y="2112264"/>
                  </a:lnTo>
                  <a:lnTo>
                    <a:pt x="3005328" y="2072640"/>
                  </a:lnTo>
                  <a:lnTo>
                    <a:pt x="3031731" y="2112264"/>
                  </a:lnTo>
                  <a:lnTo>
                    <a:pt x="169392" y="2110829"/>
                  </a:lnTo>
                  <a:lnTo>
                    <a:pt x="172148" y="118999"/>
                  </a:lnTo>
                  <a:lnTo>
                    <a:pt x="172186" y="92494"/>
                  </a:lnTo>
                  <a:lnTo>
                    <a:pt x="211836" y="118999"/>
                  </a:lnTo>
                  <a:lnTo>
                    <a:pt x="192024" y="79248"/>
                  </a:lnTo>
                  <a:lnTo>
                    <a:pt x="152527" y="0"/>
                  </a:lnTo>
                  <a:lnTo>
                    <a:pt x="92964" y="118745"/>
                  </a:lnTo>
                  <a:lnTo>
                    <a:pt x="132473" y="92494"/>
                  </a:lnTo>
                  <a:lnTo>
                    <a:pt x="132588" y="79248"/>
                  </a:lnTo>
                  <a:lnTo>
                    <a:pt x="132562" y="92494"/>
                  </a:lnTo>
                  <a:lnTo>
                    <a:pt x="129781" y="2110816"/>
                  </a:lnTo>
                  <a:lnTo>
                    <a:pt x="0" y="2110740"/>
                  </a:lnTo>
                  <a:lnTo>
                    <a:pt x="0" y="2150364"/>
                  </a:lnTo>
                  <a:lnTo>
                    <a:pt x="129717" y="2150440"/>
                  </a:lnTo>
                  <a:lnTo>
                    <a:pt x="129540" y="2286000"/>
                  </a:lnTo>
                  <a:lnTo>
                    <a:pt x="169164" y="2286000"/>
                  </a:lnTo>
                  <a:lnTo>
                    <a:pt x="169341" y="2150453"/>
                  </a:lnTo>
                  <a:lnTo>
                    <a:pt x="3031731" y="2151888"/>
                  </a:lnTo>
                  <a:lnTo>
                    <a:pt x="3044863" y="2132203"/>
                  </a:lnTo>
                  <a:lnTo>
                    <a:pt x="3032760" y="2150364"/>
                  </a:lnTo>
                  <a:lnTo>
                    <a:pt x="3031744" y="2151888"/>
                  </a:lnTo>
                  <a:lnTo>
                    <a:pt x="3005328" y="2191512"/>
                  </a:lnTo>
                  <a:lnTo>
                    <a:pt x="3084741" y="2151888"/>
                  </a:lnTo>
                  <a:lnTo>
                    <a:pt x="3124200" y="2132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35624" y="2057399"/>
              <a:ext cx="989330" cy="1219200"/>
            </a:xfrm>
            <a:custGeom>
              <a:avLst/>
              <a:gdLst/>
              <a:ahLst/>
              <a:cxnLst/>
              <a:rect l="l" t="t" r="r" b="b"/>
              <a:pathLst>
                <a:path w="989329" h="1219200">
                  <a:moveTo>
                    <a:pt x="76200" y="76200"/>
                  </a:moveTo>
                  <a:lnTo>
                    <a:pt x="63538" y="50800"/>
                  </a:lnTo>
                  <a:lnTo>
                    <a:pt x="38227" y="0"/>
                  </a:lnTo>
                  <a:lnTo>
                    <a:pt x="0" y="76200"/>
                  </a:lnTo>
                  <a:lnTo>
                    <a:pt x="28943" y="56908"/>
                  </a:lnTo>
                  <a:lnTo>
                    <a:pt x="27432" y="1219200"/>
                  </a:lnTo>
                  <a:lnTo>
                    <a:pt x="45720" y="1219200"/>
                  </a:lnTo>
                  <a:lnTo>
                    <a:pt x="47205" y="76200"/>
                  </a:lnTo>
                  <a:lnTo>
                    <a:pt x="47231" y="56908"/>
                  </a:lnTo>
                  <a:lnTo>
                    <a:pt x="76200" y="76200"/>
                  </a:lnTo>
                  <a:close/>
                </a:path>
                <a:path w="989329" h="1219200">
                  <a:moveTo>
                    <a:pt x="760476" y="381000"/>
                  </a:moveTo>
                  <a:lnTo>
                    <a:pt x="747776" y="355600"/>
                  </a:lnTo>
                  <a:lnTo>
                    <a:pt x="722376" y="304800"/>
                  </a:lnTo>
                  <a:lnTo>
                    <a:pt x="684276" y="381000"/>
                  </a:lnTo>
                  <a:lnTo>
                    <a:pt x="713232" y="361696"/>
                  </a:lnTo>
                  <a:lnTo>
                    <a:pt x="713232" y="1219200"/>
                  </a:lnTo>
                  <a:lnTo>
                    <a:pt x="731520" y="1219200"/>
                  </a:lnTo>
                  <a:lnTo>
                    <a:pt x="731520" y="361696"/>
                  </a:lnTo>
                  <a:lnTo>
                    <a:pt x="760476" y="381000"/>
                  </a:lnTo>
                  <a:close/>
                </a:path>
                <a:path w="989329" h="1219200">
                  <a:moveTo>
                    <a:pt x="989076" y="685800"/>
                  </a:moveTo>
                  <a:lnTo>
                    <a:pt x="976376" y="660400"/>
                  </a:lnTo>
                  <a:lnTo>
                    <a:pt x="950976" y="609600"/>
                  </a:lnTo>
                  <a:lnTo>
                    <a:pt x="912876" y="685800"/>
                  </a:lnTo>
                  <a:lnTo>
                    <a:pt x="941832" y="666496"/>
                  </a:lnTo>
                  <a:lnTo>
                    <a:pt x="941832" y="1219200"/>
                  </a:lnTo>
                  <a:lnTo>
                    <a:pt x="960120" y="1219200"/>
                  </a:lnTo>
                  <a:lnTo>
                    <a:pt x="960120" y="666496"/>
                  </a:lnTo>
                  <a:lnTo>
                    <a:pt x="989076" y="6858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3276600"/>
              <a:ext cx="228600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05600" y="3276600"/>
              <a:ext cx="228600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0400" y="3276600"/>
              <a:ext cx="228600" cy="3048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0063990" y="2305190"/>
            <a:ext cx="4972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20" dirty="0">
                <a:solidFill>
                  <a:srgbClr val="00AF50"/>
                </a:solidFill>
                <a:latin typeface="Arial"/>
                <a:cs typeface="Arial"/>
              </a:rPr>
              <a:t>time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060246" y="63629"/>
            <a:ext cx="7136765" cy="1627369"/>
          </a:xfrm>
          <a:prstGeom prst="rect">
            <a:avLst/>
          </a:prstGeom>
        </p:spPr>
        <p:txBody>
          <a:bodyPr vert="horz" wrap="square" lIns="0" tIns="21209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Time</a:t>
            </a:r>
            <a:r>
              <a:rPr sz="4200" spc="-12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Dispersion</a:t>
            </a:r>
            <a:r>
              <a:rPr sz="4200" spc="-11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phenomenon</a:t>
            </a:r>
            <a:endParaRPr sz="4200">
              <a:latin typeface="Arial"/>
              <a:cs typeface="Arial"/>
            </a:endParaRPr>
          </a:p>
          <a:p>
            <a:pPr marL="4738370">
              <a:lnSpc>
                <a:spcPct val="100000"/>
              </a:lnSpc>
              <a:spcBef>
                <a:spcPts val="670"/>
              </a:spcBef>
            </a:pPr>
            <a:r>
              <a:rPr spc="-20" dirty="0">
                <a:solidFill>
                  <a:srgbClr val="00AF50"/>
                </a:solidFill>
              </a:rPr>
              <a:t>h(t)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5030091" y="3089945"/>
            <a:ext cx="3124200" cy="2705099"/>
            <a:chOff x="3963923" y="2133600"/>
            <a:chExt cx="3124200" cy="3967479"/>
          </a:xfrm>
        </p:grpSpPr>
        <p:sp>
          <p:nvSpPr>
            <p:cNvPr id="14" name="object 14"/>
            <p:cNvSpPr/>
            <p:nvPr/>
          </p:nvSpPr>
          <p:spPr>
            <a:xfrm>
              <a:off x="3963924" y="3814571"/>
              <a:ext cx="3124200" cy="2286635"/>
            </a:xfrm>
            <a:custGeom>
              <a:avLst/>
              <a:gdLst/>
              <a:ahLst/>
              <a:cxnLst/>
              <a:rect l="l" t="t" r="r" b="b"/>
              <a:pathLst>
                <a:path w="3124200" h="2286635">
                  <a:moveTo>
                    <a:pt x="3124200" y="2132139"/>
                  </a:moveTo>
                  <a:lnTo>
                    <a:pt x="3084538" y="2112289"/>
                  </a:lnTo>
                  <a:lnTo>
                    <a:pt x="3005328" y="2072640"/>
                  </a:lnTo>
                  <a:lnTo>
                    <a:pt x="3031731" y="2112289"/>
                  </a:lnTo>
                  <a:lnTo>
                    <a:pt x="169392" y="2110829"/>
                  </a:lnTo>
                  <a:lnTo>
                    <a:pt x="172148" y="118999"/>
                  </a:lnTo>
                  <a:lnTo>
                    <a:pt x="172186" y="92494"/>
                  </a:lnTo>
                  <a:lnTo>
                    <a:pt x="211836" y="118999"/>
                  </a:lnTo>
                  <a:lnTo>
                    <a:pt x="192024" y="79248"/>
                  </a:lnTo>
                  <a:lnTo>
                    <a:pt x="152527" y="0"/>
                  </a:lnTo>
                  <a:lnTo>
                    <a:pt x="92964" y="118745"/>
                  </a:lnTo>
                  <a:lnTo>
                    <a:pt x="132473" y="92494"/>
                  </a:lnTo>
                  <a:lnTo>
                    <a:pt x="132588" y="79248"/>
                  </a:lnTo>
                  <a:lnTo>
                    <a:pt x="132562" y="92494"/>
                  </a:lnTo>
                  <a:lnTo>
                    <a:pt x="129768" y="2110816"/>
                  </a:lnTo>
                  <a:lnTo>
                    <a:pt x="0" y="2110740"/>
                  </a:lnTo>
                  <a:lnTo>
                    <a:pt x="0" y="2150364"/>
                  </a:lnTo>
                  <a:lnTo>
                    <a:pt x="129705" y="2150440"/>
                  </a:lnTo>
                  <a:lnTo>
                    <a:pt x="129527" y="2286025"/>
                  </a:lnTo>
                  <a:lnTo>
                    <a:pt x="169164" y="2286025"/>
                  </a:lnTo>
                  <a:lnTo>
                    <a:pt x="169341" y="2150453"/>
                  </a:lnTo>
                  <a:lnTo>
                    <a:pt x="3031731" y="2151913"/>
                  </a:lnTo>
                  <a:lnTo>
                    <a:pt x="3044914" y="2132139"/>
                  </a:lnTo>
                  <a:lnTo>
                    <a:pt x="3032429" y="2113343"/>
                  </a:lnTo>
                  <a:lnTo>
                    <a:pt x="3044952" y="2132126"/>
                  </a:lnTo>
                  <a:lnTo>
                    <a:pt x="3031756" y="2151913"/>
                  </a:lnTo>
                  <a:lnTo>
                    <a:pt x="3005328" y="2191512"/>
                  </a:lnTo>
                  <a:lnTo>
                    <a:pt x="3084601" y="2151913"/>
                  </a:lnTo>
                  <a:lnTo>
                    <a:pt x="3124200" y="21321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54423" y="4573523"/>
              <a:ext cx="2720340" cy="1344295"/>
            </a:xfrm>
            <a:custGeom>
              <a:avLst/>
              <a:gdLst/>
              <a:ahLst/>
              <a:cxnLst/>
              <a:rect l="l" t="t" r="r" b="b"/>
              <a:pathLst>
                <a:path w="2720340" h="1344295">
                  <a:moveTo>
                    <a:pt x="0" y="0"/>
                  </a:moveTo>
                  <a:lnTo>
                    <a:pt x="46261" y="1817"/>
                  </a:lnTo>
                  <a:lnTo>
                    <a:pt x="91643" y="7188"/>
                  </a:lnTo>
                  <a:lnTo>
                    <a:pt x="136038" y="15990"/>
                  </a:lnTo>
                  <a:lnTo>
                    <a:pt x="179334" y="28101"/>
                  </a:lnTo>
                  <a:lnTo>
                    <a:pt x="221424" y="43398"/>
                  </a:lnTo>
                  <a:lnTo>
                    <a:pt x="262196" y="61758"/>
                  </a:lnTo>
                  <a:lnTo>
                    <a:pt x="301542" y="83059"/>
                  </a:lnTo>
                  <a:lnTo>
                    <a:pt x="339352" y="107179"/>
                  </a:lnTo>
                  <a:lnTo>
                    <a:pt x="375516" y="133995"/>
                  </a:lnTo>
                  <a:lnTo>
                    <a:pt x="409925" y="163385"/>
                  </a:lnTo>
                  <a:lnTo>
                    <a:pt x="442470" y="195225"/>
                  </a:lnTo>
                  <a:lnTo>
                    <a:pt x="473041" y="229394"/>
                  </a:lnTo>
                  <a:lnTo>
                    <a:pt x="501528" y="265769"/>
                  </a:lnTo>
                  <a:lnTo>
                    <a:pt x="527822" y="304227"/>
                  </a:lnTo>
                  <a:lnTo>
                    <a:pt x="551813" y="344647"/>
                  </a:lnTo>
                  <a:lnTo>
                    <a:pt x="573392" y="386905"/>
                  </a:lnTo>
                  <a:lnTo>
                    <a:pt x="592449" y="430879"/>
                  </a:lnTo>
                  <a:lnTo>
                    <a:pt x="608875" y="476446"/>
                  </a:lnTo>
                  <a:lnTo>
                    <a:pt x="622559" y="523485"/>
                  </a:lnTo>
                  <a:lnTo>
                    <a:pt x="633394" y="571872"/>
                  </a:lnTo>
                  <a:lnTo>
                    <a:pt x="641268" y="621485"/>
                  </a:lnTo>
                  <a:lnTo>
                    <a:pt x="646073" y="672202"/>
                  </a:lnTo>
                  <a:lnTo>
                    <a:pt x="647700" y="723900"/>
                  </a:lnTo>
                </a:path>
                <a:path w="2720340" h="1344295">
                  <a:moveTo>
                    <a:pt x="653796" y="748029"/>
                  </a:moveTo>
                  <a:lnTo>
                    <a:pt x="707933" y="716870"/>
                  </a:lnTo>
                  <a:lnTo>
                    <a:pt x="761858" y="685917"/>
                  </a:lnTo>
                  <a:lnTo>
                    <a:pt x="815356" y="655371"/>
                  </a:lnTo>
                  <a:lnTo>
                    <a:pt x="868215" y="625437"/>
                  </a:lnTo>
                  <a:lnTo>
                    <a:pt x="920221" y="596316"/>
                  </a:lnTo>
                  <a:lnTo>
                    <a:pt x="971161" y="568210"/>
                  </a:lnTo>
                  <a:lnTo>
                    <a:pt x="1020822" y="541323"/>
                  </a:lnTo>
                  <a:lnTo>
                    <a:pt x="1068990" y="515858"/>
                  </a:lnTo>
                  <a:lnTo>
                    <a:pt x="1115453" y="492016"/>
                  </a:lnTo>
                  <a:lnTo>
                    <a:pt x="1159997" y="470000"/>
                  </a:lnTo>
                  <a:lnTo>
                    <a:pt x="1202409" y="450013"/>
                  </a:lnTo>
                  <a:lnTo>
                    <a:pt x="1242476" y="432258"/>
                  </a:lnTo>
                  <a:lnTo>
                    <a:pt x="1279985" y="416937"/>
                  </a:lnTo>
                  <a:lnTo>
                    <a:pt x="1346474" y="394407"/>
                  </a:lnTo>
                  <a:lnTo>
                    <a:pt x="1410040" y="385624"/>
                  </a:lnTo>
                  <a:lnTo>
                    <a:pt x="1431368" y="394715"/>
                  </a:lnTo>
                  <a:lnTo>
                    <a:pt x="1442381" y="412509"/>
                  </a:lnTo>
                  <a:lnTo>
                    <a:pt x="1446449" y="436636"/>
                  </a:lnTo>
                  <a:lnTo>
                    <a:pt x="1446942" y="464724"/>
                  </a:lnTo>
                  <a:lnTo>
                    <a:pt x="1447230" y="494405"/>
                  </a:lnTo>
                  <a:lnTo>
                    <a:pt x="1450681" y="523309"/>
                  </a:lnTo>
                  <a:lnTo>
                    <a:pt x="1460665" y="549066"/>
                  </a:lnTo>
                  <a:lnTo>
                    <a:pt x="1480553" y="569306"/>
                  </a:lnTo>
                  <a:lnTo>
                    <a:pt x="1513713" y="581659"/>
                  </a:lnTo>
                  <a:lnTo>
                    <a:pt x="1547178" y="584982"/>
                  </a:lnTo>
                  <a:lnTo>
                    <a:pt x="1588239" y="584484"/>
                  </a:lnTo>
                  <a:lnTo>
                    <a:pt x="1635577" y="580880"/>
                  </a:lnTo>
                  <a:lnTo>
                    <a:pt x="1687872" y="574881"/>
                  </a:lnTo>
                  <a:lnTo>
                    <a:pt x="1743806" y="567203"/>
                  </a:lnTo>
                  <a:lnTo>
                    <a:pt x="1802058" y="558556"/>
                  </a:lnTo>
                  <a:lnTo>
                    <a:pt x="1861312" y="549656"/>
                  </a:lnTo>
                  <a:lnTo>
                    <a:pt x="1920246" y="541214"/>
                  </a:lnTo>
                  <a:lnTo>
                    <a:pt x="1977542" y="533943"/>
                  </a:lnTo>
                  <a:lnTo>
                    <a:pt x="2031882" y="528558"/>
                  </a:lnTo>
                  <a:lnTo>
                    <a:pt x="2081945" y="525771"/>
                  </a:lnTo>
                  <a:lnTo>
                    <a:pt x="2126414" y="526296"/>
                  </a:lnTo>
                  <a:lnTo>
                    <a:pt x="2193290" y="540131"/>
                  </a:lnTo>
                  <a:lnTo>
                    <a:pt x="2236231" y="601037"/>
                  </a:lnTo>
                  <a:lnTo>
                    <a:pt x="2241581" y="646768"/>
                  </a:lnTo>
                  <a:lnTo>
                    <a:pt x="2239457" y="697860"/>
                  </a:lnTo>
                  <a:lnTo>
                    <a:pt x="2232310" y="750696"/>
                  </a:lnTo>
                  <a:lnTo>
                    <a:pt x="2222596" y="801658"/>
                  </a:lnTo>
                  <a:lnTo>
                    <a:pt x="2212767" y="847127"/>
                  </a:lnTo>
                  <a:lnTo>
                    <a:pt x="2205278" y="883486"/>
                  </a:lnTo>
                  <a:lnTo>
                    <a:pt x="2202582" y="907116"/>
                  </a:lnTo>
                  <a:lnTo>
                    <a:pt x="2207133" y="914400"/>
                  </a:lnTo>
                  <a:lnTo>
                    <a:pt x="2219172" y="899551"/>
                  </a:lnTo>
                  <a:lnTo>
                    <a:pt x="2234693" y="863417"/>
                  </a:lnTo>
                  <a:lnTo>
                    <a:pt x="2252895" y="811760"/>
                  </a:lnTo>
                  <a:lnTo>
                    <a:pt x="2272978" y="750341"/>
                  </a:lnTo>
                  <a:lnTo>
                    <a:pt x="2294143" y="684922"/>
                  </a:lnTo>
                  <a:lnTo>
                    <a:pt x="2315590" y="621265"/>
                  </a:lnTo>
                  <a:lnTo>
                    <a:pt x="2336520" y="565130"/>
                  </a:lnTo>
                  <a:lnTo>
                    <a:pt x="2356133" y="522279"/>
                  </a:lnTo>
                  <a:lnTo>
                    <a:pt x="2373629" y="498475"/>
                  </a:lnTo>
                  <a:lnTo>
                    <a:pt x="2393634" y="498681"/>
                  </a:lnTo>
                  <a:lnTo>
                    <a:pt x="2412309" y="524431"/>
                  </a:lnTo>
                  <a:lnTo>
                    <a:pt x="2430016" y="565905"/>
                  </a:lnTo>
                  <a:lnTo>
                    <a:pt x="2447122" y="613284"/>
                  </a:lnTo>
                  <a:lnTo>
                    <a:pt x="2463990" y="656749"/>
                  </a:lnTo>
                  <a:lnTo>
                    <a:pt x="2480985" y="686480"/>
                  </a:lnTo>
                  <a:lnTo>
                    <a:pt x="2498471" y="692657"/>
                  </a:lnTo>
                  <a:lnTo>
                    <a:pt x="2509903" y="678088"/>
                  </a:lnTo>
                  <a:lnTo>
                    <a:pt x="2521505" y="648449"/>
                  </a:lnTo>
                  <a:lnTo>
                    <a:pt x="2533216" y="607802"/>
                  </a:lnTo>
                  <a:lnTo>
                    <a:pt x="2544973" y="560208"/>
                  </a:lnTo>
                  <a:lnTo>
                    <a:pt x="2556714" y="509730"/>
                  </a:lnTo>
                  <a:lnTo>
                    <a:pt x="2568375" y="460430"/>
                  </a:lnTo>
                  <a:lnTo>
                    <a:pt x="2579894" y="416370"/>
                  </a:lnTo>
                  <a:lnTo>
                    <a:pt x="2591210" y="381610"/>
                  </a:lnTo>
                  <a:lnTo>
                    <a:pt x="2602260" y="360215"/>
                  </a:lnTo>
                  <a:lnTo>
                    <a:pt x="2612981" y="356244"/>
                  </a:lnTo>
                  <a:lnTo>
                    <a:pt x="2623311" y="373761"/>
                  </a:lnTo>
                  <a:lnTo>
                    <a:pt x="2634758" y="418389"/>
                  </a:lnTo>
                  <a:lnTo>
                    <a:pt x="2645790" y="482191"/>
                  </a:lnTo>
                  <a:lnTo>
                    <a:pt x="2651167" y="520577"/>
                  </a:lnTo>
                  <a:lnTo>
                    <a:pt x="2656458" y="562910"/>
                  </a:lnTo>
                  <a:lnTo>
                    <a:pt x="2661670" y="608909"/>
                  </a:lnTo>
                  <a:lnTo>
                    <a:pt x="2666810" y="658291"/>
                  </a:lnTo>
                  <a:lnTo>
                    <a:pt x="2671883" y="710775"/>
                  </a:lnTo>
                  <a:lnTo>
                    <a:pt x="2676897" y="766078"/>
                  </a:lnTo>
                  <a:lnTo>
                    <a:pt x="2681856" y="823919"/>
                  </a:lnTo>
                  <a:lnTo>
                    <a:pt x="2686768" y="884016"/>
                  </a:lnTo>
                  <a:lnTo>
                    <a:pt x="2691639" y="946087"/>
                  </a:lnTo>
                  <a:lnTo>
                    <a:pt x="2696474" y="1009849"/>
                  </a:lnTo>
                  <a:lnTo>
                    <a:pt x="2701280" y="1075021"/>
                  </a:lnTo>
                  <a:lnTo>
                    <a:pt x="2706064" y="1141321"/>
                  </a:lnTo>
                  <a:lnTo>
                    <a:pt x="2710830" y="1208466"/>
                  </a:lnTo>
                  <a:lnTo>
                    <a:pt x="2715587" y="1276176"/>
                  </a:lnTo>
                  <a:lnTo>
                    <a:pt x="2720340" y="1344167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2439" y="3901439"/>
              <a:ext cx="701040" cy="2286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419600" y="2133599"/>
              <a:ext cx="1716405" cy="2554605"/>
            </a:xfrm>
            <a:custGeom>
              <a:avLst/>
              <a:gdLst/>
              <a:ahLst/>
              <a:cxnLst/>
              <a:rect l="l" t="t" r="r" b="b"/>
              <a:pathLst>
                <a:path w="1716404" h="2554604">
                  <a:moveTo>
                    <a:pt x="1066800" y="342900"/>
                  </a:moveTo>
                  <a:lnTo>
                    <a:pt x="723900" y="0"/>
                  </a:lnTo>
                  <a:lnTo>
                    <a:pt x="723900" y="171450"/>
                  </a:lnTo>
                  <a:lnTo>
                    <a:pt x="0" y="171450"/>
                  </a:lnTo>
                  <a:lnTo>
                    <a:pt x="0" y="514350"/>
                  </a:lnTo>
                  <a:lnTo>
                    <a:pt x="723900" y="514350"/>
                  </a:lnTo>
                  <a:lnTo>
                    <a:pt x="723900" y="685800"/>
                  </a:lnTo>
                  <a:lnTo>
                    <a:pt x="1066800" y="342900"/>
                  </a:lnTo>
                  <a:close/>
                </a:path>
                <a:path w="1716404" h="2554604">
                  <a:moveTo>
                    <a:pt x="1716024" y="2211324"/>
                  </a:moveTo>
                  <a:lnTo>
                    <a:pt x="1544574" y="2211324"/>
                  </a:lnTo>
                  <a:lnTo>
                    <a:pt x="1544574" y="1487424"/>
                  </a:lnTo>
                  <a:lnTo>
                    <a:pt x="1201674" y="1487424"/>
                  </a:lnTo>
                  <a:lnTo>
                    <a:pt x="1201674" y="2211324"/>
                  </a:lnTo>
                  <a:lnTo>
                    <a:pt x="1030224" y="2211324"/>
                  </a:lnTo>
                  <a:lnTo>
                    <a:pt x="1373124" y="2554224"/>
                  </a:lnTo>
                  <a:lnTo>
                    <a:pt x="1716024" y="2211324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310753" y="4124845"/>
            <a:ext cx="5219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20" dirty="0">
                <a:latin typeface="Arial"/>
                <a:cs typeface="Arial"/>
              </a:rPr>
              <a:t>Freq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00898" y="2669045"/>
            <a:ext cx="16522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00AF50"/>
                </a:solidFill>
                <a:latin typeface="Arial"/>
                <a:cs typeface="Arial"/>
              </a:rPr>
              <a:t>Freq</a:t>
            </a:r>
            <a:r>
              <a:rPr b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00AF50"/>
                </a:solidFill>
                <a:latin typeface="Arial"/>
                <a:cs typeface="Arial"/>
              </a:rPr>
              <a:t>transform</a:t>
            </a:r>
            <a:endParaRPr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05938" y="4928400"/>
            <a:ext cx="27622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Different</a:t>
            </a:r>
            <a:r>
              <a:rPr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frequencies</a:t>
            </a:r>
            <a:r>
              <a:rPr spc="-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AF50"/>
                </a:solidFill>
                <a:latin typeface="Arial"/>
                <a:cs typeface="Arial"/>
              </a:rPr>
              <a:t>suffer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different</a:t>
            </a:r>
            <a:r>
              <a:rPr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AF50"/>
                </a:solidFill>
                <a:latin typeface="Arial"/>
                <a:cs typeface="Arial"/>
              </a:rPr>
              <a:t>attenuation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246" y="14374"/>
            <a:ext cx="589216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Delay</a:t>
            </a:r>
            <a:r>
              <a:rPr sz="3600" spc="-1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Spread</a:t>
            </a:r>
            <a:r>
              <a:rPr sz="3600" spc="-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–Time</a:t>
            </a:r>
            <a:r>
              <a:rPr sz="3600" spc="-7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003399"/>
                </a:solidFill>
                <a:latin typeface="Arial"/>
                <a:cs typeface="Arial"/>
              </a:rPr>
              <a:t>Domain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244" y="388707"/>
            <a:ext cx="26885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10" dirty="0">
                <a:solidFill>
                  <a:srgbClr val="003399"/>
                </a:solidFill>
                <a:latin typeface="Arial"/>
                <a:cs typeface="Arial"/>
              </a:rPr>
              <a:t>interpretation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7036" y="2412694"/>
            <a:ext cx="9082207" cy="3547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9F60EC-5911-1035-F88A-CFBABB34F88B}"/>
              </a:ext>
            </a:extLst>
          </p:cNvPr>
          <p:cNvSpPr txBox="1"/>
          <p:nvPr/>
        </p:nvSpPr>
        <p:spPr>
          <a:xfrm>
            <a:off x="1161361" y="1173779"/>
            <a:ext cx="10766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Delay spread</a:t>
            </a:r>
            <a:r>
              <a:rPr lang="en-US" dirty="0"/>
              <a:t> is a key parameter that describes </a:t>
            </a:r>
            <a:r>
              <a:rPr lang="en-US" b="1" dirty="0"/>
              <a:t>time dispersion</a:t>
            </a:r>
            <a:r>
              <a:rPr lang="en-US" dirty="0"/>
              <a:t> of a wireless channel due to </a:t>
            </a:r>
            <a:r>
              <a:rPr lang="en-US" b="1" dirty="0"/>
              <a:t>multipath propagation</a:t>
            </a:r>
            <a:r>
              <a:rPr lang="en-US" dirty="0"/>
              <a:t>. It measures how much a transmitted signal is </a:t>
            </a:r>
            <a:r>
              <a:rPr lang="en-US" b="1" dirty="0"/>
              <a:t>spread in time</a:t>
            </a:r>
            <a:r>
              <a:rPr lang="en-US" dirty="0"/>
              <a:t> when it arrives at the receiver.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FBD63-19F7-1B53-2854-B9BC87174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7624"/>
            <a:ext cx="10515600" cy="5769339"/>
          </a:xfrm>
        </p:spPr>
        <p:txBody>
          <a:bodyPr/>
          <a:lstStyle/>
          <a:p>
            <a:pPr marL="356870" marR="306070" indent="-344805" algn="just"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"/>
              <a:tabLst>
                <a:tab pos="356870" algn="l"/>
              </a:tabLst>
            </a:pP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Multiple</a:t>
            </a:r>
            <a:r>
              <a:rPr lang="en-US" sz="24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impulses</a:t>
            </a:r>
            <a:r>
              <a:rPr lang="en-US" sz="2400" spc="-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lang="en-US" sz="2400" spc="-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varying</a:t>
            </a:r>
            <a:r>
              <a:rPr lang="en-US" sz="24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power</a:t>
            </a:r>
            <a:r>
              <a:rPr lang="en-US" sz="24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correspond</a:t>
            </a:r>
            <a:r>
              <a:rPr lang="en-US" sz="2400" spc="-1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lang="en-US" sz="2400" spc="-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spc="-10" dirty="0">
                <a:solidFill>
                  <a:srgbClr val="00AF50"/>
                </a:solidFill>
                <a:latin typeface="Arial"/>
                <a:cs typeface="Arial"/>
              </a:rPr>
              <a:t>various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multipaths.</a:t>
            </a:r>
            <a:endParaRPr lang="en-US" sz="2400" spc="-110" dirty="0">
              <a:solidFill>
                <a:srgbClr val="00AF50"/>
              </a:solidFill>
              <a:latin typeface="Arial"/>
              <a:cs typeface="Arial"/>
            </a:endParaRPr>
          </a:p>
          <a:p>
            <a:pPr marL="356870" marR="306070" indent="-344805" algn="just"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"/>
              <a:tabLst>
                <a:tab pos="356870" algn="l"/>
              </a:tabLst>
            </a:pP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This</a:t>
            </a:r>
            <a:r>
              <a:rPr lang="en-US" sz="24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time</a:t>
            </a:r>
            <a:r>
              <a:rPr lang="en-US" sz="24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dispersion</a:t>
            </a:r>
            <a:r>
              <a:rPr lang="en-US" sz="24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lang="en-US" sz="24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also</a:t>
            </a:r>
            <a:r>
              <a:rPr lang="en-US" sz="24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referred</a:t>
            </a:r>
            <a:r>
              <a:rPr lang="en-US" sz="24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lang="en-US" sz="24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spc="-25" dirty="0">
                <a:solidFill>
                  <a:srgbClr val="00AF50"/>
                </a:solidFill>
                <a:latin typeface="Arial"/>
                <a:cs typeface="Arial"/>
              </a:rPr>
              <a:t>as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multipath</a:t>
            </a:r>
            <a:r>
              <a:rPr lang="en-US" sz="2400" spc="-10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delay</a:t>
            </a:r>
            <a:r>
              <a:rPr lang="en-US" sz="2400" spc="-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spc="-10" dirty="0">
                <a:solidFill>
                  <a:srgbClr val="00AF50"/>
                </a:solidFill>
                <a:latin typeface="Arial"/>
                <a:cs typeface="Arial"/>
              </a:rPr>
              <a:t>spread.</a:t>
            </a:r>
            <a:endParaRPr lang="en-US" sz="2400" dirty="0">
              <a:latin typeface="Arial"/>
              <a:cs typeface="Arial"/>
            </a:endParaRPr>
          </a:p>
          <a:p>
            <a:pPr marL="356870" indent="-344170" algn="just">
              <a:spcBef>
                <a:spcPts val="580"/>
              </a:spcBef>
              <a:buClr>
                <a:srgbClr val="009999"/>
              </a:buClr>
              <a:buSzPct val="64583"/>
              <a:buFont typeface="Wingdings"/>
              <a:buChar char=""/>
              <a:tabLst>
                <a:tab pos="356870" algn="l"/>
              </a:tabLst>
            </a:pP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Delay</a:t>
            </a:r>
            <a:r>
              <a:rPr lang="en-US" sz="24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between</a:t>
            </a:r>
            <a:r>
              <a:rPr lang="en-US" sz="24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first</a:t>
            </a:r>
            <a:r>
              <a:rPr lang="en-US" sz="24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significant</a:t>
            </a:r>
            <a:r>
              <a:rPr lang="en-US" sz="24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path</a:t>
            </a:r>
            <a:r>
              <a:rPr lang="en-US" sz="2400" spc="-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&amp;</a:t>
            </a:r>
            <a:r>
              <a:rPr lang="en-US" sz="24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last</a:t>
            </a:r>
            <a:r>
              <a:rPr lang="en-US" sz="24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significant</a:t>
            </a:r>
            <a:r>
              <a:rPr lang="en-US" sz="2400" spc="-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spc="-10" dirty="0">
                <a:solidFill>
                  <a:srgbClr val="00AF50"/>
                </a:solidFill>
                <a:latin typeface="Arial"/>
                <a:cs typeface="Arial"/>
              </a:rPr>
              <a:t>paths</a:t>
            </a:r>
            <a:endParaRPr lang="en-US" sz="2400" dirty="0">
              <a:latin typeface="Arial"/>
              <a:cs typeface="Arial"/>
            </a:endParaRPr>
          </a:p>
          <a:p>
            <a:pPr marR="823594" algn="just">
              <a:spcBef>
                <a:spcPts val="5"/>
              </a:spcBef>
            </a:pP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lang="en-US" sz="24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loosely</a:t>
            </a:r>
            <a:r>
              <a:rPr lang="en-US" sz="24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termed</a:t>
            </a:r>
            <a:r>
              <a:rPr lang="en-US" sz="2400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as</a:t>
            </a:r>
            <a:r>
              <a:rPr lang="en-US" sz="24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channel</a:t>
            </a:r>
            <a:r>
              <a:rPr lang="en-US" sz="24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excess</a:t>
            </a:r>
            <a:r>
              <a:rPr lang="en-US" sz="24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delay</a:t>
            </a:r>
            <a:r>
              <a:rPr lang="en-US" sz="24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spc="-10" dirty="0">
                <a:solidFill>
                  <a:srgbClr val="00AF50"/>
                </a:solidFill>
                <a:latin typeface="Arial"/>
                <a:cs typeface="Arial"/>
              </a:rPr>
              <a:t>spread.</a:t>
            </a:r>
            <a:endParaRPr lang="en-US" sz="2400" dirty="0">
              <a:latin typeface="Arial"/>
              <a:cs typeface="Arial"/>
            </a:endParaRPr>
          </a:p>
          <a:p>
            <a:pPr marL="344170" marR="838200" indent="-344170" algn="just">
              <a:spcBef>
                <a:spcPts val="575"/>
              </a:spcBef>
              <a:buClr>
                <a:srgbClr val="009999"/>
              </a:buClr>
              <a:buSzPct val="64583"/>
              <a:buFont typeface="Wingdings"/>
              <a:buChar char=""/>
              <a:tabLst>
                <a:tab pos="344170" algn="l"/>
              </a:tabLst>
            </a:pP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Two</a:t>
            </a:r>
            <a:r>
              <a:rPr lang="en-US" sz="24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totally</a:t>
            </a:r>
            <a:r>
              <a:rPr lang="en-US" sz="24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different</a:t>
            </a:r>
            <a:r>
              <a:rPr lang="en-US" sz="2400" spc="-1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channels</a:t>
            </a:r>
            <a:r>
              <a:rPr lang="en-US" sz="2400" spc="-9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can</a:t>
            </a:r>
            <a:r>
              <a:rPr lang="en-US" sz="2400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have</a:t>
            </a:r>
            <a:r>
              <a:rPr lang="en-US" sz="24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same</a:t>
            </a:r>
            <a:r>
              <a:rPr lang="en-US" sz="24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spc="-10" dirty="0">
                <a:solidFill>
                  <a:srgbClr val="00AF50"/>
                </a:solidFill>
                <a:latin typeface="Arial"/>
                <a:cs typeface="Arial"/>
              </a:rPr>
              <a:t>excess</a:t>
            </a:r>
            <a:endParaRPr lang="en-US" sz="2400" dirty="0">
              <a:latin typeface="Arial"/>
              <a:cs typeface="Arial"/>
            </a:endParaRPr>
          </a:p>
          <a:p>
            <a:pPr marR="5787390" algn="just"/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delay</a:t>
            </a:r>
            <a:r>
              <a:rPr lang="en-US" sz="2400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spc="-10" dirty="0">
                <a:solidFill>
                  <a:srgbClr val="00AF50"/>
                </a:solidFill>
                <a:latin typeface="Arial"/>
                <a:cs typeface="Arial"/>
              </a:rPr>
              <a:t>spread.</a:t>
            </a:r>
            <a:endParaRPr lang="en-US" sz="2400" dirty="0">
              <a:latin typeface="Arial"/>
              <a:cs typeface="Arial"/>
            </a:endParaRPr>
          </a:p>
          <a:p>
            <a:pPr marL="356870" indent="-344170" algn="just">
              <a:lnSpc>
                <a:spcPts val="2775"/>
              </a:lnSpc>
              <a:spcBef>
                <a:spcPts val="580"/>
              </a:spcBef>
              <a:buClr>
                <a:srgbClr val="009999"/>
              </a:buClr>
              <a:buSzPct val="64583"/>
              <a:buFont typeface="Wingdings"/>
              <a:buChar char=""/>
              <a:tabLst>
                <a:tab pos="356870" algn="l"/>
              </a:tabLst>
            </a:pP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A</a:t>
            </a:r>
            <a:r>
              <a:rPr lang="en-US" sz="24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better</a:t>
            </a:r>
            <a:r>
              <a:rPr lang="en-US" sz="24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measure</a:t>
            </a:r>
            <a:r>
              <a:rPr lang="en-US" sz="2400" spc="-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lang="en-US" sz="24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delay</a:t>
            </a:r>
            <a:r>
              <a:rPr lang="en-US" sz="24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spread</a:t>
            </a:r>
            <a:r>
              <a:rPr lang="en-US" sz="24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lang="en-US" sz="24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rms</a:t>
            </a:r>
            <a:r>
              <a:rPr lang="en-US" sz="24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Arial"/>
                <a:cs typeface="Arial"/>
              </a:rPr>
              <a:t>delay</a:t>
            </a:r>
            <a:r>
              <a:rPr lang="en-US" sz="24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2400" spc="-10" dirty="0">
                <a:solidFill>
                  <a:srgbClr val="00AF50"/>
                </a:solidFill>
                <a:latin typeface="Arial"/>
                <a:cs typeface="Arial"/>
              </a:rPr>
              <a:t>spread</a:t>
            </a:r>
            <a:endParaRPr lang="en-US" sz="2400" dirty="0">
              <a:latin typeface="Arial"/>
              <a:cs typeface="Arial"/>
            </a:endParaRP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4253AA-A9D0-5459-285B-722FBDE15A91}"/>
                  </a:ext>
                </a:extLst>
              </p:cNvPr>
              <p:cNvSpPr txBox="1"/>
              <p:nvPr/>
            </p:nvSpPr>
            <p:spPr>
              <a:xfrm>
                <a:off x="548089" y="3622033"/>
                <a:ext cx="6097836" cy="2554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RMS Delay Spread (Most Important)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Statistical measure of time dispersion around the mean delay.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nary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limUpp>
                                    <m:limUp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Up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lim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ˉ</m:t>
                                      </m:r>
                                    </m:lim>
                                  </m:limUpp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i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nary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ra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ar-AE" dirty="0"/>
                  <a:t>​ </a:t>
                </a:r>
              </a:p>
              <a:p>
                <a:pPr>
                  <a:buNone/>
                </a:pPr>
                <a:r>
                  <a:rPr lang="en-US" dirty="0"/>
                  <a:t>This is the </a:t>
                </a:r>
                <a:r>
                  <a:rPr lang="en-US" b="1" dirty="0"/>
                  <a:t>most widely used</a:t>
                </a:r>
                <a:r>
                  <a:rPr lang="en-US" dirty="0"/>
                  <a:t> form of delay spread in system design.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4253AA-A9D0-5459-285B-722FBDE15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89" y="3622033"/>
                <a:ext cx="6097836" cy="2554930"/>
              </a:xfrm>
              <a:prstGeom prst="rect">
                <a:avLst/>
              </a:prstGeom>
              <a:blipFill>
                <a:blip r:embed="rId2"/>
                <a:stretch>
                  <a:fillRect l="-1000" t="-1193" b="-2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3D6E3C-61C0-BF3A-CE13-592B7630BCFF}"/>
                  </a:ext>
                </a:extLst>
              </p:cNvPr>
              <p:cNvSpPr txBox="1"/>
              <p:nvPr/>
            </p:nvSpPr>
            <p:spPr>
              <a:xfrm>
                <a:off x="6287877" y="4356387"/>
                <a:ext cx="6097836" cy="1587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Mean Excess Delay (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lim>
                        <m:r>
                          <a:rPr lang="ar-AE" i="0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</m:oMath>
                </a14:m>
                <a:r>
                  <a:rPr lang="ar-AE" b="1" dirty="0"/>
                  <a:t>)</a:t>
                </a:r>
              </a:p>
              <a:p>
                <a:pPr>
                  <a:buNone/>
                </a:pPr>
                <a:r>
                  <a:rPr lang="en-US" dirty="0"/>
                  <a:t>The </a:t>
                </a:r>
                <a:r>
                  <a:rPr lang="en-US" b="1" dirty="0"/>
                  <a:t>mean excess delay</a:t>
                </a:r>
                <a:r>
                  <a:rPr lang="en-US" dirty="0"/>
                  <a:t> is the </a:t>
                </a:r>
                <a:r>
                  <a:rPr lang="en-US" b="1" dirty="0"/>
                  <a:t>average excess delay of the multipath components</a:t>
                </a:r>
                <a:r>
                  <a:rPr lang="en-US" dirty="0"/>
                  <a:t>, weighted by their received power.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li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nary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nary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3D6E3C-61C0-BF3A-CE13-592B7630B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877" y="4356387"/>
                <a:ext cx="6097836" cy="1587999"/>
              </a:xfrm>
              <a:prstGeom prst="rect">
                <a:avLst/>
              </a:prstGeom>
              <a:blipFill>
                <a:blip r:embed="rId3"/>
                <a:stretch>
                  <a:fillRect l="-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39829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246" y="201462"/>
            <a:ext cx="5840095" cy="11208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Delay</a:t>
            </a:r>
            <a:r>
              <a:rPr sz="3600" spc="-3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Spread-</a:t>
            </a:r>
            <a:r>
              <a:rPr sz="3600" spc="-2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Freq.</a:t>
            </a:r>
            <a:r>
              <a:rPr sz="3600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003399"/>
                </a:solidFill>
                <a:latin typeface="Arial"/>
                <a:cs typeface="Arial"/>
              </a:rPr>
              <a:t>Domain Interpretation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0246" y="2642085"/>
            <a:ext cx="8372727" cy="326295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ED14E-4E4F-58B8-E6A8-922BB6D59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Coherence Bandwidth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5C027E-BC6F-B98A-5FBE-A4D66893F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b="1" dirty="0"/>
                  <a:t>Coherence bandwidth</a:t>
                </a:r>
                <a:r>
                  <a:rPr lang="en-US" dirty="0"/>
                  <a:t> is a statistical measure of the </a:t>
                </a:r>
                <a:r>
                  <a:rPr lang="en-US" b="1" dirty="0"/>
                  <a:t>frequency range over which a wireless channel can be considered flat</a:t>
                </a:r>
                <a:r>
                  <a:rPr lang="en-US" dirty="0"/>
                  <a:t>, meaning the channel response is </a:t>
                </a:r>
                <a:r>
                  <a:rPr lang="en-US" b="1" dirty="0"/>
                  <a:t>highly correlated</a:t>
                </a:r>
                <a:r>
                  <a:rPr lang="en-US" dirty="0"/>
                  <a:t> across that range.</a:t>
                </a:r>
                <a:endParaRPr lang="en-US" b="1" dirty="0"/>
              </a:p>
              <a:p>
                <a:pPr algn="just"/>
                <a:r>
                  <a:rPr lang="en-US" b="1" dirty="0"/>
                  <a:t>Coherence bandwidth</a:t>
                </a:r>
                <a:r>
                  <a:rPr lang="en-US" dirty="0"/>
                  <a:t> is the range of frequencies over which the channel frequency response remains highly correlated (or nearly constant).</a:t>
                </a:r>
                <a:endParaRPr lang="en-US" b="1" dirty="0"/>
              </a:p>
              <a:p>
                <a:pPr algn="just"/>
                <a:r>
                  <a:rPr lang="en-US" dirty="0"/>
                  <a:t>If the </a:t>
                </a:r>
                <a:r>
                  <a:rPr lang="en-US" b="1" dirty="0"/>
                  <a:t>signal bandwidth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𝐵</m:t>
                        </m:r>
                      </m:e>
                      <m:sub>
                        <m:r>
                          <a:rPr lang="ar-AE" i="1"/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is </a:t>
                </a:r>
                <a:r>
                  <a:rPr lang="en-US" b="1" dirty="0"/>
                  <a:t>less than coherence bandwidth</a:t>
                </a:r>
                <a:r>
                  <a:rPr lang="en-US" dirty="0"/>
                  <a:t>, all frequency components experience </a:t>
                </a:r>
                <a:r>
                  <a:rPr lang="en-US" b="1" dirty="0"/>
                  <a:t>similar fading</a:t>
                </a:r>
                <a:r>
                  <a:rPr lang="en-US" dirty="0"/>
                  <a:t> → </a:t>
                </a:r>
                <a:r>
                  <a:rPr lang="en-US" b="1" dirty="0"/>
                  <a:t>Flat fading</a:t>
                </a:r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𝐵</m:t>
                        </m:r>
                      </m:e>
                      <m:sub>
                        <m:r>
                          <a:rPr lang="ar-AE" i="1"/>
                          <m:t>𝑠</m:t>
                        </m:r>
                      </m:sub>
                    </m:sSub>
                    <m:r>
                      <a:rPr lang="ar-AE"/>
                      <m:t>&gt;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𝐵</m:t>
                        </m:r>
                      </m:e>
                      <m:sub>
                        <m:r>
                          <a:rPr lang="ar-AE" i="1"/>
                          <m:t>𝑐</m:t>
                        </m:r>
                      </m:sub>
                    </m:sSub>
                  </m:oMath>
                </a14:m>
                <a:r>
                  <a:rPr lang="ar-AE" dirty="0"/>
                  <a:t>**, </a:t>
                </a:r>
                <a:r>
                  <a:rPr lang="en-US" dirty="0"/>
                  <a:t>different frequency components experience different fading → </a:t>
                </a:r>
                <a:r>
                  <a:rPr lang="en-US" b="1" dirty="0"/>
                  <a:t>Frequency-selective fading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5C027E-BC6F-B98A-5FBE-A4D66893F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7117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0" y="155864"/>
            <a:ext cx="8229600" cy="415636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8288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971992" y="2639290"/>
            <a:ext cx="9573685" cy="2020166"/>
            <a:chOff x="447992" y="3870959"/>
            <a:chExt cx="8464550" cy="2962910"/>
          </a:xfrm>
        </p:grpSpPr>
        <p:sp>
          <p:nvSpPr>
            <p:cNvPr id="4" name="object 4"/>
            <p:cNvSpPr/>
            <p:nvPr/>
          </p:nvSpPr>
          <p:spPr>
            <a:xfrm>
              <a:off x="457200" y="6172199"/>
              <a:ext cx="8229600" cy="0"/>
            </a:xfrm>
            <a:custGeom>
              <a:avLst/>
              <a:gdLst/>
              <a:ahLst/>
              <a:cxnLst/>
              <a:rect l="l" t="t" r="r" b="b"/>
              <a:pathLst>
                <a:path w="8229600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ln w="18288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9215" y="3870959"/>
              <a:ext cx="2993136" cy="296265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60246" y="14374"/>
            <a:ext cx="803465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Time</a:t>
            </a:r>
            <a:r>
              <a:rPr sz="3600" spc="-8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spreading</a:t>
            </a:r>
            <a:r>
              <a:rPr sz="3600" spc="-1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:</a:t>
            </a:r>
            <a:r>
              <a:rPr sz="3600" spc="-5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Coherence</a:t>
            </a:r>
            <a:r>
              <a:rPr sz="3600" spc="-2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003399"/>
                </a:solidFill>
                <a:latin typeface="Arial"/>
                <a:cs typeface="Arial"/>
              </a:rPr>
              <a:t>Bandwidth</a:t>
            </a:r>
            <a:endParaRPr sz="36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07299" y="936221"/>
            <a:ext cx="5846445" cy="1558636"/>
            <a:chOff x="783297" y="1373124"/>
            <a:chExt cx="5846445" cy="2286000"/>
          </a:xfrm>
        </p:grpSpPr>
        <p:sp>
          <p:nvSpPr>
            <p:cNvPr id="8" name="object 8"/>
            <p:cNvSpPr/>
            <p:nvPr/>
          </p:nvSpPr>
          <p:spPr>
            <a:xfrm>
              <a:off x="783297" y="1373123"/>
              <a:ext cx="5846445" cy="2286000"/>
            </a:xfrm>
            <a:custGeom>
              <a:avLst/>
              <a:gdLst/>
              <a:ahLst/>
              <a:cxnLst/>
              <a:rect l="l" t="t" r="r" b="b"/>
              <a:pathLst>
                <a:path w="5846445" h="2286000">
                  <a:moveTo>
                    <a:pt x="5846102" y="2133727"/>
                  </a:moveTo>
                  <a:lnTo>
                    <a:pt x="5806554" y="2113915"/>
                  </a:lnTo>
                  <a:lnTo>
                    <a:pt x="5727230" y="2074164"/>
                  </a:lnTo>
                  <a:lnTo>
                    <a:pt x="5753659" y="2113915"/>
                  </a:lnTo>
                  <a:lnTo>
                    <a:pt x="76479" y="2110752"/>
                  </a:lnTo>
                  <a:lnTo>
                    <a:pt x="79235" y="118999"/>
                  </a:lnTo>
                  <a:lnTo>
                    <a:pt x="79273" y="92506"/>
                  </a:lnTo>
                  <a:lnTo>
                    <a:pt x="118872" y="118999"/>
                  </a:lnTo>
                  <a:lnTo>
                    <a:pt x="99072" y="79248"/>
                  </a:lnTo>
                  <a:lnTo>
                    <a:pt x="59601" y="0"/>
                  </a:lnTo>
                  <a:lnTo>
                    <a:pt x="0" y="118745"/>
                  </a:lnTo>
                  <a:lnTo>
                    <a:pt x="39522" y="92506"/>
                  </a:lnTo>
                  <a:lnTo>
                    <a:pt x="39674" y="79248"/>
                  </a:lnTo>
                  <a:lnTo>
                    <a:pt x="39649" y="92506"/>
                  </a:lnTo>
                  <a:lnTo>
                    <a:pt x="36614" y="2286000"/>
                  </a:lnTo>
                  <a:lnTo>
                    <a:pt x="76238" y="2286000"/>
                  </a:lnTo>
                  <a:lnTo>
                    <a:pt x="76415" y="2150376"/>
                  </a:lnTo>
                  <a:lnTo>
                    <a:pt x="5753570" y="2153539"/>
                  </a:lnTo>
                  <a:lnTo>
                    <a:pt x="5727103" y="2193036"/>
                  </a:lnTo>
                  <a:lnTo>
                    <a:pt x="5806338" y="2153539"/>
                  </a:lnTo>
                  <a:lnTo>
                    <a:pt x="5846102" y="21337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887" y="1459992"/>
              <a:ext cx="701040" cy="2286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777098" y="2403244"/>
            <a:ext cx="394970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00" spc="-20" dirty="0">
                <a:solidFill>
                  <a:srgbClr val="00AF50"/>
                </a:solidFill>
                <a:latin typeface="Calibri"/>
                <a:cs typeface="Calibri"/>
              </a:rPr>
              <a:t>Freq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58961" y="900980"/>
            <a:ext cx="5138420" cy="1503651"/>
            <a:chOff x="834961" y="1321435"/>
            <a:chExt cx="5138420" cy="2205355"/>
          </a:xfrm>
        </p:grpSpPr>
        <p:sp>
          <p:nvSpPr>
            <p:cNvPr id="12" name="object 12"/>
            <p:cNvSpPr/>
            <p:nvPr/>
          </p:nvSpPr>
          <p:spPr>
            <a:xfrm>
              <a:off x="839724" y="1486445"/>
              <a:ext cx="5128895" cy="2002789"/>
            </a:xfrm>
            <a:custGeom>
              <a:avLst/>
              <a:gdLst/>
              <a:ahLst/>
              <a:cxnLst/>
              <a:rect l="l" t="t" r="r" b="b"/>
              <a:pathLst>
                <a:path w="5128895" h="2002789">
                  <a:moveTo>
                    <a:pt x="0" y="276695"/>
                  </a:moveTo>
                  <a:lnTo>
                    <a:pt x="31162" y="327526"/>
                  </a:lnTo>
                  <a:lnTo>
                    <a:pt x="62230" y="378224"/>
                  </a:lnTo>
                  <a:lnTo>
                    <a:pt x="93110" y="428661"/>
                  </a:lnTo>
                  <a:lnTo>
                    <a:pt x="123709" y="478704"/>
                  </a:lnTo>
                  <a:lnTo>
                    <a:pt x="153932" y="528226"/>
                  </a:lnTo>
                  <a:lnTo>
                    <a:pt x="183685" y="577095"/>
                  </a:lnTo>
                  <a:lnTo>
                    <a:pt x="212875" y="625181"/>
                  </a:lnTo>
                  <a:lnTo>
                    <a:pt x="241408" y="672354"/>
                  </a:lnTo>
                  <a:lnTo>
                    <a:pt x="269189" y="718485"/>
                  </a:lnTo>
                  <a:lnTo>
                    <a:pt x="296125" y="763442"/>
                  </a:lnTo>
                  <a:lnTo>
                    <a:pt x="322121" y="807097"/>
                  </a:lnTo>
                  <a:lnTo>
                    <a:pt x="347085" y="849318"/>
                  </a:lnTo>
                  <a:lnTo>
                    <a:pt x="370921" y="889976"/>
                  </a:lnTo>
                  <a:lnTo>
                    <a:pt x="393537" y="928941"/>
                  </a:lnTo>
                  <a:lnTo>
                    <a:pt x="414837" y="966083"/>
                  </a:lnTo>
                  <a:lnTo>
                    <a:pt x="434729" y="1001271"/>
                  </a:lnTo>
                  <a:lnTo>
                    <a:pt x="469911" y="1065266"/>
                  </a:lnTo>
                  <a:lnTo>
                    <a:pt x="503385" y="1137357"/>
                  </a:lnTo>
                  <a:lnTo>
                    <a:pt x="514444" y="1180590"/>
                  </a:lnTo>
                  <a:lnTo>
                    <a:pt x="519632" y="1222236"/>
                  </a:lnTo>
                  <a:lnTo>
                    <a:pt x="520394" y="1261020"/>
                  </a:lnTo>
                  <a:lnTo>
                    <a:pt x="518173" y="1295669"/>
                  </a:lnTo>
                  <a:lnTo>
                    <a:pt x="514413" y="1324905"/>
                  </a:lnTo>
                  <a:lnTo>
                    <a:pt x="510558" y="1347456"/>
                  </a:lnTo>
                  <a:lnTo>
                    <a:pt x="508051" y="1362047"/>
                  </a:lnTo>
                  <a:lnTo>
                    <a:pt x="508337" y="1367401"/>
                  </a:lnTo>
                  <a:lnTo>
                    <a:pt x="540385" y="1315301"/>
                  </a:lnTo>
                  <a:lnTo>
                    <a:pt x="562876" y="1266997"/>
                  </a:lnTo>
                  <a:lnTo>
                    <a:pt x="589083" y="1195973"/>
                  </a:lnTo>
                  <a:lnTo>
                    <a:pt x="603467" y="1153344"/>
                  </a:lnTo>
                  <a:lnTo>
                    <a:pt x="618644" y="1106717"/>
                  </a:lnTo>
                  <a:lnTo>
                    <a:pt x="634570" y="1056655"/>
                  </a:lnTo>
                  <a:lnTo>
                    <a:pt x="651199" y="1003717"/>
                  </a:lnTo>
                  <a:lnTo>
                    <a:pt x="668486" y="948465"/>
                  </a:lnTo>
                  <a:lnTo>
                    <a:pt x="686386" y="891460"/>
                  </a:lnTo>
                  <a:lnTo>
                    <a:pt x="704853" y="833264"/>
                  </a:lnTo>
                  <a:lnTo>
                    <a:pt x="723843" y="774435"/>
                  </a:lnTo>
                  <a:lnTo>
                    <a:pt x="743310" y="715537"/>
                  </a:lnTo>
                  <a:lnTo>
                    <a:pt x="763210" y="657130"/>
                  </a:lnTo>
                  <a:lnTo>
                    <a:pt x="783496" y="599774"/>
                  </a:lnTo>
                  <a:lnTo>
                    <a:pt x="804124" y="544031"/>
                  </a:lnTo>
                  <a:lnTo>
                    <a:pt x="825049" y="490462"/>
                  </a:lnTo>
                  <a:lnTo>
                    <a:pt x="846226" y="439627"/>
                  </a:lnTo>
                  <a:lnTo>
                    <a:pt x="867609" y="392089"/>
                  </a:lnTo>
                  <a:lnTo>
                    <a:pt x="889153" y="348406"/>
                  </a:lnTo>
                  <a:lnTo>
                    <a:pt x="910813" y="309142"/>
                  </a:lnTo>
                  <a:lnTo>
                    <a:pt x="932544" y="274856"/>
                  </a:lnTo>
                  <a:lnTo>
                    <a:pt x="976039" y="223464"/>
                  </a:lnTo>
                  <a:lnTo>
                    <a:pt x="1025558" y="196931"/>
                  </a:lnTo>
                  <a:lnTo>
                    <a:pt x="1054941" y="195809"/>
                  </a:lnTo>
                  <a:lnTo>
                    <a:pt x="1085662" y="203153"/>
                  </a:lnTo>
                  <a:lnTo>
                    <a:pt x="1150330" y="239397"/>
                  </a:lnTo>
                  <a:lnTo>
                    <a:pt x="1183881" y="266374"/>
                  </a:lnTo>
                  <a:lnTo>
                    <a:pt x="1217981" y="297975"/>
                  </a:lnTo>
                  <a:lnTo>
                    <a:pt x="1252431" y="333237"/>
                  </a:lnTo>
                  <a:lnTo>
                    <a:pt x="1287034" y="371199"/>
                  </a:lnTo>
                  <a:lnTo>
                    <a:pt x="1321593" y="410902"/>
                  </a:lnTo>
                  <a:lnTo>
                    <a:pt x="1355910" y="451384"/>
                  </a:lnTo>
                  <a:lnTo>
                    <a:pt x="1389788" y="491685"/>
                  </a:lnTo>
                  <a:lnTo>
                    <a:pt x="1423028" y="530842"/>
                  </a:lnTo>
                  <a:lnTo>
                    <a:pt x="1455434" y="567897"/>
                  </a:lnTo>
                  <a:lnTo>
                    <a:pt x="1486808" y="601887"/>
                  </a:lnTo>
                  <a:lnTo>
                    <a:pt x="1516953" y="631851"/>
                  </a:lnTo>
                  <a:lnTo>
                    <a:pt x="1572762" y="675861"/>
                  </a:lnTo>
                  <a:lnTo>
                    <a:pt x="1621282" y="692239"/>
                  </a:lnTo>
                  <a:lnTo>
                    <a:pt x="1647533" y="686060"/>
                  </a:lnTo>
                  <a:lnTo>
                    <a:pt x="1692157" y="641768"/>
                  </a:lnTo>
                  <a:lnTo>
                    <a:pt x="1711138" y="607084"/>
                  </a:lnTo>
                  <a:lnTo>
                    <a:pt x="1728305" y="566327"/>
                  </a:lnTo>
                  <a:lnTo>
                    <a:pt x="1743962" y="521211"/>
                  </a:lnTo>
                  <a:lnTo>
                    <a:pt x="1758415" y="473451"/>
                  </a:lnTo>
                  <a:lnTo>
                    <a:pt x="1771967" y="424761"/>
                  </a:lnTo>
                  <a:lnTo>
                    <a:pt x="1784924" y="376856"/>
                  </a:lnTo>
                  <a:lnTo>
                    <a:pt x="1797591" y="331449"/>
                  </a:lnTo>
                  <a:lnTo>
                    <a:pt x="1810271" y="290255"/>
                  </a:lnTo>
                  <a:lnTo>
                    <a:pt x="1836894" y="227363"/>
                  </a:lnTo>
                  <a:lnTo>
                    <a:pt x="1867230" y="201895"/>
                  </a:lnTo>
                  <a:lnTo>
                    <a:pt x="1884552" y="207480"/>
                  </a:lnTo>
                  <a:lnTo>
                    <a:pt x="1914745" y="248746"/>
                  </a:lnTo>
                  <a:lnTo>
                    <a:pt x="1930552" y="283479"/>
                  </a:lnTo>
                  <a:lnTo>
                    <a:pt x="1946745" y="326018"/>
                  </a:lnTo>
                  <a:lnTo>
                    <a:pt x="1963255" y="375170"/>
                  </a:lnTo>
                  <a:lnTo>
                    <a:pt x="1980015" y="429740"/>
                  </a:lnTo>
                  <a:lnTo>
                    <a:pt x="1996957" y="488534"/>
                  </a:lnTo>
                  <a:lnTo>
                    <a:pt x="2014015" y="550358"/>
                  </a:lnTo>
                  <a:lnTo>
                    <a:pt x="2031121" y="614017"/>
                  </a:lnTo>
                  <a:lnTo>
                    <a:pt x="2048208" y="678317"/>
                  </a:lnTo>
                  <a:lnTo>
                    <a:pt x="2065208" y="742063"/>
                  </a:lnTo>
                  <a:lnTo>
                    <a:pt x="2082054" y="804062"/>
                  </a:lnTo>
                  <a:lnTo>
                    <a:pt x="2098678" y="863119"/>
                  </a:lnTo>
                  <a:lnTo>
                    <a:pt x="2115014" y="918039"/>
                  </a:lnTo>
                  <a:lnTo>
                    <a:pt x="2130994" y="967629"/>
                  </a:lnTo>
                  <a:lnTo>
                    <a:pt x="2146550" y="1010693"/>
                  </a:lnTo>
                  <a:lnTo>
                    <a:pt x="2161616" y="1046038"/>
                  </a:lnTo>
                  <a:lnTo>
                    <a:pt x="2190006" y="1088792"/>
                  </a:lnTo>
                  <a:lnTo>
                    <a:pt x="2203196" y="1093813"/>
                  </a:lnTo>
                  <a:lnTo>
                    <a:pt x="2211566" y="1089716"/>
                  </a:lnTo>
                  <a:lnTo>
                    <a:pt x="2217177" y="1079348"/>
                  </a:lnTo>
                  <a:lnTo>
                    <a:pt x="2220364" y="1063178"/>
                  </a:lnTo>
                  <a:lnTo>
                    <a:pt x="2221463" y="1041672"/>
                  </a:lnTo>
                  <a:lnTo>
                    <a:pt x="2220811" y="1015300"/>
                  </a:lnTo>
                  <a:lnTo>
                    <a:pt x="2218743" y="984529"/>
                  </a:lnTo>
                  <a:lnTo>
                    <a:pt x="2215594" y="949828"/>
                  </a:lnTo>
                  <a:lnTo>
                    <a:pt x="2211702" y="911663"/>
                  </a:lnTo>
                  <a:lnTo>
                    <a:pt x="2207400" y="870503"/>
                  </a:lnTo>
                  <a:lnTo>
                    <a:pt x="2203027" y="826815"/>
                  </a:lnTo>
                  <a:lnTo>
                    <a:pt x="2198916" y="781069"/>
                  </a:lnTo>
                  <a:lnTo>
                    <a:pt x="2195405" y="733731"/>
                  </a:lnTo>
                  <a:lnTo>
                    <a:pt x="2192829" y="685270"/>
                  </a:lnTo>
                  <a:lnTo>
                    <a:pt x="2191524" y="636153"/>
                  </a:lnTo>
                  <a:lnTo>
                    <a:pt x="2191826" y="586849"/>
                  </a:lnTo>
                  <a:lnTo>
                    <a:pt x="2194070" y="537825"/>
                  </a:lnTo>
                  <a:lnTo>
                    <a:pt x="2198593" y="489550"/>
                  </a:lnTo>
                  <a:lnTo>
                    <a:pt x="2205730" y="442490"/>
                  </a:lnTo>
                  <a:lnTo>
                    <a:pt x="2215818" y="397115"/>
                  </a:lnTo>
                  <a:lnTo>
                    <a:pt x="2229191" y="353892"/>
                  </a:lnTo>
                  <a:lnTo>
                    <a:pt x="2246187" y="313289"/>
                  </a:lnTo>
                  <a:lnTo>
                    <a:pt x="2267141" y="275774"/>
                  </a:lnTo>
                  <a:lnTo>
                    <a:pt x="2292388" y="241815"/>
                  </a:lnTo>
                  <a:lnTo>
                    <a:pt x="2322265" y="211879"/>
                  </a:lnTo>
                  <a:lnTo>
                    <a:pt x="2357108" y="186435"/>
                  </a:lnTo>
                  <a:lnTo>
                    <a:pt x="2397252" y="165951"/>
                  </a:lnTo>
                  <a:lnTo>
                    <a:pt x="2455964" y="144098"/>
                  </a:lnTo>
                  <a:lnTo>
                    <a:pt x="2525156" y="122897"/>
                  </a:lnTo>
                  <a:lnTo>
                    <a:pt x="2563354" y="112616"/>
                  </a:lnTo>
                  <a:lnTo>
                    <a:pt x="2603778" y="102590"/>
                  </a:lnTo>
                  <a:lnTo>
                    <a:pt x="2646297" y="92847"/>
                  </a:lnTo>
                  <a:lnTo>
                    <a:pt x="2690780" y="83418"/>
                  </a:lnTo>
                  <a:lnTo>
                    <a:pt x="2737095" y="74334"/>
                  </a:lnTo>
                  <a:lnTo>
                    <a:pt x="2785111" y="65625"/>
                  </a:lnTo>
                  <a:lnTo>
                    <a:pt x="2834697" y="57321"/>
                  </a:lnTo>
                  <a:lnTo>
                    <a:pt x="2885721" y="49452"/>
                  </a:lnTo>
                  <a:lnTo>
                    <a:pt x="2938052" y="42048"/>
                  </a:lnTo>
                  <a:lnTo>
                    <a:pt x="2991560" y="35141"/>
                  </a:lnTo>
                  <a:lnTo>
                    <a:pt x="3046112" y="28760"/>
                  </a:lnTo>
                  <a:lnTo>
                    <a:pt x="3101577" y="22935"/>
                  </a:lnTo>
                  <a:lnTo>
                    <a:pt x="3157825" y="17697"/>
                  </a:lnTo>
                  <a:lnTo>
                    <a:pt x="3214723" y="13076"/>
                  </a:lnTo>
                  <a:lnTo>
                    <a:pt x="3272141" y="9102"/>
                  </a:lnTo>
                  <a:lnTo>
                    <a:pt x="3329947" y="5805"/>
                  </a:lnTo>
                  <a:lnTo>
                    <a:pt x="3388010" y="3216"/>
                  </a:lnTo>
                  <a:lnTo>
                    <a:pt x="3446199" y="1366"/>
                  </a:lnTo>
                  <a:lnTo>
                    <a:pt x="3504382" y="283"/>
                  </a:lnTo>
                  <a:lnTo>
                    <a:pt x="3562429" y="0"/>
                  </a:lnTo>
                  <a:lnTo>
                    <a:pt x="3620207" y="544"/>
                  </a:lnTo>
                  <a:lnTo>
                    <a:pt x="3677586" y="1949"/>
                  </a:lnTo>
                  <a:lnTo>
                    <a:pt x="3734434" y="4242"/>
                  </a:lnTo>
                  <a:lnTo>
                    <a:pt x="3790620" y="7455"/>
                  </a:lnTo>
                  <a:lnTo>
                    <a:pt x="3846013" y="11618"/>
                  </a:lnTo>
                  <a:lnTo>
                    <a:pt x="3900482" y="16761"/>
                  </a:lnTo>
                  <a:lnTo>
                    <a:pt x="3953894" y="22915"/>
                  </a:lnTo>
                  <a:lnTo>
                    <a:pt x="4006120" y="30109"/>
                  </a:lnTo>
                  <a:lnTo>
                    <a:pt x="4057027" y="38375"/>
                  </a:lnTo>
                  <a:lnTo>
                    <a:pt x="4106485" y="47741"/>
                  </a:lnTo>
                  <a:lnTo>
                    <a:pt x="4154361" y="58239"/>
                  </a:lnTo>
                  <a:lnTo>
                    <a:pt x="4200526" y="69899"/>
                  </a:lnTo>
                  <a:lnTo>
                    <a:pt x="4244847" y="82751"/>
                  </a:lnTo>
                  <a:lnTo>
                    <a:pt x="4287193" y="96825"/>
                  </a:lnTo>
                  <a:lnTo>
                    <a:pt x="4327433" y="112152"/>
                  </a:lnTo>
                  <a:lnTo>
                    <a:pt x="4365436" y="128762"/>
                  </a:lnTo>
                  <a:lnTo>
                    <a:pt x="4401070" y="146685"/>
                  </a:lnTo>
                  <a:lnTo>
                    <a:pt x="4434205" y="165951"/>
                  </a:lnTo>
                  <a:lnTo>
                    <a:pt x="4468650" y="189709"/>
                  </a:lnTo>
                  <a:lnTo>
                    <a:pt x="4501650" y="216765"/>
                  </a:lnTo>
                  <a:lnTo>
                    <a:pt x="4533244" y="246936"/>
                  </a:lnTo>
                  <a:lnTo>
                    <a:pt x="4563474" y="280038"/>
                  </a:lnTo>
                  <a:lnTo>
                    <a:pt x="4592380" y="315889"/>
                  </a:lnTo>
                  <a:lnTo>
                    <a:pt x="4620004" y="354305"/>
                  </a:lnTo>
                  <a:lnTo>
                    <a:pt x="4646387" y="395102"/>
                  </a:lnTo>
                  <a:lnTo>
                    <a:pt x="4671568" y="438099"/>
                  </a:lnTo>
                  <a:lnTo>
                    <a:pt x="4695590" y="483111"/>
                  </a:lnTo>
                  <a:lnTo>
                    <a:pt x="4718493" y="529955"/>
                  </a:lnTo>
                  <a:lnTo>
                    <a:pt x="4740318" y="578448"/>
                  </a:lnTo>
                  <a:lnTo>
                    <a:pt x="4761106" y="628407"/>
                  </a:lnTo>
                  <a:lnTo>
                    <a:pt x="4780898" y="679648"/>
                  </a:lnTo>
                  <a:lnTo>
                    <a:pt x="4799735" y="731989"/>
                  </a:lnTo>
                  <a:lnTo>
                    <a:pt x="4817658" y="785246"/>
                  </a:lnTo>
                  <a:lnTo>
                    <a:pt x="4834707" y="839236"/>
                  </a:lnTo>
                  <a:lnTo>
                    <a:pt x="4850923" y="893775"/>
                  </a:lnTo>
                  <a:lnTo>
                    <a:pt x="4866348" y="948681"/>
                  </a:lnTo>
                  <a:lnTo>
                    <a:pt x="4881022" y="1003770"/>
                  </a:lnTo>
                  <a:lnTo>
                    <a:pt x="4894987" y="1058859"/>
                  </a:lnTo>
                  <a:lnTo>
                    <a:pt x="4908282" y="1113765"/>
                  </a:lnTo>
                  <a:lnTo>
                    <a:pt x="4920950" y="1168305"/>
                  </a:lnTo>
                  <a:lnTo>
                    <a:pt x="4933031" y="1222294"/>
                  </a:lnTo>
                  <a:lnTo>
                    <a:pt x="4944565" y="1275551"/>
                  </a:lnTo>
                  <a:lnTo>
                    <a:pt x="4955595" y="1327892"/>
                  </a:lnTo>
                  <a:lnTo>
                    <a:pt x="4966160" y="1379134"/>
                  </a:lnTo>
                  <a:lnTo>
                    <a:pt x="4976302" y="1429092"/>
                  </a:lnTo>
                  <a:lnTo>
                    <a:pt x="4986061" y="1477586"/>
                  </a:lnTo>
                  <a:lnTo>
                    <a:pt x="4995478" y="1524430"/>
                  </a:lnTo>
                  <a:lnTo>
                    <a:pt x="5004595" y="1569441"/>
                  </a:lnTo>
                  <a:lnTo>
                    <a:pt x="5013453" y="1612438"/>
                  </a:lnTo>
                  <a:lnTo>
                    <a:pt x="5022091" y="1653236"/>
                  </a:lnTo>
                  <a:lnTo>
                    <a:pt x="5030552" y="1691651"/>
                  </a:lnTo>
                  <a:lnTo>
                    <a:pt x="5047103" y="1760604"/>
                  </a:lnTo>
                  <a:lnTo>
                    <a:pt x="5063433" y="1817831"/>
                  </a:lnTo>
                  <a:lnTo>
                    <a:pt x="5094291" y="1902921"/>
                  </a:lnTo>
                  <a:lnTo>
                    <a:pt x="5110747" y="1948251"/>
                  </a:lnTo>
                  <a:lnTo>
                    <a:pt x="5121550" y="1979035"/>
                  </a:lnTo>
                  <a:lnTo>
                    <a:pt x="5127267" y="1996727"/>
                  </a:lnTo>
                  <a:lnTo>
                    <a:pt x="5128463" y="2002782"/>
                  </a:lnTo>
                  <a:lnTo>
                    <a:pt x="5125704" y="1998656"/>
                  </a:lnTo>
                  <a:lnTo>
                    <a:pt x="5099353" y="1939744"/>
                  </a:lnTo>
                  <a:lnTo>
                    <a:pt x="5072383" y="1876242"/>
                  </a:lnTo>
                  <a:lnTo>
                    <a:pt x="5057775" y="184158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1936" y="1321435"/>
              <a:ext cx="1981835" cy="105410"/>
            </a:xfrm>
            <a:custGeom>
              <a:avLst/>
              <a:gdLst/>
              <a:ahLst/>
              <a:cxnLst/>
              <a:rect l="l" t="t" r="r" b="b"/>
              <a:pathLst>
                <a:path w="1981835" h="105409">
                  <a:moveTo>
                    <a:pt x="1955981" y="53268"/>
                  </a:moveTo>
                  <a:lnTo>
                    <a:pt x="1886191" y="93979"/>
                  </a:lnTo>
                  <a:lnTo>
                    <a:pt x="1885175" y="97789"/>
                  </a:lnTo>
                  <a:lnTo>
                    <a:pt x="1886826" y="100837"/>
                  </a:lnTo>
                  <a:lnTo>
                    <a:pt x="1888604" y="103886"/>
                  </a:lnTo>
                  <a:lnTo>
                    <a:pt x="1892541" y="104901"/>
                  </a:lnTo>
                  <a:lnTo>
                    <a:pt x="1970296" y="59562"/>
                  </a:lnTo>
                  <a:lnTo>
                    <a:pt x="1968614" y="59562"/>
                  </a:lnTo>
                  <a:lnTo>
                    <a:pt x="1968614" y="58800"/>
                  </a:lnTo>
                  <a:lnTo>
                    <a:pt x="1965439" y="58800"/>
                  </a:lnTo>
                  <a:lnTo>
                    <a:pt x="1955981" y="53268"/>
                  </a:lnTo>
                  <a:close/>
                </a:path>
                <a:path w="1981835" h="105409">
                  <a:moveTo>
                    <a:pt x="88633" y="0"/>
                  </a:moveTo>
                  <a:lnTo>
                    <a:pt x="0" y="51696"/>
                  </a:lnTo>
                  <a:lnTo>
                    <a:pt x="88506" y="103504"/>
                  </a:lnTo>
                  <a:lnTo>
                    <a:pt x="92443" y="102488"/>
                  </a:lnTo>
                  <a:lnTo>
                    <a:pt x="95999" y="96392"/>
                  </a:lnTo>
                  <a:lnTo>
                    <a:pt x="94983" y="92455"/>
                  </a:lnTo>
                  <a:lnTo>
                    <a:pt x="36013" y="58057"/>
                  </a:lnTo>
                  <a:lnTo>
                    <a:pt x="12560" y="58057"/>
                  </a:lnTo>
                  <a:lnTo>
                    <a:pt x="12560" y="45357"/>
                  </a:lnTo>
                  <a:lnTo>
                    <a:pt x="36006" y="45357"/>
                  </a:lnTo>
                  <a:lnTo>
                    <a:pt x="94983" y="11049"/>
                  </a:lnTo>
                  <a:lnTo>
                    <a:pt x="95999" y="7112"/>
                  </a:lnTo>
                  <a:lnTo>
                    <a:pt x="94221" y="4063"/>
                  </a:lnTo>
                  <a:lnTo>
                    <a:pt x="92570" y="1142"/>
                  </a:lnTo>
                  <a:lnTo>
                    <a:pt x="88633" y="0"/>
                  </a:lnTo>
                  <a:close/>
                </a:path>
                <a:path w="1981835" h="105409">
                  <a:moveTo>
                    <a:pt x="36006" y="45357"/>
                  </a:moveTo>
                  <a:lnTo>
                    <a:pt x="25109" y="51696"/>
                  </a:lnTo>
                  <a:lnTo>
                    <a:pt x="36013" y="58057"/>
                  </a:lnTo>
                  <a:lnTo>
                    <a:pt x="1968614" y="59562"/>
                  </a:lnTo>
                  <a:lnTo>
                    <a:pt x="1945191" y="59562"/>
                  </a:lnTo>
                  <a:lnTo>
                    <a:pt x="1955981" y="53268"/>
                  </a:lnTo>
                  <a:lnTo>
                    <a:pt x="1945030" y="46862"/>
                  </a:lnTo>
                  <a:lnTo>
                    <a:pt x="1968614" y="46862"/>
                  </a:lnTo>
                  <a:lnTo>
                    <a:pt x="36006" y="45357"/>
                  </a:lnTo>
                  <a:close/>
                </a:path>
                <a:path w="1981835" h="105409">
                  <a:moveTo>
                    <a:pt x="1970296" y="46862"/>
                  </a:moveTo>
                  <a:lnTo>
                    <a:pt x="1968614" y="46862"/>
                  </a:lnTo>
                  <a:lnTo>
                    <a:pt x="1968614" y="59562"/>
                  </a:lnTo>
                  <a:lnTo>
                    <a:pt x="1970296" y="59562"/>
                  </a:lnTo>
                  <a:lnTo>
                    <a:pt x="1981091" y="53268"/>
                  </a:lnTo>
                  <a:lnTo>
                    <a:pt x="1981283" y="53268"/>
                  </a:lnTo>
                  <a:lnTo>
                    <a:pt x="1970296" y="46862"/>
                  </a:lnTo>
                  <a:close/>
                </a:path>
                <a:path w="1981835" h="105409">
                  <a:moveTo>
                    <a:pt x="1965439" y="47751"/>
                  </a:moveTo>
                  <a:lnTo>
                    <a:pt x="1955981" y="53268"/>
                  </a:lnTo>
                  <a:lnTo>
                    <a:pt x="1965439" y="58800"/>
                  </a:lnTo>
                  <a:lnTo>
                    <a:pt x="1965439" y="47751"/>
                  </a:lnTo>
                  <a:close/>
                </a:path>
                <a:path w="1981835" h="105409">
                  <a:moveTo>
                    <a:pt x="1968614" y="47751"/>
                  </a:moveTo>
                  <a:lnTo>
                    <a:pt x="1965439" y="47751"/>
                  </a:lnTo>
                  <a:lnTo>
                    <a:pt x="1965439" y="58800"/>
                  </a:lnTo>
                  <a:lnTo>
                    <a:pt x="1968614" y="58800"/>
                  </a:lnTo>
                  <a:lnTo>
                    <a:pt x="1968614" y="47751"/>
                  </a:lnTo>
                  <a:close/>
                </a:path>
                <a:path w="1981835" h="105409">
                  <a:moveTo>
                    <a:pt x="36006" y="45357"/>
                  </a:moveTo>
                  <a:lnTo>
                    <a:pt x="12560" y="45357"/>
                  </a:lnTo>
                  <a:lnTo>
                    <a:pt x="12560" y="58057"/>
                  </a:lnTo>
                  <a:lnTo>
                    <a:pt x="36013" y="58057"/>
                  </a:lnTo>
                  <a:lnTo>
                    <a:pt x="34458" y="57150"/>
                  </a:lnTo>
                  <a:lnTo>
                    <a:pt x="15735" y="57150"/>
                  </a:lnTo>
                  <a:lnTo>
                    <a:pt x="15735" y="46227"/>
                  </a:lnTo>
                  <a:lnTo>
                    <a:pt x="34510" y="46227"/>
                  </a:lnTo>
                  <a:lnTo>
                    <a:pt x="36006" y="45357"/>
                  </a:lnTo>
                  <a:close/>
                </a:path>
                <a:path w="1981835" h="105409">
                  <a:moveTo>
                    <a:pt x="15735" y="46227"/>
                  </a:moveTo>
                  <a:lnTo>
                    <a:pt x="15735" y="57150"/>
                  </a:lnTo>
                  <a:lnTo>
                    <a:pt x="25109" y="51696"/>
                  </a:lnTo>
                  <a:lnTo>
                    <a:pt x="15735" y="46227"/>
                  </a:lnTo>
                  <a:close/>
                </a:path>
                <a:path w="1981835" h="105409">
                  <a:moveTo>
                    <a:pt x="25109" y="51696"/>
                  </a:moveTo>
                  <a:lnTo>
                    <a:pt x="15735" y="57150"/>
                  </a:lnTo>
                  <a:lnTo>
                    <a:pt x="34458" y="57150"/>
                  </a:lnTo>
                  <a:lnTo>
                    <a:pt x="25109" y="51696"/>
                  </a:lnTo>
                  <a:close/>
                </a:path>
                <a:path w="1981835" h="105409">
                  <a:moveTo>
                    <a:pt x="1892668" y="1524"/>
                  </a:moveTo>
                  <a:lnTo>
                    <a:pt x="1888731" y="2539"/>
                  </a:lnTo>
                  <a:lnTo>
                    <a:pt x="1885175" y="8636"/>
                  </a:lnTo>
                  <a:lnTo>
                    <a:pt x="1886191" y="12445"/>
                  </a:lnTo>
                  <a:lnTo>
                    <a:pt x="1955981" y="53268"/>
                  </a:lnTo>
                  <a:lnTo>
                    <a:pt x="1965439" y="47751"/>
                  </a:lnTo>
                  <a:lnTo>
                    <a:pt x="1968614" y="47751"/>
                  </a:lnTo>
                  <a:lnTo>
                    <a:pt x="1968614" y="46862"/>
                  </a:lnTo>
                  <a:lnTo>
                    <a:pt x="1970296" y="46862"/>
                  </a:lnTo>
                  <a:lnTo>
                    <a:pt x="1895589" y="3301"/>
                  </a:lnTo>
                  <a:lnTo>
                    <a:pt x="1892668" y="1524"/>
                  </a:lnTo>
                  <a:close/>
                </a:path>
                <a:path w="1981835" h="105409">
                  <a:moveTo>
                    <a:pt x="34510" y="46227"/>
                  </a:moveTo>
                  <a:lnTo>
                    <a:pt x="15735" y="46227"/>
                  </a:lnTo>
                  <a:lnTo>
                    <a:pt x="25109" y="51696"/>
                  </a:lnTo>
                  <a:lnTo>
                    <a:pt x="34510" y="462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78124" y="1525524"/>
              <a:ext cx="1771650" cy="1981200"/>
            </a:xfrm>
            <a:custGeom>
              <a:avLst/>
              <a:gdLst/>
              <a:ahLst/>
              <a:cxnLst/>
              <a:rect l="l" t="t" r="r" b="b"/>
              <a:pathLst>
                <a:path w="1771650" h="1981200">
                  <a:moveTo>
                    <a:pt x="1295400" y="0"/>
                  </a:moveTo>
                  <a:lnTo>
                    <a:pt x="1771650" y="1981200"/>
                  </a:lnTo>
                </a:path>
                <a:path w="1771650" h="1981200">
                  <a:moveTo>
                    <a:pt x="304800" y="0"/>
                  </a:moveTo>
                  <a:lnTo>
                    <a:pt x="0" y="1981200"/>
                  </a:lnTo>
                </a:path>
              </a:pathLst>
            </a:custGeom>
            <a:ln w="39624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82924" y="1525524"/>
              <a:ext cx="990600" cy="1905"/>
            </a:xfrm>
            <a:custGeom>
              <a:avLst/>
              <a:gdLst/>
              <a:ahLst/>
              <a:cxnLst/>
              <a:rect l="l" t="t" r="r" b="b"/>
              <a:pathLst>
                <a:path w="990600" h="1905">
                  <a:moveTo>
                    <a:pt x="0" y="0"/>
                  </a:moveTo>
                  <a:lnTo>
                    <a:pt x="990600" y="1650"/>
                  </a:lnTo>
                </a:path>
              </a:pathLst>
            </a:custGeom>
            <a:ln w="39624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82639" y="1589178"/>
              <a:ext cx="991235" cy="179070"/>
            </a:xfrm>
            <a:custGeom>
              <a:avLst/>
              <a:gdLst/>
              <a:ahLst/>
              <a:cxnLst/>
              <a:rect l="l" t="t" r="r" b="b"/>
              <a:pathLst>
                <a:path w="991235" h="179069">
                  <a:moveTo>
                    <a:pt x="912355" y="90269"/>
                  </a:moveTo>
                  <a:lnTo>
                    <a:pt x="822736" y="142339"/>
                  </a:lnTo>
                  <a:lnTo>
                    <a:pt x="816819" y="147530"/>
                  </a:lnTo>
                  <a:lnTo>
                    <a:pt x="813497" y="154340"/>
                  </a:lnTo>
                  <a:lnTo>
                    <a:pt x="813054" y="160895"/>
                  </a:lnTo>
                  <a:lnTo>
                    <a:pt x="812985" y="161913"/>
                  </a:lnTo>
                  <a:lnTo>
                    <a:pt x="815497" y="169390"/>
                  </a:lnTo>
                  <a:lnTo>
                    <a:pt x="820762" y="175252"/>
                  </a:lnTo>
                  <a:lnTo>
                    <a:pt x="827610" y="178565"/>
                  </a:lnTo>
                  <a:lnTo>
                    <a:pt x="835196" y="179070"/>
                  </a:lnTo>
                  <a:lnTo>
                    <a:pt x="842675" y="176502"/>
                  </a:lnTo>
                  <a:lnTo>
                    <a:pt x="956931" y="110081"/>
                  </a:lnTo>
                  <a:lnTo>
                    <a:pt x="951641" y="110081"/>
                  </a:lnTo>
                  <a:lnTo>
                    <a:pt x="951641" y="107414"/>
                  </a:lnTo>
                  <a:lnTo>
                    <a:pt x="941608" y="107414"/>
                  </a:lnTo>
                  <a:lnTo>
                    <a:pt x="912355" y="90269"/>
                  </a:lnTo>
                  <a:close/>
                </a:path>
                <a:path w="991235" h="179069">
                  <a:moveTo>
                    <a:pt x="155972" y="0"/>
                  </a:moveTo>
                  <a:lnTo>
                    <a:pt x="148493" y="2512"/>
                  </a:lnTo>
                  <a:lnTo>
                    <a:pt x="0" y="88836"/>
                  </a:lnTo>
                  <a:lnTo>
                    <a:pt x="314" y="88836"/>
                  </a:lnTo>
                  <a:lnTo>
                    <a:pt x="148239" y="175486"/>
                  </a:lnTo>
                  <a:lnTo>
                    <a:pt x="155718" y="178000"/>
                  </a:lnTo>
                  <a:lnTo>
                    <a:pt x="163305" y="177502"/>
                  </a:lnTo>
                  <a:lnTo>
                    <a:pt x="170153" y="174218"/>
                  </a:lnTo>
                  <a:lnTo>
                    <a:pt x="175417" y="168374"/>
                  </a:lnTo>
                  <a:lnTo>
                    <a:pt x="177931" y="160895"/>
                  </a:lnTo>
                  <a:lnTo>
                    <a:pt x="177501" y="154340"/>
                  </a:lnTo>
                  <a:lnTo>
                    <a:pt x="177433" y="153308"/>
                  </a:lnTo>
                  <a:lnTo>
                    <a:pt x="174149" y="146460"/>
                  </a:lnTo>
                  <a:lnTo>
                    <a:pt x="168305" y="141196"/>
                  </a:lnTo>
                  <a:lnTo>
                    <a:pt x="112724" y="108679"/>
                  </a:lnTo>
                  <a:lnTo>
                    <a:pt x="39527" y="108679"/>
                  </a:lnTo>
                  <a:lnTo>
                    <a:pt x="39527" y="69055"/>
                  </a:lnTo>
                  <a:lnTo>
                    <a:pt x="112878" y="69055"/>
                  </a:lnTo>
                  <a:lnTo>
                    <a:pt x="168432" y="36802"/>
                  </a:lnTo>
                  <a:lnTo>
                    <a:pt x="174350" y="31593"/>
                  </a:lnTo>
                  <a:lnTo>
                    <a:pt x="177672" y="24753"/>
                  </a:lnTo>
                  <a:lnTo>
                    <a:pt x="178115" y="18190"/>
                  </a:lnTo>
                  <a:lnTo>
                    <a:pt x="178183" y="17174"/>
                  </a:lnTo>
                  <a:lnTo>
                    <a:pt x="175671" y="9751"/>
                  </a:lnTo>
                  <a:lnTo>
                    <a:pt x="170407" y="3833"/>
                  </a:lnTo>
                  <a:lnTo>
                    <a:pt x="163559" y="511"/>
                  </a:lnTo>
                  <a:lnTo>
                    <a:pt x="155972" y="0"/>
                  </a:lnTo>
                  <a:close/>
                </a:path>
                <a:path w="991235" h="179069">
                  <a:moveTo>
                    <a:pt x="112878" y="69055"/>
                  </a:moveTo>
                  <a:lnTo>
                    <a:pt x="78806" y="88836"/>
                  </a:lnTo>
                  <a:lnTo>
                    <a:pt x="112724" y="108679"/>
                  </a:lnTo>
                  <a:lnTo>
                    <a:pt x="951641" y="110081"/>
                  </a:lnTo>
                  <a:lnTo>
                    <a:pt x="878196" y="110081"/>
                  </a:lnTo>
                  <a:lnTo>
                    <a:pt x="912258" y="90269"/>
                  </a:lnTo>
                  <a:lnTo>
                    <a:pt x="909912" y="88836"/>
                  </a:lnTo>
                  <a:lnTo>
                    <a:pt x="878552" y="70457"/>
                  </a:lnTo>
                  <a:lnTo>
                    <a:pt x="951641" y="70457"/>
                  </a:lnTo>
                  <a:lnTo>
                    <a:pt x="112878" y="69055"/>
                  </a:lnTo>
                  <a:close/>
                </a:path>
                <a:path w="991235" h="179069">
                  <a:moveTo>
                    <a:pt x="957139" y="70457"/>
                  </a:moveTo>
                  <a:lnTo>
                    <a:pt x="951641" y="70457"/>
                  </a:lnTo>
                  <a:lnTo>
                    <a:pt x="951641" y="110081"/>
                  </a:lnTo>
                  <a:lnTo>
                    <a:pt x="956931" y="110081"/>
                  </a:lnTo>
                  <a:lnTo>
                    <a:pt x="991011" y="90269"/>
                  </a:lnTo>
                  <a:lnTo>
                    <a:pt x="957139" y="70457"/>
                  </a:lnTo>
                  <a:close/>
                </a:path>
                <a:path w="991235" h="179069">
                  <a:moveTo>
                    <a:pt x="112878" y="69055"/>
                  </a:moveTo>
                  <a:lnTo>
                    <a:pt x="39527" y="69055"/>
                  </a:lnTo>
                  <a:lnTo>
                    <a:pt x="39527" y="108679"/>
                  </a:lnTo>
                  <a:lnTo>
                    <a:pt x="112724" y="108679"/>
                  </a:lnTo>
                  <a:lnTo>
                    <a:pt x="107956" y="105890"/>
                  </a:lnTo>
                  <a:lnTo>
                    <a:pt x="49433" y="105890"/>
                  </a:lnTo>
                  <a:lnTo>
                    <a:pt x="49560" y="71727"/>
                  </a:lnTo>
                  <a:lnTo>
                    <a:pt x="108277" y="71727"/>
                  </a:lnTo>
                  <a:lnTo>
                    <a:pt x="112878" y="69055"/>
                  </a:lnTo>
                  <a:close/>
                </a:path>
                <a:path w="991235" h="179069">
                  <a:moveTo>
                    <a:pt x="941735" y="73124"/>
                  </a:moveTo>
                  <a:lnTo>
                    <a:pt x="914721" y="88836"/>
                  </a:lnTo>
                  <a:lnTo>
                    <a:pt x="912355" y="90269"/>
                  </a:lnTo>
                  <a:lnTo>
                    <a:pt x="941608" y="107414"/>
                  </a:lnTo>
                  <a:lnTo>
                    <a:pt x="941735" y="73124"/>
                  </a:lnTo>
                  <a:close/>
                </a:path>
                <a:path w="991235" h="179069">
                  <a:moveTo>
                    <a:pt x="951641" y="73124"/>
                  </a:moveTo>
                  <a:lnTo>
                    <a:pt x="941735" y="73124"/>
                  </a:lnTo>
                  <a:lnTo>
                    <a:pt x="941608" y="107414"/>
                  </a:lnTo>
                  <a:lnTo>
                    <a:pt x="951641" y="107414"/>
                  </a:lnTo>
                  <a:lnTo>
                    <a:pt x="951641" y="73124"/>
                  </a:lnTo>
                  <a:close/>
                </a:path>
                <a:path w="991235" h="179069">
                  <a:moveTo>
                    <a:pt x="49560" y="71727"/>
                  </a:moveTo>
                  <a:lnTo>
                    <a:pt x="49433" y="105890"/>
                  </a:lnTo>
                  <a:lnTo>
                    <a:pt x="78806" y="88836"/>
                  </a:lnTo>
                  <a:lnTo>
                    <a:pt x="49560" y="71727"/>
                  </a:lnTo>
                  <a:close/>
                </a:path>
                <a:path w="991235" h="179069">
                  <a:moveTo>
                    <a:pt x="78806" y="88836"/>
                  </a:moveTo>
                  <a:lnTo>
                    <a:pt x="49433" y="105890"/>
                  </a:lnTo>
                  <a:lnTo>
                    <a:pt x="107956" y="105890"/>
                  </a:lnTo>
                  <a:lnTo>
                    <a:pt x="78806" y="88836"/>
                  </a:lnTo>
                  <a:close/>
                </a:path>
                <a:path w="991235" h="179069">
                  <a:moveTo>
                    <a:pt x="835450" y="1069"/>
                  </a:moveTo>
                  <a:lnTo>
                    <a:pt x="827864" y="1543"/>
                  </a:lnTo>
                  <a:lnTo>
                    <a:pt x="821016" y="4851"/>
                  </a:lnTo>
                  <a:lnTo>
                    <a:pt x="815751" y="10767"/>
                  </a:lnTo>
                  <a:lnTo>
                    <a:pt x="813237" y="18190"/>
                  </a:lnTo>
                  <a:lnTo>
                    <a:pt x="813668" y="24753"/>
                  </a:lnTo>
                  <a:lnTo>
                    <a:pt x="813735" y="25769"/>
                  </a:lnTo>
                  <a:lnTo>
                    <a:pt x="817019" y="32609"/>
                  </a:lnTo>
                  <a:lnTo>
                    <a:pt x="822863" y="37818"/>
                  </a:lnTo>
                  <a:lnTo>
                    <a:pt x="912355" y="90269"/>
                  </a:lnTo>
                  <a:lnTo>
                    <a:pt x="914721" y="88836"/>
                  </a:lnTo>
                  <a:lnTo>
                    <a:pt x="941735" y="73124"/>
                  </a:lnTo>
                  <a:lnTo>
                    <a:pt x="951641" y="73124"/>
                  </a:lnTo>
                  <a:lnTo>
                    <a:pt x="951641" y="70457"/>
                  </a:lnTo>
                  <a:lnTo>
                    <a:pt x="957139" y="70457"/>
                  </a:lnTo>
                  <a:lnTo>
                    <a:pt x="842929" y="3655"/>
                  </a:lnTo>
                  <a:lnTo>
                    <a:pt x="835450" y="1069"/>
                  </a:lnTo>
                  <a:close/>
                </a:path>
                <a:path w="991235" h="179069">
                  <a:moveTo>
                    <a:pt x="108277" y="71727"/>
                  </a:moveTo>
                  <a:lnTo>
                    <a:pt x="49560" y="71727"/>
                  </a:lnTo>
                  <a:lnTo>
                    <a:pt x="78806" y="88836"/>
                  </a:lnTo>
                  <a:lnTo>
                    <a:pt x="108277" y="71727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827648" y="906175"/>
            <a:ext cx="413190" cy="1616219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600" dirty="0">
                <a:solidFill>
                  <a:srgbClr val="00AF50"/>
                </a:solidFill>
                <a:latin typeface="Calibri"/>
                <a:cs typeface="Calibri"/>
              </a:rPr>
              <a:t>Channel</a:t>
            </a:r>
            <a:r>
              <a:rPr sz="1600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AF50"/>
                </a:solidFill>
                <a:latin typeface="Calibri"/>
                <a:cs typeface="Calibri"/>
              </a:rPr>
              <a:t>frequency</a:t>
            </a:r>
            <a:r>
              <a:rPr sz="16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alibri"/>
                <a:cs typeface="Calibri"/>
              </a:rPr>
              <a:t>response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14009" y="1161964"/>
            <a:ext cx="2413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0" dirty="0">
                <a:latin typeface="Arial"/>
                <a:cs typeface="Arial"/>
              </a:rPr>
              <a:t>W</a:t>
            </a:r>
            <a:endParaRPr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9646" y="507076"/>
            <a:ext cx="4573449" cy="164592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853298" y="4170564"/>
            <a:ext cx="394970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00" spc="-20" dirty="0">
                <a:solidFill>
                  <a:srgbClr val="00AF50"/>
                </a:solidFill>
                <a:latin typeface="Calibri"/>
                <a:cs typeface="Calibri"/>
              </a:rPr>
              <a:t>Freq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209802" y="2597728"/>
            <a:ext cx="5983605" cy="1686791"/>
            <a:chOff x="685800" y="3810000"/>
            <a:chExt cx="5983605" cy="2473960"/>
          </a:xfrm>
        </p:grpSpPr>
        <p:sp>
          <p:nvSpPr>
            <p:cNvPr id="22" name="object 22"/>
            <p:cNvSpPr/>
            <p:nvPr/>
          </p:nvSpPr>
          <p:spPr>
            <a:xfrm>
              <a:off x="819873" y="3945762"/>
              <a:ext cx="5849620" cy="2338070"/>
            </a:xfrm>
            <a:custGeom>
              <a:avLst/>
              <a:gdLst/>
              <a:ahLst/>
              <a:cxnLst/>
              <a:rect l="l" t="t" r="r" b="b"/>
              <a:pathLst>
                <a:path w="5849620" h="2338070">
                  <a:moveTo>
                    <a:pt x="4402963" y="53276"/>
                  </a:moveTo>
                  <a:lnTo>
                    <a:pt x="4391977" y="46863"/>
                  </a:lnTo>
                  <a:lnTo>
                    <a:pt x="4317276" y="3302"/>
                  </a:lnTo>
                  <a:lnTo>
                    <a:pt x="4314355" y="1524"/>
                  </a:lnTo>
                  <a:lnTo>
                    <a:pt x="4310418" y="2540"/>
                  </a:lnTo>
                  <a:lnTo>
                    <a:pt x="4306862" y="8636"/>
                  </a:lnTo>
                  <a:lnTo>
                    <a:pt x="4307878" y="12446"/>
                  </a:lnTo>
                  <a:lnTo>
                    <a:pt x="4366666" y="46850"/>
                  </a:lnTo>
                  <a:lnTo>
                    <a:pt x="2457691" y="45364"/>
                  </a:lnTo>
                  <a:lnTo>
                    <a:pt x="2446794" y="51701"/>
                  </a:lnTo>
                  <a:lnTo>
                    <a:pt x="2456192" y="46228"/>
                  </a:lnTo>
                  <a:lnTo>
                    <a:pt x="2457691" y="45364"/>
                  </a:lnTo>
                  <a:lnTo>
                    <a:pt x="2516670" y="11049"/>
                  </a:lnTo>
                  <a:lnTo>
                    <a:pt x="2517686" y="7112"/>
                  </a:lnTo>
                  <a:lnTo>
                    <a:pt x="2515908" y="4064"/>
                  </a:lnTo>
                  <a:lnTo>
                    <a:pt x="2514257" y="1143"/>
                  </a:lnTo>
                  <a:lnTo>
                    <a:pt x="2510320" y="0"/>
                  </a:lnTo>
                  <a:lnTo>
                    <a:pt x="2421686" y="51701"/>
                  </a:lnTo>
                  <a:lnTo>
                    <a:pt x="2510193" y="103505"/>
                  </a:lnTo>
                  <a:lnTo>
                    <a:pt x="2514130" y="102489"/>
                  </a:lnTo>
                  <a:lnTo>
                    <a:pt x="2517686" y="96393"/>
                  </a:lnTo>
                  <a:lnTo>
                    <a:pt x="2516670" y="92456"/>
                  </a:lnTo>
                  <a:lnTo>
                    <a:pt x="2457691" y="58064"/>
                  </a:lnTo>
                  <a:lnTo>
                    <a:pt x="4366895" y="59550"/>
                  </a:lnTo>
                  <a:lnTo>
                    <a:pt x="4390301" y="59563"/>
                  </a:lnTo>
                  <a:lnTo>
                    <a:pt x="4366882" y="59563"/>
                  </a:lnTo>
                  <a:lnTo>
                    <a:pt x="4307878" y="93980"/>
                  </a:lnTo>
                  <a:lnTo>
                    <a:pt x="4306862" y="97790"/>
                  </a:lnTo>
                  <a:lnTo>
                    <a:pt x="4308513" y="100838"/>
                  </a:lnTo>
                  <a:lnTo>
                    <a:pt x="4310291" y="103886"/>
                  </a:lnTo>
                  <a:lnTo>
                    <a:pt x="4314228" y="104902"/>
                  </a:lnTo>
                  <a:lnTo>
                    <a:pt x="4391977" y="59563"/>
                  </a:lnTo>
                  <a:lnTo>
                    <a:pt x="4402772" y="53276"/>
                  </a:lnTo>
                  <a:lnTo>
                    <a:pt x="4402963" y="53276"/>
                  </a:lnTo>
                  <a:close/>
                </a:path>
                <a:path w="5849620" h="2338070">
                  <a:moveTo>
                    <a:pt x="5849150" y="2188235"/>
                  </a:moveTo>
                  <a:lnTo>
                    <a:pt x="5809462" y="2168372"/>
                  </a:lnTo>
                  <a:lnTo>
                    <a:pt x="5730278" y="2128736"/>
                  </a:lnTo>
                  <a:lnTo>
                    <a:pt x="5756681" y="2168372"/>
                  </a:lnTo>
                  <a:lnTo>
                    <a:pt x="76466" y="2165489"/>
                  </a:lnTo>
                  <a:lnTo>
                    <a:pt x="79235" y="170688"/>
                  </a:lnTo>
                  <a:lnTo>
                    <a:pt x="79273" y="144195"/>
                  </a:lnTo>
                  <a:lnTo>
                    <a:pt x="118872" y="170688"/>
                  </a:lnTo>
                  <a:lnTo>
                    <a:pt x="99072" y="130937"/>
                  </a:lnTo>
                  <a:lnTo>
                    <a:pt x="59601" y="51689"/>
                  </a:lnTo>
                  <a:lnTo>
                    <a:pt x="0" y="170434"/>
                  </a:lnTo>
                  <a:lnTo>
                    <a:pt x="39522" y="144195"/>
                  </a:lnTo>
                  <a:lnTo>
                    <a:pt x="39674" y="130937"/>
                  </a:lnTo>
                  <a:lnTo>
                    <a:pt x="39649" y="144195"/>
                  </a:lnTo>
                  <a:lnTo>
                    <a:pt x="36601" y="2337714"/>
                  </a:lnTo>
                  <a:lnTo>
                    <a:pt x="76238" y="2337714"/>
                  </a:lnTo>
                  <a:lnTo>
                    <a:pt x="76415" y="2205113"/>
                  </a:lnTo>
                  <a:lnTo>
                    <a:pt x="5756643" y="2207996"/>
                  </a:lnTo>
                  <a:lnTo>
                    <a:pt x="5769864" y="2188235"/>
                  </a:lnTo>
                  <a:lnTo>
                    <a:pt x="5757253" y="2169223"/>
                  </a:lnTo>
                  <a:lnTo>
                    <a:pt x="5769902" y="2188197"/>
                  </a:lnTo>
                  <a:lnTo>
                    <a:pt x="5756668" y="2207996"/>
                  </a:lnTo>
                  <a:lnTo>
                    <a:pt x="5730151" y="2247608"/>
                  </a:lnTo>
                  <a:lnTo>
                    <a:pt x="5809539" y="2207996"/>
                  </a:lnTo>
                  <a:lnTo>
                    <a:pt x="5849150" y="21882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" y="3810000"/>
              <a:ext cx="731519" cy="3048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79347" y="4110954"/>
              <a:ext cx="5125720" cy="2005964"/>
            </a:xfrm>
            <a:custGeom>
              <a:avLst/>
              <a:gdLst/>
              <a:ahLst/>
              <a:cxnLst/>
              <a:rect l="l" t="t" r="r" b="b"/>
              <a:pathLst>
                <a:path w="5125720" h="2005964">
                  <a:moveTo>
                    <a:pt x="0" y="277149"/>
                  </a:moveTo>
                  <a:lnTo>
                    <a:pt x="31144" y="328022"/>
                  </a:lnTo>
                  <a:lnTo>
                    <a:pt x="62195" y="378766"/>
                  </a:lnTo>
                  <a:lnTo>
                    <a:pt x="93058" y="429252"/>
                  </a:lnTo>
                  <a:lnTo>
                    <a:pt x="123640" y="479348"/>
                  </a:lnTo>
                  <a:lnTo>
                    <a:pt x="153847" y="528924"/>
                  </a:lnTo>
                  <a:lnTo>
                    <a:pt x="183585" y="577849"/>
                  </a:lnTo>
                  <a:lnTo>
                    <a:pt x="212760" y="625993"/>
                  </a:lnTo>
                  <a:lnTo>
                    <a:pt x="241278" y="673226"/>
                  </a:lnTo>
                  <a:lnTo>
                    <a:pt x="269045" y="719417"/>
                  </a:lnTo>
                  <a:lnTo>
                    <a:pt x="295967" y="764434"/>
                  </a:lnTo>
                  <a:lnTo>
                    <a:pt x="321951" y="808149"/>
                  </a:lnTo>
                  <a:lnTo>
                    <a:pt x="346902" y="850429"/>
                  </a:lnTo>
                  <a:lnTo>
                    <a:pt x="370726" y="891146"/>
                  </a:lnTo>
                  <a:lnTo>
                    <a:pt x="393330" y="930167"/>
                  </a:lnTo>
                  <a:lnTo>
                    <a:pt x="414620" y="967363"/>
                  </a:lnTo>
                  <a:lnTo>
                    <a:pt x="434502" y="1002604"/>
                  </a:lnTo>
                  <a:lnTo>
                    <a:pt x="469665" y="1066694"/>
                  </a:lnTo>
                  <a:lnTo>
                    <a:pt x="503104" y="1138888"/>
                  </a:lnTo>
                  <a:lnTo>
                    <a:pt x="514145" y="1182176"/>
                  </a:lnTo>
                  <a:lnTo>
                    <a:pt x="519324" y="1223873"/>
                  </a:lnTo>
                  <a:lnTo>
                    <a:pt x="520083" y="1262702"/>
                  </a:lnTo>
                  <a:lnTo>
                    <a:pt x="517865" y="1297390"/>
                  </a:lnTo>
                  <a:lnTo>
                    <a:pt x="514111" y="1326661"/>
                  </a:lnTo>
                  <a:lnTo>
                    <a:pt x="510265" y="1349241"/>
                  </a:lnTo>
                  <a:lnTo>
                    <a:pt x="507769" y="1363855"/>
                  </a:lnTo>
                  <a:lnTo>
                    <a:pt x="508065" y="1369228"/>
                  </a:lnTo>
                  <a:lnTo>
                    <a:pt x="540131" y="1317152"/>
                  </a:lnTo>
                  <a:lnTo>
                    <a:pt x="562594" y="1268769"/>
                  </a:lnTo>
                  <a:lnTo>
                    <a:pt x="588776" y="1197633"/>
                  </a:lnTo>
                  <a:lnTo>
                    <a:pt x="603149" y="1154939"/>
                  </a:lnTo>
                  <a:lnTo>
                    <a:pt x="618316" y="1108241"/>
                  </a:lnTo>
                  <a:lnTo>
                    <a:pt x="634231" y="1058103"/>
                  </a:lnTo>
                  <a:lnTo>
                    <a:pt x="650850" y="1005087"/>
                  </a:lnTo>
                  <a:lnTo>
                    <a:pt x="668126" y="949754"/>
                  </a:lnTo>
                  <a:lnTo>
                    <a:pt x="686016" y="892665"/>
                  </a:lnTo>
                  <a:lnTo>
                    <a:pt x="704473" y="834384"/>
                  </a:lnTo>
                  <a:lnTo>
                    <a:pt x="723452" y="775471"/>
                  </a:lnTo>
                  <a:lnTo>
                    <a:pt x="742908" y="716489"/>
                  </a:lnTo>
                  <a:lnTo>
                    <a:pt x="762795" y="657999"/>
                  </a:lnTo>
                  <a:lnTo>
                    <a:pt x="783068" y="600564"/>
                  </a:lnTo>
                  <a:lnTo>
                    <a:pt x="803683" y="544745"/>
                  </a:lnTo>
                  <a:lnTo>
                    <a:pt x="824593" y="491104"/>
                  </a:lnTo>
                  <a:lnTo>
                    <a:pt x="845753" y="440203"/>
                  </a:lnTo>
                  <a:lnTo>
                    <a:pt x="867118" y="392603"/>
                  </a:lnTo>
                  <a:lnTo>
                    <a:pt x="888643" y="348867"/>
                  </a:lnTo>
                  <a:lnTo>
                    <a:pt x="910282" y="309557"/>
                  </a:lnTo>
                  <a:lnTo>
                    <a:pt x="931990" y="275234"/>
                  </a:lnTo>
                  <a:lnTo>
                    <a:pt x="975433" y="223797"/>
                  </a:lnTo>
                  <a:lnTo>
                    <a:pt x="1024921" y="197244"/>
                  </a:lnTo>
                  <a:lnTo>
                    <a:pt x="1054299" y="196119"/>
                  </a:lnTo>
                  <a:lnTo>
                    <a:pt x="1085011" y="203470"/>
                  </a:lnTo>
                  <a:lnTo>
                    <a:pt x="1149653" y="239750"/>
                  </a:lnTo>
                  <a:lnTo>
                    <a:pt x="1183188" y="266755"/>
                  </a:lnTo>
                  <a:lnTo>
                    <a:pt x="1217269" y="298388"/>
                  </a:lnTo>
                  <a:lnTo>
                    <a:pt x="1251698" y="333687"/>
                  </a:lnTo>
                  <a:lnTo>
                    <a:pt x="1286280" y="371691"/>
                  </a:lnTo>
                  <a:lnTo>
                    <a:pt x="1320815" y="411436"/>
                  </a:lnTo>
                  <a:lnTo>
                    <a:pt x="1355108" y="451961"/>
                  </a:lnTo>
                  <a:lnTo>
                    <a:pt x="1388961" y="492304"/>
                  </a:lnTo>
                  <a:lnTo>
                    <a:pt x="1422176" y="531504"/>
                  </a:lnTo>
                  <a:lnTo>
                    <a:pt x="1454557" y="568598"/>
                  </a:lnTo>
                  <a:lnTo>
                    <a:pt x="1485905" y="602624"/>
                  </a:lnTo>
                  <a:lnTo>
                    <a:pt x="1516025" y="632621"/>
                  </a:lnTo>
                  <a:lnTo>
                    <a:pt x="1571787" y="676678"/>
                  </a:lnTo>
                  <a:lnTo>
                    <a:pt x="1620266" y="693074"/>
                  </a:lnTo>
                  <a:lnTo>
                    <a:pt x="1646497" y="686888"/>
                  </a:lnTo>
                  <a:lnTo>
                    <a:pt x="1691093" y="642545"/>
                  </a:lnTo>
                  <a:lnTo>
                    <a:pt x="1710066" y="607821"/>
                  </a:lnTo>
                  <a:lnTo>
                    <a:pt x="1727229" y="567018"/>
                  </a:lnTo>
                  <a:lnTo>
                    <a:pt x="1742884" y="521852"/>
                  </a:lnTo>
                  <a:lnTo>
                    <a:pt x="1757335" y="474038"/>
                  </a:lnTo>
                  <a:lnTo>
                    <a:pt x="1770888" y="425295"/>
                  </a:lnTo>
                  <a:lnTo>
                    <a:pt x="1783845" y="377336"/>
                  </a:lnTo>
                  <a:lnTo>
                    <a:pt x="1796510" y="331881"/>
                  </a:lnTo>
                  <a:lnTo>
                    <a:pt x="1809189" y="290643"/>
                  </a:lnTo>
                  <a:lnTo>
                    <a:pt x="1835799" y="227690"/>
                  </a:lnTo>
                  <a:lnTo>
                    <a:pt x="1866108" y="202206"/>
                  </a:lnTo>
                  <a:lnTo>
                    <a:pt x="1883410" y="207807"/>
                  </a:lnTo>
                  <a:lnTo>
                    <a:pt x="1912089" y="246245"/>
                  </a:lnTo>
                  <a:lnTo>
                    <a:pt x="1942443" y="317804"/>
                  </a:lnTo>
                  <a:lnTo>
                    <a:pt x="1958101" y="363421"/>
                  </a:lnTo>
                  <a:lnTo>
                    <a:pt x="1974003" y="414219"/>
                  </a:lnTo>
                  <a:lnTo>
                    <a:pt x="1990090" y="469164"/>
                  </a:lnTo>
                  <a:lnTo>
                    <a:pt x="2006302" y="527223"/>
                  </a:lnTo>
                  <a:lnTo>
                    <a:pt x="2022582" y="587363"/>
                  </a:lnTo>
                  <a:lnTo>
                    <a:pt x="2038872" y="648551"/>
                  </a:lnTo>
                  <a:lnTo>
                    <a:pt x="2055112" y="709754"/>
                  </a:lnTo>
                  <a:lnTo>
                    <a:pt x="2071244" y="769938"/>
                  </a:lnTo>
                  <a:lnTo>
                    <a:pt x="2087209" y="828070"/>
                  </a:lnTo>
                  <a:lnTo>
                    <a:pt x="2102950" y="883118"/>
                  </a:lnTo>
                  <a:lnTo>
                    <a:pt x="2118408" y="934047"/>
                  </a:lnTo>
                  <a:lnTo>
                    <a:pt x="2133523" y="979825"/>
                  </a:lnTo>
                  <a:lnTo>
                    <a:pt x="2148238" y="1019419"/>
                  </a:lnTo>
                  <a:lnTo>
                    <a:pt x="2176234" y="1075919"/>
                  </a:lnTo>
                  <a:lnTo>
                    <a:pt x="2201926" y="1095283"/>
                  </a:lnTo>
                  <a:lnTo>
                    <a:pt x="2210283" y="1091181"/>
                  </a:lnTo>
                  <a:lnTo>
                    <a:pt x="2215884" y="1080799"/>
                  </a:lnTo>
                  <a:lnTo>
                    <a:pt x="2219064" y="1064605"/>
                  </a:lnTo>
                  <a:lnTo>
                    <a:pt x="2220159" y="1043069"/>
                  </a:lnTo>
                  <a:lnTo>
                    <a:pt x="2219504" y="1016659"/>
                  </a:lnTo>
                  <a:lnTo>
                    <a:pt x="2217435" y="985843"/>
                  </a:lnTo>
                  <a:lnTo>
                    <a:pt x="2214287" y="951091"/>
                  </a:lnTo>
                  <a:lnTo>
                    <a:pt x="2210397" y="912871"/>
                  </a:lnTo>
                  <a:lnTo>
                    <a:pt x="2206099" y="871651"/>
                  </a:lnTo>
                  <a:lnTo>
                    <a:pt x="2201729" y="827901"/>
                  </a:lnTo>
                  <a:lnTo>
                    <a:pt x="2197622" y="782089"/>
                  </a:lnTo>
                  <a:lnTo>
                    <a:pt x="2194115" y="734683"/>
                  </a:lnTo>
                  <a:lnTo>
                    <a:pt x="2191543" y="686153"/>
                  </a:lnTo>
                  <a:lnTo>
                    <a:pt x="2190241" y="636966"/>
                  </a:lnTo>
                  <a:lnTo>
                    <a:pt x="2190546" y="587592"/>
                  </a:lnTo>
                  <a:lnTo>
                    <a:pt x="2192791" y="538500"/>
                  </a:lnTo>
                  <a:lnTo>
                    <a:pt x="2197314" y="490157"/>
                  </a:lnTo>
                  <a:lnTo>
                    <a:pt x="2204449" y="443033"/>
                  </a:lnTo>
                  <a:lnTo>
                    <a:pt x="2214533" y="397597"/>
                  </a:lnTo>
                  <a:lnTo>
                    <a:pt x="2227900" y="354316"/>
                  </a:lnTo>
                  <a:lnTo>
                    <a:pt x="2244887" y="313660"/>
                  </a:lnTo>
                  <a:lnTo>
                    <a:pt x="2265828" y="276097"/>
                  </a:lnTo>
                  <a:lnTo>
                    <a:pt x="2291060" y="242096"/>
                  </a:lnTo>
                  <a:lnTo>
                    <a:pt x="2320918" y="212125"/>
                  </a:lnTo>
                  <a:lnTo>
                    <a:pt x="2355738" y="186654"/>
                  </a:lnTo>
                  <a:lnTo>
                    <a:pt x="2395854" y="166151"/>
                  </a:lnTo>
                  <a:lnTo>
                    <a:pt x="2454528" y="144279"/>
                  </a:lnTo>
                  <a:lnTo>
                    <a:pt x="2523677" y="123058"/>
                  </a:lnTo>
                  <a:lnTo>
                    <a:pt x="2561851" y="112767"/>
                  </a:lnTo>
                  <a:lnTo>
                    <a:pt x="2602251" y="102730"/>
                  </a:lnTo>
                  <a:lnTo>
                    <a:pt x="2644745" y="92976"/>
                  </a:lnTo>
                  <a:lnTo>
                    <a:pt x="2689201" y="83537"/>
                  </a:lnTo>
                  <a:lnTo>
                    <a:pt x="2735488" y="74442"/>
                  </a:lnTo>
                  <a:lnTo>
                    <a:pt x="2783476" y="65723"/>
                  </a:lnTo>
                  <a:lnTo>
                    <a:pt x="2833033" y="57408"/>
                  </a:lnTo>
                  <a:lnTo>
                    <a:pt x="2884028" y="49529"/>
                  </a:lnTo>
                  <a:lnTo>
                    <a:pt x="2936329" y="42117"/>
                  </a:lnTo>
                  <a:lnTo>
                    <a:pt x="2989805" y="35200"/>
                  </a:lnTo>
                  <a:lnTo>
                    <a:pt x="3044326" y="28810"/>
                  </a:lnTo>
                  <a:lnTo>
                    <a:pt x="3099759" y="22977"/>
                  </a:lnTo>
                  <a:lnTo>
                    <a:pt x="3155974" y="17731"/>
                  </a:lnTo>
                  <a:lnTo>
                    <a:pt x="3212840" y="13102"/>
                  </a:lnTo>
                  <a:lnTo>
                    <a:pt x="3270224" y="9122"/>
                  </a:lnTo>
                  <a:lnTo>
                    <a:pt x="3327997" y="5820"/>
                  </a:lnTo>
                  <a:lnTo>
                    <a:pt x="3386026" y="3226"/>
                  </a:lnTo>
                  <a:lnTo>
                    <a:pt x="3444181" y="1371"/>
                  </a:lnTo>
                  <a:lnTo>
                    <a:pt x="3502330" y="286"/>
                  </a:lnTo>
                  <a:lnTo>
                    <a:pt x="3560342" y="0"/>
                  </a:lnTo>
                  <a:lnTo>
                    <a:pt x="3618085" y="543"/>
                  </a:lnTo>
                  <a:lnTo>
                    <a:pt x="3675430" y="1947"/>
                  </a:lnTo>
                  <a:lnTo>
                    <a:pt x="3732244" y="4242"/>
                  </a:lnTo>
                  <a:lnTo>
                    <a:pt x="3788395" y="7457"/>
                  </a:lnTo>
                  <a:lnTo>
                    <a:pt x="3843754" y="11624"/>
                  </a:lnTo>
                  <a:lnTo>
                    <a:pt x="3898189" y="16772"/>
                  </a:lnTo>
                  <a:lnTo>
                    <a:pt x="3951567" y="22932"/>
                  </a:lnTo>
                  <a:lnTo>
                    <a:pt x="4003760" y="30135"/>
                  </a:lnTo>
                  <a:lnTo>
                    <a:pt x="4054634" y="38410"/>
                  </a:lnTo>
                  <a:lnTo>
                    <a:pt x="4104059" y="47787"/>
                  </a:lnTo>
                  <a:lnTo>
                    <a:pt x="4151903" y="58298"/>
                  </a:lnTo>
                  <a:lnTo>
                    <a:pt x="4198036" y="69972"/>
                  </a:lnTo>
                  <a:lnTo>
                    <a:pt x="4242325" y="82841"/>
                  </a:lnTo>
                  <a:lnTo>
                    <a:pt x="4284641" y="96933"/>
                  </a:lnTo>
                  <a:lnTo>
                    <a:pt x="4324851" y="112280"/>
                  </a:lnTo>
                  <a:lnTo>
                    <a:pt x="4362825" y="128912"/>
                  </a:lnTo>
                  <a:lnTo>
                    <a:pt x="4398431" y="146859"/>
                  </a:lnTo>
                  <a:lnTo>
                    <a:pt x="4431538" y="166151"/>
                  </a:lnTo>
                  <a:lnTo>
                    <a:pt x="4465973" y="189941"/>
                  </a:lnTo>
                  <a:lnTo>
                    <a:pt x="4498963" y="217034"/>
                  </a:lnTo>
                  <a:lnTo>
                    <a:pt x="4530547" y="247246"/>
                  </a:lnTo>
                  <a:lnTo>
                    <a:pt x="4560767" y="280394"/>
                  </a:lnTo>
                  <a:lnTo>
                    <a:pt x="4589663" y="316293"/>
                  </a:lnTo>
                  <a:lnTo>
                    <a:pt x="4617277" y="354762"/>
                  </a:lnTo>
                  <a:lnTo>
                    <a:pt x="4643649" y="395615"/>
                  </a:lnTo>
                  <a:lnTo>
                    <a:pt x="4668821" y="438670"/>
                  </a:lnTo>
                  <a:lnTo>
                    <a:pt x="4692833" y="483743"/>
                  </a:lnTo>
                  <a:lnTo>
                    <a:pt x="4715726" y="530651"/>
                  </a:lnTo>
                  <a:lnTo>
                    <a:pt x="4737541" y="579210"/>
                  </a:lnTo>
                  <a:lnTo>
                    <a:pt x="4758319" y="629238"/>
                  </a:lnTo>
                  <a:lnTo>
                    <a:pt x="4778101" y="680549"/>
                  </a:lnTo>
                  <a:lnTo>
                    <a:pt x="4796928" y="732961"/>
                  </a:lnTo>
                  <a:lnTo>
                    <a:pt x="4814840" y="786291"/>
                  </a:lnTo>
                  <a:lnTo>
                    <a:pt x="4831879" y="840354"/>
                  </a:lnTo>
                  <a:lnTo>
                    <a:pt x="4848086" y="894968"/>
                  </a:lnTo>
                  <a:lnTo>
                    <a:pt x="4863501" y="949949"/>
                  </a:lnTo>
                  <a:lnTo>
                    <a:pt x="4878165" y="1005113"/>
                  </a:lnTo>
                  <a:lnTo>
                    <a:pt x="4892119" y="1060277"/>
                  </a:lnTo>
                  <a:lnTo>
                    <a:pt x="4905405" y="1115258"/>
                  </a:lnTo>
                  <a:lnTo>
                    <a:pt x="4918063" y="1169872"/>
                  </a:lnTo>
                  <a:lnTo>
                    <a:pt x="4930133" y="1223935"/>
                  </a:lnTo>
                  <a:lnTo>
                    <a:pt x="4941658" y="1277265"/>
                  </a:lnTo>
                  <a:lnTo>
                    <a:pt x="4952677" y="1329677"/>
                  </a:lnTo>
                  <a:lnTo>
                    <a:pt x="4963232" y="1380989"/>
                  </a:lnTo>
                  <a:lnTo>
                    <a:pt x="4973364" y="1431016"/>
                  </a:lnTo>
                  <a:lnTo>
                    <a:pt x="4983113" y="1479575"/>
                  </a:lnTo>
                  <a:lnTo>
                    <a:pt x="4992521" y="1526483"/>
                  </a:lnTo>
                  <a:lnTo>
                    <a:pt x="5001628" y="1571556"/>
                  </a:lnTo>
                  <a:lnTo>
                    <a:pt x="5010475" y="1614611"/>
                  </a:lnTo>
                  <a:lnTo>
                    <a:pt x="5019103" y="1655465"/>
                  </a:lnTo>
                  <a:lnTo>
                    <a:pt x="5027554" y="1693933"/>
                  </a:lnTo>
                  <a:lnTo>
                    <a:pt x="5044085" y="1762980"/>
                  </a:lnTo>
                  <a:lnTo>
                    <a:pt x="5060395" y="1820285"/>
                  </a:lnTo>
                  <a:lnTo>
                    <a:pt x="5091246" y="1905492"/>
                  </a:lnTo>
                  <a:lnTo>
                    <a:pt x="5107708" y="1950887"/>
                  </a:lnTo>
                  <a:lnTo>
                    <a:pt x="5118520" y="1981717"/>
                  </a:lnTo>
                  <a:lnTo>
                    <a:pt x="5124247" y="1999438"/>
                  </a:lnTo>
                  <a:lnTo>
                    <a:pt x="5125453" y="2005507"/>
                  </a:lnTo>
                  <a:lnTo>
                    <a:pt x="5122703" y="2001380"/>
                  </a:lnTo>
                  <a:lnTo>
                    <a:pt x="5096359" y="1942391"/>
                  </a:lnTo>
                  <a:lnTo>
                    <a:pt x="5069362" y="1878789"/>
                  </a:lnTo>
                  <a:lnTo>
                    <a:pt x="5054727" y="1844075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73523" y="4116324"/>
              <a:ext cx="381000" cy="1981200"/>
            </a:xfrm>
            <a:custGeom>
              <a:avLst/>
              <a:gdLst/>
              <a:ahLst/>
              <a:cxnLst/>
              <a:rect l="l" t="t" r="r" b="b"/>
              <a:pathLst>
                <a:path w="381000" h="1981200">
                  <a:moveTo>
                    <a:pt x="0" y="0"/>
                  </a:moveTo>
                  <a:lnTo>
                    <a:pt x="381000" y="1981200"/>
                  </a:lnTo>
                </a:path>
              </a:pathLst>
            </a:custGeom>
            <a:ln w="39624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92124" y="4116324"/>
              <a:ext cx="3619500" cy="1981200"/>
            </a:xfrm>
            <a:custGeom>
              <a:avLst/>
              <a:gdLst/>
              <a:ahLst/>
              <a:cxnLst/>
              <a:rect l="l" t="t" r="r" b="b"/>
              <a:pathLst>
                <a:path w="3619500" h="1981200">
                  <a:moveTo>
                    <a:pt x="304800" y="0"/>
                  </a:moveTo>
                  <a:lnTo>
                    <a:pt x="0" y="1981200"/>
                  </a:lnTo>
                </a:path>
                <a:path w="3619500" h="1981200">
                  <a:moveTo>
                    <a:pt x="304800" y="0"/>
                  </a:moveTo>
                  <a:lnTo>
                    <a:pt x="3619500" y="36449"/>
                  </a:lnTo>
                </a:path>
              </a:pathLst>
            </a:custGeom>
            <a:ln w="39624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6797" y="4181469"/>
              <a:ext cx="3315335" cy="211454"/>
            </a:xfrm>
            <a:custGeom>
              <a:avLst/>
              <a:gdLst/>
              <a:ahLst/>
              <a:cxnLst/>
              <a:rect l="l" t="t" r="r" b="b"/>
              <a:pathLst>
                <a:path w="3315335" h="211454">
                  <a:moveTo>
                    <a:pt x="3202051" y="142326"/>
                  </a:moveTo>
                  <a:lnTo>
                    <a:pt x="3146170" y="174122"/>
                  </a:lnTo>
                  <a:lnTo>
                    <a:pt x="3140233" y="179314"/>
                  </a:lnTo>
                  <a:lnTo>
                    <a:pt x="3136868" y="186124"/>
                  </a:lnTo>
                  <a:lnTo>
                    <a:pt x="3136312" y="193696"/>
                  </a:lnTo>
                  <a:lnTo>
                    <a:pt x="3138804" y="201173"/>
                  </a:lnTo>
                  <a:lnTo>
                    <a:pt x="3143922" y="207111"/>
                  </a:lnTo>
                  <a:lnTo>
                    <a:pt x="3150695" y="210476"/>
                  </a:lnTo>
                  <a:lnTo>
                    <a:pt x="3158253" y="211032"/>
                  </a:lnTo>
                  <a:lnTo>
                    <a:pt x="3165729" y="208539"/>
                  </a:lnTo>
                  <a:lnTo>
                    <a:pt x="3280775" y="143134"/>
                  </a:lnTo>
                  <a:lnTo>
                    <a:pt x="3275329" y="143134"/>
                  </a:lnTo>
                  <a:lnTo>
                    <a:pt x="3202051" y="142326"/>
                  </a:lnTo>
                  <a:close/>
                </a:path>
                <a:path w="3315335" h="211454">
                  <a:moveTo>
                    <a:pt x="156700" y="0"/>
                  </a:moveTo>
                  <a:lnTo>
                    <a:pt x="149225" y="2418"/>
                  </a:lnTo>
                  <a:lnTo>
                    <a:pt x="0" y="87254"/>
                  </a:lnTo>
                  <a:lnTo>
                    <a:pt x="147319" y="175392"/>
                  </a:lnTo>
                  <a:lnTo>
                    <a:pt x="154727" y="178000"/>
                  </a:lnTo>
                  <a:lnTo>
                    <a:pt x="162290" y="177583"/>
                  </a:lnTo>
                  <a:lnTo>
                    <a:pt x="169162" y="174357"/>
                  </a:lnTo>
                  <a:lnTo>
                    <a:pt x="174497" y="168534"/>
                  </a:lnTo>
                  <a:lnTo>
                    <a:pt x="177105" y="161109"/>
                  </a:lnTo>
                  <a:lnTo>
                    <a:pt x="176688" y="153517"/>
                  </a:lnTo>
                  <a:lnTo>
                    <a:pt x="173462" y="146639"/>
                  </a:lnTo>
                  <a:lnTo>
                    <a:pt x="167640" y="141356"/>
                  </a:lnTo>
                  <a:lnTo>
                    <a:pt x="112271" y="108254"/>
                  </a:lnTo>
                  <a:lnTo>
                    <a:pt x="39115" y="107447"/>
                  </a:lnTo>
                  <a:lnTo>
                    <a:pt x="39586" y="70744"/>
                  </a:lnTo>
                  <a:lnTo>
                    <a:pt x="39624" y="67823"/>
                  </a:lnTo>
                  <a:lnTo>
                    <a:pt x="114322" y="67823"/>
                  </a:lnTo>
                  <a:lnTo>
                    <a:pt x="168783" y="36835"/>
                  </a:lnTo>
                  <a:lnTo>
                    <a:pt x="174720" y="31718"/>
                  </a:lnTo>
                  <a:lnTo>
                    <a:pt x="178085" y="24945"/>
                  </a:lnTo>
                  <a:lnTo>
                    <a:pt x="178641" y="17387"/>
                  </a:lnTo>
                  <a:lnTo>
                    <a:pt x="176149" y="9911"/>
                  </a:lnTo>
                  <a:lnTo>
                    <a:pt x="171031" y="3972"/>
                  </a:lnTo>
                  <a:lnTo>
                    <a:pt x="164258" y="593"/>
                  </a:lnTo>
                  <a:lnTo>
                    <a:pt x="156700" y="0"/>
                  </a:lnTo>
                  <a:close/>
                </a:path>
                <a:path w="3315335" h="211454">
                  <a:moveTo>
                    <a:pt x="3236223" y="122883"/>
                  </a:moveTo>
                  <a:lnTo>
                    <a:pt x="3202051" y="142326"/>
                  </a:lnTo>
                  <a:lnTo>
                    <a:pt x="3275329" y="143134"/>
                  </a:lnTo>
                  <a:lnTo>
                    <a:pt x="3275365" y="140340"/>
                  </a:lnTo>
                  <a:lnTo>
                    <a:pt x="3265424" y="140340"/>
                  </a:lnTo>
                  <a:lnTo>
                    <a:pt x="3236223" y="122883"/>
                  </a:lnTo>
                  <a:close/>
                </a:path>
                <a:path w="3315335" h="211454">
                  <a:moveTo>
                    <a:pt x="3160226" y="33085"/>
                  </a:moveTo>
                  <a:lnTo>
                    <a:pt x="3152663" y="33502"/>
                  </a:lnTo>
                  <a:lnTo>
                    <a:pt x="3145563" y="36835"/>
                  </a:lnTo>
                  <a:lnTo>
                    <a:pt x="3145693" y="36835"/>
                  </a:lnTo>
                  <a:lnTo>
                    <a:pt x="3140455" y="42550"/>
                  </a:lnTo>
                  <a:lnTo>
                    <a:pt x="3137848" y="49958"/>
                  </a:lnTo>
                  <a:lnTo>
                    <a:pt x="3138265" y="57521"/>
                  </a:lnTo>
                  <a:lnTo>
                    <a:pt x="3141491" y="64392"/>
                  </a:lnTo>
                  <a:lnTo>
                    <a:pt x="3147314" y="69728"/>
                  </a:lnTo>
                  <a:lnTo>
                    <a:pt x="3202466" y="102701"/>
                  </a:lnTo>
                  <a:lnTo>
                    <a:pt x="3275838" y="103510"/>
                  </a:lnTo>
                  <a:lnTo>
                    <a:pt x="3275365" y="140340"/>
                  </a:lnTo>
                  <a:lnTo>
                    <a:pt x="3275329" y="143134"/>
                  </a:lnTo>
                  <a:lnTo>
                    <a:pt x="3280775" y="143134"/>
                  </a:lnTo>
                  <a:lnTo>
                    <a:pt x="3314954" y="123703"/>
                  </a:lnTo>
                  <a:lnTo>
                    <a:pt x="3167633" y="35692"/>
                  </a:lnTo>
                  <a:lnTo>
                    <a:pt x="3160226" y="33085"/>
                  </a:lnTo>
                  <a:close/>
                </a:path>
                <a:path w="3315335" h="211454">
                  <a:moveTo>
                    <a:pt x="112902" y="68632"/>
                  </a:moveTo>
                  <a:lnTo>
                    <a:pt x="78622" y="88137"/>
                  </a:lnTo>
                  <a:lnTo>
                    <a:pt x="112271" y="108254"/>
                  </a:lnTo>
                  <a:lnTo>
                    <a:pt x="3202051" y="142326"/>
                  </a:lnTo>
                  <a:lnTo>
                    <a:pt x="3236223" y="122883"/>
                  </a:lnTo>
                  <a:lnTo>
                    <a:pt x="3202466" y="102701"/>
                  </a:lnTo>
                  <a:lnTo>
                    <a:pt x="112902" y="68632"/>
                  </a:lnTo>
                  <a:close/>
                </a:path>
                <a:path w="3315335" h="211454">
                  <a:moveTo>
                    <a:pt x="3265804" y="106050"/>
                  </a:moveTo>
                  <a:lnTo>
                    <a:pt x="3236223" y="122883"/>
                  </a:lnTo>
                  <a:lnTo>
                    <a:pt x="3265424" y="140340"/>
                  </a:lnTo>
                  <a:lnTo>
                    <a:pt x="3265780" y="108254"/>
                  </a:lnTo>
                  <a:lnTo>
                    <a:pt x="3265804" y="106050"/>
                  </a:lnTo>
                  <a:close/>
                </a:path>
                <a:path w="3315335" h="211454">
                  <a:moveTo>
                    <a:pt x="3275805" y="106050"/>
                  </a:moveTo>
                  <a:lnTo>
                    <a:pt x="3265804" y="106050"/>
                  </a:lnTo>
                  <a:lnTo>
                    <a:pt x="3265424" y="140340"/>
                  </a:lnTo>
                  <a:lnTo>
                    <a:pt x="3275365" y="140340"/>
                  </a:lnTo>
                  <a:lnTo>
                    <a:pt x="3275777" y="108254"/>
                  </a:lnTo>
                  <a:lnTo>
                    <a:pt x="3275805" y="106050"/>
                  </a:lnTo>
                  <a:close/>
                </a:path>
                <a:path w="3315335" h="211454">
                  <a:moveTo>
                    <a:pt x="3202466" y="102701"/>
                  </a:moveTo>
                  <a:lnTo>
                    <a:pt x="3236223" y="122883"/>
                  </a:lnTo>
                  <a:lnTo>
                    <a:pt x="3265804" y="106050"/>
                  </a:lnTo>
                  <a:lnTo>
                    <a:pt x="3275805" y="106050"/>
                  </a:lnTo>
                  <a:lnTo>
                    <a:pt x="3275838" y="103510"/>
                  </a:lnTo>
                  <a:lnTo>
                    <a:pt x="3202466" y="102701"/>
                  </a:lnTo>
                  <a:close/>
                </a:path>
                <a:path w="3315335" h="211454">
                  <a:moveTo>
                    <a:pt x="39624" y="67823"/>
                  </a:moveTo>
                  <a:lnTo>
                    <a:pt x="39176" y="102701"/>
                  </a:lnTo>
                  <a:lnTo>
                    <a:pt x="39115" y="107447"/>
                  </a:lnTo>
                  <a:lnTo>
                    <a:pt x="112271" y="108254"/>
                  </a:lnTo>
                  <a:lnTo>
                    <a:pt x="106673" y="104907"/>
                  </a:lnTo>
                  <a:lnTo>
                    <a:pt x="49149" y="104907"/>
                  </a:lnTo>
                  <a:lnTo>
                    <a:pt x="49530" y="70744"/>
                  </a:lnTo>
                  <a:lnTo>
                    <a:pt x="109189" y="70744"/>
                  </a:lnTo>
                  <a:lnTo>
                    <a:pt x="112902" y="68632"/>
                  </a:lnTo>
                  <a:lnTo>
                    <a:pt x="39624" y="67823"/>
                  </a:lnTo>
                  <a:close/>
                </a:path>
                <a:path w="3315335" h="211454">
                  <a:moveTo>
                    <a:pt x="49530" y="70744"/>
                  </a:moveTo>
                  <a:lnTo>
                    <a:pt x="49173" y="102701"/>
                  </a:lnTo>
                  <a:lnTo>
                    <a:pt x="49149" y="104907"/>
                  </a:lnTo>
                  <a:lnTo>
                    <a:pt x="78622" y="88137"/>
                  </a:lnTo>
                  <a:lnTo>
                    <a:pt x="49530" y="70744"/>
                  </a:lnTo>
                  <a:close/>
                </a:path>
                <a:path w="3315335" h="211454">
                  <a:moveTo>
                    <a:pt x="78622" y="88137"/>
                  </a:moveTo>
                  <a:lnTo>
                    <a:pt x="49149" y="104907"/>
                  </a:lnTo>
                  <a:lnTo>
                    <a:pt x="106673" y="104907"/>
                  </a:lnTo>
                  <a:lnTo>
                    <a:pt x="78622" y="88137"/>
                  </a:lnTo>
                  <a:close/>
                </a:path>
                <a:path w="3315335" h="211454">
                  <a:moveTo>
                    <a:pt x="109189" y="70744"/>
                  </a:moveTo>
                  <a:lnTo>
                    <a:pt x="49530" y="70744"/>
                  </a:lnTo>
                  <a:lnTo>
                    <a:pt x="78622" y="88137"/>
                  </a:lnTo>
                  <a:lnTo>
                    <a:pt x="109189" y="70744"/>
                  </a:lnTo>
                  <a:close/>
                </a:path>
                <a:path w="3315335" h="211454">
                  <a:moveTo>
                    <a:pt x="114322" y="67823"/>
                  </a:moveTo>
                  <a:lnTo>
                    <a:pt x="39624" y="67823"/>
                  </a:lnTo>
                  <a:lnTo>
                    <a:pt x="112902" y="68632"/>
                  </a:lnTo>
                  <a:lnTo>
                    <a:pt x="114322" y="67823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452110" y="2952716"/>
            <a:ext cx="2419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0" dirty="0">
                <a:latin typeface="Arial"/>
                <a:cs typeface="Arial"/>
              </a:rPr>
              <a:t>W</a:t>
            </a:r>
            <a:endParaRPr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74386" y="2673408"/>
            <a:ext cx="413190" cy="161405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600" dirty="0">
                <a:solidFill>
                  <a:srgbClr val="00AF50"/>
                </a:solidFill>
                <a:latin typeface="Calibri"/>
                <a:cs typeface="Calibri"/>
              </a:rPr>
              <a:t>Channel</a:t>
            </a:r>
            <a:r>
              <a:rPr sz="1600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AF50"/>
                </a:solidFill>
                <a:latin typeface="Calibri"/>
                <a:cs typeface="Calibri"/>
              </a:rPr>
              <a:t>frequency</a:t>
            </a:r>
            <a:r>
              <a:rPr sz="16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alibri"/>
                <a:cs typeface="Calibri"/>
              </a:rPr>
              <a:t>response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88609" y="2513389"/>
            <a:ext cx="23749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b="1" spc="-25" dirty="0">
                <a:latin typeface="Arial"/>
                <a:cs typeface="Arial"/>
              </a:rPr>
              <a:t>f</a:t>
            </a:r>
            <a:r>
              <a:rPr b="1" spc="-37" baseline="-20833" dirty="0">
                <a:latin typeface="Arial"/>
                <a:cs typeface="Arial"/>
              </a:rPr>
              <a:t>0</a:t>
            </a:r>
            <a:endParaRPr baseline="-2083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4046" y="479940"/>
            <a:ext cx="6525259" cy="1245213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Bit</a:t>
            </a:r>
            <a:r>
              <a:rPr sz="4000" spc="-1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Rate</a:t>
            </a:r>
            <a:r>
              <a:rPr sz="4000" spc="-5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Limitations</a:t>
            </a:r>
            <a:r>
              <a:rPr sz="4000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by</a:t>
            </a:r>
            <a:r>
              <a:rPr sz="4000" spc="-10" dirty="0">
                <a:solidFill>
                  <a:srgbClr val="003399"/>
                </a:solidFill>
                <a:latin typeface="Arial"/>
                <a:cs typeface="Arial"/>
              </a:rPr>
              <a:t> Delay Spread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4046" y="2802368"/>
            <a:ext cx="7211568" cy="248758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CBC6-8E35-9931-50A7-F51809D5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Coherence Bandwidth and delay</a:t>
            </a:r>
            <a:br>
              <a:rPr lang="en-US" dirty="0"/>
            </a:br>
            <a:r>
              <a:rPr lang="en-US" dirty="0"/>
              <a:t>spread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CC42E-38E7-ECC0-CF2E-6A989A590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There is no exact relationship between Coherence bandwidth and delay spread. For at least 0.9 correlation for channel’s complex frequency transfer function, Coherence bandwidth f0 is approximated by following relation: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Another popular approximation assuming at least 0.5 correlation: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6E9A17-1E4E-1045-D866-43FAF06A1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44" y="3553596"/>
            <a:ext cx="6350326" cy="8953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EF8841-F872-63F9-416B-B55E097DE493}"/>
                  </a:ext>
                </a:extLst>
              </p:cNvPr>
              <p:cNvSpPr txBox="1"/>
              <p:nvPr/>
            </p:nvSpPr>
            <p:spPr>
              <a:xfrm>
                <a:off x="1551543" y="5652360"/>
                <a:ext cx="6097836" cy="65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EF8841-F872-63F9-416B-B55E097DE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543" y="5652360"/>
                <a:ext cx="6097836" cy="659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65227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282D1-FA59-A85C-B15E-6D7993BE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110248-0768-AAED-F4EB-40C4E10594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Given </a:t>
                </a:r>
                <a:r>
                  <a:rPr lang="en-US" dirty="0"/>
                  <a:t>RMS delay spread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𝜎</m:t>
                        </m:r>
                      </m:e>
                      <m:sub>
                        <m:r>
                          <a:rPr lang="ar-AE" i="1"/>
                          <m:t>𝜏</m:t>
                        </m:r>
                      </m:sub>
                    </m:sSub>
                    <m:r>
                      <a:rPr lang="ar-AE"/>
                      <m:t>=</m:t>
                    </m:r>
                    <m:r>
                      <a:rPr lang="ar-AE"/>
                      <m:t>1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a:rPr lang="ar-AE" i="1"/>
                      <m:t>𝜇</m:t>
                    </m:r>
                    <m:r>
                      <a:rPr lang="ar-AE" i="1"/>
                      <m:t>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b="1" dirty="0"/>
                  <a:t>Find the </a:t>
                </a:r>
                <a:r>
                  <a:rPr lang="en-US" dirty="0"/>
                  <a:t>Coherence bandwidth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𝐵</m:t>
                        </m:r>
                      </m:e>
                      <m:sub>
                        <m:r>
                          <a:rPr lang="ar-AE" i="1"/>
                          <m:t>𝑐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en-US" b="1" dirty="0"/>
                  <a:t>Solution</a:t>
                </a:r>
              </a:p>
              <a:p>
                <a:r>
                  <a:rPr lang="en-US" dirty="0"/>
                  <a:t>For 50% correlation: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𝐵</m:t>
                        </m:r>
                      </m:e>
                      <m:sub>
                        <m:r>
                          <a:rPr lang="ar-AE" i="1"/>
                          <m:t>𝑐</m:t>
                        </m:r>
                      </m:sub>
                    </m:sSub>
                    <m:r>
                      <a:rPr lang="ar-AE"/>
                      <m:t>≈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/>
                          <m:t>5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𝜎</m:t>
                            </m:r>
                          </m:e>
                          <m:sub>
                            <m:r>
                              <a:rPr lang="ar-AE" i="1"/>
                              <m:t>𝜏</m:t>
                            </m:r>
                          </m:sub>
                        </m:sSub>
                      </m:den>
                    </m:f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/>
                          <m:t>5</m:t>
                        </m:r>
                        <m:r>
                          <a:rPr lang="ar-AE"/>
                          <m:t>×</m:t>
                        </m:r>
                        <m:r>
                          <a:rPr lang="ar-AE"/>
                          <m:t>1</m:t>
                        </m:r>
                        <m:r>
                          <a:rPr lang="ar-AE"/>
                          <m:t>×</m:t>
                        </m:r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/>
                              <m:t>10</m:t>
                            </m:r>
                          </m:e>
                          <m:sup>
                            <m:r>
                              <a:rPr lang="ar-AE"/>
                              <m:t>−</m:t>
                            </m:r>
                            <m:r>
                              <a:rPr lang="ar-AE"/>
                              <m:t>6</m:t>
                            </m:r>
                          </m:sup>
                        </m:sSup>
                      </m:den>
                    </m:f>
                    <m:r>
                      <a:rPr lang="ar-AE"/>
                      <m:t>=</m:t>
                    </m:r>
                    <m:r>
                      <a:rPr lang="ar-AE"/>
                      <m:t>200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m:rPr>
                        <m:nor/>
                      </m:rPr>
                      <a:rPr lang="en-US" i="1"/>
                      <m:t>kHz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For 90% correlation: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𝐵</m:t>
                        </m:r>
                      </m:e>
                      <m:sub>
                        <m:r>
                          <a:rPr lang="ar-AE" i="1"/>
                          <m:t>𝑐</m:t>
                        </m:r>
                      </m:sub>
                    </m:sSub>
                    <m:r>
                      <a:rPr lang="ar-AE"/>
                      <m:t>≈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/>
                          <m:t>50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𝜎</m:t>
                            </m:r>
                          </m:e>
                          <m:sub>
                            <m:r>
                              <a:rPr lang="ar-AE" i="1"/>
                              <m:t>𝜏</m:t>
                            </m:r>
                          </m:sub>
                        </m:sSub>
                      </m:den>
                    </m:f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/>
                          <m:t>50</m:t>
                        </m:r>
                        <m:r>
                          <a:rPr lang="ar-AE"/>
                          <m:t>×</m:t>
                        </m:r>
                        <m:r>
                          <a:rPr lang="ar-AE"/>
                          <m:t>1</m:t>
                        </m:r>
                        <m:r>
                          <a:rPr lang="ar-AE"/>
                          <m:t>×</m:t>
                        </m:r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/>
                              <m:t>10</m:t>
                            </m:r>
                          </m:e>
                          <m:sup>
                            <m:r>
                              <a:rPr lang="ar-AE"/>
                              <m:t>−</m:t>
                            </m:r>
                            <m:r>
                              <a:rPr lang="ar-AE"/>
                              <m:t>6</m:t>
                            </m:r>
                          </m:sup>
                        </m:sSup>
                      </m:den>
                    </m:f>
                    <m:r>
                      <a:rPr lang="ar-AE"/>
                      <m:t>=</m:t>
                    </m:r>
                    <m:r>
                      <a:rPr lang="ar-AE"/>
                      <m:t>20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m:rPr>
                        <m:nor/>
                      </m:rPr>
                      <a:rPr lang="en-US" i="1"/>
                      <m:t>kHz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110248-0768-AAED-F4EB-40C4E1059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38069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700270" y="5986029"/>
            <a:ext cx="8639060" cy="461530"/>
            <a:chOff x="457200" y="5638800"/>
            <a:chExt cx="8229600" cy="676910"/>
          </a:xfrm>
        </p:grpSpPr>
        <p:sp>
          <p:nvSpPr>
            <p:cNvPr id="4" name="object 4"/>
            <p:cNvSpPr/>
            <p:nvPr/>
          </p:nvSpPr>
          <p:spPr>
            <a:xfrm>
              <a:off x="457200" y="6172200"/>
              <a:ext cx="8229600" cy="0"/>
            </a:xfrm>
            <a:custGeom>
              <a:avLst/>
              <a:gdLst/>
              <a:ahLst/>
              <a:cxnLst/>
              <a:rect l="l" t="t" r="r" b="b"/>
              <a:pathLst>
                <a:path w="8229600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ln w="18288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2600" y="5638800"/>
              <a:ext cx="4916424" cy="67665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Basic</a:t>
            </a:r>
            <a:r>
              <a:rPr sz="4200" spc="-10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Doppler</a:t>
            </a:r>
            <a:r>
              <a:rPr sz="4200" spc="-6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effect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35117" y="641206"/>
            <a:ext cx="2667635" cy="70572"/>
          </a:xfrm>
          <a:custGeom>
            <a:avLst/>
            <a:gdLst/>
            <a:ahLst/>
            <a:cxnLst/>
            <a:rect l="l" t="t" r="r" b="b"/>
            <a:pathLst>
              <a:path w="2667635" h="103505">
                <a:moveTo>
                  <a:pt x="88641" y="0"/>
                </a:moveTo>
                <a:lnTo>
                  <a:pt x="0" y="51699"/>
                </a:lnTo>
                <a:lnTo>
                  <a:pt x="88578" y="103504"/>
                </a:lnTo>
                <a:lnTo>
                  <a:pt x="92464" y="102362"/>
                </a:lnTo>
                <a:lnTo>
                  <a:pt x="94242" y="99440"/>
                </a:lnTo>
                <a:lnTo>
                  <a:pt x="96007" y="96392"/>
                </a:lnTo>
                <a:lnTo>
                  <a:pt x="94991" y="92455"/>
                </a:lnTo>
                <a:lnTo>
                  <a:pt x="36044" y="58053"/>
                </a:lnTo>
                <a:lnTo>
                  <a:pt x="12492" y="58053"/>
                </a:lnTo>
                <a:lnTo>
                  <a:pt x="12505" y="45353"/>
                </a:lnTo>
                <a:lnTo>
                  <a:pt x="36068" y="45353"/>
                </a:lnTo>
                <a:lnTo>
                  <a:pt x="95029" y="11049"/>
                </a:lnTo>
                <a:lnTo>
                  <a:pt x="96058" y="7112"/>
                </a:lnTo>
                <a:lnTo>
                  <a:pt x="92527" y="1015"/>
                </a:lnTo>
                <a:lnTo>
                  <a:pt x="88641" y="0"/>
                </a:lnTo>
                <a:close/>
              </a:path>
              <a:path w="2667635" h="103505">
                <a:moveTo>
                  <a:pt x="36068" y="45353"/>
                </a:moveTo>
                <a:lnTo>
                  <a:pt x="25156" y="51699"/>
                </a:lnTo>
                <a:lnTo>
                  <a:pt x="36044" y="58053"/>
                </a:lnTo>
                <a:lnTo>
                  <a:pt x="2667008" y="59689"/>
                </a:lnTo>
                <a:lnTo>
                  <a:pt x="2667008" y="46989"/>
                </a:lnTo>
                <a:lnTo>
                  <a:pt x="36068" y="45353"/>
                </a:lnTo>
                <a:close/>
              </a:path>
              <a:path w="2667635" h="103505">
                <a:moveTo>
                  <a:pt x="36068" y="45353"/>
                </a:moveTo>
                <a:lnTo>
                  <a:pt x="12505" y="45353"/>
                </a:lnTo>
                <a:lnTo>
                  <a:pt x="12492" y="58053"/>
                </a:lnTo>
                <a:lnTo>
                  <a:pt x="36044" y="58053"/>
                </a:lnTo>
                <a:lnTo>
                  <a:pt x="34496" y="57150"/>
                </a:lnTo>
                <a:lnTo>
                  <a:pt x="15781" y="57150"/>
                </a:lnTo>
                <a:lnTo>
                  <a:pt x="15781" y="46227"/>
                </a:lnTo>
                <a:lnTo>
                  <a:pt x="34564" y="46227"/>
                </a:lnTo>
                <a:lnTo>
                  <a:pt x="36068" y="45353"/>
                </a:lnTo>
                <a:close/>
              </a:path>
              <a:path w="2667635" h="103505">
                <a:moveTo>
                  <a:pt x="15781" y="46227"/>
                </a:moveTo>
                <a:lnTo>
                  <a:pt x="15781" y="57150"/>
                </a:lnTo>
                <a:lnTo>
                  <a:pt x="25156" y="51699"/>
                </a:lnTo>
                <a:lnTo>
                  <a:pt x="15781" y="46227"/>
                </a:lnTo>
                <a:close/>
              </a:path>
              <a:path w="2667635" h="103505">
                <a:moveTo>
                  <a:pt x="25156" y="51699"/>
                </a:moveTo>
                <a:lnTo>
                  <a:pt x="15781" y="57150"/>
                </a:lnTo>
                <a:lnTo>
                  <a:pt x="34496" y="57150"/>
                </a:lnTo>
                <a:lnTo>
                  <a:pt x="25156" y="51699"/>
                </a:lnTo>
                <a:close/>
              </a:path>
              <a:path w="2667635" h="103505">
                <a:moveTo>
                  <a:pt x="34564" y="46227"/>
                </a:moveTo>
                <a:lnTo>
                  <a:pt x="15781" y="46227"/>
                </a:lnTo>
                <a:lnTo>
                  <a:pt x="25156" y="51699"/>
                </a:lnTo>
                <a:lnTo>
                  <a:pt x="34564" y="46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810002" y="785880"/>
            <a:ext cx="2124075" cy="364115"/>
            <a:chOff x="2286000" y="1152622"/>
            <a:chExt cx="2124075" cy="53403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5415" y="1152622"/>
              <a:ext cx="1104579" cy="5340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39970" y="1397761"/>
              <a:ext cx="838200" cy="103505"/>
            </a:xfrm>
            <a:custGeom>
              <a:avLst/>
              <a:gdLst/>
              <a:ahLst/>
              <a:cxnLst/>
              <a:rect l="l" t="t" r="r" b="b"/>
              <a:pathLst>
                <a:path w="838200" h="103505">
                  <a:moveTo>
                    <a:pt x="88599" y="0"/>
                  </a:moveTo>
                  <a:lnTo>
                    <a:pt x="85678" y="1777"/>
                  </a:lnTo>
                  <a:lnTo>
                    <a:pt x="0" y="51589"/>
                  </a:lnTo>
                  <a:lnTo>
                    <a:pt x="88472" y="103377"/>
                  </a:lnTo>
                  <a:lnTo>
                    <a:pt x="92409" y="102362"/>
                  </a:lnTo>
                  <a:lnTo>
                    <a:pt x="94060" y="99440"/>
                  </a:lnTo>
                  <a:lnTo>
                    <a:pt x="95838" y="96392"/>
                  </a:lnTo>
                  <a:lnTo>
                    <a:pt x="94822" y="92455"/>
                  </a:lnTo>
                  <a:lnTo>
                    <a:pt x="91901" y="90677"/>
                  </a:lnTo>
                  <a:lnTo>
                    <a:pt x="35971" y="57958"/>
                  </a:lnTo>
                  <a:lnTo>
                    <a:pt x="12526" y="57958"/>
                  </a:lnTo>
                  <a:lnTo>
                    <a:pt x="12526" y="45258"/>
                  </a:lnTo>
                  <a:lnTo>
                    <a:pt x="36012" y="45258"/>
                  </a:lnTo>
                  <a:lnTo>
                    <a:pt x="95076" y="11049"/>
                  </a:lnTo>
                  <a:lnTo>
                    <a:pt x="96092" y="7112"/>
                  </a:lnTo>
                  <a:lnTo>
                    <a:pt x="92536" y="1015"/>
                  </a:lnTo>
                  <a:lnTo>
                    <a:pt x="88599" y="0"/>
                  </a:lnTo>
                  <a:close/>
                </a:path>
                <a:path w="838200" h="103505">
                  <a:moveTo>
                    <a:pt x="36012" y="45258"/>
                  </a:moveTo>
                  <a:lnTo>
                    <a:pt x="25083" y="51589"/>
                  </a:lnTo>
                  <a:lnTo>
                    <a:pt x="35971" y="57958"/>
                  </a:lnTo>
                  <a:lnTo>
                    <a:pt x="838153" y="59562"/>
                  </a:lnTo>
                  <a:lnTo>
                    <a:pt x="838153" y="46862"/>
                  </a:lnTo>
                  <a:lnTo>
                    <a:pt x="36012" y="45258"/>
                  </a:lnTo>
                  <a:close/>
                </a:path>
                <a:path w="838200" h="103505">
                  <a:moveTo>
                    <a:pt x="36012" y="45258"/>
                  </a:moveTo>
                  <a:lnTo>
                    <a:pt x="12526" y="45258"/>
                  </a:lnTo>
                  <a:lnTo>
                    <a:pt x="12526" y="57958"/>
                  </a:lnTo>
                  <a:lnTo>
                    <a:pt x="35971" y="57958"/>
                  </a:lnTo>
                  <a:lnTo>
                    <a:pt x="34371" y="57023"/>
                  </a:lnTo>
                  <a:lnTo>
                    <a:pt x="15701" y="57023"/>
                  </a:lnTo>
                  <a:lnTo>
                    <a:pt x="15701" y="46100"/>
                  </a:lnTo>
                  <a:lnTo>
                    <a:pt x="34558" y="46100"/>
                  </a:lnTo>
                  <a:lnTo>
                    <a:pt x="36012" y="45258"/>
                  </a:lnTo>
                  <a:close/>
                </a:path>
                <a:path w="838200" h="103505">
                  <a:moveTo>
                    <a:pt x="15701" y="46100"/>
                  </a:moveTo>
                  <a:lnTo>
                    <a:pt x="15701" y="57023"/>
                  </a:lnTo>
                  <a:lnTo>
                    <a:pt x="25083" y="51589"/>
                  </a:lnTo>
                  <a:lnTo>
                    <a:pt x="15701" y="46100"/>
                  </a:lnTo>
                  <a:close/>
                </a:path>
                <a:path w="838200" h="103505">
                  <a:moveTo>
                    <a:pt x="25083" y="51589"/>
                  </a:moveTo>
                  <a:lnTo>
                    <a:pt x="15701" y="57023"/>
                  </a:lnTo>
                  <a:lnTo>
                    <a:pt x="34371" y="57023"/>
                  </a:lnTo>
                  <a:lnTo>
                    <a:pt x="25083" y="51589"/>
                  </a:lnTo>
                  <a:close/>
                </a:path>
                <a:path w="838200" h="103505">
                  <a:moveTo>
                    <a:pt x="34558" y="46100"/>
                  </a:moveTo>
                  <a:lnTo>
                    <a:pt x="15701" y="46100"/>
                  </a:lnTo>
                  <a:lnTo>
                    <a:pt x="25083" y="51589"/>
                  </a:lnTo>
                  <a:lnTo>
                    <a:pt x="34558" y="461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6000" y="1371599"/>
              <a:ext cx="170687" cy="192024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2211318" y="1368570"/>
            <a:ext cx="2591435" cy="71870"/>
          </a:xfrm>
          <a:custGeom>
            <a:avLst/>
            <a:gdLst/>
            <a:ahLst/>
            <a:cxnLst/>
            <a:rect l="l" t="t" r="r" b="b"/>
            <a:pathLst>
              <a:path w="2591435" h="105410">
                <a:moveTo>
                  <a:pt x="2565601" y="53268"/>
                </a:moveTo>
                <a:lnTo>
                  <a:pt x="2495811" y="93979"/>
                </a:lnTo>
                <a:lnTo>
                  <a:pt x="2494795" y="97789"/>
                </a:lnTo>
                <a:lnTo>
                  <a:pt x="2496573" y="100837"/>
                </a:lnTo>
                <a:lnTo>
                  <a:pt x="2498224" y="103886"/>
                </a:lnTo>
                <a:lnTo>
                  <a:pt x="2502161" y="104901"/>
                </a:lnTo>
                <a:lnTo>
                  <a:pt x="2579917" y="59562"/>
                </a:lnTo>
                <a:lnTo>
                  <a:pt x="2578361" y="59562"/>
                </a:lnTo>
                <a:lnTo>
                  <a:pt x="2578361" y="58800"/>
                </a:lnTo>
                <a:lnTo>
                  <a:pt x="2575059" y="58800"/>
                </a:lnTo>
                <a:lnTo>
                  <a:pt x="2565601" y="53268"/>
                </a:lnTo>
                <a:close/>
              </a:path>
              <a:path w="2591435" h="105410">
                <a:moveTo>
                  <a:pt x="88640" y="0"/>
                </a:moveTo>
                <a:lnTo>
                  <a:pt x="0" y="51699"/>
                </a:lnTo>
                <a:lnTo>
                  <a:pt x="88577" y="103504"/>
                </a:lnTo>
                <a:lnTo>
                  <a:pt x="92463" y="102362"/>
                </a:lnTo>
                <a:lnTo>
                  <a:pt x="94241" y="99440"/>
                </a:lnTo>
                <a:lnTo>
                  <a:pt x="96006" y="96392"/>
                </a:lnTo>
                <a:lnTo>
                  <a:pt x="94978" y="92455"/>
                </a:lnTo>
                <a:lnTo>
                  <a:pt x="36039" y="58052"/>
                </a:lnTo>
                <a:lnTo>
                  <a:pt x="12542" y="58052"/>
                </a:lnTo>
                <a:lnTo>
                  <a:pt x="12555" y="45352"/>
                </a:lnTo>
                <a:lnTo>
                  <a:pt x="36069" y="45352"/>
                </a:lnTo>
                <a:lnTo>
                  <a:pt x="95028" y="11049"/>
                </a:lnTo>
                <a:lnTo>
                  <a:pt x="96057" y="7112"/>
                </a:lnTo>
                <a:lnTo>
                  <a:pt x="92526" y="1015"/>
                </a:lnTo>
                <a:lnTo>
                  <a:pt x="88640" y="0"/>
                </a:lnTo>
                <a:close/>
              </a:path>
              <a:path w="2591435" h="105410">
                <a:moveTo>
                  <a:pt x="36069" y="45352"/>
                </a:moveTo>
                <a:lnTo>
                  <a:pt x="25154" y="51699"/>
                </a:lnTo>
                <a:lnTo>
                  <a:pt x="36039" y="58052"/>
                </a:lnTo>
                <a:lnTo>
                  <a:pt x="2578361" y="59562"/>
                </a:lnTo>
                <a:lnTo>
                  <a:pt x="2554812" y="59562"/>
                </a:lnTo>
                <a:lnTo>
                  <a:pt x="2565601" y="53268"/>
                </a:lnTo>
                <a:lnTo>
                  <a:pt x="2554650" y="46862"/>
                </a:lnTo>
                <a:lnTo>
                  <a:pt x="2578361" y="46862"/>
                </a:lnTo>
                <a:lnTo>
                  <a:pt x="36069" y="45352"/>
                </a:lnTo>
                <a:close/>
              </a:path>
              <a:path w="2591435" h="105410">
                <a:moveTo>
                  <a:pt x="2579917" y="46862"/>
                </a:moveTo>
                <a:lnTo>
                  <a:pt x="2578361" y="46862"/>
                </a:lnTo>
                <a:lnTo>
                  <a:pt x="2578361" y="59562"/>
                </a:lnTo>
                <a:lnTo>
                  <a:pt x="2579917" y="59562"/>
                </a:lnTo>
                <a:lnTo>
                  <a:pt x="2590711" y="53268"/>
                </a:lnTo>
                <a:lnTo>
                  <a:pt x="2590903" y="53268"/>
                </a:lnTo>
                <a:lnTo>
                  <a:pt x="2579917" y="46862"/>
                </a:lnTo>
                <a:close/>
              </a:path>
              <a:path w="2591435" h="105410">
                <a:moveTo>
                  <a:pt x="2575059" y="47751"/>
                </a:moveTo>
                <a:lnTo>
                  <a:pt x="2565601" y="53268"/>
                </a:lnTo>
                <a:lnTo>
                  <a:pt x="2575059" y="58800"/>
                </a:lnTo>
                <a:lnTo>
                  <a:pt x="2575059" y="47751"/>
                </a:lnTo>
                <a:close/>
              </a:path>
              <a:path w="2591435" h="105410">
                <a:moveTo>
                  <a:pt x="2578361" y="47751"/>
                </a:moveTo>
                <a:lnTo>
                  <a:pt x="2575059" y="47751"/>
                </a:lnTo>
                <a:lnTo>
                  <a:pt x="2575059" y="58800"/>
                </a:lnTo>
                <a:lnTo>
                  <a:pt x="2578361" y="58800"/>
                </a:lnTo>
                <a:lnTo>
                  <a:pt x="2578361" y="47751"/>
                </a:lnTo>
                <a:close/>
              </a:path>
              <a:path w="2591435" h="105410">
                <a:moveTo>
                  <a:pt x="36069" y="45352"/>
                </a:moveTo>
                <a:lnTo>
                  <a:pt x="12555" y="45352"/>
                </a:lnTo>
                <a:lnTo>
                  <a:pt x="12542" y="58052"/>
                </a:lnTo>
                <a:lnTo>
                  <a:pt x="36039" y="58052"/>
                </a:lnTo>
                <a:lnTo>
                  <a:pt x="34492" y="57150"/>
                </a:lnTo>
                <a:lnTo>
                  <a:pt x="15780" y="57150"/>
                </a:lnTo>
                <a:lnTo>
                  <a:pt x="15780" y="46227"/>
                </a:lnTo>
                <a:lnTo>
                  <a:pt x="34564" y="46227"/>
                </a:lnTo>
                <a:lnTo>
                  <a:pt x="36069" y="45352"/>
                </a:lnTo>
                <a:close/>
              </a:path>
              <a:path w="2591435" h="105410">
                <a:moveTo>
                  <a:pt x="15780" y="46227"/>
                </a:moveTo>
                <a:lnTo>
                  <a:pt x="15780" y="57150"/>
                </a:lnTo>
                <a:lnTo>
                  <a:pt x="25154" y="51699"/>
                </a:lnTo>
                <a:lnTo>
                  <a:pt x="15780" y="46227"/>
                </a:lnTo>
                <a:close/>
              </a:path>
              <a:path w="2591435" h="105410">
                <a:moveTo>
                  <a:pt x="25154" y="51699"/>
                </a:moveTo>
                <a:lnTo>
                  <a:pt x="15780" y="57150"/>
                </a:lnTo>
                <a:lnTo>
                  <a:pt x="34492" y="57150"/>
                </a:lnTo>
                <a:lnTo>
                  <a:pt x="25154" y="51699"/>
                </a:lnTo>
                <a:close/>
              </a:path>
              <a:path w="2591435" h="105410">
                <a:moveTo>
                  <a:pt x="2502288" y="1524"/>
                </a:moveTo>
                <a:lnTo>
                  <a:pt x="2498351" y="2539"/>
                </a:lnTo>
                <a:lnTo>
                  <a:pt x="2494795" y="8636"/>
                </a:lnTo>
                <a:lnTo>
                  <a:pt x="2495811" y="12445"/>
                </a:lnTo>
                <a:lnTo>
                  <a:pt x="2565601" y="53268"/>
                </a:lnTo>
                <a:lnTo>
                  <a:pt x="2575059" y="47751"/>
                </a:lnTo>
                <a:lnTo>
                  <a:pt x="2578361" y="47751"/>
                </a:lnTo>
                <a:lnTo>
                  <a:pt x="2578361" y="46862"/>
                </a:lnTo>
                <a:lnTo>
                  <a:pt x="2579917" y="46862"/>
                </a:lnTo>
                <a:lnTo>
                  <a:pt x="2505209" y="3301"/>
                </a:lnTo>
                <a:lnTo>
                  <a:pt x="2502288" y="1524"/>
                </a:lnTo>
                <a:close/>
              </a:path>
              <a:path w="2591435" h="105410">
                <a:moveTo>
                  <a:pt x="34564" y="46227"/>
                </a:moveTo>
                <a:lnTo>
                  <a:pt x="15780" y="46227"/>
                </a:lnTo>
                <a:lnTo>
                  <a:pt x="25154" y="51699"/>
                </a:lnTo>
                <a:lnTo>
                  <a:pt x="34564" y="462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892808" y="771007"/>
            <a:ext cx="332740" cy="538595"/>
            <a:chOff x="368808" y="1130808"/>
            <a:chExt cx="332740" cy="789940"/>
          </a:xfrm>
        </p:grpSpPr>
        <p:sp>
          <p:nvSpPr>
            <p:cNvPr id="14" name="object 14"/>
            <p:cNvSpPr/>
            <p:nvPr/>
          </p:nvSpPr>
          <p:spPr>
            <a:xfrm>
              <a:off x="382524" y="1144524"/>
              <a:ext cx="304800" cy="762000"/>
            </a:xfrm>
            <a:custGeom>
              <a:avLst/>
              <a:gdLst/>
              <a:ahLst/>
              <a:cxnLst/>
              <a:rect l="l" t="t" r="r" b="b"/>
              <a:pathLst>
                <a:path w="304800" h="762000">
                  <a:moveTo>
                    <a:pt x="0" y="762000"/>
                  </a:moveTo>
                  <a:lnTo>
                    <a:pt x="152399" y="0"/>
                  </a:lnTo>
                  <a:lnTo>
                    <a:pt x="304799" y="762000"/>
                  </a:lnTo>
                  <a:lnTo>
                    <a:pt x="0" y="762000"/>
                  </a:lnTo>
                  <a:close/>
                </a:path>
                <a:path w="304800" h="762000">
                  <a:moveTo>
                    <a:pt x="88391" y="359663"/>
                  </a:moveTo>
                  <a:lnTo>
                    <a:pt x="152399" y="0"/>
                  </a:lnTo>
                  <a:lnTo>
                    <a:pt x="216407" y="359663"/>
                  </a:lnTo>
                  <a:lnTo>
                    <a:pt x="88391" y="359663"/>
                  </a:lnTo>
                  <a:close/>
                </a:path>
                <a:path w="304800" h="762000">
                  <a:moveTo>
                    <a:pt x="42671" y="545591"/>
                  </a:moveTo>
                  <a:lnTo>
                    <a:pt x="152399" y="15239"/>
                  </a:lnTo>
                  <a:lnTo>
                    <a:pt x="262127" y="545591"/>
                  </a:lnTo>
                  <a:lnTo>
                    <a:pt x="42671" y="545591"/>
                  </a:lnTo>
                  <a:close/>
                </a:path>
                <a:path w="304800" h="762000">
                  <a:moveTo>
                    <a:pt x="0" y="762000"/>
                  </a:moveTo>
                  <a:lnTo>
                    <a:pt x="152399" y="0"/>
                  </a:lnTo>
                  <a:lnTo>
                    <a:pt x="304799" y="762000"/>
                  </a:lnTo>
                  <a:lnTo>
                    <a:pt x="0" y="762000"/>
                  </a:lnTo>
                  <a:close/>
                </a:path>
                <a:path w="304800" h="762000">
                  <a:moveTo>
                    <a:pt x="87083" y="359028"/>
                  </a:moveTo>
                  <a:lnTo>
                    <a:pt x="261251" y="546100"/>
                  </a:lnTo>
                  <a:lnTo>
                    <a:pt x="0" y="762000"/>
                  </a:lnTo>
                  <a:lnTo>
                    <a:pt x="304799" y="762000"/>
                  </a:lnTo>
                  <a:lnTo>
                    <a:pt x="43548" y="546100"/>
                  </a:lnTo>
                  <a:lnTo>
                    <a:pt x="217716" y="359028"/>
                  </a:lnTo>
                  <a:lnTo>
                    <a:pt x="130632" y="243839"/>
                  </a:lnTo>
                  <a:lnTo>
                    <a:pt x="174167" y="243839"/>
                  </a:lnTo>
                  <a:lnTo>
                    <a:pt x="87083" y="359028"/>
                  </a:lnTo>
                  <a:close/>
                </a:path>
              </a:pathLst>
            </a:custGeom>
            <a:ln w="27432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9204" y="1388364"/>
              <a:ext cx="88900" cy="0"/>
            </a:xfrm>
            <a:custGeom>
              <a:avLst/>
              <a:gdLst/>
              <a:ahLst/>
              <a:cxnLst/>
              <a:rect l="l" t="t" r="r" b="b"/>
              <a:pathLst>
                <a:path w="88900">
                  <a:moveTo>
                    <a:pt x="0" y="0"/>
                  </a:moveTo>
                  <a:lnTo>
                    <a:pt x="22098" y="0"/>
                  </a:lnTo>
                  <a:lnTo>
                    <a:pt x="44195" y="0"/>
                  </a:lnTo>
                  <a:lnTo>
                    <a:pt x="66293" y="0"/>
                  </a:lnTo>
                  <a:lnTo>
                    <a:pt x="88391" y="0"/>
                  </a:lnTo>
                </a:path>
              </a:pathLst>
            </a:custGeom>
            <a:ln w="39624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3588" y="1330452"/>
              <a:ext cx="43180" cy="58419"/>
            </a:xfrm>
            <a:custGeom>
              <a:avLst/>
              <a:gdLst/>
              <a:ahLst/>
              <a:cxnLst/>
              <a:rect l="l" t="t" r="r" b="b"/>
              <a:pathLst>
                <a:path w="43179" h="58419">
                  <a:moveTo>
                    <a:pt x="0" y="57912"/>
                  </a:moveTo>
                  <a:lnTo>
                    <a:pt x="42671" y="0"/>
                  </a:lnTo>
                  <a:lnTo>
                    <a:pt x="0" y="0"/>
                  </a:lnTo>
                  <a:lnTo>
                    <a:pt x="42671" y="57912"/>
                  </a:lnTo>
                </a:path>
              </a:pathLst>
            </a:custGeom>
            <a:ln w="39623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602739" y="369743"/>
            <a:ext cx="11811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100" b="1" spc="-25" dirty="0">
                <a:latin typeface="Calibri"/>
                <a:cs typeface="Calibri"/>
              </a:rPr>
              <a:t>t)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25115" y="1263276"/>
            <a:ext cx="4014215" cy="41563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68485" y="3180483"/>
            <a:ext cx="5544311" cy="37615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68841" y="4008726"/>
            <a:ext cx="5943600" cy="127392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972885" y="1931080"/>
            <a:ext cx="5248275" cy="1023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0">
              <a:spcBef>
                <a:spcPts val="100"/>
              </a:spcBef>
            </a:pP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c</a:t>
            </a:r>
            <a:r>
              <a:rPr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light</a:t>
            </a:r>
            <a:r>
              <a:rPr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velocity</a:t>
            </a:r>
            <a:r>
              <a:rPr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and</a:t>
            </a:r>
            <a:r>
              <a:rPr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v</a:t>
            </a:r>
            <a:r>
              <a:rPr sz="1200" dirty="0">
                <a:solidFill>
                  <a:srgbClr val="00AF50"/>
                </a:solidFill>
                <a:latin typeface="Arial"/>
                <a:cs typeface="Arial"/>
              </a:rPr>
              <a:t>m</a:t>
            </a:r>
            <a:r>
              <a:rPr sz="1200" spc="1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AF50"/>
                </a:solidFill>
                <a:latin typeface="Arial"/>
                <a:cs typeface="Arial"/>
              </a:rPr>
              <a:t>car</a:t>
            </a:r>
            <a:r>
              <a:rPr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AF50"/>
                </a:solidFill>
                <a:latin typeface="Arial"/>
                <a:cs typeface="Arial"/>
              </a:rPr>
              <a:t>speed</a:t>
            </a:r>
            <a:endParaRPr dirty="0">
              <a:latin typeface="Arial"/>
              <a:cs typeface="Arial"/>
            </a:endParaRPr>
          </a:p>
          <a:p>
            <a:pPr marL="12700">
              <a:spcBef>
                <a:spcPts val="1365"/>
              </a:spcBef>
            </a:pPr>
            <a:r>
              <a:rPr spc="-10" dirty="0">
                <a:solidFill>
                  <a:srgbClr val="00AF50"/>
                </a:solidFill>
                <a:latin typeface="Calibri"/>
                <a:cs typeface="Calibri"/>
              </a:rPr>
              <a:t>Propagation</a:t>
            </a:r>
            <a:r>
              <a:rPr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AF50"/>
                </a:solidFill>
                <a:latin typeface="Calibri"/>
                <a:cs typeface="Calibri"/>
              </a:rPr>
              <a:t>time</a:t>
            </a:r>
            <a:r>
              <a:rPr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AF50"/>
                </a:solidFill>
                <a:latin typeface="Calibri"/>
                <a:cs typeface="Calibri"/>
              </a:rPr>
              <a:t>is</a:t>
            </a:r>
            <a:r>
              <a:rPr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AF50"/>
                </a:solidFill>
                <a:latin typeface="Calibri"/>
                <a:cs typeface="Calibri"/>
              </a:rPr>
              <a:t>function</a:t>
            </a:r>
            <a:r>
              <a:rPr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AF50"/>
                </a:solidFill>
                <a:latin typeface="Calibri"/>
                <a:cs typeface="Calibri"/>
              </a:rPr>
              <a:t>time</a:t>
            </a:r>
            <a:r>
              <a:rPr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AF50"/>
                </a:solidFill>
                <a:latin typeface="Calibri"/>
                <a:cs typeface="Calibri"/>
              </a:rPr>
              <a:t>due</a:t>
            </a:r>
            <a:r>
              <a:rPr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pc="-25" dirty="0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endParaRPr dirty="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</a:pPr>
            <a:r>
              <a:rPr dirty="0">
                <a:solidFill>
                  <a:srgbClr val="00AF50"/>
                </a:solidFill>
                <a:latin typeface="Calibri"/>
                <a:cs typeface="Calibri"/>
              </a:rPr>
              <a:t>mobile</a:t>
            </a:r>
            <a:r>
              <a:rPr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pc="-20" dirty="0">
                <a:solidFill>
                  <a:srgbClr val="00AF50"/>
                </a:solidFill>
                <a:latin typeface="Calibri"/>
                <a:cs typeface="Calibri"/>
              </a:rPr>
              <a:t>car.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Doppler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in frequency when transmitter and receiver are mobile in nature.</a:t>
            </a:r>
          </a:p>
          <a:p>
            <a:r>
              <a:rPr lang="en-US" dirty="0"/>
              <a:t>Higher frequency – when both move towards</a:t>
            </a:r>
          </a:p>
          <a:p>
            <a:r>
              <a:rPr lang="en-US" dirty="0"/>
              <a:t>Lower frequency – when both move away</a:t>
            </a:r>
          </a:p>
          <a:p>
            <a:endParaRPr lang="en-US" dirty="0"/>
          </a:p>
        </p:txBody>
      </p:sp>
      <p:pic>
        <p:nvPicPr>
          <p:cNvPr id="4" name="Picture 2" descr="Image result for doppler shif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1" y="3429000"/>
            <a:ext cx="7602981" cy="3200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437" y="1654284"/>
            <a:ext cx="10730645" cy="4823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2741" y="12088"/>
            <a:ext cx="5869305" cy="13664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Waveform</a:t>
            </a:r>
            <a:r>
              <a:rPr spc="-145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spc="-10" dirty="0"/>
              <a:t>Rayleigh </a:t>
            </a:r>
            <a:r>
              <a:rPr dirty="0"/>
              <a:t>Fading</a:t>
            </a:r>
            <a:r>
              <a:rPr spc="-130" dirty="0"/>
              <a:t> </a:t>
            </a:r>
            <a:r>
              <a:rPr spc="-10" dirty="0"/>
              <a:t>Signal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60246" y="199386"/>
            <a:ext cx="6722745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Time</a:t>
            </a:r>
            <a:r>
              <a:rPr sz="4200" spc="-5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Variance</a:t>
            </a:r>
            <a:r>
              <a:rPr sz="4200" spc="-5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:</a:t>
            </a:r>
            <a:r>
              <a:rPr sz="4200" spc="-5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Fast</a:t>
            </a:r>
            <a:r>
              <a:rPr sz="4200" spc="-5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Fading</a:t>
            </a:r>
            <a:endParaRPr sz="4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659" y="1732227"/>
            <a:ext cx="11336356" cy="5186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Fast</a:t>
            </a:r>
            <a:r>
              <a:rPr sz="2400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Fading</a:t>
            </a:r>
            <a:r>
              <a:rPr sz="2400" spc="-1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AF50"/>
                </a:solid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1269365"/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Where</a:t>
            </a:r>
            <a:r>
              <a:rPr sz="2400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T</a:t>
            </a:r>
            <a:r>
              <a:rPr sz="2400" baseline="-20833" dirty="0">
                <a:solidFill>
                  <a:srgbClr val="00AF50"/>
                </a:solidFill>
                <a:latin typeface="Calibri"/>
                <a:cs typeface="Calibri"/>
              </a:rPr>
              <a:t>s</a:t>
            </a:r>
            <a:r>
              <a:rPr sz="2400" spc="157" baseline="-20833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:</a:t>
            </a:r>
            <a:r>
              <a:rPr sz="24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Calibri"/>
                <a:cs typeface="Calibri"/>
              </a:rPr>
              <a:t>Transmitted</a:t>
            </a:r>
            <a:r>
              <a:rPr sz="2400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Symbol</a:t>
            </a:r>
            <a:r>
              <a:rPr sz="2400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AF50"/>
                </a:solidFill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312420"/>
            <a:r>
              <a:rPr sz="2400" spc="-25" dirty="0">
                <a:solidFill>
                  <a:srgbClr val="00AF50"/>
                </a:solidFill>
                <a:latin typeface="Calibri"/>
                <a:cs typeface="Calibri"/>
              </a:rPr>
              <a:t>Or</a:t>
            </a:r>
            <a:endParaRPr sz="2400" dirty="0">
              <a:latin typeface="Calibri"/>
              <a:cs typeface="Calibri"/>
            </a:endParaRPr>
          </a:p>
          <a:p>
            <a:pPr marL="1336675"/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Where</a:t>
            </a:r>
            <a:r>
              <a:rPr sz="24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W:</a:t>
            </a:r>
            <a:r>
              <a:rPr sz="24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Calibri"/>
                <a:cs typeface="Calibri"/>
              </a:rPr>
              <a:t>Transmitted</a:t>
            </a:r>
            <a:r>
              <a:rPr sz="2400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bandwidth</a:t>
            </a:r>
            <a:endParaRPr sz="2400" dirty="0">
              <a:latin typeface="Calibri"/>
              <a:cs typeface="Calibri"/>
            </a:endParaRPr>
          </a:p>
          <a:p>
            <a:pPr marL="38100" marR="30480">
              <a:spcBef>
                <a:spcPts val="5"/>
              </a:spcBef>
            </a:pP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Above</a:t>
            </a:r>
            <a:r>
              <a:rPr sz="2400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relationship</a:t>
            </a:r>
            <a:r>
              <a:rPr sz="2400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means</a:t>
            </a:r>
            <a:r>
              <a:rPr sz="2400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that</a:t>
            </a:r>
            <a:r>
              <a:rPr sz="2400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channel</a:t>
            </a:r>
            <a:r>
              <a:rPr sz="2400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changes</a:t>
            </a:r>
            <a:r>
              <a:rPr sz="2400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drastically</a:t>
            </a:r>
            <a:r>
              <a:rPr sz="2400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AF50"/>
                </a:solidFill>
                <a:latin typeface="Calibri"/>
                <a:cs typeface="Calibri"/>
              </a:rPr>
              <a:t>many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times</a:t>
            </a:r>
            <a:r>
              <a:rPr sz="2400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while</a:t>
            </a:r>
            <a:r>
              <a:rPr sz="24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symbol</a:t>
            </a:r>
            <a:r>
              <a:rPr sz="24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is</a:t>
            </a:r>
            <a:r>
              <a:rPr sz="24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propagating;</a:t>
            </a:r>
            <a:endParaRPr sz="2400" dirty="0">
              <a:latin typeface="Calibri"/>
              <a:cs typeface="Calibri"/>
            </a:endParaRPr>
          </a:p>
          <a:p>
            <a:pPr marL="38100" marR="190500">
              <a:spcBef>
                <a:spcPts val="2885"/>
              </a:spcBef>
            </a:pP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Only</a:t>
            </a:r>
            <a:r>
              <a:rPr sz="2400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highly</a:t>
            </a:r>
            <a:r>
              <a:rPr sz="2400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mobile</a:t>
            </a:r>
            <a:r>
              <a:rPr sz="2400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systems</a:t>
            </a:r>
            <a:r>
              <a:rPr sz="24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(~500</a:t>
            </a:r>
            <a:r>
              <a:rPr sz="2400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Km/Hr)</a:t>
            </a:r>
            <a:r>
              <a:rPr sz="24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will</a:t>
            </a:r>
            <a:r>
              <a:rPr sz="24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have</a:t>
            </a:r>
            <a:r>
              <a:rPr sz="2400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fd</a:t>
            </a:r>
            <a:r>
              <a:rPr sz="2400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~1</a:t>
            </a:r>
            <a:r>
              <a:rPr sz="24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kHz</a:t>
            </a:r>
            <a:r>
              <a:rPr sz="24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Calibri"/>
                <a:cs typeface="Calibri"/>
              </a:rPr>
              <a:t>so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systems</a:t>
            </a:r>
            <a:r>
              <a:rPr sz="2400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having</a:t>
            </a:r>
            <a:r>
              <a:rPr sz="2400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signalling</a:t>
            </a:r>
            <a:r>
              <a:rPr sz="2400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rate</a:t>
            </a:r>
            <a:r>
              <a:rPr sz="2400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that</a:t>
            </a:r>
            <a:r>
              <a:rPr sz="2400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order</a:t>
            </a:r>
            <a:r>
              <a:rPr sz="2400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will</a:t>
            </a:r>
            <a:r>
              <a:rPr sz="2400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be</a:t>
            </a:r>
            <a:r>
              <a:rPr sz="2400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fast</a:t>
            </a:r>
            <a:r>
              <a:rPr sz="2400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fading.</a:t>
            </a:r>
            <a:endParaRPr sz="2400" dirty="0">
              <a:latin typeface="Calibri"/>
              <a:cs typeface="Calibri"/>
            </a:endParaRPr>
          </a:p>
          <a:p>
            <a:pPr marL="38100"/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Impact</a:t>
            </a:r>
            <a:r>
              <a:rPr sz="2400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fast</a:t>
            </a:r>
            <a:r>
              <a:rPr sz="2400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fading:</a:t>
            </a:r>
            <a:endParaRPr sz="2400" dirty="0">
              <a:latin typeface="Calibri"/>
              <a:cs typeface="Calibri"/>
            </a:endParaRPr>
          </a:p>
          <a:p>
            <a:pPr marL="309245" indent="-273050">
              <a:buSzPct val="95833"/>
              <a:buFont typeface="Wingdings"/>
              <a:buChar char=""/>
              <a:tabLst>
                <a:tab pos="309245" algn="l"/>
              </a:tabLst>
            </a:pP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Severe</a:t>
            </a:r>
            <a:r>
              <a:rPr sz="24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distortion</a:t>
            </a:r>
            <a:r>
              <a:rPr sz="2400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baseband</a:t>
            </a:r>
            <a:r>
              <a:rPr sz="2400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pulse</a:t>
            </a:r>
            <a:r>
              <a:rPr sz="2400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leading</a:t>
            </a:r>
            <a:r>
              <a:rPr sz="2400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r>
              <a:rPr sz="2400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detection</a:t>
            </a:r>
            <a:endParaRPr sz="2400" dirty="0">
              <a:latin typeface="Calibri"/>
              <a:cs typeface="Calibri"/>
            </a:endParaRPr>
          </a:p>
          <a:p>
            <a:pPr marL="38100">
              <a:spcBef>
                <a:spcPts val="5"/>
              </a:spcBef>
            </a:pP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problems</a:t>
            </a:r>
            <a:endParaRPr sz="2400" dirty="0">
              <a:latin typeface="Calibri"/>
              <a:cs typeface="Calibri"/>
            </a:endParaRPr>
          </a:p>
          <a:p>
            <a:pPr marL="309245" indent="-273050">
              <a:buSzPct val="95833"/>
              <a:buFont typeface="Wingdings"/>
              <a:buChar char=""/>
              <a:tabLst>
                <a:tab pos="309245" algn="l"/>
              </a:tabLst>
            </a:pP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Loss</a:t>
            </a:r>
            <a:r>
              <a:rPr sz="24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in</a:t>
            </a:r>
            <a:r>
              <a:rPr sz="2400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Calibri"/>
                <a:cs typeface="Calibri"/>
              </a:rPr>
              <a:t>SNR</a:t>
            </a:r>
            <a:endParaRPr sz="2400" dirty="0">
              <a:latin typeface="Calibri"/>
              <a:cs typeface="Calibri"/>
            </a:endParaRPr>
          </a:p>
          <a:p>
            <a:pPr marL="308610" indent="-273050">
              <a:buSzPct val="95833"/>
              <a:buFont typeface="Wingdings"/>
              <a:buChar char=""/>
              <a:tabLst>
                <a:tab pos="308610" algn="l"/>
              </a:tabLst>
            </a:pPr>
            <a:r>
              <a:rPr sz="2400" spc="-20" dirty="0">
                <a:solidFill>
                  <a:srgbClr val="00AF50"/>
                </a:solidFill>
                <a:latin typeface="Calibri"/>
                <a:cs typeface="Calibri"/>
              </a:rPr>
              <a:t>Synchronization</a:t>
            </a:r>
            <a:r>
              <a:rPr sz="2400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problems</a:t>
            </a:r>
            <a:r>
              <a:rPr sz="24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(e.g.</a:t>
            </a:r>
            <a:r>
              <a:rPr sz="24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Failure</a:t>
            </a:r>
            <a:r>
              <a:rPr sz="24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AF50"/>
                </a:solidFill>
                <a:latin typeface="Calibri"/>
                <a:cs typeface="Calibri"/>
              </a:rPr>
              <a:t>PLL)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779318"/>
            <a:ext cx="1182624" cy="3241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3600" y="1246909"/>
            <a:ext cx="1143000" cy="32419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Time</a:t>
            </a:r>
            <a:r>
              <a:rPr sz="4200" spc="-6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variance:</a:t>
            </a:r>
            <a:r>
              <a:rPr sz="4200" spc="-6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Slow</a:t>
            </a:r>
            <a:r>
              <a:rPr sz="4200" spc="-7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Fading</a:t>
            </a:r>
            <a:endParaRPr sz="4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8677" y="2245553"/>
            <a:ext cx="10349033" cy="3708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Slow</a:t>
            </a:r>
            <a:r>
              <a:rPr sz="24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Fading</a:t>
            </a:r>
            <a:r>
              <a:rPr sz="2400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AF50"/>
                </a:solid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1269365"/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where</a:t>
            </a:r>
            <a:r>
              <a:rPr sz="2400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T</a:t>
            </a:r>
            <a:r>
              <a:rPr sz="2400" baseline="-20833" dirty="0">
                <a:solidFill>
                  <a:srgbClr val="00AF50"/>
                </a:solidFill>
                <a:latin typeface="Calibri"/>
                <a:cs typeface="Calibri"/>
              </a:rPr>
              <a:t>s</a:t>
            </a:r>
            <a:r>
              <a:rPr sz="2400" spc="165" baseline="-20833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:</a:t>
            </a:r>
            <a:r>
              <a:rPr sz="2400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Calibri"/>
                <a:cs typeface="Calibri"/>
              </a:rPr>
              <a:t>Transmitted</a:t>
            </a:r>
            <a:r>
              <a:rPr sz="2400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Symbol</a:t>
            </a:r>
            <a:r>
              <a:rPr sz="2400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AF50"/>
                </a:solidFill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38100"/>
            <a:r>
              <a:rPr sz="2400" spc="-25" dirty="0">
                <a:solidFill>
                  <a:srgbClr val="00AF50"/>
                </a:solidFill>
                <a:latin typeface="Calibri"/>
                <a:cs typeface="Calibri"/>
              </a:rPr>
              <a:t>Or</a:t>
            </a:r>
            <a:endParaRPr sz="2400" dirty="0">
              <a:latin typeface="Calibri"/>
              <a:cs typeface="Calibri"/>
            </a:endParaRPr>
          </a:p>
          <a:p>
            <a:pPr marL="1269365"/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where</a:t>
            </a:r>
            <a:r>
              <a:rPr sz="24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W:</a:t>
            </a:r>
            <a:r>
              <a:rPr sz="24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Calibri"/>
                <a:cs typeface="Calibri"/>
              </a:rPr>
              <a:t>Transmitted</a:t>
            </a:r>
            <a:r>
              <a:rPr sz="2400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bandwidth</a:t>
            </a:r>
            <a:endParaRPr sz="2400" dirty="0">
              <a:latin typeface="Calibri"/>
              <a:cs typeface="Calibri"/>
            </a:endParaRPr>
          </a:p>
          <a:p>
            <a:pPr marL="38100" marR="565785"/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Above</a:t>
            </a:r>
            <a:r>
              <a:rPr sz="2400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relationship</a:t>
            </a:r>
            <a:r>
              <a:rPr sz="2400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means</a:t>
            </a:r>
            <a:r>
              <a:rPr sz="2400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that</a:t>
            </a:r>
            <a:r>
              <a:rPr sz="2400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channel</a:t>
            </a:r>
            <a:r>
              <a:rPr sz="2400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does</a:t>
            </a:r>
            <a:r>
              <a:rPr sz="2400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not</a:t>
            </a:r>
            <a:r>
              <a:rPr sz="2400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change drastically</a:t>
            </a:r>
            <a:r>
              <a:rPr sz="2400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during</a:t>
            </a:r>
            <a:r>
              <a:rPr sz="2400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symbol</a:t>
            </a:r>
            <a:r>
              <a:rPr sz="2400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duration</a:t>
            </a:r>
            <a:endParaRPr sz="2400" dirty="0">
              <a:latin typeface="Calibri"/>
              <a:cs typeface="Calibri"/>
            </a:endParaRPr>
          </a:p>
          <a:p>
            <a:pPr marL="38100" marR="30480">
              <a:spcBef>
                <a:spcPts val="5"/>
              </a:spcBef>
            </a:pP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Most</a:t>
            </a:r>
            <a:r>
              <a:rPr sz="24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modern</a:t>
            </a:r>
            <a:r>
              <a:rPr sz="2400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communication</a:t>
            </a:r>
            <a:r>
              <a:rPr sz="2400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systems</a:t>
            </a:r>
            <a:r>
              <a:rPr sz="24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are</a:t>
            </a:r>
            <a:r>
              <a:rPr sz="24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slow</a:t>
            </a:r>
            <a:r>
              <a:rPr sz="24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fading channels</a:t>
            </a:r>
            <a:endParaRPr sz="2400" dirty="0">
              <a:latin typeface="Calibri"/>
              <a:cs typeface="Calibri"/>
            </a:endParaRPr>
          </a:p>
          <a:p>
            <a:pPr marL="38100">
              <a:spcBef>
                <a:spcPts val="2885"/>
              </a:spcBef>
            </a:pP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Impact</a:t>
            </a:r>
            <a:r>
              <a:rPr sz="2400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fast</a:t>
            </a:r>
            <a:r>
              <a:rPr sz="2400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fading:</a:t>
            </a:r>
            <a:endParaRPr sz="2400" dirty="0">
              <a:latin typeface="Calibri"/>
              <a:cs typeface="Calibri"/>
            </a:endParaRPr>
          </a:p>
          <a:p>
            <a:pPr marL="309245" indent="-273050">
              <a:buSzPct val="95833"/>
              <a:buFont typeface="Wingdings"/>
              <a:buChar char=""/>
              <a:tabLst>
                <a:tab pos="309245" algn="l"/>
              </a:tabLst>
            </a:pP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Loss</a:t>
            </a:r>
            <a:r>
              <a:rPr sz="24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in</a:t>
            </a:r>
            <a:r>
              <a:rPr sz="2400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Calibri"/>
                <a:cs typeface="Calibri"/>
              </a:rPr>
              <a:t>SNR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1143000"/>
            <a:ext cx="1182624" cy="3241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0" y="1662546"/>
            <a:ext cx="1143000" cy="32419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Summary</a:t>
            </a:r>
            <a:r>
              <a:rPr sz="4200" spc="-6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of</a:t>
            </a:r>
            <a:r>
              <a:rPr sz="4200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dirty="0">
                <a:solidFill>
                  <a:srgbClr val="003399"/>
                </a:solidFill>
                <a:latin typeface="Arial"/>
                <a:cs typeface="Arial"/>
              </a:rPr>
              <a:t>Overall</a:t>
            </a:r>
            <a:r>
              <a:rPr sz="4200" spc="-2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200" spc="-10" dirty="0">
                <a:solidFill>
                  <a:srgbClr val="003399"/>
                </a:solidFill>
                <a:latin typeface="Arial"/>
                <a:cs typeface="Arial"/>
              </a:rPr>
              <a:t>Fading</a:t>
            </a:r>
            <a:endParaRPr sz="4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0299" y="2029907"/>
            <a:ext cx="8436864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244" y="199385"/>
            <a:ext cx="6667500" cy="1245213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Summary</a:t>
            </a:r>
            <a:r>
              <a:rPr sz="4000" spc="-3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of</a:t>
            </a:r>
            <a:r>
              <a:rPr sz="4000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3399"/>
                </a:solidFill>
                <a:latin typeface="Arial"/>
                <a:cs typeface="Arial"/>
              </a:rPr>
              <a:t>Multipath</a:t>
            </a:r>
            <a:r>
              <a:rPr sz="4000" spc="-3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4000" spc="-10" dirty="0">
                <a:solidFill>
                  <a:srgbClr val="003399"/>
                </a:solidFill>
                <a:latin typeface="Arial"/>
                <a:cs typeface="Arial"/>
              </a:rPr>
              <a:t>Fading characterization</a:t>
            </a:r>
            <a:endParaRPr sz="40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294" y="2343139"/>
            <a:ext cx="8552688" cy="364513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4D09-1F10-8776-9D4C-C3207FD3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(10Marks)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4B149-F84C-84F1-E1BC-3C0255BB0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006"/>
            <a:ext cx="10515600" cy="536521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You are required to conduct a </a:t>
            </a:r>
            <a:r>
              <a:rPr lang="en-US" b="1" dirty="0"/>
              <a:t>field-based measurement study</a:t>
            </a:r>
            <a:r>
              <a:rPr lang="en-US" dirty="0"/>
              <a:t> to evaluate the performance of </a:t>
            </a:r>
            <a:r>
              <a:rPr lang="en-US" b="1" dirty="0"/>
              <a:t>empirical radio propagation models</a:t>
            </a:r>
            <a:r>
              <a:rPr lang="en-US" dirty="0"/>
              <a:t> in a real outdoor environment.</a:t>
            </a:r>
          </a:p>
          <a:p>
            <a:pPr marL="0" indent="0">
              <a:buNone/>
            </a:pPr>
            <a:r>
              <a:rPr lang="en-US" dirty="0"/>
              <a:t>Using an existing </a:t>
            </a:r>
            <a:r>
              <a:rPr lang="en-US" b="1" dirty="0"/>
              <a:t>cellular base station (GSM/LTE/5G)</a:t>
            </a:r>
            <a:r>
              <a:rPr lang="en-US" dirty="0"/>
              <a:t> within your study area: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Collect received signal strength measurements</a:t>
            </a:r>
            <a:r>
              <a:rPr lang="en-US" dirty="0"/>
              <a:t> (RSSI/RSRP) at </a:t>
            </a:r>
            <a:r>
              <a:rPr lang="en-US" b="1" dirty="0"/>
              <a:t>not less than ten (10) different locations</a:t>
            </a:r>
            <a:r>
              <a:rPr lang="en-US" dirty="0"/>
              <a:t> using a smartphone-based measurement application.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Determine the separation distance</a:t>
            </a:r>
            <a:r>
              <a:rPr lang="en-US" dirty="0"/>
              <a:t> between the base station and each measurement point using GPS coordinates.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Compute the measured path loss</a:t>
            </a:r>
            <a:r>
              <a:rPr lang="en-US" dirty="0"/>
              <a:t> at each location from the collected data.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Estimate the path loss</a:t>
            </a:r>
            <a:r>
              <a:rPr lang="en-US" dirty="0"/>
              <a:t> using: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dirty="0"/>
              <a:t>the </a:t>
            </a:r>
            <a:r>
              <a:rPr lang="en-US" b="1" dirty="0"/>
              <a:t>Hata model</a:t>
            </a:r>
            <a:r>
              <a:rPr lang="en-US" dirty="0"/>
              <a:t>, and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dirty="0"/>
              <a:t>the </a:t>
            </a:r>
            <a:r>
              <a:rPr lang="en-US" b="1" dirty="0"/>
              <a:t>COST-231 Hata model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for the same distances and operating frequency.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Plot and compare</a:t>
            </a:r>
            <a:r>
              <a:rPr lang="en-US" dirty="0"/>
              <a:t> the measured path loss with the predicted path loss obtained from the two empirical models.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Evaluate the accuracy</a:t>
            </a:r>
            <a:r>
              <a:rPr lang="en-US" dirty="0"/>
              <a:t> of each model by calculating the </a:t>
            </a:r>
            <a:r>
              <a:rPr lang="en-US" b="1" dirty="0"/>
              <a:t>Root Mean Square Error (RMSE)</a:t>
            </a:r>
            <a:r>
              <a:rPr lang="en-US" dirty="0"/>
              <a:t>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Discuss the suitability</a:t>
            </a:r>
            <a:r>
              <a:rPr lang="en-US" dirty="0"/>
              <a:t> of the empirical models for the selected environment (urban, suburban, or rural) and </a:t>
            </a:r>
            <a:r>
              <a:rPr lang="en-US" b="1" dirty="0"/>
              <a:t>propose possible model tuning</a:t>
            </a:r>
            <a:r>
              <a:rPr lang="en-US" dirty="0"/>
              <a:t> to improve prediction accuracy.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err="1"/>
              <a:t>Softwares</a:t>
            </a:r>
            <a:r>
              <a:rPr lang="en-US" dirty="0"/>
              <a:t> to be used are </a:t>
            </a:r>
            <a:r>
              <a:rPr lang="en-US" dirty="0" err="1"/>
              <a:t>Cellmapper</a:t>
            </a:r>
            <a:r>
              <a:rPr lang="en-US" dirty="0"/>
              <a:t>/G-Net Track/Google map/</a:t>
            </a:r>
            <a:r>
              <a:rPr lang="en-US" dirty="0" err="1"/>
              <a:t>Matlab</a:t>
            </a:r>
            <a:r>
              <a:rPr lang="en-US" dirty="0"/>
              <a:t>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858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2668</Words>
  <Application>Microsoft Office PowerPoint</Application>
  <PresentationFormat>Widescreen</PresentationFormat>
  <Paragraphs>324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EMPIRICAL PROPAGATION MODELS</vt:lpstr>
      <vt:lpstr>Introduction</vt:lpstr>
      <vt:lpstr>PowerPoint Presentation</vt:lpstr>
      <vt:lpstr>Properties of Radio Waves</vt:lpstr>
      <vt:lpstr>Outdoor propagation Environment</vt:lpstr>
      <vt:lpstr>Outdoor propagation Environment</vt:lpstr>
      <vt:lpstr>Outdoor propagation Models</vt:lpstr>
      <vt:lpstr>Longley Rice Model</vt:lpstr>
      <vt:lpstr>PowerPoint Presentation</vt:lpstr>
      <vt:lpstr>Okumura Model</vt:lpstr>
      <vt:lpstr>PowerPoint Presentation</vt:lpstr>
      <vt:lpstr>PowerPoint Presentation</vt:lpstr>
      <vt:lpstr>PowerPoint Presentation</vt:lpstr>
      <vt:lpstr>Median Attenuation Relative to Free Space = Amu(f,d) (dB)</vt:lpstr>
      <vt:lpstr>Correction Factor GAREA</vt:lpstr>
      <vt:lpstr>Example</vt:lpstr>
      <vt:lpstr>Hata Model</vt:lpstr>
      <vt:lpstr>PowerPoint Presentation</vt:lpstr>
      <vt:lpstr>PowerPoint Presentation</vt:lpstr>
      <vt:lpstr>Indoor Models</vt:lpstr>
      <vt:lpstr>Indoor Models</vt:lpstr>
      <vt:lpstr>Indoor Models</vt:lpstr>
      <vt:lpstr>Partition losses (same floor)</vt:lpstr>
      <vt:lpstr>Partition losses (same floor)</vt:lpstr>
      <vt:lpstr>Partitions losses (between floors)</vt:lpstr>
      <vt:lpstr>Partitions losses (between floors)</vt:lpstr>
      <vt:lpstr>Log distance path loss model</vt:lpstr>
      <vt:lpstr>Log distance path loss model</vt:lpstr>
      <vt:lpstr>Ericsson Multiple Break Point Model</vt:lpstr>
      <vt:lpstr>Attenuation factor model</vt:lpstr>
      <vt:lpstr>Attenuation factor model</vt:lpstr>
      <vt:lpstr>Signal penetration into building</vt:lpstr>
      <vt:lpstr>Large, medium and small scale fading</vt:lpstr>
      <vt:lpstr>Cause of Multipath Fading</vt:lpstr>
      <vt:lpstr>Causes of Multipath fading Cont..</vt:lpstr>
      <vt:lpstr>Practical examples of small scale multipath fading</vt:lpstr>
      <vt:lpstr>Multipath Fading- Most difficult</vt:lpstr>
      <vt:lpstr>Rayleigh Fading Mechanism</vt:lpstr>
      <vt:lpstr>Rayleigh Fading</vt:lpstr>
      <vt:lpstr>With Rayleigh Fading</vt:lpstr>
      <vt:lpstr>Rayleigh Fading waveform envelope</vt:lpstr>
      <vt:lpstr>Time Dispersion phenomenon h(t)</vt:lpstr>
      <vt:lpstr>Delay Spread –Time Domain</vt:lpstr>
      <vt:lpstr>PowerPoint Presentation</vt:lpstr>
      <vt:lpstr>Delay Spread- Freq. Domain Interpretation</vt:lpstr>
      <vt:lpstr>Coherence Bandwidth</vt:lpstr>
      <vt:lpstr>Time spreading : Coherence Bandwidth</vt:lpstr>
      <vt:lpstr>Bit Rate Limitations by Delay Spread</vt:lpstr>
      <vt:lpstr>Coherence Bandwidth and delay spread</vt:lpstr>
      <vt:lpstr>Example</vt:lpstr>
      <vt:lpstr>Basic Doppler effect</vt:lpstr>
      <vt:lpstr>Doppler shift</vt:lpstr>
      <vt:lpstr>Waveform of Rayleigh Fading Signal</vt:lpstr>
      <vt:lpstr>Time Variance : Fast Fading</vt:lpstr>
      <vt:lpstr>Time variance: Slow Fading</vt:lpstr>
      <vt:lpstr>Summary of Overall Fading</vt:lpstr>
      <vt:lpstr>Summary of Multipath Fading characterization</vt:lpstr>
      <vt:lpstr>Assignment (10Marks)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SOSPETER</dc:creator>
  <cp:lastModifiedBy>JOSEPH SOSPETER</cp:lastModifiedBy>
  <cp:revision>5</cp:revision>
  <dcterms:created xsi:type="dcterms:W3CDTF">2025-12-16T12:21:32Z</dcterms:created>
  <dcterms:modified xsi:type="dcterms:W3CDTF">2025-12-23T13:18:42Z</dcterms:modified>
</cp:coreProperties>
</file>