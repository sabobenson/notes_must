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60" r:id="rId3"/>
  </p:sldMasterIdLst>
  <p:notesMasterIdLst>
    <p:notesMasterId r:id="rId15"/>
  </p:notesMasterIdLst>
  <p:sldIdLst>
    <p:sldId id="271" r:id="rId4"/>
    <p:sldId id="257" r:id="rId5"/>
    <p:sldId id="259" r:id="rId6"/>
    <p:sldId id="277" r:id="rId7"/>
    <p:sldId id="272" r:id="rId8"/>
    <p:sldId id="273" r:id="rId9"/>
    <p:sldId id="279" r:id="rId10"/>
    <p:sldId id="274" r:id="rId11"/>
    <p:sldId id="275" r:id="rId12"/>
    <p:sldId id="280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26" autoAdjust="0"/>
    <p:restoredTop sz="94280" autoAdjust="0"/>
  </p:normalViewPr>
  <p:slideViewPr>
    <p:cSldViewPr snapToGrid="0">
      <p:cViewPr varScale="1">
        <p:scale>
          <a:sx n="65" d="100"/>
          <a:sy n="65" d="100"/>
        </p:scale>
        <p:origin x="552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Chest X-ray images Datasets Distribution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758391505459147"/>
          <c:y val="0.11961336616551635"/>
          <c:w val="0.82602368199802512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Sheet1!$B$2:$B$4</c:f>
              <c:strCache>
                <c:ptCount val="3"/>
                <c:pt idx="0">
                  <c:v>Pulmonary Edema</c:v>
                </c:pt>
                <c:pt idx="1">
                  <c:v>No Edema</c:v>
                </c:pt>
                <c:pt idx="2">
                  <c:v>Supplementary Data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40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5-4158-B9B0-013079F8B1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65231872"/>
        <c:axId val="765232288"/>
      </c:barChart>
      <c:catAx>
        <c:axId val="765231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232288"/>
        <c:crosses val="autoZero"/>
        <c:auto val="1"/>
        <c:lblAlgn val="ctr"/>
        <c:lblOffset val="100"/>
        <c:noMultiLvlLbl val="0"/>
      </c:catAx>
      <c:valAx>
        <c:axId val="76523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33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800" dirty="0" smtClean="0">
                    <a:effectLst/>
                  </a:rPr>
                  <a:t>Number of Images</a:t>
                </a:r>
                <a:endParaRPr lang="en-US" dirty="0" smtClean="0">
                  <a:effectLst/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33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5231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6531090445085518"/>
          <c:y val="7.49999953863191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161307630789398"/>
          <c:y val="0.16180086357032092"/>
          <c:w val="0.84466646177983273"/>
          <c:h val="0.708341922469123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Accuracy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65</c:v>
                </c:pt>
                <c:pt idx="1">
                  <c:v>72</c:v>
                </c:pt>
                <c:pt idx="2">
                  <c:v>80</c:v>
                </c:pt>
                <c:pt idx="3">
                  <c:v>87</c:v>
                </c:pt>
                <c:pt idx="4">
                  <c:v>90</c:v>
                </c:pt>
                <c:pt idx="5">
                  <c:v>93</c:v>
                </c:pt>
                <c:pt idx="6">
                  <c:v>95</c:v>
                </c:pt>
                <c:pt idx="7">
                  <c:v>97</c:v>
                </c:pt>
                <c:pt idx="8">
                  <c:v>99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7F-427D-BF81-7F7FF8058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5529200"/>
        <c:axId val="1115529616"/>
      </c:lineChart>
      <c:catAx>
        <c:axId val="11155292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Training</a:t>
                </a:r>
                <a:r>
                  <a:rPr lang="en-US" baseline="0" dirty="0" smtClean="0"/>
                  <a:t> Epoch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529616"/>
        <c:crosses val="autoZero"/>
        <c:auto val="1"/>
        <c:lblAlgn val="ctr"/>
        <c:lblOffset val="100"/>
        <c:noMultiLvlLbl val="0"/>
      </c:catAx>
      <c:valAx>
        <c:axId val="1115529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Accuracy</a:t>
                </a:r>
                <a:r>
                  <a:rPr lang="en-US" baseline="0" dirty="0" smtClean="0"/>
                  <a:t> (%)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5529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0C7F2D-6EEA-49A5-84C8-24DEBCC6B053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229BE9A-3868-4B0B-81DF-21ADBE6D4C03}">
      <dgm:prSet phldrT="[Text]" custT="1"/>
      <dgm:spPr/>
      <dgm:t>
        <a:bodyPr/>
        <a:lstStyle/>
        <a:p>
          <a:r>
            <a:rPr lang="en-US" sz="2800" dirty="0" smtClean="0"/>
            <a:t>DATA</a:t>
          </a:r>
        </a:p>
        <a:p>
          <a:r>
            <a:rPr lang="en-US" sz="2800" dirty="0" smtClean="0"/>
            <a:t>COLLECTION</a:t>
          </a:r>
          <a:endParaRPr lang="en-US" sz="2800" dirty="0"/>
        </a:p>
      </dgm:t>
    </dgm:pt>
    <dgm:pt modelId="{7712A560-434A-4883-9EBF-74582A9CE23E}" type="parTrans" cxnId="{43F1DEE7-2FF1-408C-8667-B4B00C023293}">
      <dgm:prSet/>
      <dgm:spPr/>
      <dgm:t>
        <a:bodyPr/>
        <a:lstStyle/>
        <a:p>
          <a:endParaRPr lang="en-US"/>
        </a:p>
      </dgm:t>
    </dgm:pt>
    <dgm:pt modelId="{382B78B9-D7DB-4C3C-A3C3-D1D0F9B90DEB}" type="sibTrans" cxnId="{43F1DEE7-2FF1-408C-8667-B4B00C023293}">
      <dgm:prSet/>
      <dgm:spPr/>
      <dgm:t>
        <a:bodyPr/>
        <a:lstStyle/>
        <a:p>
          <a:endParaRPr lang="en-US"/>
        </a:p>
      </dgm:t>
    </dgm:pt>
    <dgm:pt modelId="{A8829262-64E4-4032-90D5-260A23C7076C}">
      <dgm:prSet phldrT="[Text]" custT="1"/>
      <dgm:spPr/>
      <dgm:t>
        <a:bodyPr/>
        <a:lstStyle/>
        <a:p>
          <a:r>
            <a:rPr lang="en-US" sz="2800" dirty="0" smtClean="0"/>
            <a:t>PREPROCESSING</a:t>
          </a:r>
          <a:endParaRPr lang="en-US" sz="5200" dirty="0"/>
        </a:p>
      </dgm:t>
    </dgm:pt>
    <dgm:pt modelId="{138B2E29-4044-4FD6-B173-A0E913DE673E}" type="parTrans" cxnId="{C03E7BA7-B19C-4722-A19C-5DC944A8F39F}">
      <dgm:prSet/>
      <dgm:spPr/>
      <dgm:t>
        <a:bodyPr/>
        <a:lstStyle/>
        <a:p>
          <a:endParaRPr lang="en-US"/>
        </a:p>
      </dgm:t>
    </dgm:pt>
    <dgm:pt modelId="{ABA2A7A2-4E1E-4BA5-A7CA-ACA343C2686D}" type="sibTrans" cxnId="{C03E7BA7-B19C-4722-A19C-5DC944A8F39F}">
      <dgm:prSet/>
      <dgm:spPr/>
      <dgm:t>
        <a:bodyPr/>
        <a:lstStyle/>
        <a:p>
          <a:endParaRPr lang="en-US"/>
        </a:p>
      </dgm:t>
    </dgm:pt>
    <dgm:pt modelId="{122BF8E4-60E8-4A9D-8463-C43E732D08EF}">
      <dgm:prSet phldrT="[Text]" custT="1"/>
      <dgm:spPr/>
      <dgm:t>
        <a:bodyPr/>
        <a:lstStyle/>
        <a:p>
          <a:r>
            <a:rPr lang="en-US" sz="2800" dirty="0" smtClean="0"/>
            <a:t>MODEL </a:t>
          </a:r>
        </a:p>
        <a:p>
          <a:r>
            <a:rPr lang="en-US" sz="2800" dirty="0" smtClean="0"/>
            <a:t>TRAINING</a:t>
          </a:r>
          <a:endParaRPr lang="en-US" sz="2800" dirty="0"/>
        </a:p>
      </dgm:t>
    </dgm:pt>
    <dgm:pt modelId="{708AA76A-4077-47C1-BA45-F56CB5EC6FF7}" type="parTrans" cxnId="{465C4C0D-2066-4681-B736-705A827F5F80}">
      <dgm:prSet/>
      <dgm:spPr/>
      <dgm:t>
        <a:bodyPr/>
        <a:lstStyle/>
        <a:p>
          <a:endParaRPr lang="en-US"/>
        </a:p>
      </dgm:t>
    </dgm:pt>
    <dgm:pt modelId="{7C6EB1EF-74C1-4173-98CF-4390ADCE70FC}" type="sibTrans" cxnId="{465C4C0D-2066-4681-B736-705A827F5F80}">
      <dgm:prSet/>
      <dgm:spPr/>
      <dgm:t>
        <a:bodyPr/>
        <a:lstStyle/>
        <a:p>
          <a:endParaRPr lang="en-US"/>
        </a:p>
      </dgm:t>
    </dgm:pt>
    <dgm:pt modelId="{3ADF7925-CBA2-4D03-B3D4-99B56A7B51FE}">
      <dgm:prSet phldrT="[Text]" custT="1"/>
      <dgm:spPr/>
      <dgm:t>
        <a:bodyPr/>
        <a:lstStyle/>
        <a:p>
          <a:r>
            <a:rPr lang="en-US" sz="2800" dirty="0" smtClean="0"/>
            <a:t>EVALUATION</a:t>
          </a:r>
          <a:endParaRPr lang="en-US" sz="2800" dirty="0"/>
        </a:p>
      </dgm:t>
    </dgm:pt>
    <dgm:pt modelId="{8E1E35F0-2C61-4253-8D62-0D4EE701B658}" type="parTrans" cxnId="{8D8B522A-B737-48EB-9561-476BD81ECADD}">
      <dgm:prSet/>
      <dgm:spPr/>
      <dgm:t>
        <a:bodyPr/>
        <a:lstStyle/>
        <a:p>
          <a:endParaRPr lang="en-US"/>
        </a:p>
      </dgm:t>
    </dgm:pt>
    <dgm:pt modelId="{DB5C3F74-F9C3-4993-B789-30AD1E4085E4}" type="sibTrans" cxnId="{8D8B522A-B737-48EB-9561-476BD81ECADD}">
      <dgm:prSet/>
      <dgm:spPr/>
      <dgm:t>
        <a:bodyPr/>
        <a:lstStyle/>
        <a:p>
          <a:endParaRPr lang="en-US"/>
        </a:p>
      </dgm:t>
    </dgm:pt>
    <dgm:pt modelId="{EFACA0E8-AAD0-43D5-80E9-9949EC907C17}">
      <dgm:prSet phldrT="[Text]" custT="1"/>
      <dgm:spPr/>
      <dgm:t>
        <a:bodyPr/>
        <a:lstStyle/>
        <a:p>
          <a:r>
            <a:rPr lang="en-US" sz="2800" dirty="0" smtClean="0"/>
            <a:t>EXPLAINABILITY</a:t>
          </a:r>
          <a:endParaRPr lang="en-US" sz="2800" dirty="0"/>
        </a:p>
      </dgm:t>
    </dgm:pt>
    <dgm:pt modelId="{54022943-AE9C-40C8-8EB7-48C305BEF835}" type="parTrans" cxnId="{9B50E3EA-2B2C-4477-9715-4DA644CE164B}">
      <dgm:prSet/>
      <dgm:spPr/>
      <dgm:t>
        <a:bodyPr/>
        <a:lstStyle/>
        <a:p>
          <a:endParaRPr lang="en-US"/>
        </a:p>
      </dgm:t>
    </dgm:pt>
    <dgm:pt modelId="{0FB35EB4-DE18-4AE2-9179-9A34D15AAA84}" type="sibTrans" cxnId="{9B50E3EA-2B2C-4477-9715-4DA644CE164B}">
      <dgm:prSet/>
      <dgm:spPr/>
      <dgm:t>
        <a:bodyPr/>
        <a:lstStyle/>
        <a:p>
          <a:endParaRPr lang="en-US"/>
        </a:p>
      </dgm:t>
    </dgm:pt>
    <dgm:pt modelId="{92C31318-10CF-43D0-B8B9-443B6E007357}" type="pres">
      <dgm:prSet presAssocID="{B80C7F2D-6EEA-49A5-84C8-24DEBCC6B053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02732A-ACE6-44F4-B250-170A51091329}" type="pres">
      <dgm:prSet presAssocID="{B80C7F2D-6EEA-49A5-84C8-24DEBCC6B053}" presName="cycle" presStyleCnt="0"/>
      <dgm:spPr/>
    </dgm:pt>
    <dgm:pt modelId="{ECACDEB0-0937-4A3C-8317-54F747F4BA9F}" type="pres">
      <dgm:prSet presAssocID="{2229BE9A-3868-4B0B-81DF-21ADBE6D4C03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E675D-D61A-4843-BA34-722CBEB6E06E}" type="pres">
      <dgm:prSet presAssocID="{382B78B9-D7DB-4C3C-A3C3-D1D0F9B90DEB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DC5C78EA-82FD-47BB-9DDC-8F3D904AB0AD}" type="pres">
      <dgm:prSet presAssocID="{A8829262-64E4-4032-90D5-260A23C7076C}" presName="nodeFollowingNodes" presStyleLbl="node1" presStyleIdx="1" presStyleCnt="5" custScaleX="133229" custScaleY="115331" custRadScaleRad="99525" custRadScaleInc="14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302200-76F2-468A-A552-E9FCC631F743}" type="pres">
      <dgm:prSet presAssocID="{122BF8E4-60E8-4A9D-8463-C43E732D08EF}" presName="nodeFollowingNodes" presStyleLbl="node1" presStyleIdx="2" presStyleCnt="5" custRadScaleRad="101651" custRadScaleInc="-1296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475CE-7948-48CB-AF55-D267525158D1}" type="pres">
      <dgm:prSet presAssocID="{3ADF7925-CBA2-4D03-B3D4-99B56A7B51FE}" presName="nodeFollowingNodes" presStyleLbl="node1" presStyleIdx="3" presStyleCnt="5" custScaleX="117063" custScaleY="102766" custRadScaleRad="107117" custRadScaleInc="1209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CD48D88-0547-4085-A61B-B952EC8450F7}" type="pres">
      <dgm:prSet presAssocID="{EFACA0E8-AAD0-43D5-80E9-9949EC907C17}" presName="nodeFollowingNodes" presStyleLbl="node1" presStyleIdx="4" presStyleCnt="5" custScaleX="129631" custScaleY="947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5E952B-93B0-44D0-AB1A-D7AE39915C54}" type="presOf" srcId="{EFACA0E8-AAD0-43D5-80E9-9949EC907C17}" destId="{9CD48D88-0547-4085-A61B-B952EC8450F7}" srcOrd="0" destOrd="0" presId="urn:microsoft.com/office/officeart/2005/8/layout/cycle3"/>
    <dgm:cxn modelId="{56B99EC1-5A2F-45D1-A754-2B3A1DCDEF35}" type="presOf" srcId="{A8829262-64E4-4032-90D5-260A23C7076C}" destId="{DC5C78EA-82FD-47BB-9DDC-8F3D904AB0AD}" srcOrd="0" destOrd="0" presId="urn:microsoft.com/office/officeart/2005/8/layout/cycle3"/>
    <dgm:cxn modelId="{8D8B522A-B737-48EB-9561-476BD81ECADD}" srcId="{B80C7F2D-6EEA-49A5-84C8-24DEBCC6B053}" destId="{3ADF7925-CBA2-4D03-B3D4-99B56A7B51FE}" srcOrd="3" destOrd="0" parTransId="{8E1E35F0-2C61-4253-8D62-0D4EE701B658}" sibTransId="{DB5C3F74-F9C3-4993-B789-30AD1E4085E4}"/>
    <dgm:cxn modelId="{C03E7BA7-B19C-4722-A19C-5DC944A8F39F}" srcId="{B80C7F2D-6EEA-49A5-84C8-24DEBCC6B053}" destId="{A8829262-64E4-4032-90D5-260A23C7076C}" srcOrd="1" destOrd="0" parTransId="{138B2E29-4044-4FD6-B173-A0E913DE673E}" sibTransId="{ABA2A7A2-4E1E-4BA5-A7CA-ACA343C2686D}"/>
    <dgm:cxn modelId="{4985BA0F-386B-47D4-98E0-B2CD919DCE55}" type="presOf" srcId="{382B78B9-D7DB-4C3C-A3C3-D1D0F9B90DEB}" destId="{D30E675D-D61A-4843-BA34-722CBEB6E06E}" srcOrd="0" destOrd="0" presId="urn:microsoft.com/office/officeart/2005/8/layout/cycle3"/>
    <dgm:cxn modelId="{64C98990-20DF-448F-8763-78D923D3562F}" type="presOf" srcId="{2229BE9A-3868-4B0B-81DF-21ADBE6D4C03}" destId="{ECACDEB0-0937-4A3C-8317-54F747F4BA9F}" srcOrd="0" destOrd="0" presId="urn:microsoft.com/office/officeart/2005/8/layout/cycle3"/>
    <dgm:cxn modelId="{DF36EAFA-8D09-4D80-ABDC-2DA5854D1976}" type="presOf" srcId="{3ADF7925-CBA2-4D03-B3D4-99B56A7B51FE}" destId="{646475CE-7948-48CB-AF55-D267525158D1}" srcOrd="0" destOrd="0" presId="urn:microsoft.com/office/officeart/2005/8/layout/cycle3"/>
    <dgm:cxn modelId="{43F1DEE7-2FF1-408C-8667-B4B00C023293}" srcId="{B80C7F2D-6EEA-49A5-84C8-24DEBCC6B053}" destId="{2229BE9A-3868-4B0B-81DF-21ADBE6D4C03}" srcOrd="0" destOrd="0" parTransId="{7712A560-434A-4883-9EBF-74582A9CE23E}" sibTransId="{382B78B9-D7DB-4C3C-A3C3-D1D0F9B90DEB}"/>
    <dgm:cxn modelId="{9B50E3EA-2B2C-4477-9715-4DA644CE164B}" srcId="{B80C7F2D-6EEA-49A5-84C8-24DEBCC6B053}" destId="{EFACA0E8-AAD0-43D5-80E9-9949EC907C17}" srcOrd="4" destOrd="0" parTransId="{54022943-AE9C-40C8-8EB7-48C305BEF835}" sibTransId="{0FB35EB4-DE18-4AE2-9179-9A34D15AAA84}"/>
    <dgm:cxn modelId="{D3C31639-8243-4FE3-97CF-F1CAB1796084}" type="presOf" srcId="{122BF8E4-60E8-4A9D-8463-C43E732D08EF}" destId="{3D302200-76F2-468A-A552-E9FCC631F743}" srcOrd="0" destOrd="0" presId="urn:microsoft.com/office/officeart/2005/8/layout/cycle3"/>
    <dgm:cxn modelId="{465C4C0D-2066-4681-B736-705A827F5F80}" srcId="{B80C7F2D-6EEA-49A5-84C8-24DEBCC6B053}" destId="{122BF8E4-60E8-4A9D-8463-C43E732D08EF}" srcOrd="2" destOrd="0" parTransId="{708AA76A-4077-47C1-BA45-F56CB5EC6FF7}" sibTransId="{7C6EB1EF-74C1-4173-98CF-4390ADCE70FC}"/>
    <dgm:cxn modelId="{31D35D26-7609-4112-A020-C105A790E34A}" type="presOf" srcId="{B80C7F2D-6EEA-49A5-84C8-24DEBCC6B053}" destId="{92C31318-10CF-43D0-B8B9-443B6E007357}" srcOrd="0" destOrd="0" presId="urn:microsoft.com/office/officeart/2005/8/layout/cycle3"/>
    <dgm:cxn modelId="{0D3CE828-5B58-4DF5-B170-805FC1EF3231}" type="presParOf" srcId="{92C31318-10CF-43D0-B8B9-443B6E007357}" destId="{9902732A-ACE6-44F4-B250-170A51091329}" srcOrd="0" destOrd="0" presId="urn:microsoft.com/office/officeart/2005/8/layout/cycle3"/>
    <dgm:cxn modelId="{8AF3BEBB-7FCA-47CD-87A3-0D1A25183600}" type="presParOf" srcId="{9902732A-ACE6-44F4-B250-170A51091329}" destId="{ECACDEB0-0937-4A3C-8317-54F747F4BA9F}" srcOrd="0" destOrd="0" presId="urn:microsoft.com/office/officeart/2005/8/layout/cycle3"/>
    <dgm:cxn modelId="{6E66CDEF-EF61-4CA2-8137-C9535DFF7D46}" type="presParOf" srcId="{9902732A-ACE6-44F4-B250-170A51091329}" destId="{D30E675D-D61A-4843-BA34-722CBEB6E06E}" srcOrd="1" destOrd="0" presId="urn:microsoft.com/office/officeart/2005/8/layout/cycle3"/>
    <dgm:cxn modelId="{2501751E-7FEF-45B8-907C-3319D18A8549}" type="presParOf" srcId="{9902732A-ACE6-44F4-B250-170A51091329}" destId="{DC5C78EA-82FD-47BB-9DDC-8F3D904AB0AD}" srcOrd="2" destOrd="0" presId="urn:microsoft.com/office/officeart/2005/8/layout/cycle3"/>
    <dgm:cxn modelId="{EC89F524-6B4A-41EE-88A6-3F213836E594}" type="presParOf" srcId="{9902732A-ACE6-44F4-B250-170A51091329}" destId="{3D302200-76F2-468A-A552-E9FCC631F743}" srcOrd="3" destOrd="0" presId="urn:microsoft.com/office/officeart/2005/8/layout/cycle3"/>
    <dgm:cxn modelId="{E8DB3FF4-D53A-4FF8-88AF-75C2CA42162D}" type="presParOf" srcId="{9902732A-ACE6-44F4-B250-170A51091329}" destId="{646475CE-7948-48CB-AF55-D267525158D1}" srcOrd="4" destOrd="0" presId="urn:microsoft.com/office/officeart/2005/8/layout/cycle3"/>
    <dgm:cxn modelId="{ED9233AA-7E14-4312-92AE-D3D1F01E3DF5}" type="presParOf" srcId="{9902732A-ACE6-44F4-B250-170A51091329}" destId="{9CD48D88-0547-4085-A61B-B952EC8450F7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E675D-D61A-4843-BA34-722CBEB6E06E}">
      <dsp:nvSpPr>
        <dsp:cNvPr id="0" name=""/>
        <dsp:cNvSpPr/>
      </dsp:nvSpPr>
      <dsp:spPr>
        <a:xfrm>
          <a:off x="1766737" y="-34560"/>
          <a:ext cx="4556041" cy="4556041"/>
        </a:xfrm>
        <a:prstGeom prst="circularArrow">
          <a:avLst>
            <a:gd name="adj1" fmla="val 5544"/>
            <a:gd name="adj2" fmla="val 330680"/>
            <a:gd name="adj3" fmla="val 13769696"/>
            <a:gd name="adj4" fmla="val 1738975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CDEB0-0937-4A3C-8317-54F747F4BA9F}">
      <dsp:nvSpPr>
        <dsp:cNvPr id="0" name=""/>
        <dsp:cNvSpPr/>
      </dsp:nvSpPr>
      <dsp:spPr>
        <a:xfrm>
          <a:off x="2975180" y="-5617"/>
          <a:ext cx="2139156" cy="106957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DATA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COLLECTION</a:t>
          </a:r>
          <a:endParaRPr lang="en-US" sz="2800" kern="1200" dirty="0"/>
        </a:p>
      </dsp:txBody>
      <dsp:txXfrm>
        <a:off x="3027392" y="46595"/>
        <a:ext cx="2034732" cy="965154"/>
      </dsp:txXfrm>
    </dsp:sp>
    <dsp:sp modelId="{DC5C78EA-82FD-47BB-9DDC-8F3D904AB0AD}">
      <dsp:nvSpPr>
        <dsp:cNvPr id="0" name=""/>
        <dsp:cNvSpPr/>
      </dsp:nvSpPr>
      <dsp:spPr>
        <a:xfrm>
          <a:off x="4467554" y="1285460"/>
          <a:ext cx="2849976" cy="12335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PREPROCESSING</a:t>
          </a:r>
          <a:endParaRPr lang="en-US" sz="5200" kern="1200" dirty="0"/>
        </a:p>
      </dsp:txBody>
      <dsp:txXfrm>
        <a:off x="4527771" y="1345677"/>
        <a:ext cx="2729542" cy="1113121"/>
      </dsp:txXfrm>
    </dsp:sp>
    <dsp:sp modelId="{3D302200-76F2-468A-A552-E9FCC631F743}">
      <dsp:nvSpPr>
        <dsp:cNvPr id="0" name=""/>
        <dsp:cNvSpPr/>
      </dsp:nvSpPr>
      <dsp:spPr>
        <a:xfrm>
          <a:off x="4341636" y="3363171"/>
          <a:ext cx="2139156" cy="106957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MODEL 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TRAINING</a:t>
          </a:r>
          <a:endParaRPr lang="en-US" sz="2800" kern="1200" dirty="0"/>
        </a:p>
      </dsp:txBody>
      <dsp:txXfrm>
        <a:off x="4393848" y="3415383"/>
        <a:ext cx="2034732" cy="965154"/>
      </dsp:txXfrm>
    </dsp:sp>
    <dsp:sp modelId="{646475CE-7948-48CB-AF55-D267525158D1}">
      <dsp:nvSpPr>
        <dsp:cNvPr id="0" name=""/>
        <dsp:cNvSpPr/>
      </dsp:nvSpPr>
      <dsp:spPr>
        <a:xfrm>
          <a:off x="1366556" y="3438169"/>
          <a:ext cx="2504160" cy="109916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EVALUATION</a:t>
          </a:r>
          <a:endParaRPr lang="en-US" sz="2800" kern="1200" dirty="0"/>
        </a:p>
      </dsp:txBody>
      <dsp:txXfrm>
        <a:off x="1420213" y="3491826"/>
        <a:ext cx="2396846" cy="991848"/>
      </dsp:txXfrm>
    </dsp:sp>
    <dsp:sp modelId="{9CD48D88-0547-4085-A61B-B952EC8450F7}">
      <dsp:nvSpPr>
        <dsp:cNvPr id="0" name=""/>
        <dsp:cNvSpPr/>
      </dsp:nvSpPr>
      <dsp:spPr>
        <a:xfrm>
          <a:off x="810469" y="1364973"/>
          <a:ext cx="2773009" cy="101338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EXPLAINABILITY</a:t>
          </a:r>
          <a:endParaRPr lang="en-US" sz="2800" kern="1200" dirty="0"/>
        </a:p>
      </dsp:txBody>
      <dsp:txXfrm>
        <a:off x="859938" y="1414442"/>
        <a:ext cx="2674071" cy="914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11D1A-A6DD-4E1D-81ED-CA27A88F0505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688E-05E2-4E47-B1FB-B91784BB4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64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Frameworks &amp;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TensorFlow &amp; Keras</a:t>
            </a:r>
            <a:r>
              <a:rPr lang="en-US" dirty="0" smtClean="0">
                <a:effectLst/>
              </a:rPr>
              <a:t> → Model building and training.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OpenCV</a:t>
            </a:r>
            <a:r>
              <a:rPr lang="en-US" dirty="0" smtClean="0">
                <a:effectLst/>
              </a:rPr>
              <a:t> → Image preprocessing (resizing, normalization).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Matplotlib &amp; </a:t>
            </a:r>
            <a:r>
              <a:rPr lang="en-US" b="1" dirty="0" err="1" smtClean="0">
                <a:effectLst/>
              </a:rPr>
              <a:t>Seaborn</a:t>
            </a:r>
            <a:r>
              <a:rPr lang="en-US" dirty="0" smtClean="0">
                <a:effectLst/>
              </a:rPr>
              <a:t> → Graphical analysis and visualization.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Grad-CAM</a:t>
            </a:r>
            <a:r>
              <a:rPr lang="en-US" dirty="0" smtClean="0">
                <a:effectLst/>
              </a:rPr>
              <a:t> → Explainability through heatmaps.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effectLst/>
            </a:endParaRPr>
          </a:p>
          <a:p>
            <a:r>
              <a:rPr lang="en-US" b="1" dirty="0" smtClean="0"/>
              <a:t>Visualization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Grad-CAM</a:t>
            </a:r>
            <a:r>
              <a:rPr lang="en-US" dirty="0" smtClean="0">
                <a:effectLst/>
              </a:rPr>
              <a:t> → Interpretability maps.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effectLst/>
              </a:rPr>
              <a:t>Matplotlib</a:t>
            </a:r>
            <a:r>
              <a:rPr lang="en-US" dirty="0" smtClean="0">
                <a:effectLst/>
              </a:rPr>
              <a:t> → Charts and graphs for dataset distribution and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Microsoft </a:t>
            </a:r>
            <a:r>
              <a:rPr lang="en-US" dirty="0" err="1" smtClean="0">
                <a:effectLst/>
              </a:rPr>
              <a:t>Excell</a:t>
            </a:r>
            <a:endParaRPr lang="en-US" dirty="0" smtClean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688E-05E2-4E47-B1FB-B91784BB44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05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DDF2E-B2E7-42BB-BC2E-2A0E1A78B21F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22D06-6853-4C2C-8FDA-21404816D91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1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88AC-50BA-4CF3-9E12-3BA5EB9FBD18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1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8C5F4-4345-4E5F-971B-A9E15A7805BA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F7808-366F-42BD-A287-EC3B0A7882CC}" type="datetime1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7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504E-59BE-4E8D-9047-E8B3B46D5B18}" type="datetime1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4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7EE05-C01B-490A-A7DF-F6BB06773C83}" type="datetime1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7290A-DBCA-49E2-A879-99DDF2C389F7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2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3E94-697B-46CE-96D5-54C95E2218C5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808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EC891-3D4E-4DD8-9A82-4C88AC62EEE6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8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A40E5-F74D-4049-9ACF-5F12A24CFB73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4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85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003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5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79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5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78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16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02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08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95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27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553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270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305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907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922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3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252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961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70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70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5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C806-5DC8-4050-813A-0DAC933544AD}" type="datetime1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65572" y="63797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1886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C99-BD6B-4C57-8A48-3E6D54C7A12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68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F58D-6C02-4108-B809-625C13EF4297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E0C18-DD67-45D8-8C41-76CB455713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8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995EA-C90E-43CC-8413-3975432A004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6087C-2CA5-4731-B7A8-539AD9679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65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19270" y="3568700"/>
            <a:ext cx="11953461" cy="274319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GB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MODEL FOR PULMONARY EDEMA DETECTION IN CHEST X-RAY IMAGES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Student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BONIFACE BEN SANKWA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Registration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number: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22100934340091</a:t>
            </a:r>
          </a:p>
          <a:p>
            <a:pPr lvl="0" algn="just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b="1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Supervisor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Dr. NYATEGA</a:t>
            </a:r>
          </a:p>
        </p:txBody>
      </p:sp>
      <p:pic>
        <p:nvPicPr>
          <p:cNvPr id="4" name="Picture 3" descr="IMG-20221204-WA00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90" t="5461" r="1059" b="18885"/>
          <a:stretch/>
        </p:blipFill>
        <p:spPr bwMode="auto">
          <a:xfrm>
            <a:off x="3763616" y="618209"/>
            <a:ext cx="4611757" cy="173784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/>
          <p:cNvSpPr/>
          <p:nvPr/>
        </p:nvSpPr>
        <p:spPr>
          <a:xfrm>
            <a:off x="92762" y="2356052"/>
            <a:ext cx="11953461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OF INFORMATION AND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92692" y="26430"/>
            <a:ext cx="9753600" cy="50358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MBEYA UNIVERSITY    OF   SCIENCE    AND     TECHNOLOGY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9270" y="2859635"/>
            <a:ext cx="11953461" cy="7090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</a:t>
            </a:r>
            <a:r>
              <a:rPr 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 ENGINEERING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3570633"/>
            <a:ext cx="11536962" cy="10033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>
              <a:lnSpc>
                <a:spcPct val="90000"/>
              </a:lnSpc>
              <a:spcBef>
                <a:spcPts val="1000"/>
              </a:spcBef>
            </a:pPr>
            <a:r>
              <a:rPr lang="en-GB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GB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FOR PULMONARY EDEMA DETECTION IN CHEST X-RAY IMAGES</a:t>
            </a:r>
          </a:p>
        </p:txBody>
      </p:sp>
    </p:spTree>
    <p:extLst>
      <p:ext uri="{BB962C8B-B14F-4D97-AF65-F5344CB8AC3E}">
        <p14:creationId xmlns:p14="http://schemas.microsoft.com/office/powerpoint/2010/main" val="342016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Information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974"/>
            <a:ext cx="10515600" cy="531412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is caused by fluid accumulation in the lungs.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affects breathing and oxygen exchange.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Chest X-rays are commonly used for lung diagnosis.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interpretation is challenging and error-prone.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offers automated and accurate detection.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 AI models often act as “black-boxes”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9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3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depends on skilled radiologists.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Many hospitals lack enough specialists.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edema looks similar to pneumonia.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diagnosis may lead to delays and errors.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lack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</a:p>
          <a:p>
            <a:pPr>
              <a:lnSpc>
                <a:spcPct val="150000"/>
              </a:lnSpc>
            </a:pPr>
            <a:r>
              <a:rPr lang="en-US" dirty="0"/>
              <a:t>Doctors struggle to trust AI predictions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2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4693920" y="6629400"/>
            <a:ext cx="2743200" cy="365125"/>
          </a:xfrm>
        </p:spPr>
        <p:txBody>
          <a:bodyPr/>
          <a:lstStyle/>
          <a:p>
            <a:fld id="{2941CC99-BD6B-4C57-8A48-3E6D54C7A121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55418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36418"/>
            <a:ext cx="3726873" cy="4849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-30480" y="952499"/>
            <a:ext cx="12192000" cy="13577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system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pulmonary edema in chest X-ray images, capable of providing diagnostic results along with visual explanations of the regions used for prediction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570019"/>
            <a:ext cx="4308764" cy="58189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Specific 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" y="3151910"/>
            <a:ext cx="12161520" cy="347749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pulmonary edema features in X-ray images.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chest X-ray datasets.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 CNN model for detection.</a:t>
            </a: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</a:rPr>
              <a:t>Apply Explainable AI techniques.</a:t>
            </a:r>
            <a:endParaRPr 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lvl="0" indent="-571500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performance.</a:t>
            </a:r>
          </a:p>
          <a:p>
            <a:pPr marL="571500" lvl="0" indent="-571500" algn="just">
              <a:spcBef>
                <a:spcPts val="1000"/>
              </a:spcBef>
              <a:buFont typeface="+mj-lt"/>
              <a:buAutoNum type="romanLcPeriod"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web interface </a:t>
            </a:r>
            <a:r>
              <a:rPr lang="en-US" sz="2800" dirty="0">
                <a:solidFill>
                  <a:prstClr val="black"/>
                </a:solidFill>
              </a:rPr>
              <a:t>to display predictions and heatmaps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705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609329655"/>
              </p:ext>
            </p:extLst>
          </p:nvPr>
        </p:nvGraphicFramePr>
        <p:xfrm>
          <a:off x="1509486" y="1152938"/>
          <a:ext cx="8128000" cy="4587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166599" y="145773"/>
            <a:ext cx="10813774" cy="6758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4860" y="6072071"/>
            <a:ext cx="9157252" cy="3287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Agile methodology diagram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08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837965"/>
              </p:ext>
            </p:extLst>
          </p:nvPr>
        </p:nvGraphicFramePr>
        <p:xfrm>
          <a:off x="795129" y="997962"/>
          <a:ext cx="10257183" cy="478998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636764">
                  <a:extLst>
                    <a:ext uri="{9D8B030D-6E8A-4147-A177-3AD203B41FA5}">
                      <a16:colId xmlns:a16="http://schemas.microsoft.com/office/drawing/2014/main" val="605618545"/>
                    </a:ext>
                  </a:extLst>
                </a:gridCol>
                <a:gridCol w="7620419">
                  <a:extLst>
                    <a:ext uri="{9D8B030D-6E8A-4147-A177-3AD203B41FA5}">
                      <a16:colId xmlns:a16="http://schemas.microsoft.com/office/drawing/2014/main" val="266715288"/>
                    </a:ext>
                  </a:extLst>
                </a:gridCol>
              </a:tblGrid>
              <a:tr h="6751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028317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Chest X-ray images were obtained from Mbeya Regional Hospital.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317651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Images were resized, normalized, and augmented to improve quality and diversity.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01101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 Convolutional Neural Network (CNN) was trained to classify X-ray images.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6550163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Performance was assessed using accuracy, sensitivity, specificity, and AUC metrics.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015123"/>
                  </a:ext>
                </a:extLst>
              </a:tr>
              <a:tr h="675186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Visualization techniques such as Grad-CAM were applied to interpret model decisions.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002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142705"/>
            <a:ext cx="12192000" cy="6626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Descriptions</a:t>
            </a:r>
          </a:p>
        </p:txBody>
      </p:sp>
    </p:spTree>
    <p:extLst>
      <p:ext uri="{BB962C8B-B14F-4D97-AF65-F5344CB8AC3E}">
        <p14:creationId xmlns:p14="http://schemas.microsoft.com/office/powerpoint/2010/main" val="1459449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6"/>
            <a:ext cx="10515600" cy="867930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319159" y="6492875"/>
            <a:ext cx="2743200" cy="365125"/>
          </a:xfrm>
        </p:spPr>
        <p:txBody>
          <a:bodyPr/>
          <a:lstStyle/>
          <a:p>
            <a:fld id="{2941CC99-BD6B-4C57-8A48-3E6D54C7A121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6364" y="1080656"/>
            <a:ext cx="5015345" cy="59574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: Python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6364" y="2531847"/>
            <a:ext cx="4724400" cy="42097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&amp;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6365" y="1814945"/>
            <a:ext cx="3855522" cy="59574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&amp; Libraries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364" y="2952823"/>
            <a:ext cx="3228109" cy="51427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364" y="3467100"/>
            <a:ext cx="3422072" cy="5507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46363" y="4045527"/>
            <a:ext cx="3588327" cy="5403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Grad-CAM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6363" y="4696691"/>
            <a:ext cx="4876801" cy="6234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Environment : Laptop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320145"/>
            <a:ext cx="2493819" cy="4849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6582" y="5805055"/>
            <a:ext cx="4488873" cy="102177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Mbeya Regional Hospital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Public Medical Archives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44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149167"/>
              </p:ext>
            </p:extLst>
          </p:nvPr>
        </p:nvGraphicFramePr>
        <p:xfrm>
          <a:off x="543339" y="1991874"/>
          <a:ext cx="11105321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5964">
                  <a:extLst>
                    <a:ext uri="{9D8B030D-6E8A-4147-A177-3AD203B41FA5}">
                      <a16:colId xmlns:a16="http://schemas.microsoft.com/office/drawing/2014/main" val="4218233385"/>
                    </a:ext>
                  </a:extLst>
                </a:gridCol>
                <a:gridCol w="2005496">
                  <a:extLst>
                    <a:ext uri="{9D8B030D-6E8A-4147-A177-3AD203B41FA5}">
                      <a16:colId xmlns:a16="http://schemas.microsoft.com/office/drawing/2014/main" val="1146156609"/>
                    </a:ext>
                  </a:extLst>
                </a:gridCol>
                <a:gridCol w="2420730">
                  <a:extLst>
                    <a:ext uri="{9D8B030D-6E8A-4147-A177-3AD203B41FA5}">
                      <a16:colId xmlns:a16="http://schemas.microsoft.com/office/drawing/2014/main" val="1956859070"/>
                    </a:ext>
                  </a:extLst>
                </a:gridCol>
                <a:gridCol w="3843131">
                  <a:extLst>
                    <a:ext uri="{9D8B030D-6E8A-4147-A177-3AD203B41FA5}">
                      <a16:colId xmlns:a16="http://schemas.microsoft.com/office/drawing/2014/main" val="36179514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lang="en-US" sz="24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Images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 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71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Pulmonary Edema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Mbeya Regional Hospital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X-ray images showing fluid accumulation in lungs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128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Edema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Mbeya Regional Hospital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Normal chest X-ray images without edema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955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Supplementary Data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Public Medical Archives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400" dirty="0" smtClea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</a:rPr>
                        <a:t>Additional samples for model validation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1362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274575"/>
            <a:ext cx="12192000" cy="6891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8052" y="1118112"/>
            <a:ext cx="3644347" cy="71933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965269446"/>
              </p:ext>
            </p:extLst>
          </p:nvPr>
        </p:nvGraphicFramePr>
        <p:xfrm>
          <a:off x="198784" y="1075795"/>
          <a:ext cx="5234609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1736035" y="123318"/>
            <a:ext cx="3697358" cy="5963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583811387"/>
              </p:ext>
            </p:extLst>
          </p:nvPr>
        </p:nvGraphicFramePr>
        <p:xfrm>
          <a:off x="5823284" y="893232"/>
          <a:ext cx="588943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22910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7" y="571101"/>
            <a:ext cx="9026013" cy="57157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57110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95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CC99-BD6B-4C57-8A48-3E6D54C7A121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363762" y="2621482"/>
            <a:ext cx="515782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0416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485</Words>
  <Application>Microsoft Office PowerPoint</Application>
  <PresentationFormat>Widescreen</PresentationFormat>
  <Paragraphs>113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1_Custom Design</vt:lpstr>
      <vt:lpstr>Custom Design</vt:lpstr>
      <vt:lpstr>PowerPoint Presentation</vt:lpstr>
      <vt:lpstr>Background Information</vt:lpstr>
      <vt:lpstr>Problem Statement</vt:lpstr>
      <vt:lpstr>PowerPoint Presentation</vt:lpstr>
      <vt:lpstr>PowerPoint Presentation</vt:lpstr>
      <vt:lpstr>PowerPoint Presentation</vt:lpstr>
      <vt:lpstr>TOOLS AND TECHNOLOGY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PULMONARY EDEMA IN CHEST X-RAY IMAGES</dc:title>
  <dc:creator>sabo benson</dc:creator>
  <cp:lastModifiedBy>sabo benson</cp:lastModifiedBy>
  <cp:revision>76</cp:revision>
  <dcterms:created xsi:type="dcterms:W3CDTF">2026-01-27T12:18:14Z</dcterms:created>
  <dcterms:modified xsi:type="dcterms:W3CDTF">2026-05-11T11:18:59Z</dcterms:modified>
</cp:coreProperties>
</file>