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5"/>
  </p:notesMasterIdLst>
  <p:sldIdLst>
    <p:sldId id="267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68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1D1A-A6DD-4E1D-81ED-CA27A88F050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688E-05E2-4E47-B1FB-B91784BB4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DF2E-B2E7-42BB-BC2E-2A0E1A78B21F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2D06-6853-4C2C-8FDA-21404816D913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88AC-50BA-4CF3-9E12-3BA5EB9FBD1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C5F4-4345-4E5F-971B-A9E15A7805BA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7808-366F-42BD-A287-EC3B0A7882CC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504E-59BE-4E8D-9047-E8B3B46D5B18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EE05-C01B-490A-A7DF-F6BB06773C83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290A-DBCA-49E2-A879-99DDF2C389F7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3E94-697B-46CE-96D5-54C95E2218C5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C891-3D4E-4DD8-9A82-4C88AC62EEE6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A40E5-F74D-4049-9ACF-5F12A24CFB73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0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79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1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2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8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5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5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270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0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0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2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3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52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9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0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C806-5DC8-4050-813A-0DAC933544AD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5572" y="63797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1886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F58D-6C02-4108-B809-625C13EF4297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95EA-C90E-43CC-8413-3975432A004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09" y="189635"/>
            <a:ext cx="10515600" cy="4014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   OF   SCIENCE    AND    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108" y="591127"/>
            <a:ext cx="10665691" cy="61052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COMMUNICATION</a:t>
            </a: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TELECOMMUNICATION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FOR PULMONARY EDEMA DETECTION IN CHEST X-RAY IMAGES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 Name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BONIFACE BEN SANKWA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Registration number: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22100934340091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Supervisor: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Dr. NYATEGA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842074" y="753566"/>
            <a:ext cx="4611757" cy="17378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0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531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is caused by fluid accumulation in the lungs.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breathing and oxygen exchange.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commonly used for lung diagnosis.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challenging and error-prone.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automated and accurate detection.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AI models often act as “black-boxes”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skilled radiologists.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lack enough specialists.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looks similar to pneumonia.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lead to delays and errors.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lack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Doctors struggle to trust AI predictions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pulmonary edema in chest X-ray images, capable of providing diagnostic results along with visual explanations of the regions used for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8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8059"/>
            <a:ext cx="10515600" cy="5248965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Apply Explainable AI </a:t>
            </a:r>
            <a:r>
              <a:rPr lang="en-US" dirty="0" smtClean="0"/>
              <a:t>techniques.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 </a:t>
            </a:r>
            <a:r>
              <a:rPr lang="en-US" dirty="0"/>
              <a:t>to display predictions and heatmaps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9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defTabSz="457200"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 </a:t>
            </a:r>
            <a:endParaRPr lang="zh-CN" altLang="en-US" sz="1800" dirty="0">
              <a:solidFill>
                <a:prstClr val="black"/>
              </a:solidFill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1555"/>
            <a:ext cx="10515600" cy="491034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Literature 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existing knowledge, theories, and systems related to pulmonary edema detection in chest X-ray images.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Edema 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life-threatening condition often linked to heart failure, requiring timely and accurate diagnosis.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Challenges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X-rays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affordable and widely available, but interpretation is complex and prone to human error.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 marL="457200" lvl="1" indent="0" algn="just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have shown strong performance in medical imaging, automating disease detection with high accuracy.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Importance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Grad-CAM provide transparency, helping clinicians understand and trust AI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6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64962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0495"/>
            <a:ext cx="10515600" cy="5211280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models such as ResNet, DenseNet, and VGG have been widely applied in chest X-ray analysis.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Abbasi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used ensemble CNNs for pulmonary edema detection, achieving high accuracy but without explainability.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Datasets (CheXpert &amp; ChestX-ray14)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Irvin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(2019) introduced the CheXpert dataset covering multiple thoracic diseases, including pulmonary edema. Rajpurkar et al. (2017) developed CheXNet for pneumonia detection, showing radiologist-level accuracy but functioning as a “black-box.”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Approaches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Danilov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(2024) applied Grad-CAM to provide visual explanations of CNN predictions, improving clinical trust.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Tjoa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Guan (2020) emphasized the importance of transparency and interpretability in healthcare AI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427173" y="6327914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7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detection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underexplored.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 in existing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 </a:t>
            </a:r>
          </a:p>
          <a:p>
            <a:pPr>
              <a:lnSpc>
                <a:spcPct val="150000"/>
              </a:lnSpc>
            </a:pPr>
            <a:r>
              <a:rPr lang="en-US" dirty="0"/>
              <a:t>Minimal clinical adoption due to lack of </a:t>
            </a:r>
            <a:r>
              <a:rPr lang="en-US" dirty="0" smtClean="0"/>
              <a:t>transparency.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CNN-based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with Explainable AI (Grad-CAM) to enhance transparency and clinical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Conceptual/Theoretical </a:t>
            </a:r>
            <a:r>
              <a:rPr lang="en-US" b="1" dirty="0" smtClean="0"/>
              <a:t>Framework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62" y="1486659"/>
            <a:ext cx="10068338" cy="482524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Abbasi, M., et al. (2025). Enhanced detection of pulmonary edema in chest X-rays using deep learning ensembles with attention mechanism. </a:t>
            </a:r>
            <a:r>
              <a:rPr lang="en-US" sz="1800" i="1" dirty="0"/>
              <a:t>Journal of Imaging Informatics in Medicine</a:t>
            </a:r>
            <a:r>
              <a:rPr lang="en-US" sz="1800" i="1" dirty="0" smtClean="0"/>
              <a:t>.</a:t>
            </a:r>
          </a:p>
          <a:p>
            <a:r>
              <a:rPr lang="en-US" sz="1800" dirty="0"/>
              <a:t>Danilov, A., et al. (2024). Explainable AI to identify radiographic features of pulmonary edema. </a:t>
            </a:r>
            <a:r>
              <a:rPr lang="en-US" sz="1800" i="1" dirty="0"/>
              <a:t>Radiology Advances</a:t>
            </a:r>
            <a:r>
              <a:rPr lang="en-US" sz="1800" i="1" dirty="0" smtClean="0"/>
              <a:t>.</a:t>
            </a:r>
          </a:p>
          <a:p>
            <a:r>
              <a:rPr lang="en-US" sz="1800" dirty="0"/>
              <a:t>Rajpurkar, P., Irvin, J., Zhu, K., Yang, B., Mehta, H., </a:t>
            </a:r>
            <a:r>
              <a:rPr lang="en-US" sz="1800" dirty="0" err="1"/>
              <a:t>Duan</a:t>
            </a:r>
            <a:r>
              <a:rPr lang="en-US" sz="1800" dirty="0"/>
              <a:t>, T., ... &amp; Ng, A. Y. (2017). CheXNet: Radiologist-level pneumonia detection on chest X-rays with deep learning</a:t>
            </a:r>
            <a:r>
              <a:rPr lang="en-US" sz="1800" dirty="0" smtClean="0"/>
              <a:t>.</a:t>
            </a:r>
          </a:p>
          <a:p>
            <a:r>
              <a:rPr lang="en-US" sz="1800" dirty="0"/>
              <a:t>Irvin, J., Rajpurkar, P., </a:t>
            </a:r>
            <a:r>
              <a:rPr lang="en-US" sz="1800" dirty="0" err="1"/>
              <a:t>Ko</a:t>
            </a:r>
            <a:r>
              <a:rPr lang="en-US" sz="1800" dirty="0"/>
              <a:t>, M., Yu, Y., </a:t>
            </a:r>
            <a:r>
              <a:rPr lang="en-US" sz="1800" dirty="0" err="1"/>
              <a:t>Ciurea-Ilcus</a:t>
            </a:r>
            <a:r>
              <a:rPr lang="en-US" sz="1800" dirty="0"/>
              <a:t>, S., Chute, C., ... &amp; Ng, A. Y. (2019). CheXpert: A large chest radiograph dataset with uncertainty labels and expert comparison. </a:t>
            </a:r>
            <a:r>
              <a:rPr lang="en-US" sz="1800" i="1" dirty="0"/>
              <a:t>Proceedings of the AAAI Conference on Artificial Intelligence, 33</a:t>
            </a:r>
            <a:r>
              <a:rPr lang="en-US" sz="1800" dirty="0"/>
              <a:t>(01), 590–597</a:t>
            </a:r>
            <a:r>
              <a:rPr lang="en-US" sz="1800" dirty="0" smtClean="0"/>
              <a:t>.</a:t>
            </a:r>
          </a:p>
          <a:p>
            <a:r>
              <a:rPr lang="en-US" sz="1800" dirty="0" err="1"/>
              <a:t>Tjoa</a:t>
            </a:r>
            <a:r>
              <a:rPr lang="en-US" sz="1800" dirty="0"/>
              <a:t>, E., &amp; Guan, C. (2020). A survey on explainable artificial intelligence (XAI): Toward medical XAI. </a:t>
            </a:r>
            <a:r>
              <a:rPr lang="en-US" sz="1800" i="1" dirty="0"/>
              <a:t>IEEE Transactions on Neural Networks and Learning Systems, 32</a:t>
            </a:r>
            <a:r>
              <a:rPr lang="en-US" sz="1800" dirty="0"/>
              <a:t>(11), 4793–4813.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9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63762" y="2621482"/>
            <a:ext cx="51578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0416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726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SimSun</vt:lpstr>
      <vt:lpstr>Arial</vt:lpstr>
      <vt:lpstr>Calibri</vt:lpstr>
      <vt:lpstr>Calibri Light</vt:lpstr>
      <vt:lpstr>Times New Roman</vt:lpstr>
      <vt:lpstr>Office Theme</vt:lpstr>
      <vt:lpstr>1_Custom Design</vt:lpstr>
      <vt:lpstr>Custom Design</vt:lpstr>
      <vt:lpstr>MBEYA UNIVERSITY    OF   SCIENCE    AND     TECHNOLOGY</vt:lpstr>
      <vt:lpstr>Background Information</vt:lpstr>
      <vt:lpstr>Problem Statement</vt:lpstr>
      <vt:lpstr>Main Objective</vt:lpstr>
      <vt:lpstr>Specific Objectives</vt:lpstr>
      <vt:lpstr>Literature Review </vt:lpstr>
      <vt:lpstr>Related Works</vt:lpstr>
      <vt:lpstr>Research Gap</vt:lpstr>
      <vt:lpstr>Conceptual/Theoretical Framework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31</cp:revision>
  <dcterms:created xsi:type="dcterms:W3CDTF">2026-01-27T12:18:14Z</dcterms:created>
  <dcterms:modified xsi:type="dcterms:W3CDTF">2026-03-22T18:25:12Z</dcterms:modified>
</cp:coreProperties>
</file>