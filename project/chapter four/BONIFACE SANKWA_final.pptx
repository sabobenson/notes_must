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60" r:id="rId3"/>
  </p:sldMasterIdLst>
  <p:notesMasterIdLst>
    <p:notesMasterId r:id="rId14"/>
  </p:notesMasterIdLst>
  <p:sldIdLst>
    <p:sldId id="271" r:id="rId4"/>
    <p:sldId id="277" r:id="rId5"/>
    <p:sldId id="280" r:id="rId6"/>
    <p:sldId id="279" r:id="rId7"/>
    <p:sldId id="281" r:id="rId8"/>
    <p:sldId id="282" r:id="rId9"/>
    <p:sldId id="283" r:id="rId10"/>
    <p:sldId id="284" r:id="rId11"/>
    <p:sldId id="285" r:id="rId12"/>
    <p:sldId id="28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bo benson" initials="sb" lastIdx="2" clrIdx="0">
    <p:extLst>
      <p:ext uri="{19B8F6BF-5375-455C-9EA6-DF929625EA0E}">
        <p15:presenceInfo xmlns:p15="http://schemas.microsoft.com/office/powerpoint/2012/main" userId="520e5b79325b4d0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26" autoAdjust="0"/>
    <p:restoredTop sz="94280" autoAdjust="0"/>
  </p:normalViewPr>
  <p:slideViewPr>
    <p:cSldViewPr snapToGrid="0">
      <p:cViewPr varScale="1">
        <p:scale>
          <a:sx n="65" d="100"/>
          <a:sy n="65" d="100"/>
        </p:scale>
        <p:origin x="552" y="60"/>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11D1A-A6DD-4E1D-81ED-CA27A88F0505}"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BF688E-05E2-4E47-B1FB-B91784BB44AB}" type="slidenum">
              <a:rPr lang="en-US" smtClean="0"/>
              <a:t>‹#›</a:t>
            </a:fld>
            <a:endParaRPr lang="en-US"/>
          </a:p>
        </p:txBody>
      </p:sp>
    </p:spTree>
    <p:extLst>
      <p:ext uri="{BB962C8B-B14F-4D97-AF65-F5344CB8AC3E}">
        <p14:creationId xmlns:p14="http://schemas.microsoft.com/office/powerpoint/2010/main" val="3005764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prstClr val="black"/>
                </a:solidFill>
                <a:latin typeface="Times New Roman" panose="02020603050405020304" pitchFamily="18" charset="0"/>
                <a:ea typeface="+mn-ea"/>
                <a:cs typeface="Times New Roman" panose="02020603050405020304" pitchFamily="18" charset="0"/>
              </a:rPr>
              <a:t>Specific Objectives</a:t>
            </a:r>
            <a:endParaRPr lang="en-US" sz="1050" dirty="0" smtClean="0">
              <a:latin typeface="Times New Roman" panose="02020603050405020304" pitchFamily="18" charset="0"/>
              <a:cs typeface="Times New Roman" panose="02020603050405020304" pitchFamily="18" charset="0"/>
            </a:endParaRPr>
          </a:p>
          <a:p>
            <a:pPr marL="571500" lvl="0" indent="-571500">
              <a:spcBef>
                <a:spcPts val="1000"/>
              </a:spcBef>
              <a:buFont typeface="+mj-lt"/>
              <a:buAutoNum type="romanLcPeriod"/>
            </a:pPr>
            <a:r>
              <a:rPr lang="en-US" sz="1200" dirty="0" smtClean="0">
                <a:solidFill>
                  <a:prstClr val="black"/>
                </a:solidFill>
                <a:latin typeface="Times New Roman" panose="02020603050405020304" pitchFamily="18" charset="0"/>
                <a:cs typeface="Times New Roman" panose="02020603050405020304" pitchFamily="18" charset="0"/>
              </a:rPr>
              <a:t>Study pulmonary edema features in X-ray images.</a:t>
            </a:r>
          </a:p>
          <a:p>
            <a:pPr marL="571500" lvl="0" indent="-571500">
              <a:spcBef>
                <a:spcPts val="1000"/>
              </a:spcBef>
              <a:buFont typeface="+mj-lt"/>
              <a:buAutoNum type="romanLcPeriod"/>
            </a:pPr>
            <a:r>
              <a:rPr lang="en-US" sz="1200" dirty="0" smtClean="0">
                <a:solidFill>
                  <a:prstClr val="black"/>
                </a:solidFill>
                <a:latin typeface="Times New Roman" panose="02020603050405020304" pitchFamily="18" charset="0"/>
                <a:cs typeface="Times New Roman" panose="02020603050405020304" pitchFamily="18" charset="0"/>
              </a:rPr>
              <a:t>Collect and preprocess chest X-ray datasets.</a:t>
            </a:r>
          </a:p>
          <a:p>
            <a:pPr marL="571500" lvl="0" indent="-571500">
              <a:spcBef>
                <a:spcPts val="1000"/>
              </a:spcBef>
              <a:buFont typeface="+mj-lt"/>
              <a:buAutoNum type="romanLcPeriod"/>
            </a:pPr>
            <a:r>
              <a:rPr lang="en-US" sz="1200" dirty="0" smtClean="0">
                <a:solidFill>
                  <a:prstClr val="black"/>
                </a:solidFill>
                <a:latin typeface="Times New Roman" panose="02020603050405020304" pitchFamily="18" charset="0"/>
                <a:cs typeface="Times New Roman" panose="02020603050405020304" pitchFamily="18" charset="0"/>
              </a:rPr>
              <a:t>Train a CNN model for detection.</a:t>
            </a:r>
          </a:p>
          <a:p>
            <a:pPr marL="571500" lvl="0" indent="-571500">
              <a:spcBef>
                <a:spcPts val="1000"/>
              </a:spcBef>
              <a:buFont typeface="+mj-lt"/>
              <a:buAutoNum type="romanLcPeriod"/>
            </a:pPr>
            <a:r>
              <a:rPr lang="en-US" sz="1200" dirty="0" smtClean="0">
                <a:solidFill>
                  <a:prstClr val="black"/>
                </a:solidFill>
              </a:rPr>
              <a:t>Apply Explainable AI techniques.</a:t>
            </a:r>
            <a:endParaRPr lang="en-US" sz="1200" dirty="0" smtClean="0">
              <a:solidFill>
                <a:prstClr val="black"/>
              </a:solidFill>
              <a:latin typeface="Times New Roman" panose="02020603050405020304" pitchFamily="18" charset="0"/>
              <a:cs typeface="Times New Roman" panose="02020603050405020304" pitchFamily="18" charset="0"/>
            </a:endParaRPr>
          </a:p>
          <a:p>
            <a:pPr marL="571500" lvl="0" indent="-571500">
              <a:spcBef>
                <a:spcPts val="1000"/>
              </a:spcBef>
              <a:buFont typeface="+mj-lt"/>
              <a:buAutoNum type="romanLcPeriod"/>
            </a:pPr>
            <a:r>
              <a:rPr lang="en-US" sz="1200" dirty="0" smtClean="0">
                <a:solidFill>
                  <a:prstClr val="black"/>
                </a:solidFill>
                <a:latin typeface="Times New Roman" panose="02020603050405020304" pitchFamily="18" charset="0"/>
                <a:cs typeface="Times New Roman" panose="02020603050405020304" pitchFamily="18" charset="0"/>
              </a:rPr>
              <a:t>Evaluate model performance and </a:t>
            </a:r>
          </a:p>
          <a:p>
            <a:pPr marL="571500" lvl="0" indent="-571500" algn="just">
              <a:spcBef>
                <a:spcPts val="1000"/>
              </a:spcBef>
              <a:buFont typeface="+mj-lt"/>
              <a:buAutoNum type="romanLcPeriod"/>
            </a:pPr>
            <a:r>
              <a:rPr lang="en-US" sz="1200" dirty="0" smtClean="0">
                <a:solidFill>
                  <a:prstClr val="black"/>
                </a:solidFill>
                <a:latin typeface="Times New Roman" panose="02020603050405020304" pitchFamily="18" charset="0"/>
                <a:cs typeface="Times New Roman" panose="02020603050405020304" pitchFamily="18" charset="0"/>
              </a:rPr>
              <a:t>Develop a simple web interface </a:t>
            </a:r>
            <a:r>
              <a:rPr lang="en-US" sz="1200" dirty="0" smtClean="0">
                <a:solidFill>
                  <a:prstClr val="black"/>
                </a:solidFill>
              </a:rPr>
              <a:t>to display predictions and heatmaps</a:t>
            </a:r>
            <a:r>
              <a:rPr lang="en-US" sz="1200" dirty="0" smtClean="0">
                <a:solidFill>
                  <a:prstClr val="black"/>
                </a:solidFill>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0"/>
          </p:nvPr>
        </p:nvSpPr>
        <p:spPr/>
        <p:txBody>
          <a:bodyPr/>
          <a:lstStyle/>
          <a:p>
            <a:fld id="{0BBF688E-05E2-4E47-B1FB-B91784BB44AB}" type="slidenum">
              <a:rPr lang="en-US" smtClean="0"/>
              <a:t>2</a:t>
            </a:fld>
            <a:endParaRPr lang="en-US"/>
          </a:p>
        </p:txBody>
      </p:sp>
    </p:spTree>
    <p:extLst>
      <p:ext uri="{BB962C8B-B14F-4D97-AF65-F5344CB8AC3E}">
        <p14:creationId xmlns:p14="http://schemas.microsoft.com/office/powerpoint/2010/main" val="3806583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Area Under the Receiver Operating Characteristic Curve (AUC-ROC)</a:t>
            </a:r>
            <a:endParaRPr lang="en-US" dirty="0"/>
          </a:p>
        </p:txBody>
      </p:sp>
      <p:sp>
        <p:nvSpPr>
          <p:cNvPr id="4" name="Slide Number Placeholder 3"/>
          <p:cNvSpPr>
            <a:spLocks noGrp="1"/>
          </p:cNvSpPr>
          <p:nvPr>
            <p:ph type="sldNum" sz="quarter" idx="10"/>
          </p:nvPr>
        </p:nvSpPr>
        <p:spPr/>
        <p:txBody>
          <a:bodyPr/>
          <a:lstStyle/>
          <a:p>
            <a:fld id="{0BBF688E-05E2-4E47-B1FB-B91784BB44AB}" type="slidenum">
              <a:rPr lang="en-US" smtClean="0"/>
              <a:t>4</a:t>
            </a:fld>
            <a:endParaRPr lang="en-US"/>
          </a:p>
        </p:txBody>
      </p:sp>
    </p:spTree>
    <p:extLst>
      <p:ext uri="{BB962C8B-B14F-4D97-AF65-F5344CB8AC3E}">
        <p14:creationId xmlns:p14="http://schemas.microsoft.com/office/powerpoint/2010/main" val="2524952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Area Under the Receiver Operating Characteristic Curve (AUC-ROC)</a:t>
            </a:r>
            <a:endParaRPr lang="en-US" dirty="0"/>
          </a:p>
        </p:txBody>
      </p:sp>
      <p:sp>
        <p:nvSpPr>
          <p:cNvPr id="4" name="Slide Number Placeholder 3"/>
          <p:cNvSpPr>
            <a:spLocks noGrp="1"/>
          </p:cNvSpPr>
          <p:nvPr>
            <p:ph type="sldNum" sz="quarter" idx="10"/>
          </p:nvPr>
        </p:nvSpPr>
        <p:spPr/>
        <p:txBody>
          <a:bodyPr/>
          <a:lstStyle/>
          <a:p>
            <a:fld id="{0BBF688E-05E2-4E47-B1FB-B91784BB44AB}" type="slidenum">
              <a:rPr lang="en-US" smtClean="0"/>
              <a:t>5</a:t>
            </a:fld>
            <a:endParaRPr lang="en-US"/>
          </a:p>
        </p:txBody>
      </p:sp>
    </p:spTree>
    <p:extLst>
      <p:ext uri="{BB962C8B-B14F-4D97-AF65-F5344CB8AC3E}">
        <p14:creationId xmlns:p14="http://schemas.microsoft.com/office/powerpoint/2010/main" val="2280861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 Sensitivity: 82%</a:t>
            </a:r>
            <a:br>
              <a:rPr lang="en-US" dirty="0" smtClean="0"/>
            </a:br>
            <a:r>
              <a:rPr lang="en-US" dirty="0" smtClean="0"/>
              <a:t>• Specificity: 88%</a:t>
            </a:r>
            <a:br>
              <a:rPr lang="en-US" dirty="0" smtClean="0"/>
            </a:br>
            <a:r>
              <a:rPr lang="en-US" dirty="0" smtClean="0"/>
              <a:t>• Precision: 87.2%</a:t>
            </a:r>
            <a:br>
              <a:rPr lang="en-US" dirty="0" smtClean="0"/>
            </a:br>
            <a:r>
              <a:rPr lang="en-US" dirty="0" smtClean="0"/>
              <a:t>• Test set: TN=88, TP=82, FP=12, FN=18</a:t>
            </a:r>
          </a:p>
        </p:txBody>
      </p:sp>
      <p:sp>
        <p:nvSpPr>
          <p:cNvPr id="4" name="Slide Number Placeholder 3"/>
          <p:cNvSpPr>
            <a:spLocks noGrp="1"/>
          </p:cNvSpPr>
          <p:nvPr>
            <p:ph type="sldNum" sz="quarter" idx="10"/>
          </p:nvPr>
        </p:nvSpPr>
        <p:spPr/>
        <p:txBody>
          <a:bodyPr/>
          <a:lstStyle/>
          <a:p>
            <a:fld id="{0BBF688E-05E2-4E47-B1FB-B91784BB44AB}" type="slidenum">
              <a:rPr lang="en-US" smtClean="0"/>
              <a:t>6</a:t>
            </a:fld>
            <a:endParaRPr lang="en-US"/>
          </a:p>
        </p:txBody>
      </p:sp>
    </p:spTree>
    <p:extLst>
      <p:ext uri="{BB962C8B-B14F-4D97-AF65-F5344CB8AC3E}">
        <p14:creationId xmlns:p14="http://schemas.microsoft.com/office/powerpoint/2010/main" val="2787530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Training curves over 40 epochs (Figure 3) demonstrate successful model learning. Validation loss decreased from 0.63 to 0.38, while validation AUC increased from 0.77 to a peak of 0.917 at epoch 39. The close alignment between training and validation curves indicates no significant overfitting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Area Under the Receiver Operating Characteristic Curve (AUC-ROC)</a:t>
            </a:r>
            <a:endParaRPr lang="en-US" dirty="0"/>
          </a:p>
        </p:txBody>
      </p:sp>
      <p:sp>
        <p:nvSpPr>
          <p:cNvPr id="4" name="Slide Number Placeholder 3"/>
          <p:cNvSpPr>
            <a:spLocks noGrp="1"/>
          </p:cNvSpPr>
          <p:nvPr>
            <p:ph type="sldNum" sz="quarter" idx="10"/>
          </p:nvPr>
        </p:nvSpPr>
        <p:spPr/>
        <p:txBody>
          <a:bodyPr/>
          <a:lstStyle/>
          <a:p>
            <a:fld id="{0BBF688E-05E2-4E47-B1FB-B91784BB44AB}" type="slidenum">
              <a:rPr lang="en-US" smtClean="0"/>
              <a:t>7</a:t>
            </a:fld>
            <a:endParaRPr lang="en-US"/>
          </a:p>
        </p:txBody>
      </p:sp>
    </p:spTree>
    <p:extLst>
      <p:ext uri="{BB962C8B-B14F-4D97-AF65-F5344CB8AC3E}">
        <p14:creationId xmlns:p14="http://schemas.microsoft.com/office/powerpoint/2010/main" val="4287274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Grad-CAM attention maps (Figure 4) revealed distinct patterns between edema and normal cases. For edema cases (top row), the model focused on perihilar and interstitial lung regions, which is consistent with radiological findings of pulmonary edema (Milne et al., 2012). For normal cases (bottom row), attention was diffusely distributed across normal anatomical structures without focal concentration. Confidence scores for correctly classified cases ranged from 61.0% to 92.5%.</a:t>
            </a:r>
            <a:endParaRPr lang="en-US" dirty="0"/>
          </a:p>
        </p:txBody>
      </p:sp>
      <p:sp>
        <p:nvSpPr>
          <p:cNvPr id="4" name="Slide Number Placeholder 3"/>
          <p:cNvSpPr>
            <a:spLocks noGrp="1"/>
          </p:cNvSpPr>
          <p:nvPr>
            <p:ph type="sldNum" sz="quarter" idx="10"/>
          </p:nvPr>
        </p:nvSpPr>
        <p:spPr/>
        <p:txBody>
          <a:bodyPr/>
          <a:lstStyle/>
          <a:p>
            <a:fld id="{0BBF688E-05E2-4E47-B1FB-B91784BB44AB}" type="slidenum">
              <a:rPr lang="en-US" smtClean="0"/>
              <a:t>8</a:t>
            </a:fld>
            <a:endParaRPr lang="en-US"/>
          </a:p>
        </p:txBody>
      </p:sp>
    </p:spTree>
    <p:extLst>
      <p:ext uri="{BB962C8B-B14F-4D97-AF65-F5344CB8AC3E}">
        <p14:creationId xmlns:p14="http://schemas.microsoft.com/office/powerpoint/2010/main" val="983356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Area Under the Receiver Operating Characteristic Curve (AUC-ROC)</a:t>
            </a:r>
            <a:endParaRPr lang="en-US" dirty="0"/>
          </a:p>
        </p:txBody>
      </p:sp>
      <p:sp>
        <p:nvSpPr>
          <p:cNvPr id="4" name="Slide Number Placeholder 3"/>
          <p:cNvSpPr>
            <a:spLocks noGrp="1"/>
          </p:cNvSpPr>
          <p:nvPr>
            <p:ph type="sldNum" sz="quarter" idx="10"/>
          </p:nvPr>
        </p:nvSpPr>
        <p:spPr/>
        <p:txBody>
          <a:bodyPr/>
          <a:lstStyle/>
          <a:p>
            <a:fld id="{0BBF688E-05E2-4E47-B1FB-B91784BB44AB}" type="slidenum">
              <a:rPr lang="en-US" smtClean="0"/>
              <a:t>9</a:t>
            </a:fld>
            <a:endParaRPr lang="en-US"/>
          </a:p>
        </p:txBody>
      </p:sp>
    </p:spTree>
    <p:extLst>
      <p:ext uri="{BB962C8B-B14F-4D97-AF65-F5344CB8AC3E}">
        <p14:creationId xmlns:p14="http://schemas.microsoft.com/office/powerpoint/2010/main" val="3971131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Area Under the Receiver Operating Characteristic Curve (AUC-ROC)</a:t>
            </a:r>
            <a:endParaRPr lang="en-US" dirty="0"/>
          </a:p>
        </p:txBody>
      </p:sp>
      <p:sp>
        <p:nvSpPr>
          <p:cNvPr id="4" name="Slide Number Placeholder 3"/>
          <p:cNvSpPr>
            <a:spLocks noGrp="1"/>
          </p:cNvSpPr>
          <p:nvPr>
            <p:ph type="sldNum" sz="quarter" idx="10"/>
          </p:nvPr>
        </p:nvSpPr>
        <p:spPr/>
        <p:txBody>
          <a:bodyPr/>
          <a:lstStyle/>
          <a:p>
            <a:fld id="{0BBF688E-05E2-4E47-B1FB-B91784BB44AB}" type="slidenum">
              <a:rPr lang="en-US" smtClean="0"/>
              <a:t>10</a:t>
            </a:fld>
            <a:endParaRPr lang="en-US"/>
          </a:p>
        </p:txBody>
      </p:sp>
    </p:spTree>
    <p:extLst>
      <p:ext uri="{BB962C8B-B14F-4D97-AF65-F5344CB8AC3E}">
        <p14:creationId xmlns:p14="http://schemas.microsoft.com/office/powerpoint/2010/main" val="3902183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A7C527-2A64-4C0D-B6BB-3C8C6F7614F8}"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2374747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360E2D-A7AD-4DA7-890B-3CCE669282FD}"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2665610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7BE7A4F-6D68-494D-91C4-77D935565B18}"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1082110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70048B9-F510-42FC-9563-393A2E885E24}" type="datetime1">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3912475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BD3A3EB-D800-46C1-A786-875F1BCE9644}" type="datetime1">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472471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44B14A-9534-40D4-9311-325E3A1FF1E6}" type="datetime1">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314046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277086-AED4-4920-A68E-7D3AA0775D52}" type="datetime1">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1366206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97A2A29-F516-4EB8-95C0-59D65F472CE6}" type="datetime1">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554527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672613-0C5F-4AE7-B0CE-AA312CEE7082}" type="datetime1">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4260808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7BD4EA-90F1-4215-9E5C-0257B293C80E}"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3810085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C9D850-CD2E-44B8-945F-BF3D6907B4DA}"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CC99-BD6B-4C57-8A48-3E6D54C7A121}" type="slidenum">
              <a:rPr lang="en-US" smtClean="0"/>
              <a:t>‹#›</a:t>
            </a:fld>
            <a:endParaRPr lang="en-US"/>
          </a:p>
        </p:txBody>
      </p:sp>
    </p:spTree>
    <p:extLst>
      <p:ext uri="{BB962C8B-B14F-4D97-AF65-F5344CB8AC3E}">
        <p14:creationId xmlns:p14="http://schemas.microsoft.com/office/powerpoint/2010/main" val="3638134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3FAB8ED-4C6D-46F3-BB37-256AE3FD724A}"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3731985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0BA522-9EE0-44F7-B47F-7408C63EC21A}"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3243400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0325F80-6545-45DB-AAD0-F5E438EDDF1A}"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1547105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1DB774E-BEC7-4FEE-8FD0-33996133EF6E}" type="datetime1">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26343793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45D5634-4184-4093-A7B5-4F4B6667E347}" type="datetime1">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19801593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AAB4C20-B25A-4A38-BD5B-A12B57F11AB8}" type="datetime1">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3006787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74F6F2-5708-4946-8F1C-60C5F18EB1E2}" type="datetime1">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41949516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8BD701D-773D-4FAA-99BF-77CF7A4AE2AB}" type="datetime1">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3877802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A920EDF-0A81-491F-99D2-B3127D66D867}" type="datetime1">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17564085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75841AA-BC8C-4EF5-867F-A6D226CFB04A}"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17745958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8CA152-B300-4E26-92DD-D890EEAD59AE}"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E0C18-DD67-45D8-8C41-76CB45571369}" type="slidenum">
              <a:rPr lang="en-US" smtClean="0"/>
              <a:t>‹#›</a:t>
            </a:fld>
            <a:endParaRPr lang="en-US"/>
          </a:p>
        </p:txBody>
      </p:sp>
    </p:spTree>
    <p:extLst>
      <p:ext uri="{BB962C8B-B14F-4D97-AF65-F5344CB8AC3E}">
        <p14:creationId xmlns:p14="http://schemas.microsoft.com/office/powerpoint/2010/main" val="21520271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94F8261-5076-4930-8DBC-0953334344EE}"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1022155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7D823C-FCA0-41F0-9C9D-0A0837CCDB7E}"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37748270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C232A56-628E-4629-8882-5831BC364F41}"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32227305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41A0537-7001-47EB-BE61-704436C8974A}" type="datetime1">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39379907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980F80A-39D1-4606-8BA2-BFB38FA2BD9C}" type="datetime1">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32721922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CEC0558-BCA6-4D69-AB61-5AA16047CEA1}" type="datetime1">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206533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62AF96-B68A-4DE6-B352-CE5E95D13812}" type="datetime1">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20763252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FAC67A-0DF8-459E-A904-FE9C9BA85569}" type="datetime1">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33831196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9D4C2A0-FADF-4B3E-8F05-5BEEFBF564BB}" type="datetime1">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37226704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83F6BB-8161-448E-9E55-13999143A617}"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3605970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FB52E4-C083-4AFA-98EC-FC29E5FFA31A}" type="datetime1">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6087C-2CA5-4731-B7A8-539AD96790B3}" type="slidenum">
              <a:rPr lang="en-US" smtClean="0"/>
              <a:t>‹#›</a:t>
            </a:fld>
            <a:endParaRPr lang="en-US"/>
          </a:p>
        </p:txBody>
      </p:sp>
    </p:spTree>
    <p:extLst>
      <p:ext uri="{BB962C8B-B14F-4D97-AF65-F5344CB8AC3E}">
        <p14:creationId xmlns:p14="http://schemas.microsoft.com/office/powerpoint/2010/main" val="2467256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5B3465-B946-497A-8334-C96180D084D3}" type="datetime1">
              <a:rPr lang="en-US" smtClean="0"/>
              <a:t>8/5/2026</a:t>
            </a:fld>
            <a:endParaRPr lang="en-US"/>
          </a:p>
        </p:txBody>
      </p:sp>
      <p:sp>
        <p:nvSpPr>
          <p:cNvPr id="5" name="Footer Placeholder 4"/>
          <p:cNvSpPr>
            <a:spLocks noGrp="1"/>
          </p:cNvSpPr>
          <p:nvPr>
            <p:ph type="ftr" sz="quarter" idx="3"/>
          </p:nvPr>
        </p:nvSpPr>
        <p:spPr>
          <a:xfrm>
            <a:off x="7565572" y="63797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201886" y="6311900"/>
            <a:ext cx="2743200" cy="365125"/>
          </a:xfrm>
          <a:prstGeom prst="rect">
            <a:avLst/>
          </a:prstGeom>
        </p:spPr>
        <p:txBody>
          <a:bodyPr vert="horz" lIns="91440" tIns="45720" rIns="91440" bIns="45720" rtlCol="0" anchor="ctr"/>
          <a:lstStyle>
            <a:lvl1pPr algn="ctr">
              <a:defRPr sz="1400">
                <a:solidFill>
                  <a:schemeClr val="tx1">
                    <a:tint val="75000"/>
                  </a:schemeClr>
                </a:solidFill>
              </a:defRPr>
            </a:lvl1pPr>
          </a:lstStyle>
          <a:p>
            <a:fld id="{2941CC99-BD6B-4C57-8A48-3E6D54C7A121}" type="slidenum">
              <a:rPr lang="en-US" smtClean="0"/>
              <a:pPr/>
              <a:t>‹#›</a:t>
            </a:fld>
            <a:endParaRPr lang="en-US" dirty="0"/>
          </a:p>
        </p:txBody>
      </p:sp>
    </p:spTree>
    <p:extLst>
      <p:ext uri="{BB962C8B-B14F-4D97-AF65-F5344CB8AC3E}">
        <p14:creationId xmlns:p14="http://schemas.microsoft.com/office/powerpoint/2010/main" val="807683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FFDBFE-AFC3-4F6F-9034-4517D256AC54}" type="datetime1">
              <a:rPr lang="en-US" smtClean="0"/>
              <a:t>8/5/2026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E0C18-DD67-45D8-8C41-76CB45571369}" type="slidenum">
              <a:rPr lang="en-US" smtClean="0"/>
              <a:t>‹#›</a:t>
            </a:fld>
            <a:endParaRPr lang="en-US"/>
          </a:p>
        </p:txBody>
      </p:sp>
    </p:spTree>
    <p:extLst>
      <p:ext uri="{BB962C8B-B14F-4D97-AF65-F5344CB8AC3E}">
        <p14:creationId xmlns:p14="http://schemas.microsoft.com/office/powerpoint/2010/main" val="38594829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8ABADD-69BF-4FAF-B293-19C8AA20421D}" type="datetime1">
              <a:rPr lang="en-US" smtClean="0"/>
              <a:t>8/5/2026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E6087C-2CA5-4731-B7A8-539AD96790B3}" type="slidenum">
              <a:rPr lang="en-US" smtClean="0"/>
              <a:t>‹#›</a:t>
            </a:fld>
            <a:endParaRPr lang="en-US"/>
          </a:p>
        </p:txBody>
      </p:sp>
    </p:spTree>
    <p:extLst>
      <p:ext uri="{BB962C8B-B14F-4D97-AF65-F5344CB8AC3E}">
        <p14:creationId xmlns:p14="http://schemas.microsoft.com/office/powerpoint/2010/main" val="2796765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941CC99-BD6B-4C57-8A48-3E6D54C7A121}" type="slidenum">
              <a:rPr lang="en-US" smtClean="0"/>
              <a:t>1</a:t>
            </a:fld>
            <a:endParaRPr lang="en-US"/>
          </a:p>
        </p:txBody>
      </p:sp>
      <p:sp>
        <p:nvSpPr>
          <p:cNvPr id="3" name="Rectangle 2"/>
          <p:cNvSpPr/>
          <p:nvPr/>
        </p:nvSpPr>
        <p:spPr>
          <a:xfrm>
            <a:off x="119270" y="3568700"/>
            <a:ext cx="11953461" cy="274319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lvl="0" algn="ctr">
              <a:lnSpc>
                <a:spcPct val="90000"/>
              </a:lnSpc>
              <a:spcBef>
                <a:spcPts val="1000"/>
              </a:spcBef>
            </a:pPr>
            <a:r>
              <a:rPr lang="en-GB" sz="2800" b="1" dirty="0">
                <a:solidFill>
                  <a:prstClr val="black"/>
                </a:solidFill>
                <a:latin typeface="Times New Roman" panose="02020603050405020304" pitchFamily="18" charset="0"/>
                <a:cs typeface="Times New Roman" panose="02020603050405020304" pitchFamily="18" charset="0"/>
              </a:rPr>
              <a:t>TITLE</a:t>
            </a:r>
            <a:r>
              <a:rPr lang="en-GB" sz="2800" dirty="0">
                <a:solidFill>
                  <a:prstClr val="black"/>
                </a:solidFill>
                <a:latin typeface="Times New Roman" panose="02020603050405020304" pitchFamily="18" charset="0"/>
                <a:cs typeface="Times New Roman" panose="02020603050405020304" pitchFamily="18" charset="0"/>
              </a:rPr>
              <a:t>:</a:t>
            </a:r>
            <a:r>
              <a:rPr lang="en-US" sz="2800" dirty="0">
                <a:solidFill>
                  <a:prstClr val="black"/>
                </a:solidFill>
                <a:latin typeface="Times New Roman" panose="02020603050405020304" pitchFamily="18" charset="0"/>
                <a:cs typeface="Times New Roman" panose="02020603050405020304" pitchFamily="18" charset="0"/>
              </a:rPr>
              <a:t>EXPLAINABLE AI MODEL FOR PULMONARY EDEMA DETECTION IN CHEST X-RAY IMAGES</a:t>
            </a:r>
          </a:p>
          <a:p>
            <a:pPr lvl="0" algn="just">
              <a:lnSpc>
                <a:spcPct val="90000"/>
              </a:lnSpc>
              <a:spcBef>
                <a:spcPts val="1000"/>
              </a:spcBef>
            </a:pPr>
            <a:r>
              <a:rPr lang="en-US" sz="2800" b="1" dirty="0">
                <a:solidFill>
                  <a:prstClr val="black"/>
                </a:solidFill>
                <a:latin typeface="Times New Roman" panose="02020603050405020304" pitchFamily="18" charset="0"/>
                <a:cs typeface="Times New Roman" panose="02020603050405020304" pitchFamily="18" charset="0"/>
              </a:rPr>
              <a:t>     </a:t>
            </a:r>
            <a:r>
              <a:rPr lang="en-US" sz="2800" b="1" dirty="0" smtClean="0">
                <a:solidFill>
                  <a:prstClr val="black"/>
                </a:solidFill>
                <a:latin typeface="Times New Roman" panose="02020603050405020304" pitchFamily="18" charset="0"/>
                <a:cs typeface="Times New Roman" panose="02020603050405020304" pitchFamily="18" charset="0"/>
              </a:rPr>
              <a:t>  Student </a:t>
            </a:r>
            <a:r>
              <a:rPr lang="en-US" sz="2800" b="1" dirty="0">
                <a:solidFill>
                  <a:prstClr val="black"/>
                </a:solidFill>
                <a:latin typeface="Times New Roman" panose="02020603050405020304" pitchFamily="18" charset="0"/>
                <a:cs typeface="Times New Roman" panose="02020603050405020304" pitchFamily="18" charset="0"/>
              </a:rPr>
              <a:t>Name</a:t>
            </a:r>
            <a:r>
              <a:rPr lang="en-US" sz="2800" dirty="0">
                <a:solidFill>
                  <a:prstClr val="black"/>
                </a:solidFill>
                <a:latin typeface="Times New Roman" panose="02020603050405020304" pitchFamily="18" charset="0"/>
                <a:cs typeface="Times New Roman" panose="02020603050405020304" pitchFamily="18" charset="0"/>
              </a:rPr>
              <a:t>: BONIFACE BEN SANKWA</a:t>
            </a:r>
          </a:p>
          <a:p>
            <a:pPr lvl="0" algn="just">
              <a:lnSpc>
                <a:spcPct val="90000"/>
              </a:lnSpc>
              <a:spcBef>
                <a:spcPts val="1000"/>
              </a:spcBef>
            </a:pPr>
            <a:r>
              <a:rPr lang="en-US" sz="2800" b="1" dirty="0">
                <a:solidFill>
                  <a:prstClr val="black"/>
                </a:solidFill>
                <a:latin typeface="Times New Roman" panose="02020603050405020304" pitchFamily="18" charset="0"/>
                <a:cs typeface="Times New Roman" panose="02020603050405020304" pitchFamily="18" charset="0"/>
              </a:rPr>
              <a:t>     </a:t>
            </a:r>
            <a:r>
              <a:rPr lang="en-US" sz="2800" b="1" dirty="0" smtClean="0">
                <a:solidFill>
                  <a:prstClr val="black"/>
                </a:solidFill>
                <a:latin typeface="Times New Roman" panose="02020603050405020304" pitchFamily="18" charset="0"/>
                <a:cs typeface="Times New Roman" panose="02020603050405020304" pitchFamily="18" charset="0"/>
              </a:rPr>
              <a:t>  Registration </a:t>
            </a:r>
            <a:r>
              <a:rPr lang="en-US" sz="2800" b="1" dirty="0">
                <a:solidFill>
                  <a:prstClr val="black"/>
                </a:solidFill>
                <a:latin typeface="Times New Roman" panose="02020603050405020304" pitchFamily="18" charset="0"/>
                <a:cs typeface="Times New Roman" panose="02020603050405020304" pitchFamily="18" charset="0"/>
              </a:rPr>
              <a:t>number: </a:t>
            </a:r>
            <a:r>
              <a:rPr lang="en-US" sz="2800" dirty="0">
                <a:solidFill>
                  <a:prstClr val="black"/>
                </a:solidFill>
                <a:latin typeface="Times New Roman" panose="02020603050405020304" pitchFamily="18" charset="0"/>
                <a:cs typeface="Times New Roman" panose="02020603050405020304" pitchFamily="18" charset="0"/>
              </a:rPr>
              <a:t>22100934340091</a:t>
            </a:r>
          </a:p>
          <a:p>
            <a:pPr lvl="0" algn="just">
              <a:lnSpc>
                <a:spcPct val="90000"/>
              </a:lnSpc>
              <a:spcBef>
                <a:spcPts val="1000"/>
              </a:spcBef>
            </a:pPr>
            <a:r>
              <a:rPr lang="en-US" sz="2800" b="1" dirty="0">
                <a:solidFill>
                  <a:prstClr val="black"/>
                </a:solidFill>
                <a:latin typeface="Times New Roman" panose="02020603050405020304" pitchFamily="18" charset="0"/>
                <a:cs typeface="Times New Roman" panose="02020603050405020304" pitchFamily="18" charset="0"/>
              </a:rPr>
              <a:t>     </a:t>
            </a:r>
            <a:r>
              <a:rPr lang="en-US" sz="2800" b="1" dirty="0" smtClean="0">
                <a:solidFill>
                  <a:prstClr val="black"/>
                </a:solidFill>
                <a:latin typeface="Times New Roman" panose="02020603050405020304" pitchFamily="18" charset="0"/>
                <a:cs typeface="Times New Roman" panose="02020603050405020304" pitchFamily="18" charset="0"/>
              </a:rPr>
              <a:t>  Supervisor</a:t>
            </a:r>
            <a:r>
              <a:rPr lang="en-US" sz="2800" b="1" dirty="0">
                <a:solidFill>
                  <a:prstClr val="black"/>
                </a:solidFill>
                <a:latin typeface="Times New Roman" panose="02020603050405020304" pitchFamily="18" charset="0"/>
                <a:cs typeface="Times New Roman" panose="02020603050405020304" pitchFamily="18" charset="0"/>
              </a:rPr>
              <a:t>:</a:t>
            </a:r>
            <a:r>
              <a:rPr lang="en-US" sz="2800" dirty="0">
                <a:solidFill>
                  <a:prstClr val="black"/>
                </a:solidFill>
                <a:latin typeface="Times New Roman" panose="02020603050405020304" pitchFamily="18" charset="0"/>
                <a:cs typeface="Times New Roman" panose="02020603050405020304" pitchFamily="18" charset="0"/>
              </a:rPr>
              <a:t>                 Dr. NYATEGA</a:t>
            </a:r>
          </a:p>
        </p:txBody>
      </p:sp>
      <p:pic>
        <p:nvPicPr>
          <p:cNvPr id="4" name="Picture 3" descr="IMG-20221204-WA0013"/>
          <p:cNvPicPr/>
          <p:nvPr/>
        </p:nvPicPr>
        <p:blipFill rotWithShape="1">
          <a:blip r:embed="rId2">
            <a:extLst>
              <a:ext uri="{28A0092B-C50C-407E-A947-70E740481C1C}">
                <a14:useLocalDpi xmlns:a14="http://schemas.microsoft.com/office/drawing/2010/main" val="0"/>
              </a:ext>
            </a:extLst>
          </a:blip>
          <a:srcRect l="-4290" t="5461" r="1059" b="18885"/>
          <a:stretch/>
        </p:blipFill>
        <p:spPr bwMode="auto">
          <a:xfrm>
            <a:off x="3763616" y="618209"/>
            <a:ext cx="4611757" cy="1737843"/>
          </a:xfrm>
          <a:prstGeom prst="rect">
            <a:avLst/>
          </a:prstGeom>
          <a:noFill/>
          <a:ln>
            <a:noFill/>
          </a:ln>
          <a:extLst>
            <a:ext uri="{53640926-AAD7-44D8-BBD7-CCE9431645EC}">
              <a14:shadowObscured xmlns:a14="http://schemas.microsoft.com/office/drawing/2010/main"/>
            </a:ext>
          </a:extLst>
        </p:spPr>
      </p:pic>
      <p:sp>
        <p:nvSpPr>
          <p:cNvPr id="5" name="Rectangle 4"/>
          <p:cNvSpPr/>
          <p:nvPr/>
        </p:nvSpPr>
        <p:spPr>
          <a:xfrm>
            <a:off x="92762" y="2356052"/>
            <a:ext cx="11953461" cy="50358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latin typeface="Times New Roman" panose="02020603050405020304" pitchFamily="18" charset="0"/>
                <a:cs typeface="Times New Roman" panose="02020603050405020304" pitchFamily="18" charset="0"/>
              </a:rPr>
              <a:t>COLLEGE OF INFORMATION AND </a:t>
            </a:r>
            <a:r>
              <a:rPr lang="en-US" sz="2400" dirty="0" smtClean="0">
                <a:latin typeface="Times New Roman" panose="02020603050405020304" pitchFamily="18" charset="0"/>
                <a:cs typeface="Times New Roman" panose="02020603050405020304" pitchFamily="18" charset="0"/>
              </a:rPr>
              <a:t>COMMUNICATION</a:t>
            </a:r>
            <a:r>
              <a:rPr lang="en-US" sz="2800" dirty="0" smtClean="0">
                <a:latin typeface="Times New Roman" panose="02020603050405020304" pitchFamily="18" charset="0"/>
                <a:cs typeface="Times New Roman" panose="02020603050405020304" pitchFamily="18" charset="0"/>
              </a:rPr>
              <a:t> TECHNOLOGY</a:t>
            </a:r>
            <a:endParaRPr lang="en-US" sz="2800" dirty="0">
              <a:latin typeface="Times New Roman" panose="02020603050405020304" pitchFamily="18" charset="0"/>
              <a:cs typeface="Times New Roman" panose="02020603050405020304" pitchFamily="18" charset="0"/>
            </a:endParaRPr>
          </a:p>
        </p:txBody>
      </p:sp>
      <p:sp>
        <p:nvSpPr>
          <p:cNvPr id="6" name="Rectangle 5"/>
          <p:cNvSpPr/>
          <p:nvPr/>
        </p:nvSpPr>
        <p:spPr>
          <a:xfrm>
            <a:off x="1192692" y="26430"/>
            <a:ext cx="9753600" cy="50358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500" b="1" dirty="0">
                <a:solidFill>
                  <a:prstClr val="black"/>
                </a:solidFill>
                <a:latin typeface="Times New Roman" panose="02020603050405020304" pitchFamily="18" charset="0"/>
                <a:ea typeface="+mj-ea"/>
                <a:cs typeface="Times New Roman" panose="02020603050405020304" pitchFamily="18" charset="0"/>
              </a:rPr>
              <a:t>MBEYA UNIVERSITY    OF   SCIENCE    AND     TECHNOLOGY</a:t>
            </a:r>
            <a:endParaRPr lang="en-US" dirty="0"/>
          </a:p>
        </p:txBody>
      </p:sp>
      <p:sp>
        <p:nvSpPr>
          <p:cNvPr id="7" name="Rectangle 6"/>
          <p:cNvSpPr/>
          <p:nvPr/>
        </p:nvSpPr>
        <p:spPr>
          <a:xfrm>
            <a:off x="119270" y="2859635"/>
            <a:ext cx="11953461" cy="70906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lvl="0" algn="ctr">
              <a:lnSpc>
                <a:spcPct val="90000"/>
              </a:lnSpc>
              <a:spcBef>
                <a:spcPts val="1000"/>
              </a:spcBef>
            </a:pPr>
            <a:r>
              <a:rPr lang="en-US" sz="2400" dirty="0">
                <a:solidFill>
                  <a:prstClr val="black"/>
                </a:solidFill>
                <a:latin typeface="Times New Roman" panose="02020603050405020304" pitchFamily="18" charset="0"/>
                <a:cs typeface="Times New Roman" panose="02020603050405020304" pitchFamily="18" charset="0"/>
              </a:rPr>
              <a:t>DEPARTMENT OF ELECTRONICS AND </a:t>
            </a:r>
            <a:r>
              <a:rPr lang="en-US" sz="2400" dirty="0" smtClean="0">
                <a:solidFill>
                  <a:prstClr val="black"/>
                </a:solidFill>
                <a:latin typeface="Times New Roman" panose="02020603050405020304" pitchFamily="18" charset="0"/>
                <a:cs typeface="Times New Roman" panose="02020603050405020304" pitchFamily="18" charset="0"/>
              </a:rPr>
              <a:t>TELECOMMUNICATION ENGINEERING</a:t>
            </a:r>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10" name="Rectangle 9"/>
          <p:cNvSpPr/>
          <p:nvPr/>
        </p:nvSpPr>
        <p:spPr>
          <a:xfrm>
            <a:off x="0" y="3570633"/>
            <a:ext cx="11536962" cy="10033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lvl="0" algn="ctr">
              <a:lnSpc>
                <a:spcPct val="90000"/>
              </a:lnSpc>
              <a:spcBef>
                <a:spcPts val="1000"/>
              </a:spcBef>
            </a:pPr>
            <a:r>
              <a:rPr lang="en-GB" sz="2800" b="1" dirty="0">
                <a:solidFill>
                  <a:prstClr val="black"/>
                </a:solidFill>
                <a:latin typeface="Times New Roman" panose="02020603050405020304" pitchFamily="18" charset="0"/>
                <a:cs typeface="Times New Roman" panose="02020603050405020304" pitchFamily="18" charset="0"/>
              </a:rPr>
              <a:t>TITLE</a:t>
            </a:r>
            <a:r>
              <a:rPr lang="en-GB" sz="2800" dirty="0" smtClean="0">
                <a:solidFill>
                  <a:prstClr val="black"/>
                </a:solidFill>
                <a:latin typeface="Times New Roman" panose="02020603050405020304" pitchFamily="18" charset="0"/>
                <a:cs typeface="Times New Roman" panose="02020603050405020304" pitchFamily="18" charset="0"/>
              </a:rPr>
              <a:t>: </a:t>
            </a:r>
            <a:r>
              <a:rPr lang="en-US" sz="2800" dirty="0" smtClean="0">
                <a:solidFill>
                  <a:prstClr val="black"/>
                </a:solidFill>
                <a:latin typeface="Times New Roman" panose="02020603050405020304" pitchFamily="18" charset="0"/>
                <a:cs typeface="Times New Roman" panose="02020603050405020304" pitchFamily="18" charset="0"/>
              </a:rPr>
              <a:t>EXPLAINABLE </a:t>
            </a:r>
            <a:r>
              <a:rPr lang="en-US" sz="2800" dirty="0">
                <a:solidFill>
                  <a:prstClr val="black"/>
                </a:solidFill>
                <a:latin typeface="Times New Roman" panose="02020603050405020304" pitchFamily="18" charset="0"/>
                <a:cs typeface="Times New Roman" panose="02020603050405020304" pitchFamily="18" charset="0"/>
              </a:rPr>
              <a:t>AI MODEL FOR PULMONARY EDEMA DETECTION IN CHEST X-RAY IMAGES</a:t>
            </a:r>
          </a:p>
        </p:txBody>
      </p:sp>
    </p:spTree>
    <p:extLst>
      <p:ext uri="{BB962C8B-B14F-4D97-AF65-F5344CB8AC3E}">
        <p14:creationId xmlns:p14="http://schemas.microsoft.com/office/powerpoint/2010/main" val="34201647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4693920" y="6629400"/>
            <a:ext cx="2743200" cy="365125"/>
          </a:xfrm>
        </p:spPr>
        <p:txBody>
          <a:bodyPr/>
          <a:lstStyle/>
          <a:p>
            <a:fld id="{2941CC99-BD6B-4C57-8A48-3E6D54C7A121}" type="slidenum">
              <a:rPr lang="en-US" smtClean="0"/>
              <a:t>2</a:t>
            </a:fld>
            <a:endParaRPr lang="en-US" dirty="0"/>
          </a:p>
        </p:txBody>
      </p:sp>
      <p:sp>
        <p:nvSpPr>
          <p:cNvPr id="3" name="Rectangle 2"/>
          <p:cNvSpPr/>
          <p:nvPr/>
        </p:nvSpPr>
        <p:spPr>
          <a:xfrm>
            <a:off x="-30480" y="308255"/>
            <a:ext cx="12192000" cy="55418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smtClean="0">
                <a:latin typeface="Times New Roman" panose="02020603050405020304" pitchFamily="18" charset="0"/>
                <a:cs typeface="Times New Roman" panose="02020603050405020304" pitchFamily="18" charset="0"/>
              </a:rPr>
              <a:t>PROJECT OBJECTIVES</a:t>
            </a:r>
            <a:endParaRPr lang="en-US" sz="4000" dirty="0">
              <a:latin typeface="Times New Roman" panose="02020603050405020304" pitchFamily="18" charset="0"/>
              <a:cs typeface="Times New Roman" panose="02020603050405020304" pitchFamily="18" charset="0"/>
            </a:endParaRPr>
          </a:p>
        </p:txBody>
      </p:sp>
      <p:sp>
        <p:nvSpPr>
          <p:cNvPr id="4" name="Rectangle 3"/>
          <p:cNvSpPr/>
          <p:nvPr/>
        </p:nvSpPr>
        <p:spPr>
          <a:xfrm>
            <a:off x="0" y="950471"/>
            <a:ext cx="3726873" cy="48490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457200" indent="-457200" algn="ct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Main Objective</a:t>
            </a:r>
          </a:p>
        </p:txBody>
      </p:sp>
      <p:sp>
        <p:nvSpPr>
          <p:cNvPr id="5" name="Rectangle 4"/>
          <p:cNvSpPr/>
          <p:nvPr/>
        </p:nvSpPr>
        <p:spPr>
          <a:xfrm>
            <a:off x="-30480" y="1538529"/>
            <a:ext cx="12192000" cy="135774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228600" lvl="0" indent="-228600">
              <a:spcBef>
                <a:spcPts val="1000"/>
              </a:spcBef>
              <a:buFont typeface="Arial" panose="020B0604020202020204" pitchFamily="34" charset="0"/>
              <a:buChar char="•"/>
            </a:pPr>
            <a:r>
              <a:rPr lang="en-US" sz="2800" dirty="0">
                <a:solidFill>
                  <a:prstClr val="black"/>
                </a:solidFill>
                <a:latin typeface="Times New Roman" panose="02020603050405020304" pitchFamily="18" charset="0"/>
                <a:cs typeface="Times New Roman" panose="02020603050405020304" pitchFamily="18" charset="0"/>
              </a:rPr>
              <a:t>To develop an </a:t>
            </a:r>
            <a:r>
              <a:rPr lang="en-US" sz="2800" b="1" dirty="0">
                <a:solidFill>
                  <a:prstClr val="black"/>
                </a:solidFill>
                <a:latin typeface="Times New Roman" panose="02020603050405020304" pitchFamily="18" charset="0"/>
                <a:cs typeface="Times New Roman" panose="02020603050405020304" pitchFamily="18" charset="0"/>
              </a:rPr>
              <a:t>Explainable AI system</a:t>
            </a:r>
            <a:r>
              <a:rPr lang="en-US" sz="2800" dirty="0">
                <a:solidFill>
                  <a:prstClr val="black"/>
                </a:solidFill>
                <a:latin typeface="Times New Roman" panose="02020603050405020304" pitchFamily="18" charset="0"/>
                <a:cs typeface="Times New Roman" panose="02020603050405020304" pitchFamily="18" charset="0"/>
              </a:rPr>
              <a:t> for detecting pulmonary edema in chest X-ray images, capable of providing diagnostic results along with visual explanations of the regions used for prediction</a:t>
            </a:r>
            <a:r>
              <a:rPr lang="en-US" sz="2800" dirty="0" smtClean="0">
                <a:solidFill>
                  <a:prstClr val="black"/>
                </a:solidFill>
                <a:latin typeface="Times New Roman" panose="02020603050405020304" pitchFamily="18" charset="0"/>
                <a:cs typeface="Times New Roman" panose="02020603050405020304" pitchFamily="18" charset="0"/>
              </a:rPr>
              <a:t>.</a:t>
            </a:r>
            <a:endParaRPr lang="en-US" sz="2800" dirty="0">
              <a:solidFill>
                <a:prstClr val="black"/>
              </a:solidFill>
              <a:latin typeface="Times New Roman" panose="02020603050405020304" pitchFamily="18" charset="0"/>
              <a:cs typeface="Times New Roman" panose="02020603050405020304" pitchFamily="18" charset="0"/>
            </a:endParaRPr>
          </a:p>
        </p:txBody>
      </p:sp>
      <p:sp>
        <p:nvSpPr>
          <p:cNvPr id="6" name="Rectangle 5"/>
          <p:cNvSpPr/>
          <p:nvPr/>
        </p:nvSpPr>
        <p:spPr>
          <a:xfrm>
            <a:off x="-30480" y="3292565"/>
            <a:ext cx="4308764" cy="58189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457200" indent="-457200" algn="ctr">
              <a:buFont typeface="Wingdings" panose="05000000000000000000" pitchFamily="2" charset="2"/>
              <a:buChar char="q"/>
            </a:pPr>
            <a:r>
              <a:rPr lang="en-US" sz="3200" dirty="0">
                <a:solidFill>
                  <a:prstClr val="black"/>
                </a:solidFill>
                <a:latin typeface="Times New Roman" panose="02020603050405020304" pitchFamily="18" charset="0"/>
                <a:ea typeface="+mj-ea"/>
                <a:cs typeface="Times New Roman" panose="02020603050405020304" pitchFamily="18" charset="0"/>
              </a:rPr>
              <a:t>Specific Objectives</a:t>
            </a:r>
            <a:endParaRPr lang="en-US"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30480" y="3880624"/>
            <a:ext cx="12161520" cy="274877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571500" lvl="0" indent="-571500">
              <a:spcBef>
                <a:spcPts val="1000"/>
              </a:spcBef>
              <a:buFont typeface="+mj-lt"/>
              <a:buAutoNum type="romanLcPeriod"/>
            </a:pPr>
            <a:r>
              <a:rPr lang="en-US" sz="2800" dirty="0" smtClean="0">
                <a:solidFill>
                  <a:prstClr val="black"/>
                </a:solidFill>
                <a:latin typeface="Times New Roman" panose="02020603050405020304" pitchFamily="18" charset="0"/>
                <a:cs typeface="Times New Roman" panose="02020603050405020304" pitchFamily="18" charset="0"/>
              </a:rPr>
              <a:t>Collect </a:t>
            </a:r>
            <a:r>
              <a:rPr lang="en-US" sz="2800" dirty="0">
                <a:solidFill>
                  <a:prstClr val="black"/>
                </a:solidFill>
                <a:latin typeface="Times New Roman" panose="02020603050405020304" pitchFamily="18" charset="0"/>
                <a:cs typeface="Times New Roman" panose="02020603050405020304" pitchFamily="18" charset="0"/>
              </a:rPr>
              <a:t>and preprocess chest X-ray datasets.</a:t>
            </a:r>
          </a:p>
          <a:p>
            <a:pPr marL="571500" lvl="0" indent="-571500">
              <a:spcBef>
                <a:spcPts val="1000"/>
              </a:spcBef>
              <a:buFont typeface="+mj-lt"/>
              <a:buAutoNum type="romanLcPeriod"/>
            </a:pPr>
            <a:r>
              <a:rPr lang="en-US" sz="2800" dirty="0" smtClean="0">
                <a:solidFill>
                  <a:prstClr val="black"/>
                </a:solidFill>
                <a:latin typeface="Times New Roman" panose="02020603050405020304" pitchFamily="18" charset="0"/>
                <a:cs typeface="Times New Roman" panose="02020603050405020304" pitchFamily="18" charset="0"/>
              </a:rPr>
              <a:t>Train a CNN model for detection.</a:t>
            </a:r>
          </a:p>
          <a:p>
            <a:pPr marL="571500" lvl="0" indent="-571500">
              <a:spcBef>
                <a:spcPts val="1000"/>
              </a:spcBef>
              <a:buFont typeface="+mj-lt"/>
              <a:buAutoNum type="romanLcPeriod"/>
            </a:pPr>
            <a:r>
              <a:rPr lang="en-US" sz="2800" dirty="0" smtClean="0">
                <a:solidFill>
                  <a:prstClr val="black"/>
                </a:solidFill>
              </a:rPr>
              <a:t>Apply Explainable AI techniques.</a:t>
            </a:r>
            <a:endParaRPr lang="en-US" sz="2800" dirty="0" smtClean="0">
              <a:solidFill>
                <a:prstClr val="black"/>
              </a:solidFill>
              <a:latin typeface="Times New Roman" panose="02020603050405020304" pitchFamily="18" charset="0"/>
              <a:cs typeface="Times New Roman" panose="02020603050405020304" pitchFamily="18" charset="0"/>
            </a:endParaRPr>
          </a:p>
          <a:p>
            <a:pPr marL="571500" lvl="0" indent="-571500">
              <a:spcBef>
                <a:spcPts val="1000"/>
              </a:spcBef>
              <a:buFont typeface="+mj-lt"/>
              <a:buAutoNum type="romanLcPeriod"/>
            </a:pPr>
            <a:r>
              <a:rPr lang="en-US" sz="2800" dirty="0" smtClean="0">
                <a:solidFill>
                  <a:prstClr val="black"/>
                </a:solidFill>
                <a:latin typeface="Times New Roman" panose="02020603050405020304" pitchFamily="18" charset="0"/>
                <a:cs typeface="Times New Roman" panose="02020603050405020304" pitchFamily="18" charset="0"/>
              </a:rPr>
              <a:t>Evaluate model performance and </a:t>
            </a:r>
            <a:r>
              <a:rPr lang="en-US" sz="2800" dirty="0">
                <a:solidFill>
                  <a:prstClr val="black"/>
                </a:solidFill>
                <a:latin typeface="Times New Roman" panose="02020603050405020304" pitchFamily="18" charset="0"/>
                <a:cs typeface="Times New Roman" panose="02020603050405020304" pitchFamily="18" charset="0"/>
              </a:rPr>
              <a:t>Develop a simple web </a:t>
            </a:r>
            <a:r>
              <a:rPr lang="en-US" sz="2800" dirty="0" smtClean="0">
                <a:solidFill>
                  <a:prstClr val="black"/>
                </a:solidFill>
                <a:latin typeface="Times New Roman" panose="02020603050405020304" pitchFamily="18" charset="0"/>
                <a:cs typeface="Times New Roman" panose="02020603050405020304" pitchFamily="18" charset="0"/>
              </a:rPr>
              <a:t>interface.</a:t>
            </a:r>
          </a:p>
        </p:txBody>
      </p:sp>
    </p:spTree>
    <p:extLst>
      <p:ext uri="{BB962C8B-B14F-4D97-AF65-F5344CB8AC3E}">
        <p14:creationId xmlns:p14="http://schemas.microsoft.com/office/powerpoint/2010/main" val="22270523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941CC99-BD6B-4C57-8A48-3E6D54C7A121}" type="slidenum">
              <a:rPr lang="en-US" smtClean="0"/>
              <a:t>3</a:t>
            </a:fld>
            <a:endParaRPr lang="en-US"/>
          </a:p>
        </p:txBody>
      </p:sp>
      <p:sp>
        <p:nvSpPr>
          <p:cNvPr id="3" name="Rectangle 2"/>
          <p:cNvSpPr/>
          <p:nvPr/>
        </p:nvSpPr>
        <p:spPr>
          <a:xfrm>
            <a:off x="0" y="2802194"/>
            <a:ext cx="12192000" cy="95864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smtClean="0">
                <a:latin typeface="Times New Roman" panose="02020603050405020304" pitchFamily="18" charset="0"/>
                <a:cs typeface="Times New Roman" panose="02020603050405020304" pitchFamily="18" charset="0"/>
              </a:rPr>
              <a:t>RESULTS DISCUSSION</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41317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941CC99-BD6B-4C57-8A48-3E6D54C7A121}" type="slidenum">
              <a:rPr lang="en-US" smtClean="0"/>
              <a:t>4</a:t>
            </a:fld>
            <a:endParaRPr lang="en-US"/>
          </a:p>
        </p:txBody>
      </p:sp>
      <p:sp>
        <p:nvSpPr>
          <p:cNvPr id="15" name="Rectangle 14"/>
          <p:cNvSpPr/>
          <p:nvPr/>
        </p:nvSpPr>
        <p:spPr>
          <a:xfrm>
            <a:off x="412955" y="398206"/>
            <a:ext cx="11474245" cy="92914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smtClean="0">
                <a:latin typeface="Times New Roman" panose="02020603050405020304" pitchFamily="18" charset="0"/>
                <a:ea typeface="Times New Roman" panose="02020603050405020304" pitchFamily="18" charset="0"/>
                <a:cs typeface="Times New Roman" panose="02020603050405020304" pitchFamily="18" charset="0"/>
              </a:rPr>
              <a:t>1. Model </a:t>
            </a:r>
            <a:r>
              <a:rPr lang="en-US" sz="4000" dirty="0">
                <a:latin typeface="Times New Roman" panose="02020603050405020304" pitchFamily="18" charset="0"/>
                <a:ea typeface="Times New Roman" panose="02020603050405020304" pitchFamily="18" charset="0"/>
                <a:cs typeface="Times New Roman" panose="02020603050405020304" pitchFamily="18" charset="0"/>
              </a:rPr>
              <a:t>Performance</a:t>
            </a:r>
            <a:endParaRPr lang="en-US" sz="40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631966574"/>
              </p:ext>
            </p:extLst>
          </p:nvPr>
        </p:nvGraphicFramePr>
        <p:xfrm>
          <a:off x="892277" y="2056227"/>
          <a:ext cx="10515599" cy="3840480"/>
        </p:xfrm>
        <a:graphic>
          <a:graphicData uri="http://schemas.openxmlformats.org/drawingml/2006/table">
            <a:tbl>
              <a:tblPr firstRow="1" firstCol="1" bandRow="1"/>
              <a:tblGrid>
                <a:gridCol w="2864449">
                  <a:extLst>
                    <a:ext uri="{9D8B030D-6E8A-4147-A177-3AD203B41FA5}">
                      <a16:colId xmlns:a16="http://schemas.microsoft.com/office/drawing/2014/main" val="276929480"/>
                    </a:ext>
                  </a:extLst>
                </a:gridCol>
                <a:gridCol w="1846539">
                  <a:extLst>
                    <a:ext uri="{9D8B030D-6E8A-4147-A177-3AD203B41FA5}">
                      <a16:colId xmlns:a16="http://schemas.microsoft.com/office/drawing/2014/main" val="3390903919"/>
                    </a:ext>
                  </a:extLst>
                </a:gridCol>
                <a:gridCol w="5804611">
                  <a:extLst>
                    <a:ext uri="{9D8B030D-6E8A-4147-A177-3AD203B41FA5}">
                      <a16:colId xmlns:a16="http://schemas.microsoft.com/office/drawing/2014/main" val="2582755634"/>
                    </a:ext>
                  </a:extLst>
                </a:gridCol>
              </a:tblGrid>
              <a:tr h="0">
                <a:tc>
                  <a:txBody>
                    <a:bodyPr/>
                    <a:lstStyle/>
                    <a:p>
                      <a:pPr marL="0" marR="0">
                        <a:lnSpc>
                          <a:spcPct val="150000"/>
                        </a:lnSpc>
                        <a:spcBef>
                          <a:spcPts val="0"/>
                        </a:spcBef>
                        <a:spcAft>
                          <a:spcPts val="0"/>
                        </a:spcAft>
                      </a:pPr>
                      <a:r>
                        <a:rPr lang="en-US" sz="2800" b="1">
                          <a:effectLst/>
                          <a:latin typeface="Times New Roman" panose="02020603050405020304" pitchFamily="18" charset="0"/>
                          <a:ea typeface="Calibri" panose="020F0502020204030204" pitchFamily="34" charset="0"/>
                          <a:cs typeface="Times New Roman" panose="02020603050405020304" pitchFamily="18" charset="0"/>
                        </a:rPr>
                        <a:t>Metric</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2800" b="1">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95% Confidence Interval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996466"/>
                  </a:ext>
                </a:extLst>
              </a:tr>
              <a:tr h="0">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AUC-ROC</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0.917</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0.89 – 0.94</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7959845"/>
                  </a:ext>
                </a:extLst>
              </a:tr>
              <a:tr h="0">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Accuracy</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85.0%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79.5% - 89.5%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7922083"/>
                  </a:ext>
                </a:extLst>
              </a:tr>
              <a:tr h="0">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Sensitivity</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82.0%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73.5% -88.5%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0734349"/>
                  </a:ext>
                </a:extLst>
              </a:tr>
              <a:tr h="0">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Specificity</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88.0%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80.5% - 93.5%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9866301"/>
                  </a:ext>
                </a:extLst>
              </a:tr>
              <a:tr h="0">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Precision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87.2%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79.5% - 92.5%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3455744"/>
                  </a:ext>
                </a:extLst>
              </a:tr>
            </a:tbl>
          </a:graphicData>
        </a:graphic>
      </p:graphicFrame>
    </p:spTree>
    <p:extLst>
      <p:ext uri="{BB962C8B-B14F-4D97-AF65-F5344CB8AC3E}">
        <p14:creationId xmlns:p14="http://schemas.microsoft.com/office/powerpoint/2010/main" val="8957438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941CC99-BD6B-4C57-8A48-3E6D54C7A121}" type="slidenum">
              <a:rPr lang="en-US" smtClean="0"/>
              <a:t>5</a:t>
            </a:fld>
            <a:endParaRPr lang="en-US"/>
          </a:p>
        </p:txBody>
      </p:sp>
      <p:pic>
        <p:nvPicPr>
          <p:cNvPr id="3" name="Picture 2"/>
          <p:cNvPicPr/>
          <p:nvPr/>
        </p:nvPicPr>
        <p:blipFill>
          <a:blip r:embed="rId3" cstate="print">
            <a:extLst>
              <a:ext uri="{28A0092B-C50C-407E-A947-70E740481C1C}">
                <a14:useLocalDpi xmlns:a14="http://schemas.microsoft.com/office/drawing/2010/main" val="0"/>
              </a:ext>
            </a:extLst>
          </a:blip>
          <a:stretch>
            <a:fillRect/>
          </a:stretch>
        </p:blipFill>
        <p:spPr>
          <a:xfrm>
            <a:off x="2350226" y="825908"/>
            <a:ext cx="6446520" cy="5202936"/>
          </a:xfrm>
          <a:prstGeom prst="rect">
            <a:avLst/>
          </a:prstGeom>
        </p:spPr>
      </p:pic>
    </p:spTree>
    <p:extLst>
      <p:ext uri="{BB962C8B-B14F-4D97-AF65-F5344CB8AC3E}">
        <p14:creationId xmlns:p14="http://schemas.microsoft.com/office/powerpoint/2010/main" val="27955155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latin typeface="Times New Roman" panose="02020603050405020304" pitchFamily="18" charset="0"/>
                <a:cs typeface="Times New Roman" panose="02020603050405020304" pitchFamily="18" charset="0"/>
              </a:rPr>
              <a:t>2. Classification </a:t>
            </a:r>
            <a:r>
              <a:rPr lang="en-US" sz="4000" dirty="0">
                <a:latin typeface="Times New Roman" panose="02020603050405020304" pitchFamily="18" charset="0"/>
                <a:cs typeface="Times New Roman" panose="02020603050405020304" pitchFamily="18" charset="0"/>
              </a:rPr>
              <a:t>Metrics</a:t>
            </a:r>
          </a:p>
        </p:txBody>
      </p:sp>
      <p:pic>
        <p:nvPicPr>
          <p:cNvPr id="3" name="Picture 2"/>
          <p:cNvPicPr/>
          <p:nvPr/>
        </p:nvPicPr>
        <p:blipFill>
          <a:blip r:embed="rId3" cstate="print">
            <a:extLst>
              <a:ext uri="{28A0092B-C50C-407E-A947-70E740481C1C}">
                <a14:useLocalDpi xmlns:a14="http://schemas.microsoft.com/office/drawing/2010/main" val="0"/>
              </a:ext>
            </a:extLst>
          </a:blip>
          <a:stretch>
            <a:fillRect/>
          </a:stretch>
        </p:blipFill>
        <p:spPr>
          <a:xfrm>
            <a:off x="2872740" y="1513707"/>
            <a:ext cx="6446520" cy="4517136"/>
          </a:xfrm>
          <a:prstGeom prst="rect">
            <a:avLst/>
          </a:prstGeom>
        </p:spPr>
      </p:pic>
      <p:sp>
        <p:nvSpPr>
          <p:cNvPr id="4" name="Slide Number Placeholder 3"/>
          <p:cNvSpPr>
            <a:spLocks noGrp="1"/>
          </p:cNvSpPr>
          <p:nvPr>
            <p:ph type="sldNum" sz="quarter" idx="12"/>
          </p:nvPr>
        </p:nvSpPr>
        <p:spPr/>
        <p:txBody>
          <a:bodyPr/>
          <a:lstStyle/>
          <a:p>
            <a:fld id="{87EE0C18-DD67-45D8-8C41-76CB45571369}" type="slidenum">
              <a:rPr lang="en-US" smtClean="0"/>
              <a:t>6</a:t>
            </a:fld>
            <a:endParaRPr lang="en-US"/>
          </a:p>
        </p:txBody>
      </p:sp>
    </p:spTree>
    <p:extLst>
      <p:ext uri="{BB962C8B-B14F-4D97-AF65-F5344CB8AC3E}">
        <p14:creationId xmlns:p14="http://schemas.microsoft.com/office/powerpoint/2010/main" val="12785505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949" y="129152"/>
            <a:ext cx="10515600" cy="726254"/>
          </a:xfrm>
        </p:spPr>
        <p:txBody>
          <a:bodyPr>
            <a:normAutofit/>
          </a:bodyPr>
          <a:lstStyle/>
          <a:p>
            <a:pPr algn="ctr"/>
            <a:r>
              <a:rPr lang="en-US" sz="4000" dirty="0" smtClean="0">
                <a:latin typeface="Times New Roman" panose="02020603050405020304" pitchFamily="18" charset="0"/>
                <a:cs typeface="Times New Roman" panose="02020603050405020304" pitchFamily="18" charset="0"/>
              </a:rPr>
              <a:t>3. Training </a:t>
            </a:r>
            <a:r>
              <a:rPr lang="en-US" sz="4000" dirty="0">
                <a:latin typeface="Times New Roman" panose="02020603050405020304" pitchFamily="18" charset="0"/>
                <a:cs typeface="Times New Roman" panose="02020603050405020304" pitchFamily="18" charset="0"/>
              </a:rPr>
              <a:t>Analysis</a:t>
            </a:r>
          </a:p>
        </p:txBody>
      </p:sp>
      <p:sp>
        <p:nvSpPr>
          <p:cNvPr id="3" name="Slide Number Placeholder 2"/>
          <p:cNvSpPr>
            <a:spLocks noGrp="1"/>
          </p:cNvSpPr>
          <p:nvPr>
            <p:ph type="sldNum" sz="quarter" idx="12"/>
          </p:nvPr>
        </p:nvSpPr>
        <p:spPr/>
        <p:txBody>
          <a:bodyPr/>
          <a:lstStyle/>
          <a:p>
            <a:fld id="{2941CC99-BD6B-4C57-8A48-3E6D54C7A121}" type="slidenum">
              <a:rPr lang="en-US" smtClean="0"/>
              <a:t>7</a:t>
            </a:fld>
            <a:endParaRPr lang="en-US"/>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2359136" y="3377594"/>
            <a:ext cx="6647688" cy="2788920"/>
          </a:xfrm>
          <a:prstGeom prst="rect">
            <a:avLst/>
          </a:prstGeom>
        </p:spPr>
      </p:pic>
      <p:sp>
        <p:nvSpPr>
          <p:cNvPr id="5" name="Rectangle 4"/>
          <p:cNvSpPr/>
          <p:nvPr/>
        </p:nvSpPr>
        <p:spPr>
          <a:xfrm>
            <a:off x="1430593" y="855406"/>
            <a:ext cx="10294374" cy="216801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Trained for 40 </a:t>
            </a:r>
            <a:r>
              <a:rPr lang="en-US" sz="2400" dirty="0" smtClean="0">
                <a:latin typeface="Times New Roman" panose="02020603050405020304" pitchFamily="18" charset="0"/>
                <a:cs typeface="Times New Roman" panose="02020603050405020304" pitchFamily="18" charset="0"/>
              </a:rPr>
              <a:t>epochs</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Validation loss decreased from 0.63 to </a:t>
            </a:r>
            <a:r>
              <a:rPr lang="en-US" sz="2400" dirty="0" smtClean="0">
                <a:latin typeface="Times New Roman" panose="02020603050405020304" pitchFamily="18" charset="0"/>
                <a:cs typeface="Times New Roman" panose="02020603050405020304" pitchFamily="18" charset="0"/>
              </a:rPr>
              <a:t>0.38</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Validation AUC reached </a:t>
            </a:r>
            <a:r>
              <a:rPr lang="en-US" sz="2400" dirty="0" smtClean="0">
                <a:latin typeface="Times New Roman" panose="02020603050405020304" pitchFamily="18" charset="0"/>
                <a:cs typeface="Times New Roman" panose="02020603050405020304" pitchFamily="18" charset="0"/>
              </a:rPr>
              <a:t>0.917</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No significant overfitting observed</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6347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663677"/>
          </a:xfrm>
        </p:spPr>
        <p:txBody>
          <a:bodyPr>
            <a:normAutofit/>
          </a:bodyPr>
          <a:lstStyle/>
          <a:p>
            <a:pPr algn="ctr"/>
            <a:r>
              <a:rPr lang="en-US" sz="4000" dirty="0" smtClean="0">
                <a:latin typeface="Times New Roman" panose="02020603050405020304" pitchFamily="18" charset="0"/>
                <a:cs typeface="Times New Roman" panose="02020603050405020304" pitchFamily="18" charset="0"/>
              </a:rPr>
              <a:t>4. Explainability </a:t>
            </a:r>
            <a:r>
              <a:rPr lang="en-US" sz="4000" dirty="0">
                <a:latin typeface="Times New Roman" panose="02020603050405020304" pitchFamily="18" charset="0"/>
                <a:cs typeface="Times New Roman" panose="02020603050405020304" pitchFamily="18" charset="0"/>
              </a:rPr>
              <a:t>Analysis</a:t>
            </a:r>
            <a:endParaRPr lang="en-US" sz="4000" dirty="0">
              <a:latin typeface="Times New Roman" panose="02020603050405020304" pitchFamily="18" charset="0"/>
              <a:cs typeface="Times New Roman" panose="02020603050405020304" pitchFamily="18" charset="0"/>
            </a:endParaRPr>
          </a:p>
        </p:txBody>
      </p:sp>
      <p:pic>
        <p:nvPicPr>
          <p:cNvPr id="3" name="Picture 2"/>
          <p:cNvPicPr/>
          <p:nvPr/>
        </p:nvPicPr>
        <p:blipFill>
          <a:blip r:embed="rId3" cstate="print">
            <a:extLst>
              <a:ext uri="{28A0092B-C50C-407E-A947-70E740481C1C}">
                <a14:useLocalDpi xmlns:a14="http://schemas.microsoft.com/office/drawing/2010/main" val="0"/>
              </a:ext>
            </a:extLst>
          </a:blip>
          <a:stretch>
            <a:fillRect/>
          </a:stretch>
        </p:blipFill>
        <p:spPr>
          <a:xfrm>
            <a:off x="2314956" y="2507225"/>
            <a:ext cx="7562088" cy="4086475"/>
          </a:xfrm>
          <a:prstGeom prst="rect">
            <a:avLst/>
          </a:prstGeom>
        </p:spPr>
      </p:pic>
      <p:sp>
        <p:nvSpPr>
          <p:cNvPr id="4" name="Rectangle 3"/>
          <p:cNvSpPr/>
          <p:nvPr/>
        </p:nvSpPr>
        <p:spPr>
          <a:xfrm>
            <a:off x="1268361" y="663677"/>
            <a:ext cx="10441858" cy="18435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Model focused on perihilar/interstitial lung regions in edema</a:t>
            </a:r>
            <a:r>
              <a:rPr lang="en-US" sz="24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Normal cases showed diffuse attention</a:t>
            </a:r>
            <a:r>
              <a:rPr lang="en-US" sz="24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Confidence: 61.0%–92.5%</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87EE0C18-DD67-45D8-8C41-76CB45571369}" type="slidenum">
              <a:rPr lang="en-US" smtClean="0"/>
              <a:t>8</a:t>
            </a:fld>
            <a:endParaRPr lang="en-US"/>
          </a:p>
        </p:txBody>
      </p:sp>
    </p:spTree>
    <p:extLst>
      <p:ext uri="{BB962C8B-B14F-4D97-AF65-F5344CB8AC3E}">
        <p14:creationId xmlns:p14="http://schemas.microsoft.com/office/powerpoint/2010/main" val="29874837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lstStyle/>
          <a:p>
            <a:pPr algn="just">
              <a:lnSpc>
                <a:spcPct val="150000"/>
              </a:lnSpc>
            </a:pPr>
            <a:r>
              <a:rPr lang="en-US" dirty="0">
                <a:latin typeface="Times New Roman" panose="02020603050405020304" pitchFamily="18" charset="0"/>
                <a:cs typeface="Times New Roman" panose="02020603050405020304" pitchFamily="18" charset="0"/>
              </a:rPr>
              <a:t>DenseNet121 + Grad-CAM achieved reliable pulmonary edema detection</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XAI improves transparency and clinical confidence</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a:t>Suitable as decision support for radiologists.</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4724400" y="6311900"/>
            <a:ext cx="2743200" cy="365125"/>
          </a:xfrm>
        </p:spPr>
        <p:txBody>
          <a:bodyPr/>
          <a:lstStyle/>
          <a:p>
            <a:pPr algn="ctr"/>
            <a:fld id="{87EE0C18-DD67-45D8-8C41-76CB45571369}" type="slidenum">
              <a:rPr lang="en-US" smtClean="0"/>
              <a:pPr algn="ctr"/>
              <a:t>9</a:t>
            </a:fld>
            <a:endParaRPr lang="en-US" dirty="0"/>
          </a:p>
        </p:txBody>
      </p:sp>
    </p:spTree>
    <p:extLst>
      <p:ext uri="{BB962C8B-B14F-4D97-AF65-F5344CB8AC3E}">
        <p14:creationId xmlns:p14="http://schemas.microsoft.com/office/powerpoint/2010/main" val="7153290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4571073" y="6312104"/>
            <a:ext cx="2743200" cy="365125"/>
          </a:xfrm>
        </p:spPr>
        <p:txBody>
          <a:bodyPr/>
          <a:lstStyle/>
          <a:p>
            <a:pPr algn="ctr"/>
            <a:fld id="{2941CC99-BD6B-4C57-8A48-3E6D54C7A121}" type="slidenum">
              <a:rPr lang="en-US" smtClean="0"/>
              <a:pPr algn="ctr"/>
              <a:t>10</a:t>
            </a:fld>
            <a:endParaRPr lang="en-US" dirty="0"/>
          </a:p>
        </p:txBody>
      </p:sp>
      <p:sp>
        <p:nvSpPr>
          <p:cNvPr id="3" name="Rectangle 2"/>
          <p:cNvSpPr/>
          <p:nvPr/>
        </p:nvSpPr>
        <p:spPr>
          <a:xfrm>
            <a:off x="3363762" y="2621482"/>
            <a:ext cx="5157822" cy="1107996"/>
          </a:xfrm>
          <a:prstGeom prst="rect">
            <a:avLst/>
          </a:prstGeom>
        </p:spPr>
        <p:txBody>
          <a:bodyPr wrap="none">
            <a:spAutoFit/>
          </a:bodyPr>
          <a:lstStyle/>
          <a:p>
            <a:pPr algn="ctr"/>
            <a:r>
              <a:rPr lang="en-US" sz="6600" dirty="0">
                <a:latin typeface="Times New Roman" panose="02020603050405020304" pitchFamily="18" charset="0"/>
                <a:cs typeface="Times New Roman" panose="02020603050405020304" pitchFamily="18" charset="0"/>
              </a:rPr>
              <a:t>THANK YOU</a:t>
            </a:r>
            <a:endParaRPr lang="en-US" sz="6600" dirty="0"/>
          </a:p>
        </p:txBody>
      </p:sp>
    </p:spTree>
    <p:extLst>
      <p:ext uri="{BB962C8B-B14F-4D97-AF65-F5344CB8AC3E}">
        <p14:creationId xmlns:p14="http://schemas.microsoft.com/office/powerpoint/2010/main" val="370675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1999</TotalTime>
  <Words>503</Words>
  <Application>Microsoft Office PowerPoint</Application>
  <PresentationFormat>Widescreen</PresentationFormat>
  <Paragraphs>85</Paragraphs>
  <Slides>10</Slides>
  <Notes>8</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10</vt:i4>
      </vt:variant>
    </vt:vector>
  </HeadingPairs>
  <TitlesOfParts>
    <vt:vector size="18" baseType="lpstr">
      <vt:lpstr>Arial</vt:lpstr>
      <vt:lpstr>Calibri</vt:lpstr>
      <vt:lpstr>Calibri Light</vt:lpstr>
      <vt:lpstr>Times New Roman</vt:lpstr>
      <vt:lpstr>Wingdings</vt:lpstr>
      <vt:lpstr>Office Theme</vt:lpstr>
      <vt:lpstr>1_Custom Design</vt:lpstr>
      <vt:lpstr>Custom Design</vt:lpstr>
      <vt:lpstr>PowerPoint Presentation</vt:lpstr>
      <vt:lpstr>PowerPoint Presentation</vt:lpstr>
      <vt:lpstr>PowerPoint Presentation</vt:lpstr>
      <vt:lpstr>PowerPoint Presentation</vt:lpstr>
      <vt:lpstr>PowerPoint Presentation</vt:lpstr>
      <vt:lpstr>2. Classification Metrics</vt:lpstr>
      <vt:lpstr>3. Training Analysis</vt:lpstr>
      <vt:lpstr>4. Explainability Analysis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OF PULMONARY EDEMA IN CHEST X-RAY IMAGES</dc:title>
  <dc:creator>sabo benson</dc:creator>
  <cp:lastModifiedBy>sabo benson</cp:lastModifiedBy>
  <cp:revision>107</cp:revision>
  <dcterms:created xsi:type="dcterms:W3CDTF">2026-01-27T12:18:14Z</dcterms:created>
  <dcterms:modified xsi:type="dcterms:W3CDTF">2026-08-05T15:03:34Z</dcterms:modified>
</cp:coreProperties>
</file>