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6"/>
  </p:notesMasterIdLst>
  <p:sldIdLst>
    <p:sldId id="271" r:id="rId4"/>
    <p:sldId id="27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bo benson" initials="sb" lastIdx="2" clrIdx="0">
    <p:extLst>
      <p:ext uri="{19B8F6BF-5375-455C-9EA6-DF929625EA0E}">
        <p15:presenceInfo xmlns:p15="http://schemas.microsoft.com/office/powerpoint/2012/main" userId="520e5b79325b4d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94280" autoAdjust="0"/>
  </p:normalViewPr>
  <p:slideViewPr>
    <p:cSldViewPr snapToGrid="0">
      <p:cViewPr varScale="1">
        <p:scale>
          <a:sx n="65" d="100"/>
          <a:sy n="65" d="100"/>
        </p:scale>
        <p:origin x="552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6T18:42:08.412" idx="1">
    <p:pos x="10" y="10"/>
    <p:text>To re-write specific objective, in four point.</p:text>
    <p:extLst>
      <p:ext uri="{C676402C-5697-4E1C-873F-D02D1690AC5C}">
        <p15:threadingInfo xmlns:p15="http://schemas.microsoft.com/office/powerpoint/2012/main" timeZoneBias="-180"/>
      </p:ext>
    </p:extLst>
  </p:cm>
  <p:cm authorId="1" dt="2026-06-06T18:49:18.047" idx="2">
    <p:pos x="10" y="106"/>
    <p:text>i.Collect and preprocess chest X-ray datasets.
ii.Train a CNN model for detection.
iii.Apply Explainable AI techniques.
iv.Evaluate model performance and Develop a simple web interface.</p:text>
    <p:extLst>
      <p:ext uri="{C676402C-5697-4E1C-873F-D02D1690AC5C}">
        <p15:threadingInfo xmlns:p15="http://schemas.microsoft.com/office/powerpoint/2012/main" timeZoneBias="-180">
          <p15:parentCm authorId="1" idx="1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1D1A-A6DD-4E1D-81ED-CA27A88F0505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688E-05E2-4E47-B1FB-B91784BB4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Specific Objectives</a:t>
            </a:r>
            <a:endParaRPr lang="en-US" sz="10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</a:rPr>
              <a:t>Apply Explainable AI techniques.</a:t>
            </a:r>
            <a:endParaRPr lang="en-US" sz="12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and </a:t>
            </a:r>
          </a:p>
          <a:p>
            <a:pPr marL="571500" lvl="0" indent="-571500" algn="just">
              <a:spcBef>
                <a:spcPts val="1000"/>
              </a:spcBef>
              <a:buFont typeface="+mj-lt"/>
              <a:buAutoNum type="romanLcPeriod"/>
            </a:pP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 </a:t>
            </a:r>
            <a:r>
              <a:rPr lang="en-US" sz="1200" dirty="0" smtClean="0">
                <a:solidFill>
                  <a:prstClr val="black"/>
                </a:solidFill>
              </a:rPr>
              <a:t>to display predictions and heatmaps</a:t>
            </a:r>
            <a:r>
              <a:rPr lang="en-US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688E-05E2-4E47-B1FB-B91784BB44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83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18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01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34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9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36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1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0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DF2E-B2E7-42BB-BC2E-2A0E1A78B21F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2D06-6853-4C2C-8FDA-21404816D913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88AC-50BA-4CF3-9E12-3BA5EB9FBD18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C5F4-4345-4E5F-971B-A9E15A7805BA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7808-366F-42BD-A287-EC3B0A7882CC}" type="datetime1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504E-59BE-4E8D-9047-E8B3B46D5B18}" type="datetime1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EE05-C01B-490A-A7DF-F6BB06773C83}" type="datetime1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290A-DBCA-49E2-A879-99DDF2C389F7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3E94-697B-46CE-96D5-54C95E2218C5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C891-3D4E-4DD8-9A82-4C88AC62EEE6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A40E5-F74D-4049-9ACF-5F12A24CFB73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785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5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0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5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79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9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2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85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5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53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27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05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07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22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3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5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96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0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C806-5DC8-4050-813A-0DAC933544AD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5572" y="63797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1886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F58D-6C02-4108-B809-625C13EF429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95EA-C90E-43CC-8413-3975432A004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0.xml"/><Relationship Id="rId5" Type="http://schemas.openxmlformats.org/officeDocument/2006/relationships/slide" Target="slide11.xml"/><Relationship Id="rId10" Type="http://schemas.openxmlformats.org/officeDocument/2006/relationships/image" Target="../media/image9.png"/><Relationship Id="rId4" Type="http://schemas.openxmlformats.org/officeDocument/2006/relationships/slide" Target="slide5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0.xml"/><Relationship Id="rId11" Type="http://schemas.openxmlformats.org/officeDocument/2006/relationships/slide" Target="slide8.xml"/><Relationship Id="rId5" Type="http://schemas.openxmlformats.org/officeDocument/2006/relationships/slide" Target="slide11.xml"/><Relationship Id="rId10" Type="http://schemas.openxmlformats.org/officeDocument/2006/relationships/image" Target="../media/image11.png"/><Relationship Id="rId4" Type="http://schemas.openxmlformats.org/officeDocument/2006/relationships/slide" Target="slide5.xml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7.png"/><Relationship Id="rId7" Type="http://schemas.openxmlformats.org/officeDocument/2006/relationships/slide" Target="slide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10" Type="http://schemas.openxmlformats.org/officeDocument/2006/relationships/image" Target="../media/image12.png"/><Relationship Id="rId4" Type="http://schemas.openxmlformats.org/officeDocument/2006/relationships/slide" Target="slide7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slide" Target="slide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7.xml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7.xml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5MdHUPmac4TKWttEiaGW3ekv5IQkMNyH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9270" y="3568700"/>
            <a:ext cx="11953461" cy="27431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MODEL FOR PULMONARY EDEMA DETECTION IN CHEST X-RAY IMAGES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BONIFACE BEN SANKWA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Registration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22100934340091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Supervisor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Dr. NYATEGA</a:t>
            </a:r>
          </a:p>
        </p:txBody>
      </p:sp>
      <p:pic>
        <p:nvPicPr>
          <p:cNvPr id="4" name="Picture 3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763616" y="618209"/>
            <a:ext cx="4611757" cy="17378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92762" y="2356052"/>
            <a:ext cx="11953461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2692" y="26430"/>
            <a:ext cx="9753600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MBEYA UNIVERSITY    OF   SCIENCE    AND     TECHNOLOGY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9270" y="2859635"/>
            <a:ext cx="11953461" cy="7090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ENGINEERING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570633"/>
            <a:ext cx="11536962" cy="10033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FOR PULMONARY EDEMA DETECTION IN CHEST X-RAY IMAGES</a:t>
            </a:r>
          </a:p>
        </p:txBody>
      </p:sp>
    </p:spTree>
    <p:extLst>
      <p:ext uri="{BB962C8B-B14F-4D97-AF65-F5344CB8AC3E}">
        <p14:creationId xmlns:p14="http://schemas.microsoft.com/office/powerpoint/2010/main" val="342016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693920" y="6629400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-30480" y="308255"/>
            <a:ext cx="12192000" cy="554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50471"/>
            <a:ext cx="3726873" cy="4849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-30480" y="1538529"/>
            <a:ext cx="12192000" cy="13577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system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pulmonary edema in chest X-ray images, capable of providing diagnostic results along with visual explanations of the regions used for prediction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30480" y="3292565"/>
            <a:ext cx="4308764" cy="581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Specific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" y="3880624"/>
            <a:ext cx="12161520" cy="27487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preprocess chest X-ray datasets.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 smtClean="0">
                <a:solidFill>
                  <a:prstClr val="black"/>
                </a:solidFill>
              </a:rPr>
              <a:t>Apply Explainable AI techniques.</a:t>
            </a:r>
            <a:endParaRPr lang="en-US" sz="28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and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22270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2374490"/>
            <a:ext cx="2153265" cy="32298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0683"/>
            <a:ext cx="2154317" cy="27137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46030" y="2374488"/>
            <a:ext cx="2153265" cy="32298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93113" y="2374488"/>
            <a:ext cx="2153265" cy="32298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65924" y="2374489"/>
            <a:ext cx="2153265" cy="32298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38735" y="2374489"/>
            <a:ext cx="2153265" cy="32298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2955" y="398206"/>
            <a:ext cx="11474245" cy="9291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DIAGRAM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924" y="2890683"/>
            <a:ext cx="2153265" cy="271370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2374488"/>
            <a:ext cx="2153265" cy="5161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546030" y="2374488"/>
            <a:ext cx="2153266" cy="5161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113" y="2374488"/>
            <a:ext cx="2153265" cy="5161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5924" y="2374488"/>
            <a:ext cx="2153265" cy="5161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38735" y="2374488"/>
            <a:ext cx="2153265" cy="5161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64598" y="2890683"/>
            <a:ext cx="2140137" cy="27137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91008" y="2890683"/>
            <a:ext cx="2155370" cy="20352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Edema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98552" y="4925961"/>
            <a:ext cx="2147826" cy="6784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DenseNet121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038735" y="2890683"/>
            <a:ext cx="2153265" cy="27137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Result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/>
          <p:cNvCxnSpPr>
            <a:stCxn id="10" idx="3"/>
            <a:endCxn id="26" idx="1"/>
          </p:cNvCxnSpPr>
          <p:nvPr/>
        </p:nvCxnSpPr>
        <p:spPr>
          <a:xfrm flipV="1">
            <a:off x="2154317" y="4247534"/>
            <a:ext cx="4102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6" idx="3"/>
          </p:cNvCxnSpPr>
          <p:nvPr/>
        </p:nvCxnSpPr>
        <p:spPr>
          <a:xfrm>
            <a:off x="4704735" y="4247534"/>
            <a:ext cx="3938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16" idx="1"/>
          </p:cNvCxnSpPr>
          <p:nvPr/>
        </p:nvCxnSpPr>
        <p:spPr>
          <a:xfrm>
            <a:off x="7246378" y="4247534"/>
            <a:ext cx="319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3"/>
            <a:endCxn id="29" idx="1"/>
          </p:cNvCxnSpPr>
          <p:nvPr/>
        </p:nvCxnSpPr>
        <p:spPr>
          <a:xfrm>
            <a:off x="9719189" y="4247534"/>
            <a:ext cx="319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74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2802194"/>
            <a:ext cx="12192000" cy="9586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DESIGN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13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385762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1769567" y="3141018"/>
            <a:ext cx="282571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AI for Pulmonary Edema Detection in Chest X-Ray Images</a:t>
            </a:r>
            <a:endParaRPr lang="en-US" sz="1055" dirty="0"/>
          </a:p>
        </p:txBody>
      </p:sp>
      <p:sp>
        <p:nvSpPr>
          <p:cNvPr id="4" name="Shape 2"/>
          <p:cNvSpPr/>
          <p:nvPr/>
        </p:nvSpPr>
        <p:spPr>
          <a:xfrm>
            <a:off x="5131594" y="0"/>
            <a:ext cx="5786438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2432596" y="2323951"/>
            <a:ext cx="155323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3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2531" dirty="0"/>
          </a:p>
        </p:txBody>
      </p:sp>
      <p:sp>
        <p:nvSpPr>
          <p:cNvPr id="6" name="Shape 4"/>
          <p:cNvSpPr/>
          <p:nvPr/>
        </p:nvSpPr>
        <p:spPr>
          <a:xfrm>
            <a:off x="2800945" y="890736"/>
            <a:ext cx="803672" cy="8036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988469" y="1078260"/>
            <a:ext cx="4414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375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337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28" y="4306342"/>
            <a:ext cx="2678906" cy="1875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32596" y="4420196"/>
            <a:ext cx="149295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Chest X-Ray Illustration</a:t>
            </a:r>
            <a:endParaRPr lang="en-US" sz="105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1" y="1486793"/>
            <a:ext cx="3616523" cy="40183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12795" y="3958084"/>
            <a:ext cx="923687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Forgot Password?</a:t>
            </a:r>
            <a:endParaRPr lang="en-US" sz="844" dirty="0"/>
          </a:p>
        </p:txBody>
      </p:sp>
      <p:sp>
        <p:nvSpPr>
          <p:cNvPr id="12" name="Text 8"/>
          <p:cNvSpPr/>
          <p:nvPr/>
        </p:nvSpPr>
        <p:spPr>
          <a:xfrm>
            <a:off x="7140773" y="2417713"/>
            <a:ext cx="1780937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to continue using PulmoXAI</a:t>
            </a:r>
            <a:endParaRPr lang="en-US" sz="844" dirty="0"/>
          </a:p>
        </p:txBody>
      </p:sp>
      <p:sp>
        <p:nvSpPr>
          <p:cNvPr id="13" name="Text 9"/>
          <p:cNvSpPr/>
          <p:nvPr/>
        </p:nvSpPr>
        <p:spPr>
          <a:xfrm>
            <a:off x="7247930" y="1948905"/>
            <a:ext cx="1559927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Back</a:t>
            </a:r>
            <a:endParaRPr lang="en-US" sz="168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571" y="2765971"/>
            <a:ext cx="2732484" cy="4286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63161" y="2886522"/>
            <a:ext cx="729466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Address</a:t>
            </a:r>
            <a:endParaRPr lang="en-US" sz="844" dirty="0"/>
          </a:p>
        </p:txBody>
      </p:sp>
      <p:sp>
        <p:nvSpPr>
          <p:cNvPr id="16" name="Shape 11"/>
          <p:cNvSpPr/>
          <p:nvPr/>
        </p:nvSpPr>
        <p:spPr>
          <a:xfrm>
            <a:off x="6685360" y="3429000"/>
            <a:ext cx="2678906" cy="375047"/>
          </a:xfrm>
          <a:prstGeom prst="roundRect">
            <a:avLst>
              <a:gd name="adj" fmla="val 21429"/>
            </a:avLst>
          </a:prstGeom>
          <a:solidFill>
            <a:srgbClr val="CBD5E1"/>
          </a:solidFill>
          <a:ln/>
        </p:spPr>
      </p:sp>
      <p:sp>
        <p:nvSpPr>
          <p:cNvPr id="17" name="Text 12"/>
          <p:cNvSpPr/>
          <p:nvPr/>
        </p:nvSpPr>
        <p:spPr>
          <a:xfrm>
            <a:off x="7777014" y="3549551"/>
            <a:ext cx="508456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</a:t>
            </a:r>
            <a:endParaRPr lang="en-US" sz="844" dirty="0"/>
          </a:p>
        </p:txBody>
      </p:sp>
      <p:sp>
        <p:nvSpPr>
          <p:cNvPr id="18" name="Text 13"/>
          <p:cNvSpPr/>
          <p:nvPr/>
        </p:nvSpPr>
        <p:spPr>
          <a:xfrm>
            <a:off x="9022705" y="3549551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👁️</a:t>
            </a:r>
            <a:endParaRPr lang="en-US" sz="1266" dirty="0"/>
          </a:p>
        </p:txBody>
      </p:sp>
      <p:sp>
        <p:nvSpPr>
          <p:cNvPr id="19" name="Shape 14">
            <a:hlinkClick r:id="" action="ppaction://hlinkshowjump?jump=nextslide"/>
          </p:cNvPr>
          <p:cNvSpPr/>
          <p:nvPr/>
        </p:nvSpPr>
        <p:spPr>
          <a:xfrm>
            <a:off x="6685360" y="4306342"/>
            <a:ext cx="2678906" cy="375047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20" name="Text 15">
            <a:hlinkClick r:id="" action="ppaction://hlinkshowjump?jump=nextslide"/>
          </p:cNvPr>
          <p:cNvSpPr/>
          <p:nvPr/>
        </p:nvSpPr>
        <p:spPr>
          <a:xfrm>
            <a:off x="7857381" y="4420195"/>
            <a:ext cx="341025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949" dirty="0"/>
          </a:p>
        </p:txBody>
      </p:sp>
    </p:spTree>
    <p:extLst>
      <p:ext uri="{BB962C8B-B14F-4D97-AF65-F5344CB8AC3E}">
        <p14:creationId xmlns:p14="http://schemas.microsoft.com/office/powerpoint/2010/main" val="313839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5" name="Shape 3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14" y="1741289"/>
            <a:ext cx="1607344" cy="455414"/>
          </a:xfrm>
          <a:prstGeom prst="rect">
            <a:avLst/>
          </a:prstGeom>
        </p:spPr>
      </p:pic>
      <p:sp>
        <p:nvSpPr>
          <p:cNvPr id="8" name="Text 5">
            <a:hlinkClick r:id="" action="ppaction://hlinkshowjump?jump=nextslide"/>
          </p:cNvPr>
          <p:cNvSpPr/>
          <p:nvPr/>
        </p:nvSpPr>
        <p:spPr>
          <a:xfrm>
            <a:off x="1883420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9" name="Shape 6"/>
          <p:cNvSpPr/>
          <p:nvPr/>
        </p:nvSpPr>
        <p:spPr>
          <a:xfrm>
            <a:off x="1675805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7">
            <a:hlinkClick r:id="" action="ppaction://hlinkshowjump?jump=previousslide"/>
          </p:cNvPr>
          <p:cNvSpPr/>
          <p:nvPr/>
        </p:nvSpPr>
        <p:spPr>
          <a:xfrm>
            <a:off x="2084338" y="1372939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1" name="Shape 8"/>
          <p:cNvSpPr/>
          <p:nvPr/>
        </p:nvSpPr>
        <p:spPr>
          <a:xfrm>
            <a:off x="1474887" y="6322219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9">
            <a:hlinkClick r:id="rId4" action="ppaction://hlinksldjump"/>
          </p:cNvPr>
          <p:cNvSpPr/>
          <p:nvPr/>
        </p:nvSpPr>
        <p:spPr>
          <a:xfrm>
            <a:off x="2003971" y="6409283"/>
            <a:ext cx="42808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949" dirty="0"/>
          </a:p>
        </p:txBody>
      </p:sp>
      <p:sp>
        <p:nvSpPr>
          <p:cNvPr id="13" name="Shape 10">
            <a:hlinkClick r:id="rId5" action="ppaction://hlinksldjump"/>
          </p:cNvPr>
          <p:cNvSpPr/>
          <p:nvPr/>
        </p:nvSpPr>
        <p:spPr>
          <a:xfrm>
            <a:off x="1474887" y="3790652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4" name="Text 11">
            <a:hlinkClick r:id="rId5" action="ppaction://hlinksldjump"/>
          </p:cNvPr>
          <p:cNvSpPr/>
          <p:nvPr/>
        </p:nvSpPr>
        <p:spPr>
          <a:xfrm>
            <a:off x="1990577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49" dirty="0"/>
          </a:p>
        </p:txBody>
      </p:sp>
      <p:sp>
        <p:nvSpPr>
          <p:cNvPr id="15" name="Shape 12"/>
          <p:cNvSpPr/>
          <p:nvPr/>
        </p:nvSpPr>
        <p:spPr>
          <a:xfrm>
            <a:off x="1474887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" name="Text 13">
            <a:hlinkClick r:id="rId6" action="ppaction://hlinksldjump"/>
          </p:cNvPr>
          <p:cNvSpPr/>
          <p:nvPr/>
        </p:nvSpPr>
        <p:spPr>
          <a:xfrm>
            <a:off x="1977182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7" name="Shape 14"/>
          <p:cNvSpPr/>
          <p:nvPr/>
        </p:nvSpPr>
        <p:spPr>
          <a:xfrm>
            <a:off x="1474887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8" name="Text 15">
            <a:hlinkClick r:id="rId7" action="ppaction://hlinksldjump"/>
          </p:cNvPr>
          <p:cNvSpPr/>
          <p:nvPr/>
        </p:nvSpPr>
        <p:spPr>
          <a:xfrm>
            <a:off x="1883420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9" name="Shape 16"/>
          <p:cNvSpPr/>
          <p:nvPr/>
        </p:nvSpPr>
        <p:spPr>
          <a:xfrm>
            <a:off x="1474887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0" name="Text 17">
            <a:hlinkClick r:id="rId8" action="ppaction://hlinksldjump"/>
          </p:cNvPr>
          <p:cNvSpPr/>
          <p:nvPr/>
        </p:nvSpPr>
        <p:spPr>
          <a:xfrm>
            <a:off x="1883420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1" name="Shape 18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9190137" y="154037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9625459" y="167432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2342" y="63624"/>
            <a:ext cx="321469" cy="32146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015633" y="703213"/>
            <a:ext cx="2209562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687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7736" y="1245691"/>
            <a:ext cx="1741289" cy="107156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926086" y="1968996"/>
            <a:ext cx="101744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 images</a:t>
            </a:r>
            <a:endParaRPr lang="en-US" sz="1266" dirty="0"/>
          </a:p>
        </p:txBody>
      </p:sp>
      <p:sp>
        <p:nvSpPr>
          <p:cNvPr id="28" name="Text 23"/>
          <p:cNvSpPr/>
          <p:nvPr/>
        </p:nvSpPr>
        <p:spPr>
          <a:xfrm>
            <a:off x="3926086" y="1660922"/>
            <a:ext cx="9638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X-Rays</a:t>
            </a:r>
            <a:endParaRPr lang="en-US" sz="1266" dirty="0"/>
          </a:p>
        </p:txBody>
      </p:sp>
      <p:sp>
        <p:nvSpPr>
          <p:cNvPr id="29" name="Text 24"/>
          <p:cNvSpPr/>
          <p:nvPr/>
        </p:nvSpPr>
        <p:spPr>
          <a:xfrm>
            <a:off x="4267647" y="1366242"/>
            <a:ext cx="25396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98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📷 </a:t>
            </a:r>
            <a:endParaRPr lang="en-US" sz="1898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9484" y="1245691"/>
            <a:ext cx="1741289" cy="107156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16092" y="1948905"/>
            <a:ext cx="31423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266" dirty="0"/>
          </a:p>
        </p:txBody>
      </p:sp>
      <p:sp>
        <p:nvSpPr>
          <p:cNvPr id="32" name="Text 26"/>
          <p:cNvSpPr/>
          <p:nvPr/>
        </p:nvSpPr>
        <p:spPr>
          <a:xfrm>
            <a:off x="5747743" y="1701106"/>
            <a:ext cx="10509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 Cases</a:t>
            </a:r>
            <a:endParaRPr lang="en-US" sz="1266" dirty="0"/>
          </a:p>
        </p:txBody>
      </p:sp>
      <p:sp>
        <p:nvSpPr>
          <p:cNvPr id="33" name="Text 27"/>
          <p:cNvSpPr/>
          <p:nvPr/>
        </p:nvSpPr>
        <p:spPr>
          <a:xfrm>
            <a:off x="6142881" y="1372939"/>
            <a:ext cx="260658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98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r>
              <a:rPr lang="en-US" sz="949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️</a:t>
            </a:r>
            <a:endParaRPr lang="en-US" sz="633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1232" y="1245691"/>
            <a:ext cx="1741289" cy="107156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57840" y="1942207"/>
            <a:ext cx="31423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266" dirty="0"/>
          </a:p>
        </p:txBody>
      </p:sp>
      <p:sp>
        <p:nvSpPr>
          <p:cNvPr id="36" name="Text 29"/>
          <p:cNvSpPr/>
          <p:nvPr/>
        </p:nvSpPr>
        <p:spPr>
          <a:xfrm>
            <a:off x="7576096" y="1701106"/>
            <a:ext cx="107772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Cases</a:t>
            </a:r>
            <a:endParaRPr lang="en-US" sz="1266" dirty="0"/>
          </a:p>
        </p:txBody>
      </p:sp>
      <p:sp>
        <p:nvSpPr>
          <p:cNvPr id="37" name="Text 30"/>
          <p:cNvSpPr/>
          <p:nvPr/>
        </p:nvSpPr>
        <p:spPr>
          <a:xfrm>
            <a:off x="7991326" y="1386334"/>
            <a:ext cx="253960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98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898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2981" y="1245691"/>
            <a:ext cx="1741289" cy="107156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719221" y="1942207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85.0%</a:t>
            </a:r>
            <a:endParaRPr lang="en-US" sz="1266" dirty="0"/>
          </a:p>
        </p:txBody>
      </p:sp>
      <p:sp>
        <p:nvSpPr>
          <p:cNvPr id="40" name="Text 32"/>
          <p:cNvSpPr/>
          <p:nvPr/>
        </p:nvSpPr>
        <p:spPr>
          <a:xfrm>
            <a:off x="9337476" y="1681014"/>
            <a:ext cx="12451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266" dirty="0"/>
          </a:p>
        </p:txBody>
      </p:sp>
      <p:sp>
        <p:nvSpPr>
          <p:cNvPr id="41" name="Text 33"/>
          <p:cNvSpPr/>
          <p:nvPr/>
        </p:nvSpPr>
        <p:spPr>
          <a:xfrm>
            <a:off x="9833074" y="1359545"/>
            <a:ext cx="253960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898" dirty="0"/>
          </a:p>
        </p:txBody>
      </p:sp>
      <p:sp>
        <p:nvSpPr>
          <p:cNvPr id="42" name="Shape 34"/>
          <p:cNvSpPr/>
          <p:nvPr/>
        </p:nvSpPr>
        <p:spPr>
          <a:xfrm>
            <a:off x="3624709" y="107156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43" name="Text 35"/>
          <p:cNvSpPr/>
          <p:nvPr/>
        </p:nvSpPr>
        <p:spPr>
          <a:xfrm>
            <a:off x="3845719" y="167432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44" name="Text 36"/>
          <p:cNvSpPr/>
          <p:nvPr/>
        </p:nvSpPr>
        <p:spPr>
          <a:xfrm>
            <a:off x="5854899" y="1091655"/>
            <a:ext cx="2524333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AI Detection System</a:t>
            </a:r>
            <a:endParaRPr lang="en-US" sz="1266" dirty="0"/>
          </a:p>
        </p:txBody>
      </p:sp>
      <p:sp>
        <p:nvSpPr>
          <p:cNvPr id="45" name="Shape 37"/>
          <p:cNvSpPr/>
          <p:nvPr/>
        </p:nvSpPr>
        <p:spPr>
          <a:xfrm>
            <a:off x="3269754" y="2799457"/>
            <a:ext cx="7500938" cy="368349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46" name="Shape 38"/>
          <p:cNvSpPr/>
          <p:nvPr/>
        </p:nvSpPr>
        <p:spPr>
          <a:xfrm>
            <a:off x="3370213" y="3261568"/>
            <a:ext cx="7179469" cy="227707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7" name="Shape 39"/>
          <p:cNvSpPr/>
          <p:nvPr/>
        </p:nvSpPr>
        <p:spPr>
          <a:xfrm>
            <a:off x="3370213" y="3603129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8" name="Shape 40"/>
          <p:cNvSpPr/>
          <p:nvPr/>
        </p:nvSpPr>
        <p:spPr>
          <a:xfrm>
            <a:off x="3370213" y="3951387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9" name="Shape 41"/>
          <p:cNvSpPr/>
          <p:nvPr/>
        </p:nvSpPr>
        <p:spPr>
          <a:xfrm>
            <a:off x="3370213" y="4299645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Shape 42"/>
          <p:cNvSpPr/>
          <p:nvPr/>
        </p:nvSpPr>
        <p:spPr>
          <a:xfrm>
            <a:off x="3370213" y="4647902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1" name="Shape 43"/>
          <p:cNvSpPr/>
          <p:nvPr/>
        </p:nvSpPr>
        <p:spPr>
          <a:xfrm>
            <a:off x="3370213" y="4996160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2" name="Shape 44"/>
          <p:cNvSpPr/>
          <p:nvPr/>
        </p:nvSpPr>
        <p:spPr>
          <a:xfrm>
            <a:off x="3370213" y="5344418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3" name="Shape 45"/>
          <p:cNvSpPr/>
          <p:nvPr/>
        </p:nvSpPr>
        <p:spPr>
          <a:xfrm>
            <a:off x="3370213" y="5692676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46"/>
          <p:cNvSpPr/>
          <p:nvPr/>
        </p:nvSpPr>
        <p:spPr>
          <a:xfrm>
            <a:off x="3370213" y="6040934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Text 47"/>
          <p:cNvSpPr/>
          <p:nvPr/>
        </p:nvSpPr>
        <p:spPr>
          <a:xfrm>
            <a:off x="8279309" y="3629918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266" dirty="0"/>
          </a:p>
        </p:txBody>
      </p:sp>
      <p:sp>
        <p:nvSpPr>
          <p:cNvPr id="56" name="Text 48"/>
          <p:cNvSpPr/>
          <p:nvPr/>
        </p:nvSpPr>
        <p:spPr>
          <a:xfrm>
            <a:off x="8279309" y="3978176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89.2%</a:t>
            </a:r>
            <a:endParaRPr lang="en-US" sz="1266" dirty="0"/>
          </a:p>
        </p:txBody>
      </p:sp>
      <p:sp>
        <p:nvSpPr>
          <p:cNvPr id="57" name="Text 49"/>
          <p:cNvSpPr/>
          <p:nvPr/>
        </p:nvSpPr>
        <p:spPr>
          <a:xfrm>
            <a:off x="8279309" y="4326434"/>
            <a:ext cx="45487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77.2%</a:t>
            </a:r>
            <a:endParaRPr lang="en-US" sz="1266" dirty="0"/>
          </a:p>
        </p:txBody>
      </p:sp>
      <p:sp>
        <p:nvSpPr>
          <p:cNvPr id="58" name="Text 50"/>
          <p:cNvSpPr/>
          <p:nvPr/>
        </p:nvSpPr>
        <p:spPr>
          <a:xfrm>
            <a:off x="8279309" y="4674692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266" dirty="0"/>
          </a:p>
        </p:txBody>
      </p:sp>
      <p:sp>
        <p:nvSpPr>
          <p:cNvPr id="59" name="Text 51"/>
          <p:cNvSpPr/>
          <p:nvPr/>
        </p:nvSpPr>
        <p:spPr>
          <a:xfrm>
            <a:off x="8279309" y="5022949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73.2%</a:t>
            </a:r>
            <a:endParaRPr lang="en-US" sz="1266" dirty="0"/>
          </a:p>
        </p:txBody>
      </p:sp>
      <p:sp>
        <p:nvSpPr>
          <p:cNvPr id="60" name="Text 52"/>
          <p:cNvSpPr/>
          <p:nvPr/>
        </p:nvSpPr>
        <p:spPr>
          <a:xfrm>
            <a:off x="8279309" y="5371207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88.2%</a:t>
            </a:r>
            <a:endParaRPr lang="en-US" sz="1266" dirty="0"/>
          </a:p>
        </p:txBody>
      </p:sp>
      <p:sp>
        <p:nvSpPr>
          <p:cNvPr id="61" name="Text 53"/>
          <p:cNvSpPr/>
          <p:nvPr/>
        </p:nvSpPr>
        <p:spPr>
          <a:xfrm>
            <a:off x="8279309" y="5719465"/>
            <a:ext cx="45487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</a:t>
            </a:r>
            <a:endParaRPr lang="en-US" sz="1266" dirty="0"/>
          </a:p>
        </p:txBody>
      </p:sp>
      <p:sp>
        <p:nvSpPr>
          <p:cNvPr id="62" name="Text 54"/>
          <p:cNvSpPr/>
          <p:nvPr/>
        </p:nvSpPr>
        <p:spPr>
          <a:xfrm>
            <a:off x="8279309" y="6067723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266" dirty="0"/>
          </a:p>
        </p:txBody>
      </p:sp>
      <p:sp>
        <p:nvSpPr>
          <p:cNvPr id="63" name="Text 55"/>
          <p:cNvSpPr/>
          <p:nvPr/>
        </p:nvSpPr>
        <p:spPr>
          <a:xfrm>
            <a:off x="10027295" y="3629918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4" name="Text 56"/>
          <p:cNvSpPr/>
          <p:nvPr/>
        </p:nvSpPr>
        <p:spPr>
          <a:xfrm>
            <a:off x="10027295" y="3978176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5" name="Text 57"/>
          <p:cNvSpPr/>
          <p:nvPr/>
        </p:nvSpPr>
        <p:spPr>
          <a:xfrm>
            <a:off x="10027295" y="4326434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6" name="Text 58"/>
          <p:cNvSpPr/>
          <p:nvPr/>
        </p:nvSpPr>
        <p:spPr>
          <a:xfrm>
            <a:off x="10027295" y="4674692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7" name="Text 59"/>
          <p:cNvSpPr/>
          <p:nvPr/>
        </p:nvSpPr>
        <p:spPr>
          <a:xfrm>
            <a:off x="10027295" y="5022949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8" name="Text 60"/>
          <p:cNvSpPr/>
          <p:nvPr/>
        </p:nvSpPr>
        <p:spPr>
          <a:xfrm>
            <a:off x="10027295" y="5371207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69" name="Text 61"/>
          <p:cNvSpPr/>
          <p:nvPr/>
        </p:nvSpPr>
        <p:spPr>
          <a:xfrm>
            <a:off x="10027295" y="5719465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70" name="Text 62"/>
          <p:cNvSpPr/>
          <p:nvPr/>
        </p:nvSpPr>
        <p:spPr>
          <a:xfrm>
            <a:off x="10027295" y="6067723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71" name="Text 63"/>
          <p:cNvSpPr/>
          <p:nvPr/>
        </p:nvSpPr>
        <p:spPr>
          <a:xfrm>
            <a:off x="6531323" y="3609826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72" name="Text 64"/>
          <p:cNvSpPr/>
          <p:nvPr/>
        </p:nvSpPr>
        <p:spPr>
          <a:xfrm>
            <a:off x="6531323" y="3958084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73" name="Text 65"/>
          <p:cNvSpPr/>
          <p:nvPr/>
        </p:nvSpPr>
        <p:spPr>
          <a:xfrm>
            <a:off x="6531322" y="4306342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74" name="Text 66"/>
          <p:cNvSpPr/>
          <p:nvPr/>
        </p:nvSpPr>
        <p:spPr>
          <a:xfrm>
            <a:off x="6531323" y="4654600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75" name="Text 67"/>
          <p:cNvSpPr/>
          <p:nvPr/>
        </p:nvSpPr>
        <p:spPr>
          <a:xfrm>
            <a:off x="6531323" y="5002858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76" name="Text 68"/>
          <p:cNvSpPr/>
          <p:nvPr/>
        </p:nvSpPr>
        <p:spPr>
          <a:xfrm>
            <a:off x="6531322" y="5351115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77" name="Text 69"/>
          <p:cNvSpPr/>
          <p:nvPr/>
        </p:nvSpPr>
        <p:spPr>
          <a:xfrm>
            <a:off x="6531322" y="5699373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78" name="Text 70"/>
          <p:cNvSpPr/>
          <p:nvPr/>
        </p:nvSpPr>
        <p:spPr>
          <a:xfrm>
            <a:off x="6531323" y="6047631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79" name="Text 71"/>
          <p:cNvSpPr/>
          <p:nvPr/>
        </p:nvSpPr>
        <p:spPr>
          <a:xfrm>
            <a:off x="4857006" y="3629918"/>
            <a:ext cx="90359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01/06/2026</a:t>
            </a:r>
            <a:endParaRPr lang="en-US" sz="1266" dirty="0"/>
          </a:p>
        </p:txBody>
      </p:sp>
      <p:sp>
        <p:nvSpPr>
          <p:cNvPr id="80" name="Text 72"/>
          <p:cNvSpPr/>
          <p:nvPr/>
        </p:nvSpPr>
        <p:spPr>
          <a:xfrm>
            <a:off x="4857006" y="3978176"/>
            <a:ext cx="90359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01/06/2026</a:t>
            </a:r>
            <a:endParaRPr lang="en-US" sz="1266" dirty="0"/>
          </a:p>
        </p:txBody>
      </p:sp>
      <p:sp>
        <p:nvSpPr>
          <p:cNvPr id="81" name="Text 73"/>
          <p:cNvSpPr/>
          <p:nvPr/>
        </p:nvSpPr>
        <p:spPr>
          <a:xfrm>
            <a:off x="4857006" y="4326434"/>
            <a:ext cx="92368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02/06/2026</a:t>
            </a:r>
            <a:endParaRPr lang="en-US" sz="1266" dirty="0"/>
          </a:p>
        </p:txBody>
      </p:sp>
      <p:sp>
        <p:nvSpPr>
          <p:cNvPr id="82" name="Text 74"/>
          <p:cNvSpPr/>
          <p:nvPr/>
        </p:nvSpPr>
        <p:spPr>
          <a:xfrm>
            <a:off x="4857006" y="4674692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03/06/2026</a:t>
            </a:r>
            <a:endParaRPr lang="en-US" sz="1266" dirty="0"/>
          </a:p>
        </p:txBody>
      </p:sp>
      <p:sp>
        <p:nvSpPr>
          <p:cNvPr id="83" name="Text 75"/>
          <p:cNvSpPr/>
          <p:nvPr/>
        </p:nvSpPr>
        <p:spPr>
          <a:xfrm>
            <a:off x="4857006" y="5022949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03/06/2026</a:t>
            </a:r>
            <a:endParaRPr lang="en-US" sz="1266" dirty="0"/>
          </a:p>
        </p:txBody>
      </p:sp>
      <p:sp>
        <p:nvSpPr>
          <p:cNvPr id="84" name="Text 76"/>
          <p:cNvSpPr/>
          <p:nvPr/>
        </p:nvSpPr>
        <p:spPr>
          <a:xfrm>
            <a:off x="4857006" y="5371207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04/06/2026</a:t>
            </a:r>
            <a:endParaRPr lang="en-US" sz="1266" dirty="0"/>
          </a:p>
        </p:txBody>
      </p:sp>
      <p:sp>
        <p:nvSpPr>
          <p:cNvPr id="85" name="Text 77"/>
          <p:cNvSpPr/>
          <p:nvPr/>
        </p:nvSpPr>
        <p:spPr>
          <a:xfrm>
            <a:off x="4857006" y="5719465"/>
            <a:ext cx="92368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05/06/2026</a:t>
            </a:r>
            <a:endParaRPr lang="en-US" sz="1266" dirty="0"/>
          </a:p>
        </p:txBody>
      </p:sp>
      <p:sp>
        <p:nvSpPr>
          <p:cNvPr id="86" name="Text 78"/>
          <p:cNvSpPr/>
          <p:nvPr/>
        </p:nvSpPr>
        <p:spPr>
          <a:xfrm>
            <a:off x="4857006" y="6067723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06/06/2026</a:t>
            </a:r>
            <a:endParaRPr lang="en-US" sz="1266" dirty="0"/>
          </a:p>
        </p:txBody>
      </p:sp>
      <p:sp>
        <p:nvSpPr>
          <p:cNvPr id="87" name="Text 79"/>
          <p:cNvSpPr/>
          <p:nvPr/>
        </p:nvSpPr>
        <p:spPr>
          <a:xfrm>
            <a:off x="3591223" y="3629918"/>
            <a:ext cx="49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PX001</a:t>
            </a:r>
            <a:endParaRPr lang="en-US" sz="1266" dirty="0"/>
          </a:p>
        </p:txBody>
      </p:sp>
      <p:sp>
        <p:nvSpPr>
          <p:cNvPr id="88" name="Text 80"/>
          <p:cNvSpPr/>
          <p:nvPr/>
        </p:nvSpPr>
        <p:spPr>
          <a:xfrm>
            <a:off x="3597920" y="3978176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PX002</a:t>
            </a:r>
            <a:endParaRPr lang="en-US" sz="1266" dirty="0"/>
          </a:p>
        </p:txBody>
      </p:sp>
      <p:sp>
        <p:nvSpPr>
          <p:cNvPr id="89" name="Text 81"/>
          <p:cNvSpPr/>
          <p:nvPr/>
        </p:nvSpPr>
        <p:spPr>
          <a:xfrm>
            <a:off x="3591223" y="4326434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PX003</a:t>
            </a:r>
            <a:endParaRPr lang="en-US" sz="1266" dirty="0"/>
          </a:p>
        </p:txBody>
      </p:sp>
      <p:sp>
        <p:nvSpPr>
          <p:cNvPr id="90" name="Text 82"/>
          <p:cNvSpPr/>
          <p:nvPr/>
        </p:nvSpPr>
        <p:spPr>
          <a:xfrm>
            <a:off x="3591223" y="4674692"/>
            <a:ext cx="5285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PX004</a:t>
            </a:r>
            <a:endParaRPr lang="en-US" sz="1266" dirty="0"/>
          </a:p>
        </p:txBody>
      </p:sp>
      <p:sp>
        <p:nvSpPr>
          <p:cNvPr id="91" name="Text 83"/>
          <p:cNvSpPr/>
          <p:nvPr/>
        </p:nvSpPr>
        <p:spPr>
          <a:xfrm>
            <a:off x="3591223" y="5022949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PX005</a:t>
            </a:r>
            <a:endParaRPr lang="en-US" sz="1266" dirty="0"/>
          </a:p>
        </p:txBody>
      </p:sp>
      <p:sp>
        <p:nvSpPr>
          <p:cNvPr id="92" name="Text 84"/>
          <p:cNvSpPr/>
          <p:nvPr/>
        </p:nvSpPr>
        <p:spPr>
          <a:xfrm>
            <a:off x="3591223" y="5371207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PX006</a:t>
            </a:r>
            <a:endParaRPr lang="en-US" sz="1266" dirty="0"/>
          </a:p>
        </p:txBody>
      </p:sp>
      <p:sp>
        <p:nvSpPr>
          <p:cNvPr id="93" name="Text 85"/>
          <p:cNvSpPr/>
          <p:nvPr/>
        </p:nvSpPr>
        <p:spPr>
          <a:xfrm>
            <a:off x="3591223" y="5719465"/>
            <a:ext cx="5084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PX007</a:t>
            </a:r>
            <a:endParaRPr lang="en-US" sz="1266" dirty="0"/>
          </a:p>
        </p:txBody>
      </p:sp>
      <p:sp>
        <p:nvSpPr>
          <p:cNvPr id="94" name="Text 86"/>
          <p:cNvSpPr/>
          <p:nvPr/>
        </p:nvSpPr>
        <p:spPr>
          <a:xfrm>
            <a:off x="3591223" y="6067723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PX008</a:t>
            </a:r>
            <a:endParaRPr lang="en-US" sz="1266" dirty="0"/>
          </a:p>
        </p:txBody>
      </p:sp>
      <p:sp>
        <p:nvSpPr>
          <p:cNvPr id="95" name="Text 87"/>
          <p:cNvSpPr/>
          <p:nvPr/>
        </p:nvSpPr>
        <p:spPr>
          <a:xfrm>
            <a:off x="3457278" y="3295055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</a:t>
            </a:r>
            <a:endParaRPr lang="en-US" sz="1266" dirty="0"/>
          </a:p>
        </p:txBody>
      </p:sp>
      <p:sp>
        <p:nvSpPr>
          <p:cNvPr id="96" name="Text 88"/>
          <p:cNvSpPr/>
          <p:nvPr/>
        </p:nvSpPr>
        <p:spPr>
          <a:xfrm>
            <a:off x="5124897" y="3295055"/>
            <a:ext cx="37451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266" dirty="0"/>
          </a:p>
        </p:txBody>
      </p:sp>
      <p:sp>
        <p:nvSpPr>
          <p:cNvPr id="97" name="Text 89"/>
          <p:cNvSpPr/>
          <p:nvPr/>
        </p:nvSpPr>
        <p:spPr>
          <a:xfrm>
            <a:off x="8078391" y="3295055"/>
            <a:ext cx="89020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266" dirty="0"/>
          </a:p>
        </p:txBody>
      </p:sp>
      <p:sp>
        <p:nvSpPr>
          <p:cNvPr id="98" name="Text 90"/>
          <p:cNvSpPr/>
          <p:nvPr/>
        </p:nvSpPr>
        <p:spPr>
          <a:xfrm>
            <a:off x="9879956" y="3295055"/>
            <a:ext cx="5285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266" dirty="0"/>
          </a:p>
        </p:txBody>
      </p:sp>
      <p:sp>
        <p:nvSpPr>
          <p:cNvPr id="99" name="Text 91"/>
          <p:cNvSpPr/>
          <p:nvPr/>
        </p:nvSpPr>
        <p:spPr>
          <a:xfrm>
            <a:off x="6410772" y="3295055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</a:t>
            </a:r>
            <a:endParaRPr lang="en-US" sz="1266" dirty="0"/>
          </a:p>
        </p:txBody>
      </p:sp>
      <p:sp>
        <p:nvSpPr>
          <p:cNvPr id="100" name="Text 92"/>
          <p:cNvSpPr/>
          <p:nvPr/>
        </p:nvSpPr>
        <p:spPr>
          <a:xfrm>
            <a:off x="6189762" y="2940100"/>
            <a:ext cx="12719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Analyses</a:t>
            </a:r>
            <a:endParaRPr lang="en-US" sz="1266" dirty="0"/>
          </a:p>
        </p:txBody>
      </p:sp>
    </p:spTree>
    <p:extLst>
      <p:ext uri="{BB962C8B-B14F-4D97-AF65-F5344CB8AC3E}">
        <p14:creationId xmlns:p14="http://schemas.microsoft.com/office/powerpoint/2010/main" val="201635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32" y="1741289"/>
            <a:ext cx="1607344" cy="4554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84338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8" name="Shape 5"/>
          <p:cNvSpPr/>
          <p:nvPr/>
        </p:nvSpPr>
        <p:spPr>
          <a:xfrm>
            <a:off x="1474887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9" name="Text 6">
            <a:hlinkClick r:id="" action="ppaction://hlinkshowjump?jump=previousslide"/>
          </p:cNvPr>
          <p:cNvSpPr/>
          <p:nvPr/>
        </p:nvSpPr>
        <p:spPr>
          <a:xfrm>
            <a:off x="1883420" y="1387687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0" name="Shape 7"/>
          <p:cNvSpPr/>
          <p:nvPr/>
        </p:nvSpPr>
        <p:spPr>
          <a:xfrm>
            <a:off x="1488281" y="6241851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8">
            <a:hlinkClick r:id="rId4" action="ppaction://hlinksldjump"/>
          </p:cNvPr>
          <p:cNvSpPr/>
          <p:nvPr/>
        </p:nvSpPr>
        <p:spPr>
          <a:xfrm>
            <a:off x="2017365" y="6328916"/>
            <a:ext cx="42808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949" dirty="0"/>
          </a:p>
        </p:txBody>
      </p:sp>
      <p:sp>
        <p:nvSpPr>
          <p:cNvPr id="12" name="Shape 9"/>
          <p:cNvSpPr/>
          <p:nvPr/>
        </p:nvSpPr>
        <p:spPr>
          <a:xfrm>
            <a:off x="1474887" y="376386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0">
            <a:hlinkClick r:id="rId5" action="ppaction://hlinksldjump"/>
          </p:cNvPr>
          <p:cNvSpPr/>
          <p:nvPr/>
        </p:nvSpPr>
        <p:spPr>
          <a:xfrm>
            <a:off x="1990577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 smtClean="0">
                <a:solidFill>
                  <a:srgbClr val="E2E8F0"/>
                </a:solidFill>
                <a:latin typeface="Inter" pitchFamily="34" charset="0"/>
                <a:ea typeface="Inter" pitchFamily="34" charset="-122"/>
              </a:rPr>
              <a:t>History</a:t>
            </a:r>
            <a:endParaRPr lang="en-US" sz="949" dirty="0"/>
          </a:p>
        </p:txBody>
      </p:sp>
      <p:sp>
        <p:nvSpPr>
          <p:cNvPr id="14" name="Shape 11"/>
          <p:cNvSpPr/>
          <p:nvPr/>
        </p:nvSpPr>
        <p:spPr>
          <a:xfrm>
            <a:off x="1474887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5" name="Text 12">
            <a:hlinkClick r:id="rId6" action="ppaction://hlinksldjump"/>
          </p:cNvPr>
          <p:cNvSpPr/>
          <p:nvPr/>
        </p:nvSpPr>
        <p:spPr>
          <a:xfrm>
            <a:off x="1977182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6" name="Shape 13"/>
          <p:cNvSpPr/>
          <p:nvPr/>
        </p:nvSpPr>
        <p:spPr>
          <a:xfrm>
            <a:off x="1474887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4">
            <a:hlinkClick r:id="rId7" action="ppaction://hlinksldjump"/>
          </p:cNvPr>
          <p:cNvSpPr/>
          <p:nvPr/>
        </p:nvSpPr>
        <p:spPr>
          <a:xfrm>
            <a:off x="1883420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1474887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6">
            <a:hlinkClick r:id="" action="ppaction://hlinkshowjump?jump=nextslide"/>
          </p:cNvPr>
          <p:cNvSpPr/>
          <p:nvPr/>
        </p:nvSpPr>
        <p:spPr>
          <a:xfrm>
            <a:off x="1883420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0" name="Shape 17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90137" y="174129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9625459" y="187524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342" y="83715"/>
            <a:ext cx="321469" cy="32146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4709" y="127248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25" name="Text 21"/>
          <p:cNvSpPr/>
          <p:nvPr/>
        </p:nvSpPr>
        <p:spPr>
          <a:xfrm>
            <a:off x="3845719" y="187524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5044529" y="703213"/>
            <a:ext cx="2115800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Chest X-Ray</a:t>
            </a:r>
            <a:endParaRPr lang="en-US" sz="1687" dirty="0"/>
          </a:p>
        </p:txBody>
      </p:sp>
      <p:sp>
        <p:nvSpPr>
          <p:cNvPr id="27" name="Text 23"/>
          <p:cNvSpPr/>
          <p:nvPr/>
        </p:nvSpPr>
        <p:spPr>
          <a:xfrm>
            <a:off x="4522143" y="1158627"/>
            <a:ext cx="3153876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 chest X-ray image for pulmonary edema detection.</a:t>
            </a:r>
            <a:endParaRPr lang="en-US" sz="844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6176" y="1596656"/>
            <a:ext cx="7634883" cy="495597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604617" y="4935885"/>
            <a:ext cx="31423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66" dirty="0"/>
          </a:p>
        </p:txBody>
      </p:sp>
      <p:sp>
        <p:nvSpPr>
          <p:cNvPr id="30" name="Text 25"/>
          <p:cNvSpPr/>
          <p:nvPr/>
        </p:nvSpPr>
        <p:spPr>
          <a:xfrm>
            <a:off x="3470672" y="4654600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</a:t>
            </a:r>
            <a:endParaRPr lang="en-US" sz="1266" dirty="0"/>
          </a:p>
        </p:txBody>
      </p:sp>
      <p:sp>
        <p:nvSpPr>
          <p:cNvPr id="31" name="Shape 26"/>
          <p:cNvSpPr/>
          <p:nvPr/>
        </p:nvSpPr>
        <p:spPr>
          <a:xfrm>
            <a:off x="4689574" y="1687711"/>
            <a:ext cx="4688086" cy="2344043"/>
          </a:xfrm>
          <a:prstGeom prst="roundRect">
            <a:avLst>
              <a:gd name="adj" fmla="val 4571"/>
            </a:avLst>
          </a:prstGeom>
          <a:solidFill>
            <a:srgbClr val="CBD5E1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10313" y="3141018"/>
            <a:ext cx="1452771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4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Supported: JPG, JPEG, PNG</a:t>
            </a:r>
            <a:endParaRPr lang="en-US" sz="844" dirty="0"/>
          </a:p>
          <a:p>
            <a:pPr algn="ctr"/>
            <a:r>
              <a:rPr lang="en-US" sz="84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Size: 10 MB</a:t>
            </a:r>
            <a:endParaRPr lang="en-US" sz="844" dirty="0"/>
          </a:p>
        </p:txBody>
      </p:sp>
      <p:sp>
        <p:nvSpPr>
          <p:cNvPr id="33" name="Text 28"/>
          <p:cNvSpPr/>
          <p:nvPr/>
        </p:nvSpPr>
        <p:spPr>
          <a:xfrm>
            <a:off x="5761137" y="2826246"/>
            <a:ext cx="255112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and Drop Chest X-Ray Here</a:t>
            </a:r>
            <a:endParaRPr lang="en-US" sz="1266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2240" y="2196703"/>
            <a:ext cx="596057" cy="40183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430863" y="3516065"/>
            <a:ext cx="1205508" cy="334863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sp>
        <p:nvSpPr>
          <p:cNvPr id="36" name="Text 30"/>
          <p:cNvSpPr/>
          <p:nvPr/>
        </p:nvSpPr>
        <p:spPr>
          <a:xfrm>
            <a:off x="6538020" y="3583037"/>
            <a:ext cx="99735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Files</a:t>
            </a:r>
            <a:endParaRPr lang="en-US" sz="1266" dirty="0"/>
          </a:p>
        </p:txBody>
      </p:sp>
      <p:sp>
        <p:nvSpPr>
          <p:cNvPr id="37" name="Text 31"/>
          <p:cNvSpPr/>
          <p:nvPr/>
        </p:nvSpPr>
        <p:spPr>
          <a:xfrm>
            <a:off x="3758654" y="4192488"/>
            <a:ext cx="152644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Information</a:t>
            </a:r>
            <a:endParaRPr lang="en-US" sz="1266" dirty="0"/>
          </a:p>
        </p:txBody>
      </p:sp>
      <p:sp>
        <p:nvSpPr>
          <p:cNvPr id="38" name="Shape 32"/>
          <p:cNvSpPr/>
          <p:nvPr/>
        </p:nvSpPr>
        <p:spPr>
          <a:xfrm>
            <a:off x="4314528" y="4654600"/>
            <a:ext cx="1386334" cy="187523"/>
          </a:xfrm>
          <a:prstGeom prst="roundRect">
            <a:avLst>
              <a:gd name="adj" fmla="val 28571"/>
            </a:avLst>
          </a:prstGeom>
          <a:solidFill>
            <a:srgbClr val="D9D9D9"/>
          </a:solidFill>
          <a:ln/>
        </p:spPr>
      </p:sp>
      <p:sp>
        <p:nvSpPr>
          <p:cNvPr id="39" name="Text 33"/>
          <p:cNvSpPr/>
          <p:nvPr/>
        </p:nvSpPr>
        <p:spPr>
          <a:xfrm>
            <a:off x="5044529" y="4681389"/>
            <a:ext cx="334328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PX001</a:t>
            </a:r>
            <a:endParaRPr lang="en-US" sz="844" dirty="0"/>
          </a:p>
        </p:txBody>
      </p:sp>
      <p:sp>
        <p:nvSpPr>
          <p:cNvPr id="40" name="Shape 34"/>
          <p:cNvSpPr/>
          <p:nvPr/>
        </p:nvSpPr>
        <p:spPr>
          <a:xfrm>
            <a:off x="4716364" y="5625703"/>
            <a:ext cx="984498" cy="187523"/>
          </a:xfrm>
          <a:prstGeom prst="roundRect">
            <a:avLst>
              <a:gd name="adj" fmla="val 28571"/>
            </a:avLst>
          </a:prstGeom>
          <a:solidFill>
            <a:srgbClr val="D9D9D9"/>
          </a:solidFill>
          <a:ln/>
        </p:spPr>
      </p:sp>
      <p:sp>
        <p:nvSpPr>
          <p:cNvPr id="41" name="Text 35"/>
          <p:cNvSpPr/>
          <p:nvPr/>
        </p:nvSpPr>
        <p:spPr>
          <a:xfrm>
            <a:off x="4897190" y="5652493"/>
            <a:ext cx="622310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30/05/2026</a:t>
            </a:r>
            <a:endParaRPr lang="en-US" sz="844" dirty="0"/>
          </a:p>
        </p:txBody>
      </p:sp>
      <p:sp>
        <p:nvSpPr>
          <p:cNvPr id="42" name="Shape 36"/>
          <p:cNvSpPr/>
          <p:nvPr/>
        </p:nvSpPr>
        <p:spPr>
          <a:xfrm>
            <a:off x="4314528" y="5270748"/>
            <a:ext cx="1386334" cy="187523"/>
          </a:xfrm>
          <a:prstGeom prst="roundRect">
            <a:avLst>
              <a:gd name="adj" fmla="val 28571"/>
            </a:avLst>
          </a:prstGeom>
          <a:solidFill>
            <a:srgbClr val="D9D9D9"/>
          </a:solidFill>
          <a:ln/>
        </p:spPr>
      </p:sp>
      <p:sp>
        <p:nvSpPr>
          <p:cNvPr id="43" name="Shape 37"/>
          <p:cNvSpPr/>
          <p:nvPr/>
        </p:nvSpPr>
        <p:spPr>
          <a:xfrm>
            <a:off x="4314528" y="4962674"/>
            <a:ext cx="1386334" cy="187523"/>
          </a:xfrm>
          <a:prstGeom prst="roundRect">
            <a:avLst>
              <a:gd name="adj" fmla="val 28571"/>
            </a:avLst>
          </a:prstGeom>
          <a:solidFill>
            <a:srgbClr val="D9D9D9"/>
          </a:solidFill>
          <a:ln/>
        </p:spPr>
      </p:sp>
      <p:sp>
        <p:nvSpPr>
          <p:cNvPr id="44" name="Text 38"/>
          <p:cNvSpPr/>
          <p:nvPr/>
        </p:nvSpPr>
        <p:spPr>
          <a:xfrm>
            <a:off x="5138291" y="4989463"/>
            <a:ext cx="146804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844" dirty="0"/>
          </a:p>
        </p:txBody>
      </p:sp>
      <p:sp>
        <p:nvSpPr>
          <p:cNvPr id="45" name="Text 39"/>
          <p:cNvSpPr/>
          <p:nvPr/>
        </p:nvSpPr>
        <p:spPr>
          <a:xfrm>
            <a:off x="5004346" y="5304235"/>
            <a:ext cx="448181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4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844" dirty="0"/>
          </a:p>
        </p:txBody>
      </p:sp>
      <p:sp>
        <p:nvSpPr>
          <p:cNvPr id="46" name="Text 40"/>
          <p:cNvSpPr/>
          <p:nvPr/>
        </p:nvSpPr>
        <p:spPr>
          <a:xfrm>
            <a:off x="3477369" y="5277446"/>
            <a:ext cx="57542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266" dirty="0"/>
          </a:p>
        </p:txBody>
      </p:sp>
      <p:sp>
        <p:nvSpPr>
          <p:cNvPr id="47" name="Text 41"/>
          <p:cNvSpPr/>
          <p:nvPr/>
        </p:nvSpPr>
        <p:spPr>
          <a:xfrm>
            <a:off x="3283149" y="5619006"/>
            <a:ext cx="133891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Examination Date</a:t>
            </a:r>
            <a:endParaRPr lang="en-US" sz="1266" dirty="0"/>
          </a:p>
        </p:txBody>
      </p:sp>
      <p:sp>
        <p:nvSpPr>
          <p:cNvPr id="48" name="Shape 42"/>
          <p:cNvSpPr/>
          <p:nvPr/>
        </p:nvSpPr>
        <p:spPr>
          <a:xfrm>
            <a:off x="7810500" y="4286250"/>
            <a:ext cx="2143125" cy="21431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9" name="Text 43"/>
          <p:cNvSpPr/>
          <p:nvPr/>
        </p:nvSpPr>
        <p:spPr>
          <a:xfrm>
            <a:off x="8172152" y="5277446"/>
            <a:ext cx="143267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image selected</a:t>
            </a:r>
            <a:endParaRPr lang="en-US" sz="1266" dirty="0"/>
          </a:p>
        </p:txBody>
      </p:sp>
      <p:sp>
        <p:nvSpPr>
          <p:cNvPr id="50" name="Shape 44"/>
          <p:cNvSpPr/>
          <p:nvPr/>
        </p:nvSpPr>
        <p:spPr>
          <a:xfrm>
            <a:off x="3283149" y="6081117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5">
            <a:hlinkClick r:id="rId11" action="ppaction://hlinksldjump"/>
          </p:cNvPr>
          <p:cNvSpPr/>
          <p:nvPr/>
        </p:nvSpPr>
        <p:spPr>
          <a:xfrm>
            <a:off x="3678287" y="6194971"/>
            <a:ext cx="96387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Image</a:t>
            </a:r>
            <a:endParaRPr lang="en-US" sz="1055" dirty="0"/>
          </a:p>
        </p:txBody>
      </p:sp>
      <p:sp>
        <p:nvSpPr>
          <p:cNvPr id="52" name="Shape 46"/>
          <p:cNvSpPr/>
          <p:nvPr/>
        </p:nvSpPr>
        <p:spPr>
          <a:xfrm>
            <a:off x="5104805" y="6081117"/>
            <a:ext cx="1205508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47"/>
          <p:cNvSpPr/>
          <p:nvPr/>
        </p:nvSpPr>
        <p:spPr>
          <a:xfrm>
            <a:off x="5345906" y="6188274"/>
            <a:ext cx="7227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Form</a:t>
            </a:r>
            <a:endParaRPr lang="en-US" sz="1055" dirty="0"/>
          </a:p>
        </p:txBody>
      </p:sp>
    </p:spTree>
    <p:extLst>
      <p:ext uri="{BB962C8B-B14F-4D97-AF65-F5344CB8AC3E}">
        <p14:creationId xmlns:p14="http://schemas.microsoft.com/office/powerpoint/2010/main" val="404712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14" y="1741289"/>
            <a:ext cx="1607344" cy="455414"/>
          </a:xfrm>
          <a:prstGeom prst="rect">
            <a:avLst/>
          </a:prstGeom>
        </p:spPr>
      </p:pic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1883420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8" name="Shape 5"/>
          <p:cNvSpPr/>
          <p:nvPr/>
        </p:nvSpPr>
        <p:spPr>
          <a:xfrm>
            <a:off x="1508373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9" name="Text 6">
            <a:hlinkClick r:id="rId5" action="ppaction://hlinksldjump"/>
          </p:cNvPr>
          <p:cNvSpPr/>
          <p:nvPr/>
        </p:nvSpPr>
        <p:spPr>
          <a:xfrm>
            <a:off x="1916906" y="1372939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0" name="Shape 7"/>
          <p:cNvSpPr/>
          <p:nvPr/>
        </p:nvSpPr>
        <p:spPr>
          <a:xfrm>
            <a:off x="1474887" y="6228457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8">
            <a:hlinkClick r:id="rId6" action="ppaction://hlinksldjump"/>
          </p:cNvPr>
          <p:cNvSpPr/>
          <p:nvPr/>
        </p:nvSpPr>
        <p:spPr>
          <a:xfrm>
            <a:off x="2003971" y="6315521"/>
            <a:ext cx="42808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949" dirty="0"/>
          </a:p>
        </p:txBody>
      </p:sp>
      <p:sp>
        <p:nvSpPr>
          <p:cNvPr id="12" name="Shape 9"/>
          <p:cNvSpPr/>
          <p:nvPr/>
        </p:nvSpPr>
        <p:spPr>
          <a:xfrm>
            <a:off x="1474887" y="376386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0">
            <a:hlinkClick r:id="rId7" action="ppaction://hlinksldjump"/>
          </p:cNvPr>
          <p:cNvSpPr/>
          <p:nvPr/>
        </p:nvSpPr>
        <p:spPr>
          <a:xfrm>
            <a:off x="1990577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49" dirty="0"/>
          </a:p>
        </p:txBody>
      </p:sp>
      <p:sp>
        <p:nvSpPr>
          <p:cNvPr id="14" name="Shape 11"/>
          <p:cNvSpPr/>
          <p:nvPr/>
        </p:nvSpPr>
        <p:spPr>
          <a:xfrm>
            <a:off x="1474887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5" name="Text 12">
            <a:hlinkClick r:id="rId8" action="ppaction://hlinksldjump"/>
          </p:cNvPr>
          <p:cNvSpPr/>
          <p:nvPr/>
        </p:nvSpPr>
        <p:spPr>
          <a:xfrm>
            <a:off x="1977182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6" name="Shape 13"/>
          <p:cNvSpPr/>
          <p:nvPr/>
        </p:nvSpPr>
        <p:spPr>
          <a:xfrm>
            <a:off x="1474887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4">
            <a:hlinkClick r:id="" action="ppaction://hlinkshowjump?jump=nextslide"/>
          </p:cNvPr>
          <p:cNvSpPr/>
          <p:nvPr/>
        </p:nvSpPr>
        <p:spPr>
          <a:xfrm>
            <a:off x="1883420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1675805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2084338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0" name="Shape 17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90137" y="174129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9625459" y="187524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2342" y="83715"/>
            <a:ext cx="321469" cy="32146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4709" y="127248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25" name="Text 21"/>
          <p:cNvSpPr/>
          <p:nvPr/>
        </p:nvSpPr>
        <p:spPr>
          <a:xfrm>
            <a:off x="3845719" y="187524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5138292" y="703213"/>
            <a:ext cx="1921579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Results</a:t>
            </a:r>
            <a:endParaRPr lang="en-US" sz="1687" dirty="0"/>
          </a:p>
        </p:txBody>
      </p:sp>
      <p:sp>
        <p:nvSpPr>
          <p:cNvPr id="27" name="Text 23"/>
          <p:cNvSpPr/>
          <p:nvPr/>
        </p:nvSpPr>
        <p:spPr>
          <a:xfrm>
            <a:off x="4763244" y="964406"/>
            <a:ext cx="267837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result for uploaded chest X-ray</a:t>
            </a:r>
            <a:endParaRPr lang="en-US" sz="1055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305" y="1493490"/>
            <a:ext cx="4018359" cy="401835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69483" y="1299270"/>
            <a:ext cx="146616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Chest X-Ray Image</a:t>
            </a:r>
            <a:endParaRPr lang="en-US" sz="1266" dirty="0"/>
          </a:p>
        </p:txBody>
      </p:sp>
      <p:sp>
        <p:nvSpPr>
          <p:cNvPr id="30" name="Text 25"/>
          <p:cNvSpPr/>
          <p:nvPr/>
        </p:nvSpPr>
        <p:spPr>
          <a:xfrm>
            <a:off x="4776639" y="5511850"/>
            <a:ext cx="125855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Uploaded Image</a:t>
            </a:r>
            <a:endParaRPr lang="en-US" sz="1266" dirty="0"/>
          </a:p>
        </p:txBody>
      </p:sp>
      <p:sp>
        <p:nvSpPr>
          <p:cNvPr id="31" name="Shape 26"/>
          <p:cNvSpPr/>
          <p:nvPr/>
        </p:nvSpPr>
        <p:spPr>
          <a:xfrm>
            <a:off x="3222873" y="6188274"/>
            <a:ext cx="7681764" cy="596057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Text 27"/>
          <p:cNvSpPr/>
          <p:nvPr/>
        </p:nvSpPr>
        <p:spPr>
          <a:xfrm>
            <a:off x="8252520" y="1774775"/>
            <a:ext cx="1921579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RESULT</a:t>
            </a:r>
            <a:endParaRPr lang="en-US" sz="1477" dirty="0"/>
          </a:p>
        </p:txBody>
      </p:sp>
      <p:sp>
        <p:nvSpPr>
          <p:cNvPr id="33" name="Text 28"/>
          <p:cNvSpPr/>
          <p:nvPr/>
        </p:nvSpPr>
        <p:spPr>
          <a:xfrm>
            <a:off x="7730133" y="2337346"/>
            <a:ext cx="222295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CONFIDENCE:        87.3%</a:t>
            </a:r>
            <a:endParaRPr lang="en-US" sz="1477" dirty="0"/>
          </a:p>
        </p:txBody>
      </p:sp>
      <p:sp>
        <p:nvSpPr>
          <p:cNvPr id="34" name="Text 29"/>
          <p:cNvSpPr/>
          <p:nvPr/>
        </p:nvSpPr>
        <p:spPr>
          <a:xfrm>
            <a:off x="7730133" y="2056061"/>
            <a:ext cx="297305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DIAGNOSIS:PULMONARY EDEMA  </a:t>
            </a:r>
            <a:endParaRPr lang="en-US" sz="1477" dirty="0"/>
          </a:p>
        </p:txBody>
      </p:sp>
      <p:sp>
        <p:nvSpPr>
          <p:cNvPr id="35" name="Text 30"/>
          <p:cNvSpPr/>
          <p:nvPr/>
        </p:nvSpPr>
        <p:spPr>
          <a:xfrm>
            <a:off x="7730133" y="2618631"/>
            <a:ext cx="260470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LEVEL:           HIGH RISK</a:t>
            </a:r>
            <a:endParaRPr lang="en-US" sz="1477" dirty="0"/>
          </a:p>
        </p:txBody>
      </p:sp>
      <p:sp>
        <p:nvSpPr>
          <p:cNvPr id="36" name="Text 31"/>
          <p:cNvSpPr/>
          <p:nvPr/>
        </p:nvSpPr>
        <p:spPr>
          <a:xfrm>
            <a:off x="7730133" y="2899916"/>
            <a:ext cx="245736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SCORE:               0.873</a:t>
            </a:r>
            <a:endParaRPr lang="en-US" sz="1477" dirty="0"/>
          </a:p>
        </p:txBody>
      </p:sp>
      <p:sp>
        <p:nvSpPr>
          <p:cNvPr id="37" name="Text 32"/>
          <p:cNvSpPr/>
          <p:nvPr/>
        </p:nvSpPr>
        <p:spPr>
          <a:xfrm>
            <a:off x="8513713" y="3797350"/>
            <a:ext cx="1519744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Interpretation</a:t>
            </a:r>
            <a:endParaRPr lang="en-US" sz="1477" dirty="0"/>
          </a:p>
        </p:txBody>
      </p:sp>
      <p:sp>
        <p:nvSpPr>
          <p:cNvPr id="38" name="Text 33"/>
          <p:cNvSpPr/>
          <p:nvPr/>
        </p:nvSpPr>
        <p:spPr>
          <a:xfrm>
            <a:off x="7830592" y="4172397"/>
            <a:ext cx="2872591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detected imaging patterns</a:t>
            </a:r>
            <a:endParaRPr lang="en-US" sz="1266" dirty="0"/>
          </a:p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with pulmonary edema,</a:t>
            </a:r>
            <a:endParaRPr lang="en-US" sz="1266" dirty="0"/>
          </a:p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particularly in the lower lung regions.</a:t>
            </a:r>
            <a:endParaRPr lang="en-US" sz="1266" dirty="0"/>
          </a:p>
        </p:txBody>
      </p:sp>
      <p:sp>
        <p:nvSpPr>
          <p:cNvPr id="39" name="Shape 34"/>
          <p:cNvSpPr/>
          <p:nvPr/>
        </p:nvSpPr>
        <p:spPr>
          <a:xfrm>
            <a:off x="3149203" y="6308824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3149203" y="6389191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6">
            <a:hlinkClick r:id="" action="ppaction://hlinkshowjump?jump=nextslide"/>
          </p:cNvPr>
          <p:cNvSpPr/>
          <p:nvPr/>
        </p:nvSpPr>
        <p:spPr>
          <a:xfrm>
            <a:off x="3497462" y="6503045"/>
            <a:ext cx="10643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Grad-CAM</a:t>
            </a:r>
            <a:endParaRPr lang="en-US" sz="1055" dirty="0"/>
          </a:p>
        </p:txBody>
      </p:sp>
      <p:sp>
        <p:nvSpPr>
          <p:cNvPr id="42" name="Shape 37"/>
          <p:cNvSpPr/>
          <p:nvPr/>
        </p:nvSpPr>
        <p:spPr>
          <a:xfrm>
            <a:off x="9230321" y="6389191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38">
            <a:hlinkClick r:id="rId4" action="ppaction://hlinksldjump"/>
          </p:cNvPr>
          <p:cNvSpPr/>
          <p:nvPr/>
        </p:nvSpPr>
        <p:spPr>
          <a:xfrm>
            <a:off x="9464725" y="6503045"/>
            <a:ext cx="129203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New Image</a:t>
            </a:r>
            <a:endParaRPr lang="en-US" sz="1055" dirty="0"/>
          </a:p>
        </p:txBody>
      </p:sp>
      <p:sp>
        <p:nvSpPr>
          <p:cNvPr id="44" name="Shape 39"/>
          <p:cNvSpPr/>
          <p:nvPr/>
        </p:nvSpPr>
        <p:spPr>
          <a:xfrm>
            <a:off x="6122789" y="6389191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0">
            <a:hlinkClick r:id="rId8" action="ppaction://hlinksldjump"/>
          </p:cNvPr>
          <p:cNvSpPr/>
          <p:nvPr/>
        </p:nvSpPr>
        <p:spPr>
          <a:xfrm>
            <a:off x="6457652" y="6503045"/>
            <a:ext cx="10844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Report</a:t>
            </a:r>
            <a:endParaRPr lang="en-US" sz="1055" dirty="0"/>
          </a:p>
        </p:txBody>
      </p:sp>
    </p:spTree>
    <p:extLst>
      <p:ext uri="{BB962C8B-B14F-4D97-AF65-F5344CB8AC3E}">
        <p14:creationId xmlns:p14="http://schemas.microsoft.com/office/powerpoint/2010/main" val="38194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14" y="1741289"/>
            <a:ext cx="1607344" cy="455414"/>
          </a:xfrm>
          <a:prstGeom prst="rect">
            <a:avLst/>
          </a:prstGeom>
        </p:spPr>
      </p:pic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1883420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8" name="Shape 5"/>
          <p:cNvSpPr/>
          <p:nvPr/>
        </p:nvSpPr>
        <p:spPr>
          <a:xfrm>
            <a:off x="1508373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9" name="Text 6">
            <a:hlinkClick r:id="rId5" action="ppaction://hlinksldjump"/>
          </p:cNvPr>
          <p:cNvSpPr/>
          <p:nvPr/>
        </p:nvSpPr>
        <p:spPr>
          <a:xfrm>
            <a:off x="1916906" y="1372939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0" name="Shape 7"/>
          <p:cNvSpPr/>
          <p:nvPr/>
        </p:nvSpPr>
        <p:spPr>
          <a:xfrm>
            <a:off x="1508373" y="627533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8">
            <a:hlinkClick r:id="rId6" action="ppaction://hlinksldjump"/>
          </p:cNvPr>
          <p:cNvSpPr/>
          <p:nvPr/>
        </p:nvSpPr>
        <p:spPr>
          <a:xfrm>
            <a:off x="2037457" y="6362402"/>
            <a:ext cx="42808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949" dirty="0"/>
          </a:p>
        </p:txBody>
      </p:sp>
      <p:sp>
        <p:nvSpPr>
          <p:cNvPr id="12" name="Shape 9"/>
          <p:cNvSpPr/>
          <p:nvPr/>
        </p:nvSpPr>
        <p:spPr>
          <a:xfrm>
            <a:off x="1474887" y="376386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0">
            <a:hlinkClick r:id="rId7" action="ppaction://hlinksldjump"/>
          </p:cNvPr>
          <p:cNvSpPr/>
          <p:nvPr/>
        </p:nvSpPr>
        <p:spPr>
          <a:xfrm>
            <a:off x="1990577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49" dirty="0"/>
          </a:p>
        </p:txBody>
      </p:sp>
      <p:sp>
        <p:nvSpPr>
          <p:cNvPr id="14" name="Shape 11"/>
          <p:cNvSpPr/>
          <p:nvPr/>
        </p:nvSpPr>
        <p:spPr>
          <a:xfrm>
            <a:off x="1474887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5" name="Text 12">
            <a:hlinkClick r:id="" action="ppaction://hlinkshowjump?jump=nextslide"/>
          </p:cNvPr>
          <p:cNvSpPr/>
          <p:nvPr/>
        </p:nvSpPr>
        <p:spPr>
          <a:xfrm>
            <a:off x="1977182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6" name="Shape 13"/>
          <p:cNvSpPr/>
          <p:nvPr/>
        </p:nvSpPr>
        <p:spPr>
          <a:xfrm>
            <a:off x="1675805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2084338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1474887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6">
            <a:hlinkClick r:id="" action="ppaction://hlinkshowjump?jump=previousslide"/>
          </p:cNvPr>
          <p:cNvSpPr/>
          <p:nvPr/>
        </p:nvSpPr>
        <p:spPr>
          <a:xfrm>
            <a:off x="1883420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0" name="Shape 17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90137" y="154037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9625459" y="167432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342" y="63624"/>
            <a:ext cx="321469" cy="32146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4709" y="107156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25" name="Text 21"/>
          <p:cNvSpPr/>
          <p:nvPr/>
        </p:nvSpPr>
        <p:spPr>
          <a:xfrm>
            <a:off x="3845719" y="167432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4877098" y="609452"/>
            <a:ext cx="2450663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AI Analysis</a:t>
            </a:r>
            <a:endParaRPr lang="en-US" sz="1687" dirty="0"/>
          </a:p>
        </p:txBody>
      </p:sp>
      <p:sp>
        <p:nvSpPr>
          <p:cNvPr id="27" name="Text 23"/>
          <p:cNvSpPr/>
          <p:nvPr/>
        </p:nvSpPr>
        <p:spPr>
          <a:xfrm>
            <a:off x="4307830" y="944315"/>
            <a:ext cx="358919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of regions that influenced the AI prediction.</a:t>
            </a:r>
            <a:endParaRPr lang="en-US" sz="1055" dirty="0"/>
          </a:p>
        </p:txBody>
      </p:sp>
      <p:sp>
        <p:nvSpPr>
          <p:cNvPr id="28" name="Text 24"/>
          <p:cNvSpPr/>
          <p:nvPr/>
        </p:nvSpPr>
        <p:spPr>
          <a:xfrm>
            <a:off x="3772049" y="1634133"/>
            <a:ext cx="131882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Chest X-Ray</a:t>
            </a:r>
            <a:endParaRPr lang="en-US" sz="1055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6818" y="1848446"/>
            <a:ext cx="7340203" cy="3583037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149203" y="6362402"/>
            <a:ext cx="7768828" cy="495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3149203" y="6402586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7"/>
          <p:cNvSpPr/>
          <p:nvPr/>
        </p:nvSpPr>
        <p:spPr>
          <a:xfrm>
            <a:off x="3383608" y="6516440"/>
            <a:ext cx="128533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Heatmap</a:t>
            </a:r>
            <a:endParaRPr lang="en-US" sz="1055" dirty="0"/>
          </a:p>
        </p:txBody>
      </p:sp>
      <p:sp>
        <p:nvSpPr>
          <p:cNvPr id="33" name="Shape 28"/>
          <p:cNvSpPr/>
          <p:nvPr/>
        </p:nvSpPr>
        <p:spPr>
          <a:xfrm>
            <a:off x="9230321" y="6402586"/>
            <a:ext cx="1674316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29">
            <a:hlinkClick r:id="rId4" action="ppaction://hlinksldjump"/>
          </p:cNvPr>
          <p:cNvSpPr/>
          <p:nvPr/>
        </p:nvSpPr>
        <p:spPr>
          <a:xfrm>
            <a:off x="9464725" y="6516440"/>
            <a:ext cx="129203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New Image</a:t>
            </a:r>
            <a:endParaRPr lang="en-US" sz="1055" dirty="0"/>
          </a:p>
        </p:txBody>
      </p:sp>
      <p:sp>
        <p:nvSpPr>
          <p:cNvPr id="35" name="Shape 30"/>
          <p:cNvSpPr/>
          <p:nvPr/>
        </p:nvSpPr>
        <p:spPr>
          <a:xfrm>
            <a:off x="5828110" y="6387837"/>
            <a:ext cx="2277070" cy="37504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1"/>
          <p:cNvSpPr/>
          <p:nvPr/>
        </p:nvSpPr>
        <p:spPr>
          <a:xfrm>
            <a:off x="6029027" y="6516440"/>
            <a:ext cx="19483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Export Visualization</a:t>
            </a:r>
            <a:endParaRPr lang="en-US" sz="1055" dirty="0"/>
          </a:p>
        </p:txBody>
      </p:sp>
    </p:spTree>
    <p:extLst>
      <p:ext uri="{BB962C8B-B14F-4D97-AF65-F5344CB8AC3E}">
        <p14:creationId xmlns:p14="http://schemas.microsoft.com/office/powerpoint/2010/main" val="10078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14" y="1741289"/>
            <a:ext cx="1607344" cy="455414"/>
          </a:xfrm>
          <a:prstGeom prst="rect">
            <a:avLst/>
          </a:prstGeom>
        </p:spPr>
      </p:pic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1883420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8" name="Shape 5"/>
          <p:cNvSpPr/>
          <p:nvPr/>
        </p:nvSpPr>
        <p:spPr>
          <a:xfrm>
            <a:off x="1508373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9" name="Text 6">
            <a:hlinkClick r:id="rId5" action="ppaction://hlinksldjump"/>
          </p:cNvPr>
          <p:cNvSpPr/>
          <p:nvPr/>
        </p:nvSpPr>
        <p:spPr>
          <a:xfrm>
            <a:off x="1916906" y="1372939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0" name="Shape 7"/>
          <p:cNvSpPr/>
          <p:nvPr/>
        </p:nvSpPr>
        <p:spPr>
          <a:xfrm>
            <a:off x="1474887" y="626194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8">
            <a:hlinkClick r:id="rId6" action="ppaction://hlinksldjump"/>
          </p:cNvPr>
          <p:cNvSpPr/>
          <p:nvPr/>
        </p:nvSpPr>
        <p:spPr>
          <a:xfrm>
            <a:off x="2003971" y="6349008"/>
            <a:ext cx="42808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949" dirty="0"/>
          </a:p>
        </p:txBody>
      </p:sp>
      <p:sp>
        <p:nvSpPr>
          <p:cNvPr id="12" name="Shape 9"/>
          <p:cNvSpPr/>
          <p:nvPr/>
        </p:nvSpPr>
        <p:spPr>
          <a:xfrm>
            <a:off x="1474887" y="376386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0">
            <a:hlinkClick r:id="" action="ppaction://hlinkshowjump?jump=nextslide"/>
          </p:cNvPr>
          <p:cNvSpPr/>
          <p:nvPr/>
        </p:nvSpPr>
        <p:spPr>
          <a:xfrm>
            <a:off x="1990577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49" dirty="0"/>
          </a:p>
        </p:txBody>
      </p:sp>
      <p:sp>
        <p:nvSpPr>
          <p:cNvPr id="14" name="Shape 11"/>
          <p:cNvSpPr/>
          <p:nvPr/>
        </p:nvSpPr>
        <p:spPr>
          <a:xfrm>
            <a:off x="1675805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2178100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6" name="Shape 13"/>
          <p:cNvSpPr/>
          <p:nvPr/>
        </p:nvSpPr>
        <p:spPr>
          <a:xfrm>
            <a:off x="1474887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4">
            <a:hlinkClick r:id="" action="ppaction://hlinkshowjump?jump=previousslide"/>
          </p:cNvPr>
          <p:cNvSpPr/>
          <p:nvPr/>
        </p:nvSpPr>
        <p:spPr>
          <a:xfrm>
            <a:off x="1883420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1474887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6">
            <a:hlinkClick r:id="rId7" action="ppaction://hlinksldjump"/>
          </p:cNvPr>
          <p:cNvSpPr/>
          <p:nvPr/>
        </p:nvSpPr>
        <p:spPr>
          <a:xfrm>
            <a:off x="1883420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0" name="Shape 17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90137" y="154037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9625459" y="167432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342" y="63624"/>
            <a:ext cx="321469" cy="32146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4709" y="107156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25" name="Text 21"/>
          <p:cNvSpPr/>
          <p:nvPr/>
        </p:nvSpPr>
        <p:spPr>
          <a:xfrm>
            <a:off x="3845719" y="167432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26" name="Shape 22"/>
          <p:cNvSpPr/>
          <p:nvPr/>
        </p:nvSpPr>
        <p:spPr>
          <a:xfrm>
            <a:off x="3691682" y="629543"/>
            <a:ext cx="535781" cy="53578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3"/>
          <p:cNvSpPr/>
          <p:nvPr/>
        </p:nvSpPr>
        <p:spPr>
          <a:xfrm>
            <a:off x="3798838" y="736699"/>
            <a:ext cx="3343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3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2531" dirty="0"/>
          </a:p>
        </p:txBody>
      </p:sp>
      <p:sp>
        <p:nvSpPr>
          <p:cNvPr id="28" name="Text 24"/>
          <p:cNvSpPr/>
          <p:nvPr/>
        </p:nvSpPr>
        <p:spPr>
          <a:xfrm>
            <a:off x="3283149" y="1386334"/>
            <a:ext cx="189479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Mbeya Referral Hospital</a:t>
            </a:r>
            <a:endParaRPr lang="en-US" sz="1266" dirty="0"/>
          </a:p>
        </p:txBody>
      </p:sp>
      <p:sp>
        <p:nvSpPr>
          <p:cNvPr id="29" name="Text 25"/>
          <p:cNvSpPr/>
          <p:nvPr/>
        </p:nvSpPr>
        <p:spPr>
          <a:xfrm>
            <a:off x="9036100" y="1011287"/>
            <a:ext cx="108442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June 2026</a:t>
            </a:r>
            <a:endParaRPr lang="en-US" sz="1266" dirty="0"/>
          </a:p>
        </p:txBody>
      </p:sp>
      <p:sp>
        <p:nvSpPr>
          <p:cNvPr id="30" name="Text 26"/>
          <p:cNvSpPr/>
          <p:nvPr/>
        </p:nvSpPr>
        <p:spPr>
          <a:xfrm>
            <a:off x="5948660" y="796975"/>
            <a:ext cx="2176076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Diagnostic Report</a:t>
            </a:r>
            <a:endParaRPr lang="en-US" sz="1687" dirty="0"/>
          </a:p>
        </p:txBody>
      </p:sp>
      <p:sp>
        <p:nvSpPr>
          <p:cNvPr id="31" name="Text 27"/>
          <p:cNvSpPr/>
          <p:nvPr/>
        </p:nvSpPr>
        <p:spPr>
          <a:xfrm>
            <a:off x="5814715" y="1165325"/>
            <a:ext cx="2443966" cy="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44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AI for Pulmonary Edema Detection</a:t>
            </a:r>
            <a:endParaRPr lang="en-US" sz="844" dirty="0"/>
          </a:p>
        </p:txBody>
      </p:sp>
      <p:sp>
        <p:nvSpPr>
          <p:cNvPr id="32" name="Text 28"/>
          <p:cNvSpPr/>
          <p:nvPr/>
        </p:nvSpPr>
        <p:spPr>
          <a:xfrm>
            <a:off x="8707934" y="629544"/>
            <a:ext cx="1734056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RPT-2026-0001</a:t>
            </a:r>
            <a:endParaRPr lang="en-US" sz="1687" dirty="0"/>
          </a:p>
        </p:txBody>
      </p:sp>
      <p:sp>
        <p:nvSpPr>
          <p:cNvPr id="33" name="Text 29"/>
          <p:cNvSpPr/>
          <p:nvPr/>
        </p:nvSpPr>
        <p:spPr>
          <a:xfrm>
            <a:off x="9136559" y="1346151"/>
            <a:ext cx="883503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1266" dirty="0"/>
          </a:p>
        </p:txBody>
      </p:sp>
      <p:sp>
        <p:nvSpPr>
          <p:cNvPr id="34" name="Text 30"/>
          <p:cNvSpPr/>
          <p:nvPr/>
        </p:nvSpPr>
        <p:spPr>
          <a:xfrm>
            <a:off x="6022330" y="2102942"/>
            <a:ext cx="2028736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Information</a:t>
            </a:r>
            <a:endParaRPr lang="en-US" sz="1687" dirty="0"/>
          </a:p>
        </p:txBody>
      </p:sp>
      <p:sp>
        <p:nvSpPr>
          <p:cNvPr id="35" name="Text 31"/>
          <p:cNvSpPr/>
          <p:nvPr/>
        </p:nvSpPr>
        <p:spPr>
          <a:xfrm>
            <a:off x="3698379" y="2511475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</a:t>
            </a:r>
            <a:endParaRPr lang="en-US" sz="1266" dirty="0"/>
          </a:p>
        </p:txBody>
      </p:sp>
      <p:sp>
        <p:nvSpPr>
          <p:cNvPr id="36" name="Text 32"/>
          <p:cNvSpPr/>
          <p:nvPr/>
        </p:nvSpPr>
        <p:spPr>
          <a:xfrm>
            <a:off x="5546824" y="2511475"/>
            <a:ext cx="31423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66" dirty="0"/>
          </a:p>
        </p:txBody>
      </p:sp>
      <p:sp>
        <p:nvSpPr>
          <p:cNvPr id="37" name="Text 33"/>
          <p:cNvSpPr/>
          <p:nvPr/>
        </p:nvSpPr>
        <p:spPr>
          <a:xfrm>
            <a:off x="3818930" y="2792760"/>
            <a:ext cx="49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PX001</a:t>
            </a:r>
            <a:endParaRPr lang="en-US" sz="1266" dirty="0"/>
          </a:p>
        </p:txBody>
      </p:sp>
      <p:sp>
        <p:nvSpPr>
          <p:cNvPr id="38" name="Text 34"/>
          <p:cNvSpPr/>
          <p:nvPr/>
        </p:nvSpPr>
        <p:spPr>
          <a:xfrm>
            <a:off x="5640586" y="2792760"/>
            <a:ext cx="21377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66" dirty="0"/>
          </a:p>
        </p:txBody>
      </p:sp>
      <p:sp>
        <p:nvSpPr>
          <p:cNvPr id="39" name="Text 35"/>
          <p:cNvSpPr/>
          <p:nvPr/>
        </p:nvSpPr>
        <p:spPr>
          <a:xfrm>
            <a:off x="6946553" y="2511475"/>
            <a:ext cx="57542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266" dirty="0"/>
          </a:p>
        </p:txBody>
      </p:sp>
      <p:sp>
        <p:nvSpPr>
          <p:cNvPr id="40" name="Text 36"/>
          <p:cNvSpPr/>
          <p:nvPr/>
        </p:nvSpPr>
        <p:spPr>
          <a:xfrm>
            <a:off x="7154169" y="2792760"/>
            <a:ext cx="3812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1266" dirty="0"/>
          </a:p>
        </p:txBody>
      </p:sp>
      <p:sp>
        <p:nvSpPr>
          <p:cNvPr id="41" name="Text 37"/>
          <p:cNvSpPr/>
          <p:nvPr/>
        </p:nvSpPr>
        <p:spPr>
          <a:xfrm>
            <a:off x="8614172" y="2511475"/>
            <a:ext cx="133891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Examination Date</a:t>
            </a:r>
            <a:endParaRPr lang="en-US" sz="1266" dirty="0"/>
          </a:p>
        </p:txBody>
      </p:sp>
      <p:sp>
        <p:nvSpPr>
          <p:cNvPr id="42" name="Text 38"/>
          <p:cNvSpPr/>
          <p:nvPr/>
        </p:nvSpPr>
        <p:spPr>
          <a:xfrm>
            <a:off x="8835182" y="2792760"/>
            <a:ext cx="90359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01/06/2026</a:t>
            </a:r>
            <a:endParaRPr lang="en-US" sz="1266" dirty="0"/>
          </a:p>
        </p:txBody>
      </p:sp>
      <p:sp>
        <p:nvSpPr>
          <p:cNvPr id="43" name="Text 39"/>
          <p:cNvSpPr/>
          <p:nvPr/>
        </p:nvSpPr>
        <p:spPr>
          <a:xfrm>
            <a:off x="5941963" y="4219278"/>
            <a:ext cx="2196167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Summary</a:t>
            </a:r>
            <a:endParaRPr lang="en-US" sz="1687" dirty="0"/>
          </a:p>
        </p:txBody>
      </p:sp>
      <p:sp>
        <p:nvSpPr>
          <p:cNvPr id="44" name="Text 40"/>
          <p:cNvSpPr/>
          <p:nvPr/>
        </p:nvSpPr>
        <p:spPr>
          <a:xfrm>
            <a:off x="5741045" y="4480471"/>
            <a:ext cx="2564517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Pulmonary Edema Detected</a:t>
            </a:r>
            <a:endParaRPr lang="en-US" sz="1477" dirty="0"/>
          </a:p>
        </p:txBody>
      </p:sp>
      <p:sp>
        <p:nvSpPr>
          <p:cNvPr id="45" name="Text 41"/>
          <p:cNvSpPr/>
          <p:nvPr/>
        </p:nvSpPr>
        <p:spPr>
          <a:xfrm>
            <a:off x="5741045" y="4768453"/>
            <a:ext cx="259130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Score:        87.3%</a:t>
            </a:r>
            <a:endParaRPr lang="en-US" sz="1477" dirty="0"/>
          </a:p>
        </p:txBody>
      </p:sp>
      <p:sp>
        <p:nvSpPr>
          <p:cNvPr id="46" name="Text 42"/>
          <p:cNvSpPr/>
          <p:nvPr/>
        </p:nvSpPr>
        <p:spPr>
          <a:xfrm>
            <a:off x="5278934" y="5056436"/>
            <a:ext cx="3495437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used: DenseNet121 + Grad-CAM</a:t>
            </a:r>
            <a:endParaRPr lang="en-US" sz="1477" dirty="0"/>
          </a:p>
        </p:txBody>
      </p:sp>
    </p:spTree>
    <p:extLst>
      <p:ext uri="{BB962C8B-B14F-4D97-AF65-F5344CB8AC3E}">
        <p14:creationId xmlns:p14="http://schemas.microsoft.com/office/powerpoint/2010/main" val="143874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969" y="0"/>
            <a:ext cx="1875234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2044155" y="401836"/>
            <a:ext cx="7830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PulmoXAI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1414611" y="301377"/>
            <a:ext cx="401836" cy="4018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08373" y="395138"/>
            <a:ext cx="2271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🫁</a:t>
            </a:r>
            <a:endParaRPr lang="en-US" sz="168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14" y="1741289"/>
            <a:ext cx="1607344" cy="455414"/>
          </a:xfrm>
          <a:prstGeom prst="rect">
            <a:avLst/>
          </a:prstGeom>
        </p:spPr>
      </p:pic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1883420" y="1868537"/>
            <a:ext cx="81653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X-Ray</a:t>
            </a:r>
            <a:endParaRPr lang="en-US" sz="949" dirty="0"/>
          </a:p>
        </p:txBody>
      </p:sp>
      <p:sp>
        <p:nvSpPr>
          <p:cNvPr id="8" name="Shape 5"/>
          <p:cNvSpPr/>
          <p:nvPr/>
        </p:nvSpPr>
        <p:spPr>
          <a:xfrm>
            <a:off x="1474887" y="1285875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9" name="Text 6">
            <a:hlinkClick r:id="rId5" action="ppaction://hlinksldjump"/>
          </p:cNvPr>
          <p:cNvSpPr/>
          <p:nvPr/>
        </p:nvSpPr>
        <p:spPr>
          <a:xfrm>
            <a:off x="1883420" y="1372939"/>
            <a:ext cx="662494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49" dirty="0"/>
          </a:p>
        </p:txBody>
      </p:sp>
      <p:sp>
        <p:nvSpPr>
          <p:cNvPr id="10" name="Shape 7"/>
          <p:cNvSpPr/>
          <p:nvPr/>
        </p:nvSpPr>
        <p:spPr>
          <a:xfrm>
            <a:off x="1474887" y="626194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2003971" y="6349008"/>
            <a:ext cx="428089" cy="1473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algn="ctr"/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 action="ppaction://hlinksldjump"/>
              </a:rPr>
              <a:t>Logout</a:t>
            </a:r>
            <a:endParaRPr lang="en-US" sz="949" dirty="0"/>
          </a:p>
        </p:txBody>
      </p:sp>
      <p:sp>
        <p:nvSpPr>
          <p:cNvPr id="12" name="Shape 9"/>
          <p:cNvSpPr/>
          <p:nvPr/>
        </p:nvSpPr>
        <p:spPr>
          <a:xfrm>
            <a:off x="1675805" y="3763863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2191495" y="3850928"/>
            <a:ext cx="448181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49" dirty="0"/>
          </a:p>
        </p:txBody>
      </p:sp>
      <p:sp>
        <p:nvSpPr>
          <p:cNvPr id="14" name="Shape 11"/>
          <p:cNvSpPr/>
          <p:nvPr/>
        </p:nvSpPr>
        <p:spPr>
          <a:xfrm>
            <a:off x="1474887" y="3268266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5" name="Text 12">
            <a:hlinkClick r:id="rId6" action="ppaction://hlinksldjump"/>
          </p:cNvPr>
          <p:cNvSpPr/>
          <p:nvPr/>
        </p:nvSpPr>
        <p:spPr>
          <a:xfrm>
            <a:off x="1977182" y="3355330"/>
            <a:ext cx="48166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</a:t>
            </a:r>
            <a:endParaRPr lang="en-US" sz="949" dirty="0"/>
          </a:p>
        </p:txBody>
      </p:sp>
      <p:sp>
        <p:nvSpPr>
          <p:cNvPr id="16" name="Shape 13"/>
          <p:cNvSpPr/>
          <p:nvPr/>
        </p:nvSpPr>
        <p:spPr>
          <a:xfrm>
            <a:off x="1474887" y="2772668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4">
            <a:hlinkClick r:id="rId7" action="ppaction://hlinksldjump"/>
          </p:cNvPr>
          <p:cNvSpPr/>
          <p:nvPr/>
        </p:nvSpPr>
        <p:spPr>
          <a:xfrm>
            <a:off x="1883420" y="2859732"/>
            <a:ext cx="64909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Grad-CAM</a:t>
            </a:r>
            <a:endParaRPr lang="en-US" sz="949" dirty="0"/>
          </a:p>
        </p:txBody>
      </p:sp>
      <p:sp>
        <p:nvSpPr>
          <p:cNvPr id="18" name="Shape 15"/>
          <p:cNvSpPr/>
          <p:nvPr/>
        </p:nvSpPr>
        <p:spPr>
          <a:xfrm>
            <a:off x="1474887" y="2277070"/>
            <a:ext cx="1473398" cy="321469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6">
            <a:hlinkClick r:id="rId8" action="ppaction://hlinksldjump"/>
          </p:cNvPr>
          <p:cNvSpPr/>
          <p:nvPr/>
        </p:nvSpPr>
        <p:spPr>
          <a:xfrm>
            <a:off x="1883420" y="2364135"/>
            <a:ext cx="689283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49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</a:t>
            </a:r>
            <a:endParaRPr lang="en-US" sz="949" dirty="0"/>
          </a:p>
        </p:txBody>
      </p:sp>
      <p:sp>
        <p:nvSpPr>
          <p:cNvPr id="20" name="Shape 17"/>
          <p:cNvSpPr/>
          <p:nvPr/>
        </p:nvSpPr>
        <p:spPr>
          <a:xfrm>
            <a:off x="3149203" y="0"/>
            <a:ext cx="7768828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90137" y="154037"/>
            <a:ext cx="1735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9625459" y="167432"/>
            <a:ext cx="66249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Sabo</a:t>
            </a:r>
            <a:endParaRPr lang="en-US" sz="1266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2342" y="63624"/>
            <a:ext cx="321469" cy="32146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4709" y="107156"/>
            <a:ext cx="2009180" cy="321469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</p:sp>
      <p:sp>
        <p:nvSpPr>
          <p:cNvPr id="25" name="Text 21"/>
          <p:cNvSpPr/>
          <p:nvPr/>
        </p:nvSpPr>
        <p:spPr>
          <a:xfrm>
            <a:off x="3845719" y="167432"/>
            <a:ext cx="160680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  Search patient...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6022330" y="1185417"/>
            <a:ext cx="1580019" cy="26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History</a:t>
            </a:r>
            <a:endParaRPr lang="en-US" sz="1687" dirty="0"/>
          </a:p>
        </p:txBody>
      </p:sp>
      <p:sp>
        <p:nvSpPr>
          <p:cNvPr id="27" name="Text 23"/>
          <p:cNvSpPr/>
          <p:nvPr/>
        </p:nvSpPr>
        <p:spPr>
          <a:xfrm>
            <a:off x="5399485" y="1466701"/>
            <a:ext cx="2819013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previous analyses and reports</a:t>
            </a:r>
            <a:endParaRPr lang="en-US" sz="1266" dirty="0"/>
          </a:p>
        </p:txBody>
      </p:sp>
      <p:sp>
        <p:nvSpPr>
          <p:cNvPr id="28" name="Shape 24"/>
          <p:cNvSpPr/>
          <p:nvPr/>
        </p:nvSpPr>
        <p:spPr>
          <a:xfrm>
            <a:off x="3283148" y="2417713"/>
            <a:ext cx="7500938" cy="368349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3383607" y="2879824"/>
            <a:ext cx="7179469" cy="227707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Shape 26"/>
          <p:cNvSpPr/>
          <p:nvPr/>
        </p:nvSpPr>
        <p:spPr>
          <a:xfrm>
            <a:off x="3383607" y="3221385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Shape 27"/>
          <p:cNvSpPr/>
          <p:nvPr/>
        </p:nvSpPr>
        <p:spPr>
          <a:xfrm>
            <a:off x="3383607" y="3569643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Shape 28"/>
          <p:cNvSpPr/>
          <p:nvPr/>
        </p:nvSpPr>
        <p:spPr>
          <a:xfrm>
            <a:off x="3383607" y="3917900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Shape 29"/>
          <p:cNvSpPr/>
          <p:nvPr/>
        </p:nvSpPr>
        <p:spPr>
          <a:xfrm>
            <a:off x="3383607" y="4266158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4" name="Shape 30"/>
          <p:cNvSpPr/>
          <p:nvPr/>
        </p:nvSpPr>
        <p:spPr>
          <a:xfrm>
            <a:off x="3383607" y="4614416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Shape 31"/>
          <p:cNvSpPr/>
          <p:nvPr/>
        </p:nvSpPr>
        <p:spPr>
          <a:xfrm>
            <a:off x="3383607" y="4962674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Shape 32"/>
          <p:cNvSpPr/>
          <p:nvPr/>
        </p:nvSpPr>
        <p:spPr>
          <a:xfrm>
            <a:off x="3383607" y="5310932"/>
            <a:ext cx="7179469" cy="227707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Shape 33"/>
          <p:cNvSpPr/>
          <p:nvPr/>
        </p:nvSpPr>
        <p:spPr>
          <a:xfrm>
            <a:off x="3383607" y="5659189"/>
            <a:ext cx="7179469" cy="22770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8" name="Text 34"/>
          <p:cNvSpPr/>
          <p:nvPr/>
        </p:nvSpPr>
        <p:spPr>
          <a:xfrm>
            <a:off x="8292704" y="3248174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266" dirty="0"/>
          </a:p>
        </p:txBody>
      </p:sp>
      <p:sp>
        <p:nvSpPr>
          <p:cNvPr id="39" name="Text 35"/>
          <p:cNvSpPr/>
          <p:nvPr/>
        </p:nvSpPr>
        <p:spPr>
          <a:xfrm>
            <a:off x="8292703" y="3596432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89.2%</a:t>
            </a:r>
            <a:endParaRPr lang="en-US" sz="1266" dirty="0"/>
          </a:p>
        </p:txBody>
      </p:sp>
      <p:sp>
        <p:nvSpPr>
          <p:cNvPr id="40" name="Text 36"/>
          <p:cNvSpPr/>
          <p:nvPr/>
        </p:nvSpPr>
        <p:spPr>
          <a:xfrm>
            <a:off x="8292703" y="3944690"/>
            <a:ext cx="45487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77.2%</a:t>
            </a:r>
            <a:endParaRPr lang="en-US" sz="1266" dirty="0"/>
          </a:p>
        </p:txBody>
      </p:sp>
      <p:sp>
        <p:nvSpPr>
          <p:cNvPr id="41" name="Text 37"/>
          <p:cNvSpPr/>
          <p:nvPr/>
        </p:nvSpPr>
        <p:spPr>
          <a:xfrm>
            <a:off x="8292703" y="4292947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266" dirty="0"/>
          </a:p>
        </p:txBody>
      </p:sp>
      <p:sp>
        <p:nvSpPr>
          <p:cNvPr id="42" name="Text 38"/>
          <p:cNvSpPr/>
          <p:nvPr/>
        </p:nvSpPr>
        <p:spPr>
          <a:xfrm>
            <a:off x="8292704" y="4641205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73.2%</a:t>
            </a:r>
            <a:endParaRPr lang="en-US" sz="1266" dirty="0"/>
          </a:p>
        </p:txBody>
      </p:sp>
      <p:sp>
        <p:nvSpPr>
          <p:cNvPr id="43" name="Text 39"/>
          <p:cNvSpPr/>
          <p:nvPr/>
        </p:nvSpPr>
        <p:spPr>
          <a:xfrm>
            <a:off x="8292703" y="4989463"/>
            <a:ext cx="48166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88.2%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8292703" y="5337721"/>
            <a:ext cx="45487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81.6%</a:t>
            </a:r>
            <a:endParaRPr lang="en-US" sz="1266" dirty="0"/>
          </a:p>
        </p:txBody>
      </p:sp>
      <p:sp>
        <p:nvSpPr>
          <p:cNvPr id="45" name="Text 41"/>
          <p:cNvSpPr/>
          <p:nvPr/>
        </p:nvSpPr>
        <p:spPr>
          <a:xfrm>
            <a:off x="8292704" y="5685979"/>
            <a:ext cx="47497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266" dirty="0"/>
          </a:p>
        </p:txBody>
      </p:sp>
      <p:sp>
        <p:nvSpPr>
          <p:cNvPr id="46" name="Text 42"/>
          <p:cNvSpPr/>
          <p:nvPr/>
        </p:nvSpPr>
        <p:spPr>
          <a:xfrm>
            <a:off x="10040689" y="3248174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47" name="Text 43"/>
          <p:cNvSpPr/>
          <p:nvPr/>
        </p:nvSpPr>
        <p:spPr>
          <a:xfrm>
            <a:off x="10040689" y="3596432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48" name="Text 44"/>
          <p:cNvSpPr/>
          <p:nvPr/>
        </p:nvSpPr>
        <p:spPr>
          <a:xfrm>
            <a:off x="10040689" y="3944690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49" name="Text 45"/>
          <p:cNvSpPr/>
          <p:nvPr/>
        </p:nvSpPr>
        <p:spPr>
          <a:xfrm>
            <a:off x="10040689" y="4292947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50" name="Text 46"/>
          <p:cNvSpPr/>
          <p:nvPr/>
        </p:nvSpPr>
        <p:spPr>
          <a:xfrm>
            <a:off x="10040689" y="4641205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51" name="Text 47"/>
          <p:cNvSpPr/>
          <p:nvPr/>
        </p:nvSpPr>
        <p:spPr>
          <a:xfrm>
            <a:off x="10040689" y="4989463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52" name="Text 48"/>
          <p:cNvSpPr/>
          <p:nvPr/>
        </p:nvSpPr>
        <p:spPr>
          <a:xfrm>
            <a:off x="10040689" y="5337721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53" name="Text 49"/>
          <p:cNvSpPr/>
          <p:nvPr/>
        </p:nvSpPr>
        <p:spPr>
          <a:xfrm>
            <a:off x="10040689" y="5685979"/>
            <a:ext cx="38790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266" dirty="0"/>
          </a:p>
        </p:txBody>
      </p:sp>
      <p:sp>
        <p:nvSpPr>
          <p:cNvPr id="54" name="Text 50"/>
          <p:cNvSpPr/>
          <p:nvPr/>
        </p:nvSpPr>
        <p:spPr>
          <a:xfrm>
            <a:off x="6544717" y="3228082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55" name="Text 51"/>
          <p:cNvSpPr/>
          <p:nvPr/>
        </p:nvSpPr>
        <p:spPr>
          <a:xfrm>
            <a:off x="6544717" y="3576340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56" name="Text 52"/>
          <p:cNvSpPr/>
          <p:nvPr/>
        </p:nvSpPr>
        <p:spPr>
          <a:xfrm>
            <a:off x="6544717" y="3924598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57" name="Text 53"/>
          <p:cNvSpPr/>
          <p:nvPr/>
        </p:nvSpPr>
        <p:spPr>
          <a:xfrm>
            <a:off x="6544717" y="4272856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58" name="Text 54"/>
          <p:cNvSpPr/>
          <p:nvPr/>
        </p:nvSpPr>
        <p:spPr>
          <a:xfrm>
            <a:off x="6544717" y="4621113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59" name="Text 55"/>
          <p:cNvSpPr/>
          <p:nvPr/>
        </p:nvSpPr>
        <p:spPr>
          <a:xfrm>
            <a:off x="6544717" y="4969371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60" name="Text 56"/>
          <p:cNvSpPr/>
          <p:nvPr/>
        </p:nvSpPr>
        <p:spPr>
          <a:xfrm>
            <a:off x="6544717" y="5317629"/>
            <a:ext cx="56203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1266" dirty="0"/>
          </a:p>
        </p:txBody>
      </p:sp>
      <p:sp>
        <p:nvSpPr>
          <p:cNvPr id="61" name="Text 57"/>
          <p:cNvSpPr/>
          <p:nvPr/>
        </p:nvSpPr>
        <p:spPr>
          <a:xfrm>
            <a:off x="6544717" y="5665887"/>
            <a:ext cx="53524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Edema</a:t>
            </a:r>
            <a:endParaRPr lang="en-US" sz="1266" dirty="0"/>
          </a:p>
        </p:txBody>
      </p:sp>
      <p:sp>
        <p:nvSpPr>
          <p:cNvPr id="62" name="Text 58"/>
          <p:cNvSpPr/>
          <p:nvPr/>
        </p:nvSpPr>
        <p:spPr>
          <a:xfrm>
            <a:off x="4870401" y="3248174"/>
            <a:ext cx="90359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01/06/2026</a:t>
            </a:r>
            <a:endParaRPr lang="en-US" sz="1266" dirty="0"/>
          </a:p>
        </p:txBody>
      </p:sp>
      <p:sp>
        <p:nvSpPr>
          <p:cNvPr id="63" name="Text 59"/>
          <p:cNvSpPr/>
          <p:nvPr/>
        </p:nvSpPr>
        <p:spPr>
          <a:xfrm>
            <a:off x="4870401" y="3596432"/>
            <a:ext cx="90359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01/06/2026</a:t>
            </a:r>
            <a:endParaRPr lang="en-US" sz="1266" dirty="0"/>
          </a:p>
        </p:txBody>
      </p:sp>
      <p:sp>
        <p:nvSpPr>
          <p:cNvPr id="64" name="Text 60"/>
          <p:cNvSpPr/>
          <p:nvPr/>
        </p:nvSpPr>
        <p:spPr>
          <a:xfrm>
            <a:off x="4870400" y="3944690"/>
            <a:ext cx="92368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02/06/2026</a:t>
            </a:r>
            <a:endParaRPr lang="en-US" sz="1266" dirty="0"/>
          </a:p>
        </p:txBody>
      </p:sp>
      <p:sp>
        <p:nvSpPr>
          <p:cNvPr id="65" name="Text 61"/>
          <p:cNvSpPr/>
          <p:nvPr/>
        </p:nvSpPr>
        <p:spPr>
          <a:xfrm>
            <a:off x="4870401" y="4292947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03/06/2026</a:t>
            </a:r>
            <a:endParaRPr lang="en-US" sz="1266" dirty="0"/>
          </a:p>
        </p:txBody>
      </p:sp>
      <p:sp>
        <p:nvSpPr>
          <p:cNvPr id="66" name="Text 62"/>
          <p:cNvSpPr/>
          <p:nvPr/>
        </p:nvSpPr>
        <p:spPr>
          <a:xfrm>
            <a:off x="4870401" y="4641205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03/06/2026</a:t>
            </a:r>
            <a:endParaRPr lang="en-US" sz="1266" dirty="0"/>
          </a:p>
        </p:txBody>
      </p:sp>
      <p:sp>
        <p:nvSpPr>
          <p:cNvPr id="67" name="Text 63"/>
          <p:cNvSpPr/>
          <p:nvPr/>
        </p:nvSpPr>
        <p:spPr>
          <a:xfrm>
            <a:off x="4870401" y="4989463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04/06/2026</a:t>
            </a:r>
            <a:endParaRPr lang="en-US" sz="1266" dirty="0"/>
          </a:p>
        </p:txBody>
      </p:sp>
      <p:sp>
        <p:nvSpPr>
          <p:cNvPr id="68" name="Text 64"/>
          <p:cNvSpPr/>
          <p:nvPr/>
        </p:nvSpPr>
        <p:spPr>
          <a:xfrm>
            <a:off x="4870400" y="5337721"/>
            <a:ext cx="92368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05/06/2026</a:t>
            </a:r>
            <a:endParaRPr lang="en-US" sz="1266" dirty="0"/>
          </a:p>
        </p:txBody>
      </p:sp>
      <p:sp>
        <p:nvSpPr>
          <p:cNvPr id="69" name="Text 65"/>
          <p:cNvSpPr/>
          <p:nvPr/>
        </p:nvSpPr>
        <p:spPr>
          <a:xfrm>
            <a:off x="4870401" y="5685979"/>
            <a:ext cx="93038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06/06/2026</a:t>
            </a:r>
            <a:endParaRPr lang="en-US" sz="1266" dirty="0"/>
          </a:p>
        </p:txBody>
      </p:sp>
      <p:sp>
        <p:nvSpPr>
          <p:cNvPr id="70" name="Text 66"/>
          <p:cNvSpPr/>
          <p:nvPr/>
        </p:nvSpPr>
        <p:spPr>
          <a:xfrm>
            <a:off x="3604617" y="3248174"/>
            <a:ext cx="49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PX001</a:t>
            </a:r>
            <a:endParaRPr lang="en-US" sz="1266" dirty="0"/>
          </a:p>
        </p:txBody>
      </p:sp>
      <p:sp>
        <p:nvSpPr>
          <p:cNvPr id="71" name="Text 67"/>
          <p:cNvSpPr/>
          <p:nvPr/>
        </p:nvSpPr>
        <p:spPr>
          <a:xfrm>
            <a:off x="3611314" y="3596432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PX002</a:t>
            </a:r>
            <a:endParaRPr lang="en-US" sz="1266" dirty="0"/>
          </a:p>
        </p:txBody>
      </p:sp>
      <p:sp>
        <p:nvSpPr>
          <p:cNvPr id="72" name="Text 68"/>
          <p:cNvSpPr/>
          <p:nvPr/>
        </p:nvSpPr>
        <p:spPr>
          <a:xfrm>
            <a:off x="3604617" y="3944690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PX003</a:t>
            </a:r>
            <a:endParaRPr lang="en-US" sz="1266" dirty="0"/>
          </a:p>
        </p:txBody>
      </p:sp>
      <p:sp>
        <p:nvSpPr>
          <p:cNvPr id="73" name="Text 69"/>
          <p:cNvSpPr/>
          <p:nvPr/>
        </p:nvSpPr>
        <p:spPr>
          <a:xfrm>
            <a:off x="3604618" y="4292947"/>
            <a:ext cx="5285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PX004</a:t>
            </a:r>
            <a:endParaRPr lang="en-US" sz="1266" dirty="0"/>
          </a:p>
        </p:txBody>
      </p:sp>
      <p:sp>
        <p:nvSpPr>
          <p:cNvPr id="74" name="Text 70"/>
          <p:cNvSpPr/>
          <p:nvPr/>
        </p:nvSpPr>
        <p:spPr>
          <a:xfrm>
            <a:off x="3604617" y="4641205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PX005</a:t>
            </a:r>
            <a:endParaRPr lang="en-US" sz="1266" dirty="0"/>
          </a:p>
        </p:txBody>
      </p:sp>
      <p:sp>
        <p:nvSpPr>
          <p:cNvPr id="75" name="Text 71"/>
          <p:cNvSpPr/>
          <p:nvPr/>
        </p:nvSpPr>
        <p:spPr>
          <a:xfrm>
            <a:off x="3604617" y="4989463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PX006</a:t>
            </a:r>
            <a:endParaRPr lang="en-US" sz="1266" dirty="0"/>
          </a:p>
        </p:txBody>
      </p:sp>
      <p:sp>
        <p:nvSpPr>
          <p:cNvPr id="76" name="Text 72"/>
          <p:cNvSpPr/>
          <p:nvPr/>
        </p:nvSpPr>
        <p:spPr>
          <a:xfrm>
            <a:off x="3604617" y="5337721"/>
            <a:ext cx="5084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PX007</a:t>
            </a:r>
            <a:endParaRPr lang="en-US" sz="1266" dirty="0"/>
          </a:p>
        </p:txBody>
      </p:sp>
      <p:sp>
        <p:nvSpPr>
          <p:cNvPr id="77" name="Text 73"/>
          <p:cNvSpPr/>
          <p:nvPr/>
        </p:nvSpPr>
        <p:spPr>
          <a:xfrm>
            <a:off x="3604617" y="5685979"/>
            <a:ext cx="5218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PX008</a:t>
            </a:r>
            <a:endParaRPr lang="en-US" sz="1266" dirty="0"/>
          </a:p>
        </p:txBody>
      </p:sp>
      <p:sp>
        <p:nvSpPr>
          <p:cNvPr id="78" name="Text 74"/>
          <p:cNvSpPr/>
          <p:nvPr/>
        </p:nvSpPr>
        <p:spPr>
          <a:xfrm>
            <a:off x="3470672" y="2913311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</a:t>
            </a:r>
            <a:endParaRPr lang="en-US" sz="1266" dirty="0"/>
          </a:p>
        </p:txBody>
      </p:sp>
      <p:sp>
        <p:nvSpPr>
          <p:cNvPr id="79" name="Text 75"/>
          <p:cNvSpPr/>
          <p:nvPr/>
        </p:nvSpPr>
        <p:spPr>
          <a:xfrm>
            <a:off x="5138291" y="2913311"/>
            <a:ext cx="37451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266" dirty="0"/>
          </a:p>
        </p:txBody>
      </p:sp>
      <p:sp>
        <p:nvSpPr>
          <p:cNvPr id="80" name="Text 76"/>
          <p:cNvSpPr/>
          <p:nvPr/>
        </p:nvSpPr>
        <p:spPr>
          <a:xfrm>
            <a:off x="8091785" y="2913311"/>
            <a:ext cx="89020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266" dirty="0"/>
          </a:p>
        </p:txBody>
      </p:sp>
      <p:sp>
        <p:nvSpPr>
          <p:cNvPr id="81" name="Text 77"/>
          <p:cNvSpPr/>
          <p:nvPr/>
        </p:nvSpPr>
        <p:spPr>
          <a:xfrm>
            <a:off x="9893350" y="2913311"/>
            <a:ext cx="52854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266" dirty="0"/>
          </a:p>
        </p:txBody>
      </p:sp>
      <p:sp>
        <p:nvSpPr>
          <p:cNvPr id="82" name="Text 78"/>
          <p:cNvSpPr/>
          <p:nvPr/>
        </p:nvSpPr>
        <p:spPr>
          <a:xfrm>
            <a:off x="6424166" y="2913311"/>
            <a:ext cx="75625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</a:t>
            </a:r>
            <a:endParaRPr lang="en-US" sz="1266" dirty="0"/>
          </a:p>
        </p:txBody>
      </p:sp>
      <p:sp>
        <p:nvSpPr>
          <p:cNvPr id="83" name="Text 79"/>
          <p:cNvSpPr/>
          <p:nvPr/>
        </p:nvSpPr>
        <p:spPr>
          <a:xfrm>
            <a:off x="6203156" y="2558356"/>
            <a:ext cx="167378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Records Table</a:t>
            </a:r>
            <a:endParaRPr lang="en-US" sz="1266" dirty="0"/>
          </a:p>
        </p:txBody>
      </p:sp>
    </p:spTree>
    <p:extLst>
      <p:ext uri="{BB962C8B-B14F-4D97-AF65-F5344CB8AC3E}">
        <p14:creationId xmlns:p14="http://schemas.microsoft.com/office/powerpoint/2010/main" val="350802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63762" y="2621482"/>
            <a:ext cx="51578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dirty="0"/>
          </a:p>
        </p:txBody>
      </p:sp>
      <p:sp>
        <p:nvSpPr>
          <p:cNvPr id="4" name="Rectangle 3"/>
          <p:cNvSpPr/>
          <p:nvPr/>
        </p:nvSpPr>
        <p:spPr>
          <a:xfrm>
            <a:off x="3003755" y="405119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https://drive.google.com/drive/folders/15MdHUPmac4TKWttEiaGW3ekv5IQkMNyH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675</Words>
  <Application>Microsoft Office PowerPoint</Application>
  <PresentationFormat>Widescreen</PresentationFormat>
  <Paragraphs>304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Inter</vt:lpstr>
      <vt:lpstr>Times New Roman</vt:lpstr>
      <vt:lpstr>Wingdings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99</cp:revision>
  <dcterms:created xsi:type="dcterms:W3CDTF">2026-01-27T12:18:14Z</dcterms:created>
  <dcterms:modified xsi:type="dcterms:W3CDTF">2026-06-14T20:50:10Z</dcterms:modified>
</cp:coreProperties>
</file>