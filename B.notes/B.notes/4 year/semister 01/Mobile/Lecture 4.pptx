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2"/>
  </p:notesMasterIdLst>
  <p:sldIdLst>
    <p:sldId id="322" r:id="rId2"/>
    <p:sldId id="644" r:id="rId3"/>
    <p:sldId id="645" r:id="rId4"/>
    <p:sldId id="646" r:id="rId5"/>
    <p:sldId id="647" r:id="rId6"/>
    <p:sldId id="64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56" r:id="rId15"/>
    <p:sldId id="657" r:id="rId16"/>
    <p:sldId id="658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85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659" r:id="rId60"/>
    <p:sldId id="643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94645-17E7-40E9-B9E6-062DDBF59851}" type="datetimeFigureOut">
              <a:rPr lang="en-US" smtClean="0"/>
              <a:t>1/9/2025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66CA2-0865-44D3-A524-8ED4565FE83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9B98-E3A3-4BB4-ABAA-648D5D1A49EB}" type="datetime1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6757-0502-41CF-8630-6BB54E59B2D9}" type="datetime1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66E9-7020-4732-B3F6-9455F275DA34}" type="datetime1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1E8C4-6EBC-481A-BB91-A8E4151BBB26}" type="datetime1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D577A-2AD2-476D-913A-7EBC6D3380AF}" type="datetime1">
              <a:rPr lang="en-US" smtClean="0"/>
              <a:t>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9DE5-5D4A-46F7-9810-9FCD86DBA651}" type="datetime1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AC573-FEE4-4B1A-A0CB-75B73025D45F}" type="datetime1">
              <a:rPr lang="en-US" smtClean="0"/>
              <a:t>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8FA8-AFCD-425E-9153-A0F132BA2726}" type="datetime1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C0E7-9C71-4CD2-BB47-D718033EB7DC}" type="datetime1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EEAF-367A-4616-920D-7363A7E798E5}" type="datetime1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4932B-3E2E-4A49-AF25-5299426F1DF5}" type="datetime1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86330-70E7-4AD8-AA4B-68BA019612F8}" type="datetime1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5000" y="2819400"/>
            <a:ext cx="548576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b="0" u="none" dirty="0">
                <a:latin typeface="Times New Roman"/>
                <a:cs typeface="Times New Roman"/>
              </a:rPr>
              <a:t>The</a:t>
            </a:r>
            <a:r>
              <a:rPr sz="5000" b="0" u="none" spc="-125" dirty="0">
                <a:latin typeface="Times New Roman"/>
                <a:cs typeface="Times New Roman"/>
              </a:rPr>
              <a:t> </a:t>
            </a:r>
            <a:r>
              <a:rPr sz="5000" b="0" u="none" dirty="0">
                <a:latin typeface="Times New Roman"/>
                <a:cs typeface="Times New Roman"/>
              </a:rPr>
              <a:t>Cellular</a:t>
            </a:r>
            <a:r>
              <a:rPr sz="5000" b="0" u="none" spc="-110" dirty="0">
                <a:latin typeface="Times New Roman"/>
                <a:cs typeface="Times New Roman"/>
              </a:rPr>
              <a:t> </a:t>
            </a:r>
            <a:r>
              <a:rPr sz="5000" b="0" u="none" spc="-10" dirty="0">
                <a:latin typeface="Times New Roman"/>
                <a:cs typeface="Times New Roman"/>
              </a:rPr>
              <a:t>Concept</a:t>
            </a:r>
            <a:endParaRPr sz="5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smtClean="0"/>
              <a:t>Cellular Systems-Basic Concepts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Cellular system solves the problem of spectral congestion.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Offers high capacity in limited spectrum.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High capacity is achieved by limiting the coverage area of each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BS to a small geographical area called cell.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Replaces high powered transmitter with several low power transmitters.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Each BS is allocated a portion of total channels and nearby cells are allocated completely different channels.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All available channels are allocated to small no of </a:t>
            </a:r>
            <a:r>
              <a:rPr lang="en-GB" sz="4200" dirty="0" err="1" smtClean="0">
                <a:latin typeface="Times New Roman" pitchFamily="18" charset="0"/>
                <a:cs typeface="Times New Roman" pitchFamily="18" charset="0"/>
              </a:rPr>
              <a:t>neighboring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BS.</a:t>
            </a:r>
          </a:p>
          <a:p>
            <a:pPr algn="just">
              <a:lnSpc>
                <a:spcPct val="170000"/>
              </a:lnSpc>
            </a:pP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Interference between </a:t>
            </a:r>
            <a:r>
              <a:rPr lang="en-GB" sz="4200" dirty="0" err="1" smtClean="0">
                <a:latin typeface="Times New Roman" pitchFamily="18" charset="0"/>
                <a:cs typeface="Times New Roman" pitchFamily="18" charset="0"/>
              </a:rPr>
              <a:t>neighboring</a:t>
            </a: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200" dirty="0" err="1" smtClean="0">
                <a:latin typeface="Times New Roman" pitchFamily="18" charset="0"/>
                <a:cs typeface="Times New Roman" pitchFamily="18" charset="0"/>
              </a:rPr>
              <a:t>BSs</a:t>
            </a:r>
            <a:r>
              <a:rPr lang="en-GB" sz="4200" dirty="0" smtClean="0">
                <a:latin typeface="Times New Roman" pitchFamily="18" charset="0"/>
                <a:cs typeface="Times New Roman" pitchFamily="18" charset="0"/>
              </a:rPr>
              <a:t> is minimized by allocating different channels.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Cellular Systems-Basic Concepts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Same frequencies are reused by spatially separated </a:t>
            </a:r>
            <a:r>
              <a:rPr lang="en-GB" dirty="0" err="1" smtClean="0"/>
              <a:t>BSs</a:t>
            </a:r>
            <a:r>
              <a:rPr lang="en-GB" dirty="0" smtClean="0"/>
              <a:t>.</a:t>
            </a:r>
          </a:p>
          <a:p>
            <a:r>
              <a:rPr lang="en-GB" dirty="0" smtClean="0"/>
              <a:t>Interference between co-channels stations is kept below acceptable level.</a:t>
            </a:r>
          </a:p>
          <a:p>
            <a:r>
              <a:rPr lang="en-GB" dirty="0" smtClean="0"/>
              <a:t>Additional radio capacity is achieved.</a:t>
            </a:r>
          </a:p>
          <a:p>
            <a:r>
              <a:rPr lang="en-GB" dirty="0" smtClean="0"/>
              <a:t>Frequency Reuse-Fix no of channels serve an arbitrarily large no of subscribers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smtClean="0"/>
              <a:t>Frequency Reuse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used by service providers to improve the efficiency of a cellular network and to serve millions of subscribers using a limited radio spectrum</a:t>
            </a:r>
          </a:p>
          <a:p>
            <a:r>
              <a:rPr lang="en-GB" dirty="0" smtClean="0"/>
              <a:t>After covering a certain distance a radio wave gets attenuated and the signal falls below a point where it can no longer be used or cause any interference</a:t>
            </a:r>
          </a:p>
          <a:p>
            <a:r>
              <a:rPr lang="en-GB" dirty="0" smtClean="0"/>
              <a:t>A transmitter transmitting in a specific frequency range will have only a limited coverage area</a:t>
            </a:r>
          </a:p>
          <a:p>
            <a:r>
              <a:rPr lang="en-GB" dirty="0" smtClean="0"/>
              <a:t>Beyond this coverage area, that frequency can be reused by another transmitter.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Frequency Reuse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 smtClean="0"/>
              <a:t>A cell </a:t>
            </a:r>
            <a:r>
              <a:rPr lang="en-GB" dirty="0" smtClean="0"/>
              <a:t>= basic geographical unit of a cellular network; </a:t>
            </a:r>
          </a:p>
          <a:p>
            <a:r>
              <a:rPr lang="en-GB" dirty="0" smtClean="0"/>
              <a:t>is the area around an antenna where a specific frequency range is used.</a:t>
            </a:r>
          </a:p>
          <a:p>
            <a:r>
              <a:rPr lang="en-GB" dirty="0" smtClean="0"/>
              <a:t>when a subscriber moves to another cell, the antenna of the new cell takes over the signal transmission</a:t>
            </a:r>
          </a:p>
          <a:p>
            <a:r>
              <a:rPr lang="en-GB" b="1" dirty="0" smtClean="0"/>
              <a:t>a cluster </a:t>
            </a:r>
            <a:r>
              <a:rPr lang="en-GB" dirty="0" smtClean="0"/>
              <a:t>is a group of adjacent cells, usually 7 cells; no</a:t>
            </a:r>
          </a:p>
          <a:p>
            <a:r>
              <a:rPr lang="en-GB" dirty="0" smtClean="0"/>
              <a:t>frequency reuse is done within a cluster</a:t>
            </a:r>
          </a:p>
          <a:p>
            <a:r>
              <a:rPr lang="en-GB" dirty="0" smtClean="0"/>
              <a:t>the frequency spectrum is divided into sub-bands and each sub- band is used within one cell of the cluster.</a:t>
            </a:r>
          </a:p>
          <a:p>
            <a:r>
              <a:rPr lang="en-GB" dirty="0" smtClean="0"/>
              <a:t>in heavy traffic zones cells are smaller, while in isolated zones cells are larger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Frequency Reuse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The design process of selecting and allocating channel groups for all of the cellular base stations within a system is </a:t>
            </a:r>
            <a:r>
              <a:rPr lang="en-GB" b="1" dirty="0" smtClean="0"/>
              <a:t>called frequency reuse or frequency planning.</a:t>
            </a:r>
          </a:p>
          <a:p>
            <a:r>
              <a:rPr lang="en-GB" dirty="0" smtClean="0"/>
              <a:t>Cell </a:t>
            </a:r>
            <a:r>
              <a:rPr lang="en-GB" dirty="0" err="1" smtClean="0"/>
              <a:t>labeled</a:t>
            </a:r>
            <a:r>
              <a:rPr lang="en-GB" dirty="0" smtClean="0"/>
              <a:t> with same letter use the same set of frequencies.</a:t>
            </a:r>
          </a:p>
          <a:p>
            <a:r>
              <a:rPr lang="en-GB" b="1" dirty="0" smtClean="0"/>
              <a:t>Cell Shapes</a:t>
            </a:r>
            <a:r>
              <a:rPr lang="en-GB" dirty="0" smtClean="0"/>
              <a:t>: Circle, Square, Triangle and Hexagon.</a:t>
            </a:r>
          </a:p>
          <a:p>
            <a:r>
              <a:rPr lang="en-GB" dirty="0" smtClean="0"/>
              <a:t>Hexagonal cell shape is conceptual , in reality it is irregular in shape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935183"/>
            <a:ext cx="8382000" cy="4856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 smtClean="0"/>
              <a:t>In hexagonal cell model, BS transmitter can be in centre of cell or on its 3 vertices.</a:t>
            </a:r>
          </a:p>
          <a:p>
            <a:pPr algn="just"/>
            <a:r>
              <a:rPr lang="en-GB" dirty="0" err="1" smtClean="0"/>
              <a:t>Centered</a:t>
            </a:r>
            <a:r>
              <a:rPr lang="en-GB" dirty="0" smtClean="0"/>
              <a:t> excited cells use </a:t>
            </a:r>
            <a:r>
              <a:rPr lang="en-GB" dirty="0" err="1" smtClean="0"/>
              <a:t>omni</a:t>
            </a:r>
            <a:r>
              <a:rPr lang="en-GB" dirty="0" smtClean="0"/>
              <a:t> directional whereas edge excited cells use directional antennas.</a:t>
            </a:r>
          </a:p>
          <a:p>
            <a:pPr algn="just"/>
            <a:r>
              <a:rPr lang="en-GB" dirty="0" smtClean="0"/>
              <a:t>A cellular system having ‘S’ duplex channels, each cell is allocated ‘k’ channels(k&lt;S).</a:t>
            </a:r>
          </a:p>
          <a:p>
            <a:pPr algn="just"/>
            <a:r>
              <a:rPr lang="en-GB" dirty="0" smtClean="0"/>
              <a:t>If S channels are allocated to N cells into unique and disjoint channels, the total no of available channel is S=</a:t>
            </a:r>
            <a:r>
              <a:rPr lang="en-GB" dirty="0" err="1" smtClean="0"/>
              <a:t>kN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N cells collectively using all the channels is called a cluster, is a</a:t>
            </a:r>
          </a:p>
          <a:p>
            <a:r>
              <a:rPr lang="en-GB" dirty="0" smtClean="0"/>
              <a:t>group of adjacent cells.</a:t>
            </a:r>
          </a:p>
          <a:p>
            <a:r>
              <a:rPr lang="en-GB" dirty="0" smtClean="0"/>
              <a:t>If cluster if repeated M times, the capacity C of system is given as</a:t>
            </a:r>
            <a:r>
              <a:rPr lang="en-GB" dirty="0"/>
              <a:t> </a:t>
            </a:r>
            <a:r>
              <a:rPr lang="en-GB" dirty="0" smtClean="0"/>
              <a:t>C=</a:t>
            </a:r>
            <a:r>
              <a:rPr lang="en-GB" dirty="0" err="1" smtClean="0"/>
              <a:t>MkN</a:t>
            </a:r>
            <a:r>
              <a:rPr lang="en-GB" dirty="0" smtClean="0"/>
              <a:t>=MS</a:t>
            </a:r>
          </a:p>
          <a:p>
            <a:r>
              <a:rPr lang="en-GB" dirty="0" smtClean="0"/>
              <a:t>Capacity of system is directly proportional to the no of times cluster is repeated.</a:t>
            </a:r>
          </a:p>
          <a:p>
            <a:r>
              <a:rPr lang="en-GB" dirty="0" smtClean="0"/>
              <a:t>Reducing the cluster size N while keeping the cell size constant, more clusters are required to cover the given area and hence more capacity.</a:t>
            </a:r>
          </a:p>
          <a:p>
            <a:r>
              <a:rPr lang="en-GB" dirty="0" smtClean="0"/>
              <a:t>Co-channel interference is dependent on cluster size, large cluster size less interference and vice versa.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The Frequency Reuse factor is given as 1/N, each cell is assigned 1/N of total channels.</a:t>
            </a:r>
          </a:p>
          <a:p>
            <a:r>
              <a:rPr lang="en-GB" dirty="0" smtClean="0"/>
              <a:t>Lines joining a cell and each of its </a:t>
            </a:r>
            <a:r>
              <a:rPr lang="en-GB" dirty="0" err="1" smtClean="0"/>
              <a:t>neighbor</a:t>
            </a:r>
            <a:r>
              <a:rPr lang="en-GB" dirty="0" smtClean="0"/>
              <a:t> are separated by multiple of 60</a:t>
            </a:r>
            <a:r>
              <a:rPr lang="en-GB" dirty="0" smtClean="0">
                <a:latin typeface="Calibri"/>
                <a:cs typeface="Calibri"/>
              </a:rPr>
              <a:t>°</a:t>
            </a:r>
            <a:r>
              <a:rPr lang="en-GB" dirty="0" smtClean="0"/>
              <a:t>,certain cluster sizes and cell layout possible</a:t>
            </a:r>
          </a:p>
          <a:p>
            <a:r>
              <a:rPr lang="en-GB" dirty="0" err="1" smtClean="0"/>
              <a:t>Geometery</a:t>
            </a:r>
            <a:r>
              <a:rPr lang="en-GB" dirty="0" smtClean="0"/>
              <a:t> of hexagon is such that no of cells per cluster </a:t>
            </a:r>
            <a:r>
              <a:rPr lang="en-GB" dirty="0" err="1" smtClean="0"/>
              <a:t>i.e</a:t>
            </a:r>
            <a:r>
              <a:rPr lang="en-GB" dirty="0" smtClean="0"/>
              <a:t> N, can only have values which satisfy the equation N=i2+ij+j2</a:t>
            </a:r>
          </a:p>
          <a:p>
            <a:r>
              <a:rPr lang="en-GB" dirty="0" smtClean="0"/>
              <a:t>N, the cluster size is typically 4, 7 or 12.</a:t>
            </a:r>
          </a:p>
          <a:p>
            <a:r>
              <a:rPr lang="en-GB" dirty="0" smtClean="0"/>
              <a:t>In GSM normally N =7 is used. i and j are integers, for i=3 and j=2 N=19.</a:t>
            </a:r>
          </a:p>
          <a:p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Locating co-channel Cell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600200"/>
            <a:ext cx="65532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Channel Assignment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A scheme for increasing capacity and minimizing interference is required.</a:t>
            </a:r>
          </a:p>
          <a:p>
            <a:r>
              <a:rPr lang="en-GB" dirty="0" smtClean="0"/>
              <a:t>CAS can be classified as either fixed or dynamic Choice of CAS impacts the performance of system.</a:t>
            </a:r>
          </a:p>
          <a:p>
            <a:r>
              <a:rPr lang="en-GB" dirty="0" smtClean="0"/>
              <a:t>In Fixed CA each cell is assigned a predetermined set of voice channels</a:t>
            </a:r>
          </a:p>
          <a:p>
            <a:r>
              <a:rPr lang="en-GB" dirty="0" smtClean="0"/>
              <a:t>Any call attempt within the cell can only be served by the unused channel in that particular cell</a:t>
            </a:r>
          </a:p>
          <a:p>
            <a:r>
              <a:rPr lang="en-GB" dirty="0" smtClean="0"/>
              <a:t>If all the channels in the cell are occupied, the call is blocked. </a:t>
            </a:r>
          </a:p>
          <a:p>
            <a:r>
              <a:rPr lang="en-GB" dirty="0" smtClean="0"/>
              <a:t>The user does not get service.</a:t>
            </a:r>
          </a:p>
          <a:p>
            <a:r>
              <a:rPr lang="en-GB" dirty="0" smtClean="0"/>
              <a:t>In variation of </a:t>
            </a:r>
            <a:r>
              <a:rPr lang="en-GB" dirty="0" err="1" smtClean="0"/>
              <a:t>FCA</a:t>
            </a:r>
            <a:r>
              <a:rPr lang="en-GB" dirty="0" smtClean="0"/>
              <a:t>, a cell can borrow channels from its </a:t>
            </a:r>
            <a:r>
              <a:rPr lang="en-GB" dirty="0" err="1" smtClean="0"/>
              <a:t>neighboring</a:t>
            </a:r>
            <a:r>
              <a:rPr lang="en-GB" dirty="0"/>
              <a:t> </a:t>
            </a:r>
            <a:r>
              <a:rPr lang="en-GB" dirty="0" smtClean="0"/>
              <a:t>cell if its own channels are full.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Dynamic Channel Assignment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Voice channels are not allocated to different cells permanently.</a:t>
            </a:r>
          </a:p>
          <a:p>
            <a:r>
              <a:rPr lang="en-GB" dirty="0" smtClean="0"/>
              <a:t>Each time a call request is made, the BS request a channel from the MSC.</a:t>
            </a:r>
          </a:p>
          <a:p>
            <a:r>
              <a:rPr lang="en-GB" dirty="0" smtClean="0"/>
              <a:t>MSC allocates a channel to the requesting cell using an algorithm that takes into account likelihood of future blocking</a:t>
            </a:r>
          </a:p>
          <a:p>
            <a:r>
              <a:rPr lang="en-GB" dirty="0" smtClean="0"/>
              <a:t>The reuse distance of the channel ( should not cause interference)</a:t>
            </a:r>
          </a:p>
          <a:p>
            <a:r>
              <a:rPr lang="en-GB" dirty="0" smtClean="0"/>
              <a:t>Other parameters like cost</a:t>
            </a:r>
          </a:p>
          <a:p>
            <a:r>
              <a:rPr lang="en-GB" dirty="0" smtClean="0"/>
              <a:t>To ensure min QoS, MSC only allocates a given frequency if that frequency is not currently in use in the cell or any other cell which falls within the limiting reuse distance.</a:t>
            </a:r>
          </a:p>
          <a:p>
            <a:r>
              <a:rPr lang="en-GB" dirty="0" err="1" smtClean="0"/>
              <a:t>DCA</a:t>
            </a:r>
            <a:r>
              <a:rPr lang="en-GB" dirty="0" smtClean="0"/>
              <a:t> reduce the likelihood of blocking and increases capacity</a:t>
            </a:r>
          </a:p>
          <a:p>
            <a:r>
              <a:rPr lang="en-GB" dirty="0" smtClean="0"/>
              <a:t>Requires the MSC to collect </a:t>
            </a:r>
            <a:r>
              <a:rPr lang="en-GB" dirty="0" err="1" smtClean="0"/>
              <a:t>realtime</a:t>
            </a:r>
            <a:r>
              <a:rPr lang="en-GB" dirty="0" smtClean="0"/>
              <a:t> data on channel occupancy and traffic distribution on </a:t>
            </a:r>
            <a:r>
              <a:rPr lang="en-GB" dirty="0" err="1" smtClean="0"/>
              <a:t>continous</a:t>
            </a:r>
            <a:r>
              <a:rPr lang="en-GB" dirty="0" smtClean="0"/>
              <a:t> basis.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Hand-off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Mobile moves into a different cell during a conversation, MSC transfers the call to new channel belonging to new BS</a:t>
            </a:r>
          </a:p>
          <a:p>
            <a:r>
              <a:rPr lang="en-GB" dirty="0" smtClean="0"/>
              <a:t>Handoff operation involves identifying the new BS and allocation of voice and control signal to channels associated with new BS</a:t>
            </a:r>
          </a:p>
          <a:p>
            <a:r>
              <a:rPr lang="en-GB" dirty="0" smtClean="0"/>
              <a:t>Must be performed successfully, infrequently and </a:t>
            </a:r>
            <a:r>
              <a:rPr lang="en-GB" dirty="0" err="1" smtClean="0"/>
              <a:t>impercitable</a:t>
            </a:r>
            <a:r>
              <a:rPr lang="en-GB" dirty="0" smtClean="0"/>
              <a:t> to user</a:t>
            </a:r>
          </a:p>
          <a:p>
            <a:r>
              <a:rPr lang="en-GB" dirty="0" smtClean="0"/>
              <a:t>To meet these requirements an optimum signal level must be defined	to initiate a handoff.</a:t>
            </a:r>
          </a:p>
          <a:p>
            <a:r>
              <a:rPr lang="en-GB" dirty="0" smtClean="0"/>
              <a:t>Min </a:t>
            </a:r>
            <a:r>
              <a:rPr lang="en-GB" dirty="0" err="1" smtClean="0"/>
              <a:t>usuable</a:t>
            </a:r>
            <a:r>
              <a:rPr lang="en-GB" dirty="0" smtClean="0"/>
              <a:t> signal for acceptable voice </a:t>
            </a:r>
            <a:r>
              <a:rPr lang="en-GB" dirty="0" err="1" smtClean="0"/>
              <a:t>qualtiy</a:t>
            </a:r>
            <a:r>
              <a:rPr lang="en-GB" dirty="0" smtClean="0"/>
              <a:t> -90 to -100 dBm</a:t>
            </a:r>
          </a:p>
          <a:p>
            <a:r>
              <a:rPr lang="en-GB" dirty="0" smtClean="0"/>
              <a:t>A slight higher value is used as threshold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By looking at the variations of signal strength from either BS it is possible to decide on the optimum area where handoff can take place</a:t>
            </a:r>
            <a:endParaRPr lang="en-GB" dirty="0"/>
          </a:p>
        </p:txBody>
      </p:sp>
      <p:pic>
        <p:nvPicPr>
          <p:cNvPr id="4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3429000"/>
            <a:ext cx="7620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762000"/>
            <a:ext cx="8229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438400" y="381000"/>
            <a:ext cx="431736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400" y="1371600"/>
            <a:ext cx="8130540" cy="49693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 received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r>
              <a:rPr sz="2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falls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22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certain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threshold</a:t>
            </a:r>
            <a:endParaRPr sz="220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handoff: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avoid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termination,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margin</a:t>
            </a:r>
            <a:r>
              <a:rPr sz="2200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should</a:t>
            </a:r>
            <a:endParaRPr sz="22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</a:pP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exist</a:t>
            </a:r>
            <a:r>
              <a:rPr sz="22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should not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2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small</a:t>
            </a:r>
            <a:endParaRPr sz="2200">
              <a:latin typeface="Arial"/>
              <a:cs typeface="Arial"/>
            </a:endParaRPr>
          </a:p>
          <a:p>
            <a:pPr marL="2666365">
              <a:lnSpc>
                <a:spcPct val="100000"/>
              </a:lnSpc>
              <a:spcBef>
                <a:spcPts val="1345"/>
              </a:spcBef>
            </a:pPr>
            <a:r>
              <a:rPr sz="3300" baseline="13888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=Power_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145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3300" spc="-44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Power_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14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usable</a:t>
            </a:r>
            <a:endParaRPr sz="1450">
              <a:latin typeface="Times New Roman"/>
              <a:cs typeface="Times New Roman"/>
            </a:endParaRPr>
          </a:p>
          <a:p>
            <a:pPr marL="50165" marR="43180" algn="ctr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unecesarry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unsufficient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 carefully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chosen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meet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requirements.</a:t>
            </a:r>
            <a:endParaRPr sz="22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Fig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falls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min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acceptable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smtClean="0">
                <a:solidFill>
                  <a:srgbClr val="FFFFFF"/>
                </a:solidFill>
                <a:latin typeface="Arial"/>
                <a:cs typeface="Arial"/>
              </a:rPr>
              <a:t>active.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happen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excessive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delay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MSC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endParaRPr sz="2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handoff,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threshold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small.</a:t>
            </a:r>
            <a:endParaRPr sz="2200">
              <a:latin typeface="Times New Roman"/>
              <a:cs typeface="Times New Roman"/>
            </a:endParaRPr>
          </a:p>
          <a:p>
            <a:pPr marL="16510" algn="ctr">
              <a:lnSpc>
                <a:spcPct val="100000"/>
              </a:lnSpc>
              <a:spcBef>
                <a:spcPts val="78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Excessive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delay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conditions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computional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loading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avialablilty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05200" y="304800"/>
            <a:ext cx="207391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Hand-off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600" y="1371600"/>
            <a:ext cx="8031480" cy="315855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deciding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handoff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, it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drop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in</a:t>
            </a:r>
            <a:endParaRPr sz="220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momentary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fading.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 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certain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period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initiating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time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moving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04800" y="37750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1525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3988" y="1440341"/>
            <a:ext cx="7768590" cy="4579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63195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1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st</a:t>
            </a:r>
            <a:r>
              <a:rPr sz="2175" spc="262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generation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systems,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strength</a:t>
            </a:r>
            <a:endParaRPr sz="2200">
              <a:latin typeface="Times New Roman"/>
              <a:cs typeface="Times New Roman"/>
            </a:endParaRPr>
          </a:p>
          <a:p>
            <a:pPr marR="16129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measurements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made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BS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supervised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MSC.</a:t>
            </a:r>
            <a:endParaRPr sz="2200">
              <a:latin typeface="Times New Roman"/>
              <a:cs typeface="Times New Roman"/>
            </a:endParaRPr>
          </a:p>
          <a:p>
            <a:pPr marR="17272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spare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(locator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Rx) monitors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RVC's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R="16764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772795" marR="17780" algn="ctr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Tells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Center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3200">
              <a:latin typeface="Times New Roman"/>
              <a:cs typeface="Times New Roman"/>
            </a:endParaRPr>
          </a:p>
          <a:p>
            <a:pPr marL="1014094" marR="269875" algn="ctr">
              <a:lnSpc>
                <a:spcPct val="100000"/>
              </a:lnSpc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Locator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significantly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endParaRPr sz="3200">
              <a:latin typeface="Times New Roman"/>
              <a:cs typeface="Times New Roman"/>
            </a:endParaRPr>
          </a:p>
          <a:p>
            <a:pPr marL="447040">
              <a:lnSpc>
                <a:spcPct val="100000"/>
              </a:lnSpc>
              <a:spcBef>
                <a:spcPts val="83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3245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45370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1525">
              <a:lnSpc>
                <a:spcPct val="100000"/>
              </a:lnSpc>
              <a:spcBef>
                <a:spcPts val="95"/>
              </a:spcBef>
            </a:pPr>
            <a:r>
              <a:rPr sz="4400" b="0" u="none"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32829" y="4298351"/>
            <a:ext cx="3327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400" spc="-1205" dirty="0">
                <a:latin typeface="Times New Roman"/>
                <a:cs typeface="Times New Roman"/>
              </a:rPr>
              <a:t>8</a:t>
            </a:r>
            <a:r>
              <a:rPr sz="3600" spc="-6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spc="-1205" dirty="0">
                <a:latin typeface="Times New Roman"/>
                <a:cs typeface="Times New Roman"/>
              </a:rPr>
              <a:t>6</a:t>
            </a:r>
            <a:r>
              <a:rPr sz="3600" spc="-3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017" y="1161141"/>
            <a:ext cx="7972425" cy="402045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1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r>
              <a:rPr sz="2175" spc="277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generation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Assisted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(MAHO)are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2200">
              <a:latin typeface="Times New Roman"/>
              <a:cs typeface="Times New Roman"/>
            </a:endParaRPr>
          </a:p>
          <a:p>
            <a:pPr marL="626745" marR="61976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 MAHO,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measures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received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surrounding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BS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continually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BS.</a:t>
            </a:r>
            <a:endParaRPr sz="220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initiated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strength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 neighboring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exceeds</a:t>
            </a:r>
            <a:endParaRPr sz="22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longer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L="1797685" marR="1332865" indent="4445" algn="ctr">
              <a:lnSpc>
                <a:spcPct val="1331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computational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considerably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much more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rapid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imperceptible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5638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45370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161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Soft</a:t>
            </a:r>
            <a:r>
              <a:rPr sz="4400" b="0" u="none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3663" y="1203129"/>
            <a:ext cx="7913370" cy="33688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CDMA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spread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capability</a:t>
            </a:r>
            <a:endParaRPr sz="2200">
              <a:latin typeface="Times New Roman"/>
              <a:cs typeface="Times New Roman"/>
            </a:endParaRPr>
          </a:p>
          <a:p>
            <a:pPr marL="12700" marR="5080" indent="-190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Unlike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channelized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assigns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(called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hard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),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spread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MS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implies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 different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handles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endParaRPr sz="22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task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  <a:tabLst>
                <a:tab pos="5346700" algn="l"/>
              </a:tabLst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select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instantaneous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received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soft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469842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315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Inter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r>
              <a:rPr sz="38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0168" y="1333602"/>
            <a:ext cx="7766050" cy="30097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moves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controlled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MSC,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necessary</a:t>
            </a:r>
            <a:endParaRPr sz="22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engages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intersystem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becomes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weak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find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another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to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on-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going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issues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resolved</a:t>
            </a:r>
            <a:endParaRPr sz="2200">
              <a:latin typeface="Times New Roman"/>
              <a:cs typeface="Times New Roman"/>
            </a:endParaRPr>
          </a:p>
          <a:p>
            <a:pPr marL="452120" algn="ct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become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long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1800">
              <a:latin typeface="Times New Roman"/>
              <a:cs typeface="Times New Roman"/>
            </a:endParaRPr>
          </a:p>
          <a:p>
            <a:pPr marL="450215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Compatibility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 the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MSCs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019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07360" y="393642"/>
            <a:ext cx="413131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Prioritizing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1133097"/>
            <a:ext cx="8379459" cy="695703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2200">
              <a:latin typeface="Times New Roman"/>
              <a:cs typeface="Times New Roman"/>
            </a:endParaRPr>
          </a:p>
          <a:p>
            <a:pPr marL="67500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Issue: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Perceived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(GOS) –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3830" y="1901491"/>
            <a:ext cx="6975475" cy="449930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235585" algn="ctr">
              <a:lnSpc>
                <a:spcPct val="100000"/>
              </a:lnSpc>
              <a:spcBef>
                <a:spcPts val="36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viewed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220979"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quality”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terms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dropped</a:t>
            </a:r>
            <a:r>
              <a:rPr sz="2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blocked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quality)</a:t>
            </a:r>
            <a:endParaRPr sz="2000">
              <a:latin typeface="Times New Roman"/>
              <a:cs typeface="Times New Roman"/>
            </a:endParaRPr>
          </a:p>
          <a:p>
            <a:pPr marL="217170" algn="ctr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 higher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priority</a:t>
            </a:r>
            <a:r>
              <a:rPr sz="2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endParaRPr sz="2000">
              <a:latin typeface="Times New Roman"/>
              <a:cs typeface="Times New Roman"/>
            </a:endParaRPr>
          </a:p>
          <a:p>
            <a:pPr marL="210185" algn="ctr">
              <a:lnSpc>
                <a:spcPct val="100000"/>
              </a:lnSpc>
              <a:spcBef>
                <a:spcPts val="55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aggravating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occasional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2000">
              <a:latin typeface="Times New Roman"/>
              <a:cs typeface="Times New Roman"/>
            </a:endParaRPr>
          </a:p>
          <a:p>
            <a:pPr marR="689610" algn="ctr">
              <a:lnSpc>
                <a:spcPct val="100000"/>
              </a:lnSpc>
              <a:spcBef>
                <a:spcPts val="8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R="232410" algn="ctr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exclusively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aside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000">
              <a:latin typeface="Times New Roman"/>
              <a:cs typeface="Times New Roman"/>
            </a:endParaRPr>
          </a:p>
          <a:p>
            <a:pPr marR="233045" algn="ctr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  <a:p>
            <a:pPr marR="233679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  <a:p>
            <a:pPr marR="234950"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strategy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dynamic</a:t>
            </a:r>
            <a:r>
              <a:rPr sz="2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allocation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(not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fixed)</a:t>
            </a:r>
            <a:endParaRPr sz="2000">
              <a:latin typeface="Times New Roman"/>
              <a:cs typeface="Times New Roman"/>
            </a:endParaRPr>
          </a:p>
          <a:p>
            <a:pPr marL="207010"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adjust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endParaRPr sz="2000">
              <a:latin typeface="Times New Roman"/>
              <a:cs typeface="Times New Roman"/>
            </a:endParaRPr>
          </a:p>
          <a:p>
            <a:pPr marL="21336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 are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wasted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507360" y="469842"/>
            <a:ext cx="413131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Prioritizing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6994" y="1453712"/>
            <a:ext cx="7224395" cy="2737288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448945" algn="ctr">
              <a:lnSpc>
                <a:spcPct val="100000"/>
              </a:lnSpc>
              <a:spcBef>
                <a:spcPts val="1005"/>
              </a:spcBef>
            </a:pP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Queuing</a:t>
            </a:r>
            <a:r>
              <a:rPr sz="22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handoff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minimum useable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queue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"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keep</a:t>
            </a:r>
            <a:r>
              <a:rPr sz="20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trying"</a:t>
            </a:r>
            <a:r>
              <a:rPr sz="20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period,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block/no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decision</a:t>
            </a:r>
            <a:endParaRPr sz="2000">
              <a:latin typeface="Times New Roman"/>
              <a:cs typeface="Times New Roman"/>
            </a:endParaRPr>
          </a:p>
          <a:p>
            <a:pPr marL="265430" marR="257175" algn="ctr">
              <a:lnSpc>
                <a:spcPts val="3220"/>
              </a:lnSpc>
              <a:spcBef>
                <a:spcPts val="7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prioritize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requests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(based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mobile speed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still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expires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76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46789" y="192111"/>
            <a:ext cx="704786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Arial"/>
                <a:cs typeface="Arial"/>
              </a:rPr>
              <a:t>Practical</a:t>
            </a:r>
            <a:r>
              <a:rPr sz="3800" b="0" u="none" spc="-150" dirty="0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Arial"/>
                <a:cs typeface="Arial"/>
              </a:rPr>
              <a:t>Handoff</a:t>
            </a:r>
            <a:r>
              <a:rPr sz="3800" b="0" u="none" spc="-160" dirty="0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Arial"/>
                <a:cs typeface="Arial"/>
              </a:rPr>
              <a:t>Considerations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916885"/>
            <a:ext cx="8379459" cy="53091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9050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15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Problems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a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range</a:t>
            </a:r>
            <a:r>
              <a:rPr sz="22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mobile</a:t>
            </a:r>
            <a:r>
              <a:rPr sz="2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velocities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52621" y="1433282"/>
            <a:ext cx="269621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pedestrian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vehicle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088" y="1674096"/>
            <a:ext cx="7647940" cy="4650504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R="120650" algn="ctr">
              <a:lnSpc>
                <a:spcPct val="100000"/>
              </a:lnSpc>
              <a:spcBef>
                <a:spcPts val="92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and/or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micro-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larger</a:t>
            </a:r>
            <a:r>
              <a:rPr sz="22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#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handoffs</a:t>
            </a:r>
            <a:endParaRPr sz="2200">
              <a:latin typeface="Times New Roman"/>
              <a:cs typeface="Times New Roman"/>
            </a:endParaRPr>
          </a:p>
          <a:p>
            <a:pPr marL="12065" marR="134620"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heavy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 high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passed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very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R="123189" algn="ctr">
              <a:lnSpc>
                <a:spcPct val="100000"/>
              </a:lnSpc>
              <a:spcBef>
                <a:spcPts val="79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Umbrella</a:t>
            </a:r>
            <a:r>
              <a:rPr sz="2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329565" algn="ctr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0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antenna</a:t>
            </a:r>
            <a:r>
              <a:rPr sz="2000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heights</a:t>
            </a:r>
            <a:r>
              <a:rPr sz="20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Tx</a:t>
            </a:r>
            <a:r>
              <a:rPr sz="20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0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levels</a:t>
            </a:r>
            <a:r>
              <a:rPr sz="20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3020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endParaRPr sz="2000">
              <a:latin typeface="Times New Roman"/>
              <a:cs typeface="Times New Roman"/>
            </a:endParaRPr>
          </a:p>
          <a:p>
            <a:pPr marL="328930"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co-located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location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endParaRPr sz="2000">
              <a:latin typeface="Times New Roman"/>
              <a:cs typeface="Times New Roman"/>
            </a:endParaRPr>
          </a:p>
          <a:p>
            <a:pPr marL="32385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(saves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obtaining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tower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licenses)</a:t>
            </a:r>
            <a:endParaRPr sz="2000">
              <a:latin typeface="Times New Roman"/>
              <a:cs typeface="Times New Roman"/>
            </a:endParaRPr>
          </a:p>
          <a:p>
            <a:pPr marL="1490980" marR="1155065" algn="ctr">
              <a:lnSpc>
                <a:spcPct val="133100"/>
              </a:lnSpc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endParaRPr sz="2000">
              <a:latin typeface="Times New Roman"/>
              <a:cs typeface="Times New Roman"/>
            </a:endParaRPr>
          </a:p>
          <a:p>
            <a:pPr marL="319405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areas: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interstate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highway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passing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urban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center,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office</a:t>
            </a:r>
            <a:endParaRPr sz="2000">
              <a:latin typeface="Times New Roman"/>
              <a:cs typeface="Times New Roman"/>
            </a:endParaRPr>
          </a:p>
          <a:p>
            <a:pPr marL="32766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park,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shopping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mall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415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Umbrella</a:t>
            </a:r>
            <a:r>
              <a:rPr sz="3800" b="0" u="none" spc="-1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174172"/>
            <a:ext cx="8229600" cy="2924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393642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654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Typical</a:t>
            </a:r>
            <a:r>
              <a:rPr sz="3800" b="0" u="none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r>
              <a:rPr sz="3800" b="0" u="none" spc="-9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parameters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7358" y="1059912"/>
            <a:ext cx="7123430" cy="453713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R="448945" algn="ctr">
              <a:lnSpc>
                <a:spcPct val="100000"/>
              </a:lnSpc>
              <a:spcBef>
                <a:spcPts val="4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(1st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generation)</a:t>
            </a:r>
            <a:endParaRPr sz="22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threshold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MS PGothic"/>
                <a:cs typeface="MS PGothic"/>
              </a:rPr>
              <a:t>△</a:t>
            </a:r>
            <a:r>
              <a:rPr sz="3200" spc="-235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3200">
              <a:latin typeface="Times New Roman"/>
              <a:cs typeface="Times New Roman"/>
            </a:endParaRPr>
          </a:p>
          <a:p>
            <a:pPr marR="445134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(2nd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generation)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200">
              <a:latin typeface="Times New Roman"/>
              <a:cs typeface="Times New Roman"/>
            </a:endParaRPr>
          </a:p>
          <a:p>
            <a:pPr marL="43180" marR="36195" algn="ctr">
              <a:lnSpc>
                <a:spcPts val="3429"/>
              </a:lnSpc>
              <a:spcBef>
                <a:spcPts val="9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threshold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r>
              <a:rPr sz="3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MS PGothic"/>
                <a:cs typeface="MS PGothic"/>
              </a:rPr>
              <a:t>△</a:t>
            </a:r>
            <a:r>
              <a:rPr sz="3200" spc="-229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enabled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assisted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123057" y="377509"/>
            <a:ext cx="28968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r>
              <a:rPr sz="4400" b="0" u="none" spc="-8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Ratio: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5888" y="1730484"/>
            <a:ext cx="7671434" cy="177471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  <a:tabLst>
                <a:tab pos="6415405" algn="l"/>
              </a:tabLst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D=R(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√3N)</a:t>
            </a:r>
            <a:endParaRPr sz="22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radius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200">
              <a:latin typeface="Arial"/>
              <a:cs typeface="Arial"/>
            </a:endParaRPr>
          </a:p>
          <a:p>
            <a:pPr marL="1438910" marR="1433195" indent="548640">
              <a:lnSpc>
                <a:spcPct val="130100"/>
              </a:lnSpc>
              <a:spcBef>
                <a:spcPts val="2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increases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we increase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factor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Q=D/R=(√3N)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11453" y="377509"/>
            <a:ext cx="272224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1920" y="1720170"/>
            <a:ext cx="7155180" cy="239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6385" marR="1837689" indent="-979169">
              <a:lnSpc>
                <a:spcPct val="1207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section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2344420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calculate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0355">
              <a:lnSpc>
                <a:spcPct val="100000"/>
              </a:lnSpc>
              <a:spcBef>
                <a:spcPts val="95"/>
              </a:spcBef>
            </a:pP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5517" y="794386"/>
            <a:ext cx="7585709" cy="43631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limiting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factor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radio.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calls.</a:t>
            </a:r>
            <a:endParaRPr sz="3200">
              <a:latin typeface="Times New Roman"/>
              <a:cs typeface="Times New Roman"/>
            </a:endParaRPr>
          </a:p>
          <a:p>
            <a:pPr marL="1722755" marR="1251585" indent="-461009">
              <a:lnSpc>
                <a:spcPct val="120700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Sources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cell</a:t>
            </a:r>
            <a:endParaRPr sz="3200">
              <a:latin typeface="Times New Roman"/>
              <a:cs typeface="Times New Roman"/>
            </a:endParaRPr>
          </a:p>
          <a:p>
            <a:pPr marL="459740" algn="ctr">
              <a:lnSpc>
                <a:spcPct val="100000"/>
              </a:lnSpc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progress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  <a:p>
            <a:pPr marL="524510" marR="54610" algn="ctr"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BSs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operating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057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Effects</a:t>
            </a:r>
            <a:r>
              <a:rPr sz="38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800" b="0" u="none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7253" y="725233"/>
            <a:ext cx="6592570" cy="4752968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8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voice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endParaRPr sz="3200">
              <a:latin typeface="Times New Roman"/>
              <a:cs typeface="Times New Roman"/>
            </a:endParaRPr>
          </a:p>
          <a:p>
            <a:pPr marL="1707514" marR="1489075" indent="926465">
              <a:lnSpc>
                <a:spcPts val="4630"/>
              </a:lnSpc>
              <a:spcBef>
                <a:spcPts val="28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Crosstalk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  <a:endParaRPr sz="3200">
              <a:latin typeface="Times New Roman"/>
              <a:cs typeface="Times New Roman"/>
            </a:endParaRPr>
          </a:p>
          <a:p>
            <a:pPr marL="220345" marR="5080" indent="-207645">
              <a:lnSpc>
                <a:spcPts val="4640"/>
              </a:lnSpc>
              <a:spcBef>
                <a:spcPts val="2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signaling,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endParaRPr sz="3200">
              <a:latin typeface="Times New Roman"/>
              <a:cs typeface="Times New Roman"/>
            </a:endParaRPr>
          </a:p>
          <a:p>
            <a:pPr marL="2622550">
              <a:lnSpc>
                <a:spcPct val="100000"/>
              </a:lnSpc>
              <a:spcBef>
                <a:spcPts val="5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Missed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endParaRPr sz="3200">
              <a:latin typeface="Times New Roman"/>
              <a:cs typeface="Times New Roman"/>
            </a:endParaRPr>
          </a:p>
          <a:p>
            <a:pPr marL="2497455" marR="1819910" indent="33020">
              <a:lnSpc>
                <a:spcPct val="120700"/>
              </a:lnSpc>
              <a:spcBef>
                <a:spcPts val="2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394709" y="190033"/>
            <a:ext cx="235458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976747"/>
            <a:ext cx="8379459" cy="775853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endParaRPr sz="2200">
              <a:latin typeface="Times New Roman"/>
              <a:cs typeface="Times New Roman"/>
            </a:endParaRPr>
          </a:p>
          <a:p>
            <a:pPr marL="1943735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021" y="1847078"/>
            <a:ext cx="7903209" cy="2115322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63550" algn="ctr">
              <a:lnSpc>
                <a:spcPct val="100000"/>
              </a:lnSpc>
              <a:spcBef>
                <a:spcPts val="894"/>
              </a:spcBef>
            </a:pP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(CCI)</a:t>
            </a:r>
            <a:endParaRPr sz="2200">
              <a:latin typeface="Times New Roman"/>
              <a:cs typeface="Times New Roman"/>
            </a:endParaRPr>
          </a:p>
          <a:p>
            <a:pPr marL="462280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Adjacent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(ACI)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CCI is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 frequency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set.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endParaRPr sz="22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ACI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019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970658" y="192111"/>
            <a:ext cx="520192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spc="-25" dirty="0">
                <a:latin typeface="Arial"/>
                <a:cs typeface="Arial"/>
              </a:rPr>
              <a:t>Co-</a:t>
            </a:r>
            <a:r>
              <a:rPr sz="3800" b="0" u="none" dirty="0">
                <a:latin typeface="Arial"/>
                <a:cs typeface="Arial"/>
              </a:rPr>
              <a:t>channel</a:t>
            </a:r>
            <a:r>
              <a:rPr sz="3800" b="0" u="none" spc="-114" dirty="0">
                <a:latin typeface="Arial"/>
                <a:cs typeface="Arial"/>
              </a:rPr>
              <a:t> </a:t>
            </a:r>
            <a:r>
              <a:rPr sz="3800" b="0" u="none" spc="-10" dirty="0">
                <a:latin typeface="Arial"/>
                <a:cs typeface="Arial"/>
              </a:rPr>
              <a:t>Interference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1144741"/>
            <a:ext cx="8379459" cy="60785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6700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2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improve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reception?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3088" y="2165516"/>
            <a:ext cx="7371080" cy="33970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co-channel cells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endParaRPr sz="2000">
              <a:latin typeface="Times New Roman"/>
              <a:cs typeface="Times New Roman"/>
            </a:endParaRPr>
          </a:p>
          <a:p>
            <a:pPr marL="367728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endParaRPr sz="2000">
              <a:latin typeface="Times New Roman"/>
              <a:cs typeface="Times New Roman"/>
            </a:endParaRPr>
          </a:p>
          <a:p>
            <a:pPr marL="2817495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improvement</a:t>
            </a:r>
            <a:endParaRPr sz="2000">
              <a:latin typeface="Times New Roman"/>
              <a:cs typeface="Times New Roman"/>
            </a:endParaRPr>
          </a:p>
          <a:p>
            <a:pPr marL="847725" marR="152400" indent="-835660">
              <a:lnSpc>
                <a:spcPct val="100000"/>
              </a:lnSpc>
              <a:spcBef>
                <a:spcPts val="8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minimum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provide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sufficient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isolation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propagation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signals?</a:t>
            </a:r>
            <a:endParaRPr sz="2200">
              <a:latin typeface="Times New Roman"/>
              <a:cs typeface="Times New Roman"/>
            </a:endParaRPr>
          </a:p>
          <a:p>
            <a:pPr marL="796290" marR="59055" indent="66675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sizes,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powers,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patterns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16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4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independent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970658" y="192111"/>
            <a:ext cx="520192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spc="-25" dirty="0">
                <a:latin typeface="Arial"/>
                <a:cs typeface="Arial"/>
              </a:rPr>
              <a:t>Co-</a:t>
            </a:r>
            <a:r>
              <a:rPr sz="3800" b="0" u="none" dirty="0">
                <a:latin typeface="Arial"/>
                <a:cs typeface="Arial"/>
              </a:rPr>
              <a:t>channel</a:t>
            </a:r>
            <a:r>
              <a:rPr sz="3800" b="0" u="none" spc="-114" dirty="0">
                <a:latin typeface="Arial"/>
                <a:cs typeface="Arial"/>
              </a:rPr>
              <a:t> </a:t>
            </a:r>
            <a:r>
              <a:rPr sz="3800" b="0" u="none" spc="-10" dirty="0">
                <a:latin typeface="Arial"/>
                <a:cs typeface="Arial"/>
              </a:rPr>
              <a:t>Interference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839941"/>
            <a:ext cx="8379459" cy="60785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6700" rIns="0" bIns="0" rtlCol="0">
            <a:spAutoFit/>
          </a:bodyPr>
          <a:lstStyle/>
          <a:p>
            <a:pPr marL="1788160">
              <a:lnSpc>
                <a:spcPct val="100000"/>
              </a:lnSpc>
              <a:spcBef>
                <a:spcPts val="2100"/>
              </a:spcBef>
            </a:pP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5646" y="1363517"/>
            <a:ext cx="6630034" cy="770083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85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8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radius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co-channel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8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D=R(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√3N)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4564" y="2124835"/>
            <a:ext cx="7332980" cy="41235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R="317500" algn="ctr">
              <a:lnSpc>
                <a:spcPct val="100000"/>
              </a:lnSpc>
              <a:spcBef>
                <a:spcPts val="10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D/R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↑ then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spatial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separation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relative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coverage area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↑</a:t>
            </a:r>
            <a:endParaRPr sz="2200">
              <a:latin typeface="Times New Roman"/>
              <a:cs typeface="Times New Roman"/>
            </a:endParaRPr>
          </a:p>
          <a:p>
            <a:pPr marL="142240" algn="ct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improved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isolation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co-channel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RF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Times New Roman"/>
              <a:cs typeface="Times New Roman"/>
            </a:endParaRPr>
          </a:p>
          <a:p>
            <a:pPr marR="312420" algn="ctr">
              <a:lnSpc>
                <a:spcPct val="100000"/>
              </a:lnSpc>
            </a:pP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2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2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2200">
              <a:latin typeface="Times New Roman"/>
              <a:cs typeface="Times New Roman"/>
            </a:endParaRPr>
          </a:p>
          <a:p>
            <a:pPr marL="38100" algn="ctr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hexagonal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D/R</a:t>
            </a:r>
            <a:r>
              <a:rPr sz="20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√3N</a:t>
            </a:r>
            <a:endParaRPr sz="2000">
              <a:latin typeface="Arial"/>
              <a:cs typeface="Arial"/>
            </a:endParaRPr>
          </a:p>
          <a:p>
            <a:pPr marR="309880" algn="ctr">
              <a:lnSpc>
                <a:spcPct val="100000"/>
              </a:lnSpc>
              <a:spcBef>
                <a:spcPts val="7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capacity,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CCI</a:t>
            </a:r>
            <a:endParaRPr sz="2200">
              <a:latin typeface="Times New Roman"/>
              <a:cs typeface="Times New Roman"/>
            </a:endParaRPr>
          </a:p>
          <a:p>
            <a:pPr marR="318135"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tradeoff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interference.</a:t>
            </a:r>
            <a:endParaRPr sz="2200">
              <a:latin typeface="Times New Roman"/>
              <a:cs typeface="Times New Roman"/>
            </a:endParaRPr>
          </a:p>
          <a:p>
            <a:pPr marL="139065" algn="ctr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0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endParaRPr sz="2000">
              <a:latin typeface="Arial"/>
              <a:cs typeface="Arial"/>
            </a:endParaRPr>
          </a:p>
          <a:p>
            <a:pPr marL="14478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endParaRPr sz="2000">
              <a:latin typeface="Arial"/>
              <a:cs typeface="Arial"/>
            </a:endParaRPr>
          </a:p>
          <a:p>
            <a:pPr marL="144145" algn="ctr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separation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spc="-1604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000" spc="-10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spc="-232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-97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spc="-7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600" spc="-405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CCI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5395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latin typeface="Times New Roman"/>
                <a:cs typeface="Times New Roman"/>
              </a:rPr>
              <a:t>Signal</a:t>
            </a:r>
            <a:r>
              <a:rPr sz="3800" b="0" u="none" spc="-55" dirty="0">
                <a:latin typeface="Times New Roman"/>
                <a:cs typeface="Times New Roman"/>
              </a:rPr>
              <a:t> </a:t>
            </a:r>
            <a:r>
              <a:rPr sz="3800" b="0" u="none" dirty="0">
                <a:latin typeface="Times New Roman"/>
                <a:cs typeface="Times New Roman"/>
              </a:rPr>
              <a:t>to</a:t>
            </a:r>
            <a:r>
              <a:rPr sz="3800" b="0" u="none" spc="-50" dirty="0">
                <a:latin typeface="Times New Roman"/>
                <a:cs typeface="Times New Roman"/>
              </a:rPr>
              <a:t> </a:t>
            </a:r>
            <a:r>
              <a:rPr sz="3800" b="0" u="none" dirty="0">
                <a:latin typeface="Times New Roman"/>
                <a:cs typeface="Times New Roman"/>
              </a:rPr>
              <a:t>Interference</a:t>
            </a:r>
            <a:r>
              <a:rPr sz="3800" b="0" u="none" spc="-55" dirty="0">
                <a:latin typeface="Times New Roman"/>
                <a:cs typeface="Times New Roman"/>
              </a:rPr>
              <a:t> </a:t>
            </a:r>
            <a:r>
              <a:rPr sz="3800" b="0" u="none" dirty="0">
                <a:latin typeface="Times New Roman"/>
                <a:cs typeface="Times New Roman"/>
              </a:rPr>
              <a:t>ratio</a:t>
            </a:r>
            <a:r>
              <a:rPr sz="3800" b="0" u="none" spc="-55" dirty="0">
                <a:latin typeface="Times New Roman"/>
                <a:cs typeface="Times New Roman"/>
              </a:rPr>
              <a:t> </a:t>
            </a:r>
            <a:r>
              <a:rPr sz="3800" b="0" u="none" spc="-25" dirty="0">
                <a:latin typeface="Times New Roman"/>
                <a:cs typeface="Times New Roman"/>
              </a:rPr>
              <a:t>S/I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0728" y="1095139"/>
            <a:ext cx="5701665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Arial"/>
                <a:cs typeface="Arial"/>
              </a:rPr>
              <a:t>The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Signal-to-</a:t>
            </a:r>
            <a:r>
              <a:rPr sz="2200" dirty="0">
                <a:latin typeface="Arial"/>
                <a:cs typeface="Arial"/>
              </a:rPr>
              <a:t>Interference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(S/I)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 mobile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309" y="2505891"/>
            <a:ext cx="8087995" cy="313290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750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8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i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i="1" spc="17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 power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i="1" baseline="16203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r>
              <a:rPr sz="1800" i="1" spc="187" baseline="16203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80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received power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aseline="-20833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=Po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(d/d</a:t>
            </a:r>
            <a:r>
              <a:rPr sz="2400" spc="-30" baseline="-2083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30" baseline="2430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400" spc="-75" baseline="24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400" baseline="24305">
              <a:latin typeface="Arial"/>
              <a:cs typeface="Arial"/>
            </a:endParaRPr>
          </a:p>
          <a:p>
            <a:pPr marL="19050" algn="ctr">
              <a:lnSpc>
                <a:spcPct val="100000"/>
              </a:lnSpc>
              <a:spcBef>
                <a:spcPts val="81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RSS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decays</a:t>
            </a:r>
            <a:r>
              <a:rPr sz="20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separation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between</a:t>
            </a:r>
            <a:endParaRPr sz="200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transmitter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receiver</a:t>
            </a:r>
            <a:endParaRPr sz="2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25" spc="735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received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 at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reference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 d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25" spc="-60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path</a:t>
            </a:r>
            <a:endParaRPr sz="2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exponent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ranges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2-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000" spc="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spc="-30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aseline="24691" dirty="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sz="2025" spc="179" baseline="2469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interferer,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received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proportional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2628" y="6005282"/>
            <a:ext cx="6223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(D</a:t>
            </a:r>
            <a:r>
              <a:rPr sz="2025" spc="-15" baseline="-20576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025" spc="-15" baseline="2469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25" spc="-75" baseline="2469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025" baseline="24691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8658" y="1519844"/>
            <a:ext cx="4251960" cy="9185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8855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latin typeface="Arial"/>
                <a:cs typeface="Arial"/>
              </a:rPr>
              <a:t>Signal</a:t>
            </a:r>
            <a:r>
              <a:rPr sz="3800" b="0" u="none" spc="-60" dirty="0">
                <a:latin typeface="Arial"/>
                <a:cs typeface="Arial"/>
              </a:rPr>
              <a:t> </a:t>
            </a:r>
            <a:r>
              <a:rPr sz="3800" b="0" u="none" dirty="0">
                <a:latin typeface="Arial"/>
                <a:cs typeface="Arial"/>
              </a:rPr>
              <a:t>to</a:t>
            </a:r>
            <a:r>
              <a:rPr sz="3800" b="0" u="none" spc="-80" dirty="0">
                <a:latin typeface="Arial"/>
                <a:cs typeface="Arial"/>
              </a:rPr>
              <a:t> </a:t>
            </a:r>
            <a:r>
              <a:rPr sz="3800" b="0" u="none" dirty="0">
                <a:latin typeface="Arial"/>
                <a:cs typeface="Arial"/>
              </a:rPr>
              <a:t>Interference</a:t>
            </a:r>
            <a:r>
              <a:rPr sz="3800" b="0" u="none" spc="-110" dirty="0">
                <a:latin typeface="Arial"/>
                <a:cs typeface="Arial"/>
              </a:rPr>
              <a:t> </a:t>
            </a:r>
            <a:r>
              <a:rPr sz="3800" b="0" u="none" dirty="0">
                <a:latin typeface="Arial"/>
                <a:cs typeface="Arial"/>
              </a:rPr>
              <a:t>ratio</a:t>
            </a:r>
            <a:r>
              <a:rPr sz="3800" b="0" u="none" spc="-80" dirty="0">
                <a:latin typeface="Arial"/>
                <a:cs typeface="Arial"/>
              </a:rPr>
              <a:t> </a:t>
            </a:r>
            <a:r>
              <a:rPr sz="3800" b="0" u="none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6169" y="744042"/>
            <a:ext cx="339471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885" y="3358242"/>
            <a:ext cx="7778115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tier(layer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of)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equidistant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interferers.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size,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31180" y="2684570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>
                <a:moveTo>
                  <a:pt x="0" y="0"/>
                </a:moveTo>
                <a:lnTo>
                  <a:pt x="267353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20420" y="2684570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>
                <a:moveTo>
                  <a:pt x="0" y="0"/>
                </a:moveTo>
                <a:lnTo>
                  <a:pt x="1414115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56416" y="2684570"/>
            <a:ext cx="1229995" cy="0"/>
          </a:xfrm>
          <a:custGeom>
            <a:avLst/>
            <a:gdLst/>
            <a:ahLst/>
            <a:cxnLst/>
            <a:rect l="l" t="t" r="r" b="b"/>
            <a:pathLst>
              <a:path w="1229995">
                <a:moveTo>
                  <a:pt x="0" y="0"/>
                </a:moveTo>
                <a:lnTo>
                  <a:pt x="1229415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5471891" y="2478204"/>
            <a:ext cx="749935" cy="168419"/>
            <a:chOff x="5471886" y="3634695"/>
            <a:chExt cx="749935" cy="247015"/>
          </a:xfrm>
        </p:grpSpPr>
        <p:sp>
          <p:nvSpPr>
            <p:cNvPr id="23" name="object 23"/>
            <p:cNvSpPr/>
            <p:nvPr/>
          </p:nvSpPr>
          <p:spPr>
            <a:xfrm>
              <a:off x="5477216" y="3786489"/>
              <a:ext cx="49530" cy="18415"/>
            </a:xfrm>
            <a:custGeom>
              <a:avLst/>
              <a:gdLst/>
              <a:ahLst/>
              <a:cxnLst/>
              <a:rect l="l" t="t" r="r" b="b"/>
              <a:pathLst>
                <a:path w="49529" h="18414">
                  <a:moveTo>
                    <a:pt x="0" y="18187"/>
                  </a:moveTo>
                  <a:lnTo>
                    <a:pt x="49386" y="0"/>
                  </a:lnTo>
                </a:path>
              </a:pathLst>
            </a:custGeom>
            <a:ln w="96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26602" y="3790930"/>
              <a:ext cx="67310" cy="76835"/>
            </a:xfrm>
            <a:custGeom>
              <a:avLst/>
              <a:gdLst/>
              <a:ahLst/>
              <a:cxnLst/>
              <a:rect l="l" t="t" r="r" b="b"/>
              <a:pathLst>
                <a:path w="67310" h="76835">
                  <a:moveTo>
                    <a:pt x="0" y="0"/>
                  </a:moveTo>
                  <a:lnTo>
                    <a:pt x="67203" y="76770"/>
                  </a:lnTo>
                </a:path>
              </a:pathLst>
            </a:custGeom>
            <a:ln w="24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1308" y="3640031"/>
              <a:ext cx="615315" cy="227965"/>
            </a:xfrm>
            <a:custGeom>
              <a:avLst/>
              <a:gdLst/>
              <a:ahLst/>
              <a:cxnLst/>
              <a:rect l="l" t="t" r="r" b="b"/>
              <a:pathLst>
                <a:path w="615314" h="227964">
                  <a:moveTo>
                    <a:pt x="0" y="227669"/>
                  </a:moveTo>
                  <a:lnTo>
                    <a:pt x="94709" y="0"/>
                  </a:lnTo>
                  <a:lnTo>
                    <a:pt x="615145" y="0"/>
                  </a:lnTo>
                </a:path>
              </a:pathLst>
            </a:custGeom>
            <a:ln w="96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5307488" y="2684570"/>
            <a:ext cx="1236980" cy="0"/>
          </a:xfrm>
          <a:custGeom>
            <a:avLst/>
            <a:gdLst/>
            <a:ahLst/>
            <a:cxnLst/>
            <a:rect l="l" t="t" r="r" b="b"/>
            <a:pathLst>
              <a:path w="1236979">
                <a:moveTo>
                  <a:pt x="0" y="0"/>
                </a:moveTo>
                <a:lnTo>
                  <a:pt x="1236854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66317" y="2684570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0" y="0"/>
                </a:moveTo>
                <a:lnTo>
                  <a:pt x="471048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096776" y="2680131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22725" y="2680131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67835" y="2680131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78316" y="2680131"/>
            <a:ext cx="153670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365" dirty="0">
                <a:latin typeface="Times New Roman"/>
                <a:cs typeface="Times New Roman"/>
              </a:rPr>
              <a:t>I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48018" y="2464986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585" dirty="0"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15336" y="2397514"/>
            <a:ext cx="80962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035" baseline="-60317" dirty="0">
                <a:latin typeface="Symbol"/>
                <a:cs typeface="Symbol"/>
              </a:rPr>
              <a:t></a:t>
            </a:r>
            <a:r>
              <a:rPr sz="2625" spc="667" baseline="-60317" dirty="0">
                <a:latin typeface="Times New Roman"/>
                <a:cs typeface="Times New Roman"/>
              </a:rPr>
              <a:t> </a:t>
            </a:r>
            <a:r>
              <a:rPr sz="2625" i="1" spc="1050" baseline="-25396" dirty="0">
                <a:latin typeface="Times New Roman"/>
                <a:cs typeface="Times New Roman"/>
              </a:rPr>
              <a:t>Q</a:t>
            </a:r>
            <a:r>
              <a:rPr sz="1000" spc="700" dirty="0"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47867" y="2464987"/>
            <a:ext cx="158940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59460" algn="l"/>
              </a:tabLst>
            </a:pPr>
            <a:r>
              <a:rPr sz="2625" spc="1035" baseline="-34920" dirty="0">
                <a:latin typeface="Symbol"/>
                <a:cs typeface="Symbol"/>
              </a:rPr>
              <a:t></a:t>
            </a:r>
            <a:r>
              <a:rPr sz="2625" spc="757" baseline="-34920" dirty="0">
                <a:latin typeface="Times New Roman"/>
                <a:cs typeface="Times New Roman"/>
              </a:rPr>
              <a:t> </a:t>
            </a:r>
            <a:r>
              <a:rPr sz="1750" spc="365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770" dirty="0">
                <a:latin typeface="Times New Roman"/>
                <a:cs typeface="Times New Roman"/>
              </a:rPr>
              <a:t>3</a:t>
            </a:r>
            <a:r>
              <a:rPr sz="1750" i="1" spc="770" dirty="0">
                <a:latin typeface="Times New Roman"/>
                <a:cs typeface="Times New Roman"/>
              </a:rPr>
              <a:t>N</a:t>
            </a:r>
            <a:r>
              <a:rPr sz="1750" i="1" spc="125" dirty="0">
                <a:latin typeface="Times New Roman"/>
                <a:cs typeface="Times New Roman"/>
              </a:rPr>
              <a:t> </a:t>
            </a:r>
            <a:r>
              <a:rPr sz="1750" spc="409" dirty="0">
                <a:latin typeface="Times New Roman"/>
                <a:cs typeface="Times New Roman"/>
              </a:rPr>
              <a:t>)</a:t>
            </a:r>
            <a:r>
              <a:rPr sz="1500" i="1" spc="615" baseline="44444" dirty="0">
                <a:latin typeface="Times New Roman"/>
                <a:cs typeface="Times New Roman"/>
              </a:rPr>
              <a:t>n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09301" y="2464986"/>
            <a:ext cx="156019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spc="1035" baseline="-34920" dirty="0">
                <a:latin typeface="Symbol"/>
                <a:cs typeface="Symbol"/>
              </a:rPr>
              <a:t></a:t>
            </a:r>
            <a:r>
              <a:rPr sz="2625" spc="757" baseline="-34920" dirty="0">
                <a:latin typeface="Times New Roman"/>
                <a:cs typeface="Times New Roman"/>
              </a:rPr>
              <a:t> </a:t>
            </a:r>
            <a:r>
              <a:rPr sz="1750" spc="740" dirty="0">
                <a:latin typeface="Times New Roman"/>
                <a:cs typeface="Times New Roman"/>
              </a:rPr>
              <a:t>(</a:t>
            </a:r>
            <a:r>
              <a:rPr sz="1750" i="1" spc="740" dirty="0">
                <a:latin typeface="Times New Roman"/>
                <a:cs typeface="Times New Roman"/>
              </a:rPr>
              <a:t>D</a:t>
            </a:r>
            <a:r>
              <a:rPr sz="1750" i="1" spc="-10" dirty="0">
                <a:latin typeface="Times New Roman"/>
                <a:cs typeface="Times New Roman"/>
              </a:rPr>
              <a:t> </a:t>
            </a:r>
            <a:r>
              <a:rPr sz="1750" spc="350" dirty="0">
                <a:latin typeface="Times New Roman"/>
                <a:cs typeface="Times New Roman"/>
              </a:rPr>
              <a:t>/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i="1" spc="550" dirty="0">
                <a:latin typeface="Times New Roman"/>
                <a:cs typeface="Times New Roman"/>
              </a:rPr>
              <a:t>R</a:t>
            </a:r>
            <a:r>
              <a:rPr sz="1750" spc="550" dirty="0">
                <a:latin typeface="Times New Roman"/>
                <a:cs typeface="Times New Roman"/>
              </a:rPr>
              <a:t>)</a:t>
            </a:r>
            <a:r>
              <a:rPr sz="1500" i="1" spc="825" baseline="44444" dirty="0">
                <a:latin typeface="Times New Roman"/>
                <a:cs typeface="Times New Roman"/>
              </a:rPr>
              <a:t>n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94922" y="2560302"/>
            <a:ext cx="23685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6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12635" y="2672706"/>
            <a:ext cx="463550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000" i="1" spc="200" dirty="0">
                <a:latin typeface="Times New Roman"/>
                <a:cs typeface="Times New Roman"/>
              </a:rPr>
              <a:t>i</a:t>
            </a:r>
            <a:r>
              <a:rPr sz="1125" spc="300" baseline="-18518" dirty="0">
                <a:latin typeface="Times New Roman"/>
                <a:cs typeface="Times New Roman"/>
              </a:rPr>
              <a:t>0</a:t>
            </a:r>
            <a:r>
              <a:rPr sz="1125" spc="-82" baseline="-18518" dirty="0">
                <a:latin typeface="Times New Roman"/>
                <a:cs typeface="Times New Roman"/>
              </a:rPr>
              <a:t> </a:t>
            </a:r>
            <a:r>
              <a:rPr sz="1000" spc="375" dirty="0">
                <a:latin typeface="Symbol"/>
                <a:cs typeface="Symbol"/>
              </a:rPr>
              <a:t></a:t>
            </a:r>
            <a:r>
              <a:rPr sz="1000" spc="375" dirty="0"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5039" y="2668103"/>
            <a:ext cx="1162050" cy="64248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3975" spc="1170" baseline="-8385" dirty="0">
                <a:latin typeface="Symbol"/>
                <a:cs typeface="Symbol"/>
              </a:rPr>
              <a:t></a:t>
            </a:r>
            <a:r>
              <a:rPr sz="1750" spc="780" dirty="0">
                <a:latin typeface="Times New Roman"/>
                <a:cs typeface="Times New Roman"/>
              </a:rPr>
              <a:t>(</a:t>
            </a:r>
            <a:r>
              <a:rPr sz="1750" i="1" spc="780" dirty="0">
                <a:latin typeface="Times New Roman"/>
                <a:cs typeface="Times New Roman"/>
              </a:rPr>
              <a:t>D</a:t>
            </a:r>
            <a:r>
              <a:rPr sz="1500" i="1" spc="1170" baseline="-25000" dirty="0">
                <a:latin typeface="Times New Roman"/>
                <a:cs typeface="Times New Roman"/>
              </a:rPr>
              <a:t>i</a:t>
            </a:r>
            <a:r>
              <a:rPr sz="1500" i="1" spc="195" baseline="-25000" dirty="0">
                <a:latin typeface="Times New Roman"/>
                <a:cs typeface="Times New Roman"/>
              </a:rPr>
              <a:t> </a:t>
            </a:r>
            <a:r>
              <a:rPr sz="1750" spc="36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155"/>
              </a:spcBef>
            </a:pPr>
            <a:r>
              <a:rPr sz="1000" i="1" spc="275" dirty="0">
                <a:latin typeface="Times New Roman"/>
                <a:cs typeface="Times New Roman"/>
              </a:rPr>
              <a:t>i</a:t>
            </a:r>
            <a:r>
              <a:rPr sz="1000" spc="275" dirty="0">
                <a:latin typeface="Symbol"/>
                <a:cs typeface="Symbol"/>
              </a:rPr>
              <a:t></a:t>
            </a:r>
            <a:r>
              <a:rPr sz="1000" spc="275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27953" y="2768021"/>
            <a:ext cx="264795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385" dirty="0">
                <a:latin typeface="Symbol"/>
                <a:cs typeface="Symbol"/>
              </a:rPr>
              <a:t></a:t>
            </a:r>
            <a:r>
              <a:rPr sz="1000" i="1" spc="38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27701" y="2397514"/>
            <a:ext cx="582930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25" i="1" spc="1005" baseline="-25396" dirty="0">
                <a:latin typeface="Times New Roman"/>
                <a:cs typeface="Times New Roman"/>
              </a:rPr>
              <a:t>R</a:t>
            </a:r>
            <a:r>
              <a:rPr sz="1000" spc="670" dirty="0">
                <a:latin typeface="Symbol"/>
                <a:cs typeface="Symbol"/>
              </a:rPr>
              <a:t></a:t>
            </a:r>
            <a:r>
              <a:rPr sz="1000" spc="-110" dirty="0">
                <a:latin typeface="Times New Roman"/>
                <a:cs typeface="Times New Roman"/>
              </a:rPr>
              <a:t> </a:t>
            </a:r>
            <a:r>
              <a:rPr sz="1000" i="1" spc="32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066800"/>
            <a:ext cx="7534656" cy="13050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019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369822" y="216010"/>
            <a:ext cx="640334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latin typeface="Arial"/>
                <a:cs typeface="Arial"/>
              </a:rPr>
              <a:t>Signal</a:t>
            </a:r>
            <a:r>
              <a:rPr sz="3800" b="0" u="none" spc="-60" dirty="0">
                <a:latin typeface="Arial"/>
                <a:cs typeface="Arial"/>
              </a:rPr>
              <a:t> </a:t>
            </a:r>
            <a:r>
              <a:rPr sz="3800" b="0" u="none" dirty="0">
                <a:latin typeface="Arial"/>
                <a:cs typeface="Arial"/>
              </a:rPr>
              <a:t>to</a:t>
            </a:r>
            <a:r>
              <a:rPr sz="3800" b="0" u="none" spc="-80" dirty="0">
                <a:latin typeface="Arial"/>
                <a:cs typeface="Arial"/>
              </a:rPr>
              <a:t> </a:t>
            </a:r>
            <a:r>
              <a:rPr sz="3800" b="0" u="none" dirty="0">
                <a:latin typeface="Arial"/>
                <a:cs typeface="Arial"/>
              </a:rPr>
              <a:t>Interference</a:t>
            </a:r>
            <a:r>
              <a:rPr sz="3800" b="0" u="none" spc="-110" dirty="0">
                <a:latin typeface="Arial"/>
                <a:cs typeface="Arial"/>
              </a:rPr>
              <a:t> </a:t>
            </a:r>
            <a:r>
              <a:rPr sz="3800" b="0" u="none" dirty="0">
                <a:latin typeface="Arial"/>
                <a:cs typeface="Arial"/>
              </a:rPr>
              <a:t>ratio</a:t>
            </a:r>
            <a:r>
              <a:rPr sz="3800" b="0" u="none" spc="-80" dirty="0">
                <a:latin typeface="Arial"/>
                <a:cs typeface="Arial"/>
              </a:rPr>
              <a:t> </a:t>
            </a:r>
            <a:r>
              <a:rPr sz="3800" b="0" u="none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1978" y="624047"/>
            <a:ext cx="1937385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marL="671195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boundary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8890" y="1816231"/>
            <a:ext cx="2632075" cy="177138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45085" algn="ctr">
              <a:lnSpc>
                <a:spcPct val="130400"/>
              </a:lnSpc>
              <a:spcBef>
                <a:spcPts val="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aproximate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by, both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terms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D, along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4800" y="1953491"/>
            <a:ext cx="8305800" cy="3532909"/>
            <a:chOff x="838200" y="914400"/>
            <a:chExt cx="8305800" cy="51816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914400"/>
              <a:ext cx="5715000" cy="43190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5257800"/>
              <a:ext cx="4258056" cy="762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6800" y="5257800"/>
              <a:ext cx="3944111" cy="838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5532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60602" y="164055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latin typeface="Arial"/>
                <a:cs typeface="Arial"/>
              </a:rPr>
              <a:t>Example</a:t>
            </a:r>
            <a:r>
              <a:rPr sz="3800" b="0" u="none" spc="-160" dirty="0">
                <a:latin typeface="Arial"/>
                <a:cs typeface="Arial"/>
              </a:rPr>
              <a:t> </a:t>
            </a:r>
            <a:r>
              <a:rPr sz="3800" b="0" u="none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3627" y="5105400"/>
            <a:ext cx="655510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85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greater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" smtClean="0">
                <a:solidFill>
                  <a:srgbClr val="FFFFFF"/>
                </a:solidFill>
                <a:latin typeface="Times New Roman"/>
                <a:cs typeface="Times New Roman"/>
              </a:rPr>
              <a:t>wi</a:t>
            </a:r>
            <a:r>
              <a:rPr sz="3200" spc="-315" smtClean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600" spc="-1350" baseline="-15046" smtClean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5" smtClean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600" spc="-637" baseline="-15046" smtClean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spc="-1914" smtClean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3600" spc="-7" baseline="-15046" smtClean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3600" spc="127" baseline="-15046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ork.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519545"/>
            <a:ext cx="8379459" cy="634148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Times New Roman"/>
              <a:cs typeface="Times New Roman"/>
            </a:endParaRPr>
          </a:p>
          <a:p>
            <a:pPr marL="25774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Examples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2.3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6477" y="933921"/>
            <a:ext cx="7471409" cy="1047082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tolerate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dB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value 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omni-directional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antennas?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5368" y="2122303"/>
            <a:ext cx="5109845" cy="267829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=7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</a:t>
            </a:r>
            <a:endParaRPr sz="1800">
              <a:latin typeface="Times New Roman"/>
              <a:cs typeface="Times New Roman"/>
            </a:endParaRPr>
          </a:p>
          <a:p>
            <a:pPr marL="56515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(means)n=4</a:t>
            </a:r>
            <a:endParaRPr sz="1800">
              <a:latin typeface="Times New Roman"/>
              <a:cs typeface="Times New Roman"/>
            </a:endParaRPr>
          </a:p>
          <a:p>
            <a:pPr marL="486409" marR="477520" algn="ctr">
              <a:lnSpc>
                <a:spcPts val="2980"/>
              </a:lnSpc>
              <a:spcBef>
                <a:spcPts val="21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Q=D/R=4.582576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=6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sides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 ratio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3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=73.5</a:t>
            </a:r>
            <a:endParaRPr sz="18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S/I=10log(S/I)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=18.66287dB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60602" y="138078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latin typeface="Arial"/>
                <a:cs typeface="Arial"/>
              </a:rPr>
              <a:t>Example</a:t>
            </a:r>
            <a:r>
              <a:rPr sz="3800" b="0" u="none" spc="-160" dirty="0">
                <a:latin typeface="Arial"/>
                <a:cs typeface="Arial"/>
              </a:rPr>
              <a:t> </a:t>
            </a:r>
            <a:r>
              <a:rPr sz="3800" b="0" u="none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8500" y="569423"/>
            <a:ext cx="5328285" cy="611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4110" marR="1163955" algn="ctr">
              <a:lnSpc>
                <a:spcPct val="1379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(means)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endParaRPr sz="1800">
              <a:latin typeface="Times New Roman"/>
              <a:cs typeface="Times New Roman"/>
            </a:endParaRPr>
          </a:p>
          <a:p>
            <a:pPr marL="572770" marR="551180" algn="ctr">
              <a:lnSpc>
                <a:spcPts val="2950"/>
              </a:lnSpc>
              <a:spcBef>
                <a:spcPts val="229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Q=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sqrt(3N)=3.464102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Q=D/R=3.464102</a:t>
            </a:r>
            <a:endParaRPr sz="1800">
              <a:latin typeface="Times New Roman"/>
              <a:cs typeface="Times New Roman"/>
            </a:endParaRPr>
          </a:p>
          <a:p>
            <a:pPr marR="36830" algn="ctr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io=6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sides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R="29845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20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=24</a:t>
            </a:r>
            <a:endParaRPr sz="1800">
              <a:latin typeface="Times New Roman"/>
              <a:cs typeface="Times New Roman"/>
            </a:endParaRPr>
          </a:p>
          <a:p>
            <a:pPr marR="27940" algn="ctr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10log(S/I)=13.80211dB</a:t>
            </a:r>
            <a:endParaRPr sz="1800">
              <a:latin typeface="Times New Roman"/>
              <a:cs typeface="Times New Roman"/>
            </a:endParaRPr>
          </a:p>
          <a:p>
            <a:pPr marL="75565" algn="ctr">
              <a:lnSpc>
                <a:spcPct val="100000"/>
              </a:lnSpc>
              <a:spcBef>
                <a:spcPts val="819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 will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800">
              <a:latin typeface="Times New Roman"/>
              <a:cs typeface="Times New Roman"/>
            </a:endParaRPr>
          </a:p>
          <a:p>
            <a:pPr marL="1612900" marR="1589405" indent="316865">
              <a:lnSpc>
                <a:spcPct val="1373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N=7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n=3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</a:t>
            </a:r>
            <a:endParaRPr sz="18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io=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6,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L="640080" marR="143510" indent="-497205" algn="just">
              <a:lnSpc>
                <a:spcPct val="116199"/>
              </a:lnSpc>
              <a:spcBef>
                <a:spcPts val="46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ratio=S/I=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=16.03901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 dB,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S/I=10log(S/I)=12.05178dB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3600" spc="-37" baseline="-25462" dirty="0">
                <a:solidFill>
                  <a:srgbClr val="FFFFFF"/>
                </a:solidFill>
                <a:latin typeface="Times New Roman"/>
                <a:cs typeface="Times New Roman"/>
              </a:rPr>
              <a:t>105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32133" y="328407"/>
            <a:ext cx="687514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Adjacent</a:t>
            </a:r>
            <a:r>
              <a:rPr sz="4400" b="0" u="none" spc="-1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z="4400" b="0" u="none" spc="-1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6509" y="1596153"/>
            <a:ext cx="8036559" cy="44236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imperfect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receiver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filters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leak</a:t>
            </a:r>
            <a:endParaRPr sz="20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pass-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band.</a:t>
            </a:r>
            <a:endParaRPr sz="2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81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minimized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careful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filtering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assignments.</a:t>
            </a:r>
            <a:endParaRPr sz="20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separations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endParaRPr sz="2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maximized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sequentially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adjacent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bands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different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cells</a:t>
            </a:r>
            <a:endParaRPr sz="20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832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channels, divided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 groups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416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416,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395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channels.</a:t>
            </a:r>
            <a:endParaRPr sz="20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395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subsets,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almost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19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channels,</a:t>
            </a:r>
            <a:endParaRPr sz="200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closet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away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N=7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used,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subsets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endParaRPr sz="20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away.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76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282956" y="1296786"/>
            <a:ext cx="4124325" cy="2500313"/>
            <a:chOff x="2282951" y="1901951"/>
            <a:chExt cx="4124325" cy="3667125"/>
          </a:xfrm>
        </p:grpSpPr>
        <p:sp>
          <p:nvSpPr>
            <p:cNvPr id="17" name="object 17"/>
            <p:cNvSpPr/>
            <p:nvPr/>
          </p:nvSpPr>
          <p:spPr>
            <a:xfrm>
              <a:off x="22875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80" y="0"/>
                  </a:lnTo>
                  <a:lnTo>
                    <a:pt x="0" y="609600"/>
                  </a:lnTo>
                  <a:lnTo>
                    <a:pt x="335280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75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80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8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259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259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6723" y="19065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6723" y="19065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259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59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06723" y="43449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06723" y="43449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06723" y="31257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06723" y="31257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875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80" y="0"/>
                  </a:lnTo>
                  <a:lnTo>
                    <a:pt x="0" y="609600"/>
                  </a:lnTo>
                  <a:lnTo>
                    <a:pt x="335280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875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80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8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982723" y="676448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62953" y="640166"/>
            <a:ext cx="5130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freq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35123" y="520584"/>
            <a:ext cx="4038600" cy="207818"/>
          </a:xfrm>
          <a:custGeom>
            <a:avLst/>
            <a:gdLst/>
            <a:ahLst/>
            <a:cxnLst/>
            <a:rect l="l" t="t" r="r" b="b"/>
            <a:pathLst>
              <a:path w="4038600" h="304800">
                <a:moveTo>
                  <a:pt x="304800" y="0"/>
                </a:moveTo>
                <a:lnTo>
                  <a:pt x="304800" y="304800"/>
                </a:lnTo>
              </a:path>
              <a:path w="4038600" h="304800">
                <a:moveTo>
                  <a:pt x="609600" y="0"/>
                </a:moveTo>
                <a:lnTo>
                  <a:pt x="609600" y="304800"/>
                </a:lnTo>
              </a:path>
              <a:path w="4038600" h="304800">
                <a:moveTo>
                  <a:pt x="990600" y="0"/>
                </a:moveTo>
                <a:lnTo>
                  <a:pt x="990600" y="304800"/>
                </a:lnTo>
              </a:path>
              <a:path w="4038600" h="304800">
                <a:moveTo>
                  <a:pt x="1371600" y="0"/>
                </a:moveTo>
                <a:lnTo>
                  <a:pt x="1371600" y="304800"/>
                </a:lnTo>
              </a:path>
              <a:path w="4038600" h="304800">
                <a:moveTo>
                  <a:pt x="1752600" y="0"/>
                </a:moveTo>
                <a:lnTo>
                  <a:pt x="1752600" y="304800"/>
                </a:lnTo>
              </a:path>
              <a:path w="4038600" h="304800">
                <a:moveTo>
                  <a:pt x="2133600" y="0"/>
                </a:moveTo>
                <a:lnTo>
                  <a:pt x="2133600" y="304800"/>
                </a:lnTo>
              </a:path>
              <a:path w="4038600" h="304800">
                <a:moveTo>
                  <a:pt x="2438400" y="0"/>
                </a:moveTo>
                <a:lnTo>
                  <a:pt x="2438400" y="304800"/>
                </a:lnTo>
              </a:path>
              <a:path w="4038600" h="304800">
                <a:moveTo>
                  <a:pt x="2819400" y="0"/>
                </a:moveTo>
                <a:lnTo>
                  <a:pt x="2819400" y="304800"/>
                </a:lnTo>
              </a:path>
              <a:path w="4038600" h="304800">
                <a:moveTo>
                  <a:pt x="3124200" y="0"/>
                </a:moveTo>
                <a:lnTo>
                  <a:pt x="3124200" y="304800"/>
                </a:lnTo>
              </a:path>
              <a:path w="4038600" h="304800">
                <a:moveTo>
                  <a:pt x="3429000" y="0"/>
                </a:moveTo>
                <a:lnTo>
                  <a:pt x="3429000" y="304800"/>
                </a:lnTo>
              </a:path>
              <a:path w="4038600" h="304800">
                <a:moveTo>
                  <a:pt x="3733800" y="0"/>
                </a:moveTo>
                <a:lnTo>
                  <a:pt x="3733800" y="304800"/>
                </a:lnTo>
              </a:path>
              <a:path w="4038600" h="304800">
                <a:moveTo>
                  <a:pt x="4038600" y="0"/>
                </a:moveTo>
                <a:lnTo>
                  <a:pt x="4038600" y="304800"/>
                </a:lnTo>
              </a:path>
              <a:path w="403860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195069" y="2147247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42669" y="3030907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62122" y="1783392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85922" y="2615011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95571" y="2407400"/>
            <a:ext cx="5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3600" spc="-75" baseline="-13888" dirty="0">
                <a:latin typeface="Times New Roman"/>
                <a:cs typeface="Times New Roman"/>
              </a:rPr>
              <a:t>8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93469" y="1367966"/>
            <a:ext cx="61023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4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49225">
              <a:lnSpc>
                <a:spcPts val="2640"/>
              </a:lnSpc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3600" spc="-75" baseline="-13888" dirty="0">
                <a:latin typeface="Times New Roman"/>
                <a:cs typeface="Times New Roman"/>
              </a:rPr>
              <a:t>9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73634" y="1783392"/>
            <a:ext cx="73850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125"/>
              </a:spcBef>
            </a:pPr>
            <a:r>
              <a:rPr sz="3600" spc="-30" baseline="13888" dirty="0">
                <a:latin typeface="Times New Roman"/>
                <a:cs typeface="Times New Roman"/>
              </a:rPr>
              <a:t>G</a:t>
            </a:r>
            <a:r>
              <a:rPr sz="3600" spc="-209" baseline="13888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24170" y="2043545"/>
            <a:ext cx="6515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13888" dirty="0">
                <a:latin typeface="Times New Roman"/>
                <a:cs typeface="Times New Roman"/>
              </a:rPr>
              <a:t>C</a:t>
            </a:r>
            <a:r>
              <a:rPr sz="3600" spc="-112" baseline="13888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2187834" y="327972"/>
            <a:ext cx="47136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2265" algn="l"/>
                <a:tab pos="647065" algn="l"/>
                <a:tab pos="1028700" algn="l"/>
                <a:tab pos="1409700" algn="l"/>
                <a:tab pos="1790700" algn="l"/>
                <a:tab pos="2171700" algn="l"/>
                <a:tab pos="2552700" algn="l"/>
                <a:tab pos="2858135" algn="l"/>
              </a:tabLst>
            </a:pPr>
            <a:r>
              <a:rPr sz="2400" b="0" u="none" spc="-50" dirty="0">
                <a:latin typeface="Times New Roman"/>
                <a:cs typeface="Times New Roman"/>
              </a:rPr>
              <a:t>1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2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3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4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5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6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7</a:t>
            </a:r>
            <a:r>
              <a:rPr sz="2400" b="0" u="none" dirty="0">
                <a:latin typeface="Times New Roman"/>
                <a:cs typeface="Times New Roman"/>
              </a:rPr>
              <a:t>	</a:t>
            </a:r>
            <a:r>
              <a:rPr sz="2400" b="0" u="none" spc="-50" dirty="0">
                <a:latin typeface="Times New Roman"/>
                <a:cs typeface="Times New Roman"/>
              </a:rPr>
              <a:t>8</a:t>
            </a:r>
            <a:r>
              <a:rPr sz="2400" b="0" u="none" dirty="0">
                <a:latin typeface="Times New Roman"/>
                <a:cs typeface="Times New Roman"/>
              </a:rPr>
              <a:t>	9</a:t>
            </a:r>
            <a:r>
              <a:rPr sz="2400" b="0" u="none" spc="-5" dirty="0">
                <a:latin typeface="Times New Roman"/>
                <a:cs typeface="Times New Roman"/>
              </a:rPr>
              <a:t> </a:t>
            </a:r>
            <a:r>
              <a:rPr sz="2400" b="0" u="none" spc="-10" dirty="0">
                <a:latin typeface="Times New Roman"/>
                <a:cs typeface="Times New Roman"/>
              </a:rPr>
              <a:t>10</a:t>
            </a:r>
            <a:r>
              <a:rPr sz="3600" b="0" u="none" spc="-15" baseline="13888" dirty="0">
                <a:latin typeface="Times New Roman"/>
                <a:cs typeface="Times New Roman"/>
              </a:rPr>
              <a:t>11</a:t>
            </a:r>
            <a:r>
              <a:rPr sz="2400" b="0" u="none" spc="-10" dirty="0">
                <a:latin typeface="Times New Roman"/>
                <a:cs typeface="Times New Roman"/>
              </a:rPr>
              <a:t>121314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478523" y="520584"/>
            <a:ext cx="304800" cy="20781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0" y="304800"/>
                </a:lnTo>
              </a:path>
              <a:path w="304800" h="304800">
                <a:moveTo>
                  <a:pt x="304800" y="0"/>
                </a:moveTo>
                <a:lnTo>
                  <a:pt x="30480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975234" y="2615013"/>
            <a:ext cx="63563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66040">
              <a:lnSpc>
                <a:spcPts val="2640"/>
              </a:lnSpc>
            </a:pP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15031" y="2875250"/>
            <a:ext cx="5848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D</a:t>
            </a:r>
            <a:r>
              <a:rPr sz="2400" spc="-25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95475" y="3291061"/>
            <a:ext cx="5106670" cy="1172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algn="ctr">
              <a:lnSpc>
                <a:spcPct val="100000"/>
              </a:lnSpc>
              <a:spcBef>
                <a:spcPts val="10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Planning/Channel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Assignment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09600" y="259775"/>
            <a:ext cx="8229600" cy="5912163"/>
            <a:chOff x="609600" y="381000"/>
            <a:chExt cx="8229600" cy="5736336"/>
          </a:xfrm>
        </p:grpSpPr>
        <p:sp>
          <p:nvSpPr>
            <p:cNvPr id="16" name="object 16"/>
            <p:cNvSpPr/>
            <p:nvPr/>
          </p:nvSpPr>
          <p:spPr>
            <a:xfrm>
              <a:off x="804671" y="576071"/>
              <a:ext cx="64135" cy="60960"/>
            </a:xfrm>
            <a:custGeom>
              <a:avLst/>
              <a:gdLst/>
              <a:ahLst/>
              <a:cxnLst/>
              <a:rect l="l" t="t" r="r" b="b"/>
              <a:pathLst>
                <a:path w="64134" h="60959">
                  <a:moveTo>
                    <a:pt x="32003" y="0"/>
                  </a:moveTo>
                  <a:lnTo>
                    <a:pt x="19545" y="2387"/>
                  </a:lnTo>
                  <a:lnTo>
                    <a:pt x="9372" y="8905"/>
                  </a:lnTo>
                  <a:lnTo>
                    <a:pt x="2514" y="18591"/>
                  </a:lnTo>
                  <a:lnTo>
                    <a:pt x="0" y="30479"/>
                  </a:lnTo>
                  <a:lnTo>
                    <a:pt x="2514" y="42368"/>
                  </a:lnTo>
                  <a:lnTo>
                    <a:pt x="9372" y="52054"/>
                  </a:lnTo>
                  <a:lnTo>
                    <a:pt x="19545" y="58572"/>
                  </a:lnTo>
                  <a:lnTo>
                    <a:pt x="32003" y="60960"/>
                  </a:lnTo>
                  <a:lnTo>
                    <a:pt x="44462" y="58572"/>
                  </a:lnTo>
                  <a:lnTo>
                    <a:pt x="54635" y="52054"/>
                  </a:lnTo>
                  <a:lnTo>
                    <a:pt x="61493" y="42368"/>
                  </a:lnTo>
                  <a:lnTo>
                    <a:pt x="64008" y="30479"/>
                  </a:lnTo>
                  <a:lnTo>
                    <a:pt x="61493" y="18591"/>
                  </a:lnTo>
                  <a:lnTo>
                    <a:pt x="54635" y="8905"/>
                  </a:lnTo>
                  <a:lnTo>
                    <a:pt x="44462" y="2387"/>
                  </a:lnTo>
                  <a:lnTo>
                    <a:pt x="32003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381000"/>
              <a:ext cx="8229600" cy="57363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315087" y="377509"/>
            <a:ext cx="450913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Improving</a:t>
            </a:r>
            <a:r>
              <a:rPr sz="4400" b="0" u="none" spc="-19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0376" y="1594665"/>
            <a:ext cx="7491730" cy="457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increases,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designers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endParaRPr sz="20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marR="889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are: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Splitting,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Sectoring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Microcell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Zoning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Splitting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allows an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orderly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growth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Sectoring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directional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antennas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further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marL="194945" marR="201930"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Micro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Zoning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distributes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extends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boundary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hard-to-</a:t>
            </a:r>
            <a:r>
              <a:rPr sz="2000" dirty="0">
                <a:latin typeface="Times New Roman"/>
                <a:cs typeface="Times New Roman"/>
              </a:rPr>
              <a:t>reach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areas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735" algn="l">
              <a:lnSpc>
                <a:spcPct val="100000"/>
              </a:lnSpc>
              <a:spcBef>
                <a:spcPts val="100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3600" b="0" u="none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Splitting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996" y="1030637"/>
            <a:ext cx="8004809" cy="54463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splitting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subdividing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congested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endParaRPr sz="2200">
              <a:latin typeface="Times New Roman"/>
              <a:cs typeface="Times New Roman"/>
            </a:endParaRPr>
          </a:p>
          <a:p>
            <a:pPr marL="452120" algn="ctr">
              <a:lnSpc>
                <a:spcPct val="100000"/>
              </a:lnSpc>
              <a:spcBef>
                <a:spcPts val="81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own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 sz="1800">
              <a:latin typeface="Times New Roman"/>
              <a:cs typeface="Times New Roman"/>
            </a:endParaRPr>
          </a:p>
          <a:p>
            <a:pPr marL="451484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height</a:t>
            </a:r>
            <a:endParaRPr sz="1800">
              <a:latin typeface="Times New Roman"/>
              <a:cs typeface="Times New Roman"/>
            </a:endParaRPr>
          </a:p>
          <a:p>
            <a:pPr marL="450850" algn="ctr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Splitting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size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thus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 cells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transmit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Idea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Q=D/R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constant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2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decreasing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200">
              <a:latin typeface="Arial"/>
              <a:cs typeface="Arial"/>
            </a:endParaRPr>
          </a:p>
          <a:p>
            <a:pPr algn="ctr">
              <a:lnSpc>
                <a:spcPts val="263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MS PGothic"/>
                <a:cs typeface="MS PGothic"/>
              </a:rPr>
              <a:t>►</a:t>
            </a:r>
            <a:r>
              <a:rPr sz="2200" spc="-145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MS PGothic"/>
                <a:cs typeface="MS PGothic"/>
              </a:rPr>
              <a:t>►</a:t>
            </a:r>
            <a:r>
              <a:rPr sz="2200" spc="-140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MS PGothic"/>
                <a:cs typeface="MS PGothic"/>
              </a:rPr>
              <a:t>►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endParaRPr sz="2200">
              <a:latin typeface="Times New Roman"/>
              <a:cs typeface="Times New Roman"/>
            </a:endParaRPr>
          </a:p>
          <a:p>
            <a:pPr marL="3175" algn="ctr">
              <a:lnSpc>
                <a:spcPts val="263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47191" y="99634"/>
            <a:ext cx="784923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r>
              <a:rPr sz="4400" b="0" u="none"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are</a:t>
            </a:r>
            <a:r>
              <a:rPr sz="4400" b="0" u="none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split</a:t>
            </a:r>
            <a:r>
              <a:rPr sz="44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to</a:t>
            </a:r>
            <a:r>
              <a:rPr sz="44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add</a:t>
            </a:r>
            <a:r>
              <a:rPr sz="4400" b="0" u="none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channels</a:t>
            </a:r>
            <a:r>
              <a:rPr sz="4400" b="0" u="none" spc="-7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20" dirty="0">
                <a:solidFill>
                  <a:srgbClr val="CACACA"/>
                </a:solidFill>
                <a:latin typeface="Times New Roman"/>
                <a:cs typeface="Times New Roman"/>
              </a:rPr>
              <a:t>with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779565"/>
            <a:ext cx="8379459" cy="74443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66675" rIns="0" bIns="0" rtlCol="0">
            <a:spAutoFit/>
          </a:bodyPr>
          <a:lstStyle/>
          <a:p>
            <a:pPr marR="751205" algn="ctr">
              <a:lnSpc>
                <a:spcPct val="100000"/>
              </a:lnSpc>
              <a:spcBef>
                <a:spcPts val="525"/>
              </a:spcBef>
            </a:pPr>
            <a:r>
              <a:rPr sz="4400" dirty="0">
                <a:solidFill>
                  <a:srgbClr val="CACACA"/>
                </a:solidFill>
                <a:latin typeface="Times New Roman"/>
                <a:cs typeface="Times New Roman"/>
              </a:rPr>
              <a:t>no</a:t>
            </a:r>
            <a:r>
              <a:rPr sz="4400" spc="-10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CACACA"/>
                </a:solidFill>
                <a:latin typeface="Times New Roman"/>
                <a:cs typeface="Times New Roman"/>
              </a:rPr>
              <a:t>new</a:t>
            </a:r>
            <a:r>
              <a:rPr sz="4400" spc="-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CACACA"/>
                </a:solidFill>
                <a:latin typeface="Times New Roman"/>
                <a:cs typeface="Times New Roman"/>
              </a:rPr>
              <a:t>spectrum</a:t>
            </a:r>
            <a:r>
              <a:rPr sz="4400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CACACA"/>
                </a:solidFill>
                <a:latin typeface="Times New Roman"/>
                <a:cs typeface="Times New Roman"/>
              </a:rPr>
              <a:t>usage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593273"/>
            <a:ext cx="7239000" cy="259772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7055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60602" y="138078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latin typeface="Arial"/>
                <a:cs typeface="Arial"/>
              </a:rPr>
              <a:t>Example</a:t>
            </a:r>
            <a:r>
              <a:rPr sz="3800" b="0" u="none" spc="-160" dirty="0">
                <a:latin typeface="Arial"/>
                <a:cs typeface="Arial"/>
              </a:rPr>
              <a:t> </a:t>
            </a:r>
            <a:r>
              <a:rPr sz="3800" b="0" u="none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41194" y="569422"/>
            <a:ext cx="5983605" cy="535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1410" marR="1151255" algn="ctr">
              <a:lnSpc>
                <a:spcPct val="1379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(means)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endParaRPr sz="1800">
              <a:latin typeface="Times New Roman"/>
              <a:cs typeface="Times New Roman"/>
            </a:endParaRPr>
          </a:p>
          <a:p>
            <a:pPr marL="560070" marR="537845" algn="ctr">
              <a:lnSpc>
                <a:spcPts val="2950"/>
              </a:lnSpc>
              <a:spcBef>
                <a:spcPts val="229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Q=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sqrt(3N)=3.464102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Q=D/R=3.464102</a:t>
            </a:r>
            <a:endParaRPr sz="1800">
              <a:latin typeface="Times New Roman"/>
              <a:cs typeface="Times New Roman"/>
            </a:endParaRPr>
          </a:p>
          <a:p>
            <a:pPr marR="37465" algn="ctr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io=6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R="27305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z="1800"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20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=24</a:t>
            </a:r>
            <a:endParaRPr sz="1800">
              <a:latin typeface="Times New Roman"/>
              <a:cs typeface="Times New Roman"/>
            </a:endParaRPr>
          </a:p>
          <a:p>
            <a:pPr marR="29845" algn="ctr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10log(S/I)=13.80211dB</a:t>
            </a:r>
            <a:endParaRPr sz="1800">
              <a:latin typeface="Times New Roman"/>
              <a:cs typeface="Times New Roman"/>
            </a:endParaRPr>
          </a:p>
          <a:p>
            <a:pPr marL="80010" algn="ctr">
              <a:lnSpc>
                <a:spcPct val="100000"/>
              </a:lnSpc>
              <a:spcBef>
                <a:spcPts val="819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 will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800">
              <a:latin typeface="Times New Roman"/>
              <a:cs typeface="Times New Roman"/>
            </a:endParaRPr>
          </a:p>
          <a:p>
            <a:pPr marL="1600200" marR="1574800" indent="316865">
              <a:lnSpc>
                <a:spcPct val="1373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N=7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n=3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</a:t>
            </a:r>
            <a:endParaRPr sz="1800">
              <a:latin typeface="Times New Roman"/>
              <a:cs typeface="Times New Roman"/>
            </a:endParaRPr>
          </a:p>
          <a:p>
            <a:pPr marL="15240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io=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6,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 sz="1800">
              <a:latin typeface="Times New Roman"/>
              <a:cs typeface="Times New Roman"/>
            </a:endParaRPr>
          </a:p>
          <a:p>
            <a:pPr marR="27940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ratio=S/I=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sz="180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800" spc="-3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=73.334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9864" y="4231039"/>
            <a:ext cx="363410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S/I=10log(S/I)=18.65dB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0929" y="4486448"/>
            <a:ext cx="34239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59051" y="226401"/>
            <a:ext cx="5029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Splitting-Power</a:t>
            </a:r>
            <a:r>
              <a:rPr sz="36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Issues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977491"/>
            <a:ext cx="8379459" cy="69890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2200">
              <a:latin typeface="Times New Roman"/>
              <a:cs typeface="Times New Roman"/>
            </a:endParaRPr>
          </a:p>
          <a:p>
            <a:pPr marL="77597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Suppose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radius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half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8060" y="1925089"/>
            <a:ext cx="7961630" cy="4094711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89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required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cells??</a:t>
            </a:r>
            <a:endParaRPr sz="2200">
              <a:latin typeface="Times New Roman"/>
              <a:cs typeface="Times New Roman"/>
            </a:endParaRPr>
          </a:p>
          <a:p>
            <a:pPr marL="1377950" algn="ctr">
              <a:lnSpc>
                <a:spcPct val="100000"/>
              </a:lnSpc>
              <a:spcBef>
                <a:spcPts val="79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Pr[at</a:t>
            </a:r>
            <a:r>
              <a:rPr sz="2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old</a:t>
            </a:r>
            <a:r>
              <a:rPr sz="22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boundary]=Pt1R</a:t>
            </a:r>
            <a:r>
              <a:rPr sz="2175" b="1" spc="-1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175" b="1" spc="-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75" baseline="24904">
              <a:latin typeface="Times New Roman"/>
              <a:cs typeface="Times New Roman"/>
            </a:endParaRPr>
          </a:p>
          <a:p>
            <a:pPr marL="1380490" algn="ctr">
              <a:lnSpc>
                <a:spcPct val="100000"/>
              </a:lnSpc>
              <a:spcBef>
                <a:spcPts val="81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Pr[at</a:t>
            </a:r>
            <a:r>
              <a:rPr sz="22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boundary]=</a:t>
            </a:r>
            <a:r>
              <a:rPr sz="22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Pt2(R/2)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5" b="1" spc="-37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–n</a:t>
            </a:r>
            <a:endParaRPr sz="2175" baseline="24904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Pt1and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Pt2are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cell</a:t>
            </a:r>
            <a:endParaRPr sz="22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respectively,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 is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exponent.</a:t>
            </a:r>
            <a:endParaRPr sz="22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  <a:spcBef>
                <a:spcPts val="795"/>
              </a:spcBef>
              <a:tabLst>
                <a:tab pos="1377950" algn="l"/>
              </a:tabLst>
            </a:pP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	Pt2=</a:t>
            </a:r>
            <a:r>
              <a:rPr sz="2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Pt1/2</a:t>
            </a:r>
            <a:r>
              <a:rPr sz="2175" b="1" spc="-1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75" baseline="24904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n=3</a:t>
            </a:r>
            <a:r>
              <a:rPr sz="200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20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powers</a:t>
            </a:r>
            <a:r>
              <a:rPr sz="200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equal</a:t>
            </a:r>
            <a:r>
              <a:rPr sz="2000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other,</a:t>
            </a:r>
            <a:r>
              <a:rPr sz="200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endParaRPr sz="2000">
              <a:latin typeface="Times New Roman"/>
              <a:cs typeface="Times New Roman"/>
            </a:endParaRPr>
          </a:p>
          <a:p>
            <a:pPr marL="1834514" algn="ctr">
              <a:lnSpc>
                <a:spcPct val="100000"/>
              </a:lnSpc>
              <a:spcBef>
                <a:spcPts val="820"/>
              </a:spcBef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Pt2=Pt1/8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words,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reduced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9dB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original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maintaining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41861" y="187123"/>
            <a:ext cx="666432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Illustration</a:t>
            </a:r>
            <a:r>
              <a:rPr sz="3200" b="0" u="none" spc="-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200" b="0" u="none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3200" b="0" u="none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splitting</a:t>
            </a:r>
            <a:r>
              <a:rPr sz="3200" b="0" u="none" spc="-8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2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3x3</a:t>
            </a:r>
            <a:r>
              <a:rPr sz="3200" b="0" u="none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square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005" y="790775"/>
            <a:ext cx="8379459" cy="50462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2065" rIns="0" bIns="0" rtlCol="0">
            <a:spAutoFit/>
          </a:bodyPr>
          <a:lstStyle/>
          <a:p>
            <a:pPr marR="753110" algn="ctr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centered</a:t>
            </a:r>
            <a:r>
              <a:rPr sz="3200" spc="-7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around</a:t>
            </a:r>
            <a:r>
              <a:rPr sz="3200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base</a:t>
            </a:r>
            <a:r>
              <a:rPr sz="3200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station</a:t>
            </a:r>
            <a:r>
              <a:rPr sz="3200" spc="-7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CACACA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7295" y="1407622"/>
            <a:ext cx="5937504" cy="308817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059053" y="377509"/>
            <a:ext cx="302577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4400" b="0" u="none"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Splitting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064" y="1629725"/>
            <a:ext cx="7978140" cy="4694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practice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split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size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endParaRPr sz="2000">
              <a:latin typeface="Times New Roman"/>
              <a:cs typeface="Times New Roman"/>
            </a:endParaRPr>
          </a:p>
          <a:p>
            <a:pPr marR="65405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exist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marR="8001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 situations,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special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care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keep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between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minimum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assignments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become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complicated.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marR="71120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overcome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problem:</a:t>
            </a:r>
            <a:endParaRPr sz="2000">
              <a:latin typeface="Times New Roman"/>
              <a:cs typeface="Times New Roman"/>
            </a:endParaRPr>
          </a:p>
          <a:p>
            <a:pPr marL="385445" algn="ctr">
              <a:lnSpc>
                <a:spcPct val="100000"/>
              </a:lnSpc>
              <a:spcBef>
                <a:spcPts val="810"/>
              </a:spcBef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old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broken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down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16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groups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1600">
              <a:latin typeface="Times New Roman"/>
              <a:cs typeface="Times New Roman"/>
            </a:endParaRPr>
          </a:p>
          <a:p>
            <a:pPr marL="382270" algn="ctr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1600">
              <a:latin typeface="Times New Roman"/>
              <a:cs typeface="Times New Roman"/>
            </a:endParaRPr>
          </a:p>
          <a:p>
            <a:pPr marL="400685" algn="ctr">
              <a:lnSpc>
                <a:spcPct val="100000"/>
              </a:lnSpc>
              <a:spcBef>
                <a:spcPts val="79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16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usually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dedicated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handoffs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endParaRPr sz="1600">
              <a:latin typeface="Times New Roman"/>
              <a:cs typeface="Times New Roman"/>
            </a:endParaRPr>
          </a:p>
          <a:p>
            <a:pPr marL="389255" algn="ctr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frequently</a:t>
            </a:r>
            <a:endParaRPr sz="1600">
              <a:latin typeface="Times New Roman"/>
              <a:cs typeface="Times New Roman"/>
            </a:endParaRPr>
          </a:p>
          <a:p>
            <a:pPr marL="387350" marR="5080" algn="ctr">
              <a:lnSpc>
                <a:spcPct val="100000"/>
              </a:lnSpc>
              <a:spcBef>
                <a:spcPts val="82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channels,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maturity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4150">
              <a:lnSpc>
                <a:spcPct val="100000"/>
              </a:lnSpc>
              <a:spcBef>
                <a:spcPts val="95"/>
              </a:spcBef>
            </a:pPr>
            <a:r>
              <a:rPr sz="38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Umbrella</a:t>
            </a:r>
            <a:r>
              <a:rPr sz="3800" b="0" u="none" spc="-1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174172"/>
            <a:ext cx="8229600" cy="292400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363682"/>
            <a:ext cx="8153400" cy="3584864"/>
            <a:chOff x="609600" y="533400"/>
            <a:chExt cx="8153400" cy="525780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1676400"/>
              <a:ext cx="3962400" cy="411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533400"/>
              <a:ext cx="4191000" cy="441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5714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489197" y="234716"/>
            <a:ext cx="216598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Sectoring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9560" y="724204"/>
            <a:ext cx="7019925" cy="1554271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R="904875" algn="ctr">
              <a:lnSpc>
                <a:spcPct val="100000"/>
              </a:lnSpc>
              <a:spcBef>
                <a:spcPts val="9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approach</a:t>
            </a:r>
            <a:endParaRPr sz="20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819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SIR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improved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directional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antennas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capacity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improvement</a:t>
            </a:r>
            <a:r>
              <a:rPr sz="20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achieved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reducing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number of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cluster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thus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2704" y="2114169"/>
            <a:ext cx="803783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CCI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decreased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replacing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omni-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directional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several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directional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antennas,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radiating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specified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sector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2493820"/>
            <a:ext cx="5562600" cy="161059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0">
              <a:lnSpc>
                <a:spcPct val="100000"/>
              </a:lnSpc>
              <a:spcBef>
                <a:spcPts val="95"/>
              </a:spcBef>
            </a:pP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Sectoring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2304704"/>
            <a:ext cx="6477000" cy="27244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17244" y="1088980"/>
            <a:ext cx="70383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directional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antenna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transmits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receives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fraction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co-channel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cells.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Thus </a:t>
            </a:r>
            <a:r>
              <a:rPr sz="2400" dirty="0">
                <a:latin typeface="Arial"/>
                <a:cs typeface="Arial"/>
              </a:rPr>
              <a:t>CCI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reduced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96928" y="328407"/>
            <a:ext cx="55467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Problems</a:t>
            </a:r>
            <a:r>
              <a:rPr sz="4400" b="0" u="none" spc="-10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with</a:t>
            </a:r>
            <a:r>
              <a:rPr sz="4400" b="0" u="none" spc="-1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Sectoring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3325" y="1107983"/>
            <a:ext cx="7606665" cy="37151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trunking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sectoring(dividing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bigger</a:t>
            </a:r>
            <a:endParaRPr sz="22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pool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groups)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handoffs(sector-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sector)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L="18415" marR="762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Good news:Many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modern BS support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sectoring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 related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help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56055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Microcell</a:t>
            </a:r>
            <a:r>
              <a:rPr sz="4400" b="0" u="none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Zone</a:t>
            </a:r>
            <a:r>
              <a:rPr sz="4400" b="0" u="none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559" y="1101375"/>
            <a:ext cx="8056880" cy="5223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Problems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sectoring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 addressed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 Microcell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Concept</a:t>
            </a:r>
            <a:endParaRPr sz="2200">
              <a:latin typeface="Times New Roman"/>
              <a:cs typeface="Times New Roman"/>
            </a:endParaRPr>
          </a:p>
          <a:p>
            <a:pPr marL="984885" marR="981075" algn="ctr">
              <a:lnSpc>
                <a:spcPts val="3429"/>
              </a:lnSpc>
              <a:spcBef>
                <a:spcPts val="25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conceptually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divided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microcells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zones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microcell(zone)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connected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base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ts val="24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station(fiber/microwave</a:t>
            </a:r>
            <a:r>
              <a:rPr sz="2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link)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Doing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something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middle of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splitting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sectoring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extracting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points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both</a:t>
            </a:r>
            <a:endParaRPr sz="2200">
              <a:latin typeface="Times New Roman"/>
              <a:cs typeface="Times New Roman"/>
            </a:endParaRPr>
          </a:p>
          <a:p>
            <a:pPr marL="1863089" marR="1855470" indent="-3175" algn="ctr">
              <a:lnSpc>
                <a:spcPts val="3429"/>
              </a:lnSpc>
              <a:spcBef>
                <a:spcPts val="24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directional</a:t>
            </a:r>
            <a:r>
              <a:rPr sz="22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antenna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radiates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served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strongest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zone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travels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another,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retains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200">
              <a:latin typeface="Times New Roman"/>
              <a:cs typeface="Times New Roman"/>
            </a:endParaRPr>
          </a:p>
          <a:p>
            <a:pPr marL="317754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i.e.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off</a:t>
            </a:r>
            <a:endParaRPr sz="2200">
              <a:latin typeface="Times New Roman"/>
              <a:cs typeface="Times New Roman"/>
            </a:endParaRPr>
          </a:p>
          <a:p>
            <a:pPr marL="844550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simply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switches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site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41663"/>
          </a:xfrm>
          <a:prstGeom prst="rect">
            <a:avLst/>
          </a:prstGeom>
        </p:spPr>
        <p:txBody>
          <a:bodyPr vert="horz" wrap="square" lIns="0" tIns="86817" rIns="0" bIns="0" rtlCol="0">
            <a:spAutoFit/>
          </a:bodyPr>
          <a:lstStyle/>
          <a:p>
            <a:pPr marL="1843405">
              <a:lnSpc>
                <a:spcPct val="100000"/>
              </a:lnSpc>
              <a:spcBef>
                <a:spcPts val="100"/>
              </a:spcBef>
            </a:pP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Micro</a:t>
            </a:r>
            <a:r>
              <a:rPr sz="3600" b="0" u="none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Zone</a:t>
            </a:r>
            <a:r>
              <a:rPr sz="3600" b="0" u="none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Cell </a:t>
            </a:r>
            <a:r>
              <a:rPr sz="36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071649"/>
            <a:ext cx="7848600" cy="334795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827407" y="377509"/>
            <a:ext cx="54844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Microcell</a:t>
            </a:r>
            <a:r>
              <a:rPr sz="4400" b="0" u="none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Zone</a:t>
            </a:r>
            <a:r>
              <a:rPr sz="4400" b="0" u="none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8560" y="1748118"/>
            <a:ext cx="7586980" cy="427168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(Zone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directional</a:t>
            </a:r>
            <a:endParaRPr sz="22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used).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CCI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improves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capacity.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No loss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trunking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cells).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extra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Increase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capacity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(since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used).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476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8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8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7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72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768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64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60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5676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5" y="381000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81051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236915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04677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95"/>
              </a:spcBef>
            </a:pP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Repeaters</a:t>
            </a:r>
            <a:r>
              <a:rPr sz="4400" b="0" u="none" spc="-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for</a:t>
            </a:r>
            <a:r>
              <a:rPr sz="4400" b="0" u="none" spc="-10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dirty="0">
                <a:solidFill>
                  <a:srgbClr val="CACACA"/>
                </a:solidFill>
                <a:latin typeface="Times New Roman"/>
                <a:cs typeface="Times New Roman"/>
              </a:rPr>
              <a:t>Range</a:t>
            </a:r>
            <a:r>
              <a:rPr sz="4400" b="0" u="none" spc="-114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b="0" u="none" spc="-10" dirty="0">
                <a:solidFill>
                  <a:srgbClr val="CACACA"/>
                </a:solidFill>
                <a:latin typeface="Times New Roman"/>
                <a:cs typeface="Times New Roman"/>
              </a:rPr>
              <a:t>Extension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472" y="1331823"/>
            <a:ext cx="7945120" cy="499277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Useful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hard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reach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areas</a:t>
            </a:r>
            <a:endParaRPr sz="2200">
              <a:latin typeface="Times New Roman"/>
              <a:cs typeface="Times New Roman"/>
            </a:endParaRPr>
          </a:p>
          <a:p>
            <a:pPr marL="3753485" marR="3290570" algn="ctr">
              <a:lnSpc>
                <a:spcPct val="136700"/>
              </a:lnSpc>
              <a:spcBef>
                <a:spcPts val="2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Buildings Tunnels Valleys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transmitters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coverage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200">
              <a:latin typeface="Times New Roman"/>
              <a:cs typeface="Times New Roman"/>
            </a:endParaRPr>
          </a:p>
          <a:p>
            <a:pPr marL="2366645" marR="2365375" algn="ctr">
              <a:lnSpc>
                <a:spcPct val="130100"/>
              </a:lnSpc>
              <a:spcBef>
                <a:spcPts val="2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bi-directional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5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Amplify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Re-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radiate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re-radiated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Assignment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Attempt Qn1 – 4, 8 – 12 from chapter two of the Book “Wireless communications 2</a:t>
            </a:r>
            <a:r>
              <a:rPr lang="en-GB" baseline="30000" dirty="0" smtClean="0"/>
              <a:t>nd</a:t>
            </a:r>
            <a:r>
              <a:rPr lang="en-GB" dirty="0" smtClean="0"/>
              <a:t> Edition by Theodore S. </a:t>
            </a:r>
            <a:r>
              <a:rPr lang="en-GB" dirty="0" err="1" smtClean="0"/>
              <a:t>Rappaport</a:t>
            </a:r>
            <a:r>
              <a:rPr lang="en-GB" dirty="0" smtClean="0"/>
              <a:t>”</a:t>
            </a:r>
            <a:endParaRPr lang="en-GB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65947" y="104947"/>
            <a:ext cx="0" cy="1039091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03911"/>
            <a:ext cx="118872" cy="81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44" y="103911"/>
            <a:ext cx="118871" cy="81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680" y="103911"/>
            <a:ext cx="118872" cy="810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218210"/>
            <a:ext cx="118872" cy="810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680" y="152400"/>
            <a:ext cx="118872" cy="81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44" y="218210"/>
            <a:ext cx="118871" cy="810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6319" y="218210"/>
            <a:ext cx="118872" cy="810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332511"/>
            <a:ext cx="118872" cy="810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44" y="332511"/>
            <a:ext cx="118871" cy="810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8680" y="332511"/>
            <a:ext cx="118872" cy="810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6319" y="332511"/>
            <a:ext cx="118872" cy="810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7007" y="332511"/>
            <a:ext cx="118872" cy="810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400" y="446809"/>
            <a:ext cx="118872" cy="831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88680" y="446809"/>
            <a:ext cx="118872" cy="8312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044" y="446809"/>
            <a:ext cx="118871" cy="8312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6319" y="446809"/>
            <a:ext cx="118872" cy="8312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3400" y="561109"/>
            <a:ext cx="118872" cy="8312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044" y="561109"/>
            <a:ext cx="118871" cy="8312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88680" y="561109"/>
            <a:ext cx="118872" cy="8312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6319" y="561109"/>
            <a:ext cx="118872" cy="8312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27007" y="561109"/>
            <a:ext cx="118872" cy="8312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675411"/>
            <a:ext cx="118872" cy="810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1044" y="675411"/>
            <a:ext cx="118871" cy="810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8680" y="675411"/>
            <a:ext cx="118872" cy="810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53400" y="791787"/>
            <a:ext cx="118872" cy="7897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6319" y="675411"/>
            <a:ext cx="118872" cy="8104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1044" y="791787"/>
            <a:ext cx="118871" cy="7897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88680" y="791787"/>
            <a:ext cx="118872" cy="7897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56319" y="791787"/>
            <a:ext cx="118872" cy="7897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21044" y="906087"/>
            <a:ext cx="118871" cy="8104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6319" y="906087"/>
            <a:ext cx="118872" cy="81049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909" y="3194779"/>
            <a:ext cx="408241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u="none" dirty="0">
                <a:latin typeface="Times New Roman"/>
                <a:cs typeface="Times New Roman"/>
              </a:rPr>
              <a:t>THANK</a:t>
            </a:r>
            <a:r>
              <a:rPr sz="5400" b="0" u="none" spc="-5" dirty="0">
                <a:latin typeface="Times New Roman"/>
                <a:cs typeface="Times New Roman"/>
              </a:rPr>
              <a:t> </a:t>
            </a:r>
            <a:r>
              <a:rPr sz="5400" b="0" u="none" spc="-25" dirty="0">
                <a:latin typeface="Times New Roman"/>
                <a:cs typeface="Times New Roman"/>
              </a:rPr>
              <a:t>YOU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3555</Words>
  <Application>Microsoft Office PowerPoint</Application>
  <PresentationFormat>On-screen Show (4:3)</PresentationFormat>
  <Paragraphs>430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The Cellular Concept</vt:lpstr>
      <vt:lpstr>Cellular Systems-Basic Concepts</vt:lpstr>
      <vt:lpstr>Cellular Systems-Basic Concepts</vt:lpstr>
      <vt:lpstr>Frequency Reuse</vt:lpstr>
      <vt:lpstr>Frequency Reuse</vt:lpstr>
      <vt:lpstr>Frequency Reuse</vt:lpstr>
      <vt:lpstr>Slide 7</vt:lpstr>
      <vt:lpstr>Slide 8</vt:lpstr>
      <vt:lpstr>Slide 9</vt:lpstr>
      <vt:lpstr>Slide 10</vt:lpstr>
      <vt:lpstr>Locating co-channel Cell</vt:lpstr>
      <vt:lpstr>Channel Assignment Strategies</vt:lpstr>
      <vt:lpstr>Dynamic Channel Assignment</vt:lpstr>
      <vt:lpstr>Hand-off</vt:lpstr>
      <vt:lpstr>Slide 15</vt:lpstr>
      <vt:lpstr>Slide 16</vt:lpstr>
      <vt:lpstr>Hand-off strategies</vt:lpstr>
      <vt:lpstr>Hand-off</vt:lpstr>
      <vt:lpstr>Hand-off strategies</vt:lpstr>
      <vt:lpstr>Hand-off strategies</vt:lpstr>
      <vt:lpstr>Soft Handoff</vt:lpstr>
      <vt:lpstr>Inter system Handoff</vt:lpstr>
      <vt:lpstr>Prioritizing Handoffs</vt:lpstr>
      <vt:lpstr>Prioritizing Handoffs</vt:lpstr>
      <vt:lpstr>Practical Handoff Considerations</vt:lpstr>
      <vt:lpstr>Umbrella Cells</vt:lpstr>
      <vt:lpstr>Typical handoff parameters</vt:lpstr>
      <vt:lpstr>Reuse Ratio:</vt:lpstr>
      <vt:lpstr>Interference</vt:lpstr>
      <vt:lpstr>Interference</vt:lpstr>
      <vt:lpstr>Effects of Interference</vt:lpstr>
      <vt:lpstr>Interference</vt:lpstr>
      <vt:lpstr>Co-channel Interference</vt:lpstr>
      <vt:lpstr>Co-channel Interference</vt:lpstr>
      <vt:lpstr>Signal to Interference ratio S/I</vt:lpstr>
      <vt:lpstr>Signal to Interference ratio S/I</vt:lpstr>
      <vt:lpstr>Signal to Interference ratio S/I</vt:lpstr>
      <vt:lpstr>Example S/I</vt:lpstr>
      <vt:lpstr>Example S/I</vt:lpstr>
      <vt:lpstr>Adjacent Channel Interference</vt:lpstr>
      <vt:lpstr>1 2 3 4 5 6 7 8 9 1011121314</vt:lpstr>
      <vt:lpstr>Slide 42</vt:lpstr>
      <vt:lpstr>Improving Capacity</vt:lpstr>
      <vt:lpstr>Cell Splitting</vt:lpstr>
      <vt:lpstr>Cells are split to add channels with</vt:lpstr>
      <vt:lpstr>Example S/I</vt:lpstr>
      <vt:lpstr>Cell Splitting-Power Issues</vt:lpstr>
      <vt:lpstr>Illustration of cell splitting in 3x3 square</vt:lpstr>
      <vt:lpstr>Cell Splitting</vt:lpstr>
      <vt:lpstr>Umbrella Cells</vt:lpstr>
      <vt:lpstr>Slide 51</vt:lpstr>
      <vt:lpstr>Sectoring</vt:lpstr>
      <vt:lpstr>Sectoring</vt:lpstr>
      <vt:lpstr>Problems with Sectoring</vt:lpstr>
      <vt:lpstr>Microcell Zone Concept</vt:lpstr>
      <vt:lpstr>Micro Zone Cell Concept</vt:lpstr>
      <vt:lpstr>Microcell Zone Concept</vt:lpstr>
      <vt:lpstr>Repeaters for Range Extension</vt:lpstr>
      <vt:lpstr>Assignment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Cellular Concept</dc:title>
  <dc:creator>user</dc:creator>
  <cp:lastModifiedBy>Windows User</cp:lastModifiedBy>
  <cp:revision>4</cp:revision>
  <dcterms:created xsi:type="dcterms:W3CDTF">2006-08-16T00:00:00Z</dcterms:created>
  <dcterms:modified xsi:type="dcterms:W3CDTF">2025-01-09T09:23:53Z</dcterms:modified>
</cp:coreProperties>
</file>