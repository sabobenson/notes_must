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60" r:id="rId9"/>
    <p:sldId id="272" r:id="rId10"/>
    <p:sldId id="273" r:id="rId11"/>
    <p:sldId id="261" r:id="rId12"/>
    <p:sldId id="262" r:id="rId13"/>
    <p:sldId id="263" r:id="rId14"/>
    <p:sldId id="274" r:id="rId15"/>
    <p:sldId id="275" r:id="rId16"/>
    <p:sldId id="264" r:id="rId17"/>
    <p:sldId id="276" r:id="rId18"/>
    <p:sldId id="265" r:id="rId19"/>
    <p:sldId id="277" r:id="rId20"/>
    <p:sldId id="266" r:id="rId21"/>
    <p:sldId id="278" r:id="rId22"/>
    <p:sldId id="267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9814-A679-2415-C0B9-022FB083B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B70D-3294-FB5B-7AAB-35351867E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F0B8-0639-2D78-66D9-C3172949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EB4CD-1464-A9DA-7BB3-56D00A44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4C295-7A55-561D-0FBF-A87D676A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5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65CA-86B4-6776-9518-18A086E0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FAF5-866A-F620-44E0-2792AB0F0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9B9E1-A001-7001-9201-6EEBFA9DF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05A79-FDDF-E84B-5F82-D414DA18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14979-B938-8009-8956-DBF8FF18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7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7526-9026-EEA0-48C2-52EE6AC9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41672-7B84-E484-1940-4320074D1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5EB77-1372-467E-84D9-72745FB8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B17BA-1685-B162-F7ED-12D9D57C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9FADE-BFFE-D73F-5935-C9A25239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6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38DB-E883-9846-0A62-287880D5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3307A-0FC5-466E-111B-29DAB57FA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BCBF4-C03C-2465-5CB1-DFB1434D4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E81E-7469-0568-9050-1D36D778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EBC00-3159-B78B-713D-58BA4DCA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EB62A-E03D-EA44-6053-617C9203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5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B64F-BF92-5009-E467-BCE2D4A2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00DB-C814-FDBB-6594-62AC6088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D0CBF-80F3-17BE-9F9F-D2FE54D9F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9B970-9A5B-58EF-8063-27024523F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6B198-3093-C3D2-0AEA-9BA607E08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875C60-D71F-E678-0DF8-0B795898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FEDDD-600A-D364-209F-DED632E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02767-F4B9-E919-F4A6-16181BAE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9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DDB8-19F2-3EC4-AFA5-E7741328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B8BD8-69FB-BFFC-01F3-7468CDCA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548BF-5A0E-ACBC-3728-4510A307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533AC-89C5-D192-1F89-F02E6C06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76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7D76F-BD80-7F96-C9F6-1E2462230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16E7D-DDC0-EF05-84C7-7BE5AF82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BE498-31D9-7A14-CE9A-994292FD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7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9634-8E3B-33FC-45B3-C7745EBB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1C37F-5369-6ABE-6A1B-2CA9D51C8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6D85B-D613-55D1-62AF-811E27B78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BD747-D463-379B-0F32-BDA6863D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C6CEC-93FF-C0BB-5899-8AA7269A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05B5F-283F-359E-A45C-B23AFDB2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3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0B1E-84A3-FB78-8890-0779F83D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C98793-7BB0-AD74-6135-61030E6BE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85A05-352E-3B36-C16D-AE36D91A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5CCFF-9864-AFAF-2B7D-A8252520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01408-819A-7388-949E-0EEADB67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745AD-1CEE-5382-0F46-8F1AA541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AFB5-0DB9-A504-D895-EE13F642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88D93-00B9-CB67-2D93-08D6C44F2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8716A-1695-9B34-9692-BEC0C17B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9A68-A9E2-DFB3-0AF4-3D99D6B7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3E961-5487-5E30-CD0A-1FDBC5DE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4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169B5-920E-25FB-48F1-7FD1F238E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F4137-F1C6-4B73-92D9-FD464CC2F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A751B-76A6-9970-360A-9473E3AA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4E921-ECF4-E31B-2749-7BB07C2B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FE755-E2A0-899B-B757-A3EAA738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2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EE3FE8-8791-3E77-0D46-5875475FC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88D9-98C4-861E-79CB-B5605BB59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C271-7DBC-526D-5BC6-7910B3962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CC2CD-9A1E-4A93-BBEF-6257C26C28A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5E315-A805-4FEA-2326-6310641AB4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3FEF4-2FCC-651A-4A55-298CEA666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23E8A-7681-41C5-A059-46E9C8BD4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2.wmf"/><Relationship Id="rId2" Type="http://schemas.openxmlformats.org/officeDocument/2006/relationships/oleObject" Target="../embeddings/oleObject14.bin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0.png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671E-FE9E-B144-0D7E-40422ED4E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Mobile Radio Propagation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C4FAB-9CE8-11F2-8777-0405458861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Large-Scale Path Loss</a:t>
            </a:r>
          </a:p>
        </p:txBody>
      </p:sp>
    </p:spTree>
    <p:extLst>
      <p:ext uri="{BB962C8B-B14F-4D97-AF65-F5344CB8AC3E}">
        <p14:creationId xmlns:p14="http://schemas.microsoft.com/office/powerpoint/2010/main" val="407615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FE9D-6092-E49C-DD4E-1950207B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9668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60076-F07A-8E85-B38A-F65F89041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793"/>
            <a:ext cx="10515600" cy="5268082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wave propagation describes how electromagnetic (EM) waves travel from a transmitting antenna to a receiving antenna through space and the environment.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mobile communication systems, propagation is influenced by:</a:t>
            </a:r>
          </a:p>
          <a:p>
            <a:pPr marL="1028700" lvl="1" indent="-571500" algn="just">
              <a:lnSpc>
                <a:spcPct val="16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transmitter and receiver (T-R separation)</a:t>
            </a:r>
          </a:p>
          <a:p>
            <a:pPr marL="1028700" lvl="1" indent="-571500" algn="just">
              <a:lnSpc>
                <a:spcPct val="16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Terrain and environment (urban, suburban, rural)</a:t>
            </a:r>
          </a:p>
          <a:p>
            <a:pPr marL="1028700" lvl="1" indent="-571500" algn="just">
              <a:lnSpc>
                <a:spcPct val="16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operation</a:t>
            </a:r>
          </a:p>
          <a:p>
            <a:pPr marL="1028700" lvl="1" indent="-571500" algn="just">
              <a:lnSpc>
                <a:spcPct val="16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heights and characteristics</a:t>
            </a:r>
          </a:p>
          <a:p>
            <a:pPr marL="1028700" lvl="1" indent="-571500" algn="just">
              <a:lnSpc>
                <a:spcPct val="16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obstacles (buildings, trees, terrain)</a:t>
            </a:r>
          </a:p>
          <a:p>
            <a:pPr algn="just"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propagation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signal power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large distances (hundreds to thousands of wavelengths), ignoring rapid fluctuations caused by multipath.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47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112B-2270-92F9-2124-E456C269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Path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BB10E-064A-E76E-03CA-95A5FFC66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628"/>
            <a:ext cx="10515600" cy="520956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loss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reduction in signal power as a radio wave propagates through space.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Path Loss</a:t>
            </a:r>
          </a:p>
          <a:p>
            <a:pPr marL="1028700" lvl="1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spreading of the wave</a:t>
            </a:r>
          </a:p>
          <a:p>
            <a:pPr marL="1028700" lvl="1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Absorption by the atmosphere</a:t>
            </a:r>
          </a:p>
          <a:p>
            <a:pPr marL="1028700" lvl="1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Reflection, diffraction, and scattering by obstacles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path loss models predict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received signal strength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are critical for:</a:t>
            </a:r>
          </a:p>
          <a:p>
            <a:pPr marL="1028700" lvl="1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coverage planning</a:t>
            </a:r>
          </a:p>
          <a:p>
            <a:pPr marL="1028700" lvl="1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station placement</a:t>
            </a:r>
          </a:p>
          <a:p>
            <a:pPr marL="1028700" lvl="1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budget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8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CA55-0008-CB64-E687-19B79FAB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625"/>
            <a:ext cx="10515600" cy="834096"/>
          </a:xfrm>
        </p:spPr>
        <p:txBody>
          <a:bodyPr/>
          <a:lstStyle/>
          <a:p>
            <a:r>
              <a:rPr lang="en-US" dirty="0"/>
              <a:t>Free Space Propagation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527DE-3162-A067-FEA4-FC4BDF5C3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7957"/>
                <a:ext cx="10515600" cy="5290418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spcBef>
                    <a:spcPct val="20000"/>
                  </a:spcBef>
                  <a:buFontTx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free space propagation model is used to predict received signal strength when the transmitter and receiver have a clear line-of-sight path between them.</a:t>
                </a:r>
              </a:p>
              <a:p>
                <a:pPr lvl="1">
                  <a:spcBef>
                    <a:spcPct val="20000"/>
                  </a:spcBef>
                  <a:buFontTx/>
                  <a:buChar char="–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satellite communication</a:t>
                </a:r>
              </a:p>
              <a:p>
                <a:pPr lvl="1">
                  <a:spcBef>
                    <a:spcPct val="20000"/>
                  </a:spcBef>
                  <a:buFontTx/>
                  <a:buChar char="–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microwave line-of-sight radio link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space model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assumes:</a:t>
                </a:r>
              </a:p>
              <a:p>
                <a:pPr marL="1028700" lvl="1" indent="-571500">
                  <a:buFont typeface="+mj-lt"/>
                  <a:buAutoNum type="romanL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Line-of-sight (LOS) path</a:t>
                </a:r>
              </a:p>
              <a:p>
                <a:pPr marL="1028700" lvl="1" indent="-571500">
                  <a:buFont typeface="+mj-lt"/>
                  <a:buAutoNum type="romanL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obstacles</a:t>
                </a:r>
              </a:p>
              <a:p>
                <a:pPr marL="1028700" lvl="1" indent="-571500">
                  <a:buFont typeface="+mj-lt"/>
                  <a:buAutoNum type="romanL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Ideal propagation conditions</a:t>
                </a:r>
              </a:p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Friis Transmission Equation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𝑃</m:t>
                        </m:r>
                      </m:e>
                      <m:sub>
                        <m:r>
                          <a:rPr lang="ar-AE" sz="2400" i="1"/>
                          <m:t>𝑟</m:t>
                        </m:r>
                      </m:sub>
                    </m:sSub>
                    <m:r>
                      <a:rPr lang="ar-AE" sz="2400"/>
                      <m:t>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𝑃</m:t>
                        </m:r>
                      </m:e>
                      <m:sub>
                        <m:r>
                          <a:rPr lang="ar-AE" sz="2400" i="1"/>
                          <m:t>𝑡</m:t>
                        </m:r>
                      </m:sub>
                    </m:sSub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𝐺</m:t>
                        </m:r>
                      </m:e>
                      <m:sub>
                        <m:r>
                          <a:rPr lang="ar-AE" sz="2400" i="1"/>
                          <m:t>𝑡</m:t>
                        </m:r>
                      </m:sub>
                    </m:sSub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𝐺</m:t>
                        </m:r>
                      </m:e>
                      <m:sub>
                        <m:r>
                          <a:rPr lang="ar-AE" sz="2400" i="1"/>
                          <m:t>𝑟</m:t>
                        </m:r>
                      </m:sub>
                    </m:sSub>
                    <m:sSup>
                      <m:sSupPr>
                        <m:ctrlPr>
                          <a:rPr lang="ar-AE" sz="2400" i="1"/>
                        </m:ctrlPr>
                      </m:sSupPr>
                      <m:e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2400" i="1"/>
                                </m:ctrlPr>
                              </m:fPr>
                              <m:num>
                                <m:r>
                                  <a:rPr lang="ar-AE" sz="2400" i="1"/>
                                  <m:t>𝜆</m:t>
                                </m:r>
                              </m:num>
                              <m:den>
                                <m:r>
                                  <a:rPr lang="ar-AE" sz="2400"/>
                                  <m:t>4</m:t>
                                </m:r>
                                <m:r>
                                  <a:rPr lang="ar-AE" sz="2400" i="1"/>
                                  <m:t>𝜋</m:t>
                                </m:r>
                                <m:r>
                                  <a:rPr lang="ar-AE" sz="2400" i="1"/>
                                  <m:t>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sz="2400"/>
                          <m:t>2</m:t>
                        </m:r>
                      </m:sup>
                    </m:sSup>
                  </m:oMath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received power (W)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transmitted power (W)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𝐺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  <m:r>
                      <a:rPr lang="ar-AE"/>
                      <m:t>,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𝐺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transmit and receive antenna gains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/>
                      <m:t>𝜆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wavelength (m)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/>
                      <m:t>𝑑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distance between antennas (m)</a:t>
                </a:r>
              </a:p>
              <a:p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527DE-3162-A067-FEA4-FC4BDF5C3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7957"/>
                <a:ext cx="10515600" cy="5290418"/>
              </a:xfrm>
              <a:blipFill>
                <a:blip r:embed="rId2"/>
                <a:stretch>
                  <a:fillRect l="-522" t="-2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85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2">
            <a:extLst>
              <a:ext uri="{FF2B5EF4-FFF2-40B4-BE49-F238E27FC236}">
                <a16:creationId xmlns:a16="http://schemas.microsoft.com/office/drawing/2014/main" id="{97291244-C430-28B9-A222-B03C9A8DA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41" y="762000"/>
            <a:ext cx="11116019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The gain of the antenna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algn="just" eaLnBrk="1" hangingPunct="1">
              <a:spcBef>
                <a:spcPct val="20000"/>
              </a:spcBef>
            </a:pPr>
            <a:r>
              <a:rPr lang="en-US" altLang="zh-TW" sz="2000" dirty="0"/>
              <a:t>          : effective aperture is related to the physical size of the antenna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The wave length      is related to the carrier frequency by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algn="just" eaLnBrk="1" hangingPunct="1">
              <a:spcBef>
                <a:spcPct val="20000"/>
              </a:spcBef>
            </a:pPr>
            <a:r>
              <a:rPr lang="en-US" altLang="zh-TW" sz="2000" dirty="0"/>
              <a:t>          : carrier frequency in Hertz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TW" sz="2000" dirty="0"/>
              <a:t>          : carrier frequency in radians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TW" sz="2000" dirty="0"/>
              <a:t>          : speed of light (meters/s) 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The losses                   are usually due to transmission line attenuation, filter losses, and antenna losses in the communication system. A value of </a:t>
            </a:r>
            <a:r>
              <a:rPr lang="en-US" altLang="zh-TW" sz="2000" i="1" dirty="0"/>
              <a:t>L=1</a:t>
            </a:r>
            <a:r>
              <a:rPr lang="en-US" altLang="zh-TW" sz="2000" dirty="0"/>
              <a:t> indicates no loss in the system hardware.</a:t>
            </a:r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35F4BE4D-2FEF-6801-2735-1540E62910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1219201"/>
          <a:ext cx="10287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622080" imgH="393480" progId="Equation.3">
                  <p:embed/>
                </p:oleObj>
              </mc:Choice>
              <mc:Fallback>
                <p:oleObj name="方程式" r:id="rId2" imgW="622080" imgH="393480" progId="Equation.3">
                  <p:embed/>
                  <p:pic>
                    <p:nvPicPr>
                      <p:cNvPr id="3074" name="Object 3">
                        <a:extLst>
                          <a:ext uri="{FF2B5EF4-FFF2-40B4-BE49-F238E27FC236}">
                            <a16:creationId xmlns:a16="http://schemas.microsoft.com/office/drawing/2014/main" id="{35F4BE4D-2FEF-6801-2735-1540E6291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219201"/>
                        <a:ext cx="10287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4344E0A2-E177-2E8F-8F88-002AA6E51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1905001"/>
          <a:ext cx="292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77480" imgH="228600" progId="Equation.3">
                  <p:embed/>
                </p:oleObj>
              </mc:Choice>
              <mc:Fallback>
                <p:oleObj name="方程式" r:id="rId4" imgW="177480" imgH="228600" progId="Equation.3">
                  <p:embed/>
                  <p:pic>
                    <p:nvPicPr>
                      <p:cNvPr id="3075" name="Object 4">
                        <a:extLst>
                          <a:ext uri="{FF2B5EF4-FFF2-40B4-BE49-F238E27FC236}">
                            <a16:creationId xmlns:a16="http://schemas.microsoft.com/office/drawing/2014/main" id="{4344E0A2-E177-2E8F-8F88-002AA6E513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05001"/>
                        <a:ext cx="2921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5">
            <a:extLst>
              <a:ext uri="{FF2B5EF4-FFF2-40B4-BE49-F238E27FC236}">
                <a16:creationId xmlns:a16="http://schemas.microsoft.com/office/drawing/2014/main" id="{DFA92533-358F-14EC-07D3-FB56817AB1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286000"/>
          <a:ext cx="2301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39680" imgH="177480" progId="Equation.3">
                  <p:embed/>
                </p:oleObj>
              </mc:Choice>
              <mc:Fallback>
                <p:oleObj name="方程式" r:id="rId6" imgW="139680" imgH="177480" progId="Equation.3">
                  <p:embed/>
                  <p:pic>
                    <p:nvPicPr>
                      <p:cNvPr id="3076" name="Object 5">
                        <a:extLst>
                          <a:ext uri="{FF2B5EF4-FFF2-40B4-BE49-F238E27FC236}">
                            <a16:creationId xmlns:a16="http://schemas.microsoft.com/office/drawing/2014/main" id="{DFA92533-358F-14EC-07D3-FB56817AB1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286000"/>
                        <a:ext cx="2301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6">
            <a:extLst>
              <a:ext uri="{FF2B5EF4-FFF2-40B4-BE49-F238E27FC236}">
                <a16:creationId xmlns:a16="http://schemas.microsoft.com/office/drawing/2014/main" id="{7416460A-9322-91E8-52B2-88691A50B5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1" y="2667000"/>
          <a:ext cx="13811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838080" imgH="431640" progId="Equation.3">
                  <p:embed/>
                </p:oleObj>
              </mc:Choice>
              <mc:Fallback>
                <p:oleObj name="方程式" r:id="rId8" imgW="838080" imgH="431640" progId="Equation.3">
                  <p:embed/>
                  <p:pic>
                    <p:nvPicPr>
                      <p:cNvPr id="3077" name="Object 6">
                        <a:extLst>
                          <a:ext uri="{FF2B5EF4-FFF2-40B4-BE49-F238E27FC236}">
                            <a16:creationId xmlns:a16="http://schemas.microsoft.com/office/drawing/2014/main" id="{7416460A-9322-91E8-52B2-88691A50B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2667000"/>
                        <a:ext cx="138112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7">
            <a:extLst>
              <a:ext uri="{FF2B5EF4-FFF2-40B4-BE49-F238E27FC236}">
                <a16:creationId xmlns:a16="http://schemas.microsoft.com/office/drawing/2014/main" id="{A56D9FBB-432A-3E09-1F0F-C7BADC668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086243"/>
              </p:ext>
            </p:extLst>
          </p:nvPr>
        </p:nvGraphicFramePr>
        <p:xfrm>
          <a:off x="4164378" y="3352801"/>
          <a:ext cx="249238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52280" imgH="203040" progId="Equation.3">
                  <p:embed/>
                </p:oleObj>
              </mc:Choice>
              <mc:Fallback>
                <p:oleObj name="方程式" r:id="rId10" imgW="152280" imgH="203040" progId="Equation.3">
                  <p:embed/>
                  <p:pic>
                    <p:nvPicPr>
                      <p:cNvPr id="3078" name="Object 7">
                        <a:extLst>
                          <a:ext uri="{FF2B5EF4-FFF2-40B4-BE49-F238E27FC236}">
                            <a16:creationId xmlns:a16="http://schemas.microsoft.com/office/drawing/2014/main" id="{A56D9FBB-432A-3E09-1F0F-C7BADC6681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378" y="3352801"/>
                        <a:ext cx="249238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8">
            <a:extLst>
              <a:ext uri="{FF2B5EF4-FFF2-40B4-BE49-F238E27FC236}">
                <a16:creationId xmlns:a16="http://schemas.microsoft.com/office/drawing/2014/main" id="{9B7021FD-A413-D60F-1901-B0CC138C33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815301"/>
              </p:ext>
            </p:extLst>
          </p:nvPr>
        </p:nvGraphicFramePr>
        <p:xfrm>
          <a:off x="4252512" y="3657600"/>
          <a:ext cx="314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2" imgW="190440" imgH="228600" progId="Equation.3">
                  <p:embed/>
                </p:oleObj>
              </mc:Choice>
              <mc:Fallback>
                <p:oleObj name="方程式" r:id="rId12" imgW="190440" imgH="228600" progId="Equation.3">
                  <p:embed/>
                  <p:pic>
                    <p:nvPicPr>
                      <p:cNvPr id="3079" name="Object 8">
                        <a:extLst>
                          <a:ext uri="{FF2B5EF4-FFF2-40B4-BE49-F238E27FC236}">
                            <a16:creationId xmlns:a16="http://schemas.microsoft.com/office/drawing/2014/main" id="{9B7021FD-A413-D60F-1901-B0CC138C33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512" y="3657600"/>
                        <a:ext cx="3143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9">
            <a:extLst>
              <a:ext uri="{FF2B5EF4-FFF2-40B4-BE49-F238E27FC236}">
                <a16:creationId xmlns:a16="http://schemas.microsoft.com/office/drawing/2014/main" id="{778D1D55-95CA-0276-73B9-AFB92D768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874569"/>
              </p:ext>
            </p:extLst>
          </p:nvPr>
        </p:nvGraphicFramePr>
        <p:xfrm>
          <a:off x="4316012" y="4113214"/>
          <a:ext cx="187325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4" imgW="114120" imgH="139680" progId="Equation.3">
                  <p:embed/>
                </p:oleObj>
              </mc:Choice>
              <mc:Fallback>
                <p:oleObj name="方程式" r:id="rId14" imgW="114120" imgH="139680" progId="Equation.3">
                  <p:embed/>
                  <p:pic>
                    <p:nvPicPr>
                      <p:cNvPr id="3080" name="Object 9">
                        <a:extLst>
                          <a:ext uri="{FF2B5EF4-FFF2-40B4-BE49-F238E27FC236}">
                            <a16:creationId xmlns:a16="http://schemas.microsoft.com/office/drawing/2014/main" id="{778D1D55-95CA-0276-73B9-AFB92D768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012" y="4113214"/>
                        <a:ext cx="187325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10">
            <a:extLst>
              <a:ext uri="{FF2B5EF4-FFF2-40B4-BE49-F238E27FC236}">
                <a16:creationId xmlns:a16="http://schemas.microsoft.com/office/drawing/2014/main" id="{67B852FB-27C4-8A98-936F-38BAFDC0B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208064"/>
              </p:ext>
            </p:extLst>
          </p:nvPr>
        </p:nvGraphicFramePr>
        <p:xfrm>
          <a:off x="1959169" y="4495800"/>
          <a:ext cx="231775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6" imgW="139680" imgH="152280" progId="Equation.3">
                  <p:embed/>
                </p:oleObj>
              </mc:Choice>
              <mc:Fallback>
                <p:oleObj name="方程式" r:id="rId16" imgW="139680" imgH="152280" progId="Equation.3">
                  <p:embed/>
                  <p:pic>
                    <p:nvPicPr>
                      <p:cNvPr id="3081" name="Object 10">
                        <a:extLst>
                          <a:ext uri="{FF2B5EF4-FFF2-40B4-BE49-F238E27FC236}">
                            <a16:creationId xmlns:a16="http://schemas.microsoft.com/office/drawing/2014/main" id="{67B852FB-27C4-8A98-936F-38BAFDC0B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169" y="4495800"/>
                        <a:ext cx="231775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1">
            <a:extLst>
              <a:ext uri="{FF2B5EF4-FFF2-40B4-BE49-F238E27FC236}">
                <a16:creationId xmlns:a16="http://schemas.microsoft.com/office/drawing/2014/main" id="{47E02F68-0E55-9B10-D567-DA35B2F2E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983181"/>
              </p:ext>
            </p:extLst>
          </p:nvPr>
        </p:nvGraphicFramePr>
        <p:xfrm>
          <a:off x="2263967" y="4495801"/>
          <a:ext cx="7588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8" imgW="457200" imgH="203040" progId="Equation.3">
                  <p:embed/>
                </p:oleObj>
              </mc:Choice>
              <mc:Fallback>
                <p:oleObj name="方程式" r:id="rId18" imgW="457200" imgH="203040" progId="Equation.3">
                  <p:embed/>
                  <p:pic>
                    <p:nvPicPr>
                      <p:cNvPr id="3082" name="Object 11">
                        <a:extLst>
                          <a:ext uri="{FF2B5EF4-FFF2-40B4-BE49-F238E27FC236}">
                            <a16:creationId xmlns:a16="http://schemas.microsoft.com/office/drawing/2014/main" id="{47E02F68-0E55-9B10-D567-DA35B2F2EF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967" y="4495801"/>
                        <a:ext cx="7588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>
            <a:extLst>
              <a:ext uri="{FF2B5EF4-FFF2-40B4-BE49-F238E27FC236}">
                <a16:creationId xmlns:a16="http://schemas.microsoft.com/office/drawing/2014/main" id="{1B7C380E-DB03-33E7-A188-03A014052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607" y="762000"/>
            <a:ext cx="11248222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Isotropic radiator is an ideal antenna which radiates power with unit gain.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Effective isotropic radiated power (EIRP) is defined as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</a:pPr>
            <a:r>
              <a:rPr lang="en-US" altLang="zh-TW" sz="2000" dirty="0"/>
              <a:t>     and represents the maximum radiated power available from transmitter in the direction of maximum antenna gain as compared to an isotropic radiator.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Path loss for the free space model with antenna gains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When antenna gains are excluded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The Friis free space model is only a valid predictor for       </a:t>
            </a:r>
            <a:r>
              <a:rPr lang="en-US" altLang="zh-TW" sz="2000" dirty="0" err="1"/>
              <a:t>for</a:t>
            </a:r>
            <a:r>
              <a:rPr lang="en-US" altLang="zh-TW" sz="2000" dirty="0"/>
              <a:t> values of </a:t>
            </a:r>
            <a:r>
              <a:rPr lang="en-US" altLang="zh-TW" sz="2000" i="1" dirty="0"/>
              <a:t>d</a:t>
            </a:r>
            <a:r>
              <a:rPr lang="en-US" altLang="zh-TW" sz="2000" dirty="0"/>
              <a:t> which is in the far-field (Fraunhofer region) of the transmission antenna. </a:t>
            </a:r>
          </a:p>
        </p:txBody>
      </p:sp>
      <p:graphicFrame>
        <p:nvGraphicFramePr>
          <p:cNvPr id="4098" name="Object 3">
            <a:extLst>
              <a:ext uri="{FF2B5EF4-FFF2-40B4-BE49-F238E27FC236}">
                <a16:creationId xmlns:a16="http://schemas.microsoft.com/office/drawing/2014/main" id="{54DE9AAC-ABE8-3F49-C829-ADC66AAC3C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1828801"/>
          <a:ext cx="12969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787320" imgH="228600" progId="Equation.3">
                  <p:embed/>
                </p:oleObj>
              </mc:Choice>
              <mc:Fallback>
                <p:oleObj name="方程式" r:id="rId2" imgW="787320" imgH="228600" progId="Equation.3">
                  <p:embed/>
                  <p:pic>
                    <p:nvPicPr>
                      <p:cNvPr id="4098" name="Object 3">
                        <a:extLst>
                          <a:ext uri="{FF2B5EF4-FFF2-40B4-BE49-F238E27FC236}">
                            <a16:creationId xmlns:a16="http://schemas.microsoft.com/office/drawing/2014/main" id="{54DE9AAC-ABE8-3F49-C829-ADC66AAC3C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828801"/>
                        <a:ext cx="129698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">
            <a:extLst>
              <a:ext uri="{FF2B5EF4-FFF2-40B4-BE49-F238E27FC236}">
                <a16:creationId xmlns:a16="http://schemas.microsoft.com/office/drawing/2014/main" id="{75D9D858-6676-1686-19BC-92B5A34A9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229009"/>
              </p:ext>
            </p:extLst>
          </p:nvPr>
        </p:nvGraphicFramePr>
        <p:xfrm>
          <a:off x="3571875" y="3275015"/>
          <a:ext cx="40592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463480" imgH="482400" progId="Equation.3">
                  <p:embed/>
                </p:oleObj>
              </mc:Choice>
              <mc:Fallback>
                <p:oleObj name="方程式" r:id="rId4" imgW="2463480" imgH="482400" progId="Equation.3">
                  <p:embed/>
                  <p:pic>
                    <p:nvPicPr>
                      <p:cNvPr id="4099" name="Object 4">
                        <a:extLst>
                          <a:ext uri="{FF2B5EF4-FFF2-40B4-BE49-F238E27FC236}">
                            <a16:creationId xmlns:a16="http://schemas.microsoft.com/office/drawing/2014/main" id="{75D9D858-6676-1686-19BC-92B5A34A90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3275015"/>
                        <a:ext cx="40592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5">
            <a:extLst>
              <a:ext uri="{FF2B5EF4-FFF2-40B4-BE49-F238E27FC236}">
                <a16:creationId xmlns:a16="http://schemas.microsoft.com/office/drawing/2014/main" id="{68957B2A-78E9-121D-38AF-4D2DA818D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648201"/>
          <a:ext cx="40592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2463480" imgH="482400" progId="Equation.3">
                  <p:embed/>
                </p:oleObj>
              </mc:Choice>
              <mc:Fallback>
                <p:oleObj name="方程式" r:id="rId6" imgW="2463480" imgH="482400" progId="Equation.3">
                  <p:embed/>
                  <p:pic>
                    <p:nvPicPr>
                      <p:cNvPr id="4100" name="Object 5">
                        <a:extLst>
                          <a:ext uri="{FF2B5EF4-FFF2-40B4-BE49-F238E27FC236}">
                            <a16:creationId xmlns:a16="http://schemas.microsoft.com/office/drawing/2014/main" id="{68957B2A-78E9-121D-38AF-4D2DA818D8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648201"/>
                        <a:ext cx="40592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>
            <a:extLst>
              <a:ext uri="{FF2B5EF4-FFF2-40B4-BE49-F238E27FC236}">
                <a16:creationId xmlns:a16="http://schemas.microsoft.com/office/drawing/2014/main" id="{8758B36D-AA9C-4FD2-C2E5-DC28CADBD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303545"/>
              </p:ext>
            </p:extLst>
          </p:nvPr>
        </p:nvGraphicFramePr>
        <p:xfrm>
          <a:off x="6454965" y="5483645"/>
          <a:ext cx="2698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64880" imgH="215640" progId="Equation.3">
                  <p:embed/>
                </p:oleObj>
              </mc:Choice>
              <mc:Fallback>
                <p:oleObj name="方程式" r:id="rId8" imgW="164880" imgH="215640" progId="Equation.3">
                  <p:embed/>
                  <p:pic>
                    <p:nvPicPr>
                      <p:cNvPr id="4101" name="Object 6">
                        <a:extLst>
                          <a:ext uri="{FF2B5EF4-FFF2-40B4-BE49-F238E27FC236}">
                            <a16:creationId xmlns:a16="http://schemas.microsoft.com/office/drawing/2014/main" id="{8758B36D-AA9C-4FD2-C2E5-DC28CADBD0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965" y="5483645"/>
                        <a:ext cx="2698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2">
            <a:extLst>
              <a:ext uri="{FF2B5EF4-FFF2-40B4-BE49-F238E27FC236}">
                <a16:creationId xmlns:a16="http://schemas.microsoft.com/office/drawing/2014/main" id="{237363B0-8939-7008-095B-7C268856B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63" y="762000"/>
            <a:ext cx="10851614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The far-field region of a transmitting antenna is defined as the region beyond the far-field distance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</a:pPr>
            <a:r>
              <a:rPr lang="en-US" altLang="zh-TW" sz="2000" dirty="0"/>
              <a:t>      where </a:t>
            </a:r>
            <a:r>
              <a:rPr lang="en-US" altLang="zh-TW" sz="2000" i="1" dirty="0"/>
              <a:t>D</a:t>
            </a:r>
            <a:r>
              <a:rPr lang="en-US" altLang="zh-TW" sz="2000" dirty="0"/>
              <a:t> is the largest physical linear dimension of the antenna.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To be in the far-filed region the following equations must be satisfied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sz="2000" dirty="0"/>
              <a:t>                                                         and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Furthermore the following equation does not hold for </a:t>
            </a:r>
            <a:r>
              <a:rPr lang="en-US" altLang="zh-TW" sz="2000" i="1" dirty="0"/>
              <a:t>d=0</a:t>
            </a:r>
            <a:r>
              <a:rPr lang="en-US" altLang="zh-TW" sz="2000" dirty="0"/>
              <a:t>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dirty="0"/>
              <a:t>Use close-in distance        and a known received power             at that point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dirty="0"/>
          </a:p>
          <a:p>
            <a:pPr eaLnBrk="1" hangingPunct="1">
              <a:spcBef>
                <a:spcPct val="20000"/>
              </a:spcBef>
            </a:pPr>
            <a:r>
              <a:rPr lang="en-US" altLang="zh-TW" sz="2000" dirty="0"/>
              <a:t>     or</a:t>
            </a:r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0AC7BA29-5989-AE8A-3A39-F31C579DF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587144"/>
              </p:ext>
            </p:extLst>
          </p:nvPr>
        </p:nvGraphicFramePr>
        <p:xfrm>
          <a:off x="5119689" y="1272007"/>
          <a:ext cx="108267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660240" imgH="419040" progId="Equation.3">
                  <p:embed/>
                </p:oleObj>
              </mc:Choice>
              <mc:Fallback>
                <p:oleObj name="方程式" r:id="rId2" imgW="660240" imgH="419040" progId="Equation.3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0AC7BA29-5989-AE8A-3A39-F31C579DF2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689" y="1272007"/>
                        <a:ext cx="108267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>
            <a:extLst>
              <a:ext uri="{FF2B5EF4-FFF2-40B4-BE49-F238E27FC236}">
                <a16:creationId xmlns:a16="http://schemas.microsoft.com/office/drawing/2014/main" id="{6060647C-4183-E597-D8FD-3E2BE744E4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599410"/>
              </p:ext>
            </p:extLst>
          </p:nvPr>
        </p:nvGraphicFramePr>
        <p:xfrm>
          <a:off x="2260292" y="2554076"/>
          <a:ext cx="9398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571320" imgH="241200" progId="Equation.3">
                  <p:embed/>
                </p:oleObj>
              </mc:Choice>
              <mc:Fallback>
                <p:oleObj name="方程式" r:id="rId4" imgW="571320" imgH="241200" progId="Equation.3">
                  <p:embed/>
                  <p:pic>
                    <p:nvPicPr>
                      <p:cNvPr id="5123" name="Object 4">
                        <a:extLst>
                          <a:ext uri="{FF2B5EF4-FFF2-40B4-BE49-F238E27FC236}">
                            <a16:creationId xmlns:a16="http://schemas.microsoft.com/office/drawing/2014/main" id="{6060647C-4183-E597-D8FD-3E2BE744E4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292" y="2554076"/>
                        <a:ext cx="9398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5">
            <a:extLst>
              <a:ext uri="{FF2B5EF4-FFF2-40B4-BE49-F238E27FC236}">
                <a16:creationId xmlns:a16="http://schemas.microsoft.com/office/drawing/2014/main" id="{3308B423-B30C-8DD9-B609-DE05219AF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924250"/>
              </p:ext>
            </p:extLst>
          </p:nvPr>
        </p:nvGraphicFramePr>
        <p:xfrm>
          <a:off x="5657162" y="2631193"/>
          <a:ext cx="8953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545760" imgH="241200" progId="Equation.3">
                  <p:embed/>
                </p:oleObj>
              </mc:Choice>
              <mc:Fallback>
                <p:oleObj name="方程式" r:id="rId6" imgW="545760" imgH="241200" progId="Equation.3">
                  <p:embed/>
                  <p:pic>
                    <p:nvPicPr>
                      <p:cNvPr id="5124" name="Object 5">
                        <a:extLst>
                          <a:ext uri="{FF2B5EF4-FFF2-40B4-BE49-F238E27FC236}">
                            <a16:creationId xmlns:a16="http://schemas.microsoft.com/office/drawing/2014/main" id="{3308B423-B30C-8DD9-B609-DE05219AF7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162" y="2631193"/>
                        <a:ext cx="8953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6">
            <a:extLst>
              <a:ext uri="{FF2B5EF4-FFF2-40B4-BE49-F238E27FC236}">
                <a16:creationId xmlns:a16="http://schemas.microsoft.com/office/drawing/2014/main" id="{721F7313-B425-55D5-1403-6A130382E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741430"/>
              </p:ext>
            </p:extLst>
          </p:nvPr>
        </p:nvGraphicFramePr>
        <p:xfrm>
          <a:off x="4876801" y="3304139"/>
          <a:ext cx="1895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143000" imgH="444240" progId="Equation.3">
                  <p:embed/>
                </p:oleObj>
              </mc:Choice>
              <mc:Fallback>
                <p:oleObj name="方程式" r:id="rId8" imgW="1143000" imgH="444240" progId="Equation.3">
                  <p:embed/>
                  <p:pic>
                    <p:nvPicPr>
                      <p:cNvPr id="5125" name="Object 6">
                        <a:extLst>
                          <a:ext uri="{FF2B5EF4-FFF2-40B4-BE49-F238E27FC236}">
                            <a16:creationId xmlns:a16="http://schemas.microsoft.com/office/drawing/2014/main" id="{721F7313-B425-55D5-1403-6A130382E4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3304139"/>
                        <a:ext cx="1895475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7">
            <a:extLst>
              <a:ext uri="{FF2B5EF4-FFF2-40B4-BE49-F238E27FC236}">
                <a16:creationId xmlns:a16="http://schemas.microsoft.com/office/drawing/2014/main" id="{4E23BB5E-EE4A-58E0-441B-43447467A8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133506"/>
              </p:ext>
            </p:extLst>
          </p:nvPr>
        </p:nvGraphicFramePr>
        <p:xfrm>
          <a:off x="3399623" y="4089095"/>
          <a:ext cx="292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77480" imgH="228600" progId="Equation.3">
                  <p:embed/>
                </p:oleObj>
              </mc:Choice>
              <mc:Fallback>
                <p:oleObj name="方程式" r:id="rId10" imgW="177480" imgH="228600" progId="Equation.3">
                  <p:embed/>
                  <p:pic>
                    <p:nvPicPr>
                      <p:cNvPr id="5126" name="Object 7">
                        <a:extLst>
                          <a:ext uri="{FF2B5EF4-FFF2-40B4-BE49-F238E27FC236}">
                            <a16:creationId xmlns:a16="http://schemas.microsoft.com/office/drawing/2014/main" id="{4E23BB5E-EE4A-58E0-441B-43447467A8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623" y="4089095"/>
                        <a:ext cx="2921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8">
            <a:extLst>
              <a:ext uri="{FF2B5EF4-FFF2-40B4-BE49-F238E27FC236}">
                <a16:creationId xmlns:a16="http://schemas.microsoft.com/office/drawing/2014/main" id="{415B5AE3-F356-7996-6ECF-D0D9B7D2D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766733"/>
              </p:ext>
            </p:extLst>
          </p:nvPr>
        </p:nvGraphicFramePr>
        <p:xfrm>
          <a:off x="6850651" y="4067057"/>
          <a:ext cx="70961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2" imgW="431640" imgH="228600" progId="Equation.3">
                  <p:embed/>
                </p:oleObj>
              </mc:Choice>
              <mc:Fallback>
                <p:oleObj name="方程式" r:id="rId12" imgW="431640" imgH="228600" progId="Equation.3">
                  <p:embed/>
                  <p:pic>
                    <p:nvPicPr>
                      <p:cNvPr id="5127" name="Object 8">
                        <a:extLst>
                          <a:ext uri="{FF2B5EF4-FFF2-40B4-BE49-F238E27FC236}">
                            <a16:creationId xmlns:a16="http://schemas.microsoft.com/office/drawing/2014/main" id="{415B5AE3-F356-7996-6ECF-D0D9B7D2D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651" y="4067057"/>
                        <a:ext cx="70961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9">
            <a:extLst>
              <a:ext uri="{FF2B5EF4-FFF2-40B4-BE49-F238E27FC236}">
                <a16:creationId xmlns:a16="http://schemas.microsoft.com/office/drawing/2014/main" id="{49A8B3DB-76E3-073D-E25F-A33E8A405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4876801"/>
          <a:ext cx="212725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4" imgW="1282680" imgH="469800" progId="Equation.3">
                  <p:embed/>
                </p:oleObj>
              </mc:Choice>
              <mc:Fallback>
                <p:oleObj name="方程式" r:id="rId14" imgW="1282680" imgH="469800" progId="Equation.3">
                  <p:embed/>
                  <p:pic>
                    <p:nvPicPr>
                      <p:cNvPr id="5128" name="Object 9">
                        <a:extLst>
                          <a:ext uri="{FF2B5EF4-FFF2-40B4-BE49-F238E27FC236}">
                            <a16:creationId xmlns:a16="http://schemas.microsoft.com/office/drawing/2014/main" id="{49A8B3DB-76E3-073D-E25F-A33E8A4058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876801"/>
                        <a:ext cx="212725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10">
            <a:extLst>
              <a:ext uri="{FF2B5EF4-FFF2-40B4-BE49-F238E27FC236}">
                <a16:creationId xmlns:a16="http://schemas.microsoft.com/office/drawing/2014/main" id="{900712D2-6D93-D3AA-4719-BD2D890886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5105401"/>
          <a:ext cx="12223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6" imgW="736560" imgH="241200" progId="Equation.3">
                  <p:embed/>
                </p:oleObj>
              </mc:Choice>
              <mc:Fallback>
                <p:oleObj name="方程式" r:id="rId16" imgW="736560" imgH="241200" progId="Equation.3">
                  <p:embed/>
                  <p:pic>
                    <p:nvPicPr>
                      <p:cNvPr id="5129" name="Object 10">
                        <a:extLst>
                          <a:ext uri="{FF2B5EF4-FFF2-40B4-BE49-F238E27FC236}">
                            <a16:creationId xmlns:a16="http://schemas.microsoft.com/office/drawing/2014/main" id="{900712D2-6D93-D3AA-4719-BD2D890886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5105401"/>
                        <a:ext cx="12223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11">
            <a:extLst>
              <a:ext uri="{FF2B5EF4-FFF2-40B4-BE49-F238E27FC236}">
                <a16:creationId xmlns:a16="http://schemas.microsoft.com/office/drawing/2014/main" id="{4187F8A0-0A8F-9FF2-E907-4DD73B3BA6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1" y="5791200"/>
          <a:ext cx="448627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8" imgW="2705040" imgH="431640" progId="Equation.3">
                  <p:embed/>
                </p:oleObj>
              </mc:Choice>
              <mc:Fallback>
                <p:oleObj name="方程式" r:id="rId18" imgW="2705040" imgH="431640" progId="Equation.3">
                  <p:embed/>
                  <p:pic>
                    <p:nvPicPr>
                      <p:cNvPr id="5130" name="Object 11">
                        <a:extLst>
                          <a:ext uri="{FF2B5EF4-FFF2-40B4-BE49-F238E27FC236}">
                            <a16:creationId xmlns:a16="http://schemas.microsoft.com/office/drawing/2014/main" id="{4187F8A0-0A8F-9FF2-E907-4DD73B3BA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5791200"/>
                        <a:ext cx="448627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2">
            <a:extLst>
              <a:ext uri="{FF2B5EF4-FFF2-40B4-BE49-F238E27FC236}">
                <a16:creationId xmlns:a16="http://schemas.microsoft.com/office/drawing/2014/main" id="{DBA87C18-33CA-0C7C-BA46-A565186AB3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1" y="5943601"/>
          <a:ext cx="12223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0" imgW="736560" imgH="241200" progId="Equation.3">
                  <p:embed/>
                </p:oleObj>
              </mc:Choice>
              <mc:Fallback>
                <p:oleObj name="方程式" r:id="rId20" imgW="736560" imgH="241200" progId="Equation.3">
                  <p:embed/>
                  <p:pic>
                    <p:nvPicPr>
                      <p:cNvPr id="5131" name="Object 12">
                        <a:extLst>
                          <a:ext uri="{FF2B5EF4-FFF2-40B4-BE49-F238E27FC236}">
                            <a16:creationId xmlns:a16="http://schemas.microsoft.com/office/drawing/2014/main" id="{DBA87C18-33CA-0C7C-BA46-A565186AB3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1" y="5943601"/>
                        <a:ext cx="12223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64023-BAA3-ADB6-8DE5-529FDB524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61860"/>
                <a:ext cx="10515600" cy="561510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b="1" dirty="0"/>
                  <a:t>Free Space Path Loss (FSPL)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i="1"/>
                      <m:t>𝐹𝑆𝑃𝐿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𝑑𝐵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32</m:t>
                    </m:r>
                    <m:r>
                      <a:rPr lang="ar-AE"/>
                      <m:t>.</m:t>
                    </m:r>
                    <m:r>
                      <a:rPr lang="ar-AE"/>
                      <m:t>44</m:t>
                    </m:r>
                    <m:r>
                      <a:rPr lang="ar-AE"/>
                      <m:t>+</m:t>
                    </m:r>
                    <m:r>
                      <a:rPr lang="ar-AE"/>
                      <m:t>20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/>
                          <m:t>10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𝑓</m:t>
                            </m:r>
                          </m:e>
                          <m:sub>
                            <m:r>
                              <a:rPr lang="ar-AE" i="1"/>
                              <m:t>𝑀𝐻𝑧</m:t>
                            </m:r>
                          </m:sub>
                        </m:sSub>
                      </m:e>
                    </m:d>
                    <m:r>
                      <a:rPr lang="ar-AE"/>
                      <m:t>+</m:t>
                    </m:r>
                    <m:r>
                      <a:rPr lang="ar-AE"/>
                      <m:t>20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/>
                          <m:t>10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 i="1"/>
                              <m:t>𝑘𝑚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Limitations</a:t>
                </a:r>
              </a:p>
              <a:p>
                <a:pPr marL="1028700" lvl="1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dirty="0"/>
                  <a:t>Unrealistic for urban and indoor environments</a:t>
                </a:r>
              </a:p>
              <a:p>
                <a:pPr marL="1028700" lvl="1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en-US" dirty="0"/>
                  <a:t>Does not consider reflections or obstructions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64023-BAA3-ADB6-8DE5-529FDB524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61860"/>
                <a:ext cx="10515600" cy="5615103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75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E620-B367-FA9E-6367-677432D3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37ABA-6938-CAC5-81A9-40418F2DA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base station transmits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 frequency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is located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km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away.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antennas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Find: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Space Path Loss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power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96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66AB-9040-0E37-D9E0-9D979574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410998-9BDA-D9B0-BAE6-4B424DB501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/>
                  <a:t>Step 1: Free Space Path Loss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𝐹𝑆𝑃𝐿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𝑑𝐵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32</m:t>
                    </m:r>
                    <m:r>
                      <a:rPr lang="ar-AE"/>
                      <m:t>.</m:t>
                    </m:r>
                    <m:r>
                      <a:rPr lang="ar-AE"/>
                      <m:t>44</m:t>
                    </m:r>
                    <m:r>
                      <a:rPr lang="ar-AE"/>
                      <m:t>+</m:t>
                    </m:r>
                    <m:r>
                      <a:rPr lang="ar-AE"/>
                      <m:t>20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/>
                          <m:t>10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𝑓</m:t>
                            </m:r>
                          </m:e>
                          <m:sub>
                            <m:r>
                              <a:rPr lang="ar-AE" i="1"/>
                              <m:t>𝑀𝐻𝑧</m:t>
                            </m:r>
                          </m:sub>
                        </m:sSub>
                      </m:e>
                    </m:d>
                    <m:r>
                      <a:rPr lang="ar-AE"/>
                      <m:t>+</m:t>
                    </m:r>
                    <m:r>
                      <a:rPr lang="ar-AE"/>
                      <m:t>20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/>
                          <m:t>10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 i="1"/>
                              <m:t>𝑘𝑚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𝐹𝑆𝑃𝐿</m:t>
                    </m:r>
                    <m:r>
                      <a:rPr lang="ar-AE"/>
                      <m:t>=</m:t>
                    </m:r>
                    <m:r>
                      <a:rPr lang="ar-AE"/>
                      <m:t>32</m:t>
                    </m:r>
                    <m:r>
                      <a:rPr lang="ar-AE"/>
                      <m:t>.</m:t>
                    </m:r>
                    <m:r>
                      <a:rPr lang="ar-AE"/>
                      <m:t>44</m:t>
                    </m:r>
                    <m:r>
                      <a:rPr lang="ar-AE"/>
                      <m:t>+</m:t>
                    </m:r>
                    <m:r>
                      <a:rPr lang="ar-AE"/>
                      <m:t>20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/>
                          <m:t>10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900</m:t>
                        </m:r>
                      </m:e>
                    </m:d>
                    <m:r>
                      <a:rPr lang="ar-AE"/>
                      <m:t>+</m:t>
                    </m:r>
                    <m:r>
                      <a:rPr lang="ar-AE"/>
                      <m:t>20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/>
                          <m:t>10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5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𝐹𝑆𝑃𝐿</m:t>
                    </m:r>
                    <m:r>
                      <a:rPr lang="ar-AE"/>
                      <m:t>=</m:t>
                    </m:r>
                    <m:r>
                      <a:rPr lang="ar-AE"/>
                      <m:t>32</m:t>
                    </m:r>
                    <m:r>
                      <a:rPr lang="ar-AE"/>
                      <m:t>.</m:t>
                    </m:r>
                    <m:r>
                      <a:rPr lang="ar-AE"/>
                      <m:t>44</m:t>
                    </m:r>
                    <m:r>
                      <a:rPr lang="ar-AE"/>
                      <m:t>+</m:t>
                    </m:r>
                    <m:r>
                      <a:rPr lang="ar-AE"/>
                      <m:t>59</m:t>
                    </m:r>
                    <m:r>
                      <a:rPr lang="ar-AE"/>
                      <m:t>.</m:t>
                    </m:r>
                    <m:r>
                      <a:rPr lang="ar-AE"/>
                      <m:t>08</m:t>
                    </m:r>
                    <m:r>
                      <a:rPr lang="ar-AE"/>
                      <m:t>+</m:t>
                    </m:r>
                    <m:r>
                      <a:rPr lang="ar-AE"/>
                      <m:t>13</m:t>
                    </m:r>
                    <m:r>
                      <a:rPr lang="ar-AE"/>
                      <m:t>.</m:t>
                    </m:r>
                    <m:r>
                      <a:rPr lang="ar-AE"/>
                      <m:t>98</m:t>
                    </m:r>
                    <m:r>
                      <a:rPr lang="ar-AE"/>
                      <m:t>=</m:t>
                    </m:r>
                    <m:borderBox>
                      <m:borderBoxPr>
                        <m:ctrlPr>
                          <a:rPr lang="ar-AE" i="1"/>
                        </m:ctrlPr>
                      </m:borderBoxPr>
                      <m:e>
                        <m:r>
                          <a:rPr lang="ar-AE"/>
                          <m:t>105</m:t>
                        </m:r>
                        <m:r>
                          <a:rPr lang="ar-AE"/>
                          <m:t>.</m:t>
                        </m:r>
                        <m:r>
                          <a:rPr lang="ar-AE"/>
                          <m:t>5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𝑑𝐵</m:t>
                        </m:r>
                      </m:e>
                    </m:borderBox>
                  </m:oMath>
                </a14:m>
                <a:endParaRPr lang="ar-AE" b="0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Step 2: Convert Transmit Power to dBm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𝑑𝐵𝑚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10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/>
                          <m:t>10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20000</m:t>
                        </m:r>
                      </m:e>
                    </m:d>
                    <m:r>
                      <a:rPr lang="ar-AE"/>
                      <m:t>=</m:t>
                    </m:r>
                    <m:borderBox>
                      <m:borderBoxPr>
                        <m:ctrlPr>
                          <a:rPr lang="ar-AE" i="1"/>
                        </m:ctrlPr>
                      </m:borderBoxPr>
                      <m:e>
                        <m:r>
                          <a:rPr lang="ar-AE"/>
                          <m:t>43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𝑑𝐵𝑚</m:t>
                        </m:r>
                      </m:e>
                    </m:borderBox>
                  </m:oMath>
                </a14:m>
                <a:endParaRPr lang="ar-AE" b="0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Step 3: Received Power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  <m:r>
                      <a:rPr lang="ar-AE"/>
                      <m:t>=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𝐺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𝐺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  <m:r>
                      <a:rPr lang="ar-AE"/>
                      <m:t>−</m:t>
                    </m:r>
                    <m:r>
                      <a:rPr lang="ar-AE" i="1"/>
                      <m:t>𝐹𝑆𝑃𝐿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/>
                      <m:t>43</m:t>
                    </m:r>
                    <m:r>
                      <a:rPr lang="ar-AE"/>
                      <m:t>+</m:t>
                    </m:r>
                    <m:r>
                      <a:rPr lang="ar-AE"/>
                      <m:t>0</m:t>
                    </m:r>
                    <m:r>
                      <a:rPr lang="ar-AE"/>
                      <m:t>+</m:t>
                    </m:r>
                    <m:r>
                      <a:rPr lang="ar-AE"/>
                      <m:t>0</m:t>
                    </m:r>
                    <m:r>
                      <a:rPr lang="ar-AE"/>
                      <m:t>−</m:t>
                    </m:r>
                    <m:r>
                      <a:rPr lang="ar-AE"/>
                      <m:t>105</m:t>
                    </m:r>
                    <m:r>
                      <a:rPr lang="ar-AE"/>
                      <m:t>.</m:t>
                    </m:r>
                    <m:r>
                      <a:rPr lang="ar-AE"/>
                      <m:t>5</m:t>
                    </m:r>
                    <m:r>
                      <a:rPr lang="ar-AE"/>
                      <m:t>=</m:t>
                    </m:r>
                    <m:borderBox>
                      <m:borderBoxPr>
                        <m:ctrlPr>
                          <a:rPr lang="ar-AE" i="1"/>
                        </m:ctrlPr>
                      </m:borderBoxPr>
                      <m:e>
                        <m:r>
                          <a:rPr lang="ar-AE"/>
                          <m:t>−</m:t>
                        </m:r>
                        <m:r>
                          <a:rPr lang="ar-AE"/>
                          <m:t>62</m:t>
                        </m:r>
                        <m:r>
                          <a:rPr lang="ar-AE"/>
                          <m:t>.</m:t>
                        </m:r>
                        <m:r>
                          <a:rPr lang="ar-AE"/>
                          <m:t>5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𝑑𝐵𝑚</m:t>
                        </m:r>
                      </m:e>
                    </m:borderBox>
                  </m:oMath>
                </a14:m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410998-9BDA-D9B0-BAE6-4B424DB501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020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5BDB-9F7C-9688-4FCA-46677B3E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Relating Power to Electric Field Strength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24F9D-84C5-BEC2-079A-9553FF008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electric field strength (E)</a:t>
                </a:r>
                <a:r>
                  <a:rPr lang="en-US" dirty="0"/>
                  <a:t> represents the intensity of the electromagnetic wave.</a:t>
                </a:r>
              </a:p>
              <a:p>
                <a:r>
                  <a:rPr lang="en-US" b="1" dirty="0"/>
                  <a:t>Relationship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𝐸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𝐴</m:t>
                            </m:r>
                          </m:e>
                          <m:sub>
                            <m:r>
                              <a:rPr lang="ar-AE" i="1"/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ar-AE"/>
                          <m:t>120</m:t>
                        </m:r>
                        <m:r>
                          <a:rPr lang="ar-AE" i="1"/>
                          <m:t>𝜋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𝐴</m:t>
                        </m:r>
                      </m:e>
                      <m:sub>
                        <m:r>
                          <a:rPr lang="ar-AE" i="1"/>
                          <m:t>𝑒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effective aperture of the receiving antenna</a:t>
                </a:r>
              </a:p>
              <a:p>
                <a:r>
                  <a:rPr lang="en-US" dirty="0"/>
                  <a:t>Effective aperture: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𝐴</m:t>
                        </m:r>
                      </m:e>
                      <m:sub>
                        <m:r>
                          <a:rPr lang="ar-AE" i="1"/>
                          <m:t>𝑒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𝐺</m:t>
                            </m:r>
                          </m:e>
                          <m:sub>
                            <m:r>
                              <a:rPr lang="ar-AE" i="1"/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𝜆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/>
                          <m:t>4</m:t>
                        </m:r>
                        <m:r>
                          <a:rPr lang="ar-AE" i="1"/>
                          <m:t>𝜋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US" b="1" dirty="0"/>
                  <a:t>Importance</a:t>
                </a:r>
              </a:p>
              <a:p>
                <a:r>
                  <a:rPr lang="en-US" dirty="0"/>
                  <a:t>Used in spectrum regulation and EMC analysis</a:t>
                </a:r>
              </a:p>
              <a:p>
                <a:r>
                  <a:rPr lang="en-US" dirty="0"/>
                  <a:t>Helps relate measured field strength to received power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24F9D-84C5-BEC2-079A-9553FF008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817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B721-0BE7-BD98-9680-9A79532E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Propagation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5CF1-A1CD-E43C-144E-9AC271A99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three basic propagation mechanisms are:</a:t>
            </a:r>
          </a:p>
          <a:p>
            <a:r>
              <a:rPr lang="en-US" dirty="0"/>
              <a:t>Reflection</a:t>
            </a:r>
          </a:p>
          <a:p>
            <a:r>
              <a:rPr lang="en-US" dirty="0"/>
              <a:t>Diffraction</a:t>
            </a:r>
          </a:p>
          <a:p>
            <a:r>
              <a:rPr lang="en-US" dirty="0"/>
              <a:t>Scattering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70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CF32-71E0-AE40-98D7-04AA9693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653B6-EB27-A350-B3D0-922769339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occurs when a propagating electromagnetic wave impinges upon an object which has very large dimensions when compared to the wavelength, e.g., buildings, walls.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urban environments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multipath propagation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coefficient depends on material and angle of incidence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585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265A5C27-6BE4-E23D-A8FE-8BD97BD9A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858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/>
              <a:t>Reflection from dielectrics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/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/>
              <a:t>Reflection from perfect conductors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zh-TW" sz="1800"/>
              <a:t>E-field in the plane of incidence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endParaRPr lang="en-US" altLang="zh-TW" sz="1800"/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zh-TW" sz="1800"/>
              <a:t>E-field normal to the plane of incidence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</a:pPr>
            <a:r>
              <a:rPr lang="en-US" altLang="zh-TW" sz="2000"/>
              <a:t>   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sz="2000"/>
              <a:t>      </a:t>
            </a:r>
            <a:endParaRPr lang="en-US" altLang="zh-TW" sz="2000" i="1"/>
          </a:p>
        </p:txBody>
      </p:sp>
      <p:graphicFrame>
        <p:nvGraphicFramePr>
          <p:cNvPr id="10242" name="Object 5">
            <a:extLst>
              <a:ext uri="{FF2B5EF4-FFF2-40B4-BE49-F238E27FC236}">
                <a16:creationId xmlns:a16="http://schemas.microsoft.com/office/drawing/2014/main" id="{4D39C760-951E-409D-3FBC-C221A3908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1" y="4267201"/>
          <a:ext cx="33448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031840" imgH="228600" progId="Equation.3">
                  <p:embed/>
                </p:oleObj>
              </mc:Choice>
              <mc:Fallback>
                <p:oleObj name="方程式" r:id="rId2" imgW="2031840" imgH="228600" progId="Equation.3">
                  <p:embed/>
                  <p:pic>
                    <p:nvPicPr>
                      <p:cNvPr id="10242" name="Object 5">
                        <a:extLst>
                          <a:ext uri="{FF2B5EF4-FFF2-40B4-BE49-F238E27FC236}">
                            <a16:creationId xmlns:a16="http://schemas.microsoft.com/office/drawing/2014/main" id="{4D39C760-951E-409D-3FBC-C221A3908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4267201"/>
                        <a:ext cx="334486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6">
            <a:extLst>
              <a:ext uri="{FF2B5EF4-FFF2-40B4-BE49-F238E27FC236}">
                <a16:creationId xmlns:a16="http://schemas.microsoft.com/office/drawing/2014/main" id="{0376D247-325D-C958-8637-04F99E17D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4953001"/>
          <a:ext cx="35131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133360" imgH="228600" progId="Equation.3">
                  <p:embed/>
                </p:oleObj>
              </mc:Choice>
              <mc:Fallback>
                <p:oleObj name="方程式" r:id="rId4" imgW="2133360" imgH="228600" progId="Equation.3">
                  <p:embed/>
                  <p:pic>
                    <p:nvPicPr>
                      <p:cNvPr id="10243" name="Object 6">
                        <a:extLst>
                          <a:ext uri="{FF2B5EF4-FFF2-40B4-BE49-F238E27FC236}">
                            <a16:creationId xmlns:a16="http://schemas.microsoft.com/office/drawing/2014/main" id="{0376D247-325D-C958-8637-04F99E17D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953001"/>
                        <a:ext cx="351313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5" name="Picture 7" descr="D:\mcchiu\course\mobile communications\ch3\3_4a.gif">
            <a:extLst>
              <a:ext uri="{FF2B5EF4-FFF2-40B4-BE49-F238E27FC236}">
                <a16:creationId xmlns:a16="http://schemas.microsoft.com/office/drawing/2014/main" id="{673E5076-9B59-C187-87AC-98BB8167D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1295400"/>
            <a:ext cx="3038475" cy="208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8" descr="D:\mcchiu\course\mobile communications\ch3\3_4b.gif">
            <a:extLst>
              <a:ext uri="{FF2B5EF4-FFF2-40B4-BE49-F238E27FC236}">
                <a16:creationId xmlns:a16="http://schemas.microsoft.com/office/drawing/2014/main" id="{FA3C0709-672D-7776-C1D0-E8DA92119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219201"/>
            <a:ext cx="3124200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A22EAC8-6B9B-EAF9-41CE-5856BD47B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858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/>
              <a:t>Ground Reflection (2-ray) Model</a:t>
            </a: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</a:pPr>
            <a:r>
              <a:rPr lang="en-US" altLang="zh-TW" sz="2000"/>
              <a:t>   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sz="2000"/>
              <a:t>      </a:t>
            </a:r>
            <a:endParaRPr lang="en-US" altLang="zh-TW" sz="2000" i="1"/>
          </a:p>
        </p:txBody>
      </p:sp>
      <p:pic>
        <p:nvPicPr>
          <p:cNvPr id="20483" name="Picture 4" descr="D:\mcchiu\course\mobile communications\ch3\3_7.gif">
            <a:extLst>
              <a:ext uri="{FF2B5EF4-FFF2-40B4-BE49-F238E27FC236}">
                <a16:creationId xmlns:a16="http://schemas.microsoft.com/office/drawing/2014/main" id="{C551DE02-99EC-459C-10FB-F9063FE43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828801"/>
            <a:ext cx="6972300" cy="314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B08A-EC4B-7109-900B-B5A7EB01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5057-11FD-DCB6-47BA-235695721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Diffraction occurs when the radio path between the transmitter and receiver is obstructed by a surface that has sharp edges.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communication beyond line-of-sight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influenced by obstacle geometry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knife-edge diffraction models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Diffraction loss increases as obstruction height increases.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761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5C43D36-3043-C1E4-0870-3290191E1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858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/>
              <a:t>Diffraction</a:t>
            </a: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i="1"/>
          </a:p>
          <a:p>
            <a:pPr eaLnBrk="1" hangingPunct="1">
              <a:spcBef>
                <a:spcPct val="20000"/>
              </a:spcBef>
            </a:pPr>
            <a:r>
              <a:rPr lang="en-US" altLang="zh-TW" sz="2000"/>
              <a:t>   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sz="2000"/>
              <a:t>      </a:t>
            </a:r>
            <a:endParaRPr lang="en-US" altLang="zh-TW" sz="2000" i="1"/>
          </a:p>
        </p:txBody>
      </p:sp>
      <p:pic>
        <p:nvPicPr>
          <p:cNvPr id="21507" name="Picture 4" descr="D:\mcchiu\course\mobile communications\ch3\3_10a.gif">
            <a:extLst>
              <a:ext uri="{FF2B5EF4-FFF2-40B4-BE49-F238E27FC236}">
                <a16:creationId xmlns:a16="http://schemas.microsoft.com/office/drawing/2014/main" id="{120D7551-5C7C-E0C2-FE6D-54042734B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143000"/>
            <a:ext cx="7413625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CAD4-B121-6613-B524-A43DAD69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Scattering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218EC-8F84-146D-EDE5-163107BFA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occurs when the medium through which the wave travels consists of objects with dimensions that are small compared to the wavelength.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waves hit objects smaller than the wavelength (e.g., foliage, street signs).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at higher frequencies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signal energy to spread in many directions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rapid fluctuations in received signal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918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D:\mcchiu\course\mobile communications\ch3\3_17.gif">
            <a:extLst>
              <a:ext uri="{FF2B5EF4-FFF2-40B4-BE49-F238E27FC236}">
                <a16:creationId xmlns:a16="http://schemas.microsoft.com/office/drawing/2014/main" id="{94743BF8-4921-182E-D7B2-1B97DCC45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48" y="457200"/>
            <a:ext cx="10311788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AFBA-4545-0B66-D10D-9A96ED9CF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8085"/>
          </a:xfrm>
        </p:spPr>
        <p:txBody>
          <a:bodyPr/>
          <a:lstStyle/>
          <a:p>
            <a:r>
              <a:rPr lang="en-US" dirty="0"/>
              <a:t>Ground Reflection (Two-Ray) Model)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559A8F-C994-25F9-40F2-8104F0E6BE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52530"/>
                <a:ext cx="10515600" cy="452443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model considers:</a:t>
                </a:r>
              </a:p>
              <a:p>
                <a:pPr marL="1028700" lvl="1" indent="-571500">
                  <a:buFont typeface="+mj-lt"/>
                  <a:buAutoNum type="romanL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 LOS path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28700" lvl="1" indent="-571500">
                  <a:buFont typeface="+mj-lt"/>
                  <a:buAutoNum type="romanL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ground-reflected path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Received Power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𝑃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𝑑</m:t>
                        </m:r>
                      </m:e>
                    </m:d>
                    <m:r>
                      <a:rPr lang="ar-AE"/>
                      <m:t>∝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𝑑</m:t>
                            </m:r>
                          </m:e>
                          <m:sup>
                            <m:r>
                              <a:rPr lang="ar-AE"/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distances beyond the break point)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Break Point Distance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𝑑</m:t>
                        </m:r>
                      </m:e>
                      <m:sub>
                        <m:r>
                          <a:rPr lang="ar-AE" i="1"/>
                          <m:t>𝑏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4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h</m:t>
                            </m:r>
                          </m:e>
                          <m:sub>
                            <m:r>
                              <a:rPr lang="ar-AE" i="1"/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h</m:t>
                            </m:r>
                          </m:e>
                          <m:sub>
                            <m:r>
                              <a:rPr lang="ar-AE" i="1"/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/>
                          <m:t>𝜆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h</m:t>
                        </m:r>
                      </m:e>
                      <m:sub>
                        <m:r>
                          <a:rPr lang="ar-AE" i="1"/>
                          <m:t>𝑡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h</m:t>
                        </m:r>
                      </m:e>
                      <m:sub>
                        <m:r>
                          <a:rPr lang="ar-AE" i="1"/>
                          <m:t>𝑟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transmitter and receiver antenna heights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559A8F-C994-25F9-40F2-8104F0E6BE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2530"/>
                <a:ext cx="10515600" cy="4524433"/>
              </a:xfrm>
              <a:blipFill>
                <a:blip r:embed="rId2"/>
                <a:stretch>
                  <a:fillRect l="-928" t="-3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068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905B-608B-B7A9-0F28-1010497D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B6562-CA2F-2520-8965-0E3CAAD74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Transmitter height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 m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Receiver height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1.5 m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Frequency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900 MHz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breakpoint distance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Wavelength: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𝜆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3</m:t>
                        </m:r>
                        <m:r>
                          <a:rPr lang="ar-AE"/>
                          <m:t>×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10</m:t>
                            </m:r>
                          </m:e>
                          <m:sup>
                            <m:r>
                              <a:rPr lang="ar-AE"/>
                              <m:t>8</m:t>
                            </m:r>
                          </m:sup>
                        </m:sSup>
                      </m:num>
                      <m:den>
                        <m:r>
                          <a:rPr lang="ar-AE"/>
                          <m:t>9</m:t>
                        </m:r>
                        <m:r>
                          <a:rPr lang="ar-AE"/>
                          <m:t>×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10</m:t>
                            </m:r>
                          </m:e>
                          <m:sup>
                            <m:r>
                              <a:rPr lang="ar-AE"/>
                              <m:t>8</m:t>
                            </m:r>
                          </m:sup>
                        </m:sSup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  <m:r>
                      <a:rPr lang="ar-AE"/>
                      <m:t>.</m:t>
                    </m:r>
                    <m:r>
                      <a:rPr lang="ar-AE"/>
                      <m:t>333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Breakpoint distance: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𝑑</m:t>
                        </m:r>
                      </m:e>
                      <m:sub>
                        <m:r>
                          <a:rPr lang="ar-AE" i="1"/>
                          <m:t>𝑏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4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h</m:t>
                            </m:r>
                          </m:e>
                          <m:sub>
                            <m:r>
                              <a:rPr lang="ar-AE" i="1"/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h</m:t>
                            </m:r>
                          </m:e>
                          <m:sub>
                            <m:r>
                              <a:rPr lang="ar-AE" i="1"/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/>
                          <m:t>𝜆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𝑑</m:t>
                        </m:r>
                      </m:e>
                      <m:sub>
                        <m:r>
                          <a:rPr lang="ar-AE" i="1"/>
                          <m:t>𝑏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4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30</m:t>
                            </m:r>
                          </m:e>
                        </m:d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1</m:t>
                            </m:r>
                            <m:r>
                              <a:rPr lang="ar-AE"/>
                              <m:t>.</m:t>
                            </m:r>
                            <m:r>
                              <a:rPr lang="ar-AE"/>
                              <m:t>5</m:t>
                            </m:r>
                          </m:e>
                        </m:d>
                      </m:num>
                      <m:den>
                        <m:r>
                          <a:rPr lang="ar-AE"/>
                          <m:t>0</m:t>
                        </m:r>
                        <m:r>
                          <a:rPr lang="ar-AE"/>
                          <m:t>.</m:t>
                        </m:r>
                        <m:r>
                          <a:rPr lang="ar-AE"/>
                          <m:t>333</m:t>
                        </m:r>
                      </m:den>
                    </m:f>
                    <m:r>
                      <a:rPr lang="ar-AE"/>
                      <m:t>=</m:t>
                    </m:r>
                    <m:borderBox>
                      <m:borderBoxPr>
                        <m:ctrlPr>
                          <a:rPr lang="ar-AE" i="1"/>
                        </m:ctrlPr>
                      </m:borderBoxPr>
                      <m:e>
                        <m:r>
                          <a:rPr lang="ar-AE"/>
                          <m:t>540</m:t>
                        </m:r>
                        <m:r>
                          <m:rPr>
                            <m:nor/>
                          </m:rPr>
                          <a:rPr lang="ar-AE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</m:borderBox>
                  </m:oMath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B6562-CA2F-2520-8965-0E3CAAD74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268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39F7-57F3-3C76-89E9-94B9D41A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Path Loss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9FA834-B3F6-DFCB-0D2F-E8C259B584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 account for real environments, empirical models are used:</a:t>
                </a:r>
              </a:p>
              <a:p>
                <a:r>
                  <a:rPr lang="en-US" b="1" dirty="0"/>
                  <a:t>Log-distance path loss model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𝑃𝐿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𝑑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 i="1"/>
                        <m:t>𝑃𝐿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𝑑</m:t>
                              </m:r>
                            </m:e>
                            <m:sub>
                              <m:r>
                                <a:rPr lang="ar-AE"/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+</m:t>
                      </m:r>
                      <m:r>
                        <a:rPr lang="ar-AE"/>
                        <m:t>10</m:t>
                      </m:r>
                      <m:r>
                        <a:rPr lang="ar-AE" i="1"/>
                        <m:t>𝑛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f>
                            <m:fPr>
                              <m:ctrlPr>
                                <a:rPr lang="ar-AE" i="1"/>
                              </m:ctrlPr>
                            </m:fPr>
                            <m:num>
                              <m:r>
                                <a:rPr lang="ar-AE" i="1"/>
                                <m:t>𝑑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𝑑</m:t>
                                  </m:r>
                                </m:e>
                                <m:sub>
                                  <m:r>
                                    <a:rPr lang="ar-AE"/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</m:oMath>
                </a14:m>
                <a:r>
                  <a:rPr lang="en-US" dirty="0"/>
                  <a:t>= path loss exponent (2–6 depending on environment)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9FA834-B3F6-DFCB-0D2F-E8C259B58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253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CE9A6-8FF0-B1D4-5AFF-FF3010E833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349"/>
                <a:ext cx="10515600" cy="529561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A </a:t>
                </a:r>
                <a:r>
                  <a:rPr lang="en-US" b="1" dirty="0"/>
                  <a:t>link budget</a:t>
                </a:r>
                <a:r>
                  <a:rPr lang="en-US" dirty="0"/>
                  <a:t> accounts for all gains and losses from transmitter to receiver.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dirty="0"/>
                  <a:t>General Link Budget Equation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𝑑𝐵𝑚</m:t>
                          </m:r>
                        </m:e>
                      </m:d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𝐺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a:rPr lang="ar-AE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𝐺</m:t>
                          </m:r>
                        </m:e>
                        <m:sub>
                          <m:r>
                            <a:rPr lang="ar-AE" i="1"/>
                            <m:t>𝑟</m:t>
                          </m:r>
                        </m:sub>
                      </m:sSub>
                      <m:r>
                        <a:rPr lang="ar-AE"/>
                        <m:t>−</m:t>
                      </m:r>
                      <m:r>
                        <a:rPr lang="ar-AE" i="1"/>
                        <m:t>𝑃𝐿</m:t>
                      </m:r>
                      <m:r>
                        <a:rPr lang="ar-AE"/>
                        <m:t>−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𝐿</m:t>
                          </m:r>
                        </m:e>
                        <m:sub>
                          <m:r>
                            <a:rPr lang="ar-AE" i="1"/>
                            <m:t>𝑠𝑦𝑠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Where: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𝐿</m:t>
                        </m:r>
                      </m:e>
                      <m:sub>
                        <m:r>
                          <a:rPr lang="ar-AE" i="1"/>
                          <m:t>𝑠𝑦𝑠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system losses (cables, connectors, fading margin)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CE9A6-8FF0-B1D4-5AFF-FF3010E83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349"/>
                <a:ext cx="10515600" cy="529561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7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1083</Words>
  <Application>Microsoft Office PowerPoint</Application>
  <PresentationFormat>Widescreen</PresentationFormat>
  <Paragraphs>190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Office Theme</vt:lpstr>
      <vt:lpstr>Microsoft 方程式編輯器 3.0</vt:lpstr>
      <vt:lpstr>Mobile Radio Propagation</vt:lpstr>
      <vt:lpstr>Introduction</vt:lpstr>
      <vt:lpstr>Large-Scale Path Loss</vt:lpstr>
      <vt:lpstr>Free Space Propagation Model</vt:lpstr>
      <vt:lpstr>PowerPoint Presentation</vt:lpstr>
      <vt:lpstr>PowerPoint Presentation</vt:lpstr>
      <vt:lpstr>PowerPoint Presentation</vt:lpstr>
      <vt:lpstr>PowerPoint Presentation</vt:lpstr>
      <vt:lpstr>Example 1</vt:lpstr>
      <vt:lpstr>solution</vt:lpstr>
      <vt:lpstr>Relating Power to Electric Field Strength</vt:lpstr>
      <vt:lpstr>Basic Propagation Mechanisms</vt:lpstr>
      <vt:lpstr>Reflection</vt:lpstr>
      <vt:lpstr>PowerPoint Presentation</vt:lpstr>
      <vt:lpstr>PowerPoint Presentation</vt:lpstr>
      <vt:lpstr>Diffraction</vt:lpstr>
      <vt:lpstr>PowerPoint Presentation</vt:lpstr>
      <vt:lpstr>Scattering</vt:lpstr>
      <vt:lpstr>PowerPoint Presentation</vt:lpstr>
      <vt:lpstr>Ground Reflection (Two-Ray) Model)</vt:lpstr>
      <vt:lpstr>Example 2</vt:lpstr>
      <vt:lpstr>Practical Path Loss Models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SOSPETER</dc:creator>
  <cp:lastModifiedBy>JOSEPH SOSPETER</cp:lastModifiedBy>
  <cp:revision>2</cp:revision>
  <dcterms:created xsi:type="dcterms:W3CDTF">2025-12-16T07:32:09Z</dcterms:created>
  <dcterms:modified xsi:type="dcterms:W3CDTF">2025-12-16T12:15:25Z</dcterms:modified>
</cp:coreProperties>
</file>