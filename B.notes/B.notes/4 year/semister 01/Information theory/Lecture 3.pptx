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58" r:id="rId7"/>
    <p:sldId id="259" r:id="rId8"/>
    <p:sldId id="260" r:id="rId9"/>
    <p:sldId id="261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 smtClean="0"/>
              <a:t>Source Coding and Kraft Inequality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GB" dirty="0" smtClean="0"/>
              <a:t>Source coding (Data Compression)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 smtClean="0"/>
              <a:t>A </a:t>
            </a:r>
            <a:r>
              <a:rPr lang="en-GB" sz="2400" i="1" dirty="0" smtClean="0"/>
              <a:t>source code C for a random variable X is a mapping from X, the range of X, to D∗, the set of finite-length strings of symbols from </a:t>
            </a:r>
            <a:r>
              <a:rPr lang="en-GB" sz="2400" dirty="0" smtClean="0"/>
              <a:t>a </a:t>
            </a:r>
            <a:r>
              <a:rPr lang="en-GB" sz="2400" i="1" dirty="0" smtClean="0"/>
              <a:t>D-</a:t>
            </a:r>
            <a:r>
              <a:rPr lang="en-GB" sz="2400" i="1" dirty="0" err="1" smtClean="0"/>
              <a:t>ary</a:t>
            </a:r>
            <a:r>
              <a:rPr lang="en-GB" sz="2400" i="1" dirty="0" smtClean="0"/>
              <a:t> alphabet.</a:t>
            </a:r>
            <a:endParaRPr lang="en-GB" sz="2400" dirty="0" smtClean="0"/>
          </a:p>
          <a:p>
            <a:pPr>
              <a:lnSpc>
                <a:spcPct val="150000"/>
              </a:lnSpc>
            </a:pPr>
            <a:r>
              <a:rPr lang="en-GB" sz="2400" dirty="0" smtClean="0"/>
              <a:t>Data compression can be achieved by assigning short descriptions to the most frequent outcomes of the data source, and necessarily longer descriptions to the less frequent outcomes.</a:t>
            </a:r>
          </a:p>
          <a:p>
            <a:pPr>
              <a:lnSpc>
                <a:spcPct val="150000"/>
              </a:lnSpc>
            </a:pPr>
            <a:r>
              <a:rPr lang="en-GB" sz="2400" dirty="0" smtClean="0"/>
              <a:t>Source code </a:t>
            </a:r>
            <a:r>
              <a:rPr lang="en-GB" sz="2400" i="1" dirty="0" smtClean="0"/>
              <a:t>C for a random variable X is</a:t>
            </a:r>
            <a:endParaRPr lang="en-GB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6096000"/>
            <a:ext cx="2133600" cy="4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r>
              <a:rPr lang="en-GB" dirty="0" smtClean="0"/>
              <a:t>Let </a:t>
            </a:r>
            <a:r>
              <a:rPr lang="en-GB" i="1" dirty="0" smtClean="0"/>
              <a:t>C(x) denote the codeword corresponding to x and </a:t>
            </a:r>
            <a:r>
              <a:rPr lang="en-GB" dirty="0" smtClean="0"/>
              <a:t>let </a:t>
            </a:r>
            <a:r>
              <a:rPr lang="en-GB" i="1" dirty="0" smtClean="0"/>
              <a:t>l(x) denote the length of C(x).</a:t>
            </a:r>
          </a:p>
          <a:p>
            <a:r>
              <a:rPr lang="en-GB" dirty="0" smtClean="0"/>
              <a:t>For example, </a:t>
            </a:r>
            <a:r>
              <a:rPr lang="en-GB" i="1" dirty="0" smtClean="0"/>
              <a:t>C(red) = 00, C(blue) = 11 is a source code for X = {red, </a:t>
            </a:r>
            <a:r>
              <a:rPr lang="en-GB" dirty="0" smtClean="0"/>
              <a:t>blue} with alphabet </a:t>
            </a:r>
            <a:r>
              <a:rPr lang="en-GB" i="1" dirty="0" smtClean="0"/>
              <a:t>D = {0, 1}.</a:t>
            </a:r>
          </a:p>
          <a:p>
            <a:r>
              <a:rPr lang="en-GB" dirty="0" smtClean="0"/>
              <a:t>The </a:t>
            </a:r>
            <a:r>
              <a:rPr lang="en-GB" i="1" dirty="0" smtClean="0"/>
              <a:t>expected length L(C) of a source code C(x) for a random </a:t>
            </a:r>
            <a:r>
              <a:rPr lang="en-GB" dirty="0" smtClean="0"/>
              <a:t>variable </a:t>
            </a:r>
            <a:r>
              <a:rPr lang="en-GB" i="1" dirty="0" smtClean="0"/>
              <a:t>X with probability mass function p(x) is given by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5105400"/>
            <a:ext cx="2843084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smtClean="0"/>
              <a:t>Let </a:t>
            </a:r>
            <a:r>
              <a:rPr lang="en-GB" i="1" dirty="0" smtClean="0"/>
              <a:t>X be a random variable with the following distribution </a:t>
            </a:r>
            <a:r>
              <a:rPr lang="en-GB" dirty="0" smtClean="0"/>
              <a:t>and codeword assignment:</a:t>
            </a:r>
          </a:p>
          <a:p>
            <a:pPr>
              <a:buNone/>
            </a:pPr>
            <a:r>
              <a:rPr lang="en-GB" dirty="0" smtClean="0"/>
              <a:t>     		Pr</a:t>
            </a:r>
            <a:r>
              <a:rPr lang="en-GB" i="1" dirty="0" smtClean="0"/>
              <a:t>(X = 1) = ½ , codeword C(1) = 0</a:t>
            </a:r>
          </a:p>
          <a:p>
            <a:pPr>
              <a:buNone/>
            </a:pPr>
            <a:r>
              <a:rPr lang="en-GB" dirty="0" smtClean="0"/>
              <a:t>		Pr</a:t>
            </a:r>
            <a:r>
              <a:rPr lang="en-GB" i="1" dirty="0" smtClean="0"/>
              <a:t>(X = 2) = ¼ , codeword C(2) = 10</a:t>
            </a:r>
          </a:p>
          <a:p>
            <a:pPr>
              <a:buNone/>
            </a:pPr>
            <a:r>
              <a:rPr lang="en-GB" dirty="0" smtClean="0"/>
              <a:t>		Pr</a:t>
            </a:r>
            <a:r>
              <a:rPr lang="en-GB" i="1" dirty="0" smtClean="0"/>
              <a:t>(X = 3) = 1/8 , codeword C(3) = 110</a:t>
            </a:r>
          </a:p>
          <a:p>
            <a:pPr>
              <a:buNone/>
            </a:pPr>
            <a:r>
              <a:rPr lang="en-GB" i="1" dirty="0" smtClean="0"/>
              <a:t>		</a:t>
            </a:r>
            <a:r>
              <a:rPr lang="en-GB" dirty="0" smtClean="0"/>
              <a:t>Pr</a:t>
            </a:r>
            <a:r>
              <a:rPr lang="en-GB" i="1" dirty="0" smtClean="0"/>
              <a:t>(X = 4) = 1/8 , codeword C(4) = 111.</a:t>
            </a:r>
          </a:p>
          <a:p>
            <a:pPr>
              <a:buNone/>
            </a:pPr>
            <a:endParaRPr lang="en-GB" dirty="0" smtClean="0"/>
          </a:p>
          <a:p>
            <a:r>
              <a:rPr lang="en-GB" dirty="0" smtClean="0"/>
              <a:t>The entropy </a:t>
            </a:r>
            <a:r>
              <a:rPr lang="en-GB" i="1" dirty="0" smtClean="0"/>
              <a:t>H(X) of X is 1.75 bits, and the expected length L(C) = El(X) of this code is also 1.75 bits.</a:t>
            </a:r>
          </a:p>
          <a:p>
            <a:r>
              <a:rPr lang="en-GB" i="1" dirty="0" smtClean="0"/>
              <a:t> Here we have a code that has the </a:t>
            </a:r>
            <a:r>
              <a:rPr lang="en-GB" dirty="0" smtClean="0"/>
              <a:t>same average length as the entropy. </a:t>
            </a:r>
          </a:p>
          <a:p>
            <a:r>
              <a:rPr lang="en-GB" dirty="0" smtClean="0"/>
              <a:t>We note that any sequence of bits can be uniquely decoded into a sequence of symbols of </a:t>
            </a:r>
            <a:r>
              <a:rPr lang="en-GB" i="1" dirty="0" smtClean="0"/>
              <a:t>X. </a:t>
            </a:r>
          </a:p>
          <a:p>
            <a:r>
              <a:rPr lang="en-GB" i="1" dirty="0" smtClean="0"/>
              <a:t>For example, </a:t>
            </a:r>
            <a:r>
              <a:rPr lang="en-GB" dirty="0" smtClean="0"/>
              <a:t>the bit string 0110111100110 is decoded as 134213.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Consider another simple example of a code for a random variable:</a:t>
            </a:r>
          </a:p>
          <a:p>
            <a:pPr>
              <a:buNone/>
            </a:pPr>
            <a:r>
              <a:rPr lang="en-GB" dirty="0" smtClean="0"/>
              <a:t>		Pr</a:t>
            </a:r>
            <a:r>
              <a:rPr lang="en-GB" i="1" dirty="0" smtClean="0"/>
              <a:t>(X = 1) = 1/3 , codeword C(1) = 0</a:t>
            </a:r>
          </a:p>
          <a:p>
            <a:pPr>
              <a:buNone/>
            </a:pPr>
            <a:r>
              <a:rPr lang="en-GB" dirty="0" smtClean="0"/>
              <a:t>		Pr</a:t>
            </a:r>
            <a:r>
              <a:rPr lang="en-GB" i="1" dirty="0" smtClean="0"/>
              <a:t>(X = 2) = 1/3 , codeword C(2) = 10</a:t>
            </a:r>
          </a:p>
          <a:p>
            <a:pPr>
              <a:buNone/>
            </a:pPr>
            <a:r>
              <a:rPr lang="en-GB" dirty="0" smtClean="0"/>
              <a:t>		Pr</a:t>
            </a:r>
            <a:r>
              <a:rPr lang="en-GB" i="1" dirty="0" smtClean="0"/>
              <a:t>(X = 3) = 1/3 , codeword C(3) = 11.</a:t>
            </a:r>
          </a:p>
          <a:p>
            <a:pPr>
              <a:buNone/>
            </a:pPr>
            <a:endParaRPr lang="en-GB" dirty="0" smtClean="0"/>
          </a:p>
          <a:p>
            <a:r>
              <a:rPr lang="en-GB" dirty="0" smtClean="0"/>
              <a:t>The code is uniquely </a:t>
            </a:r>
            <a:r>
              <a:rPr lang="en-GB" dirty="0" err="1" smtClean="0"/>
              <a:t>decodable</a:t>
            </a:r>
            <a:r>
              <a:rPr lang="en-GB" dirty="0" smtClean="0"/>
              <a:t>. </a:t>
            </a:r>
          </a:p>
          <a:p>
            <a:r>
              <a:rPr lang="en-GB" dirty="0" smtClean="0"/>
              <a:t>However, in this case the entropy is log 3 = 1</a:t>
            </a:r>
            <a:r>
              <a:rPr lang="en-GB" i="1" dirty="0" smtClean="0"/>
              <a:t>.58 bits and the average length of the </a:t>
            </a:r>
            <a:r>
              <a:rPr lang="en-GB" dirty="0" smtClean="0"/>
              <a:t>encoding is 1.66 bits. </a:t>
            </a:r>
          </a:p>
          <a:p>
            <a:r>
              <a:rPr lang="en-GB" dirty="0" smtClean="0"/>
              <a:t>Here </a:t>
            </a:r>
            <a:r>
              <a:rPr lang="en-GB" i="1" dirty="0" smtClean="0"/>
              <a:t>El(X) &gt; H(X).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Morse's code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The Morse code is a reasonably efficient code for the English alphabet using an alphabet of four symbols: </a:t>
            </a:r>
            <a:r>
              <a:rPr lang="en-GB" b="1" i="1" dirty="0" smtClean="0"/>
              <a:t>a dot, a dash, a letter space, and a word space.</a:t>
            </a:r>
          </a:p>
          <a:p>
            <a:r>
              <a:rPr lang="en-GB" i="1" dirty="0" smtClean="0"/>
              <a:t>Developed for electric telegraph system</a:t>
            </a:r>
          </a:p>
          <a:p>
            <a:r>
              <a:rPr lang="en-GB" i="1" dirty="0" smtClean="0"/>
              <a:t> D = (dot, dash, letter space, word space)</a:t>
            </a:r>
          </a:p>
          <a:p>
            <a:r>
              <a:rPr lang="en-GB" i="1" dirty="0" smtClean="0"/>
              <a:t> Short sequences represent frequent letters</a:t>
            </a:r>
          </a:p>
          <a:p>
            <a:r>
              <a:rPr lang="en-GB" i="1" dirty="0" smtClean="0"/>
              <a:t> Long sequences represent infrequent letter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0"/>
            <a:ext cx="5815013" cy="6324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Source coding applications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Magnetic recording: cassette, </a:t>
            </a:r>
            <a:r>
              <a:rPr lang="en-GB" dirty="0" err="1" smtClean="0"/>
              <a:t>hardrive</a:t>
            </a:r>
            <a:r>
              <a:rPr lang="en-GB" dirty="0" smtClean="0"/>
              <a:t>, USB...</a:t>
            </a:r>
          </a:p>
          <a:p>
            <a:r>
              <a:rPr lang="en-GB" i="1" dirty="0" smtClean="0"/>
              <a:t> Speech compression</a:t>
            </a:r>
          </a:p>
          <a:p>
            <a:r>
              <a:rPr lang="en-GB" i="1" dirty="0" smtClean="0"/>
              <a:t> Compact disk (CD)</a:t>
            </a:r>
          </a:p>
          <a:p>
            <a:r>
              <a:rPr lang="en-GB" i="1" dirty="0" smtClean="0"/>
              <a:t> Image compression: JPEG</a:t>
            </a:r>
          </a:p>
          <a:p>
            <a:r>
              <a:rPr lang="en-GB" dirty="0" smtClean="0"/>
              <a:t>Still an active area of research:</a:t>
            </a:r>
          </a:p>
          <a:p>
            <a:r>
              <a:rPr lang="en-GB" i="1" dirty="0" smtClean="0"/>
              <a:t> Solid state hard drive</a:t>
            </a:r>
          </a:p>
          <a:p>
            <a:r>
              <a:rPr lang="en-GB" i="1" dirty="0" smtClean="0"/>
              <a:t> Sensor network: distributed source coding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Classes of Codes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 smtClean="0"/>
              <a:t>Non – Singular</a:t>
            </a:r>
          </a:p>
          <a:p>
            <a:pPr>
              <a:lnSpc>
                <a:spcPct val="150000"/>
              </a:lnSpc>
            </a:pPr>
            <a:r>
              <a:rPr lang="en-GB" dirty="0" smtClean="0"/>
              <a:t>Extension</a:t>
            </a:r>
          </a:p>
          <a:p>
            <a:pPr>
              <a:lnSpc>
                <a:spcPct val="150000"/>
              </a:lnSpc>
            </a:pPr>
            <a:r>
              <a:rPr lang="en-GB" dirty="0" smtClean="0"/>
              <a:t>Uniquely </a:t>
            </a:r>
            <a:r>
              <a:rPr lang="en-GB" dirty="0" err="1" smtClean="0"/>
              <a:t>decodable</a:t>
            </a:r>
            <a:endParaRPr lang="en-GB" dirty="0" smtClean="0"/>
          </a:p>
          <a:p>
            <a:pPr>
              <a:lnSpc>
                <a:spcPct val="150000"/>
              </a:lnSpc>
            </a:pPr>
            <a:r>
              <a:rPr lang="en-GB" dirty="0" smtClean="0"/>
              <a:t>Prefix codes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Non singular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77500" lnSpcReduction="20000"/>
          </a:bodyPr>
          <a:lstStyle/>
          <a:p>
            <a:r>
              <a:rPr lang="en-GB" dirty="0" smtClean="0"/>
              <a:t>A code is said to be </a:t>
            </a:r>
            <a:r>
              <a:rPr lang="en-GB" i="1" dirty="0" smtClean="0"/>
              <a:t>non singular if every element of the </a:t>
            </a:r>
            <a:r>
              <a:rPr lang="en-GB" dirty="0" smtClean="0"/>
              <a:t>range of </a:t>
            </a:r>
            <a:r>
              <a:rPr lang="en-GB" i="1" dirty="0" smtClean="0"/>
              <a:t>X maps into a different string in D∗; that is,</a:t>
            </a:r>
          </a:p>
          <a:p>
            <a:endParaRPr lang="en-GB" i="1" dirty="0" smtClean="0"/>
          </a:p>
          <a:p>
            <a:endParaRPr lang="en-GB" i="1" dirty="0" smtClean="0"/>
          </a:p>
          <a:p>
            <a:endParaRPr lang="en-GB" i="1" dirty="0" smtClean="0"/>
          </a:p>
          <a:p>
            <a:r>
              <a:rPr lang="en-GB" dirty="0" smtClean="0"/>
              <a:t>No two elements of X can have the same codeword</a:t>
            </a:r>
          </a:p>
          <a:p>
            <a:r>
              <a:rPr lang="en-GB" dirty="0" smtClean="0"/>
              <a:t>Non singularity suffices for an unambiguous description of a single value of </a:t>
            </a:r>
            <a:r>
              <a:rPr lang="en-GB" i="1" dirty="0" smtClean="0"/>
              <a:t>X. </a:t>
            </a:r>
          </a:p>
          <a:p>
            <a:r>
              <a:rPr lang="en-GB" i="1" dirty="0" smtClean="0"/>
              <a:t>But we usually wish to send a sequence of values of X.</a:t>
            </a:r>
          </a:p>
          <a:p>
            <a:r>
              <a:rPr lang="en-GB" dirty="0" smtClean="0"/>
              <a:t>In such cases we can ensure </a:t>
            </a:r>
            <a:r>
              <a:rPr lang="en-GB" dirty="0" err="1" smtClean="0"/>
              <a:t>decodability</a:t>
            </a:r>
            <a:r>
              <a:rPr lang="en-GB" dirty="0" smtClean="0"/>
              <a:t>  by adding a special symbol (a “comma”) between any two </a:t>
            </a:r>
            <a:r>
              <a:rPr lang="en-GB" dirty="0" err="1" smtClean="0"/>
              <a:t>codewords</a:t>
            </a:r>
            <a:r>
              <a:rPr lang="en-GB" dirty="0" smtClean="0"/>
              <a:t>.</a:t>
            </a:r>
          </a:p>
          <a:p>
            <a:r>
              <a:rPr lang="en-GB" dirty="0" smtClean="0"/>
              <a:t>But this is an inefficient use of the special symbol; we can do better by developing the idea of self punctuating or instantaneous codes</a:t>
            </a:r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905000"/>
            <a:ext cx="4724400" cy="70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GB" dirty="0" smtClean="0"/>
              <a:t>Extension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The </a:t>
            </a:r>
            <a:r>
              <a:rPr lang="en-GB" i="1" dirty="0" smtClean="0"/>
              <a:t>extension C</a:t>
            </a:r>
            <a:r>
              <a:rPr lang="en-GB" dirty="0" smtClean="0"/>
              <a:t>∗ of a code </a:t>
            </a:r>
            <a:r>
              <a:rPr lang="en-GB" i="1" dirty="0" smtClean="0"/>
              <a:t>C is the mapping from finite length </a:t>
            </a:r>
            <a:r>
              <a:rPr lang="en-GB" dirty="0" smtClean="0"/>
              <a:t>strings of </a:t>
            </a:r>
            <a:r>
              <a:rPr lang="en-GB" i="1" dirty="0" smtClean="0"/>
              <a:t>X to finite-length strings of D, defined by</a:t>
            </a:r>
          </a:p>
          <a:p>
            <a:endParaRPr lang="en-GB" i="1" dirty="0" smtClean="0"/>
          </a:p>
          <a:p>
            <a:endParaRPr lang="en-GB" i="1" dirty="0" smtClean="0"/>
          </a:p>
          <a:p>
            <a:r>
              <a:rPr lang="en-GB" dirty="0" smtClean="0"/>
              <a:t>where </a:t>
            </a:r>
            <a:r>
              <a:rPr lang="en-GB" i="1" dirty="0" smtClean="0"/>
              <a:t>C(x1)C(x2) · · · C(</a:t>
            </a:r>
            <a:r>
              <a:rPr lang="en-GB" i="1" dirty="0" err="1" smtClean="0"/>
              <a:t>xn</a:t>
            </a:r>
            <a:r>
              <a:rPr lang="en-GB" i="1" dirty="0" smtClean="0"/>
              <a:t>) indicates concatenation of the corresponding </a:t>
            </a:r>
            <a:r>
              <a:rPr lang="en-GB" dirty="0" err="1" smtClean="0"/>
              <a:t>codewords</a:t>
            </a:r>
            <a:r>
              <a:rPr lang="en-GB" dirty="0" smtClean="0"/>
              <a:t>.</a:t>
            </a:r>
          </a:p>
          <a:p>
            <a:r>
              <a:rPr lang="en-GB" dirty="0" smtClean="0"/>
              <a:t>If </a:t>
            </a:r>
            <a:r>
              <a:rPr lang="en-GB" i="1" dirty="0" smtClean="0"/>
              <a:t>C(x1) = 00 and C(x2) = 11, then C(x1x2) = 0011.</a:t>
            </a:r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667000"/>
            <a:ext cx="585216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Uniquely </a:t>
            </a:r>
            <a:r>
              <a:rPr lang="en-GB" dirty="0" err="1" smtClean="0"/>
              <a:t>Decodable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A code is called </a:t>
            </a:r>
            <a:r>
              <a:rPr lang="en-GB" i="1" dirty="0" smtClean="0"/>
              <a:t>uniquely </a:t>
            </a:r>
            <a:r>
              <a:rPr lang="en-GB" i="1" dirty="0" err="1" smtClean="0"/>
              <a:t>decodable</a:t>
            </a:r>
            <a:r>
              <a:rPr lang="en-GB" i="1" dirty="0" smtClean="0"/>
              <a:t> if its extension is </a:t>
            </a:r>
            <a:r>
              <a:rPr lang="en-GB" i="1" dirty="0" err="1" smtClean="0"/>
              <a:t>nonsingular</a:t>
            </a:r>
            <a:r>
              <a:rPr lang="en-GB" i="1" dirty="0" smtClean="0"/>
              <a:t>.</a:t>
            </a:r>
          </a:p>
          <a:p>
            <a:r>
              <a:rPr lang="en-GB" i="1" dirty="0" smtClean="0"/>
              <a:t>Concatenation of two </a:t>
            </a:r>
            <a:r>
              <a:rPr lang="en-GB" i="1" dirty="0" err="1" smtClean="0"/>
              <a:t>codewords</a:t>
            </a:r>
            <a:r>
              <a:rPr lang="en-GB" i="1" dirty="0" smtClean="0"/>
              <a:t> should not results into another codeword</a:t>
            </a:r>
          </a:p>
          <a:p>
            <a:r>
              <a:rPr lang="en-GB" dirty="0" smtClean="0"/>
              <a:t>In other words, any encoded string in a uniquely </a:t>
            </a:r>
            <a:r>
              <a:rPr lang="en-GB" dirty="0" err="1" smtClean="0"/>
              <a:t>decodable</a:t>
            </a:r>
            <a:r>
              <a:rPr lang="en-GB" dirty="0" smtClean="0"/>
              <a:t> code has only one possible source string producing it. </a:t>
            </a:r>
          </a:p>
          <a:p>
            <a:r>
              <a:rPr lang="en-GB" dirty="0" smtClean="0"/>
              <a:t>However, one may have to look at the entire string to determine even the first symbol in the corresponding source string.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GB" dirty="0" smtClean="0"/>
              <a:t>Prefix code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fontScale="85000" lnSpcReduction="20000"/>
          </a:bodyPr>
          <a:lstStyle/>
          <a:p>
            <a:r>
              <a:rPr lang="en-GB" dirty="0" smtClean="0"/>
              <a:t>A code is called a </a:t>
            </a:r>
            <a:r>
              <a:rPr lang="en-GB" i="1" dirty="0" smtClean="0"/>
              <a:t>prefix code or an instantaneous code if </a:t>
            </a:r>
            <a:r>
              <a:rPr lang="en-GB" dirty="0" smtClean="0"/>
              <a:t>no codeword is a prefix of any other codeword.</a:t>
            </a:r>
          </a:p>
          <a:p>
            <a:r>
              <a:rPr lang="en-GB" dirty="0" smtClean="0"/>
              <a:t>An instantaneous code can be decoded without reference to future </a:t>
            </a:r>
            <a:r>
              <a:rPr lang="en-GB" dirty="0" err="1" smtClean="0"/>
              <a:t>codewords</a:t>
            </a:r>
            <a:r>
              <a:rPr lang="en-GB" dirty="0" smtClean="0"/>
              <a:t> since the end of a codeword is immediately recognizable. </a:t>
            </a:r>
          </a:p>
          <a:p>
            <a:r>
              <a:rPr lang="en-GB" dirty="0" smtClean="0"/>
              <a:t>Hence, for an instantaneous code, the symbol </a:t>
            </a:r>
            <a:r>
              <a:rPr lang="en-GB" i="1" dirty="0" smtClean="0"/>
              <a:t>xi can be decoded as soon as we </a:t>
            </a:r>
            <a:r>
              <a:rPr lang="en-GB" dirty="0" smtClean="0"/>
              <a:t>come to the end of the codeword corresponding to it. </a:t>
            </a:r>
          </a:p>
          <a:p>
            <a:r>
              <a:rPr lang="en-GB" dirty="0" smtClean="0"/>
              <a:t>We need not wait to see the </a:t>
            </a:r>
            <a:r>
              <a:rPr lang="en-GB" dirty="0" err="1" smtClean="0"/>
              <a:t>codewords</a:t>
            </a:r>
            <a:r>
              <a:rPr lang="en-GB" dirty="0" smtClean="0"/>
              <a:t> that come later. </a:t>
            </a:r>
          </a:p>
          <a:p>
            <a:r>
              <a:rPr lang="en-GB" dirty="0" smtClean="0"/>
              <a:t>An instantaneous code is a </a:t>
            </a:r>
            <a:r>
              <a:rPr lang="en-GB" i="1" dirty="0" err="1" smtClean="0"/>
              <a:t>selfpunctuating</a:t>
            </a:r>
            <a:r>
              <a:rPr lang="en-GB" i="1" dirty="0" smtClean="0"/>
              <a:t> code; we can look down the sequence of code symbols and </a:t>
            </a:r>
            <a:r>
              <a:rPr lang="en-GB" dirty="0" smtClean="0"/>
              <a:t>add the commas to separate the </a:t>
            </a:r>
            <a:r>
              <a:rPr lang="en-GB" dirty="0" err="1" smtClean="0"/>
              <a:t>codewords</a:t>
            </a:r>
            <a:r>
              <a:rPr lang="en-GB" dirty="0" smtClean="0"/>
              <a:t> without looking at later symbols.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r>
              <a:rPr lang="en-GB" dirty="0" smtClean="0"/>
              <a:t>The nesting of these definitions is shown</a:t>
            </a:r>
            <a:endParaRPr lang="en-GB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57425" y="1219199"/>
            <a:ext cx="4629150" cy="498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286000"/>
            <a:ext cx="791230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KRAFT INEQUALITY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We wish to construct instantaneous codes of minimum expected length to describe a given source. </a:t>
            </a:r>
          </a:p>
          <a:p>
            <a:r>
              <a:rPr lang="en-GB" dirty="0" smtClean="0"/>
              <a:t>It is clear that we cannot assign short </a:t>
            </a:r>
            <a:r>
              <a:rPr lang="en-GB" dirty="0" err="1" smtClean="0"/>
              <a:t>codewords</a:t>
            </a:r>
            <a:r>
              <a:rPr lang="en-GB" dirty="0" smtClean="0"/>
              <a:t> to all source symbols and still be prefix-free. </a:t>
            </a:r>
          </a:p>
          <a:p>
            <a:r>
              <a:rPr lang="en-GB" dirty="0" smtClean="0"/>
              <a:t>The set of codeword lengths possible for instantaneous codes is limited by the following inequality.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en-GB" dirty="0" smtClean="0"/>
              <a:t>(</a:t>
            </a:r>
            <a:r>
              <a:rPr lang="en-GB" i="1" dirty="0" smtClean="0"/>
              <a:t>Kraft inequality) For any instantaneous code (prefix code) over an alphabet of size D, the codeword lengths L1, L2, . . . , Lm must satisfy the inequality</a:t>
            </a:r>
          </a:p>
          <a:p>
            <a:endParaRPr lang="en-GB" i="1" dirty="0" smtClean="0"/>
          </a:p>
          <a:p>
            <a:endParaRPr lang="en-GB" i="1" dirty="0" smtClean="0"/>
          </a:p>
          <a:p>
            <a:r>
              <a:rPr lang="en-GB" i="1" dirty="0" smtClean="0"/>
              <a:t>Conversely, given a set of codeword lengths that satisfy this inequality, there exists an instantaneous code with these word lengths.</a:t>
            </a:r>
            <a:endParaRPr lang="en-GB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2514600"/>
            <a:ext cx="2128837" cy="1044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GB" dirty="0" smtClean="0"/>
              <a:t>Assignment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GB" dirty="0" smtClean="0"/>
              <a:t>Group 1: Identify the total number of word that can be constructed in </a:t>
            </a:r>
            <a:r>
              <a:rPr lang="en-GB" dirty="0" smtClean="0"/>
              <a:t>S</a:t>
            </a:r>
            <a:r>
              <a:rPr lang="en-GB" dirty="0" smtClean="0"/>
              <a:t>wahili </a:t>
            </a:r>
            <a:r>
              <a:rPr lang="en-GB" dirty="0" smtClean="0"/>
              <a:t>language (</a:t>
            </a:r>
            <a:r>
              <a:rPr lang="en-GB" dirty="0" err="1" smtClean="0"/>
              <a:t>e.g</a:t>
            </a:r>
            <a:r>
              <a:rPr lang="en-GB" dirty="0" smtClean="0"/>
              <a:t> Hello, Mambo, </a:t>
            </a:r>
            <a:r>
              <a:rPr lang="en-GB" dirty="0" err="1" smtClean="0"/>
              <a:t>poa</a:t>
            </a:r>
            <a:r>
              <a:rPr lang="en-GB" dirty="0" smtClean="0"/>
              <a:t>, </a:t>
            </a:r>
            <a:r>
              <a:rPr lang="en-GB" dirty="0" err="1" smtClean="0"/>
              <a:t>ni</a:t>
            </a:r>
            <a:r>
              <a:rPr lang="en-GB" dirty="0" smtClean="0"/>
              <a:t>, </a:t>
            </a:r>
            <a:r>
              <a:rPr lang="en-GB" dirty="0" err="1" smtClean="0"/>
              <a:t>na</a:t>
            </a:r>
            <a:r>
              <a:rPr lang="en-GB" dirty="0" smtClean="0"/>
              <a:t>, etc</a:t>
            </a:r>
            <a:r>
              <a:rPr lang="en-GB" dirty="0" smtClean="0"/>
              <a:t>). Then Develop </a:t>
            </a:r>
            <a:r>
              <a:rPr lang="en-GB" dirty="0" err="1" smtClean="0"/>
              <a:t>codewords</a:t>
            </a:r>
            <a:r>
              <a:rPr lang="en-GB" dirty="0" smtClean="0"/>
              <a:t> for Kiswahili words as source Elements</a:t>
            </a:r>
          </a:p>
          <a:p>
            <a:pPr algn="just">
              <a:lnSpc>
                <a:spcPct val="150000"/>
              </a:lnSpc>
            </a:pPr>
            <a:endParaRPr lang="en-GB" dirty="0" smtClean="0"/>
          </a:p>
          <a:p>
            <a:pPr algn="just">
              <a:lnSpc>
                <a:spcPct val="150000"/>
              </a:lnSpc>
            </a:pPr>
            <a:r>
              <a:rPr lang="en-GB" dirty="0" smtClean="0"/>
              <a:t>Group 2: Identify the total number of word that can be constructed in English language (</a:t>
            </a:r>
            <a:r>
              <a:rPr lang="en-GB" dirty="0" err="1" smtClean="0"/>
              <a:t>e.g</a:t>
            </a:r>
            <a:r>
              <a:rPr lang="en-GB" dirty="0" smtClean="0"/>
              <a:t> how, and, a, the, one, for etc</a:t>
            </a:r>
            <a:r>
              <a:rPr lang="en-GB" dirty="0" smtClean="0"/>
              <a:t>). Then Develop </a:t>
            </a:r>
            <a:r>
              <a:rPr lang="en-GB" dirty="0" err="1" smtClean="0"/>
              <a:t>codewords</a:t>
            </a:r>
            <a:r>
              <a:rPr lang="en-GB" dirty="0" smtClean="0"/>
              <a:t> for </a:t>
            </a:r>
            <a:r>
              <a:rPr lang="en-GB" dirty="0" smtClean="0"/>
              <a:t>English  </a:t>
            </a:r>
            <a:r>
              <a:rPr lang="en-GB" dirty="0" smtClean="0"/>
              <a:t>words as source Elements</a:t>
            </a:r>
            <a:endParaRPr lang="en-GB" dirty="0" smtClean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smtClean="0"/>
              <a:t>					</a:t>
            </a:r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r>
              <a:rPr lang="en-GB" dirty="0" smtClean="0"/>
              <a:t>					END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866</Words>
  <Application>Microsoft Office PowerPoint</Application>
  <PresentationFormat>On-screen Show (4:3)</PresentationFormat>
  <Paragraphs>90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Source Coding and Kraft Inequality</vt:lpstr>
      <vt:lpstr>Source coding (Data Compression)</vt:lpstr>
      <vt:lpstr>Slide 3</vt:lpstr>
      <vt:lpstr>Example </vt:lpstr>
      <vt:lpstr>Slide 5</vt:lpstr>
      <vt:lpstr>Morse's code</vt:lpstr>
      <vt:lpstr>Slide 7</vt:lpstr>
      <vt:lpstr>Source coding applications</vt:lpstr>
      <vt:lpstr>Classes of Codes</vt:lpstr>
      <vt:lpstr>Non singular </vt:lpstr>
      <vt:lpstr>Extension </vt:lpstr>
      <vt:lpstr>Uniquely Decodable</vt:lpstr>
      <vt:lpstr>Prefix code</vt:lpstr>
      <vt:lpstr>Slide 14</vt:lpstr>
      <vt:lpstr>Slide 15</vt:lpstr>
      <vt:lpstr>KRAFT INEQUALITY</vt:lpstr>
      <vt:lpstr>Slide 17</vt:lpstr>
      <vt:lpstr>Assignment</vt:lpstr>
      <vt:lpstr>Slide 19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 Coding and Kraft Inequality</dc:title>
  <dc:creator>user</dc:creator>
  <cp:lastModifiedBy>Windows User</cp:lastModifiedBy>
  <cp:revision>8</cp:revision>
  <dcterms:created xsi:type="dcterms:W3CDTF">2006-08-16T00:00:00Z</dcterms:created>
  <dcterms:modified xsi:type="dcterms:W3CDTF">2023-12-06T11:23:03Z</dcterms:modified>
</cp:coreProperties>
</file>