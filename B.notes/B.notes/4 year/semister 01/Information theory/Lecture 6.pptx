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6" r:id="rId2"/>
    <p:sldId id="277" r:id="rId3"/>
    <p:sldId id="278" r:id="rId4"/>
    <p:sldId id="279" r:id="rId5"/>
    <p:sldId id="280" r:id="rId6"/>
    <p:sldId id="285" r:id="rId7"/>
    <p:sldId id="286" r:id="rId8"/>
    <p:sldId id="287" r:id="rId9"/>
    <p:sldId id="288" r:id="rId10"/>
    <p:sldId id="307" r:id="rId11"/>
    <p:sldId id="308" r:id="rId12"/>
    <p:sldId id="309" r:id="rId13"/>
    <p:sldId id="257" r:id="rId14"/>
    <p:sldId id="267" r:id="rId15"/>
    <p:sldId id="268" r:id="rId16"/>
    <p:sldId id="269" r:id="rId17"/>
    <p:sldId id="258" r:id="rId18"/>
    <p:sldId id="259" r:id="rId19"/>
    <p:sldId id="260" r:id="rId20"/>
    <p:sldId id="261" r:id="rId21"/>
    <p:sldId id="262" r:id="rId22"/>
    <p:sldId id="272" r:id="rId23"/>
    <p:sldId id="273" r:id="rId24"/>
    <p:sldId id="274" r:id="rId25"/>
    <p:sldId id="263" r:id="rId26"/>
    <p:sldId id="264" r:id="rId27"/>
    <p:sldId id="265" r:id="rId28"/>
    <p:sldId id="266" r:id="rId29"/>
    <p:sldId id="275" r:id="rId30"/>
    <p:sldId id="270" r:id="rId31"/>
    <p:sldId id="27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4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107FD-181C-42A6-8E9F-244FE5B698C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280BF-01BA-4B91-AE97-6D9C48683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95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503E06E1-98AE-D896-BA63-A92484BDAE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E5C6EAD-7C78-4A32-85B4-FBD9239BC3C7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A972FAF-4BC1-4C89-2570-BE8A6C67808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FAE8449-3A4E-3007-AB51-31AA9D469F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FC686DE1-F43F-2FF2-47D6-45C2BA2347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E0DAF19-F97E-49EB-98B2-63462D9EB6C9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89CB7E2-7FE5-E2DA-D5C2-93342E0540E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DFF7D8B0-B7DE-E78C-D923-903C2B8994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AE6E9FFD-E7F9-DB76-711E-6FEF48F745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193300D-B23C-4D71-940B-C6F322D9E0B9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11DA04F-CEEB-7BFB-8BEE-6EA9AD2C4C1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9C69FE04-A153-CBDF-D74B-8FE1AB183A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D853D5D3-FB11-7E65-BDD3-C026AD94B3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AF5B951-F086-4CBA-9021-67A78048089C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25603" name="Rectangle 1026">
            <a:extLst>
              <a:ext uri="{FF2B5EF4-FFF2-40B4-BE49-F238E27FC236}">
                <a16:creationId xmlns:a16="http://schemas.microsoft.com/office/drawing/2014/main" id="{95F8B5E4-1CD4-2FF2-2B71-2F6F330E70B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1027">
            <a:extLst>
              <a:ext uri="{FF2B5EF4-FFF2-40B4-BE49-F238E27FC236}">
                <a16:creationId xmlns:a16="http://schemas.microsoft.com/office/drawing/2014/main" id="{573DF5B9-995A-5C98-5B30-01B2E3253F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C2730993-F383-E5A9-D2DE-D280AFBB9D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E0E3D72-A330-4DAA-9CBC-0FCDA3E0DB13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C767D0E1-2254-2E6F-CBF6-22DEEF00A90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3A253361-B1ED-A21D-58E3-09D5C14A1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9D3A4380-C204-E792-CA42-526FFD281E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1979E95-3D1B-4A11-9C07-ABBAA13B11CF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907B1A7B-D492-C8A3-5C55-80B72D34638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CE4902AF-3CB9-D8FB-3413-1022BEB8A1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97654EEC-B898-D463-22C1-5972C79E8A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09A6700-3E80-41C7-9504-681298A92C02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E16E6D13-0152-D1C2-E93A-0E8AE8C8720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BDCAFFFC-3801-6299-1F4C-ADB36EA5D9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3DAFD6C-0F9D-5396-6F24-5C6C7738EA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1CC578C-915E-4FC3-845A-56DCC680CB46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  <p:sp>
        <p:nvSpPr>
          <p:cNvPr id="29699" name="Rectangle 1026">
            <a:extLst>
              <a:ext uri="{FF2B5EF4-FFF2-40B4-BE49-F238E27FC236}">
                <a16:creationId xmlns:a16="http://schemas.microsoft.com/office/drawing/2014/main" id="{890B2262-4F5C-46C8-5998-EDA04E6D60F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1027">
            <a:extLst>
              <a:ext uri="{FF2B5EF4-FFF2-40B4-BE49-F238E27FC236}">
                <a16:creationId xmlns:a16="http://schemas.microsoft.com/office/drawing/2014/main" id="{E907A82B-A3F6-D157-7705-2F2D805D52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D6C44D95-38E5-4CAA-2AA7-C6137E2EF8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C24527E-F3CD-4751-AEAE-3B26828C217F}" type="slidenum">
              <a:rPr lang="en-US" altLang="en-US" sz="1200"/>
              <a:pPr eaLnBrk="1" hangingPunct="1"/>
              <a:t>21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49A27C2-C09E-5126-1C5C-ABD00E21744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85D095B2-78B2-90EA-BDAF-4E5FE0E89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2564656-B47E-46D0-5F37-910748D518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347071A-3AB2-4E0C-B715-E37FB6F40DE4}" type="slidenum">
              <a:rPr lang="en-US" altLang="en-US" sz="1200"/>
              <a:pPr eaLnBrk="1" hangingPunct="1"/>
              <a:t>22</a:t>
            </a:fld>
            <a:endParaRPr lang="en-US" altLang="en-US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DE190AF-A03F-03F8-7459-8DD3A361525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CD38C20E-79E5-9203-CFF6-5DA3EF1F6F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C409A62D-D7BF-0402-8B89-BB600C06DF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8F17F5B-5597-4D45-98B9-9BAE4F943D72}" type="slidenum">
              <a:rPr lang="en-US" altLang="en-US" sz="1200"/>
              <a:pPr eaLnBrk="1" hangingPunct="1"/>
              <a:t>23</a:t>
            </a:fld>
            <a:endParaRPr lang="en-US" altLang="en-US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41CCF715-2DE3-9A7C-1CA4-4461DAAAECC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81C446D-AA36-71F1-E0E4-4771DF75A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9FEE0796-557D-3F38-0ECA-A5577778A4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F9846AB-81AB-4E5C-9695-051B6BE96D38}" type="slidenum">
              <a:rPr lang="en-US" altLang="en-US" sz="1200"/>
              <a:pPr eaLnBrk="1" hangingPunct="1"/>
              <a:t>24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37F8CB34-1EAC-37E8-D423-6EA14E1E56C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EC9083D6-9A67-5558-272F-30FC48D8C0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0CD047BD-70FE-C19C-40A3-56B6B6368C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BC1E542-D0B8-4ABE-9140-030593E208A7}" type="slidenum">
              <a:rPr lang="en-US" altLang="en-US" sz="1200"/>
              <a:pPr eaLnBrk="1" hangingPunct="1"/>
              <a:t>25</a:t>
            </a:fld>
            <a:endParaRPr lang="en-US" altLang="en-US" sz="12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7A535442-73D6-2C82-5686-C68802296F6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E9BCF692-4206-AE60-1C9C-979F712BF6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3A56EA08-6ECF-9456-F665-E7D8648832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E58BBBA-282A-44A0-B017-804A00EE0CD8}" type="slidenum">
              <a:rPr lang="en-US" altLang="en-US" sz="1200"/>
              <a:pPr eaLnBrk="1" hangingPunct="1"/>
              <a:t>26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0ADAB75-D689-D7A9-E09C-C03C7AC643C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B3EF74F-BA81-0B18-7157-50AD5FEB6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23262CAD-8457-2170-E91E-84AFB09192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5B3CD20-2A02-4CCD-90AC-EC9BBF2DEC43}" type="slidenum">
              <a:rPr lang="en-US" altLang="en-US" sz="1200"/>
              <a:pPr eaLnBrk="1" hangingPunct="1"/>
              <a:t>27</a:t>
            </a:fld>
            <a:endParaRPr lang="en-US" altLang="en-US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9C314284-2827-E907-341B-D6D86AD08E0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D6BF36F-4D42-7971-F488-F5E53C5062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F7EBAB78-4E72-D518-5840-D2C934AA86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2C84E5F-5897-4E1F-80EA-F83F0917DE0C}" type="slidenum">
              <a:rPr lang="en-US" altLang="en-US" sz="1200"/>
              <a:pPr eaLnBrk="1" hangingPunct="1"/>
              <a:t>28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4727051-D924-351D-B818-D5FD2C85D96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8AD02205-76F2-A072-22AF-2FC2A4A9DC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3CFDB8D6-C44E-C436-843D-C8B432F860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CF32F15-7D1F-4E3B-9D0E-82284D79E086}" type="slidenum">
              <a:rPr lang="en-US" altLang="en-US" sz="1200"/>
              <a:pPr eaLnBrk="1" hangingPunct="1"/>
              <a:t>29</a:t>
            </a:fld>
            <a:endParaRPr lang="en-US" altLang="en-US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FDE2CA2-AC29-28D8-32B6-E7009E30B5D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C26EC72E-98B0-C434-D63C-8AA94ACB8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2DBEC48F-FDBC-31A6-A6D1-C1D36BA9CF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7CC65A0-B2EF-43E6-945E-B40296373916}" type="slidenum">
              <a:rPr lang="en-US" altLang="en-US" sz="1200"/>
              <a:pPr eaLnBrk="1" hangingPunct="1"/>
              <a:t>30</a:t>
            </a:fld>
            <a:endParaRPr lang="en-US" altLang="en-US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598E52D-ED03-88E6-EEBB-5FC425CD451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213BF4EF-5CF6-C683-06F8-4F815E52C1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BC272EC6-6C61-85F9-7029-A9E6D975CA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A01300D-D2B6-4C1A-B43D-D3BE2C7FD79E}" type="slidenum">
              <a:rPr lang="en-US" altLang="en-US" sz="1200"/>
              <a:pPr eaLnBrk="1" hangingPunct="1"/>
              <a:t>31</a:t>
            </a:fld>
            <a:endParaRPr lang="en-US" altLang="en-US" sz="12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898557DF-8D3F-B164-2CEA-748C0C9D49C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AEE3755A-9F20-1890-DEA8-598C9901E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7ECA-4A75-BBB7-ED0F-209122BE2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3B90B-9A06-C300-E22F-843CB0189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0A666-D256-DCEF-3452-489A9026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5372-1FA2-4234-8E46-2A96603AE0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56B40-1BF0-0544-954F-C435192E5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7C8D0-B42D-51E6-2DCF-B1EC31908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703-32D5-4457-9EFE-9F748304E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617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7EE10-49B7-2A1B-78BB-E8B41409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3A736-9A9F-5D7A-8802-DA361D2FE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17C9D-6CEA-8CBF-CA25-3097C83E5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5372-1FA2-4234-8E46-2A96603AE0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4997D-EAE7-DF8D-092B-7ADDF7C17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83A08-6985-85B8-1BB0-F4E49793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703-32D5-4457-9EFE-9F748304E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62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33177-FCA2-4DBC-19BC-845C7D40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2A716-8C00-D273-8F6C-52CBE4B3F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A9BF1-5267-8996-B9EF-E2C3EB7FD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5372-1FA2-4234-8E46-2A96603AE0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016CA-1D38-5AF2-2680-BAF21D61C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3C653-4BF5-E177-88CF-7F2DEE6D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703-32D5-4457-9EFE-9F748304E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04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BF879-6BF0-59F3-3A2E-C5CE8057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B5027-03BD-1805-0755-D44136E43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6E838-2603-DE3A-20D4-1B75091B3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46AC6-FD99-537A-F9A5-5CE13B72A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5372-1FA2-4234-8E46-2A96603AE0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BC9A2-AEF2-9A1F-1BEC-A2D1CD07E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DFEBA-6F41-2CC3-B1BD-3FF50436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703-32D5-4457-9EFE-9F748304E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337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36C1-366D-638F-577B-322725B7A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716FB-FB66-0A0F-9CB1-E0802451D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96B9F-B485-BF5D-7F7F-64B8DDD0C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4E116-1B89-52D3-A2B6-E23C12AE1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8364C-AEA7-0B6B-1657-A036920FD6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9C0AB8-C0F0-E8F7-7E54-0E67F99A0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5372-1FA2-4234-8E46-2A96603AE0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049D1A-28ED-DCBB-3884-4E8C8959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2C49E4-10E9-D703-7F38-FA4678408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703-32D5-4457-9EFE-9F748304E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1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C1BC-FF9F-7A88-8B5A-6A30010E6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F18207-9572-72F5-8460-4A3FD7BED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5372-1FA2-4234-8E46-2A96603AE0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B6261-B84E-84F5-1076-4AE9ED61B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A0A6E-5045-EF91-8D2C-DC063AF8D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703-32D5-4457-9EFE-9F748304E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0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B6D41B-BDB8-7520-E540-F5BE7091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5372-1FA2-4234-8E46-2A96603AE0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CA4F8-967C-12F4-F69A-FD7A3D1DA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439DF-B7AB-BF6F-9F61-6FEA3D67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703-32D5-4457-9EFE-9F748304E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94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3F67-DCC1-0544-B3DF-A2821D13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A3EE0-4AD0-91F7-FD48-A769075A5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C4DBB-D953-5D07-84C8-3F8705560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8C043-1A91-B22D-5DE1-412E0919B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5372-1FA2-4234-8E46-2A96603AE0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7B4D7-5EFA-CF29-4374-BB6C3D272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8618D-D895-EE69-EFB1-7507E589A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703-32D5-4457-9EFE-9F748304E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40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07D8-5F5C-D000-9481-F040A6407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69A6AD-0EFF-3746-71EA-4CEE9522C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24D0A-1DD8-E88E-A47D-74151C13C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47668-B5EC-E76E-7FBE-D0EB102A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5372-1FA2-4234-8E46-2A96603AE0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DB114-FE9F-CBE2-331D-B49990A1D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52458-3C20-8589-1793-F23FB4A5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703-32D5-4457-9EFE-9F748304E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5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A27B-2A2A-F74A-39A6-F60E5F47F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79CE7-DB19-17B9-ABAA-4574E9B5F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E9460-E425-875B-FEDC-00BA820F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5372-1FA2-4234-8E46-2A96603AE0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D5F3F-A938-316B-D6D7-A9E764BE2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BC5D7-556C-8336-733F-FB315D3D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703-32D5-4457-9EFE-9F748304E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8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22221C-5B0E-4C09-DF4B-FBA60420A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A71F10-99FB-5E00-49DA-A2CB23416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9EE77-9F9F-365F-B397-A9679A8D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5372-1FA2-4234-8E46-2A96603AE0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EE314-B38D-04FE-18DC-8BE639297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D58C6-8B77-0C92-5A6B-83C56512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5B703-32D5-4457-9EFE-9F748304E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50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EEE377 Lecture Notes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E779D421-6804-472F-9518-B4B4FB06E16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64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EEE377 Lecture Notes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45AD4150-23C8-482E-B4E8-ACDF5B0B6C7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0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609B52-8834-462F-C368-CB30DB2B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05CDC-2A69-EF2C-E22E-98ADCC0D3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182A2-BFFE-82EF-AE92-556714E1E9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A5372-1FA2-4234-8E46-2A96603AE00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4D6CA-82A5-5150-9B0C-156F76C7B7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AE31F-1A08-BC53-21AB-2A3D888C8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5B703-32D5-4457-9EFE-9F748304ED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77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CHANNEL CODING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F9503-62FC-443B-A17D-85E27B5368A1}" type="slidenum">
              <a:rPr lang="en-US"/>
              <a:pPr/>
              <a:t>2</a:t>
            </a:fld>
            <a:endParaRPr lang="en-US"/>
          </a:p>
        </p:txBody>
      </p:sp>
      <p:sp>
        <p:nvSpPr>
          <p:cNvPr id="318466" name="Text Box 2"/>
          <p:cNvSpPr txBox="1">
            <a:spLocks noChangeArrowheads="1"/>
          </p:cNvSpPr>
          <p:nvPr/>
        </p:nvSpPr>
        <p:spPr bwMode="auto">
          <a:xfrm>
            <a:off x="1905000" y="304801"/>
            <a:ext cx="617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Channel Coding </a:t>
            </a:r>
          </a:p>
        </p:txBody>
      </p:sp>
      <p:sp>
        <p:nvSpPr>
          <p:cNvPr id="318467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18468" name="Text Box 4"/>
          <p:cNvSpPr txBox="1">
            <a:spLocks noChangeArrowheads="1"/>
          </p:cNvSpPr>
          <p:nvPr/>
        </p:nvSpPr>
        <p:spPr bwMode="auto">
          <a:xfrm>
            <a:off x="714895" y="685799"/>
            <a:ext cx="9343505" cy="5122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Why?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 increase the resistance of digital communication systems to channel noise via error control coding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How?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By mapping the incoming data sequence into a channel input sequence and inverse mapping the channel output sequence into an output data sequence in such a way that the overall effect of channel noise on the system is </a:t>
            </a:r>
            <a:r>
              <a:rPr lang="en-US" sz="2000" dirty="0" err="1"/>
              <a:t>minimised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Redundancy is introduced in the channel encoder so as to reconstruct the original source sequence as accurately as 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02C2F-B75D-4FDB-A41B-47F7B73536D6}" type="slidenum">
              <a:rPr lang="en-US"/>
              <a:pPr/>
              <a:t>3</a:t>
            </a:fld>
            <a:endParaRPr lang="en-US"/>
          </a:p>
        </p:txBody>
      </p:sp>
      <p:sp>
        <p:nvSpPr>
          <p:cNvPr id="319490" name="Text Box 2"/>
          <p:cNvSpPr txBox="1">
            <a:spLocks noChangeArrowheads="1"/>
          </p:cNvSpPr>
          <p:nvPr/>
        </p:nvSpPr>
        <p:spPr bwMode="auto">
          <a:xfrm>
            <a:off x="1905000" y="304801"/>
            <a:ext cx="617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Error Control Coding </a:t>
            </a:r>
          </a:p>
        </p:txBody>
      </p:sp>
      <p:sp>
        <p:nvSpPr>
          <p:cNvPr id="319491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19492" name="Text Box 4"/>
          <p:cNvSpPr txBox="1">
            <a:spLocks noChangeArrowheads="1"/>
          </p:cNvSpPr>
          <p:nvPr/>
        </p:nvSpPr>
        <p:spPr bwMode="auto">
          <a:xfrm>
            <a:off x="1981200" y="685801"/>
            <a:ext cx="8077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/>
              <a:t>Error control for data integrity may be exercised by means of forward error correction (FEC).</a:t>
            </a:r>
          </a:p>
          <a:p>
            <a:endParaRPr lang="en-US" sz="2000"/>
          </a:p>
          <a:p>
            <a:endParaRPr lang="en-US" sz="2000"/>
          </a:p>
        </p:txBody>
      </p:sp>
      <p:pic>
        <p:nvPicPr>
          <p:cNvPr id="31949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52700" y="1600201"/>
            <a:ext cx="7181850" cy="37512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</p:pic>
      <p:sp>
        <p:nvSpPr>
          <p:cNvPr id="319495" name="Text Box 7"/>
          <p:cNvSpPr txBox="1">
            <a:spLocks noChangeArrowheads="1"/>
          </p:cNvSpPr>
          <p:nvPr/>
        </p:nvSpPr>
        <p:spPr bwMode="auto">
          <a:xfrm>
            <a:off x="2057400" y="3352801"/>
            <a:ext cx="8077200" cy="224676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/>
              <a:t>The discrete source generates information in the form of binary symbols.</a:t>
            </a:r>
          </a:p>
          <a:p>
            <a:r>
              <a:rPr lang="en-US" sz="2000"/>
              <a:t>The channel encoder accepts message bits and adds redundancy to produce encoded data at higher bit rate.</a:t>
            </a:r>
          </a:p>
          <a:p>
            <a:r>
              <a:rPr lang="en-US" sz="2000"/>
              <a:t>The channel decoder uses the redundancy to decide which message bits were actually transmitted.</a:t>
            </a:r>
          </a:p>
          <a:p>
            <a:endParaRPr lang="en-US" sz="2000"/>
          </a:p>
          <a:p>
            <a:r>
              <a:rPr lang="en-US" sz="2000"/>
              <a:t>What is the implication?</a:t>
            </a:r>
          </a:p>
        </p:txBody>
      </p:sp>
      <p:sp>
        <p:nvSpPr>
          <p:cNvPr id="319496" name="Rectangle 8"/>
          <p:cNvSpPr>
            <a:spLocks noChangeArrowheads="1"/>
          </p:cNvSpPr>
          <p:nvPr/>
        </p:nvSpPr>
        <p:spPr bwMode="auto">
          <a:xfrm>
            <a:off x="2057400" y="5486400"/>
            <a:ext cx="28956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24252-B5DB-42A2-BB3A-2503EEBBB87A}" type="slidenum">
              <a:rPr lang="en-US"/>
              <a:pPr/>
              <a:t>4</a:t>
            </a:fld>
            <a:endParaRPr lang="en-US"/>
          </a:p>
        </p:txBody>
      </p:sp>
      <p:sp>
        <p:nvSpPr>
          <p:cNvPr id="320514" name="Text Box 2"/>
          <p:cNvSpPr txBox="1">
            <a:spLocks noChangeArrowheads="1"/>
          </p:cNvSpPr>
          <p:nvPr/>
        </p:nvSpPr>
        <p:spPr bwMode="auto">
          <a:xfrm>
            <a:off x="1905000" y="304801"/>
            <a:ext cx="617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The implication of Error Control Coding </a:t>
            </a:r>
          </a:p>
        </p:txBody>
      </p:sp>
      <p:sp>
        <p:nvSpPr>
          <p:cNvPr id="320515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0516" name="Text Box 4"/>
          <p:cNvSpPr txBox="1">
            <a:spLocks noChangeArrowheads="1"/>
          </p:cNvSpPr>
          <p:nvPr/>
        </p:nvSpPr>
        <p:spPr bwMode="auto">
          <a:xfrm>
            <a:off x="1981200" y="685801"/>
            <a:ext cx="8077200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/>
              <a:t>Addition of redundancy implies the need for increased transmission bandwidth</a:t>
            </a:r>
          </a:p>
          <a:p>
            <a:r>
              <a:rPr lang="en-US" sz="2000"/>
              <a:t>It also adds complexity in the decoding operation</a:t>
            </a:r>
          </a:p>
          <a:p>
            <a:r>
              <a:rPr lang="en-US" sz="2000"/>
              <a:t>Therefore, there is a design trade-off in the use of error-control coding to achieve acceptable error performance considering bandwidth and system complexity.</a:t>
            </a:r>
          </a:p>
          <a:p>
            <a:endParaRPr lang="en-US" sz="2000"/>
          </a:p>
          <a:p>
            <a:endParaRPr lang="en-US" sz="2000"/>
          </a:p>
        </p:txBody>
      </p:sp>
      <p:sp>
        <p:nvSpPr>
          <p:cNvPr id="320519" name="Text Box 7"/>
          <p:cNvSpPr txBox="1">
            <a:spLocks noChangeArrowheads="1"/>
          </p:cNvSpPr>
          <p:nvPr/>
        </p:nvSpPr>
        <p:spPr bwMode="auto">
          <a:xfrm>
            <a:off x="2057400" y="2895600"/>
            <a:ext cx="61722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Types of Error Control Coding </a:t>
            </a:r>
          </a:p>
          <a:p>
            <a:pPr lvl="1">
              <a:buFontTx/>
              <a:buChar char="•"/>
            </a:pPr>
            <a:r>
              <a:rPr lang="en-US" b="1"/>
              <a:t> Block codes</a:t>
            </a:r>
          </a:p>
          <a:p>
            <a:pPr lvl="1">
              <a:buFontTx/>
              <a:buChar char="•"/>
            </a:pPr>
            <a:r>
              <a:rPr lang="en-US" b="1"/>
              <a:t> Convolutional codes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AF961-B801-49B0-96FA-18637FD4EB8A}" type="slidenum">
              <a:rPr lang="en-US"/>
              <a:pPr/>
              <a:t>5</a:t>
            </a:fld>
            <a:endParaRPr lang="en-US"/>
          </a:p>
        </p:txBody>
      </p:sp>
      <p:sp>
        <p:nvSpPr>
          <p:cNvPr id="321538" name="Text Box 2"/>
          <p:cNvSpPr txBox="1">
            <a:spLocks noChangeArrowheads="1"/>
          </p:cNvSpPr>
          <p:nvPr/>
        </p:nvSpPr>
        <p:spPr bwMode="auto">
          <a:xfrm>
            <a:off x="1905000" y="304801"/>
            <a:ext cx="617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Block Codes </a:t>
            </a:r>
          </a:p>
        </p:txBody>
      </p:sp>
      <p:sp>
        <p:nvSpPr>
          <p:cNvPr id="321539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1540" name="Text Box 4"/>
          <p:cNvSpPr txBox="1">
            <a:spLocks noChangeArrowheads="1"/>
          </p:cNvSpPr>
          <p:nvPr/>
        </p:nvSpPr>
        <p:spPr bwMode="auto">
          <a:xfrm>
            <a:off x="1981200" y="685800"/>
            <a:ext cx="80772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/>
              <a:t>Usually in the form of (n,k) block code where n is the number of bits of the codeword and k is the number of bits for the binary message</a:t>
            </a:r>
          </a:p>
          <a:p>
            <a:endParaRPr lang="en-US" sz="2000"/>
          </a:p>
          <a:p>
            <a:r>
              <a:rPr lang="en-US" sz="2000"/>
              <a:t>To generate an (n,k) block code, the channel encoder accepts information in successive k-bit blocks</a:t>
            </a:r>
          </a:p>
          <a:p>
            <a:r>
              <a:rPr lang="en-US" sz="2000"/>
              <a:t>For each block add (n-k) redundant bits to produce an encoded block of n-bits called a code-word</a:t>
            </a:r>
          </a:p>
          <a:p>
            <a:r>
              <a:rPr lang="en-US" sz="2000"/>
              <a:t>The (n-k) redundant bits are algebraically related to the k message bits</a:t>
            </a:r>
          </a:p>
          <a:p>
            <a:r>
              <a:rPr lang="en-US" sz="2000"/>
              <a:t>The channel encoder produces bits at a rate called the </a:t>
            </a:r>
            <a:r>
              <a:rPr lang="en-US" sz="2000" u="sng"/>
              <a:t>channel data rate, R</a:t>
            </a:r>
            <a:r>
              <a:rPr lang="en-US" sz="2000" u="sng" baseline="-25000"/>
              <a:t>0</a:t>
            </a:r>
          </a:p>
          <a:p>
            <a:endParaRPr lang="en-US" sz="2000" u="sng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sp>
        <p:nvSpPr>
          <p:cNvPr id="321543" name="Rectangle 7"/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graphicFrame>
        <p:nvGraphicFramePr>
          <p:cNvPr id="321542" name="Object 6"/>
          <p:cNvGraphicFramePr>
            <a:graphicFrameLocks noChangeAspect="1"/>
          </p:cNvGraphicFramePr>
          <p:nvPr/>
        </p:nvGraphicFramePr>
        <p:xfrm>
          <a:off x="3581400" y="3886200"/>
          <a:ext cx="1981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447" imgH="431613" progId="Equation.3">
                  <p:embed/>
                </p:oleObj>
              </mc:Choice>
              <mc:Fallback>
                <p:oleObj name="Equation" r:id="rId2" imgW="812447" imgH="431613" progId="Equation.3">
                  <p:embed/>
                  <p:pic>
                    <p:nvPicPr>
                      <p:cNvPr id="3215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886200"/>
                        <a:ext cx="198120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4" name="Text Box 8"/>
          <p:cNvSpPr txBox="1">
            <a:spLocks noChangeArrowheads="1"/>
          </p:cNvSpPr>
          <p:nvPr/>
        </p:nvSpPr>
        <p:spPr bwMode="auto">
          <a:xfrm>
            <a:off x="6003925" y="4075114"/>
            <a:ext cx="26329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Where R</a:t>
            </a:r>
            <a:r>
              <a:rPr lang="en-US" baseline="-25000"/>
              <a:t>s </a:t>
            </a:r>
            <a:r>
              <a:rPr lang="en-US"/>
              <a:t>is the bit rate of </a:t>
            </a:r>
          </a:p>
          <a:p>
            <a:r>
              <a:rPr lang="en-US"/>
              <a:t>the information source</a:t>
            </a:r>
          </a:p>
          <a:p>
            <a:endParaRPr lang="en-US"/>
          </a:p>
          <a:p>
            <a:r>
              <a:rPr lang="en-US"/>
              <a:t>and n/k is the code rate</a:t>
            </a:r>
            <a:endParaRPr lang="en-US" baseline="-25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55A7-AA73-4DD2-B87C-E9A6E5FFE794}" type="slidenum">
              <a:rPr lang="en-US"/>
              <a:pPr/>
              <a:t>6</a:t>
            </a:fld>
            <a:endParaRPr lang="en-US"/>
          </a:p>
        </p:txBody>
      </p:sp>
      <p:sp>
        <p:nvSpPr>
          <p:cNvPr id="327682" name="Text Box 2"/>
          <p:cNvSpPr txBox="1">
            <a:spLocks noChangeArrowheads="1"/>
          </p:cNvSpPr>
          <p:nvPr/>
        </p:nvSpPr>
        <p:spPr bwMode="auto">
          <a:xfrm>
            <a:off x="1905000" y="304800"/>
            <a:ext cx="83058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Linear Block Codes </a:t>
            </a:r>
          </a:p>
          <a:p>
            <a:r>
              <a:rPr lang="en-US"/>
              <a:t>An (n,k) block code indicates that the codeword has n number of bits and k is the number of bits for the original binary message</a:t>
            </a:r>
          </a:p>
          <a:p>
            <a:r>
              <a:rPr lang="en-US"/>
              <a:t>A code is said to be linear if any two code words in the code can be added in modulo-2 arithmetic to produce a third code word in the code</a:t>
            </a:r>
          </a:p>
          <a:p>
            <a:endParaRPr lang="en-US" b="1"/>
          </a:p>
        </p:txBody>
      </p:sp>
      <p:sp>
        <p:nvSpPr>
          <p:cNvPr id="327683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7684" name="Text Box 4"/>
          <p:cNvSpPr txBox="1">
            <a:spLocks noChangeArrowheads="1"/>
          </p:cNvSpPr>
          <p:nvPr/>
        </p:nvSpPr>
        <p:spPr bwMode="auto">
          <a:xfrm>
            <a:off x="1828800" y="1752601"/>
            <a:ext cx="83820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Code Vectors</a:t>
            </a:r>
          </a:p>
          <a:p>
            <a:r>
              <a:rPr lang="en-US"/>
              <a:t>Any n-bit code word can be visualised in an n-dimensional space as a vector whose elements having coordinates equal the bits in the code word</a:t>
            </a:r>
          </a:p>
          <a:p>
            <a:endParaRPr lang="en-US"/>
          </a:p>
          <a:p>
            <a:r>
              <a:rPr lang="en-US"/>
              <a:t>For example a code word 101 can be written in a row vector notation as (1 0 1)</a:t>
            </a:r>
          </a:p>
          <a:p>
            <a:endParaRPr lang="en-US" sz="2000"/>
          </a:p>
        </p:txBody>
      </p:sp>
      <p:sp>
        <p:nvSpPr>
          <p:cNvPr id="327685" name="Rectangle 5"/>
          <p:cNvSpPr>
            <a:spLocks noChangeArrowheads="1"/>
          </p:cNvSpPr>
          <p:nvPr/>
        </p:nvSpPr>
        <p:spPr bwMode="auto">
          <a:xfrm>
            <a:off x="1524001" y="35634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27686" name="Text Box 6"/>
          <p:cNvSpPr txBox="1">
            <a:spLocks noChangeArrowheads="1"/>
          </p:cNvSpPr>
          <p:nvPr/>
        </p:nvSpPr>
        <p:spPr bwMode="auto">
          <a:xfrm>
            <a:off x="1752600" y="3427414"/>
            <a:ext cx="8686800" cy="304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 Matrix representation of block codes</a:t>
            </a:r>
          </a:p>
          <a:p>
            <a:r>
              <a:rPr lang="en-US"/>
              <a:t>The code vector can be written in matrix form:</a:t>
            </a:r>
          </a:p>
          <a:p>
            <a:r>
              <a:rPr lang="en-US"/>
              <a:t>A block of k message bits can be written in the form of 1-by-k matrix</a:t>
            </a:r>
          </a:p>
          <a:p>
            <a:endParaRPr lang="en-US" b="1"/>
          </a:p>
          <a:p>
            <a:pPr lvl="1"/>
            <a:r>
              <a:rPr lang="en-US" sz="2000" b="1"/>
              <a:t>Modulo-2 operations</a:t>
            </a:r>
          </a:p>
          <a:p>
            <a:pPr lvl="1"/>
            <a:r>
              <a:rPr lang="en-US" sz="2000"/>
              <a:t> The encoding and decoding functions involve the binary arithmetic operation of modulo-2</a:t>
            </a:r>
          </a:p>
          <a:p>
            <a:pPr lvl="1"/>
            <a:r>
              <a:rPr lang="en-US" sz="2000"/>
              <a:t> Rules for modulo-2 operations are…..</a:t>
            </a:r>
          </a:p>
          <a:p>
            <a:endParaRPr lang="en-US" sz="2000"/>
          </a:p>
          <a:p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D125-4D51-43B0-B705-6276F3D156C8}" type="slidenum">
              <a:rPr lang="en-US"/>
              <a:pPr/>
              <a:t>7</a:t>
            </a:fld>
            <a:endParaRPr lang="en-US"/>
          </a:p>
        </p:txBody>
      </p:sp>
      <p:sp>
        <p:nvSpPr>
          <p:cNvPr id="337923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37925" name="Rectangle 5"/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37926" name="Text Box 6"/>
          <p:cNvSpPr txBox="1">
            <a:spLocks noChangeArrowheads="1"/>
          </p:cNvSpPr>
          <p:nvPr/>
        </p:nvSpPr>
        <p:spPr bwMode="auto">
          <a:xfrm>
            <a:off x="1752600" y="381001"/>
            <a:ext cx="8686800" cy="603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b="1"/>
              <a:t>Modulo-2 operations</a:t>
            </a:r>
          </a:p>
          <a:p>
            <a:pPr lvl="1"/>
            <a:r>
              <a:rPr lang="en-US" sz="2000"/>
              <a:t> The encoding and decoding functions involve the binary arithmetic operation of modulo-2</a:t>
            </a:r>
          </a:p>
          <a:p>
            <a:pPr lvl="1"/>
            <a:r>
              <a:rPr lang="en-US" sz="2000"/>
              <a:t> Rules for modulo-2 operations are:</a:t>
            </a:r>
          </a:p>
          <a:p>
            <a:pPr lvl="1"/>
            <a:endParaRPr lang="en-US" sz="2000"/>
          </a:p>
          <a:p>
            <a:pPr lvl="3"/>
            <a:r>
              <a:rPr lang="en-US" sz="2000"/>
              <a:t>	Modulo-2 addition</a:t>
            </a:r>
          </a:p>
          <a:p>
            <a:pPr lvl="3"/>
            <a:r>
              <a:rPr lang="en-US" sz="2000"/>
              <a:t>		0 + 0 = 0</a:t>
            </a:r>
          </a:p>
          <a:p>
            <a:pPr lvl="3"/>
            <a:r>
              <a:rPr lang="en-US" sz="2000"/>
              <a:t>		1 + 0 = 1</a:t>
            </a:r>
          </a:p>
          <a:p>
            <a:pPr lvl="3"/>
            <a:r>
              <a:rPr lang="en-US" sz="2000"/>
              <a:t>		0 + 1 = 1</a:t>
            </a:r>
          </a:p>
          <a:p>
            <a:pPr lvl="3"/>
            <a:r>
              <a:rPr lang="en-US" sz="2000"/>
              <a:t>		1 + 1 = 0</a:t>
            </a:r>
          </a:p>
          <a:p>
            <a:pPr lvl="3"/>
            <a:endParaRPr lang="en-US" sz="2000"/>
          </a:p>
          <a:p>
            <a:pPr lvl="3"/>
            <a:r>
              <a:rPr lang="en-US"/>
              <a:t>	Modulo-2 multiplication</a:t>
            </a:r>
          </a:p>
          <a:p>
            <a:pPr lvl="3"/>
            <a:r>
              <a:rPr lang="en-US"/>
              <a:t>		0 x 0 = 0</a:t>
            </a:r>
          </a:p>
          <a:p>
            <a:pPr lvl="3"/>
            <a:r>
              <a:rPr lang="en-US"/>
              <a:t>		1 x 0 = 0</a:t>
            </a:r>
          </a:p>
          <a:p>
            <a:pPr lvl="3"/>
            <a:r>
              <a:rPr lang="en-US"/>
              <a:t>		0 x 1 = 0</a:t>
            </a:r>
          </a:p>
          <a:p>
            <a:pPr lvl="3"/>
            <a:r>
              <a:rPr lang="en-US"/>
              <a:t>		1 x 1 = 1</a:t>
            </a:r>
          </a:p>
          <a:p>
            <a:pPr lvl="3"/>
            <a:endParaRPr lang="en-US" sz="2000"/>
          </a:p>
          <a:p>
            <a:pPr lvl="1"/>
            <a:endParaRPr lang="en-US" sz="2000"/>
          </a:p>
          <a:p>
            <a:endParaRPr lang="en-US" sz="2000"/>
          </a:p>
          <a:p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98EA3-FC75-430B-BDE2-227F20DF38B9}" type="slidenum">
              <a:rPr lang="en-US"/>
              <a:pPr/>
              <a:t>8</a:t>
            </a:fld>
            <a:endParaRPr lang="en-US"/>
          </a:p>
        </p:txBody>
      </p:sp>
      <p:sp>
        <p:nvSpPr>
          <p:cNvPr id="343042" name="Text Box 2"/>
          <p:cNvSpPr txBox="1">
            <a:spLocks noChangeArrowheads="1"/>
          </p:cNvSpPr>
          <p:nvPr/>
        </p:nvSpPr>
        <p:spPr bwMode="auto">
          <a:xfrm>
            <a:off x="1905000" y="304801"/>
            <a:ext cx="83058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Linear Block Code – Example : The Repetition Code</a:t>
            </a:r>
          </a:p>
          <a:p>
            <a:endParaRPr lang="en-US"/>
          </a:p>
          <a:p>
            <a:r>
              <a:rPr lang="en-US"/>
              <a:t>The additional (redundancy) bits (n-k) are identical to k</a:t>
            </a:r>
          </a:p>
          <a:p>
            <a:endParaRPr lang="en-US"/>
          </a:p>
        </p:txBody>
      </p:sp>
      <p:sp>
        <p:nvSpPr>
          <p:cNvPr id="343043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3044" name="Rectangle 4"/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3045" name="Text Box 5"/>
          <p:cNvSpPr txBox="1">
            <a:spLocks noChangeArrowheads="1"/>
          </p:cNvSpPr>
          <p:nvPr/>
        </p:nvSpPr>
        <p:spPr bwMode="auto">
          <a:xfrm>
            <a:off x="1905000" y="1828800"/>
            <a:ext cx="83058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Example : A (5,1) repetition code. </a:t>
            </a:r>
          </a:p>
          <a:p>
            <a:endParaRPr lang="en-US"/>
          </a:p>
          <a:p>
            <a:r>
              <a:rPr lang="en-US"/>
              <a:t>The original binary message has 1 bit. (5-1=4) bits are added to the binary message to form a code word and the 4 additional bits are identical to the 1 bit binary message.</a:t>
            </a:r>
          </a:p>
          <a:p>
            <a:r>
              <a:rPr lang="en-US"/>
              <a:t>So, you have 2 code words either 1111</a:t>
            </a:r>
            <a:r>
              <a:rPr lang="en-US" u="sng"/>
              <a:t>1</a:t>
            </a:r>
            <a:r>
              <a:rPr lang="en-US"/>
              <a:t> or 0000</a:t>
            </a:r>
            <a:r>
              <a:rPr lang="en-US" u="sng"/>
              <a:t>0.</a:t>
            </a:r>
          </a:p>
          <a:p>
            <a:r>
              <a:rPr lang="en-US"/>
              <a:t>In the case of error, 1 will changed to 0 and/or vice versa and the decoder will know that it has wrongly received a code word.</a:t>
            </a:r>
          </a:p>
          <a:p>
            <a:endParaRPr lang="en-US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0EA54-1AFA-453B-A9E3-F0170B251257}" type="slidenum">
              <a:rPr lang="en-US"/>
              <a:pPr/>
              <a:t>9</a:t>
            </a:fld>
            <a:endParaRPr lang="en-US"/>
          </a:p>
        </p:txBody>
      </p:sp>
      <p:sp>
        <p:nvSpPr>
          <p:cNvPr id="344066" name="Text Box 2"/>
          <p:cNvSpPr txBox="1">
            <a:spLocks noChangeArrowheads="1"/>
          </p:cNvSpPr>
          <p:nvPr/>
        </p:nvSpPr>
        <p:spPr bwMode="auto">
          <a:xfrm>
            <a:off x="1905000" y="304800"/>
            <a:ext cx="85344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/>
              <a:t>Parity-check Codes </a:t>
            </a:r>
          </a:p>
          <a:p>
            <a:r>
              <a:rPr lang="en-US"/>
              <a:t>Codes are based on the notion of parity.</a:t>
            </a:r>
          </a:p>
          <a:p>
            <a:r>
              <a:rPr lang="en-US"/>
              <a:t>The parity of a binary word is said to be even when the word contains and even number of 1s and odd parity when it has odd number of 1s.</a:t>
            </a:r>
          </a:p>
          <a:p>
            <a:endParaRPr lang="en-US"/>
          </a:p>
          <a:p>
            <a:r>
              <a:rPr lang="en-US"/>
              <a:t>A group of n-bits codewords are constructed from a group of n-1 message bits.</a:t>
            </a:r>
          </a:p>
          <a:p>
            <a:r>
              <a:rPr lang="en-US"/>
              <a:t>One check bit is added to the n-1 message bits such that all the codewords have the same parity</a:t>
            </a:r>
          </a:p>
          <a:p>
            <a:endParaRPr lang="en-US"/>
          </a:p>
          <a:p>
            <a:r>
              <a:rPr lang="en-US"/>
              <a:t>When the received codeword has different parity, we know that an error has occurred</a:t>
            </a:r>
            <a:endParaRPr lang="en-US" b="1"/>
          </a:p>
        </p:txBody>
      </p:sp>
      <p:sp>
        <p:nvSpPr>
          <p:cNvPr id="344067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4068" name="Rectangle 4"/>
          <p:cNvSpPr>
            <a:spLocks noChangeArrowheads="1"/>
          </p:cNvSpPr>
          <p:nvPr/>
        </p:nvSpPr>
        <p:spPr bwMode="auto">
          <a:xfrm>
            <a:off x="1524001" y="3030022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GB"/>
          </a:p>
        </p:txBody>
      </p:sp>
      <p:sp>
        <p:nvSpPr>
          <p:cNvPr id="344069" name="Text Box 5"/>
          <p:cNvSpPr txBox="1">
            <a:spLocks noChangeArrowheads="1"/>
          </p:cNvSpPr>
          <p:nvPr/>
        </p:nvSpPr>
        <p:spPr bwMode="auto">
          <a:xfrm>
            <a:off x="1905000" y="3471863"/>
            <a:ext cx="83058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Example : n=3 and even parity</a:t>
            </a:r>
          </a:p>
          <a:p>
            <a:endParaRPr lang="en-US"/>
          </a:p>
          <a:p>
            <a:r>
              <a:rPr lang="en-US"/>
              <a:t>The binary message are 00,01,10,11</a:t>
            </a:r>
          </a:p>
          <a:p>
            <a:r>
              <a:rPr lang="en-US"/>
              <a:t>The check bit is added such that all the code words have even parity</a:t>
            </a:r>
          </a:p>
          <a:p>
            <a:r>
              <a:rPr lang="en-US"/>
              <a:t>So, the resulting code words are 00</a:t>
            </a:r>
            <a:r>
              <a:rPr lang="en-US" u="sng"/>
              <a:t>0</a:t>
            </a:r>
            <a:r>
              <a:rPr lang="en-US"/>
              <a:t>,01</a:t>
            </a:r>
            <a:r>
              <a:rPr lang="en-US" u="sng"/>
              <a:t>1</a:t>
            </a:r>
            <a:r>
              <a:rPr lang="en-US"/>
              <a:t>,10</a:t>
            </a:r>
            <a:r>
              <a:rPr lang="en-US" u="sng"/>
              <a:t>1</a:t>
            </a:r>
            <a:r>
              <a:rPr lang="en-US"/>
              <a:t> and 11</a:t>
            </a:r>
            <a:r>
              <a:rPr lang="en-US" u="sng"/>
              <a:t>0</a:t>
            </a:r>
          </a:p>
          <a:p>
            <a:endParaRPr lang="en-US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1C96A-BE19-48A3-8A6E-6044EDAD3A67}" type="slidenum">
              <a:rPr lang="en-US"/>
              <a:pPr/>
              <a:t>10</a:t>
            </a:fld>
            <a:endParaRPr lang="en-US"/>
          </a:p>
        </p:txBody>
      </p:sp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parameters</a:t>
            </a:r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1800"/>
              <a:t>The Hamming distance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The Hamming distance between a pair of code vectors, c1 and c2  that have the same number of elements is defined as the number of locations in which their respective elements differ</a:t>
            </a:r>
          </a:p>
          <a:p>
            <a:pPr>
              <a:lnSpc>
                <a:spcPct val="80000"/>
              </a:lnSpc>
            </a:pPr>
            <a:r>
              <a:rPr lang="en-US" sz="1800"/>
              <a:t>The Hamming weight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The Hamming weight of a code vector c is defined as the number of nonzero elements in that code vector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Equivalent to the distance between a code vector and an all-zero code vector</a:t>
            </a:r>
          </a:p>
          <a:p>
            <a:pPr>
              <a:lnSpc>
                <a:spcPct val="80000"/>
              </a:lnSpc>
            </a:pPr>
            <a:r>
              <a:rPr lang="en-US" sz="1800"/>
              <a:t> The minimum distance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The minimum distance of a linear block code is defined as the smallest Hamming distance between any pair of code vectors in the code.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Equivalent to the smallest Hamming weight of the difference between any pair of code vectors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Equivalent to the smallest Hamming weight of the nonzero code vectors in the code</a:t>
            </a:r>
          </a:p>
          <a:p>
            <a:pPr>
              <a:lnSpc>
                <a:spcPct val="80000"/>
              </a:lnSpc>
            </a:pPr>
            <a:r>
              <a:rPr lang="en-US" sz="1800"/>
              <a:t>Code rate 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The ratio between the number of original message bits and the number of bits of the codeword </a:t>
            </a:r>
          </a:p>
          <a:p>
            <a:pPr lvl="1">
              <a:lnSpc>
                <a:spcPct val="80000"/>
              </a:lnSpc>
            </a:pPr>
            <a:r>
              <a:rPr lang="en-US" sz="1600"/>
              <a:t>For (n,k) code , code rate = k/n.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29A9E-C1FD-4D5D-AD47-E8727C13337E}" type="slidenum">
              <a:rPr lang="en-US"/>
              <a:pPr/>
              <a:t>11</a:t>
            </a:fld>
            <a:endParaRPr lang="en-US"/>
          </a:p>
        </p:txBody>
      </p:sp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sz="3600"/>
              <a:t>Codewords for (7,4) Hamming Code</a:t>
            </a:r>
          </a:p>
        </p:txBody>
      </p:sp>
      <p:graphicFrame>
        <p:nvGraphicFramePr>
          <p:cNvPr id="372850" name="Group 114"/>
          <p:cNvGraphicFramePr>
            <a:graphicFrameLocks noGrp="1"/>
          </p:cNvGraphicFramePr>
          <p:nvPr>
            <p:ph idx="1"/>
          </p:nvPr>
        </p:nvGraphicFramePr>
        <p:xfrm>
          <a:off x="1905000" y="1009650"/>
          <a:ext cx="7162800" cy="518795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Message Word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Parity bits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Code words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Hamming weight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1100101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0010111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0111001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0011010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1001011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0001101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0101110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1111111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72851" name="Text Box 115"/>
          <p:cNvSpPr txBox="1">
            <a:spLocks noChangeArrowheads="1"/>
          </p:cNvSpPr>
          <p:nvPr/>
        </p:nvSpPr>
        <p:spPr bwMode="auto">
          <a:xfrm>
            <a:off x="9144000" y="2057400"/>
            <a:ext cx="11711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Min dist=?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EE625-4C2A-41A5-BCC4-7EFFC95B80E2}" type="slidenum">
              <a:rPr lang="en-US"/>
              <a:pPr/>
              <a:t>12</a:t>
            </a:fld>
            <a:endParaRPr lang="en-US"/>
          </a:p>
        </p:txBody>
      </p:sp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parameters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The minimum distance of a code determines the error detecting and correcting capability of the code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Error detection is always possible when the number of transmission errors in a codeword is less than the minimum distance so that the erroneous word may not be seen as another valid code vector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Various degrees of error control capability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Detect up to </a:t>
            </a:r>
            <a:r>
              <a:rPr lang="en-US" sz="2000">
                <a:latin typeface="Script MT Bold" pitchFamily="66" charset="0"/>
              </a:rPr>
              <a:t>l </a:t>
            </a:r>
            <a:r>
              <a:rPr lang="en-US" sz="2000"/>
              <a:t>errors per word ,  dmin &gt;= </a:t>
            </a:r>
            <a:r>
              <a:rPr lang="en-US" sz="2000">
                <a:latin typeface="Script MT Bold" pitchFamily="66" charset="0"/>
              </a:rPr>
              <a:t>l </a:t>
            </a:r>
            <a:r>
              <a:rPr lang="en-US" sz="2000"/>
              <a:t>+ 1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Correct up to </a:t>
            </a:r>
            <a:r>
              <a:rPr lang="en-US" sz="2000">
                <a:latin typeface="Script MT Bold" pitchFamily="66" charset="0"/>
              </a:rPr>
              <a:t>t</a:t>
            </a:r>
            <a:r>
              <a:rPr lang="en-US" sz="2000"/>
              <a:t> errors per word, dmin &gt;= 2</a:t>
            </a:r>
            <a:r>
              <a:rPr lang="en-US" sz="2000">
                <a:latin typeface="Script MT Bold" pitchFamily="66" charset="0"/>
              </a:rPr>
              <a:t>t</a:t>
            </a:r>
            <a:r>
              <a:rPr lang="en-US" sz="2000"/>
              <a:t> + 1</a:t>
            </a:r>
          </a:p>
          <a:p>
            <a:pPr lvl="1">
              <a:lnSpc>
                <a:spcPct val="90000"/>
              </a:lnSpc>
            </a:pPr>
            <a:r>
              <a:rPr lang="en-US" sz="2000"/>
              <a:t>Correct up to t errors and detect </a:t>
            </a:r>
            <a:r>
              <a:rPr lang="en-US" sz="2000">
                <a:latin typeface="Script MT Bold" pitchFamily="66" charset="0"/>
              </a:rPr>
              <a:t>l</a:t>
            </a:r>
            <a:r>
              <a:rPr lang="en-US" sz="2000"/>
              <a:t> &gt;</a:t>
            </a:r>
            <a:r>
              <a:rPr lang="en-US" sz="2000">
                <a:latin typeface="Script MT Bold" pitchFamily="66" charset="0"/>
              </a:rPr>
              <a:t> t</a:t>
            </a:r>
            <a:r>
              <a:rPr lang="en-US" sz="2000"/>
              <a:t> errors per word,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sz="2000"/>
              <a:t>dmin &gt;= </a:t>
            </a:r>
            <a:r>
              <a:rPr lang="en-US" sz="2000">
                <a:latin typeface="Script MT Bold" pitchFamily="66" charset="0"/>
              </a:rPr>
              <a:t>t</a:t>
            </a:r>
            <a:r>
              <a:rPr lang="en-US" sz="2000"/>
              <a:t> + </a:t>
            </a:r>
            <a:r>
              <a:rPr lang="en-US" sz="2000">
                <a:latin typeface="Script MT Bold" pitchFamily="66" charset="0"/>
              </a:rPr>
              <a:t>l</a:t>
            </a:r>
            <a:r>
              <a:rPr lang="en-US" sz="2000"/>
              <a:t> + 1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Code rate is a measure of the code efficiency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BE2D577F-B3BB-7F02-A404-8758203BBF8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8195" name="Footer Placeholder 4">
            <a:extLst>
              <a:ext uri="{FF2B5EF4-FFF2-40B4-BE49-F238E27FC236}">
                <a16:creationId xmlns:a16="http://schemas.microsoft.com/office/drawing/2014/main" id="{DC42FBBD-70A5-E080-A182-FB8D7B10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8196" name="Slide Number Placeholder 5">
            <a:extLst>
              <a:ext uri="{FF2B5EF4-FFF2-40B4-BE49-F238E27FC236}">
                <a16:creationId xmlns:a16="http://schemas.microsoft.com/office/drawing/2014/main" id="{78C0136A-D1EB-47F9-D7AB-D5D82546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EFD0153-524C-45AB-B8CE-54D7307D0416}" type="slidenum">
              <a:rPr lang="en-US" altLang="en-US" sz="1400"/>
              <a:pPr eaLnBrk="1" hangingPunct="1"/>
              <a:t>13</a:t>
            </a:fld>
            <a:endParaRPr lang="en-US" altLang="en-US" sz="1400"/>
          </a:p>
        </p:txBody>
      </p:sp>
      <p:sp>
        <p:nvSpPr>
          <p:cNvPr id="8197" name="Rectangle 1026">
            <a:extLst>
              <a:ext uri="{FF2B5EF4-FFF2-40B4-BE49-F238E27FC236}">
                <a16:creationId xmlns:a16="http://schemas.microsoft.com/office/drawing/2014/main" id="{482BCCAB-71B0-8E75-BFCF-02D1012A7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381000"/>
            <a:ext cx="7772400" cy="762000"/>
          </a:xfrm>
        </p:spPr>
        <p:txBody>
          <a:bodyPr/>
          <a:lstStyle/>
          <a:p>
            <a:pPr eaLnBrk="1" hangingPunct="1"/>
            <a:r>
              <a:rPr lang="en-GB" altLang="en-US"/>
              <a:t>Hamming Codes</a:t>
            </a:r>
            <a:endParaRPr lang="en-US" altLang="en-US"/>
          </a:p>
        </p:txBody>
      </p:sp>
      <p:sp>
        <p:nvSpPr>
          <p:cNvPr id="83971" name="Rectangle 1027">
            <a:extLst>
              <a:ext uri="{FF2B5EF4-FFF2-40B4-BE49-F238E27FC236}">
                <a16:creationId xmlns:a16="http://schemas.microsoft.com/office/drawing/2014/main" id="{8FEBBB7A-E61C-03AD-96EE-5B87E09C3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5" y="1196975"/>
            <a:ext cx="8686800" cy="4876800"/>
          </a:xfrm>
        </p:spPr>
        <p:txBody>
          <a:bodyPr/>
          <a:lstStyle/>
          <a:p>
            <a:pPr eaLnBrk="1" hangingPunct="1"/>
            <a:r>
              <a:rPr lang="en-GB" altLang="en-US" sz="2400"/>
              <a:t>The Hamming Code is a Forward Error-correcting Code (FEC) that uses redundant bits to correct a single bit error</a:t>
            </a:r>
          </a:p>
          <a:p>
            <a:pPr eaLnBrk="1" hangingPunct="1"/>
            <a:r>
              <a:rPr lang="en-GB" altLang="en-US" sz="2400"/>
              <a:t>For 4 bit codes, 3 redundant bits are needed, total = 7 bits</a:t>
            </a:r>
          </a:p>
          <a:p>
            <a:pPr eaLnBrk="1" hangingPunct="1"/>
            <a:r>
              <a:rPr lang="en-GB" altLang="en-US" sz="2400"/>
              <a:t>For 8 bit codes, 4 redundant bits are needed, total = 12 bits</a:t>
            </a:r>
          </a:p>
          <a:p>
            <a:pPr eaLnBrk="1" hangingPunct="1"/>
            <a:r>
              <a:rPr lang="en-GB" altLang="en-US" sz="2400"/>
              <a:t>They are placed in bit positions 1,2,4 and 8 (the powers of 2) and the 8 bit character occupies bit positions 3,5,6,7,9,10, 11 and 12</a:t>
            </a:r>
          </a:p>
          <a:p>
            <a:pPr eaLnBrk="1" hangingPunct="1"/>
            <a:r>
              <a:rPr lang="en-GB" altLang="en-US" sz="2400"/>
              <a:t>Each redundant bit is the Vertical Redundancy Check (normally even parity) for a combination of data bits</a:t>
            </a:r>
          </a:p>
          <a:p>
            <a:pPr eaLnBrk="1" hangingPunct="1"/>
            <a:r>
              <a:rPr lang="en-US" altLang="en-US" sz="2400"/>
              <a:t>Hamming Codes can be extended to correct a single burst errors of up to n bits, by transmitting a bit in turn from each of n characters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39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F8983CF8-91EA-A0ED-16B6-A2E24A759C8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9219" name="Footer Placeholder 4">
            <a:extLst>
              <a:ext uri="{FF2B5EF4-FFF2-40B4-BE49-F238E27FC236}">
                <a16:creationId xmlns:a16="http://schemas.microsoft.com/office/drawing/2014/main" id="{AAF55F13-DD13-F329-2078-05E7B6CA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9220" name="Slide Number Placeholder 5">
            <a:extLst>
              <a:ext uri="{FF2B5EF4-FFF2-40B4-BE49-F238E27FC236}">
                <a16:creationId xmlns:a16="http://schemas.microsoft.com/office/drawing/2014/main" id="{AF5FD6E9-6C49-CA78-A35F-2B92CBDA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11D717A-0EC0-438F-856F-AABEF6BB33E1}" type="slidenum">
              <a:rPr lang="en-US" altLang="en-US" sz="1400"/>
              <a:pPr eaLnBrk="1" hangingPunct="1"/>
              <a:t>14</a:t>
            </a:fld>
            <a:endParaRPr lang="en-US" altLang="en-US" sz="1400"/>
          </a:p>
        </p:txBody>
      </p:sp>
      <p:sp>
        <p:nvSpPr>
          <p:cNvPr id="9221" name="Rectangle 1026">
            <a:extLst>
              <a:ext uri="{FF2B5EF4-FFF2-40B4-BE49-F238E27FC236}">
                <a16:creationId xmlns:a16="http://schemas.microsoft.com/office/drawing/2014/main" id="{C214AD07-8A38-CDAD-F68F-A5DF5BA9B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/>
              <a:t>Hamming Codes</a:t>
            </a:r>
          </a:p>
        </p:txBody>
      </p:sp>
      <p:sp>
        <p:nvSpPr>
          <p:cNvPr id="96259" name="Rectangle 1027">
            <a:extLst>
              <a:ext uri="{FF2B5EF4-FFF2-40B4-BE49-F238E27FC236}">
                <a16:creationId xmlns:a16="http://schemas.microsoft.com/office/drawing/2014/main" id="{DCCE3B0A-8B16-FBE4-476D-EB9660977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3" y="1125538"/>
            <a:ext cx="7772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400"/>
              <a:t>Hamming Codes use the redundant bits to check the data bits using the concept of one redundant parity bit covering a number of data bits according to the following binary code table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Bit errors can be found by identifying which parity bits are incorrect and determining which data bit was covered by those parity bits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An alternative (but possibly more error prone method) is to create a bit string from the bits which would be needed to add to each wrong parity bit make a binary number which is then converted to decimal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It is advisable to use both methods, to double check the answer</a:t>
            </a: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4">
            <a:extLst>
              <a:ext uri="{FF2B5EF4-FFF2-40B4-BE49-F238E27FC236}">
                <a16:creationId xmlns:a16="http://schemas.microsoft.com/office/drawing/2014/main" id="{955120CD-2DCE-865F-37D2-524086AEB18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1028" name="Footer Placeholder 3">
            <a:extLst>
              <a:ext uri="{FF2B5EF4-FFF2-40B4-BE49-F238E27FC236}">
                <a16:creationId xmlns:a16="http://schemas.microsoft.com/office/drawing/2014/main" id="{B6C3B378-F2A8-6EAD-BA54-E17E6FBBF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1029" name="Slide Number Placeholder 4">
            <a:extLst>
              <a:ext uri="{FF2B5EF4-FFF2-40B4-BE49-F238E27FC236}">
                <a16:creationId xmlns:a16="http://schemas.microsoft.com/office/drawing/2014/main" id="{40933086-ACC0-F61F-108A-B80D919F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9B727A4-0D1B-4F64-954D-C320C4BF64D3}" type="slidenum">
              <a:rPr lang="en-US" altLang="en-US" sz="1400"/>
              <a:pPr eaLnBrk="1" hangingPunct="1"/>
              <a:t>15</a:t>
            </a:fld>
            <a:endParaRPr lang="en-US" altLang="en-US" sz="1400"/>
          </a:p>
        </p:txBody>
      </p:sp>
      <p:graphicFrame>
        <p:nvGraphicFramePr>
          <p:cNvPr id="1026" name="Object 3">
            <a:extLst>
              <a:ext uri="{FF2B5EF4-FFF2-40B4-BE49-F238E27FC236}">
                <a16:creationId xmlns:a16="http://schemas.microsoft.com/office/drawing/2014/main" id="{5F6687E8-0F79-D390-A36C-CC4273331B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609600"/>
          <a:ext cx="7772400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3" imgW="4572000" imgH="3429000" progId="PowerPoint.Slide.8">
                  <p:embed/>
                </p:oleObj>
              </mc:Choice>
              <mc:Fallback>
                <p:oleObj name="Slide" r:id="rId3" imgW="4572000" imgH="3429000" progId="PowerPoint.Slide.8">
                  <p:embed/>
                  <p:pic>
                    <p:nvPicPr>
                      <p:cNvPr id="1026" name="Object 3">
                        <a:extLst>
                          <a:ext uri="{FF2B5EF4-FFF2-40B4-BE49-F238E27FC236}">
                            <a16:creationId xmlns:a16="http://schemas.microsoft.com/office/drawing/2014/main" id="{5F6687E8-0F79-D390-A36C-CC4273331B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609600"/>
                        <a:ext cx="7772400" cy="533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8468A78A-7ED0-4622-D150-AAD4D3DB6E5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10243" name="Footer Placeholder 2">
            <a:extLst>
              <a:ext uri="{FF2B5EF4-FFF2-40B4-BE49-F238E27FC236}">
                <a16:creationId xmlns:a16="http://schemas.microsoft.com/office/drawing/2014/main" id="{AD5FCA37-5B56-8B08-B795-57EBD42D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7DFF8B5B-84FD-A1B5-940C-7C00F365F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8957CB1-6D4D-47C7-80B8-F2C6C7144BD9}" type="slidenum">
              <a:rPr lang="en-US" altLang="en-US" sz="1400"/>
              <a:pPr eaLnBrk="1" hangingPunct="1"/>
              <a:t>16</a:t>
            </a:fld>
            <a:endParaRPr lang="en-US" altLang="en-US" sz="1400"/>
          </a:p>
        </p:txBody>
      </p:sp>
      <p:graphicFrame>
        <p:nvGraphicFramePr>
          <p:cNvPr id="97425" name="Group 145">
            <a:extLst>
              <a:ext uri="{FF2B5EF4-FFF2-40B4-BE49-F238E27FC236}">
                <a16:creationId xmlns:a16="http://schemas.microsoft.com/office/drawing/2014/main" id="{1A522890-68C3-6989-B2DF-0F0ADCF7F299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609600"/>
          <a:ext cx="8077200" cy="5492748"/>
        </p:xfrm>
        <a:graphic>
          <a:graphicData uri="http://schemas.openxmlformats.org/drawingml/2006/table">
            <a:tbl>
              <a:tblPr/>
              <a:tblGrid>
                <a:gridCol w="2347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4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6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Covered by Parity Bits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Data Bits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6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6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6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...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4">
            <a:extLst>
              <a:ext uri="{FF2B5EF4-FFF2-40B4-BE49-F238E27FC236}">
                <a16:creationId xmlns:a16="http://schemas.microsoft.com/office/drawing/2014/main" id="{B01D68E9-9C0C-D8E4-7FAE-7E3E3391054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2052" name="Footer Placeholder 3">
            <a:extLst>
              <a:ext uri="{FF2B5EF4-FFF2-40B4-BE49-F238E27FC236}">
                <a16:creationId xmlns:a16="http://schemas.microsoft.com/office/drawing/2014/main" id="{67692F4E-E0EA-01A7-C046-55CB023B5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2053" name="Slide Number Placeholder 4">
            <a:extLst>
              <a:ext uri="{FF2B5EF4-FFF2-40B4-BE49-F238E27FC236}">
                <a16:creationId xmlns:a16="http://schemas.microsoft.com/office/drawing/2014/main" id="{2AA38C49-C821-8296-43E0-CBA709B4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1005744-D198-4AC4-BBE1-ED76B52E5F51}" type="slidenum">
              <a:rPr lang="en-US" altLang="en-US" sz="1400"/>
              <a:pPr eaLnBrk="1" hangingPunct="1"/>
              <a:t>17</a:t>
            </a:fld>
            <a:endParaRPr lang="en-US" altLang="en-US" sz="1400"/>
          </a:p>
        </p:txBody>
      </p:sp>
      <p:graphicFrame>
        <p:nvGraphicFramePr>
          <p:cNvPr id="2050" name="Object 3">
            <a:extLst>
              <a:ext uri="{FF2B5EF4-FFF2-40B4-BE49-F238E27FC236}">
                <a16:creationId xmlns:a16="http://schemas.microsoft.com/office/drawing/2014/main" id="{4C959B8D-36C7-5592-D1C7-49EE1EF243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609600"/>
          <a:ext cx="7772400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3" imgW="4572000" imgH="3429000" progId="PowerPoint.Slide.8">
                  <p:embed/>
                </p:oleObj>
              </mc:Choice>
              <mc:Fallback>
                <p:oleObj name="Slide" r:id="rId3" imgW="4572000" imgH="3429000" progId="PowerPoint.Slide.8">
                  <p:embed/>
                  <p:pic>
                    <p:nvPicPr>
                      <p:cNvPr id="2050" name="Object 3">
                        <a:extLst>
                          <a:ext uri="{FF2B5EF4-FFF2-40B4-BE49-F238E27FC236}">
                            <a16:creationId xmlns:a16="http://schemas.microsoft.com/office/drawing/2014/main" id="{4C959B8D-36C7-5592-D1C7-49EE1EF243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609600"/>
                        <a:ext cx="7772400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>
            <a:extLst>
              <a:ext uri="{FF2B5EF4-FFF2-40B4-BE49-F238E27FC236}">
                <a16:creationId xmlns:a16="http://schemas.microsoft.com/office/drawing/2014/main" id="{0732667A-A441-9FE3-8414-9DEBCBD6081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3076" name="Footer Placeholder 2">
            <a:extLst>
              <a:ext uri="{FF2B5EF4-FFF2-40B4-BE49-F238E27FC236}">
                <a16:creationId xmlns:a16="http://schemas.microsoft.com/office/drawing/2014/main" id="{9C02F4A5-C744-9C6A-34AE-A59DF4F8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3077" name="Slide Number Placeholder 3">
            <a:extLst>
              <a:ext uri="{FF2B5EF4-FFF2-40B4-BE49-F238E27FC236}">
                <a16:creationId xmlns:a16="http://schemas.microsoft.com/office/drawing/2014/main" id="{02765244-B398-B49C-461D-5751402C7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5AC6388-5AE4-4BD3-BABE-CDB029E6B26C}" type="slidenum">
              <a:rPr lang="en-US" altLang="en-US" sz="1400"/>
              <a:pPr eaLnBrk="1" hangingPunct="1"/>
              <a:t>18</a:t>
            </a:fld>
            <a:endParaRPr lang="en-US" altLang="en-US" sz="1400"/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17B30B98-5FD7-3B42-7A2D-F483FEFAC2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533400"/>
          <a:ext cx="7620000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3" imgW="4572000" imgH="3429000" progId="PowerPoint.Slide.8">
                  <p:embed/>
                </p:oleObj>
              </mc:Choice>
              <mc:Fallback>
                <p:oleObj name="Slide" r:id="rId3" imgW="4572000" imgH="3429000" progId="PowerPoint.Slide.8">
                  <p:embed/>
                  <p:pic>
                    <p:nvPicPr>
                      <p:cNvPr id="3074" name="Object 2">
                        <a:extLst>
                          <a:ext uri="{FF2B5EF4-FFF2-40B4-BE49-F238E27FC236}">
                            <a16:creationId xmlns:a16="http://schemas.microsoft.com/office/drawing/2014/main" id="{17B30B98-5FD7-3B42-7A2D-F483FEFAC2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33400"/>
                        <a:ext cx="7620000" cy="548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>
            <a:extLst>
              <a:ext uri="{FF2B5EF4-FFF2-40B4-BE49-F238E27FC236}">
                <a16:creationId xmlns:a16="http://schemas.microsoft.com/office/drawing/2014/main" id="{645FE706-DFF3-D8F7-AA82-F98FD14AFD6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4100" name="Footer Placeholder 2">
            <a:extLst>
              <a:ext uri="{FF2B5EF4-FFF2-40B4-BE49-F238E27FC236}">
                <a16:creationId xmlns:a16="http://schemas.microsoft.com/office/drawing/2014/main" id="{7A37E328-5AD7-F245-BEF9-CF9122B1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4101" name="Slide Number Placeholder 3">
            <a:extLst>
              <a:ext uri="{FF2B5EF4-FFF2-40B4-BE49-F238E27FC236}">
                <a16:creationId xmlns:a16="http://schemas.microsoft.com/office/drawing/2014/main" id="{D42389D9-E975-27AB-E3A3-5BA74CA5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5C0DBEC-A489-4497-8C6A-82E5E878B249}" type="slidenum">
              <a:rPr lang="en-US" altLang="en-US" sz="1400"/>
              <a:pPr eaLnBrk="1" hangingPunct="1"/>
              <a:t>19</a:t>
            </a:fld>
            <a:endParaRPr lang="en-US" altLang="en-US" sz="1400"/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3C170054-E8CD-7672-A525-64868E7010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457200"/>
          <a:ext cx="7772400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3" imgW="4572000" imgH="3429000" progId="PowerPoint.Slide.8">
                  <p:embed/>
                </p:oleObj>
              </mc:Choice>
              <mc:Fallback>
                <p:oleObj name="Slide" r:id="rId3" imgW="4572000" imgH="3429000" progId="PowerPoint.Slide.8">
                  <p:embed/>
                  <p:pic>
                    <p:nvPicPr>
                      <p:cNvPr id="4098" name="Object 2">
                        <a:extLst>
                          <a:ext uri="{FF2B5EF4-FFF2-40B4-BE49-F238E27FC236}">
                            <a16:creationId xmlns:a16="http://schemas.microsoft.com/office/drawing/2014/main" id="{3C170054-E8CD-7672-A525-64868E7010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57200"/>
                        <a:ext cx="7772400" cy="563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>
            <a:extLst>
              <a:ext uri="{FF2B5EF4-FFF2-40B4-BE49-F238E27FC236}">
                <a16:creationId xmlns:a16="http://schemas.microsoft.com/office/drawing/2014/main" id="{0377D494-3E5F-44DB-6CA7-05318BF9D8B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5124" name="Footer Placeholder 2">
            <a:extLst>
              <a:ext uri="{FF2B5EF4-FFF2-40B4-BE49-F238E27FC236}">
                <a16:creationId xmlns:a16="http://schemas.microsoft.com/office/drawing/2014/main" id="{EA1640E0-A3AC-E0F0-F1BA-BDF7B538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5125" name="Slide Number Placeholder 3">
            <a:extLst>
              <a:ext uri="{FF2B5EF4-FFF2-40B4-BE49-F238E27FC236}">
                <a16:creationId xmlns:a16="http://schemas.microsoft.com/office/drawing/2014/main" id="{5E23CF61-DC63-98B1-FA8F-74D0355E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AD16D97-D4A2-4AE8-ACF1-7709904B03AC}" type="slidenum">
              <a:rPr lang="en-US" altLang="en-US" sz="1400"/>
              <a:pPr eaLnBrk="1" hangingPunct="1"/>
              <a:t>20</a:t>
            </a:fld>
            <a:endParaRPr lang="en-US" altLang="en-US" sz="1400"/>
          </a:p>
        </p:txBody>
      </p:sp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5E522BD5-4F6E-E9A3-A4BD-BC21D3A8D4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609600"/>
          <a:ext cx="7848600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3" imgW="4572000" imgH="3429000" progId="PowerPoint.Slide.8">
                  <p:embed/>
                </p:oleObj>
              </mc:Choice>
              <mc:Fallback>
                <p:oleObj name="Slide" r:id="rId3" imgW="4572000" imgH="3429000" progId="PowerPoint.Slide.8">
                  <p:embed/>
                  <p:pic>
                    <p:nvPicPr>
                      <p:cNvPr id="5122" name="Object 2">
                        <a:extLst>
                          <a:ext uri="{FF2B5EF4-FFF2-40B4-BE49-F238E27FC236}">
                            <a16:creationId xmlns:a16="http://schemas.microsoft.com/office/drawing/2014/main" id="{5E522BD5-4F6E-E9A3-A4BD-BC21D3A8D4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609600"/>
                        <a:ext cx="7848600" cy="533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>
            <a:extLst>
              <a:ext uri="{FF2B5EF4-FFF2-40B4-BE49-F238E27FC236}">
                <a16:creationId xmlns:a16="http://schemas.microsoft.com/office/drawing/2014/main" id="{BEE5B30A-8CA9-792C-DB7F-1DB49C739FD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6148" name="Footer Placeholder 2">
            <a:extLst>
              <a:ext uri="{FF2B5EF4-FFF2-40B4-BE49-F238E27FC236}">
                <a16:creationId xmlns:a16="http://schemas.microsoft.com/office/drawing/2014/main" id="{FF8298B1-8215-749E-A5C5-B64BB42A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6149" name="Slide Number Placeholder 3">
            <a:extLst>
              <a:ext uri="{FF2B5EF4-FFF2-40B4-BE49-F238E27FC236}">
                <a16:creationId xmlns:a16="http://schemas.microsoft.com/office/drawing/2014/main" id="{9C46D242-5A10-403A-9F73-2BEACA766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86A9CF0-8903-473A-BCBC-F19F47234178}" type="slidenum">
              <a:rPr lang="en-US" altLang="en-US" sz="1400"/>
              <a:pPr eaLnBrk="1" hangingPunct="1"/>
              <a:t>21</a:t>
            </a:fld>
            <a:endParaRPr lang="en-US" altLang="en-US" sz="1400"/>
          </a:p>
        </p:txBody>
      </p:sp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8244A83B-F85F-3196-CDA1-4B8539CBC6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685800"/>
          <a:ext cx="8001000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3" imgW="4572000" imgH="3429000" progId="PowerPoint.Slide.8">
                  <p:embed/>
                </p:oleObj>
              </mc:Choice>
              <mc:Fallback>
                <p:oleObj name="Slide" r:id="rId3" imgW="4572000" imgH="3429000" progId="PowerPoint.Slide.8">
                  <p:embed/>
                  <p:pic>
                    <p:nvPicPr>
                      <p:cNvPr id="6146" name="Object 2">
                        <a:extLst>
                          <a:ext uri="{FF2B5EF4-FFF2-40B4-BE49-F238E27FC236}">
                            <a16:creationId xmlns:a16="http://schemas.microsoft.com/office/drawing/2014/main" id="{8244A83B-F85F-3196-CDA1-4B8539CBC6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685800"/>
                        <a:ext cx="8001000" cy="533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FF764418-B26D-7204-19A9-025AB869EF9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11267" name="Footer Placeholder 3">
            <a:extLst>
              <a:ext uri="{FF2B5EF4-FFF2-40B4-BE49-F238E27FC236}">
                <a16:creationId xmlns:a16="http://schemas.microsoft.com/office/drawing/2014/main" id="{F1EE8ECD-7C78-257E-D10D-E51D70C1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11268" name="Slide Number Placeholder 4">
            <a:extLst>
              <a:ext uri="{FF2B5EF4-FFF2-40B4-BE49-F238E27FC236}">
                <a16:creationId xmlns:a16="http://schemas.microsoft.com/office/drawing/2014/main" id="{2390CFFA-3746-9C09-5CD1-4C878AF7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9CAD4F1-D0C0-4452-9F37-1F395D56EA83}" type="slidenum">
              <a:rPr lang="en-US" altLang="en-US" sz="1400"/>
              <a:pPr eaLnBrk="1" hangingPunct="1"/>
              <a:t>22</a:t>
            </a:fld>
            <a:endParaRPr lang="en-US" altLang="en-US" sz="1400"/>
          </a:p>
        </p:txBody>
      </p:sp>
      <p:sp>
        <p:nvSpPr>
          <p:cNvPr id="11269" name="Rectangle 1026">
            <a:extLst>
              <a:ext uri="{FF2B5EF4-FFF2-40B4-BE49-F238E27FC236}">
                <a16:creationId xmlns:a16="http://schemas.microsoft.com/office/drawing/2014/main" id="{ACBBB8B4-5547-9B40-0DB0-1BD85D294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The 2 (Slightly Alternative) Methods</a:t>
            </a:r>
            <a:endParaRPr lang="en-US" altLang="en-US"/>
          </a:p>
        </p:txBody>
      </p:sp>
      <p:graphicFrame>
        <p:nvGraphicFramePr>
          <p:cNvPr id="102521" name="Group 1145">
            <a:extLst>
              <a:ext uri="{FF2B5EF4-FFF2-40B4-BE49-F238E27FC236}">
                <a16:creationId xmlns:a16="http://schemas.microsoft.com/office/drawing/2014/main" id="{2241B5F2-4A12-894F-DBB5-65831DE0E0F3}"/>
              </a:ext>
            </a:extLst>
          </p:cNvPr>
          <p:cNvGraphicFramePr>
            <a:graphicFrameLocks noGrp="1"/>
          </p:cNvGraphicFramePr>
          <p:nvPr/>
        </p:nvGraphicFramePr>
        <p:xfrm>
          <a:off x="2057401" y="1600200"/>
          <a:ext cx="7997825" cy="302260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Fix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371" name="Text Box 1141">
            <a:extLst>
              <a:ext uri="{FF2B5EF4-FFF2-40B4-BE49-F238E27FC236}">
                <a16:creationId xmlns:a16="http://schemas.microsoft.com/office/drawing/2014/main" id="{6CBDADF5-C121-BDFA-5829-7F1CC0082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4724400"/>
            <a:ext cx="7467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/>
              <a:t>Bits 1, 2 and 4 are the wrong parity (underlined)</a:t>
            </a:r>
          </a:p>
          <a:p>
            <a:pPr eaLnBrk="1" hangingPunct="1"/>
            <a:r>
              <a:rPr lang="en-GB" altLang="en-US"/>
              <a:t>and bit 7 is the error as it is covered by bits 1, 2 and 4</a:t>
            </a:r>
          </a:p>
          <a:p>
            <a:pPr eaLnBrk="1" hangingPunct="1"/>
            <a:r>
              <a:rPr lang="en-GB" altLang="en-US"/>
              <a:t>Alternatively, error is in bit position 7 = 0111</a:t>
            </a:r>
            <a:r>
              <a:rPr lang="en-GB" altLang="en-US" baseline="-25000"/>
              <a:t>2</a:t>
            </a:r>
            <a:r>
              <a:rPr lang="en-GB" altLang="en-US"/>
              <a:t> = 1 + 2 + 4</a:t>
            </a:r>
          </a:p>
          <a:p>
            <a:pPr eaLnBrk="1" hangingPunct="1"/>
            <a:r>
              <a:rPr lang="en-GB" altLang="en-US"/>
              <a:t>The original code that was sent was 1001101</a:t>
            </a: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A832D0B8-D97E-18F5-A389-8FBB6FE88A2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12291" name="Footer Placeholder 3">
            <a:extLst>
              <a:ext uri="{FF2B5EF4-FFF2-40B4-BE49-F238E27FC236}">
                <a16:creationId xmlns:a16="http://schemas.microsoft.com/office/drawing/2014/main" id="{E0C236F9-23EF-3C2A-7B38-840F416D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12292" name="Slide Number Placeholder 4">
            <a:extLst>
              <a:ext uri="{FF2B5EF4-FFF2-40B4-BE49-F238E27FC236}">
                <a16:creationId xmlns:a16="http://schemas.microsoft.com/office/drawing/2014/main" id="{9DB2F401-CC42-E1E0-0B85-6E9C92F9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D349B40-D4ED-4691-B8D2-68D11F4D9CF5}" type="slidenum">
              <a:rPr lang="en-US" altLang="en-US" sz="1400"/>
              <a:pPr eaLnBrk="1" hangingPunct="1"/>
              <a:t>23</a:t>
            </a:fld>
            <a:endParaRPr lang="en-US" altLang="en-US" sz="1400"/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D104EB51-E4DC-2863-BA1C-ABB36BA8D8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609600"/>
            <a:ext cx="8534400" cy="762000"/>
          </a:xfrm>
        </p:spPr>
        <p:txBody>
          <a:bodyPr/>
          <a:lstStyle/>
          <a:p>
            <a:pPr eaLnBrk="1" hangingPunct="1"/>
            <a:r>
              <a:rPr lang="en-GB" altLang="en-US" sz="3600"/>
              <a:t>Extending Hamming Codes for Burst Errors</a:t>
            </a:r>
            <a:endParaRPr lang="en-US" altLang="en-US" sz="3600"/>
          </a:p>
        </p:txBody>
      </p:sp>
      <p:pic>
        <p:nvPicPr>
          <p:cNvPr id="12294" name="Picture 3">
            <a:extLst>
              <a:ext uri="{FF2B5EF4-FFF2-40B4-BE49-F238E27FC236}">
                <a16:creationId xmlns:a16="http://schemas.microsoft.com/office/drawing/2014/main" id="{077FA463-5AA3-199F-557E-065A5E802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295401"/>
            <a:ext cx="4343400" cy="384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 Box 4">
            <a:extLst>
              <a:ext uri="{FF2B5EF4-FFF2-40B4-BE49-F238E27FC236}">
                <a16:creationId xmlns:a16="http://schemas.microsoft.com/office/drawing/2014/main" id="{94A59E6B-1AD3-5415-265D-D9DEAF442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791200"/>
            <a:ext cx="868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Note: Tanenbaum uses an unconventional bit order (bit 1 leftmost)</a:t>
            </a:r>
            <a:endParaRPr lang="en-US" altLang="en-US"/>
          </a:p>
        </p:txBody>
      </p:sp>
      <p:sp>
        <p:nvSpPr>
          <p:cNvPr id="12296" name="Text Box 5">
            <a:extLst>
              <a:ext uri="{FF2B5EF4-FFF2-40B4-BE49-F238E27FC236}">
                <a16:creationId xmlns:a16="http://schemas.microsoft.com/office/drawing/2014/main" id="{468A2B22-335B-CD6E-FB22-2BC42BFAF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953000"/>
            <a:ext cx="4038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>
                <a:cs typeface="Arial" panose="020B0604020202020204" pitchFamily="34" charset="0"/>
              </a:rPr>
              <a:t>© Tanenbaum, Prentice Hall International</a:t>
            </a:r>
            <a:r>
              <a:rPr lang="en-US" altLang="en-US" sz="1600"/>
              <a:t> </a:t>
            </a:r>
          </a:p>
        </p:txBody>
      </p:sp>
      <p:sp>
        <p:nvSpPr>
          <p:cNvPr id="12297" name="Text Box 6">
            <a:extLst>
              <a:ext uri="{FF2B5EF4-FFF2-40B4-BE49-F238E27FC236}">
                <a16:creationId xmlns:a16="http://schemas.microsoft.com/office/drawing/2014/main" id="{639302E6-B326-2AAE-03D5-472123CC9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426" y="1820863"/>
            <a:ext cx="310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GB" altLang="en-US"/>
          </a:p>
        </p:txBody>
      </p:sp>
      <p:sp>
        <p:nvSpPr>
          <p:cNvPr id="12298" name="Text Box 7">
            <a:extLst>
              <a:ext uri="{FF2B5EF4-FFF2-40B4-BE49-F238E27FC236}">
                <a16:creationId xmlns:a16="http://schemas.microsoft.com/office/drawing/2014/main" id="{DA510314-412C-DCFB-514B-AE52FBDE1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1295401"/>
            <a:ext cx="4233863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/>
              <a:t>Data is arranged in a block</a:t>
            </a:r>
          </a:p>
          <a:p>
            <a:pPr eaLnBrk="1" hangingPunct="1"/>
            <a:r>
              <a:rPr lang="en-GB" altLang="en-US"/>
              <a:t>and the instead of transmitting</a:t>
            </a:r>
          </a:p>
          <a:p>
            <a:pPr eaLnBrk="1" hangingPunct="1"/>
            <a:r>
              <a:rPr lang="en-GB" altLang="en-US"/>
              <a:t>the bits of each symbol in turn,</a:t>
            </a:r>
          </a:p>
          <a:p>
            <a:pPr eaLnBrk="1" hangingPunct="1"/>
            <a:r>
              <a:rPr lang="en-GB" altLang="en-US"/>
              <a:t>bit 1 of each symbol is trans-</a:t>
            </a:r>
          </a:p>
          <a:p>
            <a:pPr eaLnBrk="1" hangingPunct="1"/>
            <a:r>
              <a:rPr lang="en-GB" altLang="en-US"/>
              <a:t>mitted, followed by bit 2 of</a:t>
            </a:r>
          </a:p>
          <a:p>
            <a:pPr eaLnBrk="1" hangingPunct="1"/>
            <a:r>
              <a:rPr lang="en-GB" altLang="en-US"/>
              <a:t>each symbol, and so on.  If</a:t>
            </a:r>
          </a:p>
          <a:p>
            <a:pPr eaLnBrk="1" hangingPunct="1"/>
            <a:r>
              <a:rPr lang="en-GB" altLang="en-US"/>
              <a:t>there are n symbols in the block,</a:t>
            </a:r>
          </a:p>
          <a:p>
            <a:pPr eaLnBrk="1" hangingPunct="1"/>
            <a:r>
              <a:rPr lang="en-GB" altLang="en-US"/>
              <a:t>then a single burst error of up to</a:t>
            </a:r>
          </a:p>
          <a:p>
            <a:pPr eaLnBrk="1" hangingPunct="1"/>
            <a:r>
              <a:rPr lang="en-GB" altLang="en-US"/>
              <a:t>n bits will affect no more than one bit position in every Hamming code and hence can be corrected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>
            <a:extLst>
              <a:ext uri="{FF2B5EF4-FFF2-40B4-BE49-F238E27FC236}">
                <a16:creationId xmlns:a16="http://schemas.microsoft.com/office/drawing/2014/main" id="{416839DC-C74B-EC8E-D783-81ED4641CF6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13315" name="Footer Placeholder 4">
            <a:extLst>
              <a:ext uri="{FF2B5EF4-FFF2-40B4-BE49-F238E27FC236}">
                <a16:creationId xmlns:a16="http://schemas.microsoft.com/office/drawing/2014/main" id="{C9E5CA7C-7DC3-463E-4351-19E43DD8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13316" name="Slide Number Placeholder 5">
            <a:extLst>
              <a:ext uri="{FF2B5EF4-FFF2-40B4-BE49-F238E27FC236}">
                <a16:creationId xmlns:a16="http://schemas.microsoft.com/office/drawing/2014/main" id="{15312F11-A163-C7D3-310A-D76BB87E6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B769DDA-7806-4AE8-A0D0-65B3252F4302}" type="slidenum">
              <a:rPr lang="en-US" altLang="en-US" sz="1400"/>
              <a:pPr eaLnBrk="1" hangingPunct="1"/>
              <a:t>24</a:t>
            </a:fld>
            <a:endParaRPr lang="en-US" altLang="en-US" sz="1400"/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1DCD3021-FEA1-AF14-6117-03E8ED28F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Forward Error Correction v ARQ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4EEAA26C-B73A-6122-C821-F3E573C9F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8800" y="1600200"/>
            <a:ext cx="84582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/>
              <a:t>FEC requires a higher level of redundancy than ARQ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/>
              <a:t>FEC cannot recover correctly from multiple burst errors and hence there is a much higher residual error rate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/>
              <a:t>ARQ can make use of very powerful (CRC) error detecting codes and can detect virtually all errors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/>
              <a:t>The delay caused by retransmitting is preferable to residual errors in most applications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/>
              <a:t>FEC tends to be used mainly when there is no return channel (E.g. Teletext) or in real-time applications (E.g. Video on Demand) or over unreliable media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B08039DD-0AF1-9722-ABDE-8EBD8361BCE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14339" name="Footer Placeholder 4">
            <a:extLst>
              <a:ext uri="{FF2B5EF4-FFF2-40B4-BE49-F238E27FC236}">
                <a16:creationId xmlns:a16="http://schemas.microsoft.com/office/drawing/2014/main" id="{571DB47F-D589-0B5B-BCA2-2EF2E25A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14340" name="Slide Number Placeholder 5">
            <a:extLst>
              <a:ext uri="{FF2B5EF4-FFF2-40B4-BE49-F238E27FC236}">
                <a16:creationId xmlns:a16="http://schemas.microsoft.com/office/drawing/2014/main" id="{774CD5CD-B78E-8FDD-D5CE-653DF223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B129567-91CE-44AB-840A-897BDD6B0911}" type="slidenum">
              <a:rPr lang="en-US" altLang="en-US" sz="1400"/>
              <a:pPr eaLnBrk="1" hangingPunct="1"/>
              <a:t>25</a:t>
            </a:fld>
            <a:endParaRPr lang="en-US" altLang="en-US" sz="1400"/>
          </a:p>
        </p:txBody>
      </p:sp>
      <p:sp>
        <p:nvSpPr>
          <p:cNvPr id="14341" name="Rectangle 2">
            <a:extLst>
              <a:ext uri="{FF2B5EF4-FFF2-40B4-BE49-F238E27FC236}">
                <a16:creationId xmlns:a16="http://schemas.microsoft.com/office/drawing/2014/main" id="{53E419C0-34CA-DEF0-A32F-BF126B9D25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 1</a:t>
            </a:r>
            <a:endParaRPr lang="en-US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613833DF-8CF6-D3F9-59A0-4D740EAF8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GB" altLang="en-US"/>
              <a:t>	Suppose that an error occurred during the transmission of the even Hamming Code 101111010111 of a binary code.  Correct the error bit and write down the original binary code (without parity bits) which was meant to send.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>
            <a:extLst>
              <a:ext uri="{FF2B5EF4-FFF2-40B4-BE49-F238E27FC236}">
                <a16:creationId xmlns:a16="http://schemas.microsoft.com/office/drawing/2014/main" id="{45C2193E-A46C-2BD6-5F0D-25DAC4178CE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15363" name="Footer Placeholder 4">
            <a:extLst>
              <a:ext uri="{FF2B5EF4-FFF2-40B4-BE49-F238E27FC236}">
                <a16:creationId xmlns:a16="http://schemas.microsoft.com/office/drawing/2014/main" id="{A956E5A2-16D1-90ED-5C7E-7E4D8CFF7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15364" name="Slide Number Placeholder 5">
            <a:extLst>
              <a:ext uri="{FF2B5EF4-FFF2-40B4-BE49-F238E27FC236}">
                <a16:creationId xmlns:a16="http://schemas.microsoft.com/office/drawing/2014/main" id="{21090396-1270-318C-4CDF-1C1851C7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E94992D-714B-4DDF-921E-2AB6AD4A6F37}" type="slidenum">
              <a:rPr lang="en-US" altLang="en-US" sz="1400"/>
              <a:pPr eaLnBrk="1" hangingPunct="1"/>
              <a:t>26</a:t>
            </a:fld>
            <a:endParaRPr lang="en-US" altLang="en-US" sz="1400"/>
          </a:p>
        </p:txBody>
      </p:sp>
      <p:sp>
        <p:nvSpPr>
          <p:cNvPr id="15365" name="Rectangle 2">
            <a:extLst>
              <a:ext uri="{FF2B5EF4-FFF2-40B4-BE49-F238E27FC236}">
                <a16:creationId xmlns:a16="http://schemas.microsoft.com/office/drawing/2014/main" id="{C9BDA007-5736-F22D-4D65-C4A317A5B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GB" altLang="en-US"/>
              <a:t>Example 1 - Solution</a:t>
            </a:r>
            <a:endParaRPr lang="en-US" altLang="en-US"/>
          </a:p>
        </p:txBody>
      </p:sp>
      <p:graphicFrame>
        <p:nvGraphicFramePr>
          <p:cNvPr id="93324" name="Group 140">
            <a:extLst>
              <a:ext uri="{FF2B5EF4-FFF2-40B4-BE49-F238E27FC236}">
                <a16:creationId xmlns:a16="http://schemas.microsoft.com/office/drawing/2014/main" id="{98E156E6-CDBC-88EA-8BAD-1C03211CFF27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1219200"/>
          <a:ext cx="8597900" cy="302260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Fix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474" name="Text Box 133">
            <a:extLst>
              <a:ext uri="{FF2B5EF4-FFF2-40B4-BE49-F238E27FC236}">
                <a16:creationId xmlns:a16="http://schemas.microsoft.com/office/drawing/2014/main" id="{4E415B19-132F-F610-A15C-29E49E1D2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419600"/>
            <a:ext cx="684116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/>
              <a:t>Bits 1 and 4 are the wrong parity (underlined)</a:t>
            </a:r>
          </a:p>
          <a:p>
            <a:pPr eaLnBrk="1" hangingPunct="1"/>
            <a:r>
              <a:rPr lang="en-GB" altLang="en-US"/>
              <a:t>and bit 5 is the error as it is covered by bits 1 and 4</a:t>
            </a:r>
          </a:p>
          <a:p>
            <a:pPr eaLnBrk="1" hangingPunct="1"/>
            <a:r>
              <a:rPr lang="en-GB" altLang="en-US"/>
              <a:t>Alternatively, error is in bit position 5 = 0101</a:t>
            </a:r>
            <a:r>
              <a:rPr lang="en-GB" altLang="en-US" baseline="-25000"/>
              <a:t>2</a:t>
            </a:r>
            <a:r>
              <a:rPr lang="en-GB" altLang="en-US"/>
              <a:t> = 1 + 4</a:t>
            </a:r>
          </a:p>
          <a:p>
            <a:pPr eaLnBrk="1" hangingPunct="1"/>
            <a:r>
              <a:rPr lang="en-GB" altLang="en-US"/>
              <a:t>The original code that was sent was 10111001</a:t>
            </a:r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2D64E920-E786-CAF5-D2C4-8036BE704A0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16387" name="Footer Placeholder 4">
            <a:extLst>
              <a:ext uri="{FF2B5EF4-FFF2-40B4-BE49-F238E27FC236}">
                <a16:creationId xmlns:a16="http://schemas.microsoft.com/office/drawing/2014/main" id="{F73669F0-1374-0B5A-18DD-D9A7B1A67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72D3D337-E69E-F046-3356-8FA429AE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E850FAF-D843-4537-A1F2-C9E7C4DD2275}" type="slidenum">
              <a:rPr lang="en-US" altLang="en-US" sz="1400"/>
              <a:pPr eaLnBrk="1" hangingPunct="1"/>
              <a:t>27</a:t>
            </a:fld>
            <a:endParaRPr lang="en-US" altLang="en-US" sz="1400"/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27F7F669-A6A7-4DC4-BEDB-900E9BBA7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 2</a:t>
            </a:r>
            <a:endParaRPr lang="en-US" altLang="en-US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782DF2CE-56E6-FF99-DFEB-C2A50CA63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GB" altLang="en-US"/>
              <a:t>	Suppose that an error occurred during the transmission of the odd Hamming Code 010101101110 of a binary code.  Correct the error bit and write down the original binary code (without parity bits) which was meant to send.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5AF96D96-7514-86CA-6740-17855D29122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17411" name="Footer Placeholder 3">
            <a:extLst>
              <a:ext uri="{FF2B5EF4-FFF2-40B4-BE49-F238E27FC236}">
                <a16:creationId xmlns:a16="http://schemas.microsoft.com/office/drawing/2014/main" id="{755DCF07-3823-8B7C-1174-29EE6C41E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id="{11090520-3BE9-E064-288A-F4365B35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8E55854-41EC-4277-AD4E-98E6D3102FA3}" type="slidenum">
              <a:rPr lang="en-US" altLang="en-US" sz="1400"/>
              <a:pPr eaLnBrk="1" hangingPunct="1"/>
              <a:t>28</a:t>
            </a:fld>
            <a:endParaRPr lang="en-US" altLang="en-US" sz="1400"/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374978D3-5C13-D638-1562-6ABC259A95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 2  - Solution</a:t>
            </a:r>
            <a:endParaRPr lang="en-US" altLang="en-US"/>
          </a:p>
        </p:txBody>
      </p:sp>
      <p:graphicFrame>
        <p:nvGraphicFramePr>
          <p:cNvPr id="95477" name="Group 245">
            <a:extLst>
              <a:ext uri="{FF2B5EF4-FFF2-40B4-BE49-F238E27FC236}">
                <a16:creationId xmlns:a16="http://schemas.microsoft.com/office/drawing/2014/main" id="{AB6E7690-59A3-B86E-5349-740E4DAADEA9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1447800"/>
          <a:ext cx="8597900" cy="302260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Fix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522" name="Text Box 239">
            <a:extLst>
              <a:ext uri="{FF2B5EF4-FFF2-40B4-BE49-F238E27FC236}">
                <a16:creationId xmlns:a16="http://schemas.microsoft.com/office/drawing/2014/main" id="{09178444-431C-7EF2-2600-DF33F125F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572000"/>
            <a:ext cx="684116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/>
              <a:t>Bits 1 and 8 are the wrong parity (underlined)</a:t>
            </a:r>
          </a:p>
          <a:p>
            <a:pPr eaLnBrk="1" hangingPunct="1"/>
            <a:r>
              <a:rPr lang="en-GB" altLang="en-US"/>
              <a:t>and bit 9 is the error as it is covered by bits 1 and 8</a:t>
            </a:r>
          </a:p>
          <a:p>
            <a:pPr eaLnBrk="1" hangingPunct="1"/>
            <a:r>
              <a:rPr lang="en-GB" altLang="en-US"/>
              <a:t>Alternatively, error is in bit position 9 = 1001</a:t>
            </a:r>
            <a:r>
              <a:rPr lang="en-GB" altLang="en-US" baseline="-25000"/>
              <a:t>2</a:t>
            </a:r>
            <a:r>
              <a:rPr lang="en-GB" altLang="en-US"/>
              <a:t> = 1 + 8</a:t>
            </a:r>
          </a:p>
          <a:p>
            <a:pPr eaLnBrk="1" hangingPunct="1"/>
            <a:r>
              <a:rPr lang="en-GB" altLang="en-US"/>
              <a:t>The original code that was sent was 01001101</a:t>
            </a:r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24878BDB-2370-2F0C-2121-353434C2DF2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18435" name="Footer Placeholder 4">
            <a:extLst>
              <a:ext uri="{FF2B5EF4-FFF2-40B4-BE49-F238E27FC236}">
                <a16:creationId xmlns:a16="http://schemas.microsoft.com/office/drawing/2014/main" id="{008F11D6-56CD-F36E-607F-E9AB541A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18436" name="Slide Number Placeholder 5">
            <a:extLst>
              <a:ext uri="{FF2B5EF4-FFF2-40B4-BE49-F238E27FC236}">
                <a16:creationId xmlns:a16="http://schemas.microsoft.com/office/drawing/2014/main" id="{92DD74C4-EBD4-D294-6956-CBC093394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04F48E3-E193-4D1A-B065-3CAE0D053976}" type="slidenum">
              <a:rPr lang="en-US" altLang="en-US" sz="1400"/>
              <a:pPr eaLnBrk="1" hangingPunct="1"/>
              <a:t>29</a:t>
            </a:fld>
            <a:endParaRPr lang="en-US" altLang="en-US" sz="1400"/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F27A89B0-D98F-B922-AED5-DA27323CA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Exercise 1 (from Study Guide)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556F874F-8703-9A62-A741-A90DA368E7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EBCDIC character B is encoded as 11000010.  It is transmitted using an even Hamming code. What code is transmitted?</a:t>
            </a:r>
          </a:p>
          <a:p>
            <a:pPr eaLnBrk="1" hangingPunct="1"/>
            <a:r>
              <a:rPr lang="en-US" altLang="en-US" dirty="0"/>
              <a:t>The character is received with a one bit error as 110001010010.  Show how the bit in error can be corrected to recover the original data (without parity bits)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>
            <a:extLst>
              <a:ext uri="{FF2B5EF4-FFF2-40B4-BE49-F238E27FC236}">
                <a16:creationId xmlns:a16="http://schemas.microsoft.com/office/drawing/2014/main" id="{B49C9932-62E3-C30A-6C04-FD57DC7BA8A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55CF1822-E805-B9F7-2D1D-2A7A1117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BADFFD66-41E0-2882-A11D-AF7E71D0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BCFDD62-592F-4701-9FA8-1BFDE2EE8AD1}" type="slidenum">
              <a:rPr lang="en-US" altLang="en-US" sz="1400"/>
              <a:pPr eaLnBrk="1" hangingPunct="1"/>
              <a:t>30</a:t>
            </a:fld>
            <a:endParaRPr lang="en-US" altLang="en-US" sz="1400"/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D64E2363-B608-1912-2246-211336253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55914" y="549275"/>
            <a:ext cx="6696075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Exercise 1 – Solution (coding)</a:t>
            </a:r>
          </a:p>
        </p:txBody>
      </p:sp>
      <p:graphicFrame>
        <p:nvGraphicFramePr>
          <p:cNvPr id="100475" name="Group 123">
            <a:extLst>
              <a:ext uri="{FF2B5EF4-FFF2-40B4-BE49-F238E27FC236}">
                <a16:creationId xmlns:a16="http://schemas.microsoft.com/office/drawing/2014/main" id="{7C2E293F-6435-F3DF-F73A-E70B221DE15C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676401"/>
          <a:ext cx="8001000" cy="2974975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48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21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564" name="Text Box 112">
            <a:extLst>
              <a:ext uri="{FF2B5EF4-FFF2-40B4-BE49-F238E27FC236}">
                <a16:creationId xmlns:a16="http://schemas.microsoft.com/office/drawing/2014/main" id="{B5D2C406-8E90-62A3-8C56-0EE02CDB0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6" y="4994276"/>
            <a:ext cx="810811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/>
              <a:t>The EBCDIC Character B is transmitted as 110000010010 as an</a:t>
            </a:r>
          </a:p>
          <a:p>
            <a:pPr eaLnBrk="1" hangingPunct="1"/>
            <a:r>
              <a:rPr lang="en-US" altLang="en-US"/>
              <a:t>even Hamming Code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20A69336-A058-18B1-F764-FDE699E3AB1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400"/>
              <a:t>14/12/10</a:t>
            </a:r>
          </a:p>
        </p:txBody>
      </p:sp>
      <p:sp>
        <p:nvSpPr>
          <p:cNvPr id="20483" name="Footer Placeholder 3">
            <a:extLst>
              <a:ext uri="{FF2B5EF4-FFF2-40B4-BE49-F238E27FC236}">
                <a16:creationId xmlns:a16="http://schemas.microsoft.com/office/drawing/2014/main" id="{52016B80-E83F-2B70-5149-1BBBACFA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 sz="1400"/>
              <a:t>10-Hamming</a:t>
            </a:r>
            <a:endParaRPr lang="en-US" altLang="en-US" sz="1400"/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id="{F9E635C8-0118-88C0-AF30-7A230720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A30FE519-E604-44CE-A1FE-248A3DD7124C}" type="slidenum">
              <a:rPr lang="en-US" altLang="en-US" sz="1400"/>
              <a:pPr eaLnBrk="1" hangingPunct="1"/>
              <a:t>31</a:t>
            </a:fld>
            <a:endParaRPr lang="en-US" altLang="en-US" sz="1400"/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A4246EC3-2C0D-7A17-33B8-E813293DF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51088" y="609600"/>
            <a:ext cx="7777162" cy="762000"/>
          </a:xfrm>
        </p:spPr>
        <p:txBody>
          <a:bodyPr/>
          <a:lstStyle/>
          <a:p>
            <a:pPr eaLnBrk="1" hangingPunct="1"/>
            <a:r>
              <a:rPr lang="en-US" altLang="en-US"/>
              <a:t>Exercise 1 – Solution (decoding)</a:t>
            </a:r>
          </a:p>
        </p:txBody>
      </p:sp>
      <p:graphicFrame>
        <p:nvGraphicFramePr>
          <p:cNvPr id="101605" name="Group 229">
            <a:extLst>
              <a:ext uri="{FF2B5EF4-FFF2-40B4-BE49-F238E27FC236}">
                <a16:creationId xmlns:a16="http://schemas.microsoft.com/office/drawing/2014/main" id="{22A834EF-9BA0-7689-DB32-0532EF3227AA}"/>
              </a:ext>
            </a:extLst>
          </p:cNvPr>
          <p:cNvGraphicFramePr>
            <a:graphicFrameLocks noGrp="1"/>
          </p:cNvGraphicFramePr>
          <p:nvPr/>
        </p:nvGraphicFramePr>
        <p:xfrm>
          <a:off x="1828800" y="1524001"/>
          <a:ext cx="8597900" cy="2974975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48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21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84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To Fix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594" name="Rectangle 222">
            <a:extLst>
              <a:ext uri="{FF2B5EF4-FFF2-40B4-BE49-F238E27FC236}">
                <a16:creationId xmlns:a16="http://schemas.microsoft.com/office/drawing/2014/main" id="{D6EB68BE-FC02-3938-B3EB-0E5640124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502920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GB" altLang="en-US"/>
          </a:p>
        </p:txBody>
      </p:sp>
      <p:sp>
        <p:nvSpPr>
          <p:cNvPr id="20595" name="Text Box 223">
            <a:extLst>
              <a:ext uri="{FF2B5EF4-FFF2-40B4-BE49-F238E27FC236}">
                <a16:creationId xmlns:a16="http://schemas.microsoft.com/office/drawing/2014/main" id="{5A1CE054-6160-8936-C053-C929A1F2E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648200"/>
            <a:ext cx="729924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GB" altLang="en-US"/>
              <a:t>Bits 1, 2 and 4 are the wrong parity (underlined)</a:t>
            </a:r>
          </a:p>
          <a:p>
            <a:pPr eaLnBrk="1" hangingPunct="1"/>
            <a:r>
              <a:rPr lang="en-GB" altLang="en-US"/>
              <a:t>and bit 7 is the error as it is covered by bits 1, 2 and 4</a:t>
            </a:r>
          </a:p>
          <a:p>
            <a:pPr eaLnBrk="1" hangingPunct="1"/>
            <a:r>
              <a:rPr lang="en-GB" altLang="en-US"/>
              <a:t>Alternatively, error is in bit position 7 = 0111</a:t>
            </a:r>
            <a:r>
              <a:rPr lang="en-GB" altLang="en-US" baseline="-25000"/>
              <a:t>2</a:t>
            </a:r>
            <a:r>
              <a:rPr lang="en-GB" altLang="en-US"/>
              <a:t> = 1 + 2 + 4</a:t>
            </a:r>
          </a:p>
          <a:p>
            <a:pPr eaLnBrk="1" hangingPunct="1"/>
            <a:r>
              <a:rPr lang="en-GB" altLang="en-US"/>
              <a:t>The original code that was sent was 11000010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2433</Words>
  <Application>Microsoft Office PowerPoint</Application>
  <PresentationFormat>Widescreen</PresentationFormat>
  <Paragraphs>656</Paragraphs>
  <Slides>31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Script MT Bold</vt:lpstr>
      <vt:lpstr>Times New Roman</vt:lpstr>
      <vt:lpstr>Office Theme</vt:lpstr>
      <vt:lpstr>Microsoft PowerPoint Slide</vt:lpstr>
      <vt:lpstr>Equation</vt:lpstr>
      <vt:lpstr>CHANNEL CODING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 parameters</vt:lpstr>
      <vt:lpstr>Codewords for (7,4) Hamming Code</vt:lpstr>
      <vt:lpstr>Code parameters</vt:lpstr>
      <vt:lpstr>Hamming Codes</vt:lpstr>
      <vt:lpstr>Hamming Codes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2 (Slightly Alternative) Methods</vt:lpstr>
      <vt:lpstr>Extending Hamming Codes for Burst Errors</vt:lpstr>
      <vt:lpstr>Forward Error Correction v ARQ</vt:lpstr>
      <vt:lpstr>Example 1</vt:lpstr>
      <vt:lpstr>Example 1 - Solution</vt:lpstr>
      <vt:lpstr>Example 2</vt:lpstr>
      <vt:lpstr>Example 2  - Solution</vt:lpstr>
      <vt:lpstr>Exercise 1 (from Study Guide)</vt:lpstr>
      <vt:lpstr>Exercise 1 – Solution (coding)</vt:lpstr>
      <vt:lpstr>Exercise 1 – Solution (decoding)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SOSPETER</dc:creator>
  <cp:lastModifiedBy>JOSEPH SOSPETER</cp:lastModifiedBy>
  <cp:revision>3</cp:revision>
  <dcterms:created xsi:type="dcterms:W3CDTF">2026-02-18T10:07:17Z</dcterms:created>
  <dcterms:modified xsi:type="dcterms:W3CDTF">2026-02-23T11:24:14Z</dcterms:modified>
</cp:coreProperties>
</file>