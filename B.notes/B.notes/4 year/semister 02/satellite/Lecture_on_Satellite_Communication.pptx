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0" r:id="rId10"/>
    <p:sldId id="294" r:id="rId11"/>
    <p:sldId id="295" r:id="rId12"/>
    <p:sldId id="263" r:id="rId13"/>
    <p:sldId id="264" r:id="rId14"/>
    <p:sldId id="296" r:id="rId15"/>
    <p:sldId id="297" r:id="rId16"/>
    <p:sldId id="298" r:id="rId17"/>
    <p:sldId id="299" r:id="rId18"/>
    <p:sldId id="265" r:id="rId19"/>
    <p:sldId id="266" r:id="rId20"/>
    <p:sldId id="267" r:id="rId21"/>
    <p:sldId id="268" r:id="rId22"/>
    <p:sldId id="269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300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1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53" y="6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handrafligh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590550"/>
            <a:ext cx="5267826" cy="2705100"/>
          </a:xfrm>
          <a:prstGeom prst="rect">
            <a:avLst/>
          </a:prstGeom>
          <a:noFill/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sirtf_08_2002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930" y="3200400"/>
            <a:ext cx="3989070" cy="2362200"/>
          </a:xfrm>
          <a:prstGeom prst="rect">
            <a:avLst/>
          </a:prstGeom>
          <a:noFill/>
          <a:ln>
            <a:noFill/>
          </a:ln>
          <a:effectLst>
            <a:softEdge rad="635000"/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"/>
            <a:ext cx="7851648" cy="125730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Satellite Communication</a:t>
            </a:r>
            <a:endParaRPr lang="en-US" sz="4800" dirty="0">
              <a:solidFill>
                <a:srgbClr val="FFC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4381500"/>
            <a:ext cx="31242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MBEYA UNIVESITY OF SCIENCE AND COMMUNICATION</a:t>
            </a:r>
          </a:p>
          <a:p>
            <a:pPr algn="ctr"/>
            <a:r>
              <a:rPr lang="en-US" dirty="0" smtClean="0"/>
              <a:t>ET8412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4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675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algn="just"/>
            <a:r>
              <a:rPr lang="en-US" dirty="0" smtClean="0"/>
              <a:t>Satellite communication has become a part of everyday life. We make international as easily as local calls, see live football matches and other events.</a:t>
            </a:r>
          </a:p>
          <a:p>
            <a:pPr algn="just"/>
            <a:r>
              <a:rPr lang="en-US" dirty="0" smtClean="0"/>
              <a:t>This capability to exchange information in made possible by satellite.</a:t>
            </a:r>
          </a:p>
          <a:p>
            <a:pPr algn="just"/>
            <a:r>
              <a:rPr lang="en-US" dirty="0" smtClean="0"/>
              <a:t>It stretches back to an era when the term satellite was merely an idea conceived by a few inspired individuals. </a:t>
            </a:r>
          </a:p>
          <a:p>
            <a:pPr algn="just"/>
            <a:r>
              <a:rPr lang="en-US" dirty="0" smtClean="0"/>
              <a:t>These pioneers included authors such as Arthur C. Clark, who in 1945 fostered the idea of a worldwide satellite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2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most instances, satellite systems offer more flexibility than submarine cables, buried underground cable, microwave radio or optical fiber system.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2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199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  <a:cs typeface="Times New Roman" pitchFamily="18" charset="0"/>
              </a:rPr>
              <a:t>What exactly is a satellite</a:t>
            </a:r>
            <a:r>
              <a:rPr lang="en-US" sz="5400" b="1" dirty="0" smtClean="0">
                <a:solidFill>
                  <a:srgbClr val="0070C0"/>
                </a:solidFill>
                <a:cs typeface="Times New Roman" pitchFamily="18" charset="0"/>
              </a:rPr>
              <a:t>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word satellite originated from the Latin word “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Satellit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”- meaning an attendant, one who is constantly hovering around &amp; attending to a “master”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big man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our own purposes however a satellite is simply any body that moves around another (usually much larger) one in a mathematically predictable path called an orbit.</a:t>
            </a:r>
          </a:p>
        </p:txBody>
      </p:sp>
    </p:spTree>
    <p:extLst>
      <p:ext uri="{BB962C8B-B14F-4D97-AF65-F5344CB8AC3E}">
        <p14:creationId xmlns:p14="http://schemas.microsoft.com/office/powerpoint/2010/main" val="416995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What is satellite communication?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satellite communication is basically an electronic communication package placed in orbit whose prime objective is to initiate or assist another through space.</a:t>
            </a:r>
          </a:p>
          <a:p>
            <a:pPr algn="just"/>
            <a:r>
              <a:rPr lang="en-US" sz="2800" dirty="0" smtClean="0">
                <a:cs typeface="Times New Roman" pitchFamily="18" charset="0"/>
              </a:rPr>
              <a:t>A </a:t>
            </a:r>
            <a:r>
              <a:rPr lang="en-US" sz="2800" dirty="0">
                <a:cs typeface="Times New Roman" pitchFamily="18" charset="0"/>
              </a:rPr>
              <a:t>communication satellite is a station in space that is used for telecommunication, radio and television </a:t>
            </a:r>
            <a:r>
              <a:rPr lang="en-US" sz="2800" dirty="0" smtClean="0">
                <a:cs typeface="Times New Roman" pitchFamily="18" charset="0"/>
              </a:rPr>
              <a:t>signals.</a:t>
            </a:r>
          </a:p>
          <a:p>
            <a:pPr algn="just"/>
            <a:r>
              <a:rPr lang="en-US" sz="2800" dirty="0" smtClean="0">
                <a:cs typeface="Times New Roman" pitchFamily="18" charset="0"/>
              </a:rPr>
              <a:t>The </a:t>
            </a:r>
            <a:r>
              <a:rPr lang="en-US" sz="2800" dirty="0">
                <a:cs typeface="Times New Roman" pitchFamily="18" charset="0"/>
              </a:rPr>
              <a:t>first satellite with radio transmitter was in </a:t>
            </a:r>
            <a:r>
              <a:rPr lang="en-US" sz="2800" dirty="0" smtClean="0">
                <a:cs typeface="Times New Roman" pitchFamily="18" charset="0"/>
              </a:rPr>
              <a:t>1957</a:t>
            </a:r>
            <a:r>
              <a:rPr lang="en-US" sz="2800" dirty="0">
                <a:solidFill>
                  <a:srgbClr val="FFFF66"/>
                </a:solidFill>
                <a:cs typeface="Times New Roman" pitchFamily="18" charset="0"/>
              </a:rPr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1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Communication Satellites</a:t>
            </a:r>
            <a:endParaRPr lang="en-US" b="1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14600"/>
            <a:ext cx="7620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943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   History of satellite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The concept of using object in space to reflect signals for communication was proved by Naval Research Lab in Washington D.C. when it use the Moon to establish a very low data rate link between Washington and Hawaii in late 1940’s.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Russian started the Space age by successfully launching SPUTNIK the first artificial spacecraft to orbit the earth, which transmitted telemetry information for 21 days in Oct. 1957.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81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algn="just"/>
            <a:r>
              <a:rPr lang="en-US" dirty="0"/>
              <a:t>The American followed by launching an experimental satellite EXPLORER In 1958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 In 1960 two satellite were deployed “Echo” &amp; “Courier”</a:t>
            </a:r>
          </a:p>
          <a:p>
            <a:pPr algn="just"/>
            <a:r>
              <a:rPr lang="en-US" dirty="0" smtClean="0"/>
              <a:t>In 1962 AT&amp;T launched </a:t>
            </a:r>
            <a:r>
              <a:rPr lang="en-US" i="1" dirty="0" smtClean="0"/>
              <a:t>Telstar I, </a:t>
            </a:r>
            <a:r>
              <a:rPr lang="en-US" dirty="0" smtClean="0"/>
              <a:t>the first satellite to receive and transmit simultaneously.</a:t>
            </a:r>
          </a:p>
          <a:p>
            <a:pPr algn="just"/>
            <a:r>
              <a:rPr lang="en-US" i="1" dirty="0" smtClean="0"/>
              <a:t>Telstar II </a:t>
            </a:r>
            <a:r>
              <a:rPr lang="en-US" dirty="0" smtClean="0"/>
              <a:t> was successfully launched in 1963. It was used for telephone, television, facsimile and data transmission.</a:t>
            </a:r>
          </a:p>
          <a:p>
            <a:pPr algn="just"/>
            <a:r>
              <a:rPr lang="en-US" dirty="0"/>
              <a:t>There are about 750 satellites in the space, most of them  are used for communication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3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Satellite Pictures</a:t>
            </a:r>
            <a:endParaRPr lang="en-US" b="1" dirty="0"/>
          </a:p>
        </p:txBody>
      </p:sp>
      <p:pic>
        <p:nvPicPr>
          <p:cNvPr id="4" name="Content Placeholder 3" descr="C:\temp\SPUTNIC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828800"/>
            <a:ext cx="2819400" cy="3048000"/>
          </a:xfrm>
        </p:spPr>
      </p:pic>
      <p:sp>
        <p:nvSpPr>
          <p:cNvPr id="5" name="Rectangle 4"/>
          <p:cNvSpPr/>
          <p:nvPr/>
        </p:nvSpPr>
        <p:spPr>
          <a:xfrm>
            <a:off x="381000" y="5105400"/>
            <a:ext cx="25908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October 1957, the first artificial satellite </a:t>
            </a:r>
            <a:r>
              <a:rPr lang="en-US" sz="1600" b="1" dirty="0">
                <a:solidFill>
                  <a:schemeClr val="bg1"/>
                </a:solidFill>
              </a:rPr>
              <a:t>Sputnik -I</a:t>
            </a:r>
            <a:r>
              <a:rPr lang="en-US" sz="1600" dirty="0">
                <a:solidFill>
                  <a:schemeClr val="bg1"/>
                </a:solidFill>
              </a:rPr>
              <a:t> was launched by former Soviet Russia. </a:t>
            </a:r>
          </a:p>
          <a:p>
            <a:pPr algn="just"/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4" descr="C:\WINDOWS\DESKTOP\wech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1857375"/>
            <a:ext cx="279082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332110" y="5105395"/>
            <a:ext cx="2590800" cy="1371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 first artificial passive satellite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Echo-I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of NASA was launched in August 1960.</a:t>
            </a:r>
          </a:p>
          <a:p>
            <a:pPr algn="just"/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3076" descr="C:\WINDOWS\DESKTOP\wtelstar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1857375"/>
            <a:ext cx="27717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6173788" y="5098463"/>
            <a:ext cx="2590800" cy="13716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 smtClean="0">
                <a:solidFill>
                  <a:srgbClr val="7030A0"/>
                </a:solidFill>
              </a:rPr>
              <a:t>In </a:t>
            </a:r>
            <a:r>
              <a:rPr lang="en-US" sz="1600" dirty="0">
                <a:solidFill>
                  <a:srgbClr val="7030A0"/>
                </a:solidFill>
              </a:rPr>
              <a:t>July 1962  active satellite </a:t>
            </a:r>
            <a:r>
              <a:rPr lang="en-US" sz="1600" b="1" dirty="0">
                <a:solidFill>
                  <a:srgbClr val="7030A0"/>
                </a:solidFill>
              </a:rPr>
              <a:t>Telstar </a:t>
            </a:r>
            <a:r>
              <a:rPr lang="en-US" sz="1600" dirty="0">
                <a:solidFill>
                  <a:srgbClr val="7030A0"/>
                </a:solidFill>
              </a:rPr>
              <a:t>was developed and launched</a:t>
            </a:r>
          </a:p>
          <a:p>
            <a:pPr algn="just"/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Satellites are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Service Types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Fixed Service Satellites (FSS)</a:t>
            </a:r>
          </a:p>
          <a:p>
            <a:pPr lvl="2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 Point to Point Communication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Broadcast Service Satellites (BSS)</a:t>
            </a:r>
          </a:p>
          <a:p>
            <a:pPr lvl="2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 Satellite Television/Radio</a:t>
            </a:r>
          </a:p>
          <a:p>
            <a:pPr lvl="2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Also called Direct Broadcast Service (DBS).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Mobile Service Satellites (MSS)</a:t>
            </a:r>
          </a:p>
          <a:p>
            <a:pPr lvl="2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 Satellite Phones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36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Telecommunications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Military communications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Navigation systems 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Remote sensing and surveillance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Radio / Television Broadcasting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Astronomical research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Weather observation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7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Components of a satellite</a:t>
            </a:r>
            <a:endParaRPr lang="en-US" b="1" dirty="0"/>
          </a:p>
        </p:txBody>
      </p:sp>
      <p:pic>
        <p:nvPicPr>
          <p:cNvPr id="4" name="Picture 5" descr="satellite drawing labelling major component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52601"/>
            <a:ext cx="6999288" cy="464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867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1568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Types of Satellites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Passive satellite </a:t>
            </a:r>
          </a:p>
          <a:p>
            <a:pPr algn="just"/>
            <a:r>
              <a:rPr lang="en-US" dirty="0" smtClean="0"/>
              <a:t>A passive satellite is one that simply reflects a signal back to earth ; there are no gain devices on board to amplify or repeat the signal. These </a:t>
            </a:r>
            <a:r>
              <a:rPr lang="en-US" dirty="0"/>
              <a:t>type of satellites simply reflects or scatters the micro wave signal back to another </a:t>
            </a:r>
            <a:r>
              <a:rPr lang="en-US" dirty="0" smtClean="0"/>
              <a:t>station. </a:t>
            </a:r>
          </a:p>
          <a:p>
            <a:pPr algn="just"/>
            <a:r>
              <a:rPr lang="en-US" dirty="0" smtClean="0"/>
              <a:t>An advantage of passive satellites is that they do not require sophisticated electronic equipment on board.</a:t>
            </a:r>
            <a:endParaRPr lang="en-US" dirty="0"/>
          </a:p>
          <a:p>
            <a:pPr algn="just"/>
            <a:r>
              <a:rPr lang="en-US" dirty="0" smtClean="0"/>
              <a:t>Example: military </a:t>
            </a:r>
            <a:r>
              <a:rPr lang="en-US" dirty="0"/>
              <a:t>and non profitable </a:t>
            </a:r>
            <a:r>
              <a:rPr lang="en-US" dirty="0" smtClean="0"/>
              <a:t>services.</a:t>
            </a:r>
          </a:p>
          <a:p>
            <a:pPr algn="just"/>
            <a:endParaRPr lang="en-US" b="1" dirty="0" smtClean="0">
              <a:solidFill>
                <a:srgbClr val="C00000"/>
              </a:solidFill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charset="-128"/>
              </a:rPr>
              <a:t>Satellite Communications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Space vehicle used as communications platform</a:t>
            </a:r>
          </a:p>
          <a:p>
            <a:pPr lvl="1">
              <a:buFontTx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(Earth-Space-Earth, Space-Earth, Space-Space)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Space vehicle used as sensor platform with communications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Ground station(s) (</a:t>
            </a:r>
            <a:r>
              <a:rPr lang="en-US" sz="2400" dirty="0" err="1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Tx</a:t>
            </a:r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/Rx)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Ground receivers (Rx only)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40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Major problems for satellites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Positioning in orbit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Stability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Power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Communications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Harsh environment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5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3032"/>
            <a:ext cx="8229600" cy="1143000"/>
          </a:xfrm>
        </p:spPr>
        <p:txBody>
          <a:bodyPr/>
          <a:lstStyle/>
          <a:p>
            <a:r>
              <a:rPr lang="en-US" dirty="0" smtClean="0"/>
              <a:t>Advantages of </a:t>
            </a:r>
            <a:r>
              <a:rPr lang="en-US" dirty="0" smtClean="0">
                <a:ea typeface="ＭＳ Ｐゴシック" charset="-128"/>
              </a:rPr>
              <a:t>Satellite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4958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High channel capacity (&gt;100 Mb/s)</a:t>
            </a:r>
          </a:p>
          <a:p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Low error rates (</a:t>
            </a:r>
            <a:r>
              <a:rPr lang="en-US" sz="2800" dirty="0" err="1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P</a:t>
            </a:r>
            <a:r>
              <a:rPr lang="en-US" sz="2800" baseline="-25000" dirty="0" err="1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 ~ 10</a:t>
            </a:r>
            <a:r>
              <a:rPr lang="en-US" sz="2800" baseline="300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-6</a:t>
            </a:r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)</a:t>
            </a:r>
          </a:p>
          <a:p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Stable cost environment (no long-distance cables or national boundaries)</a:t>
            </a:r>
          </a:p>
          <a:p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Wide area coverage (whole North America, for instance)</a:t>
            </a:r>
          </a:p>
          <a:p>
            <a:r>
              <a:rPr lang="en-US" sz="28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Coverage can be shaped by antenna patterns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2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of </a:t>
            </a:r>
            <a:r>
              <a:rPr lang="en-US" dirty="0" smtClean="0">
                <a:ea typeface="ＭＳ Ｐゴシック" charset="-128"/>
              </a:rPr>
              <a:t>Satellite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Expensive to launch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Expensive ground stations required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Cannot be maintained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Limited frequency spectrum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Limited orbital space (geosynchronous)</a:t>
            </a:r>
          </a:p>
          <a:p>
            <a:r>
              <a:rPr lang="en-US" sz="2400" dirty="0" smtClean="0"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Constant ground monitoring required for positioning and operational control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8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Active </a:t>
            </a:r>
            <a:r>
              <a:rPr lang="en-US" b="1" dirty="0" smtClean="0">
                <a:solidFill>
                  <a:srgbClr val="C00000"/>
                </a:solidFill>
              </a:rPr>
              <a:t>satellite</a:t>
            </a:r>
          </a:p>
          <a:p>
            <a:pPr algn="just"/>
            <a:r>
              <a:rPr lang="en-US" dirty="0" smtClean="0"/>
              <a:t>An active satellite is one that electronically repeats a signal back to Earth (receive, amplifies and retransmits the signal).</a:t>
            </a:r>
          </a:p>
          <a:p>
            <a:pPr algn="just"/>
            <a:r>
              <a:rPr lang="en-US" dirty="0" smtClean="0"/>
              <a:t> It </a:t>
            </a:r>
            <a:r>
              <a:rPr lang="en-US" dirty="0"/>
              <a:t>is one in which the signal is amplified and its frequency changed by transponder, before it sent back to earth. </a:t>
            </a:r>
            <a:endParaRPr lang="en-US" dirty="0" smtClean="0"/>
          </a:p>
          <a:p>
            <a:pPr algn="just"/>
            <a:r>
              <a:rPr lang="en-US" dirty="0" smtClean="0"/>
              <a:t>Example</a:t>
            </a:r>
            <a:r>
              <a:rPr lang="en-US" dirty="0"/>
              <a:t>: communication, broadcasting satellites.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0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838200"/>
          </a:xfrm>
        </p:spPr>
        <p:txBody>
          <a:bodyPr/>
          <a:lstStyle/>
          <a:p>
            <a:pPr algn="ctr"/>
            <a:r>
              <a:rPr lang="en-US" b="1" dirty="0" smtClean="0"/>
              <a:t>Orbital satellites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algn="just"/>
            <a:r>
              <a:rPr lang="en-US" dirty="0" smtClean="0"/>
              <a:t>The satellites mentioned – thus far are called orbital or nonsynchronous satellites.</a:t>
            </a:r>
          </a:p>
          <a:p>
            <a:pPr algn="just"/>
            <a:r>
              <a:rPr lang="en-US" dirty="0" smtClean="0">
                <a:solidFill>
                  <a:srgbClr val="501BD3"/>
                </a:solidFill>
              </a:rPr>
              <a:t>Nonsynchronous</a:t>
            </a:r>
            <a:r>
              <a:rPr lang="en-US" dirty="0" smtClean="0"/>
              <a:t> satellites rotate around Earth in a low-altitude elliptical or circular pattern.</a:t>
            </a:r>
          </a:p>
          <a:p>
            <a:pPr algn="just"/>
            <a:r>
              <a:rPr lang="en-US" dirty="0" smtClean="0"/>
              <a:t>One of the more interesting orbital satellite system is the </a:t>
            </a:r>
            <a:r>
              <a:rPr lang="en-US" dirty="0" smtClean="0">
                <a:solidFill>
                  <a:srgbClr val="501BD3"/>
                </a:solidFill>
              </a:rPr>
              <a:t>Soviet </a:t>
            </a:r>
            <a:r>
              <a:rPr lang="en-US" dirty="0" err="1" smtClean="0">
                <a:solidFill>
                  <a:srgbClr val="501BD3"/>
                </a:solidFill>
              </a:rPr>
              <a:t>Molniya</a:t>
            </a:r>
            <a:r>
              <a:rPr lang="en-US" dirty="0" smtClean="0">
                <a:solidFill>
                  <a:srgbClr val="501BD3"/>
                </a:solidFill>
              </a:rPr>
              <a:t> system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This satellites are used for television broadcasting and are presently the only nonsynchronous-orbit commercial satellite system in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1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263"/>
            <a:ext cx="8229600" cy="5151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 smtClean="0"/>
              <a:t>Soviet </a:t>
            </a:r>
            <a:r>
              <a:rPr lang="en-US" sz="4400" b="1" dirty="0" err="1" smtClean="0"/>
              <a:t>Molniya</a:t>
            </a:r>
            <a:r>
              <a:rPr lang="en-US" sz="4400" b="1" dirty="0" smtClean="0"/>
              <a:t> satellite orbit</a:t>
            </a:r>
            <a:endParaRPr lang="en-US" sz="44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5" y="1676401"/>
            <a:ext cx="7192330" cy="4648200"/>
          </a:xfrm>
        </p:spPr>
      </p:pic>
    </p:spTree>
    <p:extLst>
      <p:ext uri="{BB962C8B-B14F-4D97-AF65-F5344CB8AC3E}">
        <p14:creationId xmlns:p14="http://schemas.microsoft.com/office/powerpoint/2010/main" val="379413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b="1" dirty="0" smtClean="0">
                <a:solidFill>
                  <a:srgbClr val="7030A0"/>
                </a:solidFill>
              </a:rPr>
              <a:t>apogee</a:t>
            </a:r>
            <a:r>
              <a:rPr lang="en-US" dirty="0" smtClean="0"/>
              <a:t> is the farthest distance from Earth a satellite orbit reaches, the </a:t>
            </a:r>
            <a:r>
              <a:rPr lang="en-US" b="1" dirty="0" smtClean="0">
                <a:solidFill>
                  <a:srgbClr val="FF0000"/>
                </a:solidFill>
              </a:rPr>
              <a:t>perigee</a:t>
            </a:r>
            <a:r>
              <a:rPr lang="en-US" dirty="0" smtClean="0"/>
              <a:t> is the minimum distance, and the </a:t>
            </a:r>
            <a:r>
              <a:rPr lang="en-US" b="1" i="1" dirty="0" smtClean="0">
                <a:solidFill>
                  <a:srgbClr val="0070C0"/>
                </a:solidFill>
              </a:rPr>
              <a:t>line of </a:t>
            </a:r>
            <a:r>
              <a:rPr lang="en-US" b="1" i="1" dirty="0" err="1" smtClean="0">
                <a:solidFill>
                  <a:srgbClr val="0070C0"/>
                </a:solidFill>
              </a:rPr>
              <a:t>apsides</a:t>
            </a:r>
            <a:r>
              <a:rPr lang="en-US" dirty="0" smtClean="0"/>
              <a:t> is the line joining the perigee and apogee through the center of Earth.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3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Geostationary Satellites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algn="just"/>
            <a:r>
              <a:rPr lang="en-US" dirty="0" smtClean="0"/>
              <a:t>Geostationary or geosynchronous satellites are satellites that orbit in a circular pattern with an angular velocity equal to that of Earth.</a:t>
            </a:r>
          </a:p>
          <a:p>
            <a:pPr algn="just"/>
            <a:r>
              <a:rPr lang="en-US" dirty="0" smtClean="0"/>
              <a:t>Consequently, they remain in a fixed position in respect to a given point on Earth. The orbital time of a geosynchronous satellite is 24 h, the same as Earth.</a:t>
            </a:r>
          </a:p>
          <a:p>
            <a:pPr algn="just"/>
            <a:r>
              <a:rPr lang="en-US" dirty="0" smtClean="0"/>
              <a:t>An obvious advantage is they are available to all the earth stations within their shadow 100% of the time.</a:t>
            </a:r>
          </a:p>
          <a:p>
            <a:pPr algn="just"/>
            <a:r>
              <a:rPr lang="en-US" dirty="0" smtClean="0"/>
              <a:t>Disadvantage is they require sophisticated and heavy propulsion devices on board to keep in fixed orbit.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007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96112"/>
          </a:xfrm>
        </p:spPr>
        <p:txBody>
          <a:bodyPr/>
          <a:lstStyle/>
          <a:p>
            <a:pPr algn="ctr"/>
            <a:r>
              <a:rPr lang="en-US" b="1" dirty="0" smtClean="0"/>
              <a:t>Orbital patterns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ea typeface="Times New Roman" pitchFamily="18" charset="0"/>
                <a:cs typeface="Times New Roman" pitchFamily="18" charset="0"/>
              </a:rPr>
              <a:t>Satellite orbits are also classified in terms of the orbital height. These are:</a:t>
            </a:r>
            <a:endParaRPr lang="en-US" sz="2800" dirty="0">
              <a:cs typeface="Arial" pitchFamily="34" charset="0"/>
            </a:endParaRP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LEO- Low Earth Orbit</a:t>
            </a:r>
          </a:p>
          <a:p>
            <a:pPr algn="just"/>
            <a:r>
              <a:rPr lang="en-US" dirty="0" smtClean="0"/>
              <a:t>MEO- Medium Earth Orbit</a:t>
            </a:r>
          </a:p>
          <a:p>
            <a:pPr algn="just"/>
            <a:r>
              <a:rPr lang="en-US" dirty="0" smtClean="0"/>
              <a:t>GEO- Geostationary Earth Orbit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0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LEO, MEO &amp; GEO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543800" cy="4724400"/>
          </a:xfrm>
        </p:spPr>
      </p:pic>
    </p:spTree>
    <p:extLst>
      <p:ext uri="{BB962C8B-B14F-4D97-AF65-F5344CB8AC3E}">
        <p14:creationId xmlns:p14="http://schemas.microsoft.com/office/powerpoint/2010/main" val="238482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6751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/>
              <a:t>Differences</a:t>
            </a:r>
            <a:endParaRPr lang="en-US" sz="3600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154654"/>
              </p:ext>
            </p:extLst>
          </p:nvPr>
        </p:nvGraphicFramePr>
        <p:xfrm>
          <a:off x="152400" y="1143000"/>
          <a:ext cx="8839200" cy="5855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/>
                <a:gridCol w="2946400"/>
                <a:gridCol w="2946400"/>
              </a:tblGrid>
              <a:tr h="369491">
                <a:tc>
                  <a:txBody>
                    <a:bodyPr/>
                    <a:lstStyle/>
                    <a:p>
                      <a:r>
                        <a:rPr lang="en-US" dirty="0" smtClean="0"/>
                        <a:t>GEO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LEO</a:t>
                      </a:r>
                      <a:endParaRPr lang="en-US" dirty="0"/>
                    </a:p>
                  </a:txBody>
                  <a:tcPr/>
                </a:tc>
              </a:tr>
              <a:tr h="637750">
                <a:tc>
                  <a:txBody>
                    <a:bodyPr/>
                    <a:lstStyle/>
                    <a:p>
                      <a:r>
                        <a:rPr lang="en-US" dirty="0" smtClean="0"/>
                        <a:t>These</a:t>
                      </a:r>
                      <a:r>
                        <a:rPr lang="en-US" baseline="0" dirty="0" smtClean="0"/>
                        <a:t> are very far away from Earth.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These are little far</a:t>
                      </a:r>
                      <a:r>
                        <a:rPr lang="en-US" baseline="0" dirty="0" smtClean="0"/>
                        <a:t> from Earth.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These are much closer to Earth</a:t>
                      </a:r>
                    </a:p>
                  </a:txBody>
                  <a:tcPr/>
                </a:tc>
              </a:tr>
              <a:tr h="1184394">
                <a:tc>
                  <a:txBody>
                    <a:bodyPr/>
                    <a:lstStyle/>
                    <a:p>
                      <a:r>
                        <a:rPr lang="en-US" dirty="0" smtClean="0"/>
                        <a:t>These</a:t>
                      </a:r>
                      <a:r>
                        <a:rPr lang="en-US" baseline="0" dirty="0" smtClean="0"/>
                        <a:t> are placed at the height in between 19000 mi to 25ooo mi from the Earth </a:t>
                      </a:r>
                      <a:r>
                        <a:rPr lang="en-US" baseline="0" dirty="0" smtClean="0"/>
                        <a:t>surface.36000KM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These</a:t>
                      </a:r>
                      <a:r>
                        <a:rPr lang="en-US" baseline="0" dirty="0" smtClean="0"/>
                        <a:t> are placed at the height in between 6000 mi to 12ooo mi from the Earth surface</a:t>
                      </a:r>
                      <a:r>
                        <a:rPr lang="en-US" baseline="0" dirty="0" smtClean="0"/>
                        <a:t>.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10,000 to 20,000 km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These</a:t>
                      </a:r>
                      <a:r>
                        <a:rPr lang="en-US" baseline="0" dirty="0" smtClean="0"/>
                        <a:t> are placed at the height in between 100 mi to 3oo mi from the Earth surface</a:t>
                      </a:r>
                      <a:r>
                        <a:rPr lang="en-US" baseline="0" dirty="0" smtClean="0"/>
                        <a:t>.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160 km and 1,600 km</a:t>
                      </a:r>
                      <a:endParaRPr lang="en-US" dirty="0" smtClean="0"/>
                    </a:p>
                  </a:txBody>
                  <a:tcPr/>
                </a:tc>
              </a:tr>
              <a:tr h="911072">
                <a:tc>
                  <a:txBody>
                    <a:bodyPr/>
                    <a:lstStyle/>
                    <a:p>
                      <a:r>
                        <a:rPr lang="en-US" dirty="0" smtClean="0"/>
                        <a:t>Revolves</a:t>
                      </a:r>
                      <a:r>
                        <a:rPr lang="en-US" baseline="0" dirty="0" smtClean="0"/>
                        <a:t> with same angular velocity as the Earth rotation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Revolves faster than</a:t>
                      </a:r>
                      <a:r>
                        <a:rPr lang="en-US" baseline="0" dirty="0" smtClean="0"/>
                        <a:t> Earth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Don’t</a:t>
                      </a:r>
                      <a:r>
                        <a:rPr lang="en-US" baseline="0" dirty="0" smtClean="0"/>
                        <a:t> stay in fixed position relative to the surface</a:t>
                      </a:r>
                      <a:endParaRPr lang="en-US" dirty="0" smtClean="0"/>
                    </a:p>
                  </a:txBody>
                  <a:tcPr/>
                </a:tc>
              </a:tr>
              <a:tr h="911072">
                <a:tc>
                  <a:txBody>
                    <a:bodyPr/>
                    <a:lstStyle/>
                    <a:p>
                      <a:r>
                        <a:rPr lang="en-US" dirty="0" smtClean="0"/>
                        <a:t>Maximum time rotation around 23 H: 56 M: 4S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Visible for a particular period</a:t>
                      </a:r>
                      <a:r>
                        <a:rPr lang="en-US" baseline="0" dirty="0" smtClean="0"/>
                        <a:t> of time, usually between 2 to 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Visible</a:t>
                      </a:r>
                      <a:r>
                        <a:rPr lang="en-US" baseline="0" dirty="0" smtClean="0"/>
                        <a:t> for 15 to 30 </a:t>
                      </a:r>
                      <a:r>
                        <a:rPr lang="en-US" baseline="0" dirty="0" err="1" smtClean="0"/>
                        <a:t>mins</a:t>
                      </a:r>
                      <a:r>
                        <a:rPr lang="en-US" baseline="0" dirty="0" smtClean="0"/>
                        <a:t> each pass. 1.5 hours rotate around the entire earth</a:t>
                      </a:r>
                      <a:endParaRPr lang="en-US" dirty="0" smtClean="0"/>
                    </a:p>
                  </a:txBody>
                  <a:tcPr/>
                </a:tc>
              </a:tr>
              <a:tr h="911072">
                <a:tc>
                  <a:txBody>
                    <a:bodyPr/>
                    <a:lstStyle/>
                    <a:p>
                      <a:r>
                        <a:rPr lang="en-US" dirty="0" smtClean="0"/>
                        <a:t>Larger coverage area, a single satellite can cover</a:t>
                      </a:r>
                      <a:r>
                        <a:rPr lang="en-US" baseline="0" dirty="0" smtClean="0"/>
                        <a:t> 42% of earth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as much</a:t>
                      </a:r>
                      <a:r>
                        <a:rPr lang="en-US" baseline="0" dirty="0" smtClean="0"/>
                        <a:t> as Geo Satellite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as much as Geo</a:t>
                      </a:r>
                      <a:r>
                        <a:rPr lang="en-US" baseline="0" dirty="0" smtClean="0"/>
                        <a:t> and MEO satellite</a:t>
                      </a:r>
                      <a:endParaRPr lang="en-US" dirty="0" smtClean="0"/>
                    </a:p>
                  </a:txBody>
                  <a:tcPr/>
                </a:tc>
              </a:tr>
              <a:tr h="637750">
                <a:tc>
                  <a:txBody>
                    <a:bodyPr/>
                    <a:lstStyle/>
                    <a:p>
                      <a:r>
                        <a:rPr lang="en-US" dirty="0" smtClean="0"/>
                        <a:t>Larger</a:t>
                      </a:r>
                      <a:r>
                        <a:rPr lang="en-US" baseline="0" dirty="0" smtClean="0"/>
                        <a:t> delay compared to other orbits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Delay is less compared</a:t>
                      </a:r>
                      <a:r>
                        <a:rPr lang="en-US" baseline="0" dirty="0" smtClean="0"/>
                        <a:t> to GEO orbit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Delay is lesser than GEO</a:t>
                      </a:r>
                      <a:r>
                        <a:rPr lang="en-US" baseline="0" dirty="0" smtClean="0"/>
                        <a:t> and MEO orbits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25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Satellite Paths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105400"/>
          </a:xfrm>
        </p:spPr>
        <p:txBody>
          <a:bodyPr/>
          <a:lstStyle/>
          <a:p>
            <a:r>
              <a:rPr lang="en-US" dirty="0" smtClean="0"/>
              <a:t>There are three paths that a satellite may take as it rotates around the Earth.</a:t>
            </a:r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8534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673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Equatorial Orbit:</a:t>
            </a:r>
            <a:r>
              <a:rPr lang="en-US" dirty="0" smtClean="0"/>
              <a:t> When the satellite rotates in an orbit above the equator, it is called an equatorial orbit.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Polar Orbit:</a:t>
            </a:r>
            <a:r>
              <a:rPr lang="en-US" dirty="0" smtClean="0"/>
              <a:t> When the satellite rotates in an orbit that takes it over the north and south poles, it is called a polar orbit.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Inclined Orbit:</a:t>
            </a:r>
            <a:r>
              <a:rPr lang="en-US" dirty="0" smtClean="0"/>
              <a:t> Any other orbital path is called an inclined orbit.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70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Satellite communication picture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33587"/>
            <a:ext cx="7924800" cy="4138613"/>
          </a:xfrm>
        </p:spPr>
      </p:pic>
    </p:spTree>
    <p:extLst>
      <p:ext uri="{BB962C8B-B14F-4D97-AF65-F5344CB8AC3E}">
        <p14:creationId xmlns:p14="http://schemas.microsoft.com/office/powerpoint/2010/main" val="141062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pPr algn="ctr"/>
            <a:r>
              <a:rPr lang="en-US" b="1" dirty="0" smtClean="0"/>
              <a:t>Uplinks and Downlinks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According to  the FCC, an uplink is the “transmission power that carries a signal… from its Earth station source up to a satellite;  a downlink…. includes the satellite itself the receiving Earth station  and the signal transmitted downward between the two.”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uplink refers to the transmission from the Earth station to the satellite and the downlink is the transmission from the satellite to the Earth station.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2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229600" cy="5913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Radiation Patterns: Footprints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962400"/>
          </a:xfrm>
        </p:spPr>
        <p:txBody>
          <a:bodyPr/>
          <a:lstStyle/>
          <a:p>
            <a:pPr algn="just"/>
            <a:r>
              <a:rPr lang="en-US" dirty="0" smtClean="0"/>
              <a:t>The area of Earth covered by a satellite depends on the location of the satellite in its geosynchronous orbit, its carrier frequency and the gain of its antennas.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geographical representation of a satellite antenna’s radiation pattern is called a footprint.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2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Footprints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162800" cy="4800600"/>
          </a:xfrm>
        </p:spPr>
      </p:pic>
    </p:spTree>
    <p:extLst>
      <p:ext uri="{BB962C8B-B14F-4D97-AF65-F5344CB8AC3E}">
        <p14:creationId xmlns:p14="http://schemas.microsoft.com/office/powerpoint/2010/main" val="203642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Footprint Categories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algn="just"/>
            <a:r>
              <a:rPr lang="en-US" dirty="0" smtClean="0"/>
              <a:t>The radiation pattern from a satellite antenna may be categorized as either spot, zonal or earth.</a:t>
            </a:r>
          </a:p>
          <a:p>
            <a:pPr algn="just"/>
            <a:r>
              <a:rPr lang="en-US" dirty="0" smtClean="0"/>
              <a:t>The radiation patterns of earth coverage antennas have a </a:t>
            </a:r>
            <a:r>
              <a:rPr lang="en-US" dirty="0" err="1" smtClean="0"/>
              <a:t>beamwidth</a:t>
            </a:r>
            <a:r>
              <a:rPr lang="en-US" dirty="0"/>
              <a:t> </a:t>
            </a:r>
            <a:r>
              <a:rPr lang="en-US" dirty="0" smtClean="0"/>
              <a:t>of approximately 17 degree and include coverage of approximately one-third of Earth’s surface.</a:t>
            </a:r>
          </a:p>
          <a:p>
            <a:pPr algn="just"/>
            <a:r>
              <a:rPr lang="en-US" dirty="0" smtClean="0"/>
              <a:t>Zonal coverage includes an area less than one-third of Earth’s surface.</a:t>
            </a:r>
          </a:p>
          <a:p>
            <a:pPr algn="just"/>
            <a:r>
              <a:rPr lang="en-US" dirty="0" smtClean="0"/>
              <a:t>Spot beams concentrate the radiated power in a very small geographic area.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46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Beams: </a:t>
            </a:r>
            <a:r>
              <a:rPr lang="en-US" b="1" dirty="0"/>
              <a:t>spot, zonal or earth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7619999" cy="4572000"/>
          </a:xfrm>
        </p:spPr>
      </p:pic>
    </p:spTree>
    <p:extLst>
      <p:ext uri="{BB962C8B-B14F-4D97-AF65-F5344CB8AC3E}">
        <p14:creationId xmlns:p14="http://schemas.microsoft.com/office/powerpoint/2010/main" val="143758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437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Satellite Transmission Bands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345842"/>
              </p:ext>
            </p:extLst>
          </p:nvPr>
        </p:nvGraphicFramePr>
        <p:xfrm>
          <a:off x="457200" y="1935163"/>
          <a:ext cx="8229600" cy="298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Frequency Band</a:t>
                      </a:r>
                      <a:endParaRPr kumimoji="0" lang="en-US" sz="4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Downlink</a:t>
                      </a:r>
                      <a:endParaRPr kumimoji="0" lang="en-US" sz="4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Uplink</a:t>
                      </a:r>
                      <a:endParaRPr kumimoji="0" lang="en-US" sz="4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US" sz="6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3.7-4.2 GHz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5.92-6.42 GHz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Ku</a:t>
                      </a:r>
                      <a:endParaRPr kumimoji="0" lang="en-US" sz="6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11.7-12.2 GHz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14.0-14.5 GHz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Ka</a:t>
                      </a:r>
                      <a:endParaRPr kumimoji="0" lang="en-US" sz="6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17.7-21.2 GHz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27.5-31.0 GHz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297269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C band is the most frequently used. The </a:t>
            </a:r>
            <a:r>
              <a:rPr lang="en-US" dirty="0" err="1"/>
              <a:t>Ka</a:t>
            </a:r>
            <a:r>
              <a:rPr lang="en-US" dirty="0"/>
              <a:t> and Ku bands are reserved exclusively for satellite communication but are subject to rain attenuation</a:t>
            </a:r>
          </a:p>
        </p:txBody>
      </p:sp>
    </p:spTree>
    <p:extLst>
      <p:ext uri="{BB962C8B-B14F-4D97-AF65-F5344CB8AC3E}">
        <p14:creationId xmlns:p14="http://schemas.microsoft.com/office/powerpoint/2010/main" val="139553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Satellite Frequency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Bands </a:t>
            </a:r>
            <a:r>
              <a:rPr lang="en-US" dirty="0" smtClean="0"/>
              <a:t>and Antennas (Dishes)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343400"/>
            <a:ext cx="8229600" cy="1782763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                C-Band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		    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          Ku-Band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endParaRPr lang="en-US" sz="1800" dirty="0"/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Most commonly used bands: </a:t>
            </a:r>
            <a:r>
              <a:rPr lang="en-US" dirty="0">
                <a:solidFill>
                  <a:schemeClr val="folHlin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C-band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(4 to 8 GHz) </a:t>
            </a:r>
            <a:r>
              <a:rPr lang="en-US" dirty="0">
                <a:solidFill>
                  <a:schemeClr val="folHlin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, Ku-band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(11 to 17 GHz) , and Ka-band (20 to 30 GHz ).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6" descr="cdis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76400" y="1904999"/>
            <a:ext cx="1905000" cy="2259419"/>
          </a:xfrm>
          <a:prstGeom prst="rect">
            <a:avLst/>
          </a:prstGeom>
          <a:noFill/>
        </p:spPr>
      </p:pic>
      <p:pic>
        <p:nvPicPr>
          <p:cNvPr id="5" name="Picture 7" descr="sonyds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486400" y="1905000"/>
            <a:ext cx="1981200" cy="23114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442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19912"/>
          </a:xfrm>
        </p:spPr>
        <p:txBody>
          <a:bodyPr/>
          <a:lstStyle/>
          <a:p>
            <a:pPr algn="ctr"/>
            <a:r>
              <a:rPr lang="en-US" b="1" dirty="0" smtClean="0"/>
              <a:t>Satellite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r>
              <a:rPr lang="en-US" dirty="0" smtClean="0"/>
              <a:t>Essentially, a satellite system consists of 3 sections: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An up-link</a:t>
            </a:r>
          </a:p>
          <a:p>
            <a:r>
              <a:rPr lang="en-US" sz="3200" dirty="0" smtClean="0">
                <a:solidFill>
                  <a:srgbClr val="00B050"/>
                </a:solidFill>
              </a:rPr>
              <a:t>A satellite transponder</a:t>
            </a:r>
          </a:p>
          <a:p>
            <a:r>
              <a:rPr lang="en-US" sz="3200" dirty="0" smtClean="0">
                <a:solidFill>
                  <a:srgbClr val="7030A0"/>
                </a:solidFill>
              </a:rPr>
              <a:t>And a down-link</a:t>
            </a:r>
          </a:p>
          <a:p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733800"/>
            <a:ext cx="6172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Up-link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primary component within the up-link section of a satellite system is the earth station transmitter.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typical earth station transmitter consists of an </a:t>
            </a:r>
            <a:r>
              <a:rPr lang="en-US" dirty="0" smtClean="0">
                <a:solidFill>
                  <a:srgbClr val="FF0000"/>
                </a:solidFill>
              </a:rPr>
              <a:t>IF modulator</a:t>
            </a:r>
            <a:r>
              <a:rPr lang="en-US" dirty="0" smtClean="0"/>
              <a:t>, an </a:t>
            </a:r>
            <a:r>
              <a:rPr lang="en-US" dirty="0" smtClean="0">
                <a:solidFill>
                  <a:srgbClr val="00B050"/>
                </a:solidFill>
              </a:rPr>
              <a:t>IF-to-RF microwave up-converter</a:t>
            </a:r>
            <a:r>
              <a:rPr lang="en-US" dirty="0" smtClean="0"/>
              <a:t>, a </a:t>
            </a:r>
            <a:r>
              <a:rPr lang="en-US" dirty="0" smtClean="0">
                <a:solidFill>
                  <a:srgbClr val="7030A0"/>
                </a:solidFill>
              </a:rPr>
              <a:t>high-power amplifier (HPA)</a:t>
            </a:r>
            <a:r>
              <a:rPr lang="en-US" dirty="0" smtClean="0"/>
              <a:t>, and some means of </a:t>
            </a:r>
            <a:r>
              <a:rPr lang="en-US" dirty="0" smtClean="0">
                <a:solidFill>
                  <a:srgbClr val="00B0F0"/>
                </a:solidFill>
              </a:rPr>
              <a:t>band limiting </a:t>
            </a:r>
            <a:r>
              <a:rPr lang="en-US" dirty="0" smtClean="0"/>
              <a:t>the final output spectrum.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72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Satellite up-link model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57200" y="2390168"/>
            <a:ext cx="8229600" cy="3705832"/>
          </a:xfrm>
        </p:spPr>
      </p:pic>
    </p:spTree>
    <p:extLst>
      <p:ext uri="{BB962C8B-B14F-4D97-AF65-F5344CB8AC3E}">
        <p14:creationId xmlns:p14="http://schemas.microsoft.com/office/powerpoint/2010/main" val="229596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</a:t>
            </a:r>
            <a:r>
              <a:rPr lang="en-US" b="1" dirty="0" smtClean="0"/>
              <a:t>ransponder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A typical satellite transponder consists of an </a:t>
            </a:r>
            <a:r>
              <a:rPr lang="en-US" dirty="0" smtClean="0">
                <a:solidFill>
                  <a:srgbClr val="FF0000"/>
                </a:solidFill>
              </a:rPr>
              <a:t>input </a:t>
            </a:r>
            <a:r>
              <a:rPr lang="en-US" dirty="0" err="1" smtClean="0">
                <a:solidFill>
                  <a:srgbClr val="FF0000"/>
                </a:solidFill>
              </a:rPr>
              <a:t>bandlimiting</a:t>
            </a:r>
            <a:r>
              <a:rPr lang="en-US" dirty="0" smtClean="0">
                <a:solidFill>
                  <a:srgbClr val="FF0000"/>
                </a:solidFill>
              </a:rPr>
              <a:t> device (BPF)</a:t>
            </a:r>
            <a:r>
              <a:rPr lang="en-US" dirty="0" smtClean="0"/>
              <a:t>, an </a:t>
            </a:r>
            <a:r>
              <a:rPr lang="en-US" dirty="0" smtClean="0">
                <a:solidFill>
                  <a:srgbClr val="00B050"/>
                </a:solidFill>
              </a:rPr>
              <a:t>input low-noise amplifier (LNA)</a:t>
            </a:r>
            <a:r>
              <a:rPr lang="en-US" dirty="0" smtClean="0"/>
              <a:t>, a </a:t>
            </a:r>
            <a:r>
              <a:rPr lang="en-US" dirty="0" smtClean="0">
                <a:solidFill>
                  <a:srgbClr val="00B0F0"/>
                </a:solidFill>
              </a:rPr>
              <a:t>frequency translator</a:t>
            </a:r>
            <a:r>
              <a:rPr lang="en-US" dirty="0" smtClean="0"/>
              <a:t>, a </a:t>
            </a:r>
            <a:r>
              <a:rPr lang="en-US" dirty="0" smtClean="0">
                <a:solidFill>
                  <a:srgbClr val="7030A0"/>
                </a:solidFill>
              </a:rPr>
              <a:t>low level power amplifier</a:t>
            </a:r>
            <a:r>
              <a:rPr lang="en-US" dirty="0" smtClean="0"/>
              <a:t>, and an </a:t>
            </a:r>
            <a:r>
              <a:rPr lang="en-US" dirty="0" smtClean="0">
                <a:solidFill>
                  <a:srgbClr val="FFC000"/>
                </a:solidFill>
              </a:rPr>
              <a:t>output </a:t>
            </a:r>
            <a:r>
              <a:rPr lang="en-US" dirty="0" err="1" smtClean="0">
                <a:solidFill>
                  <a:srgbClr val="FFC000"/>
                </a:solidFill>
              </a:rPr>
              <a:t>bandbass</a:t>
            </a:r>
            <a:r>
              <a:rPr lang="en-US" dirty="0" smtClean="0">
                <a:solidFill>
                  <a:srgbClr val="FFC000"/>
                </a:solidFill>
              </a:rPr>
              <a:t> filter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92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Satellite Transponder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21276"/>
            <a:ext cx="8229600" cy="3650923"/>
          </a:xfrm>
        </p:spPr>
      </p:pic>
    </p:spTree>
    <p:extLst>
      <p:ext uri="{BB962C8B-B14F-4D97-AF65-F5344CB8AC3E}">
        <p14:creationId xmlns:p14="http://schemas.microsoft.com/office/powerpoint/2010/main" val="239226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Down-link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An earth station receiver includes an </a:t>
            </a:r>
            <a:r>
              <a:rPr lang="en-US" dirty="0" smtClean="0">
                <a:solidFill>
                  <a:srgbClr val="C00000"/>
                </a:solidFill>
              </a:rPr>
              <a:t>input </a:t>
            </a:r>
            <a:r>
              <a:rPr lang="en-US" b="1" dirty="0" smtClean="0">
                <a:solidFill>
                  <a:srgbClr val="FFC000"/>
                </a:solidFill>
              </a:rPr>
              <a:t>BPF</a:t>
            </a:r>
            <a:r>
              <a:rPr lang="en-US" dirty="0" smtClean="0"/>
              <a:t>, an </a:t>
            </a:r>
            <a:r>
              <a:rPr lang="en-US" dirty="0" smtClean="0">
                <a:solidFill>
                  <a:srgbClr val="7030A0"/>
                </a:solidFill>
              </a:rPr>
              <a:t>LNA</a:t>
            </a:r>
            <a:r>
              <a:rPr lang="en-US" dirty="0" smtClean="0"/>
              <a:t>, and an </a:t>
            </a:r>
            <a:r>
              <a:rPr lang="en-US" dirty="0" smtClean="0">
                <a:solidFill>
                  <a:srgbClr val="00B050"/>
                </a:solidFill>
              </a:rPr>
              <a:t>RF-to-IF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down-converter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1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Satellite down-link model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15344"/>
            <a:ext cx="8229600" cy="4029075"/>
          </a:xfrm>
        </p:spPr>
      </p:pic>
    </p:spTree>
    <p:extLst>
      <p:ext uri="{BB962C8B-B14F-4D97-AF65-F5344CB8AC3E}">
        <p14:creationId xmlns:p14="http://schemas.microsoft.com/office/powerpoint/2010/main" val="327768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Cross-links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Occasionally, there is an application where it is necessary to communicate between satellites. This is done using satellite cross-links or </a:t>
            </a:r>
            <a:r>
              <a:rPr lang="en-US" dirty="0" err="1" smtClean="0"/>
              <a:t>intersatellite</a:t>
            </a:r>
            <a:r>
              <a:rPr lang="en-US" dirty="0" smtClean="0"/>
              <a:t> links (ISLs).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Cross-links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47" y="1935163"/>
            <a:ext cx="8021905" cy="4389437"/>
          </a:xfrm>
        </p:spPr>
      </p:pic>
    </p:spTree>
    <p:extLst>
      <p:ext uri="{BB962C8B-B14F-4D97-AF65-F5344CB8AC3E}">
        <p14:creationId xmlns:p14="http://schemas.microsoft.com/office/powerpoint/2010/main" val="344328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sz="8000" dirty="0">
              <a:solidFill>
                <a:srgbClr val="C00000"/>
              </a:solidFill>
              <a:latin typeface="Algerian" pitchFamily="8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9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9303</TotalTime>
  <Words>1706</Words>
  <Application>Microsoft Office PowerPoint</Application>
  <PresentationFormat>On-screen Show (4:3)</PresentationFormat>
  <Paragraphs>191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MS PGothic</vt:lpstr>
      <vt:lpstr>Algerian</vt:lpstr>
      <vt:lpstr>Arial</vt:lpstr>
      <vt:lpstr>Calibri</vt:lpstr>
      <vt:lpstr>Constantia</vt:lpstr>
      <vt:lpstr>Times New Roman</vt:lpstr>
      <vt:lpstr>Wingdings</vt:lpstr>
      <vt:lpstr>Wingdings 2</vt:lpstr>
      <vt:lpstr>Flow</vt:lpstr>
      <vt:lpstr>Satellite Communication</vt:lpstr>
      <vt:lpstr>  Introduction</vt:lpstr>
      <vt:lpstr>PowerPoint Presentation</vt:lpstr>
      <vt:lpstr>What exactly is a satellite?</vt:lpstr>
      <vt:lpstr>What is satellite communication?</vt:lpstr>
      <vt:lpstr>Communication Satellites</vt:lpstr>
      <vt:lpstr>   History of satellite</vt:lpstr>
      <vt:lpstr>CONT…</vt:lpstr>
      <vt:lpstr>Satellite Pictures</vt:lpstr>
      <vt:lpstr>How Satellites are used</vt:lpstr>
      <vt:lpstr>Application Example</vt:lpstr>
      <vt:lpstr>Components of a satellite</vt:lpstr>
      <vt:lpstr>Types of Satellites</vt:lpstr>
      <vt:lpstr>Satellite Communications Needs</vt:lpstr>
      <vt:lpstr>Major problems for satellites</vt:lpstr>
      <vt:lpstr>Advantages of Satellite</vt:lpstr>
      <vt:lpstr>Disadvantages of Satellite</vt:lpstr>
      <vt:lpstr>CONT…</vt:lpstr>
      <vt:lpstr>Orbital satellites</vt:lpstr>
      <vt:lpstr>Soviet Molniya satellite orbit</vt:lpstr>
      <vt:lpstr>PowerPoint Presentation</vt:lpstr>
      <vt:lpstr>Geostationary Satellites</vt:lpstr>
      <vt:lpstr>Orbital patterns</vt:lpstr>
      <vt:lpstr>LEO, MEO &amp; GEO</vt:lpstr>
      <vt:lpstr>Differences</vt:lpstr>
      <vt:lpstr>Satellite Paths</vt:lpstr>
      <vt:lpstr>PowerPoint Presentation</vt:lpstr>
      <vt:lpstr>Satellite communication picture</vt:lpstr>
      <vt:lpstr>Uplinks and Downlinks</vt:lpstr>
      <vt:lpstr>Radiation Patterns: Footprints</vt:lpstr>
      <vt:lpstr>Footprints</vt:lpstr>
      <vt:lpstr>Footprint Categories</vt:lpstr>
      <vt:lpstr>Beams: spot, zonal or earth</vt:lpstr>
      <vt:lpstr>Satellite Transmission Bands</vt:lpstr>
      <vt:lpstr>Satellite Frequency  Bands and Antennas (Dishes)</vt:lpstr>
      <vt:lpstr>Satellite System</vt:lpstr>
      <vt:lpstr>Up-link Model</vt:lpstr>
      <vt:lpstr>Satellite up-link model</vt:lpstr>
      <vt:lpstr>Transponder</vt:lpstr>
      <vt:lpstr>Satellite Transponder</vt:lpstr>
      <vt:lpstr>Down-link Model</vt:lpstr>
      <vt:lpstr>Satellite down-link model</vt:lpstr>
      <vt:lpstr>Cross-links</vt:lpstr>
      <vt:lpstr>Cross-links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Communication</dc:title>
  <dc:creator>Uzzwal Mondal</dc:creator>
  <cp:lastModifiedBy>HP</cp:lastModifiedBy>
  <cp:revision>111</cp:revision>
  <dcterms:created xsi:type="dcterms:W3CDTF">2006-08-16T00:00:00Z</dcterms:created>
  <dcterms:modified xsi:type="dcterms:W3CDTF">2024-03-26T12:43:19Z</dcterms:modified>
</cp:coreProperties>
</file>