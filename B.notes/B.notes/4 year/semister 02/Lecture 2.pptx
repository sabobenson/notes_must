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6000" dirty="0" smtClean="0"/>
              <a:t>2. Digital </a:t>
            </a:r>
            <a:r>
              <a:rPr lang="en-US" sz="6000" dirty="0"/>
              <a:t>Images, Pixels, Resolution, and Image 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55630" y="4908034"/>
            <a:ext cx="2448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By Dr. </a:t>
            </a:r>
            <a:r>
              <a:rPr lang="en-US" dirty="0" err="1" smtClean="0"/>
              <a:t>Nyatega</a:t>
            </a:r>
            <a:r>
              <a:rPr lang="en-US" dirty="0" smtClean="0"/>
              <a:t> C.O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42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01712" y="808318"/>
                <a:ext cx="8967788" cy="48304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    2.1 What is a digital image?</a:t>
                </a:r>
              </a:p>
              <a:p>
                <a:r>
                  <a:rPr lang="en-US" dirty="0"/>
                  <a:t>A digital image is a matrix of numbers. Each number corresponds to one pixel.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Example: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m>
                      <m:mPr>
                        <m:plcHide m:val="on"/>
                        <m:mcs>
                          <m:mc>
                            <m:mcPr>
                              <m:count m:val="3"/>
                              <m:mcJc m:val="center"/>
                            </m:mcPr>
                          </m:mc>
                        </m:mcs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18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255</m:t>
                          </m:r>
                        </m:e>
                      </m:mr>
                    </m:m>
                  </m:oMath>
                </a14:m>
                <a:r>
                  <a:rPr lang="en-US" dirty="0" smtClean="0"/>
                  <a:t>​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Each </a:t>
                </a:r>
                <a:r>
                  <a:rPr lang="en-US" dirty="0"/>
                  <a:t>entry is a pixel intensity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   2.2 </a:t>
                </a:r>
                <a:r>
                  <a:rPr lang="en-US" b="1" dirty="0"/>
                  <a:t>Pixel</a:t>
                </a:r>
              </a:p>
              <a:p>
                <a:r>
                  <a:rPr lang="en-US" dirty="0"/>
                  <a:t>A pixel is the smallest addressable unit in an image.</a:t>
                </a:r>
                <a:br>
                  <a:rPr lang="en-US" dirty="0"/>
                </a:br>
                <a:r>
                  <a:rPr lang="en-US" dirty="0"/>
                  <a:t>In grayscale:</a:t>
                </a:r>
              </a:p>
              <a:p>
                <a:pPr lvl="3">
                  <a:buFont typeface="Wingdings" panose="05000000000000000000" pitchFamily="2" charset="2"/>
                  <a:buChar char="v"/>
                </a:pPr>
                <a:r>
                  <a:rPr lang="en-US" sz="1600" dirty="0"/>
                  <a:t>0 = </a:t>
                </a:r>
                <a:r>
                  <a:rPr lang="en-US" sz="1600" dirty="0">
                    <a:solidFill>
                      <a:schemeClr val="bg1"/>
                    </a:solidFill>
                  </a:rPr>
                  <a:t>black </a:t>
                </a:r>
              </a:p>
              <a:p>
                <a:pPr lvl="3">
                  <a:buFont typeface="Wingdings" panose="05000000000000000000" pitchFamily="2" charset="2"/>
                  <a:buChar char="v"/>
                </a:pPr>
                <a:r>
                  <a:rPr lang="en-US" sz="1600" dirty="0"/>
                  <a:t>255 = white for 8-bit images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1712" y="808318"/>
                <a:ext cx="8967788" cy="4830482"/>
              </a:xfrm>
              <a:blipFill>
                <a:blip r:embed="rId2"/>
                <a:stretch>
                  <a:fillRect l="-272" t="-758" r="-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21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76312" y="617818"/>
                <a:ext cx="9767888" cy="57575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     2.3 </a:t>
                </a:r>
                <a:r>
                  <a:rPr lang="en-US" b="1" dirty="0"/>
                  <a:t>Spatial resolution</a:t>
                </a:r>
              </a:p>
              <a:p>
                <a:r>
                  <a:rPr lang="en-US" dirty="0"/>
                  <a:t>Spatial resolution refers to the number of pixels used to represent the image. Higher resolution means more detail.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 Example</a:t>
                </a:r>
                <a:r>
                  <a:rPr lang="en-US" dirty="0"/>
                  <a:t>:</a:t>
                </a:r>
              </a:p>
              <a:p>
                <a:pPr marL="1828800" lvl="4" indent="0">
                  <a:buNone/>
                </a:pPr>
                <a:r>
                  <a:rPr lang="en-US" dirty="0"/>
                  <a:t>256 × 256 image </a:t>
                </a:r>
              </a:p>
              <a:p>
                <a:pPr marL="1828800" lvl="4" indent="0">
                  <a:buNone/>
                </a:pPr>
                <a:r>
                  <a:rPr lang="en-US" dirty="0"/>
                  <a:t>1024 × 1024 image </a:t>
                </a:r>
              </a:p>
              <a:p>
                <a:r>
                  <a:rPr lang="en-US" dirty="0"/>
                  <a:t>The second generally preserves more fine </a:t>
                </a:r>
                <a:r>
                  <a:rPr lang="en-US" dirty="0" smtClean="0"/>
                  <a:t>structures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     2.4 </a:t>
                </a:r>
                <a:r>
                  <a:rPr lang="en-US" b="1" dirty="0"/>
                  <a:t>Intensity resolution</a:t>
                </a:r>
              </a:p>
              <a:p>
                <a:r>
                  <a:rPr lang="en-US" dirty="0"/>
                  <a:t>Intensity resolution refers to the number of gray levels.</a:t>
                </a:r>
                <a:br>
                  <a:rPr lang="en-US" dirty="0"/>
                </a:br>
                <a:r>
                  <a:rPr lang="en-US" dirty="0"/>
                  <a:t>For an 8-bit image:</a:t>
                </a:r>
              </a:p>
              <a:p>
                <a:pPr marL="800100" lvl="2" indent="0">
                  <a:buNone/>
                </a:pPr>
                <a:r>
                  <a:rPr lang="en-US" dirty="0" smtClean="0"/>
                  <a:t>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=256 </m:t>
                    </m:r>
                  </m:oMath>
                </a14:m>
                <a:r>
                  <a:rPr lang="en-US" dirty="0" smtClean="0"/>
                  <a:t>levels </a:t>
                </a:r>
                <a:r>
                  <a:rPr lang="en-US" dirty="0"/>
                  <a:t>are available.</a:t>
                </a:r>
              </a:p>
              <a:p>
                <a:r>
                  <a:rPr lang="en-US" dirty="0"/>
                  <a:t>For a 4-bit image:</a:t>
                </a:r>
              </a:p>
              <a:p>
                <a:pPr marL="1257300" lvl="3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6 </m:t>
                    </m:r>
                  </m:oMath>
                </a14:m>
                <a:r>
                  <a:rPr lang="en-US" dirty="0"/>
                  <a:t>levels are available.levels only.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6312" y="617818"/>
                <a:ext cx="9767888" cy="5757582"/>
              </a:xfrm>
              <a:blipFill>
                <a:blip r:embed="rId2"/>
                <a:stretch>
                  <a:fillRect l="-250" t="-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12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9812" y="655918"/>
                <a:ext cx="9361488" cy="531308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     2.5 </a:t>
                </a:r>
                <a:r>
                  <a:rPr lang="en-US" b="1" dirty="0"/>
                  <a:t>Neighbor </a:t>
                </a:r>
                <a:r>
                  <a:rPr lang="en-US" b="1" dirty="0" smtClean="0"/>
                  <a:t>relationships</a:t>
                </a:r>
              </a:p>
              <a:p>
                <a:r>
                  <a:rPr lang="en-US" dirty="0" smtClean="0"/>
                  <a:t>For </a:t>
                </a:r>
                <a:r>
                  <a:rPr lang="en-US" dirty="0"/>
                  <a:t>pixel p(</a:t>
                </a:r>
                <a:r>
                  <a:rPr lang="en-US" dirty="0" err="1"/>
                  <a:t>x,y</a:t>
                </a:r>
                <a:r>
                  <a:rPr lang="en-US" dirty="0"/>
                  <a:t>), neighbors include</a:t>
                </a:r>
                <a:r>
                  <a:rPr lang="en-US" dirty="0" smtClean="0"/>
                  <a:t>: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   4-neighbors</a:t>
                </a:r>
                <a:r>
                  <a:rPr lang="en-US" dirty="0"/>
                  <a:t>: up, down, left, </a:t>
                </a:r>
                <a:r>
                  <a:rPr lang="en-US" dirty="0" smtClean="0"/>
                  <a:t>right</a:t>
                </a:r>
              </a:p>
              <a:p>
                <a:pPr marL="457200" lvl="1" indent="0">
                  <a:buNone/>
                </a:pPr>
                <a:r>
                  <a:rPr lang="en-US" dirty="0" smtClean="0"/>
                  <a:t>    8-neighbors</a:t>
                </a:r>
                <a:r>
                  <a:rPr lang="en-US" dirty="0"/>
                  <a:t>: also includes </a:t>
                </a:r>
                <a:r>
                  <a:rPr lang="en-US" dirty="0" smtClean="0"/>
                  <a:t>diagonals</a:t>
                </a:r>
              </a:p>
              <a:p>
                <a:r>
                  <a:rPr lang="en-US" dirty="0" smtClean="0"/>
                  <a:t>This </a:t>
                </a:r>
                <a:r>
                  <a:rPr lang="en-US" dirty="0"/>
                  <a:t>becomes important in connectivity and segmentation</a:t>
                </a:r>
                <a:r>
                  <a:rPr lang="en-US" dirty="0" smtClean="0"/>
                  <a:t>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    2.6 </a:t>
                </a:r>
                <a:r>
                  <a:rPr lang="en-US" b="1" dirty="0"/>
                  <a:t>Worked example</a:t>
                </a:r>
              </a:p>
              <a:p>
                <a:r>
                  <a:rPr lang="en-US" dirty="0"/>
                  <a:t>If a 2-bit image is used, how many intensity levels exist</a:t>
                </a:r>
                <a:r>
                  <a:rPr lang="en-US" dirty="0" smtClean="0"/>
                  <a:t>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=16 </m:t>
                    </m:r>
                  </m:oMath>
                </a14:m>
                <a:endParaRPr lang="en-US" dirty="0" smtClean="0"/>
              </a:p>
              <a:p>
                <a:r>
                  <a:rPr lang="en-US" dirty="0" smtClean="0"/>
                  <a:t>If </a:t>
                </a:r>
                <a:r>
                  <a:rPr lang="en-US" dirty="0"/>
                  <a:t>an 8-bit image is used: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25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6 </m:t>
                    </m:r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This </a:t>
                </a:r>
                <a:r>
                  <a:rPr lang="en-US" dirty="0"/>
                  <a:t>explains why higher bit-depth gives smoother gray transitions.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9812" y="655918"/>
                <a:ext cx="9361488" cy="5313082"/>
              </a:xfrm>
              <a:blipFill>
                <a:blip r:embed="rId2"/>
                <a:stretch>
                  <a:fillRect l="-717" t="-6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278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3011" y="208374"/>
            <a:ext cx="9450388" cy="56178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2.7 </a:t>
            </a:r>
            <a:r>
              <a:rPr lang="en-US" b="1" dirty="0"/>
              <a:t>MATLAB example: inspect image </a:t>
            </a:r>
            <a:r>
              <a:rPr lang="en-US" b="1" dirty="0" smtClean="0"/>
              <a:t>properties</a:t>
            </a:r>
          </a:p>
          <a:p>
            <a:pPr marL="914400" lvl="2" indent="0">
              <a:buNone/>
            </a:pPr>
            <a:r>
              <a:rPr lang="en-US" dirty="0" err="1"/>
              <a:t>img</a:t>
            </a:r>
            <a:r>
              <a:rPr lang="en-US" dirty="0"/>
              <a:t> = </a:t>
            </a:r>
            <a:r>
              <a:rPr lang="en-US" dirty="0" err="1"/>
              <a:t>imread</a:t>
            </a:r>
            <a:r>
              <a:rPr lang="en-US" dirty="0"/>
              <a:t>('C:\Program </a:t>
            </a:r>
            <a:r>
              <a:rPr lang="en-US" dirty="0" smtClean="0"/>
              <a:t>Files\</a:t>
            </a:r>
          </a:p>
          <a:p>
            <a:pPr marL="914400" lvl="2" indent="0">
              <a:buNone/>
            </a:pPr>
            <a:r>
              <a:rPr lang="en-US" dirty="0" smtClean="0"/>
              <a:t>MATLAB\R2018a\toolbox</a:t>
            </a:r>
          </a:p>
          <a:p>
            <a:pPr marL="914400" lvl="2" indent="0">
              <a:buNone/>
            </a:pPr>
            <a:r>
              <a:rPr lang="en-US" dirty="0" smtClean="0"/>
              <a:t>\</a:t>
            </a:r>
            <a:r>
              <a:rPr lang="en-US" dirty="0" err="1"/>
              <a:t>matlab</a:t>
            </a:r>
            <a:r>
              <a:rPr lang="en-US" dirty="0"/>
              <a:t>\demos\street2.jpg</a:t>
            </a:r>
            <a:r>
              <a:rPr lang="en-US" dirty="0" smtClean="0"/>
              <a:t>');</a:t>
            </a:r>
            <a:endParaRPr lang="en-US" dirty="0"/>
          </a:p>
          <a:p>
            <a:pPr marL="914400" lvl="2" indent="0">
              <a:buNone/>
            </a:pPr>
            <a:r>
              <a:rPr lang="en-US" dirty="0"/>
              <a:t>size(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/>
              <a:t>class(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pPr marL="914400" lvl="2" indent="0">
              <a:buNone/>
            </a:pPr>
            <a:r>
              <a:rPr lang="en-US" dirty="0" err="1"/>
              <a:t>imshow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endParaRPr lang="en-US" dirty="0" smtClean="0"/>
          </a:p>
          <a:p>
            <a:pPr marL="800100" lvl="2" indent="0">
              <a:buNone/>
            </a:pPr>
            <a:r>
              <a:rPr lang="fr-FR" dirty="0">
                <a:solidFill>
                  <a:srgbClr val="FFFF00"/>
                </a:solidFill>
              </a:rPr>
              <a:t>ans </a:t>
            </a:r>
            <a:r>
              <a:rPr lang="fr-FR" dirty="0" smtClean="0">
                <a:solidFill>
                  <a:srgbClr val="FFFF00"/>
                </a:solidFill>
              </a:rPr>
              <a:t>= 480   </a:t>
            </a:r>
            <a:r>
              <a:rPr lang="fr-FR" dirty="0">
                <a:solidFill>
                  <a:srgbClr val="FFFF00"/>
                </a:solidFill>
              </a:rPr>
              <a:t>640     3</a:t>
            </a:r>
          </a:p>
          <a:p>
            <a:pPr marL="800100" lvl="2" indent="0">
              <a:buNone/>
            </a:pPr>
            <a:r>
              <a:rPr lang="fr-FR" dirty="0" smtClean="0">
                <a:solidFill>
                  <a:srgbClr val="FFFF00"/>
                </a:solidFill>
              </a:rPr>
              <a:t>ans = </a:t>
            </a:r>
            <a:r>
              <a:rPr lang="fr-FR" dirty="0">
                <a:solidFill>
                  <a:srgbClr val="FFFF00"/>
                </a:solidFill>
              </a:rPr>
              <a:t>'uint8'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186" y="593137"/>
            <a:ext cx="5407414" cy="40788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995292" y="4671969"/>
            <a:ext cx="8799707" cy="21544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quote-cjk-patch"/>
              </a:rPr>
              <a:t>So the image is 480 pixels tall, 640 pixels wide, and has full color </a:t>
            </a:r>
            <a:r>
              <a:rPr lang="en-US" dirty="0" smtClean="0">
                <a:latin typeface="quote-cjk-patch"/>
              </a:rPr>
              <a:t>information, </a:t>
            </a:r>
            <a:r>
              <a:rPr lang="en-US" b="1" dirty="0"/>
              <a:t>Red, Green, and Blue</a:t>
            </a:r>
            <a:r>
              <a:rPr lang="en-US" dirty="0"/>
              <a:t> (RGB</a:t>
            </a:r>
            <a:r>
              <a:rPr lang="en-US" dirty="0" smtClean="0"/>
              <a:t>) </a:t>
            </a:r>
            <a:r>
              <a:rPr lang="en-US" dirty="0" err="1" smtClean="0"/>
              <a:t>i.e</a:t>
            </a:r>
            <a:r>
              <a:rPr lang="en-US" dirty="0" smtClean="0"/>
              <a:t> </a:t>
            </a:r>
            <a:r>
              <a:rPr lang="en-US" b="1" dirty="0" smtClean="0"/>
              <a:t>3</a:t>
            </a:r>
          </a:p>
          <a:p>
            <a:r>
              <a:rPr lang="en-US" sz="1600" b="1" dirty="0"/>
              <a:t>uint8</a:t>
            </a:r>
            <a:r>
              <a:rPr lang="en-US" sz="1600" dirty="0"/>
              <a:t> stands for </a:t>
            </a:r>
            <a:r>
              <a:rPr lang="en-US" sz="1600" b="1" dirty="0"/>
              <a:t>unsigned 8‑bit integer</a:t>
            </a:r>
            <a:r>
              <a:rPr lang="en-US" sz="1600" dirty="0"/>
              <a:t>.</a:t>
            </a:r>
          </a:p>
          <a:p>
            <a:r>
              <a:rPr lang="en-US" sz="1600" dirty="0"/>
              <a:t>Each pixel value in the image is stored as a whole number from </a:t>
            </a:r>
            <a:r>
              <a:rPr lang="en-US" sz="1600" b="1" dirty="0"/>
              <a:t>0 to 255</a:t>
            </a:r>
            <a:r>
              <a:rPr lang="en-US" sz="1600" dirty="0"/>
              <a:t> (2⁸ = 256 possible values).</a:t>
            </a:r>
          </a:p>
          <a:p>
            <a:r>
              <a:rPr lang="en-US" sz="1600" dirty="0"/>
              <a:t>For a color image, each channel (R, G, B) of every pixel is a uint8 number, where 0 = black (no intensity) and 255 = full intensity for that color.</a:t>
            </a:r>
          </a:p>
          <a:p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29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1768" y="766762"/>
            <a:ext cx="4823131" cy="454463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69" y="766762"/>
            <a:ext cx="4823131" cy="454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3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77912" y="617818"/>
                <a:ext cx="8946541" cy="419548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/>
                  <a:t>     2.8 </a:t>
                </a:r>
                <a:r>
                  <a:rPr lang="en-US" b="1" dirty="0"/>
                  <a:t>AI integration</a:t>
                </a:r>
              </a:p>
              <a:p>
                <a:r>
                  <a:rPr lang="en-US" dirty="0"/>
                  <a:t>Resolution matters in CNNs. If images are too small, disease patterns may be lost. If too large, computation becomes heavy.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    2.9 </a:t>
                </a:r>
                <a:r>
                  <a:rPr lang="en-US" b="1" dirty="0"/>
                  <a:t>Questions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What is the difference between spatial and intensity resolution?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How many levels exist in a 10-bit image? 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    2.10 </a:t>
                </a:r>
                <a:r>
                  <a:rPr lang="en-US" b="1" dirty="0"/>
                  <a:t>Answers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en-US" dirty="0"/>
                  <a:t>Spatial resolution concerns image dimensions; intensity resolution concerns number of gray levels. </a:t>
                </a:r>
              </a:p>
              <a:p>
                <a:pPr marL="800100" lvl="1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7912" y="617818"/>
                <a:ext cx="8946541" cy="4195481"/>
              </a:xfrm>
              <a:blipFill>
                <a:blip r:embed="rId2"/>
                <a:stretch>
                  <a:fillRect l="-341" t="-726" r="-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7274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3. Sampling </a:t>
            </a:r>
            <a:r>
              <a:rPr lang="en-US" dirty="0"/>
              <a:t>and Quantization</a:t>
            </a:r>
          </a:p>
        </p:txBody>
      </p:sp>
    </p:spTree>
    <p:extLst>
      <p:ext uri="{BB962C8B-B14F-4D97-AF65-F5344CB8AC3E}">
        <p14:creationId xmlns:p14="http://schemas.microsoft.com/office/powerpoint/2010/main" val="145000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512" y="406400"/>
            <a:ext cx="9247188" cy="60452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     3.1 Sampling</a:t>
            </a:r>
            <a:endParaRPr lang="en-US" b="1" dirty="0"/>
          </a:p>
          <a:p>
            <a:r>
              <a:rPr lang="en-US" dirty="0"/>
              <a:t>Sampling converts a continuous image into discrete </a:t>
            </a:r>
            <a:r>
              <a:rPr lang="en-US" dirty="0" smtClean="0"/>
              <a:t>spatial coordinates</a:t>
            </a:r>
            <a:r>
              <a:rPr lang="en-US" dirty="0"/>
              <a:t>.</a:t>
            </a:r>
          </a:p>
          <a:p>
            <a:r>
              <a:rPr lang="en-US" dirty="0"/>
              <a:t>If sampling is poor, details are lost and aliasing may occur.</a:t>
            </a:r>
          </a:p>
          <a:p>
            <a:pPr marL="0" indent="0">
              <a:buNone/>
            </a:pPr>
            <a:r>
              <a:rPr lang="en-US" b="1" dirty="0" smtClean="0"/>
              <a:t>     3.2 </a:t>
            </a:r>
            <a:r>
              <a:rPr lang="en-US" b="1" dirty="0"/>
              <a:t>Quantization</a:t>
            </a:r>
          </a:p>
          <a:p>
            <a:r>
              <a:rPr lang="en-US" dirty="0"/>
              <a:t>Quantization converts continuous intensity values into a finite number of levels.</a:t>
            </a:r>
          </a:p>
          <a:p>
            <a:pPr marL="0" indent="0">
              <a:buNone/>
            </a:pPr>
            <a:r>
              <a:rPr lang="en-US" b="1" dirty="0" smtClean="0"/>
              <a:t>    3.3 </a:t>
            </a:r>
            <a:r>
              <a:rPr lang="en-US" b="1" dirty="0"/>
              <a:t>Combined digitization</a:t>
            </a:r>
          </a:p>
          <a:p>
            <a:r>
              <a:rPr lang="en-US" dirty="0"/>
              <a:t>Digitization = sampling + quantization.</a:t>
            </a:r>
          </a:p>
          <a:p>
            <a:pPr marL="0" indent="0">
              <a:buNone/>
            </a:pPr>
            <a:r>
              <a:rPr lang="en-US" b="1" dirty="0" smtClean="0"/>
              <a:t>    3.4 </a:t>
            </a:r>
            <a:r>
              <a:rPr lang="en-US" b="1" dirty="0"/>
              <a:t>Aliasing</a:t>
            </a:r>
          </a:p>
          <a:p>
            <a:r>
              <a:rPr lang="en-US" dirty="0"/>
              <a:t>Aliasing occurs when the sampling rate is too low, producing false patterns or jagged </a:t>
            </a:r>
            <a:r>
              <a:rPr lang="en-US" dirty="0" smtClean="0"/>
              <a:t>edges </a:t>
            </a:r>
            <a:r>
              <a:rPr lang="en-US" dirty="0"/>
              <a:t>or wavy patterns</a:t>
            </a:r>
            <a:r>
              <a:rPr lang="en-US" dirty="0" smtClean="0"/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is an effect that causes different signals or patterns to become indistinguishable from one another. It happens when a signal is sampled at a rate that is too low to capture its details </a:t>
            </a:r>
            <a:r>
              <a:rPr lang="en-US" dirty="0" smtClean="0"/>
              <a:t>accurately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i="1" dirty="0">
                <a:solidFill>
                  <a:srgbClr val="FFFF00"/>
                </a:solidFill>
              </a:rPr>
              <a:t>Think of the classic wagon-wheel effect in old movies: the wheel appears to spin backward or freeze, even though the car is moving forward. That's aliasing</a:t>
            </a:r>
            <a:r>
              <a:rPr lang="en-US" i="1" dirty="0" smtClean="0">
                <a:solidFill>
                  <a:srgbClr val="FFFF00"/>
                </a:solidFill>
              </a:rPr>
              <a:t>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/>
              <a:t>In engineering, the rule is: </a:t>
            </a:r>
            <a:r>
              <a:rPr lang="en-US" b="1" dirty="0"/>
              <a:t>To accurately capture a signal, you must sample it at least twice as fast as its highest </a:t>
            </a:r>
            <a:r>
              <a:rPr lang="en-US" b="1" dirty="0" smtClean="0"/>
              <a:t>frequency </a:t>
            </a:r>
            <a:r>
              <a:rPr lang="en-US" b="1" dirty="0"/>
              <a:t>(</a:t>
            </a:r>
            <a:r>
              <a:rPr lang="en-US" b="1" dirty="0" err="1"/>
              <a:t>Nyquist</a:t>
            </a:r>
            <a:r>
              <a:rPr lang="en-US" b="1" dirty="0"/>
              <a:t> Theorem</a:t>
            </a:r>
            <a:r>
              <a:rPr lang="en-US" b="1" dirty="0" smtClean="0"/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b="1" dirty="0"/>
              <a:t>Anti-aliasing</a:t>
            </a:r>
            <a:r>
              <a:rPr lang="en-US" dirty="0"/>
              <a:t> = The fix (blurring edges, adding a low-pass filter, or increasing resolution).</a:t>
            </a:r>
          </a:p>
          <a:p>
            <a:pPr lvl="1"/>
            <a:endParaRPr lang="en-US" b="1" dirty="0"/>
          </a:p>
          <a:p>
            <a:pPr lvl="1"/>
            <a:endParaRPr lang="en-US" i="1" dirty="0" smtClean="0">
              <a:solidFill>
                <a:srgbClr val="FFFF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521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2512" y="461309"/>
            <a:ext cx="9691688" cy="6151282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3.5 Worked example</a:t>
            </a:r>
          </a:p>
          <a:p>
            <a:r>
              <a:rPr lang="en-US" dirty="0"/>
              <a:t>Suppose a continuous signal is sampled too coarsely. A thin blood vessel in an image may disappear or appear broken. This is a practical consequence in medical imaging</a:t>
            </a:r>
            <a:r>
              <a:rPr lang="en-US" dirty="0" smtClean="0"/>
              <a:t>.</a:t>
            </a:r>
          </a:p>
          <a:p>
            <a:r>
              <a:rPr lang="en-US" b="1" dirty="0"/>
              <a:t>3.6 MATLAB example: reduce resolution</a:t>
            </a:r>
          </a:p>
          <a:p>
            <a:pPr marL="400050" lvl="1" indent="0">
              <a:buNone/>
            </a:pPr>
            <a:r>
              <a:rPr lang="en-US" sz="1500" dirty="0" err="1"/>
              <a:t>img</a:t>
            </a:r>
            <a:r>
              <a:rPr lang="en-US" sz="1500" dirty="0"/>
              <a:t> = </a:t>
            </a:r>
            <a:r>
              <a:rPr lang="en-US" sz="1500" dirty="0" err="1"/>
              <a:t>imread</a:t>
            </a:r>
            <a:r>
              <a:rPr lang="en-US" sz="1500" dirty="0"/>
              <a:t>(' C:\Program Files</a:t>
            </a:r>
            <a:r>
              <a:rPr lang="en-US" sz="1500" dirty="0" smtClean="0"/>
              <a:t>\</a:t>
            </a:r>
          </a:p>
          <a:p>
            <a:pPr marL="400050" lvl="1" indent="0">
              <a:buNone/>
            </a:pPr>
            <a:r>
              <a:rPr lang="en-US" sz="1500" dirty="0" smtClean="0"/>
              <a:t>MATLAB\R2018a\toolbox\</a:t>
            </a:r>
          </a:p>
          <a:p>
            <a:pPr marL="400050" lvl="1" indent="0">
              <a:buNone/>
            </a:pPr>
            <a:r>
              <a:rPr lang="en-US" sz="1500" dirty="0" smtClean="0"/>
              <a:t>images\</a:t>
            </a:r>
            <a:r>
              <a:rPr lang="en-US" sz="1500" dirty="0" err="1" smtClean="0"/>
              <a:t>imdata</a:t>
            </a:r>
            <a:r>
              <a:rPr lang="en-US" sz="1500" dirty="0" smtClean="0"/>
              <a:t>\</a:t>
            </a:r>
            <a:r>
              <a:rPr lang="en-US" sz="1500" dirty="0" err="1" smtClean="0"/>
              <a:t>cameraman.tif</a:t>
            </a:r>
            <a:r>
              <a:rPr lang="en-US" sz="1500" dirty="0"/>
              <a:t>');</a:t>
            </a:r>
          </a:p>
          <a:p>
            <a:pPr marL="400050" lvl="1" indent="0">
              <a:buNone/>
            </a:pPr>
            <a:r>
              <a:rPr lang="en-US" sz="1500" dirty="0"/>
              <a:t>small = </a:t>
            </a:r>
            <a:r>
              <a:rPr lang="en-US" sz="1500" dirty="0" err="1"/>
              <a:t>imresize</a:t>
            </a:r>
            <a:r>
              <a:rPr lang="en-US" sz="1500" dirty="0"/>
              <a:t>(</a:t>
            </a:r>
            <a:r>
              <a:rPr lang="en-US" sz="1500" dirty="0" err="1"/>
              <a:t>img</a:t>
            </a:r>
            <a:r>
              <a:rPr lang="en-US" sz="1500" dirty="0"/>
              <a:t>, 0.25);</a:t>
            </a:r>
          </a:p>
          <a:p>
            <a:pPr marL="400050" lvl="1" indent="0">
              <a:buNone/>
            </a:pPr>
            <a:r>
              <a:rPr lang="en-US" sz="1500" dirty="0" err="1"/>
              <a:t>imshow</a:t>
            </a:r>
            <a:r>
              <a:rPr lang="en-US" sz="1500" dirty="0"/>
              <a:t>(small)</a:t>
            </a:r>
          </a:p>
          <a:p>
            <a:pPr marL="400050" lvl="1" indent="0">
              <a:buNone/>
            </a:pPr>
            <a:r>
              <a:rPr lang="en-US" sz="1500" dirty="0"/>
              <a:t>title('Reduced Resolution</a:t>
            </a:r>
            <a:r>
              <a:rPr lang="en-US" sz="1500" dirty="0" smtClean="0"/>
              <a:t>');</a:t>
            </a:r>
            <a:endParaRPr lang="en-US" dirty="0" smtClean="0"/>
          </a:p>
          <a:p>
            <a:pPr marL="400050" lvl="1" indent="0">
              <a:buNone/>
            </a:pPr>
            <a:endParaRPr lang="en-US" b="1" dirty="0" smtClean="0"/>
          </a:p>
          <a:p>
            <a:pPr marL="400050" lvl="1" indent="0">
              <a:buNone/>
            </a:pPr>
            <a:r>
              <a:rPr lang="en-US" b="1" dirty="0" smtClean="0"/>
              <a:t>Quantization </a:t>
            </a:r>
            <a:r>
              <a:rPr lang="en-US" b="1" dirty="0"/>
              <a:t>example</a:t>
            </a:r>
            <a:r>
              <a:rPr lang="en-US" b="1" dirty="0" smtClean="0"/>
              <a:t>:</a:t>
            </a:r>
          </a:p>
          <a:p>
            <a:pPr marL="400050" lvl="1" indent="0">
              <a:buNone/>
            </a:pPr>
            <a:r>
              <a:rPr lang="en-US" sz="1500" dirty="0" err="1"/>
              <a:t>img</a:t>
            </a:r>
            <a:r>
              <a:rPr lang="en-US" sz="1500" dirty="0"/>
              <a:t> = </a:t>
            </a:r>
            <a:r>
              <a:rPr lang="en-US" sz="1500" dirty="0" err="1"/>
              <a:t>imread</a:t>
            </a:r>
            <a:r>
              <a:rPr lang="en-US" sz="1500" dirty="0"/>
              <a:t>(' C:\Program Files</a:t>
            </a:r>
            <a:r>
              <a:rPr lang="en-US" sz="1500" dirty="0" smtClean="0"/>
              <a:t>\</a:t>
            </a:r>
          </a:p>
          <a:p>
            <a:pPr marL="400050" lvl="1" indent="0">
              <a:buNone/>
            </a:pPr>
            <a:r>
              <a:rPr lang="en-US" sz="1500" dirty="0" smtClean="0"/>
              <a:t>MATLAB\R2018a\toolbox\</a:t>
            </a:r>
          </a:p>
          <a:p>
            <a:pPr marL="400050" lvl="1" indent="0">
              <a:buNone/>
            </a:pPr>
            <a:r>
              <a:rPr lang="en-US" sz="1500" dirty="0" smtClean="0"/>
              <a:t>images\</a:t>
            </a:r>
            <a:r>
              <a:rPr lang="en-US" sz="1500" dirty="0" err="1" smtClean="0"/>
              <a:t>imdata</a:t>
            </a:r>
            <a:r>
              <a:rPr lang="en-US" sz="1500" dirty="0" smtClean="0"/>
              <a:t>\</a:t>
            </a:r>
            <a:r>
              <a:rPr lang="en-US" sz="1500" dirty="0" err="1" smtClean="0"/>
              <a:t>cameraman.tif</a:t>
            </a:r>
            <a:r>
              <a:rPr lang="en-US" sz="1500" dirty="0"/>
              <a:t>');</a:t>
            </a:r>
          </a:p>
          <a:p>
            <a:pPr marL="400050" lvl="1" indent="0">
              <a:buNone/>
            </a:pPr>
            <a:r>
              <a:rPr lang="en-US" sz="1500" dirty="0"/>
              <a:t>img4 = uint8(floor(double(</a:t>
            </a:r>
            <a:r>
              <a:rPr lang="en-US" sz="1500" dirty="0" err="1"/>
              <a:t>img</a:t>
            </a:r>
            <a:r>
              <a:rPr lang="en-US" sz="1500" dirty="0"/>
              <a:t>)/16)*16);</a:t>
            </a:r>
          </a:p>
          <a:p>
            <a:pPr marL="400050" lvl="1" indent="0">
              <a:buNone/>
            </a:pPr>
            <a:r>
              <a:rPr lang="en-US" sz="1500" dirty="0" err="1"/>
              <a:t>imshow</a:t>
            </a:r>
            <a:r>
              <a:rPr lang="en-US" sz="1500" dirty="0"/>
              <a:t>(img4)</a:t>
            </a:r>
          </a:p>
          <a:p>
            <a:pPr marL="400050" lvl="1" indent="0">
              <a:buNone/>
            </a:pPr>
            <a:r>
              <a:rPr lang="en-US" sz="1500" dirty="0"/>
              <a:t>title('Reduced Gray Levels');</a:t>
            </a:r>
          </a:p>
          <a:p>
            <a:pPr marL="400050" lvl="1" indent="0">
              <a:buNone/>
            </a:pPr>
            <a:endParaRPr lang="en-US" b="1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8356" y="2101850"/>
            <a:ext cx="1266825" cy="952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3725" y="3633787"/>
            <a:ext cx="249555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130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012" y="935318"/>
            <a:ext cx="9120188" cy="4957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  3.7 </a:t>
            </a:r>
            <a:r>
              <a:rPr lang="en-US" b="1" dirty="0"/>
              <a:t>AI integration</a:t>
            </a:r>
          </a:p>
          <a:p>
            <a:r>
              <a:rPr lang="en-US" dirty="0"/>
              <a:t>Before CNN training, images are often resized to fixed dimensions such as 224×224. This is a form of sampling. Careless resizing may remove subtle disease patterns.</a:t>
            </a:r>
          </a:p>
          <a:p>
            <a:pPr marL="0" indent="0">
              <a:buNone/>
            </a:pPr>
            <a:r>
              <a:rPr lang="en-US" b="1" dirty="0" smtClean="0"/>
              <a:t>     3.8 </a:t>
            </a:r>
            <a:r>
              <a:rPr lang="en-US" b="1" dirty="0"/>
              <a:t>Questions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Define sampling.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Define quantization.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dirty="0"/>
              <a:t>What is aliasing? </a:t>
            </a:r>
          </a:p>
          <a:p>
            <a:pPr marL="0" indent="0">
              <a:buNone/>
            </a:pPr>
            <a:r>
              <a:rPr lang="en-US" b="1" dirty="0" smtClean="0"/>
              <a:t>     3.9 </a:t>
            </a:r>
            <a:r>
              <a:rPr lang="en-US" b="1" dirty="0"/>
              <a:t>Answers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Sampling discretizes spatial coordinates. 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Quantization discretizes intensity values. 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Aliasing is distortion due to insufficient sampling.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3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4. Intensity </a:t>
            </a:r>
            <a:r>
              <a:rPr lang="en-US" dirty="0"/>
              <a:t>Transformations and Histograms</a:t>
            </a:r>
          </a:p>
        </p:txBody>
      </p:sp>
    </p:spTree>
    <p:extLst>
      <p:ext uri="{BB962C8B-B14F-4D97-AF65-F5344CB8AC3E}">
        <p14:creationId xmlns:p14="http://schemas.microsoft.com/office/powerpoint/2010/main" val="103001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889001"/>
            <a:ext cx="9196388" cy="5207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 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 4.1 </a:t>
            </a:r>
            <a:r>
              <a:rPr lang="en-US" b="1" dirty="0"/>
              <a:t>Histogram</a:t>
            </a:r>
          </a:p>
          <a:p>
            <a:r>
              <a:rPr lang="en-US" dirty="0"/>
              <a:t>An image histogram shows the number of pixels at each gray level.</a:t>
            </a:r>
          </a:p>
          <a:p>
            <a:r>
              <a:rPr lang="en-US" dirty="0"/>
              <a:t>It helps us understand whether an image is dark, bright, low contrast, or high contrast.</a:t>
            </a:r>
          </a:p>
          <a:p>
            <a:pPr marL="0" indent="0">
              <a:buNone/>
            </a:pPr>
            <a:r>
              <a:rPr lang="en-US" b="1" dirty="0" smtClean="0"/>
              <a:t>   4.2 </a:t>
            </a:r>
            <a:r>
              <a:rPr lang="en-US" b="1" dirty="0"/>
              <a:t>Common intensity transformations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Negative transformation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Log transformation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Power-law transformation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Contrast stretching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err="1" smtClean="0"/>
              <a:t>Thresholding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93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39812" y="567018"/>
                <a:ext cx="9704388" cy="5922682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    4.3 </a:t>
                </a:r>
                <a:r>
                  <a:rPr lang="en-US" b="1" dirty="0"/>
                  <a:t>Negative image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smtClean="0"/>
                  <a:t>For </a:t>
                </a:r>
                <a:r>
                  <a:rPr lang="en-US" dirty="0"/>
                  <a:t>a general image with gray levels from </a:t>
                </a:r>
                <a:r>
                  <a:rPr lang="en-US" dirty="0" smtClean="0"/>
                  <a:t>0</a:t>
                </a:r>
                <a:r>
                  <a:rPr lang="en-US" dirty="0"/>
                  <a:t> to </a:t>
                </a:r>
                <a:r>
                  <a:rPr lang="en-US" i="1" dirty="0" smtClean="0"/>
                  <a:t>L</a:t>
                </a:r>
                <a:r>
                  <a:rPr lang="en-US" dirty="0"/>
                  <a:t>−1, the negative transformation is:</a:t>
                </a: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 </a:t>
                </a:r>
                <a:endParaRPr lang="en-US" dirty="0" smtClean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This inverts the intensity: dark pixels become bright, and bright pixels become dark.</a:t>
                </a:r>
                <a:r>
                  <a:rPr lang="en-US" dirty="0" smtClean="0"/>
                  <a:t>  </a:t>
                </a:r>
                <a:endParaRPr lang="en-US" dirty="0"/>
              </a:p>
              <a:p>
                <a:pPr marL="400050" lvl="1" indent="0">
                  <a:buNone/>
                </a:pPr>
                <a:r>
                  <a:rPr lang="en-US" b="1" i="1" dirty="0"/>
                  <a:t>Where r</a:t>
                </a:r>
                <a:r>
                  <a:rPr lang="en-US" dirty="0"/>
                  <a:t> = </a:t>
                </a:r>
                <a:r>
                  <a:rPr lang="en-US" b="1" dirty="0"/>
                  <a:t>Input pixel value</a:t>
                </a:r>
                <a:r>
                  <a:rPr lang="en-US" dirty="0"/>
                  <a:t> (the original intensity of a pixel in the source image).</a:t>
                </a:r>
              </a:p>
              <a:p>
                <a:pPr marL="400050" lvl="1" indent="0">
                  <a:buNone/>
                </a:pPr>
                <a:r>
                  <a:rPr lang="en-US" b="1" i="1" dirty="0"/>
                  <a:t>s</a:t>
                </a:r>
                <a:r>
                  <a:rPr lang="en-US" dirty="0"/>
                  <a:t> = </a:t>
                </a:r>
                <a:r>
                  <a:rPr lang="en-US" b="1" dirty="0"/>
                  <a:t>Output pixel value</a:t>
                </a:r>
                <a:r>
                  <a:rPr lang="en-US" dirty="0"/>
                  <a:t> (the transformed intensity for that pixel in the resulting negative image).</a:t>
                </a:r>
              </a:p>
              <a:p>
                <a:pPr marL="400050" lvl="1" indent="0">
                  <a:buNone/>
                </a:pPr>
                <a:r>
                  <a:rPr lang="en-US" b="1" i="1" dirty="0"/>
                  <a:t>L</a:t>
                </a:r>
                <a:r>
                  <a:rPr lang="en-US" dirty="0"/>
                  <a:t> = </a:t>
                </a:r>
                <a:r>
                  <a:rPr lang="en-US" b="1" dirty="0"/>
                  <a:t>Number of gray levels</a:t>
                </a:r>
                <a:r>
                  <a:rPr lang="en-US" dirty="0"/>
                  <a:t> in the image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Example: </a:t>
                </a:r>
                <a:r>
                  <a:rPr lang="en-US" dirty="0"/>
                  <a:t>For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8-bit </a:t>
                </a:r>
                <a:r>
                  <a:rPr lang="en-US" dirty="0" smtClean="0"/>
                  <a:t>image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An 8-bit image has </a:t>
                </a:r>
                <a:r>
                  <a:rPr lang="en-US" i="1" dirty="0" smtClean="0"/>
                  <a:t>L</a:t>
                </a:r>
                <a:r>
                  <a:rPr lang="en-US" dirty="0" smtClean="0"/>
                  <a:t>=256</a:t>
                </a:r>
                <a:r>
                  <a:rPr lang="en-US" dirty="0"/>
                  <a:t> (gray levels 0 to 255). The formula becomes: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=255−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.</m:t>
                    </m:r>
                  </m:oMath>
                </a14:m>
                <a:endParaRPr lang="en-US" dirty="0" smtClean="0"/>
              </a:p>
              <a:p>
                <a:pPr lvl="2"/>
                <a:r>
                  <a:rPr lang="en-US" dirty="0">
                    <a:solidFill>
                      <a:srgbClr val="FFFF00"/>
                    </a:solidFill>
                  </a:rPr>
                  <a:t>If 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r=0</a:t>
                </a:r>
                <a:r>
                  <a:rPr lang="en-US" dirty="0">
                    <a:solidFill>
                      <a:srgbClr val="FFFF00"/>
                    </a:solidFill>
                  </a:rPr>
                  <a:t> (black), then </a:t>
                </a:r>
                <a:r>
                  <a:rPr lang="en-US" i="1" dirty="0" smtClean="0">
                    <a:solidFill>
                      <a:srgbClr val="FFFF00"/>
                    </a:solidFill>
                  </a:rPr>
                  <a:t>s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=255</a:t>
                </a:r>
                <a:r>
                  <a:rPr lang="en-US" dirty="0">
                    <a:solidFill>
                      <a:srgbClr val="FFFF00"/>
                    </a:solidFill>
                  </a:rPr>
                  <a:t> (white).</a:t>
                </a:r>
              </a:p>
              <a:p>
                <a:pPr lvl="2"/>
                <a:r>
                  <a:rPr lang="en-US" dirty="0">
                    <a:solidFill>
                      <a:srgbClr val="FFFF00"/>
                    </a:solidFill>
                  </a:rPr>
                  <a:t>If 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r=255</a:t>
                </a:r>
                <a:r>
                  <a:rPr lang="en-US" dirty="0">
                    <a:solidFill>
                      <a:srgbClr val="FFFF00"/>
                    </a:solidFill>
                  </a:rPr>
                  <a:t> (white), then </a:t>
                </a:r>
                <a:r>
                  <a:rPr lang="en-US" i="1" dirty="0" smtClean="0">
                    <a:solidFill>
                      <a:srgbClr val="FFFF00"/>
                    </a:solidFill>
                  </a:rPr>
                  <a:t>s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=0</a:t>
                </a:r>
                <a:r>
                  <a:rPr lang="en-US" dirty="0">
                    <a:solidFill>
                      <a:srgbClr val="FFFF00"/>
                    </a:solidFill>
                  </a:rPr>
                  <a:t> (black).</a:t>
                </a:r>
              </a:p>
              <a:p>
                <a:pPr lvl="2"/>
                <a:r>
                  <a:rPr lang="en-US" dirty="0">
                    <a:solidFill>
                      <a:srgbClr val="FFFF00"/>
                    </a:solidFill>
                  </a:rPr>
                  <a:t>If 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r=100</a:t>
                </a:r>
                <a:r>
                  <a:rPr lang="en-US" dirty="0">
                    <a:solidFill>
                      <a:srgbClr val="FFFF00"/>
                    </a:solidFill>
                  </a:rPr>
                  <a:t> (medium gray), then </a:t>
                </a:r>
                <a:r>
                  <a:rPr lang="en-US" dirty="0" smtClean="0">
                    <a:solidFill>
                      <a:srgbClr val="FFFF00"/>
                    </a:solidFill>
                  </a:rPr>
                  <a:t>s=155</a:t>
                </a:r>
                <a:r>
                  <a:rPr lang="en-US" dirty="0">
                    <a:solidFill>
                      <a:srgbClr val="FFFF00"/>
                    </a:solidFill>
                  </a:rPr>
                  <a:t> (the opposite gray)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 smtClean="0"/>
                  <a:t>Purpose: </a:t>
                </a:r>
                <a:r>
                  <a:rPr lang="en-US" dirty="0" smtClean="0"/>
                  <a:t>This </a:t>
                </a:r>
                <a:r>
                  <a:rPr lang="en-US" dirty="0"/>
                  <a:t>is useful when the background is dark and the object/details are white. A negative image flips the contrast, making white details easier to see against a dark background (or vice versa). It's a simple point-wise intensity transformation.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9812" y="567018"/>
                <a:ext cx="9704388" cy="5922682"/>
              </a:xfrm>
              <a:blipFill>
                <a:blip r:embed="rId2"/>
                <a:stretch>
                  <a:fillRect l="-440" t="-617" b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8789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03312" y="330200"/>
                <a:ext cx="9031288" cy="591819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    4.4 </a:t>
                </a:r>
                <a:r>
                  <a:rPr lang="en-US" b="1" dirty="0"/>
                  <a:t>Log Transformation</a:t>
                </a:r>
              </a:p>
              <a:p>
                <a:pPr marL="0" indent="0">
                  <a:buNone/>
                </a:pP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⁡(1+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 </m:t>
                    </m:r>
                  </m:oMath>
                </a14:m>
                <a:endParaRPr lang="en-US" b="1" i="1" dirty="0" smtClean="0"/>
              </a:p>
              <a:p>
                <a:pPr marL="400050" lvl="1" indent="0">
                  <a:buNone/>
                </a:pPr>
                <a:r>
                  <a:rPr lang="en-US" b="1" i="1" dirty="0"/>
                  <a:t> </a:t>
                </a:r>
                <a:r>
                  <a:rPr lang="en-US" b="1" i="1" dirty="0" smtClean="0"/>
                  <a:t>  r</a:t>
                </a:r>
                <a:r>
                  <a:rPr lang="en-US" dirty="0"/>
                  <a:t> = Input pixel value (≥ 0, typically 0 to 255 for 8-bit)</a:t>
                </a:r>
              </a:p>
              <a:p>
                <a:pPr marL="400050" lvl="1" indent="0">
                  <a:buNone/>
                </a:pPr>
                <a:r>
                  <a:rPr lang="en-US" b="1" dirty="0"/>
                  <a:t> </a:t>
                </a:r>
                <a:r>
                  <a:rPr lang="en-US" b="1" dirty="0" smtClean="0"/>
                  <a:t>  </a:t>
                </a:r>
                <a:r>
                  <a:rPr lang="en-US" b="1" i="1" dirty="0" smtClean="0"/>
                  <a:t>s</a:t>
                </a:r>
                <a:r>
                  <a:rPr lang="en-US" dirty="0"/>
                  <a:t> = Output pixel value</a:t>
                </a:r>
              </a:p>
              <a:p>
                <a:pPr marL="400050" lvl="1" indent="0">
                  <a:buNone/>
                </a:pPr>
                <a:r>
                  <a:rPr lang="en-US" b="1" dirty="0"/>
                  <a:t> </a:t>
                </a:r>
                <a:r>
                  <a:rPr lang="en-US" b="1" dirty="0" smtClean="0"/>
                  <a:t>  </a:t>
                </a:r>
                <a:r>
                  <a:rPr lang="en-US" b="1" i="1" dirty="0" smtClean="0"/>
                  <a:t>c</a:t>
                </a:r>
                <a:r>
                  <a:rPr lang="en-US" dirty="0"/>
                  <a:t> = A scaling constant that determines the output range </a:t>
                </a:r>
                <a:r>
                  <a:rPr lang="en-US" dirty="0" smtClean="0"/>
                  <a:t>  (</a:t>
                </a:r>
                <a:r>
                  <a:rPr lang="en-US" dirty="0"/>
                  <a:t>e.g., 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=255/(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⁡(256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)) </m:t>
                    </m:r>
                  </m:oMath>
                </a14:m>
                <a:r>
                  <a:rPr lang="en-US" dirty="0" smtClean="0"/>
                  <a:t>​</a:t>
                </a:r>
                <a:r>
                  <a:rPr lang="en-US" dirty="0"/>
                  <a:t> for 8-bit images)</a:t>
                </a:r>
              </a:p>
              <a:p>
                <a:r>
                  <a:rPr lang="en-US" b="1" dirty="0"/>
                  <a:t>What it does</a:t>
                </a:r>
              </a:p>
              <a:p>
                <a:pPr marL="685800" lvl="1">
                  <a:buFont typeface="Wingdings" panose="05000000000000000000" pitchFamily="2" charset="2"/>
                  <a:buChar char="Ø"/>
                </a:pPr>
                <a:r>
                  <a:rPr lang="en-US" b="1" dirty="0" smtClean="0"/>
                  <a:t>Expands </a:t>
                </a:r>
                <a:r>
                  <a:rPr lang="en-US" b="1" dirty="0"/>
                  <a:t>dark regions</a:t>
                </a:r>
                <a:r>
                  <a:rPr lang="en-US" dirty="0"/>
                  <a:t> (low </a:t>
                </a:r>
                <a:r>
                  <a:rPr lang="en-US" i="1" dirty="0" smtClean="0"/>
                  <a:t>r</a:t>
                </a:r>
                <a:r>
                  <a:rPr lang="en-US" dirty="0"/>
                  <a:t> values) – small changes in dark pixels </a:t>
                </a:r>
                <a:r>
                  <a:rPr lang="en-US" dirty="0" smtClean="0"/>
                  <a:t> become </a:t>
                </a:r>
                <a:r>
                  <a:rPr lang="en-US" dirty="0"/>
                  <a:t>more visible.</a:t>
                </a:r>
              </a:p>
              <a:p>
                <a:pPr marL="685800" lvl="1">
                  <a:buFont typeface="Wingdings" panose="05000000000000000000" pitchFamily="2" charset="2"/>
                  <a:buChar char="Ø"/>
                </a:pPr>
                <a:r>
                  <a:rPr lang="en-US" b="1" dirty="0"/>
                  <a:t>Compresses bright regions</a:t>
                </a:r>
                <a:r>
                  <a:rPr lang="en-US" dirty="0"/>
                  <a:t> (high </a:t>
                </a:r>
                <a:r>
                  <a:rPr lang="en-US" i="1" dirty="0" smtClean="0"/>
                  <a:t>r</a:t>
                </a:r>
                <a:r>
                  <a:rPr lang="en-US" dirty="0"/>
                  <a:t> values) – large differences in bright pixels are reduced.</a:t>
                </a:r>
              </a:p>
              <a:p>
                <a:r>
                  <a:rPr lang="en-US" b="1" dirty="0"/>
                  <a:t>Why use it?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To display images with a very wide dynamic range (e.g., Fourier spectrum, images with both deep shadows and bright highlights).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en-US" dirty="0"/>
                  <a:t>It mimics human visual response (which is roughly logarithmic).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3312" y="330200"/>
                <a:ext cx="9031288" cy="5918199"/>
              </a:xfrm>
              <a:blipFill>
                <a:blip r:embed="rId2"/>
                <a:stretch>
                  <a:fillRect l="-337" t="-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594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92212" y="452718"/>
                <a:ext cx="9564688" cy="5922682"/>
              </a:xfrm>
            </p:spPr>
            <p:txBody>
              <a:bodyPr/>
              <a:lstStyle/>
              <a:p>
                <a:pPr lvl="1"/>
                <a:r>
                  <a:rPr lang="en-US" b="1" dirty="0" smtClean="0"/>
                  <a:t>Example: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An 8‑bit grayscale image has pixel values from 0 to 255. You apply the log transformation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⁡10(1+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 smtClean="0"/>
                  <a:t>where</a:t>
                </a:r>
                <a:r>
                  <a:rPr lang="en-US" dirty="0"/>
                  <a:t> 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=255/(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⁡(256))</m:t>
                    </m:r>
                  </m:oMath>
                </a14:m>
                <a:r>
                  <a:rPr lang="en-US" dirty="0"/>
                  <a:t>​ so that an input of 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=255</a:t>
                </a:r>
                <a:r>
                  <a:rPr lang="en-US" dirty="0"/>
                  <a:t> maps to </a:t>
                </a:r>
                <a:r>
                  <a:rPr lang="en-US" i="1" dirty="0" smtClean="0"/>
                  <a:t>s</a:t>
                </a:r>
                <a:r>
                  <a:rPr lang="en-US" dirty="0" smtClean="0"/>
                  <a:t>=255.</a:t>
                </a:r>
                <a:br>
                  <a:rPr lang="en-US" dirty="0" smtClean="0"/>
                </a:br>
                <a:r>
                  <a:rPr lang="en-US" dirty="0" smtClean="0"/>
                  <a:t>What are the output values for</a:t>
                </a:r>
                <a:br>
                  <a:rPr lang="en-US" dirty="0" smtClean="0"/>
                </a:br>
                <a:r>
                  <a:rPr lang="en-US" dirty="0" smtClean="0"/>
                  <a:t>(a) 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=0 (black)</a:t>
                </a:r>
                <a:br>
                  <a:rPr lang="en-US" dirty="0" smtClean="0"/>
                </a:br>
                <a:r>
                  <a:rPr lang="en-US" dirty="0" smtClean="0"/>
                  <a:t>(b) 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=50 (dark gray)</a:t>
                </a:r>
                <a:br>
                  <a:rPr lang="en-US" dirty="0" smtClean="0"/>
                </a:br>
                <a:r>
                  <a:rPr lang="en-US" dirty="0" smtClean="0"/>
                  <a:t>(c) </a:t>
                </a:r>
                <a:r>
                  <a:rPr lang="en-US" i="1" dirty="0" smtClean="0"/>
                  <a:t>r</a:t>
                </a:r>
                <a:r>
                  <a:rPr lang="en-US" dirty="0" smtClean="0"/>
                  <a:t>=200 (bright gray)?</a:t>
                </a:r>
              </a:p>
              <a:p>
                <a:r>
                  <a:rPr lang="en-US" b="1" dirty="0" smtClean="0"/>
                  <a:t>Solution: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2212" y="452718"/>
                <a:ext cx="9564688" cy="5922682"/>
              </a:xfrm>
              <a:blipFill>
                <a:blip r:embed="rId2"/>
                <a:stretch>
                  <a:fillRect l="-319" t="-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212" y="3194050"/>
            <a:ext cx="4787900" cy="22837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902" y="3194050"/>
            <a:ext cx="5642610" cy="22837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01700" y="5477752"/>
            <a:ext cx="11823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Interpretation:</a:t>
            </a:r>
          </a:p>
          <a:p>
            <a:r>
              <a:rPr lang="en-US" dirty="0"/>
              <a:t>Dark input (0) stays dark. Medium gray (50) becomes much brighter (181). A very bright input (200) becomes only slightly brighter (244). The dark regions are “stretched” while bright regions are “compressed”.</a:t>
            </a:r>
          </a:p>
        </p:txBody>
      </p:sp>
    </p:spTree>
    <p:extLst>
      <p:ext uri="{BB962C8B-B14F-4D97-AF65-F5344CB8AC3E}">
        <p14:creationId xmlns:p14="http://schemas.microsoft.com/office/powerpoint/2010/main" val="1634283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50900" y="0"/>
                <a:ext cx="9198953" cy="6248399"/>
              </a:xfrm>
            </p:spPr>
            <p:txBody>
              <a:bodyPr/>
              <a:lstStyle/>
              <a:p>
                <a:r>
                  <a:rPr lang="en-US" b="1" dirty="0" smtClean="0"/>
                  <a:t>4.5 Power‑Law (Gamma) Transformation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l-GR" b="1" i="1">
                            <a:latin typeface="Cambria Math" panose="02040503050406030204" pitchFamily="18" charset="0"/>
                          </a:rPr>
                          <m:t>γ</m:t>
                        </m:r>
                      </m:sup>
                    </m:sSup>
                  </m:oMath>
                </a14:m>
                <a:endParaRPr lang="en-US" b="1" dirty="0" err="1"/>
              </a:p>
              <a:p>
                <a:pPr marL="857250" lvl="2" indent="0">
                  <a:buNone/>
                </a:pPr>
                <a:r>
                  <a:rPr lang="en-US" b="1" i="1" dirty="0" smtClean="0"/>
                  <a:t>r</a:t>
                </a:r>
                <a:r>
                  <a:rPr lang="en-US" dirty="0"/>
                  <a:t> = Input pixel value (normalized to [0,1] or original range)</a:t>
                </a:r>
              </a:p>
              <a:p>
                <a:pPr marL="857250" lvl="2" indent="0">
                  <a:buNone/>
                </a:pPr>
                <a:r>
                  <a:rPr lang="en-US" b="1" i="1" dirty="0" smtClean="0"/>
                  <a:t>s</a:t>
                </a:r>
                <a:r>
                  <a:rPr lang="en-US" dirty="0"/>
                  <a:t> = Output pixel value</a:t>
                </a:r>
              </a:p>
              <a:p>
                <a:pPr marL="857250" lvl="2" indent="0">
                  <a:buNone/>
                </a:pPr>
                <a:r>
                  <a:rPr lang="en-US" b="1" i="1" dirty="0" smtClean="0"/>
                  <a:t>c</a:t>
                </a:r>
                <a:r>
                  <a:rPr lang="en-US" dirty="0"/>
                  <a:t> = Scaling constant (usually </a:t>
                </a:r>
                <a:r>
                  <a:rPr lang="en-US" i="1" dirty="0" smtClean="0"/>
                  <a:t>c</a:t>
                </a:r>
                <a:r>
                  <a:rPr lang="en-US" dirty="0" smtClean="0"/>
                  <a:t>=1</a:t>
                </a:r>
                <a:r>
                  <a:rPr lang="en-US" dirty="0"/>
                  <a:t> if </a:t>
                </a:r>
                <a:r>
                  <a:rPr lang="en-US" i="1" dirty="0" smtClean="0"/>
                  <a:t>r</a:t>
                </a:r>
                <a:r>
                  <a:rPr lang="en-US" dirty="0"/>
                  <a:t> is normalized to [0,1])</a:t>
                </a:r>
              </a:p>
              <a:p>
                <a:pPr marL="857250" lvl="2" indent="0">
                  <a:buNone/>
                </a:pPr>
                <a:r>
                  <a:rPr lang="en-US" b="1" i="1" dirty="0" smtClean="0"/>
                  <a:t>γ</a:t>
                </a:r>
                <a:r>
                  <a:rPr lang="en-US" dirty="0"/>
                  <a:t> (gamma) = Exponent that controls the shape of the curve</a:t>
                </a:r>
              </a:p>
              <a:p>
                <a:r>
                  <a:rPr lang="en-US" b="1" dirty="0"/>
                  <a:t>Effects of </a:t>
                </a:r>
                <a:r>
                  <a:rPr lang="en-US" b="1" i="1" dirty="0" smtClean="0"/>
                  <a:t>γ</a:t>
                </a:r>
                <a:r>
                  <a:rPr lang="en-US" b="1" dirty="0"/>
                  <a:t> (when </a:t>
                </a:r>
                <a:r>
                  <a:rPr lang="en-US" b="1" i="1" dirty="0" smtClean="0"/>
                  <a:t>r</a:t>
                </a:r>
                <a:r>
                  <a:rPr lang="en-US" b="1" dirty="0"/>
                  <a:t> is normalized between 0 and 1)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900" y="0"/>
                <a:ext cx="9198953" cy="6248399"/>
              </a:xfrm>
              <a:blipFill>
                <a:blip r:embed="rId2"/>
                <a:stretch>
                  <a:fillRect l="-331" t="-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050" y="2882899"/>
            <a:ext cx="7277100" cy="22669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77" y="5149849"/>
            <a:ext cx="113212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use it?</a:t>
            </a:r>
          </a:p>
          <a:p>
            <a:r>
              <a:rPr lang="en-US" b="1" dirty="0"/>
              <a:t>Gamma correction</a:t>
            </a:r>
            <a:r>
              <a:rPr lang="en-US" dirty="0"/>
              <a:t> – Many display devices (CRT, LCD) have a non‑linear response. Applying </a:t>
            </a:r>
            <a:r>
              <a:rPr lang="en-US" i="1" dirty="0" smtClean="0"/>
              <a:t>γ</a:t>
            </a:r>
            <a:r>
              <a:rPr lang="en-US" dirty="0" smtClean="0"/>
              <a:t>&lt;1</a:t>
            </a:r>
            <a:r>
              <a:rPr lang="en-US" dirty="0"/>
              <a:t> pre‑corrects the image so it appears linear on the screen.</a:t>
            </a:r>
          </a:p>
          <a:p>
            <a:r>
              <a:rPr lang="en-US" b="1" dirty="0"/>
              <a:t>Image enhancement</a:t>
            </a:r>
            <a:r>
              <a:rPr lang="en-US" dirty="0"/>
              <a:t> – Adjusting </a:t>
            </a:r>
            <a:r>
              <a:rPr lang="en-US" i="1" dirty="0" smtClean="0"/>
              <a:t>γ</a:t>
            </a:r>
            <a:r>
              <a:rPr lang="en-US" dirty="0"/>
              <a:t> can reveal details in shadows </a:t>
            </a:r>
            <a:r>
              <a:rPr lang="en-US" dirty="0" smtClean="0"/>
              <a:t>(</a:t>
            </a:r>
            <a:r>
              <a:rPr lang="en-US" i="1" dirty="0" smtClean="0"/>
              <a:t>γ</a:t>
            </a:r>
            <a:r>
              <a:rPr lang="en-US" dirty="0" smtClean="0"/>
              <a:t>&lt;1</a:t>
            </a:r>
            <a:r>
              <a:rPr lang="en-US" dirty="0"/>
              <a:t>) or highlights </a:t>
            </a:r>
            <a:r>
              <a:rPr lang="en-US" dirty="0" smtClean="0"/>
              <a:t>(</a:t>
            </a:r>
            <a:r>
              <a:rPr lang="en-US" i="1" dirty="0" smtClean="0"/>
              <a:t>γ</a:t>
            </a:r>
            <a:r>
              <a:rPr lang="en-US" dirty="0" smtClean="0"/>
              <a:t>&gt;1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66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139700"/>
            <a:ext cx="9529153" cy="6108699"/>
          </a:xfrm>
        </p:spPr>
        <p:txBody>
          <a:bodyPr/>
          <a:lstStyle/>
          <a:p>
            <a:r>
              <a:rPr lang="en-US" b="1" dirty="0" smtClean="0"/>
              <a:t>Example: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smtClean="0"/>
              <a:t>Solution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87" y="554037"/>
            <a:ext cx="7210425" cy="31337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87" y="4044948"/>
            <a:ext cx="5038725" cy="2781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399" y="4044948"/>
            <a:ext cx="59055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49300" y="342900"/>
            <a:ext cx="9300553" cy="5905499"/>
          </a:xfrm>
        </p:spPr>
        <p:txBody>
          <a:bodyPr/>
          <a:lstStyle/>
          <a:p>
            <a:r>
              <a:rPr lang="en-US" b="1" dirty="0"/>
              <a:t>Conclusion: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 smtClean="0"/>
              <a:t>γ</a:t>
            </a:r>
            <a:r>
              <a:rPr lang="en-US" dirty="0" smtClean="0"/>
              <a:t>=0.4&lt;1</a:t>
            </a:r>
            <a:r>
              <a:rPr lang="en-US" dirty="0"/>
              <a:t> </a:t>
            </a:r>
            <a:r>
              <a:rPr lang="en-US" b="1" dirty="0"/>
              <a:t>brightens</a:t>
            </a:r>
            <a:r>
              <a:rPr lang="en-US" dirty="0"/>
              <a:t> the image (dark inputs become much brighter).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i="1" dirty="0" smtClean="0"/>
              <a:t>γ</a:t>
            </a:r>
            <a:r>
              <a:rPr lang="en-US" dirty="0" smtClean="0"/>
              <a:t>=2.5&gt;1</a:t>
            </a:r>
            <a:r>
              <a:rPr lang="en-US" dirty="0"/>
              <a:t> </a:t>
            </a:r>
            <a:r>
              <a:rPr lang="en-US" b="1" dirty="0"/>
              <a:t>darkens</a:t>
            </a:r>
            <a:r>
              <a:rPr lang="en-US" dirty="0"/>
              <a:t> the image (all outputs are lower than the inputs, especially the dark regions).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157411"/>
            <a:ext cx="6972300" cy="289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07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927" y="139700"/>
            <a:ext cx="9021273" cy="57022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4.6 Contrast stretching</a:t>
            </a:r>
          </a:p>
          <a:p>
            <a:r>
              <a:rPr lang="en-US" dirty="0"/>
              <a:t>Expands narrow intensity range into a broader range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4.7 </a:t>
            </a:r>
            <a:r>
              <a:rPr lang="en-US" b="1" dirty="0"/>
              <a:t>MATLAB example: histogram and equalization</a:t>
            </a:r>
          </a:p>
          <a:p>
            <a:pPr marL="0" indent="0">
              <a:buNone/>
            </a:pPr>
            <a:r>
              <a:rPr lang="en-US" sz="1400" dirty="0" err="1"/>
              <a:t>img</a:t>
            </a:r>
            <a:r>
              <a:rPr lang="en-US" sz="1400" dirty="0"/>
              <a:t> = </a:t>
            </a:r>
            <a:r>
              <a:rPr lang="en-US" sz="1400" dirty="0" err="1"/>
              <a:t>imread</a:t>
            </a:r>
            <a:r>
              <a:rPr lang="en-US" sz="1400" dirty="0"/>
              <a:t>('C:\Program </a:t>
            </a:r>
            <a:r>
              <a:rPr lang="en-US" sz="1400" dirty="0" smtClean="0"/>
              <a:t>Files\</a:t>
            </a:r>
          </a:p>
          <a:p>
            <a:pPr marL="0" indent="0">
              <a:buNone/>
            </a:pPr>
            <a:r>
              <a:rPr lang="en-US" sz="1400" dirty="0" smtClean="0"/>
              <a:t>MATLAB\R2018a\toolbox\images\</a:t>
            </a:r>
            <a:r>
              <a:rPr lang="en-US" sz="1400" dirty="0" err="1" smtClean="0"/>
              <a:t>imdata</a:t>
            </a:r>
            <a:r>
              <a:rPr lang="en-US" sz="1400" dirty="0" smtClean="0"/>
              <a:t>\</a:t>
            </a:r>
            <a:r>
              <a:rPr lang="en-US" sz="1400" dirty="0" err="1" smtClean="0"/>
              <a:t>pout.tif</a:t>
            </a:r>
            <a:r>
              <a:rPr lang="en-US" sz="1400" dirty="0"/>
              <a:t>');</a:t>
            </a:r>
            <a:br>
              <a:rPr lang="en-US" sz="1400" dirty="0"/>
            </a:br>
            <a:r>
              <a:rPr lang="en-US" sz="1400" dirty="0"/>
              <a:t>figure; </a:t>
            </a:r>
            <a:r>
              <a:rPr lang="en-US" sz="1400" dirty="0" err="1"/>
              <a:t>imshow</a:t>
            </a:r>
            <a:r>
              <a:rPr lang="en-US" sz="1400" dirty="0"/>
              <a:t>(</a:t>
            </a:r>
            <a:r>
              <a:rPr lang="en-US" sz="1400" dirty="0" err="1"/>
              <a:t>img</a:t>
            </a:r>
            <a:r>
              <a:rPr lang="en-US" sz="1400" dirty="0"/>
              <a:t>); title('Original');</a:t>
            </a:r>
            <a:br>
              <a:rPr lang="en-US" sz="1400" dirty="0"/>
            </a:br>
            <a:r>
              <a:rPr lang="en-US" sz="1400" dirty="0"/>
              <a:t>figure; </a:t>
            </a:r>
            <a:r>
              <a:rPr lang="en-US" sz="1400" dirty="0" err="1"/>
              <a:t>imhist</a:t>
            </a:r>
            <a:r>
              <a:rPr lang="en-US" sz="1400" dirty="0"/>
              <a:t>(</a:t>
            </a:r>
            <a:r>
              <a:rPr lang="en-US" sz="1400" dirty="0" err="1"/>
              <a:t>img</a:t>
            </a:r>
            <a:r>
              <a:rPr lang="en-US" sz="1400" dirty="0"/>
              <a:t>); title('Histogram');</a:t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err="1"/>
              <a:t>eq</a:t>
            </a:r>
            <a:r>
              <a:rPr lang="en-US" sz="1400" dirty="0"/>
              <a:t> = </a:t>
            </a:r>
            <a:r>
              <a:rPr lang="en-US" sz="1400" dirty="0" err="1"/>
              <a:t>histeq</a:t>
            </a:r>
            <a:r>
              <a:rPr lang="en-US" sz="1400" dirty="0"/>
              <a:t>(</a:t>
            </a:r>
            <a:r>
              <a:rPr lang="en-US" sz="1400" dirty="0" err="1"/>
              <a:t>img</a:t>
            </a:r>
            <a:r>
              <a:rPr lang="en-US" sz="1400" dirty="0"/>
              <a:t>);</a:t>
            </a:r>
            <a:br>
              <a:rPr lang="en-US" sz="1400" dirty="0"/>
            </a:br>
            <a:r>
              <a:rPr lang="en-US" sz="1400" dirty="0"/>
              <a:t>figure; </a:t>
            </a:r>
            <a:r>
              <a:rPr lang="en-US" sz="1400" dirty="0" err="1"/>
              <a:t>imshow</a:t>
            </a:r>
            <a:r>
              <a:rPr lang="en-US" sz="1400" dirty="0"/>
              <a:t>(</a:t>
            </a:r>
            <a:r>
              <a:rPr lang="en-US" sz="1400" dirty="0" err="1"/>
              <a:t>eq</a:t>
            </a:r>
            <a:r>
              <a:rPr lang="en-US" sz="1400" dirty="0"/>
              <a:t>); title('Equalized');</a:t>
            </a:r>
            <a:br>
              <a:rPr lang="en-US" sz="1400" dirty="0"/>
            </a:br>
            <a:r>
              <a:rPr lang="en-US" sz="1400" dirty="0"/>
              <a:t>figure; </a:t>
            </a:r>
            <a:r>
              <a:rPr lang="en-US" sz="1400" dirty="0" err="1"/>
              <a:t>imhist</a:t>
            </a:r>
            <a:r>
              <a:rPr lang="en-US" sz="1400" dirty="0"/>
              <a:t>(</a:t>
            </a:r>
            <a:r>
              <a:rPr lang="en-US" sz="1400" dirty="0" err="1"/>
              <a:t>eq</a:t>
            </a:r>
            <a:r>
              <a:rPr lang="en-US" sz="1400" dirty="0"/>
              <a:t>); title('Equalized Histogram');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0" y="3809999"/>
            <a:ext cx="2438400" cy="3048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655" y="1"/>
            <a:ext cx="4447724" cy="3581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500" y="3809999"/>
            <a:ext cx="2438400" cy="30861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455" y="3721100"/>
            <a:ext cx="4409981" cy="352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96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723901"/>
                <a:ext cx="9372600" cy="5435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 smtClean="0"/>
                  <a:t>4.8 </a:t>
                </a:r>
                <a:r>
                  <a:rPr lang="en-US" b="1" dirty="0"/>
                  <a:t>AI integration</a:t>
                </a:r>
              </a:p>
              <a:p>
                <a:r>
                  <a:rPr lang="en-US" dirty="0"/>
                  <a:t>Histogram normalization can reduce lighting variability before classification.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4.9 </a:t>
                </a:r>
                <a:r>
                  <a:rPr lang="en-US" b="1" dirty="0"/>
                  <a:t>Questions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What does a histogram represent?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Write the negative transformation equation. </a:t>
                </a:r>
              </a:p>
              <a:p>
                <a:pPr marL="800100" lvl="1" indent="-342900">
                  <a:buFont typeface="+mj-lt"/>
                  <a:buAutoNum type="arabicPeriod"/>
                </a:pPr>
                <a:r>
                  <a:rPr lang="en-US" dirty="0"/>
                  <a:t>What is gamma correction? </a:t>
                </a:r>
              </a:p>
              <a:p>
                <a:pPr marL="0" indent="0">
                  <a:buNone/>
                </a:pPr>
                <a:r>
                  <a:rPr lang="en-US" b="1" dirty="0" smtClean="0"/>
                  <a:t>4.10 </a:t>
                </a:r>
                <a:r>
                  <a:rPr lang="en-US" b="1" dirty="0"/>
                  <a:t>Answers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en-US" dirty="0"/>
                  <a:t>Distribution of intensity values. </a:t>
                </a:r>
              </a:p>
              <a:p>
                <a:pPr marL="800100" lvl="1" indent="-342900">
                  <a:buFont typeface="+mj-lt"/>
                  <a:buAutoNum type="arabicParenR"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=255−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8-bit. </a:t>
                </a:r>
              </a:p>
              <a:p>
                <a:pPr marL="800100" lvl="1" indent="-342900">
                  <a:buFont typeface="+mj-lt"/>
                  <a:buAutoNum type="arabicParenR"/>
                </a:pPr>
                <a:r>
                  <a:rPr lang="en-US" dirty="0"/>
                  <a:t>Power-law transformation controlling brightness.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23901"/>
                <a:ext cx="9372600" cy="5435600"/>
              </a:xfrm>
              <a:blipFill>
                <a:blip r:embed="rId2"/>
                <a:stretch>
                  <a:fillRect l="-650" t="-6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9656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1079500"/>
            <a:ext cx="10718800" cy="3860800"/>
          </a:xfrm>
        </p:spPr>
        <p:txBody>
          <a:bodyPr/>
          <a:lstStyle/>
          <a:p>
            <a:r>
              <a:rPr lang="en-US" dirty="0" smtClean="0"/>
              <a:t>5. Histogram </a:t>
            </a:r>
            <a:r>
              <a:rPr lang="en-US" dirty="0"/>
              <a:t>Equalization and Contrast Enhancement</a:t>
            </a:r>
          </a:p>
        </p:txBody>
      </p:sp>
    </p:spTree>
    <p:extLst>
      <p:ext uri="{BB962C8B-B14F-4D97-AF65-F5344CB8AC3E}">
        <p14:creationId xmlns:p14="http://schemas.microsoft.com/office/powerpoint/2010/main" val="4138746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520700"/>
            <a:ext cx="9325953" cy="57276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5.1 Motivation</a:t>
            </a:r>
          </a:p>
          <a:p>
            <a:r>
              <a:rPr lang="en-US" dirty="0"/>
              <a:t>Many medical and natural images have poor contrast. Histogram equalization enhances global contrast.</a:t>
            </a:r>
          </a:p>
          <a:p>
            <a:pPr marL="0" indent="0">
              <a:buNone/>
            </a:pPr>
            <a:r>
              <a:rPr lang="en-US" b="1" dirty="0"/>
              <a:t>5.2 Principle</a:t>
            </a:r>
          </a:p>
          <a:p>
            <a:r>
              <a:rPr lang="en-US" dirty="0"/>
              <a:t>Histogram equalization uses the cumulative distribution function (CDF) to remap intensities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5.3 Interpretation</a:t>
            </a:r>
          </a:p>
          <a:p>
            <a:r>
              <a:rPr lang="en-US" dirty="0"/>
              <a:t>If many pixels occupy a narrow intensity range, equalization spreads them out.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275" y="2857500"/>
            <a:ext cx="558165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8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6" y="655918"/>
            <a:ext cx="9397737" cy="419548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5.5 MATLAB </a:t>
            </a:r>
            <a:r>
              <a:rPr lang="en-US" b="1" dirty="0" smtClean="0"/>
              <a:t>example</a:t>
            </a:r>
          </a:p>
          <a:p>
            <a:pPr marL="0" indent="0">
              <a:buNone/>
            </a:pPr>
            <a:r>
              <a:rPr lang="en-US" sz="1600" dirty="0" err="1" smtClean="0"/>
              <a:t>img</a:t>
            </a:r>
            <a:r>
              <a:rPr lang="en-US" sz="1600" dirty="0" smtClean="0"/>
              <a:t> </a:t>
            </a:r>
            <a:r>
              <a:rPr lang="en-US" sz="1600" dirty="0"/>
              <a:t>= </a:t>
            </a:r>
            <a:r>
              <a:rPr lang="en-US" sz="1600" dirty="0" err="1"/>
              <a:t>imread</a:t>
            </a:r>
            <a:r>
              <a:rPr lang="en-US" sz="1600" dirty="0"/>
              <a:t>('C:\Program Files\MATLAB</a:t>
            </a:r>
            <a:r>
              <a:rPr lang="en-US" sz="1600" dirty="0" smtClean="0"/>
              <a:t>\</a:t>
            </a:r>
          </a:p>
          <a:p>
            <a:pPr marL="0" indent="0">
              <a:buNone/>
            </a:pPr>
            <a:r>
              <a:rPr lang="en-US" sz="1600" dirty="0" smtClean="0"/>
              <a:t>R2018a\toolbox\images\</a:t>
            </a:r>
            <a:r>
              <a:rPr lang="en-US" sz="1600" dirty="0" err="1" smtClean="0"/>
              <a:t>imdata</a:t>
            </a:r>
            <a:r>
              <a:rPr lang="en-US" sz="1600" dirty="0" smtClean="0"/>
              <a:t>\</a:t>
            </a:r>
            <a:r>
              <a:rPr lang="en-US" sz="1600" dirty="0" err="1" smtClean="0"/>
              <a:t>pout.tif</a:t>
            </a:r>
            <a:r>
              <a:rPr lang="en-US" sz="1600" dirty="0"/>
              <a:t>');</a:t>
            </a:r>
            <a:br>
              <a:rPr lang="en-US" sz="1600" dirty="0"/>
            </a:br>
            <a:r>
              <a:rPr lang="en-US" sz="1600" dirty="0" err="1"/>
              <a:t>eq</a:t>
            </a:r>
            <a:r>
              <a:rPr lang="en-US" sz="1600" dirty="0"/>
              <a:t> = </a:t>
            </a:r>
            <a:r>
              <a:rPr lang="en-US" sz="1600" dirty="0" err="1"/>
              <a:t>histeq</a:t>
            </a:r>
            <a:r>
              <a:rPr lang="en-US" sz="1600" dirty="0"/>
              <a:t>(</a:t>
            </a:r>
            <a:r>
              <a:rPr lang="en-US" sz="1600" dirty="0" err="1"/>
              <a:t>img</a:t>
            </a:r>
            <a:r>
              <a:rPr lang="en-US" sz="1600" dirty="0"/>
              <a:t>);</a:t>
            </a:r>
          </a:p>
          <a:p>
            <a:pPr marL="114300" indent="0">
              <a:buNone/>
            </a:pPr>
            <a:r>
              <a:rPr lang="en-US" sz="1600" dirty="0"/>
              <a:t>subplot(2,2,1); </a:t>
            </a:r>
            <a:r>
              <a:rPr lang="en-US" sz="1600" dirty="0" err="1"/>
              <a:t>imshow</a:t>
            </a:r>
            <a:r>
              <a:rPr lang="en-US" sz="1600" dirty="0"/>
              <a:t>(</a:t>
            </a:r>
            <a:r>
              <a:rPr lang="en-US" sz="1600" dirty="0" err="1"/>
              <a:t>img</a:t>
            </a:r>
            <a:r>
              <a:rPr lang="en-US" sz="1600" dirty="0"/>
              <a:t>); title('Original');</a:t>
            </a:r>
          </a:p>
          <a:p>
            <a:pPr marL="114300" indent="0">
              <a:buNone/>
            </a:pPr>
            <a:r>
              <a:rPr lang="en-US" sz="1600" dirty="0"/>
              <a:t>subplot(2,2,2); </a:t>
            </a:r>
            <a:r>
              <a:rPr lang="en-US" sz="1600" dirty="0" err="1"/>
              <a:t>imhist</a:t>
            </a:r>
            <a:r>
              <a:rPr lang="en-US" sz="1600" dirty="0"/>
              <a:t>(</a:t>
            </a:r>
            <a:r>
              <a:rPr lang="en-US" sz="1600" dirty="0" err="1"/>
              <a:t>img</a:t>
            </a:r>
            <a:r>
              <a:rPr lang="en-US" sz="1600" dirty="0"/>
              <a:t>); title('Original Histogram');</a:t>
            </a:r>
          </a:p>
          <a:p>
            <a:pPr marL="114300" indent="0">
              <a:buNone/>
            </a:pPr>
            <a:r>
              <a:rPr lang="en-US" sz="1600" dirty="0"/>
              <a:t>subplot(2,2,3); </a:t>
            </a:r>
            <a:r>
              <a:rPr lang="en-US" sz="1600" dirty="0" err="1"/>
              <a:t>imshow</a:t>
            </a:r>
            <a:r>
              <a:rPr lang="en-US" sz="1600" dirty="0"/>
              <a:t>(</a:t>
            </a:r>
            <a:r>
              <a:rPr lang="en-US" sz="1600" dirty="0" err="1"/>
              <a:t>eq</a:t>
            </a:r>
            <a:r>
              <a:rPr lang="en-US" sz="1600" dirty="0"/>
              <a:t>); title('Equalized');</a:t>
            </a:r>
          </a:p>
          <a:p>
            <a:pPr marL="114300" indent="0">
              <a:buNone/>
            </a:pPr>
            <a:r>
              <a:rPr lang="en-US" sz="1600" dirty="0"/>
              <a:t>subplot(2,2,4); </a:t>
            </a:r>
            <a:r>
              <a:rPr lang="en-US" sz="1600" dirty="0" err="1"/>
              <a:t>imhist</a:t>
            </a:r>
            <a:r>
              <a:rPr lang="en-US" sz="1600" dirty="0"/>
              <a:t>(</a:t>
            </a:r>
            <a:r>
              <a:rPr lang="en-US" sz="1600" dirty="0" err="1"/>
              <a:t>eq</a:t>
            </a:r>
            <a:r>
              <a:rPr lang="en-US" sz="1600" dirty="0"/>
              <a:t>); title('Equalized Histogram');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0" y="560387"/>
            <a:ext cx="4200525" cy="3781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3216" y="4140199"/>
            <a:ext cx="1082868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/>
              <a:t>5.6 </a:t>
            </a:r>
            <a:r>
              <a:rPr lang="en-US" sz="2000" b="1" dirty="0"/>
              <a:t>AI integration</a:t>
            </a:r>
          </a:p>
          <a:p>
            <a:r>
              <a:rPr lang="en-US" dirty="0"/>
              <a:t>Poor contrast can affect edge visibility and feature learning. Enhancement may improve classical ML and sometimes CNN robustness.</a:t>
            </a:r>
          </a:p>
          <a:p>
            <a:endParaRPr lang="en-US" sz="2000" b="1" dirty="0" smtClean="0"/>
          </a:p>
          <a:p>
            <a:r>
              <a:rPr lang="en-US" sz="2000" b="1" dirty="0" smtClean="0"/>
              <a:t>5.7 </a:t>
            </a:r>
            <a:r>
              <a:rPr lang="en-US" sz="2000" b="1" dirty="0"/>
              <a:t>Exercise</a:t>
            </a:r>
          </a:p>
          <a:p>
            <a:r>
              <a:rPr lang="en-US" dirty="0"/>
              <a:t>Take a dark X-ray image and apply histogram equalization. Compare before and after histograms.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37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299</TotalTime>
  <Words>950</Words>
  <Application>Microsoft Office PowerPoint</Application>
  <PresentationFormat>Widescreen</PresentationFormat>
  <Paragraphs>199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Cambria Math</vt:lpstr>
      <vt:lpstr>Century Gothic</vt:lpstr>
      <vt:lpstr>quote-cjk-patch</vt:lpstr>
      <vt:lpstr>Wingdings</vt:lpstr>
      <vt:lpstr>Wingdings 3</vt:lpstr>
      <vt:lpstr>Ion</vt:lpstr>
      <vt:lpstr>2. Digital Images, Pixels, Resolution, and Image 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Sampling and Quantization</vt:lpstr>
      <vt:lpstr>PowerPoint Presentation</vt:lpstr>
      <vt:lpstr>PowerPoint Presentation</vt:lpstr>
      <vt:lpstr>PowerPoint Presentation</vt:lpstr>
      <vt:lpstr>4. Intensity Transformations and Histograms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Histogram Equalization and Contrast Enhancement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Images, Pixels, Resolution, and Image Formation</dc:title>
  <dc:creator>User</dc:creator>
  <cp:lastModifiedBy>User</cp:lastModifiedBy>
  <cp:revision>27</cp:revision>
  <dcterms:created xsi:type="dcterms:W3CDTF">2026-04-19T20:05:49Z</dcterms:created>
  <dcterms:modified xsi:type="dcterms:W3CDTF">2026-04-20T10:52:48Z</dcterms:modified>
</cp:coreProperties>
</file>