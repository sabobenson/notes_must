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b803faf8cd9e59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17:57:53.142" idx="1">
    <p:pos x="10" y="10"/>
    <p:text>images such as cameraman.tif, peppers.png are available inside matlab. to know the exactly location use this command which('peppers.png') or which('cameraman.tif') etc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Digital Image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Dr.Charles</a:t>
            </a:r>
            <a:r>
              <a:rPr lang="en-US" dirty="0" smtClean="0"/>
              <a:t> </a:t>
            </a:r>
            <a:r>
              <a:rPr lang="en-US" dirty="0" err="1" smtClean="0"/>
              <a:t>O.Nyatega</a:t>
            </a:r>
            <a:endParaRPr lang="en-US" dirty="0" smtClean="0"/>
          </a:p>
          <a:p>
            <a:r>
              <a:rPr lang="en-US" dirty="0" smtClean="0"/>
              <a:t>Department of ETE, MUST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525" y="598710"/>
            <a:ext cx="8911687" cy="709390"/>
          </a:xfrm>
        </p:spPr>
        <p:txBody>
          <a:bodyPr/>
          <a:lstStyle/>
          <a:p>
            <a:r>
              <a:rPr lang="en-US" dirty="0"/>
              <a:t>1.1 What is Digital Image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524" y="1308100"/>
            <a:ext cx="9433975" cy="5156200"/>
          </a:xfrm>
        </p:spPr>
        <p:txBody>
          <a:bodyPr>
            <a:normAutofit/>
          </a:bodyPr>
          <a:lstStyle/>
          <a:p>
            <a:r>
              <a:rPr lang="en-US" sz="2000" dirty="0"/>
              <a:t>Digital Image Processing, or DIP, is the use of computer algorithms to manipulate, analyze, enhance, and interpret images. The input is a digital image, and the output may be</a:t>
            </a:r>
            <a:r>
              <a:rPr lang="en-US" sz="2000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an improved </a:t>
            </a:r>
            <a:r>
              <a:rPr lang="en-US" sz="2000" dirty="0" smtClean="0"/>
              <a:t>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a </a:t>
            </a:r>
            <a:r>
              <a:rPr lang="en-US" sz="2000" dirty="0"/>
              <a:t>set of </a:t>
            </a:r>
            <a:r>
              <a:rPr lang="en-US" sz="2000" dirty="0" smtClean="0"/>
              <a:t>measurements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or </a:t>
            </a:r>
            <a:r>
              <a:rPr lang="en-US" sz="2000" dirty="0"/>
              <a:t>a decision, such as classification or detection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An </a:t>
            </a:r>
            <a:r>
              <a:rPr lang="en-US" sz="2000" dirty="0"/>
              <a:t>image can be viewed as a function</a:t>
            </a:r>
            <a:r>
              <a:rPr lang="en-US" sz="2000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𝑓</a:t>
            </a:r>
            <a:r>
              <a:rPr lang="en-US" sz="2000" dirty="0"/>
              <a:t>(𝑥,𝑦</a:t>
            </a:r>
            <a:r>
              <a:rPr lang="en-US" sz="2000" dirty="0" smtClean="0"/>
              <a:t>), where </a:t>
            </a:r>
            <a:r>
              <a:rPr lang="en-US" sz="2000" dirty="0"/>
              <a:t>𝑥x and 𝑦y are spatial coordinates and </a:t>
            </a:r>
            <a:r>
              <a:rPr lang="en-US" sz="2000" dirty="0" smtClean="0"/>
              <a:t>𝑓 </a:t>
            </a:r>
            <a:r>
              <a:rPr lang="en-US" sz="2000" dirty="0"/>
              <a:t>is the intensity value at that point</a:t>
            </a:r>
            <a:r>
              <a:rPr lang="en-US" sz="20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For </a:t>
            </a:r>
            <a:r>
              <a:rPr lang="en-US" sz="2000" dirty="0"/>
              <a:t>grayscale images, 𝑓(𝑥,𝑦)f(</a:t>
            </a:r>
            <a:r>
              <a:rPr lang="en-US" sz="2000" dirty="0" err="1"/>
              <a:t>x,y</a:t>
            </a:r>
            <a:r>
              <a:rPr lang="en-US" sz="2000" dirty="0"/>
              <a:t>) takes a single intensity </a:t>
            </a:r>
            <a:r>
              <a:rPr lang="en-US" sz="2000" dirty="0" smtClean="0"/>
              <a:t>value.</a:t>
            </a:r>
          </a:p>
          <a:p>
            <a:pPr marL="457200" lvl="1" indent="0">
              <a:buNone/>
            </a:pPr>
            <a:r>
              <a:rPr lang="en-US" sz="2000" dirty="0" smtClean="0"/>
              <a:t>For </a:t>
            </a:r>
            <a:r>
              <a:rPr lang="en-US" sz="2000" dirty="0"/>
              <a:t>color images, each pixel usually contains three components: </a:t>
            </a:r>
            <a:r>
              <a:rPr lang="en-US" sz="2000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green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0070C0"/>
                </a:solidFill>
              </a:rPr>
              <a:t>blue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871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33190"/>
          </a:xfrm>
        </p:spPr>
        <p:txBody>
          <a:bodyPr>
            <a:normAutofit fontScale="90000"/>
          </a:bodyPr>
          <a:lstStyle/>
          <a:p>
            <a:r>
              <a:rPr lang="en-US" dirty="0"/>
              <a:t>1.2 Why study DIP?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8712" y="1346200"/>
            <a:ext cx="8915400" cy="1422400"/>
          </a:xfrm>
        </p:spPr>
        <p:txBody>
          <a:bodyPr/>
          <a:lstStyle/>
          <a:p>
            <a:r>
              <a:rPr lang="en-US" sz="2000" dirty="0"/>
              <a:t>DIP is important because images carry huge amounts of information. In medicine, a single X-ray or MRI scan can reveal disease. In agriculture, drone images can detect crop stress. In security, camera images support surveillance </a:t>
            </a:r>
            <a:r>
              <a:rPr lang="en-US" sz="2000" dirty="0" smtClean="0"/>
              <a:t>and </a:t>
            </a:r>
            <a:r>
              <a:rPr lang="en-US" sz="2000" dirty="0"/>
              <a:t>recognition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92925" y="2768600"/>
            <a:ext cx="8911687" cy="6331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1.3 Main </a:t>
            </a:r>
            <a:r>
              <a:rPr lang="en-US" sz="3200" dirty="0" smtClean="0"/>
              <a:t>steps/techniques </a:t>
            </a:r>
            <a:r>
              <a:rPr lang="en-US" sz="3200" dirty="0"/>
              <a:t>in DIP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2925" y="3401790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A typical DIP pipeline includes: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Image acquisition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Preprocessing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Enhancement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Restoration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Segmentation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Feature extraction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Classification /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53781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999" y="624110"/>
            <a:ext cx="9595614" cy="743928"/>
          </a:xfrm>
        </p:spPr>
        <p:txBody>
          <a:bodyPr>
            <a:normAutofit/>
          </a:bodyPr>
          <a:lstStyle/>
          <a:p>
            <a:r>
              <a:rPr lang="en-US" sz="3200" dirty="0"/>
              <a:t>1.4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333500"/>
            <a:ext cx="9599612" cy="4800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Medical </a:t>
            </a:r>
            <a:r>
              <a:rPr lang="en-US" b="1" dirty="0" smtClean="0"/>
              <a:t>imaging: </a:t>
            </a:r>
            <a:r>
              <a:rPr lang="en-US" dirty="0" smtClean="0"/>
              <a:t>X-ray , CT , MRI , fMRI , Ultrasound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Engineering: </a:t>
            </a:r>
            <a:r>
              <a:rPr lang="en-US" dirty="0" smtClean="0"/>
              <a:t>machine vision, defect detection, robotics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Remote </a:t>
            </a:r>
            <a:r>
              <a:rPr lang="en-US" b="1" dirty="0" smtClean="0"/>
              <a:t>sensing: </a:t>
            </a:r>
            <a:r>
              <a:rPr lang="en-US" dirty="0" smtClean="0"/>
              <a:t>land </a:t>
            </a:r>
            <a:r>
              <a:rPr lang="en-US" dirty="0"/>
              <a:t>use </a:t>
            </a:r>
            <a:r>
              <a:rPr lang="en-US" dirty="0" smtClean="0"/>
              <a:t>mapping, weather </a:t>
            </a:r>
            <a:r>
              <a:rPr lang="en-US" dirty="0"/>
              <a:t>monitoring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AI: </a:t>
            </a:r>
            <a:r>
              <a:rPr lang="en-US" dirty="0" smtClean="0"/>
              <a:t>object recognition, face detection, disease classification</a:t>
            </a:r>
          </a:p>
          <a:p>
            <a:endParaRPr lang="en-US" b="1" dirty="0" smtClean="0"/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Suppose a doctor acquires a chest X-ray. The raw image is too dark. DIP can: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improve </a:t>
            </a:r>
            <a:r>
              <a:rPr lang="en-US" dirty="0"/>
              <a:t>contrast,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reduce noise,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isolate the lungs,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extract suspicious regions,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classify TB vs normal using AI. </a:t>
            </a:r>
          </a:p>
          <a:p>
            <a:r>
              <a:rPr lang="en-US" dirty="0"/>
              <a:t>That is a full DIP pipeline.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08998" y="2897410"/>
            <a:ext cx="9595614" cy="743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 smtClean="0"/>
              <a:t>1.5 Worked example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35681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1425" y="624110"/>
            <a:ext cx="8911687" cy="722090"/>
          </a:xfrm>
        </p:spPr>
        <p:txBody>
          <a:bodyPr/>
          <a:lstStyle/>
          <a:p>
            <a:r>
              <a:rPr lang="en-US" dirty="0"/>
              <a:t>1.6 MATLAB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1425" y="1275215"/>
            <a:ext cx="5801775" cy="2486930"/>
          </a:xfrm>
        </p:spPr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imread</a:t>
            </a:r>
            <a:r>
              <a:rPr lang="en-US" dirty="0"/>
              <a:t>('C:\Program Files\MATLAB\R2018a\toolbox\</a:t>
            </a:r>
            <a:r>
              <a:rPr lang="en-US" dirty="0" err="1"/>
              <a:t>matlab</a:t>
            </a:r>
            <a:r>
              <a:rPr lang="en-US" dirty="0"/>
              <a:t>\</a:t>
            </a:r>
            <a:r>
              <a:rPr lang="en-US" dirty="0" err="1"/>
              <a:t>imagesci</a:t>
            </a:r>
            <a:r>
              <a:rPr lang="en-US" dirty="0"/>
              <a:t>\peppers.png');</a:t>
            </a:r>
          </a:p>
          <a:p>
            <a:pPr marL="0" indent="0">
              <a:buNone/>
            </a:pPr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title('Original Image');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6221" y="3691160"/>
            <a:ext cx="3023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For grayscale conversion</a:t>
            </a:r>
            <a:r>
              <a:rPr lang="en-US" dirty="0"/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1425" y="4164362"/>
            <a:ext cx="58695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imread</a:t>
            </a:r>
            <a:r>
              <a:rPr lang="en-US" dirty="0"/>
              <a:t>('C:\Program Files\MATLAB\R2018a\toolbox\</a:t>
            </a:r>
            <a:r>
              <a:rPr lang="en-US" dirty="0" err="1"/>
              <a:t>matlab</a:t>
            </a:r>
            <a:r>
              <a:rPr lang="en-US" dirty="0"/>
              <a:t>\</a:t>
            </a:r>
            <a:r>
              <a:rPr lang="en-US" dirty="0" err="1"/>
              <a:t>imagesci</a:t>
            </a:r>
            <a:r>
              <a:rPr lang="en-US" dirty="0"/>
              <a:t>\peppers.png');</a:t>
            </a:r>
          </a:p>
          <a:p>
            <a:r>
              <a:rPr lang="en-US" dirty="0" err="1"/>
              <a:t>gray_img</a:t>
            </a:r>
            <a:r>
              <a:rPr lang="en-US" dirty="0"/>
              <a:t> = rgb2gray(</a:t>
            </a:r>
            <a:r>
              <a:rPr lang="en-US" dirty="0" err="1"/>
              <a:t>img</a:t>
            </a:r>
            <a:r>
              <a:rPr lang="en-US" dirty="0"/>
              <a:t>);</a:t>
            </a:r>
          </a:p>
          <a:p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gray_img</a:t>
            </a:r>
            <a:r>
              <a:rPr lang="en-US" dirty="0"/>
              <a:t>);</a:t>
            </a:r>
          </a:p>
          <a:p>
            <a:r>
              <a:rPr lang="en-US" dirty="0"/>
              <a:t>title('Grayscale Image');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643160"/>
            <a:ext cx="3833812" cy="3067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2" y="3762145"/>
            <a:ext cx="3948064" cy="314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7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4217" y="595745"/>
            <a:ext cx="9933709" cy="6026728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1.7 </a:t>
            </a:r>
            <a:r>
              <a:rPr lang="en-US" sz="2000" b="1" dirty="0"/>
              <a:t>AI integration</a:t>
            </a:r>
          </a:p>
          <a:p>
            <a:pPr marL="0" indent="0">
              <a:buNone/>
            </a:pPr>
            <a:r>
              <a:rPr lang="en-US" sz="2000" dirty="0"/>
              <a:t>AI uses image data as input, but good preprocessing often improves AI performance. This is why DIP is still essential even in the deep learning era.</a:t>
            </a:r>
          </a:p>
          <a:p>
            <a:r>
              <a:rPr lang="en-US" sz="2000" b="1" dirty="0" smtClean="0"/>
              <a:t>1.8 </a:t>
            </a:r>
            <a:r>
              <a:rPr lang="en-US" sz="2000" b="1" dirty="0"/>
              <a:t>Q</a:t>
            </a:r>
            <a:r>
              <a:rPr lang="en-US" sz="2000" b="1" dirty="0" smtClean="0"/>
              <a:t>uestions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Define digital image processing.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Differentiate image enhancement and image analysis.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Give three medical applications of DIP. </a:t>
            </a:r>
          </a:p>
          <a:p>
            <a:r>
              <a:rPr lang="en-US" sz="2000" b="1" dirty="0" smtClean="0"/>
              <a:t>1.9 </a:t>
            </a:r>
            <a:r>
              <a:rPr lang="en-US" sz="2000" b="1" dirty="0"/>
              <a:t>Answers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/>
              <a:t>DIP is the use of algorithms to process digital images for improvement, measurement, or interpretation.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/>
              <a:t>Enhancement improves appearance; analysis extracts information.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/>
              <a:t>X-ray diagnosis, MRI analysis, tumor detection.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0140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</TotalTime>
  <Words>439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Wisp</vt:lpstr>
      <vt:lpstr>Introduction to Digital Image Processing</vt:lpstr>
      <vt:lpstr>1.1 What is Digital Image Processing?</vt:lpstr>
      <vt:lpstr>1.2 Why study DIP?</vt:lpstr>
      <vt:lpstr>1.4 Applications</vt:lpstr>
      <vt:lpstr>1.6 MATLAB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Image Processing</dc:title>
  <dc:creator>User</dc:creator>
  <cp:lastModifiedBy>User</cp:lastModifiedBy>
  <cp:revision>6</cp:revision>
  <dcterms:created xsi:type="dcterms:W3CDTF">2026-04-16T14:02:11Z</dcterms:created>
  <dcterms:modified xsi:type="dcterms:W3CDTF">2026-04-16T15:06:13Z</dcterms:modified>
</cp:coreProperties>
</file>