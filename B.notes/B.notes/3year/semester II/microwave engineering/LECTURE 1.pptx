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67" r:id="rId6"/>
    <p:sldId id="265" r:id="rId7"/>
    <p:sldId id="263" r:id="rId8"/>
    <p:sldId id="264" r:id="rId9"/>
    <p:sldId id="262" r:id="rId10"/>
    <p:sldId id="261" r:id="rId11"/>
    <p:sldId id="259"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89E7A67-2460-4638-BEFC-BE1A4AEDCDD3}" type="datetimeFigureOut">
              <a:rPr lang="en-US" smtClean="0"/>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F04B2A-500F-45AD-8478-FC786072CC3A}" type="slidenum">
              <a:rPr lang="en-US" smtClean="0"/>
              <a:t>‹#›</a:t>
            </a:fld>
            <a:endParaRPr lang="en-US"/>
          </a:p>
        </p:txBody>
      </p:sp>
    </p:spTree>
    <p:extLst>
      <p:ext uri="{BB962C8B-B14F-4D97-AF65-F5344CB8AC3E}">
        <p14:creationId xmlns:p14="http://schemas.microsoft.com/office/powerpoint/2010/main" val="1051270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9E7A67-2460-4638-BEFC-BE1A4AEDCDD3}" type="datetimeFigureOut">
              <a:rPr lang="en-US" smtClean="0"/>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F04B2A-500F-45AD-8478-FC786072CC3A}" type="slidenum">
              <a:rPr lang="en-US" smtClean="0"/>
              <a:t>‹#›</a:t>
            </a:fld>
            <a:endParaRPr lang="en-US"/>
          </a:p>
        </p:txBody>
      </p:sp>
    </p:spTree>
    <p:extLst>
      <p:ext uri="{BB962C8B-B14F-4D97-AF65-F5344CB8AC3E}">
        <p14:creationId xmlns:p14="http://schemas.microsoft.com/office/powerpoint/2010/main" val="3333762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89E7A67-2460-4638-BEFC-BE1A4AEDCDD3}" type="datetimeFigureOut">
              <a:rPr lang="en-US" smtClean="0"/>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F04B2A-500F-45AD-8478-FC786072CC3A}" type="slidenum">
              <a:rPr lang="en-US" smtClean="0"/>
              <a:t>‹#›</a:t>
            </a:fld>
            <a:endParaRPr lang="en-US"/>
          </a:p>
        </p:txBody>
      </p:sp>
    </p:spTree>
    <p:extLst>
      <p:ext uri="{BB962C8B-B14F-4D97-AF65-F5344CB8AC3E}">
        <p14:creationId xmlns:p14="http://schemas.microsoft.com/office/powerpoint/2010/main" val="2260874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89E7A67-2460-4638-BEFC-BE1A4AEDCDD3}" type="datetimeFigureOut">
              <a:rPr lang="en-US" smtClean="0"/>
              <a:t>3/27/2025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F04B2A-500F-45AD-8478-FC786072CC3A}" type="slidenum">
              <a:rPr lang="en-US" smtClean="0"/>
              <a:t>‹#›</a:t>
            </a:fld>
            <a:endParaRPr lang="en-US"/>
          </a:p>
        </p:txBody>
      </p:sp>
    </p:spTree>
    <p:extLst>
      <p:ext uri="{BB962C8B-B14F-4D97-AF65-F5344CB8AC3E}">
        <p14:creationId xmlns:p14="http://schemas.microsoft.com/office/powerpoint/2010/main" val="2405014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89E7A67-2460-4638-BEFC-BE1A4AEDCDD3}" type="datetimeFigureOut">
              <a:rPr lang="en-US" smtClean="0"/>
              <a:t>3/27/2025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F04B2A-500F-45AD-8478-FC786072CC3A}" type="slidenum">
              <a:rPr lang="en-US" smtClean="0"/>
              <a:t>‹#›</a:t>
            </a:fld>
            <a:endParaRPr lang="en-US"/>
          </a:p>
        </p:txBody>
      </p:sp>
    </p:spTree>
    <p:extLst>
      <p:ext uri="{BB962C8B-B14F-4D97-AF65-F5344CB8AC3E}">
        <p14:creationId xmlns:p14="http://schemas.microsoft.com/office/powerpoint/2010/main" val="2565688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9E7A67-2460-4638-BEFC-BE1A4AEDCDD3}" type="datetimeFigureOut">
              <a:rPr lang="en-US" smtClean="0"/>
              <a:t>3/27/2025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F04B2A-500F-45AD-8478-FC786072CC3A}" type="slidenum">
              <a:rPr lang="en-US" smtClean="0"/>
              <a:t>‹#›</a:t>
            </a:fld>
            <a:endParaRPr lang="en-US"/>
          </a:p>
        </p:txBody>
      </p:sp>
    </p:spTree>
    <p:extLst>
      <p:ext uri="{BB962C8B-B14F-4D97-AF65-F5344CB8AC3E}">
        <p14:creationId xmlns:p14="http://schemas.microsoft.com/office/powerpoint/2010/main" val="2380574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9E7A67-2460-4638-BEFC-BE1A4AEDCDD3}" type="datetimeFigureOut">
              <a:rPr lang="en-US" smtClean="0"/>
              <a:t>3/27/2025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F04B2A-500F-45AD-8478-FC786072CC3A}" type="slidenum">
              <a:rPr lang="en-US" smtClean="0"/>
              <a:t>‹#›</a:t>
            </a:fld>
            <a:endParaRPr lang="en-US"/>
          </a:p>
        </p:txBody>
      </p:sp>
    </p:spTree>
    <p:extLst>
      <p:ext uri="{BB962C8B-B14F-4D97-AF65-F5344CB8AC3E}">
        <p14:creationId xmlns:p14="http://schemas.microsoft.com/office/powerpoint/2010/main" val="1770792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89E7A67-2460-4638-BEFC-BE1A4AEDCDD3}" type="datetimeFigureOut">
              <a:rPr lang="en-US" smtClean="0"/>
              <a:t>3/27/2025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F04B2A-500F-45AD-8478-FC786072CC3A}" type="slidenum">
              <a:rPr lang="en-US" smtClean="0"/>
              <a:t>‹#›</a:t>
            </a:fld>
            <a:endParaRPr lang="en-US"/>
          </a:p>
        </p:txBody>
      </p:sp>
    </p:spTree>
    <p:extLst>
      <p:ext uri="{BB962C8B-B14F-4D97-AF65-F5344CB8AC3E}">
        <p14:creationId xmlns:p14="http://schemas.microsoft.com/office/powerpoint/2010/main" val="472164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89E7A67-2460-4638-BEFC-BE1A4AEDCDD3}" type="datetimeFigureOut">
              <a:rPr lang="en-US" smtClean="0"/>
              <a:t>3/27/2025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F04B2A-500F-45AD-8478-FC786072CC3A}" type="slidenum">
              <a:rPr lang="en-US" smtClean="0"/>
              <a:t>‹#›</a:t>
            </a:fld>
            <a:endParaRPr lang="en-US"/>
          </a:p>
        </p:txBody>
      </p:sp>
    </p:spTree>
    <p:extLst>
      <p:ext uri="{BB962C8B-B14F-4D97-AF65-F5344CB8AC3E}">
        <p14:creationId xmlns:p14="http://schemas.microsoft.com/office/powerpoint/2010/main" val="14235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9E7A67-2460-4638-BEFC-BE1A4AEDCDD3}" type="datetimeFigureOut">
              <a:rPr lang="en-US" smtClean="0"/>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F04B2A-500F-45AD-8478-FC786072CC3A}" type="slidenum">
              <a:rPr lang="en-US" smtClean="0"/>
              <a:t>‹#›</a:t>
            </a:fld>
            <a:endParaRPr lang="en-US"/>
          </a:p>
        </p:txBody>
      </p:sp>
    </p:spTree>
    <p:extLst>
      <p:ext uri="{BB962C8B-B14F-4D97-AF65-F5344CB8AC3E}">
        <p14:creationId xmlns:p14="http://schemas.microsoft.com/office/powerpoint/2010/main" val="1217736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9E7A67-2460-4638-BEFC-BE1A4AEDCDD3}" type="datetimeFigureOut">
              <a:rPr lang="en-US" smtClean="0"/>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F04B2A-500F-45AD-8478-FC786072CC3A}" type="slidenum">
              <a:rPr lang="en-US" smtClean="0"/>
              <a:t>‹#›</a:t>
            </a:fld>
            <a:endParaRPr lang="en-US"/>
          </a:p>
        </p:txBody>
      </p:sp>
    </p:spTree>
    <p:extLst>
      <p:ext uri="{BB962C8B-B14F-4D97-AF65-F5344CB8AC3E}">
        <p14:creationId xmlns:p14="http://schemas.microsoft.com/office/powerpoint/2010/main" val="2214689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9E7A67-2460-4638-BEFC-BE1A4AEDCDD3}" type="datetimeFigureOut">
              <a:rPr lang="en-US" smtClean="0"/>
              <a:t>3/27/2025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F04B2A-500F-45AD-8478-FC786072CC3A}" type="slidenum">
              <a:rPr lang="en-US" smtClean="0"/>
              <a:t>‹#›</a:t>
            </a:fld>
            <a:endParaRPr lang="en-US"/>
          </a:p>
        </p:txBody>
      </p:sp>
    </p:spTree>
    <p:extLst>
      <p:ext uri="{BB962C8B-B14F-4D97-AF65-F5344CB8AC3E}">
        <p14:creationId xmlns:p14="http://schemas.microsoft.com/office/powerpoint/2010/main" val="3881563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INTRODUCTION TO MICROWAVE ENGINEERING</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a:bodyPr>
          <a:lstStyle/>
          <a:p>
            <a:r>
              <a:rPr lang="en-US" sz="2000" b="1" dirty="0" smtClean="0">
                <a:latin typeface="Times New Roman" panose="02020603050405020304" pitchFamily="18" charset="0"/>
                <a:cs typeface="Times New Roman" panose="02020603050405020304" pitchFamily="18" charset="0"/>
              </a:rPr>
              <a:t>BY CANDIDA MWISOMBA</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3703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Definition: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80606"/>
            <a:ext cx="10515600" cy="4596357"/>
          </a:xfrm>
        </p:spPr>
        <p:txBody>
          <a:bodyPr>
            <a:normAutofit/>
          </a:bodyPr>
          <a:lstStyle/>
          <a:p>
            <a:r>
              <a:rPr lang="en-US" dirty="0" smtClean="0">
                <a:latin typeface="Times New Roman" panose="02020603050405020304" pitchFamily="18" charset="0"/>
                <a:cs typeface="Times New Roman" panose="02020603050405020304" pitchFamily="18" charset="0"/>
              </a:rPr>
              <a:t>The field of radio frequency (RF) and microwave engineering generally covers the behavior of alternating current signals with frequencies in the range of 100 MHz (1 MHz = 106 Hz) to 1000 GHz (1 GHz = 109 Hz). </a:t>
            </a:r>
          </a:p>
          <a:p>
            <a:r>
              <a:rPr lang="en-US" dirty="0" smtClean="0">
                <a:latin typeface="Times New Roman" panose="02020603050405020304" pitchFamily="18" charset="0"/>
                <a:cs typeface="Times New Roman" panose="02020603050405020304" pitchFamily="18" charset="0"/>
              </a:rPr>
              <a:t>RF frequencies range from very high frequency (VHF) (30–300 MHz) to ultra high frequency (UHF) (300–3000 MHz). </a:t>
            </a:r>
          </a:p>
          <a:p>
            <a:r>
              <a:rPr lang="en-US" dirty="0" smtClean="0">
                <a:latin typeface="Times New Roman" panose="02020603050405020304" pitchFamily="18" charset="0"/>
                <a:cs typeface="Times New Roman" panose="02020603050405020304" pitchFamily="18" charset="0"/>
              </a:rPr>
              <a:t>While the term microwave is typically used for frequencies between 3 and 300 GHz, with a corresponding electrical wavelength between λ = c/f = 10 cm and λ = 1 mm, respectively.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5582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Electromagnetic Spectrum</a:t>
            </a:r>
            <a:endParaRPr lang="en-US"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838200" y="2246088"/>
            <a:ext cx="11064240" cy="4081669"/>
          </a:xfrm>
          <a:prstGeom prst="rect">
            <a:avLst/>
          </a:prstGeom>
        </p:spPr>
      </p:pic>
    </p:spTree>
    <p:extLst>
      <p:ext uri="{BB962C8B-B14F-4D97-AF65-F5344CB8AC3E}">
        <p14:creationId xmlns:p14="http://schemas.microsoft.com/office/powerpoint/2010/main" val="19215406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05394" y="1416326"/>
            <a:ext cx="9966960" cy="5049787"/>
          </a:xfrm>
          <a:prstGeom prst="rect">
            <a:avLst/>
          </a:prstGeom>
        </p:spPr>
      </p:pic>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Electromagnetic Spectrum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16326"/>
            <a:ext cx="10515600" cy="5167353"/>
          </a:xfrm>
        </p:spPr>
        <p:txBody>
          <a:bodyPr/>
          <a:lstStyle/>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68943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Applications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Remote sensing </a:t>
            </a:r>
          </a:p>
          <a:p>
            <a:r>
              <a:rPr lang="en-US" dirty="0" smtClean="0">
                <a:latin typeface="Times New Roman" panose="02020603050405020304" pitchFamily="18" charset="0"/>
                <a:cs typeface="Times New Roman" panose="02020603050405020304" pitchFamily="18" charset="0"/>
              </a:rPr>
              <a:t>Medical diagnostics and treatment </a:t>
            </a:r>
            <a:r>
              <a:rPr lang="en-US" dirty="0" err="1" smtClean="0">
                <a:latin typeface="Times New Roman" panose="02020603050405020304" pitchFamily="18" charset="0"/>
                <a:cs typeface="Times New Roman" panose="02020603050405020304" pitchFamily="18" charset="0"/>
              </a:rPr>
              <a:t>eg</a:t>
            </a:r>
            <a:r>
              <a:rPr lang="en-US" dirty="0" smtClean="0">
                <a:latin typeface="Times New Roman" panose="02020603050405020304" pitchFamily="18" charset="0"/>
                <a:cs typeface="Times New Roman" panose="02020603050405020304" pitchFamily="18" charset="0"/>
              </a:rPr>
              <a:t> Microwave radiometry</a:t>
            </a:r>
          </a:p>
          <a:p>
            <a:r>
              <a:rPr lang="en-US" dirty="0" smtClean="0">
                <a:latin typeface="Times New Roman" panose="02020603050405020304" pitchFamily="18" charset="0"/>
                <a:cs typeface="Times New Roman" panose="02020603050405020304" pitchFamily="18" charset="0"/>
              </a:rPr>
              <a:t>Heating methods</a:t>
            </a:r>
          </a:p>
          <a:p>
            <a:r>
              <a:rPr lang="en-US" dirty="0" smtClean="0">
                <a:latin typeface="Times New Roman" panose="02020603050405020304" pitchFamily="18" charset="0"/>
                <a:cs typeface="Times New Roman" panose="02020603050405020304" pitchFamily="18" charset="0"/>
              </a:rPr>
              <a:t>Wireless Networking and communication systems</a:t>
            </a:r>
          </a:p>
          <a:p>
            <a:r>
              <a:rPr lang="en-US" dirty="0" smtClean="0">
                <a:latin typeface="Times New Roman" panose="02020603050405020304" pitchFamily="18" charset="0"/>
                <a:cs typeface="Times New Roman" panose="02020603050405020304" pitchFamily="18" charset="0"/>
              </a:rPr>
              <a:t>Radars systems </a:t>
            </a:r>
            <a:r>
              <a:rPr lang="en-US" dirty="0" err="1" smtClean="0">
                <a:latin typeface="Times New Roman" panose="02020603050405020304" pitchFamily="18" charset="0"/>
                <a:cs typeface="Times New Roman" panose="02020603050405020304" pitchFamily="18" charset="0"/>
              </a:rPr>
              <a:t>e.g</a:t>
            </a:r>
            <a:r>
              <a:rPr lang="en-US" dirty="0" smtClean="0">
                <a:latin typeface="Times New Roman" panose="02020603050405020304" pitchFamily="18" charset="0"/>
                <a:cs typeface="Times New Roman" panose="02020603050405020304" pitchFamily="18" charset="0"/>
              </a:rPr>
              <a:t> for Weather prediction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05498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Short History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97726"/>
            <a:ext cx="10515600" cy="4779237"/>
          </a:xfrm>
        </p:spPr>
        <p:txBody>
          <a:bodyPr>
            <a:normAutofit/>
          </a:bodyPr>
          <a:lstStyle/>
          <a:p>
            <a:pPr algn="just"/>
            <a:r>
              <a:rPr lang="en-US" dirty="0" smtClean="0">
                <a:latin typeface="Times New Roman" panose="02020603050405020304" pitchFamily="18" charset="0"/>
                <a:cs typeface="Times New Roman" panose="02020603050405020304" pitchFamily="18" charset="0"/>
              </a:rPr>
              <a:t>The foundations of modern electromagnetic theory were formulated in 1873 by James Clerk Maxwell, who hypothesized, solely from mathematical considerations, electromagnetic wave propagation and the idea that light was a form of electromagnetic energy.</a:t>
            </a:r>
          </a:p>
          <a:p>
            <a:pPr algn="just"/>
            <a:r>
              <a:rPr lang="en-US" dirty="0" smtClean="0">
                <a:latin typeface="Times New Roman" panose="02020603050405020304" pitchFamily="18" charset="0"/>
                <a:cs typeface="Times New Roman" panose="02020603050405020304" pitchFamily="18" charset="0"/>
              </a:rPr>
              <a:t> Maxwell’s formulation was cast in its modern form by Oliver Heaviside during the period from 1885 to 1887. Heaviside was a reclusive genius whose efforts removed many of the mathematical complexities of Maxwell’s theory, introduced vector notation, and provided a foundation for practical applications of guided waves and transmission lines. </a:t>
            </a:r>
          </a:p>
        </p:txBody>
      </p:sp>
    </p:spTree>
    <p:extLst>
      <p:ext uri="{BB962C8B-B14F-4D97-AF65-F5344CB8AC3E}">
        <p14:creationId xmlns:p14="http://schemas.microsoft.com/office/powerpoint/2010/main" val="524771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Short History…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93669"/>
            <a:ext cx="10515600" cy="4583294"/>
          </a:xfrm>
        </p:spPr>
        <p:txBody>
          <a:bodyPr>
            <a:normAutofit/>
          </a:bodyPr>
          <a:lstStyle/>
          <a:p>
            <a:pPr algn="just"/>
            <a:r>
              <a:rPr lang="en-US" dirty="0" smtClean="0">
                <a:latin typeface="Times New Roman" panose="02020603050405020304" pitchFamily="18" charset="0"/>
                <a:cs typeface="Times New Roman" panose="02020603050405020304" pitchFamily="18" charset="0"/>
              </a:rPr>
              <a:t>Heinrich Hertz, a German professor of physics and a gifted experimentalist who understood the theory published by Maxwell, carried out a set of experiments during the period 1887–1891 that validated Maxwell’s theory of electromagnetic waves. </a:t>
            </a:r>
          </a:p>
          <a:p>
            <a:pPr algn="just"/>
            <a:r>
              <a:rPr lang="en-US" dirty="0" smtClean="0">
                <a:latin typeface="Times New Roman" panose="02020603050405020304" pitchFamily="18" charset="0"/>
                <a:cs typeface="Times New Roman" panose="02020603050405020304" pitchFamily="18" charset="0"/>
              </a:rPr>
              <a:t> Because of the lack of reliable microwave sources and other components, the rapid growth of radio technology in the early 1900s occurred primarily in the HF to VHF range.</a:t>
            </a:r>
          </a:p>
          <a:p>
            <a:pPr algn="just"/>
            <a:r>
              <a:rPr lang="en-US" dirty="0" smtClean="0">
                <a:latin typeface="Times New Roman" panose="02020603050405020304" pitchFamily="18" charset="0"/>
                <a:cs typeface="Times New Roman" panose="02020603050405020304" pitchFamily="18" charset="0"/>
              </a:rPr>
              <a:t> It was not until the 1940s and the advent of radar development during World War II that microwave theory and technology received substantial interest.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4195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Short History…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In the United States, the Radiation Laboratory was established at the Massachusetts Institute of Technology to develop radar theory and practice. </a:t>
            </a:r>
          </a:p>
          <a:p>
            <a:pPr algn="just"/>
            <a:r>
              <a:rPr lang="en-US" dirty="0" smtClean="0">
                <a:latin typeface="Times New Roman" panose="02020603050405020304" pitchFamily="18" charset="0"/>
                <a:cs typeface="Times New Roman" panose="02020603050405020304" pitchFamily="18" charset="0"/>
              </a:rPr>
              <a:t>A number of talented scientists, including N. </a:t>
            </a:r>
            <a:r>
              <a:rPr lang="en-US" dirty="0" err="1" smtClean="0">
                <a:latin typeface="Times New Roman" panose="02020603050405020304" pitchFamily="18" charset="0"/>
                <a:cs typeface="Times New Roman" panose="02020603050405020304" pitchFamily="18" charset="0"/>
              </a:rPr>
              <a:t>Marcuvitz</a:t>
            </a:r>
            <a:r>
              <a:rPr lang="en-US" dirty="0" smtClean="0">
                <a:latin typeface="Times New Roman" panose="02020603050405020304" pitchFamily="18" charset="0"/>
                <a:cs typeface="Times New Roman" panose="02020603050405020304" pitchFamily="18" charset="0"/>
              </a:rPr>
              <a:t>, I. I. Rabi, J. S. Schwinger, H. A. Bethe, E. M. Purcell, C. G. Montgomery, and R. H. </a:t>
            </a:r>
            <a:r>
              <a:rPr lang="en-US" dirty="0" err="1" smtClean="0">
                <a:latin typeface="Times New Roman" panose="02020603050405020304" pitchFamily="18" charset="0"/>
                <a:cs typeface="Times New Roman" panose="02020603050405020304" pitchFamily="18" charset="0"/>
              </a:rPr>
              <a:t>Dicke</a:t>
            </a:r>
            <a:r>
              <a:rPr lang="en-US" dirty="0" smtClean="0">
                <a:latin typeface="Times New Roman" panose="02020603050405020304" pitchFamily="18" charset="0"/>
                <a:cs typeface="Times New Roman" panose="02020603050405020304" pitchFamily="18" charset="0"/>
              </a:rPr>
              <a:t>, among others, gathered for a very intensive period of development in the microwave field.</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Communications systems using microwave technology began to be developed soon after the birth of radar, benefiting from much of the work that was originally done for radar systems. </a:t>
            </a:r>
          </a:p>
          <a:p>
            <a:pPr algn="just"/>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4617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Short History…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The advantages offered by microwave systems, including wide bandwidths and line-of-sight propagation, have proved to be critical for both terrestrial and satellite communications systems and have thus provided an impetus for the continuing development of low-cost miniaturized microwave components. </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3786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Maxwell’s equations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63040"/>
            <a:ext cx="10515600" cy="4713923"/>
          </a:xfrm>
        </p:spPr>
        <p:txBody>
          <a:bodyPr>
            <a:normAutofit/>
          </a:bodyPr>
          <a:lstStyle/>
          <a:p>
            <a:pPr algn="just"/>
            <a:r>
              <a:rPr lang="en-US" dirty="0" smtClean="0">
                <a:latin typeface="Times New Roman" panose="02020603050405020304" pitchFamily="18" charset="0"/>
                <a:cs typeface="Times New Roman" panose="02020603050405020304" pitchFamily="18" charset="0"/>
              </a:rPr>
              <a:t>Electric and magnetic phenomena at the macroscopic level are described by Maxwell’s equations, as published by Maxwell in 1873. </a:t>
            </a:r>
          </a:p>
          <a:p>
            <a:pPr algn="just"/>
            <a:r>
              <a:rPr lang="en-US" dirty="0" smtClean="0">
                <a:latin typeface="Times New Roman" panose="02020603050405020304" pitchFamily="18" charset="0"/>
                <a:cs typeface="Times New Roman" panose="02020603050405020304" pitchFamily="18" charset="0"/>
              </a:rPr>
              <a:t>This work summarized the state of electromagnetic science at that time and hypothesized from theoretical considerations the existence of the electrical displacement current, which led to the experimental discovery by Hertz of electromagnetic wave propagation. </a:t>
            </a:r>
          </a:p>
          <a:p>
            <a:pPr algn="just"/>
            <a:r>
              <a:rPr lang="en-US" dirty="0" smtClean="0">
                <a:latin typeface="Times New Roman" panose="02020603050405020304" pitchFamily="18" charset="0"/>
                <a:cs typeface="Times New Roman" panose="02020603050405020304" pitchFamily="18" charset="0"/>
              </a:rPr>
              <a:t>Maxwell’s work was based on a large body of empirical and theoretical knowledge developed by Gauss, Ampere, Faraday, and others.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5373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panose="02020603050405020304" pitchFamily="18" charset="0"/>
                <a:cs typeface="Times New Roman" panose="02020603050405020304" pitchFamily="18" charset="0"/>
              </a:rPr>
              <a:t>Maxwell’s equations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The general form of time varying Maxwell equations, then, can be written in “point,” or differential, form as:</a:t>
            </a: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392649" y="2933298"/>
            <a:ext cx="3784699" cy="3150981"/>
          </a:xfrm>
          <a:prstGeom prst="rect">
            <a:avLst/>
          </a:prstGeom>
        </p:spPr>
      </p:pic>
    </p:spTree>
    <p:extLst>
      <p:ext uri="{BB962C8B-B14F-4D97-AF65-F5344CB8AC3E}">
        <p14:creationId xmlns:p14="http://schemas.microsoft.com/office/powerpoint/2010/main" val="353076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1594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788</TotalTime>
  <Words>610</Words>
  <Application>Microsoft Office PowerPoint</Application>
  <PresentationFormat>Widescreen</PresentationFormat>
  <Paragraphs>33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INTRODUCTION TO MICROWAVE ENGINEERING</vt:lpstr>
      <vt:lpstr>Definition:</vt:lpstr>
      <vt:lpstr>Electromagnetic Spectrum</vt:lpstr>
      <vt:lpstr>Electromagnetic Spectrum</vt:lpstr>
      <vt:lpstr>Applications</vt:lpstr>
      <vt:lpstr>Short History</vt:lpstr>
      <vt:lpstr>Short History…</vt:lpstr>
      <vt:lpstr>Short History…</vt:lpstr>
      <vt:lpstr>Short History…</vt:lpstr>
      <vt:lpstr>Maxwell’s equations</vt:lpstr>
      <vt:lpstr>Maxwell’s equations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MICROWAVE ENGINEERING</dc:title>
  <dc:creator>USER</dc:creator>
  <cp:lastModifiedBy>USER</cp:lastModifiedBy>
  <cp:revision>11</cp:revision>
  <dcterms:created xsi:type="dcterms:W3CDTF">2025-03-27T15:14:15Z</dcterms:created>
  <dcterms:modified xsi:type="dcterms:W3CDTF">2025-03-28T04:22:17Z</dcterms:modified>
</cp:coreProperties>
</file>