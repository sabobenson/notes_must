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7" d="100"/>
          <a:sy n="77" d="100"/>
        </p:scale>
        <p:origin x="4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9875-DB42-C856-7477-351A3F88E9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A45B69-5953-C9C9-C5B0-918678CD8B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C44F5F-E940-79FD-C349-C2E0BA9838CB}"/>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1DFDCA41-DFB8-172C-96D6-7F8054CCB5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62339D-3CF1-D2CC-B19C-396FFEE22127}"/>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3817124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84D5-2D12-6FDE-EF98-BDEF83B54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ACAF18-84AA-3106-4AC4-6D3504F0E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68206-78C9-2146-6B4E-E3F01192FB0B}"/>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5BA77363-4A22-91A7-8A09-E9BCB38D9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548F77-078A-07BA-664F-B6C5F1FD4940}"/>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164297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5450-5C8F-9DB0-BF8F-63B5BE6D2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11DAAF-6AF1-4D6D-71F7-C65EA0635E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28A7CF-F86B-DDCA-6B69-6A46CC801736}"/>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77A1BCCD-6D85-12B0-547A-1C7534F3F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DFB26C-1D5F-AFA3-76A8-E61CF03BE25A}"/>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14979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8F341-223D-91E7-029E-6106F855FD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6B320E-6B13-63AC-97F8-DD0B0CDE9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415A2-01F9-B46C-0276-CB1DADA9B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36F8A4-CE2D-47C1-2E12-40647F6383A5}"/>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6" name="Footer Placeholder 5">
            <a:extLst>
              <a:ext uri="{FF2B5EF4-FFF2-40B4-BE49-F238E27FC236}">
                <a16:creationId xmlns:a16="http://schemas.microsoft.com/office/drawing/2014/main" id="{8EC09F09-FFB1-4C16-2BF4-47E4289ACC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3C6BC4-DA30-C8BE-5399-ADBE82E29445}"/>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1202535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8416-A1FC-6049-F48E-2DE8A03D98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CA6F0D-515A-A727-EF72-8FE3D2E014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3DA8EE-F601-5AE6-63A1-8DE852E233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B9CC37-25FB-5CE5-BDDB-9570D4B582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798581-833C-57C9-81B8-7E3D44FCC2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92E61D-E1BE-0E6D-4C46-6E761EB0BB6A}"/>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8" name="Footer Placeholder 7">
            <a:extLst>
              <a:ext uri="{FF2B5EF4-FFF2-40B4-BE49-F238E27FC236}">
                <a16:creationId xmlns:a16="http://schemas.microsoft.com/office/drawing/2014/main" id="{7AF18197-0B89-E2E3-D9AB-6FDFA6DBF2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12B9B9-F118-79CF-FEEE-49C9329EEB6A}"/>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3990435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E72E5-DAF7-F9EF-3FFD-22F635B2D9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6A6D01-7F2E-E268-5AC7-04E6812AB5B9}"/>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4" name="Footer Placeholder 3">
            <a:extLst>
              <a:ext uri="{FF2B5EF4-FFF2-40B4-BE49-F238E27FC236}">
                <a16:creationId xmlns:a16="http://schemas.microsoft.com/office/drawing/2014/main" id="{C334DBBB-7C33-1289-FC1E-F54300CEC0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A34755-3877-5036-60CE-3CFC5069D2F8}"/>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85832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307951-4764-E399-CB5F-933810F23A65}"/>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3" name="Footer Placeholder 2">
            <a:extLst>
              <a:ext uri="{FF2B5EF4-FFF2-40B4-BE49-F238E27FC236}">
                <a16:creationId xmlns:a16="http://schemas.microsoft.com/office/drawing/2014/main" id="{903B16CA-14B4-622A-7C1D-1CFFFDCF47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F52183-E181-93A9-1767-DEDA3535DB26}"/>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166107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44E6-F397-F35C-3966-D0710C9BC0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7763E8-166F-1574-95B1-B14C6FF3B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D93883-9197-4A0E-4CC7-03CB20146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568B5F-D2D5-4D9E-10D6-37B5B2BBB441}"/>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6" name="Footer Placeholder 5">
            <a:extLst>
              <a:ext uri="{FF2B5EF4-FFF2-40B4-BE49-F238E27FC236}">
                <a16:creationId xmlns:a16="http://schemas.microsoft.com/office/drawing/2014/main" id="{FAF8A893-DCD4-B472-3E9C-B4A003058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730742-12C4-2EF5-3859-520A32FCE3D6}"/>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707371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AF4B-9126-FD8A-7729-6D454B428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A2EB31-8A0E-A11E-B789-43D585F122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5872B8-C5AD-DE73-873A-D769E978E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EE50-8B90-28BB-8DAF-754CDBD8BD16}"/>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6" name="Footer Placeholder 5">
            <a:extLst>
              <a:ext uri="{FF2B5EF4-FFF2-40B4-BE49-F238E27FC236}">
                <a16:creationId xmlns:a16="http://schemas.microsoft.com/office/drawing/2014/main" id="{8CC634D7-3A1F-9C6A-430F-55B078A637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8BF14B-D8D0-D252-2E9E-B93CD93CB0EC}"/>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289468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4E1B-813F-1831-3542-118F57ECD1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D92786-1957-7128-2C09-084E966B2A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6DAFA-F97B-3FC9-C46C-D86912EF236E}"/>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C86128A9-6AF4-6CEC-B892-D666CA5C6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B06EF-CC7C-9CF8-487E-54871B1B4C18}"/>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3130642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0F683-9D11-46AA-6A02-455E506364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44C399-0B80-156A-020F-DAB2ACE286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23D68-2712-57AC-FC08-BE47F2026B87}"/>
              </a:ext>
            </a:extLst>
          </p:cNvPr>
          <p:cNvSpPr>
            <a:spLocks noGrp="1"/>
          </p:cNvSpPr>
          <p:nvPr>
            <p:ph type="dt" sz="half" idx="10"/>
          </p:nvPr>
        </p:nvSpPr>
        <p:spPr/>
        <p:txBody>
          <a:body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90F919A2-9078-90B9-3197-736404523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EC2571-BBE1-0832-E37C-342309C23BB9}"/>
              </a:ext>
            </a:extLst>
          </p:cNvPr>
          <p:cNvSpPr>
            <a:spLocks noGrp="1"/>
          </p:cNvSpPr>
          <p:nvPr>
            <p:ph type="sldNum" sz="quarter" idx="12"/>
          </p:nvPr>
        </p:nvSpPr>
        <p:spPr/>
        <p:txBody>
          <a:bodyPr/>
          <a:lstStyle/>
          <a:p>
            <a:fld id="{234E2422-B74F-4744-A3E3-471902C73B4D}" type="slidenum">
              <a:rPr lang="en-US" smtClean="0"/>
              <a:t>‹#›</a:t>
            </a:fld>
            <a:endParaRPr lang="en-US"/>
          </a:p>
        </p:txBody>
      </p:sp>
    </p:spTree>
    <p:extLst>
      <p:ext uri="{BB962C8B-B14F-4D97-AF65-F5344CB8AC3E}">
        <p14:creationId xmlns:p14="http://schemas.microsoft.com/office/powerpoint/2010/main" val="534045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2C9A23-D553-94D0-AAB5-0E32387B0C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AD40EA-EA4D-3035-1940-C303AB312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F0C79B-A77F-F3D5-A6D3-6A4FA136A9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D460D4-3B24-491E-8419-C63CB72DDB75}" type="datetimeFigureOut">
              <a:rPr lang="en-US" smtClean="0"/>
              <a:t>5/22/2025</a:t>
            </a:fld>
            <a:endParaRPr lang="en-US"/>
          </a:p>
        </p:txBody>
      </p:sp>
      <p:sp>
        <p:nvSpPr>
          <p:cNvPr id="5" name="Footer Placeholder 4">
            <a:extLst>
              <a:ext uri="{FF2B5EF4-FFF2-40B4-BE49-F238E27FC236}">
                <a16:creationId xmlns:a16="http://schemas.microsoft.com/office/drawing/2014/main" id="{F6C8E3A0-22EE-2B56-BB48-DCB5DC955B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DB645A-1275-E0AE-80A9-2C17417086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E2422-B74F-4744-A3E3-471902C73B4D}" type="slidenum">
              <a:rPr lang="en-US" smtClean="0"/>
              <a:t>‹#›</a:t>
            </a:fld>
            <a:endParaRPr lang="en-US"/>
          </a:p>
        </p:txBody>
      </p:sp>
    </p:spTree>
    <p:extLst>
      <p:ext uri="{BB962C8B-B14F-4D97-AF65-F5344CB8AC3E}">
        <p14:creationId xmlns:p14="http://schemas.microsoft.com/office/powerpoint/2010/main" val="2790221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2806-39A5-6A47-FEA7-ABC180F6DD3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53E7911-D8A1-E77E-F700-5A6472EE1C3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46849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E72C-B2CA-C78B-E020-242E1E96DB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704DFC-817F-AFF1-722B-918727E8BBAA}"/>
              </a:ext>
            </a:extLst>
          </p:cNvPr>
          <p:cNvSpPr>
            <a:spLocks noGrp="1"/>
          </p:cNvSpPr>
          <p:nvPr>
            <p:ph sz="half" idx="1"/>
          </p:nvPr>
        </p:nvSpPr>
        <p:spPr/>
        <p:txBody>
          <a:bodyPr/>
          <a:lstStyle/>
          <a:p>
            <a:r>
              <a:rPr lang="en-US" dirty="0"/>
              <a:t>The Schottky diode (named after the German physicist Walter H. Schottky), also known as Schottky barrier diode or hot-carrier diode, is a semiconductor diode formed by the junction of a semiconductor with a metal. It has a low forward voltage drop and a very fast switching action.</a:t>
            </a:r>
          </a:p>
        </p:txBody>
      </p:sp>
      <p:pic>
        <p:nvPicPr>
          <p:cNvPr id="6" name="Content Placeholder 5">
            <a:extLst>
              <a:ext uri="{FF2B5EF4-FFF2-40B4-BE49-F238E27FC236}">
                <a16:creationId xmlns:a16="http://schemas.microsoft.com/office/drawing/2014/main" id="{1A3B3386-E514-3B60-6756-42BCAF39F9F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291182" y="1825626"/>
            <a:ext cx="2943636" cy="1603374"/>
          </a:xfrm>
        </p:spPr>
      </p:pic>
      <p:pic>
        <p:nvPicPr>
          <p:cNvPr id="8" name="Picture 7">
            <a:extLst>
              <a:ext uri="{FF2B5EF4-FFF2-40B4-BE49-F238E27FC236}">
                <a16:creationId xmlns:a16="http://schemas.microsoft.com/office/drawing/2014/main" id="{D217BFEA-723C-384D-5198-050470A4F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1181" y="3670126"/>
            <a:ext cx="3080369" cy="2392471"/>
          </a:xfrm>
          <a:prstGeom prst="rect">
            <a:avLst/>
          </a:prstGeom>
        </p:spPr>
      </p:pic>
    </p:spTree>
    <p:extLst>
      <p:ext uri="{BB962C8B-B14F-4D97-AF65-F5344CB8AC3E}">
        <p14:creationId xmlns:p14="http://schemas.microsoft.com/office/powerpoint/2010/main" val="2247611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49EE-4618-5F03-A769-58C8BFAFE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72713-6288-8429-BD79-B9AE6BF2F5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233AE3-82E1-F2D9-EAC7-CAD0A7748F91}"/>
              </a:ext>
            </a:extLst>
          </p:cNvPr>
          <p:cNvSpPr>
            <a:spLocks noGrp="1"/>
          </p:cNvSpPr>
          <p:nvPr>
            <p:ph idx="1"/>
          </p:nvPr>
        </p:nvSpPr>
        <p:spPr/>
        <p:txBody>
          <a:bodyPr>
            <a:normAutofit/>
          </a:bodyPr>
          <a:lstStyle/>
          <a:p>
            <a:r>
              <a:rPr lang="en-US" sz="2000" dirty="0"/>
              <a:t>In </a:t>
            </a:r>
            <a:r>
              <a:rPr lang="en-US" sz="2000" dirty="0" err="1"/>
              <a:t>schottky</a:t>
            </a:r>
            <a:r>
              <a:rPr lang="en-US" sz="2000" dirty="0"/>
              <a:t> diode, the metal acts as the anode and n-type semiconductor acts as the cathode. When sufficient forward voltage is applied, a current flows in the forward direction. A silicon p–n diode has a typical forward voltage of 600–700 mV, while the Schottky's forward voltage is 150–450 mV. This lower forward voltage requirement allows higher switching speeds and better system efficiency. Schottky diode is a metal-semiconductor junction diode that has less forward voltage drop than the P-N junction diode and can be used in high-speed switching applications.</a:t>
            </a:r>
          </a:p>
          <a:p>
            <a:r>
              <a:rPr lang="en-US" sz="2000" b="1" dirty="0"/>
              <a:t>How </a:t>
            </a:r>
            <a:r>
              <a:rPr lang="en-US" sz="2000" b="1" dirty="0" err="1"/>
              <a:t>schottky</a:t>
            </a:r>
            <a:r>
              <a:rPr lang="en-US" sz="2000" b="1" dirty="0"/>
              <a:t> diode works? &gt;</a:t>
            </a:r>
          </a:p>
          <a:p>
            <a:r>
              <a:rPr lang="en-US" sz="2000" dirty="0"/>
              <a:t> </a:t>
            </a:r>
            <a:r>
              <a:rPr lang="en-US" sz="2000" dirty="0">
                <a:solidFill>
                  <a:srgbClr val="0070C0"/>
                </a:solidFill>
              </a:rPr>
              <a:t>Unbiased </a:t>
            </a:r>
            <a:r>
              <a:rPr lang="en-US" sz="2000" dirty="0" err="1">
                <a:solidFill>
                  <a:srgbClr val="0070C0"/>
                </a:solidFill>
              </a:rPr>
              <a:t>schottky</a:t>
            </a:r>
            <a:r>
              <a:rPr lang="en-US" sz="2000" dirty="0">
                <a:solidFill>
                  <a:srgbClr val="0070C0"/>
                </a:solidFill>
              </a:rPr>
              <a:t> diode :</a:t>
            </a:r>
            <a:r>
              <a:rPr lang="en-US" sz="2000" dirty="0"/>
              <a:t>When the metal is joined with the n-type semiconductor, the conduction band electrons (free electrons) in the n-type semiconductor will move from n-type semiconductor to metal to establish an equilibrium </a:t>
            </a:r>
            <a:r>
              <a:rPr lang="en-US" sz="2000" dirty="0" err="1"/>
              <a:t>state.We</a:t>
            </a:r>
            <a:r>
              <a:rPr lang="en-US" sz="2000" dirty="0"/>
              <a:t> know that when a neutral atom loses an electron it becomes a positive ion similarly when a neutral atom gains an extra electron it becomes a negative </a:t>
            </a:r>
            <a:r>
              <a:rPr lang="en-US" sz="2000" dirty="0" err="1"/>
              <a:t>ion.The</a:t>
            </a:r>
            <a:r>
              <a:rPr lang="en-US" sz="2000" dirty="0"/>
              <a:t> conduction band electrons or free electrons that are crossing the junction will provide extra electrons to the atoms in the metal. As a result, the atoms at the metal junction gains extra electrons and the atoms at the n-side junction lose electrons.</a:t>
            </a:r>
          </a:p>
        </p:txBody>
      </p:sp>
    </p:spTree>
    <p:extLst>
      <p:ext uri="{BB962C8B-B14F-4D97-AF65-F5344CB8AC3E}">
        <p14:creationId xmlns:p14="http://schemas.microsoft.com/office/powerpoint/2010/main" val="3705665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EA79AB-2BD4-3E61-A115-3E1F836DE347}"/>
              </a:ext>
            </a:extLst>
          </p:cNvPr>
          <p:cNvSpPr>
            <a:spLocks noGrp="1"/>
          </p:cNvSpPr>
          <p:nvPr>
            <p:ph sz="half" idx="1"/>
          </p:nvPr>
        </p:nvSpPr>
        <p:spPr>
          <a:xfrm>
            <a:off x="838200" y="388307"/>
            <a:ext cx="5181600" cy="5788656"/>
          </a:xfrm>
        </p:spPr>
        <p:txBody>
          <a:bodyPr>
            <a:normAutofit fontScale="62500" lnSpcReduction="20000"/>
          </a:bodyPr>
          <a:lstStyle/>
          <a:p>
            <a:r>
              <a:rPr lang="en-US" dirty="0"/>
              <a:t>The atoms that lose electrons at the n-side junction will become positive ions whereas the atoms that gain extra electrons at the metal junction will become negative ions. Thus, positive ions are created the n-side junction and negative ions are created at the metal junction. These positive and negative ions are nothing but the depletion region. Since the metal has a sea of free electrons, the width over which these electrons move into the metal is negligibly thin as compared to the width inside the n-type semiconductor. So the built-in-potential or built-in-voltage is primarily present inside the n-type semiconductor. The built-in-voltage is the barrier seen by the conduction band electrons of the n-type semiconductor when trying to move into the metal. To overcome this barrier, the free electrons need energy greater than the built-in-voltage. In unbiased </a:t>
            </a:r>
            <a:r>
              <a:rPr lang="en-US" dirty="0" err="1"/>
              <a:t>schottky</a:t>
            </a:r>
            <a:r>
              <a:rPr lang="en-US" dirty="0"/>
              <a:t> diode, only a small number of electrons will flow from n-type semiconductor to metal. The built-in-voltage prevents further electron flow from the semiconductor conduction band into the </a:t>
            </a:r>
            <a:r>
              <a:rPr lang="en-US" dirty="0" err="1"/>
              <a:t>metal.The</a:t>
            </a:r>
            <a:r>
              <a:rPr lang="en-US" dirty="0"/>
              <a:t> transfer of free electrons from the n-type semiconductor into metal results in energy band bending near the contact</a:t>
            </a:r>
          </a:p>
        </p:txBody>
      </p:sp>
      <p:pic>
        <p:nvPicPr>
          <p:cNvPr id="6" name="Content Placeholder 5">
            <a:extLst>
              <a:ext uri="{FF2B5EF4-FFF2-40B4-BE49-F238E27FC236}">
                <a16:creationId xmlns:a16="http://schemas.microsoft.com/office/drawing/2014/main" id="{E5E9B8D5-6EFE-25EA-7F2F-3050290982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01842" y="375781"/>
            <a:ext cx="4346532" cy="3544865"/>
          </a:xfrm>
        </p:spPr>
      </p:pic>
    </p:spTree>
    <p:extLst>
      <p:ext uri="{BB962C8B-B14F-4D97-AF65-F5344CB8AC3E}">
        <p14:creationId xmlns:p14="http://schemas.microsoft.com/office/powerpoint/2010/main" val="368100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CF10339-B687-0061-22F1-D82B07B4EA7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5052" y="1030366"/>
            <a:ext cx="4190585" cy="3767102"/>
          </a:xfrm>
        </p:spPr>
      </p:pic>
      <p:sp>
        <p:nvSpPr>
          <p:cNvPr id="5" name="Title 1">
            <a:extLst>
              <a:ext uri="{FF2B5EF4-FFF2-40B4-BE49-F238E27FC236}">
                <a16:creationId xmlns:a16="http://schemas.microsoft.com/office/drawing/2014/main" id="{A1FDDACE-7795-B457-2494-45A571DCA9CE}"/>
              </a:ext>
            </a:extLst>
          </p:cNvPr>
          <p:cNvSpPr>
            <a:spLocks noGrp="1"/>
          </p:cNvSpPr>
          <p:nvPr>
            <p:ph sz="half" idx="1"/>
          </p:nvPr>
        </p:nvSpPr>
        <p:spPr>
          <a:xfrm>
            <a:off x="838200" y="400050"/>
            <a:ext cx="5181600" cy="5776913"/>
          </a:xfrm>
        </p:spPr>
        <p:txBody>
          <a:bodyPr>
            <a:normAutofit fontScale="82500" lnSpcReduction="20000"/>
          </a:bodyPr>
          <a:lstStyle/>
          <a:p>
            <a:r>
              <a:rPr lang="en-US" dirty="0">
                <a:solidFill>
                  <a:srgbClr val="0070C0"/>
                </a:solidFill>
              </a:rPr>
              <a:t>Forward biased </a:t>
            </a:r>
            <a:r>
              <a:rPr lang="en-US" dirty="0" err="1">
                <a:solidFill>
                  <a:srgbClr val="0070C0"/>
                </a:solidFill>
              </a:rPr>
              <a:t>schottky</a:t>
            </a:r>
            <a:r>
              <a:rPr lang="en-US" dirty="0">
                <a:solidFill>
                  <a:srgbClr val="0070C0"/>
                </a:solidFill>
              </a:rPr>
              <a:t> diode </a:t>
            </a:r>
            <a:r>
              <a:rPr lang="en-US" dirty="0"/>
              <a:t>If the positive terminal of the battery is connected to the metal and the negative terminal of the battery is connected to the n-type semiconductor, the </a:t>
            </a:r>
            <a:r>
              <a:rPr lang="en-US" dirty="0" err="1"/>
              <a:t>schottky</a:t>
            </a:r>
            <a:r>
              <a:rPr lang="en-US" dirty="0"/>
              <a:t> diode is said to be forward </a:t>
            </a:r>
            <a:r>
              <a:rPr lang="en-US" dirty="0" err="1"/>
              <a:t>biased.When</a:t>
            </a:r>
            <a:r>
              <a:rPr lang="en-US" dirty="0"/>
              <a:t> a forward bias voltage is applied to the </a:t>
            </a:r>
            <a:r>
              <a:rPr lang="en-US" dirty="0" err="1"/>
              <a:t>schottky</a:t>
            </a:r>
            <a:r>
              <a:rPr lang="en-US" dirty="0"/>
              <a:t> diode, a large number of free electrons are generated in the n-type semiconductor and metal. However, the free electrons in n-type semiconductor and metal cannot cross the junction unless the applied voltage is greater than 0.2 volts. If the applied voltage is greater than 0.2 volts, the free electrons gain enough energy and overcomes the built-in-voltage of the depletion region. As a result, electric current starts flowing through the </a:t>
            </a:r>
            <a:r>
              <a:rPr lang="en-US" dirty="0" err="1"/>
              <a:t>schottky</a:t>
            </a:r>
            <a:r>
              <a:rPr lang="en-US" dirty="0"/>
              <a:t> </a:t>
            </a:r>
            <a:r>
              <a:rPr lang="en-US" dirty="0" err="1"/>
              <a:t>diode.If</a:t>
            </a:r>
            <a:r>
              <a:rPr lang="en-US" dirty="0"/>
              <a:t> the applied voltage is continuously increased, the depletion region becomes very thin and finally disappears.</a:t>
            </a:r>
          </a:p>
        </p:txBody>
      </p:sp>
    </p:spTree>
    <p:extLst>
      <p:ext uri="{BB962C8B-B14F-4D97-AF65-F5344CB8AC3E}">
        <p14:creationId xmlns:p14="http://schemas.microsoft.com/office/powerpoint/2010/main" val="376705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3D18DD-169A-47D2-E78A-D4A9F68343E3}"/>
              </a:ext>
            </a:extLst>
          </p:cNvPr>
          <p:cNvSpPr>
            <a:spLocks noGrp="1"/>
          </p:cNvSpPr>
          <p:nvPr>
            <p:ph sz="half" idx="1"/>
          </p:nvPr>
        </p:nvSpPr>
        <p:spPr>
          <a:xfrm>
            <a:off x="838200" y="313151"/>
            <a:ext cx="5181600" cy="5863812"/>
          </a:xfrm>
        </p:spPr>
        <p:txBody>
          <a:bodyPr>
            <a:normAutofit/>
          </a:bodyPr>
          <a:lstStyle/>
          <a:p>
            <a:r>
              <a:rPr lang="en-US" sz="2000" dirty="0">
                <a:solidFill>
                  <a:srgbClr val="0070C0"/>
                </a:solidFill>
              </a:rPr>
              <a:t>Reverse bias </a:t>
            </a:r>
            <a:r>
              <a:rPr lang="en-US" sz="2000" dirty="0" err="1">
                <a:solidFill>
                  <a:srgbClr val="0070C0"/>
                </a:solidFill>
              </a:rPr>
              <a:t>schottky</a:t>
            </a:r>
            <a:r>
              <a:rPr lang="en-US" sz="2000" dirty="0">
                <a:solidFill>
                  <a:srgbClr val="0070C0"/>
                </a:solidFill>
              </a:rPr>
              <a:t> diode </a:t>
            </a:r>
            <a:r>
              <a:rPr lang="en-US" sz="2000" dirty="0"/>
              <a:t>If the negative terminal of the battery is connected to the metal and the positive terminal of the battery is connected to the n-type semiconductor, the </a:t>
            </a:r>
            <a:r>
              <a:rPr lang="en-US" sz="2000" dirty="0" err="1"/>
              <a:t>schottky</a:t>
            </a:r>
            <a:r>
              <a:rPr lang="en-US" sz="2000" dirty="0"/>
              <a:t> diode is said to be reverse </a:t>
            </a:r>
            <a:r>
              <a:rPr lang="en-US" sz="2000" dirty="0" err="1"/>
              <a:t>biased.When</a:t>
            </a:r>
            <a:r>
              <a:rPr lang="en-US" sz="2000" dirty="0"/>
              <a:t> a reverse bias voltage is applied to the </a:t>
            </a:r>
            <a:r>
              <a:rPr lang="en-US" sz="2000" dirty="0" err="1"/>
              <a:t>schottky</a:t>
            </a:r>
            <a:r>
              <a:rPr lang="en-US" sz="2000" dirty="0"/>
              <a:t> diode, the depletion width increases. As a result, the electric current stops flowing. However, a small leakage current flows due to the thermally excited electrons in the metal. If the reverse bias voltage is continuously increased, the electric current gradually increases due to the weak </a:t>
            </a:r>
            <a:r>
              <a:rPr lang="en-US" sz="2000" dirty="0" err="1"/>
              <a:t>barrier.If</a:t>
            </a:r>
            <a:r>
              <a:rPr lang="en-US" sz="2000" dirty="0"/>
              <a:t> the reverse bias voltage is largely increased, a sudden rise in electric current takes place. This sudden rise in electric current causes depletion region to break down which may permanently damage the device. V-I characteristics of </a:t>
            </a:r>
            <a:r>
              <a:rPr lang="en-US" sz="2000" dirty="0" err="1"/>
              <a:t>schottky</a:t>
            </a:r>
            <a:r>
              <a:rPr lang="en-US" sz="2000" dirty="0"/>
              <a:t> </a:t>
            </a:r>
            <a:r>
              <a:rPr lang="en-US" sz="2000" dirty="0" err="1"/>
              <a:t>diod</a:t>
            </a:r>
            <a:endParaRPr lang="en-US" sz="2000" dirty="0"/>
          </a:p>
        </p:txBody>
      </p:sp>
      <p:pic>
        <p:nvPicPr>
          <p:cNvPr id="6" name="Content Placeholder 5">
            <a:extLst>
              <a:ext uri="{FF2B5EF4-FFF2-40B4-BE49-F238E27FC236}">
                <a16:creationId xmlns:a16="http://schemas.microsoft.com/office/drawing/2014/main" id="{AA6E40B6-BC0D-C57C-B240-B8211487043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00497" y="413360"/>
            <a:ext cx="4525006" cy="3795386"/>
          </a:xfrm>
        </p:spPr>
      </p:pic>
    </p:spTree>
    <p:extLst>
      <p:ext uri="{BB962C8B-B14F-4D97-AF65-F5344CB8AC3E}">
        <p14:creationId xmlns:p14="http://schemas.microsoft.com/office/powerpoint/2010/main" val="403846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9F10EAC-FDB5-8A3A-FC90-EE8547203D6D}"/>
              </a:ext>
            </a:extLst>
          </p:cNvPr>
          <p:cNvPicPr>
            <a:picLocks noGrp="1" noChangeAspect="1"/>
          </p:cNvPicPr>
          <p:nvPr>
            <p:ph sz="half" idx="2"/>
          </p:nvPr>
        </p:nvPicPr>
        <p:blipFill>
          <a:blip r:embed="rId2"/>
          <a:stretch>
            <a:fillRect/>
          </a:stretch>
        </p:blipFill>
        <p:spPr>
          <a:xfrm>
            <a:off x="7276892" y="563672"/>
            <a:ext cx="4076908" cy="4076784"/>
          </a:xfrm>
        </p:spPr>
      </p:pic>
      <p:sp>
        <p:nvSpPr>
          <p:cNvPr id="5" name="Title 1">
            <a:extLst>
              <a:ext uri="{FF2B5EF4-FFF2-40B4-BE49-F238E27FC236}">
                <a16:creationId xmlns:a16="http://schemas.microsoft.com/office/drawing/2014/main" id="{638BB2B7-BF7E-B0B9-4954-2C82EF12CD8E}"/>
              </a:ext>
            </a:extLst>
          </p:cNvPr>
          <p:cNvSpPr>
            <a:spLocks noGrp="1"/>
          </p:cNvSpPr>
          <p:nvPr>
            <p:ph sz="half" idx="1"/>
          </p:nvPr>
        </p:nvSpPr>
        <p:spPr>
          <a:xfrm>
            <a:off x="838200" y="350838"/>
            <a:ext cx="5181600" cy="5826125"/>
          </a:xfrm>
        </p:spPr>
        <p:txBody>
          <a:bodyPr>
            <a:normAutofit fontScale="77500" lnSpcReduction="20000"/>
          </a:bodyPr>
          <a:lstStyle/>
          <a:p>
            <a:r>
              <a:rPr lang="en-US" dirty="0">
                <a:solidFill>
                  <a:srgbClr val="0070C0"/>
                </a:solidFill>
              </a:rPr>
              <a:t>V-I characteristics of </a:t>
            </a:r>
            <a:r>
              <a:rPr lang="en-US" dirty="0" err="1">
                <a:solidFill>
                  <a:srgbClr val="0070C0"/>
                </a:solidFill>
              </a:rPr>
              <a:t>schottky</a:t>
            </a:r>
            <a:r>
              <a:rPr lang="en-US" dirty="0">
                <a:solidFill>
                  <a:srgbClr val="0070C0"/>
                </a:solidFill>
              </a:rPr>
              <a:t> diode</a:t>
            </a:r>
          </a:p>
          <a:p>
            <a:pPr marL="0" indent="0">
              <a:buNone/>
            </a:pPr>
            <a:r>
              <a:rPr lang="en-US" dirty="0">
                <a:solidFill>
                  <a:srgbClr val="0070C0"/>
                </a:solidFill>
              </a:rPr>
              <a:t> </a:t>
            </a:r>
            <a:r>
              <a:rPr lang="en-US" dirty="0"/>
              <a:t>The V-I (Voltage-Current) characteristics of </a:t>
            </a:r>
            <a:r>
              <a:rPr lang="en-US" dirty="0" err="1"/>
              <a:t>schottky</a:t>
            </a:r>
            <a:r>
              <a:rPr lang="en-US" dirty="0"/>
              <a:t> diode is shown in the below figure. The vertical line in the below figure represents the current flow in the </a:t>
            </a:r>
            <a:r>
              <a:rPr lang="en-US" dirty="0" err="1"/>
              <a:t>schottky</a:t>
            </a:r>
            <a:r>
              <a:rPr lang="en-US" dirty="0"/>
              <a:t> diode and the horizontal line represents the voltage applied across the </a:t>
            </a:r>
            <a:r>
              <a:rPr lang="en-US" dirty="0" err="1"/>
              <a:t>schottky</a:t>
            </a:r>
            <a:r>
              <a:rPr lang="en-US" dirty="0"/>
              <a:t> </a:t>
            </a:r>
            <a:r>
              <a:rPr lang="en-US" dirty="0" err="1"/>
              <a:t>diode.The</a:t>
            </a:r>
            <a:r>
              <a:rPr lang="en-US" dirty="0"/>
              <a:t> V-I characteristics of </a:t>
            </a:r>
            <a:r>
              <a:rPr lang="en-US" dirty="0" err="1"/>
              <a:t>schottky</a:t>
            </a:r>
            <a:r>
              <a:rPr lang="en-US" dirty="0"/>
              <a:t> diode is almost similar to the P-N junction diode. However, the forward voltage drop of </a:t>
            </a:r>
            <a:r>
              <a:rPr lang="en-US" dirty="0" err="1"/>
              <a:t>schottky</a:t>
            </a:r>
            <a:r>
              <a:rPr lang="en-US" dirty="0"/>
              <a:t> diode is very low as compared to the P-N junction diode. The forward voltage drop of </a:t>
            </a:r>
            <a:r>
              <a:rPr lang="en-US" dirty="0" err="1"/>
              <a:t>schottky</a:t>
            </a:r>
            <a:r>
              <a:rPr lang="en-US" dirty="0"/>
              <a:t> diode is 0.2 to 0.3 volts whereas the forward voltage drop of silicon P-N junction diode is 0.6 to 0.7 </a:t>
            </a:r>
            <a:r>
              <a:rPr lang="en-US" dirty="0" err="1"/>
              <a:t>volts.If</a:t>
            </a:r>
            <a:r>
              <a:rPr lang="en-US" dirty="0"/>
              <a:t> the forward bias voltage is greater than 0.2 or 0.3 volts, electric current starts flowing through the </a:t>
            </a:r>
            <a:r>
              <a:rPr lang="en-US" dirty="0" err="1"/>
              <a:t>schottky</a:t>
            </a:r>
            <a:r>
              <a:rPr lang="en-US" dirty="0"/>
              <a:t> </a:t>
            </a:r>
            <a:r>
              <a:rPr lang="en-US" dirty="0" err="1"/>
              <a:t>diode.In</a:t>
            </a:r>
            <a:r>
              <a:rPr lang="en-US" dirty="0"/>
              <a:t> </a:t>
            </a:r>
            <a:r>
              <a:rPr lang="en-US" dirty="0" err="1"/>
              <a:t>schottky</a:t>
            </a:r>
            <a:r>
              <a:rPr lang="en-US" dirty="0"/>
              <a:t> diode, the reverse saturation current occurs at a very low voltage as compared to the silicon diode. </a:t>
            </a:r>
          </a:p>
        </p:txBody>
      </p:sp>
    </p:spTree>
    <p:extLst>
      <p:ext uri="{BB962C8B-B14F-4D97-AF65-F5344CB8AC3E}">
        <p14:creationId xmlns:p14="http://schemas.microsoft.com/office/powerpoint/2010/main" val="3014376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1A360-BD98-4E33-2C14-654540542128}"/>
              </a:ext>
            </a:extLst>
          </p:cNvPr>
          <p:cNvSpPr>
            <a:spLocks noGrp="1"/>
          </p:cNvSpPr>
          <p:nvPr>
            <p:ph idx="1"/>
          </p:nvPr>
        </p:nvSpPr>
        <p:spPr>
          <a:xfrm>
            <a:off x="838200" y="475988"/>
            <a:ext cx="10515600" cy="6075123"/>
          </a:xfrm>
        </p:spPr>
        <p:txBody>
          <a:bodyPr/>
          <a:lstStyle/>
          <a:p>
            <a:pPr marL="0" indent="0" algn="ctr">
              <a:buNone/>
            </a:pPr>
            <a:r>
              <a:rPr lang="en-US" sz="2000" dirty="0">
                <a:solidFill>
                  <a:srgbClr val="0070C0"/>
                </a:solidFill>
              </a:rPr>
              <a:t>Advantages of </a:t>
            </a:r>
            <a:r>
              <a:rPr lang="en-US" sz="2000" dirty="0" err="1">
                <a:solidFill>
                  <a:srgbClr val="0070C0"/>
                </a:solidFill>
              </a:rPr>
              <a:t>schottky</a:t>
            </a:r>
            <a:r>
              <a:rPr lang="en-US" sz="2000" dirty="0">
                <a:solidFill>
                  <a:srgbClr val="0070C0"/>
                </a:solidFill>
              </a:rPr>
              <a:t> diode</a:t>
            </a:r>
          </a:p>
          <a:p>
            <a:pPr marL="0" indent="0">
              <a:buNone/>
            </a:pPr>
            <a:r>
              <a:rPr lang="en-US" sz="2000" dirty="0">
                <a:solidFill>
                  <a:srgbClr val="0070C0"/>
                </a:solidFill>
              </a:rPr>
              <a:t> </a:t>
            </a:r>
            <a:r>
              <a:rPr lang="en-US" sz="2000" dirty="0"/>
              <a:t>-Low junction capacitance In </a:t>
            </a:r>
            <a:r>
              <a:rPr lang="en-US" sz="2000" dirty="0" err="1"/>
              <a:t>schottky</a:t>
            </a:r>
            <a:r>
              <a:rPr lang="en-US" sz="2000" dirty="0"/>
              <a:t> diode, stored charges or depletion region is negligible. So a </a:t>
            </a:r>
            <a:r>
              <a:rPr lang="en-US" sz="2000" dirty="0" err="1"/>
              <a:t>schottky</a:t>
            </a:r>
            <a:r>
              <a:rPr lang="en-US" sz="2000" dirty="0"/>
              <a:t> diode has a very low capacitance.</a:t>
            </a:r>
          </a:p>
          <a:p>
            <a:pPr marL="0" indent="0">
              <a:buNone/>
            </a:pPr>
            <a:r>
              <a:rPr lang="en-US" sz="2000" dirty="0"/>
              <a:t> -Fast reverse recovery time The amount of time it takes for a diode to switch from ON state to OFF state is called reverse recovery time.</a:t>
            </a:r>
          </a:p>
          <a:p>
            <a:pPr marL="0" indent="0">
              <a:buNone/>
            </a:pPr>
            <a:r>
              <a:rPr lang="en-US" sz="2000" dirty="0"/>
              <a:t> -High current density, Low forward voltage drop or low turn on voltage , High efficiency -Schottky diode produces less unwanted noise than P-N junction diode</a:t>
            </a:r>
            <a:r>
              <a:rPr lang="en-US" dirty="0"/>
              <a:t>.</a:t>
            </a:r>
          </a:p>
          <a:p>
            <a:pPr marL="0" indent="0" algn="ctr">
              <a:buNone/>
            </a:pPr>
            <a:r>
              <a:rPr lang="en-US" sz="2000" dirty="0">
                <a:solidFill>
                  <a:srgbClr val="0070C0"/>
                </a:solidFill>
              </a:rPr>
              <a:t>Disadvantages of </a:t>
            </a:r>
            <a:r>
              <a:rPr lang="en-US" sz="2000" dirty="0" err="1">
                <a:solidFill>
                  <a:srgbClr val="0070C0"/>
                </a:solidFill>
              </a:rPr>
              <a:t>schottky</a:t>
            </a:r>
            <a:r>
              <a:rPr lang="en-US" sz="2000" dirty="0">
                <a:solidFill>
                  <a:srgbClr val="0070C0"/>
                </a:solidFill>
              </a:rPr>
              <a:t> diode</a:t>
            </a:r>
          </a:p>
          <a:p>
            <a:pPr marL="0" indent="0">
              <a:buNone/>
            </a:pPr>
            <a:r>
              <a:rPr lang="en-US" dirty="0"/>
              <a:t> </a:t>
            </a:r>
            <a:r>
              <a:rPr lang="en-US" sz="2000" dirty="0"/>
              <a:t>-Large reverse saturation current</a:t>
            </a:r>
          </a:p>
          <a:p>
            <a:pPr marL="0" indent="0" algn="ctr">
              <a:buNone/>
            </a:pPr>
            <a:r>
              <a:rPr lang="en-US" sz="2000" dirty="0">
                <a:solidFill>
                  <a:srgbClr val="0070C0"/>
                </a:solidFill>
              </a:rPr>
              <a:t>Applications of </a:t>
            </a:r>
            <a:r>
              <a:rPr lang="en-US" sz="2000" dirty="0" err="1">
                <a:solidFill>
                  <a:srgbClr val="0070C0"/>
                </a:solidFill>
              </a:rPr>
              <a:t>schottky</a:t>
            </a:r>
            <a:r>
              <a:rPr lang="en-US" sz="2000" dirty="0">
                <a:solidFill>
                  <a:srgbClr val="0070C0"/>
                </a:solidFill>
              </a:rPr>
              <a:t> diodes</a:t>
            </a:r>
          </a:p>
          <a:p>
            <a:pPr>
              <a:buFont typeface="Wingdings" panose="05000000000000000000" pitchFamily="2" charset="2"/>
              <a:buChar char="Ø"/>
            </a:pPr>
            <a:r>
              <a:rPr lang="en-US" sz="2000" dirty="0"/>
              <a:t> Used as general-purpose rectifiers. </a:t>
            </a:r>
          </a:p>
          <a:p>
            <a:pPr>
              <a:buFont typeface="Wingdings" panose="05000000000000000000" pitchFamily="2" charset="2"/>
              <a:buChar char="Ø"/>
            </a:pPr>
            <a:r>
              <a:rPr lang="en-US" sz="2000" dirty="0"/>
              <a:t>Used in radio frequency (RF) applications. </a:t>
            </a:r>
          </a:p>
          <a:p>
            <a:pPr>
              <a:buFont typeface="Wingdings" panose="05000000000000000000" pitchFamily="2" charset="2"/>
              <a:buChar char="Ø"/>
            </a:pPr>
            <a:r>
              <a:rPr lang="en-US" sz="2000" dirty="0"/>
              <a:t>Widely used in power supplies. </a:t>
            </a:r>
          </a:p>
          <a:p>
            <a:pPr>
              <a:buFont typeface="Wingdings" panose="05000000000000000000" pitchFamily="2" charset="2"/>
              <a:buChar char="Ø"/>
            </a:pPr>
            <a:r>
              <a:rPr lang="en-US" sz="2000" dirty="0"/>
              <a:t>Used to detect signals.</a:t>
            </a:r>
          </a:p>
          <a:p>
            <a:pPr>
              <a:buFont typeface="Wingdings" panose="05000000000000000000" pitchFamily="2" charset="2"/>
              <a:buChar char="Ø"/>
            </a:pPr>
            <a:r>
              <a:rPr lang="en-US" sz="2000" dirty="0"/>
              <a:t> Used in logic circuits</a:t>
            </a:r>
          </a:p>
        </p:txBody>
      </p:sp>
    </p:spTree>
    <p:extLst>
      <p:ext uri="{BB962C8B-B14F-4D97-AF65-F5344CB8AC3E}">
        <p14:creationId xmlns:p14="http://schemas.microsoft.com/office/powerpoint/2010/main" val="3484329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4470E4-B6F4-61DA-AB02-098719A59D92}"/>
              </a:ext>
            </a:extLst>
          </p:cNvPr>
          <p:cNvSpPr>
            <a:spLocks noGrp="1"/>
          </p:cNvSpPr>
          <p:nvPr>
            <p:ph idx="1"/>
          </p:nvPr>
        </p:nvSpPr>
        <p:spPr>
          <a:xfrm>
            <a:off x="550100" y="397658"/>
            <a:ext cx="11424781" cy="6128402"/>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6600" dirty="0"/>
              <a:t>THANK YOU</a:t>
            </a:r>
          </a:p>
        </p:txBody>
      </p:sp>
    </p:spTree>
    <p:extLst>
      <p:ext uri="{BB962C8B-B14F-4D97-AF65-F5344CB8AC3E}">
        <p14:creationId xmlns:p14="http://schemas.microsoft.com/office/powerpoint/2010/main" val="162091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1056</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himamaduhu@gmail.com</dc:creator>
  <cp:lastModifiedBy>himamaduhu@gmail.com</cp:lastModifiedBy>
  <cp:revision>1</cp:revision>
  <dcterms:created xsi:type="dcterms:W3CDTF">2025-05-22T17:24:39Z</dcterms:created>
  <dcterms:modified xsi:type="dcterms:W3CDTF">2025-05-22T18:09:34Z</dcterms:modified>
</cp:coreProperties>
</file>