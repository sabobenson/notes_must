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66" r:id="rId2"/>
    <p:sldId id="267" r:id="rId3"/>
    <p:sldId id="256" r:id="rId4"/>
    <p:sldId id="257" r:id="rId5"/>
    <p:sldId id="258" r:id="rId6"/>
    <p:sldId id="259" r:id="rId7"/>
    <p:sldId id="268" r:id="rId8"/>
    <p:sldId id="260" r:id="rId9"/>
    <p:sldId id="261" r:id="rId10"/>
    <p:sldId id="262"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68" d="100"/>
          <a:sy n="68" d="100"/>
        </p:scale>
        <p:origin x="81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5/23/2025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0211E-6F17-A777-FF42-0DB61768A0E8}"/>
              </a:ext>
            </a:extLst>
          </p:cNvPr>
          <p:cNvSpPr>
            <a:spLocks noGrp="1"/>
          </p:cNvSpPr>
          <p:nvPr>
            <p:ph type="title"/>
          </p:nvPr>
        </p:nvSpPr>
        <p:spPr>
          <a:xfrm>
            <a:off x="1640157" y="281209"/>
            <a:ext cx="8784004" cy="450311"/>
          </a:xfrm>
        </p:spPr>
        <p:txBody>
          <a:bodyPr>
            <a:noAutofit/>
          </a:bodyPr>
          <a:lstStyle/>
          <a:p>
            <a:r>
              <a:rPr lang="en-US" sz="2400" b="1" dirty="0">
                <a:solidFill>
                  <a:srgbClr val="000000"/>
                </a:solidFill>
                <a:latin typeface="Times New Roman" panose="02020603050405020304" pitchFamily="18" charset="0"/>
                <a:ea typeface="Calibri" panose="020F0502020204030204" pitchFamily="34" charset="0"/>
              </a:rPr>
              <a:t>MBEYA UNIVERSITY OF SCIENCE AND TECHNOLOGY</a:t>
            </a:r>
            <a:endParaRPr lang="en-TZ" sz="2400" dirty="0"/>
          </a:p>
        </p:txBody>
      </p:sp>
      <p:sp>
        <p:nvSpPr>
          <p:cNvPr id="3" name="Content Placeholder 2">
            <a:extLst>
              <a:ext uri="{FF2B5EF4-FFF2-40B4-BE49-F238E27FC236}">
                <a16:creationId xmlns:a16="http://schemas.microsoft.com/office/drawing/2014/main" id="{4F402D52-36C2-683B-B59D-D85370306E0C}"/>
              </a:ext>
            </a:extLst>
          </p:cNvPr>
          <p:cNvSpPr>
            <a:spLocks noGrp="1"/>
          </p:cNvSpPr>
          <p:nvPr>
            <p:ph idx="1"/>
          </p:nvPr>
        </p:nvSpPr>
        <p:spPr>
          <a:xfrm>
            <a:off x="822960" y="909859"/>
            <a:ext cx="10287000" cy="6393911"/>
          </a:xfrm>
        </p:spPr>
        <p:txBody>
          <a:bodyPr/>
          <a:lstStyle/>
          <a:p>
            <a:pPr marL="0" indent="0">
              <a:buNone/>
            </a:pPr>
            <a:r>
              <a:rPr lang="en-US" dirty="0"/>
              <a:t>  </a:t>
            </a:r>
          </a:p>
          <a:p>
            <a:pPr algn="ctr"/>
            <a:endParaRPr lang="en-US" dirty="0"/>
          </a:p>
          <a:p>
            <a:pPr algn="ctr"/>
            <a:endParaRPr lang="en-US" dirty="0"/>
          </a:p>
          <a:p>
            <a:pPr algn="ctr"/>
            <a:endParaRPr lang="en-US" dirty="0"/>
          </a:p>
          <a:p>
            <a:pPr marL="0" indent="0" algn="ctr">
              <a:buNone/>
            </a:pPr>
            <a:endParaRPr lang="en-US" dirty="0"/>
          </a:p>
          <a:p>
            <a:pPr marL="0" indent="0" algn="ctr">
              <a:buNone/>
            </a:pPr>
            <a:r>
              <a:rPr lang="en-US" b="1"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COLLEGE OF INFORMATION AND COMMUNICATION TECHNOLOGY.</a:t>
            </a:r>
          </a:p>
          <a:p>
            <a:r>
              <a:rPr lang="en-US" b="1" dirty="0">
                <a:latin typeface="Times New Roman" panose="02020603050405020304" pitchFamily="18" charset="0"/>
                <a:ea typeface="Calibri" panose="020F0502020204030204" pitchFamily="34" charset="0"/>
                <a:cs typeface="Times New Roman" panose="02020603050405020304" pitchFamily="18" charset="0"/>
              </a:rPr>
              <a:t>DEPARTMENT: </a:t>
            </a:r>
            <a:r>
              <a:rPr lang="en-US" dirty="0">
                <a:latin typeface="Times New Roman" panose="02020603050405020304" pitchFamily="18" charset="0"/>
                <a:ea typeface="Calibri" panose="020F0502020204030204" pitchFamily="34" charset="0"/>
                <a:cs typeface="Times New Roman" panose="02020603050405020304" pitchFamily="18" charset="0"/>
              </a:rPr>
              <a:t>ELECTRONICS AND TELECOMUNICATIONS ENGINEERING</a:t>
            </a:r>
          </a:p>
          <a:p>
            <a:r>
              <a:rPr lang="en-US" b="1" dirty="0">
                <a:latin typeface="Times New Roman" panose="02020603050405020304" pitchFamily="18" charset="0"/>
                <a:ea typeface="Calibri" panose="020F0502020204030204" pitchFamily="34" charset="0"/>
                <a:cs typeface="Times New Roman" panose="02020603050405020304" pitchFamily="18" charset="0"/>
              </a:rPr>
              <a:t>PROGRAM NAME: </a:t>
            </a:r>
            <a:r>
              <a:rPr lang="en-US" dirty="0">
                <a:latin typeface="Times New Roman" panose="02020603050405020304" pitchFamily="18" charset="0"/>
                <a:ea typeface="Calibri" panose="020F0502020204030204" pitchFamily="34" charset="0"/>
                <a:cs typeface="Times New Roman" panose="02020603050405020304" pitchFamily="18" charset="0"/>
              </a:rPr>
              <a:t>BACHELOR OF ENGINEERING IN TELECOMMUNICATION SYSTEMS</a:t>
            </a:r>
          </a:p>
          <a:p>
            <a:r>
              <a:rPr lang="en-US" b="1" dirty="0">
                <a:latin typeface="Times New Roman" panose="02020603050405020304" pitchFamily="18" charset="0"/>
                <a:ea typeface="Calibri" panose="020F0502020204030204" pitchFamily="34" charset="0"/>
                <a:cs typeface="Times New Roman" panose="02020603050405020304" pitchFamily="18" charset="0"/>
              </a:rPr>
              <a:t>MODULE NAME: </a:t>
            </a:r>
            <a:r>
              <a:rPr lang="en-US" dirty="0">
                <a:latin typeface="Times New Roman" panose="02020603050405020304" pitchFamily="18" charset="0"/>
                <a:ea typeface="Calibri" panose="020F0502020204030204" pitchFamily="34" charset="0"/>
                <a:cs typeface="Times New Roman" panose="02020603050405020304" pitchFamily="18" charset="0"/>
              </a:rPr>
              <a:t>MICROWAVE ENGINEERING</a:t>
            </a:r>
          </a:p>
          <a:p>
            <a:r>
              <a:rPr lang="en-US" b="1" dirty="0">
                <a:latin typeface="Times New Roman" panose="02020603050405020304" pitchFamily="18" charset="0"/>
                <a:ea typeface="Calibri" panose="020F0502020204030204" pitchFamily="34" charset="0"/>
                <a:cs typeface="Times New Roman" panose="02020603050405020304" pitchFamily="18" charset="0"/>
              </a:rPr>
              <a:t>MODULE CODE: </a:t>
            </a:r>
            <a:r>
              <a:rPr lang="en-US" dirty="0">
                <a:latin typeface="Times New Roman" panose="02020603050405020304" pitchFamily="18" charset="0"/>
                <a:ea typeface="Calibri" panose="020F0502020204030204" pitchFamily="34" charset="0"/>
                <a:cs typeface="Times New Roman" panose="02020603050405020304" pitchFamily="18" charset="0"/>
              </a:rPr>
              <a:t>ET 8314.</a:t>
            </a:r>
          </a:p>
          <a:p>
            <a:r>
              <a:rPr lang="en-US" b="1" dirty="0">
                <a:latin typeface="Times New Roman" panose="02020603050405020304" pitchFamily="18" charset="0"/>
                <a:ea typeface="Calibri" panose="020F0502020204030204" pitchFamily="34" charset="0"/>
                <a:cs typeface="Times New Roman" panose="02020603050405020304" pitchFamily="18" charset="0"/>
              </a:rPr>
              <a:t>INSTRUCTOR’S NAME: </a:t>
            </a:r>
            <a:r>
              <a:rPr lang="en-US" dirty="0">
                <a:latin typeface="Times New Roman" panose="02020603050405020304" pitchFamily="18" charset="0"/>
                <a:ea typeface="Calibri" panose="020F0502020204030204" pitchFamily="34" charset="0"/>
                <a:cs typeface="Times New Roman" panose="02020603050405020304" pitchFamily="18" charset="0"/>
              </a:rPr>
              <a:t>MWISOMBA C.</a:t>
            </a:r>
          </a:p>
          <a:p>
            <a:r>
              <a:rPr lang="en-US" b="1" dirty="0">
                <a:latin typeface="Times New Roman" panose="02020603050405020304" pitchFamily="18" charset="0"/>
                <a:ea typeface="Calibri" panose="020F0502020204030204" pitchFamily="34" charset="0"/>
                <a:cs typeface="Times New Roman" panose="02020603050405020304" pitchFamily="18" charset="0"/>
              </a:rPr>
              <a:t>LEVEL: </a:t>
            </a:r>
            <a:r>
              <a:rPr lang="en-US" dirty="0">
                <a:latin typeface="Times New Roman" panose="02020603050405020304" pitchFamily="18" charset="0"/>
                <a:ea typeface="Calibri" panose="020F0502020204030204" pitchFamily="34" charset="0"/>
                <a:cs typeface="Times New Roman" panose="02020603050405020304" pitchFamily="18" charset="0"/>
              </a:rPr>
              <a:t>UQF 8 Third Year.</a:t>
            </a:r>
          </a:p>
          <a:p>
            <a:r>
              <a:rPr lang="en-US" b="1" dirty="0">
                <a:latin typeface="Times New Roman" panose="02020603050405020304" pitchFamily="18" charset="0"/>
                <a:ea typeface="Calibri" panose="020F0502020204030204" pitchFamily="34" charset="0"/>
                <a:cs typeface="Times New Roman" panose="02020603050405020304" pitchFamily="18" charset="0"/>
              </a:rPr>
              <a:t>TASK:   </a:t>
            </a:r>
            <a:r>
              <a:rPr lang="en-US" dirty="0">
                <a:latin typeface="Times New Roman" panose="02020603050405020304" pitchFamily="18" charset="0"/>
                <a:ea typeface="Calibri" panose="020F0502020204030204" pitchFamily="34" charset="0"/>
                <a:cs typeface="Times New Roman" panose="02020603050405020304" pitchFamily="18" charset="0"/>
              </a:rPr>
              <a:t>GROUP ASSIGMENT.</a:t>
            </a:r>
          </a:p>
          <a:p>
            <a:r>
              <a:rPr lang="en-US" b="1" dirty="0">
                <a:latin typeface="Times New Roman" panose="02020603050405020304" pitchFamily="18" charset="0"/>
                <a:ea typeface="Calibri" panose="020F0502020204030204" pitchFamily="34" charset="0"/>
                <a:cs typeface="Times New Roman" panose="02020603050405020304" pitchFamily="18" charset="0"/>
              </a:rPr>
              <a:t>ACADEMIC YEAR: </a:t>
            </a:r>
            <a:r>
              <a:rPr lang="en-US" dirty="0">
                <a:latin typeface="Times New Roman" panose="02020603050405020304" pitchFamily="18" charset="0"/>
                <a:ea typeface="Calibri" panose="020F0502020204030204" pitchFamily="34" charset="0"/>
                <a:cs typeface="Times New Roman" panose="02020603050405020304" pitchFamily="18" charset="0"/>
              </a:rPr>
              <a:t>2024/2025.</a:t>
            </a:r>
            <a:endParaRPr lang="en-US" dirty="0"/>
          </a:p>
          <a:p>
            <a:pPr marL="0" indent="0" algn="ctr">
              <a:buNone/>
            </a:pPr>
            <a:endParaRPr lang="en-TZ" dirty="0"/>
          </a:p>
        </p:txBody>
      </p:sp>
      <p:pic>
        <p:nvPicPr>
          <p:cNvPr id="5" name="Picture 4">
            <a:extLst>
              <a:ext uri="{FF2B5EF4-FFF2-40B4-BE49-F238E27FC236}">
                <a16:creationId xmlns:a16="http://schemas.microsoft.com/office/drawing/2014/main" id="{D12A5287-333D-BB66-0096-6FA12399801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2907" y="909859"/>
            <a:ext cx="3271824" cy="1985425"/>
          </a:xfrm>
          <a:prstGeom prst="rect">
            <a:avLst/>
          </a:prstGeom>
          <a:noFill/>
        </p:spPr>
      </p:pic>
    </p:spTree>
    <p:extLst>
      <p:ext uri="{BB962C8B-B14F-4D97-AF65-F5344CB8AC3E}">
        <p14:creationId xmlns:p14="http://schemas.microsoft.com/office/powerpoint/2010/main" val="1681681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33DDB-4F54-DDB2-C1F2-4479B37FCA9F}"/>
              </a:ext>
            </a:extLst>
          </p:cNvPr>
          <p:cNvSpPr>
            <a:spLocks noGrp="1"/>
          </p:cNvSpPr>
          <p:nvPr>
            <p:ph type="title"/>
          </p:nvPr>
        </p:nvSpPr>
        <p:spPr>
          <a:xfrm>
            <a:off x="1472785" y="359308"/>
            <a:ext cx="8911687" cy="587470"/>
          </a:xfrm>
        </p:spPr>
        <p:txBody>
          <a:bodyPr>
            <a:normAutofit/>
          </a:bodyPr>
          <a:lstStyle/>
          <a:p>
            <a:pPr algn="ctr"/>
            <a:r>
              <a:rPr lang="en-US" sz="2000" b="1" dirty="0">
                <a:latin typeface="Times New Roman" panose="02020603050405020304" pitchFamily="18" charset="0"/>
                <a:cs typeface="Times New Roman" panose="02020603050405020304" pitchFamily="18" charset="0"/>
              </a:rPr>
              <a:t>GROUP PARTICIPANTS</a:t>
            </a:r>
            <a:endParaRPr lang="en-TZ" sz="2000" b="1" dirty="0">
              <a:latin typeface="Times New Roman" panose="02020603050405020304" pitchFamily="18" charset="0"/>
              <a:cs typeface="Times New Roman" panose="02020603050405020304" pitchFamily="18" charset="0"/>
            </a:endParaRPr>
          </a:p>
        </p:txBody>
      </p:sp>
      <p:graphicFrame>
        <p:nvGraphicFramePr>
          <p:cNvPr id="5" name="Content Placeholder 4">
            <a:extLst>
              <a:ext uri="{FF2B5EF4-FFF2-40B4-BE49-F238E27FC236}">
                <a16:creationId xmlns:a16="http://schemas.microsoft.com/office/drawing/2014/main" id="{B980199C-E80E-15C8-1639-230E07CAEE8A}"/>
              </a:ext>
            </a:extLst>
          </p:cNvPr>
          <p:cNvGraphicFramePr>
            <a:graphicFrameLocks noGrp="1"/>
          </p:cNvGraphicFramePr>
          <p:nvPr>
            <p:ph idx="1"/>
            <p:extLst>
              <p:ext uri="{D42A27DB-BD31-4B8C-83A1-F6EECF244321}">
                <p14:modId xmlns:p14="http://schemas.microsoft.com/office/powerpoint/2010/main" val="3174012157"/>
              </p:ext>
            </p:extLst>
          </p:nvPr>
        </p:nvGraphicFramePr>
        <p:xfrm>
          <a:off x="920432" y="1230630"/>
          <a:ext cx="10681016" cy="5491480"/>
        </p:xfrm>
        <a:graphic>
          <a:graphicData uri="http://schemas.openxmlformats.org/drawingml/2006/table">
            <a:tbl>
              <a:tblPr firstRow="1" bandRow="1">
                <a:tableStyleId>{5C22544A-7EE6-4342-B048-85BDC9FD1C3A}</a:tableStyleId>
              </a:tblPr>
              <a:tblGrid>
                <a:gridCol w="1088261">
                  <a:extLst>
                    <a:ext uri="{9D8B030D-6E8A-4147-A177-3AD203B41FA5}">
                      <a16:colId xmlns:a16="http://schemas.microsoft.com/office/drawing/2014/main" val="1057906707"/>
                    </a:ext>
                  </a:extLst>
                </a:gridCol>
                <a:gridCol w="3354935">
                  <a:extLst>
                    <a:ext uri="{9D8B030D-6E8A-4147-A177-3AD203B41FA5}">
                      <a16:colId xmlns:a16="http://schemas.microsoft.com/office/drawing/2014/main" val="1698928515"/>
                    </a:ext>
                  </a:extLst>
                </a:gridCol>
                <a:gridCol w="2363052">
                  <a:extLst>
                    <a:ext uri="{9D8B030D-6E8A-4147-A177-3AD203B41FA5}">
                      <a16:colId xmlns:a16="http://schemas.microsoft.com/office/drawing/2014/main" val="2380760165"/>
                    </a:ext>
                  </a:extLst>
                </a:gridCol>
                <a:gridCol w="2583180">
                  <a:extLst>
                    <a:ext uri="{9D8B030D-6E8A-4147-A177-3AD203B41FA5}">
                      <a16:colId xmlns:a16="http://schemas.microsoft.com/office/drawing/2014/main" val="1467725323"/>
                    </a:ext>
                  </a:extLst>
                </a:gridCol>
                <a:gridCol w="1291588">
                  <a:extLst>
                    <a:ext uri="{9D8B030D-6E8A-4147-A177-3AD203B41FA5}">
                      <a16:colId xmlns:a16="http://schemas.microsoft.com/office/drawing/2014/main" val="2968719566"/>
                    </a:ext>
                  </a:extLst>
                </a:gridCol>
              </a:tblGrid>
              <a:tr h="370840">
                <a:tc>
                  <a:txBody>
                    <a:bodyPr/>
                    <a:lstStyle/>
                    <a:p>
                      <a:r>
                        <a:rPr lang="en-US" dirty="0"/>
                        <a:t>SN</a:t>
                      </a:r>
                      <a:endParaRPr lang="en-TZ" dirty="0"/>
                    </a:p>
                  </a:txBody>
                  <a:tcPr/>
                </a:tc>
                <a:tc>
                  <a:txBody>
                    <a:bodyPr/>
                    <a:lstStyle/>
                    <a:p>
                      <a:r>
                        <a:rPr lang="en-US" dirty="0"/>
                        <a:t>STUDENT NAME</a:t>
                      </a:r>
                      <a:endParaRPr lang="en-TZ" dirty="0"/>
                    </a:p>
                  </a:txBody>
                  <a:tcPr/>
                </a:tc>
                <a:tc>
                  <a:txBody>
                    <a:bodyPr/>
                    <a:lstStyle/>
                    <a:p>
                      <a:r>
                        <a:rPr lang="en-US" dirty="0"/>
                        <a:t>REG NUMBER</a:t>
                      </a:r>
                      <a:endParaRPr lang="en-TZ" dirty="0"/>
                    </a:p>
                  </a:txBody>
                  <a:tcPr/>
                </a:tc>
                <a:tc>
                  <a:txBody>
                    <a:bodyPr/>
                    <a:lstStyle/>
                    <a:p>
                      <a:r>
                        <a:rPr lang="en-US" dirty="0"/>
                        <a:t>CA NUMBER</a:t>
                      </a:r>
                      <a:endParaRPr lang="en-TZ" dirty="0"/>
                    </a:p>
                  </a:txBody>
                  <a:tcPr/>
                </a:tc>
                <a:tc>
                  <a:txBody>
                    <a:bodyPr/>
                    <a:lstStyle/>
                    <a:p>
                      <a:r>
                        <a:rPr lang="en-US" dirty="0"/>
                        <a:t>SIGN</a:t>
                      </a:r>
                      <a:endParaRPr lang="en-TZ" dirty="0"/>
                    </a:p>
                  </a:txBody>
                  <a:tcPr/>
                </a:tc>
                <a:extLst>
                  <a:ext uri="{0D108BD9-81ED-4DB2-BD59-A6C34878D82A}">
                    <a16:rowId xmlns:a16="http://schemas.microsoft.com/office/drawing/2014/main" val="4159695977"/>
                  </a:ext>
                </a:extLst>
              </a:tr>
              <a:tr h="370840">
                <a:tc>
                  <a:txBody>
                    <a:bodyPr/>
                    <a:lstStyle/>
                    <a:p>
                      <a:r>
                        <a:rPr lang="en-US" dirty="0"/>
                        <a:t>01</a:t>
                      </a:r>
                      <a:endParaRPr lang="en-TZ" dirty="0"/>
                    </a:p>
                  </a:txBody>
                  <a:tcPr/>
                </a:tc>
                <a:tc>
                  <a:txBody>
                    <a:bodyPr/>
                    <a:lstStyle/>
                    <a:p>
                      <a:r>
                        <a:rPr lang="en-US" dirty="0"/>
                        <a:t>NURUEL G SHAYO</a:t>
                      </a:r>
                      <a:endParaRPr lang="en-TZ" dirty="0"/>
                    </a:p>
                  </a:txBody>
                  <a:tcPr/>
                </a:tc>
                <a:tc>
                  <a:txBody>
                    <a:bodyPr/>
                    <a:lstStyle/>
                    <a:p>
                      <a:r>
                        <a:rPr lang="en-US" dirty="0"/>
                        <a:t>22100934340052</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CA/BETS/24/15649</a:t>
                      </a:r>
                      <a:endParaRPr lang="en-TZ" dirty="0"/>
                    </a:p>
                    <a:p>
                      <a:endParaRPr lang="en-TZ" dirty="0"/>
                    </a:p>
                  </a:txBody>
                  <a:tcPr/>
                </a:tc>
                <a:tc>
                  <a:txBody>
                    <a:bodyPr/>
                    <a:lstStyle/>
                    <a:p>
                      <a:endParaRPr lang="en-TZ"/>
                    </a:p>
                  </a:txBody>
                  <a:tcPr/>
                </a:tc>
                <a:extLst>
                  <a:ext uri="{0D108BD9-81ED-4DB2-BD59-A6C34878D82A}">
                    <a16:rowId xmlns:a16="http://schemas.microsoft.com/office/drawing/2014/main" val="1412568040"/>
                  </a:ext>
                </a:extLst>
              </a:tr>
              <a:tr h="370840">
                <a:tc>
                  <a:txBody>
                    <a:bodyPr/>
                    <a:lstStyle/>
                    <a:p>
                      <a:r>
                        <a:rPr lang="en-US" dirty="0"/>
                        <a:t>02</a:t>
                      </a:r>
                      <a:endParaRPr lang="en-TZ" dirty="0"/>
                    </a:p>
                  </a:txBody>
                  <a:tcPr/>
                </a:tc>
                <a:tc>
                  <a:txBody>
                    <a:bodyPr/>
                    <a:lstStyle/>
                    <a:p>
                      <a:r>
                        <a:rPr lang="en-US" dirty="0"/>
                        <a:t>NYABUYOMBO CHAGAGA</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22100934340099</a:t>
                      </a:r>
                      <a:endParaRPr lang="en-TZ" dirty="0"/>
                    </a:p>
                    <a:p>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CA/BETS/24/15626</a:t>
                      </a:r>
                      <a:endParaRPr lang="en-TZ" dirty="0"/>
                    </a:p>
                    <a:p>
                      <a:endParaRPr lang="en-TZ" dirty="0"/>
                    </a:p>
                  </a:txBody>
                  <a:tcPr/>
                </a:tc>
                <a:tc>
                  <a:txBody>
                    <a:bodyPr/>
                    <a:lstStyle/>
                    <a:p>
                      <a:endParaRPr lang="en-TZ"/>
                    </a:p>
                  </a:txBody>
                  <a:tcPr/>
                </a:tc>
                <a:extLst>
                  <a:ext uri="{0D108BD9-81ED-4DB2-BD59-A6C34878D82A}">
                    <a16:rowId xmlns:a16="http://schemas.microsoft.com/office/drawing/2014/main" val="3864688989"/>
                  </a:ext>
                </a:extLst>
              </a:tr>
              <a:tr h="370840">
                <a:tc>
                  <a:txBody>
                    <a:bodyPr/>
                    <a:lstStyle/>
                    <a:p>
                      <a:r>
                        <a:rPr lang="en-US" dirty="0"/>
                        <a:t>03</a:t>
                      </a:r>
                      <a:endParaRPr lang="en-TZ" dirty="0"/>
                    </a:p>
                  </a:txBody>
                  <a:tcPr/>
                </a:tc>
                <a:tc>
                  <a:txBody>
                    <a:bodyPr/>
                    <a:lstStyle/>
                    <a:p>
                      <a:r>
                        <a:rPr lang="en-US" dirty="0"/>
                        <a:t>BONIFACE B SANKWA</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22100934340091</a:t>
                      </a:r>
                      <a:endParaRPr lang="en-TZ" dirty="0"/>
                    </a:p>
                    <a:p>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CA/BETS/24/15646</a:t>
                      </a:r>
                      <a:endParaRPr lang="en-TZ" dirty="0"/>
                    </a:p>
                    <a:p>
                      <a:endParaRPr lang="en-TZ" dirty="0"/>
                    </a:p>
                  </a:txBody>
                  <a:tcPr/>
                </a:tc>
                <a:tc>
                  <a:txBody>
                    <a:bodyPr/>
                    <a:lstStyle/>
                    <a:p>
                      <a:endParaRPr lang="en-TZ"/>
                    </a:p>
                  </a:txBody>
                  <a:tcPr/>
                </a:tc>
                <a:extLst>
                  <a:ext uri="{0D108BD9-81ED-4DB2-BD59-A6C34878D82A}">
                    <a16:rowId xmlns:a16="http://schemas.microsoft.com/office/drawing/2014/main" val="3148410613"/>
                  </a:ext>
                </a:extLst>
              </a:tr>
              <a:tr h="370840">
                <a:tc>
                  <a:txBody>
                    <a:bodyPr/>
                    <a:lstStyle/>
                    <a:p>
                      <a:r>
                        <a:rPr lang="en-US" dirty="0"/>
                        <a:t>04</a:t>
                      </a:r>
                      <a:endParaRPr lang="en-TZ" dirty="0"/>
                    </a:p>
                  </a:txBody>
                  <a:tcPr/>
                </a:tc>
                <a:tc>
                  <a:txBody>
                    <a:bodyPr/>
                    <a:lstStyle/>
                    <a:p>
                      <a:r>
                        <a:rPr lang="en-US" dirty="0"/>
                        <a:t>MSAMILE ASENGA</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22100934340015</a:t>
                      </a:r>
                      <a:endParaRPr lang="en-TZ" dirty="0"/>
                    </a:p>
                    <a:p>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CA/BETS/24/15586</a:t>
                      </a:r>
                      <a:endParaRPr lang="en-TZ" dirty="0"/>
                    </a:p>
                    <a:p>
                      <a:endParaRPr lang="en-TZ" dirty="0"/>
                    </a:p>
                  </a:txBody>
                  <a:tcPr/>
                </a:tc>
                <a:tc>
                  <a:txBody>
                    <a:bodyPr/>
                    <a:lstStyle/>
                    <a:p>
                      <a:endParaRPr lang="en-TZ"/>
                    </a:p>
                  </a:txBody>
                  <a:tcPr/>
                </a:tc>
                <a:extLst>
                  <a:ext uri="{0D108BD9-81ED-4DB2-BD59-A6C34878D82A}">
                    <a16:rowId xmlns:a16="http://schemas.microsoft.com/office/drawing/2014/main" val="2662675106"/>
                  </a:ext>
                </a:extLst>
              </a:tr>
              <a:tr h="370840">
                <a:tc>
                  <a:txBody>
                    <a:bodyPr/>
                    <a:lstStyle/>
                    <a:p>
                      <a:r>
                        <a:rPr lang="en-US" dirty="0"/>
                        <a:t>05</a:t>
                      </a:r>
                      <a:endParaRPr lang="en-TZ" dirty="0"/>
                    </a:p>
                  </a:txBody>
                  <a:tcPr/>
                </a:tc>
                <a:tc>
                  <a:txBody>
                    <a:bodyPr/>
                    <a:lstStyle/>
                    <a:p>
                      <a:r>
                        <a:rPr lang="en-US" dirty="0"/>
                        <a:t>HAPPINESS M BURA</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22100934340062</a:t>
                      </a:r>
                      <a:endParaRPr lang="en-TZ" dirty="0"/>
                    </a:p>
                    <a:p>
                      <a:endParaRPr lang="en-TZ" dirty="0"/>
                    </a:p>
                  </a:txBody>
                  <a:tcPr/>
                </a:tc>
                <a:tc>
                  <a:txBody>
                    <a:bodyPr/>
                    <a:lstStyle/>
                    <a:p>
                      <a:r>
                        <a:rPr lang="en-US" dirty="0"/>
                        <a:t>CA/BETS/24/15592</a:t>
                      </a:r>
                      <a:endParaRPr lang="en-TZ" dirty="0"/>
                    </a:p>
                  </a:txBody>
                  <a:tcPr/>
                </a:tc>
                <a:tc>
                  <a:txBody>
                    <a:bodyPr/>
                    <a:lstStyle/>
                    <a:p>
                      <a:endParaRPr lang="en-TZ"/>
                    </a:p>
                  </a:txBody>
                  <a:tcPr/>
                </a:tc>
                <a:extLst>
                  <a:ext uri="{0D108BD9-81ED-4DB2-BD59-A6C34878D82A}">
                    <a16:rowId xmlns:a16="http://schemas.microsoft.com/office/drawing/2014/main" val="1687406952"/>
                  </a:ext>
                </a:extLst>
              </a:tr>
              <a:tr h="370840">
                <a:tc>
                  <a:txBody>
                    <a:bodyPr/>
                    <a:lstStyle/>
                    <a:p>
                      <a:r>
                        <a:rPr lang="en-US" dirty="0"/>
                        <a:t>06</a:t>
                      </a:r>
                      <a:endParaRPr lang="en-TZ" dirty="0"/>
                    </a:p>
                  </a:txBody>
                  <a:tcPr/>
                </a:tc>
                <a:tc>
                  <a:txBody>
                    <a:bodyPr/>
                    <a:lstStyle/>
                    <a:p>
                      <a:r>
                        <a:rPr lang="en-US" dirty="0"/>
                        <a:t>EMMILIANA BUKUMBO</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22100934340083</a:t>
                      </a:r>
                      <a:endParaRPr lang="en-TZ" dirty="0"/>
                    </a:p>
                    <a:p>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CA/BETS/24/15591</a:t>
                      </a:r>
                      <a:endParaRPr lang="en-TZ" dirty="0"/>
                    </a:p>
                    <a:p>
                      <a:endParaRPr lang="en-TZ" dirty="0"/>
                    </a:p>
                  </a:txBody>
                  <a:tcPr/>
                </a:tc>
                <a:tc>
                  <a:txBody>
                    <a:bodyPr/>
                    <a:lstStyle/>
                    <a:p>
                      <a:endParaRPr lang="en-TZ"/>
                    </a:p>
                  </a:txBody>
                  <a:tcPr/>
                </a:tc>
                <a:extLst>
                  <a:ext uri="{0D108BD9-81ED-4DB2-BD59-A6C34878D82A}">
                    <a16:rowId xmlns:a16="http://schemas.microsoft.com/office/drawing/2014/main" val="1025168163"/>
                  </a:ext>
                </a:extLst>
              </a:tr>
              <a:tr h="370840">
                <a:tc>
                  <a:txBody>
                    <a:bodyPr/>
                    <a:lstStyle/>
                    <a:p>
                      <a:r>
                        <a:rPr lang="en-US" dirty="0"/>
                        <a:t>07</a:t>
                      </a:r>
                      <a:endParaRPr lang="en-TZ" dirty="0"/>
                    </a:p>
                  </a:txBody>
                  <a:tcPr/>
                </a:tc>
                <a:tc>
                  <a:txBody>
                    <a:bodyPr/>
                    <a:lstStyle/>
                    <a:p>
                      <a:r>
                        <a:rPr lang="en-US" dirty="0"/>
                        <a:t>MATHIAS P MAGESE</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22100934340071</a:t>
                      </a:r>
                      <a:endParaRPr lang="en-TZ" dirty="0"/>
                    </a:p>
                    <a:p>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CA/BETS/24/15620</a:t>
                      </a:r>
                      <a:endParaRPr lang="en-TZ" dirty="0"/>
                    </a:p>
                    <a:p>
                      <a:endParaRPr lang="en-TZ" dirty="0"/>
                    </a:p>
                  </a:txBody>
                  <a:tcPr/>
                </a:tc>
                <a:tc>
                  <a:txBody>
                    <a:bodyPr/>
                    <a:lstStyle/>
                    <a:p>
                      <a:endParaRPr lang="en-TZ"/>
                    </a:p>
                  </a:txBody>
                  <a:tcPr/>
                </a:tc>
                <a:extLst>
                  <a:ext uri="{0D108BD9-81ED-4DB2-BD59-A6C34878D82A}">
                    <a16:rowId xmlns:a16="http://schemas.microsoft.com/office/drawing/2014/main" val="48708289"/>
                  </a:ext>
                </a:extLst>
              </a:tr>
              <a:tr h="370840">
                <a:tc>
                  <a:txBody>
                    <a:bodyPr/>
                    <a:lstStyle/>
                    <a:p>
                      <a:r>
                        <a:rPr lang="en-US" dirty="0"/>
                        <a:t>08</a:t>
                      </a:r>
                      <a:endParaRPr lang="en-TZ" dirty="0"/>
                    </a:p>
                  </a:txBody>
                  <a:tcPr/>
                </a:tc>
                <a:tc>
                  <a:txBody>
                    <a:bodyPr/>
                    <a:lstStyle/>
                    <a:p>
                      <a:r>
                        <a:rPr lang="en-US" dirty="0"/>
                        <a:t>SIMON KIMWAGA</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22100934340039</a:t>
                      </a:r>
                      <a:endParaRPr lang="en-TZ"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CA/BETS/24/21920</a:t>
                      </a:r>
                      <a:endParaRPr lang="en-TZ" dirty="0"/>
                    </a:p>
                    <a:p>
                      <a:endParaRPr lang="en-TZ" dirty="0"/>
                    </a:p>
                  </a:txBody>
                  <a:tcPr/>
                </a:tc>
                <a:tc>
                  <a:txBody>
                    <a:bodyPr/>
                    <a:lstStyle/>
                    <a:p>
                      <a:endParaRPr lang="en-TZ" dirty="0"/>
                    </a:p>
                  </a:txBody>
                  <a:tcPr/>
                </a:tc>
                <a:extLst>
                  <a:ext uri="{0D108BD9-81ED-4DB2-BD59-A6C34878D82A}">
                    <a16:rowId xmlns:a16="http://schemas.microsoft.com/office/drawing/2014/main" val="3791452003"/>
                  </a:ext>
                </a:extLst>
              </a:tr>
            </a:tbl>
          </a:graphicData>
        </a:graphic>
      </p:graphicFrame>
    </p:spTree>
    <p:extLst>
      <p:ext uri="{BB962C8B-B14F-4D97-AF65-F5344CB8AC3E}">
        <p14:creationId xmlns:p14="http://schemas.microsoft.com/office/powerpoint/2010/main" val="521251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50CDC-8416-47B9-B32E-2902757578CE}"/>
              </a:ext>
            </a:extLst>
          </p:cNvPr>
          <p:cNvSpPr>
            <a:spLocks noGrp="1"/>
          </p:cNvSpPr>
          <p:nvPr>
            <p:ph type="ctrTitle"/>
          </p:nvPr>
        </p:nvSpPr>
        <p:spPr>
          <a:xfrm>
            <a:off x="1823403" y="251461"/>
            <a:ext cx="8915399" cy="702878"/>
          </a:xfrm>
        </p:spPr>
        <p:txBody>
          <a:bodyPr>
            <a:normAutofit/>
          </a:bodyPr>
          <a:lstStyle/>
          <a:p>
            <a:r>
              <a:rPr lang="en-US" sz="3600" dirty="0">
                <a:latin typeface="Times New Roman" panose="02020603050405020304" pitchFamily="18" charset="0"/>
                <a:cs typeface="Times New Roman" panose="02020603050405020304" pitchFamily="18" charset="0"/>
              </a:rPr>
              <a:t>BIPOLAR JUNCTION TRANSISTOR (BJT)</a:t>
            </a:r>
            <a:endParaRPr lang="en-TZ" sz="36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E9370DB-6541-6875-37A2-A6309CACB720}"/>
              </a:ext>
            </a:extLst>
          </p:cNvPr>
          <p:cNvSpPr>
            <a:spLocks noGrp="1"/>
          </p:cNvSpPr>
          <p:nvPr>
            <p:ph type="subTitle" idx="1"/>
          </p:nvPr>
        </p:nvSpPr>
        <p:spPr>
          <a:xfrm>
            <a:off x="811531" y="1200150"/>
            <a:ext cx="10412730" cy="5177789"/>
          </a:xfrm>
        </p:spPr>
        <p:txBody>
          <a:bodyPr>
            <a:normAutofit/>
          </a:bodyPr>
          <a:lstStyle/>
          <a:p>
            <a:r>
              <a:rPr lang="en-US" sz="2800" b="1" dirty="0">
                <a:solidFill>
                  <a:schemeClr val="tx1"/>
                </a:solidFill>
                <a:latin typeface="Times New Roman" panose="02020603050405020304" pitchFamily="18" charset="0"/>
                <a:cs typeface="Times New Roman" panose="02020603050405020304" pitchFamily="18" charset="0"/>
              </a:rPr>
              <a:t>Introduction</a:t>
            </a:r>
          </a:p>
          <a:p>
            <a:r>
              <a:rPr lang="en-US" sz="3200" dirty="0">
                <a:solidFill>
                  <a:schemeClr val="tx1"/>
                </a:solidFill>
                <a:latin typeface="Times New Roman" panose="02020603050405020304" pitchFamily="18" charset="0"/>
                <a:cs typeface="Times New Roman" panose="02020603050405020304" pitchFamily="18" charset="0"/>
              </a:rPr>
              <a:t>Transistors are three-terminal semiconductor devices, and can be categorized as either junction transistors or field effect transistors.</a:t>
            </a:r>
          </a:p>
          <a:p>
            <a:r>
              <a:rPr lang="en-US" sz="3200" dirty="0">
                <a:solidFill>
                  <a:schemeClr val="tx1"/>
                </a:solidFill>
                <a:latin typeface="Times New Roman" panose="02020603050405020304" pitchFamily="18" charset="0"/>
                <a:cs typeface="Times New Roman" panose="02020603050405020304" pitchFamily="18" charset="0"/>
              </a:rPr>
              <a:t> Junction transistors include bipolar junction transistors (BJTs) that use a single semiconductor material (usually silicon), and heterojunction bipolar transistors (HBTs) that use compound semiconductors. Both </a:t>
            </a:r>
            <a:r>
              <a:rPr lang="en-US" sz="3200" dirty="0" err="1">
                <a:solidFill>
                  <a:schemeClr val="tx1"/>
                </a:solidFill>
                <a:latin typeface="Times New Roman" panose="02020603050405020304" pitchFamily="18" charset="0"/>
                <a:cs typeface="Times New Roman" panose="02020603050405020304" pitchFamily="18" charset="0"/>
              </a:rPr>
              <a:t>npn</a:t>
            </a:r>
            <a:r>
              <a:rPr lang="en-US" sz="3200" dirty="0">
                <a:solidFill>
                  <a:schemeClr val="tx1"/>
                </a:solidFill>
                <a:latin typeface="Times New Roman" panose="02020603050405020304" pitchFamily="18" charset="0"/>
                <a:cs typeface="Times New Roman" panose="02020603050405020304" pitchFamily="18" charset="0"/>
              </a:rPr>
              <a:t> and </a:t>
            </a:r>
            <a:r>
              <a:rPr lang="en-US" sz="3200" dirty="0" err="1">
                <a:solidFill>
                  <a:schemeClr val="tx1"/>
                </a:solidFill>
                <a:latin typeface="Times New Roman" panose="02020603050405020304" pitchFamily="18" charset="0"/>
                <a:cs typeface="Times New Roman" panose="02020603050405020304" pitchFamily="18" charset="0"/>
              </a:rPr>
              <a:t>pnp</a:t>
            </a:r>
            <a:r>
              <a:rPr lang="en-US" sz="3200" dirty="0">
                <a:solidFill>
                  <a:schemeClr val="tx1"/>
                </a:solidFill>
                <a:latin typeface="Times New Roman" panose="02020603050405020304" pitchFamily="18" charset="0"/>
                <a:cs typeface="Times New Roman" panose="02020603050405020304" pitchFamily="18" charset="0"/>
              </a:rPr>
              <a:t> configurations are possible, but most RF junction transistors are usually of the </a:t>
            </a:r>
            <a:r>
              <a:rPr lang="en-US" sz="3200" dirty="0" err="1">
                <a:solidFill>
                  <a:schemeClr val="tx1"/>
                </a:solidFill>
                <a:latin typeface="Times New Roman" panose="02020603050405020304" pitchFamily="18" charset="0"/>
                <a:cs typeface="Times New Roman" panose="02020603050405020304" pitchFamily="18" charset="0"/>
              </a:rPr>
              <a:t>npn</a:t>
            </a:r>
            <a:r>
              <a:rPr lang="en-US" sz="3200" dirty="0">
                <a:solidFill>
                  <a:schemeClr val="tx1"/>
                </a:solidFill>
                <a:latin typeface="Times New Roman" panose="02020603050405020304" pitchFamily="18" charset="0"/>
                <a:cs typeface="Times New Roman" panose="02020603050405020304" pitchFamily="18" charset="0"/>
              </a:rPr>
              <a:t> type due to higher electron mobility at higher frequencies</a:t>
            </a:r>
            <a:endParaRPr lang="en-US" sz="3200" b="1" dirty="0">
              <a:solidFill>
                <a:schemeClr val="tx1"/>
              </a:solidFill>
              <a:latin typeface="Times New Roman" panose="02020603050405020304" pitchFamily="18" charset="0"/>
              <a:cs typeface="Times New Roman" panose="02020603050405020304" pitchFamily="18" charset="0"/>
            </a:endParaRPr>
          </a:p>
          <a:p>
            <a:endParaRPr lang="en-TZ"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365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9740-3561-6EEE-46D0-1E9DED556690}"/>
              </a:ext>
            </a:extLst>
          </p:cNvPr>
          <p:cNvSpPr>
            <a:spLocks noGrp="1"/>
          </p:cNvSpPr>
          <p:nvPr>
            <p:ph type="title"/>
          </p:nvPr>
        </p:nvSpPr>
        <p:spPr>
          <a:xfrm>
            <a:off x="2078575" y="267868"/>
            <a:ext cx="8911687" cy="678910"/>
          </a:xfrm>
        </p:spPr>
        <p:txBody>
          <a:bodyPr/>
          <a:lstStyle/>
          <a:p>
            <a:r>
              <a:rPr lang="en-US" b="1" dirty="0"/>
              <a:t>INTRODUCTION</a:t>
            </a:r>
            <a:endParaRPr lang="en-TZ" b="1" dirty="0"/>
          </a:p>
        </p:txBody>
      </p:sp>
      <p:sp>
        <p:nvSpPr>
          <p:cNvPr id="7" name="Content Placeholder 6">
            <a:extLst>
              <a:ext uri="{FF2B5EF4-FFF2-40B4-BE49-F238E27FC236}">
                <a16:creationId xmlns:a16="http://schemas.microsoft.com/office/drawing/2014/main" id="{CCF3FBF0-1D23-E39D-0901-D0A21ED8AA13}"/>
              </a:ext>
            </a:extLst>
          </p:cNvPr>
          <p:cNvSpPr>
            <a:spLocks noGrp="1"/>
          </p:cNvSpPr>
          <p:nvPr>
            <p:ph idx="1"/>
          </p:nvPr>
        </p:nvSpPr>
        <p:spPr>
          <a:xfrm>
            <a:off x="1480502" y="1002016"/>
            <a:ext cx="9903778" cy="4964444"/>
          </a:xfrm>
        </p:spPr>
        <p:txBody>
          <a:bodyPr/>
          <a:lstStyle/>
          <a:p>
            <a:r>
              <a:rPr lang="en-US" dirty="0"/>
              <a:t>DIAGRAM                                                   </a:t>
            </a:r>
          </a:p>
          <a:p>
            <a:endParaRPr lang="en-US" dirty="0"/>
          </a:p>
          <a:p>
            <a:endParaRPr lang="en-US" dirty="0"/>
          </a:p>
          <a:p>
            <a:endParaRPr lang="en-US" dirty="0"/>
          </a:p>
          <a:p>
            <a:r>
              <a:rPr lang="en-US" dirty="0"/>
              <a:t>                                                                  </a:t>
            </a:r>
          </a:p>
          <a:p>
            <a:pPr algn="ctr"/>
            <a:r>
              <a:rPr lang="en-US" dirty="0">
                <a:solidFill>
                  <a:schemeClr val="tx1"/>
                </a:solidFill>
                <a:latin typeface="Times New Roman" panose="02020603050405020304" pitchFamily="18" charset="0"/>
                <a:cs typeface="Times New Roman" panose="02020603050405020304" pitchFamily="18" charset="0"/>
              </a:rPr>
              <a:t>                                                                Fig 2:Simplified hybrid-π equivalent circuit for a microwave bipolar junction                                     transistor in the common emitter configuration</a:t>
            </a:r>
            <a:r>
              <a:rPr lang="en-US" dirty="0"/>
              <a:t>. </a:t>
            </a:r>
          </a:p>
          <a:p>
            <a:pPr algn="ctr"/>
            <a:endParaRPr lang="en-US" dirty="0"/>
          </a:p>
          <a:p>
            <a:pPr marL="0" indent="0">
              <a:buNone/>
            </a:pPr>
            <a:r>
              <a:rPr lang="en-US" dirty="0"/>
              <a:t>Fig 1: </a:t>
            </a:r>
            <a:r>
              <a:rPr lang="en-US" dirty="0">
                <a:latin typeface="Times New Roman" panose="02020603050405020304" pitchFamily="18" charset="0"/>
                <a:cs typeface="Times New Roman" panose="02020603050405020304" pitchFamily="18" charset="0"/>
              </a:rPr>
              <a:t>Typical junction transistor, PNP bipolar </a:t>
            </a:r>
          </a:p>
          <a:p>
            <a:pPr marL="0" indent="0">
              <a:buNone/>
            </a:pPr>
            <a:r>
              <a:rPr lang="en-US" dirty="0">
                <a:latin typeface="Times New Roman" panose="02020603050405020304" pitchFamily="18" charset="0"/>
                <a:cs typeface="Times New Roman" panose="02020603050405020304" pitchFamily="18" charset="0"/>
              </a:rPr>
              <a:t>           Transistor, NPN bipolar transistor.        </a:t>
            </a:r>
          </a:p>
          <a:p>
            <a:pPr marL="0" indent="0">
              <a:buNone/>
            </a:pPr>
            <a:r>
              <a:rPr lang="en-GB" sz="1800" dirty="0">
                <a:solidFill>
                  <a:schemeClr val="tx1"/>
                </a:solidFill>
                <a:effectLst/>
                <a:latin typeface="Times New Roman" panose="02020603050405020304" pitchFamily="18" charset="0"/>
                <a:ea typeface="PMingLiU" panose="020B0604030504040204" pitchFamily="18" charset="-120"/>
              </a:rPr>
              <a:t>In microwave engineering, a BJT operates in the </a:t>
            </a:r>
            <a:r>
              <a:rPr lang="en-GB" sz="1800" b="1" dirty="0">
                <a:solidFill>
                  <a:schemeClr val="tx1"/>
                </a:solidFill>
                <a:effectLst/>
                <a:latin typeface="Times New Roman" panose="02020603050405020304" pitchFamily="18" charset="0"/>
                <a:ea typeface="PMingLiU" panose="020B0604030504040204" pitchFamily="18" charset="-120"/>
              </a:rPr>
              <a:t>active region</a:t>
            </a:r>
            <a:r>
              <a:rPr lang="en-GB" sz="1800" dirty="0">
                <a:solidFill>
                  <a:schemeClr val="tx1"/>
                </a:solidFill>
                <a:effectLst/>
                <a:latin typeface="Times New Roman" panose="02020603050405020304" pitchFamily="18" charset="0"/>
                <a:ea typeface="PMingLiU" panose="020B0604030504040204" pitchFamily="18" charset="-120"/>
              </a:rPr>
              <a:t> where it amplifies weak microwave signals, making it an essential component for high-frequency applications.</a:t>
            </a:r>
            <a:endParaRPr lang="en-US" sz="1800" b="1" dirty="0">
              <a:solidFill>
                <a:schemeClr val="tx1"/>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TZ"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D0FD0E5C-337D-B699-7625-5A5AC19E8EAB}"/>
              </a:ext>
            </a:extLst>
          </p:cNvPr>
          <p:cNvPicPr>
            <a:picLocks noChangeAspect="1"/>
          </p:cNvPicPr>
          <p:nvPr/>
        </p:nvPicPr>
        <p:blipFill>
          <a:blip r:embed="rId2"/>
          <a:stretch>
            <a:fillRect/>
          </a:stretch>
        </p:blipFill>
        <p:spPr>
          <a:xfrm>
            <a:off x="1782127" y="1368743"/>
            <a:ext cx="3749993" cy="2677478"/>
          </a:xfrm>
          <a:prstGeom prst="rect">
            <a:avLst/>
          </a:prstGeom>
        </p:spPr>
      </p:pic>
      <p:pic>
        <p:nvPicPr>
          <p:cNvPr id="13" name="Picture 12">
            <a:extLst>
              <a:ext uri="{FF2B5EF4-FFF2-40B4-BE49-F238E27FC236}">
                <a16:creationId xmlns:a16="http://schemas.microsoft.com/office/drawing/2014/main" id="{F7858360-DDEA-7237-3920-C84813E40995}"/>
              </a:ext>
            </a:extLst>
          </p:cNvPr>
          <p:cNvPicPr>
            <a:picLocks noChangeAspect="1"/>
          </p:cNvPicPr>
          <p:nvPr/>
        </p:nvPicPr>
        <p:blipFill>
          <a:blip r:embed="rId3"/>
          <a:stretch>
            <a:fillRect/>
          </a:stretch>
        </p:blipFill>
        <p:spPr>
          <a:xfrm>
            <a:off x="6659882" y="1024415"/>
            <a:ext cx="3545999" cy="1683067"/>
          </a:xfrm>
          <a:prstGeom prst="rect">
            <a:avLst/>
          </a:prstGeom>
        </p:spPr>
      </p:pic>
    </p:spTree>
    <p:extLst>
      <p:ext uri="{BB962C8B-B14F-4D97-AF65-F5344CB8AC3E}">
        <p14:creationId xmlns:p14="http://schemas.microsoft.com/office/powerpoint/2010/main" val="1744342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D594A-3290-2F57-61A3-A833BFD62A89}"/>
              </a:ext>
            </a:extLst>
          </p:cNvPr>
          <p:cNvSpPr>
            <a:spLocks noGrp="1"/>
          </p:cNvSpPr>
          <p:nvPr>
            <p:ph type="title"/>
          </p:nvPr>
        </p:nvSpPr>
        <p:spPr>
          <a:xfrm>
            <a:off x="2032855" y="550173"/>
            <a:ext cx="8911687" cy="793210"/>
          </a:xfrm>
        </p:spPr>
        <p:txBody>
          <a:bodyPr/>
          <a:lstStyle/>
          <a:p>
            <a:r>
              <a:rPr lang="en-US" b="1" dirty="0"/>
              <a:t>WORKING PRINCIPLE OF BJT.</a:t>
            </a:r>
            <a:endParaRPr lang="en-TZ" b="1" dirty="0"/>
          </a:p>
        </p:txBody>
      </p:sp>
      <p:sp>
        <p:nvSpPr>
          <p:cNvPr id="3" name="Content Placeholder 2">
            <a:extLst>
              <a:ext uri="{FF2B5EF4-FFF2-40B4-BE49-F238E27FC236}">
                <a16:creationId xmlns:a16="http://schemas.microsoft.com/office/drawing/2014/main" id="{E9C32DCF-0FB7-2C05-EF4E-150300662E98}"/>
              </a:ext>
            </a:extLst>
          </p:cNvPr>
          <p:cNvSpPr>
            <a:spLocks noGrp="1"/>
          </p:cNvSpPr>
          <p:nvPr>
            <p:ph idx="1"/>
          </p:nvPr>
        </p:nvSpPr>
        <p:spPr>
          <a:xfrm>
            <a:off x="948690" y="1447800"/>
            <a:ext cx="10378440" cy="4941570"/>
          </a:xfrm>
        </p:spPr>
        <p:txBody>
          <a:bodyPr/>
          <a:lstStyle/>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An active device can do the following:</a:t>
            </a:r>
          </a:p>
          <a:p>
            <a:r>
              <a:rPr lang="en-US" sz="2800" dirty="0">
                <a:solidFill>
                  <a:schemeClr val="tx1"/>
                </a:solidFill>
                <a:latin typeface="Times New Roman" panose="02020603050405020304" pitchFamily="18" charset="0"/>
                <a:cs typeface="Times New Roman" panose="02020603050405020304" pitchFamily="18" charset="0"/>
              </a:rPr>
              <a:t>Control current </a:t>
            </a:r>
            <a:r>
              <a:rPr lang="en-US" sz="2800" dirty="0" smtClean="0">
                <a:solidFill>
                  <a:schemeClr val="tx1"/>
                </a:solidFill>
                <a:latin typeface="Times New Roman" panose="02020603050405020304" pitchFamily="18" charset="0"/>
                <a:cs typeface="Times New Roman" panose="02020603050405020304" pitchFamily="18" charset="0"/>
              </a:rPr>
              <a:t>flow         </a:t>
            </a:r>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Amplify signals</a:t>
            </a:r>
          </a:p>
          <a:p>
            <a:r>
              <a:rPr lang="en-US" sz="2800" dirty="0">
                <a:solidFill>
                  <a:schemeClr val="tx1"/>
                </a:solidFill>
                <a:latin typeface="Times New Roman" panose="02020603050405020304" pitchFamily="18" charset="0"/>
                <a:cs typeface="Times New Roman" panose="02020603050405020304" pitchFamily="18" charset="0"/>
              </a:rPr>
              <a:t>Generate oscillations</a:t>
            </a:r>
          </a:p>
          <a:p>
            <a:endParaRPr lang="en-US" sz="2800" dirty="0">
              <a:solidFill>
                <a:schemeClr val="tx1"/>
              </a:solidFill>
              <a:latin typeface="Times New Roman" panose="02020603050405020304" pitchFamily="18" charset="0"/>
              <a:cs typeface="Times New Roman" panose="02020603050405020304" pitchFamily="18" charset="0"/>
            </a:endParaRPr>
          </a:p>
          <a:p>
            <a:r>
              <a:rPr lang="en-US" sz="2800" dirty="0">
                <a:solidFill>
                  <a:schemeClr val="tx1"/>
                </a:solidFill>
                <a:latin typeface="Times New Roman" panose="02020603050405020304" pitchFamily="18" charset="0"/>
                <a:cs typeface="Times New Roman" panose="02020603050405020304" pitchFamily="18" charset="0"/>
              </a:rPr>
              <a:t>BJTs are active because they amplify and control signal power. Meaning that BJTs takes a small signal at the base and create a larger version of that signal to the collector.</a:t>
            </a:r>
          </a:p>
          <a:p>
            <a:endParaRPr lang="en-TZ" dirty="0"/>
          </a:p>
        </p:txBody>
      </p:sp>
    </p:spTree>
    <p:extLst>
      <p:ext uri="{BB962C8B-B14F-4D97-AF65-F5344CB8AC3E}">
        <p14:creationId xmlns:p14="http://schemas.microsoft.com/office/powerpoint/2010/main" val="2257756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DCFD7-13AF-F278-D4D5-C66D15CDB931}"/>
              </a:ext>
            </a:extLst>
          </p:cNvPr>
          <p:cNvSpPr>
            <a:spLocks noGrp="1"/>
          </p:cNvSpPr>
          <p:nvPr>
            <p:ph type="title"/>
          </p:nvPr>
        </p:nvSpPr>
        <p:spPr>
          <a:xfrm>
            <a:off x="1941415" y="372650"/>
            <a:ext cx="8911687" cy="930370"/>
          </a:xfrm>
        </p:spPr>
        <p:txBody>
          <a:bodyPr/>
          <a:lstStyle/>
          <a:p>
            <a:r>
              <a:rPr lang="en-US" b="1" dirty="0"/>
              <a:t>WORKING PRINCIPLE OF BJT </a:t>
            </a:r>
            <a:r>
              <a:rPr lang="en-US" b="1" dirty="0" err="1"/>
              <a:t>cnt</a:t>
            </a:r>
            <a:r>
              <a:rPr lang="en-US" b="1" dirty="0"/>
              <a:t>……</a:t>
            </a:r>
            <a:endParaRPr lang="en-TZ" dirty="0"/>
          </a:p>
        </p:txBody>
      </p:sp>
      <p:sp>
        <p:nvSpPr>
          <p:cNvPr id="3" name="Content Placeholder 2">
            <a:extLst>
              <a:ext uri="{FF2B5EF4-FFF2-40B4-BE49-F238E27FC236}">
                <a16:creationId xmlns:a16="http://schemas.microsoft.com/office/drawing/2014/main" id="{5A290308-1F9A-7725-DCFE-C1D2E541D3A0}"/>
              </a:ext>
            </a:extLst>
          </p:cNvPr>
          <p:cNvSpPr>
            <a:spLocks noGrp="1"/>
          </p:cNvSpPr>
          <p:nvPr>
            <p:ph idx="1"/>
          </p:nvPr>
        </p:nvSpPr>
        <p:spPr>
          <a:xfrm>
            <a:off x="1638300" y="1390650"/>
            <a:ext cx="9425940" cy="4998720"/>
          </a:xfrm>
        </p:spPr>
        <p:txBody>
          <a:bodyPr>
            <a:normAutofit/>
          </a:bodyPr>
          <a:lstStyle/>
          <a:p>
            <a:r>
              <a:rPr lang="en-US" sz="2400" b="1" dirty="0">
                <a:solidFill>
                  <a:schemeClr val="tx1"/>
                </a:solidFill>
                <a:latin typeface="Times New Roman" panose="02020603050405020304" pitchFamily="18" charset="0"/>
                <a:cs typeface="Times New Roman" panose="02020603050405020304" pitchFamily="18" charset="0"/>
              </a:rPr>
              <a:t>In Microwaves, A BJT (BIPOLAR JUNCTION TRANSISTOR) operates based on controlling a large current flow (collector current) with a smaller current (base current)</a:t>
            </a:r>
          </a:p>
          <a:p>
            <a:endParaRPr lang="en-US" sz="2400" b="1" dirty="0">
              <a:solidFill>
                <a:schemeClr val="tx1"/>
              </a:solidFill>
              <a:latin typeface="Times New Roman" panose="02020603050405020304" pitchFamily="18" charset="0"/>
              <a:cs typeface="Times New Roman" panose="02020603050405020304" pitchFamily="18" charset="0"/>
            </a:endParaRPr>
          </a:p>
          <a:p>
            <a:r>
              <a:rPr lang="en-US" sz="2400" dirty="0">
                <a:solidFill>
                  <a:schemeClr val="tx1"/>
                </a:solidFill>
                <a:latin typeface="Times New Roman" panose="02020603050405020304" pitchFamily="18" charset="0"/>
                <a:cs typeface="Times New Roman" panose="02020603050405020304" pitchFamily="18" charset="0"/>
              </a:rPr>
              <a:t>A BJT regardless of the operating frequency is a current controlled device</a:t>
            </a:r>
          </a:p>
          <a:p>
            <a:r>
              <a:rPr lang="en-US" sz="2400" dirty="0">
                <a:solidFill>
                  <a:schemeClr val="tx1"/>
                </a:solidFill>
                <a:latin typeface="Times New Roman" panose="02020603050405020304" pitchFamily="18" charset="0"/>
                <a:cs typeface="Times New Roman" panose="02020603050405020304" pitchFamily="18" charset="0"/>
              </a:rPr>
              <a:t>A small base current controls a larger current flow between the emitter and collector.</a:t>
            </a:r>
          </a:p>
          <a:p>
            <a:r>
              <a:rPr lang="en-US" sz="2400" dirty="0">
                <a:solidFill>
                  <a:schemeClr val="tx1"/>
                </a:solidFill>
                <a:latin typeface="Times New Roman" panose="02020603050405020304" pitchFamily="18" charset="0"/>
                <a:cs typeface="Times New Roman" panose="02020603050405020304" pitchFamily="18" charset="0"/>
              </a:rPr>
              <a:t>This control is achieved by the forward bias of the emitter-base (BE) junction and the reverse bias of the collector-base (CB) junction</a:t>
            </a:r>
            <a:endParaRPr lang="en-TZ"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5330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14623" y="286486"/>
            <a:ext cx="8911687" cy="726388"/>
          </a:xfrm>
        </p:spPr>
        <p:txBody>
          <a:bodyPr/>
          <a:lstStyle/>
          <a:p>
            <a:r>
              <a:rPr lang="en-GB" dirty="0" smtClean="0">
                <a:latin typeface="Times New Roman" panose="02020603050405020304" pitchFamily="18" charset="0"/>
                <a:cs typeface="Times New Roman" panose="02020603050405020304" pitchFamily="18" charset="0"/>
              </a:rPr>
              <a:t>MODES OF MICROWAVE BJT MODES</a:t>
            </a:r>
            <a:endParaRPr lang="en-GB"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59218" y="1012874"/>
            <a:ext cx="10432782" cy="5845126"/>
          </a:xfrm>
        </p:spPr>
        <p:txBody>
          <a:bodyPr>
            <a:normAutofit lnSpcReduction="10000"/>
          </a:bodyPr>
          <a:lstStyle/>
          <a:p>
            <a:r>
              <a:rPr lang="en-GB" b="1" dirty="0" smtClean="0">
                <a:solidFill>
                  <a:schemeClr val="tx1"/>
                </a:solidFill>
                <a:latin typeface="Times New Roman" panose="02020603050405020304" pitchFamily="18" charset="0"/>
                <a:cs typeface="Times New Roman" panose="02020603050405020304" pitchFamily="18" charset="0"/>
              </a:rPr>
              <a:t>CUT-OFF MODE (OFF STATE</a:t>
            </a:r>
            <a:r>
              <a:rPr lang="en-GB" dirty="0" smtClean="0">
                <a:solidFill>
                  <a:schemeClr val="tx1"/>
                </a:solidFill>
                <a:latin typeface="Times New Roman" panose="02020603050405020304" pitchFamily="18" charset="0"/>
                <a:cs typeface="Times New Roman" panose="02020603050405020304" pitchFamily="18" charset="0"/>
              </a:rPr>
              <a:t>)</a:t>
            </a:r>
          </a:p>
          <a:p>
            <a:pPr marL="0" indent="0">
              <a:buNone/>
            </a:pPr>
            <a:r>
              <a:rPr lang="en-GB" sz="2000" dirty="0" smtClean="0">
                <a:solidFill>
                  <a:schemeClr val="tx1"/>
                </a:solidFill>
                <a:latin typeface="Times New Roman" panose="02020603050405020304" pitchFamily="18" charset="0"/>
                <a:cs typeface="Times New Roman" panose="02020603050405020304" pitchFamily="18" charset="0"/>
              </a:rPr>
              <a:t>Base- emitter junction=REVERSE –BIASED</a:t>
            </a:r>
          </a:p>
          <a:p>
            <a:pPr marL="0" indent="0">
              <a:buNone/>
            </a:pPr>
            <a:r>
              <a:rPr lang="en-GB" sz="2000" dirty="0" smtClean="0">
                <a:solidFill>
                  <a:schemeClr val="tx1"/>
                </a:solidFill>
                <a:latin typeface="Times New Roman" panose="02020603050405020304" pitchFamily="18" charset="0"/>
                <a:cs typeface="Times New Roman" panose="02020603050405020304" pitchFamily="18" charset="0"/>
              </a:rPr>
              <a:t>Base-collector junction= reverse biased</a:t>
            </a:r>
          </a:p>
          <a:p>
            <a:pPr marL="0" indent="0">
              <a:buNone/>
            </a:pPr>
            <a:r>
              <a:rPr lang="en-GB" sz="2000" dirty="0" smtClean="0">
                <a:solidFill>
                  <a:schemeClr val="tx1"/>
                </a:solidFill>
                <a:latin typeface="Times New Roman" panose="02020603050405020304" pitchFamily="18" charset="0"/>
                <a:cs typeface="Times New Roman" panose="02020603050405020304" pitchFamily="18" charset="0"/>
              </a:rPr>
              <a:t>No current flow</a:t>
            </a:r>
          </a:p>
          <a:p>
            <a:r>
              <a:rPr lang="en-GB" b="1" dirty="0" smtClean="0">
                <a:solidFill>
                  <a:schemeClr val="tx1"/>
                </a:solidFill>
                <a:latin typeface="Times New Roman" panose="02020603050405020304" pitchFamily="18" charset="0"/>
                <a:cs typeface="Times New Roman" panose="02020603050405020304" pitchFamily="18" charset="0"/>
              </a:rPr>
              <a:t>ACTIVE MODE (AMPLIFIER MODE)</a:t>
            </a:r>
          </a:p>
          <a:p>
            <a:pPr marL="0" indent="0">
              <a:buNone/>
            </a:pPr>
            <a:r>
              <a:rPr lang="en-GB" dirty="0" smtClean="0">
                <a:solidFill>
                  <a:schemeClr val="tx1"/>
                </a:solidFill>
                <a:latin typeface="Times New Roman" panose="02020603050405020304" pitchFamily="18" charset="0"/>
                <a:cs typeface="Times New Roman" panose="02020603050405020304" pitchFamily="18" charset="0"/>
              </a:rPr>
              <a:t>Base-emitter = forward biased</a:t>
            </a:r>
          </a:p>
          <a:p>
            <a:pPr marL="0" indent="0">
              <a:buNone/>
            </a:pPr>
            <a:r>
              <a:rPr lang="en-GB" dirty="0">
                <a:solidFill>
                  <a:schemeClr val="tx1"/>
                </a:solidFill>
                <a:latin typeface="Times New Roman" panose="02020603050405020304" pitchFamily="18" charset="0"/>
                <a:cs typeface="Times New Roman" panose="02020603050405020304" pitchFamily="18" charset="0"/>
              </a:rPr>
              <a:t>Base-collector </a:t>
            </a:r>
            <a:r>
              <a:rPr lang="en-GB" dirty="0" smtClean="0">
                <a:solidFill>
                  <a:schemeClr val="tx1"/>
                </a:solidFill>
                <a:latin typeface="Times New Roman" panose="02020603050405020304" pitchFamily="18" charset="0"/>
                <a:cs typeface="Times New Roman" panose="02020603050405020304" pitchFamily="18" charset="0"/>
              </a:rPr>
              <a:t>junction =REVERSE BIASED          </a:t>
            </a:r>
          </a:p>
          <a:p>
            <a:pPr marL="0" indent="0">
              <a:buNone/>
            </a:pPr>
            <a:r>
              <a:rPr lang="en-GB" dirty="0" smtClean="0">
                <a:solidFill>
                  <a:schemeClr val="tx1"/>
                </a:solidFill>
                <a:latin typeface="Times New Roman" panose="02020603050405020304" pitchFamily="18" charset="0"/>
                <a:cs typeface="Times New Roman" panose="02020603050405020304" pitchFamily="18" charset="0"/>
              </a:rPr>
              <a:t>BJT transistor amplifies current</a:t>
            </a:r>
          </a:p>
          <a:p>
            <a:r>
              <a:rPr lang="en-GB" b="1" dirty="0" smtClean="0">
                <a:solidFill>
                  <a:schemeClr val="tx1"/>
                </a:solidFill>
                <a:latin typeface="Times New Roman" panose="02020603050405020304" pitchFamily="18" charset="0"/>
                <a:cs typeface="Times New Roman" panose="02020603050405020304" pitchFamily="18" charset="0"/>
              </a:rPr>
              <a:t>SATURATION MODE.(FULL ON)</a:t>
            </a:r>
          </a:p>
          <a:p>
            <a:pPr marL="0" indent="0">
              <a:buNone/>
            </a:pPr>
            <a:r>
              <a:rPr lang="en-GB" dirty="0" smtClean="0">
                <a:solidFill>
                  <a:schemeClr val="tx1"/>
                </a:solidFill>
                <a:latin typeface="Times New Roman" panose="02020603050405020304" pitchFamily="18" charset="0"/>
                <a:cs typeface="Times New Roman" panose="02020603050405020304" pitchFamily="18" charset="0"/>
              </a:rPr>
              <a:t>Base-Emitter =FORWARD BIASED</a:t>
            </a:r>
          </a:p>
          <a:p>
            <a:pPr marL="0" indent="0">
              <a:buNone/>
            </a:pPr>
            <a:r>
              <a:rPr lang="en-GB" dirty="0">
                <a:solidFill>
                  <a:schemeClr val="tx1"/>
                </a:solidFill>
                <a:latin typeface="Times New Roman" panose="02020603050405020304" pitchFamily="18" charset="0"/>
                <a:cs typeface="Times New Roman" panose="02020603050405020304" pitchFamily="18" charset="0"/>
              </a:rPr>
              <a:t>Base-collector </a:t>
            </a:r>
            <a:r>
              <a:rPr lang="en-GB" dirty="0" smtClean="0">
                <a:solidFill>
                  <a:schemeClr val="tx1"/>
                </a:solidFill>
                <a:latin typeface="Times New Roman" panose="02020603050405020304" pitchFamily="18" charset="0"/>
                <a:cs typeface="Times New Roman" panose="02020603050405020304" pitchFamily="18" charset="0"/>
              </a:rPr>
              <a:t>junction = forward biased</a:t>
            </a:r>
          </a:p>
          <a:p>
            <a:pPr marL="0" indent="0">
              <a:buNone/>
            </a:pPr>
            <a:r>
              <a:rPr lang="en-GB" dirty="0" smtClean="0">
                <a:solidFill>
                  <a:schemeClr val="tx1"/>
                </a:solidFill>
                <a:latin typeface="Times New Roman" panose="02020603050405020304" pitchFamily="18" charset="0"/>
                <a:cs typeface="Times New Roman" panose="02020603050405020304" pitchFamily="18" charset="0"/>
              </a:rPr>
              <a:t>BJT conducts maximum current.</a:t>
            </a:r>
          </a:p>
          <a:p>
            <a:r>
              <a:rPr lang="en-GB" b="1" dirty="0" smtClean="0">
                <a:solidFill>
                  <a:schemeClr val="tx1"/>
                </a:solidFill>
                <a:latin typeface="Times New Roman" panose="02020603050405020304" pitchFamily="18" charset="0"/>
                <a:cs typeface="Times New Roman" panose="02020603050405020304" pitchFamily="18" charset="0"/>
              </a:rPr>
              <a:t>INVERSE ACTIVE MODE (rarely used)</a:t>
            </a:r>
          </a:p>
          <a:p>
            <a:pPr marL="0" indent="0">
              <a:buNone/>
            </a:pPr>
            <a:r>
              <a:rPr lang="en-GB" dirty="0" smtClean="0">
                <a:solidFill>
                  <a:schemeClr val="tx1"/>
                </a:solidFill>
                <a:latin typeface="Times New Roman" panose="02020603050405020304" pitchFamily="18" charset="0"/>
                <a:cs typeface="Times New Roman" panose="02020603050405020304" pitchFamily="18" charset="0"/>
              </a:rPr>
              <a:t>B-E Junction = revers biased</a:t>
            </a:r>
          </a:p>
          <a:p>
            <a:pPr marL="0" indent="0">
              <a:buNone/>
            </a:pPr>
            <a:r>
              <a:rPr lang="en-GB" dirty="0" smtClean="0">
                <a:solidFill>
                  <a:schemeClr val="tx1"/>
                </a:solidFill>
                <a:latin typeface="Times New Roman" panose="02020603050405020304" pitchFamily="18" charset="0"/>
                <a:cs typeface="Times New Roman" panose="02020603050405020304" pitchFamily="18" charset="0"/>
              </a:rPr>
              <a:t>B-C = forward biased</a:t>
            </a:r>
          </a:p>
          <a:p>
            <a:pPr marL="0" indent="0">
              <a:buNone/>
            </a:pPr>
            <a:endParaRPr lang="en-GB" dirty="0" smtClean="0"/>
          </a:p>
          <a:p>
            <a:pPr marL="0" indent="0">
              <a:buNone/>
            </a:pPr>
            <a:endParaRPr lang="en-GB" dirty="0" smtClean="0"/>
          </a:p>
          <a:p>
            <a:pPr marL="0" indent="0">
              <a:buNone/>
            </a:pPr>
            <a:endParaRPr lang="en-GB" dirty="0" smtClean="0"/>
          </a:p>
          <a:p>
            <a:pPr marL="0" indent="0">
              <a:buNone/>
            </a:pPr>
            <a:endParaRPr lang="en-GB" dirty="0" smtClean="0"/>
          </a:p>
          <a:p>
            <a:pPr marL="0" indent="0">
              <a:buNone/>
            </a:pPr>
            <a:endParaRPr lang="en-GB" dirty="0" smtClean="0"/>
          </a:p>
          <a:p>
            <a:pPr marL="0" indent="0">
              <a:buNone/>
            </a:pPr>
            <a:endParaRPr lang="en-GB"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1528" y="1739261"/>
            <a:ext cx="4990472" cy="4070695"/>
          </a:xfrm>
          <a:prstGeom prst="rect">
            <a:avLst/>
          </a:prstGeom>
        </p:spPr>
      </p:pic>
    </p:spTree>
    <p:extLst>
      <p:ext uri="{BB962C8B-B14F-4D97-AF65-F5344CB8AC3E}">
        <p14:creationId xmlns:p14="http://schemas.microsoft.com/office/powerpoint/2010/main" val="1093127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56BA4-DBA9-6C43-2136-CB2047E48F60}"/>
              </a:ext>
            </a:extLst>
          </p:cNvPr>
          <p:cNvSpPr>
            <a:spLocks noGrp="1"/>
          </p:cNvSpPr>
          <p:nvPr>
            <p:ph type="title"/>
          </p:nvPr>
        </p:nvSpPr>
        <p:spPr>
          <a:xfrm>
            <a:off x="1952845" y="306333"/>
            <a:ext cx="8911687" cy="893817"/>
          </a:xfrm>
        </p:spPr>
        <p:txBody>
          <a:bodyPr>
            <a:normAutofit fontScale="90000"/>
          </a:bodyPr>
          <a:lstStyle/>
          <a:p>
            <a:r>
              <a:rPr lang="en-GB" sz="4000" b="1" dirty="0">
                <a:effectLst/>
                <a:latin typeface="Times New Roman" panose="02020603050405020304" pitchFamily="18" charset="0"/>
                <a:ea typeface="PMingLiU" panose="020B0604030504040204" pitchFamily="18" charset="-120"/>
              </a:rPr>
              <a:t>BJTs IN MICROWAVE ENGINEERING</a:t>
            </a:r>
            <a:endParaRPr lang="en-TZ" sz="4000" b="1" dirty="0"/>
          </a:p>
        </p:txBody>
      </p:sp>
      <p:sp>
        <p:nvSpPr>
          <p:cNvPr id="3" name="Content Placeholder 2">
            <a:extLst>
              <a:ext uri="{FF2B5EF4-FFF2-40B4-BE49-F238E27FC236}">
                <a16:creationId xmlns:a16="http://schemas.microsoft.com/office/drawing/2014/main" id="{56B5A9C4-34D1-0563-D4C0-BC94B3F8402E}"/>
              </a:ext>
            </a:extLst>
          </p:cNvPr>
          <p:cNvSpPr>
            <a:spLocks noGrp="1"/>
          </p:cNvSpPr>
          <p:nvPr>
            <p:ph idx="1"/>
          </p:nvPr>
        </p:nvSpPr>
        <p:spPr>
          <a:xfrm>
            <a:off x="1543050" y="1200150"/>
            <a:ext cx="9961562" cy="4711072"/>
          </a:xfrm>
        </p:spPr>
        <p:txBody>
          <a:bodyPr/>
          <a:lstStyle/>
          <a:p>
            <a:r>
              <a:rPr lang="en-GB" sz="2400" dirty="0">
                <a:solidFill>
                  <a:schemeClr val="tx1"/>
                </a:solidFill>
                <a:effectLst/>
                <a:latin typeface="Times New Roman" panose="02020603050405020304" pitchFamily="18" charset="0"/>
                <a:ea typeface="PMingLiU" panose="020B0604030504040204" pitchFamily="18" charset="-120"/>
              </a:rPr>
              <a:t>In microwave engineering, BJT is used in:</a:t>
            </a:r>
            <a:endParaRPr lang="en-TZ" sz="2400" dirty="0">
              <a:solidFill>
                <a:schemeClr val="tx1"/>
              </a:solidFill>
              <a:effectLst/>
              <a:latin typeface="Times New Roman" panose="02020603050405020304" pitchFamily="18" charset="0"/>
              <a:ea typeface="PMingLiU" panose="020B0604030504040204" pitchFamily="18" charset="-120"/>
            </a:endParaRPr>
          </a:p>
          <a:p>
            <a:r>
              <a:rPr lang="en-GB" sz="2400" dirty="0">
                <a:solidFill>
                  <a:schemeClr val="tx1"/>
                </a:solidFill>
                <a:effectLst/>
                <a:latin typeface="Times New Roman" panose="02020603050405020304" pitchFamily="18" charset="0"/>
                <a:ea typeface="PMingLiU" panose="020B0604030504040204" pitchFamily="18" charset="-120"/>
              </a:rPr>
              <a:t>Amplifiers (to boost signals)</a:t>
            </a:r>
            <a:endParaRPr lang="en-TZ" sz="2400" dirty="0">
              <a:solidFill>
                <a:schemeClr val="tx1"/>
              </a:solidFill>
              <a:effectLst/>
              <a:latin typeface="Times New Roman" panose="02020603050405020304" pitchFamily="18" charset="0"/>
              <a:ea typeface="PMingLiU" panose="020B0604030504040204" pitchFamily="18" charset="-120"/>
            </a:endParaRPr>
          </a:p>
          <a:p>
            <a:r>
              <a:rPr lang="en-GB" sz="2400" dirty="0">
                <a:solidFill>
                  <a:schemeClr val="tx1"/>
                </a:solidFill>
                <a:effectLst/>
                <a:latin typeface="Times New Roman" panose="02020603050405020304" pitchFamily="18" charset="0"/>
                <a:ea typeface="PMingLiU" panose="020B0604030504040204" pitchFamily="18" charset="-120"/>
              </a:rPr>
              <a:t>Oscillators (to generate signals)</a:t>
            </a:r>
            <a:endParaRPr lang="en-TZ" sz="2400" dirty="0">
              <a:solidFill>
                <a:schemeClr val="tx1"/>
              </a:solidFill>
              <a:effectLst/>
              <a:latin typeface="Times New Roman" panose="02020603050405020304" pitchFamily="18" charset="0"/>
              <a:ea typeface="PMingLiU" panose="020B0604030504040204" pitchFamily="18" charset="-120"/>
            </a:endParaRPr>
          </a:p>
          <a:p>
            <a:r>
              <a:rPr lang="en-GB" sz="2400" dirty="0">
                <a:solidFill>
                  <a:schemeClr val="tx1"/>
                </a:solidFill>
                <a:effectLst/>
                <a:latin typeface="Times New Roman" panose="02020603050405020304" pitchFamily="18" charset="0"/>
                <a:ea typeface="PMingLiU" panose="020B0604030504040204" pitchFamily="18" charset="-120"/>
              </a:rPr>
              <a:t>Mixers (to combine frequencies)</a:t>
            </a:r>
            <a:endParaRPr lang="en-TZ" sz="2400" dirty="0">
              <a:solidFill>
                <a:schemeClr val="tx1"/>
              </a:solidFill>
              <a:effectLst/>
              <a:latin typeface="Times New Roman" panose="02020603050405020304" pitchFamily="18" charset="0"/>
              <a:ea typeface="PMingLiU" panose="020B0604030504040204" pitchFamily="18" charset="-120"/>
            </a:endParaRPr>
          </a:p>
          <a:p>
            <a:endParaRPr lang="en-TZ" dirty="0"/>
          </a:p>
        </p:txBody>
      </p:sp>
    </p:spTree>
    <p:extLst>
      <p:ext uri="{BB962C8B-B14F-4D97-AF65-F5344CB8AC3E}">
        <p14:creationId xmlns:p14="http://schemas.microsoft.com/office/powerpoint/2010/main" val="3898543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C6966-E185-0CB7-F4F8-681AE1BCACA1}"/>
              </a:ext>
            </a:extLst>
          </p:cNvPr>
          <p:cNvSpPr>
            <a:spLocks noGrp="1"/>
          </p:cNvSpPr>
          <p:nvPr>
            <p:ph type="title"/>
          </p:nvPr>
        </p:nvSpPr>
        <p:spPr>
          <a:xfrm>
            <a:off x="1952845" y="306333"/>
            <a:ext cx="8911687" cy="1280890"/>
          </a:xfrm>
        </p:spPr>
        <p:txBody>
          <a:bodyPr/>
          <a:lstStyle/>
          <a:p>
            <a:r>
              <a:rPr lang="en-US" b="1" dirty="0">
                <a:solidFill>
                  <a:schemeClr val="tx1"/>
                </a:solidFill>
              </a:rPr>
              <a:t>ADVANTAGES OF BJT IN MICROWAVES</a:t>
            </a:r>
            <a:endParaRPr lang="en-TZ" b="1" dirty="0">
              <a:solidFill>
                <a:schemeClr val="tx1"/>
              </a:solidFill>
            </a:endParaRPr>
          </a:p>
        </p:txBody>
      </p:sp>
      <p:sp>
        <p:nvSpPr>
          <p:cNvPr id="3" name="Content Placeholder 2">
            <a:extLst>
              <a:ext uri="{FF2B5EF4-FFF2-40B4-BE49-F238E27FC236}">
                <a16:creationId xmlns:a16="http://schemas.microsoft.com/office/drawing/2014/main" id="{353BCDA2-D74C-D803-F9F5-969882D7B045}"/>
              </a:ext>
            </a:extLst>
          </p:cNvPr>
          <p:cNvSpPr>
            <a:spLocks noGrp="1"/>
          </p:cNvSpPr>
          <p:nvPr>
            <p:ph idx="1"/>
          </p:nvPr>
        </p:nvSpPr>
        <p:spPr>
          <a:xfrm>
            <a:off x="1743392" y="1687830"/>
            <a:ext cx="10052368" cy="4781550"/>
          </a:xfrm>
        </p:spPr>
        <p:txBody>
          <a:bodyPr/>
          <a:lstStyle/>
          <a:p>
            <a:r>
              <a:rPr lang="en-US" sz="2400" dirty="0">
                <a:solidFill>
                  <a:schemeClr val="tx1"/>
                </a:solidFill>
                <a:latin typeface="Times New Roman" panose="02020603050405020304" pitchFamily="18" charset="0"/>
                <a:cs typeface="Times New Roman" panose="02020603050405020304" pitchFamily="18" charset="0"/>
              </a:rPr>
              <a:t>Can amplify very high-frequency signals</a:t>
            </a:r>
          </a:p>
          <a:p>
            <a:r>
              <a:rPr lang="en-US" sz="2400" dirty="0">
                <a:solidFill>
                  <a:schemeClr val="tx1"/>
                </a:solidFill>
                <a:latin typeface="Times New Roman" panose="02020603050405020304" pitchFamily="18" charset="0"/>
                <a:cs typeface="Times New Roman" panose="02020603050405020304" pitchFamily="18" charset="0"/>
              </a:rPr>
              <a:t>- Easy to model using S-parameters</a:t>
            </a:r>
          </a:p>
          <a:p>
            <a:r>
              <a:rPr lang="en-US" sz="2400" dirty="0">
                <a:solidFill>
                  <a:schemeClr val="tx1"/>
                </a:solidFill>
                <a:latin typeface="Times New Roman" panose="02020603050405020304" pitchFamily="18" charset="0"/>
                <a:cs typeface="Times New Roman" panose="02020603050405020304" pitchFamily="18" charset="0"/>
              </a:rPr>
              <a:t>- Reliable and compact design for RF circuits</a:t>
            </a:r>
          </a:p>
          <a:p>
            <a:r>
              <a:rPr lang="en-GB" sz="2400" dirty="0">
                <a:solidFill>
                  <a:schemeClr val="tx1"/>
                </a:solidFill>
                <a:effectLst/>
                <a:latin typeface="Times New Roman" panose="02020603050405020304" pitchFamily="18" charset="0"/>
                <a:ea typeface="PMingLiU" panose="020B0604030504040204" pitchFamily="18" charset="-120"/>
                <a:cs typeface="Times New Roman" panose="02020603050405020304" pitchFamily="18" charset="0"/>
              </a:rPr>
              <a:t>Fast switching due to small base</a:t>
            </a:r>
            <a:endParaRPr lang="en-TZ" sz="2400" dirty="0">
              <a:solidFill>
                <a:schemeClr val="tx1"/>
              </a:solidFill>
              <a:effectLst/>
              <a:latin typeface="Times New Roman" panose="02020603050405020304" pitchFamily="18" charset="0"/>
              <a:ea typeface="PMingLiU" panose="020B0604030504040204" pitchFamily="18" charset="-120"/>
              <a:cs typeface="Times New Roman" panose="02020603050405020304" pitchFamily="18" charset="0"/>
            </a:endParaRPr>
          </a:p>
          <a:p>
            <a:endParaRPr lang="en-US" dirty="0"/>
          </a:p>
          <a:p>
            <a:endParaRPr lang="en-TZ" dirty="0"/>
          </a:p>
        </p:txBody>
      </p:sp>
    </p:spTree>
    <p:extLst>
      <p:ext uri="{BB962C8B-B14F-4D97-AF65-F5344CB8AC3E}">
        <p14:creationId xmlns:p14="http://schemas.microsoft.com/office/powerpoint/2010/main" val="2323968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60ECC-732D-9209-08D3-EDF0E5CD2DF7}"/>
              </a:ext>
            </a:extLst>
          </p:cNvPr>
          <p:cNvSpPr>
            <a:spLocks noGrp="1"/>
          </p:cNvSpPr>
          <p:nvPr>
            <p:ph type="title"/>
          </p:nvPr>
        </p:nvSpPr>
        <p:spPr>
          <a:xfrm>
            <a:off x="2021425" y="189770"/>
            <a:ext cx="8911687" cy="850360"/>
          </a:xfrm>
        </p:spPr>
        <p:txBody>
          <a:bodyPr/>
          <a:lstStyle/>
          <a:p>
            <a:pPr algn="ctr"/>
            <a:r>
              <a:rPr lang="en-US" b="1" dirty="0">
                <a:solidFill>
                  <a:schemeClr val="tx1"/>
                </a:solidFill>
              </a:rPr>
              <a:t>APPLICATIONS OF BJTs</a:t>
            </a:r>
            <a:endParaRPr lang="en-TZ" b="1" dirty="0">
              <a:solidFill>
                <a:schemeClr val="tx1"/>
              </a:solidFill>
            </a:endParaRPr>
          </a:p>
        </p:txBody>
      </p:sp>
      <p:sp>
        <p:nvSpPr>
          <p:cNvPr id="3" name="Content Placeholder 2">
            <a:extLst>
              <a:ext uri="{FF2B5EF4-FFF2-40B4-BE49-F238E27FC236}">
                <a16:creationId xmlns:a16="http://schemas.microsoft.com/office/drawing/2014/main" id="{D0B82BB3-E361-8AB3-1546-00621D92EA0E}"/>
              </a:ext>
            </a:extLst>
          </p:cNvPr>
          <p:cNvSpPr>
            <a:spLocks noGrp="1"/>
          </p:cNvSpPr>
          <p:nvPr>
            <p:ph idx="1"/>
          </p:nvPr>
        </p:nvSpPr>
        <p:spPr>
          <a:xfrm>
            <a:off x="1325880" y="1200150"/>
            <a:ext cx="10618470" cy="5303520"/>
          </a:xfrm>
        </p:spPr>
        <p:txBody>
          <a:bodyPr>
            <a:normAutofit/>
          </a:bodyPr>
          <a:lstStyle/>
          <a:p>
            <a:r>
              <a:rPr lang="en-GB" sz="2400" dirty="0">
                <a:effectLst/>
                <a:latin typeface="Times New Roman" panose="02020603050405020304" pitchFamily="18" charset="0"/>
                <a:ea typeface="PMingLiU" panose="020B0604030504040204" pitchFamily="18" charset="-120"/>
              </a:rPr>
              <a:t> </a:t>
            </a:r>
            <a:r>
              <a:rPr lang="en-GB" sz="2400" b="1" dirty="0">
                <a:effectLst/>
                <a:latin typeface="Times New Roman" panose="02020603050405020304" pitchFamily="18" charset="0"/>
                <a:ea typeface="PMingLiU" panose="020B0604030504040204" pitchFamily="18" charset="-120"/>
              </a:rPr>
              <a:t>SIGNAL AMPLIFICATION</a:t>
            </a:r>
            <a:endParaRPr lang="en-US" sz="2400" b="1" dirty="0">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BJTs amplify weak signals by controlling a large collector current with a small base current. This makes them ideal for audio amplifiers, RF amplifiers, and sensor signal boosters.</a:t>
            </a:r>
          </a:p>
          <a:p>
            <a:r>
              <a:rPr lang="en-GB" sz="2400" b="1" dirty="0">
                <a:effectLst/>
                <a:latin typeface="Times New Roman" panose="02020603050405020304" pitchFamily="18" charset="0"/>
                <a:ea typeface="PMingLiU" panose="020B0604030504040204" pitchFamily="18" charset="-120"/>
              </a:rPr>
              <a:t>OSCILLATOR CIRCUITS</a:t>
            </a:r>
            <a:endParaRPr lang="en-TZ" sz="2400" b="1" dirty="0">
              <a:effectLst/>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BJTs are used in oscillator designs (like Colpitts or Hartley oscillators) to produce periodic signals. The transistor provides the necessary gain to sustain oscillations. Common in radio transmitters, RF signal generators, clocks.</a:t>
            </a:r>
          </a:p>
          <a:p>
            <a:r>
              <a:rPr lang="en-GB" sz="2400" b="1" dirty="0">
                <a:effectLst/>
                <a:latin typeface="Times New Roman" panose="02020603050405020304" pitchFamily="18" charset="0"/>
                <a:ea typeface="PMingLiU" panose="020B0604030504040204" pitchFamily="18" charset="-120"/>
              </a:rPr>
              <a:t>HIGH-FREQUENCY APPLICATIONS (MICROWAVE AMPLIFIERS) </a:t>
            </a:r>
            <a:endParaRPr lang="en-TZ" sz="2400" b="1" dirty="0">
              <a:effectLst/>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At microwave frequencies, BJTs (specially designed microwave BJTs like HBTs) are used for low-noise amplification in radar, satellite, and wireless systems.</a:t>
            </a:r>
            <a:endParaRPr lang="en-TZ" sz="2400" dirty="0">
              <a:effectLst/>
              <a:latin typeface="Times New Roman" panose="02020603050405020304" pitchFamily="18" charset="0"/>
              <a:ea typeface="PMingLiU" panose="020B0604030504040204" pitchFamily="18" charset="-120"/>
            </a:endParaRPr>
          </a:p>
          <a:p>
            <a:pPr marL="0" indent="0">
              <a:buNone/>
            </a:pPr>
            <a:endParaRPr lang="en-TZ" sz="1800" dirty="0">
              <a:effectLst/>
              <a:latin typeface="Times New Roman" panose="02020603050405020304" pitchFamily="18" charset="0"/>
              <a:ea typeface="PMingLiU" panose="020B0604030504040204" pitchFamily="18" charset="-120"/>
            </a:endParaRPr>
          </a:p>
          <a:p>
            <a:pPr marL="0" indent="0">
              <a:buNone/>
            </a:pPr>
            <a:endParaRPr lang="en-TZ" sz="1800" dirty="0">
              <a:effectLst/>
              <a:latin typeface="Times New Roman" panose="02020603050405020304" pitchFamily="18" charset="0"/>
              <a:ea typeface="PMingLiU" panose="020B0604030504040204" pitchFamily="18" charset="-120"/>
            </a:endParaRPr>
          </a:p>
          <a:p>
            <a:endParaRPr lang="en-TZ" dirty="0"/>
          </a:p>
        </p:txBody>
      </p:sp>
    </p:spTree>
    <p:extLst>
      <p:ext uri="{BB962C8B-B14F-4D97-AF65-F5344CB8AC3E}">
        <p14:creationId xmlns:p14="http://schemas.microsoft.com/office/powerpoint/2010/main" val="19257320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4BB82-ED70-05D4-C815-E7CA6163B341}"/>
              </a:ext>
            </a:extLst>
          </p:cNvPr>
          <p:cNvSpPr>
            <a:spLocks noGrp="1"/>
          </p:cNvSpPr>
          <p:nvPr>
            <p:ph type="title"/>
          </p:nvPr>
        </p:nvSpPr>
        <p:spPr>
          <a:xfrm>
            <a:off x="1484215" y="306333"/>
            <a:ext cx="8911687" cy="813807"/>
          </a:xfrm>
        </p:spPr>
        <p:txBody>
          <a:bodyPr/>
          <a:lstStyle/>
          <a:p>
            <a:pPr algn="ctr"/>
            <a:r>
              <a:rPr lang="en-US" b="1" dirty="0">
                <a:solidFill>
                  <a:schemeClr val="tx1"/>
                </a:solidFill>
              </a:rPr>
              <a:t>APPLICATIONS OF BJTs </a:t>
            </a:r>
            <a:r>
              <a:rPr lang="en-US" b="1" dirty="0" err="1">
                <a:solidFill>
                  <a:schemeClr val="tx1"/>
                </a:solidFill>
              </a:rPr>
              <a:t>cnt</a:t>
            </a:r>
            <a:r>
              <a:rPr lang="en-US" b="1" dirty="0">
                <a:solidFill>
                  <a:schemeClr val="tx1"/>
                </a:solidFill>
              </a:rPr>
              <a:t>….</a:t>
            </a:r>
            <a:endParaRPr lang="en-TZ" dirty="0"/>
          </a:p>
        </p:txBody>
      </p:sp>
      <p:sp>
        <p:nvSpPr>
          <p:cNvPr id="3" name="Content Placeholder 2">
            <a:extLst>
              <a:ext uri="{FF2B5EF4-FFF2-40B4-BE49-F238E27FC236}">
                <a16:creationId xmlns:a16="http://schemas.microsoft.com/office/drawing/2014/main" id="{AA741608-96C5-FA22-3617-98B94A68FE34}"/>
              </a:ext>
            </a:extLst>
          </p:cNvPr>
          <p:cNvSpPr>
            <a:spLocks noGrp="1"/>
          </p:cNvSpPr>
          <p:nvPr>
            <p:ph idx="1"/>
          </p:nvPr>
        </p:nvSpPr>
        <p:spPr>
          <a:xfrm>
            <a:off x="1343342" y="1479812"/>
            <a:ext cx="10406698" cy="5071855"/>
          </a:xfrm>
        </p:spPr>
        <p:txBody>
          <a:bodyPr>
            <a:normAutofit fontScale="92500" lnSpcReduction="10000"/>
          </a:bodyPr>
          <a:lstStyle/>
          <a:p>
            <a:r>
              <a:rPr lang="en-GB" sz="2400" b="1" dirty="0">
                <a:effectLst/>
                <a:latin typeface="Times New Roman" panose="02020603050405020304" pitchFamily="18" charset="0"/>
                <a:ea typeface="PMingLiU" panose="020B0604030504040204" pitchFamily="18" charset="-120"/>
              </a:rPr>
              <a:t>POWER AMPLIFIERS</a:t>
            </a:r>
            <a:endParaRPr lang="en-TZ" sz="2400" b="1" dirty="0">
              <a:effectLst/>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BJTs are used in RF and audio power amplifiers to drive loads like antennas or speakers. They handle higher current and power levels.</a:t>
            </a:r>
            <a:endParaRPr lang="en-TZ" sz="2400" dirty="0">
              <a:effectLst/>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Found in radio transmitters, audio systems, PA systems.</a:t>
            </a:r>
            <a:endParaRPr lang="en-TZ" sz="2400" dirty="0">
              <a:effectLst/>
              <a:latin typeface="Times New Roman" panose="02020603050405020304" pitchFamily="18" charset="0"/>
              <a:ea typeface="PMingLiU" panose="020B0604030504040204" pitchFamily="18" charset="-120"/>
            </a:endParaRPr>
          </a:p>
          <a:p>
            <a:r>
              <a:rPr lang="en-GB" sz="2400" b="1" dirty="0">
                <a:effectLst/>
                <a:latin typeface="Times New Roman" panose="02020603050405020304" pitchFamily="18" charset="0"/>
                <a:ea typeface="PMingLiU" panose="020B0604030504040204" pitchFamily="18" charset="-120"/>
              </a:rPr>
              <a:t> ANALOG CIRCUITS (E.G., VOLTAGE REGULATORS)</a:t>
            </a:r>
            <a:endParaRPr lang="en-US" sz="2400" b="1" dirty="0">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BJTs are part of feedback-based voltage regulators (like linear regulators). They help maintain a steady output voltage.</a:t>
            </a:r>
            <a:endParaRPr lang="en-US" sz="2400" dirty="0">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Often used in series with load to drop excess voltage.</a:t>
            </a:r>
            <a:endParaRPr lang="en-TZ" sz="2400" dirty="0">
              <a:effectLst/>
              <a:latin typeface="Times New Roman" panose="02020603050405020304" pitchFamily="18" charset="0"/>
              <a:ea typeface="PMingLiU" panose="020B0604030504040204" pitchFamily="18" charset="-120"/>
            </a:endParaRPr>
          </a:p>
          <a:p>
            <a:r>
              <a:rPr lang="en-GB" sz="2400" b="1" dirty="0">
                <a:effectLst/>
                <a:latin typeface="Times New Roman" panose="02020603050405020304" pitchFamily="18" charset="0"/>
                <a:ea typeface="PMingLiU" panose="020B0604030504040204" pitchFamily="18" charset="-120"/>
              </a:rPr>
              <a:t>SWITCHING APPLICATIONS (DIGITAL LOGIC &amp; CONTROL)</a:t>
            </a:r>
            <a:endParaRPr lang="en-TZ" sz="2400" dirty="0">
              <a:effectLst/>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BJTs can act as electronic switches in logic gates and microcontroller-controlled circuits. In this case, they operate in cutoff (OFF) and saturation (ON) regions.</a:t>
            </a:r>
            <a:endParaRPr lang="en-TZ" sz="2400" dirty="0">
              <a:effectLst/>
              <a:latin typeface="Times New Roman" panose="02020603050405020304" pitchFamily="18" charset="0"/>
              <a:ea typeface="PMingLiU" panose="020B0604030504040204" pitchFamily="18" charset="-120"/>
            </a:endParaRPr>
          </a:p>
          <a:p>
            <a:pPr marL="0" indent="0">
              <a:buNone/>
            </a:pPr>
            <a:r>
              <a:rPr lang="en-GB" sz="2400" dirty="0">
                <a:effectLst/>
                <a:latin typeface="Times New Roman" panose="02020603050405020304" pitchFamily="18" charset="0"/>
                <a:ea typeface="PMingLiU" panose="020B0604030504040204" pitchFamily="18" charset="-120"/>
              </a:rPr>
              <a:t>Used in logic ICs, motor control, LED drivers, etc.</a:t>
            </a:r>
            <a:endParaRPr lang="en-TZ" sz="2400" dirty="0">
              <a:effectLst/>
              <a:latin typeface="Times New Roman" panose="02020603050405020304" pitchFamily="18" charset="0"/>
              <a:ea typeface="PMingLiU" panose="020B0604030504040204" pitchFamily="18" charset="-120"/>
            </a:endParaRPr>
          </a:p>
          <a:p>
            <a:endParaRPr lang="en-TZ" dirty="0"/>
          </a:p>
        </p:txBody>
      </p:sp>
    </p:spTree>
    <p:extLst>
      <p:ext uri="{BB962C8B-B14F-4D97-AF65-F5344CB8AC3E}">
        <p14:creationId xmlns:p14="http://schemas.microsoft.com/office/powerpoint/2010/main" val="41507432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235</TotalTime>
  <Words>595</Words>
  <Application>Microsoft Office PowerPoint</Application>
  <PresentationFormat>Widescreen</PresentationFormat>
  <Paragraphs>131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Century Gothic</vt:lpstr>
      <vt:lpstr>PMingLiU</vt:lpstr>
      <vt:lpstr>Times New Roman</vt:lpstr>
      <vt:lpstr>Wingdings 3</vt:lpstr>
      <vt:lpstr>Wisp</vt:lpstr>
      <vt:lpstr>MBEYA UNIVERSITY OF SCIENCE AND TECHNOLOGY</vt:lpstr>
      <vt:lpstr>GROUP PARTICIPANTS</vt:lpstr>
      <vt:lpstr>BIPOLAR JUNCTION TRANSISTOR (BJT)</vt:lpstr>
      <vt:lpstr>INTRODUCTION</vt:lpstr>
      <vt:lpstr>WORKING PRINCIPLE OF BJT.</vt:lpstr>
      <vt:lpstr>WORKING PRINCIPLE OF BJT cnt……</vt:lpstr>
      <vt:lpstr>MODES OF MICROWAVE BJT MODES</vt:lpstr>
      <vt:lpstr>BJTs IN MICROWAVE ENGINEERING</vt:lpstr>
      <vt:lpstr>ADVANTAGES OF BJT IN MICROWAVES</vt:lpstr>
      <vt:lpstr>APPLICATIONS OF BJTs</vt:lpstr>
      <vt:lpstr>APPLICATIONS OF BJTs cnt….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MBEYA UNIVERSITY OF SCIENCE AND TECHNOLOGY</dc:title>
  <dc:creator>Michael Michael</dc:creator>
  <cp:lastModifiedBy>MEMBER COMPUTER TECH</cp:lastModifiedBy>
  <cp:revision>8</cp:revision>
  <dcterms:created xsi:type="dcterms:W3CDTF">2025-05-22T19:31:04Z</dcterms:created>
  <dcterms:modified xsi:type="dcterms:W3CDTF">2025-05-23T06:48:22Z</dcterms:modified>
</cp:coreProperties>
</file>