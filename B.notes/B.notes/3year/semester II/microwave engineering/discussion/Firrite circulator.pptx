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-1182" y="-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6349-2A7F-4C25-BB37-57E03391A03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29BE8-B515-477F-AAEC-0A3E66682A0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29BE8-B515-477F-AAEC-0A3E66682A0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7A5FE-8B69-424F-950C-C603030E45ED}" type="datetimeFigureOut">
              <a:rPr lang="x-none" smtClean="0"/>
              <a:pPr/>
              <a:t>5/25/2025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CEFD2-E2FF-412A-A837-2E82B8384118}" type="slidenum">
              <a:rPr lang="x-none" smtClean="0"/>
              <a:pPr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90EB47F-837B-E013-B732-D9FFC96BE3AA}"/>
              </a:ext>
            </a:extLst>
          </p:cNvPr>
          <p:cNvSpPr txBox="1"/>
          <p:nvPr/>
        </p:nvSpPr>
        <p:spPr>
          <a:xfrm>
            <a:off x="4321628" y="947447"/>
            <a:ext cx="5268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</a:rPr>
              <a:t>FERRITE CIRCULATOR</a:t>
            </a:r>
            <a:endParaRPr lang="x-none" sz="32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6962035-8169-1AE9-D7A6-777A6306E871}"/>
              </a:ext>
            </a:extLst>
          </p:cNvPr>
          <p:cNvSpPr txBox="1"/>
          <p:nvPr/>
        </p:nvSpPr>
        <p:spPr>
          <a:xfrm>
            <a:off x="1181100" y="2028149"/>
            <a:ext cx="9829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Introduction……………</a:t>
            </a:r>
          </a:p>
          <a:p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WHAT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IS A FERRITE CIRCULATOR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ferrite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circulator is a three-port device used to control the direction of signal flow (RF energy) in a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anose="02020603050405020304" pitchFamily="18" charset="0"/>
            </a:endParaRPr>
          </a:p>
          <a:p>
            <a:endParaRPr lang="x-none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6118EB7-1674-5A8C-CD6D-E35297A241BA}"/>
              </a:ext>
            </a:extLst>
          </p:cNvPr>
          <p:cNvSpPr txBox="1"/>
          <p:nvPr/>
        </p:nvSpPr>
        <p:spPr>
          <a:xfrm>
            <a:off x="1181100" y="3429000"/>
            <a:ext cx="9024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non-reciprocal, passive three ports, ferromagnetic device in which power is transferred from one port to the next adjacent port in a prescribed order</a:t>
            </a:r>
            <a:endParaRPr lang="x-none" dirty="0"/>
          </a:p>
        </p:txBody>
      </p:sp>
    </p:spTree>
    <p:extLst>
      <p:ext uri="{BB962C8B-B14F-4D97-AF65-F5344CB8AC3E}">
        <p14:creationId xmlns="" xmlns:p14="http://schemas.microsoft.com/office/powerpoint/2010/main" val="408077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729EB37-D203-A767-D8AD-DFA812AD64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901" y="1152009"/>
            <a:ext cx="5954485" cy="2783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E1B2270-F53C-243B-2697-300E0EE13ECC}"/>
              </a:ext>
            </a:extLst>
          </p:cNvPr>
          <p:cNvSpPr txBox="1"/>
          <p:nvPr/>
        </p:nvSpPr>
        <p:spPr>
          <a:xfrm>
            <a:off x="3766457" y="461202"/>
            <a:ext cx="6096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50000"/>
              </a:lnSpc>
              <a:spcAft>
                <a:spcPts val="1645"/>
              </a:spcAft>
            </a:pPr>
            <a:r>
              <a:rPr lang="en-US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DIAGRAM OF A  CIRCULATOR </a:t>
            </a:r>
            <a:endParaRPr lang="x-none" sz="20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B812CE2-C40F-C565-499F-F415F6E11321}"/>
              </a:ext>
            </a:extLst>
          </p:cNvPr>
          <p:cNvSpPr txBox="1"/>
          <p:nvPr/>
        </p:nvSpPr>
        <p:spPr>
          <a:xfrm>
            <a:off x="3374572" y="3842220"/>
            <a:ext cx="8316686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50000"/>
              </a:lnSpc>
              <a:spcAft>
                <a:spcPts val="1645"/>
              </a:spcAft>
            </a:pPr>
            <a:r>
              <a:rPr lang="en-US" sz="2000" i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A </a:t>
            </a:r>
            <a:r>
              <a:rPr lang="en-US" sz="2000" i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simple diagram </a:t>
            </a:r>
            <a:r>
              <a:rPr lang="en-US" sz="2000" i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 a  circulator </a:t>
            </a:r>
            <a:endParaRPr lang="x-none" sz="2000" i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1721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C48571D-CA80-C014-8C9B-B7429FE0FF14}"/>
              </a:ext>
            </a:extLst>
          </p:cNvPr>
          <p:cNvSpPr txBox="1"/>
          <p:nvPr/>
        </p:nvSpPr>
        <p:spPr>
          <a:xfrm>
            <a:off x="76201" y="997366"/>
            <a:ext cx="116694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" indent="-6350" algn="just">
              <a:lnSpc>
                <a:spcPct val="150000"/>
              </a:lnSpc>
              <a:spcAft>
                <a:spcPts val="975"/>
              </a:spcAft>
              <a:buFont typeface="Wingdings" pitchFamily="2" charset="2"/>
              <a:buChar char="Ø"/>
            </a:pPr>
            <a:r>
              <a:rPr 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A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Circulator utilizes a transversely magnetized ferrite junction to circulate incoming microwave energy from port 1 </a:t>
            </a:r>
            <a:r>
              <a:rPr 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</a:p>
          <a:p>
            <a:pPr marL="6350" marR="635" indent="-6350" algn="just">
              <a:lnSpc>
                <a:spcPct val="150000"/>
              </a:lnSpc>
              <a:spcAft>
                <a:spcPts val="975"/>
              </a:spcAft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port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2, port 2 to port 3, and port 3 to port 1. </a:t>
            </a:r>
            <a:endParaRPr lang="en-US" sz="1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635" indent="-6350" algn="just">
              <a:lnSpc>
                <a:spcPct val="150000"/>
              </a:lnSpc>
              <a:spcAft>
                <a:spcPts val="975"/>
              </a:spcAft>
              <a:buFont typeface="Wingdings" pitchFamily="2" charset="2"/>
              <a:buChar char="Ø"/>
            </a:pPr>
            <a:r>
              <a:rPr 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The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arrows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direction of the magnetic fields and the signal when applied to any port of these devices. </a:t>
            </a:r>
            <a:endParaRPr lang="en-US" sz="1800" dirty="0" smtClean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635" indent="-6350" algn="just">
              <a:lnSpc>
                <a:spcPct val="150000"/>
              </a:lnSpc>
              <a:spcAft>
                <a:spcPts val="975"/>
              </a:spcAft>
              <a:buFont typeface="Wingdings" pitchFamily="2" charset="2"/>
              <a:buChar char="Ø"/>
            </a:pP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 signal experiences a low loss in the direction of arrow and high loss in reverse direction while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propagating   through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Circulator</a:t>
            </a:r>
            <a:endParaRPr lang="x-none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313DBCF-BB83-B2E4-B22C-E72BEF0DE553}"/>
              </a:ext>
            </a:extLst>
          </p:cNvPr>
          <p:cNvSpPr txBox="1"/>
          <p:nvPr/>
        </p:nvSpPr>
        <p:spPr>
          <a:xfrm>
            <a:off x="2188029" y="337020"/>
            <a:ext cx="6096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50000"/>
              </a:lnSpc>
              <a:spcAft>
                <a:spcPts val="1645"/>
              </a:spcAft>
            </a:pPr>
            <a:r>
              <a:rPr lang="en-US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WORKING </a:t>
            </a: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PRINCIPLE </a:t>
            </a:r>
            <a:r>
              <a:rPr lang="en-US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OF A </a:t>
            </a: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CIRCULATOR</a:t>
            </a:r>
            <a:endParaRPr lang="x-none" sz="20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E019443-D7BB-9662-A3E5-8C6EA858D8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1028" y="3783561"/>
            <a:ext cx="5529944" cy="23871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2272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18387E2-A937-925B-E625-5F015481AC6D}"/>
              </a:ext>
            </a:extLst>
          </p:cNvPr>
          <p:cNvSpPr txBox="1"/>
          <p:nvPr/>
        </p:nvSpPr>
        <p:spPr>
          <a:xfrm>
            <a:off x="1730828" y="630934"/>
            <a:ext cx="9176657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50000"/>
              </a:lnSpc>
              <a:spcAft>
                <a:spcPts val="1645"/>
              </a:spcAft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CONSTRUCTION ELEMENTS OF CIRCULATOR </a:t>
            </a:r>
            <a:endParaRPr lang="x-none" sz="24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A7B5F99-FA5D-8A42-27AC-1238738C4B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1477" y="1784032"/>
            <a:ext cx="4278494" cy="39309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FE4CA8D-6ED0-2047-21E8-D434DCFC6BA8}"/>
              </a:ext>
            </a:extLst>
          </p:cNvPr>
          <p:cNvSpPr txBox="1"/>
          <p:nvPr/>
        </p:nvSpPr>
        <p:spPr>
          <a:xfrm>
            <a:off x="2188029" y="5917579"/>
            <a:ext cx="917665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50000"/>
              </a:lnSpc>
              <a:spcAft>
                <a:spcPts val="1645"/>
              </a:spcAft>
            </a:pPr>
            <a:r>
              <a:rPr lang="en-US" i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 simple diagram  that shows different internal parts of  circulator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x-none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283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765DB98-50E3-988B-7D37-D2ED416744E8}"/>
              </a:ext>
            </a:extLst>
          </p:cNvPr>
          <p:cNvSpPr txBox="1"/>
          <p:nvPr/>
        </p:nvSpPr>
        <p:spPr>
          <a:xfrm>
            <a:off x="2002970" y="946621"/>
            <a:ext cx="805542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50000"/>
              </a:lnSpc>
              <a:spcAft>
                <a:spcPts val="1645"/>
              </a:spcAft>
            </a:pP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CONSTRUCTION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ELEMENTS OF CIRCULATOR </a:t>
            </a:r>
            <a:endParaRPr lang="x-none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3BCC7EF-708F-F6CC-BD26-9EB49CAE34BC}"/>
              </a:ext>
            </a:extLst>
          </p:cNvPr>
          <p:cNvSpPr txBox="1"/>
          <p:nvPr/>
        </p:nvSpPr>
        <p:spPr>
          <a:xfrm>
            <a:off x="478972" y="1812472"/>
            <a:ext cx="109292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Typical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junction Circulator consists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</a:p>
          <a:p>
            <a:pPr algn="just"/>
            <a:endParaRPr lang="en-US" sz="18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Y-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junction strapline circuit sandwiched between two ferrite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discs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 A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upper and lower magnetically biased permanent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magnets </a:t>
            </a:r>
          </a:p>
          <a:p>
            <a:pPr algn="just">
              <a:buFont typeface="Arial" pitchFamily="34" charset="0"/>
              <a:buChar char="•"/>
            </a:pP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round planes.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ferrite materials, magnets are selected according to the frequency of operation, input power ratings and intended application.</a:t>
            </a:r>
            <a:endParaRPr lang="x-none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ECF75B5-889D-D6F2-D478-415E95C5261A}"/>
              </a:ext>
            </a:extLst>
          </p:cNvPr>
          <p:cNvSpPr txBox="1"/>
          <p:nvPr/>
        </p:nvSpPr>
        <p:spPr>
          <a:xfrm>
            <a:off x="277586" y="3743236"/>
            <a:ext cx="11342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</a:t>
            </a:r>
          </a:p>
          <a:p>
            <a:pPr algn="just"/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                                 </a:t>
            </a:r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magnetic field is applied through the vertical axis of this assembly, results into a circulation of the RF energy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from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port to the adjacent port, depending on from which port the energy is coming from</a:t>
            </a:r>
            <a:endParaRPr lang="x-none" dirty="0"/>
          </a:p>
        </p:txBody>
      </p:sp>
    </p:spTree>
    <p:extLst>
      <p:ext uri="{BB962C8B-B14F-4D97-AF65-F5344CB8AC3E}">
        <p14:creationId xmlns="" xmlns:p14="http://schemas.microsoft.com/office/powerpoint/2010/main" val="46352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A746C08-FC65-63FC-ED46-58AC529124E7}"/>
              </a:ext>
            </a:extLst>
          </p:cNvPr>
          <p:cNvSpPr txBox="1"/>
          <p:nvPr/>
        </p:nvSpPr>
        <p:spPr>
          <a:xfrm>
            <a:off x="1641513" y="445878"/>
            <a:ext cx="9838063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50000"/>
              </a:lnSpc>
              <a:spcAft>
                <a:spcPts val="1645"/>
              </a:spcAft>
            </a:pPr>
            <a:r>
              <a:rPr lang="en-US" sz="2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THE CIRCULATOR </a:t>
            </a:r>
            <a:endParaRPr lang="x-none" sz="2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7AD2105-5BBF-6919-1DA1-C1DC673F9E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0630" y="1565159"/>
            <a:ext cx="5134428" cy="2704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AD30809-7F07-5EFB-343D-413D69B3EB05}"/>
              </a:ext>
            </a:extLst>
          </p:cNvPr>
          <p:cNvSpPr txBox="1"/>
          <p:nvPr/>
        </p:nvSpPr>
        <p:spPr>
          <a:xfrm>
            <a:off x="1371600" y="1107085"/>
            <a:ext cx="59436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" indent="-6350" algn="just">
              <a:lnSpc>
                <a:spcPct val="150000"/>
              </a:lnSpc>
              <a:spcAft>
                <a:spcPts val="97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AS RF duplexer </a:t>
            </a:r>
            <a:endParaRPr lang="x-none" sz="2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24CD80A-EEB3-DABE-3F55-323BDB385D4E}"/>
              </a:ext>
            </a:extLst>
          </p:cNvPr>
          <p:cNvSpPr txBox="1"/>
          <p:nvPr/>
        </p:nvSpPr>
        <p:spPr>
          <a:xfrm>
            <a:off x="517072" y="4727518"/>
            <a:ext cx="111578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 used as an RF duplexer to share the same antenna between transmitter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and        receiver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are tuned to different frequencies. </a:t>
            </a:r>
            <a:endParaRPr lang="en-US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configuration allows bidirectional communications over a single channel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x-non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6426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75FF218-D949-F97B-878D-C8C8AD1F275F}"/>
              </a:ext>
            </a:extLst>
          </p:cNvPr>
          <p:cNvSpPr txBox="1"/>
          <p:nvPr/>
        </p:nvSpPr>
        <p:spPr>
          <a:xfrm>
            <a:off x="1743223" y="962161"/>
            <a:ext cx="609783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" indent="-6350" algn="just">
              <a:lnSpc>
                <a:spcPct val="150000"/>
              </a:lnSpc>
              <a:spcAft>
                <a:spcPts val="975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Radio Link Combiner:  </a:t>
            </a:r>
            <a:endParaRPr lang="x-none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4906C93-6795-E233-C2FE-DF058465B5CA}"/>
              </a:ext>
            </a:extLst>
          </p:cNvPr>
          <p:cNvSpPr txBox="1"/>
          <p:nvPr/>
        </p:nvSpPr>
        <p:spPr>
          <a:xfrm>
            <a:off x="2542142" y="448501"/>
            <a:ext cx="609783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50000"/>
              </a:lnSpc>
              <a:spcAft>
                <a:spcPts val="1645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THE CIRCULATOR </a:t>
            </a:r>
            <a:endParaRPr lang="x-none" sz="1800" b="1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B8CBD6C-B5BD-F4EB-50CE-331FA6BDC6E6}"/>
              </a:ext>
            </a:extLst>
          </p:cNvPr>
          <p:cNvSpPr txBox="1"/>
          <p:nvPr/>
        </p:nvSpPr>
        <p:spPr>
          <a:xfrm>
            <a:off x="517663" y="4643359"/>
            <a:ext cx="113804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Circulator can be used as an RF signal combiner for multiple transmitters and receivers in the VHF/UHF bands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radio links operating at 2 GHz and higher frequencies the conventional combining technique using an array of sharp filters, results in relatively high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losses </a:t>
            </a:r>
            <a:endParaRPr lang="x-non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E6CDE64-F835-A5A3-CEDD-BE09D933EC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113" y="1398212"/>
            <a:ext cx="5070513" cy="321647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8276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69B2A44-9E35-F5B9-A10A-B1774A64B070}"/>
              </a:ext>
            </a:extLst>
          </p:cNvPr>
          <p:cNvSpPr txBox="1"/>
          <p:nvPr/>
        </p:nvSpPr>
        <p:spPr>
          <a:xfrm>
            <a:off x="2189602" y="129011"/>
            <a:ext cx="6097836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" indent="-6350" algn="ctr">
              <a:lnSpc>
                <a:spcPct val="150000"/>
              </a:lnSpc>
              <a:spcAft>
                <a:spcPts val="975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 AREAS: </a:t>
            </a:r>
            <a:endParaRPr lang="x-none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3C1F11B-0A67-CFA9-92D3-B82CDE10F42E}"/>
              </a:ext>
            </a:extLst>
          </p:cNvPr>
          <p:cNvSpPr txBox="1"/>
          <p:nvPr/>
        </p:nvSpPr>
        <p:spPr>
          <a:xfrm>
            <a:off x="2189602" y="939988"/>
            <a:ext cx="8397608" cy="399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Television &amp; Radio broadcasting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 links &amp; telecommunication networks 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Aviation &amp; navigation industries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Military equipment &amp; Radar systems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Laboratory measurement systems 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Symbol" panose="05050102010706020507" pitchFamily="18" charset="2"/>
              <a:buChar char="-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Industrial microwave heating.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97732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52FDE46-797B-639C-9E35-F7144D88C101}"/>
              </a:ext>
            </a:extLst>
          </p:cNvPr>
          <p:cNvSpPr txBox="1"/>
          <p:nvPr/>
        </p:nvSpPr>
        <p:spPr>
          <a:xfrm>
            <a:off x="3566710" y="933243"/>
            <a:ext cx="6097836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" indent="-6350" algn="ctr">
              <a:lnSpc>
                <a:spcPct val="150000"/>
              </a:lnSpc>
              <a:spcAft>
                <a:spcPts val="975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IS CIRCULATOR PACKAGED. </a:t>
            </a:r>
            <a:endParaRPr lang="x-none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003DB67-7066-BC6A-9E9F-A8683E17AD0C}"/>
              </a:ext>
            </a:extLst>
          </p:cNvPr>
          <p:cNvSpPr txBox="1"/>
          <p:nvPr/>
        </p:nvSpPr>
        <p:spPr>
          <a:xfrm>
            <a:off x="220338" y="1742498"/>
            <a:ext cx="10928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generally offered as the discrete devices in shielded metal cans with appropriate connectors for the input and output ports</a:t>
            </a:r>
            <a:endParaRPr lang="x-non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889CCFC-7711-CC17-2BB7-9DB4939257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5169" y="3429000"/>
            <a:ext cx="4056296" cy="237871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94290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55C8AC3-EF87-8470-E4DE-A7A3EB006606}"/>
              </a:ext>
            </a:extLst>
          </p:cNvPr>
          <p:cNvSpPr txBox="1"/>
          <p:nvPr/>
        </p:nvSpPr>
        <p:spPr>
          <a:xfrm>
            <a:off x="121186" y="1181194"/>
            <a:ext cx="11732964" cy="334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50000"/>
              </a:lnSpc>
              <a:spcAft>
                <a:spcPts val="1645"/>
              </a:spcAft>
              <a:buNone/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circulator devices </a:t>
            </a:r>
            <a:endParaRPr lang="x-none" sz="2400" b="1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more sized and bulk make then incompatible with today’s miniature products which must, therefore, use alternative approaches which are only available at lower power level. </a:t>
            </a:r>
            <a:endParaRPr lang="x-none" sz="24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635" lvl="0" indent="-342900" algn="just" fontAlgn="base">
              <a:lnSpc>
                <a:spcPct val="150000"/>
              </a:lnSpc>
              <a:spcAft>
                <a:spcPts val="975"/>
              </a:spcAft>
              <a:buClr>
                <a:srgbClr val="000000"/>
              </a:buClr>
              <a:buSzPts val="1400"/>
              <a:buFont typeface="+mj-lt"/>
              <a:buAutoNum type="arabicPeriod"/>
            </a:pPr>
            <a:r>
              <a:rPr lang="en-US" sz="2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difficult to achieve acceptable performance beyond tens and hundreds of GHz</a:t>
            </a:r>
            <a: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x-none" sz="2000" u="none" strike="noStrike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635" indent="-6350" algn="l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x-none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603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475</Words>
  <Application>Microsoft Office PowerPoint</Application>
  <PresentationFormat>Custom</PresentationFormat>
  <Paragraphs>50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paulo john</dc:creator>
  <cp:lastModifiedBy>Burhan</cp:lastModifiedBy>
  <cp:revision>3</cp:revision>
  <dcterms:created xsi:type="dcterms:W3CDTF">2025-05-23T06:32:33Z</dcterms:created>
  <dcterms:modified xsi:type="dcterms:W3CDTF">2025-05-26T01:22:40Z</dcterms:modified>
</cp:coreProperties>
</file>