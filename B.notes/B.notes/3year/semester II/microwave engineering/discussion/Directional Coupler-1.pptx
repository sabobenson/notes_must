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19" r:id="rId1"/>
  </p:sldMasterIdLst>
  <p:sldIdLst>
    <p:sldId id="256" r:id="rId2"/>
    <p:sldId id="258" r:id="rId3"/>
    <p:sldId id="259" r:id="rId4"/>
    <p:sldId id="260" r:id="rId5"/>
    <p:sldId id="261" r:id="rId6"/>
    <p:sldId id="262" r:id="rId7"/>
    <p:sldId id="263" r:id="rId8"/>
    <p:sldId id="264"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15" autoAdjust="0"/>
    <p:restoredTop sz="94660"/>
  </p:normalViewPr>
  <p:slideViewPr>
    <p:cSldViewPr snapToGrid="0">
      <p:cViewPr varScale="1">
        <p:scale>
          <a:sx n="73" d="100"/>
          <a:sy n="73" d="100"/>
        </p:scale>
        <p:origin x="7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8" name="Rectangle 7"/>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1" y="2222623"/>
            <a:ext cx="5917679" cy="2554983"/>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bwMode="gray">
          <a:xfrm>
            <a:off x="866441" y="4777380"/>
            <a:ext cx="5917679"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76937" y="1828799"/>
            <a:ext cx="990599" cy="228659"/>
          </a:xfrm>
        </p:spPr>
        <p:txBody>
          <a:bodyPr/>
          <a:lstStyle>
            <a:lvl1pPr algn="l">
              <a:defRPr b="0" i="0">
                <a:solidFill>
                  <a:schemeClr val="bg1"/>
                </a:solidFill>
              </a:defRPr>
            </a:lvl1pPr>
          </a:lstStyle>
          <a:p>
            <a:fld id="{E934F1F2-1569-4230-91B8-DED4BE501330}" type="datetimeFigureOut">
              <a:rPr lang="en-US" smtClean="0"/>
              <a:t>5/22/2025</a:t>
            </a:fld>
            <a:endParaRPr lang="en-US"/>
          </a:p>
        </p:txBody>
      </p:sp>
      <p:sp>
        <p:nvSpPr>
          <p:cNvPr id="5" name="Footer Placeholder 4"/>
          <p:cNvSpPr>
            <a:spLocks noGrp="1"/>
          </p:cNvSpPr>
          <p:nvPr>
            <p:ph type="ftr" sz="quarter" idx="11"/>
          </p:nvPr>
        </p:nvSpPr>
        <p:spPr bwMode="gray">
          <a:xfrm rot="5400000">
            <a:off x="6236210" y="3264407"/>
            <a:ext cx="3859795" cy="228659"/>
          </a:xfrm>
        </p:spPr>
        <p:txBody>
          <a:bodyPr/>
          <a:lstStyle>
            <a:lvl1pPr>
              <a:defRPr b="0" i="0">
                <a:solidFill>
                  <a:schemeClr val="bg1"/>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F606997-3BEF-45A8-B4F0-06187273BE42}" type="slidenum">
              <a:rPr lang="en-US" smtClean="0"/>
              <a:t>‹#›</a:t>
            </a:fld>
            <a:endParaRPr lang="en-US"/>
          </a:p>
        </p:txBody>
      </p:sp>
    </p:spTree>
    <p:extLst>
      <p:ext uri="{BB962C8B-B14F-4D97-AF65-F5344CB8AC3E}">
        <p14:creationId xmlns:p14="http://schemas.microsoft.com/office/powerpoint/2010/main" val="3644323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34F1F2-1569-4230-91B8-DED4BE501330}"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9"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F606997-3BEF-45A8-B4F0-06187273BE42}" type="slidenum">
              <a:rPr lang="en-US" smtClean="0"/>
              <a:t>‹#›</a:t>
            </a:fld>
            <a:endParaRPr lang="en-US"/>
          </a:p>
        </p:txBody>
      </p:sp>
    </p:spTree>
    <p:extLst>
      <p:ext uri="{BB962C8B-B14F-4D97-AF65-F5344CB8AC3E}">
        <p14:creationId xmlns:p14="http://schemas.microsoft.com/office/powerpoint/2010/main" val="1656957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9" name="Rectangle 8"/>
            <p:cNvSpPr/>
            <p:nvPr/>
          </p:nvSpPr>
          <p:spPr bwMode="gray">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2257588"/>
            <a:ext cx="3101765" cy="3020343"/>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7"/>
            <a:ext cx="3054653" cy="302034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34F1F2-1569-4230-91B8-DED4BE501330}"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7738039" y="7605"/>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F606997-3BEF-45A8-B4F0-06187273BE42}" type="slidenum">
              <a:rPr lang="en-US" smtClean="0"/>
              <a:t>‹#›</a:t>
            </a:fld>
            <a:endParaRPr lang="en-US"/>
          </a:p>
        </p:txBody>
      </p:sp>
    </p:spTree>
    <p:extLst>
      <p:ext uri="{BB962C8B-B14F-4D97-AF65-F5344CB8AC3E}">
        <p14:creationId xmlns:p14="http://schemas.microsoft.com/office/powerpoint/2010/main" val="3151215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80" cy="353060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306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34F1F2-1569-4230-91B8-DED4BE501330}"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F606997-3BEF-45A8-B4F0-06187273BE42}" type="slidenum">
              <a:rPr lang="en-US" smtClean="0"/>
              <a:t>‹#›</a:t>
            </a:fld>
            <a:endParaRPr lang="en-US"/>
          </a:p>
        </p:txBody>
      </p:sp>
    </p:spTree>
    <p:extLst>
      <p:ext uri="{BB962C8B-B14F-4D97-AF65-F5344CB8AC3E}">
        <p14:creationId xmlns:p14="http://schemas.microsoft.com/office/powerpoint/2010/main" val="1967658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94298"/>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66439" y="3253588"/>
            <a:ext cx="3636981" cy="276621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0581" y="3248490"/>
            <a:ext cx="3636980" cy="277131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34F1F2-1569-4230-91B8-DED4BE501330}"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10" name="Slide Number Placeholder 5"/>
          <p:cNvSpPr>
            <a:spLocks noGrp="1"/>
          </p:cNvSpPr>
          <p:nvPr>
            <p:ph type="sldNum" sz="quarter" idx="12"/>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F606997-3BEF-45A8-B4F0-06187273BE42}" type="slidenum">
              <a:rPr lang="en-US" smtClean="0"/>
              <a:t>‹#›</a:t>
            </a:fld>
            <a:endParaRPr lang="en-US"/>
          </a:p>
        </p:txBody>
      </p:sp>
    </p:spTree>
    <p:extLst>
      <p:ext uri="{BB962C8B-B14F-4D97-AF65-F5344CB8AC3E}">
        <p14:creationId xmlns:p14="http://schemas.microsoft.com/office/powerpoint/2010/main" val="177543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34F1F2-1569-4230-91B8-DED4BE501330}" type="datetimeFigureOut">
              <a:rPr lang="en-US" smtClean="0"/>
              <a:t>5/22/2025</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F606997-3BEF-45A8-B4F0-06187273BE42}" type="slidenum">
              <a:rPr lang="en-US" smtClean="0"/>
              <a:t>‹#›</a:t>
            </a:fld>
            <a:endParaRPr lang="en-US"/>
          </a:p>
        </p:txBody>
      </p:sp>
    </p:spTree>
    <p:extLst>
      <p:ext uri="{BB962C8B-B14F-4D97-AF65-F5344CB8AC3E}">
        <p14:creationId xmlns:p14="http://schemas.microsoft.com/office/powerpoint/2010/main" val="2190834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34F1F2-1569-4230-91B8-DED4BE501330}" type="datetimeFigureOut">
              <a:rPr lang="en-US" smtClean="0"/>
              <a:t>5/22/2025</a:t>
            </a:fld>
            <a:endParaRPr lang="en-US"/>
          </a:p>
        </p:txBody>
      </p:sp>
      <p:sp>
        <p:nvSpPr>
          <p:cNvPr id="3" name="Footer Placeholder 2"/>
          <p:cNvSpPr>
            <a:spLocks noGrp="1"/>
          </p:cNvSpPr>
          <p:nvPr>
            <p:ph type="ftr" sz="quarter" idx="11"/>
          </p:nvPr>
        </p:nvSpPr>
        <p:spPr/>
        <p:txBody>
          <a:bodyPr/>
          <a:lstStyle/>
          <a:p>
            <a:endParaRPr lang="en-US"/>
          </a:p>
        </p:txBody>
      </p:sp>
      <p:sp>
        <p:nvSpPr>
          <p:cNvPr id="6" name="Rectangle 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1111780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89"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1182"/>
            <a:ext cx="3632850"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0" y="3086845"/>
            <a:ext cx="2712589" cy="2938036"/>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934F1F2-1569-4230-91B8-DED4BE501330}"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1875806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51591" y="1340000"/>
            <a:ext cx="3001938" cy="161619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51591" y="3086100"/>
            <a:ext cx="3001938" cy="24511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934F1F2-1569-4230-91B8-DED4BE501330}"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3540729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5"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3" y="5528191"/>
            <a:ext cx="6422003"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934F1F2-1569-4230-91B8-DED4BE501330}"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1840479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927101"/>
            <a:ext cx="6422004" cy="1692720"/>
          </a:xfrm>
        </p:spPr>
        <p:txBody>
          <a:bodyPr anchor="ct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8"/>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934F1F2-1569-4230-91B8-DED4BE501330}"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3245221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4" name="Rectangle 13"/>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12"/>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3"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12" name="TextBox 11"/>
          <p:cNvSpPr txBox="1"/>
          <p:nvPr/>
        </p:nvSpPr>
        <p:spPr bwMode="gray">
          <a:xfrm>
            <a:off x="7033422" y="2898648"/>
            <a:ext cx="660550"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11" name="TextBox 10"/>
          <p:cNvSpPr txBox="1"/>
          <p:nvPr/>
        </p:nvSpPr>
        <p:spPr bwMode="gray">
          <a:xfrm>
            <a:off x="651683" y="589767"/>
            <a:ext cx="601591"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2" name="Title 1"/>
          <p:cNvSpPr>
            <a:spLocks noGrp="1"/>
          </p:cNvSpPr>
          <p:nvPr>
            <p:ph type="title"/>
          </p:nvPr>
        </p:nvSpPr>
        <p:spPr>
          <a:xfrm>
            <a:off x="1128058" y="903421"/>
            <a:ext cx="6160385" cy="2895658"/>
          </a:xfrm>
        </p:spPr>
        <p:txBody>
          <a:bodyP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9" y="3809278"/>
            <a:ext cx="5646142" cy="333113"/>
          </a:xfrm>
        </p:spPr>
        <p:txBody>
          <a:bodyPr>
            <a:normAutofit/>
          </a:bodyPr>
          <a:lstStyle>
            <a:lvl1pPr marL="0" indent="0">
              <a:buNone/>
              <a:defRPr lang="en-US" sz="1400" b="0" i="0" kern="1200" cap="small" dirty="0">
                <a:solidFill>
                  <a:schemeClr val="accent1"/>
                </a:solidFill>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6" name="Text Placeholder 3"/>
          <p:cNvSpPr>
            <a:spLocks noGrp="1"/>
          </p:cNvSpPr>
          <p:nvPr>
            <p:ph type="body" sz="half" idx="2"/>
          </p:nvPr>
        </p:nvSpPr>
        <p:spPr>
          <a:xfrm>
            <a:off x="866440" y="5000815"/>
            <a:ext cx="6422005" cy="1024065"/>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934F1F2-1569-4230-91B8-DED4BE501330}"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1964002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9144000" cy="6860799"/>
            <a:chOff x="0" y="0"/>
            <a:chExt cx="9144000" cy="6860799"/>
          </a:xfrm>
        </p:grpSpPr>
        <p:sp>
          <p:nvSpPr>
            <p:cNvPr id="10" name="Rectangle 9"/>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2057400"/>
            <a:ext cx="6422004" cy="2095500"/>
          </a:xfrm>
        </p:spPr>
        <p:txBody>
          <a:bodyPr anchor="b"/>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normAutofit/>
          </a:bodyPr>
          <a:lstStyle>
            <a:lvl1pPr marL="0" indent="0" algn="l">
              <a:buNone/>
              <a:defRPr sz="18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34F1F2-1569-4230-91B8-DED4BE501330}"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948640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2305"/>
            <a:ext cx="6423592" cy="714660"/>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1" y="2489200"/>
            <a:ext cx="2313433"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2" name="Text Placeholder 3"/>
          <p:cNvSpPr>
            <a:spLocks noGrp="1"/>
          </p:cNvSpPr>
          <p:nvPr>
            <p:ph type="body" sz="half" idx="15"/>
          </p:nvPr>
        </p:nvSpPr>
        <p:spPr>
          <a:xfrm>
            <a:off x="866440" y="3147165"/>
            <a:ext cx="2313432" cy="2877714"/>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08472" y="2489200"/>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Text Placeholder 3"/>
          <p:cNvSpPr>
            <a:spLocks noGrp="1"/>
          </p:cNvSpPr>
          <p:nvPr>
            <p:ph type="body" sz="half" idx="16"/>
          </p:nvPr>
        </p:nvSpPr>
        <p:spPr>
          <a:xfrm>
            <a:off x="3408472" y="3147165"/>
            <a:ext cx="2326749" cy="2869878"/>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63820" y="2489201"/>
            <a:ext cx="231374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4" name="Text Placeholder 3"/>
          <p:cNvSpPr>
            <a:spLocks noGrp="1"/>
          </p:cNvSpPr>
          <p:nvPr>
            <p:ph type="body" sz="half" idx="17"/>
          </p:nvPr>
        </p:nvSpPr>
        <p:spPr>
          <a:xfrm>
            <a:off x="5963821" y="3147164"/>
            <a:ext cx="2313740"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934F1F2-1569-4230-91B8-DED4BE501330}"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17526297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7101"/>
            <a:ext cx="6423592"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81461" y="4180095"/>
            <a:ext cx="229904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012743" y="2486221"/>
            <a:ext cx="2021456" cy="14503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0" name="Text Placeholder 3"/>
          <p:cNvSpPr>
            <a:spLocks noGrp="1"/>
          </p:cNvSpPr>
          <p:nvPr>
            <p:ph type="body" sz="half" idx="21"/>
          </p:nvPr>
        </p:nvSpPr>
        <p:spPr>
          <a:xfrm>
            <a:off x="881461" y="4837558"/>
            <a:ext cx="2298410"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04318" y="4179596"/>
            <a:ext cx="231779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16"/>
          </p:nvPr>
        </p:nvSpPr>
        <p:spPr>
          <a:xfrm>
            <a:off x="3550622" y="2509453"/>
            <a:ext cx="2025182"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8" y="4837558"/>
            <a:ext cx="2330903"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63821" y="4179595"/>
            <a:ext cx="229949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17"/>
          </p:nvPr>
        </p:nvSpPr>
        <p:spPr>
          <a:xfrm>
            <a:off x="6104946" y="2509453"/>
            <a:ext cx="2018839"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1" y="4837558"/>
            <a:ext cx="229949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1" name="Straight Connector 20"/>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934F1F2-1569-4230-91B8-DED4BE501330}"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10438187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34F1F2-1569-4230-91B8-DED4BE501330}"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1418660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8" name="Rectangle 7"/>
            <p:cNvSpPr/>
            <p:nvPr/>
          </p:nvSpPr>
          <p:spPr bwMode="gray">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077347" cy="457199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440" y="1447799"/>
            <a:ext cx="4417234" cy="4572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34F1F2-1569-4230-91B8-DED4BE501330}"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3F606997-3BEF-45A8-B4F0-06187273BE42}" type="slidenum">
              <a:rPr lang="en-US" smtClean="0"/>
              <a:t>‹#›</a:t>
            </a:fld>
            <a:endParaRPr lang="en-US"/>
          </a:p>
        </p:txBody>
      </p:sp>
    </p:spTree>
    <p:extLst>
      <p:ext uri="{BB962C8B-B14F-4D97-AF65-F5344CB8AC3E}">
        <p14:creationId xmlns:p14="http://schemas.microsoft.com/office/powerpoint/2010/main" val="1081506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25" name="Rectangle 24"/>
            <p:cNvSpPr/>
            <p:nvPr/>
          </p:nvSpPr>
          <p:spPr>
            <a:xfrm>
              <a:off x="0" y="0"/>
              <a:ext cx="9118832"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18"/>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3202"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0"/>
            <a:ext cx="6343201" cy="3530600"/>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39638" y="6365499"/>
            <a:ext cx="990599" cy="228659"/>
          </a:xfrm>
          <a:prstGeom prst="rect">
            <a:avLst/>
          </a:prstGeom>
        </p:spPr>
        <p:txBody>
          <a:bodyPr vert="horz" lIns="91440" tIns="45720" rIns="91440" bIns="45720" rtlCol="0" anchor="b"/>
          <a:lstStyle>
            <a:lvl1pPr algn="r">
              <a:defRPr sz="900" b="1" i="0">
                <a:solidFill>
                  <a:schemeClr val="accent1"/>
                </a:solidFill>
                <a:latin typeface="+mn-lt"/>
              </a:defRPr>
            </a:lvl1pPr>
          </a:lstStyle>
          <a:p>
            <a:fld id="{E934F1F2-1569-4230-91B8-DED4BE501330}" type="datetimeFigureOut">
              <a:rPr lang="en-US" smtClean="0"/>
              <a:t>5/22/2025</a:t>
            </a:fld>
            <a:endParaRPr lang="en-US"/>
          </a:p>
        </p:txBody>
      </p:sp>
      <p:sp>
        <p:nvSpPr>
          <p:cNvPr id="5" name="Footer Placeholder 4"/>
          <p:cNvSpPr>
            <a:spLocks noGrp="1"/>
          </p:cNvSpPr>
          <p:nvPr>
            <p:ph type="ftr" sz="quarter" idx="3"/>
          </p:nvPr>
        </p:nvSpPr>
        <p:spPr>
          <a:xfrm>
            <a:off x="590843" y="6365498"/>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0" name="Slide Number Placeholder 5"/>
          <p:cNvSpPr>
            <a:spLocks noGrp="1"/>
          </p:cNvSpPr>
          <p:nvPr>
            <p:ph type="sldNum" sz="quarter" idx="4"/>
          </p:nvPr>
        </p:nvSpPr>
        <p:spPr bwMode="auto">
          <a:xfrm>
            <a:off x="7678616" y="295730"/>
            <a:ext cx="791308" cy="767687"/>
          </a:xfrm>
          <a:prstGeom prst="rect">
            <a:avLst/>
          </a:prstGeom>
        </p:spPr>
        <p:txBody>
          <a:bodyPr vert="horz" lIns="91440" tIns="45720" rIns="91440" bIns="45720" rtlCol="0" anchor="b"/>
          <a:lstStyle>
            <a:lvl1pPr algn="ctr">
              <a:defRPr sz="2800" b="0" i="0">
                <a:solidFill>
                  <a:schemeClr val="bg1"/>
                </a:solidFill>
              </a:defRPr>
            </a:lvl1pPr>
          </a:lstStyle>
          <a:p>
            <a:fld id="{3F606997-3BEF-45A8-B4F0-06187273BE42}" type="slidenum">
              <a:rPr lang="en-US" smtClean="0"/>
              <a:t>‹#›</a:t>
            </a:fld>
            <a:endParaRPr lang="en-US"/>
          </a:p>
        </p:txBody>
      </p:sp>
    </p:spTree>
    <p:extLst>
      <p:ext uri="{BB962C8B-B14F-4D97-AF65-F5344CB8AC3E}">
        <p14:creationId xmlns:p14="http://schemas.microsoft.com/office/powerpoint/2010/main" val="3383803753"/>
      </p:ext>
    </p:extLst>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 id="2147484327" r:id="rId8"/>
    <p:sldLayoutId id="2147484328" r:id="rId9"/>
    <p:sldLayoutId id="2147484329" r:id="rId10"/>
    <p:sldLayoutId id="2147484330" r:id="rId11"/>
    <p:sldLayoutId id="2147484331" r:id="rId12"/>
    <p:sldLayoutId id="2147484332" r:id="rId13"/>
    <p:sldLayoutId id="2147484333" r:id="rId14"/>
    <p:sldLayoutId id="2147484334" r:id="rId15"/>
    <p:sldLayoutId id="2147484335" r:id="rId16"/>
    <p:sldLayoutId id="2147484336" r:id="rId17"/>
  </p:sldLayoutIdLst>
  <p:txStyles>
    <p:title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3458" y="2496944"/>
            <a:ext cx="5917679" cy="912462"/>
          </a:xfrm>
        </p:spPr>
        <p:txBody>
          <a:bodyPr/>
          <a:lstStyle/>
          <a:p>
            <a:r>
              <a:rPr lang="en-US" dirty="0"/>
              <a:t>Directional Coupler </a:t>
            </a:r>
          </a:p>
        </p:txBody>
      </p:sp>
    </p:spTree>
    <p:extLst>
      <p:ext uri="{BB962C8B-B14F-4D97-AF65-F5344CB8AC3E}">
        <p14:creationId xmlns:p14="http://schemas.microsoft.com/office/powerpoint/2010/main" val="18369851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 definition.</a:t>
            </a:r>
          </a:p>
        </p:txBody>
      </p:sp>
      <p:sp>
        <p:nvSpPr>
          <p:cNvPr id="3" name="Content Placeholder 2"/>
          <p:cNvSpPr>
            <a:spLocks noGrp="1"/>
          </p:cNvSpPr>
          <p:nvPr>
            <p:ph idx="1"/>
          </p:nvPr>
        </p:nvSpPr>
        <p:spPr/>
        <p:txBody>
          <a:bodyPr/>
          <a:lstStyle/>
          <a:p>
            <a:pPr marL="0" indent="0">
              <a:buNone/>
            </a:pPr>
            <a:r>
              <a:rPr lang="en-US" dirty="0"/>
              <a:t>A directional coupler is a passive four-port network that couples a portion of the power from a main line to a secondary line, based on electromagnetic coupling</a:t>
            </a:r>
            <a:r>
              <a:rPr lang="en-US" dirty="0" smtClean="0"/>
              <a:t>.</a:t>
            </a:r>
          </a:p>
          <a:p>
            <a:pPr marL="0" indent="0">
              <a:buNone/>
            </a:pPr>
            <a:r>
              <a:rPr lang="en-US" dirty="0" smtClean="0"/>
              <a:t>Basic Operations </a:t>
            </a:r>
          </a:p>
          <a:p>
            <a:pPr>
              <a:buFont typeface="Wingdings" panose="05000000000000000000" pitchFamily="2" charset="2"/>
              <a:buChar char="§"/>
            </a:pPr>
            <a:r>
              <a:rPr lang="en-US" dirty="0" smtClean="0"/>
              <a:t>Input(port1)- It is where the signal enters</a:t>
            </a:r>
          </a:p>
          <a:p>
            <a:pPr>
              <a:buFont typeface="Wingdings" panose="05000000000000000000" pitchFamily="2" charset="2"/>
              <a:buChar char="§"/>
            </a:pPr>
            <a:r>
              <a:rPr lang="en-US" dirty="0" smtClean="0"/>
              <a:t>Transmitted (Port 2)- The main output where power exists</a:t>
            </a:r>
          </a:p>
          <a:p>
            <a:pPr>
              <a:buFont typeface="Wingdings" panose="05000000000000000000" pitchFamily="2" charset="2"/>
              <a:buChar char="§"/>
            </a:pPr>
            <a:r>
              <a:rPr lang="en-US" dirty="0" smtClean="0"/>
              <a:t>Coupled (Port 3)- A fraction of the signal is sampled.</a:t>
            </a:r>
          </a:p>
          <a:p>
            <a:pPr>
              <a:buFont typeface="Wingdings" panose="05000000000000000000" pitchFamily="2" charset="2"/>
              <a:buChar char="§"/>
            </a:pPr>
            <a:r>
              <a:rPr lang="en-US" dirty="0" smtClean="0"/>
              <a:t>Isolated (Port 4)- Ideally, no power should appear(terminated with a matched load)</a:t>
            </a:r>
          </a:p>
        </p:txBody>
      </p:sp>
    </p:spTree>
    <p:extLst>
      <p:ext uri="{BB962C8B-B14F-4D97-AF65-F5344CB8AC3E}">
        <p14:creationId xmlns:p14="http://schemas.microsoft.com/office/powerpoint/2010/main" val="10010084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Diagram of Directional Coupler</a:t>
            </a:r>
          </a:p>
        </p:txBody>
      </p:sp>
      <p:pic>
        <p:nvPicPr>
          <p:cNvPr id="5" name="Content Placeholder 4">
            <a:extLst>
              <a:ext uri="{FF2B5EF4-FFF2-40B4-BE49-F238E27FC236}">
                <a16:creationId xmlns:a16="http://schemas.microsoft.com/office/drawing/2014/main" id="{4FA0B5C4-E537-445B-ADF2-DEAA1C810F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4120" y="2489200"/>
            <a:ext cx="5648959" cy="3530600"/>
          </a:xfrm>
        </p:spPr>
      </p:pic>
    </p:spTree>
    <p:extLst>
      <p:ext uri="{BB962C8B-B14F-4D97-AF65-F5344CB8AC3E}">
        <p14:creationId xmlns:p14="http://schemas.microsoft.com/office/powerpoint/2010/main" val="31760234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It’s working principle.</a:t>
            </a:r>
          </a:p>
        </p:txBody>
      </p:sp>
      <p:sp>
        <p:nvSpPr>
          <p:cNvPr id="3" name="Content Placeholder 2"/>
          <p:cNvSpPr>
            <a:spLocks noGrp="1"/>
          </p:cNvSpPr>
          <p:nvPr>
            <p:ph idx="1"/>
          </p:nvPr>
        </p:nvSpPr>
        <p:spPr/>
        <p:txBody>
          <a:bodyPr>
            <a:normAutofit fontScale="92500" lnSpcReduction="20000"/>
          </a:bodyPr>
          <a:lstStyle/>
          <a:p>
            <a:r>
              <a:rPr lang="en-US" dirty="0"/>
              <a:t> It works by using the principle of electromagnetic induction, where a signal traveling in the main line induces a signal in the secondary line. The amount of power coupled depends on the coupling factor of the coupler and the physical distance between the lines. </a:t>
            </a:r>
          </a:p>
          <a:p>
            <a:r>
              <a:rPr lang="en-US" dirty="0"/>
              <a:t>Here's a more detailed explanation:</a:t>
            </a:r>
          </a:p>
          <a:p>
            <a:r>
              <a:rPr lang="en-US" b="1" dirty="0"/>
              <a:t>Four-port Network:</a:t>
            </a:r>
            <a:endParaRPr lang="en-US" dirty="0"/>
          </a:p>
          <a:p>
            <a:pPr fontAlgn="ctr"/>
            <a:r>
              <a:rPr lang="en-US" dirty="0"/>
              <a:t>A directional coupler has four ports: a main line (port 1), a coupled line (port 3), and two isolated ports (ports 2 and 4). </a:t>
            </a:r>
          </a:p>
          <a:p>
            <a:r>
              <a:rPr lang="en-US" b="1" dirty="0"/>
              <a:t>Electromagnetic Coupling:</a:t>
            </a:r>
            <a:endParaRPr lang="en-US" dirty="0"/>
          </a:p>
          <a:p>
            <a:pPr fontAlgn="ctr"/>
            <a:r>
              <a:rPr lang="en-US" dirty="0"/>
              <a:t>When a signal enters the main line, a portion of the signal is coupled to the coupled line due to electromagnetic interaction between the two lines. </a:t>
            </a:r>
          </a:p>
          <a:p>
            <a:pPr marL="0" indent="0">
              <a:buNone/>
            </a:pPr>
            <a:endParaRPr lang="en-US" dirty="0"/>
          </a:p>
        </p:txBody>
      </p:sp>
    </p:spTree>
    <p:extLst>
      <p:ext uri="{BB962C8B-B14F-4D97-AF65-F5344CB8AC3E}">
        <p14:creationId xmlns:p14="http://schemas.microsoft.com/office/powerpoint/2010/main" val="19893148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a:t>
            </a:r>
          </a:p>
        </p:txBody>
      </p:sp>
      <p:sp>
        <p:nvSpPr>
          <p:cNvPr id="3" name="Content Placeholder 2"/>
          <p:cNvSpPr>
            <a:spLocks noGrp="1"/>
          </p:cNvSpPr>
          <p:nvPr>
            <p:ph idx="1"/>
          </p:nvPr>
        </p:nvSpPr>
        <p:spPr/>
        <p:txBody>
          <a:bodyPr>
            <a:normAutofit/>
          </a:bodyPr>
          <a:lstStyle/>
          <a:p>
            <a:r>
              <a:rPr lang="en-US" b="1" dirty="0"/>
              <a:t>Signal Directionality:</a:t>
            </a:r>
            <a:endParaRPr lang="en-US" dirty="0"/>
          </a:p>
          <a:p>
            <a:pPr marL="0" indent="0" fontAlgn="ctr">
              <a:buNone/>
            </a:pPr>
            <a:r>
              <a:rPr lang="en-US" dirty="0"/>
              <a:t>   The coupler is designed to couple power only in one direction, meaning the signal primarily travels from port 1 to port 3, and port 2 remains relatively isolated from the main line signal. </a:t>
            </a:r>
          </a:p>
          <a:p>
            <a:r>
              <a:rPr lang="en-US" b="1" dirty="0"/>
              <a:t>Coupling Factor:</a:t>
            </a:r>
            <a:endParaRPr lang="en-US" dirty="0"/>
          </a:p>
          <a:p>
            <a:pPr marL="0" indent="0">
              <a:buNone/>
            </a:pPr>
            <a:r>
              <a:rPr lang="en-US" dirty="0"/>
              <a:t>   The coupling factor, which determines the amount of power coupled to the secondary line, depends on the physical characteristics of the coupler, such as the distance between the main and coupled lines.</a:t>
            </a:r>
          </a:p>
          <a:p>
            <a:endParaRPr lang="en-US" dirty="0"/>
          </a:p>
        </p:txBody>
      </p:sp>
    </p:spTree>
    <p:extLst>
      <p:ext uri="{BB962C8B-B14F-4D97-AF65-F5344CB8AC3E}">
        <p14:creationId xmlns:p14="http://schemas.microsoft.com/office/powerpoint/2010/main" val="31586285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a:t>
            </a:r>
          </a:p>
        </p:txBody>
      </p:sp>
      <p:sp>
        <p:nvSpPr>
          <p:cNvPr id="3" name="Content Placeholder 2"/>
          <p:cNvSpPr>
            <a:spLocks noGrp="1"/>
          </p:cNvSpPr>
          <p:nvPr>
            <p:ph idx="1"/>
          </p:nvPr>
        </p:nvSpPr>
        <p:spPr/>
        <p:txBody>
          <a:bodyPr>
            <a:normAutofit lnSpcReduction="10000"/>
          </a:bodyPr>
          <a:lstStyle/>
          <a:p>
            <a:r>
              <a:rPr lang="en-US" dirty="0"/>
              <a:t>Directional couplers are commonly used for;</a:t>
            </a:r>
          </a:p>
          <a:p>
            <a:r>
              <a:rPr lang="en-US" dirty="0"/>
              <a:t> Signal </a:t>
            </a:r>
            <a:r>
              <a:rPr lang="en-US" dirty="0" smtClean="0"/>
              <a:t>sampling </a:t>
            </a:r>
            <a:r>
              <a:rPr lang="en-US" dirty="0" smtClean="0"/>
              <a:t>and </a:t>
            </a:r>
            <a:r>
              <a:rPr lang="en-US" dirty="0"/>
              <a:t>Monitoring Purpose: To measure the signal power without interrupting the main transmission. Application: Used in test and measurement systems (e.g., for monitoring output power in transmitters). </a:t>
            </a:r>
            <a:endParaRPr lang="en-US" dirty="0"/>
          </a:p>
          <a:p>
            <a:pPr>
              <a:buFont typeface="Wingdings" panose="05000000000000000000" pitchFamily="2" charset="2"/>
              <a:buChar char="Ø"/>
            </a:pPr>
            <a:r>
              <a:rPr lang="en-US" dirty="0" smtClean="0"/>
              <a:t>   Radio </a:t>
            </a:r>
            <a:r>
              <a:rPr lang="en-US" dirty="0"/>
              <a:t>frequency (RF</a:t>
            </a:r>
            <a:r>
              <a:rPr lang="en-US" dirty="0" smtClean="0"/>
              <a:t>)</a:t>
            </a:r>
            <a:r>
              <a:rPr lang="en-US" dirty="0"/>
              <a:t> : To detect reflected power caused by impedance mismatches. Application: In antennas and transmission lines, directional couplers help measure the Voltage Standing Wave Ratio (VSWR) and ensure efficient power transfer</a:t>
            </a:r>
            <a:endParaRPr lang="en-US" dirty="0"/>
          </a:p>
          <a:p>
            <a:pPr lvl="0" fontAlgn="base"/>
            <a:r>
              <a:rPr lang="en-US" dirty="0"/>
              <a:t>Protection of Sensitive Components </a:t>
            </a:r>
            <a:r>
              <a:rPr lang="en-US" dirty="0" smtClean="0"/>
              <a:t>Purpose</a:t>
            </a:r>
            <a:r>
              <a:rPr lang="en-US" dirty="0"/>
              <a:t>: To divert excessive power or reflected waves away from sensitive </a:t>
            </a:r>
            <a:r>
              <a:rPr lang="en-US" dirty="0" smtClean="0"/>
              <a:t> </a:t>
            </a:r>
            <a:endParaRPr lang="en-US" dirty="0"/>
          </a:p>
        </p:txBody>
      </p:sp>
    </p:spTree>
    <p:extLst>
      <p:ext uri="{BB962C8B-B14F-4D97-AF65-F5344CB8AC3E}">
        <p14:creationId xmlns:p14="http://schemas.microsoft.com/office/powerpoint/2010/main" val="40292357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US" dirty="0"/>
          </a:p>
        </p:txBody>
      </p:sp>
      <p:sp>
        <p:nvSpPr>
          <p:cNvPr id="3" name="Content Placeholder 2"/>
          <p:cNvSpPr>
            <a:spLocks noGrp="1"/>
          </p:cNvSpPr>
          <p:nvPr>
            <p:ph idx="1"/>
          </p:nvPr>
        </p:nvSpPr>
        <p:spPr/>
        <p:txBody>
          <a:bodyPr/>
          <a:lstStyle/>
          <a:p>
            <a:pPr lvl="0" fontAlgn="base"/>
            <a:r>
              <a:rPr lang="en-US" dirty="0"/>
              <a:t>Phase and Frequency </a:t>
            </a:r>
            <a:r>
              <a:rPr lang="en-US" dirty="0" smtClean="0"/>
              <a:t>Measurements Purpose</a:t>
            </a:r>
            <a:r>
              <a:rPr lang="en-US" dirty="0"/>
              <a:t>: To analyze phase difference or frequency </a:t>
            </a:r>
            <a:r>
              <a:rPr lang="en-US" dirty="0" smtClean="0"/>
              <a:t>between two </a:t>
            </a:r>
            <a:r>
              <a:rPr lang="en-US" dirty="0"/>
              <a:t>signals. Application: Useful in RF signal analysis and synchronization </a:t>
            </a:r>
            <a:r>
              <a:rPr lang="en-US" dirty="0" smtClean="0"/>
              <a:t>tasks.</a:t>
            </a:r>
            <a:endParaRPr lang="en-US" dirty="0"/>
          </a:p>
        </p:txBody>
      </p:sp>
    </p:spTree>
    <p:extLst>
      <p:ext uri="{BB962C8B-B14F-4D97-AF65-F5344CB8AC3E}">
        <p14:creationId xmlns:p14="http://schemas.microsoft.com/office/powerpoint/2010/main" val="251267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Directional Power Sampling:</a:t>
            </a:r>
          </a:p>
          <a:p>
            <a:pPr marL="0" indent="0">
              <a:buNone/>
            </a:pPr>
            <a:r>
              <a:rPr lang="en-US" dirty="0" smtClean="0"/>
              <a:t> </a:t>
            </a:r>
            <a:r>
              <a:rPr lang="en-US" dirty="0"/>
              <a:t>Allows sampling of signal power in a specific direction (forward or reverse) without disturbing the main signal path.</a:t>
            </a:r>
          </a:p>
          <a:p>
            <a:r>
              <a:rPr lang="en-US" dirty="0"/>
              <a:t>  </a:t>
            </a:r>
            <a:r>
              <a:rPr lang="en-US" dirty="0" smtClean="0"/>
              <a:t> </a:t>
            </a:r>
            <a:r>
              <a:rPr lang="en-US" dirty="0"/>
              <a:t>High </a:t>
            </a:r>
            <a:r>
              <a:rPr lang="en-US" dirty="0" smtClean="0"/>
              <a:t>Directivity:</a:t>
            </a:r>
            <a:endParaRPr lang="en-US" dirty="0"/>
          </a:p>
          <a:p>
            <a:pPr marL="0" indent="0">
              <a:buNone/>
            </a:pPr>
            <a:r>
              <a:rPr lang="en-US" dirty="0" smtClean="0"/>
              <a:t>Can </a:t>
            </a:r>
            <a:r>
              <a:rPr lang="en-US" dirty="0"/>
              <a:t>distinguish between forward and reflected signals with high accuracy</a:t>
            </a:r>
            <a:r>
              <a:rPr lang="en-US" dirty="0" smtClean="0"/>
              <a:t>.</a:t>
            </a:r>
            <a:r>
              <a:rPr lang="en-US" dirty="0"/>
              <a:t> </a:t>
            </a:r>
            <a:endParaRPr lang="en-US" dirty="0" smtClean="0"/>
          </a:p>
          <a:p>
            <a:r>
              <a:rPr lang="en-US" dirty="0" smtClean="0"/>
              <a:t> </a:t>
            </a:r>
            <a:r>
              <a:rPr lang="en-US" dirty="0"/>
              <a:t>Passive </a:t>
            </a:r>
            <a:r>
              <a:rPr lang="en-US" dirty="0" smtClean="0"/>
              <a:t>Operation:</a:t>
            </a:r>
            <a:r>
              <a:rPr lang="en-US" dirty="0"/>
              <a:t> </a:t>
            </a:r>
          </a:p>
          <a:p>
            <a:pPr marL="0" indent="0">
              <a:buNone/>
            </a:pPr>
            <a:r>
              <a:rPr lang="en-US" dirty="0"/>
              <a:t>Requires no external power to operate</a:t>
            </a:r>
            <a:r>
              <a:rPr lang="en-US" dirty="0" smtClean="0"/>
              <a:t>.</a:t>
            </a:r>
            <a:r>
              <a:rPr lang="en-US" dirty="0"/>
              <a:t> </a:t>
            </a:r>
          </a:p>
          <a:p>
            <a:r>
              <a:rPr lang="en-US" dirty="0" smtClean="0"/>
              <a:t> </a:t>
            </a:r>
            <a:r>
              <a:rPr lang="en-US" dirty="0"/>
              <a:t>Low Insertion </a:t>
            </a:r>
            <a:r>
              <a:rPr lang="en-US" dirty="0" smtClean="0"/>
              <a:t>Loss</a:t>
            </a:r>
            <a:r>
              <a:rPr lang="en-US" dirty="0"/>
              <a:t> </a:t>
            </a:r>
          </a:p>
          <a:p>
            <a:pPr marL="0" indent="0">
              <a:buNone/>
            </a:pPr>
            <a:r>
              <a:rPr lang="en-US" dirty="0" smtClean="0"/>
              <a:t> </a:t>
            </a:r>
            <a:r>
              <a:rPr lang="en-US" dirty="0"/>
              <a:t>Minimal power loss in the main signal path.</a:t>
            </a:r>
          </a:p>
          <a:p>
            <a:pPr marL="0" indent="0">
              <a:buNone/>
            </a:pPr>
            <a:endParaRPr lang="en-US" dirty="0" smtClean="0"/>
          </a:p>
          <a:p>
            <a:pPr marL="0" indent="0">
              <a:buNone/>
            </a:pPr>
            <a:endParaRPr lang="en-US" dirty="0"/>
          </a:p>
          <a:p>
            <a:endParaRPr lang="en-US" dirty="0"/>
          </a:p>
        </p:txBody>
      </p:sp>
    </p:spTree>
    <p:extLst>
      <p:ext uri="{BB962C8B-B14F-4D97-AF65-F5344CB8AC3E}">
        <p14:creationId xmlns:p14="http://schemas.microsoft.com/office/powerpoint/2010/main" val="9999937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tint val="100000"/>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141</TotalTime>
  <Words>504</Words>
  <Application>Microsoft Office PowerPoint</Application>
  <PresentationFormat>On-screen Show (4:3)</PresentationFormat>
  <Paragraphs>38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Wingdings</vt:lpstr>
      <vt:lpstr>Wingdings 3</vt:lpstr>
      <vt:lpstr>Ion Boardroom</vt:lpstr>
      <vt:lpstr>Directional Coupler </vt:lpstr>
      <vt:lpstr>By definition.</vt:lpstr>
      <vt:lpstr>A Diagram of Directional Coupler</vt:lpstr>
      <vt:lpstr>It’s working principle.</vt:lpstr>
      <vt:lpstr>Continue….</vt:lpstr>
      <vt:lpstr>Application.</vt:lpstr>
      <vt:lpstr>Continue……</vt:lpstr>
      <vt:lpstr>Advantages of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Directional Coupler</dc:title>
  <dc:creator>user</dc:creator>
  <cp:lastModifiedBy>SN</cp:lastModifiedBy>
  <cp:revision>12</cp:revision>
  <dcterms:created xsi:type="dcterms:W3CDTF">2025-05-22T17:31:20Z</dcterms:created>
  <dcterms:modified xsi:type="dcterms:W3CDTF">2025-05-23T06:56:41Z</dcterms:modified>
</cp:coreProperties>
</file>