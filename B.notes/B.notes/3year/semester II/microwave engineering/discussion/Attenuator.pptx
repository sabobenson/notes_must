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5" r:id="rId5"/>
    <p:sldId id="259" r:id="rId6"/>
    <p:sldId id="260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63" d="100"/>
          <a:sy n="63" d="100"/>
        </p:scale>
        <p:origin x="80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16BD6D-347C-B96B-9C7C-574B3272E83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4D8E940-318E-CD92-E8D1-306370EA4BB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66FBAE-D4D0-F28E-89A0-219375ABB3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7FEE42-A81C-4DC1-ADEA-B8E7095AFB91}" type="datetimeFigureOut">
              <a:rPr lang="en-US" smtClean="0"/>
              <a:t>5/26/2025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F44B57-5F89-60EA-CBB9-09B283BA02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D521FA-2D5A-D274-F61E-E1BA7A5657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C82C54-BA35-4A56-B7EC-534B5C909B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08064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2694E0-4A31-5226-CCB6-5347C3E0BB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193527-0E7C-D9CC-044C-EBF71B7CC1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312EFA-F3DF-40F3-F531-58D1879838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7FEE42-A81C-4DC1-ADEA-B8E7095AFB91}" type="datetimeFigureOut">
              <a:rPr lang="en-US" smtClean="0"/>
              <a:t>5/26/2025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19552C-1BD9-7762-441E-097C4776CB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614F29-3BEF-B1B1-D4EB-D9427C6DF9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C82C54-BA35-4A56-B7EC-534B5C909B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37232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58E4EA-6616-A305-826C-4B7D56092D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6237795-5B83-E5C9-2848-336ADB0718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FBF15F-810F-82D0-9E5E-36C693AF68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7FEE42-A81C-4DC1-ADEA-B8E7095AFB91}" type="datetimeFigureOut">
              <a:rPr lang="en-US" smtClean="0"/>
              <a:t>5/26/2025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B8F6DB-831D-13A1-E2DC-F12196E1F5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525BCF-D127-B017-62A4-93BE226A4F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C82C54-BA35-4A56-B7EC-534B5C909B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45990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F80412-238C-137C-BCB1-AE200A93D2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D605FE-44E8-1398-D376-AE4FF8D1768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6F008B2-83B2-C19F-610E-0F1F54FA98C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EAE3AB3-07A0-7B52-B69A-E57F46EE0A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7FEE42-A81C-4DC1-ADEA-B8E7095AFB91}" type="datetimeFigureOut">
              <a:rPr lang="en-US" smtClean="0"/>
              <a:t>5/26/2025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D99902-4BAF-348A-A8A8-954AC5B98F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4907245-1065-D548-6D88-425EE071D4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C82C54-BA35-4A56-B7EC-534B5C909B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27858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BA17BA-6031-803A-A14A-DD9A6A0510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5A04EFA-9459-D722-87E4-20BDA95AA3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C1DA430-809B-CB65-B109-A5E3AF3FDC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4106B9A-6680-83DA-82B2-5B180F16E61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4FBE24E-384B-2E0B-6BB0-A5C036D9E05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4242197-0E19-FEB7-27C9-60C3714C75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7FEE42-A81C-4DC1-ADEA-B8E7095AFB91}" type="datetimeFigureOut">
              <a:rPr lang="en-US" smtClean="0"/>
              <a:t>5/26/2025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2AD7DC0-9B47-5A83-7D6E-604BA873D4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D404E25-30AB-C316-607C-DE0843EEF9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C82C54-BA35-4A56-B7EC-534B5C909B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50314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5DB159-3F11-CDE9-A1D9-F150E15F3E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5DD83A0-B066-348A-3759-F4D370131B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7FEE42-A81C-4DC1-ADEA-B8E7095AFB91}" type="datetimeFigureOut">
              <a:rPr lang="en-US" smtClean="0"/>
              <a:t>5/26/2025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DB8E392-25E3-450A-3FA8-012FA2AD16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C2E4122-539C-8E12-D812-BB84A99B07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C82C54-BA35-4A56-B7EC-534B5C909B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85072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5B08B15-A364-2822-19BA-C04DA9FAEA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7FEE42-A81C-4DC1-ADEA-B8E7095AFB91}" type="datetimeFigureOut">
              <a:rPr lang="en-US" smtClean="0"/>
              <a:t>5/26/2025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64D614E-286F-175F-2A64-9AA4D42F60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9CC1167-A772-FFEF-844A-A809761D3F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C82C54-BA35-4A56-B7EC-534B5C909B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41814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34DA15-DA6A-AAC6-1D73-169A45A079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3E0A8B-ABD6-A556-CEB7-C3C6876D02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7D07AB9-CEC5-98E5-F787-BA4B51A1829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ED33209-1492-BA4D-1069-B81145F54B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7FEE42-A81C-4DC1-ADEA-B8E7095AFB91}" type="datetimeFigureOut">
              <a:rPr lang="en-US" smtClean="0"/>
              <a:t>5/26/2025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EA3AAB4-0D99-5838-00D9-D1EC41FA30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18202B4-C46A-018D-19D4-0315AF3E2B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C82C54-BA35-4A56-B7EC-534B5C909B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16881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063378-A7CE-8C35-B8B6-FEA09A669B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FAE998D-F877-93FF-4341-D2AC3B169EB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807AF99-07B8-C3A0-1A1B-79924680936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787F607-0ECB-7C03-84A2-607895F183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7FEE42-A81C-4DC1-ADEA-B8E7095AFB91}" type="datetimeFigureOut">
              <a:rPr lang="en-US" smtClean="0"/>
              <a:t>5/26/2025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49033DC-3FA7-691D-CA1C-ECAF331072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2786C9C-CAA2-2C42-393A-5B1B9B7A6D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C82C54-BA35-4A56-B7EC-534B5C909B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71561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E6CE39-2C59-3755-321F-5093623CA4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E526C2D-3036-B5BF-6695-659A5669350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5489E2-1D76-689C-C3A4-4D44298442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7FEE42-A81C-4DC1-ADEA-B8E7095AFB91}" type="datetimeFigureOut">
              <a:rPr lang="en-US" smtClean="0"/>
              <a:t>5/26/2025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4CAE08-E2BB-FF18-93EF-E7C8C977BE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ACD7FC-C2D6-7C04-0BBA-ECFF2C98B0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C82C54-BA35-4A56-B7EC-534B5C909B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294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EA4FA69-3088-BA25-242B-E1BBEDF7EF8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3A46C58-A706-36BA-E9C6-B04B5E35D74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B55E1D-D1AB-49CD-4264-B2DBE84367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7FEE42-A81C-4DC1-ADEA-B8E7095AFB91}" type="datetimeFigureOut">
              <a:rPr lang="en-US" smtClean="0"/>
              <a:t>5/26/2025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A65A65-203B-1DDE-C689-50F32DF044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F485F1-FE7B-FF79-9627-2AD2C6972D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C82C54-BA35-4A56-B7EC-534B5C909B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21485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5FDB182-0090-4EC7-FDF7-A1CF185120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1FE7594-3A5C-B307-85E1-6BDEEB3768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F3F4BE-4EE7-50B0-74BA-E324310D8B9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07FEE42-A81C-4DC1-ADEA-B8E7095AFB91}" type="datetimeFigureOut">
              <a:rPr lang="en-US" smtClean="0"/>
              <a:t>5/26/2025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BE8BD4-8A64-8C72-34B4-228CFC029EC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F262D8-6067-8747-9B7F-EB6F54B9117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9C82C54-BA35-4A56-B7EC-534B5C909B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11591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35DE32-2A86-22B1-3160-BA1C500CA75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6000" b="1" dirty="0"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Attenuator</a:t>
            </a:r>
            <a:br>
              <a:rPr lang="en-US" sz="4400" dirty="0">
                <a:effectLst/>
                <a:latin typeface="Calibri" panose="020F0502020204030204" pitchFamily="34" charset="0"/>
                <a:ea typeface="SimSun" panose="02010600030101010101" pitchFamily="2" charset="-122"/>
                <a:cs typeface="Times New Roman" panose="02020603050405020304" pitchFamily="18" charset="0"/>
              </a:rPr>
            </a:b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06D7348-6964-7F1D-135D-DB218F125DA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509760" cy="3113722"/>
          </a:xfrm>
        </p:spPr>
        <p:txBody>
          <a:bodyPr>
            <a:normAutofit fontScale="92500" lnSpcReduction="10000"/>
          </a:bodyPr>
          <a:lstStyle/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endParaRPr lang="en-US" sz="1600" dirty="0">
              <a:effectLst/>
              <a:latin typeface="Calibri" panose="020F0502020204030204" pitchFamily="34" charset="0"/>
              <a:ea typeface="SimSun" panose="02010600030101010101" pitchFamily="2" charset="-122"/>
              <a:cs typeface="Times New Roman" panose="02020603050405020304" pitchFamily="18" charset="0"/>
            </a:endParaRPr>
          </a:p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2400" dirty="0"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sz="3300" dirty="0"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n attenuator is a passive microwave device used to reduce the power level of a signal without distorting its waveform. It allows precise control over signal strength in microwave systems by providing a known amount of signal attenuation (loss).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646343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322849-C881-45CB-A12C-43011C95EB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94640"/>
            <a:ext cx="10515600" cy="5882323"/>
          </a:xfrm>
        </p:spPr>
        <p:txBody>
          <a:bodyPr>
            <a:normAutofit fontScale="40000" lnSpcReduction="20000"/>
          </a:bodyPr>
          <a:lstStyle/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3600" b="1" dirty="0">
                <a:effectLst/>
                <a:latin typeface="Calibri" panose="020F0502020204030204" pitchFamily="34" charset="0"/>
                <a:ea typeface="SimSun" panose="02010600030101010101" pitchFamily="2" charset="-122"/>
                <a:cs typeface="Times New Roman" panose="02020603050405020304" pitchFamily="18" charset="0"/>
              </a:rPr>
              <a:t>Why Use an Attenuator</a:t>
            </a:r>
            <a:endParaRPr lang="en-US" sz="3600" dirty="0">
              <a:effectLst/>
              <a:latin typeface="Calibri" panose="020F0502020204030204" pitchFamily="34" charset="0"/>
              <a:ea typeface="SimSun" panose="02010600030101010101" pitchFamily="2" charset="-122"/>
              <a:cs typeface="Times New Roman" panose="02020603050405020304" pitchFamily="18" charset="0"/>
            </a:endParaRPr>
          </a:p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3600" dirty="0">
                <a:effectLst/>
                <a:latin typeface="Calibri" panose="020F0502020204030204" pitchFamily="34" charset="0"/>
                <a:ea typeface="SimSun" panose="02010600030101010101" pitchFamily="2" charset="-122"/>
                <a:cs typeface="Times New Roman" panose="02020603050405020304" pitchFamily="18" charset="0"/>
              </a:rPr>
              <a:t>Attenuators are used for:</a:t>
            </a:r>
          </a:p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3600" dirty="0">
                <a:effectLst/>
                <a:latin typeface="Calibri" panose="020F0502020204030204" pitchFamily="34" charset="0"/>
                <a:ea typeface="SimSun" panose="02010600030101010101" pitchFamily="2" charset="-122"/>
                <a:cs typeface="Times New Roman" panose="02020603050405020304" pitchFamily="18" charset="0"/>
              </a:rPr>
              <a:t> </a:t>
            </a:r>
          </a:p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3600" dirty="0">
                <a:effectLst/>
                <a:latin typeface="Calibri" panose="020F0502020204030204" pitchFamily="34" charset="0"/>
                <a:ea typeface="SimSun" panose="02010600030101010101" pitchFamily="2" charset="-122"/>
                <a:cs typeface="Times New Roman" panose="02020603050405020304" pitchFamily="18" charset="0"/>
              </a:rPr>
              <a:t>1.</a:t>
            </a:r>
            <a:r>
              <a:rPr lang="en-US" sz="3600" b="1" dirty="0">
                <a:effectLst/>
                <a:latin typeface="Calibri" panose="020F0502020204030204" pitchFamily="34" charset="0"/>
                <a:ea typeface="SimSun" panose="02010600030101010101" pitchFamily="2" charset="-122"/>
                <a:cs typeface="Times New Roman" panose="02020603050405020304" pitchFamily="18" charset="0"/>
              </a:rPr>
              <a:t>Protecting sensitive components (like detectors or amplifiers) from high power</a:t>
            </a:r>
            <a:r>
              <a:rPr lang="en-US" sz="3600" dirty="0">
                <a:effectLst/>
                <a:latin typeface="Calibri" panose="020F0502020204030204" pitchFamily="34" charset="0"/>
                <a:ea typeface="SimSun" panose="02010600030101010101" pitchFamily="2" charset="-122"/>
                <a:cs typeface="Times New Roman" panose="02020603050405020304" pitchFamily="18" charset="0"/>
              </a:rPr>
              <a:t>.</a:t>
            </a:r>
          </a:p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3600" dirty="0">
                <a:effectLst/>
                <a:latin typeface="Calibri" panose="020F0502020204030204" pitchFamily="34" charset="0"/>
                <a:ea typeface="SimSun" panose="02010600030101010101" pitchFamily="2" charset="-122"/>
                <a:cs typeface="Times New Roman" panose="02020603050405020304" pitchFamily="18" charset="0"/>
              </a:rPr>
              <a:t>Prevents damage to low -power components from excessive signal power. Especially important in test setups where signal level vary</a:t>
            </a:r>
          </a:p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3600" dirty="0">
                <a:effectLst/>
                <a:latin typeface="Calibri" panose="020F0502020204030204" pitchFamily="34" charset="0"/>
                <a:ea typeface="SimSun" panose="02010600030101010101" pitchFamily="2" charset="-122"/>
                <a:cs typeface="Times New Roman" panose="02020603050405020304" pitchFamily="18" charset="0"/>
              </a:rPr>
              <a:t> </a:t>
            </a:r>
          </a:p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3600" dirty="0">
                <a:effectLst/>
                <a:latin typeface="Calibri" panose="020F0502020204030204" pitchFamily="34" charset="0"/>
                <a:ea typeface="SimSun" panose="02010600030101010101" pitchFamily="2" charset="-122"/>
                <a:cs typeface="Times New Roman" panose="02020603050405020304" pitchFamily="18" charset="0"/>
              </a:rPr>
              <a:t>2.  </a:t>
            </a:r>
            <a:r>
              <a:rPr lang="en-US" sz="3600" b="1" dirty="0">
                <a:effectLst/>
                <a:latin typeface="Calibri" panose="020F0502020204030204" pitchFamily="34" charset="0"/>
                <a:ea typeface="SimSun" panose="02010600030101010101" pitchFamily="2" charset="-122"/>
                <a:cs typeface="Times New Roman" panose="02020603050405020304" pitchFamily="18" charset="0"/>
              </a:rPr>
              <a:t>Impedance matching in RF systems to avoid reflections.</a:t>
            </a:r>
            <a:endParaRPr lang="en-US" sz="3600" dirty="0">
              <a:effectLst/>
              <a:latin typeface="Calibri" panose="020F0502020204030204" pitchFamily="34" charset="0"/>
              <a:ea typeface="SimSun" panose="02010600030101010101" pitchFamily="2" charset="-122"/>
              <a:cs typeface="Times New Roman" panose="02020603050405020304" pitchFamily="18" charset="0"/>
            </a:endParaRPr>
          </a:p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3600" dirty="0">
                <a:effectLst/>
                <a:latin typeface="Calibri" panose="020F0502020204030204" pitchFamily="34" charset="0"/>
                <a:ea typeface="SimSun" panose="02010600030101010101" pitchFamily="2" charset="-122"/>
                <a:cs typeface="Times New Roman" panose="02020603050405020304" pitchFamily="18" charset="0"/>
              </a:rPr>
              <a:t>Helps maintain a consistent impedance (e.g. 50 ohms) between different devices</a:t>
            </a:r>
          </a:p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3600" dirty="0">
                <a:effectLst/>
                <a:latin typeface="Calibri" panose="020F0502020204030204" pitchFamily="34" charset="0"/>
                <a:ea typeface="SimSun" panose="02010600030101010101" pitchFamily="2" charset="-122"/>
                <a:cs typeface="Times New Roman" panose="02020603050405020304" pitchFamily="18" charset="0"/>
              </a:rPr>
              <a:t>Reduces signal reflection and standing waves, improving stability and performance</a:t>
            </a:r>
          </a:p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3600" dirty="0">
                <a:effectLst/>
                <a:latin typeface="Calibri" panose="020F0502020204030204" pitchFamily="34" charset="0"/>
                <a:ea typeface="SimSun" panose="02010600030101010101" pitchFamily="2" charset="-122"/>
                <a:cs typeface="Times New Roman" panose="02020603050405020304" pitchFamily="18" charset="0"/>
              </a:rPr>
              <a:t> </a:t>
            </a:r>
          </a:p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3600" dirty="0">
                <a:effectLst/>
                <a:latin typeface="Calibri" panose="020F0502020204030204" pitchFamily="34" charset="0"/>
                <a:ea typeface="SimSun" panose="02010600030101010101" pitchFamily="2" charset="-122"/>
                <a:cs typeface="Times New Roman" panose="02020603050405020304" pitchFamily="18" charset="0"/>
              </a:rPr>
              <a:t> </a:t>
            </a:r>
          </a:p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3600" dirty="0">
                <a:effectLst/>
                <a:latin typeface="Calibri" panose="020F0502020204030204" pitchFamily="34" charset="0"/>
                <a:ea typeface="SimSun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en-US" sz="3600" b="1" dirty="0">
                <a:effectLst/>
                <a:latin typeface="Calibri" panose="020F0502020204030204" pitchFamily="34" charset="0"/>
                <a:ea typeface="SimSun" panose="02010600030101010101" pitchFamily="2" charset="-122"/>
                <a:cs typeface="Times New Roman" panose="02020603050405020304" pitchFamily="18" charset="0"/>
              </a:rPr>
              <a:t>. Signal level control for testing and calibration.</a:t>
            </a:r>
            <a:endParaRPr lang="en-US" sz="3600" dirty="0">
              <a:effectLst/>
              <a:latin typeface="Calibri" panose="020F0502020204030204" pitchFamily="34" charset="0"/>
              <a:ea typeface="SimSun" panose="02010600030101010101" pitchFamily="2" charset="-122"/>
              <a:cs typeface="Times New Roman" panose="02020603050405020304" pitchFamily="18" charset="0"/>
            </a:endParaRPr>
          </a:p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3600" dirty="0">
                <a:effectLst/>
                <a:latin typeface="Calibri" panose="020F0502020204030204" pitchFamily="34" charset="0"/>
                <a:ea typeface="SimSun" panose="02010600030101010101" pitchFamily="2" charset="-122"/>
                <a:cs typeface="Times New Roman" panose="02020603050405020304" pitchFamily="18" charset="0"/>
              </a:rPr>
              <a:t>Allows precise control of signal amplitude</a:t>
            </a:r>
          </a:p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3600" dirty="0">
                <a:effectLst/>
                <a:latin typeface="Calibri" panose="020F0502020204030204" pitchFamily="34" charset="0"/>
                <a:ea typeface="SimSun" panose="02010600030101010101" pitchFamily="2" charset="-122"/>
                <a:cs typeface="Times New Roman" panose="02020603050405020304" pitchFamily="18" charset="0"/>
              </a:rPr>
              <a:t> </a:t>
            </a:r>
          </a:p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3600" dirty="0">
                <a:effectLst/>
                <a:latin typeface="Calibri" panose="020F0502020204030204" pitchFamily="34" charset="0"/>
                <a:ea typeface="SimSun" panose="02010600030101010101" pitchFamily="2" charset="-122"/>
                <a:cs typeface="Times New Roman" panose="02020603050405020304" pitchFamily="18" charset="0"/>
              </a:rPr>
              <a:t>4. Balancing gain stages in communication and radar systems.</a:t>
            </a:r>
          </a:p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3600" dirty="0">
                <a:effectLst/>
                <a:latin typeface="Calibri" panose="020F0502020204030204" pitchFamily="34" charset="0"/>
                <a:ea typeface="SimSun" panose="02010600030101010101" pitchFamily="2" charset="-122"/>
                <a:cs typeface="Times New Roman" panose="02020603050405020304" pitchFamily="18" charset="0"/>
              </a:rPr>
              <a:t> </a:t>
            </a:r>
          </a:p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1800" dirty="0">
                <a:effectLst/>
                <a:latin typeface="Calibri" panose="020F0502020204030204" pitchFamily="34" charset="0"/>
                <a:ea typeface="SimSun" panose="02010600030101010101" pitchFamily="2" charset="-122"/>
                <a:cs typeface="Times New Roman" panose="02020603050405020304" pitchFamily="18" charset="0"/>
              </a:rPr>
              <a:t> 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646027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809D7D-8107-3579-17A0-A6161AA62C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 marL="0" marR="0" indent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endParaRPr lang="en-US" sz="1800" dirty="0">
              <a:effectLst/>
              <a:latin typeface="Calibri" panose="020F0502020204030204" pitchFamily="34" charset="0"/>
              <a:ea typeface="SimSun" panose="02010600030101010101" pitchFamily="2" charset="-122"/>
              <a:cs typeface="Times New Roman" panose="02020603050405020304" pitchFamily="18" charset="0"/>
            </a:endParaRPr>
          </a:p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1800" dirty="0">
                <a:effectLst/>
                <a:latin typeface="Calibri" panose="020F0502020204030204" pitchFamily="34" charset="0"/>
                <a:ea typeface="SimSun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sz="1800" b="1" dirty="0">
                <a:effectLst/>
                <a:latin typeface="Calibri" panose="020F0502020204030204" pitchFamily="34" charset="0"/>
                <a:ea typeface="SimSun" panose="02010600030101010101" pitchFamily="2" charset="-122"/>
                <a:cs typeface="Times New Roman" panose="02020603050405020304" pitchFamily="18" charset="0"/>
              </a:rPr>
              <a:t>Principle of Operation</a:t>
            </a:r>
            <a:r>
              <a:rPr lang="en-US" sz="1800" dirty="0">
                <a:effectLst/>
                <a:latin typeface="Calibri" panose="020F0502020204030204" pitchFamily="34" charset="0"/>
                <a:ea typeface="SimSun" panose="02010600030101010101" pitchFamily="2" charset="-122"/>
                <a:cs typeface="Times New Roman" panose="02020603050405020304" pitchFamily="18" charset="0"/>
              </a:rPr>
              <a:t>:</a:t>
            </a:r>
          </a:p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1800" dirty="0">
                <a:effectLst/>
                <a:latin typeface="Calibri" panose="020F0502020204030204" pitchFamily="34" charset="0"/>
                <a:ea typeface="SimSun" panose="02010600030101010101" pitchFamily="2" charset="-122"/>
                <a:cs typeface="Times New Roman" panose="02020603050405020304" pitchFamily="18" charset="0"/>
              </a:rPr>
              <a:t>Attenuators work by absorbing part of the signal energy and converting it into heat using resistive elements. The remaining signal continues with reduced power.</a:t>
            </a:r>
          </a:p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1800" dirty="0">
                <a:effectLst/>
                <a:latin typeface="Calibri" panose="020F0502020204030204" pitchFamily="34" charset="0"/>
                <a:ea typeface="SimSun" panose="02010600030101010101" pitchFamily="2" charset="-122"/>
                <a:cs typeface="Times New Roman" panose="02020603050405020304" pitchFamily="18" charset="0"/>
              </a:rPr>
              <a:t>Since attenuators do not generate power or amplify the signal, they are classified as passive devices.</a:t>
            </a:r>
          </a:p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1800" dirty="0">
                <a:effectLst/>
                <a:latin typeface="Calibri" panose="020F0502020204030204" pitchFamily="34" charset="0"/>
                <a:ea typeface="SimSun" panose="02010600030101010101" pitchFamily="2" charset="-122"/>
                <a:cs typeface="Times New Roman" panose="02020603050405020304" pitchFamily="18" charset="0"/>
              </a:rPr>
              <a:t>How it works </a:t>
            </a:r>
          </a:p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1800" b="1" dirty="0">
                <a:effectLst/>
                <a:latin typeface="Calibri" panose="020F0502020204030204" pitchFamily="34" charset="0"/>
                <a:ea typeface="SimSun" panose="02010600030101010101" pitchFamily="2" charset="-122"/>
                <a:cs typeface="Times New Roman" panose="02020603050405020304" pitchFamily="18" charset="0"/>
              </a:rPr>
              <a:t>1.Signal input</a:t>
            </a:r>
            <a:endParaRPr lang="en-US" sz="1800" dirty="0">
              <a:effectLst/>
              <a:latin typeface="Calibri" panose="020F0502020204030204" pitchFamily="34" charset="0"/>
              <a:ea typeface="SimSun" panose="02010600030101010101" pitchFamily="2" charset="-122"/>
              <a:cs typeface="Times New Roman" panose="02020603050405020304" pitchFamily="18" charset="0"/>
            </a:endParaRPr>
          </a:p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1800" dirty="0">
                <a:effectLst/>
                <a:latin typeface="Calibri" panose="020F0502020204030204" pitchFamily="34" charset="0"/>
                <a:ea typeface="SimSun" panose="02010600030101010101" pitchFamily="2" charset="-122"/>
                <a:cs typeface="Times New Roman" panose="02020603050405020304" pitchFamily="18" charset="0"/>
              </a:rPr>
              <a:t>Ahigh -frequency RF /microwave signal is applied to the input of the attenuator</a:t>
            </a:r>
          </a:p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1800" b="1" dirty="0">
                <a:effectLst/>
                <a:latin typeface="Calibri" panose="020F0502020204030204" pitchFamily="34" charset="0"/>
                <a:ea typeface="SimSun" panose="02010600030101010101" pitchFamily="2" charset="-122"/>
                <a:cs typeface="Times New Roman" panose="02020603050405020304" pitchFamily="18" charset="0"/>
              </a:rPr>
              <a:t>2.Energy dissipation </a:t>
            </a:r>
            <a:endParaRPr lang="en-US" sz="1800" dirty="0">
              <a:effectLst/>
              <a:latin typeface="Calibri" panose="020F0502020204030204" pitchFamily="34" charset="0"/>
              <a:ea typeface="SimSun" panose="02010600030101010101" pitchFamily="2" charset="-122"/>
              <a:cs typeface="Times New Roman" panose="02020603050405020304" pitchFamily="18" charset="0"/>
            </a:endParaRPr>
          </a:p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1800" dirty="0">
                <a:effectLst/>
                <a:latin typeface="Calibri" panose="020F0502020204030204" pitchFamily="34" charset="0"/>
                <a:ea typeface="SimSun" panose="02010600030101010101" pitchFamily="2" charset="-122"/>
                <a:cs typeface="Times New Roman" panose="02020603050405020304" pitchFamily="18" charset="0"/>
              </a:rPr>
              <a:t>Inside the attenuator, resistive elements (or lossy materials in waveguide /microstrip types) absorb apportion of the signal’s energy </a:t>
            </a:r>
          </a:p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1800" dirty="0">
                <a:effectLst/>
                <a:latin typeface="Calibri" panose="020F0502020204030204" pitchFamily="34" charset="0"/>
                <a:ea typeface="SimSun" panose="02010600030101010101" pitchFamily="2" charset="-122"/>
                <a:cs typeface="Times New Roman" panose="02020603050405020304" pitchFamily="18" charset="0"/>
              </a:rPr>
              <a:t>This energy is converted into heat, resulting in a reduced signal at the output</a:t>
            </a:r>
          </a:p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1800" b="1" dirty="0">
                <a:effectLst/>
                <a:latin typeface="Calibri" panose="020F0502020204030204" pitchFamily="34" charset="0"/>
                <a:ea typeface="SimSun" panose="02010600030101010101" pitchFamily="2" charset="-122"/>
                <a:cs typeface="Times New Roman" panose="02020603050405020304" pitchFamily="18" charset="0"/>
              </a:rPr>
              <a:t>3.Impedance matching </a:t>
            </a:r>
            <a:endParaRPr lang="en-US" sz="1800" dirty="0">
              <a:effectLst/>
              <a:latin typeface="Calibri" panose="020F0502020204030204" pitchFamily="34" charset="0"/>
              <a:ea typeface="SimSun" panose="02010600030101010101" pitchFamily="2" charset="-122"/>
              <a:cs typeface="Times New Roman" panose="02020603050405020304" pitchFamily="18" charset="0"/>
            </a:endParaRPr>
          </a:p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1800" dirty="0">
                <a:effectLst/>
                <a:latin typeface="Calibri" panose="020F0502020204030204" pitchFamily="34" charset="0"/>
                <a:ea typeface="SimSun" panose="02010600030101010101" pitchFamily="2" charset="-122"/>
                <a:cs typeface="Times New Roman" panose="02020603050405020304" pitchFamily="18" charset="0"/>
              </a:rPr>
              <a:t>The resistive network is carefully designed to maintain impedance matching (usually 50 or 75 ohms) to prevent signal reflection and ensure maximum power transfer.</a:t>
            </a:r>
          </a:p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1800" dirty="0">
                <a:effectLst/>
                <a:latin typeface="Calibri" panose="020F0502020204030204" pitchFamily="34" charset="0"/>
                <a:ea typeface="SimSun" panose="02010600030101010101" pitchFamily="2" charset="-122"/>
                <a:cs typeface="Times New Roman" panose="02020603050405020304" pitchFamily="18" charset="0"/>
              </a:rPr>
              <a:t> 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626938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2D6059-462E-A4CD-E230-08332CE024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Diagram</a:t>
            </a:r>
            <a:br>
              <a:rPr lang="en-US" dirty="0"/>
            </a:br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9596DD8-3B05-E148-A676-43986ABDAE7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26705" y="1825625"/>
            <a:ext cx="5538590" cy="4351338"/>
          </a:xfrm>
        </p:spPr>
      </p:pic>
    </p:spTree>
    <p:extLst>
      <p:ext uri="{BB962C8B-B14F-4D97-AF65-F5344CB8AC3E}">
        <p14:creationId xmlns:p14="http://schemas.microsoft.com/office/powerpoint/2010/main" val="32688867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A41DC3-0A5D-AE49-30DC-2A792E8F97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1800" dirty="0">
                <a:effectLst/>
                <a:latin typeface="Calibri" panose="020F0502020204030204" pitchFamily="34" charset="0"/>
                <a:ea typeface="SimSun" panose="02010600030101010101" pitchFamily="2" charset="-122"/>
                <a:cs typeface="Times New Roman" panose="02020603050405020304" pitchFamily="18" charset="0"/>
              </a:rPr>
              <a:t>4. </a:t>
            </a:r>
            <a:r>
              <a:rPr lang="en-US" sz="1800" b="1" dirty="0">
                <a:effectLst/>
                <a:latin typeface="Calibri" panose="020F0502020204030204" pitchFamily="34" charset="0"/>
                <a:ea typeface="SimSun" panose="02010600030101010101" pitchFamily="2" charset="-122"/>
                <a:cs typeface="Times New Roman" panose="02020603050405020304" pitchFamily="18" charset="0"/>
              </a:rPr>
              <a:t>Types of Attenuators</a:t>
            </a:r>
            <a:r>
              <a:rPr lang="en-US" sz="1800" dirty="0">
                <a:effectLst/>
                <a:latin typeface="Calibri" panose="020F0502020204030204" pitchFamily="34" charset="0"/>
                <a:ea typeface="SimSun" panose="02010600030101010101" pitchFamily="2" charset="-122"/>
                <a:cs typeface="Times New Roman" panose="02020603050405020304" pitchFamily="18" charset="0"/>
              </a:rPr>
              <a:t>:</a:t>
            </a:r>
          </a:p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1800" dirty="0">
                <a:effectLst/>
                <a:latin typeface="Calibri" panose="020F0502020204030204" pitchFamily="34" charset="0"/>
                <a:ea typeface="SimSun" panose="02010600030101010101" pitchFamily="2" charset="-122"/>
                <a:cs typeface="Times New Roman" panose="02020603050405020304" pitchFamily="18" charset="0"/>
              </a:rPr>
              <a:t>a) </a:t>
            </a:r>
            <a:r>
              <a:rPr lang="en-US" sz="1800" b="1" dirty="0">
                <a:effectLst/>
                <a:latin typeface="Calibri" panose="020F0502020204030204" pitchFamily="34" charset="0"/>
                <a:ea typeface="SimSun" panose="02010600030101010101" pitchFamily="2" charset="-122"/>
                <a:cs typeface="Times New Roman" panose="02020603050405020304" pitchFamily="18" charset="0"/>
              </a:rPr>
              <a:t>Fixed Attenuators</a:t>
            </a:r>
            <a:r>
              <a:rPr lang="en-US" sz="1800" dirty="0">
                <a:effectLst/>
                <a:latin typeface="Calibri" panose="020F0502020204030204" pitchFamily="34" charset="0"/>
                <a:ea typeface="SimSun" panose="02010600030101010101" pitchFamily="2" charset="-122"/>
                <a:cs typeface="Times New Roman" panose="02020603050405020304" pitchFamily="18" charset="0"/>
              </a:rPr>
              <a:t>:</a:t>
            </a:r>
          </a:p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1800" dirty="0">
                <a:effectLst/>
                <a:latin typeface="Calibri" panose="020F0502020204030204" pitchFamily="34" charset="0"/>
                <a:ea typeface="SimSun" panose="02010600030101010101" pitchFamily="2" charset="-122"/>
                <a:cs typeface="Times New Roman" panose="02020603050405020304" pitchFamily="18" charset="0"/>
              </a:rPr>
              <a:t>Provide a constant level of attenuation (e.g., 3 dB, 6 dB, 10 dB).</a:t>
            </a:r>
          </a:p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1800" dirty="0">
                <a:effectLst/>
                <a:latin typeface="Calibri" panose="020F0502020204030204" pitchFamily="34" charset="0"/>
                <a:ea typeface="SimSun" panose="02010600030101010101" pitchFamily="2" charset="-122"/>
                <a:cs typeface="Times New Roman" panose="02020603050405020304" pitchFamily="18" charset="0"/>
              </a:rPr>
              <a:t> </a:t>
            </a:r>
          </a:p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1800" dirty="0">
                <a:effectLst/>
                <a:latin typeface="Calibri" panose="020F0502020204030204" pitchFamily="34" charset="0"/>
                <a:ea typeface="SimSun" panose="02010600030101010101" pitchFamily="2" charset="-122"/>
                <a:cs typeface="Times New Roman" panose="02020603050405020304" pitchFamily="18" charset="0"/>
              </a:rPr>
              <a:t>Simple construction using resistors or lossy materials.</a:t>
            </a:r>
          </a:p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1800" dirty="0">
                <a:effectLst/>
                <a:latin typeface="Calibri" panose="020F0502020204030204" pitchFamily="34" charset="0"/>
                <a:ea typeface="SimSun" panose="02010600030101010101" pitchFamily="2" charset="-122"/>
                <a:cs typeface="Times New Roman" panose="02020603050405020304" pitchFamily="18" charset="0"/>
              </a:rPr>
              <a:t> </a:t>
            </a:r>
          </a:p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1800" dirty="0">
                <a:effectLst/>
                <a:latin typeface="Calibri" panose="020F0502020204030204" pitchFamily="34" charset="0"/>
                <a:ea typeface="SimSun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en-US" sz="1800" b="1" dirty="0">
                <a:effectLst/>
                <a:latin typeface="Calibri" panose="020F0502020204030204" pitchFamily="34" charset="0"/>
                <a:ea typeface="SimSun" panose="02010600030101010101" pitchFamily="2" charset="-122"/>
                <a:cs typeface="Times New Roman" panose="02020603050405020304" pitchFamily="18" charset="0"/>
              </a:rPr>
              <a:t>) Variable Attenuators:</a:t>
            </a:r>
            <a:endParaRPr lang="en-US" sz="1800" dirty="0">
              <a:effectLst/>
              <a:latin typeface="Calibri" panose="020F0502020204030204" pitchFamily="34" charset="0"/>
              <a:ea typeface="SimSun" panose="02010600030101010101" pitchFamily="2" charset="-122"/>
              <a:cs typeface="Times New Roman" panose="02020603050405020304" pitchFamily="18" charset="0"/>
            </a:endParaRPr>
          </a:p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1800" dirty="0">
                <a:effectLst/>
                <a:latin typeface="Calibri" panose="020F0502020204030204" pitchFamily="34" charset="0"/>
                <a:ea typeface="SimSun" panose="02010600030101010101" pitchFamily="2" charset="-122"/>
                <a:cs typeface="Times New Roman" panose="02020603050405020304" pitchFamily="18" charset="0"/>
              </a:rPr>
              <a:t>Allow manual or electronic adjustment of attenuation level.</a:t>
            </a:r>
          </a:p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1800" dirty="0">
                <a:effectLst/>
                <a:latin typeface="Calibri" panose="020F0502020204030204" pitchFamily="34" charset="0"/>
                <a:ea typeface="SimSun" panose="02010600030101010101" pitchFamily="2" charset="-122"/>
                <a:cs typeface="Times New Roman" panose="02020603050405020304" pitchFamily="18" charset="0"/>
              </a:rPr>
              <a:t> </a:t>
            </a:r>
          </a:p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1800" dirty="0">
                <a:effectLst/>
                <a:latin typeface="Calibri" panose="020F0502020204030204" pitchFamily="34" charset="0"/>
                <a:ea typeface="SimSun" panose="02010600030101010101" pitchFamily="2" charset="-122"/>
                <a:cs typeface="Times New Roman" panose="02020603050405020304" pitchFamily="18" charset="0"/>
              </a:rPr>
              <a:t>Used in tunable systems and test equipment.</a:t>
            </a:r>
          </a:p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1800" dirty="0">
                <a:effectLst/>
                <a:latin typeface="Calibri" panose="020F0502020204030204" pitchFamily="34" charset="0"/>
                <a:ea typeface="SimSun" panose="02010600030101010101" pitchFamily="2" charset="-122"/>
                <a:cs typeface="Times New Roman" panose="02020603050405020304" pitchFamily="18" charset="0"/>
              </a:rPr>
              <a:t> </a:t>
            </a:r>
          </a:p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1800" dirty="0">
                <a:effectLst/>
                <a:latin typeface="Calibri" panose="020F0502020204030204" pitchFamily="34" charset="0"/>
                <a:ea typeface="SimSun" panose="02010600030101010101" pitchFamily="2" charset="-122"/>
                <a:cs typeface="Times New Roman" panose="02020603050405020304" pitchFamily="18" charset="0"/>
              </a:rPr>
              <a:t>c) </a:t>
            </a:r>
            <a:r>
              <a:rPr lang="en-US" sz="1800" b="1" dirty="0">
                <a:effectLst/>
                <a:latin typeface="Calibri" panose="020F0502020204030204" pitchFamily="34" charset="0"/>
                <a:ea typeface="SimSun" panose="02010600030101010101" pitchFamily="2" charset="-122"/>
                <a:cs typeface="Times New Roman" panose="02020603050405020304" pitchFamily="18" charset="0"/>
              </a:rPr>
              <a:t>Step Attenuators</a:t>
            </a:r>
            <a:r>
              <a:rPr lang="en-US" sz="1800" dirty="0">
                <a:effectLst/>
                <a:latin typeface="Calibri" panose="020F0502020204030204" pitchFamily="34" charset="0"/>
                <a:ea typeface="SimSun" panose="02010600030101010101" pitchFamily="2" charset="-122"/>
                <a:cs typeface="Times New Roman" panose="02020603050405020304" pitchFamily="18" charset="0"/>
              </a:rPr>
              <a:t>:</a:t>
            </a:r>
          </a:p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1800" dirty="0">
                <a:effectLst/>
                <a:latin typeface="Calibri" panose="020F0502020204030204" pitchFamily="34" charset="0"/>
                <a:ea typeface="SimSun" panose="02010600030101010101" pitchFamily="2" charset="-122"/>
                <a:cs typeface="Times New Roman" panose="02020603050405020304" pitchFamily="18" charset="0"/>
              </a:rPr>
              <a:t>Allow discrete changes in attenuation using switchable resistor networks.</a:t>
            </a:r>
          </a:p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1800" dirty="0">
                <a:effectLst/>
                <a:latin typeface="Calibri" panose="020F0502020204030204" pitchFamily="34" charset="0"/>
                <a:ea typeface="SimSun" panose="02010600030101010101" pitchFamily="2" charset="-122"/>
                <a:cs typeface="Times New Roman" panose="02020603050405020304" pitchFamily="18" charset="0"/>
              </a:rPr>
              <a:t> 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20042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E2DAEE-7E7F-EEA1-9E90-0531896885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2800" b="1">
                <a:effectLst/>
                <a:latin typeface="Calibri" panose="020F0502020204030204" pitchFamily="34" charset="0"/>
                <a:ea typeface="SimSun" panose="02010600030101010101" pitchFamily="2" charset="-122"/>
                <a:cs typeface="Times New Roman" panose="02020603050405020304" pitchFamily="18" charset="0"/>
              </a:rPr>
              <a:t>Microwave Implementation:</a:t>
            </a:r>
            <a:endParaRPr lang="en-US" sz="2800">
              <a:effectLst/>
              <a:latin typeface="Calibri" panose="020F0502020204030204" pitchFamily="34" charset="0"/>
              <a:ea typeface="SimSun" panose="02010600030101010101" pitchFamily="2" charset="-122"/>
              <a:cs typeface="Times New Roman" panose="02020603050405020304" pitchFamily="18" charset="0"/>
            </a:endParaRPr>
          </a:p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2800">
                <a:effectLst/>
                <a:latin typeface="Calibri" panose="020F0502020204030204" pitchFamily="34" charset="0"/>
                <a:ea typeface="SimSun" panose="02010600030101010101" pitchFamily="2" charset="-122"/>
                <a:cs typeface="Times New Roman" panose="02020603050405020304" pitchFamily="18" charset="0"/>
              </a:rPr>
              <a:t>Microwave attenuators are implemented in various forms:</a:t>
            </a:r>
          </a:p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2800">
                <a:effectLst/>
                <a:latin typeface="Calibri" panose="020F0502020204030204" pitchFamily="34" charset="0"/>
                <a:ea typeface="SimSun" panose="02010600030101010101" pitchFamily="2" charset="-122"/>
                <a:cs typeface="Times New Roman" panose="02020603050405020304" pitchFamily="18" charset="0"/>
              </a:rPr>
              <a:t> </a:t>
            </a:r>
          </a:p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2800">
                <a:effectLst/>
                <a:latin typeface="Calibri" panose="020F0502020204030204" pitchFamily="34" charset="0"/>
                <a:ea typeface="SimSun" panose="02010600030101010101" pitchFamily="2" charset="-122"/>
                <a:cs typeface="Times New Roman" panose="02020603050405020304" pitchFamily="18" charset="0"/>
              </a:rPr>
              <a:t>1.</a:t>
            </a:r>
            <a:r>
              <a:rPr lang="en-US" sz="2800" b="1">
                <a:effectLst/>
                <a:latin typeface="Calibri" panose="020F0502020204030204" pitchFamily="34" charset="0"/>
                <a:ea typeface="SimSun" panose="02010600030101010101" pitchFamily="2" charset="-122"/>
                <a:cs typeface="Times New Roman" panose="02020603050405020304" pitchFamily="18" charset="0"/>
              </a:rPr>
              <a:t>Coaxial attenuators</a:t>
            </a:r>
            <a:r>
              <a:rPr lang="en-US" sz="2800">
                <a:effectLst/>
                <a:latin typeface="Calibri" panose="020F0502020204030204" pitchFamily="34" charset="0"/>
                <a:ea typeface="SimSun" panose="02010600030101010101" pitchFamily="2" charset="-122"/>
                <a:cs typeface="Times New Roman" panose="02020603050405020304" pitchFamily="18" charset="0"/>
              </a:rPr>
              <a:t>: </a:t>
            </a:r>
          </a:p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2800">
                <a:effectLst/>
                <a:latin typeface="Calibri" panose="020F0502020204030204" pitchFamily="34" charset="0"/>
                <a:ea typeface="SimSun" panose="02010600030101010101" pitchFamily="2" charset="-122"/>
                <a:cs typeface="Times New Roman" panose="02020603050405020304" pitchFamily="18" charset="0"/>
              </a:rPr>
              <a:t>Used in test setups, communication links</a:t>
            </a:r>
          </a:p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2800">
                <a:effectLst/>
                <a:latin typeface="Calibri" panose="020F0502020204030204" pitchFamily="34" charset="0"/>
                <a:ea typeface="SimSun" panose="02010600030101010101" pitchFamily="2" charset="-122"/>
                <a:cs typeface="Times New Roman" panose="02020603050405020304" pitchFamily="18" charset="0"/>
              </a:rPr>
              <a:t>Advantage: broadband performance ,easy to connect </a:t>
            </a:r>
          </a:p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2800">
                <a:effectLst/>
                <a:latin typeface="Calibri" panose="020F0502020204030204" pitchFamily="34" charset="0"/>
                <a:ea typeface="SimSun" panose="02010600030101010101" pitchFamily="2" charset="-122"/>
                <a:cs typeface="Times New Roman" panose="02020603050405020304" pitchFamily="18" charset="0"/>
              </a:rPr>
              <a:t>2.</a:t>
            </a:r>
            <a:r>
              <a:rPr lang="en-US" sz="2800" b="1">
                <a:effectLst/>
                <a:latin typeface="Calibri" panose="020F0502020204030204" pitchFamily="34" charset="0"/>
                <a:ea typeface="SimSun" panose="02010600030101010101" pitchFamily="2" charset="-122"/>
                <a:cs typeface="Times New Roman" panose="02020603050405020304" pitchFamily="18" charset="0"/>
              </a:rPr>
              <a:t>Waveguide attenuators</a:t>
            </a:r>
            <a:r>
              <a:rPr lang="en-US" sz="2800">
                <a:effectLst/>
                <a:latin typeface="Calibri" panose="020F0502020204030204" pitchFamily="34" charset="0"/>
                <a:ea typeface="SimSun" panose="02010600030101010101" pitchFamily="2" charset="-122"/>
                <a:cs typeface="Times New Roman" panose="02020603050405020304" pitchFamily="18" charset="0"/>
              </a:rPr>
              <a:t>: </a:t>
            </a:r>
          </a:p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2800">
                <a:effectLst/>
                <a:latin typeface="Calibri" panose="020F0502020204030204" pitchFamily="34" charset="0"/>
                <a:ea typeface="SimSun" panose="02010600030101010101" pitchFamily="2" charset="-122"/>
                <a:cs typeface="Times New Roman" panose="02020603050405020304" pitchFamily="18" charset="0"/>
              </a:rPr>
              <a:t>Use resistive cards or vanes placed inside a waveguide.</a:t>
            </a:r>
          </a:p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2800">
                <a:effectLst/>
                <a:latin typeface="Calibri" panose="020F0502020204030204" pitchFamily="34" charset="0"/>
                <a:ea typeface="SimSun" panose="02010600030101010101" pitchFamily="2" charset="-122"/>
                <a:cs typeface="Times New Roman" panose="02020603050405020304" pitchFamily="18" charset="0"/>
              </a:rPr>
              <a:t>Advantage : low insertion loss ,high power handling </a:t>
            </a:r>
          </a:p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tabLst>
                <a:tab pos="4180840" algn="l"/>
              </a:tabLst>
            </a:pPr>
            <a:r>
              <a:rPr lang="en-US" sz="2800" b="1">
                <a:effectLst/>
                <a:latin typeface="Calibri" panose="020F0502020204030204" pitchFamily="34" charset="0"/>
                <a:ea typeface="SimSun" panose="02010600030101010101" pitchFamily="2" charset="-122"/>
                <a:cs typeface="Times New Roman" panose="02020603050405020304" pitchFamily="18" charset="0"/>
              </a:rPr>
              <a:t>3.Microstrip or strip line attenuators</a:t>
            </a:r>
            <a:r>
              <a:rPr lang="en-US" sz="2800">
                <a:effectLst/>
                <a:latin typeface="Calibri" panose="020F0502020204030204" pitchFamily="34" charset="0"/>
                <a:ea typeface="SimSun" panose="02010600030101010101" pitchFamily="2" charset="-122"/>
                <a:cs typeface="Times New Roman" panose="02020603050405020304" pitchFamily="18" charset="0"/>
              </a:rPr>
              <a:t>:	</a:t>
            </a:r>
          </a:p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2800">
                <a:effectLst/>
                <a:latin typeface="Calibri" panose="020F0502020204030204" pitchFamily="34" charset="0"/>
                <a:ea typeface="SimSun" panose="02010600030101010101" pitchFamily="2" charset="-122"/>
                <a:cs typeface="Times New Roman" panose="02020603050405020304" pitchFamily="18" charset="0"/>
              </a:rPr>
              <a:t> Integrated on a PCB for compact systems.</a:t>
            </a:r>
          </a:p>
          <a:p>
            <a:r>
              <a:rPr lang="en-US" sz="2800">
                <a:effectLst/>
                <a:latin typeface="Calibri" panose="020F0502020204030204" pitchFamily="34" charset="0"/>
                <a:ea typeface="SimSun" panose="02010600030101010101" pitchFamily="2" charset="-122"/>
                <a:cs typeface="Times New Roman" panose="02020603050405020304" pitchFamily="18" charset="0"/>
              </a:rPr>
              <a:t>Advantage : small ,low cost ,easily integrated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938384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675C66-0CB9-7A98-2FF1-701147DB0B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1800" b="1" dirty="0">
                <a:effectLst/>
                <a:latin typeface="Calibri" panose="020F0502020204030204" pitchFamily="34" charset="0"/>
                <a:ea typeface="SimSun" panose="02010600030101010101" pitchFamily="2" charset="-122"/>
                <a:cs typeface="Times New Roman" panose="02020603050405020304" pitchFamily="18" charset="0"/>
              </a:rPr>
              <a:t>Applications:</a:t>
            </a:r>
            <a:endParaRPr lang="en-US" sz="1800" dirty="0">
              <a:effectLst/>
              <a:latin typeface="Calibri" panose="020F0502020204030204" pitchFamily="34" charset="0"/>
              <a:ea typeface="SimSun" panose="02010600030101010101" pitchFamily="2" charset="-122"/>
              <a:cs typeface="Times New Roman" panose="02020603050405020304" pitchFamily="18" charset="0"/>
            </a:endParaRPr>
          </a:p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1800" dirty="0">
                <a:effectLst/>
                <a:latin typeface="Calibri" panose="020F0502020204030204" pitchFamily="34" charset="0"/>
                <a:ea typeface="SimSun" panose="02010600030101010101" pitchFamily="2" charset="-122"/>
                <a:cs typeface="Times New Roman" panose="02020603050405020304" pitchFamily="18" charset="0"/>
              </a:rPr>
              <a:t>1.Microwave communication systems</a:t>
            </a:r>
          </a:p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1800" dirty="0">
                <a:effectLst/>
                <a:latin typeface="Calibri" panose="020F0502020204030204" pitchFamily="34" charset="0"/>
                <a:ea typeface="SimSun" panose="02010600030101010101" pitchFamily="2" charset="-122"/>
                <a:cs typeface="Times New Roman" panose="02020603050405020304" pitchFamily="18" charset="0"/>
              </a:rPr>
              <a:t> </a:t>
            </a:r>
          </a:p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1800" dirty="0">
                <a:effectLst/>
                <a:latin typeface="Calibri" panose="020F0502020204030204" pitchFamily="34" charset="0"/>
                <a:ea typeface="SimSun" panose="02010600030101010101" pitchFamily="2" charset="-122"/>
                <a:cs typeface="Times New Roman" panose="02020603050405020304" pitchFamily="18" charset="0"/>
              </a:rPr>
              <a:t>2.Radar transmitters/receivers</a:t>
            </a:r>
          </a:p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1800" dirty="0">
                <a:effectLst/>
                <a:latin typeface="Calibri" panose="020F0502020204030204" pitchFamily="34" charset="0"/>
                <a:ea typeface="SimSun" panose="02010600030101010101" pitchFamily="2" charset="-122"/>
                <a:cs typeface="Times New Roman" panose="02020603050405020304" pitchFamily="18" charset="0"/>
              </a:rPr>
              <a:t> </a:t>
            </a:r>
          </a:p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1800" dirty="0">
                <a:effectLst/>
                <a:latin typeface="Calibri" panose="020F0502020204030204" pitchFamily="34" charset="0"/>
                <a:ea typeface="SimSun" panose="02010600030101010101" pitchFamily="2" charset="-122"/>
                <a:cs typeface="Times New Roman" panose="02020603050405020304" pitchFamily="18" charset="0"/>
              </a:rPr>
              <a:t>3.RF testing and measurements</a:t>
            </a:r>
          </a:p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1800" dirty="0">
                <a:effectLst/>
                <a:latin typeface="Calibri" panose="020F0502020204030204" pitchFamily="34" charset="0"/>
                <a:ea typeface="SimSun" panose="02010600030101010101" pitchFamily="2" charset="-122"/>
                <a:cs typeface="Times New Roman" panose="02020603050405020304" pitchFamily="18" charset="0"/>
              </a:rPr>
              <a:t> </a:t>
            </a:r>
          </a:p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1800" dirty="0">
                <a:effectLst/>
                <a:latin typeface="Calibri" panose="020F0502020204030204" pitchFamily="34" charset="0"/>
                <a:ea typeface="SimSun" panose="02010600030101010101" pitchFamily="2" charset="-122"/>
                <a:cs typeface="Times New Roman" panose="02020603050405020304" pitchFamily="18" charset="0"/>
              </a:rPr>
              <a:t>4. Antenna calibration</a:t>
            </a:r>
          </a:p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1800" dirty="0">
                <a:effectLst/>
                <a:latin typeface="Calibri" panose="020F0502020204030204" pitchFamily="34" charset="0"/>
                <a:ea typeface="SimSun" panose="02010600030101010101" pitchFamily="2" charset="-122"/>
                <a:cs typeface="Times New Roman" panose="02020603050405020304" pitchFamily="18" charset="0"/>
              </a:rPr>
              <a:t> </a:t>
            </a:r>
          </a:p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1800" dirty="0">
                <a:effectLst/>
                <a:latin typeface="Calibri" panose="020F0502020204030204" pitchFamily="34" charset="0"/>
                <a:ea typeface="SimSun" panose="02010600030101010101" pitchFamily="2" charset="-122"/>
                <a:cs typeface="Times New Roman" panose="02020603050405020304" pitchFamily="18" charset="0"/>
              </a:rPr>
              <a:t>6.Satellite systems</a:t>
            </a:r>
          </a:p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1800" dirty="0">
                <a:effectLst/>
                <a:latin typeface="Calibri" panose="020F0502020204030204" pitchFamily="34" charset="0"/>
                <a:ea typeface="SimSun" panose="02010600030101010101" pitchFamily="2" charset="-122"/>
                <a:cs typeface="Times New Roman" panose="02020603050405020304" pitchFamily="18" charset="0"/>
              </a:rPr>
              <a:t> </a:t>
            </a:r>
          </a:p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1800" dirty="0">
                <a:effectLst/>
                <a:latin typeface="Calibri" panose="020F0502020204030204" pitchFamily="34" charset="0"/>
                <a:ea typeface="SimSun" panose="02010600030101010101" pitchFamily="2" charset="-122"/>
                <a:cs typeface="Times New Roman" panose="02020603050405020304" pitchFamily="18" charset="0"/>
              </a:rPr>
              <a:t> 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470930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C6D745-2624-7308-6496-708091B68A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77520"/>
            <a:ext cx="10515600" cy="5699443"/>
          </a:xfrm>
        </p:spPr>
        <p:txBody>
          <a:bodyPr>
            <a:normAutofit fontScale="40000" lnSpcReduction="20000"/>
          </a:bodyPr>
          <a:lstStyle/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3400" b="1" dirty="0">
                <a:effectLst/>
                <a:latin typeface="Calibri" panose="020F0502020204030204" pitchFamily="34" charset="0"/>
                <a:ea typeface="SimSun" panose="02010600030101010101" pitchFamily="2" charset="-122"/>
                <a:cs typeface="Times New Roman" panose="02020603050405020304" pitchFamily="18" charset="0"/>
              </a:rPr>
              <a:t>Advantages</a:t>
            </a:r>
            <a:r>
              <a:rPr lang="en-US" sz="3400" dirty="0">
                <a:effectLst/>
                <a:latin typeface="Calibri" panose="020F0502020204030204" pitchFamily="34" charset="0"/>
                <a:ea typeface="SimSun" panose="02010600030101010101" pitchFamily="2" charset="-122"/>
                <a:cs typeface="Times New Roman" panose="02020603050405020304" pitchFamily="18" charset="0"/>
              </a:rPr>
              <a:t>:</a:t>
            </a:r>
          </a:p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3400" dirty="0">
                <a:effectLst/>
                <a:latin typeface="Calibri" panose="020F0502020204030204" pitchFamily="34" charset="0"/>
                <a:ea typeface="SimSun" panose="02010600030101010101" pitchFamily="2" charset="-122"/>
                <a:cs typeface="Times New Roman" panose="02020603050405020304" pitchFamily="18" charset="0"/>
              </a:rPr>
              <a:t>1.</a:t>
            </a:r>
            <a:r>
              <a:rPr lang="en-US" sz="3400" b="1" dirty="0">
                <a:effectLst/>
                <a:latin typeface="Calibri" panose="020F0502020204030204" pitchFamily="34" charset="0"/>
                <a:ea typeface="SimSun" panose="02010600030101010101" pitchFamily="2" charset="-122"/>
                <a:cs typeface="Times New Roman" panose="02020603050405020304" pitchFamily="18" charset="0"/>
              </a:rPr>
              <a:t>passive device (no power supply required</a:t>
            </a:r>
            <a:r>
              <a:rPr lang="en-US" sz="3400" dirty="0">
                <a:effectLst/>
                <a:latin typeface="Calibri" panose="020F0502020204030204" pitchFamily="34" charset="0"/>
                <a:ea typeface="SimSun" panose="02010600030101010101" pitchFamily="2" charset="-122"/>
                <a:cs typeface="Times New Roman" panose="02020603050405020304" pitchFamily="18" charset="0"/>
              </a:rPr>
              <a:t>)</a:t>
            </a:r>
          </a:p>
          <a:p>
            <a:pPr marL="342900" marR="0" lvl="0" indent="-34290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"/>
            </a:pPr>
            <a:r>
              <a:rPr lang="en-US" sz="3400" dirty="0">
                <a:effectLst/>
                <a:latin typeface="Calibri" panose="020F0502020204030204" pitchFamily="34" charset="0"/>
                <a:ea typeface="SimSun" panose="02010600030101010101" pitchFamily="2" charset="-122"/>
                <a:cs typeface="Times New Roman" panose="02020603050405020304" pitchFamily="18" charset="0"/>
              </a:rPr>
              <a:t>Simple and reliable(no need for external biasing or power)</a:t>
            </a:r>
          </a:p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3400" dirty="0">
                <a:effectLst/>
                <a:latin typeface="Calibri" panose="020F0502020204030204" pitchFamily="34" charset="0"/>
                <a:ea typeface="SimSun" panose="02010600030101010101" pitchFamily="2" charset="-122"/>
                <a:cs typeface="Times New Roman" panose="02020603050405020304" pitchFamily="18" charset="0"/>
              </a:rPr>
              <a:t> </a:t>
            </a:r>
          </a:p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3400" dirty="0">
                <a:effectLst/>
                <a:latin typeface="Calibri" panose="020F0502020204030204" pitchFamily="34" charset="0"/>
                <a:ea typeface="SimSun" panose="02010600030101010101" pitchFamily="2" charset="-122"/>
                <a:cs typeface="Times New Roman" panose="02020603050405020304" pitchFamily="18" charset="0"/>
              </a:rPr>
              <a:t>2.Wide bandwidth</a:t>
            </a:r>
          </a:p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3400" dirty="0">
                <a:effectLst/>
                <a:latin typeface="Calibri" panose="020F0502020204030204" pitchFamily="34" charset="0"/>
                <a:ea typeface="SimSun" panose="02010600030101010101" pitchFamily="2" charset="-122"/>
                <a:cs typeface="Times New Roman" panose="02020603050405020304" pitchFamily="18" charset="0"/>
              </a:rPr>
              <a:t> </a:t>
            </a:r>
          </a:p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3400" dirty="0">
                <a:effectLst/>
                <a:latin typeface="Calibri" panose="020F0502020204030204" pitchFamily="34" charset="0"/>
                <a:ea typeface="SimSun" panose="02010600030101010101" pitchFamily="2" charset="-122"/>
                <a:cs typeface="Times New Roman" panose="02020603050405020304" pitchFamily="18" charset="0"/>
              </a:rPr>
              <a:t>3.</a:t>
            </a:r>
            <a:r>
              <a:rPr lang="en-US" sz="3400" b="1" dirty="0">
                <a:effectLst/>
                <a:latin typeface="Calibri" panose="020F0502020204030204" pitchFamily="34" charset="0"/>
                <a:ea typeface="SimSun" panose="02010600030101010101" pitchFamily="2" charset="-122"/>
                <a:cs typeface="Times New Roman" panose="02020603050405020304" pitchFamily="18" charset="0"/>
              </a:rPr>
              <a:t>Good impedance matching</a:t>
            </a:r>
            <a:endParaRPr lang="en-US" sz="3400" dirty="0">
              <a:effectLst/>
              <a:latin typeface="Calibri" panose="020F0502020204030204" pitchFamily="34" charset="0"/>
              <a:ea typeface="SimSun" panose="02010600030101010101" pitchFamily="2" charset="-122"/>
              <a:cs typeface="Times New Roman" panose="02020603050405020304" pitchFamily="18" charset="0"/>
            </a:endParaRPr>
          </a:p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3400" dirty="0">
                <a:effectLst/>
                <a:latin typeface="Calibri" panose="020F0502020204030204" pitchFamily="34" charset="0"/>
                <a:ea typeface="SimSun" panose="02010600030101010101" pitchFamily="2" charset="-122"/>
                <a:cs typeface="Times New Roman" panose="02020603050405020304" pitchFamily="18" charset="0"/>
              </a:rPr>
              <a:t>Helps match impedance between components, minimizing reflections and standing waves</a:t>
            </a:r>
          </a:p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3400" dirty="0">
                <a:effectLst/>
                <a:latin typeface="Calibri" panose="020F0502020204030204" pitchFamily="34" charset="0"/>
                <a:ea typeface="SimSun" panose="02010600030101010101" pitchFamily="2" charset="-122"/>
                <a:cs typeface="Times New Roman" panose="02020603050405020304" pitchFamily="18" charset="0"/>
              </a:rPr>
              <a:t> </a:t>
            </a:r>
          </a:p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3400" dirty="0">
                <a:effectLst/>
                <a:latin typeface="Calibri" panose="020F0502020204030204" pitchFamily="34" charset="0"/>
                <a:ea typeface="SimSun" panose="02010600030101010101" pitchFamily="2" charset="-122"/>
                <a:cs typeface="Times New Roman" panose="02020603050405020304" pitchFamily="18" charset="0"/>
              </a:rPr>
              <a:t>4.Ease of use in testing </a:t>
            </a:r>
          </a:p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3400" dirty="0">
                <a:effectLst/>
                <a:latin typeface="Calibri" panose="020F0502020204030204" pitchFamily="34" charset="0"/>
                <a:ea typeface="SimSun" panose="02010600030101010101" pitchFamily="2" charset="-122"/>
                <a:cs typeface="Times New Roman" panose="02020603050405020304" pitchFamily="18" charset="0"/>
              </a:rPr>
              <a:t>Essential in RF test setups to protect instruments and adjust signal levels.</a:t>
            </a:r>
          </a:p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3400" dirty="0">
                <a:effectLst/>
                <a:latin typeface="Calibri" panose="020F0502020204030204" pitchFamily="34" charset="0"/>
                <a:ea typeface="SimSun" panose="02010600030101010101" pitchFamily="2" charset="-122"/>
                <a:cs typeface="Times New Roman" panose="02020603050405020304" pitchFamily="18" charset="0"/>
              </a:rPr>
              <a:t> </a:t>
            </a:r>
          </a:p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3400" b="1" dirty="0">
                <a:effectLst/>
                <a:latin typeface="Calibri" panose="020F0502020204030204" pitchFamily="34" charset="0"/>
                <a:ea typeface="SimSun" panose="02010600030101010101" pitchFamily="2" charset="-122"/>
                <a:cs typeface="Times New Roman" panose="02020603050405020304" pitchFamily="18" charset="0"/>
              </a:rPr>
              <a:t>Disadvantage </a:t>
            </a:r>
            <a:endParaRPr lang="en-US" sz="3400" dirty="0">
              <a:effectLst/>
              <a:latin typeface="Calibri" panose="020F0502020204030204" pitchFamily="34" charset="0"/>
              <a:ea typeface="SimSun" panose="02010600030101010101" pitchFamily="2" charset="-122"/>
              <a:cs typeface="Times New Roman" panose="02020603050405020304" pitchFamily="18" charset="0"/>
            </a:endParaRPr>
          </a:p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3400" dirty="0">
                <a:effectLst/>
                <a:latin typeface="Calibri" panose="020F0502020204030204" pitchFamily="34" charset="0"/>
                <a:ea typeface="SimSun" panose="02010600030101010101" pitchFamily="2" charset="-122"/>
                <a:cs typeface="Times New Roman" panose="02020603050405020304" pitchFamily="18" charset="0"/>
              </a:rPr>
              <a:t>1.fixed attenuators lack flexibility </a:t>
            </a:r>
          </a:p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3400" dirty="0">
                <a:effectLst/>
                <a:latin typeface="Calibri" panose="020F0502020204030204" pitchFamily="34" charset="0"/>
                <a:ea typeface="SimSun" panose="02010600030101010101" pitchFamily="2" charset="-122"/>
                <a:cs typeface="Times New Roman" panose="02020603050405020304" pitchFamily="18" charset="0"/>
              </a:rPr>
              <a:t>2.limited attenuation range (for single units)</a:t>
            </a:r>
          </a:p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3400" dirty="0">
                <a:effectLst/>
                <a:latin typeface="Calibri" panose="020F0502020204030204" pitchFamily="34" charset="0"/>
                <a:ea typeface="SimSun" panose="02010600030101010101" pitchFamily="2" charset="-122"/>
                <a:cs typeface="Times New Roman" panose="02020603050405020304" pitchFamily="18" charset="0"/>
              </a:rPr>
              <a:t>3.size and cost</a:t>
            </a:r>
          </a:p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3400" dirty="0">
                <a:effectLst/>
                <a:latin typeface="Calibri" panose="020F0502020204030204" pitchFamily="34" charset="0"/>
                <a:ea typeface="SimSun" panose="02010600030101010101" pitchFamily="2" charset="-122"/>
                <a:cs typeface="Times New Roman" panose="02020603050405020304" pitchFamily="18" charset="0"/>
              </a:rPr>
              <a:t>Some types are bulky or costly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6828463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77F02A-4A70-202D-64A4-FF929153D8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1800" b="1" dirty="0">
                <a:effectLst/>
                <a:latin typeface="Calibri" panose="020F0502020204030204" pitchFamily="34" charset="0"/>
                <a:ea typeface="SimSun" panose="02010600030101010101" pitchFamily="2" charset="-122"/>
                <a:cs typeface="Times New Roman" panose="02020603050405020304" pitchFamily="18" charset="0"/>
              </a:rPr>
              <a:t>Conclusion:</a:t>
            </a:r>
            <a:endParaRPr lang="en-US" sz="1800" dirty="0">
              <a:effectLst/>
              <a:latin typeface="Calibri" panose="020F0502020204030204" pitchFamily="34" charset="0"/>
              <a:ea typeface="SimSun" panose="02010600030101010101" pitchFamily="2" charset="-122"/>
              <a:cs typeface="Times New Roman" panose="02020603050405020304" pitchFamily="18" charset="0"/>
            </a:endParaRPr>
          </a:p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1800" dirty="0">
                <a:effectLst/>
                <a:latin typeface="Calibri" panose="020F0502020204030204" pitchFamily="34" charset="0"/>
                <a:ea typeface="SimSun" panose="02010600030101010101" pitchFamily="2" charset="-122"/>
                <a:cs typeface="Times New Roman" panose="02020603050405020304" pitchFamily="18" charset="0"/>
              </a:rPr>
              <a:t>Attenuators are essential passive devices in microwave engineering, ensuring safe, efficient, and controlled signal transmission in high-frequency systems. Their ability to manage signal levels makes them invaluable in both lab testing and real-world RF applications.</a:t>
            </a:r>
          </a:p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1800" dirty="0">
                <a:effectLst/>
                <a:latin typeface="Calibri" panose="020F0502020204030204" pitchFamily="34" charset="0"/>
                <a:ea typeface="SimSun" panose="02010600030101010101" pitchFamily="2" charset="-122"/>
                <a:cs typeface="Times New Roman" panose="02020603050405020304" pitchFamily="18" charset="0"/>
              </a:rPr>
              <a:t> 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499557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643</Words>
  <Application>Microsoft Office PowerPoint</Application>
  <PresentationFormat>Widescreen</PresentationFormat>
  <Paragraphs>92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Arial</vt:lpstr>
      <vt:lpstr>Calibri</vt:lpstr>
      <vt:lpstr>Calibri Light</vt:lpstr>
      <vt:lpstr>Symbol</vt:lpstr>
      <vt:lpstr>Times New Roman</vt:lpstr>
      <vt:lpstr>Office Theme</vt:lpstr>
      <vt:lpstr>Attenuator </vt:lpstr>
      <vt:lpstr>PowerPoint Presentation</vt:lpstr>
      <vt:lpstr>PowerPoint Presentation</vt:lpstr>
      <vt:lpstr>Diagram 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Jimmy Peter</dc:creator>
  <cp:lastModifiedBy>Jimmy Peter</cp:lastModifiedBy>
  <cp:revision>2</cp:revision>
  <dcterms:created xsi:type="dcterms:W3CDTF">2025-05-26T10:38:39Z</dcterms:created>
  <dcterms:modified xsi:type="dcterms:W3CDTF">2025-05-26T10:57:45Z</dcterms:modified>
</cp:coreProperties>
</file>