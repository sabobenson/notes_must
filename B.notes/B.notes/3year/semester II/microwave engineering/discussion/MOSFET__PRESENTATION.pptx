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3"/>
  </p:notesMasterIdLst>
  <p:sldIdLst>
    <p:sldId id="341" r:id="rId2"/>
    <p:sldId id="342" r:id="rId3"/>
    <p:sldId id="352" r:id="rId4"/>
    <p:sldId id="343" r:id="rId5"/>
    <p:sldId id="351" r:id="rId6"/>
    <p:sldId id="344" r:id="rId7"/>
    <p:sldId id="345" r:id="rId8"/>
    <p:sldId id="346" r:id="rId9"/>
    <p:sldId id="347" r:id="rId10"/>
    <p:sldId id="349" r:id="rId11"/>
    <p:sldId id="35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9"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0"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1"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2"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3"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4"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lstStyle/>
          <a:p>
            <a:fld id="{5BCAD085-E8A6-8845-BD4E-CB4CCA059FC4}" type="datetimeFigureOut">
              <a:rPr lang="en-US" smtClean="0"/>
              <a:t>5/23/2025</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smtClean="0"/>
              <a:t>Click to edit Master title style</a:t>
            </a:r>
            <a:endParaRPr lang="en-US"/>
          </a:p>
        </p:txBody>
      </p:sp>
      <p:sp>
        <p:nvSpPr>
          <p:cNvPr id="1048589"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lstStyle/>
          <a:p>
            <a:fld id="{5BCAD085-E8A6-8845-BD4E-CB4CCA059FC4}" type="datetimeFigureOut">
              <a:rPr lang="en-US" smtClean="0"/>
              <a:t>5/23/2025</a:t>
            </a:fld>
            <a:endParaRPr lang="en-US"/>
          </a:p>
        </p:txBody>
      </p:sp>
      <p:sp>
        <p:nvSpPr>
          <p:cNvPr id="1048591" name="Footer Placeholder 4"/>
          <p:cNvSpPr>
            <a:spLocks noGrp="1"/>
          </p:cNvSpPr>
          <p:nvPr>
            <p:ph type="ftr" sz="quarter" idx="11"/>
          </p:nvPr>
        </p:nvSpPr>
        <p:spPr/>
        <p:txBody>
          <a:bodyPr/>
          <a:lstStyle/>
          <a:p>
            <a:endParaRPr lang="en-US"/>
          </a:p>
        </p:txBody>
      </p:sp>
      <p:sp>
        <p:nvSpPr>
          <p:cNvPr id="1048592"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1048635"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636" name="Date Placeholder 3"/>
          <p:cNvSpPr>
            <a:spLocks noGrp="1"/>
          </p:cNvSpPr>
          <p:nvPr>
            <p:ph type="dt" sz="half" idx="10"/>
          </p:nvPr>
        </p:nvSpPr>
        <p:spPr/>
        <p:txBody>
          <a:bodyPr/>
          <a:lstStyle/>
          <a:p>
            <a:fld id="{5BCAD085-E8A6-8845-BD4E-CB4CCA059FC4}" type="datetimeFigureOut">
              <a:rPr lang="en-US" smtClean="0"/>
              <a:t>5/23/2025</a:t>
            </a:fld>
            <a:endParaRPr lang="en-US"/>
          </a:p>
        </p:txBody>
      </p:sp>
      <p:sp>
        <p:nvSpPr>
          <p:cNvPr id="1048637" name="Footer Placeholder 4"/>
          <p:cNvSpPr>
            <a:spLocks noGrp="1"/>
          </p:cNvSpPr>
          <p:nvPr>
            <p:ph type="ftr" sz="quarter" idx="11"/>
          </p:nvPr>
        </p:nvSpPr>
        <p:spPr/>
        <p:txBody>
          <a:bodyPr/>
          <a:lstStyle/>
          <a:p>
            <a:endParaRPr lang="en-US"/>
          </a:p>
        </p:txBody>
      </p:sp>
      <p:sp>
        <p:nvSpPr>
          <p:cNvPr id="1048638"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smtClean="0"/>
              <a:t>Click to edit Master title style</a:t>
            </a:r>
            <a:endParaRPr lang="en-US"/>
          </a:p>
        </p:txBody>
      </p:sp>
      <p:sp>
        <p:nvSpPr>
          <p:cNvPr id="1048640"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1"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2" name="Date Placeholder 4"/>
          <p:cNvSpPr>
            <a:spLocks noGrp="1"/>
          </p:cNvSpPr>
          <p:nvPr>
            <p:ph type="dt" sz="half" idx="10"/>
          </p:nvPr>
        </p:nvSpPr>
        <p:spPr/>
        <p:txBody>
          <a:bodyPr/>
          <a:lstStyle/>
          <a:p>
            <a:fld id="{5BCAD085-E8A6-8845-BD4E-CB4CCA059FC4}" type="datetimeFigureOut">
              <a:rPr lang="en-US" smtClean="0"/>
              <a:t>5/23/2025</a:t>
            </a:fld>
            <a:endParaRPr lang="en-US"/>
          </a:p>
        </p:txBody>
      </p:sp>
      <p:sp>
        <p:nvSpPr>
          <p:cNvPr id="1048643" name="Footer Placeholder 5"/>
          <p:cNvSpPr>
            <a:spLocks noGrp="1"/>
          </p:cNvSpPr>
          <p:nvPr>
            <p:ph type="ftr" sz="quarter" idx="11"/>
          </p:nvPr>
        </p:nvSpPr>
        <p:spPr/>
        <p:txBody>
          <a:bodyPr/>
          <a:lstStyle/>
          <a:p>
            <a:endParaRPr lang="en-US"/>
          </a:p>
        </p:txBody>
      </p:sp>
      <p:sp>
        <p:nvSpPr>
          <p:cNvPr id="1048644"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p:txBody>
          <a:bodyPr/>
          <a:lstStyle/>
          <a:p>
            <a:r>
              <a:rPr lang="en-US" smtClean="0"/>
              <a:t>Click to edit Master title style</a:t>
            </a:r>
            <a:endParaRPr lang="en-US"/>
          </a:p>
        </p:txBody>
      </p:sp>
      <p:sp>
        <p:nvSpPr>
          <p:cNvPr id="1048646" name="Text Placeholder 2"/>
          <p:cNvSpPr>
            <a:spLocks noGrp="1"/>
          </p:cNvSpPr>
          <p:nvPr>
            <p:ph type="body" idx="1"/>
          </p:nvPr>
        </p:nvSpPr>
        <p:spPr>
          <a:xfrm>
            <a:off x="457200" y="1535113"/>
            <a:ext cx="4040188"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647"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8" name="Text Placeholder 4"/>
          <p:cNvSpPr>
            <a:spLocks noGrp="1"/>
          </p:cNvSpPr>
          <p:nvPr>
            <p:ph type="body" sz="quarter" idx="3"/>
          </p:nvPr>
        </p:nvSpPr>
        <p:spPr>
          <a:xfrm>
            <a:off x="4645025" y="1535113"/>
            <a:ext cx="4041775"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649"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0" name="Date Placeholder 6"/>
          <p:cNvSpPr>
            <a:spLocks noGrp="1"/>
          </p:cNvSpPr>
          <p:nvPr>
            <p:ph type="dt" sz="half" idx="10"/>
          </p:nvPr>
        </p:nvSpPr>
        <p:spPr/>
        <p:txBody>
          <a:bodyPr/>
          <a:lstStyle/>
          <a:p>
            <a:fld id="{5BCAD085-E8A6-8845-BD4E-CB4CCA059FC4}" type="datetimeFigureOut">
              <a:rPr lang="en-US" smtClean="0"/>
              <a:t>5/23/2025</a:t>
            </a:fld>
            <a:endParaRPr lang="en-US"/>
          </a:p>
        </p:txBody>
      </p:sp>
      <p:sp>
        <p:nvSpPr>
          <p:cNvPr id="1048651" name="Footer Placeholder 7"/>
          <p:cNvSpPr>
            <a:spLocks noGrp="1"/>
          </p:cNvSpPr>
          <p:nvPr>
            <p:ph type="ftr" sz="quarter" idx="11"/>
          </p:nvPr>
        </p:nvSpPr>
        <p:spPr/>
        <p:txBody>
          <a:bodyPr/>
          <a:lstStyle/>
          <a:p>
            <a:endParaRPr lang="en-US"/>
          </a:p>
        </p:txBody>
      </p:sp>
      <p:sp>
        <p:nvSpPr>
          <p:cNvPr id="1048652"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smtClean="0"/>
              <a:t>Click to edit Master title style</a:t>
            </a:r>
            <a:endParaRPr lang="en-US"/>
          </a:p>
        </p:txBody>
      </p:sp>
      <p:sp>
        <p:nvSpPr>
          <p:cNvPr id="1048615" name="Date Placeholder 2"/>
          <p:cNvSpPr>
            <a:spLocks noGrp="1"/>
          </p:cNvSpPr>
          <p:nvPr>
            <p:ph type="dt" sz="half" idx="10"/>
          </p:nvPr>
        </p:nvSpPr>
        <p:spPr/>
        <p:txBody>
          <a:bodyPr/>
          <a:lstStyle/>
          <a:p>
            <a:fld id="{5BCAD085-E8A6-8845-BD4E-CB4CCA059FC4}" type="datetimeFigureOut">
              <a:rPr lang="en-US" smtClean="0"/>
              <a:t>5/23/2025</a:t>
            </a:fld>
            <a:endParaRPr lang="en-US"/>
          </a:p>
        </p:txBody>
      </p:sp>
      <p:sp>
        <p:nvSpPr>
          <p:cNvPr id="1048616" name="Footer Placeholder 3"/>
          <p:cNvSpPr>
            <a:spLocks noGrp="1"/>
          </p:cNvSpPr>
          <p:nvPr>
            <p:ph type="ftr" sz="quarter" idx="11"/>
          </p:nvPr>
        </p:nvSpPr>
        <p:spPr/>
        <p:txBody>
          <a:bodyPr/>
          <a:lstStyle/>
          <a:p>
            <a:endParaRPr lang="en-US"/>
          </a:p>
        </p:txBody>
      </p:sp>
      <p:sp>
        <p:nvSpPr>
          <p:cNvPr id="1048617"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11" name="Date Placeholder 1"/>
          <p:cNvSpPr>
            <a:spLocks noGrp="1"/>
          </p:cNvSpPr>
          <p:nvPr>
            <p:ph type="dt" sz="half" idx="10"/>
          </p:nvPr>
        </p:nvSpPr>
        <p:spPr/>
        <p:txBody>
          <a:bodyPr/>
          <a:lstStyle/>
          <a:p>
            <a:fld id="{5BCAD085-E8A6-8845-BD4E-CB4CCA059FC4}" type="datetimeFigureOut">
              <a:rPr lang="en-US" smtClean="0"/>
              <a:t>5/23/2025</a:t>
            </a:fld>
            <a:endParaRPr lang="en-US"/>
          </a:p>
        </p:txBody>
      </p:sp>
      <p:sp>
        <p:nvSpPr>
          <p:cNvPr id="1048612" name="Footer Placeholder 2"/>
          <p:cNvSpPr>
            <a:spLocks noGrp="1"/>
          </p:cNvSpPr>
          <p:nvPr>
            <p:ph type="ftr" sz="quarter" idx="11"/>
          </p:nvPr>
        </p:nvSpPr>
        <p:spPr/>
        <p:txBody>
          <a:bodyPr/>
          <a:lstStyle/>
          <a:p>
            <a:endParaRPr lang="en-US"/>
          </a:p>
        </p:txBody>
      </p:sp>
      <p:sp>
        <p:nvSpPr>
          <p:cNvPr id="1048613"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3"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104865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5"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656" name="Date Placeholder 4"/>
          <p:cNvSpPr>
            <a:spLocks noGrp="1"/>
          </p:cNvSpPr>
          <p:nvPr>
            <p:ph type="dt" sz="half" idx="10"/>
          </p:nvPr>
        </p:nvSpPr>
        <p:spPr/>
        <p:txBody>
          <a:bodyPr/>
          <a:lstStyle/>
          <a:p>
            <a:fld id="{5BCAD085-E8A6-8845-BD4E-CB4CCA059FC4}" type="datetimeFigureOut">
              <a:rPr lang="en-US" smtClean="0"/>
              <a:t>5/23/2025</a:t>
            </a:fld>
            <a:endParaRPr lang="en-US"/>
          </a:p>
        </p:txBody>
      </p:sp>
      <p:sp>
        <p:nvSpPr>
          <p:cNvPr id="1048657" name="Footer Placeholder 5"/>
          <p:cNvSpPr>
            <a:spLocks noGrp="1"/>
          </p:cNvSpPr>
          <p:nvPr>
            <p:ph type="ftr" sz="quarter" idx="11"/>
          </p:nvPr>
        </p:nvSpPr>
        <p:spPr/>
        <p:txBody>
          <a:bodyPr/>
          <a:lstStyle/>
          <a:p>
            <a:endParaRPr lang="en-US"/>
          </a:p>
        </p:txBody>
      </p:sp>
      <p:sp>
        <p:nvSpPr>
          <p:cNvPr id="1048658"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1048624"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25"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626" name="Date Placeholder 4"/>
          <p:cNvSpPr>
            <a:spLocks noGrp="1"/>
          </p:cNvSpPr>
          <p:nvPr>
            <p:ph type="dt" sz="half" idx="10"/>
          </p:nvPr>
        </p:nvSpPr>
        <p:spPr/>
        <p:txBody>
          <a:bodyPr/>
          <a:lstStyle/>
          <a:p>
            <a:fld id="{5BCAD085-E8A6-8845-BD4E-CB4CCA059FC4}" type="datetimeFigureOut">
              <a:rPr lang="en-US" smtClean="0"/>
              <a:t>5/23/2025</a:t>
            </a:fld>
            <a:endParaRPr lang="en-US"/>
          </a:p>
        </p:txBody>
      </p:sp>
      <p:sp>
        <p:nvSpPr>
          <p:cNvPr id="1048627" name="Footer Placeholder 5"/>
          <p:cNvSpPr>
            <a:spLocks noGrp="1"/>
          </p:cNvSpPr>
          <p:nvPr>
            <p:ph type="ftr" sz="quarter" idx="11"/>
          </p:nvPr>
        </p:nvSpPr>
        <p:spPr/>
        <p:txBody>
          <a:bodyPr/>
          <a:lstStyle/>
          <a:p>
            <a:endParaRPr lang="en-US"/>
          </a:p>
        </p:txBody>
      </p:sp>
      <p:sp>
        <p:nvSpPr>
          <p:cNvPr id="1048628"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smtClean="0"/>
              <a:t>Click to edit Master title style</a:t>
            </a:r>
            <a:endParaRPr lang="en-US"/>
          </a:p>
        </p:txBody>
      </p:sp>
      <p:sp>
        <p:nvSpPr>
          <p:cNvPr id="1048630"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1" name="Date Placeholder 3"/>
          <p:cNvSpPr>
            <a:spLocks noGrp="1"/>
          </p:cNvSpPr>
          <p:nvPr>
            <p:ph type="dt" sz="half" idx="10"/>
          </p:nvPr>
        </p:nvSpPr>
        <p:spPr/>
        <p:txBody>
          <a:bodyPr/>
          <a:lstStyle/>
          <a:p>
            <a:fld id="{5BCAD085-E8A6-8845-BD4E-CB4CCA059FC4}" type="datetimeFigureOut">
              <a:rPr lang="en-US" smtClean="0"/>
              <a:t>5/23/2025</a:t>
            </a:fld>
            <a:endParaRPr lang="en-US"/>
          </a:p>
        </p:txBody>
      </p:sp>
      <p:sp>
        <p:nvSpPr>
          <p:cNvPr id="1048632" name="Footer Placeholder 4"/>
          <p:cNvSpPr>
            <a:spLocks noGrp="1"/>
          </p:cNvSpPr>
          <p:nvPr>
            <p:ph type="ftr" sz="quarter" idx="11"/>
          </p:nvPr>
        </p:nvSpPr>
        <p:spPr/>
        <p:txBody>
          <a:bodyPr/>
          <a:lstStyle/>
          <a:p>
            <a:endParaRPr lang="en-US"/>
          </a:p>
        </p:txBody>
      </p:sp>
      <p:sp>
        <p:nvSpPr>
          <p:cNvPr id="1048633"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1048619"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20" name="Date Placeholder 3"/>
          <p:cNvSpPr>
            <a:spLocks noGrp="1"/>
          </p:cNvSpPr>
          <p:nvPr>
            <p:ph type="dt" sz="half" idx="10"/>
          </p:nvPr>
        </p:nvSpPr>
        <p:spPr/>
        <p:txBody>
          <a:bodyPr/>
          <a:lstStyle/>
          <a:p>
            <a:fld id="{5BCAD085-E8A6-8845-BD4E-CB4CCA059FC4}" type="datetimeFigureOut">
              <a:rPr lang="en-US" smtClean="0"/>
              <a:t>5/23/2025</a:t>
            </a:fld>
            <a:endParaRPr lang="en-US"/>
          </a:p>
        </p:txBody>
      </p:sp>
      <p:sp>
        <p:nvSpPr>
          <p:cNvPr id="1048621" name="Footer Placeholder 4"/>
          <p:cNvSpPr>
            <a:spLocks noGrp="1"/>
          </p:cNvSpPr>
          <p:nvPr>
            <p:ph type="ftr" sz="quarter" idx="11"/>
          </p:nvPr>
        </p:nvSpPr>
        <p:spPr/>
        <p:txBody>
          <a:bodyPr/>
          <a:lstStyle/>
          <a:p>
            <a:endParaRPr lang="en-US"/>
          </a:p>
        </p:txBody>
      </p:sp>
      <p:sp>
        <p:nvSpPr>
          <p:cNvPr id="1048622"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5/23/2025</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p:txBody>
          <a:bodyPr>
            <a:normAutofit fontScale="90000"/>
          </a:bodyPr>
          <a:lstStyle/>
          <a:p>
            <a:r>
              <a:rPr dirty="0"/>
              <a:t>MOSFET: Metal-Oxide-Semiconductor Field-Effect Transistor</a:t>
            </a:r>
          </a:p>
        </p:txBody>
      </p:sp>
      <p:sp>
        <p:nvSpPr>
          <p:cNvPr id="1048587"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a:xfrm>
            <a:off x="457200" y="219220"/>
            <a:ext cx="8229600" cy="1143000"/>
          </a:xfrm>
        </p:spPr>
        <p:txBody>
          <a:bodyPr>
            <a:normAutofit/>
          </a:bodyPr>
          <a:lstStyle/>
          <a:p>
            <a:r>
              <a:rPr dirty="0" smtClean="0"/>
              <a:t>Types </a:t>
            </a:r>
            <a:r>
              <a:rPr dirty="0"/>
              <a:t>of MOSFETs</a:t>
            </a:r>
          </a:p>
        </p:txBody>
      </p:sp>
      <p:sp>
        <p:nvSpPr>
          <p:cNvPr id="1048594" name="Content Placeholder 2"/>
          <p:cNvSpPr>
            <a:spLocks noGrp="1"/>
          </p:cNvSpPr>
          <p:nvPr>
            <p:ph idx="1"/>
          </p:nvPr>
        </p:nvSpPr>
        <p:spPr/>
        <p:txBody>
          <a:bodyPr/>
          <a:lstStyle/>
          <a:p>
            <a:pPr marL="0" indent="0">
              <a:buNone/>
            </a:pPr>
            <a:r>
              <a:rPr dirty="0"/>
              <a:t>• Enhancement Mode: OFF at V_GS = 0, ON if V_GS &gt; </a:t>
            </a:r>
            <a:r>
              <a:rPr dirty="0" err="1"/>
              <a:t>V_th</a:t>
            </a:r>
            <a:endParaRPr dirty="0"/>
          </a:p>
          <a:p>
            <a:pPr marL="0" indent="0">
              <a:buNone/>
            </a:pPr>
            <a:r>
              <a:rPr dirty="0"/>
              <a:t>• Depletion Mode: ON at V_GS = 0, OFF with negative V_GS</a:t>
            </a:r>
          </a:p>
          <a:p>
            <a:pPr marL="0" indent="0">
              <a:buNone/>
            </a:pPr>
            <a:r>
              <a:rPr dirty="0"/>
              <a:t>• NMOS: N-channel, uses electrons</a:t>
            </a:r>
          </a:p>
          <a:p>
            <a:pPr marL="0" indent="0">
              <a:buNone/>
            </a:pPr>
            <a:r>
              <a:rPr dirty="0"/>
              <a:t>• PMOS: P-channel, uses holes</a:t>
            </a:r>
          </a:p>
          <a:p>
            <a:pPr marL="0" indent="0">
              <a:buNone/>
            </a:pPr>
            <a:r>
              <a:rPr dirty="0"/>
              <a:t>• Differ in threshold voltage and conduction</a:t>
            </a:r>
          </a:p>
          <a:p>
            <a:pPr marL="0" indent="0">
              <a:buNone/>
            </a:pPr>
            <a:r>
              <a:rPr dirty="0"/>
              <a:t>• Common in complementary CMOS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MOSFET </a:t>
            </a:r>
            <a:r>
              <a:rPr lang="en-US" dirty="0"/>
              <a:t>refers to a Metal-Oxide-Semiconductor Field-Effect Transistor operating in a region where it can amplify or control electrical signals. Unlike passive devices (resistors, capacitors, inductors) which only transform energy, active devices like MOSFETs can control current flow based on an applied electrical signal, essentially adding energy to a signal (gain).</a:t>
            </a:r>
          </a:p>
        </p:txBody>
      </p:sp>
    </p:spTree>
    <p:extLst>
      <p:ext uri="{BB962C8B-B14F-4D97-AF65-F5344CB8AC3E}">
        <p14:creationId xmlns:p14="http://schemas.microsoft.com/office/powerpoint/2010/main" val="182566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t>Structure of N-Channel MOSFET</a:t>
            </a:r>
          </a:p>
        </p:txBody>
      </p:sp>
      <p:sp>
        <p:nvSpPr>
          <p:cNvPr id="1048596" name="Content Placeholder 2"/>
          <p:cNvSpPr>
            <a:spLocks noGrp="1"/>
          </p:cNvSpPr>
          <p:nvPr>
            <p:ph idx="1"/>
          </p:nvPr>
        </p:nvSpPr>
        <p:spPr/>
        <p:txBody>
          <a:bodyPr/>
          <a:lstStyle/>
          <a:p>
            <a:pPr marL="0" indent="0">
              <a:buNone/>
            </a:pPr>
            <a:r>
              <a:rPr dirty="0"/>
              <a:t>• Gate: Metal or polysilicon over </a:t>
            </a:r>
            <a:r>
              <a:rPr dirty="0" err="1"/>
              <a:t>SiO</a:t>
            </a:r>
            <a:r>
              <a:rPr dirty="0"/>
              <a:t>₂</a:t>
            </a:r>
          </a:p>
          <a:p>
            <a:pPr marL="0" indent="0">
              <a:buNone/>
            </a:pPr>
            <a:r>
              <a:rPr dirty="0"/>
              <a:t>• Source/Drain: N+ doped regions</a:t>
            </a:r>
          </a:p>
          <a:p>
            <a:pPr marL="0" indent="0">
              <a:buNone/>
            </a:pPr>
            <a:r>
              <a:rPr dirty="0"/>
              <a:t>• Body: P-type silicon substrate</a:t>
            </a:r>
          </a:p>
          <a:p>
            <a:pPr marL="0" indent="0">
              <a:buNone/>
            </a:pPr>
            <a:r>
              <a:rPr dirty="0"/>
              <a:t>• Channel forms under gate with V_GS &gt; </a:t>
            </a:r>
            <a:r>
              <a:rPr dirty="0" err="1"/>
              <a:t>V_th</a:t>
            </a:r>
            <a:endParaRPr dirty="0"/>
          </a:p>
          <a:p>
            <a:pPr marL="0" indent="0">
              <a:buNone/>
            </a:pPr>
            <a:r>
              <a:rPr dirty="0"/>
              <a:t>• Insulated gate allows voltage control</a:t>
            </a:r>
          </a:p>
          <a:p>
            <a:pPr marL="0" indent="0">
              <a:buNone/>
            </a:pPr>
            <a:r>
              <a:rPr dirty="0"/>
              <a:t>• Diagram included: MOSFET layout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2097151"/>
          <p:cNvPicPr>
            <a:picLocks/>
          </p:cNvPicPr>
          <p:nvPr/>
        </p:nvPicPr>
        <p:blipFill>
          <a:blip r:embed="rId2"/>
          <a:stretch>
            <a:fillRect/>
          </a:stretch>
        </p:blipFill>
        <p:spPr>
          <a:xfrm>
            <a:off x="1981632" y="688807"/>
            <a:ext cx="5180736" cy="54803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p:txBody>
          <a:bodyPr>
            <a:normAutofit fontScale="90000"/>
          </a:bodyPr>
          <a:lstStyle/>
          <a:p>
            <a:r>
              <a:t>Working Principle - OFF and ON States</a:t>
            </a:r>
          </a:p>
        </p:txBody>
      </p:sp>
      <p:sp>
        <p:nvSpPr>
          <p:cNvPr id="1048598" name="Content Placeholder 2"/>
          <p:cNvSpPr>
            <a:spLocks noGrp="1"/>
          </p:cNvSpPr>
          <p:nvPr>
            <p:ph idx="1"/>
          </p:nvPr>
        </p:nvSpPr>
        <p:spPr/>
        <p:txBody>
          <a:bodyPr/>
          <a:lstStyle/>
          <a:p>
            <a:pPr marL="0" indent="0">
              <a:buNone/>
            </a:pPr>
            <a:r>
              <a:rPr dirty="0"/>
              <a:t>• OFF State: V_GS &lt; </a:t>
            </a:r>
            <a:r>
              <a:rPr dirty="0" err="1"/>
              <a:t>V_th</a:t>
            </a:r>
            <a:r>
              <a:rPr dirty="0"/>
              <a:t> → No channel formed</a:t>
            </a:r>
          </a:p>
          <a:p>
            <a:pPr marL="0" indent="0">
              <a:buNone/>
            </a:pPr>
            <a:r>
              <a:rPr dirty="0"/>
              <a:t>• Only leakage current flows</a:t>
            </a:r>
          </a:p>
          <a:p>
            <a:pPr marL="0" indent="0">
              <a:buNone/>
            </a:pPr>
            <a:r>
              <a:rPr dirty="0"/>
              <a:t>• ON State: V_GS &gt; </a:t>
            </a:r>
            <a:r>
              <a:rPr dirty="0" err="1"/>
              <a:t>V_th</a:t>
            </a:r>
            <a:r>
              <a:rPr dirty="0"/>
              <a:t> → Inversion layer forms</a:t>
            </a:r>
          </a:p>
          <a:p>
            <a:pPr marL="0" indent="0">
              <a:buNone/>
            </a:pPr>
            <a:r>
              <a:rPr dirty="0"/>
              <a:t>• Electrons flow from Source to Drain</a:t>
            </a:r>
          </a:p>
          <a:p>
            <a:pPr marL="0" indent="0">
              <a:buNone/>
            </a:pPr>
            <a:r>
              <a:rPr dirty="0"/>
              <a:t>• Gate voltage repels holes in substrate</a:t>
            </a:r>
          </a:p>
          <a:p>
            <a:pPr marL="0" indent="0">
              <a:buNone/>
            </a:pPr>
            <a:r>
              <a:rPr dirty="0"/>
              <a:t>• Enables current conduction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p:txBody>
          <a:bodyPr/>
          <a:lstStyle/>
          <a:p>
            <a:r>
              <a:rPr dirty="0"/>
              <a:t>Modes of Operation</a:t>
            </a:r>
          </a:p>
        </p:txBody>
      </p:sp>
      <p:sp>
        <p:nvSpPr>
          <p:cNvPr id="1048600" name="Content Placeholder 2"/>
          <p:cNvSpPr>
            <a:spLocks noGrp="1"/>
          </p:cNvSpPr>
          <p:nvPr>
            <p:ph idx="1"/>
          </p:nvPr>
        </p:nvSpPr>
        <p:spPr/>
        <p:txBody>
          <a:bodyPr/>
          <a:lstStyle/>
          <a:p>
            <a:pPr marL="0" indent="0">
              <a:buNone/>
            </a:pPr>
            <a:r>
              <a:rPr dirty="0"/>
              <a:t>• Cutoff: V_GS &lt; </a:t>
            </a:r>
            <a:r>
              <a:rPr dirty="0" err="1"/>
              <a:t>V_th</a:t>
            </a:r>
            <a:r>
              <a:rPr dirty="0"/>
              <a:t> → No conduction</a:t>
            </a:r>
          </a:p>
          <a:p>
            <a:pPr marL="0" indent="0">
              <a:buNone/>
            </a:pPr>
            <a:r>
              <a:rPr dirty="0"/>
              <a:t>• Triode: V_DS &lt; (V_GS - </a:t>
            </a:r>
            <a:r>
              <a:rPr dirty="0" err="1"/>
              <a:t>V_th</a:t>
            </a:r>
            <a:r>
              <a:rPr dirty="0"/>
              <a:t>) → Resistive behavior</a:t>
            </a:r>
          </a:p>
          <a:p>
            <a:pPr marL="0" indent="0">
              <a:buNone/>
            </a:pPr>
            <a:r>
              <a:rPr dirty="0"/>
              <a:t>• Saturation: V_DS ≥ (V_GS - </a:t>
            </a:r>
            <a:r>
              <a:rPr dirty="0" err="1"/>
              <a:t>V_th</a:t>
            </a:r>
            <a:r>
              <a:rPr dirty="0"/>
              <a:t>)</a:t>
            </a:r>
          </a:p>
          <a:p>
            <a:pPr marL="0" indent="0">
              <a:buNone/>
            </a:pPr>
            <a:r>
              <a:rPr dirty="0"/>
              <a:t>• Current saturates, good for amplification</a:t>
            </a:r>
          </a:p>
          <a:p>
            <a:pPr marL="0" indent="0">
              <a:buNone/>
            </a:pPr>
            <a:r>
              <a:rPr dirty="0"/>
              <a:t>• Transitions depend on gate and drain voltages</a:t>
            </a:r>
          </a:p>
          <a:p>
            <a:pPr marL="0" indent="0">
              <a:buNone/>
            </a:pPr>
            <a:r>
              <a:rPr dirty="0"/>
              <a:t>• Important for analog and digital switching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r>
              <a:t>Applications in Digital Electronics</a:t>
            </a:r>
          </a:p>
        </p:txBody>
      </p:sp>
      <p:sp>
        <p:nvSpPr>
          <p:cNvPr id="1048602" name="Content Placeholder 2"/>
          <p:cNvSpPr>
            <a:spLocks noGrp="1"/>
          </p:cNvSpPr>
          <p:nvPr>
            <p:ph idx="1"/>
          </p:nvPr>
        </p:nvSpPr>
        <p:spPr/>
        <p:txBody>
          <a:bodyPr/>
          <a:lstStyle/>
          <a:p>
            <a:pPr marL="0" indent="0">
              <a:buNone/>
            </a:pPr>
            <a:r>
              <a:rPr dirty="0"/>
              <a:t>• Core of CMOS logic gates</a:t>
            </a:r>
          </a:p>
          <a:p>
            <a:pPr marL="0" indent="0">
              <a:buNone/>
            </a:pPr>
            <a:r>
              <a:rPr dirty="0"/>
              <a:t>• Used in microprocessors and memory (DRAM, Flash)</a:t>
            </a:r>
          </a:p>
          <a:p>
            <a:pPr marL="0" indent="0">
              <a:buNone/>
            </a:pPr>
            <a:r>
              <a:rPr dirty="0"/>
              <a:t>• Very low static power consumption</a:t>
            </a:r>
          </a:p>
          <a:p>
            <a:pPr marL="0" indent="0">
              <a:buNone/>
            </a:pPr>
            <a:r>
              <a:rPr dirty="0"/>
              <a:t>• Form the basis of modern ICs</a:t>
            </a:r>
          </a:p>
          <a:p>
            <a:pPr marL="0" indent="0">
              <a:buNone/>
            </a:pPr>
            <a:r>
              <a:rPr dirty="0"/>
              <a:t>• Enable miniaturization in computing devices</a:t>
            </a:r>
          </a:p>
          <a:p>
            <a:pPr marL="0" indent="0">
              <a:buNone/>
            </a:pPr>
            <a:r>
              <a:rPr dirty="0"/>
              <a:t>• Essential for smartphones and computers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lstStyle/>
          <a:p>
            <a:r>
              <a:t>Power Electronics Applications</a:t>
            </a:r>
          </a:p>
        </p:txBody>
      </p:sp>
      <p:sp>
        <p:nvSpPr>
          <p:cNvPr id="1048604" name="Content Placeholder 2"/>
          <p:cNvSpPr>
            <a:spLocks noGrp="1"/>
          </p:cNvSpPr>
          <p:nvPr>
            <p:ph idx="1"/>
          </p:nvPr>
        </p:nvSpPr>
        <p:spPr/>
        <p:txBody>
          <a:bodyPr/>
          <a:lstStyle/>
          <a:p>
            <a:pPr marL="0" indent="0">
              <a:buNone/>
            </a:pPr>
            <a:r>
              <a:rPr dirty="0" smtClean="0"/>
              <a:t>• </a:t>
            </a:r>
            <a:r>
              <a:rPr dirty="0"/>
              <a:t>Used in switching regulators and converters</a:t>
            </a:r>
          </a:p>
          <a:p>
            <a:pPr marL="0" indent="0">
              <a:buNone/>
            </a:pPr>
            <a:r>
              <a:rPr dirty="0"/>
              <a:t>• High-efficiency motor drivers</a:t>
            </a:r>
          </a:p>
          <a:p>
            <a:pPr marL="0" indent="0">
              <a:buNone/>
            </a:pPr>
            <a:r>
              <a:rPr dirty="0"/>
              <a:t>• Power management in electric vehicles</a:t>
            </a:r>
          </a:p>
          <a:p>
            <a:pPr marL="0" indent="0">
              <a:buNone/>
            </a:pPr>
            <a:r>
              <a:rPr dirty="0"/>
              <a:t>• Key in solar inverters and UPS systems</a:t>
            </a:r>
          </a:p>
          <a:p>
            <a:pPr marL="0" indent="0">
              <a:buNone/>
            </a:pPr>
            <a:r>
              <a:rPr dirty="0"/>
              <a:t>• Enables fast switching and high current </a:t>
            </a:r>
            <a:r>
              <a:rPr lang="en-US" dirty="0" smtClean="0"/>
              <a:t> </a:t>
            </a:r>
            <a:r>
              <a:rPr dirty="0" smtClean="0"/>
              <a:t>handling</a:t>
            </a:r>
            <a:endParaRPr dirty="0"/>
          </a:p>
          <a:p>
            <a:pPr marL="0" indent="0">
              <a:buNone/>
            </a:pPr>
            <a:r>
              <a:rPr dirty="0"/>
              <a:t>• Power control with minimal losses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normAutofit fontScale="97727"/>
          </a:bodyPr>
          <a:lstStyle/>
          <a:p>
            <a:r>
              <a:rPr dirty="0"/>
              <a:t>RF, Automotive, and Industrial Use</a:t>
            </a:r>
          </a:p>
        </p:txBody>
      </p:sp>
      <p:sp>
        <p:nvSpPr>
          <p:cNvPr id="1048608" name="Content Placeholder 2"/>
          <p:cNvSpPr>
            <a:spLocks noGrp="1"/>
          </p:cNvSpPr>
          <p:nvPr>
            <p:ph idx="1"/>
          </p:nvPr>
        </p:nvSpPr>
        <p:spPr/>
        <p:txBody>
          <a:bodyPr/>
          <a:lstStyle/>
          <a:p>
            <a:pPr marL="0" indent="0">
              <a:buNone/>
            </a:pPr>
            <a:r>
              <a:rPr dirty="0"/>
              <a:t>• Found in RF amplifiers and transceivers</a:t>
            </a:r>
          </a:p>
          <a:p>
            <a:pPr marL="0" indent="0">
              <a:buNone/>
            </a:pPr>
            <a:r>
              <a:rPr dirty="0"/>
              <a:t>• Used in mixers for frequency conversion</a:t>
            </a:r>
          </a:p>
          <a:p>
            <a:pPr marL="0" indent="0">
              <a:buNone/>
            </a:pPr>
            <a:r>
              <a:rPr dirty="0"/>
              <a:t>• Power control in electric vehicles</a:t>
            </a:r>
          </a:p>
          <a:p>
            <a:pPr marL="0" indent="0">
              <a:buNone/>
            </a:pPr>
            <a:r>
              <a:rPr dirty="0"/>
              <a:t>• Automation and robotics systems</a:t>
            </a:r>
          </a:p>
          <a:p>
            <a:pPr marL="0" indent="0">
              <a:buNone/>
            </a:pPr>
            <a:r>
              <a:rPr dirty="0"/>
              <a:t>• Withstand high voltage and current loads</a:t>
            </a:r>
          </a:p>
          <a:p>
            <a:pPr marL="0" indent="0">
              <a:buNone/>
            </a:pPr>
            <a:r>
              <a:rPr dirty="0"/>
              <a:t>• Key role in wireless and industrial tech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endParaRPr dirty="0"/>
          </a:p>
        </p:txBody>
      </p:sp>
      <p:sp>
        <p:nvSpPr>
          <p:cNvPr id="1048610" name="Content Placeholder 2"/>
          <p:cNvSpPr>
            <a:spLocks noGrp="1"/>
          </p:cNvSpPr>
          <p:nvPr>
            <p:ph idx="1"/>
          </p:nvPr>
        </p:nvSpPr>
        <p:spPr/>
        <p:txBody>
          <a:bodyPr>
            <a:normAutofit fontScale="96875"/>
          </a:bodyPr>
          <a:lstStyle/>
          <a:p>
            <a:pPr marL="0" indent="0">
              <a:buNone/>
            </a:pPr>
            <a:endParaRPr lang="en-US" dirty="0" smtClean="0"/>
          </a:p>
          <a:p>
            <a:pPr marL="0" indent="0">
              <a:buNone/>
            </a:pPr>
            <a:endParaRPr lang="en-US" dirty="0"/>
          </a:p>
          <a:p>
            <a:pPr marL="0" indent="0">
              <a:buNone/>
            </a:pPr>
            <a:endParaRPr lang="en-US" dirty="0" smtClean="0"/>
          </a:p>
          <a:p>
            <a:pPr marL="0" indent="0">
              <a:buNone/>
            </a:pPr>
            <a:r>
              <a:rPr lang="en-US" sz="4500" b="1" i="1" dirty="0"/>
              <a:t> </a:t>
            </a:r>
            <a:r>
              <a:rPr lang="en-US" sz="4500" b="1" i="1" dirty="0" smtClean="0"/>
              <a:t>                  THANK YOU</a:t>
            </a:r>
            <a:endParaRPr sz="4500" b="1"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417</Words>
  <Application>Microsoft Office PowerPoint</Application>
  <PresentationFormat>On-screen Show (4:3)</PresentationFormat>
  <Paragraphs>55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MOSFET: Metal-Oxide-Semiconductor Field-Effect Transistor</vt:lpstr>
      <vt:lpstr>Types of MOSFETs</vt:lpstr>
      <vt:lpstr>PowerPoint Presentation</vt:lpstr>
      <vt:lpstr>Structure of N-Channel MOSFET</vt:lpstr>
      <vt:lpstr>PowerPoint Presentation</vt:lpstr>
      <vt:lpstr>Working Principle - OFF and ON States</vt:lpstr>
      <vt:lpstr>Modes of Operation</vt:lpstr>
      <vt:lpstr>Applications in Digital Electronics</vt:lpstr>
      <vt:lpstr>Power Electronics Applications</vt:lpstr>
      <vt:lpstr>RF, Automotive, and Industrial Use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MOSFET: Metal-Oxide-Semiconductor Field-Effect Transistor</dc:title>
  <dc:creator>SM-G975U</dc:creator>
  <cp:lastModifiedBy>hp</cp:lastModifiedBy>
  <cp:revision>4</cp:revision>
  <dcterms:created xsi:type="dcterms:W3CDTF">2013-01-26T21:14:16Z</dcterms:created>
  <dcterms:modified xsi:type="dcterms:W3CDTF">2025-05-23T04:07:01Z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f4cfbfd9fa5b42c892b9f8e2f1a7a7af</vt:lpwstr>
  </property>
</Properties>
</file>