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1" r:id="rId4"/>
    <p:sldId id="262" r:id="rId5"/>
    <p:sldId id="263" r:id="rId6"/>
    <p:sldId id="264" r:id="rId7"/>
    <p:sldId id="265" r:id="rId8"/>
    <p:sldId id="266" r:id="rId9"/>
    <p:sldId id="267" r:id="rId10"/>
    <p:sldId id="268" r:id="rId11"/>
    <p:sldId id="269" r:id="rId12"/>
    <p:sldId id="270" r:id="rId13"/>
    <p:sldId id="258" r:id="rId14"/>
    <p:sldId id="259" r:id="rId15"/>
    <p:sldId id="26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2" d="100"/>
          <a:sy n="82" d="100"/>
        </p:scale>
        <p:origin x="56" y="1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3/17/2025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3/17/2025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3/17/2025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3/17/2025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3/17/2025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3/17/2025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3/17/2025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3/17/2025</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3D MODELING AND IMAGE ACQUISITION</a:t>
            </a:r>
          </a:p>
        </p:txBody>
      </p:sp>
      <p:sp>
        <p:nvSpPr>
          <p:cNvPr id="3" name="Subtitle 2"/>
          <p:cNvSpPr>
            <a:spLocks noGrp="1"/>
          </p:cNvSpPr>
          <p:nvPr>
            <p:ph type="subTitle" idx="1"/>
          </p:nvPr>
        </p:nvSpPr>
        <p:spPr/>
        <p:txBody>
          <a:bodyPr/>
          <a:lstStyle/>
          <a:p>
            <a:endParaRPr lang="en-US" b="1" dirty="0"/>
          </a:p>
          <a:p>
            <a:endParaRPr lang="en-US" dirty="0"/>
          </a:p>
        </p:txBody>
      </p:sp>
    </p:spTree>
    <p:extLst>
      <p:ext uri="{BB962C8B-B14F-4D97-AF65-F5344CB8AC3E}">
        <p14:creationId xmlns:p14="http://schemas.microsoft.com/office/powerpoint/2010/main" val="16558965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3D Scanning</a:t>
            </a:r>
            <a:br>
              <a:rPr lang="en-US" b="1" dirty="0"/>
            </a:br>
            <a:endParaRPr lang="en-US" dirty="0"/>
          </a:p>
        </p:txBody>
      </p:sp>
      <p:sp>
        <p:nvSpPr>
          <p:cNvPr id="3" name="Content Placeholder 2"/>
          <p:cNvSpPr>
            <a:spLocks noGrp="1"/>
          </p:cNvSpPr>
          <p:nvPr>
            <p:ph sz="quarter" idx="13"/>
          </p:nvPr>
        </p:nvSpPr>
        <p:spPr/>
        <p:txBody>
          <a:bodyPr/>
          <a:lstStyle/>
          <a:p>
            <a:pPr>
              <a:buFont typeface="Wingdings" panose="05000000000000000000" pitchFamily="2" charset="2"/>
              <a:buChar char="Ø"/>
            </a:pPr>
            <a:r>
              <a:rPr lang="en-US" sz="2400" cap="none" dirty="0"/>
              <a:t>3D Scanning Is a fast and accurate method of creating 3d scan data, which consists of putting physical measurements onto a computer in an organized manner</a:t>
            </a:r>
          </a:p>
          <a:p>
            <a:pPr>
              <a:buFont typeface="Wingdings" panose="05000000000000000000" pitchFamily="2" charset="2"/>
              <a:buChar char="Ø"/>
            </a:pPr>
            <a:r>
              <a:rPr lang="en-US" sz="2400" cap="none" dirty="0"/>
              <a:t>All of the physical dimensions from the object can be taken once the scan data is on the computer.</a:t>
            </a:r>
          </a:p>
          <a:p>
            <a:pPr>
              <a:buFont typeface="Wingdings" panose="05000000000000000000" pitchFamily="2" charset="2"/>
              <a:buChar char="Ø"/>
            </a:pPr>
            <a:r>
              <a:rPr lang="en-US" sz="2400" cap="none" dirty="0"/>
              <a:t>The information can then be converted to a computer-aided design (CAD) model or a computer-aided engineering (CAE) tool</a:t>
            </a:r>
            <a:r>
              <a:rPr lang="en-US" cap="none" dirty="0"/>
              <a:t>.</a:t>
            </a:r>
          </a:p>
        </p:txBody>
      </p:sp>
    </p:spTree>
    <p:extLst>
      <p:ext uri="{BB962C8B-B14F-4D97-AF65-F5344CB8AC3E}">
        <p14:creationId xmlns:p14="http://schemas.microsoft.com/office/powerpoint/2010/main" val="42260050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3340" y="2064891"/>
            <a:ext cx="41673608" cy="4524315"/>
          </a:xfrm>
          <a:prstGeom prst="rect">
            <a:avLst/>
          </a:prstGeom>
        </p:spPr>
        <p:txBody>
          <a:bodyPr wrap="square">
            <a:spAutoFit/>
          </a:bodyPr>
          <a:lstStyle/>
          <a:p>
            <a:r>
              <a:rPr lang="en-US" sz="2400" b="1" dirty="0"/>
              <a:t>METHODS OF COLLECTION</a:t>
            </a:r>
          </a:p>
          <a:p>
            <a:pPr marL="457200" indent="-457200">
              <a:buAutoNum type="arabicPeriod"/>
            </a:pPr>
            <a:r>
              <a:rPr lang="en-US" sz="2400" b="1" dirty="0"/>
              <a:t>LASER SCANNING</a:t>
            </a:r>
          </a:p>
          <a:p>
            <a:r>
              <a:rPr lang="en-US" sz="2400" b="1" dirty="0"/>
              <a:t> </a:t>
            </a:r>
            <a:r>
              <a:rPr lang="en-US" sz="2400" dirty="0"/>
              <a:t>Laser scanning </a:t>
            </a:r>
          </a:p>
          <a:p>
            <a:r>
              <a:rPr lang="en-US" sz="2400" dirty="0"/>
              <a:t>(or “lidar,” which stands for Light Detection And Ranging, a specific type of laser scanning, </a:t>
            </a:r>
          </a:p>
          <a:p>
            <a:r>
              <a:rPr lang="en-US" sz="2400" dirty="0"/>
              <a:t>but which is now often used as a catch-all term for laser scanning in general)</a:t>
            </a:r>
          </a:p>
          <a:p>
            <a:pPr marL="342900" indent="-342900">
              <a:buFont typeface="Wingdings" panose="05000000000000000000" pitchFamily="2" charset="2"/>
              <a:buChar char="Ø"/>
            </a:pPr>
            <a:r>
              <a:rPr lang="en-US" sz="2400" dirty="0"/>
              <a:t> Is a broad term that encompasses a number of technologies that use lasers to determine the</a:t>
            </a:r>
          </a:p>
          <a:p>
            <a:r>
              <a:rPr lang="en-US" sz="2400" dirty="0"/>
              <a:t> locations of 3D points.</a:t>
            </a:r>
          </a:p>
          <a:p>
            <a:pPr marL="342900" indent="-342900">
              <a:buFont typeface="Wingdings" panose="05000000000000000000" pitchFamily="2" charset="2"/>
              <a:buChar char="Ø"/>
            </a:pPr>
            <a:r>
              <a:rPr lang="en-US" sz="2400" dirty="0"/>
              <a:t> At its most basic, laser scanning emits laser pulses and then collects information about what</a:t>
            </a:r>
          </a:p>
          <a:p>
            <a:r>
              <a:rPr lang="en-US" sz="2400" dirty="0"/>
              <a:t> happens to those laser pulses.</a:t>
            </a:r>
          </a:p>
          <a:p>
            <a:r>
              <a:rPr lang="en-US" sz="2400" dirty="0"/>
              <a:t> That information is indexed into a computer file called a point cloud.</a:t>
            </a:r>
          </a:p>
          <a:p>
            <a:r>
              <a:rPr lang="en-US" sz="2400" dirty="0"/>
              <a:t>The more lasers that are emitted and collected, the denser your point cloud will be</a:t>
            </a:r>
          </a:p>
          <a:p>
            <a:endParaRPr lang="en-US" sz="2400" dirty="0"/>
          </a:p>
        </p:txBody>
      </p:sp>
    </p:spTree>
    <p:extLst>
      <p:ext uri="{BB962C8B-B14F-4D97-AF65-F5344CB8AC3E}">
        <p14:creationId xmlns:p14="http://schemas.microsoft.com/office/powerpoint/2010/main" val="522423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6600" y="1714500"/>
            <a:ext cx="10731500" cy="3847207"/>
          </a:xfrm>
          <a:prstGeom prst="rect">
            <a:avLst/>
          </a:prstGeom>
        </p:spPr>
        <p:txBody>
          <a:bodyPr wrap="square">
            <a:spAutoFit/>
          </a:bodyPr>
          <a:lstStyle/>
          <a:p>
            <a:r>
              <a:rPr lang="en-US" sz="2800" b="1" dirty="0"/>
              <a:t>Types of Laser Scanning</a:t>
            </a:r>
          </a:p>
          <a:p>
            <a:endParaRPr lang="en-US" sz="2400" dirty="0"/>
          </a:p>
          <a:p>
            <a:r>
              <a:rPr lang="en-US" sz="2400" b="1" dirty="0"/>
              <a:t>1. Time of Flight (also known as “pulse based”) </a:t>
            </a:r>
          </a:p>
          <a:p>
            <a:pPr marL="342900" indent="-342900">
              <a:buFont typeface="Wingdings" panose="05000000000000000000" pitchFamily="2" charset="2"/>
              <a:buChar char="Ø"/>
            </a:pPr>
            <a:r>
              <a:rPr lang="en-US" sz="2400" dirty="0"/>
              <a:t>As the name suggests, time-of-light laser scanners emit laser pulses and then determine object location by measuring the amount of time it takes for that laser pulse to bounce off an object and return to the scanner. </a:t>
            </a:r>
          </a:p>
          <a:p>
            <a:pPr marL="342900" indent="-342900">
              <a:buFont typeface="Wingdings" panose="05000000000000000000" pitchFamily="2" charset="2"/>
              <a:buChar char="Ø"/>
            </a:pPr>
            <a:r>
              <a:rPr lang="en-US" sz="2400" dirty="0"/>
              <a:t>Each manufacturer may have their own different “flavor” of time-of-flight scanning, in terms of how they receive the laser pulses and analyze the return.</a:t>
            </a:r>
          </a:p>
          <a:p>
            <a:pPr marL="342900" indent="-342900">
              <a:buFont typeface="Wingdings" panose="05000000000000000000" pitchFamily="2" charset="2"/>
              <a:buChar char="Ø"/>
            </a:pPr>
            <a:r>
              <a:rPr lang="en-US" sz="2400" b="1" dirty="0"/>
              <a:t>Pros</a:t>
            </a:r>
            <a:r>
              <a:rPr lang="en-US" sz="2400" dirty="0"/>
              <a:t>: These scanners can measure things a great distance away.</a:t>
            </a:r>
          </a:p>
          <a:p>
            <a:pPr marL="342900" indent="-342900">
              <a:buFont typeface="Wingdings" panose="05000000000000000000" pitchFamily="2" charset="2"/>
              <a:buChar char="Ø"/>
            </a:pPr>
            <a:r>
              <a:rPr lang="en-US" sz="2400" dirty="0"/>
              <a:t> </a:t>
            </a:r>
            <a:r>
              <a:rPr lang="en-US" sz="2400" b="1" dirty="0"/>
              <a:t>Cons</a:t>
            </a:r>
            <a:r>
              <a:rPr lang="en-US" sz="2400" dirty="0"/>
              <a:t>: They’re relatively “slow.” They can collect about 50,000 points a second.</a:t>
            </a:r>
          </a:p>
        </p:txBody>
      </p:sp>
    </p:spTree>
    <p:extLst>
      <p:ext uri="{BB962C8B-B14F-4D97-AF65-F5344CB8AC3E}">
        <p14:creationId xmlns:p14="http://schemas.microsoft.com/office/powerpoint/2010/main" val="41166856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859340"/>
            <a:ext cx="12192000" cy="3785652"/>
          </a:xfrm>
          <a:prstGeom prst="rect">
            <a:avLst/>
          </a:prstGeom>
        </p:spPr>
        <p:txBody>
          <a:bodyPr wrap="square">
            <a:spAutoFit/>
          </a:bodyPr>
          <a:lstStyle/>
          <a:p>
            <a:r>
              <a:rPr lang="en-US" sz="2400" b="1" dirty="0"/>
              <a:t>2.Time of Flight (airborne</a:t>
            </a:r>
            <a:r>
              <a:rPr lang="en-US" dirty="0"/>
              <a:t>)</a:t>
            </a:r>
          </a:p>
          <a:p>
            <a:pPr marL="285750" indent="-285750">
              <a:buFont typeface="Wingdings" panose="05000000000000000000" pitchFamily="2" charset="2"/>
              <a:buChar char="Ø"/>
            </a:pPr>
            <a:r>
              <a:rPr lang="en-US" dirty="0"/>
              <a:t> </a:t>
            </a:r>
            <a:r>
              <a:rPr lang="en-US" sz="2400" dirty="0"/>
              <a:t>Airborne collection of 3D data can often use something called waveform processing and echo digitization, which is a form of time-of-flight scanning. </a:t>
            </a:r>
          </a:p>
          <a:p>
            <a:pPr marL="285750" indent="-285750">
              <a:buFont typeface="Wingdings" panose="05000000000000000000" pitchFamily="2" charset="2"/>
              <a:buChar char="Ø"/>
            </a:pPr>
            <a:r>
              <a:rPr lang="en-US" sz="2400" dirty="0"/>
              <a:t>This type of </a:t>
            </a:r>
            <a:r>
              <a:rPr lang="en-US" sz="2400" dirty="0" err="1"/>
              <a:t>ToF</a:t>
            </a:r>
            <a:r>
              <a:rPr lang="en-US" sz="2400" dirty="0"/>
              <a:t> can get multiple returns from the same pulse of laser light, which allows you to get multiple readings from the same laser. </a:t>
            </a:r>
          </a:p>
          <a:p>
            <a:pPr marL="285750" indent="-285750">
              <a:buFont typeface="Wingdings" panose="05000000000000000000" pitchFamily="2" charset="2"/>
              <a:buChar char="Ø"/>
            </a:pPr>
            <a:r>
              <a:rPr lang="en-US" sz="2400" dirty="0"/>
              <a:t>This is particularly useful if there are objects in the way of what you’re trying to scan, such as trees blocking the surface of the Earth.</a:t>
            </a:r>
          </a:p>
          <a:p>
            <a:pPr marL="285750" indent="-285750">
              <a:buFont typeface="Wingdings" panose="05000000000000000000" pitchFamily="2" charset="2"/>
              <a:buChar char="Ø"/>
            </a:pPr>
            <a:r>
              <a:rPr lang="en-US" sz="2400" dirty="0"/>
              <a:t> In this way, it is possible to use software to remove all the returns that are clearly trees and vegetation and get smooth-earth point clouds, which are used for things like digital terrain models that are helpful in creating things like flood maps. </a:t>
            </a:r>
          </a:p>
        </p:txBody>
      </p:sp>
    </p:spTree>
    <p:extLst>
      <p:ext uri="{BB962C8B-B14F-4D97-AF65-F5344CB8AC3E}">
        <p14:creationId xmlns:p14="http://schemas.microsoft.com/office/powerpoint/2010/main" val="325909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3700" y="1752938"/>
            <a:ext cx="11341100" cy="3416320"/>
          </a:xfrm>
          <a:prstGeom prst="rect">
            <a:avLst/>
          </a:prstGeom>
        </p:spPr>
        <p:txBody>
          <a:bodyPr wrap="square">
            <a:spAutoFit/>
          </a:bodyPr>
          <a:lstStyle/>
          <a:p>
            <a:r>
              <a:rPr lang="en-US" sz="2400" b="1" dirty="0"/>
              <a:t>3.Phase-based</a:t>
            </a:r>
            <a:r>
              <a:rPr lang="en-US" dirty="0"/>
              <a:t> </a:t>
            </a:r>
          </a:p>
          <a:p>
            <a:pPr marL="285750" indent="-285750">
              <a:buFont typeface="Wingdings" panose="05000000000000000000" pitchFamily="2" charset="2"/>
              <a:buChar char="Ø"/>
            </a:pPr>
            <a:r>
              <a:rPr lang="en-US" sz="2400" dirty="0"/>
              <a:t>These scanners emit a continuous laser beam and the scanner can tell by the modulations of the phase of the laser the location of whatever the laser runs into. </a:t>
            </a:r>
          </a:p>
          <a:p>
            <a:pPr marL="285750" indent="-285750">
              <a:buFont typeface="Wingdings" panose="05000000000000000000" pitchFamily="2" charset="2"/>
              <a:buChar char="Ø"/>
            </a:pPr>
            <a:r>
              <a:rPr lang="en-US" sz="2400" dirty="0"/>
              <a:t>Because the laser is essentially continuously gathering data, it can very quickly gather many points and therefore provide a great deal of data. </a:t>
            </a:r>
          </a:p>
          <a:p>
            <a:endParaRPr lang="en-US" sz="2400" dirty="0"/>
          </a:p>
          <a:p>
            <a:r>
              <a:rPr lang="en-US" sz="2400" b="1" dirty="0"/>
              <a:t>Pros: </a:t>
            </a:r>
            <a:r>
              <a:rPr lang="en-US" sz="2400" dirty="0"/>
              <a:t>These scanners are very fast, gathering as much as one million points per second. </a:t>
            </a:r>
          </a:p>
          <a:p>
            <a:r>
              <a:rPr lang="en-US" sz="2400" b="1" dirty="0"/>
              <a:t>Cons: </a:t>
            </a:r>
            <a:r>
              <a:rPr lang="en-US" sz="2400" dirty="0"/>
              <a:t>These scanners can only gather data out to about 80 meters at the most. Also, the amount of data they collect can create file sizes that are difficult to manage. </a:t>
            </a:r>
          </a:p>
        </p:txBody>
      </p:sp>
    </p:spTree>
    <p:extLst>
      <p:ext uri="{BB962C8B-B14F-4D97-AF65-F5344CB8AC3E}">
        <p14:creationId xmlns:p14="http://schemas.microsoft.com/office/powerpoint/2010/main" val="4530392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5900" y="1859340"/>
            <a:ext cx="11696700" cy="3416320"/>
          </a:xfrm>
          <a:prstGeom prst="rect">
            <a:avLst/>
          </a:prstGeom>
        </p:spPr>
        <p:txBody>
          <a:bodyPr wrap="square">
            <a:spAutoFit/>
          </a:bodyPr>
          <a:lstStyle/>
          <a:p>
            <a:r>
              <a:rPr lang="en-US" sz="2400" b="1" dirty="0"/>
              <a:t>Handheld/Close-range</a:t>
            </a:r>
            <a:r>
              <a:rPr lang="en-US" sz="2400" dirty="0"/>
              <a:t> </a:t>
            </a:r>
          </a:p>
          <a:p>
            <a:pPr marL="342900" indent="-342900">
              <a:buFont typeface="Wingdings" panose="05000000000000000000" pitchFamily="2" charset="2"/>
              <a:buChar char="Ø"/>
            </a:pPr>
            <a:r>
              <a:rPr lang="en-US" sz="2400" dirty="0"/>
              <a:t>A number of manufacturers make “close-range” or “hand-held” laser scanners, which are primarily used to capture objects about the size of a person, or smaller. </a:t>
            </a:r>
          </a:p>
          <a:p>
            <a:pPr marL="342900" indent="-342900">
              <a:buFont typeface="Wingdings" panose="05000000000000000000" pitchFamily="2" charset="2"/>
              <a:buChar char="Ø"/>
            </a:pPr>
            <a:r>
              <a:rPr lang="en-US" sz="2400" dirty="0"/>
              <a:t>However, these are increasing in utility and it is not uncommon now for someone to use a handheld laser scanner to scan something the size of a car or small airplane. </a:t>
            </a:r>
          </a:p>
          <a:p>
            <a:pPr marL="342900" indent="-342900">
              <a:buFont typeface="Wingdings" panose="05000000000000000000" pitchFamily="2" charset="2"/>
              <a:buChar char="Ø"/>
            </a:pPr>
            <a:r>
              <a:rPr lang="en-US" sz="2400" dirty="0"/>
              <a:t>Some of these laser scanners require targets (essentially stickers) to be placed on the object ahead of time. </a:t>
            </a:r>
          </a:p>
          <a:p>
            <a:pPr marL="342900" indent="-342900">
              <a:buFont typeface="Wingdings" panose="05000000000000000000" pitchFamily="2" charset="2"/>
              <a:buChar char="Ø"/>
            </a:pPr>
            <a:r>
              <a:rPr lang="en-US" sz="2400" dirty="0"/>
              <a:t>Others do not require targets and use software to essentially match features to each other. Some of these close-range scanners can attain very high accuracy, well below 1mm</a:t>
            </a:r>
          </a:p>
        </p:txBody>
      </p:sp>
    </p:spTree>
    <p:extLst>
      <p:ext uri="{BB962C8B-B14F-4D97-AF65-F5344CB8AC3E}">
        <p14:creationId xmlns:p14="http://schemas.microsoft.com/office/powerpoint/2010/main" val="6062056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2100" y="914738"/>
            <a:ext cx="11150600" cy="5632311"/>
          </a:xfrm>
          <a:prstGeom prst="rect">
            <a:avLst/>
          </a:prstGeom>
        </p:spPr>
        <p:txBody>
          <a:bodyPr wrap="square">
            <a:spAutoFit/>
          </a:bodyPr>
          <a:lstStyle/>
          <a:p>
            <a:r>
              <a:rPr lang="en-US" sz="2400" b="1" dirty="0"/>
              <a:t>PHOTOGRAMMETRY </a:t>
            </a:r>
          </a:p>
          <a:p>
            <a:pPr marL="342900" indent="-342900">
              <a:buFont typeface="Wingdings" panose="05000000000000000000" pitchFamily="2" charset="2"/>
              <a:buChar char="Ø"/>
            </a:pPr>
            <a:r>
              <a:rPr lang="en-US" sz="2400" dirty="0"/>
              <a:t>Photogrammetry (also sometimes known as stereoscopy) is a science dating to the 1850s that determines distances using photographs to take measurements.</a:t>
            </a:r>
          </a:p>
          <a:p>
            <a:pPr marL="342900" indent="-342900">
              <a:buFont typeface="Wingdings" panose="05000000000000000000" pitchFamily="2" charset="2"/>
              <a:buChar char="Ø"/>
            </a:pPr>
            <a:r>
              <a:rPr lang="en-US" sz="2400" dirty="0"/>
              <a:t> In the last few years, great gains have been made in the algorithms that allow for measurements to be taken much faster, leading to software that can now create very large point clouds by ingesting thousands, even tens of thousands, of photographs. </a:t>
            </a:r>
          </a:p>
          <a:p>
            <a:r>
              <a:rPr lang="en-US" sz="2400" b="1" dirty="0"/>
              <a:t>Types of Photogrammetry</a:t>
            </a:r>
          </a:p>
          <a:p>
            <a:r>
              <a:rPr lang="en-US" sz="2400" b="1" dirty="0"/>
              <a:t> </a:t>
            </a:r>
            <a:r>
              <a:rPr lang="en-US" sz="2400" b="1" dirty="0" err="1"/>
              <a:t>a.</a:t>
            </a:r>
            <a:r>
              <a:rPr lang="en-US" sz="2400" b="1" i="1" dirty="0" err="1"/>
              <a:t>Take</a:t>
            </a:r>
            <a:r>
              <a:rPr lang="en-US" sz="2400" b="1" i="1" dirty="0"/>
              <a:t> one measurement at a time</a:t>
            </a:r>
            <a:r>
              <a:rPr lang="en-US" sz="2400" dirty="0"/>
              <a:t>, </a:t>
            </a:r>
          </a:p>
          <a:p>
            <a:pPr marL="342900" indent="-342900">
              <a:buFont typeface="Wingdings" panose="05000000000000000000" pitchFamily="2" charset="2"/>
              <a:buChar char="Ø"/>
            </a:pPr>
            <a:r>
              <a:rPr lang="en-US" sz="2400" dirty="0"/>
              <a:t>With targets One type of photogrammetry software allows you to put out targets in a scene, take a number of overlapping photographs from a number of angles, ingest those photos, then manually identify which targets are the same in which photographs.</a:t>
            </a:r>
          </a:p>
          <a:p>
            <a:pPr marL="342900" indent="-342900">
              <a:buFont typeface="Wingdings" panose="05000000000000000000" pitchFamily="2" charset="2"/>
              <a:buChar char="Ø"/>
            </a:pPr>
            <a:r>
              <a:rPr lang="en-US" sz="2400" dirty="0"/>
              <a:t> After doing those manual operations, the software is then able to tell you the distance between two points in 3D space. T</a:t>
            </a:r>
          </a:p>
          <a:p>
            <a:pPr marL="342900" indent="-342900">
              <a:buFont typeface="Wingdings" panose="05000000000000000000" pitchFamily="2" charset="2"/>
              <a:buChar char="Ø"/>
            </a:pPr>
            <a:r>
              <a:rPr lang="en-US" sz="2400" dirty="0"/>
              <a:t>his type of software can be useful for creating diagrams of scenes, and is commonly used in the forensic marketplace and in the plant and process industry.</a:t>
            </a:r>
          </a:p>
        </p:txBody>
      </p:sp>
    </p:spTree>
    <p:extLst>
      <p:ext uri="{BB962C8B-B14F-4D97-AF65-F5344CB8AC3E}">
        <p14:creationId xmlns:p14="http://schemas.microsoft.com/office/powerpoint/2010/main" val="14468070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8300" y="2136339"/>
            <a:ext cx="11518900" cy="3416320"/>
          </a:xfrm>
          <a:prstGeom prst="rect">
            <a:avLst/>
          </a:prstGeom>
        </p:spPr>
        <p:txBody>
          <a:bodyPr wrap="square">
            <a:spAutoFit/>
          </a:bodyPr>
          <a:lstStyle/>
          <a:p>
            <a:r>
              <a:rPr lang="en-US" sz="2400" b="1" dirty="0" err="1"/>
              <a:t>b.Ingest</a:t>
            </a:r>
            <a:r>
              <a:rPr lang="en-US" sz="2400" b="1" dirty="0"/>
              <a:t> all the photos</a:t>
            </a:r>
            <a:r>
              <a:rPr lang="en-US" sz="2400" dirty="0"/>
              <a:t>,</a:t>
            </a:r>
          </a:p>
          <a:p>
            <a:pPr marL="342900" indent="-342900">
              <a:buFont typeface="Wingdings" panose="05000000000000000000" pitchFamily="2" charset="2"/>
              <a:buChar char="Ø"/>
            </a:pPr>
            <a:r>
              <a:rPr lang="en-US" sz="2400" dirty="0"/>
              <a:t> Create a point cloud Some software packages are now able to automatically identify similar features from one photograph to another, and no longer need targets in the scene at all. </a:t>
            </a:r>
          </a:p>
          <a:p>
            <a:pPr marL="342900" indent="-342900">
              <a:buFont typeface="Wingdings" panose="05000000000000000000" pitchFamily="2" charset="2"/>
              <a:buChar char="Ø"/>
            </a:pPr>
            <a:r>
              <a:rPr lang="en-US" sz="2400" dirty="0"/>
              <a:t>With this software, you simple ingest as many photographs as you have, and the software spits back out either a point cloud or a mesh model.</a:t>
            </a:r>
          </a:p>
          <a:p>
            <a:pPr marL="342900" indent="-342900">
              <a:buFont typeface="Wingdings" panose="05000000000000000000" pitchFamily="2" charset="2"/>
              <a:buChar char="Ø"/>
            </a:pPr>
            <a:r>
              <a:rPr lang="en-US" sz="2400" dirty="0"/>
              <a:t> This software is becoming relatively ubiquitous, and is even offered as a free app for smartphones.</a:t>
            </a:r>
          </a:p>
          <a:p>
            <a:pPr marL="342900" indent="-342900">
              <a:buFont typeface="Wingdings" panose="05000000000000000000" pitchFamily="2" charset="2"/>
              <a:buChar char="Ø"/>
            </a:pPr>
            <a:r>
              <a:rPr lang="en-US" sz="2400" dirty="0"/>
              <a:t> However, the quality of the models and point clouds produced varies widely</a:t>
            </a:r>
          </a:p>
        </p:txBody>
      </p:sp>
    </p:spTree>
    <p:extLst>
      <p:ext uri="{BB962C8B-B14F-4D97-AF65-F5344CB8AC3E}">
        <p14:creationId xmlns:p14="http://schemas.microsoft.com/office/powerpoint/2010/main" val="32969091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95300" y="1070739"/>
            <a:ext cx="11290300" cy="5262979"/>
          </a:xfrm>
          <a:prstGeom prst="rect">
            <a:avLst/>
          </a:prstGeom>
        </p:spPr>
        <p:txBody>
          <a:bodyPr wrap="square">
            <a:spAutoFit/>
          </a:bodyPr>
          <a:lstStyle/>
          <a:p>
            <a:r>
              <a:rPr lang="en-US" sz="2400" b="1" dirty="0"/>
              <a:t>STRUCTURED LIGHT SCANNERS</a:t>
            </a:r>
          </a:p>
          <a:p>
            <a:pPr marL="342900" indent="-342900">
              <a:buFont typeface="Wingdings" panose="05000000000000000000" pitchFamily="2" charset="2"/>
              <a:buChar char="Ø"/>
            </a:pPr>
            <a:r>
              <a:rPr lang="en-US" sz="2400" b="1" dirty="0"/>
              <a:t> </a:t>
            </a:r>
            <a:r>
              <a:rPr lang="en-US" sz="2400" dirty="0"/>
              <a:t>Structured light scanners project a single line of light, or a pattern of light, onto an object, and then use a camera (or more than one) and software to measure how that light is distorted, which can then be used to create a point cloud or model. </a:t>
            </a:r>
          </a:p>
          <a:p>
            <a:r>
              <a:rPr lang="en-US" sz="2400" b="1" i="1" dirty="0"/>
              <a:t>Types of Structured Light Scanners </a:t>
            </a:r>
          </a:p>
          <a:p>
            <a:r>
              <a:rPr lang="en-US" sz="2400" b="1" i="1" dirty="0"/>
              <a:t>a. Static</a:t>
            </a:r>
          </a:p>
          <a:p>
            <a:pPr marL="342900" indent="-342900">
              <a:buFont typeface="Wingdings" panose="05000000000000000000" pitchFamily="2" charset="2"/>
              <a:buChar char="Ø"/>
            </a:pPr>
            <a:r>
              <a:rPr lang="en-US" sz="2400" dirty="0"/>
              <a:t> The light source and the cameras are in fixed locations, while the object to be scanned is placed in the field of vision of the cameras and the light source. </a:t>
            </a:r>
          </a:p>
          <a:p>
            <a:pPr marL="342900" indent="-342900">
              <a:buFont typeface="Wingdings" panose="05000000000000000000" pitchFamily="2" charset="2"/>
              <a:buChar char="Ø"/>
            </a:pPr>
            <a:r>
              <a:rPr lang="en-US" sz="2400" dirty="0"/>
              <a:t>Sometimes the cameras and light sources are arrayed in a full 360-degree structure, allowing the entire object to be captured in 3D at once.</a:t>
            </a:r>
          </a:p>
          <a:p>
            <a:r>
              <a:rPr lang="en-US" sz="2400" b="1" i="1" dirty="0"/>
              <a:t>b. Handheld </a:t>
            </a:r>
          </a:p>
          <a:p>
            <a:r>
              <a:rPr lang="en-US" sz="2400" dirty="0"/>
              <a:t>Like handheld laser scanners, handheld structured light scanners can be swept over an object - sometimes with targets attached, sometimes without – creating a point cloud or model as more of the object is covered with the light source</a:t>
            </a:r>
          </a:p>
        </p:txBody>
      </p:sp>
    </p:spTree>
    <p:extLst>
      <p:ext uri="{BB962C8B-B14F-4D97-AF65-F5344CB8AC3E}">
        <p14:creationId xmlns:p14="http://schemas.microsoft.com/office/powerpoint/2010/main" val="17779572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8900" y="0"/>
            <a:ext cx="11188700" cy="6740307"/>
          </a:xfrm>
          <a:prstGeom prst="rect">
            <a:avLst/>
          </a:prstGeom>
        </p:spPr>
        <p:txBody>
          <a:bodyPr wrap="square">
            <a:spAutoFit/>
          </a:bodyPr>
          <a:lstStyle/>
          <a:p>
            <a:r>
              <a:rPr lang="en-US" sz="2400" b="1" dirty="0"/>
              <a:t>SONAR </a:t>
            </a:r>
          </a:p>
          <a:p>
            <a:pPr marL="342900" indent="-342900">
              <a:buFont typeface="Wingdings" panose="05000000000000000000" pitchFamily="2" charset="2"/>
              <a:buChar char="Ø"/>
            </a:pPr>
            <a:r>
              <a:rPr lang="en-US" sz="2400" dirty="0"/>
              <a:t>While sonar, the process of using sound waves to establish position, has traditionally been a 2D technology, new advancements in technology have allowed manufacturers to create 3D sonar systems that are also capable of producing point clouds of underwater environments. </a:t>
            </a:r>
          </a:p>
          <a:p>
            <a:r>
              <a:rPr lang="en-US" sz="2400" b="1" i="1" dirty="0"/>
              <a:t>Types of Sonar </a:t>
            </a:r>
          </a:p>
          <a:p>
            <a:r>
              <a:rPr lang="en-US" sz="2400" b="1" i="1" dirty="0" err="1"/>
              <a:t>a.</a:t>
            </a:r>
            <a:r>
              <a:rPr lang="en-US" sz="2400" b="1" dirty="0" err="1"/>
              <a:t>Single</a:t>
            </a:r>
            <a:r>
              <a:rPr lang="en-US" sz="2400" b="1" dirty="0"/>
              <a:t> Beam </a:t>
            </a:r>
          </a:p>
          <a:p>
            <a:pPr marL="342900" indent="-342900">
              <a:buFont typeface="Wingdings" panose="05000000000000000000" pitchFamily="2" charset="2"/>
              <a:buChar char="Ø"/>
            </a:pPr>
            <a:r>
              <a:rPr lang="en-US" sz="2400" dirty="0"/>
              <a:t>This is the “traditional” type of sonar, which can establish 3D position in a narrow path with a “ping” of sound. </a:t>
            </a:r>
          </a:p>
          <a:p>
            <a:pPr marL="342900" indent="-342900">
              <a:buFont typeface="Wingdings" panose="05000000000000000000" pitchFamily="2" charset="2"/>
              <a:buChar char="Ø"/>
            </a:pPr>
            <a:r>
              <a:rPr lang="en-US" sz="2400" dirty="0"/>
              <a:t>With enough measurements, maps can be created of underwater areas. It is equivalent to an underwater total station of sorts in that you’re gathering one point of data at a time. </a:t>
            </a:r>
          </a:p>
          <a:p>
            <a:r>
              <a:rPr lang="en-US" sz="2400" b="1" dirty="0"/>
              <a:t>b. Multi-Beam </a:t>
            </a:r>
          </a:p>
          <a:p>
            <a:pPr marL="342900" indent="-342900">
              <a:buFont typeface="Wingdings" panose="05000000000000000000" pitchFamily="2" charset="2"/>
              <a:buChar char="Ø"/>
            </a:pPr>
            <a:r>
              <a:rPr lang="en-US" sz="2400" dirty="0"/>
              <a:t>A multi-beam sonar system can gather a point cloud of wide swaths of the bottom of a body of water, or, when tightly focused, can create very dense point clouds of underwater objects. </a:t>
            </a:r>
          </a:p>
          <a:p>
            <a:pPr marL="342900" indent="-342900">
              <a:buFont typeface="Wingdings" panose="05000000000000000000" pitchFamily="2" charset="2"/>
              <a:buChar char="Ø"/>
            </a:pPr>
            <a:r>
              <a:rPr lang="en-US" sz="2400" dirty="0"/>
              <a:t>This technology can be used to map and model things like offshore drilling platforms, shipwrecks, </a:t>
            </a:r>
          </a:p>
        </p:txBody>
      </p:sp>
    </p:spTree>
    <p:extLst>
      <p:ext uri="{BB962C8B-B14F-4D97-AF65-F5344CB8AC3E}">
        <p14:creationId xmlns:p14="http://schemas.microsoft.com/office/powerpoint/2010/main" val="12675994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1300" y="2136339"/>
            <a:ext cx="11455400" cy="3046988"/>
          </a:xfrm>
          <a:prstGeom prst="rect">
            <a:avLst/>
          </a:prstGeom>
        </p:spPr>
        <p:txBody>
          <a:bodyPr wrap="square">
            <a:spAutoFit/>
          </a:bodyPr>
          <a:lstStyle/>
          <a:p>
            <a:r>
              <a:rPr lang="en-US" sz="2400" b="1" dirty="0"/>
              <a:t>c. Robust Multi-Beam </a:t>
            </a:r>
          </a:p>
          <a:p>
            <a:pPr marL="342900" indent="-342900">
              <a:buFont typeface="Wingdings" panose="05000000000000000000" pitchFamily="2" charset="2"/>
              <a:buChar char="Ø"/>
            </a:pPr>
            <a:r>
              <a:rPr lang="en-US" sz="2400" dirty="0"/>
              <a:t>It is possible by using a large number of sonar “beams” at a high rate of pings-per-second to create real-time 3D images of underwater objects. </a:t>
            </a:r>
          </a:p>
          <a:p>
            <a:pPr marL="342900" indent="-342900">
              <a:buFont typeface="Wingdings" panose="05000000000000000000" pitchFamily="2" charset="2"/>
              <a:buChar char="Ø"/>
            </a:pPr>
            <a:r>
              <a:rPr lang="en-US" sz="2400" dirty="0"/>
              <a:t>This is different from multi-beam sonar in that the images do not have to be post-processed in order for the 3D nature of the data to be realized. </a:t>
            </a:r>
          </a:p>
          <a:p>
            <a:pPr marL="342900" indent="-342900">
              <a:buFont typeface="Wingdings" panose="05000000000000000000" pitchFamily="2" charset="2"/>
              <a:buChar char="Ø"/>
            </a:pPr>
            <a:r>
              <a:rPr lang="en-US" sz="2400" dirty="0"/>
              <a:t>The 3D imagery can be consumed like video, looking at underwater objects as they are moved around, for example, and not having to take a picture and then look at what you captured back in the office. </a:t>
            </a:r>
          </a:p>
        </p:txBody>
      </p:sp>
    </p:spTree>
    <p:extLst>
      <p:ext uri="{BB962C8B-B14F-4D97-AF65-F5344CB8AC3E}">
        <p14:creationId xmlns:p14="http://schemas.microsoft.com/office/powerpoint/2010/main" val="9501337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618517"/>
            <a:ext cx="10364451" cy="778483"/>
          </a:xfrm>
        </p:spPr>
        <p:txBody>
          <a:bodyPr/>
          <a:lstStyle/>
          <a:p>
            <a:r>
              <a:rPr lang="en-US" dirty="0"/>
              <a:t>3D DATA CAPTURE</a:t>
            </a:r>
          </a:p>
        </p:txBody>
      </p:sp>
      <p:sp>
        <p:nvSpPr>
          <p:cNvPr id="3" name="Content Placeholder 2"/>
          <p:cNvSpPr>
            <a:spLocks noGrp="1"/>
          </p:cNvSpPr>
          <p:nvPr>
            <p:ph sz="quarter" idx="13"/>
          </p:nvPr>
        </p:nvSpPr>
        <p:spPr>
          <a:xfrm>
            <a:off x="913775" y="1485900"/>
            <a:ext cx="10363826" cy="4952999"/>
          </a:xfrm>
        </p:spPr>
        <p:txBody>
          <a:bodyPr>
            <a:noAutofit/>
          </a:bodyPr>
          <a:lstStyle/>
          <a:p>
            <a:pPr>
              <a:buFont typeface="Wingdings" panose="05000000000000000000" pitchFamily="2" charset="2"/>
              <a:buChar char="Ø"/>
            </a:pPr>
            <a:r>
              <a:rPr lang="en-US" sz="2400" cap="none" dirty="0"/>
              <a:t>3D Data Capture Is the process of gathering information from the real world, with x, y, and z coordinates, and making it digital</a:t>
            </a:r>
          </a:p>
          <a:p>
            <a:pPr>
              <a:buFont typeface="Wingdings" panose="05000000000000000000" pitchFamily="2" charset="2"/>
              <a:buChar char="Ø"/>
            </a:pPr>
            <a:r>
              <a:rPr lang="en-US" sz="2400" cap="none" dirty="0"/>
              <a:t>From there, it can be processed in a number of ways to create any number of end products: point clouds, 3D models, line drawings, fly through visualizations really, the possibilities are endless. </a:t>
            </a:r>
          </a:p>
          <a:p>
            <a:pPr marL="0" indent="0">
              <a:buNone/>
            </a:pPr>
            <a:r>
              <a:rPr lang="en-US" sz="2400" b="1" cap="none" dirty="0"/>
              <a:t>Types Of 3D Data	</a:t>
            </a:r>
          </a:p>
          <a:p>
            <a:pPr>
              <a:buFont typeface="Wingdings" panose="05000000000000000000" pitchFamily="2" charset="2"/>
              <a:buChar char="Ø"/>
            </a:pPr>
            <a:r>
              <a:rPr lang="en-US" sz="2400" b="1" cap="none" dirty="0"/>
              <a:t>1.Georeferenced</a:t>
            </a:r>
            <a:r>
              <a:rPr lang="en-US" sz="2400" dirty="0"/>
              <a:t> -</a:t>
            </a:r>
            <a:r>
              <a:rPr lang="en-US" sz="2400" cap="none" dirty="0"/>
              <a:t>every location in the world can be described as an x, y, z point. it has a latitude (x), a longitude (y),and an elevation (z). </a:t>
            </a:r>
          </a:p>
          <a:p>
            <a:pPr>
              <a:buFont typeface="Wingdings" panose="05000000000000000000" pitchFamily="2" charset="2"/>
              <a:buChar char="Ø"/>
            </a:pPr>
            <a:r>
              <a:rPr lang="en-US" sz="2400" cap="none" dirty="0"/>
              <a:t>Using a combination of GPS satellite technology and traditional survey techniques, any point can be established relatively quickly</a:t>
            </a:r>
            <a:endParaRPr lang="en-US" sz="2400" b="1" cap="none" dirty="0"/>
          </a:p>
        </p:txBody>
      </p:sp>
    </p:spTree>
    <p:extLst>
      <p:ext uri="{BB962C8B-B14F-4D97-AF65-F5344CB8AC3E}">
        <p14:creationId xmlns:p14="http://schemas.microsoft.com/office/powerpoint/2010/main" val="35866308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8300" y="1925935"/>
            <a:ext cx="11582400" cy="4893647"/>
          </a:xfrm>
          <a:prstGeom prst="rect">
            <a:avLst/>
          </a:prstGeom>
        </p:spPr>
        <p:txBody>
          <a:bodyPr wrap="square">
            <a:spAutoFit/>
          </a:bodyPr>
          <a:lstStyle/>
          <a:p>
            <a:pPr marL="285750" indent="-285750">
              <a:buFont typeface="Wingdings" panose="05000000000000000000" pitchFamily="2" charset="2"/>
              <a:buChar char="Ø"/>
            </a:pPr>
            <a:r>
              <a:rPr lang="en-US" sz="2400" dirty="0"/>
              <a:t> If you start collecting data from a “known point” you can then know with relative certainty what the georeferenced position is of every point that you gather. </a:t>
            </a:r>
          </a:p>
          <a:p>
            <a:pPr marL="285750" indent="-285750">
              <a:buFont typeface="Wingdings" panose="05000000000000000000" pitchFamily="2" charset="2"/>
              <a:buChar char="Ø"/>
            </a:pPr>
            <a:r>
              <a:rPr lang="en-US" sz="2400" dirty="0"/>
              <a:t>If your data is properly georeferenced, it can be combined with data collected anywhere in the world and it will be properly referenced together</a:t>
            </a:r>
          </a:p>
          <a:p>
            <a:pPr marL="285750" indent="-285750">
              <a:buFont typeface="Wingdings" panose="05000000000000000000" pitchFamily="2" charset="2"/>
              <a:buChar char="Ø"/>
            </a:pPr>
            <a:r>
              <a:rPr lang="en-US" sz="2400" dirty="0"/>
              <a:t>You could take measurements and have them be accurate to whatever degree your collection technology is accurate. </a:t>
            </a:r>
          </a:p>
          <a:p>
            <a:endParaRPr lang="en-US" sz="2400" dirty="0"/>
          </a:p>
          <a:p>
            <a:r>
              <a:rPr lang="en-US" sz="2400" dirty="0"/>
              <a:t>2. </a:t>
            </a:r>
            <a:r>
              <a:rPr lang="en-US" sz="2400" b="1" dirty="0"/>
              <a:t>Non-georeferenced</a:t>
            </a:r>
          </a:p>
          <a:p>
            <a:pPr marL="342900" indent="-342900">
              <a:buFont typeface="Wingdings" panose="05000000000000000000" pitchFamily="2" charset="2"/>
              <a:buChar char="Ø"/>
            </a:pPr>
            <a:r>
              <a:rPr lang="en-US" sz="2400" dirty="0"/>
              <a:t> If you do not start from a known point, you can still collect 3D data, but the data you collect will only be referenced to itself. </a:t>
            </a:r>
          </a:p>
          <a:p>
            <a:pPr marL="342900" indent="-342900">
              <a:buFont typeface="Wingdings" panose="05000000000000000000" pitchFamily="2" charset="2"/>
              <a:buChar char="Ø"/>
            </a:pPr>
            <a:r>
              <a:rPr lang="en-US" sz="2400" dirty="0"/>
              <a:t>You can take measurements within the data, and they will be as accurate as your collection technology allows, but they will be only part of what in the industry is called a “pretty picture</a:t>
            </a:r>
          </a:p>
        </p:txBody>
      </p:sp>
    </p:spTree>
    <p:extLst>
      <p:ext uri="{BB962C8B-B14F-4D97-AF65-F5344CB8AC3E}">
        <p14:creationId xmlns:p14="http://schemas.microsoft.com/office/powerpoint/2010/main" val="42691381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901736"/>
            <a:ext cx="11214100" cy="1569660"/>
          </a:xfrm>
          <a:prstGeom prst="rect">
            <a:avLst/>
          </a:prstGeom>
        </p:spPr>
        <p:txBody>
          <a:bodyPr wrap="square">
            <a:spAutoFit/>
          </a:bodyPr>
          <a:lstStyle/>
          <a:p>
            <a:pPr marL="342900" indent="-342900">
              <a:buFont typeface="Wingdings" panose="05000000000000000000" pitchFamily="2" charset="2"/>
              <a:buChar char="Ø"/>
            </a:pPr>
            <a:r>
              <a:rPr lang="en-US" sz="2400" dirty="0"/>
              <a:t>There can be many uses for this kind of data – from reverse engineering to crime scene documentation – but it will have limited value if you are trying to combine that data with data collected at other times or in other locations.</a:t>
            </a:r>
          </a:p>
          <a:p>
            <a:pPr marL="342900" indent="-342900">
              <a:buFont typeface="Wingdings" panose="05000000000000000000" pitchFamily="2" charset="2"/>
              <a:buChar char="Ø"/>
            </a:pPr>
            <a:endParaRPr lang="en-US" sz="2400" dirty="0"/>
          </a:p>
        </p:txBody>
      </p:sp>
    </p:spTree>
    <p:extLst>
      <p:ext uri="{BB962C8B-B14F-4D97-AF65-F5344CB8AC3E}">
        <p14:creationId xmlns:p14="http://schemas.microsoft.com/office/powerpoint/2010/main" val="900158162"/>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TM04033925[[fn=Droplet]]</Template>
  <TotalTime>224</TotalTime>
  <Words>1728</Words>
  <Application>Microsoft Office PowerPoint</Application>
  <PresentationFormat>Widescreen</PresentationFormat>
  <Paragraphs>87</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Tw Cen MT</vt:lpstr>
      <vt:lpstr>Wingdings</vt:lpstr>
      <vt:lpstr>Droplet</vt:lpstr>
      <vt:lpstr>INTRODUCTION TO 3D MODELING AND IMAGE ACQUISITION</vt:lpstr>
      <vt:lpstr>3D Scanning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3D DATA CAPTURE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3D MODELING AND IMAGE ACQUISITION</dc:title>
  <dc:creator>Windows User</dc:creator>
  <cp:lastModifiedBy>User</cp:lastModifiedBy>
  <cp:revision>13</cp:revision>
  <dcterms:created xsi:type="dcterms:W3CDTF">2023-03-22T16:56:53Z</dcterms:created>
  <dcterms:modified xsi:type="dcterms:W3CDTF">2025-03-17T11:22:58Z</dcterms:modified>
</cp:coreProperties>
</file>