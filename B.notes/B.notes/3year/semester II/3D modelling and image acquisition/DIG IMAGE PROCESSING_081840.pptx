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75" d="100"/>
          <a:sy n="75"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75E1293-F1F8-4B15-9A69-FDCE1320F565}" type="datetimeFigureOut">
              <a:rPr lang="en-US" smtClean="0"/>
              <a:t>4/23/2023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2352365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5E1293-F1F8-4B15-9A69-FDCE1320F565}" type="datetimeFigureOut">
              <a:rPr lang="en-US" smtClean="0"/>
              <a:t>4/23/2023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3341851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75E1293-F1F8-4B15-9A69-FDCE1320F565}" type="datetimeFigureOut">
              <a:rPr lang="en-US" smtClean="0"/>
              <a:t>4/23/2023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508450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75E1293-F1F8-4B15-9A69-FDCE1320F565}" type="datetimeFigureOut">
              <a:rPr lang="en-US" smtClean="0"/>
              <a:t>4/23/2023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3980431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75E1293-F1F8-4B15-9A69-FDCE1320F565}" type="datetimeFigureOut">
              <a:rPr lang="en-US" smtClean="0"/>
              <a:t>4/23/2023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2538143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75E1293-F1F8-4B15-9A69-FDCE1320F565}" type="datetimeFigureOut">
              <a:rPr lang="en-US" smtClean="0"/>
              <a:t>4/23/2023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2652006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5E1293-F1F8-4B15-9A69-FDCE1320F565}" type="datetimeFigureOut">
              <a:rPr lang="en-US" smtClean="0"/>
              <a:t>4/23/2023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2253160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5E1293-F1F8-4B15-9A69-FDCE1320F565}" type="datetimeFigureOut">
              <a:rPr lang="en-US" smtClean="0"/>
              <a:t>4/23/2023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1437221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75E1293-F1F8-4B15-9A69-FDCE1320F565}" type="datetimeFigureOut">
              <a:rPr lang="en-US" smtClean="0"/>
              <a:t>4/23/2023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3757681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5E1293-F1F8-4B15-9A69-FDCE1320F565}" type="datetimeFigureOut">
              <a:rPr lang="en-US" smtClean="0"/>
              <a:t>4/23/2023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1330814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75E1293-F1F8-4B15-9A69-FDCE1320F565}" type="datetimeFigureOut">
              <a:rPr lang="en-US" smtClean="0"/>
              <a:t>4/23/2023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1F699E-64C5-4D95-A7B3-CD4A0A0B065C}" type="slidenum">
              <a:rPr lang="en-US" smtClean="0"/>
              <a:t>‹#›</a:t>
            </a:fld>
            <a:endParaRPr lang="en-US"/>
          </a:p>
        </p:txBody>
      </p:sp>
    </p:spTree>
    <p:extLst>
      <p:ext uri="{BB962C8B-B14F-4D97-AF65-F5344CB8AC3E}">
        <p14:creationId xmlns:p14="http://schemas.microsoft.com/office/powerpoint/2010/main" val="97008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5E1293-F1F8-4B15-9A69-FDCE1320F565}" type="datetimeFigureOut">
              <a:rPr lang="en-US" smtClean="0"/>
              <a:t>4/23/2023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1F699E-64C5-4D95-A7B3-CD4A0A0B065C}" type="slidenum">
              <a:rPr lang="en-US" smtClean="0"/>
              <a:t>‹#›</a:t>
            </a:fld>
            <a:endParaRPr lang="en-US"/>
          </a:p>
        </p:txBody>
      </p:sp>
    </p:spTree>
    <p:extLst>
      <p:ext uri="{BB962C8B-B14F-4D97-AF65-F5344CB8AC3E}">
        <p14:creationId xmlns:p14="http://schemas.microsoft.com/office/powerpoint/2010/main" val="2322804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609601"/>
            <a:ext cx="9817100" cy="3046988"/>
          </a:xfrm>
          <a:prstGeom prst="rect">
            <a:avLst/>
          </a:prstGeom>
        </p:spPr>
        <p:txBody>
          <a:bodyPr wrap="square">
            <a:spAutoFit/>
          </a:bodyPr>
          <a:lstStyle/>
          <a:p>
            <a:r>
              <a:rPr lang="en-US" sz="2400" b="1" i="0" dirty="0" smtClean="0">
                <a:solidFill>
                  <a:srgbClr val="000000"/>
                </a:solidFill>
                <a:effectLst/>
                <a:latin typeface="Heebo"/>
              </a:rPr>
              <a:t>Pixel</a:t>
            </a:r>
          </a:p>
          <a:p>
            <a:pPr marL="342900" indent="-342900" algn="just">
              <a:buFont typeface="Wingdings" panose="05000000000000000000" pitchFamily="2" charset="2"/>
              <a:buChar char="Ø"/>
            </a:pPr>
            <a:r>
              <a:rPr lang="en-US" sz="2400" b="0" i="0" dirty="0" smtClean="0">
                <a:solidFill>
                  <a:srgbClr val="000000"/>
                </a:solidFill>
                <a:effectLst/>
                <a:latin typeface="Nunito"/>
              </a:rPr>
              <a:t>Pixel is the smallest element of an image. Each pixel correspond to any one value. In an 8-bit gray scale image, the value of the pixel between 0 and 255. </a:t>
            </a:r>
          </a:p>
          <a:p>
            <a:pPr marL="342900" indent="-342900" algn="just">
              <a:buFont typeface="Wingdings" panose="05000000000000000000" pitchFamily="2" charset="2"/>
              <a:buChar char="Ø"/>
            </a:pPr>
            <a:r>
              <a:rPr lang="en-US" sz="2400" b="0" i="0" dirty="0" smtClean="0">
                <a:solidFill>
                  <a:srgbClr val="000000"/>
                </a:solidFill>
                <a:effectLst/>
                <a:latin typeface="Nunito"/>
              </a:rPr>
              <a:t>The value of a pixel at any point correspond to the intensity of the light photons striking at that point. Each pixel store a value proportional to the light intensity at that particular location.</a:t>
            </a:r>
            <a:endParaRPr lang="en-US" sz="2400" b="1" i="0" dirty="0" smtClean="0">
              <a:effectLst/>
              <a:latin typeface="Heebo"/>
            </a:endParaRPr>
          </a:p>
          <a:p>
            <a:pPr marL="342900" indent="-342900" algn="just">
              <a:buFont typeface="Wingdings" panose="05000000000000000000" pitchFamily="2" charset="2"/>
              <a:buChar char="Ø"/>
            </a:pPr>
            <a:r>
              <a:rPr lang="en-US" sz="2400" b="0" i="0" dirty="0" smtClean="0">
                <a:solidFill>
                  <a:srgbClr val="000000"/>
                </a:solidFill>
                <a:effectLst/>
                <a:latin typeface="Nunito"/>
              </a:rPr>
              <a:t>A pixel is also known as PEL. </a:t>
            </a:r>
            <a:endParaRPr lang="en-US" sz="2400" b="0" i="0" dirty="0">
              <a:solidFill>
                <a:srgbClr val="000000"/>
              </a:solidFill>
              <a:effectLst/>
              <a:latin typeface="Nunito"/>
            </a:endParaRPr>
          </a:p>
        </p:txBody>
      </p:sp>
    </p:spTree>
    <p:extLst>
      <p:ext uri="{BB962C8B-B14F-4D97-AF65-F5344CB8AC3E}">
        <p14:creationId xmlns:p14="http://schemas.microsoft.com/office/powerpoint/2010/main" val="1379353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06904" y="526534"/>
            <a:ext cx="9789696" cy="5262979"/>
          </a:xfrm>
          <a:prstGeom prst="rect">
            <a:avLst/>
          </a:prstGeom>
        </p:spPr>
        <p:txBody>
          <a:bodyPr wrap="square">
            <a:spAutoFit/>
          </a:bodyPr>
          <a:lstStyle/>
          <a:p>
            <a:pPr algn="just"/>
            <a:r>
              <a:rPr lang="en-US" sz="2400" b="0" i="0" dirty="0" smtClean="0">
                <a:solidFill>
                  <a:srgbClr val="303030"/>
                </a:solidFill>
                <a:effectLst/>
                <a:latin typeface="Franklin Gothic Medium" panose="020B0603020102020204" pitchFamily="34" charset="0"/>
              </a:rPr>
              <a:t>Perspective Transformation</a:t>
            </a:r>
          </a:p>
          <a:p>
            <a:pPr marL="285750" indent="-285750" algn="just">
              <a:buFont typeface="Wingdings" panose="05000000000000000000" pitchFamily="2" charset="2"/>
              <a:buChar char="Ø"/>
            </a:pPr>
            <a:r>
              <a:rPr lang="en-US" sz="2400" b="0" i="0" dirty="0" smtClean="0">
                <a:solidFill>
                  <a:srgbClr val="303030"/>
                </a:solidFill>
                <a:effectLst/>
                <a:latin typeface="Heebo"/>
              </a:rPr>
              <a:t>When human eyes see near things they look bigger as compare to those who are far away. This is called perspective in a general way. </a:t>
            </a:r>
          </a:p>
          <a:p>
            <a:pPr marL="285750" indent="-285750" algn="just">
              <a:buFont typeface="Wingdings" panose="05000000000000000000" pitchFamily="2" charset="2"/>
              <a:buChar char="Ø"/>
            </a:pPr>
            <a:r>
              <a:rPr lang="en-US" sz="2400" b="0" i="0" dirty="0" smtClean="0">
                <a:solidFill>
                  <a:srgbClr val="303030"/>
                </a:solidFill>
                <a:effectLst/>
                <a:latin typeface="Heebo"/>
              </a:rPr>
              <a:t>Whereas transformation is the transfer of an object </a:t>
            </a:r>
            <a:r>
              <a:rPr lang="en-US" sz="2400" b="0" i="0" dirty="0" err="1" smtClean="0">
                <a:solidFill>
                  <a:srgbClr val="303030"/>
                </a:solidFill>
                <a:effectLst/>
                <a:latin typeface="Heebo"/>
              </a:rPr>
              <a:t>e.t.c</a:t>
            </a:r>
            <a:r>
              <a:rPr lang="en-US" sz="2400" b="0" i="0" dirty="0" smtClean="0">
                <a:solidFill>
                  <a:srgbClr val="303030"/>
                </a:solidFill>
                <a:effectLst/>
                <a:latin typeface="Heebo"/>
              </a:rPr>
              <a:t> from one state to another.</a:t>
            </a:r>
          </a:p>
          <a:p>
            <a:pPr algn="just"/>
            <a:endParaRPr lang="en-US" sz="2400" b="0" i="0" dirty="0" smtClean="0">
              <a:solidFill>
                <a:srgbClr val="303030"/>
              </a:solidFill>
              <a:effectLst/>
              <a:latin typeface="Heebo"/>
            </a:endParaRPr>
          </a:p>
          <a:p>
            <a:pPr marL="285750" indent="-285750" algn="just">
              <a:buFont typeface="Wingdings" panose="05000000000000000000" pitchFamily="2" charset="2"/>
              <a:buChar char="Ø"/>
            </a:pPr>
            <a:r>
              <a:rPr lang="en-US" sz="2400" b="0" i="0" dirty="0" smtClean="0">
                <a:solidFill>
                  <a:srgbClr val="303030"/>
                </a:solidFill>
                <a:effectLst/>
                <a:latin typeface="Heebo"/>
              </a:rPr>
              <a:t>So overall, the perspective transformation deals with the conversion of 3d world into 2d image. The same principle on which human vision works and the same principle on which the camera works.</a:t>
            </a:r>
          </a:p>
          <a:p>
            <a:pPr algn="just"/>
            <a:endParaRPr lang="en-US" sz="2400" b="0" i="0" dirty="0" smtClean="0">
              <a:solidFill>
                <a:srgbClr val="303030"/>
              </a:solidFill>
              <a:effectLst/>
              <a:latin typeface="Heebo"/>
            </a:endParaRPr>
          </a:p>
          <a:p>
            <a:pPr marL="285750" indent="-285750" algn="just">
              <a:buFont typeface="Wingdings" panose="05000000000000000000" pitchFamily="2" charset="2"/>
              <a:buChar char="Ø"/>
            </a:pPr>
            <a:r>
              <a:rPr lang="en-US" sz="2400" b="0" i="0" dirty="0" smtClean="0">
                <a:solidFill>
                  <a:srgbClr val="303030"/>
                </a:solidFill>
                <a:effectLst/>
                <a:latin typeface="Heebo"/>
              </a:rPr>
              <a:t>We will see in detail about why this happens, that those objects which are near to you look bigger, while those who are far away, look smaller even though they look bigger when you reach them.</a:t>
            </a:r>
          </a:p>
          <a:p>
            <a:pPr algn="just"/>
            <a:endParaRPr lang="en-US" sz="2400" b="0" i="0" dirty="0" smtClean="0">
              <a:solidFill>
                <a:srgbClr val="303030"/>
              </a:solidFill>
              <a:effectLst/>
              <a:latin typeface="Heebo"/>
            </a:endParaRPr>
          </a:p>
        </p:txBody>
      </p:sp>
    </p:spTree>
    <p:extLst>
      <p:ext uri="{BB962C8B-B14F-4D97-AF65-F5344CB8AC3E}">
        <p14:creationId xmlns:p14="http://schemas.microsoft.com/office/powerpoint/2010/main" val="3795403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800" y="109834"/>
            <a:ext cx="9855200" cy="3416320"/>
          </a:xfrm>
          <a:prstGeom prst="rect">
            <a:avLst/>
          </a:prstGeom>
        </p:spPr>
        <p:txBody>
          <a:bodyPr wrap="square">
            <a:spAutoFit/>
          </a:bodyPr>
          <a:lstStyle/>
          <a:p>
            <a:r>
              <a:rPr lang="en-US" sz="2400" b="0" i="0" dirty="0" smtClean="0">
                <a:solidFill>
                  <a:srgbClr val="000000"/>
                </a:solidFill>
                <a:effectLst/>
                <a:latin typeface="Franklin Gothic Heavy" panose="020B0903020102020204" pitchFamily="34" charset="0"/>
              </a:rPr>
              <a:t>Frame of reference:</a:t>
            </a:r>
          </a:p>
          <a:p>
            <a:pPr algn="just"/>
            <a:r>
              <a:rPr lang="en-US" sz="2400" b="0" i="0" dirty="0" smtClean="0">
                <a:solidFill>
                  <a:srgbClr val="000000"/>
                </a:solidFill>
                <a:effectLst/>
                <a:latin typeface="Nunito"/>
              </a:rPr>
              <a:t>Frame of reference is basically a set of values in relation to which we measure something</a:t>
            </a:r>
            <a:r>
              <a:rPr lang="en-US" b="0" i="0" dirty="0" smtClean="0">
                <a:solidFill>
                  <a:srgbClr val="000000"/>
                </a:solidFill>
                <a:effectLst/>
                <a:latin typeface="Nunito"/>
              </a:rPr>
              <a:t>.</a:t>
            </a:r>
          </a:p>
          <a:p>
            <a:pPr algn="just"/>
            <a:endParaRPr lang="en-US" dirty="0">
              <a:solidFill>
                <a:srgbClr val="000000"/>
              </a:solidFill>
              <a:latin typeface="Nunito"/>
            </a:endParaRPr>
          </a:p>
          <a:p>
            <a:pPr algn="just"/>
            <a:endParaRPr lang="en-US" b="0" i="0" dirty="0" smtClean="0">
              <a:solidFill>
                <a:srgbClr val="000000"/>
              </a:solidFill>
              <a:effectLst/>
              <a:latin typeface="Nunito"/>
            </a:endParaRPr>
          </a:p>
          <a:p>
            <a:pPr algn="just"/>
            <a:endParaRPr lang="en-US" dirty="0">
              <a:solidFill>
                <a:srgbClr val="000000"/>
              </a:solidFill>
              <a:latin typeface="Nunito"/>
            </a:endParaRPr>
          </a:p>
          <a:p>
            <a:pPr algn="just"/>
            <a:endParaRPr lang="en-US" b="0" i="0" dirty="0" smtClean="0">
              <a:solidFill>
                <a:srgbClr val="000000"/>
              </a:solidFill>
              <a:effectLst/>
              <a:latin typeface="Nunito"/>
            </a:endParaRPr>
          </a:p>
          <a:p>
            <a:pPr algn="just"/>
            <a:endParaRPr lang="en-US" dirty="0">
              <a:solidFill>
                <a:srgbClr val="000000"/>
              </a:solidFill>
              <a:latin typeface="Nunito"/>
            </a:endParaRPr>
          </a:p>
          <a:p>
            <a:pPr algn="just"/>
            <a:endParaRPr lang="en-US" b="0" i="0" dirty="0" smtClean="0">
              <a:solidFill>
                <a:srgbClr val="000000"/>
              </a:solidFill>
              <a:effectLst/>
              <a:latin typeface="Nunito"/>
            </a:endParaRPr>
          </a:p>
          <a:p>
            <a:pPr algn="just"/>
            <a:endParaRPr lang="en-US" dirty="0">
              <a:solidFill>
                <a:srgbClr val="000000"/>
              </a:solidFill>
              <a:latin typeface="Nunito"/>
            </a:endParaRPr>
          </a:p>
          <a:p>
            <a:pPr algn="just"/>
            <a:endParaRPr lang="en-US" b="0" i="0" dirty="0">
              <a:solidFill>
                <a:srgbClr val="000000"/>
              </a:solidFill>
              <a:effectLst/>
              <a:latin typeface="Nunito"/>
            </a:endParaRPr>
          </a:p>
        </p:txBody>
      </p:sp>
      <p:pic>
        <p:nvPicPr>
          <p:cNvPr id="3" name="Picture 2"/>
          <p:cNvPicPr>
            <a:picLocks noChangeAspect="1"/>
          </p:cNvPicPr>
          <p:nvPr/>
        </p:nvPicPr>
        <p:blipFill>
          <a:blip r:embed="rId2"/>
          <a:stretch>
            <a:fillRect/>
          </a:stretch>
        </p:blipFill>
        <p:spPr>
          <a:xfrm>
            <a:off x="749300" y="1424709"/>
            <a:ext cx="9461500" cy="5433291"/>
          </a:xfrm>
          <a:prstGeom prst="rect">
            <a:avLst/>
          </a:prstGeom>
        </p:spPr>
      </p:pic>
    </p:spTree>
    <p:extLst>
      <p:ext uri="{BB962C8B-B14F-4D97-AF65-F5344CB8AC3E}">
        <p14:creationId xmlns:p14="http://schemas.microsoft.com/office/powerpoint/2010/main" val="3801523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248841"/>
            <a:ext cx="11430000" cy="6001643"/>
          </a:xfrm>
          <a:prstGeom prst="rect">
            <a:avLst/>
          </a:prstGeom>
        </p:spPr>
        <p:txBody>
          <a:bodyPr wrap="square">
            <a:spAutoFit/>
          </a:bodyPr>
          <a:lstStyle/>
          <a:p>
            <a:r>
              <a:rPr lang="en-US" sz="2400" b="1" dirty="0" smtClean="0"/>
              <a:t>5 frames of reference</a:t>
            </a:r>
          </a:p>
          <a:p>
            <a:r>
              <a:rPr lang="en-US" sz="2400" dirty="0" smtClean="0"/>
              <a:t>In order to analyze a 3d world/image/scene, 5 different frame of references are required.</a:t>
            </a:r>
          </a:p>
          <a:p>
            <a:pPr marL="342900" indent="-342900" algn="just">
              <a:buFont typeface="Wingdings" panose="05000000000000000000" pitchFamily="2" charset="2"/>
              <a:buChar char="Ø"/>
            </a:pPr>
            <a:r>
              <a:rPr lang="en-US" sz="2400" dirty="0" smtClean="0"/>
              <a:t>Object</a:t>
            </a:r>
          </a:p>
          <a:p>
            <a:pPr marL="342900" indent="-342900" algn="just">
              <a:buFont typeface="Wingdings" panose="05000000000000000000" pitchFamily="2" charset="2"/>
              <a:buChar char="Ø"/>
            </a:pPr>
            <a:r>
              <a:rPr lang="en-US" sz="2400" dirty="0" smtClean="0"/>
              <a:t>World</a:t>
            </a:r>
          </a:p>
          <a:p>
            <a:pPr marL="342900" indent="-342900" algn="just">
              <a:buFont typeface="Wingdings" panose="05000000000000000000" pitchFamily="2" charset="2"/>
              <a:buChar char="Ø"/>
            </a:pPr>
            <a:r>
              <a:rPr lang="en-US" sz="2400" dirty="0" smtClean="0"/>
              <a:t>Camera</a:t>
            </a:r>
          </a:p>
          <a:p>
            <a:pPr marL="342900" indent="-342900" algn="just">
              <a:buFont typeface="Wingdings" panose="05000000000000000000" pitchFamily="2" charset="2"/>
              <a:buChar char="Ø"/>
            </a:pPr>
            <a:r>
              <a:rPr lang="en-US" sz="2400" dirty="0" smtClean="0"/>
              <a:t>Image</a:t>
            </a:r>
          </a:p>
          <a:p>
            <a:pPr marL="342900" indent="-342900" algn="just">
              <a:buFont typeface="Wingdings" panose="05000000000000000000" pitchFamily="2" charset="2"/>
              <a:buChar char="Ø"/>
            </a:pPr>
            <a:r>
              <a:rPr lang="en-US" sz="2400" dirty="0" smtClean="0"/>
              <a:t>Pixel</a:t>
            </a:r>
          </a:p>
          <a:p>
            <a:r>
              <a:rPr lang="en-US" sz="2400" b="1" i="1" dirty="0" smtClean="0"/>
              <a:t>1.Object coordinate frame</a:t>
            </a:r>
          </a:p>
          <a:p>
            <a:r>
              <a:rPr lang="en-US" sz="2400" dirty="0" smtClean="0"/>
              <a:t>Object coordinate frame is used for modeling objects. For example, checking if a particular object is in a proper place with respect to the other object. It is a 3d coordinate system.</a:t>
            </a:r>
          </a:p>
          <a:p>
            <a:r>
              <a:rPr lang="en-US" sz="2400" b="1" i="1" dirty="0" smtClean="0"/>
              <a:t>2.World coordinate frame</a:t>
            </a:r>
          </a:p>
          <a:p>
            <a:r>
              <a:rPr lang="en-US" sz="2400" dirty="0" smtClean="0"/>
              <a:t>World coordinate frame is used for co-relating objects in a 3 dimensional world. It is a 3d coordinate system.</a:t>
            </a:r>
          </a:p>
          <a:p>
            <a:r>
              <a:rPr lang="en-US" sz="2400" b="1" i="1" dirty="0"/>
              <a:t>3</a:t>
            </a:r>
            <a:r>
              <a:rPr lang="en-US" sz="2400" b="1" i="1" dirty="0" smtClean="0"/>
              <a:t>.Camera coordinate frame</a:t>
            </a:r>
          </a:p>
          <a:p>
            <a:r>
              <a:rPr lang="en-US" sz="2400" dirty="0" smtClean="0"/>
              <a:t>Camera co-ordinate frame is used to relate objects with respect of the camera. It is a 3d coordinate system.</a:t>
            </a:r>
            <a:endParaRPr lang="en-US" sz="2400" dirty="0"/>
          </a:p>
        </p:txBody>
      </p:sp>
    </p:spTree>
    <p:extLst>
      <p:ext uri="{BB962C8B-B14F-4D97-AF65-F5344CB8AC3E}">
        <p14:creationId xmlns:p14="http://schemas.microsoft.com/office/powerpoint/2010/main" val="3805564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546438"/>
            <a:ext cx="11087100" cy="5632311"/>
          </a:xfrm>
          <a:prstGeom prst="rect">
            <a:avLst/>
          </a:prstGeom>
        </p:spPr>
        <p:txBody>
          <a:bodyPr wrap="square">
            <a:spAutoFit/>
          </a:bodyPr>
          <a:lstStyle/>
          <a:p>
            <a:r>
              <a:rPr lang="en-US" sz="2400" b="1" i="1" dirty="0" smtClean="0">
                <a:effectLst/>
                <a:latin typeface="Heebo"/>
              </a:rPr>
              <a:t>4.Image coordinate frame</a:t>
            </a:r>
          </a:p>
          <a:p>
            <a:pPr algn="just"/>
            <a:r>
              <a:rPr lang="en-US" sz="2400" b="0" i="0" dirty="0" smtClean="0">
                <a:solidFill>
                  <a:srgbClr val="000000"/>
                </a:solidFill>
                <a:effectLst/>
                <a:latin typeface="Nunito"/>
              </a:rPr>
              <a:t>It is not a 3d coordinate system, rather it is a 2d system. It is used to describe how 3d points are mapped in a 2d image plane.</a:t>
            </a:r>
          </a:p>
          <a:p>
            <a:r>
              <a:rPr lang="en-US" sz="2400" b="1" i="1" dirty="0" smtClean="0">
                <a:effectLst/>
                <a:latin typeface="Heebo"/>
              </a:rPr>
              <a:t>5.Pixel coordinate frame</a:t>
            </a:r>
          </a:p>
          <a:p>
            <a:pPr algn="just"/>
            <a:r>
              <a:rPr lang="en-US" sz="2400" b="0" i="0" dirty="0" smtClean="0">
                <a:solidFill>
                  <a:srgbClr val="000000"/>
                </a:solidFill>
                <a:effectLst/>
                <a:latin typeface="Nunito"/>
              </a:rPr>
              <a:t>It is also a 2d coordinate system. Each pixel has a value of pixel co ordinates.</a:t>
            </a:r>
          </a:p>
          <a:p>
            <a:pPr algn="just"/>
            <a:endParaRPr lang="en-US" sz="2400" b="0" i="0" dirty="0" smtClean="0">
              <a:solidFill>
                <a:srgbClr val="000000"/>
              </a:solidFill>
              <a:effectLst/>
              <a:latin typeface="Nunito"/>
            </a:endParaRPr>
          </a:p>
          <a:p>
            <a:pPr algn="just"/>
            <a:endParaRPr lang="en-US" sz="2400" dirty="0">
              <a:solidFill>
                <a:srgbClr val="000000"/>
              </a:solidFill>
              <a:latin typeface="Nunito"/>
            </a:endParaRPr>
          </a:p>
          <a:p>
            <a:pPr algn="just"/>
            <a:endParaRPr lang="en-US" sz="2400" b="0" i="0" dirty="0" smtClean="0">
              <a:solidFill>
                <a:srgbClr val="000000"/>
              </a:solidFill>
              <a:effectLst/>
              <a:latin typeface="Nunito"/>
            </a:endParaRPr>
          </a:p>
          <a:p>
            <a:pPr algn="just"/>
            <a:endParaRPr lang="en-US" sz="2400" dirty="0">
              <a:solidFill>
                <a:srgbClr val="000000"/>
              </a:solidFill>
              <a:latin typeface="Nunito"/>
            </a:endParaRPr>
          </a:p>
          <a:p>
            <a:pPr algn="just"/>
            <a:endParaRPr lang="en-US" sz="2400" b="0" i="0" dirty="0" smtClean="0">
              <a:solidFill>
                <a:srgbClr val="000000"/>
              </a:solidFill>
              <a:effectLst/>
              <a:latin typeface="Nunito"/>
            </a:endParaRPr>
          </a:p>
          <a:p>
            <a:pPr algn="just"/>
            <a:endParaRPr lang="en-US" sz="2400" dirty="0">
              <a:solidFill>
                <a:srgbClr val="000000"/>
              </a:solidFill>
              <a:latin typeface="Nunito"/>
            </a:endParaRPr>
          </a:p>
          <a:p>
            <a:pPr algn="just"/>
            <a:endParaRPr lang="en-US" sz="2400" b="0" i="0" dirty="0" smtClean="0">
              <a:solidFill>
                <a:srgbClr val="000000"/>
              </a:solidFill>
              <a:effectLst/>
              <a:latin typeface="Nunito"/>
            </a:endParaRPr>
          </a:p>
          <a:p>
            <a:pPr algn="just"/>
            <a:endParaRPr lang="en-US" sz="2400" dirty="0">
              <a:solidFill>
                <a:srgbClr val="000000"/>
              </a:solidFill>
              <a:latin typeface="Nunito"/>
            </a:endParaRPr>
          </a:p>
          <a:p>
            <a:pPr algn="just"/>
            <a:endParaRPr lang="en-US" sz="2400" b="0" i="0" dirty="0" smtClean="0">
              <a:solidFill>
                <a:srgbClr val="000000"/>
              </a:solidFill>
              <a:effectLst/>
              <a:latin typeface="Nunito"/>
            </a:endParaRPr>
          </a:p>
          <a:p>
            <a:pPr algn="just"/>
            <a:endParaRPr lang="en-US" sz="2400" b="0" i="0" dirty="0">
              <a:solidFill>
                <a:srgbClr val="000000"/>
              </a:solidFill>
              <a:effectLst/>
              <a:latin typeface="Nunito"/>
            </a:endParaRPr>
          </a:p>
        </p:txBody>
      </p:sp>
    </p:spTree>
    <p:extLst>
      <p:ext uri="{BB962C8B-B14F-4D97-AF65-F5344CB8AC3E}">
        <p14:creationId xmlns:p14="http://schemas.microsoft.com/office/powerpoint/2010/main" val="13198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077271" y="181030"/>
            <a:ext cx="5983369" cy="90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000000"/>
                </a:solidFill>
                <a:effectLst/>
                <a:latin typeface="Heebo"/>
              </a:rPr>
              <a:t>Transformation between these 5 frames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rPr>
              <a:t>  </a:t>
            </a:r>
            <a:r>
              <a:rPr kumimoji="0" lang="en-US" altLang="en-US" sz="23800" b="0" i="0" u="none" strike="noStrike" cap="none" normalizeH="0" baseline="0" dirty="0" smtClean="0">
                <a:ln>
                  <a:noFill/>
                </a:ln>
                <a:solidFill>
                  <a:schemeClr val="tx1"/>
                </a:solidFill>
                <a:effectLst/>
                <a:latin typeface="Arial" panose="020B0604020202020204" pitchFamily="34" charset="0"/>
              </a:rPr>
              <a:t/>
            </a:r>
            <a:br>
              <a:rPr kumimoji="0" lang="en-US" altLang="en-US" sz="23800" b="0" i="0" u="none" strike="noStrike" cap="none" normalizeH="0" baseline="0" dirty="0" smtClean="0">
                <a:ln>
                  <a:noFill/>
                </a:ln>
                <a:solidFill>
                  <a:schemeClr val="tx1"/>
                </a:solidFill>
                <a:effectLst/>
                <a:latin typeface="Arial" panose="020B0604020202020204" pitchFamily="34" charset="0"/>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2050" name="Picture 2" descr="transform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343" y="736600"/>
            <a:ext cx="5018157" cy="41656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295400" y="4902200"/>
            <a:ext cx="7531100" cy="830997"/>
          </a:xfrm>
          <a:prstGeom prst="rect">
            <a:avLst/>
          </a:prstGeom>
        </p:spPr>
        <p:txBody>
          <a:bodyPr wrap="square">
            <a:spAutoFit/>
          </a:bodyPr>
          <a:lstStyle/>
          <a:p>
            <a:r>
              <a:rPr lang="en-US" sz="2400" b="0" i="0" dirty="0" smtClean="0">
                <a:solidFill>
                  <a:srgbClr val="000000"/>
                </a:solidFill>
                <a:effectLst/>
                <a:latin typeface="Nunito"/>
              </a:rPr>
              <a:t>That's how a 3d scene is transformed into 2d, with image of pixels.</a:t>
            </a:r>
            <a:endParaRPr lang="en-US" sz="2400" dirty="0"/>
          </a:p>
        </p:txBody>
      </p:sp>
    </p:spTree>
    <p:extLst>
      <p:ext uri="{BB962C8B-B14F-4D97-AF65-F5344CB8AC3E}">
        <p14:creationId xmlns:p14="http://schemas.microsoft.com/office/powerpoint/2010/main" val="3227323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97100" y="240283"/>
            <a:ext cx="8597899" cy="5327080"/>
          </a:xfrm>
          <a:prstGeom prst="rect">
            <a:avLst/>
          </a:prstGeom>
        </p:spPr>
      </p:pic>
    </p:spTree>
    <p:extLst>
      <p:ext uri="{BB962C8B-B14F-4D97-AF65-F5344CB8AC3E}">
        <p14:creationId xmlns:p14="http://schemas.microsoft.com/office/powerpoint/2010/main" val="3480483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81181" y="612864"/>
            <a:ext cx="10429638" cy="4454436"/>
          </a:xfrm>
          <a:prstGeom prst="rect">
            <a:avLst/>
          </a:prstGeom>
        </p:spPr>
      </p:pic>
      <p:sp>
        <p:nvSpPr>
          <p:cNvPr id="3" name="Rectangle 2"/>
          <p:cNvSpPr/>
          <p:nvPr/>
        </p:nvSpPr>
        <p:spPr>
          <a:xfrm>
            <a:off x="1143000" y="4978400"/>
            <a:ext cx="9677400" cy="1200329"/>
          </a:xfrm>
          <a:prstGeom prst="rect">
            <a:avLst/>
          </a:prstGeom>
        </p:spPr>
        <p:txBody>
          <a:bodyPr wrap="square">
            <a:spAutoFit/>
          </a:bodyPr>
          <a:lstStyle/>
          <a:p>
            <a:pPr algn="just"/>
            <a:r>
              <a:rPr lang="en-US" sz="2400" b="0" i="0" dirty="0" smtClean="0">
                <a:solidFill>
                  <a:srgbClr val="000000"/>
                </a:solidFill>
                <a:effectLst/>
                <a:latin typeface="Nunito"/>
              </a:rPr>
              <a:t>From this equation, we can see that when the rays of light reflect back after striking from the object, passed from the camera, an invert image is formed.</a:t>
            </a:r>
          </a:p>
        </p:txBody>
      </p:sp>
    </p:spTree>
    <p:extLst>
      <p:ext uri="{BB962C8B-B14F-4D97-AF65-F5344CB8AC3E}">
        <p14:creationId xmlns:p14="http://schemas.microsoft.com/office/powerpoint/2010/main" val="2428811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7800" y="70753"/>
            <a:ext cx="10833100" cy="5274576"/>
          </a:xfrm>
          <a:prstGeom prst="rect">
            <a:avLst/>
          </a:prstGeom>
        </p:spPr>
      </p:pic>
      <p:sp>
        <p:nvSpPr>
          <p:cNvPr id="3" name="Rectangle 2"/>
          <p:cNvSpPr/>
          <p:nvPr/>
        </p:nvSpPr>
        <p:spPr>
          <a:xfrm>
            <a:off x="1257300" y="5345329"/>
            <a:ext cx="9067800" cy="707886"/>
          </a:xfrm>
          <a:prstGeom prst="rect">
            <a:avLst/>
          </a:prstGeom>
        </p:spPr>
        <p:txBody>
          <a:bodyPr wrap="square">
            <a:spAutoFit/>
          </a:bodyPr>
          <a:lstStyle/>
          <a:p>
            <a:pPr algn="just"/>
            <a:r>
              <a:rPr lang="en-US" sz="2000" b="0" i="0" dirty="0" smtClean="0">
                <a:solidFill>
                  <a:srgbClr val="000000"/>
                </a:solidFill>
                <a:effectLst/>
                <a:latin typeface="Nunito"/>
              </a:rPr>
              <a:t>= -5 mm.</a:t>
            </a:r>
          </a:p>
          <a:p>
            <a:pPr algn="just"/>
            <a:r>
              <a:rPr lang="en-US" sz="2000" b="0" i="0" dirty="0" smtClean="0">
                <a:solidFill>
                  <a:srgbClr val="000000"/>
                </a:solidFill>
                <a:effectLst/>
                <a:latin typeface="Nunito"/>
              </a:rPr>
              <a:t>Again, the minus sign indicates that the image is inverted.</a:t>
            </a:r>
            <a:endParaRPr lang="en-US" sz="2000" b="0" i="0" dirty="0">
              <a:solidFill>
                <a:srgbClr val="000000"/>
              </a:solidFill>
              <a:effectLst/>
              <a:latin typeface="Nunito"/>
            </a:endParaRPr>
          </a:p>
        </p:txBody>
      </p:sp>
    </p:spTree>
    <p:extLst>
      <p:ext uri="{BB962C8B-B14F-4D97-AF65-F5344CB8AC3E}">
        <p14:creationId xmlns:p14="http://schemas.microsoft.com/office/powerpoint/2010/main" val="2990809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73197" y="259834"/>
            <a:ext cx="5659303" cy="461665"/>
          </a:xfrm>
          <a:prstGeom prst="rect">
            <a:avLst/>
          </a:prstGeom>
        </p:spPr>
        <p:txBody>
          <a:bodyPr wrap="square">
            <a:spAutoFit/>
          </a:bodyPr>
          <a:lstStyle/>
          <a:p>
            <a:r>
              <a:rPr lang="en-US" sz="2400" b="1" i="1" dirty="0" smtClean="0"/>
              <a:t>Concept of Bits Per Pixel</a:t>
            </a:r>
            <a:endParaRPr lang="en-US" sz="2400" b="1" i="1" dirty="0"/>
          </a:p>
        </p:txBody>
      </p:sp>
      <p:pic>
        <p:nvPicPr>
          <p:cNvPr id="4" name="Picture 3"/>
          <p:cNvPicPr>
            <a:picLocks noChangeAspect="1"/>
          </p:cNvPicPr>
          <p:nvPr/>
        </p:nvPicPr>
        <p:blipFill>
          <a:blip r:embed="rId2"/>
          <a:stretch>
            <a:fillRect/>
          </a:stretch>
        </p:blipFill>
        <p:spPr>
          <a:xfrm>
            <a:off x="965200" y="668612"/>
            <a:ext cx="10528300" cy="5681388"/>
          </a:xfrm>
          <a:prstGeom prst="rect">
            <a:avLst/>
          </a:prstGeom>
        </p:spPr>
      </p:pic>
    </p:spTree>
    <p:extLst>
      <p:ext uri="{BB962C8B-B14F-4D97-AF65-F5344CB8AC3E}">
        <p14:creationId xmlns:p14="http://schemas.microsoft.com/office/powerpoint/2010/main" val="4008597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1800" y="596900"/>
            <a:ext cx="10744200" cy="5918200"/>
          </a:xfrm>
          <a:prstGeom prst="rect">
            <a:avLst/>
          </a:prstGeom>
        </p:spPr>
      </p:pic>
    </p:spTree>
    <p:extLst>
      <p:ext uri="{BB962C8B-B14F-4D97-AF65-F5344CB8AC3E}">
        <p14:creationId xmlns:p14="http://schemas.microsoft.com/office/powerpoint/2010/main" val="262519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9900" y="622300"/>
            <a:ext cx="10985500" cy="5829300"/>
          </a:xfrm>
          <a:prstGeom prst="rect">
            <a:avLst/>
          </a:prstGeom>
        </p:spPr>
      </p:pic>
    </p:spTree>
    <p:extLst>
      <p:ext uri="{BB962C8B-B14F-4D97-AF65-F5344CB8AC3E}">
        <p14:creationId xmlns:p14="http://schemas.microsoft.com/office/powerpoint/2010/main" val="2938500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39800" y="1092200"/>
            <a:ext cx="10604500" cy="4190999"/>
          </a:xfrm>
          <a:prstGeom prst="rect">
            <a:avLst/>
          </a:prstGeom>
        </p:spPr>
      </p:pic>
    </p:spTree>
    <p:extLst>
      <p:ext uri="{BB962C8B-B14F-4D97-AF65-F5344CB8AC3E}">
        <p14:creationId xmlns:p14="http://schemas.microsoft.com/office/powerpoint/2010/main" val="177194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0400" y="165100"/>
            <a:ext cx="11188700" cy="5968999"/>
          </a:xfrm>
          <a:prstGeom prst="rect">
            <a:avLst/>
          </a:prstGeom>
        </p:spPr>
      </p:pic>
    </p:spTree>
    <p:extLst>
      <p:ext uri="{BB962C8B-B14F-4D97-AF65-F5344CB8AC3E}">
        <p14:creationId xmlns:p14="http://schemas.microsoft.com/office/powerpoint/2010/main" val="677742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900" y="508000"/>
            <a:ext cx="10883900" cy="5943600"/>
          </a:xfrm>
          <a:prstGeom prst="rect">
            <a:avLst/>
          </a:prstGeom>
        </p:spPr>
      </p:pic>
    </p:spTree>
    <p:extLst>
      <p:ext uri="{BB962C8B-B14F-4D97-AF65-F5344CB8AC3E}">
        <p14:creationId xmlns:p14="http://schemas.microsoft.com/office/powerpoint/2010/main" val="3108799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5600" y="469900"/>
            <a:ext cx="11557000" cy="5918200"/>
          </a:xfrm>
          <a:prstGeom prst="rect">
            <a:avLst/>
          </a:prstGeom>
        </p:spPr>
      </p:pic>
    </p:spTree>
    <p:extLst>
      <p:ext uri="{BB962C8B-B14F-4D97-AF65-F5344CB8AC3E}">
        <p14:creationId xmlns:p14="http://schemas.microsoft.com/office/powerpoint/2010/main" val="1882185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44500" y="355600"/>
            <a:ext cx="11341100" cy="4470400"/>
          </a:xfrm>
          <a:prstGeom prst="rect">
            <a:avLst/>
          </a:prstGeom>
        </p:spPr>
      </p:pic>
      <p:sp>
        <p:nvSpPr>
          <p:cNvPr id="3" name="Rectangle 2"/>
          <p:cNvSpPr/>
          <p:nvPr/>
        </p:nvSpPr>
        <p:spPr>
          <a:xfrm>
            <a:off x="444500" y="4965700"/>
            <a:ext cx="11188700" cy="1477328"/>
          </a:xfrm>
          <a:prstGeom prst="rect">
            <a:avLst/>
          </a:prstGeom>
        </p:spPr>
        <p:txBody>
          <a:bodyPr wrap="square">
            <a:spAutoFit/>
          </a:bodyPr>
          <a:lstStyle/>
          <a:p>
            <a:pPr algn="just"/>
            <a:r>
              <a:rPr lang="en-US" b="0" i="0" dirty="0" smtClean="0">
                <a:solidFill>
                  <a:srgbClr val="000000"/>
                </a:solidFill>
                <a:effectLst/>
                <a:latin typeface="Nunito"/>
              </a:rPr>
              <a:t>Converting into kilo bytes = 1048576 / 1024 = 1024kb.</a:t>
            </a:r>
          </a:p>
          <a:p>
            <a:pPr algn="just"/>
            <a:r>
              <a:rPr lang="en-US" b="0" i="0" dirty="0" smtClean="0">
                <a:solidFill>
                  <a:srgbClr val="000000"/>
                </a:solidFill>
                <a:effectLst/>
                <a:latin typeface="Nunito"/>
              </a:rPr>
              <a:t>Converting into Mega bytes = 1024 / 1024 = 1 Mb.</a:t>
            </a:r>
          </a:p>
          <a:p>
            <a:pPr algn="just"/>
            <a:r>
              <a:rPr lang="en-US" b="0" i="0" dirty="0" smtClean="0">
                <a:solidFill>
                  <a:srgbClr val="000000"/>
                </a:solidFill>
                <a:effectLst/>
                <a:latin typeface="Nunito"/>
              </a:rPr>
              <a:t>That is how an image size is calculated and it is stored. Now in the formula, if you are given the size of image and the bits per pixel, you can also calculate the rows and columns of the image, provided the image is square(same rows and same column).</a:t>
            </a:r>
            <a:endParaRPr lang="en-US" b="0" i="0" dirty="0">
              <a:solidFill>
                <a:srgbClr val="000000"/>
              </a:solidFill>
              <a:effectLst/>
              <a:latin typeface="Nunito"/>
            </a:endParaRPr>
          </a:p>
        </p:txBody>
      </p:sp>
    </p:spTree>
    <p:extLst>
      <p:ext uri="{BB962C8B-B14F-4D97-AF65-F5344CB8AC3E}">
        <p14:creationId xmlns:p14="http://schemas.microsoft.com/office/powerpoint/2010/main" val="1417932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68122" y="564634"/>
            <a:ext cx="2572756" cy="461665"/>
          </a:xfrm>
          <a:prstGeom prst="rect">
            <a:avLst/>
          </a:prstGeom>
        </p:spPr>
        <p:txBody>
          <a:bodyPr wrap="none">
            <a:spAutoFit/>
          </a:bodyPr>
          <a:lstStyle/>
          <a:p>
            <a:pPr algn="ctr"/>
            <a:r>
              <a:rPr lang="en-US" sz="2400" b="1" i="0" dirty="0" smtClean="0">
                <a:solidFill>
                  <a:srgbClr val="303030"/>
                </a:solidFill>
                <a:effectLst/>
                <a:latin typeface="Heebo"/>
              </a:rPr>
              <a:t>Types of Images</a:t>
            </a:r>
            <a:endParaRPr lang="en-US" sz="2400" b="1" i="0" dirty="0">
              <a:solidFill>
                <a:srgbClr val="303030"/>
              </a:solidFill>
              <a:effectLst/>
              <a:latin typeface="Heebo"/>
            </a:endParaRPr>
          </a:p>
        </p:txBody>
      </p:sp>
      <p:pic>
        <p:nvPicPr>
          <p:cNvPr id="3" name="Picture 2"/>
          <p:cNvPicPr>
            <a:picLocks noChangeAspect="1"/>
          </p:cNvPicPr>
          <p:nvPr/>
        </p:nvPicPr>
        <p:blipFill>
          <a:blip r:embed="rId2"/>
          <a:stretch>
            <a:fillRect/>
          </a:stretch>
        </p:blipFill>
        <p:spPr>
          <a:xfrm>
            <a:off x="495300" y="1509712"/>
            <a:ext cx="11429999" cy="5043488"/>
          </a:xfrm>
          <a:prstGeom prst="rect">
            <a:avLst/>
          </a:prstGeom>
        </p:spPr>
      </p:pic>
    </p:spTree>
    <p:extLst>
      <p:ext uri="{BB962C8B-B14F-4D97-AF65-F5344CB8AC3E}">
        <p14:creationId xmlns:p14="http://schemas.microsoft.com/office/powerpoint/2010/main" val="505437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900" y="190500"/>
            <a:ext cx="11582400" cy="6438899"/>
          </a:xfrm>
          <a:prstGeom prst="rect">
            <a:avLst/>
          </a:prstGeom>
        </p:spPr>
      </p:pic>
    </p:spTree>
    <p:extLst>
      <p:ext uri="{BB962C8B-B14F-4D97-AF65-F5344CB8AC3E}">
        <p14:creationId xmlns:p14="http://schemas.microsoft.com/office/powerpoint/2010/main" val="3349978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5100" y="368300"/>
            <a:ext cx="11150600" cy="6248399"/>
          </a:xfrm>
          <a:prstGeom prst="rect">
            <a:avLst/>
          </a:prstGeom>
        </p:spPr>
      </p:pic>
    </p:spTree>
    <p:extLst>
      <p:ext uri="{BB962C8B-B14F-4D97-AF65-F5344CB8AC3E}">
        <p14:creationId xmlns:p14="http://schemas.microsoft.com/office/powerpoint/2010/main" val="2734592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4800" y="279400"/>
            <a:ext cx="11404599" cy="6426200"/>
          </a:xfrm>
          <a:prstGeom prst="rect">
            <a:avLst/>
          </a:prstGeom>
        </p:spPr>
      </p:pic>
    </p:spTree>
    <p:extLst>
      <p:ext uri="{BB962C8B-B14F-4D97-AF65-F5344CB8AC3E}">
        <p14:creationId xmlns:p14="http://schemas.microsoft.com/office/powerpoint/2010/main" val="1713022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49300" y="723900"/>
            <a:ext cx="10922000" cy="5600700"/>
          </a:xfrm>
          <a:prstGeom prst="rect">
            <a:avLst/>
          </a:prstGeom>
        </p:spPr>
      </p:pic>
    </p:spTree>
    <p:extLst>
      <p:ext uri="{BB962C8B-B14F-4D97-AF65-F5344CB8AC3E}">
        <p14:creationId xmlns:p14="http://schemas.microsoft.com/office/powerpoint/2010/main" val="790484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20700" y="406400"/>
            <a:ext cx="10706100" cy="6197600"/>
          </a:xfrm>
          <a:prstGeom prst="rect">
            <a:avLst/>
          </a:prstGeom>
        </p:spPr>
      </p:pic>
    </p:spTree>
    <p:extLst>
      <p:ext uri="{BB962C8B-B14F-4D97-AF65-F5344CB8AC3E}">
        <p14:creationId xmlns:p14="http://schemas.microsoft.com/office/powerpoint/2010/main" val="789634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600" y="457201"/>
            <a:ext cx="11290299" cy="5905500"/>
          </a:xfrm>
          <a:prstGeom prst="rect">
            <a:avLst/>
          </a:prstGeom>
        </p:spPr>
      </p:pic>
    </p:spTree>
    <p:extLst>
      <p:ext uri="{BB962C8B-B14F-4D97-AF65-F5344CB8AC3E}">
        <p14:creationId xmlns:p14="http://schemas.microsoft.com/office/powerpoint/2010/main" val="1270330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5100" y="0"/>
            <a:ext cx="11595100" cy="6654800"/>
          </a:xfrm>
          <a:prstGeom prst="rect">
            <a:avLst/>
          </a:prstGeom>
        </p:spPr>
      </p:pic>
    </p:spTree>
    <p:extLst>
      <p:ext uri="{BB962C8B-B14F-4D97-AF65-F5344CB8AC3E}">
        <p14:creationId xmlns:p14="http://schemas.microsoft.com/office/powerpoint/2010/main" val="2630832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9400" y="863600"/>
            <a:ext cx="11188700" cy="5295899"/>
          </a:xfrm>
          <a:prstGeom prst="rect">
            <a:avLst/>
          </a:prstGeom>
        </p:spPr>
      </p:pic>
    </p:spTree>
    <p:extLst>
      <p:ext uri="{BB962C8B-B14F-4D97-AF65-F5344CB8AC3E}">
        <p14:creationId xmlns:p14="http://schemas.microsoft.com/office/powerpoint/2010/main" val="1585907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188" y="424934"/>
            <a:ext cx="3791424" cy="461665"/>
          </a:xfrm>
          <a:prstGeom prst="rect">
            <a:avLst/>
          </a:prstGeom>
        </p:spPr>
        <p:txBody>
          <a:bodyPr wrap="none">
            <a:spAutoFit/>
          </a:bodyPr>
          <a:lstStyle/>
          <a:p>
            <a:pPr algn="ctr"/>
            <a:r>
              <a:rPr lang="en-US" sz="2400" b="1" i="0" dirty="0" smtClean="0">
                <a:solidFill>
                  <a:srgbClr val="303030"/>
                </a:solidFill>
                <a:effectLst/>
                <a:latin typeface="Heebo"/>
              </a:rPr>
              <a:t>Color Codes Conversion</a:t>
            </a:r>
            <a:endParaRPr lang="en-US" sz="2400" b="1" i="0" dirty="0">
              <a:solidFill>
                <a:srgbClr val="303030"/>
              </a:solidFill>
              <a:effectLst/>
              <a:latin typeface="Heebo"/>
            </a:endParaRPr>
          </a:p>
        </p:txBody>
      </p:sp>
      <p:pic>
        <p:nvPicPr>
          <p:cNvPr id="3" name="Picture 2"/>
          <p:cNvPicPr>
            <a:picLocks noChangeAspect="1"/>
          </p:cNvPicPr>
          <p:nvPr/>
        </p:nvPicPr>
        <p:blipFill>
          <a:blip r:embed="rId2"/>
          <a:stretch>
            <a:fillRect/>
          </a:stretch>
        </p:blipFill>
        <p:spPr>
          <a:xfrm>
            <a:off x="381000" y="1262062"/>
            <a:ext cx="11430000" cy="5075238"/>
          </a:xfrm>
          <a:prstGeom prst="rect">
            <a:avLst/>
          </a:prstGeom>
        </p:spPr>
      </p:pic>
    </p:spTree>
    <p:extLst>
      <p:ext uri="{BB962C8B-B14F-4D97-AF65-F5344CB8AC3E}">
        <p14:creationId xmlns:p14="http://schemas.microsoft.com/office/powerpoint/2010/main" val="951899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4828</TotalTime>
  <Words>544</Words>
  <Application>Microsoft Office PowerPoint</Application>
  <PresentationFormat>Widescreen</PresentationFormat>
  <Paragraphs>56</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Calibri Light</vt:lpstr>
      <vt:lpstr>Franklin Gothic Heavy</vt:lpstr>
      <vt:lpstr>Franklin Gothic Medium</vt:lpstr>
      <vt:lpstr>Heebo</vt:lpstr>
      <vt:lpstr>Nunito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10</cp:revision>
  <dcterms:created xsi:type="dcterms:W3CDTF">2023-04-23T20:15:55Z</dcterms:created>
  <dcterms:modified xsi:type="dcterms:W3CDTF">2023-04-27T04:44:26Z</dcterms:modified>
</cp:coreProperties>
</file>