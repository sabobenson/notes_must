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7" r:id="rId2"/>
  </p:sldMasterIdLst>
  <p:notesMasterIdLst>
    <p:notesMasterId r:id="rId91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43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438" r:id="rId50"/>
    <p:sldId id="439" r:id="rId51"/>
    <p:sldId id="440" r:id="rId52"/>
    <p:sldId id="442" r:id="rId53"/>
    <p:sldId id="441" r:id="rId54"/>
    <p:sldId id="443" r:id="rId55"/>
    <p:sldId id="444" r:id="rId56"/>
    <p:sldId id="445" r:id="rId57"/>
    <p:sldId id="446" r:id="rId58"/>
    <p:sldId id="447" r:id="rId59"/>
    <p:sldId id="451" r:id="rId60"/>
    <p:sldId id="450" r:id="rId61"/>
    <p:sldId id="448" r:id="rId62"/>
    <p:sldId id="452" r:id="rId63"/>
    <p:sldId id="449" r:id="rId64"/>
    <p:sldId id="454" r:id="rId65"/>
    <p:sldId id="455" r:id="rId66"/>
    <p:sldId id="453" r:id="rId67"/>
    <p:sldId id="456" r:id="rId68"/>
    <p:sldId id="458" r:id="rId69"/>
    <p:sldId id="460" r:id="rId70"/>
    <p:sldId id="459" r:id="rId71"/>
    <p:sldId id="462" r:id="rId72"/>
    <p:sldId id="463" r:id="rId73"/>
    <p:sldId id="464" r:id="rId74"/>
    <p:sldId id="465" r:id="rId75"/>
    <p:sldId id="461" r:id="rId76"/>
    <p:sldId id="467" r:id="rId77"/>
    <p:sldId id="469" r:id="rId78"/>
    <p:sldId id="466" r:id="rId79"/>
    <p:sldId id="470" r:id="rId80"/>
    <p:sldId id="471" r:id="rId81"/>
    <p:sldId id="472" r:id="rId82"/>
    <p:sldId id="473" r:id="rId83"/>
    <p:sldId id="457" r:id="rId84"/>
    <p:sldId id="475" r:id="rId85"/>
    <p:sldId id="476" r:id="rId86"/>
    <p:sldId id="474" r:id="rId87"/>
    <p:sldId id="477" r:id="rId88"/>
    <p:sldId id="360" r:id="rId89"/>
    <p:sldId id="276" r:id="rId90"/>
  </p:sldIdLst>
  <p:sldSz cx="10080625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35"/>
    <a:srgbClr val="2C3E50"/>
    <a:srgbClr val="0404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417" autoAdjust="0"/>
  </p:normalViewPr>
  <p:slideViewPr>
    <p:cSldViewPr snapToGrid="0">
      <p:cViewPr varScale="1">
        <p:scale>
          <a:sx n="66" d="100"/>
          <a:sy n="66" d="100"/>
        </p:scale>
        <p:origin x="1451" y="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tableStyles" Target="tableStyle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21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216" name="PlaceHolder 4"/>
          <p:cNvSpPr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217" name="PlaceHolder 5"/>
          <p:cNvSpPr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18" name="PlaceHolder 6"/>
          <p:cNvSpPr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BDCBDC6-F7A9-462D-815D-97517B12C12A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1"/>
          <p:cNvSpPr/>
          <p:nvPr/>
        </p:nvSpPr>
        <p:spPr>
          <a:xfrm>
            <a:off x="4278960" y="10157400"/>
            <a:ext cx="327960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7AB9FE3F-D68D-4D34-B48A-B3E69993D87F}" type="slidenum">
              <a:rPr lang="en-US" sz="1400" b="1" strike="noStrike" spc="-1">
                <a:solidFill>
                  <a:srgbClr val="FFFFFF"/>
                </a:solidFill>
                <a:latin typeface="Noto Sans Black"/>
                <a:ea typeface="DejaVu Sans"/>
              </a:rPr>
              <a:t>1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560" cy="481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CustomShape 1"/>
          <p:cNvSpPr/>
          <p:nvPr/>
        </p:nvSpPr>
        <p:spPr>
          <a:xfrm>
            <a:off x="4278960" y="10157400"/>
            <a:ext cx="327960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37F6CAA2-2CF7-432D-98DC-05CAB340EB7D}" type="slidenum">
              <a:rPr lang="en-US" sz="1400" b="1" strike="noStrike" spc="-1">
                <a:solidFill>
                  <a:srgbClr val="FFFFFF"/>
                </a:solidFill>
                <a:latin typeface="Noto Sans Black"/>
                <a:ea typeface="DejaVu Sans"/>
              </a:rPr>
              <a:t>87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560" cy="480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7420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CustomShape 1"/>
          <p:cNvSpPr/>
          <p:nvPr/>
        </p:nvSpPr>
        <p:spPr>
          <a:xfrm>
            <a:off x="4278960" y="10157400"/>
            <a:ext cx="327960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1E5CC62F-B6DE-404F-9E12-83B6E3C80081}" type="slidenum">
              <a:rPr lang="en-US" sz="1400" b="1" strike="noStrike" spc="-1">
                <a:solidFill>
                  <a:srgbClr val="FFFFFF"/>
                </a:solidFill>
                <a:latin typeface="Noto Sans Black"/>
                <a:ea typeface="DejaVu Sans"/>
              </a:rPr>
              <a:t>88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560" cy="481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68" b="1" i="0">
                <a:solidFill>
                  <a:schemeClr val="hlink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66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10048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10306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/>
          <p:cNvSpPr/>
          <p:nvPr/>
        </p:nvSpPr>
        <p:spPr>
          <a:xfrm>
            <a:off x="0" y="7200000"/>
            <a:ext cx="10078920" cy="358920"/>
          </a:xfrm>
          <a:custGeom>
            <a:avLst/>
            <a:gdLst>
              <a:gd name="textAreaLeft" fmla="*/ 0 w 10078920"/>
              <a:gd name="textAreaRight" fmla="*/ 10079280 w 10078920"/>
              <a:gd name="textAreaTop" fmla="*/ 0 h 358920"/>
              <a:gd name="textAreaBottom" fmla="*/ 359280 h 358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C3E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CustomShape 2"/>
          <p:cNvSpPr/>
          <p:nvPr/>
        </p:nvSpPr>
        <p:spPr>
          <a:xfrm>
            <a:off x="0" y="0"/>
            <a:ext cx="10078920" cy="1618920"/>
          </a:xfrm>
          <a:custGeom>
            <a:avLst/>
            <a:gdLst>
              <a:gd name="textAreaLeft" fmla="*/ 0 w 10078920"/>
              <a:gd name="textAreaRight" fmla="*/ 10079280 w 10078920"/>
              <a:gd name="textAreaTop" fmla="*/ 0 h 1618920"/>
              <a:gd name="textAreaBottom" fmla="*/ 1619280 h 1618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C3E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CustomShape 3"/>
          <p:cNvSpPr/>
          <p:nvPr/>
        </p:nvSpPr>
        <p:spPr>
          <a:xfrm>
            <a:off x="9270000" y="6894000"/>
            <a:ext cx="538920" cy="538920"/>
          </a:xfrm>
          <a:custGeom>
            <a:avLst/>
            <a:gdLst>
              <a:gd name="textAreaLeft" fmla="*/ 0 w 538920"/>
              <a:gd name="textAreaRight" fmla="*/ 539280 w 538920"/>
              <a:gd name="textAreaTop" fmla="*/ 0 h 538920"/>
              <a:gd name="textAreaBottom" fmla="*/ 539280 h 538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</a:path>
            </a:pathLst>
          </a:custGeom>
          <a:solidFill>
            <a:srgbClr val="1ABC9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714" r:id="rId13"/>
    <p:sldLayoutId id="214748371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2520000" y="2520000"/>
            <a:ext cx="5038920" cy="2518920"/>
          </a:xfrm>
          <a:custGeom>
            <a:avLst/>
            <a:gdLst>
              <a:gd name="textAreaLeft" fmla="*/ 0 w 5038920"/>
              <a:gd name="textAreaRight" fmla="*/ 5039280 w 5038920"/>
              <a:gd name="textAreaTop" fmla="*/ 0 h 2518920"/>
              <a:gd name="textAreaBottom" fmla="*/ 2519280 h 2518920"/>
            </a:gdLst>
            <a:ahLst/>
            <a:cxnLst/>
            <a:rect l="textAreaLeft" t="textAreaTop" r="textAreaRight" b="textAreaBottom"/>
            <a:pathLst>
              <a:path w="14001" h="11494">
                <a:moveTo>
                  <a:pt x="0" y="0"/>
                </a:moveTo>
                <a:lnTo>
                  <a:pt x="0" y="1163"/>
                </a:lnTo>
                <a:lnTo>
                  <a:pt x="0" y="2035"/>
                </a:lnTo>
                <a:lnTo>
                  <a:pt x="0" y="2906"/>
                </a:lnTo>
                <a:lnTo>
                  <a:pt x="0" y="4093"/>
                </a:lnTo>
                <a:lnTo>
                  <a:pt x="0" y="4964"/>
                </a:lnTo>
                <a:lnTo>
                  <a:pt x="0" y="5836"/>
                </a:lnTo>
                <a:lnTo>
                  <a:pt x="0" y="7000"/>
                </a:lnTo>
                <a:lnTo>
                  <a:pt x="2326" y="7000"/>
                </a:lnTo>
                <a:lnTo>
                  <a:pt x="1016" y="11493"/>
                </a:lnTo>
                <a:lnTo>
                  <a:pt x="5813" y="7000"/>
                </a:lnTo>
                <a:lnTo>
                  <a:pt x="8186" y="7000"/>
                </a:lnTo>
                <a:lnTo>
                  <a:pt x="9929" y="7000"/>
                </a:lnTo>
                <a:lnTo>
                  <a:pt x="11673" y="7000"/>
                </a:lnTo>
                <a:lnTo>
                  <a:pt x="14000" y="7000"/>
                </a:lnTo>
                <a:lnTo>
                  <a:pt x="14000" y="5836"/>
                </a:lnTo>
                <a:lnTo>
                  <a:pt x="14000" y="4964"/>
                </a:lnTo>
                <a:lnTo>
                  <a:pt x="14000" y="4093"/>
                </a:lnTo>
                <a:lnTo>
                  <a:pt x="14000" y="2906"/>
                </a:lnTo>
                <a:lnTo>
                  <a:pt x="14000" y="2035"/>
                </a:lnTo>
                <a:lnTo>
                  <a:pt x="14000" y="1163"/>
                </a:lnTo>
                <a:lnTo>
                  <a:pt x="14000" y="0"/>
                </a:lnTo>
                <a:lnTo>
                  <a:pt x="11673" y="0"/>
                </a:lnTo>
                <a:lnTo>
                  <a:pt x="9929" y="0"/>
                </a:lnTo>
                <a:lnTo>
                  <a:pt x="8186" y="0"/>
                </a:lnTo>
                <a:lnTo>
                  <a:pt x="5813" y="0"/>
                </a:lnTo>
                <a:lnTo>
                  <a:pt x="4070" y="0"/>
                </a:lnTo>
                <a:lnTo>
                  <a:pt x="2326" y="0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CustomShape 1"/>
          <p:cNvSpPr/>
          <p:nvPr/>
        </p:nvSpPr>
        <p:spPr>
          <a:xfrm>
            <a:off x="180360" y="1030320"/>
            <a:ext cx="9358920" cy="12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spc="-1" dirty="0">
                <a:solidFill>
                  <a:srgbClr val="FFFFFF"/>
                </a:solidFill>
                <a:latin typeface="Times New Roman"/>
              </a:rPr>
              <a:t>NETWORKING AND ROUTING PROTOCAL</a:t>
            </a:r>
            <a:br>
              <a:rPr sz="2400" dirty="0"/>
            </a:br>
            <a:r>
              <a:rPr lang="en-US" sz="4400" b="1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ET </a:t>
            </a:r>
            <a:r>
              <a:rPr lang="en-US" sz="4400" b="1" spc="-1" dirty="0">
                <a:solidFill>
                  <a:srgbClr val="FFFFFF"/>
                </a:solidFill>
                <a:latin typeface="Times New Roman"/>
                <a:ea typeface="DejaVu Sans"/>
              </a:rPr>
              <a:t>8315</a:t>
            </a:r>
            <a:endParaRPr lang="en-US" sz="44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CustomShape 2"/>
          <p:cNvSpPr/>
          <p:nvPr/>
        </p:nvSpPr>
        <p:spPr>
          <a:xfrm>
            <a:off x="303120" y="2561040"/>
            <a:ext cx="9358920" cy="43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1414"/>
              </a:spcAft>
              <a:tabLst>
                <a:tab pos="0" algn="l"/>
              </a:tabLst>
            </a:pPr>
            <a:fld id="{70F56DB3-9114-4E7E-90CD-7AC6DE244EB8}" type="datetime2">
              <a:rPr lang="en-US" sz="3600" b="1" strike="noStrike" spc="-1" smtClean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Thursday, May 23, 2024</a:t>
            </a:fld>
            <a:endParaRPr lang="en-US" sz="3600" b="1" strike="noStrike" spc="-1" dirty="0">
              <a:solidFill>
                <a:srgbClr val="FFFFFF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Aft>
                <a:spcPts val="1414"/>
              </a:spcAft>
              <a:tabLst>
                <a:tab pos="0" algn="l"/>
              </a:tabLst>
            </a:pPr>
            <a:r>
              <a:rPr lang="en-US" sz="3600" b="1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Mr. Cuthbert John Karawa</a:t>
            </a:r>
            <a:endParaRPr lang="en-US" sz="3600" b="0" strike="noStrike" spc="-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Aft>
                <a:spcPts val="1414"/>
              </a:spcAft>
              <a:tabLst>
                <a:tab pos="0" algn="l"/>
              </a:tabLst>
            </a:pPr>
            <a:r>
              <a:rPr lang="en-US" sz="3600" b="1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Lecture 5</a:t>
            </a:r>
            <a:endParaRPr lang="en-US" sz="3600" b="0" strike="noStrike" spc="-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Aft>
                <a:spcPts val="1414"/>
              </a:spcAft>
              <a:tabLst>
                <a:tab pos="0" algn="l"/>
              </a:tabLst>
            </a:pPr>
            <a:r>
              <a:rPr lang="en-US" sz="3600" b="1" spc="-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 LOOPS</a:t>
            </a:r>
          </a:p>
          <a:p>
            <a:pPr algn="ctr">
              <a:lnSpc>
                <a:spcPct val="100000"/>
              </a:lnSpc>
              <a:spcAft>
                <a:spcPts val="1414"/>
              </a:spcAft>
              <a:tabLst>
                <a:tab pos="0" algn="l"/>
              </a:tabLst>
            </a:pPr>
            <a:r>
              <a:rPr lang="en-US" sz="2800" b="1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College of Information and Communication Technology (</a:t>
            </a:r>
            <a:r>
              <a:rPr lang="en-US" sz="2800" b="1" strike="noStrike" spc="-1" dirty="0" err="1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CoICT</a:t>
            </a:r>
            <a:r>
              <a:rPr lang="en-US" sz="2800" b="1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)</a:t>
            </a:r>
            <a:endParaRPr lang="en-US" sz="2800" b="0" strike="noStrike" spc="-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Aft>
                <a:spcPts val="1414"/>
              </a:spcAft>
              <a:tabLst>
                <a:tab pos="0" algn="l"/>
              </a:tabLst>
            </a:pPr>
            <a:r>
              <a:rPr lang="en-US" sz="2400" b="1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Department Of Electronics And Telecommunications Engineering</a:t>
            </a:r>
            <a:r>
              <a:rPr lang="en-US" sz="2000" b="1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.</a:t>
            </a:r>
            <a:endParaRPr lang="en-US" sz="2000" b="0" strike="noStrike" spc="-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" name="CustomShape 3"/>
          <p:cNvSpPr/>
          <p:nvPr/>
        </p:nvSpPr>
        <p:spPr>
          <a:xfrm>
            <a:off x="9180000" y="6804000"/>
            <a:ext cx="718920" cy="71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34D252D4-B34F-42D1-92F6-B16352A7DD31}" type="slidenum">
              <a:rPr lang="en-US" sz="1800" b="1" strike="noStrike" spc="-1">
                <a:solidFill>
                  <a:srgbClr val="FFFFFF"/>
                </a:solidFill>
                <a:latin typeface="Noto Sans Black"/>
                <a:ea typeface="DejaVu Sans"/>
              </a:rPr>
              <a:t>1</a:t>
            </a:fld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p15="http://schemas.microsoft.com/office/powerpoint/2012/main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297" y="568614"/>
            <a:ext cx="8203647" cy="691948"/>
          </a:xfrm>
          <a:prstGeom prst="rect">
            <a:avLst/>
          </a:prstGeom>
        </p:spPr>
        <p:txBody>
          <a:bodyPr vert="horz" wrap="square" lIns="0" tIns="13299" rIns="0" bIns="0" rtlCol="0" anchor="ctr">
            <a:spAutoFit/>
          </a:bodyPr>
          <a:lstStyle/>
          <a:p>
            <a:pPr marL="13999">
              <a:lnSpc>
                <a:spcPct val="100000"/>
              </a:lnSpc>
              <a:spcBef>
                <a:spcPts val="105"/>
              </a:spcBef>
            </a:pPr>
            <a:r>
              <a:rPr sz="4409" dirty="0">
                <a:solidFill>
                  <a:schemeClr val="bg1"/>
                </a:solidFill>
              </a:rPr>
              <a:t>Distance</a:t>
            </a:r>
            <a:r>
              <a:rPr sz="4409" spc="-209" dirty="0">
                <a:solidFill>
                  <a:schemeClr val="bg1"/>
                </a:solidFill>
              </a:rPr>
              <a:t> </a:t>
            </a:r>
            <a:r>
              <a:rPr sz="4409" spc="-77" dirty="0">
                <a:solidFill>
                  <a:schemeClr val="bg1"/>
                </a:solidFill>
              </a:rPr>
              <a:t>Vector</a:t>
            </a:r>
            <a:r>
              <a:rPr sz="4409" spc="-193" dirty="0">
                <a:solidFill>
                  <a:schemeClr val="bg1"/>
                </a:solidFill>
              </a:rPr>
              <a:t> </a:t>
            </a:r>
            <a:r>
              <a:rPr sz="4409" dirty="0">
                <a:solidFill>
                  <a:schemeClr val="bg1"/>
                </a:solidFill>
              </a:rPr>
              <a:t>Routing</a:t>
            </a:r>
            <a:r>
              <a:rPr sz="4409" spc="-121" dirty="0">
                <a:solidFill>
                  <a:schemeClr val="bg1"/>
                </a:solidFill>
              </a:rPr>
              <a:t> </a:t>
            </a:r>
            <a:r>
              <a:rPr sz="4409" spc="-11" dirty="0">
                <a:solidFill>
                  <a:schemeClr val="bg1"/>
                </a:solidFill>
              </a:rPr>
              <a:t>Protocols</a:t>
            </a:r>
            <a:endParaRPr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0456" y="1619169"/>
            <a:ext cx="9697791" cy="4209449"/>
          </a:xfrm>
          <a:prstGeom prst="rect">
            <a:avLst/>
          </a:prstGeom>
        </p:spPr>
        <p:txBody>
          <a:bodyPr vert="horz" wrap="square" lIns="0" tIns="13299" rIns="0" bIns="0" rtlCol="0">
            <a:spAutoFit/>
          </a:bodyPr>
          <a:lstStyle/>
          <a:p>
            <a:pPr marL="470499" marR="306583" indent="-457200">
              <a:spcBef>
                <a:spcPts val="105"/>
              </a:spcBef>
              <a:buClr>
                <a:srgbClr val="D24717"/>
              </a:buClr>
              <a:buSzPct val="83928"/>
              <a:buFont typeface="Wingdings" panose="05000000000000000000" pitchFamily="2" charset="2"/>
              <a:buChar char="Ø"/>
              <a:tabLst>
                <a:tab pos="316382" algn="l"/>
              </a:tabLst>
            </a:pPr>
            <a:r>
              <a:rPr sz="3200" dirty="0">
                <a:latin typeface="Times New Roman"/>
                <a:cs typeface="Times New Roman"/>
              </a:rPr>
              <a:t>One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way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characterize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protocols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by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spc="-28" dirty="0">
                <a:latin typeface="Times New Roman"/>
                <a:cs typeface="Times New Roman"/>
              </a:rPr>
              <a:t>the</a:t>
            </a:r>
            <a:r>
              <a:rPr lang="en-US"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type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algorithm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they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build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spc="-28" dirty="0">
                <a:latin typeface="Times New Roman"/>
                <a:cs typeface="Times New Roman"/>
              </a:rPr>
              <a:t>and</a:t>
            </a:r>
            <a:r>
              <a:rPr lang="en-US"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maintain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their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table.</a:t>
            </a:r>
            <a:endParaRPr sz="3200" dirty="0">
              <a:latin typeface="Times New Roman"/>
              <a:cs typeface="Times New Roman"/>
            </a:endParaRPr>
          </a:p>
          <a:p>
            <a:pPr marL="470499" marR="5600" indent="-457200">
              <a:spcBef>
                <a:spcPts val="667"/>
              </a:spcBef>
              <a:buClr>
                <a:srgbClr val="D24717"/>
              </a:buClr>
              <a:buSzPct val="83928"/>
              <a:buFont typeface="Wingdings" panose="05000000000000000000" pitchFamily="2" charset="2"/>
              <a:buChar char="Ø"/>
              <a:tabLst>
                <a:tab pos="316382" algn="l"/>
              </a:tabLst>
            </a:pPr>
            <a:r>
              <a:rPr sz="3200" dirty="0">
                <a:latin typeface="Times New Roman"/>
                <a:cs typeface="Times New Roman"/>
              </a:rPr>
              <a:t>By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doing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this,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protocols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differentiated 	</a:t>
            </a:r>
            <a:r>
              <a:rPr sz="3200" dirty="0">
                <a:latin typeface="Times New Roman"/>
                <a:cs typeface="Times New Roman"/>
              </a:rPr>
              <a:t>as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imes New Roman"/>
                <a:cs typeface="Times New Roman"/>
              </a:rPr>
              <a:t>a</a:t>
            </a:r>
            <a:endParaRPr sz="3200" dirty="0">
              <a:latin typeface="Times New Roman"/>
              <a:cs typeface="Times New Roman"/>
            </a:endParaRPr>
          </a:p>
          <a:p>
            <a:pPr marL="1542965" lvl="3" indent="-261785">
              <a:spcBef>
                <a:spcPts val="451"/>
              </a:spcBef>
              <a:buClr>
                <a:srgbClr val="9B2C1F"/>
              </a:buClr>
              <a:buSzPct val="80357"/>
              <a:buFont typeface="Wingdings"/>
              <a:buChar char=""/>
              <a:tabLst>
                <a:tab pos="628565" algn="l"/>
              </a:tabLst>
            </a:pPr>
            <a:r>
              <a:rPr sz="3200" dirty="0">
                <a:latin typeface="Times New Roman"/>
                <a:cs typeface="Times New Roman"/>
              </a:rPr>
              <a:t>Distance</a:t>
            </a:r>
            <a:r>
              <a:rPr sz="3200" spc="-8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vector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83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protocol</a:t>
            </a:r>
            <a:endParaRPr sz="3200" dirty="0">
              <a:latin typeface="Times New Roman"/>
              <a:cs typeface="Times New Roman"/>
            </a:endParaRPr>
          </a:p>
          <a:p>
            <a:pPr marL="1542265" lvl="3" indent="-261084">
              <a:spcBef>
                <a:spcPts val="435"/>
              </a:spcBef>
              <a:buClr>
                <a:srgbClr val="9B2C1F"/>
              </a:buClr>
              <a:buSzPct val="80357"/>
              <a:buFont typeface="Wingdings"/>
              <a:buChar char=""/>
              <a:tabLst>
                <a:tab pos="627865" algn="l"/>
              </a:tabLst>
            </a:pPr>
            <a:r>
              <a:rPr sz="3200" spc="-22" dirty="0">
                <a:latin typeface="Times New Roman"/>
                <a:cs typeface="Times New Roman"/>
              </a:rPr>
              <a:t>Link-</a:t>
            </a:r>
            <a:r>
              <a:rPr sz="3200" dirty="0">
                <a:latin typeface="Times New Roman"/>
                <a:cs typeface="Times New Roman"/>
              </a:rPr>
              <a:t>state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protocol</a:t>
            </a:r>
            <a:endParaRPr sz="3200" dirty="0">
              <a:latin typeface="Times New Roman"/>
              <a:cs typeface="Times New Roman"/>
            </a:endParaRPr>
          </a:p>
          <a:p>
            <a:pPr marL="1542965" lvl="3" indent="-261785">
              <a:spcBef>
                <a:spcPts val="435"/>
              </a:spcBef>
              <a:buClr>
                <a:srgbClr val="9B2C1F"/>
              </a:buClr>
              <a:buSzPct val="80357"/>
              <a:buFont typeface="Wingdings"/>
              <a:buChar char=""/>
              <a:tabLst>
                <a:tab pos="628565" algn="l"/>
              </a:tabLst>
            </a:pPr>
            <a:r>
              <a:rPr sz="3200" dirty="0">
                <a:latin typeface="Times New Roman"/>
                <a:cs typeface="Times New Roman"/>
              </a:rPr>
              <a:t>Path</a:t>
            </a:r>
            <a:r>
              <a:rPr sz="3200" spc="-7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vector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88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protocol.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8856" y="192773"/>
            <a:ext cx="7366716" cy="1235113"/>
          </a:xfrm>
          <a:prstGeom prst="rect">
            <a:avLst/>
          </a:prstGeom>
        </p:spPr>
        <p:txBody>
          <a:bodyPr vert="horz" wrap="square" lIns="0" tIns="551211" rIns="0" bIns="0" rtlCol="0" anchor="ctr">
            <a:spAutoFit/>
          </a:bodyPr>
          <a:lstStyle/>
          <a:p>
            <a:pPr marL="912049">
              <a:lnSpc>
                <a:spcPct val="100000"/>
              </a:lnSpc>
              <a:spcBef>
                <a:spcPts val="105"/>
              </a:spcBef>
            </a:pPr>
            <a:r>
              <a:rPr sz="4409" dirty="0">
                <a:solidFill>
                  <a:schemeClr val="bg1"/>
                </a:solidFill>
              </a:rPr>
              <a:t>Distance</a:t>
            </a:r>
            <a:r>
              <a:rPr sz="4409" spc="-204" dirty="0">
                <a:solidFill>
                  <a:schemeClr val="bg1"/>
                </a:solidFill>
              </a:rPr>
              <a:t> </a:t>
            </a:r>
            <a:r>
              <a:rPr sz="4409" spc="-77" dirty="0">
                <a:solidFill>
                  <a:schemeClr val="bg1"/>
                </a:solidFill>
              </a:rPr>
              <a:t>Vector</a:t>
            </a:r>
            <a:r>
              <a:rPr sz="4409" spc="-193" dirty="0">
                <a:solidFill>
                  <a:schemeClr val="bg1"/>
                </a:solidFill>
              </a:rPr>
              <a:t> </a:t>
            </a:r>
            <a:r>
              <a:rPr sz="4409" spc="-11" dirty="0">
                <a:solidFill>
                  <a:schemeClr val="bg1"/>
                </a:solidFill>
              </a:rPr>
              <a:t>Protocols</a:t>
            </a:r>
            <a:endParaRPr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820" y="1620849"/>
            <a:ext cx="9848805" cy="5233513"/>
          </a:xfrm>
          <a:prstGeom prst="rect">
            <a:avLst/>
          </a:prstGeom>
        </p:spPr>
        <p:txBody>
          <a:bodyPr vert="horz" wrap="square" lIns="0" tIns="13999" rIns="0" bIns="0" rtlCol="0">
            <a:spAutoFit/>
          </a:bodyPr>
          <a:lstStyle/>
          <a:p>
            <a:pPr marL="470499" marR="786756" indent="-457200">
              <a:spcBef>
                <a:spcPts val="110"/>
              </a:spcBef>
              <a:buClr>
                <a:srgbClr val="D24717"/>
              </a:buClr>
              <a:buSzPct val="85416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dirty="0">
                <a:latin typeface="Times New Roman"/>
                <a:cs typeface="Times New Roman"/>
              </a:rPr>
              <a:t>Distance</a:t>
            </a:r>
            <a:r>
              <a:rPr sz="3200" spc="-6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vector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protocols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include</a:t>
            </a:r>
            <a:r>
              <a:rPr sz="3200" spc="-66" dirty="0">
                <a:latin typeface="Times New Roman"/>
                <a:cs typeface="Times New Roman"/>
              </a:rPr>
              <a:t> </a:t>
            </a:r>
            <a:r>
              <a:rPr sz="3200" spc="-55" dirty="0">
                <a:solidFill>
                  <a:srgbClr val="FF0000"/>
                </a:solidFill>
                <a:latin typeface="Times New Roman"/>
                <a:cs typeface="Times New Roman"/>
              </a:rPr>
              <a:t>RIP</a:t>
            </a:r>
            <a:r>
              <a:rPr sz="3200" spc="-55" dirty="0">
                <a:latin typeface="Times New Roman"/>
                <a:cs typeface="Times New Roman"/>
              </a:rPr>
              <a:t>,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spc="-55" dirty="0">
                <a:solidFill>
                  <a:srgbClr val="FF0000"/>
                </a:solidFill>
                <a:latin typeface="Times New Roman"/>
                <a:cs typeface="Times New Roman"/>
              </a:rPr>
              <a:t>IGRP</a:t>
            </a:r>
            <a:r>
              <a:rPr sz="3200" spc="-55" dirty="0">
                <a:latin typeface="Times New Roman"/>
                <a:cs typeface="Times New Roman"/>
              </a:rPr>
              <a:t>,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spc="-28" dirty="0">
                <a:latin typeface="Times New Roman"/>
                <a:cs typeface="Times New Roman"/>
              </a:rPr>
              <a:t>and </a:t>
            </a:r>
            <a:r>
              <a:rPr sz="3200" spc="-11" dirty="0">
                <a:solidFill>
                  <a:srgbClr val="FF0000"/>
                </a:solidFill>
                <a:latin typeface="Times New Roman"/>
                <a:cs typeface="Times New Roman"/>
              </a:rPr>
              <a:t>EIGRP</a:t>
            </a:r>
            <a:r>
              <a:rPr sz="3200" spc="-11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471199" indent="-457200">
              <a:spcBef>
                <a:spcPts val="661"/>
              </a:spcBef>
              <a:buClr>
                <a:srgbClr val="D24717"/>
              </a:buClr>
              <a:buSzPct val="85416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following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some</a:t>
            </a:r>
            <a:r>
              <a:rPr sz="3200" spc="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key characteristics</a:t>
            </a:r>
            <a:r>
              <a:rPr sz="3200" spc="-6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these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protocols.</a:t>
            </a:r>
            <a:endParaRPr sz="3200" dirty="0">
              <a:latin typeface="Times New Roman"/>
              <a:cs typeface="Times New Roman"/>
            </a:endParaRPr>
          </a:p>
          <a:p>
            <a:pPr marL="927699" marR="5600" lvl="1" indent="-457200">
              <a:spcBef>
                <a:spcPts val="667"/>
              </a:spcBef>
              <a:buClr>
                <a:srgbClr val="D24717"/>
              </a:buClr>
              <a:buSzPct val="85416"/>
              <a:buFont typeface="Wingdings" panose="05000000000000000000" pitchFamily="2" charset="2"/>
              <a:buChar char="v"/>
              <a:tabLst>
                <a:tab pos="315682" algn="l"/>
              </a:tabLst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Routing</a:t>
            </a:r>
            <a:r>
              <a:rPr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Information</a:t>
            </a:r>
            <a:r>
              <a:rPr sz="3200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Protocol</a:t>
            </a:r>
            <a:r>
              <a:rPr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(RIP)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was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originally</a:t>
            </a:r>
            <a:r>
              <a:rPr sz="3200" spc="-7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specified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spc="-28" dirty="0">
                <a:latin typeface="Times New Roman"/>
                <a:cs typeface="Times New Roman"/>
              </a:rPr>
              <a:t>in </a:t>
            </a:r>
            <a:r>
              <a:rPr sz="3200" dirty="0">
                <a:latin typeface="Times New Roman"/>
                <a:cs typeface="Times New Roman"/>
              </a:rPr>
              <a:t>RFC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1058.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has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following key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characteristics:</a:t>
            </a:r>
            <a:endParaRPr lang="en-US" sz="3200" spc="-11" dirty="0">
              <a:latin typeface="Times New Roman"/>
              <a:cs typeface="Times New Roman"/>
            </a:endParaRPr>
          </a:p>
          <a:p>
            <a:pPr marL="1532465" lvl="3" indent="-251286">
              <a:spcBef>
                <a:spcPts val="441"/>
              </a:spcBef>
              <a:buClr>
                <a:srgbClr val="9B2C1F"/>
              </a:buClr>
              <a:buSzPct val="84090"/>
              <a:buFont typeface="Wingdings"/>
              <a:buChar char=""/>
              <a:tabLst>
                <a:tab pos="618065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Hop</a:t>
            </a:r>
            <a:r>
              <a:rPr lang="en-US" sz="3200" spc="-5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count</a:t>
            </a:r>
            <a:r>
              <a:rPr lang="en-US" sz="3200" spc="-28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is</a:t>
            </a:r>
            <a:r>
              <a:rPr lang="en-US" sz="3200" spc="-44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used</a:t>
            </a:r>
            <a:r>
              <a:rPr lang="en-US" sz="3200" spc="-28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as</a:t>
            </a:r>
            <a:r>
              <a:rPr lang="en-US" sz="3200" spc="-44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the</a:t>
            </a:r>
            <a:r>
              <a:rPr lang="en-US" sz="3200" spc="-39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metric</a:t>
            </a:r>
            <a:r>
              <a:rPr lang="en-US" sz="3200" spc="6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for</a:t>
            </a:r>
            <a:r>
              <a:rPr lang="en-US" sz="3200" spc="-39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path</a:t>
            </a:r>
            <a:r>
              <a:rPr lang="en-US" sz="3200" spc="-28" dirty="0">
                <a:latin typeface="Times New Roman"/>
                <a:cs typeface="Times New Roman"/>
              </a:rPr>
              <a:t> </a:t>
            </a:r>
            <a:r>
              <a:rPr lang="en-US" sz="3200" spc="-11" dirty="0">
                <a:latin typeface="Times New Roman"/>
                <a:cs typeface="Times New Roman"/>
              </a:rPr>
              <a:t>selection.</a:t>
            </a:r>
            <a:endParaRPr lang="en-US" sz="3200" dirty="0">
              <a:latin typeface="Times New Roman"/>
              <a:cs typeface="Times New Roman"/>
            </a:endParaRPr>
          </a:p>
          <a:p>
            <a:pPr marL="1531765" marR="62996" lvl="3" indent="-251286">
              <a:spcBef>
                <a:spcPts val="456"/>
              </a:spcBef>
              <a:buClr>
                <a:srgbClr val="9B2C1F"/>
              </a:buClr>
              <a:buSzPct val="84090"/>
              <a:buFont typeface="Wingdings"/>
              <a:buChar char=""/>
              <a:tabLst>
                <a:tab pos="618765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If</a:t>
            </a:r>
            <a:r>
              <a:rPr lang="en-US" sz="3200" spc="-44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the</a:t>
            </a:r>
            <a:r>
              <a:rPr lang="en-US" sz="3200" spc="-44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metric</a:t>
            </a:r>
            <a:r>
              <a:rPr lang="en-US" sz="3200" spc="-22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for</a:t>
            </a:r>
            <a:r>
              <a:rPr lang="en-US" sz="3200" spc="-28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</a:t>
            </a:r>
            <a:r>
              <a:rPr lang="en-US" sz="3200" spc="-5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network</a:t>
            </a:r>
            <a:r>
              <a:rPr lang="en-US" sz="3200" spc="-39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is</a:t>
            </a:r>
            <a:r>
              <a:rPr lang="en-US" sz="3200" spc="-5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greater</a:t>
            </a:r>
            <a:r>
              <a:rPr lang="en-US" sz="3200" spc="-33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than</a:t>
            </a:r>
            <a:r>
              <a:rPr lang="en-US" sz="3200" spc="-44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15,</a:t>
            </a:r>
            <a:r>
              <a:rPr lang="en-US" sz="3200" spc="-5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RIP</a:t>
            </a:r>
            <a:r>
              <a:rPr lang="en-US" sz="3200" spc="-126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cannot</a:t>
            </a:r>
            <a:r>
              <a:rPr lang="en-US" sz="3200" spc="-39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supply</a:t>
            </a:r>
            <a:r>
              <a:rPr lang="en-US" sz="3200" spc="-61" dirty="0">
                <a:latin typeface="Times New Roman"/>
                <a:cs typeface="Times New Roman"/>
              </a:rPr>
              <a:t> </a:t>
            </a:r>
            <a:r>
              <a:rPr lang="en-US" sz="3200" spc="-55" dirty="0">
                <a:latin typeface="Times New Roman"/>
                <a:cs typeface="Times New Roman"/>
              </a:rPr>
              <a:t>a </a:t>
            </a:r>
            <a:r>
              <a:rPr lang="en-US" sz="3200" dirty="0">
                <a:latin typeface="Times New Roman"/>
                <a:cs typeface="Times New Roman"/>
              </a:rPr>
              <a:t>route</a:t>
            </a:r>
            <a:r>
              <a:rPr lang="en-US" sz="3200" spc="-5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to</a:t>
            </a:r>
            <a:r>
              <a:rPr lang="en-US" sz="3200" spc="-44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that</a:t>
            </a:r>
            <a:r>
              <a:rPr lang="en-US" sz="3200" spc="-44" dirty="0">
                <a:latin typeface="Times New Roman"/>
                <a:cs typeface="Times New Roman"/>
              </a:rPr>
              <a:t> </a:t>
            </a:r>
            <a:r>
              <a:rPr lang="en-US" sz="3200" spc="-11" dirty="0">
                <a:latin typeface="Times New Roman"/>
                <a:cs typeface="Times New Roman"/>
              </a:rPr>
              <a:t>network.</a:t>
            </a:r>
            <a:endParaRPr lang="en-US"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6095" y="84046"/>
            <a:ext cx="9231849" cy="1235113"/>
          </a:xfrm>
          <a:prstGeom prst="rect">
            <a:avLst/>
          </a:prstGeom>
        </p:spPr>
        <p:txBody>
          <a:bodyPr vert="horz" wrap="square" lIns="0" tIns="551211" rIns="0" bIns="0" rtlCol="0" anchor="ctr">
            <a:spAutoFit/>
          </a:bodyPr>
          <a:lstStyle/>
          <a:p>
            <a:pPr marL="912049">
              <a:lnSpc>
                <a:spcPct val="100000"/>
              </a:lnSpc>
              <a:spcBef>
                <a:spcPts val="105"/>
              </a:spcBef>
            </a:pPr>
            <a:r>
              <a:rPr lang="en-US" sz="4409" dirty="0">
                <a:solidFill>
                  <a:schemeClr val="bg1"/>
                </a:solidFill>
              </a:rPr>
              <a:t>Distance</a:t>
            </a:r>
            <a:r>
              <a:rPr lang="en-US" sz="4409" spc="-204" dirty="0">
                <a:solidFill>
                  <a:schemeClr val="bg1"/>
                </a:solidFill>
              </a:rPr>
              <a:t> </a:t>
            </a:r>
            <a:r>
              <a:rPr lang="en-US" sz="4409" spc="-77" dirty="0">
                <a:solidFill>
                  <a:schemeClr val="bg1"/>
                </a:solidFill>
              </a:rPr>
              <a:t>Vector</a:t>
            </a:r>
            <a:r>
              <a:rPr lang="en-US" sz="4409" spc="-193" dirty="0">
                <a:solidFill>
                  <a:schemeClr val="bg1"/>
                </a:solidFill>
              </a:rPr>
              <a:t> </a:t>
            </a:r>
            <a:r>
              <a:rPr lang="en-US" sz="4409" spc="-11" dirty="0">
                <a:solidFill>
                  <a:schemeClr val="bg1"/>
                </a:solidFill>
              </a:rPr>
              <a:t>Protocols</a:t>
            </a:r>
            <a:endParaRPr lang="en-US"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2681" y="1637112"/>
            <a:ext cx="9649809" cy="5716773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927699" marR="406677" lvl="1" indent="-457200">
              <a:spcBef>
                <a:spcPts val="667"/>
              </a:spcBef>
              <a:buClr>
                <a:srgbClr val="D24717"/>
              </a:buClr>
              <a:buSzPct val="83928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Routing</a:t>
            </a:r>
            <a:r>
              <a:rPr lang="en-US" sz="2800" spc="-77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updates</a:t>
            </a:r>
            <a:r>
              <a:rPr lang="en-US" sz="2800" spc="-66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are</a:t>
            </a:r>
            <a:r>
              <a:rPr lang="en-US" sz="2800" spc="-61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broadcast</a:t>
            </a:r>
            <a:r>
              <a:rPr lang="en-US" sz="2800" spc="-5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or</a:t>
            </a:r>
            <a:r>
              <a:rPr lang="en-US" sz="2800" spc="-5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multicast</a:t>
            </a:r>
            <a:r>
              <a:rPr lang="en-US" sz="2800" spc="-33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every</a:t>
            </a:r>
            <a:r>
              <a:rPr lang="en-US" sz="2800" spc="-44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30</a:t>
            </a:r>
            <a:r>
              <a:rPr lang="en-US" sz="2800" spc="-5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seconds,</a:t>
            </a:r>
            <a:r>
              <a:rPr lang="en-US" sz="2800" spc="-61" dirty="0">
                <a:latin typeface="Times New Roman"/>
                <a:cs typeface="Times New Roman"/>
              </a:rPr>
              <a:t> </a:t>
            </a:r>
            <a:r>
              <a:rPr lang="en-US" sz="2800" spc="-28" dirty="0">
                <a:latin typeface="Times New Roman"/>
                <a:cs typeface="Times New Roman"/>
              </a:rPr>
              <a:t>by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spc="-11" dirty="0">
                <a:latin typeface="Times New Roman"/>
                <a:cs typeface="Times New Roman"/>
              </a:rPr>
              <a:t>default.</a:t>
            </a:r>
            <a:endParaRPr lang="en-US" sz="3086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70499" marR="406677" indent="-457200">
              <a:spcBef>
                <a:spcPts val="667"/>
              </a:spcBef>
              <a:buClr>
                <a:srgbClr val="D24717"/>
              </a:buClr>
              <a:buSzPct val="83928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Interior</a:t>
            </a:r>
            <a:r>
              <a:rPr sz="3086" b="1" spc="-7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Gateway</a:t>
            </a:r>
            <a:r>
              <a:rPr sz="3086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Routing</a:t>
            </a:r>
            <a:r>
              <a:rPr sz="3086" b="1" spc="-7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Protocol</a:t>
            </a:r>
            <a:r>
              <a:rPr sz="3086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(IGRP)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is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spc="-66" dirty="0">
                <a:latin typeface="Times New Roman"/>
                <a:cs typeface="Times New Roman"/>
              </a:rPr>
              <a:t>a</a:t>
            </a:r>
            <a:r>
              <a:rPr lang="en-US" sz="3086" spc="-66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proprietary</a:t>
            </a:r>
            <a:r>
              <a:rPr sz="3086" spc="-8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protocol</a:t>
            </a:r>
            <a:r>
              <a:rPr sz="3086" spc="-7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developed</a:t>
            </a:r>
            <a:r>
              <a:rPr sz="3086" spc="-66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by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Cisco.</a:t>
            </a:r>
            <a:r>
              <a:rPr sz="3086" spc="-7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IGRP</a:t>
            </a:r>
            <a:r>
              <a:rPr sz="3086" spc="-149" dirty="0">
                <a:latin typeface="Times New Roman"/>
                <a:cs typeface="Times New Roman"/>
              </a:rPr>
              <a:t> </a:t>
            </a:r>
            <a:r>
              <a:rPr sz="3086" spc="-28" dirty="0">
                <a:latin typeface="Times New Roman"/>
                <a:cs typeface="Times New Roman"/>
              </a:rPr>
              <a:t>has</a:t>
            </a:r>
            <a:r>
              <a:rPr lang="en-US"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following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key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design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characteristics:</a:t>
            </a:r>
            <a:endParaRPr lang="en-US" sz="3086" spc="-11" dirty="0">
              <a:latin typeface="Times New Roman"/>
              <a:cs typeface="Times New Roman"/>
            </a:endParaRPr>
          </a:p>
          <a:p>
            <a:pPr marL="927699" marR="406677" lvl="1" indent="-457200">
              <a:spcBef>
                <a:spcPts val="667"/>
              </a:spcBef>
              <a:buClr>
                <a:srgbClr val="D24717"/>
              </a:buClr>
              <a:buSzPct val="83928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sz="3086" dirty="0">
                <a:latin typeface="Times New Roman"/>
                <a:cs typeface="Times New Roman"/>
              </a:rPr>
              <a:t>Bandwidth,</a:t>
            </a:r>
            <a:r>
              <a:rPr sz="3086" spc="-72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delay,</a:t>
            </a:r>
            <a:r>
              <a:rPr sz="3086" spc="-66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load,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and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reliability</a:t>
            </a:r>
            <a:r>
              <a:rPr sz="3086" spc="-9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are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used</a:t>
            </a:r>
            <a:r>
              <a:rPr sz="3086" spc="-66" dirty="0">
                <a:latin typeface="Times New Roman"/>
                <a:cs typeface="Times New Roman"/>
              </a:rPr>
              <a:t> </a:t>
            </a:r>
            <a:r>
              <a:rPr sz="3086" spc="-28" dirty="0">
                <a:latin typeface="Times New Roman"/>
                <a:cs typeface="Times New Roman"/>
              </a:rPr>
              <a:t>to </a:t>
            </a:r>
            <a:r>
              <a:rPr lang="en-US" sz="3086" spc="-28" dirty="0">
                <a:latin typeface="Times New Roman"/>
                <a:cs typeface="Times New Roman"/>
              </a:rPr>
              <a:t>  </a:t>
            </a:r>
            <a:r>
              <a:rPr sz="3086" dirty="0">
                <a:latin typeface="Times New Roman"/>
                <a:cs typeface="Times New Roman"/>
              </a:rPr>
              <a:t>create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composite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metric.</a:t>
            </a:r>
            <a:endParaRPr lang="en-US" sz="3086" spc="-11" dirty="0">
              <a:latin typeface="Times New Roman"/>
              <a:cs typeface="Times New Roman"/>
            </a:endParaRPr>
          </a:p>
          <a:p>
            <a:pPr marL="927699" marR="406677" lvl="1" indent="-457200">
              <a:spcBef>
                <a:spcPts val="667"/>
              </a:spcBef>
              <a:buClr>
                <a:srgbClr val="D24717"/>
              </a:buClr>
              <a:buSzPct val="83928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sz="3086" dirty="0">
                <a:latin typeface="Times New Roman"/>
                <a:cs typeface="Times New Roman"/>
              </a:rPr>
              <a:t>Routing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updates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are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broadcast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every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90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seconds,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spc="-28" dirty="0">
                <a:latin typeface="Times New Roman"/>
                <a:cs typeface="Times New Roman"/>
              </a:rPr>
              <a:t>by </a:t>
            </a:r>
            <a:r>
              <a:rPr lang="en-US" sz="3086" spc="-28" dirty="0">
                <a:latin typeface="Times New Roman"/>
                <a:cs typeface="Times New Roman"/>
              </a:rPr>
              <a:t>     </a:t>
            </a:r>
            <a:r>
              <a:rPr sz="3086" spc="-11" dirty="0">
                <a:latin typeface="Times New Roman"/>
                <a:cs typeface="Times New Roman"/>
              </a:rPr>
              <a:t>default.</a:t>
            </a:r>
            <a:endParaRPr lang="en-US" sz="3086" spc="-11" dirty="0">
              <a:latin typeface="Times New Roman"/>
              <a:cs typeface="Times New Roman"/>
            </a:endParaRPr>
          </a:p>
          <a:p>
            <a:pPr marL="927699" marR="406677" lvl="1" indent="-457200">
              <a:spcBef>
                <a:spcPts val="667"/>
              </a:spcBef>
              <a:buClr>
                <a:srgbClr val="D24717"/>
              </a:buClr>
              <a:buSzPct val="83928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sz="3086" dirty="0">
                <a:latin typeface="Times New Roman"/>
                <a:cs typeface="Times New Roman"/>
              </a:rPr>
              <a:t>IGRP</a:t>
            </a:r>
            <a:r>
              <a:rPr sz="3086" spc="-14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is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predecessor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of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EIGRP</a:t>
            </a:r>
            <a:r>
              <a:rPr sz="3086" spc="-121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and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is</a:t>
            </a:r>
            <a:r>
              <a:rPr sz="3086" spc="-28" dirty="0">
                <a:latin typeface="Times New Roman"/>
                <a:cs typeface="Times New Roman"/>
              </a:rPr>
              <a:t> now </a:t>
            </a:r>
            <a:r>
              <a:rPr sz="3086" spc="-11" dirty="0">
                <a:latin typeface="Times New Roman"/>
                <a:cs typeface="Times New Roman"/>
              </a:rPr>
              <a:t>obsolete.</a:t>
            </a:r>
            <a:endParaRPr sz="3086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6095" y="62312"/>
            <a:ext cx="8600784" cy="1235113"/>
          </a:xfrm>
          <a:prstGeom prst="rect">
            <a:avLst/>
          </a:prstGeom>
        </p:spPr>
        <p:txBody>
          <a:bodyPr vert="horz" wrap="square" lIns="0" tIns="551211" rIns="0" bIns="0" rtlCol="0" anchor="ctr">
            <a:spAutoFit/>
          </a:bodyPr>
          <a:lstStyle/>
          <a:p>
            <a:pPr marL="912049">
              <a:lnSpc>
                <a:spcPct val="100000"/>
              </a:lnSpc>
              <a:spcBef>
                <a:spcPts val="105"/>
              </a:spcBef>
            </a:pPr>
            <a:r>
              <a:rPr sz="4409" dirty="0">
                <a:solidFill>
                  <a:schemeClr val="bg1"/>
                </a:solidFill>
              </a:rPr>
              <a:t>Distance</a:t>
            </a:r>
            <a:r>
              <a:rPr sz="4409" spc="-204" dirty="0">
                <a:solidFill>
                  <a:schemeClr val="bg1"/>
                </a:solidFill>
              </a:rPr>
              <a:t> </a:t>
            </a:r>
            <a:r>
              <a:rPr sz="4409" spc="-77" dirty="0">
                <a:solidFill>
                  <a:schemeClr val="bg1"/>
                </a:solidFill>
              </a:rPr>
              <a:t>Vector</a:t>
            </a:r>
            <a:r>
              <a:rPr sz="4409" spc="-193" dirty="0">
                <a:solidFill>
                  <a:schemeClr val="bg1"/>
                </a:solidFill>
              </a:rPr>
              <a:t> </a:t>
            </a:r>
            <a:r>
              <a:rPr sz="4409" spc="-11" dirty="0">
                <a:solidFill>
                  <a:schemeClr val="bg1"/>
                </a:solidFill>
              </a:rPr>
              <a:t>Protocols</a:t>
            </a:r>
            <a:endParaRPr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062" y="1763988"/>
            <a:ext cx="9672034" cy="4697648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0499" marR="316382" indent="-457200">
              <a:spcBef>
                <a:spcPts val="667"/>
              </a:spcBef>
              <a:buClr>
                <a:srgbClr val="C00000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dirty="0">
                <a:latin typeface="Times New Roman"/>
                <a:cs typeface="Times New Roman"/>
              </a:rPr>
              <a:t>Enhanced</a:t>
            </a:r>
            <a:r>
              <a:rPr sz="3200" spc="-6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IGRP</a:t>
            </a:r>
            <a:r>
              <a:rPr sz="3200" spc="-11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(EIGRP)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 a </a:t>
            </a:r>
            <a:r>
              <a:rPr sz="3200" spc="-11" dirty="0">
                <a:latin typeface="Times New Roman"/>
                <a:cs typeface="Times New Roman"/>
              </a:rPr>
              <a:t>Cisco-</a:t>
            </a:r>
            <a:r>
              <a:rPr sz="3200" dirty="0">
                <a:latin typeface="Times New Roman"/>
                <a:cs typeface="Times New Roman"/>
              </a:rPr>
              <a:t>proprietary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distance </a:t>
            </a:r>
            <a:r>
              <a:rPr sz="3200" dirty="0">
                <a:latin typeface="Times New Roman"/>
                <a:cs typeface="Times New Roman"/>
              </a:rPr>
              <a:t>vector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protocol.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EIGRP</a:t>
            </a:r>
            <a:r>
              <a:rPr sz="3200" spc="-13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has</a:t>
            </a:r>
            <a:r>
              <a:rPr sz="3200" spc="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these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spc="-28" dirty="0">
                <a:latin typeface="Times New Roman"/>
                <a:cs typeface="Times New Roman"/>
              </a:rPr>
              <a:t>key</a:t>
            </a:r>
            <a:r>
              <a:rPr lang="en-US" sz="3200" spc="-28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characteristics:</a:t>
            </a:r>
            <a:endParaRPr sz="3200" dirty="0">
              <a:latin typeface="Times New Roman"/>
              <a:cs typeface="Times New Roman"/>
            </a:endParaRPr>
          </a:p>
          <a:p>
            <a:pPr marL="1280479" lvl="2" indent="-457200">
              <a:spcBef>
                <a:spcPts val="446"/>
              </a:spcBef>
              <a:buClr>
                <a:srgbClr val="C00000"/>
              </a:buClr>
              <a:buSzPct val="85416"/>
              <a:buFont typeface="Wingdings" panose="05000000000000000000" pitchFamily="2" charset="2"/>
              <a:buChar char="ü"/>
              <a:tabLst>
                <a:tab pos="617365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 perform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unequal-cost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load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balancing.</a:t>
            </a:r>
            <a:endParaRPr sz="3200" dirty="0">
              <a:latin typeface="Times New Roman"/>
              <a:cs typeface="Times New Roman"/>
            </a:endParaRPr>
          </a:p>
          <a:p>
            <a:pPr marL="1280479" marR="160991" lvl="2" indent="-457200">
              <a:spcBef>
                <a:spcPts val="451"/>
              </a:spcBef>
              <a:buClr>
                <a:srgbClr val="C00000"/>
              </a:buClr>
              <a:buSzPct val="85416"/>
              <a:buFont typeface="Wingdings" panose="05000000000000000000" pitchFamily="2" charset="2"/>
              <a:buChar char="ü"/>
              <a:tabLst>
                <a:tab pos="618765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uses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Diffusing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Update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Algorithm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(DUAL)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calculate</a:t>
            </a:r>
            <a:r>
              <a:rPr sz="3200" spc="-88" dirty="0">
                <a:latin typeface="Times New Roman"/>
                <a:cs typeface="Times New Roman"/>
              </a:rPr>
              <a:t> </a:t>
            </a:r>
            <a:r>
              <a:rPr sz="3200" spc="-28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shortest</a:t>
            </a:r>
            <a:r>
              <a:rPr sz="3200" spc="-83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path.</a:t>
            </a:r>
            <a:endParaRPr sz="3200" dirty="0">
              <a:latin typeface="Times New Roman"/>
              <a:cs typeface="Times New Roman"/>
            </a:endParaRPr>
          </a:p>
          <a:p>
            <a:pPr marL="1280479" marR="5600" lvl="2" indent="-457200">
              <a:spcBef>
                <a:spcPts val="435"/>
              </a:spcBef>
              <a:buClr>
                <a:srgbClr val="C00000"/>
              </a:buClr>
              <a:buSzPct val="85416"/>
              <a:buFont typeface="Wingdings" panose="05000000000000000000" pitchFamily="2" charset="2"/>
              <a:buChar char="ü"/>
              <a:tabLst>
                <a:tab pos="618765" algn="l"/>
              </a:tabLst>
            </a:pPr>
            <a:r>
              <a:rPr sz="3200" dirty="0">
                <a:latin typeface="Times New Roman"/>
                <a:cs typeface="Times New Roman"/>
              </a:rPr>
              <a:t>There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periodic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updates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with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RIP</a:t>
            </a:r>
            <a:r>
              <a:rPr sz="3200" spc="-12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spc="-44" dirty="0">
                <a:latin typeface="Times New Roman"/>
                <a:cs typeface="Times New Roman"/>
              </a:rPr>
              <a:t>IGRP.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Routing </a:t>
            </a:r>
            <a:r>
              <a:rPr sz="3200" dirty="0">
                <a:latin typeface="Times New Roman"/>
                <a:cs typeface="Times New Roman"/>
              </a:rPr>
              <a:t>updates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sent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only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when</a:t>
            </a:r>
            <a:r>
              <a:rPr sz="3200" spc="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there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change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topology.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6464" y="-122554"/>
            <a:ext cx="7544716" cy="1235113"/>
          </a:xfrm>
          <a:prstGeom prst="rect">
            <a:avLst/>
          </a:prstGeom>
        </p:spPr>
        <p:txBody>
          <a:bodyPr vert="horz" wrap="square" lIns="0" tIns="551211" rIns="0" bIns="0" rtlCol="0" anchor="ctr">
            <a:spAutoFit/>
          </a:bodyPr>
          <a:lstStyle/>
          <a:p>
            <a:pPr marL="744058">
              <a:lnSpc>
                <a:spcPct val="100000"/>
              </a:lnSpc>
              <a:spcBef>
                <a:spcPts val="105"/>
              </a:spcBef>
            </a:pPr>
            <a:r>
              <a:rPr sz="4409" dirty="0">
                <a:solidFill>
                  <a:schemeClr val="bg1"/>
                </a:solidFill>
              </a:rPr>
              <a:t>Distance</a:t>
            </a:r>
            <a:r>
              <a:rPr sz="4409" spc="-204" dirty="0">
                <a:solidFill>
                  <a:schemeClr val="bg1"/>
                </a:solidFill>
              </a:rPr>
              <a:t> </a:t>
            </a:r>
            <a:r>
              <a:rPr sz="4409" spc="-77" dirty="0">
                <a:solidFill>
                  <a:schemeClr val="bg1"/>
                </a:solidFill>
              </a:rPr>
              <a:t>Vector</a:t>
            </a:r>
            <a:r>
              <a:rPr sz="4409" spc="-193" dirty="0">
                <a:solidFill>
                  <a:schemeClr val="bg1"/>
                </a:solidFill>
              </a:rPr>
              <a:t> </a:t>
            </a:r>
            <a:r>
              <a:rPr sz="4409" spc="-11" dirty="0">
                <a:solidFill>
                  <a:schemeClr val="bg1"/>
                </a:solidFill>
              </a:rPr>
              <a:t>Protocols</a:t>
            </a:r>
            <a:endParaRPr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6645" y="1737775"/>
            <a:ext cx="9427334" cy="4752681"/>
          </a:xfrm>
          <a:prstGeom prst="rect">
            <a:avLst/>
          </a:prstGeom>
        </p:spPr>
        <p:txBody>
          <a:bodyPr vert="horz" wrap="square" lIns="0" tIns="76297" rIns="0" bIns="0" rtlCol="0">
            <a:spAutoFit/>
          </a:bodyPr>
          <a:lstStyle/>
          <a:p>
            <a:pPr marL="471199" indent="-457200">
              <a:spcBef>
                <a:spcPts val="601"/>
              </a:spcBef>
              <a:buClr>
                <a:srgbClr val="C00000"/>
              </a:buClr>
              <a:buSzPct val="84615"/>
              <a:buFont typeface="Wingdings" panose="05000000000000000000" pitchFamily="2" charset="2"/>
              <a:buChar char="Ø"/>
              <a:tabLst>
                <a:tab pos="314982" algn="l"/>
              </a:tabLst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Meaning</a:t>
            </a:r>
            <a:r>
              <a:rPr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of Distance</a:t>
            </a:r>
            <a:r>
              <a:rPr sz="3200" b="1" spc="-1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Vector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823279" marR="5600" lvl="1" indent="-457200">
              <a:spcBef>
                <a:spcPts val="446"/>
              </a:spcBef>
              <a:buClr>
                <a:srgbClr val="C00000"/>
              </a:buClr>
              <a:buSzPct val="85416"/>
              <a:buFont typeface="Wingdings" panose="05000000000000000000" pitchFamily="2" charset="2"/>
              <a:buChar char="ü"/>
              <a:tabLst>
                <a:tab pos="618765" algn="l"/>
              </a:tabLst>
            </a:pPr>
            <a:r>
              <a:rPr sz="3200" dirty="0">
                <a:latin typeface="Times New Roman"/>
                <a:cs typeface="Times New Roman"/>
              </a:rPr>
              <a:t>Routes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advertised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vectors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distance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1" dirty="0">
                <a:latin typeface="Times New Roman"/>
                <a:cs typeface="Times New Roman"/>
              </a:rPr>
              <a:t> direction. </a:t>
            </a:r>
            <a:r>
              <a:rPr sz="3200" dirty="0">
                <a:latin typeface="Times New Roman"/>
                <a:cs typeface="Times New Roman"/>
              </a:rPr>
              <a:t>Distance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defined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terms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metric,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direction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spc="-28" dirty="0">
                <a:latin typeface="Times New Roman"/>
                <a:cs typeface="Times New Roman"/>
              </a:rPr>
              <a:t>is </a:t>
            </a:r>
            <a:r>
              <a:rPr sz="3200" dirty="0">
                <a:latin typeface="Times New Roman"/>
                <a:cs typeface="Times New Roman"/>
              </a:rPr>
              <a:t>simply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next-hop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router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exit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interface.</a:t>
            </a:r>
            <a:endParaRPr sz="3200" dirty="0">
              <a:latin typeface="Times New Roman"/>
              <a:cs typeface="Times New Roman"/>
            </a:endParaRPr>
          </a:p>
          <a:p>
            <a:pPr marL="471199" indent="-457200">
              <a:spcBef>
                <a:spcPts val="667"/>
              </a:spcBef>
              <a:buClr>
                <a:srgbClr val="C00000"/>
              </a:buClr>
              <a:buSzPct val="84615"/>
              <a:buFont typeface="Wingdings" panose="05000000000000000000" pitchFamily="2" charset="2"/>
              <a:buChar char="Ø"/>
              <a:tabLst>
                <a:tab pos="314982" algn="l"/>
              </a:tabLst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200" b="1" spc="-18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distance</a:t>
            </a:r>
            <a:r>
              <a:rPr sz="3200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vector</a:t>
            </a:r>
            <a:r>
              <a:rPr sz="3200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router</a:t>
            </a:r>
            <a:r>
              <a:rPr sz="3200" b="1" spc="-3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only</a:t>
            </a:r>
            <a:r>
              <a:rPr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knows</a:t>
            </a:r>
            <a:endParaRPr sz="3200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823279" marR="654463" lvl="1" indent="-457200">
              <a:spcBef>
                <a:spcPts val="446"/>
              </a:spcBef>
              <a:buClr>
                <a:srgbClr val="9B2C1F"/>
              </a:buClr>
              <a:buSzPct val="85416"/>
              <a:buFont typeface="Wingdings" panose="05000000000000000000" pitchFamily="2" charset="2"/>
              <a:buChar char="ü"/>
              <a:tabLst>
                <a:tab pos="618765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direction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interface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 which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packets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should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spc="-28" dirty="0">
                <a:latin typeface="Times New Roman"/>
                <a:cs typeface="Times New Roman"/>
              </a:rPr>
              <a:t>be </a:t>
            </a:r>
            <a:r>
              <a:rPr sz="3200" spc="-11" dirty="0">
                <a:latin typeface="Times New Roman"/>
                <a:cs typeface="Times New Roman"/>
              </a:rPr>
              <a:t>forwarded</a:t>
            </a:r>
            <a:r>
              <a:rPr lang="en-US" sz="3200" spc="-11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823979" lvl="1" indent="-457200">
              <a:spcBef>
                <a:spcPts val="441"/>
              </a:spcBef>
              <a:buClr>
                <a:srgbClr val="9B2C1F"/>
              </a:buClr>
              <a:buSzPct val="85416"/>
              <a:buFont typeface="Wingdings" panose="05000000000000000000" pitchFamily="2" charset="2"/>
              <a:buChar char="ü"/>
              <a:tabLst>
                <a:tab pos="618065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distance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destination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network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6095" y="46587"/>
            <a:ext cx="7828051" cy="1235113"/>
          </a:xfrm>
          <a:prstGeom prst="rect">
            <a:avLst/>
          </a:prstGeom>
        </p:spPr>
        <p:txBody>
          <a:bodyPr vert="horz" wrap="square" lIns="0" tIns="551211" rIns="0" bIns="0" rtlCol="0" anchor="ctr">
            <a:spAutoFit/>
          </a:bodyPr>
          <a:lstStyle/>
          <a:p>
            <a:pPr marL="912049">
              <a:lnSpc>
                <a:spcPct val="100000"/>
              </a:lnSpc>
              <a:spcBef>
                <a:spcPts val="105"/>
              </a:spcBef>
            </a:pPr>
            <a:r>
              <a:rPr sz="4409" dirty="0">
                <a:solidFill>
                  <a:schemeClr val="bg1"/>
                </a:solidFill>
              </a:rPr>
              <a:t>Distance</a:t>
            </a:r>
            <a:r>
              <a:rPr sz="4409" spc="-204" dirty="0">
                <a:solidFill>
                  <a:schemeClr val="bg1"/>
                </a:solidFill>
              </a:rPr>
              <a:t> </a:t>
            </a:r>
            <a:r>
              <a:rPr sz="4409" spc="-77" dirty="0">
                <a:solidFill>
                  <a:schemeClr val="bg1"/>
                </a:solidFill>
              </a:rPr>
              <a:t>Vector</a:t>
            </a:r>
            <a:r>
              <a:rPr sz="4409" spc="-193" dirty="0">
                <a:solidFill>
                  <a:schemeClr val="bg1"/>
                </a:solidFill>
              </a:rPr>
              <a:t> </a:t>
            </a:r>
            <a:r>
              <a:rPr sz="4409" spc="-11" dirty="0">
                <a:solidFill>
                  <a:schemeClr val="bg1"/>
                </a:solidFill>
              </a:rPr>
              <a:t>Protocols</a:t>
            </a:r>
            <a:endParaRPr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0455" y="1536432"/>
            <a:ext cx="9810169" cy="5252395"/>
          </a:xfrm>
          <a:prstGeom prst="rect">
            <a:avLst/>
          </a:prstGeom>
        </p:spPr>
        <p:txBody>
          <a:bodyPr vert="horz" wrap="square" lIns="0" tIns="58098" rIns="0" bIns="0" rtlCol="0">
            <a:spAutoFit/>
          </a:bodyPr>
          <a:lstStyle/>
          <a:p>
            <a:pPr marL="528349" indent="-514350">
              <a:spcBef>
                <a:spcPts val="457"/>
              </a:spcBef>
              <a:buClr>
                <a:srgbClr val="D24717"/>
              </a:buClr>
              <a:buSzPct val="85416"/>
              <a:buFont typeface="Wingdings" panose="05000000000000000000" pitchFamily="2" charset="2"/>
              <a:buChar char="Ø"/>
              <a:tabLst>
                <a:tab pos="316382" algn="l"/>
              </a:tabLst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Operation</a:t>
            </a:r>
            <a:r>
              <a:rPr sz="3200" b="1" spc="-8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2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Distance</a:t>
            </a:r>
            <a:r>
              <a:rPr sz="3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Vector</a:t>
            </a:r>
            <a:r>
              <a:rPr sz="3200" b="1" spc="-7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Routing</a:t>
            </a:r>
            <a:r>
              <a:rPr sz="3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Protocols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70499" marR="5600" indent="-457200">
              <a:lnSpc>
                <a:spcPct val="90000"/>
              </a:lnSpc>
              <a:spcBef>
                <a:spcPts val="661"/>
              </a:spcBef>
              <a:buClr>
                <a:srgbClr val="D24717"/>
              </a:buClr>
              <a:buSzPct val="85416"/>
              <a:buFont typeface="Wingdings" panose="05000000000000000000" pitchFamily="2" charset="2"/>
              <a:buChar char="ü"/>
              <a:tabLst>
                <a:tab pos="316382" algn="l"/>
              </a:tabLst>
            </a:pPr>
            <a:r>
              <a:rPr sz="3200" dirty="0">
                <a:latin typeface="Times New Roman"/>
                <a:cs typeface="Times New Roman"/>
              </a:rPr>
              <a:t>Some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distance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vector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protocols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call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router</a:t>
            </a:r>
            <a:r>
              <a:rPr sz="3200" spc="-28" dirty="0">
                <a:latin typeface="Times New Roman"/>
                <a:cs typeface="Times New Roman"/>
              </a:rPr>
              <a:t> to </a:t>
            </a:r>
            <a:r>
              <a:rPr sz="3200" dirty="0">
                <a:latin typeface="Times New Roman"/>
                <a:cs typeface="Times New Roman"/>
              </a:rPr>
              <a:t>periodically</a:t>
            </a:r>
            <a:r>
              <a:rPr sz="3200" spc="-7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broadcast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entire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table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each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 </a:t>
            </a:r>
            <a:r>
              <a:rPr sz="3200" spc="-28" dirty="0">
                <a:latin typeface="Times New Roman"/>
                <a:cs typeface="Times New Roman"/>
              </a:rPr>
              <a:t>its </a:t>
            </a:r>
            <a:r>
              <a:rPr sz="3200" dirty="0">
                <a:latin typeface="Times New Roman"/>
                <a:cs typeface="Times New Roman"/>
              </a:rPr>
              <a:t>neighbors.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This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method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inefficient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because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updates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28" dirty="0">
                <a:latin typeface="Times New Roman"/>
                <a:cs typeface="Times New Roman"/>
              </a:rPr>
              <a:t>not </a:t>
            </a:r>
            <a:r>
              <a:rPr sz="3200" dirty="0">
                <a:latin typeface="Times New Roman"/>
                <a:cs typeface="Times New Roman"/>
              </a:rPr>
              <a:t>only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consume network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bandwidth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but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also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consume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router </a:t>
            </a:r>
            <a:r>
              <a:rPr sz="3200" dirty="0">
                <a:latin typeface="Times New Roman"/>
                <a:cs typeface="Times New Roman"/>
              </a:rPr>
              <a:t>CPU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resources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process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updates.</a:t>
            </a:r>
            <a:endParaRPr lang="en-US" sz="3200" spc="-11" dirty="0">
              <a:latin typeface="Times New Roman"/>
              <a:cs typeface="Times New Roman"/>
            </a:endParaRPr>
          </a:p>
          <a:p>
            <a:pPr marL="470499" marR="5600" indent="-457200">
              <a:lnSpc>
                <a:spcPct val="90000"/>
              </a:lnSpc>
              <a:spcBef>
                <a:spcPts val="661"/>
              </a:spcBef>
              <a:buClr>
                <a:srgbClr val="D24717"/>
              </a:buClr>
              <a:buSzPct val="85416"/>
              <a:buFont typeface="Wingdings" panose="05000000000000000000" pitchFamily="2" charset="2"/>
              <a:buChar char="ü"/>
              <a:tabLst>
                <a:tab pos="316382" algn="l"/>
              </a:tabLst>
            </a:pPr>
            <a:r>
              <a:rPr sz="3200" dirty="0">
                <a:latin typeface="Times New Roman"/>
                <a:cs typeface="Times New Roman"/>
              </a:rPr>
              <a:t>At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core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 the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distance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vector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protocol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 </a:t>
            </a:r>
            <a:r>
              <a:rPr sz="3200" spc="-28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algorithm</a:t>
            </a:r>
            <a:r>
              <a:rPr sz="3200" spc="-6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used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calculate</a:t>
            </a:r>
            <a:r>
              <a:rPr sz="3200" spc="-7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best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paths</a:t>
            </a:r>
            <a:r>
              <a:rPr sz="3200" spc="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then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send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spc="-22" dirty="0">
                <a:latin typeface="Times New Roman"/>
                <a:cs typeface="Times New Roman"/>
              </a:rPr>
              <a:t>that </a:t>
            </a:r>
            <a:r>
              <a:rPr sz="3200" dirty="0">
                <a:latin typeface="Times New Roman"/>
                <a:cs typeface="Times New Roman"/>
              </a:rPr>
              <a:t>information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neighbors.</a:t>
            </a:r>
            <a:endParaRPr lang="en-US" sz="3200" spc="-11" dirty="0">
              <a:latin typeface="Times New Roman"/>
              <a:cs typeface="Times New Roman"/>
            </a:endParaRPr>
          </a:p>
          <a:p>
            <a:pPr marL="470499" marR="5600" indent="-457200">
              <a:lnSpc>
                <a:spcPct val="90000"/>
              </a:lnSpc>
              <a:spcBef>
                <a:spcPts val="661"/>
              </a:spcBef>
              <a:buClr>
                <a:srgbClr val="D24717"/>
              </a:buClr>
              <a:buSzPct val="85416"/>
              <a:buFont typeface="Wingdings" panose="05000000000000000000" pitchFamily="2" charset="2"/>
              <a:buChar char="ü"/>
              <a:tabLst>
                <a:tab pos="316382" algn="l"/>
              </a:tabLst>
            </a:pPr>
            <a:r>
              <a:rPr sz="3200" dirty="0">
                <a:latin typeface="Times New Roman"/>
                <a:cs typeface="Times New Roman"/>
              </a:rPr>
              <a:t>Neighbors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routers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share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link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configured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spc="-28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use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same</a:t>
            </a:r>
            <a:r>
              <a:rPr sz="3200" spc="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protocol.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8886" y="484246"/>
            <a:ext cx="8102851" cy="691948"/>
          </a:xfrm>
          <a:prstGeom prst="rect">
            <a:avLst/>
          </a:prstGeom>
        </p:spPr>
        <p:txBody>
          <a:bodyPr vert="horz" wrap="square" lIns="0" tIns="13299" rIns="0" bIns="0" rtlCol="0" anchor="ctr">
            <a:spAutoFit/>
          </a:bodyPr>
          <a:lstStyle/>
          <a:p>
            <a:pPr marL="13999">
              <a:lnSpc>
                <a:spcPct val="100000"/>
              </a:lnSpc>
              <a:spcBef>
                <a:spcPts val="105"/>
              </a:spcBef>
            </a:pPr>
            <a:r>
              <a:rPr sz="4409" dirty="0">
                <a:solidFill>
                  <a:schemeClr val="bg1"/>
                </a:solidFill>
              </a:rPr>
              <a:t>Routing</a:t>
            </a:r>
            <a:r>
              <a:rPr sz="4409" spc="-182" dirty="0">
                <a:solidFill>
                  <a:schemeClr val="bg1"/>
                </a:solidFill>
              </a:rPr>
              <a:t> </a:t>
            </a:r>
            <a:r>
              <a:rPr sz="4409" dirty="0">
                <a:solidFill>
                  <a:schemeClr val="bg1"/>
                </a:solidFill>
              </a:rPr>
              <a:t>Protocols</a:t>
            </a:r>
            <a:r>
              <a:rPr sz="4409" spc="-182" dirty="0">
                <a:solidFill>
                  <a:schemeClr val="bg1"/>
                </a:solidFill>
              </a:rPr>
              <a:t> </a:t>
            </a:r>
            <a:r>
              <a:rPr sz="4409" spc="-11" dirty="0">
                <a:solidFill>
                  <a:schemeClr val="bg1"/>
                </a:solidFill>
              </a:rPr>
              <a:t>Characteristics</a:t>
            </a:r>
            <a:endParaRPr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1536431"/>
            <a:ext cx="10187189" cy="5243951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1199" indent="-457200">
              <a:spcBef>
                <a:spcPts val="772"/>
              </a:spcBef>
              <a:buClr>
                <a:srgbClr val="C00000"/>
              </a:buClr>
              <a:buSzPct val="85416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Time</a:t>
            </a:r>
            <a:r>
              <a:rPr sz="3200" b="1" spc="-66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convergence</a:t>
            </a:r>
            <a:r>
              <a:rPr lang="en-US"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</a:p>
          <a:p>
            <a:pPr marL="928399" lvl="1" indent="-457200">
              <a:spcBef>
                <a:spcPts val="772"/>
              </a:spcBef>
              <a:buClr>
                <a:srgbClr val="C00000"/>
              </a:buClr>
              <a:buSzPct val="85416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sz="2800" dirty="0">
                <a:latin typeface="Times New Roman"/>
                <a:cs typeface="Times New Roman"/>
              </a:rPr>
              <a:t>Time</a:t>
            </a:r>
            <a:r>
              <a:rPr sz="2800" spc="-3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3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convergence</a:t>
            </a:r>
            <a:r>
              <a:rPr sz="2800" spc="-4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defines</a:t>
            </a:r>
            <a:r>
              <a:rPr sz="2800" spc="-33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how</a:t>
            </a:r>
            <a:r>
              <a:rPr sz="2800" spc="-28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quickly</a:t>
            </a:r>
            <a:r>
              <a:rPr sz="2800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800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routers</a:t>
            </a:r>
            <a:r>
              <a:rPr sz="2800" b="1" spc="-3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8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network</a:t>
            </a:r>
            <a:r>
              <a:rPr sz="28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topology</a:t>
            </a:r>
            <a:r>
              <a:rPr sz="2800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share</a:t>
            </a:r>
            <a:r>
              <a:rPr sz="2800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routing</a:t>
            </a:r>
            <a:r>
              <a:rPr sz="2800" b="1" spc="-1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information</a:t>
            </a:r>
            <a:r>
              <a:rPr sz="2800" b="1" spc="-3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and reach</a:t>
            </a:r>
            <a:r>
              <a:rPr sz="2800" b="1" spc="-3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8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state</a:t>
            </a:r>
            <a:r>
              <a:rPr sz="2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consistent</a:t>
            </a:r>
            <a:r>
              <a:rPr sz="2800" b="1" spc="-6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knowledge</a:t>
            </a:r>
            <a:r>
              <a:rPr sz="2800" dirty="0">
                <a:latin typeface="Times New Roman"/>
                <a:cs typeface="Times New Roman"/>
              </a:rPr>
              <a:t>.</a:t>
            </a:r>
            <a:r>
              <a:rPr sz="2800" spc="-72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6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faster</a:t>
            </a:r>
            <a:r>
              <a:rPr sz="2800" spc="-17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3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convergence,</a:t>
            </a:r>
            <a:r>
              <a:rPr sz="2800" spc="-33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7" dirty="0">
                <a:latin typeface="Times New Roman"/>
                <a:cs typeface="Times New Roman"/>
              </a:rPr>
              <a:t> </a:t>
            </a:r>
            <a:r>
              <a:rPr sz="2800" spc="-22" dirty="0">
                <a:latin typeface="Times New Roman"/>
                <a:cs typeface="Times New Roman"/>
              </a:rPr>
              <a:t>more </a:t>
            </a:r>
            <a:r>
              <a:rPr sz="2800" dirty="0">
                <a:latin typeface="Times New Roman"/>
                <a:cs typeface="Times New Roman"/>
              </a:rPr>
              <a:t>preferable</a:t>
            </a:r>
            <a:r>
              <a:rPr sz="2800" spc="-4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1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protocol.</a:t>
            </a:r>
            <a:r>
              <a:rPr sz="2800" spc="-28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Routing</a:t>
            </a:r>
            <a:r>
              <a:rPr sz="2800" spc="-11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loops</a:t>
            </a:r>
            <a:r>
              <a:rPr sz="2800" spc="-11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17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occur</a:t>
            </a:r>
            <a:r>
              <a:rPr sz="2800" spc="-11" dirty="0">
                <a:latin typeface="Times New Roman"/>
                <a:cs typeface="Times New Roman"/>
              </a:rPr>
              <a:t> </a:t>
            </a:r>
            <a:r>
              <a:rPr sz="2800" spc="-22" dirty="0">
                <a:latin typeface="Times New Roman"/>
                <a:cs typeface="Times New Roman"/>
              </a:rPr>
              <a:t>when </a:t>
            </a:r>
            <a:r>
              <a:rPr sz="2800" dirty="0">
                <a:latin typeface="Times New Roman"/>
                <a:cs typeface="Times New Roman"/>
              </a:rPr>
              <a:t>inconsistent</a:t>
            </a:r>
            <a:r>
              <a:rPr sz="2800" spc="-77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routing</a:t>
            </a:r>
            <a:r>
              <a:rPr sz="2800" spc="-28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tables</a:t>
            </a:r>
            <a:r>
              <a:rPr sz="2800" spc="-33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22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17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updated</a:t>
            </a:r>
            <a:r>
              <a:rPr sz="2800" spc="-33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because</a:t>
            </a:r>
            <a:r>
              <a:rPr sz="2800" spc="-28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33" dirty="0">
                <a:latin typeface="Times New Roman"/>
                <a:cs typeface="Times New Roman"/>
              </a:rPr>
              <a:t> </a:t>
            </a:r>
            <a:r>
              <a:rPr sz="2800" spc="-22" dirty="0">
                <a:latin typeface="Times New Roman"/>
                <a:cs typeface="Times New Roman"/>
              </a:rPr>
              <a:t>slow </a:t>
            </a:r>
            <a:r>
              <a:rPr sz="2800" dirty="0">
                <a:latin typeface="Times New Roman"/>
                <a:cs typeface="Times New Roman"/>
              </a:rPr>
              <a:t>convergence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2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7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changing</a:t>
            </a:r>
            <a:r>
              <a:rPr sz="2800" spc="-28" dirty="0">
                <a:latin typeface="Times New Roman"/>
                <a:cs typeface="Times New Roman"/>
              </a:rPr>
              <a:t> </a:t>
            </a:r>
            <a:r>
              <a:rPr sz="2800" spc="-11" dirty="0">
                <a:latin typeface="Times New Roman"/>
                <a:cs typeface="Times New Roman"/>
              </a:rPr>
              <a:t>network.</a:t>
            </a:r>
            <a:endParaRPr sz="2800" dirty="0">
              <a:latin typeface="Times New Roman"/>
              <a:cs typeface="Times New Roman"/>
            </a:endParaRPr>
          </a:p>
          <a:p>
            <a:pPr marL="471199" indent="-457200">
              <a:spcBef>
                <a:spcPts val="667"/>
              </a:spcBef>
              <a:buClr>
                <a:srgbClr val="C00000"/>
              </a:buClr>
              <a:buSzPct val="85416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Scalability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927699" marR="162391" lvl="1" indent="-457200">
              <a:spcBef>
                <a:spcPts val="661"/>
              </a:spcBef>
              <a:buClr>
                <a:srgbClr val="D24717"/>
              </a:buClr>
              <a:buSzPct val="85416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sz="2800" dirty="0">
                <a:latin typeface="Times New Roman"/>
                <a:cs typeface="Times New Roman"/>
              </a:rPr>
              <a:t>Scalability</a:t>
            </a:r>
            <a:r>
              <a:rPr sz="2800" spc="-83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defines</a:t>
            </a:r>
            <a:r>
              <a:rPr sz="2800" spc="-33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how</a:t>
            </a:r>
            <a:r>
              <a:rPr sz="2800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large</a:t>
            </a:r>
            <a:r>
              <a:rPr sz="2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800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network</a:t>
            </a:r>
            <a:r>
              <a:rPr sz="2800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can</a:t>
            </a:r>
            <a:r>
              <a:rPr sz="2800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become</a:t>
            </a:r>
            <a:r>
              <a:rPr sz="2800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based</a:t>
            </a:r>
            <a:r>
              <a:rPr sz="28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on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800" b="1" spc="-3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routing</a:t>
            </a:r>
            <a:r>
              <a:rPr sz="2800" b="1" spc="-3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protocol</a:t>
            </a:r>
            <a:r>
              <a:rPr sz="2800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that</a:t>
            </a:r>
            <a:r>
              <a:rPr sz="2800" b="1" spc="-3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800" b="1" spc="1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deployed</a:t>
            </a:r>
            <a:r>
              <a:rPr sz="2800" dirty="0">
                <a:latin typeface="Times New Roman"/>
                <a:cs typeface="Times New Roman"/>
              </a:rPr>
              <a:t>.The</a:t>
            </a:r>
            <a:r>
              <a:rPr sz="2800" spc="-4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larger</a:t>
            </a:r>
            <a:r>
              <a:rPr sz="2800" spc="-33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2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network</a:t>
            </a:r>
            <a:r>
              <a:rPr sz="2800" spc="-28" dirty="0">
                <a:latin typeface="Times New Roman"/>
                <a:cs typeface="Times New Roman"/>
              </a:rPr>
              <a:t> is,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8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more</a:t>
            </a:r>
            <a:r>
              <a:rPr sz="2800" spc="-6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scalable</a:t>
            </a:r>
            <a:r>
              <a:rPr sz="2800" spc="-4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1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routing</a:t>
            </a:r>
            <a:r>
              <a:rPr sz="2800" spc="-3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protocol</a:t>
            </a:r>
            <a:r>
              <a:rPr sz="2800" spc="-33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needs</a:t>
            </a:r>
            <a:r>
              <a:rPr sz="2800" spc="-6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1" dirty="0">
                <a:latin typeface="Times New Roman"/>
                <a:cs typeface="Times New Roman"/>
              </a:rPr>
              <a:t> </a:t>
            </a:r>
            <a:r>
              <a:rPr sz="2800" spc="-28" dirty="0">
                <a:latin typeface="Times New Roman"/>
                <a:cs typeface="Times New Roman"/>
              </a:rPr>
              <a:t>be.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0946" y="0"/>
            <a:ext cx="7712142" cy="1235113"/>
          </a:xfrm>
          <a:prstGeom prst="rect">
            <a:avLst/>
          </a:prstGeom>
        </p:spPr>
        <p:txBody>
          <a:bodyPr vert="horz" wrap="square" lIns="0" tIns="551211" rIns="0" bIns="0" rtlCol="0" anchor="ctr">
            <a:spAutoFit/>
          </a:bodyPr>
          <a:lstStyle/>
          <a:p>
            <a:pPr marL="912049">
              <a:lnSpc>
                <a:spcPct val="100000"/>
              </a:lnSpc>
              <a:spcBef>
                <a:spcPts val="105"/>
              </a:spcBef>
            </a:pPr>
            <a:r>
              <a:rPr sz="4409" dirty="0">
                <a:solidFill>
                  <a:schemeClr val="bg1"/>
                </a:solidFill>
              </a:rPr>
              <a:t>Distance</a:t>
            </a:r>
            <a:r>
              <a:rPr sz="4409" spc="-204" dirty="0">
                <a:solidFill>
                  <a:schemeClr val="bg1"/>
                </a:solidFill>
              </a:rPr>
              <a:t> </a:t>
            </a:r>
            <a:r>
              <a:rPr sz="4409" spc="-77" dirty="0">
                <a:solidFill>
                  <a:schemeClr val="bg1"/>
                </a:solidFill>
              </a:rPr>
              <a:t>Vector</a:t>
            </a:r>
            <a:r>
              <a:rPr sz="4409" spc="-193" dirty="0">
                <a:solidFill>
                  <a:schemeClr val="bg1"/>
                </a:solidFill>
              </a:rPr>
              <a:t> </a:t>
            </a:r>
            <a:r>
              <a:rPr sz="4409" spc="-11" dirty="0">
                <a:solidFill>
                  <a:schemeClr val="bg1"/>
                </a:solidFill>
              </a:rPr>
              <a:t>Protocols</a:t>
            </a:r>
            <a:endParaRPr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9313" y="1536433"/>
            <a:ext cx="9741311" cy="5017607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1199" indent="-457200">
              <a:spcBef>
                <a:spcPts val="772"/>
              </a:spcBef>
              <a:buClr>
                <a:srgbClr val="C00000"/>
              </a:buClr>
              <a:buSzPct val="85416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Classless</a:t>
            </a:r>
            <a:r>
              <a:rPr sz="3200" b="1" spc="-7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(use</a:t>
            </a:r>
            <a:r>
              <a:rPr sz="32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200" b="1" spc="-9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VLSM)</a:t>
            </a:r>
            <a:r>
              <a:rPr sz="3200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3200" b="1" spc="-8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classful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527649" marR="5600" indent="-514350">
              <a:spcBef>
                <a:spcPts val="667"/>
              </a:spcBef>
              <a:buClr>
                <a:srgbClr val="C00000"/>
              </a:buClr>
              <a:buSzPct val="85416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sz="2646" dirty="0">
                <a:latin typeface="Times New Roman"/>
                <a:cs typeface="Times New Roman"/>
              </a:rPr>
              <a:t>Classless</a:t>
            </a:r>
            <a:r>
              <a:rPr sz="2646" spc="-50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routing</a:t>
            </a:r>
            <a:r>
              <a:rPr sz="2646" spc="-28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protocols</a:t>
            </a:r>
            <a:r>
              <a:rPr sz="2646" spc="-28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include</a:t>
            </a:r>
            <a:r>
              <a:rPr sz="2646" spc="-33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the</a:t>
            </a:r>
            <a:r>
              <a:rPr sz="2646" spc="-28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subnet</a:t>
            </a:r>
            <a:r>
              <a:rPr sz="2646" spc="-17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mask</a:t>
            </a:r>
            <a:r>
              <a:rPr sz="2646" spc="6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in</a:t>
            </a:r>
            <a:r>
              <a:rPr sz="2646" spc="-17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the</a:t>
            </a:r>
            <a:r>
              <a:rPr sz="2646" spc="-22" dirty="0">
                <a:latin typeface="Times New Roman"/>
                <a:cs typeface="Times New Roman"/>
              </a:rPr>
              <a:t> </a:t>
            </a:r>
            <a:r>
              <a:rPr sz="2646" spc="-11" dirty="0">
                <a:latin typeface="Times New Roman"/>
                <a:cs typeface="Times New Roman"/>
              </a:rPr>
              <a:t>updates. </a:t>
            </a:r>
            <a:r>
              <a:rPr sz="2646" dirty="0">
                <a:latin typeface="Times New Roman"/>
                <a:cs typeface="Times New Roman"/>
              </a:rPr>
              <a:t>This</a:t>
            </a:r>
            <a:r>
              <a:rPr sz="2646" spc="-39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feature</a:t>
            </a:r>
            <a:r>
              <a:rPr sz="2646" spc="-44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supports</a:t>
            </a:r>
            <a:r>
              <a:rPr sz="2646" spc="-17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the</a:t>
            </a:r>
            <a:r>
              <a:rPr sz="2646" spc="-44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use</a:t>
            </a:r>
            <a:r>
              <a:rPr sz="2646" spc="-6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of</a:t>
            </a:r>
            <a:r>
              <a:rPr sz="2646" spc="-17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variable-length</a:t>
            </a:r>
            <a:r>
              <a:rPr sz="2646" spc="-66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subnet</a:t>
            </a:r>
            <a:r>
              <a:rPr sz="2646" spc="-22" dirty="0">
                <a:latin typeface="Times New Roman"/>
                <a:cs typeface="Times New Roman"/>
              </a:rPr>
              <a:t> </a:t>
            </a:r>
            <a:r>
              <a:rPr sz="2646" spc="-11" dirty="0">
                <a:latin typeface="Times New Roman"/>
                <a:cs typeface="Times New Roman"/>
              </a:rPr>
              <a:t>masking </a:t>
            </a:r>
            <a:r>
              <a:rPr sz="2646" dirty="0">
                <a:latin typeface="Times New Roman"/>
                <a:cs typeface="Times New Roman"/>
              </a:rPr>
              <a:t>(VLSM)</a:t>
            </a:r>
            <a:r>
              <a:rPr sz="2646" spc="-28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and</a:t>
            </a:r>
            <a:r>
              <a:rPr sz="2646" spc="-22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better</a:t>
            </a:r>
            <a:r>
              <a:rPr sz="2646" spc="-61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route</a:t>
            </a:r>
            <a:r>
              <a:rPr sz="2646" spc="-33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summarization.</a:t>
            </a:r>
            <a:r>
              <a:rPr sz="2646" spc="-22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Classful</a:t>
            </a:r>
            <a:r>
              <a:rPr sz="2646" spc="-39" dirty="0">
                <a:latin typeface="Times New Roman"/>
                <a:cs typeface="Times New Roman"/>
              </a:rPr>
              <a:t> </a:t>
            </a:r>
            <a:r>
              <a:rPr sz="2646" spc="-11" dirty="0">
                <a:latin typeface="Times New Roman"/>
                <a:cs typeface="Times New Roman"/>
              </a:rPr>
              <a:t>routing </a:t>
            </a:r>
            <a:r>
              <a:rPr sz="2646" dirty="0">
                <a:latin typeface="Times New Roman"/>
                <a:cs typeface="Times New Roman"/>
              </a:rPr>
              <a:t>protocols</a:t>
            </a:r>
            <a:r>
              <a:rPr sz="2646" spc="-44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do</a:t>
            </a:r>
            <a:r>
              <a:rPr sz="2646" spc="-6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not</a:t>
            </a:r>
            <a:r>
              <a:rPr sz="2646" spc="-17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include</a:t>
            </a:r>
            <a:r>
              <a:rPr sz="2646" spc="-50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the</a:t>
            </a:r>
            <a:r>
              <a:rPr sz="2646" spc="-17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subnet</a:t>
            </a:r>
            <a:r>
              <a:rPr sz="2646" spc="-11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mask</a:t>
            </a:r>
            <a:r>
              <a:rPr sz="2646" spc="6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and</a:t>
            </a:r>
            <a:r>
              <a:rPr sz="2646" spc="-6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cannot</a:t>
            </a:r>
            <a:r>
              <a:rPr sz="2646" spc="-28" dirty="0">
                <a:latin typeface="Times New Roman"/>
                <a:cs typeface="Times New Roman"/>
              </a:rPr>
              <a:t> </a:t>
            </a:r>
            <a:r>
              <a:rPr sz="2646" spc="-11" dirty="0">
                <a:latin typeface="Times New Roman"/>
                <a:cs typeface="Times New Roman"/>
              </a:rPr>
              <a:t>support VLSM.</a:t>
            </a:r>
            <a:endParaRPr sz="2646" dirty="0">
              <a:latin typeface="Times New Roman"/>
              <a:cs typeface="Times New Roman"/>
            </a:endParaRPr>
          </a:p>
          <a:p>
            <a:pPr marL="471199" indent="-457200">
              <a:spcBef>
                <a:spcPts val="661"/>
              </a:spcBef>
              <a:buClr>
                <a:srgbClr val="D24717"/>
              </a:buClr>
              <a:buSzPct val="85416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Resource</a:t>
            </a:r>
            <a:r>
              <a:rPr sz="3200" b="1" spc="-14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usage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70499" marR="403877" indent="-457200">
              <a:spcBef>
                <a:spcPts val="667"/>
              </a:spcBef>
              <a:buClr>
                <a:srgbClr val="C00000"/>
              </a:buClr>
              <a:buSzPct val="85416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sz="2646" dirty="0">
                <a:latin typeface="Times New Roman"/>
                <a:cs typeface="Times New Roman"/>
              </a:rPr>
              <a:t>Resource</a:t>
            </a:r>
            <a:r>
              <a:rPr sz="2646" spc="-44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usage</a:t>
            </a:r>
            <a:r>
              <a:rPr sz="2646" spc="-17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includes</a:t>
            </a:r>
            <a:r>
              <a:rPr sz="2646" spc="-28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the</a:t>
            </a:r>
            <a:r>
              <a:rPr sz="2646" spc="-22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requirements</a:t>
            </a:r>
            <a:r>
              <a:rPr sz="2646" spc="-28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of a</a:t>
            </a:r>
            <a:r>
              <a:rPr sz="2646" spc="-17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routing</a:t>
            </a:r>
            <a:r>
              <a:rPr sz="2646" spc="-33" dirty="0">
                <a:latin typeface="Times New Roman"/>
                <a:cs typeface="Times New Roman"/>
              </a:rPr>
              <a:t> </a:t>
            </a:r>
            <a:r>
              <a:rPr sz="2646" spc="-11" dirty="0">
                <a:latin typeface="Times New Roman"/>
                <a:cs typeface="Times New Roman"/>
              </a:rPr>
              <a:t>protocol, </a:t>
            </a:r>
            <a:r>
              <a:rPr sz="2646" dirty="0">
                <a:latin typeface="Times New Roman"/>
                <a:cs typeface="Times New Roman"/>
              </a:rPr>
              <a:t>such</a:t>
            </a:r>
            <a:r>
              <a:rPr sz="2646" spc="-39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as</a:t>
            </a:r>
            <a:r>
              <a:rPr sz="2646" spc="-28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memory space,</a:t>
            </a:r>
            <a:r>
              <a:rPr sz="2646" spc="-33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CPU</a:t>
            </a:r>
            <a:r>
              <a:rPr sz="2646" spc="-11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utilization,</a:t>
            </a:r>
            <a:r>
              <a:rPr sz="2646" spc="-83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and</a:t>
            </a:r>
            <a:r>
              <a:rPr sz="2646" spc="-22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link</a:t>
            </a:r>
            <a:r>
              <a:rPr sz="2646" spc="-44" dirty="0">
                <a:latin typeface="Times New Roman"/>
                <a:cs typeface="Times New Roman"/>
              </a:rPr>
              <a:t> </a:t>
            </a:r>
            <a:r>
              <a:rPr sz="2646" spc="-11" dirty="0">
                <a:latin typeface="Times New Roman"/>
                <a:cs typeface="Times New Roman"/>
              </a:rPr>
              <a:t>bandwidth </a:t>
            </a:r>
            <a:r>
              <a:rPr sz="2646" dirty="0">
                <a:latin typeface="Times New Roman"/>
                <a:cs typeface="Times New Roman"/>
              </a:rPr>
              <a:t>utilization.</a:t>
            </a:r>
            <a:r>
              <a:rPr sz="2646" spc="-77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Higher</a:t>
            </a:r>
            <a:r>
              <a:rPr sz="2646" spc="-28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resource</a:t>
            </a:r>
            <a:r>
              <a:rPr sz="2646" spc="-44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requirements</a:t>
            </a:r>
            <a:r>
              <a:rPr sz="2646" spc="-61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necessitate</a:t>
            </a:r>
            <a:r>
              <a:rPr sz="2646" spc="-72" dirty="0">
                <a:latin typeface="Times New Roman"/>
                <a:cs typeface="Times New Roman"/>
              </a:rPr>
              <a:t> </a:t>
            </a:r>
            <a:r>
              <a:rPr sz="2646" spc="-22" dirty="0">
                <a:latin typeface="Times New Roman"/>
                <a:cs typeface="Times New Roman"/>
              </a:rPr>
              <a:t>more </a:t>
            </a:r>
            <a:r>
              <a:rPr sz="2646" dirty="0">
                <a:latin typeface="Times New Roman"/>
                <a:cs typeface="Times New Roman"/>
              </a:rPr>
              <a:t>powerful</a:t>
            </a:r>
            <a:r>
              <a:rPr sz="2646" spc="-22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hardware</a:t>
            </a:r>
            <a:r>
              <a:rPr sz="2646" spc="-17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to</a:t>
            </a:r>
            <a:r>
              <a:rPr sz="2646" spc="-11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support</a:t>
            </a:r>
            <a:r>
              <a:rPr sz="2646" spc="-17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the</a:t>
            </a:r>
            <a:r>
              <a:rPr sz="2646" spc="-17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routing</a:t>
            </a:r>
            <a:r>
              <a:rPr sz="2646" spc="-44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protocol</a:t>
            </a:r>
            <a:r>
              <a:rPr sz="2646" spc="-39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operation</a:t>
            </a:r>
            <a:r>
              <a:rPr sz="2646" spc="-50" dirty="0">
                <a:latin typeface="Times New Roman"/>
                <a:cs typeface="Times New Roman"/>
              </a:rPr>
              <a:t> </a:t>
            </a:r>
            <a:r>
              <a:rPr sz="2646" spc="-28" dirty="0">
                <a:latin typeface="Times New Roman"/>
                <a:cs typeface="Times New Roman"/>
              </a:rPr>
              <a:t>in </a:t>
            </a:r>
            <a:r>
              <a:rPr sz="2646" dirty="0">
                <a:latin typeface="Times New Roman"/>
                <a:cs typeface="Times New Roman"/>
              </a:rPr>
              <a:t>addition</a:t>
            </a:r>
            <a:r>
              <a:rPr sz="2646" spc="-55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to</a:t>
            </a:r>
            <a:r>
              <a:rPr sz="2646" spc="-6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the</a:t>
            </a:r>
            <a:r>
              <a:rPr sz="2646" spc="-6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packet-forwarding</a:t>
            </a:r>
            <a:r>
              <a:rPr sz="2646" spc="-33" dirty="0">
                <a:latin typeface="Times New Roman"/>
                <a:cs typeface="Times New Roman"/>
              </a:rPr>
              <a:t> </a:t>
            </a:r>
            <a:r>
              <a:rPr sz="2646" spc="-11" dirty="0">
                <a:latin typeface="Times New Roman"/>
                <a:cs typeface="Times New Roman"/>
              </a:rPr>
              <a:t>processes.</a:t>
            </a:r>
            <a:endParaRPr sz="2646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3216" y="0"/>
            <a:ext cx="7454564" cy="1235113"/>
          </a:xfrm>
          <a:prstGeom prst="rect">
            <a:avLst/>
          </a:prstGeom>
        </p:spPr>
        <p:txBody>
          <a:bodyPr vert="horz" wrap="square" lIns="0" tIns="551211" rIns="0" bIns="0" rtlCol="0" anchor="ctr">
            <a:spAutoFit/>
          </a:bodyPr>
          <a:lstStyle/>
          <a:p>
            <a:pPr marL="912049">
              <a:lnSpc>
                <a:spcPct val="100000"/>
              </a:lnSpc>
              <a:spcBef>
                <a:spcPts val="105"/>
              </a:spcBef>
            </a:pPr>
            <a:r>
              <a:rPr sz="4409" dirty="0">
                <a:solidFill>
                  <a:schemeClr val="bg1"/>
                </a:solidFill>
              </a:rPr>
              <a:t>Distance</a:t>
            </a:r>
            <a:r>
              <a:rPr sz="4409" spc="-204" dirty="0">
                <a:solidFill>
                  <a:schemeClr val="bg1"/>
                </a:solidFill>
              </a:rPr>
              <a:t> </a:t>
            </a:r>
            <a:r>
              <a:rPr sz="4409" spc="-77" dirty="0">
                <a:solidFill>
                  <a:schemeClr val="bg1"/>
                </a:solidFill>
              </a:rPr>
              <a:t>Vector</a:t>
            </a:r>
            <a:r>
              <a:rPr sz="4409" spc="-193" dirty="0">
                <a:solidFill>
                  <a:schemeClr val="bg1"/>
                </a:solidFill>
              </a:rPr>
              <a:t> </a:t>
            </a:r>
            <a:r>
              <a:rPr sz="4409" spc="-11" dirty="0">
                <a:solidFill>
                  <a:schemeClr val="bg1"/>
                </a:solidFill>
              </a:rPr>
              <a:t>Protocols</a:t>
            </a:r>
            <a:endParaRPr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5845" y="1862861"/>
            <a:ext cx="9628933" cy="2650934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1199" indent="-457200">
              <a:spcBef>
                <a:spcPts val="772"/>
              </a:spcBef>
              <a:buClr>
                <a:srgbClr val="C00000"/>
              </a:buClr>
              <a:buSzPct val="85416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Implementation</a:t>
            </a:r>
            <a:r>
              <a:rPr sz="3200" b="1" spc="-8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3200" b="1" spc="-66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maintenance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927699" marR="5600" lvl="1" indent="-457200">
              <a:spcBef>
                <a:spcPts val="667"/>
              </a:spcBef>
              <a:buClr>
                <a:srgbClr val="C00000"/>
              </a:buClr>
              <a:buSzPct val="85416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sz="3200" dirty="0">
                <a:latin typeface="Times New Roman"/>
                <a:cs typeface="Times New Roman"/>
              </a:rPr>
              <a:t>Implementation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maintenance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describe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level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1" dirty="0">
                <a:latin typeface="Times New Roman"/>
                <a:cs typeface="Times New Roman"/>
              </a:rPr>
              <a:t> knowledge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required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network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administrator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implement</a:t>
            </a:r>
            <a:r>
              <a:rPr sz="3200" spc="-28" dirty="0">
                <a:latin typeface="Times New Roman"/>
                <a:cs typeface="Times New Roman"/>
              </a:rPr>
              <a:t> and </a:t>
            </a:r>
            <a:r>
              <a:rPr sz="3200" dirty="0">
                <a:latin typeface="Times New Roman"/>
                <a:cs typeface="Times New Roman"/>
              </a:rPr>
              <a:t>maintain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network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based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protocol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deployed.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726" y="451217"/>
            <a:ext cx="4613502" cy="691948"/>
          </a:xfrm>
          <a:prstGeom prst="rect">
            <a:avLst/>
          </a:prstGeom>
        </p:spPr>
        <p:txBody>
          <a:bodyPr vert="horz" wrap="square" lIns="0" tIns="13299" rIns="0" bIns="0" rtlCol="0" anchor="ctr">
            <a:spAutoFit/>
          </a:bodyPr>
          <a:lstStyle/>
          <a:p>
            <a:pPr marL="13999">
              <a:lnSpc>
                <a:spcPct val="100000"/>
              </a:lnSpc>
              <a:spcBef>
                <a:spcPts val="105"/>
              </a:spcBef>
            </a:pPr>
            <a:r>
              <a:rPr sz="4409" dirty="0">
                <a:solidFill>
                  <a:schemeClr val="bg1"/>
                </a:solidFill>
              </a:rPr>
              <a:t>Network</a:t>
            </a:r>
            <a:r>
              <a:rPr sz="4409" spc="-187" dirty="0">
                <a:solidFill>
                  <a:schemeClr val="bg1"/>
                </a:solidFill>
              </a:rPr>
              <a:t> </a:t>
            </a:r>
            <a:r>
              <a:rPr sz="4409" spc="-11" dirty="0">
                <a:solidFill>
                  <a:schemeClr val="bg1"/>
                </a:solidFill>
              </a:rPr>
              <a:t>Discovery</a:t>
            </a:r>
            <a:endParaRPr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2058" y="1759700"/>
            <a:ext cx="9866341" cy="5080332"/>
          </a:xfrm>
          <a:prstGeom prst="rect">
            <a:avLst/>
          </a:prstGeom>
        </p:spPr>
        <p:txBody>
          <a:bodyPr vert="horz" wrap="square" lIns="0" tIns="14699" rIns="0" bIns="0" rtlCol="0">
            <a:spAutoFit/>
          </a:bodyPr>
          <a:lstStyle/>
          <a:p>
            <a:pPr marL="470499" marR="5600" indent="-457200">
              <a:spcBef>
                <a:spcPts val="116"/>
              </a:spcBef>
              <a:buClr>
                <a:srgbClr val="C00000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dirty="0">
                <a:latin typeface="Times New Roman"/>
                <a:cs typeface="Times New Roman"/>
              </a:rPr>
              <a:t>Network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discovery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part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process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 the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routing </a:t>
            </a:r>
            <a:r>
              <a:rPr sz="3200" dirty="0">
                <a:latin typeface="Times New Roman"/>
                <a:cs typeface="Times New Roman"/>
              </a:rPr>
              <a:t>protocol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algorithm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enables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routers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first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learn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about </a:t>
            </a:r>
            <a:r>
              <a:rPr sz="3200" dirty="0">
                <a:latin typeface="Times New Roman"/>
                <a:cs typeface="Times New Roman"/>
              </a:rPr>
              <a:t>remote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networks.</a:t>
            </a:r>
            <a:endParaRPr lang="en-US" sz="3200" spc="-11" dirty="0">
              <a:latin typeface="Times New Roman"/>
              <a:cs typeface="Times New Roman"/>
            </a:endParaRPr>
          </a:p>
          <a:p>
            <a:pPr marL="470499" marR="5600" indent="-457200">
              <a:spcBef>
                <a:spcPts val="116"/>
              </a:spcBef>
              <a:buClr>
                <a:srgbClr val="C00000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Cold</a:t>
            </a:r>
            <a:r>
              <a:rPr sz="3200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Start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823279" marR="285583" lvl="1" indent="-457200">
              <a:spcBef>
                <a:spcPts val="456"/>
              </a:spcBef>
              <a:buClr>
                <a:srgbClr val="C00000"/>
              </a:buClr>
              <a:buSzPct val="80357"/>
              <a:buFont typeface="Wingdings" panose="05000000000000000000" pitchFamily="2" charset="2"/>
              <a:buChar char="ü"/>
              <a:tabLst>
                <a:tab pos="618765" algn="l"/>
                <a:tab pos="627865" algn="l"/>
              </a:tabLst>
            </a:pP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first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boot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ups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-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only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information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imes New Roman"/>
                <a:cs typeface="Times New Roman"/>
              </a:rPr>
              <a:t>a </a:t>
            </a:r>
            <a:r>
              <a:rPr sz="3200" dirty="0">
                <a:latin typeface="Times New Roman"/>
                <a:cs typeface="Times New Roman"/>
              </a:rPr>
              <a:t>router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has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from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its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own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saved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configuration</a:t>
            </a:r>
            <a:r>
              <a:rPr sz="3200" spc="-66" dirty="0">
                <a:latin typeface="Times New Roman"/>
                <a:cs typeface="Times New Roman"/>
              </a:rPr>
              <a:t> </a:t>
            </a:r>
            <a:r>
              <a:rPr sz="3200" spc="-22" dirty="0">
                <a:latin typeface="Times New Roman"/>
                <a:cs typeface="Times New Roman"/>
              </a:rPr>
              <a:t>file </a:t>
            </a:r>
            <a:r>
              <a:rPr sz="3200" dirty="0">
                <a:latin typeface="Times New Roman"/>
                <a:cs typeface="Times New Roman"/>
              </a:rPr>
              <a:t>stored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1" dirty="0">
                <a:latin typeface="Times New Roman"/>
                <a:cs typeface="Times New Roman"/>
              </a:rPr>
              <a:t> NVRAM.</a:t>
            </a:r>
            <a:endParaRPr lang="en-US" sz="3200" spc="-11" dirty="0">
              <a:latin typeface="Times New Roman"/>
              <a:cs typeface="Times New Roman"/>
            </a:endParaRPr>
          </a:p>
          <a:p>
            <a:pPr marL="823279" marR="285583" lvl="1" indent="-457200">
              <a:spcBef>
                <a:spcPts val="456"/>
              </a:spcBef>
              <a:buClr>
                <a:srgbClr val="C00000"/>
              </a:buClr>
              <a:buSzPct val="80357"/>
              <a:buFont typeface="Wingdings" panose="05000000000000000000" pitchFamily="2" charset="2"/>
              <a:buChar char="ü"/>
              <a:tabLst>
                <a:tab pos="618765" algn="l"/>
                <a:tab pos="627865" algn="l"/>
              </a:tabLst>
            </a:pPr>
            <a:r>
              <a:rPr sz="3200" dirty="0">
                <a:latin typeface="Times New Roman"/>
                <a:cs typeface="Times New Roman"/>
              </a:rPr>
              <a:t>After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boots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-</a:t>
            </a:r>
            <a:r>
              <a:rPr sz="3200" spc="-6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router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will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initially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discover</a:t>
            </a:r>
            <a:r>
              <a:rPr sz="3200" spc="-28" dirty="0">
                <a:latin typeface="Times New Roman"/>
                <a:cs typeface="Times New Roman"/>
              </a:rPr>
              <a:t> its </a:t>
            </a:r>
            <a:r>
              <a:rPr sz="3200" dirty="0">
                <a:latin typeface="Times New Roman"/>
                <a:cs typeface="Times New Roman"/>
              </a:rPr>
              <a:t>own</a:t>
            </a:r>
            <a:r>
              <a:rPr sz="3200" spc="-7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directly</a:t>
            </a:r>
            <a:r>
              <a:rPr sz="3200" spc="-6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connected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networks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(discover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8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network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topology)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810" y="510171"/>
            <a:ext cx="4613502" cy="691948"/>
          </a:xfrm>
          <a:prstGeom prst="rect">
            <a:avLst/>
          </a:prstGeom>
        </p:spPr>
        <p:txBody>
          <a:bodyPr vert="horz" wrap="square" lIns="0" tIns="13299" rIns="0" bIns="0" rtlCol="0" anchor="ctr">
            <a:spAutoFit/>
          </a:bodyPr>
          <a:lstStyle/>
          <a:p>
            <a:pPr marL="13999">
              <a:lnSpc>
                <a:spcPct val="100000"/>
              </a:lnSpc>
              <a:spcBef>
                <a:spcPts val="105"/>
              </a:spcBef>
            </a:pPr>
            <a:r>
              <a:rPr sz="4409" dirty="0">
                <a:solidFill>
                  <a:schemeClr val="bg1"/>
                </a:solidFill>
              </a:rPr>
              <a:t>Network</a:t>
            </a:r>
            <a:r>
              <a:rPr sz="4409" spc="-187" dirty="0">
                <a:solidFill>
                  <a:schemeClr val="bg1"/>
                </a:solidFill>
              </a:rPr>
              <a:t> </a:t>
            </a:r>
            <a:r>
              <a:rPr sz="4409" spc="-11" dirty="0">
                <a:solidFill>
                  <a:schemeClr val="bg1"/>
                </a:solidFill>
              </a:rPr>
              <a:t>Discovery</a:t>
            </a:r>
            <a:endParaRPr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51507" y="1664784"/>
            <a:ext cx="9803862" cy="999728"/>
          </a:xfrm>
          <a:prstGeom prst="rect">
            <a:avLst/>
          </a:prstGeom>
        </p:spPr>
        <p:txBody>
          <a:bodyPr vert="horz" wrap="square" lIns="0" tIns="14699" rIns="0" bIns="0" rtlCol="0" anchor="t">
            <a:spAutoFit/>
          </a:bodyPr>
          <a:lstStyle/>
          <a:p>
            <a:pPr marL="492898" marR="5600" indent="-457200">
              <a:lnSpc>
                <a:spcPct val="100000"/>
              </a:lnSpc>
              <a:spcBef>
                <a:spcPts val="116"/>
              </a:spcBef>
              <a:buClr>
                <a:srgbClr val="C00000"/>
              </a:buClr>
              <a:buSzPct val="84615"/>
              <a:buFont typeface="Wingdings" panose="05000000000000000000" pitchFamily="2" charset="2"/>
              <a:buChar char="Ø"/>
              <a:tabLst>
                <a:tab pos="338081" algn="l"/>
              </a:tabLst>
            </a:pPr>
            <a:r>
              <a:rPr sz="3200" dirty="0"/>
              <a:t>In</a:t>
            </a:r>
            <a:r>
              <a:rPr sz="3200" spc="-50" dirty="0"/>
              <a:t> </a:t>
            </a:r>
            <a:r>
              <a:rPr sz="3200" dirty="0"/>
              <a:t>Figure</a:t>
            </a:r>
            <a:r>
              <a:rPr sz="3200" spc="-39" dirty="0"/>
              <a:t> </a:t>
            </a:r>
            <a:r>
              <a:rPr lang="en-US" sz="3200" spc="-39" dirty="0"/>
              <a:t>below</a:t>
            </a:r>
            <a:r>
              <a:rPr sz="3200" dirty="0"/>
              <a:t>,</a:t>
            </a:r>
            <a:r>
              <a:rPr sz="3200" spc="-28" dirty="0"/>
              <a:t> </a:t>
            </a:r>
            <a:r>
              <a:rPr sz="3200" dirty="0"/>
              <a:t>the</a:t>
            </a:r>
            <a:r>
              <a:rPr sz="3200" spc="-11" dirty="0"/>
              <a:t> </a:t>
            </a:r>
            <a:r>
              <a:rPr sz="3200" dirty="0"/>
              <a:t>routers</a:t>
            </a:r>
            <a:r>
              <a:rPr sz="3200" spc="-39" dirty="0"/>
              <a:t> </a:t>
            </a:r>
            <a:r>
              <a:rPr sz="3200" dirty="0"/>
              <a:t>have</a:t>
            </a:r>
            <a:r>
              <a:rPr sz="3200" spc="-33" dirty="0"/>
              <a:t> </a:t>
            </a:r>
            <a:r>
              <a:rPr sz="3200" dirty="0"/>
              <a:t>booted.</a:t>
            </a:r>
            <a:r>
              <a:rPr sz="3200" spc="-55" dirty="0"/>
              <a:t> </a:t>
            </a:r>
            <a:r>
              <a:rPr sz="3200" dirty="0"/>
              <a:t>However,</a:t>
            </a:r>
            <a:r>
              <a:rPr sz="3200" spc="-50" dirty="0"/>
              <a:t> </a:t>
            </a:r>
            <a:r>
              <a:rPr sz="3200" dirty="0"/>
              <a:t>they</a:t>
            </a:r>
            <a:r>
              <a:rPr sz="3200" spc="-17" dirty="0"/>
              <a:t> </a:t>
            </a:r>
            <a:r>
              <a:rPr sz="3200" spc="-22" dirty="0"/>
              <a:t>have </a:t>
            </a:r>
            <a:r>
              <a:rPr sz="3200" dirty="0"/>
              <a:t>not</a:t>
            </a:r>
            <a:r>
              <a:rPr sz="3200" spc="-44" dirty="0"/>
              <a:t> </a:t>
            </a:r>
            <a:r>
              <a:rPr sz="3200" dirty="0"/>
              <a:t>yet</a:t>
            </a:r>
            <a:r>
              <a:rPr sz="3200" spc="-17" dirty="0"/>
              <a:t> </a:t>
            </a:r>
            <a:r>
              <a:rPr sz="3200" dirty="0"/>
              <a:t>discovered</a:t>
            </a:r>
            <a:r>
              <a:rPr sz="3200" spc="-39" dirty="0"/>
              <a:t> </a:t>
            </a:r>
            <a:r>
              <a:rPr sz="3200" dirty="0"/>
              <a:t>any</a:t>
            </a:r>
            <a:r>
              <a:rPr sz="3200" spc="-33" dirty="0"/>
              <a:t> </a:t>
            </a:r>
            <a:r>
              <a:rPr sz="3200" dirty="0"/>
              <a:t>neighbors.</a:t>
            </a:r>
            <a:r>
              <a:rPr sz="3200" spc="-28" dirty="0"/>
              <a:t> </a:t>
            </a:r>
            <a:endParaRPr sz="3200" spc="-11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263" y="2975021"/>
            <a:ext cx="8655467" cy="33049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810" y="608974"/>
            <a:ext cx="4613502" cy="691948"/>
          </a:xfrm>
          <a:prstGeom prst="rect">
            <a:avLst/>
          </a:prstGeom>
        </p:spPr>
        <p:txBody>
          <a:bodyPr vert="horz" wrap="square" lIns="0" tIns="13299" rIns="0" bIns="0" rtlCol="0" anchor="ctr">
            <a:spAutoFit/>
          </a:bodyPr>
          <a:lstStyle/>
          <a:p>
            <a:pPr marL="13999">
              <a:lnSpc>
                <a:spcPct val="100000"/>
              </a:lnSpc>
              <a:spcBef>
                <a:spcPts val="105"/>
              </a:spcBef>
            </a:pPr>
            <a:r>
              <a:rPr sz="4409" dirty="0">
                <a:solidFill>
                  <a:schemeClr val="bg1"/>
                </a:solidFill>
              </a:rPr>
              <a:t>Network</a:t>
            </a:r>
            <a:r>
              <a:rPr sz="4409" spc="-187" dirty="0">
                <a:solidFill>
                  <a:schemeClr val="bg1"/>
                </a:solidFill>
              </a:rPr>
              <a:t> </a:t>
            </a:r>
            <a:r>
              <a:rPr sz="4409" spc="-11" dirty="0">
                <a:solidFill>
                  <a:schemeClr val="bg1"/>
                </a:solidFill>
              </a:rPr>
              <a:t>Discovery</a:t>
            </a:r>
            <a:endParaRPr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0425" y="1820618"/>
            <a:ext cx="10000200" cy="1492170"/>
          </a:xfrm>
          <a:prstGeom prst="rect">
            <a:avLst/>
          </a:prstGeom>
        </p:spPr>
        <p:txBody>
          <a:bodyPr vert="horz" wrap="square" lIns="0" tIns="14699" rIns="0" bIns="0" rtlCol="0" anchor="t">
            <a:spAutoFit/>
          </a:bodyPr>
          <a:lstStyle/>
          <a:p>
            <a:pPr marL="492898" marR="5600" indent="-457200">
              <a:lnSpc>
                <a:spcPct val="100000"/>
              </a:lnSpc>
              <a:spcBef>
                <a:spcPts val="116"/>
              </a:spcBef>
              <a:buClr>
                <a:srgbClr val="C00000"/>
              </a:buClr>
              <a:buSzPct val="84615"/>
              <a:buFont typeface="Wingdings" panose="05000000000000000000" pitchFamily="2" charset="2"/>
              <a:buChar char="Ø"/>
              <a:tabLst>
                <a:tab pos="338081" algn="l"/>
              </a:tabLst>
            </a:pPr>
            <a:r>
              <a:rPr sz="3200" dirty="0"/>
              <a:t>In</a:t>
            </a:r>
            <a:r>
              <a:rPr sz="3200" spc="-50" dirty="0"/>
              <a:t> </a:t>
            </a:r>
            <a:r>
              <a:rPr sz="3200" dirty="0"/>
              <a:t>Figure</a:t>
            </a:r>
            <a:r>
              <a:rPr sz="3200" spc="-39" dirty="0"/>
              <a:t> </a:t>
            </a:r>
            <a:r>
              <a:rPr lang="en-US" sz="3200" dirty="0"/>
              <a:t>below</a:t>
            </a:r>
            <a:r>
              <a:rPr sz="3200" dirty="0"/>
              <a:t>,</a:t>
            </a:r>
            <a:r>
              <a:rPr sz="3200" spc="-28" dirty="0"/>
              <a:t> </a:t>
            </a:r>
            <a:r>
              <a:rPr sz="3200" dirty="0"/>
              <a:t>In</a:t>
            </a:r>
            <a:r>
              <a:rPr sz="3200" spc="-22" dirty="0"/>
              <a:t> </a:t>
            </a:r>
            <a:r>
              <a:rPr sz="3200" dirty="0"/>
              <a:t>the</a:t>
            </a:r>
            <a:r>
              <a:rPr sz="3200" spc="-17" dirty="0"/>
              <a:t> </a:t>
            </a:r>
            <a:r>
              <a:rPr sz="3200" dirty="0"/>
              <a:t>tables</a:t>
            </a:r>
            <a:r>
              <a:rPr sz="3200" spc="-17" dirty="0"/>
              <a:t> </a:t>
            </a:r>
            <a:r>
              <a:rPr sz="3200" dirty="0"/>
              <a:t>below</a:t>
            </a:r>
            <a:r>
              <a:rPr sz="3200" spc="-17" dirty="0"/>
              <a:t> </a:t>
            </a:r>
            <a:r>
              <a:rPr sz="3200" spc="-22" dirty="0"/>
              <a:t>each </a:t>
            </a:r>
            <a:r>
              <a:rPr sz="3200" dirty="0"/>
              <a:t>router,</a:t>
            </a:r>
            <a:r>
              <a:rPr sz="3200" spc="-61" dirty="0"/>
              <a:t> </a:t>
            </a:r>
            <a:r>
              <a:rPr sz="3200" dirty="0"/>
              <a:t>fill</a:t>
            </a:r>
            <a:r>
              <a:rPr sz="3200" spc="-11" dirty="0"/>
              <a:t> </a:t>
            </a:r>
            <a:r>
              <a:rPr sz="3200" dirty="0"/>
              <a:t>in</a:t>
            </a:r>
            <a:r>
              <a:rPr sz="3200" spc="-22" dirty="0"/>
              <a:t> </a:t>
            </a:r>
            <a:r>
              <a:rPr sz="3200" dirty="0"/>
              <a:t>the</a:t>
            </a:r>
            <a:r>
              <a:rPr sz="3200" spc="-44" dirty="0"/>
              <a:t> </a:t>
            </a:r>
            <a:r>
              <a:rPr sz="3200" dirty="0"/>
              <a:t>networks,</a:t>
            </a:r>
            <a:r>
              <a:rPr sz="3200" spc="-61" dirty="0"/>
              <a:t> </a:t>
            </a:r>
            <a:r>
              <a:rPr sz="3200" dirty="0"/>
              <a:t>interfaces,</a:t>
            </a:r>
            <a:r>
              <a:rPr sz="3200" spc="-22" dirty="0"/>
              <a:t> </a:t>
            </a:r>
            <a:r>
              <a:rPr sz="3200" dirty="0"/>
              <a:t>and</a:t>
            </a:r>
            <a:r>
              <a:rPr sz="3200" spc="-28" dirty="0"/>
              <a:t> </a:t>
            </a:r>
            <a:r>
              <a:rPr sz="3200" dirty="0"/>
              <a:t>hop</a:t>
            </a:r>
            <a:r>
              <a:rPr sz="3200" spc="-44" dirty="0"/>
              <a:t> </a:t>
            </a:r>
            <a:r>
              <a:rPr sz="3200" dirty="0"/>
              <a:t>counts</a:t>
            </a:r>
            <a:r>
              <a:rPr sz="3200" spc="-44" dirty="0"/>
              <a:t> </a:t>
            </a:r>
            <a:r>
              <a:rPr sz="3200" spc="-22" dirty="0"/>
              <a:t>that </a:t>
            </a:r>
            <a:r>
              <a:rPr sz="3200" dirty="0"/>
              <a:t>each</a:t>
            </a:r>
            <a:r>
              <a:rPr sz="3200" spc="-44" dirty="0"/>
              <a:t> </a:t>
            </a:r>
            <a:r>
              <a:rPr sz="3200" dirty="0"/>
              <a:t>router</a:t>
            </a:r>
            <a:r>
              <a:rPr sz="3200" spc="-39" dirty="0"/>
              <a:t> </a:t>
            </a:r>
            <a:r>
              <a:rPr sz="3200" dirty="0"/>
              <a:t>has</a:t>
            </a:r>
            <a:r>
              <a:rPr sz="3200" spc="-22" dirty="0"/>
              <a:t> </a:t>
            </a:r>
            <a:r>
              <a:rPr sz="3200" dirty="0"/>
              <a:t>installed</a:t>
            </a:r>
            <a:r>
              <a:rPr sz="3200" spc="-17" dirty="0"/>
              <a:t> </a:t>
            </a:r>
            <a:r>
              <a:rPr sz="3200" dirty="0"/>
              <a:t>in</a:t>
            </a:r>
            <a:r>
              <a:rPr sz="3200" spc="-17" dirty="0"/>
              <a:t> </a:t>
            </a:r>
            <a:r>
              <a:rPr sz="3200" dirty="0"/>
              <a:t>its</a:t>
            </a:r>
            <a:r>
              <a:rPr sz="3200" spc="-22" dirty="0"/>
              <a:t> </a:t>
            </a:r>
            <a:r>
              <a:rPr sz="3200" dirty="0"/>
              <a:t>routing</a:t>
            </a:r>
            <a:r>
              <a:rPr sz="3200" spc="-22" dirty="0"/>
              <a:t> </a:t>
            </a:r>
            <a:r>
              <a:rPr sz="3200" spc="-11" dirty="0"/>
              <a:t>table.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3190" y="3915177"/>
            <a:ext cx="8854243" cy="30355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862884" y="444049"/>
            <a:ext cx="6413678" cy="929010"/>
          </a:xfrm>
          <a:prstGeom prst="rect">
            <a:avLst/>
          </a:prstGeom>
        </p:spPr>
        <p:txBody>
          <a:bodyPr vert="horz" wrap="square" lIns="0" tIns="248068" rIns="0" bIns="0" rtlCol="0" anchor="ctr">
            <a:spAutoFit/>
          </a:bodyPr>
          <a:lstStyle/>
          <a:p>
            <a:pPr marL="1421620">
              <a:lnSpc>
                <a:spcPct val="100000"/>
              </a:lnSpc>
              <a:spcBef>
                <a:spcPts val="105"/>
              </a:spcBef>
            </a:pPr>
            <a:r>
              <a:rPr sz="4409" dirty="0">
                <a:solidFill>
                  <a:schemeClr val="bg1"/>
                </a:solidFill>
              </a:rPr>
              <a:t>Network</a:t>
            </a:r>
            <a:r>
              <a:rPr sz="4409" spc="-171" dirty="0">
                <a:solidFill>
                  <a:schemeClr val="bg1"/>
                </a:solidFill>
              </a:rPr>
              <a:t> </a:t>
            </a:r>
            <a:r>
              <a:rPr sz="4409" spc="-11" dirty="0">
                <a:solidFill>
                  <a:schemeClr val="bg1"/>
                </a:solidFill>
              </a:rPr>
              <a:t>Discovery</a:t>
            </a:r>
            <a:endParaRPr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2720" y="1958999"/>
            <a:ext cx="9435183" cy="3641676"/>
          </a:xfrm>
          <a:prstGeom prst="rect">
            <a:avLst/>
          </a:prstGeom>
        </p:spPr>
        <p:txBody>
          <a:bodyPr vert="horz" wrap="square" lIns="0" tIns="78397" rIns="0" bIns="0" rtlCol="0">
            <a:spAutoFit/>
          </a:bodyPr>
          <a:lstStyle/>
          <a:p>
            <a:pPr marL="457900" indent="-457200">
              <a:spcBef>
                <a:spcPts val="617"/>
              </a:spcBef>
              <a:buClr>
                <a:srgbClr val="C00000"/>
              </a:buClr>
              <a:buSzPct val="70833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Initial</a:t>
            </a:r>
            <a:r>
              <a:rPr sz="3200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Exchange</a:t>
            </a:r>
            <a:r>
              <a:rPr sz="3200" b="1" spc="-1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200" b="1" spc="-1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Routing</a:t>
            </a: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 Information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822579" marR="602666" lvl="1" indent="-457200">
              <a:spcBef>
                <a:spcPts val="451"/>
              </a:spcBef>
              <a:buClr>
                <a:srgbClr val="C00000"/>
              </a:buClr>
              <a:buSzPct val="81250"/>
              <a:buFont typeface="Wingdings" panose="05000000000000000000" pitchFamily="2" charset="2"/>
              <a:buChar char="ü"/>
              <a:tabLst>
                <a:tab pos="618765" algn="l"/>
                <a:tab pos="664962" algn="l"/>
              </a:tabLst>
            </a:pPr>
            <a:r>
              <a:rPr sz="3200" dirty="0">
                <a:latin typeface="Times New Roman"/>
                <a:cs typeface="Times New Roman"/>
              </a:rPr>
              <a:t>	Before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routers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start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sending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each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other</a:t>
            </a:r>
            <a:r>
              <a:rPr lang="en-US"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updates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-</a:t>
            </a:r>
            <a:r>
              <a:rPr sz="3200" spc="-19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20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protocol</a:t>
            </a:r>
            <a:r>
              <a:rPr sz="3200" spc="-6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must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spc="-28" dirty="0">
                <a:latin typeface="Times New Roman"/>
                <a:cs typeface="Times New Roman"/>
              </a:rPr>
              <a:t>be </a:t>
            </a:r>
            <a:r>
              <a:rPr sz="3200" dirty="0">
                <a:latin typeface="Times New Roman"/>
                <a:cs typeface="Times New Roman"/>
              </a:rPr>
              <a:t>configured</a:t>
            </a:r>
            <a:r>
              <a:rPr sz="3200" spc="-8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each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router.</a:t>
            </a:r>
            <a:endParaRPr sz="3200" dirty="0">
              <a:latin typeface="Times New Roman"/>
              <a:cs typeface="Times New Roman"/>
            </a:endParaRPr>
          </a:p>
          <a:p>
            <a:pPr marL="822579" marR="1028242" lvl="1" indent="-457200" algn="just">
              <a:spcBef>
                <a:spcPts val="441"/>
              </a:spcBef>
              <a:buClr>
                <a:srgbClr val="C00000"/>
              </a:buClr>
              <a:buSzPct val="81250"/>
              <a:buFont typeface="Wingdings" panose="05000000000000000000" pitchFamily="2" charset="2"/>
              <a:buChar char="ü"/>
              <a:tabLst>
                <a:tab pos="618765" algn="l"/>
                <a:tab pos="664962" algn="l"/>
              </a:tabLst>
            </a:pPr>
            <a:r>
              <a:rPr sz="3200" dirty="0">
                <a:latin typeface="Times New Roman"/>
                <a:cs typeface="Times New Roman"/>
              </a:rPr>
              <a:t>	The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first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round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updates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only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includes </a:t>
            </a:r>
            <a:r>
              <a:rPr sz="3200" dirty="0">
                <a:latin typeface="Times New Roman"/>
                <a:cs typeface="Times New Roman"/>
              </a:rPr>
              <a:t>information</a:t>
            </a:r>
            <a:r>
              <a:rPr sz="3200" spc="-8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about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each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router’s</a:t>
            </a:r>
            <a:r>
              <a:rPr sz="3200" spc="-72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directly </a:t>
            </a:r>
            <a:r>
              <a:rPr sz="3200" dirty="0">
                <a:latin typeface="Times New Roman"/>
                <a:cs typeface="Times New Roman"/>
              </a:rPr>
              <a:t>connected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networks.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7457" y="593724"/>
            <a:ext cx="5047580" cy="629689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>
              <a:lnSpc>
                <a:spcPct val="100000"/>
              </a:lnSpc>
              <a:spcBef>
                <a:spcPts val="110"/>
              </a:spcBef>
            </a:pPr>
            <a:r>
              <a:rPr sz="4000" dirty="0">
                <a:solidFill>
                  <a:schemeClr val="bg1"/>
                </a:solidFill>
              </a:rPr>
              <a:t>Network </a:t>
            </a:r>
            <a:r>
              <a:rPr sz="4000" spc="-11" dirty="0">
                <a:solidFill>
                  <a:schemeClr val="bg1"/>
                </a:solidFill>
              </a:rPr>
              <a:t>Discovery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6515" y="1628107"/>
            <a:ext cx="9460093" cy="2085686"/>
          </a:xfrm>
          <a:prstGeom prst="rect">
            <a:avLst/>
          </a:prstGeom>
        </p:spPr>
        <p:txBody>
          <a:bodyPr vert="horz" wrap="square" lIns="0" tIns="114795" rIns="0" bIns="0" rtlCol="0">
            <a:spAutoFit/>
          </a:bodyPr>
          <a:lstStyle/>
          <a:p>
            <a:pPr marL="457200" marR="5600" indent="-457200">
              <a:lnSpc>
                <a:spcPct val="80000"/>
              </a:lnSpc>
              <a:spcBef>
                <a:spcPts val="904"/>
              </a:spcBef>
              <a:buClr>
                <a:srgbClr val="C00000"/>
              </a:buClr>
              <a:buSzPct val="85000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6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Figure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lang="en-US" sz="3200" spc="-11" dirty="0">
                <a:latin typeface="Times New Roman"/>
                <a:cs typeface="Times New Roman"/>
              </a:rPr>
              <a:t>below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routers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have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completed</a:t>
            </a:r>
            <a:r>
              <a:rPr sz="3200" spc="-11" dirty="0">
                <a:latin typeface="Times New Roman"/>
                <a:cs typeface="Times New Roman"/>
              </a:rPr>
              <a:t> their </a:t>
            </a:r>
            <a:r>
              <a:rPr sz="3200" dirty="0">
                <a:latin typeface="Times New Roman"/>
                <a:cs typeface="Times New Roman"/>
              </a:rPr>
              <a:t>initial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exchange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7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updates.</a:t>
            </a:r>
            <a:r>
              <a:rPr sz="3200" spc="-6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7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tables </a:t>
            </a:r>
            <a:r>
              <a:rPr sz="3200" dirty="0">
                <a:latin typeface="Times New Roman"/>
                <a:cs typeface="Times New Roman"/>
              </a:rPr>
              <a:t>below</a:t>
            </a:r>
            <a:r>
              <a:rPr sz="3200" spc="-8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each</a:t>
            </a:r>
            <a:r>
              <a:rPr sz="3200" spc="-8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router,</a:t>
            </a:r>
            <a:r>
              <a:rPr sz="3200" spc="-6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fill</a:t>
            </a:r>
            <a:r>
              <a:rPr sz="3200" spc="-7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8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8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networks,</a:t>
            </a:r>
            <a:r>
              <a:rPr sz="3200" spc="-88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interfaces,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hop</a:t>
            </a:r>
            <a:r>
              <a:rPr sz="3200" spc="-6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counts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each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router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now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has</a:t>
            </a:r>
            <a:r>
              <a:rPr sz="3200" spc="-6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installed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spc="-28" dirty="0">
                <a:latin typeface="Times New Roman"/>
                <a:cs typeface="Times New Roman"/>
              </a:rPr>
              <a:t>in </a:t>
            </a:r>
            <a:r>
              <a:rPr sz="3200" dirty="0">
                <a:latin typeface="Times New Roman"/>
                <a:cs typeface="Times New Roman"/>
              </a:rPr>
              <a:t>its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table.</a:t>
            </a:r>
            <a:endParaRPr sz="32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017" y="3779836"/>
            <a:ext cx="9460093" cy="334935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3214" y="514478"/>
            <a:ext cx="5459703" cy="691244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>
              <a:lnSpc>
                <a:spcPct val="100000"/>
              </a:lnSpc>
              <a:spcBef>
                <a:spcPts val="110"/>
              </a:spcBef>
            </a:pPr>
            <a:r>
              <a:rPr sz="4400" dirty="0">
                <a:solidFill>
                  <a:schemeClr val="bg1"/>
                </a:solidFill>
              </a:rPr>
              <a:t>Network </a:t>
            </a:r>
            <a:r>
              <a:rPr sz="4400" spc="-11" dirty="0">
                <a:solidFill>
                  <a:schemeClr val="bg1"/>
                </a:solidFill>
              </a:rPr>
              <a:t>Discovery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5516" y="1573290"/>
            <a:ext cx="9460093" cy="2085686"/>
          </a:xfrm>
          <a:prstGeom prst="rect">
            <a:avLst/>
          </a:prstGeom>
        </p:spPr>
        <p:txBody>
          <a:bodyPr vert="horz" wrap="square" lIns="0" tIns="114795" rIns="0" bIns="0" rtlCol="0">
            <a:spAutoFit/>
          </a:bodyPr>
          <a:lstStyle/>
          <a:p>
            <a:pPr marL="457200" marR="5600" indent="-457200">
              <a:lnSpc>
                <a:spcPct val="80000"/>
              </a:lnSpc>
              <a:spcBef>
                <a:spcPts val="904"/>
              </a:spcBef>
              <a:buClr>
                <a:srgbClr val="D24717"/>
              </a:buClr>
              <a:buSzPct val="85000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6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Figure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lang="en-US" sz="3200" spc="-11" dirty="0">
                <a:latin typeface="Times New Roman"/>
                <a:cs typeface="Times New Roman"/>
              </a:rPr>
              <a:t>below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routers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have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completed</a:t>
            </a:r>
            <a:r>
              <a:rPr sz="3200" spc="-11" dirty="0">
                <a:latin typeface="Times New Roman"/>
                <a:cs typeface="Times New Roman"/>
              </a:rPr>
              <a:t> their </a:t>
            </a:r>
            <a:r>
              <a:rPr sz="3200" dirty="0">
                <a:latin typeface="Times New Roman"/>
                <a:cs typeface="Times New Roman"/>
              </a:rPr>
              <a:t>initial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exchange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7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updates.</a:t>
            </a:r>
            <a:r>
              <a:rPr sz="3200" spc="-6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7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tables </a:t>
            </a:r>
            <a:r>
              <a:rPr sz="3200" dirty="0">
                <a:latin typeface="Times New Roman"/>
                <a:cs typeface="Times New Roman"/>
              </a:rPr>
              <a:t>below</a:t>
            </a:r>
            <a:r>
              <a:rPr sz="3200" spc="-8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each</a:t>
            </a:r>
            <a:r>
              <a:rPr sz="3200" spc="-8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router,</a:t>
            </a:r>
            <a:r>
              <a:rPr sz="3200" spc="-6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fill</a:t>
            </a:r>
            <a:r>
              <a:rPr sz="3200" spc="-7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8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8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networks,</a:t>
            </a:r>
            <a:r>
              <a:rPr sz="3200" spc="-88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interfaces,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hop</a:t>
            </a:r>
            <a:r>
              <a:rPr sz="3200" spc="-6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counts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each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router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now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has</a:t>
            </a:r>
            <a:r>
              <a:rPr sz="3200" spc="-6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installed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spc="-28" dirty="0">
                <a:latin typeface="Times New Roman"/>
                <a:cs typeface="Times New Roman"/>
              </a:rPr>
              <a:t>in </a:t>
            </a:r>
            <a:r>
              <a:rPr sz="3200" dirty="0">
                <a:latin typeface="Times New Roman"/>
                <a:cs typeface="Times New Roman"/>
              </a:rPr>
              <a:t>its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table.</a:t>
            </a:r>
            <a:endParaRPr sz="32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516" y="3317857"/>
            <a:ext cx="9460093" cy="37273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850" y="631895"/>
            <a:ext cx="5847992" cy="691244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>
              <a:lnSpc>
                <a:spcPct val="100000"/>
              </a:lnSpc>
              <a:spcBef>
                <a:spcPts val="110"/>
              </a:spcBef>
            </a:pPr>
            <a:r>
              <a:rPr sz="4400" dirty="0">
                <a:solidFill>
                  <a:schemeClr val="bg1"/>
                </a:solidFill>
              </a:rPr>
              <a:t>Network </a:t>
            </a:r>
            <a:r>
              <a:rPr sz="4400" spc="-11" dirty="0">
                <a:solidFill>
                  <a:schemeClr val="bg1"/>
                </a:solidFill>
              </a:rPr>
              <a:t>Discovery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546" y="1780261"/>
            <a:ext cx="9762186" cy="2301331"/>
          </a:xfrm>
          <a:prstGeom prst="rect">
            <a:avLst/>
          </a:prstGeom>
        </p:spPr>
        <p:txBody>
          <a:bodyPr vert="horz" wrap="square" lIns="0" tIns="58098" rIns="0" bIns="0" rtlCol="0">
            <a:spAutoFit/>
          </a:bodyPr>
          <a:lstStyle/>
          <a:p>
            <a:pPr marL="470499" marR="5600" indent="-457200" algn="just">
              <a:lnSpc>
                <a:spcPct val="90000"/>
              </a:lnSpc>
              <a:spcBef>
                <a:spcPts val="457"/>
              </a:spcBef>
              <a:buClr>
                <a:srgbClr val="C00000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dirty="0">
                <a:latin typeface="Times New Roman"/>
                <a:cs typeface="Times New Roman"/>
              </a:rPr>
              <a:t>At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this point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network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discovery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process,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</a:t>
            </a:r>
            <a:r>
              <a:rPr sz="3200" spc="-11" dirty="0">
                <a:latin typeface="Times New Roman"/>
                <a:cs typeface="Times New Roman"/>
              </a:rPr>
              <a:t>routing 	</a:t>
            </a:r>
            <a:r>
              <a:rPr sz="3200" dirty="0">
                <a:latin typeface="Times New Roman"/>
                <a:cs typeface="Times New Roman"/>
              </a:rPr>
              <a:t>tables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incomplete.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other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words,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network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has </a:t>
            </a:r>
            <a:r>
              <a:rPr sz="3200" spc="-28" dirty="0">
                <a:latin typeface="Times New Roman"/>
                <a:cs typeface="Times New Roman"/>
              </a:rPr>
              <a:t>not 	</a:t>
            </a:r>
            <a:r>
              <a:rPr sz="3200" dirty="0">
                <a:latin typeface="Times New Roman"/>
                <a:cs typeface="Times New Roman"/>
              </a:rPr>
              <a:t>yet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converged.</a:t>
            </a:r>
            <a:endParaRPr sz="3200" dirty="0">
              <a:latin typeface="Times New Roman"/>
              <a:cs typeface="Times New Roman"/>
            </a:endParaRPr>
          </a:p>
          <a:p>
            <a:pPr marL="1166179" lvl="2" indent="-342900" algn="just">
              <a:spcBef>
                <a:spcPts val="165"/>
              </a:spcBef>
              <a:buClr>
                <a:srgbClr val="9B2C1F"/>
              </a:buClr>
              <a:buSzPct val="84090"/>
              <a:buFont typeface="Wingdings" panose="05000000000000000000" pitchFamily="2" charset="2"/>
              <a:buChar char="ü"/>
              <a:tabLst>
                <a:tab pos="617365" algn="l"/>
              </a:tabLst>
            </a:pPr>
            <a:r>
              <a:rPr sz="2800" dirty="0">
                <a:latin typeface="Times New Roman"/>
                <a:cs typeface="Times New Roman"/>
              </a:rPr>
              <a:t>R1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does</a:t>
            </a:r>
            <a:r>
              <a:rPr sz="2800" spc="-33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3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yet</a:t>
            </a:r>
            <a:r>
              <a:rPr sz="2800" spc="-4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know</a:t>
            </a:r>
            <a:r>
              <a:rPr sz="2800" spc="-33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about</a:t>
            </a:r>
            <a:r>
              <a:rPr sz="2800" spc="-39" dirty="0">
                <a:latin typeface="Times New Roman"/>
                <a:cs typeface="Times New Roman"/>
              </a:rPr>
              <a:t> </a:t>
            </a:r>
            <a:r>
              <a:rPr sz="2800" spc="-11" dirty="0">
                <a:latin typeface="Times New Roman"/>
                <a:cs typeface="Times New Roman"/>
              </a:rPr>
              <a:t>172.20.0.0.</a:t>
            </a:r>
            <a:endParaRPr sz="2800" dirty="0">
              <a:latin typeface="Times New Roman"/>
              <a:cs typeface="Times New Roman"/>
            </a:endParaRPr>
          </a:p>
          <a:p>
            <a:pPr marL="1166179" lvl="2" indent="-342900" algn="just">
              <a:spcBef>
                <a:spcPts val="154"/>
              </a:spcBef>
              <a:buClr>
                <a:srgbClr val="9B2C1F"/>
              </a:buClr>
              <a:buSzPct val="84090"/>
              <a:buFont typeface="Wingdings" panose="05000000000000000000" pitchFamily="2" charset="2"/>
              <a:buChar char="ü"/>
              <a:tabLst>
                <a:tab pos="617365" algn="l"/>
              </a:tabLst>
            </a:pPr>
            <a:r>
              <a:rPr sz="2800" dirty="0">
                <a:latin typeface="Times New Roman"/>
                <a:cs typeface="Times New Roman"/>
              </a:rPr>
              <a:t>R3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does</a:t>
            </a:r>
            <a:r>
              <a:rPr sz="2800" spc="-33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3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yet</a:t>
            </a:r>
            <a:r>
              <a:rPr sz="2800" spc="-4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know</a:t>
            </a:r>
            <a:r>
              <a:rPr sz="2800" spc="-33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about</a:t>
            </a:r>
            <a:r>
              <a:rPr sz="2800" spc="-39" dirty="0">
                <a:latin typeface="Times New Roman"/>
                <a:cs typeface="Times New Roman"/>
              </a:rPr>
              <a:t> </a:t>
            </a:r>
            <a:r>
              <a:rPr sz="2800" spc="-11" dirty="0">
                <a:latin typeface="Times New Roman"/>
                <a:cs typeface="Times New Roman"/>
              </a:rPr>
              <a:t>172.16.0.0.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6419" y="4081592"/>
            <a:ext cx="8838439" cy="28461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551489" y="318396"/>
            <a:ext cx="6707590" cy="929010"/>
          </a:xfrm>
          <a:prstGeom prst="rect">
            <a:avLst/>
          </a:prstGeom>
        </p:spPr>
        <p:txBody>
          <a:bodyPr vert="horz" wrap="square" lIns="0" tIns="248068" rIns="0" bIns="0" rtlCol="0" anchor="ctr">
            <a:spAutoFit/>
          </a:bodyPr>
          <a:lstStyle/>
          <a:p>
            <a:pPr marL="1421620">
              <a:lnSpc>
                <a:spcPct val="100000"/>
              </a:lnSpc>
              <a:spcBef>
                <a:spcPts val="105"/>
              </a:spcBef>
            </a:pPr>
            <a:r>
              <a:rPr sz="4409" dirty="0">
                <a:solidFill>
                  <a:schemeClr val="bg1"/>
                </a:solidFill>
              </a:rPr>
              <a:t>Network</a:t>
            </a:r>
            <a:r>
              <a:rPr sz="4409" spc="-171" dirty="0">
                <a:solidFill>
                  <a:schemeClr val="bg1"/>
                </a:solidFill>
              </a:rPr>
              <a:t> </a:t>
            </a:r>
            <a:r>
              <a:rPr sz="4409" spc="-11" dirty="0">
                <a:solidFill>
                  <a:schemeClr val="bg1"/>
                </a:solidFill>
              </a:rPr>
              <a:t>Discovery</a:t>
            </a:r>
            <a:endParaRPr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5300" y="1809305"/>
            <a:ext cx="8157449" cy="2096695"/>
          </a:xfrm>
          <a:prstGeom prst="rect">
            <a:avLst/>
          </a:prstGeom>
        </p:spPr>
        <p:txBody>
          <a:bodyPr vert="horz" wrap="square" lIns="0" tIns="74897" rIns="0" bIns="0" rtlCol="0">
            <a:spAutoFit/>
          </a:bodyPr>
          <a:lstStyle/>
          <a:p>
            <a:pPr marL="457900" indent="-457200">
              <a:spcBef>
                <a:spcPts val="590"/>
              </a:spcBef>
              <a:buClr>
                <a:srgbClr val="D24717"/>
              </a:buClr>
              <a:buSzPct val="79687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Next</a:t>
            </a:r>
            <a:r>
              <a:rPr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Update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820479" marR="5600" lvl="1" indent="-457200">
              <a:spcBef>
                <a:spcPts val="446"/>
              </a:spcBef>
              <a:buClr>
                <a:srgbClr val="9B2C1F"/>
              </a:buClr>
              <a:buSzPct val="81666"/>
              <a:buFont typeface="Wingdings" panose="05000000000000000000" pitchFamily="2" charset="2"/>
              <a:buChar char="ü"/>
              <a:tabLst>
                <a:tab pos="618765" algn="l"/>
                <a:tab pos="646764" algn="l"/>
              </a:tabLst>
            </a:pPr>
            <a:r>
              <a:rPr sz="3200" dirty="0">
                <a:latin typeface="Times New Roman"/>
                <a:cs typeface="Times New Roman"/>
              </a:rPr>
              <a:t>Continuing</a:t>
            </a:r>
            <a:r>
              <a:rPr sz="3200" spc="-7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9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journey</a:t>
            </a:r>
            <a:r>
              <a:rPr sz="3200" spc="-8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toward</a:t>
            </a:r>
            <a:r>
              <a:rPr sz="3200" spc="-77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convergence,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7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routers</a:t>
            </a:r>
            <a:r>
              <a:rPr sz="3200" spc="-6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exchange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next</a:t>
            </a:r>
            <a:r>
              <a:rPr sz="3200" spc="-7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round</a:t>
            </a:r>
            <a:r>
              <a:rPr sz="3200" spc="-72" dirty="0">
                <a:latin typeface="Times New Roman"/>
                <a:cs typeface="Times New Roman"/>
              </a:rPr>
              <a:t> </a:t>
            </a:r>
            <a:r>
              <a:rPr sz="3200" spc="-28" dirty="0">
                <a:latin typeface="Times New Roman"/>
                <a:cs typeface="Times New Roman"/>
              </a:rPr>
              <a:t>of </a:t>
            </a:r>
            <a:r>
              <a:rPr sz="3200" dirty="0">
                <a:latin typeface="Times New Roman"/>
                <a:cs typeface="Times New Roman"/>
              </a:rPr>
              <a:t>periodic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updates.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820" y="543161"/>
            <a:ext cx="4984124" cy="629689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>
              <a:lnSpc>
                <a:spcPct val="100000"/>
              </a:lnSpc>
              <a:spcBef>
                <a:spcPts val="110"/>
              </a:spcBef>
            </a:pPr>
            <a:r>
              <a:rPr sz="4000" dirty="0">
                <a:solidFill>
                  <a:schemeClr val="bg1"/>
                </a:solidFill>
              </a:rPr>
              <a:t>Network </a:t>
            </a:r>
            <a:r>
              <a:rPr sz="4000" spc="-11" dirty="0">
                <a:solidFill>
                  <a:schemeClr val="bg1"/>
                </a:solidFill>
              </a:rPr>
              <a:t>Discovery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820" y="1611312"/>
            <a:ext cx="9607639" cy="1983199"/>
          </a:xfrm>
          <a:prstGeom prst="rect">
            <a:avLst/>
          </a:prstGeom>
        </p:spPr>
        <p:txBody>
          <a:bodyPr vert="horz" wrap="square" lIns="0" tIns="13299" rIns="0" bIns="0" rtlCol="0">
            <a:spAutoFit/>
          </a:bodyPr>
          <a:lstStyle/>
          <a:p>
            <a:pPr marL="470499" marR="5600" indent="-457200">
              <a:spcBef>
                <a:spcPts val="105"/>
              </a:spcBef>
              <a:buClr>
                <a:srgbClr val="D24717"/>
              </a:buClr>
              <a:buSzPct val="83928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Figure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lang="en-US" sz="3200" spc="-11" dirty="0">
                <a:latin typeface="Times New Roman"/>
                <a:cs typeface="Times New Roman"/>
              </a:rPr>
              <a:t>below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routers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have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completed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their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spc="-22" dirty="0">
                <a:latin typeface="Times New Roman"/>
                <a:cs typeface="Times New Roman"/>
              </a:rPr>
              <a:t>next </a:t>
            </a:r>
            <a:r>
              <a:rPr sz="3200" dirty="0">
                <a:latin typeface="Times New Roman"/>
                <a:cs typeface="Times New Roman"/>
              </a:rPr>
              <a:t>round</a:t>
            </a:r>
            <a:r>
              <a:rPr sz="3200" spc="-6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updates.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tables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below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each</a:t>
            </a:r>
            <a:r>
              <a:rPr sz="3200" spc="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router,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fill</a:t>
            </a:r>
            <a:r>
              <a:rPr sz="3200" spc="-28" dirty="0">
                <a:latin typeface="Times New Roman"/>
                <a:cs typeface="Times New Roman"/>
              </a:rPr>
              <a:t> in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7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networks,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interfaces,</a:t>
            </a:r>
            <a:r>
              <a:rPr sz="3200" spc="-7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hop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counts</a:t>
            </a:r>
            <a:r>
              <a:rPr sz="3200" spc="-7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each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router </a:t>
            </a:r>
            <a:r>
              <a:rPr sz="3200" dirty="0">
                <a:latin typeface="Times New Roman"/>
                <a:cs typeface="Times New Roman"/>
              </a:rPr>
              <a:t>now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has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installed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its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table.</a:t>
            </a:r>
            <a:endParaRPr sz="32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0036" y="4035441"/>
            <a:ext cx="8833735" cy="304888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515" y="687251"/>
            <a:ext cx="5744961" cy="691244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>
              <a:lnSpc>
                <a:spcPct val="100000"/>
              </a:lnSpc>
              <a:spcBef>
                <a:spcPts val="110"/>
              </a:spcBef>
            </a:pPr>
            <a:r>
              <a:rPr sz="4400" dirty="0">
                <a:solidFill>
                  <a:schemeClr val="bg1"/>
                </a:solidFill>
              </a:rPr>
              <a:t>Network </a:t>
            </a:r>
            <a:r>
              <a:rPr sz="4400" spc="-11" dirty="0">
                <a:solidFill>
                  <a:schemeClr val="bg1"/>
                </a:solidFill>
              </a:rPr>
              <a:t>Discovery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6515" y="1701464"/>
            <a:ext cx="9153506" cy="1912923"/>
          </a:xfrm>
          <a:prstGeom prst="rect">
            <a:avLst/>
          </a:prstGeom>
        </p:spPr>
        <p:txBody>
          <a:bodyPr vert="horz" wrap="square" lIns="0" tIns="13299" rIns="0" bIns="0" rtlCol="0">
            <a:spAutoFit/>
          </a:bodyPr>
          <a:lstStyle/>
          <a:p>
            <a:pPr marL="470499" marR="5600" indent="-457200">
              <a:spcBef>
                <a:spcPts val="105"/>
              </a:spcBef>
              <a:buClr>
                <a:srgbClr val="D24717"/>
              </a:buClr>
              <a:buSzPct val="83928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086" dirty="0">
                <a:latin typeface="Times New Roman"/>
                <a:cs typeface="Times New Roman"/>
              </a:rPr>
              <a:t>In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Figure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lang="en-US" sz="3086" spc="-11" dirty="0">
                <a:latin typeface="Times New Roman"/>
                <a:cs typeface="Times New Roman"/>
              </a:rPr>
              <a:t>below</a:t>
            </a:r>
            <a:r>
              <a:rPr sz="3086" dirty="0">
                <a:latin typeface="Times New Roman"/>
                <a:cs typeface="Times New Roman"/>
              </a:rPr>
              <a:t>,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routers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have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completed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their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spc="-22" dirty="0">
                <a:latin typeface="Times New Roman"/>
                <a:cs typeface="Times New Roman"/>
              </a:rPr>
              <a:t>next </a:t>
            </a:r>
            <a:r>
              <a:rPr sz="3086" dirty="0">
                <a:latin typeface="Times New Roman"/>
                <a:cs typeface="Times New Roman"/>
              </a:rPr>
              <a:t>round</a:t>
            </a:r>
            <a:r>
              <a:rPr sz="3086" spc="-66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of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updates.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In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tables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below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each</a:t>
            </a:r>
            <a:r>
              <a:rPr sz="3086" spc="11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router,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fill</a:t>
            </a:r>
            <a:r>
              <a:rPr sz="3086" spc="-28" dirty="0">
                <a:latin typeface="Times New Roman"/>
                <a:cs typeface="Times New Roman"/>
              </a:rPr>
              <a:t> in </a:t>
            </a: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7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networks,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interfaces,</a:t>
            </a:r>
            <a:r>
              <a:rPr sz="3086" spc="-7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and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hop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counts</a:t>
            </a:r>
            <a:r>
              <a:rPr sz="3086" spc="-7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that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each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router 	</a:t>
            </a:r>
            <a:r>
              <a:rPr sz="3086" dirty="0">
                <a:latin typeface="Times New Roman"/>
                <a:cs typeface="Times New Roman"/>
              </a:rPr>
              <a:t>now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has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installed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in</a:t>
            </a:r>
            <a:r>
              <a:rPr sz="3086" spc="-1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its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routing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table.</a:t>
            </a:r>
            <a:endParaRPr sz="3086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603" y="3614387"/>
            <a:ext cx="8948982" cy="334681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323098" y="385099"/>
            <a:ext cx="7612539" cy="1013827"/>
          </a:xfrm>
          <a:prstGeom prst="rect">
            <a:avLst/>
          </a:prstGeom>
        </p:spPr>
        <p:txBody>
          <a:bodyPr vert="horz" wrap="square" lIns="0" tIns="332065" rIns="0" bIns="0" rtlCol="0" anchor="ctr">
            <a:spAutoFit/>
          </a:bodyPr>
          <a:lstStyle/>
          <a:p>
            <a:pPr marL="653763">
              <a:lnSpc>
                <a:spcPct val="100000"/>
              </a:lnSpc>
              <a:spcBef>
                <a:spcPts val="105"/>
              </a:spcBef>
            </a:pPr>
            <a:r>
              <a:rPr sz="4409" dirty="0">
                <a:solidFill>
                  <a:schemeClr val="bg1"/>
                </a:solidFill>
              </a:rPr>
              <a:t>Routing</a:t>
            </a:r>
            <a:r>
              <a:rPr sz="4409" spc="-252" dirty="0">
                <a:solidFill>
                  <a:schemeClr val="bg1"/>
                </a:solidFill>
              </a:rPr>
              <a:t> </a:t>
            </a:r>
            <a:r>
              <a:rPr sz="4409" spc="-61" dirty="0">
                <a:solidFill>
                  <a:schemeClr val="bg1"/>
                </a:solidFill>
              </a:rPr>
              <a:t>Table</a:t>
            </a:r>
            <a:r>
              <a:rPr sz="4409" spc="-171" dirty="0">
                <a:solidFill>
                  <a:schemeClr val="bg1"/>
                </a:solidFill>
              </a:rPr>
              <a:t> </a:t>
            </a:r>
            <a:r>
              <a:rPr sz="4409" spc="-11" dirty="0">
                <a:solidFill>
                  <a:schemeClr val="bg1"/>
                </a:solidFill>
              </a:rPr>
              <a:t>Maintenance</a:t>
            </a:r>
            <a:endParaRPr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820" y="1869563"/>
            <a:ext cx="9550787" cy="4043444"/>
          </a:xfrm>
          <a:prstGeom prst="rect">
            <a:avLst/>
          </a:prstGeom>
        </p:spPr>
        <p:txBody>
          <a:bodyPr vert="horz" wrap="square" lIns="0" tIns="13999" rIns="0" bIns="0" rtlCol="0">
            <a:spAutoFit/>
          </a:bodyPr>
          <a:lstStyle/>
          <a:p>
            <a:pPr marL="457900" marR="122493" indent="-457200">
              <a:spcBef>
                <a:spcPts val="110"/>
              </a:spcBef>
              <a:buClr>
                <a:srgbClr val="D24717"/>
              </a:buClr>
              <a:buSzPct val="85000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dirty="0">
                <a:latin typeface="Times New Roman"/>
                <a:cs typeface="Times New Roman"/>
              </a:rPr>
              <a:t>After</a:t>
            </a:r>
            <a:r>
              <a:rPr sz="3200" spc="-9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7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routers</a:t>
            </a:r>
            <a:r>
              <a:rPr sz="3200" spc="-6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have</a:t>
            </a:r>
            <a:r>
              <a:rPr sz="3200" spc="-7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initially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learned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about</a:t>
            </a:r>
            <a:r>
              <a:rPr sz="3200" spc="-77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remote </a:t>
            </a:r>
            <a:r>
              <a:rPr sz="3200" dirty="0">
                <a:latin typeface="Times New Roman"/>
                <a:cs typeface="Times New Roman"/>
              </a:rPr>
              <a:t>networks,</a:t>
            </a:r>
            <a:r>
              <a:rPr sz="3200" spc="-9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8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protocols</a:t>
            </a:r>
            <a:r>
              <a:rPr sz="3200" spc="-8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must</a:t>
            </a:r>
            <a:r>
              <a:rPr sz="3200" spc="-9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maintain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spc="-28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tables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they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have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most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current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83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information.</a:t>
            </a:r>
            <a:endParaRPr sz="3200" dirty="0">
              <a:latin typeface="Times New Roman"/>
              <a:cs typeface="Times New Roman"/>
            </a:endParaRPr>
          </a:p>
          <a:p>
            <a:pPr marL="457200" marR="5600" indent="-457200">
              <a:spcBef>
                <a:spcPts val="667"/>
              </a:spcBef>
              <a:buClr>
                <a:srgbClr val="D24717"/>
              </a:buClr>
              <a:buSzPct val="85000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dirty="0">
                <a:latin typeface="Times New Roman"/>
                <a:cs typeface="Times New Roman"/>
              </a:rPr>
              <a:t>How</a:t>
            </a:r>
            <a:r>
              <a:rPr sz="3200" spc="-9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protocol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maintains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table </a:t>
            </a:r>
            <a:r>
              <a:rPr sz="3200" dirty="0">
                <a:latin typeface="Times New Roman"/>
                <a:cs typeface="Times New Roman"/>
              </a:rPr>
              <a:t>depends</a:t>
            </a:r>
            <a:r>
              <a:rPr sz="3200" spc="-6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type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protocol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(distance vector,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link-</a:t>
            </a:r>
            <a:r>
              <a:rPr sz="3200" dirty="0">
                <a:latin typeface="Times New Roman"/>
                <a:cs typeface="Times New Roman"/>
              </a:rPr>
              <a:t>state,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path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vector)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well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spc="-28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7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protocol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itself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spc="-61" dirty="0">
                <a:latin typeface="Times New Roman"/>
                <a:cs typeface="Times New Roman"/>
              </a:rPr>
              <a:t>(RIP,</a:t>
            </a:r>
            <a:r>
              <a:rPr sz="3200" spc="-77" dirty="0">
                <a:latin typeface="Times New Roman"/>
                <a:cs typeface="Times New Roman"/>
              </a:rPr>
              <a:t> </a:t>
            </a:r>
            <a:r>
              <a:rPr sz="3200" spc="-61" dirty="0">
                <a:latin typeface="Times New Roman"/>
                <a:cs typeface="Times New Roman"/>
              </a:rPr>
              <a:t>EIGRP,</a:t>
            </a:r>
            <a:r>
              <a:rPr sz="3200" spc="-8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7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</a:t>
            </a:r>
            <a:r>
              <a:rPr sz="3200" spc="-72" dirty="0">
                <a:latin typeface="Times New Roman"/>
                <a:cs typeface="Times New Roman"/>
              </a:rPr>
              <a:t> </a:t>
            </a:r>
            <a:r>
              <a:rPr sz="3200" spc="-22" dirty="0">
                <a:latin typeface="Times New Roman"/>
                <a:cs typeface="Times New Roman"/>
              </a:rPr>
              <a:t>on).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440" y="568409"/>
            <a:ext cx="8461936" cy="691948"/>
          </a:xfrm>
          <a:prstGeom prst="rect">
            <a:avLst/>
          </a:prstGeom>
        </p:spPr>
        <p:txBody>
          <a:bodyPr vert="horz" wrap="square" lIns="0" tIns="13299" rIns="0" bIns="0" rtlCol="0" anchor="ctr">
            <a:spAutoFit/>
          </a:bodyPr>
          <a:lstStyle/>
          <a:p>
            <a:pPr marL="13999">
              <a:lnSpc>
                <a:spcPct val="100000"/>
              </a:lnSpc>
              <a:spcBef>
                <a:spcPts val="105"/>
              </a:spcBef>
            </a:pPr>
            <a:r>
              <a:rPr sz="4409" dirty="0">
                <a:solidFill>
                  <a:schemeClr val="bg1"/>
                </a:solidFill>
              </a:rPr>
              <a:t>Distance</a:t>
            </a:r>
            <a:r>
              <a:rPr sz="4409" spc="-270" dirty="0">
                <a:solidFill>
                  <a:schemeClr val="bg1"/>
                </a:solidFill>
              </a:rPr>
              <a:t> </a:t>
            </a:r>
            <a:r>
              <a:rPr sz="4409" spc="-83" dirty="0">
                <a:solidFill>
                  <a:schemeClr val="bg1"/>
                </a:solidFill>
              </a:rPr>
              <a:t>Vector</a:t>
            </a:r>
            <a:r>
              <a:rPr sz="4409" spc="-193" dirty="0">
                <a:solidFill>
                  <a:schemeClr val="bg1"/>
                </a:solidFill>
              </a:rPr>
              <a:t> </a:t>
            </a:r>
            <a:r>
              <a:rPr sz="4409" spc="-61" dirty="0">
                <a:solidFill>
                  <a:schemeClr val="bg1"/>
                </a:solidFill>
              </a:rPr>
              <a:t>Table</a:t>
            </a:r>
            <a:r>
              <a:rPr sz="4409" spc="-121" dirty="0">
                <a:solidFill>
                  <a:schemeClr val="bg1"/>
                </a:solidFill>
              </a:rPr>
              <a:t> </a:t>
            </a:r>
            <a:r>
              <a:rPr sz="4409" spc="-11" dirty="0">
                <a:solidFill>
                  <a:schemeClr val="bg1"/>
                </a:solidFill>
              </a:rPr>
              <a:t>Maintenance</a:t>
            </a:r>
            <a:endParaRPr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7307" y="1535426"/>
            <a:ext cx="9370789" cy="5292682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1199" indent="-457200">
              <a:spcBef>
                <a:spcPts val="772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4982" algn="l"/>
              </a:tabLst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Periodic</a:t>
            </a:r>
            <a:r>
              <a:rPr sz="3200" b="1" spc="-3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Updates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927699" marR="324082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term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periodic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update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refers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fact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router </a:t>
            </a:r>
            <a:r>
              <a:rPr sz="3200" dirty="0">
                <a:latin typeface="Times New Roman"/>
                <a:cs typeface="Times New Roman"/>
              </a:rPr>
              <a:t>sends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complete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table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its</a:t>
            </a:r>
            <a:r>
              <a:rPr sz="3200" spc="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neighbors</a:t>
            </a:r>
            <a:r>
              <a:rPr sz="3200" spc="-7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at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imes New Roman"/>
                <a:cs typeface="Times New Roman"/>
              </a:rPr>
              <a:t>a </a:t>
            </a:r>
            <a:r>
              <a:rPr sz="3200" dirty="0">
                <a:latin typeface="Times New Roman"/>
                <a:cs typeface="Times New Roman"/>
              </a:rPr>
              <a:t>predefined</a:t>
            </a:r>
            <a:r>
              <a:rPr sz="3200" spc="-7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interval,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regardless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whether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there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has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been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imes New Roman"/>
                <a:cs typeface="Times New Roman"/>
              </a:rPr>
              <a:t>a </a:t>
            </a:r>
            <a:r>
              <a:rPr sz="3200" dirty="0">
                <a:latin typeface="Times New Roman"/>
                <a:cs typeface="Times New Roman"/>
              </a:rPr>
              <a:t>topology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change.</a:t>
            </a:r>
            <a:endParaRPr sz="3200" dirty="0">
              <a:latin typeface="Times New Roman"/>
              <a:cs typeface="Times New Roman"/>
            </a:endParaRPr>
          </a:p>
          <a:p>
            <a:pPr marL="927699" marR="1408321" lvl="1" indent="-457200">
              <a:spcBef>
                <a:spcPts val="661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age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information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table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spc="-28" dirty="0">
                <a:latin typeface="Times New Roman"/>
                <a:cs typeface="Times New Roman"/>
              </a:rPr>
              <a:t>is </a:t>
            </a:r>
            <a:r>
              <a:rPr sz="3200" dirty="0">
                <a:latin typeface="Times New Roman"/>
                <a:cs typeface="Times New Roman"/>
              </a:rPr>
              <a:t>refreshed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each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time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update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received.</a:t>
            </a:r>
            <a:endParaRPr sz="3200" dirty="0">
              <a:latin typeface="Times New Roman"/>
              <a:cs typeface="Times New Roman"/>
            </a:endParaRPr>
          </a:p>
          <a:p>
            <a:pPr marL="927699" marR="5600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sz="3200" dirty="0">
                <a:latin typeface="Times New Roman"/>
                <a:cs typeface="Times New Roman"/>
              </a:rPr>
              <a:t>This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2" dirty="0">
                <a:latin typeface="Times New Roman"/>
                <a:cs typeface="Times New Roman"/>
              </a:rPr>
              <a:t>way,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information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table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maintained </a:t>
            </a:r>
            <a:r>
              <a:rPr sz="3200" dirty="0">
                <a:latin typeface="Times New Roman"/>
                <a:cs typeface="Times New Roman"/>
              </a:rPr>
              <a:t>when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there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topology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change.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020" y="542652"/>
            <a:ext cx="8461936" cy="691948"/>
          </a:xfrm>
          <a:prstGeom prst="rect">
            <a:avLst/>
          </a:prstGeom>
        </p:spPr>
        <p:txBody>
          <a:bodyPr vert="horz" wrap="square" lIns="0" tIns="13299" rIns="0" bIns="0" rtlCol="0" anchor="ctr">
            <a:spAutoFit/>
          </a:bodyPr>
          <a:lstStyle/>
          <a:p>
            <a:pPr marL="13999">
              <a:lnSpc>
                <a:spcPct val="100000"/>
              </a:lnSpc>
              <a:spcBef>
                <a:spcPts val="105"/>
              </a:spcBef>
            </a:pPr>
            <a:r>
              <a:rPr sz="4409" dirty="0">
                <a:solidFill>
                  <a:schemeClr val="bg1"/>
                </a:solidFill>
              </a:rPr>
              <a:t>Distance</a:t>
            </a:r>
            <a:r>
              <a:rPr sz="4409" spc="-270" dirty="0">
                <a:solidFill>
                  <a:schemeClr val="bg1"/>
                </a:solidFill>
              </a:rPr>
              <a:t> </a:t>
            </a:r>
            <a:r>
              <a:rPr sz="4409" spc="-83" dirty="0">
                <a:solidFill>
                  <a:schemeClr val="bg1"/>
                </a:solidFill>
              </a:rPr>
              <a:t>Vector</a:t>
            </a:r>
            <a:r>
              <a:rPr sz="4409" spc="-193" dirty="0">
                <a:solidFill>
                  <a:schemeClr val="bg1"/>
                </a:solidFill>
              </a:rPr>
              <a:t> </a:t>
            </a:r>
            <a:r>
              <a:rPr sz="4409" spc="-61" dirty="0">
                <a:solidFill>
                  <a:schemeClr val="bg1"/>
                </a:solidFill>
              </a:rPr>
              <a:t>Table</a:t>
            </a:r>
            <a:r>
              <a:rPr sz="4409" spc="-121" dirty="0">
                <a:solidFill>
                  <a:schemeClr val="bg1"/>
                </a:solidFill>
              </a:rPr>
              <a:t> </a:t>
            </a:r>
            <a:r>
              <a:rPr sz="4409" spc="-11" dirty="0">
                <a:solidFill>
                  <a:schemeClr val="bg1"/>
                </a:solidFill>
              </a:rPr>
              <a:t>Maintenance</a:t>
            </a:r>
            <a:endParaRPr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1884" y="1788490"/>
            <a:ext cx="9140207" cy="3982693"/>
          </a:xfrm>
          <a:prstGeom prst="rect">
            <a:avLst/>
          </a:prstGeom>
        </p:spPr>
        <p:txBody>
          <a:bodyPr vert="horz" wrap="square" lIns="0" tIns="90996" rIns="0" bIns="0" rtlCol="0">
            <a:spAutoFit/>
          </a:bodyPr>
          <a:lstStyle/>
          <a:p>
            <a:pPr marL="471199" indent="-457200">
              <a:spcBef>
                <a:spcPts val="716"/>
              </a:spcBef>
              <a:buClr>
                <a:srgbClr val="C00000"/>
              </a:buClr>
              <a:buSzPct val="83928"/>
              <a:buFont typeface="Wingdings" panose="05000000000000000000" pitchFamily="2" charset="2"/>
              <a:buChar char="Ø"/>
              <a:tabLst>
                <a:tab pos="314282" algn="l"/>
              </a:tabLst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Periodic</a:t>
            </a:r>
            <a:r>
              <a:rPr sz="3200" b="1" spc="-8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Updates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029400" lvl="1" indent="-571500">
              <a:spcBef>
                <a:spcPts val="656"/>
              </a:spcBef>
              <a:buClr>
                <a:srgbClr val="D24717"/>
              </a:buClr>
              <a:buSzPct val="85000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sz="3600" dirty="0">
                <a:latin typeface="Times New Roman"/>
                <a:cs typeface="Times New Roman"/>
              </a:rPr>
              <a:t>Four</a:t>
            </a:r>
            <a:r>
              <a:rPr sz="3600" spc="-77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ways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that</a:t>
            </a:r>
            <a:r>
              <a:rPr sz="3600" spc="-33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changes</a:t>
            </a:r>
            <a:r>
              <a:rPr sz="3600" spc="-4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4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topology</a:t>
            </a:r>
            <a:r>
              <a:rPr sz="3600" spc="-33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might</a:t>
            </a:r>
            <a:r>
              <a:rPr sz="3600" spc="-28" dirty="0">
                <a:latin typeface="Times New Roman"/>
                <a:cs typeface="Times New Roman"/>
              </a:rPr>
              <a:t> </a:t>
            </a:r>
            <a:r>
              <a:rPr sz="3600" spc="-11" dirty="0">
                <a:latin typeface="Times New Roman"/>
                <a:cs typeface="Times New Roman"/>
              </a:rPr>
              <a:t>occur.</a:t>
            </a:r>
            <a:endParaRPr sz="3600" dirty="0">
              <a:latin typeface="Times New Roman"/>
              <a:cs typeface="Times New Roman"/>
            </a:endParaRPr>
          </a:p>
          <a:p>
            <a:pPr marL="1848847" lvl="3" indent="-568368">
              <a:spcBef>
                <a:spcPts val="457"/>
              </a:spcBef>
              <a:buClr>
                <a:srgbClr val="9B2C1F"/>
              </a:buClr>
              <a:buSzPct val="83928"/>
              <a:buAutoNum type="romanLcPeriod"/>
              <a:tabLst>
                <a:tab pos="934447" algn="l"/>
              </a:tabLst>
            </a:pPr>
            <a:r>
              <a:rPr sz="3200" dirty="0">
                <a:latin typeface="Times New Roman"/>
                <a:cs typeface="Times New Roman"/>
              </a:rPr>
              <a:t>Failure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spc="-22" dirty="0">
                <a:latin typeface="Times New Roman"/>
                <a:cs typeface="Times New Roman"/>
              </a:rPr>
              <a:t>link</a:t>
            </a:r>
            <a:endParaRPr sz="3200" dirty="0">
              <a:latin typeface="Times New Roman"/>
              <a:cs typeface="Times New Roman"/>
            </a:endParaRPr>
          </a:p>
          <a:p>
            <a:pPr marL="1848847" lvl="3" indent="-568368">
              <a:spcBef>
                <a:spcPts val="441"/>
              </a:spcBef>
              <a:buClr>
                <a:srgbClr val="9B2C1F"/>
              </a:buClr>
              <a:buSzPct val="83928"/>
              <a:buAutoNum type="romanLcPeriod"/>
              <a:tabLst>
                <a:tab pos="934447" algn="l"/>
              </a:tabLst>
            </a:pPr>
            <a:r>
              <a:rPr sz="3200" dirty="0">
                <a:latin typeface="Times New Roman"/>
                <a:cs typeface="Times New Roman"/>
              </a:rPr>
              <a:t>Introduction</a:t>
            </a:r>
            <a:r>
              <a:rPr sz="3200" spc="-8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new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spc="-22" dirty="0">
                <a:latin typeface="Times New Roman"/>
                <a:cs typeface="Times New Roman"/>
              </a:rPr>
              <a:t>link</a:t>
            </a:r>
            <a:endParaRPr sz="3200" dirty="0">
              <a:latin typeface="Times New Roman"/>
              <a:cs typeface="Times New Roman"/>
            </a:endParaRPr>
          </a:p>
          <a:p>
            <a:pPr marL="1848847" lvl="3" indent="-568368">
              <a:spcBef>
                <a:spcPts val="435"/>
              </a:spcBef>
              <a:buClr>
                <a:srgbClr val="9B2C1F"/>
              </a:buClr>
              <a:buSzPct val="83928"/>
              <a:buAutoNum type="romanLcPeriod"/>
              <a:tabLst>
                <a:tab pos="934447" algn="l"/>
              </a:tabLst>
            </a:pPr>
            <a:r>
              <a:rPr sz="3200" dirty="0">
                <a:latin typeface="Times New Roman"/>
                <a:cs typeface="Times New Roman"/>
              </a:rPr>
              <a:t>Failure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router</a:t>
            </a:r>
            <a:endParaRPr sz="3200" dirty="0">
              <a:latin typeface="Times New Roman"/>
              <a:cs typeface="Times New Roman"/>
            </a:endParaRPr>
          </a:p>
          <a:p>
            <a:pPr marL="1848847" lvl="3" indent="-568368">
              <a:spcBef>
                <a:spcPts val="451"/>
              </a:spcBef>
              <a:buClr>
                <a:srgbClr val="9B2C1F"/>
              </a:buClr>
              <a:buSzPct val="83928"/>
              <a:buAutoNum type="romanLcPeriod"/>
              <a:tabLst>
                <a:tab pos="934447" algn="l"/>
              </a:tabLst>
            </a:pPr>
            <a:r>
              <a:rPr sz="3200" dirty="0">
                <a:latin typeface="Times New Roman"/>
                <a:cs typeface="Times New Roman"/>
              </a:rPr>
              <a:t>Change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link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parameters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020" y="542652"/>
            <a:ext cx="8461936" cy="691948"/>
          </a:xfrm>
          <a:prstGeom prst="rect">
            <a:avLst/>
          </a:prstGeom>
        </p:spPr>
        <p:txBody>
          <a:bodyPr vert="horz" wrap="square" lIns="0" tIns="13299" rIns="0" bIns="0" rtlCol="0" anchor="ctr">
            <a:spAutoFit/>
          </a:bodyPr>
          <a:lstStyle/>
          <a:p>
            <a:pPr marL="13999">
              <a:lnSpc>
                <a:spcPct val="100000"/>
              </a:lnSpc>
              <a:spcBef>
                <a:spcPts val="105"/>
              </a:spcBef>
            </a:pPr>
            <a:r>
              <a:rPr sz="4409" dirty="0">
                <a:solidFill>
                  <a:schemeClr val="bg1"/>
                </a:solidFill>
              </a:rPr>
              <a:t>Distance</a:t>
            </a:r>
            <a:r>
              <a:rPr sz="4409" spc="-270" dirty="0">
                <a:solidFill>
                  <a:schemeClr val="bg1"/>
                </a:solidFill>
              </a:rPr>
              <a:t> </a:t>
            </a:r>
            <a:r>
              <a:rPr sz="4409" spc="-83" dirty="0">
                <a:solidFill>
                  <a:schemeClr val="bg1"/>
                </a:solidFill>
              </a:rPr>
              <a:t>Vector</a:t>
            </a:r>
            <a:r>
              <a:rPr sz="4409" spc="-193" dirty="0">
                <a:solidFill>
                  <a:schemeClr val="bg1"/>
                </a:solidFill>
              </a:rPr>
              <a:t> </a:t>
            </a:r>
            <a:r>
              <a:rPr sz="4409" spc="-61" dirty="0">
                <a:solidFill>
                  <a:schemeClr val="bg1"/>
                </a:solidFill>
              </a:rPr>
              <a:t>Table</a:t>
            </a:r>
            <a:r>
              <a:rPr sz="4409" spc="-121" dirty="0">
                <a:solidFill>
                  <a:schemeClr val="bg1"/>
                </a:solidFill>
              </a:rPr>
              <a:t> </a:t>
            </a:r>
            <a:r>
              <a:rPr sz="4409" spc="-11" dirty="0">
                <a:solidFill>
                  <a:schemeClr val="bg1"/>
                </a:solidFill>
              </a:rPr>
              <a:t>Maintenance</a:t>
            </a:r>
            <a:endParaRPr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2909" y="1741098"/>
            <a:ext cx="9448065" cy="4569921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1199" indent="-457200">
              <a:spcBef>
                <a:spcPts val="772"/>
              </a:spcBef>
              <a:buClr>
                <a:srgbClr val="D24717"/>
              </a:buClr>
              <a:buSzPct val="83928"/>
              <a:buFont typeface="Wingdings" panose="05000000000000000000" pitchFamily="2" charset="2"/>
              <a:buChar char="Ø"/>
              <a:tabLst>
                <a:tab pos="314282" algn="l"/>
              </a:tabLst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RIP</a:t>
            </a:r>
            <a:r>
              <a:rPr sz="3200" b="1" spc="-17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Timers</a:t>
            </a:r>
            <a:r>
              <a:rPr sz="3200" b="1" spc="-11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r>
              <a:rPr sz="3200" b="1" spc="-4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RIP</a:t>
            </a:r>
            <a:r>
              <a:rPr sz="3200" spc="-14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four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basic</a:t>
            </a:r>
            <a:r>
              <a:rPr sz="3200" spc="-72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timers:</a:t>
            </a:r>
            <a:endParaRPr sz="3200" dirty="0">
              <a:latin typeface="Times New Roman"/>
              <a:cs typeface="Times New Roman"/>
            </a:endParaRPr>
          </a:p>
          <a:p>
            <a:pPr marL="1038867" marR="389878" lvl="1" indent="-568368">
              <a:spcBef>
                <a:spcPts val="661"/>
              </a:spcBef>
              <a:buClr>
                <a:srgbClr val="D24717"/>
              </a:buClr>
              <a:buSzPct val="83928"/>
              <a:buAutoNum type="arabicPeriod"/>
              <a:tabLst>
                <a:tab pos="581667" algn="l"/>
              </a:tabLst>
            </a:pP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Update</a:t>
            </a:r>
            <a:r>
              <a:rPr sz="3086" b="1" spc="-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Timer</a:t>
            </a:r>
            <a:r>
              <a:rPr sz="3086" b="1" spc="-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(default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30</a:t>
            </a:r>
            <a:r>
              <a:rPr sz="3086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seconds</a:t>
            </a:r>
            <a:r>
              <a:rPr sz="3086" b="1" dirty="0">
                <a:latin typeface="Times New Roman"/>
                <a:cs typeface="Times New Roman"/>
              </a:rPr>
              <a:t>)</a:t>
            </a:r>
            <a:r>
              <a:rPr sz="3086" b="1" spc="-28" dirty="0">
                <a:latin typeface="Times New Roman"/>
                <a:cs typeface="Times New Roman"/>
              </a:rPr>
              <a:t> </a:t>
            </a:r>
            <a:r>
              <a:rPr sz="3086" b="1" dirty="0">
                <a:latin typeface="Times New Roman"/>
                <a:cs typeface="Times New Roman"/>
              </a:rPr>
              <a:t>–</a:t>
            </a:r>
            <a:r>
              <a:rPr sz="3086" b="1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indicates</a:t>
            </a:r>
            <a:r>
              <a:rPr sz="3086" spc="-77" dirty="0">
                <a:latin typeface="Times New Roman"/>
                <a:cs typeface="Times New Roman"/>
              </a:rPr>
              <a:t> </a:t>
            </a:r>
            <a:r>
              <a:rPr sz="3086" spc="-28" dirty="0">
                <a:latin typeface="Times New Roman"/>
                <a:cs typeface="Times New Roman"/>
              </a:rPr>
              <a:t>how </a:t>
            </a:r>
            <a:r>
              <a:rPr sz="3086" dirty="0">
                <a:latin typeface="Times New Roman"/>
                <a:cs typeface="Times New Roman"/>
              </a:rPr>
              <a:t>often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router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will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send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out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routing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table</a:t>
            </a:r>
            <a:r>
              <a:rPr sz="3086" spc="-17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update.</a:t>
            </a:r>
            <a:endParaRPr sz="3086" dirty="0">
              <a:latin typeface="Times New Roman"/>
              <a:cs typeface="Times New Roman"/>
            </a:endParaRPr>
          </a:p>
          <a:p>
            <a:pPr marL="1038867" marR="5600" lvl="1" indent="-568368">
              <a:spcBef>
                <a:spcPts val="667"/>
              </a:spcBef>
              <a:buClr>
                <a:srgbClr val="D24717"/>
              </a:buClr>
              <a:buSzPct val="83928"/>
              <a:buAutoNum type="arabicPeriod"/>
              <a:tabLst>
                <a:tab pos="581667" algn="l"/>
              </a:tabLst>
            </a:pP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Invalid</a:t>
            </a:r>
            <a:r>
              <a:rPr sz="3086" b="1" spc="-132" dirty="0"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Timer</a:t>
            </a:r>
            <a:r>
              <a:rPr sz="3086" b="1" spc="-121" dirty="0">
                <a:latin typeface="Times New Roman"/>
                <a:cs typeface="Times New Roman"/>
              </a:rPr>
              <a:t> </a:t>
            </a:r>
            <a:r>
              <a:rPr sz="3086" b="1" dirty="0">
                <a:latin typeface="Times New Roman"/>
                <a:cs typeface="Times New Roman"/>
              </a:rPr>
              <a:t>(</a:t>
            </a:r>
            <a:r>
              <a:rPr sz="3086" dirty="0">
                <a:latin typeface="Times New Roman"/>
                <a:cs typeface="Times New Roman"/>
              </a:rPr>
              <a:t>default</a:t>
            </a:r>
            <a:r>
              <a:rPr sz="3086" spc="-61" dirty="0"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180</a:t>
            </a:r>
            <a:r>
              <a:rPr sz="3086" b="1" spc="-66" dirty="0"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seconds</a:t>
            </a:r>
            <a:r>
              <a:rPr sz="3086" b="1" dirty="0">
                <a:latin typeface="Times New Roman"/>
                <a:cs typeface="Times New Roman"/>
              </a:rPr>
              <a:t>):</a:t>
            </a:r>
            <a:r>
              <a:rPr sz="3086" b="1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If</a:t>
            </a:r>
            <a:r>
              <a:rPr sz="3086" spc="-61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an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update</a:t>
            </a:r>
            <a:r>
              <a:rPr sz="3086" spc="-77" dirty="0">
                <a:latin typeface="Times New Roman"/>
                <a:cs typeface="Times New Roman"/>
              </a:rPr>
              <a:t> </a:t>
            </a:r>
            <a:r>
              <a:rPr sz="3086" spc="-28" dirty="0">
                <a:latin typeface="Times New Roman"/>
                <a:cs typeface="Times New Roman"/>
              </a:rPr>
              <a:t>has </a:t>
            </a:r>
            <a:r>
              <a:rPr sz="3086" dirty="0">
                <a:latin typeface="Times New Roman"/>
                <a:cs typeface="Times New Roman"/>
              </a:rPr>
              <a:t>not</a:t>
            </a:r>
            <a:r>
              <a:rPr sz="3086" spc="-9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been</a:t>
            </a:r>
            <a:r>
              <a:rPr sz="3086" spc="-66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received</a:t>
            </a:r>
            <a:r>
              <a:rPr sz="3086" spc="-66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to</a:t>
            </a:r>
            <a:r>
              <a:rPr sz="3086" spc="-61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refresh</a:t>
            </a:r>
            <a:r>
              <a:rPr sz="3086" spc="-7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an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existing</a:t>
            </a:r>
            <a:r>
              <a:rPr sz="3086" spc="-8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route</a:t>
            </a:r>
            <a:r>
              <a:rPr sz="3086" spc="-66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after</a:t>
            </a:r>
            <a:r>
              <a:rPr sz="3086" spc="-77" dirty="0">
                <a:latin typeface="Times New Roman"/>
                <a:cs typeface="Times New Roman"/>
              </a:rPr>
              <a:t> </a:t>
            </a:r>
            <a:r>
              <a:rPr sz="3086" spc="-28" dirty="0">
                <a:latin typeface="Times New Roman"/>
                <a:cs typeface="Times New Roman"/>
              </a:rPr>
              <a:t>180 </a:t>
            </a:r>
            <a:r>
              <a:rPr sz="3086" dirty="0">
                <a:latin typeface="Times New Roman"/>
                <a:cs typeface="Times New Roman"/>
              </a:rPr>
              <a:t>seconds</a:t>
            </a:r>
            <a:r>
              <a:rPr sz="3086" spc="-61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route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is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marked</a:t>
            </a:r>
            <a:r>
              <a:rPr sz="3086" spc="-6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as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invalid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by</a:t>
            </a:r>
            <a:r>
              <a:rPr sz="3086" spc="-1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setting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spc="-28" dirty="0">
                <a:latin typeface="Times New Roman"/>
                <a:cs typeface="Times New Roman"/>
              </a:rPr>
              <a:t>the </a:t>
            </a:r>
            <a:r>
              <a:rPr sz="3086" dirty="0">
                <a:latin typeface="Times New Roman"/>
                <a:cs typeface="Times New Roman"/>
              </a:rPr>
              <a:t>metric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to</a:t>
            </a:r>
            <a:r>
              <a:rPr sz="3086" spc="-1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16.</a:t>
            </a:r>
            <a:r>
              <a:rPr sz="3086" spc="-7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route</a:t>
            </a:r>
            <a:r>
              <a:rPr sz="3086" spc="-1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is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retained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in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1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routing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table </a:t>
            </a:r>
            <a:r>
              <a:rPr sz="3086" dirty="0">
                <a:latin typeface="Times New Roman"/>
                <a:cs typeface="Times New Roman"/>
              </a:rPr>
              <a:t>until</a:t>
            </a:r>
            <a:r>
              <a:rPr sz="3086" spc="-66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flush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timer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expires.</a:t>
            </a:r>
            <a:endParaRPr sz="3086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020" y="542652"/>
            <a:ext cx="8461936" cy="691948"/>
          </a:xfrm>
          <a:prstGeom prst="rect">
            <a:avLst/>
          </a:prstGeom>
        </p:spPr>
        <p:txBody>
          <a:bodyPr vert="horz" wrap="square" lIns="0" tIns="13299" rIns="0" bIns="0" rtlCol="0" anchor="ctr">
            <a:spAutoFit/>
          </a:bodyPr>
          <a:lstStyle/>
          <a:p>
            <a:pPr marL="13999">
              <a:lnSpc>
                <a:spcPct val="100000"/>
              </a:lnSpc>
              <a:spcBef>
                <a:spcPts val="105"/>
              </a:spcBef>
            </a:pPr>
            <a:r>
              <a:rPr sz="4409" dirty="0">
                <a:solidFill>
                  <a:schemeClr val="bg1"/>
                </a:solidFill>
              </a:rPr>
              <a:t>Distance</a:t>
            </a:r>
            <a:r>
              <a:rPr sz="4409" spc="-270" dirty="0">
                <a:solidFill>
                  <a:schemeClr val="bg1"/>
                </a:solidFill>
              </a:rPr>
              <a:t> </a:t>
            </a:r>
            <a:r>
              <a:rPr sz="4409" spc="-83" dirty="0">
                <a:solidFill>
                  <a:schemeClr val="bg1"/>
                </a:solidFill>
              </a:rPr>
              <a:t>Vector</a:t>
            </a:r>
            <a:r>
              <a:rPr sz="4409" spc="-193" dirty="0">
                <a:solidFill>
                  <a:schemeClr val="bg1"/>
                </a:solidFill>
              </a:rPr>
              <a:t> </a:t>
            </a:r>
            <a:r>
              <a:rPr sz="4409" spc="-61" dirty="0">
                <a:solidFill>
                  <a:schemeClr val="bg1"/>
                </a:solidFill>
              </a:rPr>
              <a:t>Table</a:t>
            </a:r>
            <a:r>
              <a:rPr sz="4409" spc="-121" dirty="0">
                <a:solidFill>
                  <a:schemeClr val="bg1"/>
                </a:solidFill>
              </a:rPr>
              <a:t> </a:t>
            </a:r>
            <a:r>
              <a:rPr sz="4409" spc="-11" dirty="0">
                <a:solidFill>
                  <a:schemeClr val="bg1"/>
                </a:solidFill>
              </a:rPr>
              <a:t>Maintenance</a:t>
            </a:r>
            <a:endParaRPr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3311" y="1618576"/>
            <a:ext cx="9274481" cy="3512836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1199" indent="-457200">
              <a:spcBef>
                <a:spcPts val="772"/>
              </a:spcBef>
              <a:buClr>
                <a:srgbClr val="D24717"/>
              </a:buClr>
              <a:buSzPct val="83928"/>
              <a:buFont typeface="Wingdings" panose="05000000000000000000" pitchFamily="2" charset="2"/>
              <a:buChar char="Ø"/>
              <a:tabLst>
                <a:tab pos="314282" algn="l"/>
              </a:tabLst>
            </a:pP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RIP</a:t>
            </a:r>
            <a:r>
              <a:rPr sz="3086" b="1" spc="-13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Timers</a:t>
            </a:r>
            <a:endParaRPr sz="3086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984849" marR="5600" lvl="1" indent="-514350">
              <a:spcBef>
                <a:spcPts val="661"/>
              </a:spcBef>
              <a:buClr>
                <a:srgbClr val="C00000"/>
              </a:buClr>
              <a:buFont typeface="+mj-lt"/>
              <a:buAutoNum type="arabicPeriod" startAt="3"/>
              <a:tabLst>
                <a:tab pos="581667" algn="l"/>
              </a:tabLst>
            </a:pP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Flush</a:t>
            </a:r>
            <a:r>
              <a:rPr sz="3086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timer</a:t>
            </a:r>
            <a:r>
              <a:rPr sz="3086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(default</a:t>
            </a:r>
            <a:r>
              <a:rPr sz="3086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240</a:t>
            </a:r>
            <a:r>
              <a:rPr sz="3086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seconds)</a:t>
            </a:r>
            <a:r>
              <a:rPr sz="3086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latin typeface="Times New Roman"/>
                <a:cs typeface="Times New Roman"/>
              </a:rPr>
              <a:t>:</a:t>
            </a:r>
            <a:r>
              <a:rPr sz="3086" b="1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Indicates</a:t>
            </a:r>
            <a:r>
              <a:rPr sz="3086" spc="-61" dirty="0">
                <a:latin typeface="Times New Roman"/>
                <a:cs typeface="Times New Roman"/>
              </a:rPr>
              <a:t> </a:t>
            </a:r>
            <a:r>
              <a:rPr sz="3086" spc="-28" dirty="0">
                <a:latin typeface="Times New Roman"/>
                <a:cs typeface="Times New Roman"/>
              </a:rPr>
              <a:t>how </a:t>
            </a:r>
            <a:r>
              <a:rPr sz="3086" dirty="0">
                <a:latin typeface="Times New Roman"/>
                <a:cs typeface="Times New Roman"/>
              </a:rPr>
              <a:t>long</a:t>
            </a:r>
            <a:r>
              <a:rPr sz="3086" spc="-7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route</a:t>
            </a:r>
            <a:r>
              <a:rPr sz="3086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can</a:t>
            </a:r>
            <a:r>
              <a:rPr sz="3086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remain</a:t>
            </a:r>
            <a:r>
              <a:rPr sz="3086" b="1" spc="-1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in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routing</a:t>
            </a:r>
            <a:r>
              <a:rPr sz="3086" spc="-66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table</a:t>
            </a:r>
            <a:r>
              <a:rPr sz="3086" spc="-61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before </a:t>
            </a:r>
            <a:r>
              <a:rPr sz="3086" dirty="0">
                <a:latin typeface="Times New Roman"/>
                <a:cs typeface="Times New Roman"/>
              </a:rPr>
              <a:t>being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flushed,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if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no</a:t>
            </a:r>
            <a:r>
              <a:rPr sz="3086" spc="-1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new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updates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are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heard</a:t>
            </a:r>
            <a:r>
              <a:rPr sz="3086" spc="-1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about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spc="-22" dirty="0">
                <a:latin typeface="Times New Roman"/>
                <a:cs typeface="Times New Roman"/>
              </a:rPr>
              <a:t>this </a:t>
            </a:r>
            <a:r>
              <a:rPr sz="3086" dirty="0">
                <a:latin typeface="Times New Roman"/>
                <a:cs typeface="Times New Roman"/>
              </a:rPr>
              <a:t>route.</a:t>
            </a:r>
            <a:r>
              <a:rPr sz="3086" spc="-13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66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flush</a:t>
            </a:r>
            <a:r>
              <a:rPr sz="3086" spc="-7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timer</a:t>
            </a:r>
            <a:r>
              <a:rPr sz="3086" spc="-61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runs</a:t>
            </a:r>
            <a:r>
              <a:rPr lang="en-US" sz="3086" spc="-33" dirty="0">
                <a:latin typeface="Times New Roman"/>
                <a:cs typeface="Times New Roman"/>
              </a:rPr>
              <a:t> </a:t>
            </a:r>
            <a:r>
              <a:rPr sz="3086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concurrently</a:t>
            </a:r>
            <a:r>
              <a:rPr sz="3086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with</a:t>
            </a:r>
            <a:r>
              <a:rPr sz="3086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invalid</a:t>
            </a:r>
            <a:r>
              <a:rPr sz="3086" b="1" spc="-66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timer</a:t>
            </a:r>
            <a:r>
              <a:rPr sz="3086" dirty="0">
                <a:latin typeface="Times New Roman"/>
                <a:cs typeface="Times New Roman"/>
              </a:rPr>
              <a:t>,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and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thus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will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flush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out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route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spc="-28" dirty="0">
                <a:latin typeface="Times New Roman"/>
                <a:cs typeface="Times New Roman"/>
              </a:rPr>
              <a:t>60 </a:t>
            </a:r>
            <a:r>
              <a:rPr sz="3086" dirty="0">
                <a:latin typeface="Times New Roman"/>
                <a:cs typeface="Times New Roman"/>
              </a:rPr>
              <a:t>seconds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after</a:t>
            </a:r>
            <a:r>
              <a:rPr sz="3086" spc="-1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it</a:t>
            </a:r>
            <a:r>
              <a:rPr sz="3086" spc="-1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has</a:t>
            </a:r>
            <a:r>
              <a:rPr sz="3086" spc="-1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been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marked</a:t>
            </a:r>
            <a:r>
              <a:rPr sz="3086" spc="6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invalid.</a:t>
            </a:r>
            <a:endParaRPr sz="3086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020" y="542652"/>
            <a:ext cx="8461936" cy="691948"/>
          </a:xfrm>
          <a:prstGeom prst="rect">
            <a:avLst/>
          </a:prstGeom>
        </p:spPr>
        <p:txBody>
          <a:bodyPr vert="horz" wrap="square" lIns="0" tIns="13299" rIns="0" bIns="0" rtlCol="0" anchor="ctr">
            <a:spAutoFit/>
          </a:bodyPr>
          <a:lstStyle/>
          <a:p>
            <a:pPr marL="13999">
              <a:lnSpc>
                <a:spcPct val="100000"/>
              </a:lnSpc>
              <a:spcBef>
                <a:spcPts val="105"/>
              </a:spcBef>
            </a:pPr>
            <a:r>
              <a:rPr sz="4409" dirty="0">
                <a:solidFill>
                  <a:schemeClr val="bg1"/>
                </a:solidFill>
              </a:rPr>
              <a:t>Distance</a:t>
            </a:r>
            <a:r>
              <a:rPr sz="4409" spc="-270" dirty="0">
                <a:solidFill>
                  <a:schemeClr val="bg1"/>
                </a:solidFill>
              </a:rPr>
              <a:t> </a:t>
            </a:r>
            <a:r>
              <a:rPr sz="4409" spc="-83" dirty="0">
                <a:solidFill>
                  <a:schemeClr val="bg1"/>
                </a:solidFill>
              </a:rPr>
              <a:t>Vector</a:t>
            </a:r>
            <a:r>
              <a:rPr sz="4409" spc="-193" dirty="0">
                <a:solidFill>
                  <a:schemeClr val="bg1"/>
                </a:solidFill>
              </a:rPr>
              <a:t> </a:t>
            </a:r>
            <a:r>
              <a:rPr sz="4409" spc="-61" dirty="0">
                <a:solidFill>
                  <a:schemeClr val="bg1"/>
                </a:solidFill>
              </a:rPr>
              <a:t>Table</a:t>
            </a:r>
            <a:r>
              <a:rPr sz="4409" spc="-121" dirty="0">
                <a:solidFill>
                  <a:schemeClr val="bg1"/>
                </a:solidFill>
              </a:rPr>
              <a:t> </a:t>
            </a:r>
            <a:r>
              <a:rPr sz="4409" spc="-11" dirty="0">
                <a:solidFill>
                  <a:schemeClr val="bg1"/>
                </a:solidFill>
              </a:rPr>
              <a:t>Maintenance</a:t>
            </a:r>
            <a:endParaRPr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029" y="1559683"/>
            <a:ext cx="9900321" cy="5604691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1199" indent="-457200">
              <a:spcBef>
                <a:spcPts val="772"/>
              </a:spcBef>
              <a:buClr>
                <a:srgbClr val="D24717"/>
              </a:buClr>
              <a:buSzPct val="83928"/>
              <a:buFont typeface="Wingdings" panose="05000000000000000000" pitchFamily="2" charset="2"/>
              <a:buChar char="Ø"/>
              <a:tabLst>
                <a:tab pos="314282" algn="l"/>
              </a:tabLst>
            </a:pP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RIP</a:t>
            </a:r>
            <a:r>
              <a:rPr sz="3086" b="1" spc="-18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Timers</a:t>
            </a:r>
            <a:endParaRPr sz="3086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038867" marR="5600" lvl="1" indent="-568368">
              <a:spcBef>
                <a:spcPts val="661"/>
              </a:spcBef>
              <a:buClr>
                <a:srgbClr val="D24717"/>
              </a:buClr>
              <a:buSzPct val="83928"/>
              <a:buAutoNum type="arabicPeriod" startAt="4"/>
              <a:tabLst>
                <a:tab pos="581667" algn="l"/>
              </a:tabLst>
            </a:pPr>
            <a:r>
              <a:rPr sz="3086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Hold-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down</a:t>
            </a:r>
            <a:r>
              <a:rPr sz="3086" b="1" spc="-66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timer</a:t>
            </a:r>
            <a:r>
              <a:rPr sz="3086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latin typeface="Times New Roman"/>
                <a:cs typeface="Times New Roman"/>
              </a:rPr>
              <a:t>(</a:t>
            </a:r>
            <a:r>
              <a:rPr sz="3086" dirty="0">
                <a:latin typeface="Times New Roman"/>
                <a:cs typeface="Times New Roman"/>
              </a:rPr>
              <a:t>default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180</a:t>
            </a:r>
            <a:r>
              <a:rPr sz="3086" b="1" spc="-3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seconds</a:t>
            </a:r>
            <a:r>
              <a:rPr sz="3086" b="1" dirty="0">
                <a:latin typeface="Times New Roman"/>
                <a:cs typeface="Times New Roman"/>
              </a:rPr>
              <a:t>)</a:t>
            </a:r>
            <a:r>
              <a:rPr sz="3086" b="1" spc="-17" dirty="0">
                <a:latin typeface="Times New Roman"/>
                <a:cs typeface="Times New Roman"/>
              </a:rPr>
              <a:t> </a:t>
            </a:r>
            <a:r>
              <a:rPr sz="3086" b="1" dirty="0">
                <a:latin typeface="Times New Roman"/>
                <a:cs typeface="Times New Roman"/>
              </a:rPr>
              <a:t>:</a:t>
            </a:r>
            <a:r>
              <a:rPr sz="3086" b="1" spc="-7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This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timer </a:t>
            </a:r>
            <a:r>
              <a:rPr sz="3086" dirty="0">
                <a:latin typeface="Times New Roman"/>
                <a:cs typeface="Times New Roman"/>
              </a:rPr>
              <a:t>stabilizes</a:t>
            </a:r>
            <a:r>
              <a:rPr sz="3086" spc="-8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routing</a:t>
            </a:r>
            <a:r>
              <a:rPr sz="3086" spc="-61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information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and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helps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prevent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routing </a:t>
            </a:r>
            <a:r>
              <a:rPr sz="3086" dirty="0">
                <a:latin typeface="Times New Roman"/>
                <a:cs typeface="Times New Roman"/>
              </a:rPr>
              <a:t>loops</a:t>
            </a:r>
            <a:r>
              <a:rPr sz="3086" spc="-7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during</a:t>
            </a:r>
            <a:r>
              <a:rPr sz="3086" spc="-7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periods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when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7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topology</a:t>
            </a:r>
            <a:r>
              <a:rPr sz="3086" spc="-7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is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converging </a:t>
            </a:r>
            <a:r>
              <a:rPr sz="3086" dirty="0">
                <a:latin typeface="Times New Roman"/>
                <a:cs typeface="Times New Roman"/>
              </a:rPr>
              <a:t>on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new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information.</a:t>
            </a:r>
            <a:r>
              <a:rPr sz="3086" spc="-11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When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route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is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marked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spc="-28" dirty="0">
                <a:latin typeface="Times New Roman"/>
                <a:cs typeface="Times New Roman"/>
              </a:rPr>
              <a:t>as </a:t>
            </a:r>
            <a:r>
              <a:rPr sz="3086" dirty="0">
                <a:latin typeface="Times New Roman"/>
                <a:cs typeface="Times New Roman"/>
              </a:rPr>
              <a:t>unreachable,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it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must</a:t>
            </a:r>
            <a:r>
              <a:rPr sz="3086" spc="-1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stay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in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hold-</a:t>
            </a:r>
            <a:r>
              <a:rPr sz="3086" dirty="0">
                <a:latin typeface="Times New Roman"/>
                <a:cs typeface="Times New Roman"/>
              </a:rPr>
              <a:t>down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mode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spc="-22" dirty="0">
                <a:latin typeface="Times New Roman"/>
                <a:cs typeface="Times New Roman"/>
              </a:rPr>
              <a:t>long </a:t>
            </a:r>
            <a:r>
              <a:rPr sz="3086" dirty="0">
                <a:latin typeface="Times New Roman"/>
                <a:cs typeface="Times New Roman"/>
              </a:rPr>
              <a:t>enough</a:t>
            </a:r>
            <a:r>
              <a:rPr sz="3086" spc="-61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for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all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routers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in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topology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to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learn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about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spc="-28" dirty="0">
                <a:latin typeface="Times New Roman"/>
                <a:cs typeface="Times New Roman"/>
              </a:rPr>
              <a:t>the </a:t>
            </a:r>
            <a:r>
              <a:rPr sz="3086" dirty="0">
                <a:latin typeface="Times New Roman"/>
                <a:cs typeface="Times New Roman"/>
              </a:rPr>
              <a:t>unreachable</a:t>
            </a:r>
            <a:r>
              <a:rPr sz="3086" spc="-77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network.</a:t>
            </a:r>
            <a:endParaRPr sz="3086" dirty="0">
              <a:latin typeface="Times New Roman"/>
              <a:cs typeface="Times New Roman"/>
            </a:endParaRPr>
          </a:p>
          <a:p>
            <a:pPr>
              <a:spcBef>
                <a:spcPts val="1488"/>
              </a:spcBef>
              <a:buClr>
                <a:srgbClr val="D24717"/>
              </a:buClr>
              <a:buFont typeface="Times New Roman"/>
              <a:buAutoNum type="arabicPeriod" startAt="4"/>
            </a:pPr>
            <a:endParaRPr sz="3086" dirty="0">
              <a:latin typeface="Times New Roman"/>
              <a:cs typeface="Times New Roman"/>
            </a:endParaRPr>
          </a:p>
          <a:p>
            <a:pPr marL="470499" marR="328981" lvl="1" indent="-457200">
              <a:buClr>
                <a:srgbClr val="D24717"/>
              </a:buClr>
              <a:buSzPct val="83928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086" dirty="0">
                <a:latin typeface="Times New Roman"/>
                <a:cs typeface="Times New Roman"/>
              </a:rPr>
              <a:t>RIP</a:t>
            </a:r>
            <a:r>
              <a:rPr sz="3086" spc="-14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timers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must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be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identical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on</a:t>
            </a:r>
            <a:r>
              <a:rPr sz="3086" spc="-17" dirty="0"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all</a:t>
            </a:r>
            <a:r>
              <a:rPr sz="3086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routers</a:t>
            </a:r>
            <a:r>
              <a:rPr sz="3086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sz="3086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86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RIP 	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network,</a:t>
            </a:r>
            <a:r>
              <a:rPr sz="3086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otherwise</a:t>
            </a:r>
            <a:r>
              <a:rPr sz="3086" b="1" spc="-11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massive</a:t>
            </a:r>
            <a:r>
              <a:rPr sz="3086" spc="-66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instability</a:t>
            </a:r>
            <a:r>
              <a:rPr sz="3086" spc="-9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will</a:t>
            </a:r>
            <a:r>
              <a:rPr sz="3086" spc="-61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occur.</a:t>
            </a:r>
            <a:endParaRPr sz="3086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020" y="542652"/>
            <a:ext cx="8461936" cy="691948"/>
          </a:xfrm>
          <a:prstGeom prst="rect">
            <a:avLst/>
          </a:prstGeom>
        </p:spPr>
        <p:txBody>
          <a:bodyPr vert="horz" wrap="square" lIns="0" tIns="13299" rIns="0" bIns="0" rtlCol="0" anchor="ctr">
            <a:spAutoFit/>
          </a:bodyPr>
          <a:lstStyle/>
          <a:p>
            <a:pPr marL="13999">
              <a:lnSpc>
                <a:spcPct val="100000"/>
              </a:lnSpc>
              <a:spcBef>
                <a:spcPts val="105"/>
              </a:spcBef>
            </a:pPr>
            <a:r>
              <a:rPr sz="4409" dirty="0">
                <a:solidFill>
                  <a:schemeClr val="bg1"/>
                </a:solidFill>
              </a:rPr>
              <a:t>Distance</a:t>
            </a:r>
            <a:r>
              <a:rPr sz="4409" spc="-270" dirty="0">
                <a:solidFill>
                  <a:schemeClr val="bg1"/>
                </a:solidFill>
              </a:rPr>
              <a:t> </a:t>
            </a:r>
            <a:r>
              <a:rPr sz="4409" spc="-83" dirty="0">
                <a:solidFill>
                  <a:schemeClr val="bg1"/>
                </a:solidFill>
              </a:rPr>
              <a:t>Vector</a:t>
            </a:r>
            <a:r>
              <a:rPr sz="4409" spc="-193" dirty="0">
                <a:solidFill>
                  <a:schemeClr val="bg1"/>
                </a:solidFill>
              </a:rPr>
              <a:t> </a:t>
            </a:r>
            <a:r>
              <a:rPr sz="4409" spc="-61" dirty="0">
                <a:solidFill>
                  <a:schemeClr val="bg1"/>
                </a:solidFill>
              </a:rPr>
              <a:t>Table</a:t>
            </a:r>
            <a:r>
              <a:rPr sz="4409" spc="-121" dirty="0">
                <a:solidFill>
                  <a:schemeClr val="bg1"/>
                </a:solidFill>
              </a:rPr>
              <a:t> </a:t>
            </a:r>
            <a:r>
              <a:rPr sz="4409" spc="-11" dirty="0">
                <a:solidFill>
                  <a:schemeClr val="bg1"/>
                </a:solidFill>
              </a:rPr>
              <a:t>Maintenance</a:t>
            </a:r>
            <a:endParaRPr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062" y="1611197"/>
            <a:ext cx="9559428" cy="4710728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1199" indent="-457200">
              <a:spcBef>
                <a:spcPts val="772"/>
              </a:spcBef>
              <a:buClr>
                <a:srgbClr val="D24717"/>
              </a:buClr>
              <a:buSzPct val="83928"/>
              <a:buFont typeface="Wingdings" panose="05000000000000000000" pitchFamily="2" charset="2"/>
              <a:buChar char="Ø"/>
              <a:tabLst>
                <a:tab pos="314282" algn="l"/>
              </a:tabLst>
            </a:pP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RIP</a:t>
            </a:r>
            <a:r>
              <a:rPr sz="3086" b="1" spc="-18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Timers</a:t>
            </a:r>
            <a:endParaRPr sz="3086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527649" marR="421376" indent="-514350">
              <a:spcBef>
                <a:spcPts val="661"/>
              </a:spcBef>
              <a:buClr>
                <a:srgbClr val="C00000"/>
              </a:buClr>
              <a:buSzPct val="83928"/>
              <a:buFont typeface="+mj-lt"/>
              <a:buAutoNum type="arabicPeriod" startAt="4"/>
              <a:tabLst>
                <a:tab pos="315682" algn="l"/>
              </a:tabLst>
            </a:pPr>
            <a:r>
              <a:rPr sz="3086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Hold-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down</a:t>
            </a:r>
            <a:r>
              <a:rPr sz="3086" b="1" spc="-7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timer</a:t>
            </a:r>
            <a:r>
              <a:rPr sz="3086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latin typeface="Times New Roman"/>
                <a:cs typeface="Times New Roman"/>
              </a:rPr>
              <a:t>(</a:t>
            </a:r>
            <a:r>
              <a:rPr sz="3086" dirty="0">
                <a:latin typeface="Times New Roman"/>
                <a:cs typeface="Times New Roman"/>
              </a:rPr>
              <a:t>default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180</a:t>
            </a:r>
            <a:r>
              <a:rPr sz="3086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seconds</a:t>
            </a:r>
            <a:r>
              <a:rPr sz="3086" b="1" dirty="0">
                <a:latin typeface="Times New Roman"/>
                <a:cs typeface="Times New Roman"/>
              </a:rPr>
              <a:t>)</a:t>
            </a:r>
            <a:r>
              <a:rPr sz="3086" b="1" spc="-6" dirty="0">
                <a:latin typeface="Times New Roman"/>
                <a:cs typeface="Times New Roman"/>
              </a:rPr>
              <a:t> </a:t>
            </a:r>
            <a:r>
              <a:rPr sz="3086" b="1" dirty="0">
                <a:latin typeface="Times New Roman"/>
                <a:cs typeface="Times New Roman"/>
              </a:rPr>
              <a:t>:</a:t>
            </a:r>
            <a:r>
              <a:rPr sz="3086" b="1" spc="-7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This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timer</a:t>
            </a:r>
            <a:r>
              <a:rPr sz="3086" spc="-182" dirty="0">
                <a:latin typeface="Times New Roman"/>
                <a:cs typeface="Times New Roman"/>
              </a:rPr>
              <a:t> </a:t>
            </a:r>
            <a:r>
              <a:rPr lang="en-US" sz="3086" spc="-55" dirty="0">
                <a:latin typeface="Times New Roman"/>
                <a:cs typeface="Times New Roman"/>
              </a:rPr>
              <a:t>a </a:t>
            </a:r>
            <a:r>
              <a:rPr sz="3086" dirty="0">
                <a:latin typeface="Times New Roman"/>
                <a:cs typeface="Times New Roman"/>
              </a:rPr>
              <a:t>route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will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enter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hold-</a:t>
            </a:r>
            <a:r>
              <a:rPr sz="3086" dirty="0">
                <a:latin typeface="Times New Roman"/>
                <a:cs typeface="Times New Roman"/>
              </a:rPr>
              <a:t>down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state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for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one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of</a:t>
            </a:r>
            <a:r>
              <a:rPr sz="3086" spc="-11" dirty="0">
                <a:latin typeface="Times New Roman"/>
                <a:cs typeface="Times New Roman"/>
              </a:rPr>
              <a:t> three</a:t>
            </a:r>
            <a:r>
              <a:rPr lang="en-US" sz="3086" spc="-11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reasons:</a:t>
            </a:r>
            <a:endParaRPr sz="3086" dirty="0">
              <a:latin typeface="Times New Roman"/>
              <a:cs typeface="Times New Roman"/>
            </a:endParaRPr>
          </a:p>
          <a:p>
            <a:pPr marL="1327951" lvl="2" indent="-503972">
              <a:spcBef>
                <a:spcPts val="457"/>
              </a:spcBef>
              <a:buClr>
                <a:srgbClr val="9B2C1F"/>
              </a:buClr>
              <a:buSzPct val="85416"/>
              <a:buAutoNum type="arabicPeriod"/>
              <a:tabLst>
                <a:tab pos="870751" algn="l"/>
              </a:tabLst>
            </a:pPr>
            <a:r>
              <a:rPr sz="2646" dirty="0">
                <a:latin typeface="Times New Roman"/>
                <a:cs typeface="Times New Roman"/>
              </a:rPr>
              <a:t>The</a:t>
            </a:r>
            <a:r>
              <a:rPr sz="2646" spc="-44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invalid</a:t>
            </a:r>
            <a:r>
              <a:rPr sz="2646" spc="-39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timer</a:t>
            </a:r>
            <a:r>
              <a:rPr sz="2646" spc="-33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has</a:t>
            </a:r>
            <a:r>
              <a:rPr sz="2646" spc="-11" dirty="0">
                <a:latin typeface="Times New Roman"/>
                <a:cs typeface="Times New Roman"/>
              </a:rPr>
              <a:t> expired.</a:t>
            </a:r>
            <a:endParaRPr sz="2646" dirty="0">
              <a:latin typeface="Times New Roman"/>
              <a:cs typeface="Times New Roman"/>
            </a:endParaRPr>
          </a:p>
          <a:p>
            <a:pPr marL="1327951" marR="8400" lvl="2" indent="-504670">
              <a:spcBef>
                <a:spcPts val="451"/>
              </a:spcBef>
              <a:buClr>
                <a:srgbClr val="9B2C1F"/>
              </a:buClr>
              <a:buSzPct val="85416"/>
              <a:buAutoNum type="arabicPeriod"/>
              <a:tabLst>
                <a:tab pos="870751" algn="l"/>
              </a:tabLst>
            </a:pPr>
            <a:r>
              <a:rPr sz="2646" dirty="0">
                <a:latin typeface="Times New Roman"/>
                <a:cs typeface="Times New Roman"/>
              </a:rPr>
              <a:t>An</a:t>
            </a:r>
            <a:r>
              <a:rPr sz="2646" spc="-33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update</a:t>
            </a:r>
            <a:r>
              <a:rPr sz="2646" spc="-50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has</a:t>
            </a:r>
            <a:r>
              <a:rPr sz="2646" spc="-17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been</a:t>
            </a:r>
            <a:r>
              <a:rPr sz="2646" spc="-33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received</a:t>
            </a:r>
            <a:r>
              <a:rPr sz="2646" spc="-55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from</a:t>
            </a:r>
            <a:r>
              <a:rPr sz="2646" spc="-39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another</a:t>
            </a:r>
            <a:r>
              <a:rPr sz="2646" spc="-44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router,</a:t>
            </a:r>
            <a:r>
              <a:rPr sz="2646" spc="-44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marking</a:t>
            </a:r>
            <a:r>
              <a:rPr sz="2646" spc="-22" dirty="0">
                <a:latin typeface="Times New Roman"/>
                <a:cs typeface="Times New Roman"/>
              </a:rPr>
              <a:t> that </a:t>
            </a:r>
            <a:r>
              <a:rPr sz="2646" dirty="0">
                <a:latin typeface="Times New Roman"/>
                <a:cs typeface="Times New Roman"/>
              </a:rPr>
              <a:t>route</a:t>
            </a:r>
            <a:r>
              <a:rPr sz="2646" spc="-50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with</a:t>
            </a:r>
            <a:r>
              <a:rPr sz="2646" spc="-11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a</a:t>
            </a:r>
            <a:r>
              <a:rPr sz="2646" spc="-17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metric</a:t>
            </a:r>
            <a:r>
              <a:rPr sz="2646" spc="-22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of</a:t>
            </a:r>
            <a:r>
              <a:rPr sz="2646" spc="-22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16</a:t>
            </a:r>
            <a:r>
              <a:rPr sz="2646" spc="-6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(or</a:t>
            </a:r>
            <a:r>
              <a:rPr sz="2646" spc="17" dirty="0">
                <a:latin typeface="Times New Roman"/>
                <a:cs typeface="Times New Roman"/>
              </a:rPr>
              <a:t> </a:t>
            </a:r>
            <a:r>
              <a:rPr sz="2646" i="1" spc="-11" dirty="0">
                <a:latin typeface="Times New Roman"/>
                <a:cs typeface="Times New Roman"/>
              </a:rPr>
              <a:t>unreachable).</a:t>
            </a:r>
            <a:endParaRPr sz="2646" dirty="0">
              <a:latin typeface="Times New Roman"/>
              <a:cs typeface="Times New Roman"/>
            </a:endParaRPr>
          </a:p>
          <a:p>
            <a:pPr marL="1327951" marR="5600" lvl="2" indent="-504670" algn="just">
              <a:spcBef>
                <a:spcPts val="441"/>
              </a:spcBef>
              <a:buClr>
                <a:srgbClr val="9B2C1F"/>
              </a:buClr>
              <a:buSzPct val="85416"/>
              <a:buAutoNum type="arabicPeriod"/>
              <a:tabLst>
                <a:tab pos="870751" algn="l"/>
              </a:tabLst>
            </a:pPr>
            <a:r>
              <a:rPr sz="2646" dirty="0">
                <a:latin typeface="Times New Roman"/>
                <a:cs typeface="Times New Roman"/>
              </a:rPr>
              <a:t>An</a:t>
            </a:r>
            <a:r>
              <a:rPr sz="2646" spc="-33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update</a:t>
            </a:r>
            <a:r>
              <a:rPr sz="2646" spc="-50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has</a:t>
            </a:r>
            <a:r>
              <a:rPr sz="2646" spc="-17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been</a:t>
            </a:r>
            <a:r>
              <a:rPr sz="2646" spc="-33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received</a:t>
            </a:r>
            <a:r>
              <a:rPr sz="2646" spc="-55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from</a:t>
            </a:r>
            <a:r>
              <a:rPr sz="2646" spc="-39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another</a:t>
            </a:r>
            <a:r>
              <a:rPr sz="2646" spc="-44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router,</a:t>
            </a:r>
            <a:r>
              <a:rPr sz="2646" spc="-44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marking</a:t>
            </a:r>
            <a:r>
              <a:rPr sz="2646" spc="-22" dirty="0">
                <a:latin typeface="Times New Roman"/>
                <a:cs typeface="Times New Roman"/>
              </a:rPr>
              <a:t> that </a:t>
            </a:r>
            <a:r>
              <a:rPr sz="2646" dirty="0">
                <a:latin typeface="Times New Roman"/>
                <a:cs typeface="Times New Roman"/>
              </a:rPr>
              <a:t>route</a:t>
            </a:r>
            <a:r>
              <a:rPr sz="2646" spc="-44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with a </a:t>
            </a:r>
            <a:r>
              <a:rPr sz="2646" i="1" dirty="0">
                <a:latin typeface="Times New Roman"/>
                <a:cs typeface="Times New Roman"/>
              </a:rPr>
              <a:t>higher</a:t>
            </a:r>
            <a:r>
              <a:rPr sz="2646" i="1" spc="-6" dirty="0">
                <a:latin typeface="Times New Roman"/>
                <a:cs typeface="Times New Roman"/>
              </a:rPr>
              <a:t> </a:t>
            </a:r>
            <a:r>
              <a:rPr sz="2646" i="1" dirty="0">
                <a:latin typeface="Times New Roman"/>
                <a:cs typeface="Times New Roman"/>
              </a:rPr>
              <a:t>metric</a:t>
            </a:r>
            <a:r>
              <a:rPr sz="2646" i="1" spc="-28" dirty="0">
                <a:latin typeface="Times New Roman"/>
                <a:cs typeface="Times New Roman"/>
              </a:rPr>
              <a:t> </a:t>
            </a:r>
            <a:r>
              <a:rPr sz="2646" i="1" dirty="0">
                <a:latin typeface="Times New Roman"/>
                <a:cs typeface="Times New Roman"/>
              </a:rPr>
              <a:t>than what</a:t>
            </a:r>
            <a:r>
              <a:rPr sz="2646" i="1" spc="-11" dirty="0">
                <a:latin typeface="Times New Roman"/>
                <a:cs typeface="Times New Roman"/>
              </a:rPr>
              <a:t> </a:t>
            </a:r>
            <a:r>
              <a:rPr sz="2646" i="1" dirty="0">
                <a:latin typeface="Times New Roman"/>
                <a:cs typeface="Times New Roman"/>
              </a:rPr>
              <a:t>is </a:t>
            </a:r>
            <a:r>
              <a:rPr sz="2646" i="1" spc="-11" dirty="0">
                <a:latin typeface="Times New Roman"/>
                <a:cs typeface="Times New Roman"/>
              </a:rPr>
              <a:t>currently</a:t>
            </a:r>
            <a:r>
              <a:rPr sz="2646" i="1" spc="-50" dirty="0">
                <a:latin typeface="Times New Roman"/>
                <a:cs typeface="Times New Roman"/>
              </a:rPr>
              <a:t> </a:t>
            </a:r>
            <a:r>
              <a:rPr sz="2646" i="1" dirty="0">
                <a:latin typeface="Times New Roman"/>
                <a:cs typeface="Times New Roman"/>
              </a:rPr>
              <a:t>in the</a:t>
            </a:r>
            <a:r>
              <a:rPr sz="2646" i="1" spc="-28" dirty="0">
                <a:latin typeface="Times New Roman"/>
                <a:cs typeface="Times New Roman"/>
              </a:rPr>
              <a:t> </a:t>
            </a:r>
            <a:r>
              <a:rPr sz="2646" i="1" spc="-11" dirty="0">
                <a:latin typeface="Times New Roman"/>
                <a:cs typeface="Times New Roman"/>
              </a:rPr>
              <a:t>routing </a:t>
            </a:r>
            <a:r>
              <a:rPr sz="2646" i="1" dirty="0">
                <a:latin typeface="Times New Roman"/>
                <a:cs typeface="Times New Roman"/>
              </a:rPr>
              <a:t>table.</a:t>
            </a:r>
            <a:r>
              <a:rPr sz="2646" i="1" spc="-50" dirty="0">
                <a:latin typeface="Times New Roman"/>
                <a:cs typeface="Times New Roman"/>
              </a:rPr>
              <a:t> </a:t>
            </a:r>
            <a:r>
              <a:rPr sz="2646" i="1" dirty="0">
                <a:latin typeface="Times New Roman"/>
                <a:cs typeface="Times New Roman"/>
              </a:rPr>
              <a:t>This</a:t>
            </a:r>
            <a:r>
              <a:rPr sz="2646" i="1" spc="-11" dirty="0">
                <a:latin typeface="Times New Roman"/>
                <a:cs typeface="Times New Roman"/>
              </a:rPr>
              <a:t> </a:t>
            </a:r>
            <a:r>
              <a:rPr sz="2646" i="1" dirty="0">
                <a:latin typeface="Times New Roman"/>
                <a:cs typeface="Times New Roman"/>
              </a:rPr>
              <a:t>is</a:t>
            </a:r>
            <a:r>
              <a:rPr sz="2646" i="1" spc="-11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to</a:t>
            </a:r>
            <a:r>
              <a:rPr sz="2646" spc="-22" dirty="0">
                <a:latin typeface="Times New Roman"/>
                <a:cs typeface="Times New Roman"/>
              </a:rPr>
              <a:t> </a:t>
            </a:r>
            <a:r>
              <a:rPr sz="2646" dirty="0">
                <a:latin typeface="Times New Roman"/>
                <a:cs typeface="Times New Roman"/>
              </a:rPr>
              <a:t>prevent</a:t>
            </a:r>
            <a:r>
              <a:rPr sz="2646" spc="-33" dirty="0">
                <a:latin typeface="Times New Roman"/>
                <a:cs typeface="Times New Roman"/>
              </a:rPr>
              <a:t> </a:t>
            </a:r>
            <a:r>
              <a:rPr sz="2646" spc="-11" dirty="0">
                <a:latin typeface="Times New Roman"/>
                <a:cs typeface="Times New Roman"/>
              </a:rPr>
              <a:t>loops.</a:t>
            </a:r>
            <a:endParaRPr sz="2646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020" y="542652"/>
            <a:ext cx="8461936" cy="691948"/>
          </a:xfrm>
          <a:prstGeom prst="rect">
            <a:avLst/>
          </a:prstGeom>
        </p:spPr>
        <p:txBody>
          <a:bodyPr vert="horz" wrap="square" lIns="0" tIns="13299" rIns="0" bIns="0" rtlCol="0" anchor="ctr">
            <a:spAutoFit/>
          </a:bodyPr>
          <a:lstStyle/>
          <a:p>
            <a:pPr marL="13999">
              <a:lnSpc>
                <a:spcPct val="100000"/>
              </a:lnSpc>
              <a:spcBef>
                <a:spcPts val="105"/>
              </a:spcBef>
            </a:pPr>
            <a:r>
              <a:rPr sz="4409" dirty="0">
                <a:solidFill>
                  <a:schemeClr val="bg1"/>
                </a:solidFill>
              </a:rPr>
              <a:t>Distance</a:t>
            </a:r>
            <a:r>
              <a:rPr sz="4409" spc="-270" dirty="0">
                <a:solidFill>
                  <a:schemeClr val="bg1"/>
                </a:solidFill>
              </a:rPr>
              <a:t> </a:t>
            </a:r>
            <a:r>
              <a:rPr sz="4409" spc="-83" dirty="0">
                <a:solidFill>
                  <a:schemeClr val="bg1"/>
                </a:solidFill>
              </a:rPr>
              <a:t>Vector</a:t>
            </a:r>
            <a:r>
              <a:rPr sz="4409" spc="-193" dirty="0">
                <a:solidFill>
                  <a:schemeClr val="bg1"/>
                </a:solidFill>
              </a:rPr>
              <a:t> </a:t>
            </a:r>
            <a:r>
              <a:rPr sz="4409" spc="-61" dirty="0">
                <a:solidFill>
                  <a:schemeClr val="bg1"/>
                </a:solidFill>
              </a:rPr>
              <a:t>Table</a:t>
            </a:r>
            <a:r>
              <a:rPr sz="4409" spc="-121" dirty="0">
                <a:solidFill>
                  <a:schemeClr val="bg1"/>
                </a:solidFill>
              </a:rPr>
              <a:t> </a:t>
            </a:r>
            <a:r>
              <a:rPr sz="4409" spc="-11" dirty="0">
                <a:solidFill>
                  <a:schemeClr val="bg1"/>
                </a:solidFill>
              </a:rPr>
              <a:t>Maintenance</a:t>
            </a:r>
            <a:endParaRPr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5117" y="1837543"/>
            <a:ext cx="9390390" cy="2081046"/>
          </a:xfrm>
          <a:prstGeom prst="rect">
            <a:avLst/>
          </a:prstGeom>
        </p:spPr>
        <p:txBody>
          <a:bodyPr vert="horz" wrap="square" lIns="0" tIns="13299" rIns="0" bIns="0" rtlCol="0">
            <a:spAutoFit/>
          </a:bodyPr>
          <a:lstStyle/>
          <a:p>
            <a:pPr marL="471199" indent="-457200">
              <a:spcBef>
                <a:spcPts val="105"/>
              </a:spcBef>
              <a:buClr>
                <a:srgbClr val="D24717"/>
              </a:buClr>
              <a:buSzPct val="83928"/>
              <a:buFont typeface="Wingdings" panose="05000000000000000000" pitchFamily="2" charset="2"/>
              <a:buChar char="Ø"/>
              <a:tabLst>
                <a:tab pos="314282" algn="l"/>
              </a:tabLst>
            </a:pP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RIP</a:t>
            </a:r>
            <a:r>
              <a:rPr sz="3086" b="1" spc="-18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Timers</a:t>
            </a:r>
            <a:endParaRPr sz="3086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928399" lvl="1" indent="-457200">
              <a:spcBef>
                <a:spcPts val="6"/>
              </a:spcBef>
              <a:buClr>
                <a:srgbClr val="C00000"/>
              </a:buClr>
              <a:buSzPct val="83928"/>
              <a:buFont typeface="Wingdings" panose="05000000000000000000" pitchFamily="2" charset="2"/>
              <a:buChar char="v"/>
              <a:tabLst>
                <a:tab pos="314282" algn="l"/>
              </a:tabLst>
            </a:pPr>
            <a:r>
              <a:rPr sz="3200" dirty="0">
                <a:latin typeface="Times New Roman"/>
                <a:cs typeface="Times New Roman"/>
              </a:rPr>
              <a:t>What</a:t>
            </a:r>
            <a:r>
              <a:rPr sz="3200" spc="-7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two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commands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will</a:t>
            </a:r>
            <a:r>
              <a:rPr sz="3200" spc="-7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show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timer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values?</a:t>
            </a:r>
            <a:endParaRPr sz="3200" dirty="0">
              <a:latin typeface="Times New Roman"/>
              <a:cs typeface="Times New Roman"/>
            </a:endParaRPr>
          </a:p>
          <a:p>
            <a:pPr marL="1542965" lvl="3" indent="-261785">
              <a:spcBef>
                <a:spcPts val="451"/>
              </a:spcBef>
              <a:buClr>
                <a:srgbClr val="9B2C1F"/>
              </a:buClr>
              <a:buSzPct val="80357"/>
              <a:buFont typeface="Wingdings"/>
              <a:buChar char=""/>
              <a:tabLst>
                <a:tab pos="628565" algn="l"/>
              </a:tabLst>
            </a:pPr>
            <a:r>
              <a:rPr sz="3200" b="1" dirty="0">
                <a:latin typeface="Times New Roman"/>
                <a:cs typeface="Times New Roman"/>
              </a:rPr>
              <a:t>show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ip</a:t>
            </a:r>
            <a:r>
              <a:rPr sz="3200" b="1" spc="-44" dirty="0">
                <a:latin typeface="Times New Roman"/>
                <a:cs typeface="Times New Roman"/>
              </a:rPr>
              <a:t> </a:t>
            </a:r>
            <a:r>
              <a:rPr sz="3200" b="1" spc="-22" dirty="0">
                <a:latin typeface="Times New Roman"/>
                <a:cs typeface="Times New Roman"/>
              </a:rPr>
              <a:t>route</a:t>
            </a:r>
            <a:endParaRPr sz="3200" dirty="0">
              <a:latin typeface="Times New Roman"/>
              <a:cs typeface="Times New Roman"/>
            </a:endParaRPr>
          </a:p>
          <a:p>
            <a:pPr marL="1542965" lvl="3" indent="-261785">
              <a:spcBef>
                <a:spcPts val="435"/>
              </a:spcBef>
              <a:buClr>
                <a:srgbClr val="9B2C1F"/>
              </a:buClr>
              <a:buSzPct val="80357"/>
              <a:buFont typeface="Wingdings"/>
              <a:buChar char=""/>
              <a:tabLst>
                <a:tab pos="628565" algn="l"/>
              </a:tabLst>
            </a:pPr>
            <a:r>
              <a:rPr sz="3200" b="1" dirty="0">
                <a:latin typeface="Times New Roman"/>
                <a:cs typeface="Times New Roman"/>
              </a:rPr>
              <a:t>show</a:t>
            </a:r>
            <a:r>
              <a:rPr sz="3200" b="1" spc="-44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ip</a:t>
            </a:r>
            <a:r>
              <a:rPr sz="3200" b="1" spc="-44" dirty="0">
                <a:latin typeface="Times New Roman"/>
                <a:cs typeface="Times New Roman"/>
              </a:rPr>
              <a:t> </a:t>
            </a:r>
            <a:r>
              <a:rPr sz="3200" b="1" spc="-11" dirty="0">
                <a:latin typeface="Times New Roman"/>
                <a:cs typeface="Times New Roman"/>
              </a:rPr>
              <a:t>protocols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5617" y="527882"/>
            <a:ext cx="7620572" cy="624752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chemeClr val="bg1"/>
                </a:solidFill>
              </a:rPr>
              <a:t>Distance</a:t>
            </a:r>
            <a:r>
              <a:rPr spc="-198" dirty="0">
                <a:solidFill>
                  <a:schemeClr val="bg1"/>
                </a:solidFill>
              </a:rPr>
              <a:t> </a:t>
            </a:r>
            <a:r>
              <a:rPr spc="-77" dirty="0">
                <a:solidFill>
                  <a:schemeClr val="bg1"/>
                </a:solidFill>
              </a:rPr>
              <a:t>Vector</a:t>
            </a:r>
            <a:r>
              <a:rPr spc="-171" dirty="0">
                <a:solidFill>
                  <a:schemeClr val="bg1"/>
                </a:solidFill>
              </a:rPr>
              <a:t> </a:t>
            </a:r>
            <a:r>
              <a:rPr spc="-33" dirty="0">
                <a:solidFill>
                  <a:schemeClr val="bg1"/>
                </a:solidFill>
              </a:rPr>
              <a:t>Table</a:t>
            </a:r>
            <a:r>
              <a:rPr spc="-72" dirty="0">
                <a:solidFill>
                  <a:schemeClr val="bg1"/>
                </a:solidFill>
              </a:rPr>
              <a:t> </a:t>
            </a:r>
            <a:r>
              <a:rPr spc="-11" dirty="0">
                <a:solidFill>
                  <a:schemeClr val="bg1"/>
                </a:solidFill>
              </a:rPr>
              <a:t>Maintenance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730" y="1803042"/>
            <a:ext cx="9281385" cy="5490701"/>
          </a:xfrm>
          <a:prstGeom prst="rect">
            <a:avLst/>
          </a:prstGeom>
        </p:spPr>
        <p:txBody>
          <a:bodyPr vert="horz" wrap="square" lIns="0" tIns="14699" rIns="0" bIns="0" rtlCol="0">
            <a:spAutoFit/>
          </a:bodyPr>
          <a:lstStyle/>
          <a:p>
            <a:pPr marL="13999">
              <a:spcBef>
                <a:spcPts val="116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EIGRP</a:t>
            </a:r>
            <a:r>
              <a:rPr sz="3200" b="1" spc="-126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Updates</a:t>
            </a:r>
            <a:endParaRPr sz="3200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70499" marR="700660" indent="-457200"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dirty="0">
                <a:latin typeface="Times New Roman"/>
                <a:cs typeface="Times New Roman"/>
              </a:rPr>
              <a:t>Unlike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other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distance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vector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protocols,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EIGRP 	</a:t>
            </a:r>
            <a:r>
              <a:rPr sz="3200" dirty="0">
                <a:latin typeface="Times New Roman"/>
                <a:cs typeface="Times New Roman"/>
              </a:rPr>
              <a:t>does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not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send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periodic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updates.</a:t>
            </a:r>
            <a:endParaRPr lang="en-US" sz="3200" spc="-11" dirty="0">
              <a:latin typeface="Times New Roman"/>
              <a:cs typeface="Times New Roman"/>
            </a:endParaRPr>
          </a:p>
          <a:p>
            <a:pPr marL="470499" marR="700660" indent="-457200"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dirty="0">
                <a:latin typeface="Times New Roman"/>
                <a:cs typeface="Times New Roman"/>
              </a:rPr>
              <a:t>EIGRP</a:t>
            </a:r>
            <a:r>
              <a:rPr sz="3200" spc="-14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uses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following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types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updates:</a:t>
            </a:r>
            <a:endParaRPr sz="3200" dirty="0">
              <a:latin typeface="Times New Roman"/>
              <a:cs typeface="Times New Roman"/>
            </a:endParaRPr>
          </a:p>
          <a:p>
            <a:pPr marL="618065" lvl="1" indent="-251986">
              <a:spcBef>
                <a:spcPts val="441"/>
              </a:spcBef>
              <a:buClr>
                <a:srgbClr val="9B2C1F"/>
              </a:buClr>
              <a:buSzPct val="85416"/>
              <a:buFont typeface="Wingdings"/>
              <a:buChar char=""/>
              <a:tabLst>
                <a:tab pos="618065" algn="l"/>
              </a:tabLst>
            </a:pPr>
            <a:r>
              <a:rPr sz="3100" b="1" dirty="0">
                <a:solidFill>
                  <a:srgbClr val="FF0000"/>
                </a:solidFill>
                <a:latin typeface="Times New Roman"/>
                <a:cs typeface="Times New Roman"/>
              </a:rPr>
              <a:t>Nonperiodic</a:t>
            </a:r>
            <a:r>
              <a:rPr sz="3100" b="1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r>
              <a:rPr sz="3100" b="1" spc="-3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They</a:t>
            </a:r>
            <a:r>
              <a:rPr sz="3100" spc="-22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are</a:t>
            </a:r>
            <a:r>
              <a:rPr sz="3100" spc="-22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not</a:t>
            </a:r>
            <a:r>
              <a:rPr sz="3100" spc="-17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sent</a:t>
            </a:r>
            <a:r>
              <a:rPr sz="3100" spc="-17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out</a:t>
            </a:r>
            <a:r>
              <a:rPr sz="3100" spc="-17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on</a:t>
            </a:r>
            <a:r>
              <a:rPr sz="3100" spc="-6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a</a:t>
            </a:r>
            <a:r>
              <a:rPr sz="3100" spc="-11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regular</a:t>
            </a:r>
            <a:r>
              <a:rPr sz="3100" spc="-28" dirty="0">
                <a:latin typeface="Times New Roman"/>
                <a:cs typeface="Times New Roman"/>
              </a:rPr>
              <a:t> </a:t>
            </a:r>
            <a:r>
              <a:rPr sz="3100" spc="-11" dirty="0">
                <a:latin typeface="Times New Roman"/>
                <a:cs typeface="Times New Roman"/>
              </a:rPr>
              <a:t>basis.</a:t>
            </a:r>
            <a:endParaRPr sz="3100" dirty="0">
              <a:latin typeface="Times New Roman"/>
              <a:cs typeface="Times New Roman"/>
            </a:endParaRPr>
          </a:p>
          <a:p>
            <a:pPr marL="618765" marR="296083" lvl="1" indent="-252686">
              <a:spcBef>
                <a:spcPts val="451"/>
              </a:spcBef>
              <a:buClr>
                <a:srgbClr val="9B2C1F"/>
              </a:buClr>
              <a:buSzPct val="85416"/>
              <a:buFont typeface="Wingdings"/>
              <a:buChar char=""/>
              <a:tabLst>
                <a:tab pos="618765" algn="l"/>
              </a:tabLst>
            </a:pPr>
            <a:r>
              <a:rPr sz="3100" b="1" dirty="0">
                <a:solidFill>
                  <a:srgbClr val="FF0000"/>
                </a:solidFill>
                <a:latin typeface="Times New Roman"/>
                <a:cs typeface="Times New Roman"/>
              </a:rPr>
              <a:t>Partial</a:t>
            </a:r>
            <a:r>
              <a:rPr sz="3100" b="1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r>
              <a:rPr sz="31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These</a:t>
            </a:r>
            <a:r>
              <a:rPr sz="3100" spc="-6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updates</a:t>
            </a:r>
            <a:r>
              <a:rPr sz="3100" spc="-6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are</a:t>
            </a:r>
            <a:r>
              <a:rPr sz="3100" spc="-33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sent</a:t>
            </a:r>
            <a:r>
              <a:rPr sz="3100" spc="-11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only</a:t>
            </a:r>
            <a:r>
              <a:rPr sz="3100" spc="-6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when</a:t>
            </a:r>
            <a:r>
              <a:rPr sz="3100" spc="-6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there</a:t>
            </a:r>
            <a:r>
              <a:rPr sz="3100" spc="-28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is</a:t>
            </a:r>
            <a:r>
              <a:rPr sz="3100" spc="-6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a </a:t>
            </a:r>
            <a:r>
              <a:rPr sz="3100" spc="-11" dirty="0">
                <a:latin typeface="Times New Roman"/>
                <a:cs typeface="Times New Roman"/>
              </a:rPr>
              <a:t>change </a:t>
            </a:r>
            <a:r>
              <a:rPr sz="3100" dirty="0">
                <a:latin typeface="Times New Roman"/>
                <a:cs typeface="Times New Roman"/>
              </a:rPr>
              <a:t>in</a:t>
            </a:r>
            <a:r>
              <a:rPr sz="3100" spc="-22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topology</a:t>
            </a:r>
            <a:r>
              <a:rPr sz="3100" spc="-17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that</a:t>
            </a:r>
            <a:r>
              <a:rPr sz="3100" spc="-22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influences</a:t>
            </a:r>
            <a:r>
              <a:rPr sz="3100" spc="-22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routing</a:t>
            </a:r>
            <a:r>
              <a:rPr sz="3100" spc="-6" dirty="0">
                <a:latin typeface="Times New Roman"/>
                <a:cs typeface="Times New Roman"/>
              </a:rPr>
              <a:t> </a:t>
            </a:r>
            <a:r>
              <a:rPr sz="3100" spc="-11" dirty="0">
                <a:latin typeface="Times New Roman"/>
                <a:cs typeface="Times New Roman"/>
              </a:rPr>
              <a:t>information.</a:t>
            </a:r>
            <a:endParaRPr sz="3100" dirty="0">
              <a:latin typeface="Times New Roman"/>
              <a:cs typeface="Times New Roman"/>
            </a:endParaRPr>
          </a:p>
          <a:p>
            <a:pPr marL="618765" marR="5600" lvl="1" indent="-252686">
              <a:spcBef>
                <a:spcPts val="441"/>
              </a:spcBef>
              <a:buClr>
                <a:srgbClr val="9B2C1F"/>
              </a:buClr>
              <a:buSzPct val="85416"/>
              <a:buFont typeface="Wingdings"/>
              <a:buChar char=""/>
              <a:tabLst>
                <a:tab pos="618765" algn="l"/>
              </a:tabLst>
            </a:pPr>
            <a:r>
              <a:rPr sz="3100" b="1" dirty="0">
                <a:solidFill>
                  <a:srgbClr val="FF0000"/>
                </a:solidFill>
                <a:latin typeface="Times New Roman"/>
                <a:cs typeface="Times New Roman"/>
              </a:rPr>
              <a:t>Bounded</a:t>
            </a:r>
            <a:r>
              <a:rPr sz="3100" b="1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r>
              <a:rPr sz="3100" b="1" spc="-28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The</a:t>
            </a:r>
            <a:r>
              <a:rPr sz="3100" spc="-28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propagation</a:t>
            </a:r>
            <a:r>
              <a:rPr sz="3100" spc="-61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of</a:t>
            </a:r>
            <a:r>
              <a:rPr sz="3100" spc="-22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partial</a:t>
            </a:r>
            <a:r>
              <a:rPr sz="3100" spc="-77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updates</a:t>
            </a:r>
            <a:r>
              <a:rPr sz="3100" spc="-44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is</a:t>
            </a:r>
            <a:r>
              <a:rPr sz="3100" spc="-28" dirty="0">
                <a:latin typeface="Times New Roman"/>
                <a:cs typeface="Times New Roman"/>
              </a:rPr>
              <a:t> </a:t>
            </a:r>
            <a:r>
              <a:rPr sz="3100" spc="-11" dirty="0">
                <a:latin typeface="Times New Roman"/>
                <a:cs typeface="Times New Roman"/>
              </a:rPr>
              <a:t>automatically </a:t>
            </a:r>
            <a:r>
              <a:rPr sz="3100" dirty="0">
                <a:latin typeface="Times New Roman"/>
                <a:cs typeface="Times New Roman"/>
              </a:rPr>
              <a:t>bounded</a:t>
            </a:r>
            <a:r>
              <a:rPr sz="3100" spc="-17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so</a:t>
            </a:r>
            <a:r>
              <a:rPr sz="3100" spc="-6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that</a:t>
            </a:r>
            <a:r>
              <a:rPr sz="3100" spc="-22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only</a:t>
            </a:r>
            <a:r>
              <a:rPr sz="3100" spc="-6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those</a:t>
            </a:r>
            <a:r>
              <a:rPr sz="3100" spc="-6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routers</a:t>
            </a:r>
            <a:r>
              <a:rPr sz="3100" spc="-22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that</a:t>
            </a:r>
            <a:r>
              <a:rPr sz="3100" spc="-22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need</a:t>
            </a:r>
            <a:r>
              <a:rPr sz="3100" spc="-17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the</a:t>
            </a:r>
            <a:r>
              <a:rPr sz="3100" spc="-17" dirty="0">
                <a:latin typeface="Times New Roman"/>
                <a:cs typeface="Times New Roman"/>
              </a:rPr>
              <a:t> </a:t>
            </a:r>
            <a:r>
              <a:rPr sz="3100" spc="-11" dirty="0">
                <a:latin typeface="Times New Roman"/>
                <a:cs typeface="Times New Roman"/>
              </a:rPr>
              <a:t>information </a:t>
            </a:r>
            <a:r>
              <a:rPr sz="3100" dirty="0">
                <a:latin typeface="Times New Roman"/>
                <a:cs typeface="Times New Roman"/>
              </a:rPr>
              <a:t>are</a:t>
            </a:r>
            <a:r>
              <a:rPr sz="3100" spc="-22" dirty="0">
                <a:latin typeface="Times New Roman"/>
                <a:cs typeface="Times New Roman"/>
              </a:rPr>
              <a:t> </a:t>
            </a:r>
            <a:r>
              <a:rPr sz="3100" spc="-11" dirty="0">
                <a:latin typeface="Times New Roman"/>
                <a:cs typeface="Times New Roman"/>
              </a:rPr>
              <a:t>updated.</a:t>
            </a:r>
            <a:endParaRPr sz="3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5300" y="374659"/>
            <a:ext cx="8465436" cy="691948"/>
          </a:xfrm>
          <a:prstGeom prst="rect">
            <a:avLst/>
          </a:prstGeom>
        </p:spPr>
        <p:txBody>
          <a:bodyPr vert="horz" wrap="square" lIns="0" tIns="13299" rIns="0" bIns="0" rtlCol="0" anchor="ctr">
            <a:spAutoFit/>
          </a:bodyPr>
          <a:lstStyle/>
          <a:p>
            <a:pPr marL="13999">
              <a:lnSpc>
                <a:spcPct val="100000"/>
              </a:lnSpc>
              <a:spcBef>
                <a:spcPts val="105"/>
              </a:spcBef>
            </a:pPr>
            <a:r>
              <a:rPr sz="4409" dirty="0">
                <a:solidFill>
                  <a:schemeClr val="bg1"/>
                </a:solidFill>
              </a:rPr>
              <a:t>Distance</a:t>
            </a:r>
            <a:r>
              <a:rPr sz="4409" spc="-276" dirty="0">
                <a:solidFill>
                  <a:schemeClr val="bg1"/>
                </a:solidFill>
              </a:rPr>
              <a:t> </a:t>
            </a:r>
            <a:r>
              <a:rPr sz="4409" spc="-83" dirty="0">
                <a:solidFill>
                  <a:schemeClr val="bg1"/>
                </a:solidFill>
              </a:rPr>
              <a:t>Vector</a:t>
            </a:r>
            <a:r>
              <a:rPr sz="4409" spc="-193" dirty="0">
                <a:solidFill>
                  <a:schemeClr val="bg1"/>
                </a:solidFill>
              </a:rPr>
              <a:t> </a:t>
            </a:r>
            <a:r>
              <a:rPr sz="4409" spc="-61" dirty="0">
                <a:solidFill>
                  <a:schemeClr val="bg1"/>
                </a:solidFill>
              </a:rPr>
              <a:t>Table</a:t>
            </a:r>
            <a:r>
              <a:rPr sz="4409" spc="-110" dirty="0">
                <a:solidFill>
                  <a:schemeClr val="bg1"/>
                </a:solidFill>
              </a:rPr>
              <a:t> </a:t>
            </a:r>
            <a:r>
              <a:rPr sz="4409" spc="-11" dirty="0">
                <a:solidFill>
                  <a:schemeClr val="bg1"/>
                </a:solidFill>
              </a:rPr>
              <a:t>Maintenance</a:t>
            </a:r>
            <a:endParaRPr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0847" y="1572672"/>
            <a:ext cx="9647401" cy="5726663"/>
          </a:xfrm>
          <a:prstGeom prst="rect">
            <a:avLst/>
          </a:prstGeom>
        </p:spPr>
        <p:txBody>
          <a:bodyPr vert="horz" wrap="square" lIns="0" tIns="14699" rIns="0" bIns="0" rtlCol="0">
            <a:spAutoFit/>
          </a:bodyPr>
          <a:lstStyle/>
          <a:p>
            <a:pPr marL="13999" algn="just">
              <a:spcBef>
                <a:spcPts val="116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Triggered</a:t>
            </a:r>
            <a:r>
              <a:rPr sz="3200" b="1" spc="-8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Updates</a:t>
            </a:r>
            <a:endParaRPr sz="3200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70499" marR="5600" indent="-457200" algn="just"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spc="-39" dirty="0">
                <a:latin typeface="Times New Roman"/>
                <a:cs typeface="Times New Roman"/>
              </a:rPr>
              <a:t>To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speed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convergence</a:t>
            </a:r>
            <a:r>
              <a:rPr sz="3200" spc="-8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when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there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topology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change, 	</a:t>
            </a:r>
            <a:r>
              <a:rPr sz="3200" dirty="0">
                <a:latin typeface="Times New Roman"/>
                <a:cs typeface="Times New Roman"/>
              </a:rPr>
              <a:t>RIP</a:t>
            </a:r>
            <a:r>
              <a:rPr sz="3200" spc="-14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uses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triggered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updates.</a:t>
            </a:r>
            <a:endParaRPr sz="3200" dirty="0">
              <a:latin typeface="Times New Roman"/>
              <a:cs typeface="Times New Roman"/>
            </a:endParaRPr>
          </a:p>
          <a:p>
            <a:pPr marL="823279" marR="915548" lvl="1" indent="-457200" algn="just">
              <a:spcBef>
                <a:spcPts val="446"/>
              </a:spcBef>
              <a:buClr>
                <a:srgbClr val="9B2C1F"/>
              </a:buClr>
              <a:buSzPct val="85416"/>
              <a:buFont typeface="Wingdings" panose="05000000000000000000" pitchFamily="2" charset="2"/>
              <a:buChar char="ü"/>
              <a:tabLst>
                <a:tab pos="618765" algn="l"/>
              </a:tabLst>
            </a:pPr>
            <a:r>
              <a:rPr sz="3200" spc="-22" dirty="0">
                <a:latin typeface="Times New Roman"/>
                <a:cs typeface="Times New Roman"/>
              </a:rPr>
              <a:t>A</a:t>
            </a:r>
            <a:r>
              <a:rPr sz="3200" spc="-15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triggered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update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 a routing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table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update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 sent 	i</a:t>
            </a:r>
            <a:r>
              <a:rPr sz="3200" spc="-17" dirty="0">
                <a:latin typeface="Times New Roman"/>
                <a:cs typeface="Times New Roman"/>
              </a:rPr>
              <a:t>m</a:t>
            </a:r>
            <a:r>
              <a:rPr sz="3200" spc="-22" dirty="0">
                <a:latin typeface="Times New Roman"/>
                <a:cs typeface="Times New Roman"/>
              </a:rPr>
              <a:t>m</a:t>
            </a:r>
            <a:r>
              <a:rPr sz="3200" dirty="0">
                <a:latin typeface="Times New Roman"/>
                <a:cs typeface="Times New Roman"/>
              </a:rPr>
              <a:t>ediately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1" dirty="0">
                <a:latin typeface="Times New Roman"/>
                <a:cs typeface="Times New Roman"/>
              </a:rPr>
              <a:t> response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 </a:t>
            </a:r>
            <a:r>
              <a:rPr sz="3200" spc="-6" dirty="0">
                <a:latin typeface="Times New Roman"/>
                <a:cs typeface="Times New Roman"/>
              </a:rPr>
              <a:t>routing</a:t>
            </a:r>
            <a:r>
              <a:rPr sz="3200" dirty="0">
                <a:latin typeface="Times New Roman"/>
                <a:cs typeface="Times New Roman"/>
              </a:rPr>
              <a:t> change.</a:t>
            </a:r>
            <a:r>
              <a:rPr sz="3200" spc="-66" dirty="0">
                <a:latin typeface="Times New Roman"/>
                <a:cs typeface="Times New Roman"/>
              </a:rPr>
              <a:t> </a:t>
            </a:r>
            <a:r>
              <a:rPr sz="3200" spc="-99" dirty="0">
                <a:latin typeface="Times New Roman"/>
                <a:cs typeface="Times New Roman"/>
              </a:rPr>
              <a:t>T</a:t>
            </a:r>
            <a:r>
              <a:rPr sz="3200" dirty="0">
                <a:latin typeface="Times New Roman"/>
                <a:cs typeface="Times New Roman"/>
              </a:rPr>
              <a:t>r</a:t>
            </a:r>
            <a:r>
              <a:rPr sz="3200" spc="6" dirty="0">
                <a:latin typeface="Times New Roman"/>
                <a:cs typeface="Times New Roman"/>
              </a:rPr>
              <a:t>i</a:t>
            </a:r>
            <a:r>
              <a:rPr sz="3200" dirty="0">
                <a:latin typeface="Times New Roman"/>
                <a:cs typeface="Times New Roman"/>
              </a:rPr>
              <a:t>ggered 	</a:t>
            </a:r>
            <a:r>
              <a:rPr sz="3200" spc="-6" dirty="0">
                <a:latin typeface="Times New Roman"/>
                <a:cs typeface="Times New Roman"/>
              </a:rPr>
              <a:t>updates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do not wait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for</a:t>
            </a:r>
            <a:r>
              <a:rPr sz="3200" spc="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update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spc="-6" dirty="0">
                <a:latin typeface="Times New Roman"/>
                <a:cs typeface="Times New Roman"/>
              </a:rPr>
              <a:t>timers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expire.</a:t>
            </a:r>
          </a:p>
          <a:p>
            <a:pPr marL="471199" indent="-457200" algn="just">
              <a:spcBef>
                <a:spcPts val="672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4982" algn="l"/>
              </a:tabLst>
            </a:pPr>
            <a:r>
              <a:rPr sz="3200" dirty="0">
                <a:latin typeface="Times New Roman"/>
                <a:cs typeface="Times New Roman"/>
              </a:rPr>
              <a:t>Triggered</a:t>
            </a:r>
            <a:r>
              <a:rPr sz="3200" spc="-9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updates</a:t>
            </a:r>
            <a:r>
              <a:rPr sz="3200" spc="-8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sent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spc="-22" dirty="0">
                <a:latin typeface="Times New Roman"/>
                <a:cs typeface="Times New Roman"/>
              </a:rPr>
              <a:t>when</a:t>
            </a:r>
            <a:endParaRPr sz="3200" dirty="0">
              <a:latin typeface="Times New Roman"/>
              <a:cs typeface="Times New Roman"/>
            </a:endParaRPr>
          </a:p>
          <a:p>
            <a:pPr marL="618065" lvl="1" indent="-251286">
              <a:spcBef>
                <a:spcPts val="446"/>
              </a:spcBef>
              <a:buClr>
                <a:srgbClr val="9B2C1F"/>
              </a:buClr>
              <a:buSzPct val="85416"/>
              <a:buFont typeface="Wingdings"/>
              <a:buChar char=""/>
              <a:tabLst>
                <a:tab pos="618065" algn="l"/>
              </a:tabLst>
            </a:pPr>
            <a:r>
              <a:rPr sz="3200" dirty="0">
                <a:latin typeface="Times New Roman"/>
                <a:cs typeface="Times New Roman"/>
              </a:rPr>
              <a:t>An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interface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changes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state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(up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down)</a:t>
            </a:r>
            <a:endParaRPr sz="3200" dirty="0">
              <a:latin typeface="Times New Roman"/>
              <a:cs typeface="Times New Roman"/>
            </a:endParaRPr>
          </a:p>
          <a:p>
            <a:pPr marL="618065" lvl="1" indent="-251286">
              <a:spcBef>
                <a:spcPts val="435"/>
              </a:spcBef>
              <a:buClr>
                <a:srgbClr val="9B2C1F"/>
              </a:buClr>
              <a:buSzPct val="85416"/>
              <a:buFont typeface="Wingdings"/>
              <a:buChar char=""/>
              <a:tabLst>
                <a:tab pos="618065" algn="l"/>
              </a:tabLst>
            </a:pPr>
            <a:r>
              <a:rPr sz="3200" spc="-22" dirty="0">
                <a:latin typeface="Times New Roman"/>
                <a:cs typeface="Times New Roman"/>
              </a:rPr>
              <a:t>A</a:t>
            </a:r>
            <a:r>
              <a:rPr sz="3200" spc="-15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route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has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entered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(or exited)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“unreachable”</a:t>
            </a:r>
            <a:r>
              <a:rPr sz="3200" spc="-72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state</a:t>
            </a:r>
            <a:endParaRPr sz="3200" dirty="0">
              <a:latin typeface="Times New Roman"/>
              <a:cs typeface="Times New Roman"/>
            </a:endParaRPr>
          </a:p>
          <a:p>
            <a:pPr marL="618065" lvl="1" indent="-251286">
              <a:spcBef>
                <a:spcPts val="435"/>
              </a:spcBef>
              <a:buClr>
                <a:srgbClr val="9B2C1F"/>
              </a:buClr>
              <a:buSzPct val="85416"/>
              <a:buFont typeface="Wingdings"/>
              <a:buChar char=""/>
              <a:tabLst>
                <a:tab pos="618065" algn="l"/>
              </a:tabLst>
            </a:pPr>
            <a:r>
              <a:rPr sz="3200" spc="-22" dirty="0">
                <a:latin typeface="Times New Roman"/>
                <a:cs typeface="Times New Roman"/>
              </a:rPr>
              <a:t>A</a:t>
            </a:r>
            <a:r>
              <a:rPr sz="3200" spc="-15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route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installed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table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5300" y="374659"/>
            <a:ext cx="8465436" cy="691948"/>
          </a:xfrm>
          <a:prstGeom prst="rect">
            <a:avLst/>
          </a:prstGeom>
        </p:spPr>
        <p:txBody>
          <a:bodyPr vert="horz" wrap="square" lIns="0" tIns="13299" rIns="0" bIns="0" rtlCol="0" anchor="ctr">
            <a:spAutoFit/>
          </a:bodyPr>
          <a:lstStyle/>
          <a:p>
            <a:pPr marL="13999">
              <a:lnSpc>
                <a:spcPct val="100000"/>
              </a:lnSpc>
              <a:spcBef>
                <a:spcPts val="105"/>
              </a:spcBef>
            </a:pPr>
            <a:r>
              <a:rPr sz="4409" dirty="0">
                <a:solidFill>
                  <a:schemeClr val="bg1"/>
                </a:solidFill>
              </a:rPr>
              <a:t>Distance</a:t>
            </a:r>
            <a:r>
              <a:rPr sz="4409" spc="-276" dirty="0">
                <a:solidFill>
                  <a:schemeClr val="bg1"/>
                </a:solidFill>
              </a:rPr>
              <a:t> </a:t>
            </a:r>
            <a:r>
              <a:rPr sz="4409" spc="-83" dirty="0">
                <a:solidFill>
                  <a:schemeClr val="bg1"/>
                </a:solidFill>
              </a:rPr>
              <a:t>Vector</a:t>
            </a:r>
            <a:r>
              <a:rPr sz="4409" spc="-193" dirty="0">
                <a:solidFill>
                  <a:schemeClr val="bg1"/>
                </a:solidFill>
              </a:rPr>
              <a:t> </a:t>
            </a:r>
            <a:r>
              <a:rPr sz="4409" spc="-61" dirty="0">
                <a:solidFill>
                  <a:schemeClr val="bg1"/>
                </a:solidFill>
              </a:rPr>
              <a:t>Table</a:t>
            </a:r>
            <a:r>
              <a:rPr sz="4409" spc="-110" dirty="0">
                <a:solidFill>
                  <a:schemeClr val="bg1"/>
                </a:solidFill>
              </a:rPr>
              <a:t> </a:t>
            </a:r>
            <a:r>
              <a:rPr sz="4409" spc="-11" dirty="0">
                <a:solidFill>
                  <a:schemeClr val="bg1"/>
                </a:solidFill>
              </a:rPr>
              <a:t>Maintenance</a:t>
            </a:r>
            <a:endParaRPr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5318" y="1476964"/>
            <a:ext cx="9565089" cy="5411119"/>
          </a:xfrm>
          <a:prstGeom prst="rect">
            <a:avLst/>
          </a:prstGeom>
        </p:spPr>
        <p:txBody>
          <a:bodyPr vert="horz" wrap="square" lIns="0" tIns="71396" rIns="0" bIns="0" rtlCol="0">
            <a:spAutoFit/>
          </a:bodyPr>
          <a:lstStyle/>
          <a:p>
            <a:pPr marL="471199" indent="-457200">
              <a:spcBef>
                <a:spcPts val="561"/>
              </a:spcBef>
              <a:buClr>
                <a:srgbClr val="D24717"/>
              </a:buClr>
              <a:buSzPct val="83928"/>
              <a:buFont typeface="Wingdings" panose="05000000000000000000" pitchFamily="2" charset="2"/>
              <a:buChar char="Ø"/>
              <a:tabLst>
                <a:tab pos="314282" algn="l"/>
              </a:tabLst>
            </a:pPr>
            <a:r>
              <a:rPr sz="3086" b="1" i="1" dirty="0">
                <a:solidFill>
                  <a:srgbClr val="C00000"/>
                </a:solidFill>
                <a:latin typeface="Times New Roman"/>
                <a:cs typeface="Times New Roman"/>
              </a:rPr>
              <a:t>Random</a:t>
            </a:r>
            <a:r>
              <a:rPr sz="3086" b="1" i="1" spc="-1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86" b="1" i="1" spc="-11" dirty="0">
                <a:solidFill>
                  <a:srgbClr val="C00000"/>
                </a:solidFill>
                <a:latin typeface="Times New Roman"/>
                <a:cs typeface="Times New Roman"/>
              </a:rPr>
              <a:t>Jitter</a:t>
            </a:r>
            <a:endParaRPr sz="3086" dirty="0">
              <a:latin typeface="Times New Roman"/>
              <a:cs typeface="Times New Roman"/>
            </a:endParaRPr>
          </a:p>
          <a:p>
            <a:pPr marL="618765" marR="5600" lvl="1" indent="-251986">
              <a:spcBef>
                <a:spcPts val="451"/>
              </a:spcBef>
              <a:buSzPct val="80357"/>
              <a:buFont typeface="Wingdings"/>
              <a:buChar char=""/>
              <a:tabLst>
                <a:tab pos="618765" algn="l"/>
                <a:tab pos="628565" algn="l"/>
              </a:tabLst>
            </a:pPr>
            <a:r>
              <a:rPr sz="3086" dirty="0">
                <a:solidFill>
                  <a:srgbClr val="9B2C1F"/>
                </a:solidFill>
                <a:latin typeface="Times New Roman"/>
                <a:cs typeface="Times New Roman"/>
              </a:rPr>
              <a:t>	</a:t>
            </a:r>
            <a:r>
              <a:rPr sz="3086" dirty="0">
                <a:latin typeface="Times New Roman"/>
                <a:cs typeface="Times New Roman"/>
              </a:rPr>
              <a:t>Over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time,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update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interval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across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routers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in</a:t>
            </a:r>
            <a:r>
              <a:rPr sz="3086" spc="-28" dirty="0">
                <a:latin typeface="Times New Roman"/>
                <a:cs typeface="Times New Roman"/>
              </a:rPr>
              <a:t> the </a:t>
            </a:r>
            <a:r>
              <a:rPr sz="3086" dirty="0">
                <a:latin typeface="Times New Roman"/>
                <a:cs typeface="Times New Roman"/>
              </a:rPr>
              <a:t>topology</a:t>
            </a:r>
            <a:r>
              <a:rPr sz="3086" spc="-10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can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become</a:t>
            </a:r>
            <a:r>
              <a:rPr sz="3086" spc="-61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synchronized,</a:t>
            </a:r>
            <a:r>
              <a:rPr sz="3086" spc="-9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which</a:t>
            </a:r>
            <a:r>
              <a:rPr sz="3086" spc="-6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can</a:t>
            </a:r>
            <a:r>
              <a:rPr sz="3086" spc="-61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cause problems.</a:t>
            </a:r>
            <a:r>
              <a:rPr sz="3086" spc="-19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As</a:t>
            </a:r>
            <a:r>
              <a:rPr sz="3086" spc="-61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more</a:t>
            </a:r>
            <a:r>
              <a:rPr sz="3086" spc="-17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routers’</a:t>
            </a:r>
            <a:r>
              <a:rPr sz="3086" spc="-23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timers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become</a:t>
            </a:r>
            <a:r>
              <a:rPr sz="3086" spc="-17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synchronized, </a:t>
            </a:r>
            <a:r>
              <a:rPr sz="3086" dirty="0">
                <a:latin typeface="Times New Roman"/>
                <a:cs typeface="Times New Roman"/>
              </a:rPr>
              <a:t>more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collisions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of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updates</a:t>
            </a:r>
            <a:r>
              <a:rPr sz="3086" spc="-61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and</a:t>
            </a:r>
            <a:r>
              <a:rPr sz="3086" spc="-6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more</a:t>
            </a:r>
            <a:r>
              <a:rPr sz="3086" spc="-1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delays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occur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in</a:t>
            </a:r>
            <a:r>
              <a:rPr sz="3086" spc="-28" dirty="0">
                <a:latin typeface="Times New Roman"/>
                <a:cs typeface="Times New Roman"/>
              </a:rPr>
              <a:t> the </a:t>
            </a:r>
            <a:r>
              <a:rPr sz="3086" spc="-11" dirty="0">
                <a:latin typeface="Times New Roman"/>
                <a:cs typeface="Times New Roman"/>
              </a:rPr>
              <a:t>network.</a:t>
            </a:r>
            <a:endParaRPr sz="3086" dirty="0">
              <a:latin typeface="Times New Roman"/>
              <a:cs typeface="Times New Roman"/>
            </a:endParaRPr>
          </a:p>
          <a:p>
            <a:pPr marL="618765" marR="46197" lvl="1" indent="-251986">
              <a:spcBef>
                <a:spcPts val="441"/>
              </a:spcBef>
              <a:buSzPct val="80357"/>
              <a:buFont typeface="Wingdings"/>
              <a:buChar char=""/>
              <a:tabLst>
                <a:tab pos="618765" algn="l"/>
                <a:tab pos="628565" algn="l"/>
              </a:tabLst>
            </a:pPr>
            <a:r>
              <a:rPr sz="3086" dirty="0">
                <a:solidFill>
                  <a:srgbClr val="9B2C1F"/>
                </a:solidFill>
                <a:latin typeface="Times New Roman"/>
                <a:cs typeface="Times New Roman"/>
              </a:rPr>
              <a:t>	</a:t>
            </a:r>
            <a:r>
              <a:rPr sz="3086" spc="-88" dirty="0">
                <a:latin typeface="Times New Roman"/>
                <a:cs typeface="Times New Roman"/>
              </a:rPr>
              <a:t>To</a:t>
            </a:r>
            <a:r>
              <a:rPr sz="3086" spc="-61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prevent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66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synchronization</a:t>
            </a:r>
            <a:r>
              <a:rPr sz="3086" spc="-8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of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updates</a:t>
            </a:r>
            <a:r>
              <a:rPr sz="3086" spc="-61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between </a:t>
            </a:r>
            <a:r>
              <a:rPr sz="3086" dirty="0">
                <a:latin typeface="Times New Roman"/>
                <a:cs typeface="Times New Roman"/>
              </a:rPr>
              <a:t>routers,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66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Cisco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IOS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uses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random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variable,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called </a:t>
            </a:r>
            <a:r>
              <a:rPr sz="3086" dirty="0">
                <a:latin typeface="Times New Roman"/>
                <a:cs typeface="Times New Roman"/>
              </a:rPr>
              <a:t>RIP_JITTER,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that</a:t>
            </a:r>
            <a:r>
              <a:rPr sz="3086" spc="-61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varies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update</a:t>
            </a:r>
            <a:r>
              <a:rPr sz="3086" spc="-66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interval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randomly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spc="-28" dirty="0">
                <a:latin typeface="Times New Roman"/>
                <a:cs typeface="Times New Roman"/>
              </a:rPr>
              <a:t>in </a:t>
            </a:r>
            <a:r>
              <a:rPr sz="3086" dirty="0">
                <a:latin typeface="Times New Roman"/>
                <a:cs typeface="Times New Roman"/>
              </a:rPr>
              <a:t>a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range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from</a:t>
            </a:r>
            <a:r>
              <a:rPr sz="3086" spc="-1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25</a:t>
            </a:r>
            <a:r>
              <a:rPr sz="3086" spc="-11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to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30</a:t>
            </a:r>
            <a:r>
              <a:rPr sz="3086" spc="-6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seconds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for</a:t>
            </a:r>
            <a:r>
              <a:rPr sz="3086" spc="11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1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default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spc="-22" dirty="0">
                <a:latin typeface="Times New Roman"/>
                <a:cs typeface="Times New Roman"/>
              </a:rPr>
              <a:t>30-</a:t>
            </a:r>
            <a:r>
              <a:rPr sz="3086" spc="-11" dirty="0">
                <a:latin typeface="Times New Roman"/>
                <a:cs typeface="Times New Roman"/>
              </a:rPr>
              <a:t>second interval.</a:t>
            </a:r>
            <a:endParaRPr sz="3086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244" y="9311"/>
            <a:ext cx="7338654" cy="1235113"/>
          </a:xfrm>
          <a:prstGeom prst="rect">
            <a:avLst/>
          </a:prstGeom>
        </p:spPr>
        <p:txBody>
          <a:bodyPr vert="horz" wrap="square" lIns="0" tIns="551211" rIns="0" bIns="0" rtlCol="0" anchor="ctr">
            <a:spAutoFit/>
          </a:bodyPr>
          <a:lstStyle/>
          <a:p>
            <a:pPr marL="2201376">
              <a:lnSpc>
                <a:spcPct val="100000"/>
              </a:lnSpc>
              <a:spcBef>
                <a:spcPts val="105"/>
              </a:spcBef>
            </a:pPr>
            <a:r>
              <a:rPr sz="4409" dirty="0">
                <a:solidFill>
                  <a:schemeClr val="bg1"/>
                </a:solidFill>
              </a:rPr>
              <a:t>Routing</a:t>
            </a:r>
            <a:r>
              <a:rPr sz="4409" spc="-160" dirty="0">
                <a:solidFill>
                  <a:schemeClr val="bg1"/>
                </a:solidFill>
              </a:rPr>
              <a:t> </a:t>
            </a:r>
            <a:r>
              <a:rPr sz="4409" spc="-22" dirty="0">
                <a:solidFill>
                  <a:schemeClr val="bg1"/>
                </a:solidFill>
              </a:rPr>
              <a:t>Loops</a:t>
            </a:r>
            <a:endParaRPr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1245" y="1619170"/>
            <a:ext cx="9759882" cy="4626361"/>
          </a:xfrm>
          <a:prstGeom prst="rect">
            <a:avLst/>
          </a:prstGeom>
        </p:spPr>
        <p:txBody>
          <a:bodyPr vert="horz" wrap="square" lIns="0" tIns="14699" rIns="0" bIns="0" rtlCol="0">
            <a:spAutoFit/>
          </a:bodyPr>
          <a:lstStyle/>
          <a:p>
            <a:pPr marL="470499" marR="623665" indent="-457200">
              <a:spcBef>
                <a:spcPts val="116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6382" algn="l"/>
              </a:tabLst>
            </a:pP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loops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cause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severe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impact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network performance.</a:t>
            </a:r>
            <a:endParaRPr sz="3200" dirty="0">
              <a:latin typeface="Times New Roman"/>
              <a:cs typeface="Times New Roman"/>
            </a:endParaRPr>
          </a:p>
          <a:p>
            <a:pPr marL="470499" marR="243585" indent="-457200">
              <a:spcBef>
                <a:spcPts val="661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6382" algn="l"/>
              </a:tabLst>
            </a:pP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87" dirty="0"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routing</a:t>
            </a:r>
            <a:r>
              <a:rPr sz="3200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loop</a:t>
            </a:r>
            <a:r>
              <a:rPr sz="3200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condition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which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packet</a:t>
            </a:r>
            <a:r>
              <a:rPr sz="3200" spc="-28" dirty="0">
                <a:latin typeface="Times New Roman"/>
                <a:cs typeface="Times New Roman"/>
              </a:rPr>
              <a:t> is </a:t>
            </a:r>
            <a:r>
              <a:rPr sz="3200" dirty="0">
                <a:latin typeface="Times New Roman"/>
                <a:cs typeface="Times New Roman"/>
              </a:rPr>
              <a:t>continuously</a:t>
            </a:r>
            <a:r>
              <a:rPr sz="3200" spc="-7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transmitted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within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series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routers</a:t>
            </a:r>
            <a:r>
              <a:rPr lang="en-US"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without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ever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reaching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its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intended</a:t>
            </a:r>
            <a:r>
              <a:rPr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destination</a:t>
            </a:r>
            <a:r>
              <a:rPr sz="3200" b="1" spc="-1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network</a:t>
            </a:r>
            <a:r>
              <a:rPr sz="3200" spc="-11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470499" marR="5600" indent="-457200">
              <a:spcBef>
                <a:spcPts val="661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6382" algn="l"/>
              </a:tabLst>
            </a:pP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87" dirty="0">
                <a:latin typeface="Times New Roman"/>
                <a:cs typeface="Times New Roman"/>
              </a:rPr>
              <a:t> </a:t>
            </a:r>
            <a:r>
              <a:rPr sz="3200" spc="-6" dirty="0">
                <a:latin typeface="Times New Roman"/>
                <a:cs typeface="Times New Roman"/>
              </a:rPr>
              <a:t>routing </a:t>
            </a:r>
            <a:r>
              <a:rPr sz="3200" dirty="0">
                <a:latin typeface="Times New Roman"/>
                <a:cs typeface="Times New Roman"/>
              </a:rPr>
              <a:t>lo</a:t>
            </a:r>
            <a:r>
              <a:rPr sz="3200" spc="6" dirty="0">
                <a:latin typeface="Times New Roman"/>
                <a:cs typeface="Times New Roman"/>
              </a:rPr>
              <a:t>o</a:t>
            </a:r>
            <a:r>
              <a:rPr sz="3200" dirty="0">
                <a:latin typeface="Times New Roman"/>
                <a:cs typeface="Times New Roman"/>
              </a:rPr>
              <a:t>p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</a:t>
            </a:r>
            <a:r>
              <a:rPr sz="3200" spc="-11" dirty="0">
                <a:latin typeface="Times New Roman"/>
                <a:cs typeface="Times New Roman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n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occur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</a:t>
            </a:r>
            <a:r>
              <a:rPr sz="3200" spc="11" dirty="0">
                <a:latin typeface="Times New Roman"/>
                <a:cs typeface="Times New Roman"/>
              </a:rPr>
              <a:t>h</a:t>
            </a:r>
            <a:r>
              <a:rPr sz="3200" dirty="0">
                <a:latin typeface="Times New Roman"/>
                <a:cs typeface="Times New Roman"/>
              </a:rPr>
              <a:t>en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two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more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routers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</a:t>
            </a:r>
            <a:r>
              <a:rPr sz="3200" spc="6" dirty="0">
                <a:latin typeface="Times New Roman"/>
                <a:cs typeface="Times New Roman"/>
              </a:rPr>
              <a:t>v</a:t>
            </a:r>
            <a:r>
              <a:rPr sz="3200" dirty="0">
                <a:latin typeface="Times New Roman"/>
                <a:cs typeface="Times New Roman"/>
              </a:rPr>
              <a:t>e routing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infor</a:t>
            </a:r>
            <a:r>
              <a:rPr sz="3200" spc="-17" dirty="0">
                <a:latin typeface="Times New Roman"/>
                <a:cs typeface="Times New Roman"/>
              </a:rPr>
              <a:t>m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7" dirty="0">
                <a:latin typeface="Times New Roman"/>
                <a:cs typeface="Times New Roman"/>
              </a:rPr>
              <a:t>t</a:t>
            </a:r>
            <a:r>
              <a:rPr sz="3200" dirty="0">
                <a:latin typeface="Times New Roman"/>
                <a:cs typeface="Times New Roman"/>
              </a:rPr>
              <a:t>ion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b="1" spc="-6" dirty="0">
                <a:solidFill>
                  <a:srgbClr val="FF0000"/>
                </a:solidFill>
                <a:latin typeface="Times New Roman"/>
                <a:cs typeface="Times New Roman"/>
              </a:rPr>
              <a:t>incorrectly</a:t>
            </a:r>
            <a:r>
              <a:rPr lang="en-US" sz="3200" b="1" spc="-6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indic</a:t>
            </a:r>
            <a:r>
              <a:rPr sz="3200" b="1" spc="-17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3200" b="1" spc="-17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val</a:t>
            </a:r>
            <a:r>
              <a:rPr sz="3200" spc="-17" dirty="0">
                <a:latin typeface="Times New Roman"/>
                <a:cs typeface="Times New Roman"/>
              </a:rPr>
              <a:t>i</a:t>
            </a:r>
            <a:r>
              <a:rPr sz="3200" dirty="0">
                <a:latin typeface="Times New Roman"/>
                <a:cs typeface="Times New Roman"/>
              </a:rPr>
              <a:t>d path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 an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</a:t>
            </a:r>
            <a:r>
              <a:rPr sz="3200" spc="11" dirty="0">
                <a:latin typeface="Times New Roman"/>
                <a:cs typeface="Times New Roman"/>
              </a:rPr>
              <a:t>n</a:t>
            </a:r>
            <a:r>
              <a:rPr sz="3200" dirty="0">
                <a:latin typeface="Times New Roman"/>
                <a:cs typeface="Times New Roman"/>
              </a:rPr>
              <a:t>re</a:t>
            </a:r>
            <a:r>
              <a:rPr sz="3200" spc="-17" dirty="0">
                <a:latin typeface="Times New Roman"/>
                <a:cs typeface="Times New Roman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chable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dest</a:t>
            </a:r>
            <a:r>
              <a:rPr sz="3200" spc="-17" dirty="0">
                <a:latin typeface="Times New Roman"/>
                <a:cs typeface="Times New Roman"/>
              </a:rPr>
              <a:t>i</a:t>
            </a:r>
            <a:r>
              <a:rPr sz="3200" dirty="0">
                <a:latin typeface="Times New Roman"/>
                <a:cs typeface="Times New Roman"/>
              </a:rPr>
              <a:t>nation exis</a:t>
            </a:r>
            <a:r>
              <a:rPr sz="3200" spc="-11" dirty="0">
                <a:latin typeface="Times New Roman"/>
                <a:cs typeface="Times New Roman"/>
              </a:rPr>
              <a:t>t</a:t>
            </a:r>
            <a:r>
              <a:rPr sz="3200" dirty="0">
                <a:latin typeface="Times New Roman"/>
                <a:cs typeface="Times New Roman"/>
              </a:rPr>
              <a:t>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4000" y="248044"/>
            <a:ext cx="9072000" cy="136835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935846" marR="5600" indent="-922548">
              <a:lnSpc>
                <a:spcPct val="100000"/>
              </a:lnSpc>
              <a:spcBef>
                <a:spcPts val="110"/>
              </a:spcBef>
            </a:pPr>
            <a:r>
              <a:rPr sz="4400" spc="14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Maintaining</a:t>
            </a:r>
            <a:r>
              <a:rPr sz="4400" spc="1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spc="149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sz="4400" spc="12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spc="1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</a:t>
            </a:r>
            <a:r>
              <a:rPr sz="4400" spc="72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Problem—</a:t>
            </a:r>
            <a:r>
              <a:rPr sz="4400" spc="154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sz="4400" spc="99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spc="19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5300" y="5652116"/>
            <a:ext cx="8653728" cy="902427"/>
          </a:xfrm>
          <a:prstGeom prst="rect">
            <a:avLst/>
          </a:prstGeom>
        </p:spPr>
        <p:txBody>
          <a:bodyPr vert="horz" wrap="square" lIns="0" tIns="30099" rIns="0" bIns="0" rtlCol="0">
            <a:spAutoFit/>
          </a:bodyPr>
          <a:lstStyle/>
          <a:p>
            <a:pPr marL="470499" marR="5600" indent="-457200">
              <a:lnSpc>
                <a:spcPts val="3428"/>
              </a:lnSpc>
              <a:spcBef>
                <a:spcPts val="23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6382" algn="l"/>
              </a:tabLst>
            </a:pPr>
            <a:r>
              <a:rPr sz="3200" b="1" spc="1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3200" b="1" spc="12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sz="3200" b="1" spc="1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</a:t>
            </a:r>
            <a:r>
              <a:rPr sz="3200" b="1" spc="17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200" b="1" spc="1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sz="3200" b="1" spc="17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3200" b="1" spc="1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itself</a:t>
            </a:r>
            <a:r>
              <a:rPr sz="3200" b="1" spc="3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3200" b="1" spc="1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	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</a:t>
            </a:r>
            <a:r>
              <a:rPr sz="3200" b="1" spc="34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</a:t>
            </a:r>
            <a:r>
              <a:rPr sz="3200" b="1" spc="40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40493" y="1763924"/>
            <a:ext cx="8483635" cy="3863834"/>
            <a:chOff x="762000" y="1600200"/>
            <a:chExt cx="7696200" cy="35052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0" y="1600200"/>
              <a:ext cx="7391400" cy="35052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9525" y="1600200"/>
              <a:ext cx="828675" cy="2381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4000" y="309599"/>
            <a:ext cx="9072000" cy="1245242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576067" marR="5600" indent="-562768">
              <a:lnSpc>
                <a:spcPct val="100000"/>
              </a:lnSpc>
              <a:spcBef>
                <a:spcPts val="110"/>
              </a:spcBef>
            </a:pPr>
            <a:r>
              <a:rPr lang="en-US" sz="4000" spc="14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Maintaining</a:t>
            </a:r>
            <a:r>
              <a:rPr lang="en-US" sz="4000" spc="1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149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lang="en-US" sz="4000" spc="12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1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</a:t>
            </a:r>
            <a:r>
              <a:rPr lang="en-US" sz="4000" spc="72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Problem—</a:t>
            </a:r>
            <a:r>
              <a:rPr lang="en-US" sz="4000" spc="154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lang="en-US" sz="4000" spc="99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19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Loops</a:t>
            </a:r>
            <a:endParaRPr spc="-28" dirty="0">
              <a:solidFill>
                <a:srgbClr val="C00000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5300" y="5988046"/>
            <a:ext cx="7950258" cy="999728"/>
          </a:xfrm>
          <a:prstGeom prst="rect">
            <a:avLst/>
          </a:prstGeom>
        </p:spPr>
        <p:txBody>
          <a:bodyPr vert="horz" wrap="square" lIns="0" tIns="14699" rIns="0" bIns="0" rtlCol="0">
            <a:spAutoFit/>
          </a:bodyPr>
          <a:lstStyle/>
          <a:p>
            <a:pPr marL="471199" indent="-457200">
              <a:spcBef>
                <a:spcPts val="116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b="1" spc="12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</a:t>
            </a:r>
            <a:r>
              <a:rPr sz="3200" b="1" spc="25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convergence</a:t>
            </a:r>
            <a:r>
              <a:rPr sz="3200" b="1" spc="2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</a:t>
            </a:r>
            <a:r>
              <a:rPr sz="3200" b="1" spc="2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</a:t>
            </a:r>
            <a:r>
              <a:rPr sz="3200" b="1" spc="29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507" y="1595931"/>
            <a:ext cx="9071610" cy="411582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4000" y="309599"/>
            <a:ext cx="9072000" cy="1245242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576067" marR="5600" indent="-562768">
              <a:lnSpc>
                <a:spcPct val="100000"/>
              </a:lnSpc>
              <a:spcBef>
                <a:spcPts val="110"/>
              </a:spcBef>
            </a:pPr>
            <a:r>
              <a:rPr lang="en-US" sz="4000" spc="14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Maintaining</a:t>
            </a:r>
            <a:r>
              <a:rPr lang="en-US" sz="4000" spc="1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149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lang="en-US" sz="4000" spc="12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1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</a:t>
            </a:r>
            <a:r>
              <a:rPr lang="en-US" sz="4000" spc="72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Problem—</a:t>
            </a:r>
            <a:r>
              <a:rPr lang="en-US" sz="4000" spc="154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lang="en-US" sz="4000" spc="99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19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Loops</a:t>
            </a:r>
            <a:endParaRPr spc="-28" dirty="0">
              <a:solidFill>
                <a:srgbClr val="C00000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5300" y="5993086"/>
            <a:ext cx="8770623" cy="761135"/>
          </a:xfrm>
          <a:prstGeom prst="rect">
            <a:avLst/>
          </a:prstGeom>
        </p:spPr>
        <p:txBody>
          <a:bodyPr vert="horz" wrap="square" lIns="0" tIns="13999" rIns="0" bIns="0" rtlCol="0">
            <a:spAutoFit/>
          </a:bodyPr>
          <a:lstStyle/>
          <a:p>
            <a:pPr marL="471199" indent="-457200">
              <a:lnSpc>
                <a:spcPts val="2855"/>
              </a:lnSpc>
              <a:spcBef>
                <a:spcPts val="110"/>
              </a:spcBef>
              <a:buClr>
                <a:srgbClr val="D24717"/>
              </a:buClr>
              <a:buSzPct val="85416"/>
              <a:buFont typeface="Wingdings" panose="05000000000000000000" pitchFamily="2" charset="2"/>
              <a:buChar char="Ø"/>
              <a:tabLst>
                <a:tab pos="316382" algn="l"/>
              </a:tabLst>
            </a:pPr>
            <a:r>
              <a:rPr sz="3200" b="1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r>
              <a:rPr sz="3200" b="1" spc="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6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3200" b="1" spc="8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concludes</a:t>
            </a:r>
            <a:r>
              <a:rPr sz="3200" b="1" spc="1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3200" b="1" spc="12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200" b="1" spc="8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</a:t>
            </a:r>
            <a:r>
              <a:rPr sz="3200" b="1" spc="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sz="3200" b="1" spc="12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3200" b="1" spc="8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10.4.0.0</a:t>
            </a:r>
            <a:r>
              <a:rPr sz="3200" b="1" spc="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3200" b="1" spc="1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z="3200" b="1" spc="19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r>
              <a:rPr sz="3200" b="1" spc="1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182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36514" y="1679927"/>
            <a:ext cx="9155606" cy="4283816"/>
            <a:chOff x="304800" y="1524000"/>
            <a:chExt cx="8305800" cy="38862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" y="1524000"/>
              <a:ext cx="8305800" cy="38862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72400" y="1524000"/>
              <a:ext cx="828675" cy="2381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4000" y="309599"/>
            <a:ext cx="9072000" cy="1245242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576067" marR="5600" indent="-562768">
              <a:lnSpc>
                <a:spcPct val="100000"/>
              </a:lnSpc>
              <a:spcBef>
                <a:spcPts val="110"/>
              </a:spcBef>
            </a:pPr>
            <a:r>
              <a:rPr lang="en-US" sz="4000" spc="14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Maintaining</a:t>
            </a:r>
            <a:r>
              <a:rPr lang="en-US" sz="4000" spc="1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149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lang="en-US" sz="4000" spc="12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1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</a:t>
            </a:r>
            <a:r>
              <a:rPr lang="en-US" sz="4000" spc="72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Problem—</a:t>
            </a:r>
            <a:r>
              <a:rPr lang="en-US" sz="4000" spc="154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lang="en-US" sz="4000" spc="99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19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Loops</a:t>
            </a:r>
            <a:endParaRPr spc="-28" dirty="0">
              <a:solidFill>
                <a:srgbClr val="C00000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5300" y="5999806"/>
            <a:ext cx="8803522" cy="693102"/>
          </a:xfrm>
          <a:prstGeom prst="rect">
            <a:avLst/>
          </a:prstGeom>
        </p:spPr>
        <p:txBody>
          <a:bodyPr vert="horz" wrap="square" lIns="0" tIns="13299" rIns="0" bIns="0" rtlCol="0">
            <a:spAutoFit/>
          </a:bodyPr>
          <a:lstStyle/>
          <a:p>
            <a:pPr marL="471199" indent="-457200">
              <a:lnSpc>
                <a:spcPts val="2618"/>
              </a:lnSpc>
              <a:spcBef>
                <a:spcPts val="105"/>
              </a:spcBef>
              <a:buClr>
                <a:srgbClr val="D24717"/>
              </a:buClr>
              <a:buSzPct val="84090"/>
              <a:buFont typeface="Wingdings" panose="05000000000000000000" pitchFamily="2" charset="2"/>
              <a:buChar char="Ø"/>
              <a:tabLst>
                <a:tab pos="316382" algn="l"/>
              </a:tabLst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r>
              <a:rPr sz="3200" b="1" spc="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40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200" b="1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</a:t>
            </a:r>
            <a:r>
              <a:rPr sz="3200" b="1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sz="3200" b="1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sz="3200" b="1" spc="1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3200" b="1" spc="1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</a:t>
            </a:r>
            <a:r>
              <a:rPr sz="3200" b="1" spc="1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200" b="1" spc="1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sz="3200" b="1" spc="1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sz="3200" b="1" spc="1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erroneous</a:t>
            </a:r>
            <a:r>
              <a:rPr sz="3200" b="1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514" y="1511934"/>
            <a:ext cx="9323599" cy="428381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7482" y="372979"/>
            <a:ext cx="8166973" cy="691948"/>
          </a:xfrm>
          <a:prstGeom prst="rect">
            <a:avLst/>
          </a:prstGeom>
        </p:spPr>
        <p:txBody>
          <a:bodyPr vert="horz" wrap="square" lIns="0" tIns="13299" rIns="0" bIns="0" rtlCol="0" anchor="ctr">
            <a:spAutoFit/>
          </a:bodyPr>
          <a:lstStyle/>
          <a:p>
            <a:pPr marL="13999">
              <a:lnSpc>
                <a:spcPct val="100000"/>
              </a:lnSpc>
              <a:spcBef>
                <a:spcPts val="105"/>
              </a:spcBef>
            </a:pPr>
            <a:r>
              <a:rPr sz="4409" spc="1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Symptom:</a:t>
            </a:r>
            <a:r>
              <a:rPr sz="4409" spc="14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9" spc="204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Counting</a:t>
            </a:r>
            <a:r>
              <a:rPr sz="4409" spc="182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9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4409" spc="16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9" spc="17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Infinity</a:t>
            </a:r>
            <a:endParaRPr sz="4409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2324" y="5745501"/>
            <a:ext cx="9730014" cy="1504994"/>
          </a:xfrm>
          <a:prstGeom prst="rect">
            <a:avLst/>
          </a:prstGeom>
        </p:spPr>
        <p:txBody>
          <a:bodyPr vert="horz" wrap="square" lIns="0" tIns="14699" rIns="0" bIns="0" rtlCol="0">
            <a:spAutoFit/>
          </a:bodyPr>
          <a:lstStyle/>
          <a:p>
            <a:pPr marL="471199" indent="-457200">
              <a:spcBef>
                <a:spcPts val="116"/>
              </a:spcBef>
              <a:buClr>
                <a:srgbClr val="D24717"/>
              </a:buClr>
              <a:buSzPct val="85000"/>
              <a:buFont typeface="Wingdings" panose="05000000000000000000" pitchFamily="2" charset="2"/>
              <a:buChar char="Ø"/>
              <a:tabLst>
                <a:tab pos="316382" algn="l"/>
              </a:tabLst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Packets</a:t>
            </a:r>
            <a:r>
              <a:rPr sz="3200" b="1" spc="1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3200" b="1" spc="1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sz="3200" b="1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10.4.0.0</a:t>
            </a:r>
            <a:r>
              <a:rPr sz="3200" b="1" spc="18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bounce</a:t>
            </a:r>
            <a:r>
              <a:rPr sz="3200" b="1" spc="12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sz="3200" b="1" spc="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routers</a:t>
            </a:r>
            <a:r>
              <a:rPr sz="3200" b="1" spc="1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</a:t>
            </a:r>
            <a:r>
              <a:rPr sz="3200" b="1" spc="1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1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</a:t>
            </a:r>
            <a:r>
              <a:rPr sz="3200" b="1" spc="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200" b="1" spc="1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4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71199" indent="-457200">
              <a:spcBef>
                <a:spcPts val="132"/>
              </a:spcBef>
              <a:buClr>
                <a:srgbClr val="D24717"/>
              </a:buClr>
              <a:buSzPct val="85000"/>
              <a:buFont typeface="Wingdings" panose="05000000000000000000" pitchFamily="2" charset="2"/>
              <a:buChar char="Ø"/>
              <a:tabLst>
                <a:tab pos="316382" algn="l"/>
              </a:tabLst>
            </a:pPr>
            <a:r>
              <a:rPr sz="3200" b="1" spc="1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Hop</a:t>
            </a:r>
            <a:r>
              <a:rPr sz="3200" b="1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sz="3200" b="1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3200" b="1" spc="1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sz="3200" b="1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10.4.0.0</a:t>
            </a:r>
            <a:r>
              <a:rPr sz="3200" b="1" spc="2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</a:t>
            </a:r>
            <a:r>
              <a:rPr sz="3200" b="1" spc="18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3200" b="1" spc="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infinity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419" y="1595931"/>
            <a:ext cx="8914582" cy="404501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2413" y="445776"/>
            <a:ext cx="3559347" cy="691948"/>
          </a:xfrm>
          <a:prstGeom prst="rect">
            <a:avLst/>
          </a:prstGeom>
        </p:spPr>
        <p:txBody>
          <a:bodyPr vert="horz" wrap="square" lIns="0" tIns="13299" rIns="0" bIns="0" rtlCol="0" anchor="ctr">
            <a:spAutoFit/>
          </a:bodyPr>
          <a:lstStyle/>
          <a:p>
            <a:pPr marL="13999">
              <a:lnSpc>
                <a:spcPct val="100000"/>
              </a:lnSpc>
              <a:spcBef>
                <a:spcPts val="105"/>
              </a:spcBef>
            </a:pPr>
            <a:r>
              <a:rPr sz="4409" dirty="0">
                <a:solidFill>
                  <a:schemeClr val="bg1"/>
                </a:solidFill>
              </a:rPr>
              <a:t>Routing</a:t>
            </a:r>
            <a:r>
              <a:rPr sz="4409" spc="-160" dirty="0">
                <a:solidFill>
                  <a:schemeClr val="bg1"/>
                </a:solidFill>
              </a:rPr>
              <a:t> </a:t>
            </a:r>
            <a:r>
              <a:rPr sz="4409" spc="-22" dirty="0">
                <a:solidFill>
                  <a:schemeClr val="bg1"/>
                </a:solidFill>
              </a:rPr>
              <a:t>Loops</a:t>
            </a:r>
            <a:endParaRPr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5651" y="1714757"/>
            <a:ext cx="9489322" cy="4576788"/>
          </a:xfrm>
          <a:prstGeom prst="rect">
            <a:avLst/>
          </a:prstGeom>
        </p:spPr>
        <p:txBody>
          <a:bodyPr vert="horz" wrap="square" lIns="0" tIns="71396" rIns="0" bIns="0" rtlCol="0">
            <a:spAutoFit/>
          </a:bodyPr>
          <a:lstStyle/>
          <a:p>
            <a:pPr marL="471199" indent="-457200">
              <a:spcBef>
                <a:spcPts val="561"/>
              </a:spcBef>
              <a:buClr>
                <a:srgbClr val="D24717"/>
              </a:buClr>
              <a:buSzPct val="83928"/>
              <a:buFont typeface="Wingdings" panose="05000000000000000000" pitchFamily="2" charset="2"/>
              <a:buChar char="Ø"/>
              <a:tabLst>
                <a:tab pos="314282" algn="l"/>
              </a:tabLst>
            </a:pPr>
            <a:r>
              <a:rPr sz="3086" dirty="0">
                <a:latin typeface="Times New Roman"/>
                <a:cs typeface="Times New Roman"/>
              </a:rPr>
              <a:t>Four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ways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that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routing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loop</a:t>
            </a:r>
            <a:r>
              <a:rPr sz="3086" spc="-61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can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happen.</a:t>
            </a:r>
            <a:endParaRPr sz="3086" dirty="0">
              <a:latin typeface="Times New Roman"/>
              <a:cs typeface="Times New Roman"/>
            </a:endParaRPr>
          </a:p>
          <a:p>
            <a:pPr marL="1281180" lvl="2" indent="-457200">
              <a:spcBef>
                <a:spcPts val="451"/>
              </a:spcBef>
              <a:buClr>
                <a:srgbClr val="9B2C1F"/>
              </a:buClr>
              <a:buSzPct val="80357"/>
              <a:buFont typeface="Wingdings" panose="05000000000000000000" pitchFamily="2" charset="2"/>
              <a:buChar char="ü"/>
              <a:tabLst>
                <a:tab pos="628565" algn="l"/>
              </a:tabLst>
            </a:pPr>
            <a:r>
              <a:rPr sz="3086" dirty="0">
                <a:latin typeface="Times New Roman"/>
                <a:cs typeface="Times New Roman"/>
              </a:rPr>
              <a:t>Incorrectly</a:t>
            </a:r>
            <a:r>
              <a:rPr sz="3086" spc="-61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configured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static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routes</a:t>
            </a:r>
            <a:endParaRPr sz="3086" dirty="0">
              <a:latin typeface="Times New Roman"/>
              <a:cs typeface="Times New Roman"/>
            </a:endParaRPr>
          </a:p>
          <a:p>
            <a:pPr marL="1280479" marR="651663" lvl="2" indent="-457200">
              <a:spcBef>
                <a:spcPts val="435"/>
              </a:spcBef>
              <a:buSzPct val="80357"/>
              <a:buFont typeface="Wingdings" panose="05000000000000000000" pitchFamily="2" charset="2"/>
              <a:buChar char="ü"/>
              <a:tabLst>
                <a:tab pos="618765" algn="l"/>
                <a:tab pos="627865" algn="l"/>
              </a:tabLst>
            </a:pPr>
            <a:r>
              <a:rPr sz="3086" dirty="0">
                <a:latin typeface="Times New Roman"/>
                <a:cs typeface="Times New Roman"/>
              </a:rPr>
              <a:t>Incorrectly</a:t>
            </a:r>
            <a:r>
              <a:rPr sz="3086" spc="-9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configured</a:t>
            </a:r>
            <a:r>
              <a:rPr sz="3086" spc="-8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route</a:t>
            </a:r>
            <a:r>
              <a:rPr sz="3086" spc="-77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redistribution </a:t>
            </a:r>
            <a:r>
              <a:rPr sz="3086" dirty="0">
                <a:latin typeface="Times New Roman"/>
                <a:cs typeface="Times New Roman"/>
              </a:rPr>
              <a:t>(redistribution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is</a:t>
            </a:r>
            <a:r>
              <a:rPr sz="3086" spc="-8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process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of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handing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61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routing </a:t>
            </a:r>
            <a:r>
              <a:rPr sz="3086" dirty="0">
                <a:latin typeface="Times New Roman"/>
                <a:cs typeface="Times New Roman"/>
              </a:rPr>
              <a:t>information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from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one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routing</a:t>
            </a:r>
            <a:r>
              <a:rPr sz="3086" spc="-61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protocol</a:t>
            </a:r>
            <a:r>
              <a:rPr sz="3086" spc="-61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to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another </a:t>
            </a:r>
            <a:r>
              <a:rPr sz="3086" dirty="0">
                <a:latin typeface="Times New Roman"/>
                <a:cs typeface="Times New Roman"/>
              </a:rPr>
              <a:t>routing</a:t>
            </a:r>
            <a:r>
              <a:rPr sz="3086" spc="-116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protocol)</a:t>
            </a:r>
            <a:endParaRPr sz="3086" dirty="0">
              <a:latin typeface="Times New Roman"/>
              <a:cs typeface="Times New Roman"/>
            </a:endParaRPr>
          </a:p>
          <a:p>
            <a:pPr marL="1280479" marR="5600" lvl="2" indent="-457200">
              <a:spcBef>
                <a:spcPts val="441"/>
              </a:spcBef>
              <a:buSzPct val="80357"/>
              <a:buFont typeface="Wingdings" panose="05000000000000000000" pitchFamily="2" charset="2"/>
              <a:buChar char="ü"/>
              <a:tabLst>
                <a:tab pos="618765" algn="l"/>
                <a:tab pos="627865" algn="l"/>
              </a:tabLst>
            </a:pPr>
            <a:r>
              <a:rPr sz="3086" dirty="0">
                <a:latin typeface="Times New Roman"/>
                <a:cs typeface="Times New Roman"/>
              </a:rPr>
              <a:t>Inconsistent</a:t>
            </a:r>
            <a:r>
              <a:rPr sz="3086" spc="-8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routing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tables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not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being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updated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because </a:t>
            </a:r>
            <a:r>
              <a:rPr sz="3086" dirty="0">
                <a:latin typeface="Times New Roman"/>
                <a:cs typeface="Times New Roman"/>
              </a:rPr>
              <a:t>of</a:t>
            </a:r>
            <a:r>
              <a:rPr sz="3086" spc="-61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slow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convergence</a:t>
            </a:r>
            <a:r>
              <a:rPr sz="3086" spc="-7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in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changing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network</a:t>
            </a:r>
            <a:endParaRPr sz="3086" dirty="0">
              <a:latin typeface="Times New Roman"/>
              <a:cs typeface="Times New Roman"/>
            </a:endParaRPr>
          </a:p>
          <a:p>
            <a:pPr marL="1281180" lvl="2" indent="-457200">
              <a:spcBef>
                <a:spcPts val="451"/>
              </a:spcBef>
              <a:buClr>
                <a:srgbClr val="9B2C1F"/>
              </a:buClr>
              <a:buSzPct val="80357"/>
              <a:buFont typeface="Wingdings" panose="05000000000000000000" pitchFamily="2" charset="2"/>
              <a:buChar char="ü"/>
              <a:tabLst>
                <a:tab pos="628565" algn="l"/>
              </a:tabLst>
            </a:pPr>
            <a:r>
              <a:rPr sz="3086" dirty="0">
                <a:latin typeface="Times New Roman"/>
                <a:cs typeface="Times New Roman"/>
              </a:rPr>
              <a:t>Incorrectly</a:t>
            </a:r>
            <a:r>
              <a:rPr sz="3086" spc="-7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configured</a:t>
            </a:r>
            <a:r>
              <a:rPr sz="3086" spc="-66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or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installed</a:t>
            </a:r>
            <a:r>
              <a:rPr sz="3086" spc="-7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discard</a:t>
            </a:r>
            <a:r>
              <a:rPr sz="3086" spc="-66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routes</a:t>
            </a:r>
            <a:endParaRPr sz="3086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94357" y="1707157"/>
            <a:ext cx="9091909" cy="2208826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700">
              <a:spcBef>
                <a:spcPts val="772"/>
              </a:spcBef>
              <a:buClr>
                <a:srgbClr val="D24717"/>
              </a:buClr>
              <a:buSzPct val="78125"/>
              <a:tabLst>
                <a:tab pos="315682" algn="l"/>
              </a:tabLst>
            </a:pPr>
            <a:r>
              <a:rPr sz="3527" b="1" dirty="0">
                <a:solidFill>
                  <a:srgbClr val="FF0000"/>
                </a:solidFill>
                <a:latin typeface="Times New Roman"/>
                <a:cs typeface="Times New Roman"/>
              </a:rPr>
              <a:t>Implications</a:t>
            </a:r>
            <a:r>
              <a:rPr sz="3527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527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527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527" b="1" dirty="0">
                <a:solidFill>
                  <a:srgbClr val="FF0000"/>
                </a:solidFill>
                <a:latin typeface="Times New Roman"/>
                <a:cs typeface="Times New Roman"/>
              </a:rPr>
              <a:t>Routing </a:t>
            </a:r>
            <a:r>
              <a:rPr sz="3527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Loops</a:t>
            </a:r>
            <a:endParaRPr sz="3527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576399" marR="5600" indent="-571500">
              <a:spcBef>
                <a:spcPts val="661"/>
              </a:spcBef>
              <a:buClr>
                <a:srgbClr val="D24717"/>
              </a:buClr>
              <a:buSzPct val="7812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2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7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loop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have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devastating</a:t>
            </a:r>
            <a:r>
              <a:rPr sz="3200" b="1" spc="-7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effect</a:t>
            </a:r>
            <a:r>
              <a:rPr sz="3200" b="1" spc="-3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a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network,</a:t>
            </a:r>
            <a:r>
              <a:rPr sz="3200" b="1" spc="-7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resulting</a:t>
            </a:r>
            <a:r>
              <a:rPr sz="3200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degraded</a:t>
            </a:r>
            <a:r>
              <a:rPr sz="3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network </a:t>
            </a:r>
            <a:r>
              <a:rPr sz="3200" dirty="0">
                <a:latin typeface="Times New Roman"/>
                <a:cs typeface="Times New Roman"/>
              </a:rPr>
              <a:t>performance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network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downtime.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880CD794-6A59-46BC-B1C3-67C4E61B7022}"/>
              </a:ext>
            </a:extLst>
          </p:cNvPr>
          <p:cNvSpPr txBox="1">
            <a:spLocks/>
          </p:cNvSpPr>
          <p:nvPr/>
        </p:nvSpPr>
        <p:spPr>
          <a:xfrm>
            <a:off x="2662413" y="445776"/>
            <a:ext cx="3559347" cy="691948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0" tIns="13299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968" b="1" i="0" kern="1200">
                <a:solidFill>
                  <a:schemeClr val="hlink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3999">
              <a:lnSpc>
                <a:spcPct val="100000"/>
              </a:lnSpc>
              <a:spcBef>
                <a:spcPts val="105"/>
              </a:spcBef>
            </a:pPr>
            <a:r>
              <a:rPr lang="en-US" sz="4409" dirty="0">
                <a:solidFill>
                  <a:schemeClr val="bg1"/>
                </a:solidFill>
              </a:rPr>
              <a:t>Routing</a:t>
            </a:r>
            <a:r>
              <a:rPr lang="en-US" sz="4409" spc="-160" dirty="0">
                <a:solidFill>
                  <a:schemeClr val="bg1"/>
                </a:solidFill>
              </a:rPr>
              <a:t> </a:t>
            </a:r>
            <a:r>
              <a:rPr lang="en-US" sz="4409" spc="-22" dirty="0">
                <a:solidFill>
                  <a:schemeClr val="bg1"/>
                </a:solidFill>
              </a:rPr>
              <a:t>Loops</a:t>
            </a:r>
            <a:endParaRPr lang="en-US" sz="4409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8548" y="498168"/>
            <a:ext cx="4449526" cy="691244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>
              <a:lnSpc>
                <a:spcPct val="100000"/>
              </a:lnSpc>
              <a:spcBef>
                <a:spcPts val="105"/>
              </a:spcBef>
            </a:pPr>
            <a:r>
              <a:rPr lang="en-US" sz="4400" dirty="0">
                <a:solidFill>
                  <a:schemeClr val="bg1"/>
                </a:solidFill>
              </a:rPr>
              <a:t>Routing</a:t>
            </a:r>
            <a:r>
              <a:rPr lang="en-US" sz="4400" spc="-160" dirty="0">
                <a:solidFill>
                  <a:schemeClr val="bg1"/>
                </a:solidFill>
              </a:rPr>
              <a:t> </a:t>
            </a:r>
            <a:r>
              <a:rPr lang="en-US" sz="4400" spc="-22" dirty="0">
                <a:solidFill>
                  <a:schemeClr val="bg1"/>
                </a:solidFill>
              </a:rPr>
              <a:t>Loops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10" y="1482209"/>
            <a:ext cx="10032642" cy="5656885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1199" indent="-457200">
              <a:spcBef>
                <a:spcPts val="772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4982" algn="l"/>
              </a:tabLst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Five</a:t>
            </a:r>
            <a:r>
              <a:rPr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effects</a:t>
            </a:r>
            <a:r>
              <a:rPr sz="3200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that</a:t>
            </a:r>
            <a:r>
              <a:rPr sz="3200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routing</a:t>
            </a:r>
            <a:r>
              <a:rPr sz="3200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loops</a:t>
            </a:r>
            <a:r>
              <a:rPr sz="3200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can</a:t>
            </a:r>
            <a:r>
              <a:rPr sz="3200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have</a:t>
            </a:r>
            <a:r>
              <a:rPr sz="3200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sz="3200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200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network</a:t>
            </a:r>
            <a:r>
              <a:rPr sz="3200" b="1" spc="-11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581667" marR="459874" indent="-568368">
              <a:spcBef>
                <a:spcPts val="667"/>
              </a:spcBef>
              <a:buClr>
                <a:srgbClr val="D24717"/>
              </a:buClr>
              <a:buSzPct val="84615"/>
              <a:buAutoNum type="arabicPeriod"/>
              <a:tabLst>
                <a:tab pos="581667" algn="l"/>
              </a:tabLst>
            </a:pPr>
            <a:r>
              <a:rPr sz="3000" dirty="0">
                <a:latin typeface="Times New Roman"/>
                <a:cs typeface="Times New Roman"/>
              </a:rPr>
              <a:t>Link</a:t>
            </a:r>
            <a:r>
              <a:rPr sz="3000" spc="-28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bandwidth</a:t>
            </a:r>
            <a:r>
              <a:rPr sz="3000" spc="-61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will</a:t>
            </a:r>
            <a:r>
              <a:rPr sz="3000" spc="-11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22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used</a:t>
            </a:r>
            <a:r>
              <a:rPr sz="3000" spc="-28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6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traffic</a:t>
            </a:r>
            <a:r>
              <a:rPr sz="3000" spc="-17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looping</a:t>
            </a:r>
            <a:r>
              <a:rPr sz="3000" spc="-28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back</a:t>
            </a:r>
            <a:r>
              <a:rPr sz="3000" spc="-33" dirty="0">
                <a:latin typeface="Times New Roman"/>
                <a:cs typeface="Times New Roman"/>
              </a:rPr>
              <a:t> </a:t>
            </a:r>
            <a:r>
              <a:rPr sz="3000" spc="-28" dirty="0">
                <a:latin typeface="Times New Roman"/>
                <a:cs typeface="Times New Roman"/>
              </a:rPr>
              <a:t>and </a:t>
            </a:r>
            <a:r>
              <a:rPr sz="3000" dirty="0">
                <a:latin typeface="Times New Roman"/>
                <a:cs typeface="Times New Roman"/>
              </a:rPr>
              <a:t>forth</a:t>
            </a:r>
            <a:r>
              <a:rPr sz="3000" spc="-33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between</a:t>
            </a:r>
            <a:r>
              <a:rPr sz="3000" spc="-33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 routers</a:t>
            </a:r>
            <a:r>
              <a:rPr sz="3000" spc="-33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 a</a:t>
            </a:r>
            <a:r>
              <a:rPr sz="3000" spc="-11" dirty="0">
                <a:latin typeface="Times New Roman"/>
                <a:cs typeface="Times New Roman"/>
              </a:rPr>
              <a:t> loop.</a:t>
            </a:r>
            <a:endParaRPr sz="3000" dirty="0">
              <a:latin typeface="Times New Roman"/>
              <a:cs typeface="Times New Roman"/>
            </a:endParaRPr>
          </a:p>
          <a:p>
            <a:pPr marL="581667" indent="-567667">
              <a:spcBef>
                <a:spcPts val="661"/>
              </a:spcBef>
              <a:buClr>
                <a:srgbClr val="D24717"/>
              </a:buClr>
              <a:buSzPct val="84615"/>
              <a:buAutoNum type="arabicPeriod"/>
              <a:tabLst>
                <a:tab pos="581667" algn="l"/>
              </a:tabLst>
            </a:pP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93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router’s</a:t>
            </a:r>
            <a:r>
              <a:rPr sz="3000" spc="-33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CPU</a:t>
            </a:r>
            <a:r>
              <a:rPr sz="3000" spc="-22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will</a:t>
            </a:r>
            <a:r>
              <a:rPr sz="3000" spc="-22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11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strained</a:t>
            </a:r>
            <a:r>
              <a:rPr sz="3000" spc="-22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because</a:t>
            </a:r>
            <a:r>
              <a:rPr sz="3000" spc="-39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28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looping</a:t>
            </a:r>
            <a:r>
              <a:rPr sz="3000" spc="-33" dirty="0">
                <a:latin typeface="Times New Roman"/>
                <a:cs typeface="Times New Roman"/>
              </a:rPr>
              <a:t> </a:t>
            </a:r>
            <a:r>
              <a:rPr sz="3000" spc="-11" dirty="0">
                <a:latin typeface="Times New Roman"/>
                <a:cs typeface="Times New Roman"/>
              </a:rPr>
              <a:t>packets.</a:t>
            </a:r>
            <a:endParaRPr sz="3000" dirty="0">
              <a:latin typeface="Times New Roman"/>
              <a:cs typeface="Times New Roman"/>
            </a:endParaRPr>
          </a:p>
          <a:p>
            <a:pPr marL="581667" marR="256886" indent="-568368">
              <a:spcBef>
                <a:spcPts val="661"/>
              </a:spcBef>
              <a:buClr>
                <a:srgbClr val="D24717"/>
              </a:buClr>
              <a:buSzPct val="84615"/>
              <a:buAutoNum type="arabicPeriod"/>
              <a:tabLst>
                <a:tab pos="581667" algn="l"/>
              </a:tabLst>
            </a:pP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87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router’s</a:t>
            </a:r>
            <a:r>
              <a:rPr sz="3000" spc="-39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CPU</a:t>
            </a:r>
            <a:r>
              <a:rPr sz="3000" spc="-28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will</a:t>
            </a:r>
            <a:r>
              <a:rPr sz="3000" spc="-28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11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burdened</a:t>
            </a:r>
            <a:r>
              <a:rPr sz="3000" spc="-72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-17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useless</a:t>
            </a:r>
            <a:r>
              <a:rPr sz="3000" spc="-28" dirty="0">
                <a:latin typeface="Times New Roman"/>
                <a:cs typeface="Times New Roman"/>
              </a:rPr>
              <a:t> </a:t>
            </a:r>
            <a:r>
              <a:rPr sz="3000" spc="-11" dirty="0">
                <a:latin typeface="Times New Roman"/>
                <a:cs typeface="Times New Roman"/>
              </a:rPr>
              <a:t>packet </a:t>
            </a:r>
            <a:r>
              <a:rPr sz="3000" dirty="0">
                <a:latin typeface="Times New Roman"/>
                <a:cs typeface="Times New Roman"/>
              </a:rPr>
              <a:t>forwarding</a:t>
            </a:r>
            <a:r>
              <a:rPr sz="3000" spc="-22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-72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will</a:t>
            </a:r>
            <a:r>
              <a:rPr sz="3000" spc="-28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negatively</a:t>
            </a:r>
            <a:r>
              <a:rPr sz="3000" spc="-33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impact</a:t>
            </a:r>
            <a:r>
              <a:rPr sz="3000" spc="-17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22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convergence</a:t>
            </a:r>
            <a:r>
              <a:rPr sz="3000" spc="-66" dirty="0">
                <a:latin typeface="Times New Roman"/>
                <a:cs typeface="Times New Roman"/>
              </a:rPr>
              <a:t> </a:t>
            </a:r>
            <a:r>
              <a:rPr sz="3000" spc="-28" dirty="0">
                <a:latin typeface="Times New Roman"/>
                <a:cs typeface="Times New Roman"/>
              </a:rPr>
              <a:t>of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22" dirty="0">
                <a:latin typeface="Times New Roman"/>
                <a:cs typeface="Times New Roman"/>
              </a:rPr>
              <a:t> </a:t>
            </a:r>
            <a:r>
              <a:rPr sz="3000" spc="-11" dirty="0">
                <a:latin typeface="Times New Roman"/>
                <a:cs typeface="Times New Roman"/>
              </a:rPr>
              <a:t>network.</a:t>
            </a:r>
            <a:endParaRPr sz="3000" dirty="0">
              <a:latin typeface="Times New Roman"/>
              <a:cs typeface="Times New Roman"/>
            </a:endParaRPr>
          </a:p>
          <a:p>
            <a:pPr marL="581667" marR="12599" indent="-568368">
              <a:spcBef>
                <a:spcPts val="667"/>
              </a:spcBef>
              <a:buClr>
                <a:srgbClr val="D24717"/>
              </a:buClr>
              <a:buSzPct val="84615"/>
              <a:buAutoNum type="arabicPeriod"/>
              <a:tabLst>
                <a:tab pos="581667" algn="l"/>
              </a:tabLst>
            </a:pPr>
            <a:r>
              <a:rPr sz="3000" dirty="0">
                <a:latin typeface="Times New Roman"/>
                <a:cs typeface="Times New Roman"/>
              </a:rPr>
              <a:t>Routing</a:t>
            </a:r>
            <a:r>
              <a:rPr sz="3000" spc="-4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updates</a:t>
            </a:r>
            <a:r>
              <a:rPr sz="3000" spc="-33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might</a:t>
            </a:r>
            <a:r>
              <a:rPr sz="3000" spc="-11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get</a:t>
            </a:r>
            <a:r>
              <a:rPr sz="3000" spc="-22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lost</a:t>
            </a:r>
            <a:r>
              <a:rPr sz="3000" spc="-17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28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might</a:t>
            </a:r>
            <a:r>
              <a:rPr sz="3000" spc="-11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not</a:t>
            </a:r>
            <a:r>
              <a:rPr sz="3000" spc="-11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39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processed</a:t>
            </a:r>
            <a:r>
              <a:rPr sz="3000" spc="-39" dirty="0">
                <a:latin typeface="Times New Roman"/>
                <a:cs typeface="Times New Roman"/>
              </a:rPr>
              <a:t> </a:t>
            </a:r>
            <a:r>
              <a:rPr sz="3000" spc="-28" dirty="0">
                <a:latin typeface="Times New Roman"/>
                <a:cs typeface="Times New Roman"/>
              </a:rPr>
              <a:t>in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timely</a:t>
            </a:r>
            <a:r>
              <a:rPr sz="3000" spc="-17" dirty="0">
                <a:latin typeface="Times New Roman"/>
                <a:cs typeface="Times New Roman"/>
              </a:rPr>
              <a:t> </a:t>
            </a:r>
            <a:r>
              <a:rPr sz="3000" spc="-11" dirty="0">
                <a:latin typeface="Times New Roman"/>
                <a:cs typeface="Times New Roman"/>
              </a:rPr>
              <a:t>manner.</a:t>
            </a:r>
            <a:r>
              <a:rPr sz="3000" spc="-88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These</a:t>
            </a:r>
            <a:r>
              <a:rPr sz="3000" spc="-28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conditions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would</a:t>
            </a:r>
            <a:r>
              <a:rPr sz="3000" spc="-33" dirty="0">
                <a:latin typeface="Times New Roman"/>
                <a:cs typeface="Times New Roman"/>
              </a:rPr>
              <a:t> </a:t>
            </a:r>
            <a:r>
              <a:rPr sz="3000" spc="-11" dirty="0">
                <a:latin typeface="Times New Roman"/>
                <a:cs typeface="Times New Roman"/>
              </a:rPr>
              <a:t>introduce </a:t>
            </a:r>
            <a:r>
              <a:rPr sz="3000" dirty="0">
                <a:latin typeface="Times New Roman"/>
                <a:cs typeface="Times New Roman"/>
              </a:rPr>
              <a:t>additional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routing</a:t>
            </a:r>
            <a:r>
              <a:rPr sz="3000" spc="-28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loops,</a:t>
            </a:r>
            <a:r>
              <a:rPr sz="3000" spc="-39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making</a:t>
            </a:r>
            <a:r>
              <a:rPr sz="3000" spc="-22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11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situation</a:t>
            </a:r>
            <a:r>
              <a:rPr sz="3000" spc="-17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</a:t>
            </a:r>
            <a:r>
              <a:rPr sz="3000" spc="-22" dirty="0">
                <a:latin typeface="Times New Roman"/>
                <a:cs typeface="Times New Roman"/>
              </a:rPr>
              <a:t> </a:t>
            </a:r>
            <a:r>
              <a:rPr sz="3000" spc="-11" dirty="0">
                <a:latin typeface="Times New Roman"/>
                <a:cs typeface="Times New Roman"/>
              </a:rPr>
              <a:t>worse.</a:t>
            </a:r>
            <a:endParaRPr sz="3000" dirty="0">
              <a:latin typeface="Times New Roman"/>
              <a:cs typeface="Times New Roman"/>
            </a:endParaRPr>
          </a:p>
          <a:p>
            <a:pPr marL="581667" indent="-567667">
              <a:spcBef>
                <a:spcPts val="661"/>
              </a:spcBef>
              <a:buClr>
                <a:srgbClr val="D24717"/>
              </a:buClr>
              <a:buSzPct val="84615"/>
              <a:buAutoNum type="arabicPeriod"/>
              <a:tabLst>
                <a:tab pos="581667" algn="l"/>
              </a:tabLst>
            </a:pPr>
            <a:r>
              <a:rPr sz="3000" dirty="0">
                <a:latin typeface="Times New Roman"/>
                <a:cs typeface="Times New Roman"/>
              </a:rPr>
              <a:t>Packets</a:t>
            </a:r>
            <a:r>
              <a:rPr sz="3000" spc="-39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22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get</a:t>
            </a:r>
            <a:r>
              <a:rPr sz="3000" spc="-17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lost</a:t>
            </a:r>
            <a:r>
              <a:rPr sz="3000" spc="-22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6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“black</a:t>
            </a:r>
            <a:r>
              <a:rPr sz="3000" spc="-28" dirty="0">
                <a:latin typeface="Times New Roman"/>
                <a:cs typeface="Times New Roman"/>
              </a:rPr>
              <a:t> </a:t>
            </a:r>
            <a:r>
              <a:rPr sz="3000" spc="-11" dirty="0">
                <a:latin typeface="Times New Roman"/>
                <a:cs typeface="Times New Roman"/>
              </a:rPr>
              <a:t>holes.”</a:t>
            </a:r>
            <a:endParaRPr sz="3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653" y="554799"/>
            <a:ext cx="9573317" cy="691244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>
              <a:lnSpc>
                <a:spcPct val="100000"/>
              </a:lnSpc>
              <a:spcBef>
                <a:spcPts val="110"/>
              </a:spcBef>
            </a:pPr>
            <a:r>
              <a:rPr lang="en-US" sz="4400" dirty="0">
                <a:solidFill>
                  <a:schemeClr val="bg1"/>
                </a:solidFill>
              </a:rPr>
              <a:t>Routing Loop Prevention Mechanisms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3653" y="1905581"/>
            <a:ext cx="9573318" cy="4261258"/>
          </a:xfrm>
          <a:prstGeom prst="rect">
            <a:avLst/>
          </a:prstGeom>
        </p:spPr>
        <p:txBody>
          <a:bodyPr vert="horz" wrap="square" lIns="0" tIns="13299" rIns="0" bIns="0" rtlCol="0">
            <a:spAutoFit/>
          </a:bodyPr>
          <a:lstStyle/>
          <a:p>
            <a:pPr marL="471199" indent="-457200">
              <a:spcBef>
                <a:spcPts val="105"/>
              </a:spcBef>
              <a:buClr>
                <a:srgbClr val="D24717"/>
              </a:buClr>
              <a:buSzPct val="83928"/>
              <a:buFont typeface="Wingdings" panose="05000000000000000000" pitchFamily="2" charset="2"/>
              <a:buChar char="Ø"/>
              <a:tabLst>
                <a:tab pos="314282" algn="l"/>
              </a:tabLst>
            </a:pPr>
            <a:r>
              <a:rPr lang="en-US" sz="3086" dirty="0">
                <a:latin typeface="Times New Roman"/>
                <a:cs typeface="Times New Roman"/>
              </a:rPr>
              <a:t>T</a:t>
            </a:r>
            <a:r>
              <a:rPr sz="3086" dirty="0">
                <a:latin typeface="Times New Roman"/>
                <a:cs typeface="Times New Roman"/>
              </a:rPr>
              <a:t>here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are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five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mechanisms</a:t>
            </a:r>
            <a:r>
              <a:rPr sz="3086" spc="-11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available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to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eliminate </a:t>
            </a:r>
            <a:r>
              <a:rPr sz="3086" dirty="0">
                <a:latin typeface="Times New Roman"/>
                <a:cs typeface="Times New Roman"/>
              </a:rPr>
              <a:t>routing</a:t>
            </a:r>
            <a:r>
              <a:rPr sz="3086" spc="-116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loops:</a:t>
            </a:r>
            <a:endParaRPr sz="3086" dirty="0">
              <a:latin typeface="Times New Roman"/>
              <a:cs typeface="Times New Roman"/>
            </a:endParaRPr>
          </a:p>
          <a:p>
            <a:pPr marL="1038867" marR="5600" lvl="1" indent="-568368">
              <a:spcBef>
                <a:spcPts val="661"/>
              </a:spcBef>
              <a:buClr>
                <a:srgbClr val="D24717"/>
              </a:buClr>
              <a:buSzPct val="83928"/>
              <a:buAutoNum type="arabicPeriod"/>
              <a:tabLst>
                <a:tab pos="581667" algn="l"/>
              </a:tabLst>
            </a:pPr>
            <a:r>
              <a:rPr sz="3086" dirty="0">
                <a:latin typeface="Times New Roman"/>
                <a:cs typeface="Times New Roman"/>
              </a:rPr>
              <a:t>Defining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</a:t>
            </a:r>
            <a:r>
              <a:rPr sz="3086" spc="-1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maximum</a:t>
            </a:r>
            <a:r>
              <a:rPr sz="3086" spc="6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metric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to</a:t>
            </a:r>
            <a:r>
              <a:rPr sz="3086" spc="-6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prevent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</a:t>
            </a:r>
            <a:r>
              <a:rPr sz="3086" spc="-1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count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spc="-28" dirty="0">
                <a:latin typeface="Times New Roman"/>
                <a:cs typeface="Times New Roman"/>
              </a:rPr>
              <a:t>to </a:t>
            </a:r>
            <a:r>
              <a:rPr sz="3086" spc="-11" dirty="0">
                <a:latin typeface="Times New Roman"/>
                <a:cs typeface="Times New Roman"/>
              </a:rPr>
              <a:t>infinity</a:t>
            </a:r>
            <a:endParaRPr sz="3086" dirty="0">
              <a:latin typeface="Times New Roman"/>
              <a:cs typeface="Times New Roman"/>
            </a:endParaRPr>
          </a:p>
          <a:p>
            <a:pPr marL="1038867" lvl="1" indent="-567667">
              <a:spcBef>
                <a:spcPts val="661"/>
              </a:spcBef>
              <a:buClr>
                <a:srgbClr val="D24717"/>
              </a:buClr>
              <a:buSzPct val="83928"/>
              <a:buAutoNum type="arabicPeriod"/>
              <a:tabLst>
                <a:tab pos="581667" algn="l"/>
              </a:tabLst>
            </a:pPr>
            <a:r>
              <a:rPr sz="3086" spc="-22" dirty="0">
                <a:latin typeface="Times New Roman"/>
                <a:cs typeface="Times New Roman"/>
              </a:rPr>
              <a:t>Hold-</a:t>
            </a:r>
            <a:r>
              <a:rPr sz="3086" dirty="0">
                <a:latin typeface="Times New Roman"/>
                <a:cs typeface="Times New Roman"/>
              </a:rPr>
              <a:t>down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timers</a:t>
            </a:r>
            <a:endParaRPr sz="3086" dirty="0">
              <a:latin typeface="Times New Roman"/>
              <a:cs typeface="Times New Roman"/>
            </a:endParaRPr>
          </a:p>
          <a:p>
            <a:pPr marL="1038867" lvl="1" indent="-567667">
              <a:spcBef>
                <a:spcPts val="667"/>
              </a:spcBef>
              <a:buClr>
                <a:srgbClr val="D24717"/>
              </a:buClr>
              <a:buSzPct val="83928"/>
              <a:buAutoNum type="arabicPeriod"/>
              <a:tabLst>
                <a:tab pos="581667" algn="l"/>
              </a:tabLst>
            </a:pPr>
            <a:r>
              <a:rPr sz="3086" dirty="0">
                <a:latin typeface="Times New Roman"/>
                <a:cs typeface="Times New Roman"/>
              </a:rPr>
              <a:t>Split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horizon</a:t>
            </a:r>
            <a:endParaRPr sz="3086" dirty="0">
              <a:latin typeface="Times New Roman"/>
              <a:cs typeface="Times New Roman"/>
            </a:endParaRPr>
          </a:p>
          <a:p>
            <a:pPr marL="1038867" lvl="1" indent="-567667">
              <a:spcBef>
                <a:spcPts val="661"/>
              </a:spcBef>
              <a:buClr>
                <a:srgbClr val="D24717"/>
              </a:buClr>
              <a:buSzPct val="83928"/>
              <a:buAutoNum type="arabicPeriod"/>
              <a:tabLst>
                <a:tab pos="581667" algn="l"/>
              </a:tabLst>
            </a:pPr>
            <a:r>
              <a:rPr sz="3086" dirty="0">
                <a:latin typeface="Times New Roman"/>
                <a:cs typeface="Times New Roman"/>
              </a:rPr>
              <a:t>Route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poisoning</a:t>
            </a:r>
            <a:r>
              <a:rPr sz="3086" spc="-66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or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poison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reverse</a:t>
            </a:r>
            <a:endParaRPr sz="3086" dirty="0">
              <a:latin typeface="Times New Roman"/>
              <a:cs typeface="Times New Roman"/>
            </a:endParaRPr>
          </a:p>
          <a:p>
            <a:pPr marL="1038867" lvl="1" indent="-567667">
              <a:spcBef>
                <a:spcPts val="661"/>
              </a:spcBef>
              <a:buClr>
                <a:srgbClr val="D24717"/>
              </a:buClr>
              <a:buSzPct val="83928"/>
              <a:buAutoNum type="arabicPeriod"/>
              <a:tabLst>
                <a:tab pos="581667" algn="l"/>
              </a:tabLst>
            </a:pPr>
            <a:r>
              <a:rPr sz="3086" dirty="0">
                <a:latin typeface="Times New Roman"/>
                <a:cs typeface="Times New Roman"/>
              </a:rPr>
              <a:t>Triggered</a:t>
            </a:r>
            <a:r>
              <a:rPr sz="3086" spc="-182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updates</a:t>
            </a:r>
            <a:endParaRPr sz="3086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5161" y="532822"/>
            <a:ext cx="5254581" cy="691948"/>
          </a:xfrm>
          <a:prstGeom prst="rect">
            <a:avLst/>
          </a:prstGeom>
        </p:spPr>
        <p:txBody>
          <a:bodyPr vert="horz" wrap="square" lIns="0" tIns="13299" rIns="0" bIns="0" rtlCol="0" anchor="ctr">
            <a:spAutoFit/>
          </a:bodyPr>
          <a:lstStyle/>
          <a:p>
            <a:pPr marL="13999" algn="ctr">
              <a:lnSpc>
                <a:spcPct val="100000"/>
              </a:lnSpc>
              <a:spcBef>
                <a:spcPts val="105"/>
              </a:spcBef>
            </a:pPr>
            <a:r>
              <a:rPr lang="en-US" sz="4409" dirty="0">
                <a:solidFill>
                  <a:schemeClr val="bg1"/>
                </a:solidFill>
              </a:rPr>
              <a:t>Count to Infinity</a:t>
            </a:r>
            <a:endParaRPr sz="4409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3639" y="1722627"/>
            <a:ext cx="9362941" cy="3983516"/>
          </a:xfrm>
          <a:prstGeom prst="rect">
            <a:avLst/>
          </a:prstGeom>
        </p:spPr>
        <p:txBody>
          <a:bodyPr vert="horz" wrap="square" lIns="0" tIns="55298" rIns="0" bIns="0" rtlCol="0">
            <a:spAutoFit/>
          </a:bodyPr>
          <a:lstStyle/>
          <a:p>
            <a:pPr marL="470499" marR="5600" indent="-457200">
              <a:lnSpc>
                <a:spcPct val="90000"/>
              </a:lnSpc>
              <a:spcBef>
                <a:spcPts val="672"/>
              </a:spcBef>
              <a:buClr>
                <a:srgbClr val="C00000"/>
              </a:buClr>
              <a:buSzPct val="83928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Count</a:t>
            </a:r>
            <a:r>
              <a:rPr sz="3086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3086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infinity</a:t>
            </a:r>
            <a:r>
              <a:rPr sz="3086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is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</a:t>
            </a:r>
            <a:r>
              <a:rPr sz="3086" spc="-11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condition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that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exists</a:t>
            </a:r>
            <a:r>
              <a:rPr sz="3086" spc="-22" dirty="0">
                <a:latin typeface="Times New Roman"/>
                <a:cs typeface="Times New Roman"/>
              </a:rPr>
              <a:t> when</a:t>
            </a:r>
            <a:r>
              <a:rPr lang="en-US" sz="3086" spc="-2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inaccurate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routing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updates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increase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metric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value</a:t>
            </a:r>
            <a:r>
              <a:rPr sz="3086" spc="17" dirty="0">
                <a:latin typeface="Times New Roman"/>
                <a:cs typeface="Times New Roman"/>
              </a:rPr>
              <a:t> </a:t>
            </a:r>
            <a:r>
              <a:rPr sz="3086" spc="-28" dirty="0">
                <a:latin typeface="Times New Roman"/>
                <a:cs typeface="Times New Roman"/>
              </a:rPr>
              <a:t>to </a:t>
            </a:r>
            <a:r>
              <a:rPr sz="3086" dirty="0">
                <a:latin typeface="Times New Roman"/>
                <a:cs typeface="Times New Roman"/>
              </a:rPr>
              <a:t>“infinity”</a:t>
            </a:r>
            <a:r>
              <a:rPr sz="3086" spc="-9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for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network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that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is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no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longer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reachable. </a:t>
            </a:r>
            <a:r>
              <a:rPr sz="3086" dirty="0">
                <a:latin typeface="Times New Roman"/>
                <a:cs typeface="Times New Roman"/>
              </a:rPr>
              <a:t>Each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protocol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defines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infinity</a:t>
            </a:r>
            <a:r>
              <a:rPr sz="3086" spc="-7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at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different</a:t>
            </a:r>
            <a:r>
              <a:rPr sz="3086" spc="-61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value.</a:t>
            </a:r>
            <a:endParaRPr sz="3086" dirty="0">
              <a:latin typeface="Times New Roman"/>
              <a:cs typeface="Times New Roman"/>
            </a:endParaRPr>
          </a:p>
          <a:p>
            <a:pPr marL="470499" marR="722359" indent="-457200" algn="just">
              <a:lnSpc>
                <a:spcPct val="90000"/>
              </a:lnSpc>
              <a:spcBef>
                <a:spcPts val="661"/>
              </a:spcBef>
              <a:buClr>
                <a:srgbClr val="C00000"/>
              </a:buClr>
              <a:buSzPct val="83928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086" spc="-83" dirty="0">
                <a:latin typeface="Times New Roman"/>
                <a:cs typeface="Times New Roman"/>
              </a:rPr>
              <a:t>To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eventually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stop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incrementing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of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metric,</a:t>
            </a:r>
            <a:r>
              <a:rPr lang="en-US" sz="3086" spc="-11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“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infinity</a:t>
            </a:r>
            <a:r>
              <a:rPr sz="3086" dirty="0">
                <a:latin typeface="Times New Roman"/>
                <a:cs typeface="Times New Roman"/>
              </a:rPr>
              <a:t>”</a:t>
            </a:r>
            <a:r>
              <a:rPr sz="3086" spc="-9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is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defined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by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setting</a:t>
            </a:r>
            <a:r>
              <a:rPr sz="3086" spc="-61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maximum</a:t>
            </a:r>
            <a:r>
              <a:rPr sz="3086" spc="22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metric</a:t>
            </a:r>
            <a:r>
              <a:rPr lang="en-US" sz="3086" spc="-11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value.</a:t>
            </a:r>
            <a:endParaRPr sz="3086" dirty="0">
              <a:latin typeface="Times New Roman"/>
              <a:cs typeface="Times New Roman"/>
            </a:endParaRPr>
          </a:p>
          <a:p>
            <a:pPr marL="470499" marR="523570" indent="-457200" algn="just">
              <a:lnSpc>
                <a:spcPts val="3340"/>
              </a:lnSpc>
              <a:buClr>
                <a:srgbClr val="C00000"/>
              </a:buClr>
              <a:buSzPct val="83928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086" dirty="0">
                <a:latin typeface="Times New Roman"/>
                <a:cs typeface="Times New Roman"/>
              </a:rPr>
              <a:t>What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is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maximum or</a:t>
            </a:r>
            <a:r>
              <a:rPr sz="3086" spc="-2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infinity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value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for</a:t>
            </a:r>
            <a:r>
              <a:rPr sz="3086" spc="-11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RIP?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16</a:t>
            </a:r>
            <a:r>
              <a:rPr lang="en-US" sz="3086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hops</a:t>
            </a:r>
            <a:endParaRPr sz="3086" b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3499" y="592318"/>
            <a:ext cx="5061555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>
              <a:spcBef>
                <a:spcPts val="424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spc="-11" dirty="0">
                <a:solidFill>
                  <a:schemeClr val="bg1"/>
                </a:solidFill>
              </a:rPr>
              <a:t>Hold-</a:t>
            </a:r>
            <a:r>
              <a:rPr lang="en-US" sz="4400" dirty="0">
                <a:solidFill>
                  <a:schemeClr val="bg1"/>
                </a:solidFill>
              </a:rPr>
              <a:t>down </a:t>
            </a:r>
            <a:r>
              <a:rPr lang="en-US" sz="4400" spc="-11" dirty="0">
                <a:solidFill>
                  <a:schemeClr val="bg1"/>
                </a:solidFill>
              </a:rPr>
              <a:t>Timers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3184" y="1648495"/>
            <a:ext cx="9762186" cy="5635439"/>
          </a:xfrm>
          <a:prstGeom prst="rect">
            <a:avLst/>
          </a:prstGeom>
        </p:spPr>
        <p:txBody>
          <a:bodyPr vert="horz" wrap="square" lIns="0" tIns="53898" rIns="0" bIns="0" rtlCol="0">
            <a:spAutoFit/>
          </a:bodyPr>
          <a:lstStyle/>
          <a:p>
            <a:pPr marL="470499" marR="5600" indent="-457200">
              <a:lnSpc>
                <a:spcPct val="90000"/>
              </a:lnSpc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6382" algn="l"/>
              </a:tabLst>
            </a:pPr>
            <a:r>
              <a:rPr lang="en-US" sz="30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Hold-</a:t>
            </a:r>
            <a:r>
              <a:rPr lang="en-US"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down</a:t>
            </a:r>
            <a:r>
              <a:rPr lang="en-US" sz="3000" b="1" spc="-3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timers</a:t>
            </a:r>
            <a:r>
              <a:rPr lang="en-US" sz="30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are</a:t>
            </a:r>
            <a:r>
              <a:rPr lang="en-US" sz="3000" spc="-22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used</a:t>
            </a:r>
            <a:r>
              <a:rPr lang="en-US" sz="3000" spc="-28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to</a:t>
            </a:r>
            <a:r>
              <a:rPr lang="en-US" sz="3000" spc="-11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prevent</a:t>
            </a:r>
            <a:r>
              <a:rPr lang="en-US" sz="3000" spc="-44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regular</a:t>
            </a:r>
            <a:r>
              <a:rPr lang="en-US" sz="3000" spc="-28" dirty="0">
                <a:latin typeface="Times New Roman"/>
                <a:cs typeface="Times New Roman"/>
              </a:rPr>
              <a:t> </a:t>
            </a:r>
            <a:r>
              <a:rPr lang="en-US" sz="3000" spc="-11" dirty="0">
                <a:latin typeface="Times New Roman"/>
                <a:cs typeface="Times New Roman"/>
              </a:rPr>
              <a:t>update </a:t>
            </a:r>
            <a:r>
              <a:rPr lang="en-US" sz="3000" dirty="0">
                <a:latin typeface="Times New Roman"/>
                <a:cs typeface="Times New Roman"/>
              </a:rPr>
              <a:t>messages</a:t>
            </a:r>
            <a:r>
              <a:rPr lang="en-US" sz="3000" spc="-28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from</a:t>
            </a:r>
            <a:r>
              <a:rPr lang="en-US" sz="3000" spc="-28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inappropriately</a:t>
            </a:r>
            <a:r>
              <a:rPr lang="en-US" sz="3000" spc="-55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reinstating a</a:t>
            </a:r>
            <a:r>
              <a:rPr lang="en-US" sz="3000" spc="-17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route</a:t>
            </a:r>
            <a:r>
              <a:rPr lang="en-US" sz="3000" spc="-33" dirty="0">
                <a:latin typeface="Times New Roman"/>
                <a:cs typeface="Times New Roman"/>
              </a:rPr>
              <a:t> </a:t>
            </a:r>
            <a:r>
              <a:rPr lang="en-US" sz="3000" spc="-22" dirty="0">
                <a:latin typeface="Times New Roman"/>
                <a:cs typeface="Times New Roman"/>
              </a:rPr>
              <a:t>that </a:t>
            </a:r>
            <a:r>
              <a:rPr lang="en-US" sz="3000" dirty="0">
                <a:latin typeface="Times New Roman"/>
                <a:cs typeface="Times New Roman"/>
              </a:rPr>
              <a:t>might</a:t>
            </a:r>
            <a:r>
              <a:rPr lang="en-US" sz="3000" spc="-33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have</a:t>
            </a:r>
            <a:r>
              <a:rPr lang="en-US" sz="3000" spc="-28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gone</a:t>
            </a:r>
            <a:r>
              <a:rPr lang="en-US" sz="3000" spc="-39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bad.</a:t>
            </a:r>
            <a:r>
              <a:rPr lang="en-US" sz="3000" spc="-28" dirty="0">
                <a:latin typeface="Times New Roman"/>
                <a:cs typeface="Times New Roman"/>
              </a:rPr>
              <a:t> </a:t>
            </a:r>
          </a:p>
          <a:p>
            <a:pPr marL="470499" marR="5600" indent="-457200">
              <a:lnSpc>
                <a:spcPct val="90000"/>
              </a:lnSpc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6382" algn="l"/>
              </a:tabLst>
            </a:pPr>
            <a:r>
              <a:rPr lang="en-US" sz="3000" dirty="0">
                <a:latin typeface="Times New Roman"/>
                <a:cs typeface="Times New Roman"/>
              </a:rPr>
              <a:t>Hold-down</a:t>
            </a:r>
            <a:r>
              <a:rPr lang="en-US" sz="3000" spc="-61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timers instruct</a:t>
            </a:r>
            <a:r>
              <a:rPr lang="en-US" sz="3000" spc="-6" dirty="0">
                <a:latin typeface="Times New Roman"/>
                <a:cs typeface="Times New Roman"/>
              </a:rPr>
              <a:t> </a:t>
            </a:r>
            <a:r>
              <a:rPr lang="en-US" sz="3000" spc="-11" dirty="0">
                <a:latin typeface="Times New Roman"/>
                <a:cs typeface="Times New Roman"/>
              </a:rPr>
              <a:t>routers </a:t>
            </a:r>
            <a:r>
              <a:rPr lang="en-US" sz="3000" dirty="0">
                <a:latin typeface="Times New Roman"/>
                <a:cs typeface="Times New Roman"/>
              </a:rPr>
              <a:t>to</a:t>
            </a:r>
            <a:r>
              <a:rPr lang="en-US" sz="3000" spc="-33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hold</a:t>
            </a:r>
            <a:r>
              <a:rPr lang="en-US" sz="3000" spc="-39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any</a:t>
            </a:r>
            <a:r>
              <a:rPr lang="en-US" sz="3000" spc="-22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changes</a:t>
            </a:r>
            <a:r>
              <a:rPr lang="en-US" sz="3000" spc="-55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that</a:t>
            </a:r>
            <a:r>
              <a:rPr lang="en-US" sz="3000" spc="-11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might</a:t>
            </a:r>
            <a:r>
              <a:rPr lang="en-US" sz="3000" spc="-11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affect</a:t>
            </a:r>
            <a:r>
              <a:rPr lang="en-US" sz="3000" spc="-17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routes</a:t>
            </a:r>
            <a:r>
              <a:rPr lang="en-US" sz="3000" spc="-39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for</a:t>
            </a:r>
            <a:r>
              <a:rPr lang="en-US" sz="3000" spc="-28" dirty="0">
                <a:latin typeface="Times New Roman"/>
                <a:cs typeface="Times New Roman"/>
              </a:rPr>
              <a:t> </a:t>
            </a:r>
            <a:r>
              <a:rPr lang="en-US" sz="3000" spc="-55" dirty="0">
                <a:latin typeface="Times New Roman"/>
                <a:cs typeface="Times New Roman"/>
              </a:rPr>
              <a:t>a </a:t>
            </a:r>
            <a:r>
              <a:rPr lang="en-US"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specified</a:t>
            </a:r>
            <a:r>
              <a:rPr lang="en-US" sz="3000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period</a:t>
            </a:r>
            <a:r>
              <a:rPr lang="en-US" sz="3000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lang="en-US" sz="3000" b="1" spc="-3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time</a:t>
            </a:r>
            <a:r>
              <a:rPr lang="en-US" sz="3000" dirty="0">
                <a:latin typeface="Times New Roman"/>
                <a:cs typeface="Times New Roman"/>
              </a:rPr>
              <a:t>. If</a:t>
            </a:r>
            <a:r>
              <a:rPr lang="en-US" sz="3000" spc="-22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a</a:t>
            </a:r>
            <a:r>
              <a:rPr lang="en-US" sz="3000" spc="-28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route</a:t>
            </a:r>
            <a:r>
              <a:rPr lang="en-US" sz="3000" spc="-39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is</a:t>
            </a:r>
            <a:r>
              <a:rPr lang="en-US" sz="3000" spc="-22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identified</a:t>
            </a:r>
            <a:r>
              <a:rPr lang="en-US" sz="3000" spc="-28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as</a:t>
            </a:r>
            <a:r>
              <a:rPr lang="en-US" sz="3000" spc="-22" dirty="0">
                <a:latin typeface="Times New Roman"/>
                <a:cs typeface="Times New Roman"/>
              </a:rPr>
              <a:t> down </a:t>
            </a:r>
            <a:r>
              <a:rPr lang="en-US" sz="3000" dirty="0">
                <a:latin typeface="Times New Roman"/>
                <a:cs typeface="Times New Roman"/>
              </a:rPr>
              <a:t>or</a:t>
            </a:r>
            <a:r>
              <a:rPr lang="en-US" sz="3000" spc="-33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possibly</a:t>
            </a:r>
            <a:r>
              <a:rPr lang="en-US" sz="3000" spc="-11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down,</a:t>
            </a:r>
            <a:r>
              <a:rPr lang="en-US" sz="3000" spc="-44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any</a:t>
            </a:r>
            <a:r>
              <a:rPr lang="en-US" sz="3000" spc="-6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other</a:t>
            </a:r>
            <a:r>
              <a:rPr lang="en-US" sz="3000" spc="-33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information</a:t>
            </a:r>
            <a:r>
              <a:rPr lang="en-US" sz="3000" spc="6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for</a:t>
            </a:r>
            <a:r>
              <a:rPr lang="en-US" sz="3000" spc="-22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that</a:t>
            </a:r>
            <a:r>
              <a:rPr lang="en-US" sz="3000" spc="-11" dirty="0">
                <a:latin typeface="Times New Roman"/>
                <a:cs typeface="Times New Roman"/>
              </a:rPr>
              <a:t> route </a:t>
            </a:r>
            <a:r>
              <a:rPr lang="en-US" sz="3000" dirty="0">
                <a:latin typeface="Times New Roman"/>
                <a:cs typeface="Times New Roman"/>
              </a:rPr>
              <a:t>containing</a:t>
            </a:r>
            <a:r>
              <a:rPr lang="en-US" sz="3000" spc="-50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the</a:t>
            </a:r>
            <a:r>
              <a:rPr lang="en-US" sz="3000" spc="-11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same</a:t>
            </a:r>
            <a:r>
              <a:rPr lang="en-US" sz="3000" spc="-6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status, or</a:t>
            </a:r>
            <a:r>
              <a:rPr lang="en-US" sz="3000" spc="-28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worse,</a:t>
            </a:r>
            <a:r>
              <a:rPr lang="en-US" sz="3000" spc="-33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is</a:t>
            </a:r>
            <a:r>
              <a:rPr lang="en-US" sz="3000" spc="-17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ignored</a:t>
            </a:r>
            <a:r>
              <a:rPr lang="en-US" sz="3000" spc="-33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for</a:t>
            </a:r>
            <a:r>
              <a:rPr lang="en-US" sz="3000" spc="-28" dirty="0">
                <a:latin typeface="Times New Roman"/>
                <a:cs typeface="Times New Roman"/>
              </a:rPr>
              <a:t> </a:t>
            </a:r>
            <a:r>
              <a:rPr lang="en-US" sz="3000" spc="-55" dirty="0">
                <a:latin typeface="Times New Roman"/>
                <a:cs typeface="Times New Roman"/>
              </a:rPr>
              <a:t>a </a:t>
            </a:r>
            <a:r>
              <a:rPr lang="en-US" sz="3000" dirty="0">
                <a:latin typeface="Times New Roman"/>
                <a:cs typeface="Times New Roman"/>
              </a:rPr>
              <a:t>predetermined</a:t>
            </a:r>
            <a:r>
              <a:rPr lang="en-US" sz="3000" spc="-61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amount</a:t>
            </a:r>
            <a:r>
              <a:rPr lang="en-US" sz="3000" spc="-33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of</a:t>
            </a:r>
            <a:r>
              <a:rPr lang="en-US" sz="3000" spc="-17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time</a:t>
            </a:r>
            <a:r>
              <a:rPr lang="en-US" sz="3000" spc="-17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(the</a:t>
            </a:r>
            <a:r>
              <a:rPr lang="en-US" sz="3000" spc="-28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hold-down</a:t>
            </a:r>
            <a:r>
              <a:rPr lang="en-US" sz="3000" spc="-17" dirty="0">
                <a:latin typeface="Times New Roman"/>
                <a:cs typeface="Times New Roman"/>
              </a:rPr>
              <a:t> </a:t>
            </a:r>
            <a:r>
              <a:rPr lang="en-US" sz="3000" spc="-11" dirty="0">
                <a:latin typeface="Times New Roman"/>
                <a:cs typeface="Times New Roman"/>
              </a:rPr>
              <a:t>period). 	</a:t>
            </a:r>
          </a:p>
          <a:p>
            <a:pPr marL="470499" marR="5600" indent="-457200">
              <a:lnSpc>
                <a:spcPct val="90000"/>
              </a:lnSpc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6382" algn="l"/>
              </a:tabLst>
            </a:pPr>
            <a:r>
              <a:rPr lang="en-US" sz="3000" dirty="0">
                <a:latin typeface="Times New Roman"/>
                <a:cs typeface="Times New Roman"/>
              </a:rPr>
              <a:t>This</a:t>
            </a:r>
            <a:r>
              <a:rPr lang="en-US" sz="3000" spc="-39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means</a:t>
            </a:r>
            <a:r>
              <a:rPr lang="en-US" sz="3000" spc="-11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that</a:t>
            </a:r>
            <a:r>
              <a:rPr lang="en-US" sz="3000" spc="-11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routers</a:t>
            </a:r>
            <a:r>
              <a:rPr lang="en-US" sz="3000" spc="-39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will</a:t>
            </a:r>
            <a:r>
              <a:rPr lang="en-US" sz="3000" spc="-11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leave</a:t>
            </a:r>
            <a:r>
              <a:rPr lang="en-US" sz="3000" spc="-28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a</a:t>
            </a:r>
            <a:r>
              <a:rPr lang="en-US" sz="3000" spc="-11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route</a:t>
            </a:r>
            <a:r>
              <a:rPr lang="en-US" sz="3000" spc="-39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marked</a:t>
            </a:r>
            <a:r>
              <a:rPr lang="en-US" sz="3000" spc="-22" dirty="0">
                <a:latin typeface="Times New Roman"/>
                <a:cs typeface="Times New Roman"/>
              </a:rPr>
              <a:t> </a:t>
            </a:r>
            <a:r>
              <a:rPr lang="en-US" sz="3000" spc="-28" dirty="0">
                <a:latin typeface="Times New Roman"/>
                <a:cs typeface="Times New Roman"/>
              </a:rPr>
              <a:t>as </a:t>
            </a:r>
            <a:r>
              <a:rPr lang="en-US" sz="3000" dirty="0">
                <a:latin typeface="Times New Roman"/>
                <a:cs typeface="Times New Roman"/>
              </a:rPr>
              <a:t>unreachable</a:t>
            </a:r>
            <a:r>
              <a:rPr lang="en-US" sz="3000" spc="-72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in</a:t>
            </a:r>
            <a:r>
              <a:rPr lang="en-US" sz="3000" spc="-11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that</a:t>
            </a:r>
            <a:r>
              <a:rPr lang="en-US" sz="3000" spc="-17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state</a:t>
            </a:r>
            <a:r>
              <a:rPr lang="en-US" sz="3000" spc="-6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for</a:t>
            </a:r>
            <a:r>
              <a:rPr lang="en-US" sz="3000" spc="-22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a</a:t>
            </a:r>
            <a:r>
              <a:rPr lang="en-US" sz="3000" spc="-11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period</a:t>
            </a:r>
            <a:r>
              <a:rPr lang="en-US" sz="3000" spc="-17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of</a:t>
            </a:r>
            <a:r>
              <a:rPr lang="en-US" sz="3000" spc="-28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time</a:t>
            </a:r>
            <a:r>
              <a:rPr lang="en-US" sz="3000" spc="-6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that</a:t>
            </a:r>
            <a:r>
              <a:rPr lang="en-US" sz="3000" spc="-22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is</a:t>
            </a:r>
            <a:r>
              <a:rPr lang="en-US" sz="3000" spc="-11" dirty="0">
                <a:latin typeface="Times New Roman"/>
                <a:cs typeface="Times New Roman"/>
              </a:rPr>
              <a:t> </a:t>
            </a:r>
            <a:r>
              <a:rPr lang="en-US" sz="3000" spc="-22" dirty="0">
                <a:latin typeface="Times New Roman"/>
                <a:cs typeface="Times New Roman"/>
              </a:rPr>
              <a:t>long </a:t>
            </a:r>
            <a:r>
              <a:rPr lang="en-US" sz="3000" dirty="0">
                <a:latin typeface="Times New Roman"/>
                <a:cs typeface="Times New Roman"/>
              </a:rPr>
              <a:t>enough</a:t>
            </a:r>
            <a:r>
              <a:rPr lang="en-US" sz="3000" spc="-17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for</a:t>
            </a:r>
            <a:r>
              <a:rPr lang="en-US" sz="3000" spc="-61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updates</a:t>
            </a:r>
            <a:r>
              <a:rPr lang="en-US" sz="3000" spc="-28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to</a:t>
            </a:r>
            <a:r>
              <a:rPr lang="en-US" sz="3000" spc="-17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propagate</a:t>
            </a:r>
            <a:r>
              <a:rPr lang="en-US" sz="3000" spc="-44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the routing</a:t>
            </a:r>
            <a:r>
              <a:rPr lang="en-US" sz="3000" spc="-17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tables</a:t>
            </a:r>
            <a:r>
              <a:rPr lang="en-US" sz="3000" spc="-11" dirty="0">
                <a:latin typeface="Times New Roman"/>
                <a:cs typeface="Times New Roman"/>
              </a:rPr>
              <a:t> </a:t>
            </a:r>
            <a:r>
              <a:rPr lang="en-US" sz="3000" spc="-22" dirty="0">
                <a:latin typeface="Times New Roman"/>
                <a:cs typeface="Times New Roman"/>
              </a:rPr>
              <a:t>with 	</a:t>
            </a:r>
            <a:r>
              <a:rPr lang="en-US" sz="3000" dirty="0">
                <a:latin typeface="Times New Roman"/>
                <a:cs typeface="Times New Roman"/>
              </a:rPr>
              <a:t>the</a:t>
            </a:r>
            <a:r>
              <a:rPr lang="en-US" sz="3000" spc="-39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most</a:t>
            </a:r>
            <a:r>
              <a:rPr lang="en-US" sz="3000" spc="-11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current</a:t>
            </a:r>
            <a:r>
              <a:rPr lang="en-US" sz="3000" spc="-28" dirty="0">
                <a:latin typeface="Times New Roman"/>
                <a:cs typeface="Times New Roman"/>
              </a:rPr>
              <a:t> </a:t>
            </a:r>
            <a:r>
              <a:rPr lang="en-US" sz="3000" spc="-11" dirty="0">
                <a:latin typeface="Times New Roman"/>
                <a:cs typeface="Times New Roman"/>
              </a:rPr>
              <a:t>information.</a:t>
            </a:r>
            <a:endParaRPr lang="en-US" sz="3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69144" y="1713220"/>
            <a:ext cx="9093042" cy="1576280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0499" marR="5600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6382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split</a:t>
            </a: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horizon</a:t>
            </a:r>
            <a:r>
              <a:rPr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rule</a:t>
            </a:r>
            <a:r>
              <a:rPr sz="3200" b="1" spc="-1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says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router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should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spc="-28" dirty="0">
                <a:latin typeface="Times New Roman"/>
                <a:cs typeface="Times New Roman"/>
              </a:rPr>
              <a:t>not </a:t>
            </a:r>
            <a:r>
              <a:rPr sz="3200" dirty="0">
                <a:latin typeface="Times New Roman"/>
                <a:cs typeface="Times New Roman"/>
              </a:rPr>
              <a:t>advertise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network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through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interface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from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which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spc="-28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update</a:t>
            </a:r>
            <a:r>
              <a:rPr sz="3200" spc="-61" dirty="0">
                <a:latin typeface="Times New Roman"/>
                <a:cs typeface="Times New Roman"/>
              </a:rPr>
              <a:t> </a:t>
            </a:r>
            <a:r>
              <a:rPr sz="3200" spc="-22" dirty="0">
                <a:latin typeface="Times New Roman"/>
                <a:cs typeface="Times New Roman"/>
              </a:rPr>
              <a:t>came.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D96541-9A19-4FF6-B25B-74E620DBE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552" y="273626"/>
            <a:ext cx="6695290" cy="1261800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Split</a:t>
            </a:r>
            <a:r>
              <a:rPr lang="en-US" sz="4400" spc="-55" dirty="0">
                <a:solidFill>
                  <a:schemeClr val="bg1"/>
                </a:solidFill>
              </a:rPr>
              <a:t> </a:t>
            </a:r>
            <a:r>
              <a:rPr lang="en-US" sz="4400" spc="-11" dirty="0">
                <a:solidFill>
                  <a:schemeClr val="bg1"/>
                </a:solidFill>
              </a:rPr>
              <a:t>horizon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6095" y="563094"/>
            <a:ext cx="10000200" cy="929010"/>
          </a:xfrm>
          <a:prstGeom prst="rect">
            <a:avLst/>
          </a:prstGeom>
        </p:spPr>
        <p:txBody>
          <a:bodyPr vert="horz" wrap="square" lIns="0" tIns="248068" rIns="0" bIns="0" rtlCol="0" anchor="ctr">
            <a:spAutoFit/>
          </a:bodyPr>
          <a:lstStyle/>
          <a:p>
            <a:pPr marL="2201376">
              <a:lnSpc>
                <a:spcPct val="100000"/>
              </a:lnSpc>
              <a:spcBef>
                <a:spcPts val="105"/>
              </a:spcBef>
            </a:pPr>
            <a:r>
              <a:rPr lang="en-US" sz="4409" dirty="0">
                <a:solidFill>
                  <a:schemeClr val="bg1"/>
                </a:solidFill>
              </a:rPr>
              <a:t>Route Poisoning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404" y="1811142"/>
            <a:ext cx="9557816" cy="3642180"/>
          </a:xfrm>
          <a:prstGeom prst="rect">
            <a:avLst/>
          </a:prstGeom>
        </p:spPr>
        <p:txBody>
          <a:bodyPr vert="horz" wrap="square" lIns="0" tIns="104296" rIns="0" bIns="0" rtlCol="0">
            <a:spAutoFit/>
          </a:bodyPr>
          <a:lstStyle/>
          <a:p>
            <a:pPr marL="470499" marR="5600" indent="-457200">
              <a:spcBef>
                <a:spcPts val="678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Route</a:t>
            </a:r>
            <a:r>
              <a:rPr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poisoning</a:t>
            </a:r>
            <a:r>
              <a:rPr sz="3200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marking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route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unreachable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imes New Roman"/>
                <a:cs typeface="Times New Roman"/>
              </a:rPr>
              <a:t>a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update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sent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other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routers.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Unreachable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28" dirty="0">
                <a:latin typeface="Times New Roman"/>
                <a:cs typeface="Times New Roman"/>
              </a:rPr>
              <a:t>is </a:t>
            </a:r>
            <a:r>
              <a:rPr sz="3200" dirty="0">
                <a:latin typeface="Times New Roman"/>
                <a:cs typeface="Times New Roman"/>
              </a:rPr>
              <a:t>interpreted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metric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set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maximum.</a:t>
            </a:r>
            <a:endParaRPr sz="3200" dirty="0">
              <a:latin typeface="Times New Roman"/>
              <a:cs typeface="Times New Roman"/>
            </a:endParaRPr>
          </a:p>
          <a:p>
            <a:pPr marL="470499" marR="42698" indent="-457200">
              <a:spcBef>
                <a:spcPts val="661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dirty="0">
                <a:latin typeface="Times New Roman"/>
                <a:cs typeface="Times New Roman"/>
              </a:rPr>
              <a:t>Route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poisoning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speeds</a:t>
            </a:r>
            <a:r>
              <a:rPr sz="3200" b="1" spc="-1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200" b="1" spc="-3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convergence</a:t>
            </a:r>
            <a:r>
              <a:rPr sz="3200" b="1" spc="-7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r>
              <a:rPr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because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information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about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downed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network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spreads </a:t>
            </a:r>
            <a:r>
              <a:rPr sz="3200" spc="-22" dirty="0">
                <a:latin typeface="Times New Roman"/>
                <a:cs typeface="Times New Roman"/>
              </a:rPr>
              <a:t>more 	</a:t>
            </a:r>
            <a:r>
              <a:rPr sz="3200" dirty="0">
                <a:latin typeface="Times New Roman"/>
                <a:cs typeface="Times New Roman"/>
              </a:rPr>
              <a:t>quickly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than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waiting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hop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count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reach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“</a:t>
            </a: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infinity</a:t>
            </a:r>
            <a:r>
              <a:rPr sz="3200" spc="-11" dirty="0">
                <a:latin typeface="Times New Roman"/>
                <a:cs typeface="Times New Roman"/>
              </a:rPr>
              <a:t>.”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6095" y="647342"/>
            <a:ext cx="10000200" cy="760513"/>
          </a:xfrm>
          <a:prstGeom prst="rect">
            <a:avLst/>
          </a:prstGeom>
        </p:spPr>
        <p:txBody>
          <a:bodyPr vert="horz" wrap="square" lIns="0" tIns="149654" rIns="0" bIns="0" rtlCol="0" anchor="ctr">
            <a:spAutoFit/>
          </a:bodyPr>
          <a:lstStyle/>
          <a:p>
            <a:pPr marL="13999">
              <a:spcBef>
                <a:spcPts val="772"/>
              </a:spcBef>
              <a:buClr>
                <a:srgbClr val="D24717"/>
              </a:buClr>
              <a:buSzPct val="83928"/>
              <a:tabLst>
                <a:tab pos="314982" algn="l"/>
              </a:tabLst>
            </a:pPr>
            <a:r>
              <a:rPr lang="en-US" sz="4400" dirty="0">
                <a:solidFill>
                  <a:schemeClr val="bg1"/>
                </a:solidFill>
              </a:rPr>
              <a:t>Split</a:t>
            </a:r>
            <a:r>
              <a:rPr lang="en-US" sz="4400" spc="-83" dirty="0">
                <a:solidFill>
                  <a:schemeClr val="bg1"/>
                </a:solidFill>
              </a:rPr>
              <a:t> </a:t>
            </a:r>
            <a:r>
              <a:rPr lang="en-US" sz="4400" dirty="0">
                <a:solidFill>
                  <a:schemeClr val="bg1"/>
                </a:solidFill>
              </a:rPr>
              <a:t>Horizon</a:t>
            </a:r>
            <a:r>
              <a:rPr lang="en-US" sz="4400" spc="-44" dirty="0">
                <a:solidFill>
                  <a:schemeClr val="bg1"/>
                </a:solidFill>
              </a:rPr>
              <a:t> w</a:t>
            </a:r>
            <a:r>
              <a:rPr lang="en-US" sz="4400" dirty="0">
                <a:solidFill>
                  <a:schemeClr val="bg1"/>
                </a:solidFill>
              </a:rPr>
              <a:t>ith</a:t>
            </a:r>
            <a:r>
              <a:rPr lang="en-US" sz="4400" spc="-28" dirty="0">
                <a:solidFill>
                  <a:schemeClr val="bg1"/>
                </a:solidFill>
              </a:rPr>
              <a:t> </a:t>
            </a:r>
            <a:r>
              <a:rPr lang="en-US" sz="4400" dirty="0">
                <a:solidFill>
                  <a:schemeClr val="bg1"/>
                </a:solidFill>
              </a:rPr>
              <a:t>Poison</a:t>
            </a:r>
            <a:r>
              <a:rPr lang="en-US" sz="4400" spc="-77" dirty="0">
                <a:solidFill>
                  <a:schemeClr val="bg1"/>
                </a:solidFill>
              </a:rPr>
              <a:t> </a:t>
            </a:r>
            <a:r>
              <a:rPr lang="en-US" sz="4400" spc="-11" dirty="0">
                <a:solidFill>
                  <a:schemeClr val="bg1"/>
                </a:solidFill>
              </a:rPr>
              <a:t>Reverse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546" y="1830865"/>
            <a:ext cx="9736429" cy="3987710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0499" marR="5600" indent="-457200">
              <a:spcBef>
                <a:spcPts val="667"/>
              </a:spcBef>
              <a:buClr>
                <a:srgbClr val="D24717"/>
              </a:buClr>
              <a:buSzPct val="83928"/>
              <a:buFont typeface="Wingdings" panose="05000000000000000000" pitchFamily="2" charset="2"/>
              <a:buChar char="Ø"/>
              <a:tabLst>
                <a:tab pos="316382" algn="l"/>
              </a:tabLst>
            </a:pP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rule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for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split</a:t>
            </a:r>
            <a:r>
              <a:rPr sz="3086" spc="-7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horizon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with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poison</a:t>
            </a:r>
            <a:r>
              <a:rPr sz="3086" spc="-7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reverse</a:t>
            </a:r>
            <a:r>
              <a:rPr sz="3086" spc="-55" dirty="0">
                <a:latin typeface="Times New Roman"/>
                <a:cs typeface="Times New Roman"/>
              </a:rPr>
              <a:t> </a:t>
            </a:r>
            <a:r>
              <a:rPr sz="3086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states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that</a:t>
            </a:r>
            <a:r>
              <a:rPr sz="3086" b="1" spc="-66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when</a:t>
            </a:r>
            <a:r>
              <a:rPr sz="3086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sending</a:t>
            </a:r>
            <a:r>
              <a:rPr sz="3086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updates</a:t>
            </a:r>
            <a:r>
              <a:rPr sz="3086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out</a:t>
            </a:r>
            <a:r>
              <a:rPr sz="3086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086" b="1" spc="-3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specific</a:t>
            </a:r>
            <a:r>
              <a:rPr sz="3086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interface,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designate</a:t>
            </a:r>
            <a:r>
              <a:rPr sz="3086" b="1" spc="-8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any</a:t>
            </a:r>
            <a:r>
              <a:rPr sz="3086" b="1" spc="-3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networks</a:t>
            </a:r>
            <a:r>
              <a:rPr sz="3086" b="1" spc="-3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that</a:t>
            </a:r>
            <a:r>
              <a:rPr sz="3086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were</a:t>
            </a:r>
            <a:r>
              <a:rPr sz="3086" b="1" spc="-1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learned</a:t>
            </a:r>
            <a:r>
              <a:rPr sz="3086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sz="3086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 that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interface</a:t>
            </a:r>
            <a:r>
              <a:rPr sz="3086" b="1" spc="-6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as</a:t>
            </a:r>
            <a:r>
              <a:rPr sz="3086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86" b="1" dirty="0">
                <a:solidFill>
                  <a:srgbClr val="FF0000"/>
                </a:solidFill>
                <a:latin typeface="Times New Roman"/>
                <a:cs typeface="Times New Roman"/>
              </a:rPr>
              <a:t>unreachable</a:t>
            </a:r>
            <a:r>
              <a:rPr sz="3086" dirty="0">
                <a:latin typeface="Times New Roman"/>
                <a:cs typeface="Times New Roman"/>
              </a:rPr>
              <a:t>.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endParaRPr lang="en-US" sz="3086" spc="-39" dirty="0">
              <a:latin typeface="Times New Roman"/>
              <a:cs typeface="Times New Roman"/>
            </a:endParaRPr>
          </a:p>
          <a:p>
            <a:pPr marL="470499" marR="5600" indent="-457200">
              <a:spcBef>
                <a:spcPts val="667"/>
              </a:spcBef>
              <a:buClr>
                <a:srgbClr val="D24717"/>
              </a:buClr>
              <a:buSzPct val="83928"/>
              <a:buFont typeface="Wingdings" panose="05000000000000000000" pitchFamily="2" charset="2"/>
              <a:buChar char="Ø"/>
              <a:tabLst>
                <a:tab pos="316382" algn="l"/>
              </a:tabLst>
            </a:pPr>
            <a:r>
              <a:rPr sz="3086" dirty="0">
                <a:latin typeface="Times New Roman"/>
                <a:cs typeface="Times New Roman"/>
              </a:rPr>
              <a:t>In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other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words,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spc="-22" dirty="0">
                <a:latin typeface="Times New Roman"/>
                <a:cs typeface="Times New Roman"/>
              </a:rPr>
              <a:t>when </a:t>
            </a:r>
            <a:r>
              <a:rPr sz="3086" dirty="0">
                <a:latin typeface="Times New Roman"/>
                <a:cs typeface="Times New Roman"/>
              </a:rPr>
              <a:t>receiving</a:t>
            </a:r>
            <a:r>
              <a:rPr sz="3086" spc="-8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</a:t>
            </a:r>
            <a:r>
              <a:rPr sz="3086" spc="-72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route</a:t>
            </a:r>
            <a:r>
              <a:rPr sz="3086" spc="-66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poisoning</a:t>
            </a:r>
            <a:r>
              <a:rPr sz="3086" spc="-9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from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</a:t>
            </a:r>
            <a:r>
              <a:rPr sz="3086" spc="-66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neighbor,</a:t>
            </a:r>
            <a:r>
              <a:rPr sz="3086" spc="-77" dirty="0">
                <a:latin typeface="Times New Roman"/>
                <a:cs typeface="Times New Roman"/>
              </a:rPr>
              <a:t> </a:t>
            </a:r>
            <a:r>
              <a:rPr sz="3086" spc="-28" dirty="0">
                <a:latin typeface="Times New Roman"/>
                <a:cs typeface="Times New Roman"/>
              </a:rPr>
              <a:t>the </a:t>
            </a:r>
            <a:r>
              <a:rPr sz="3086" dirty="0">
                <a:latin typeface="Times New Roman"/>
                <a:cs typeface="Times New Roman"/>
              </a:rPr>
              <a:t>router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immediately</a:t>
            </a:r>
            <a:r>
              <a:rPr sz="3086" spc="-6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sends</a:t>
            </a:r>
            <a:r>
              <a:rPr sz="3086" spc="-28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back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</a:t>
            </a:r>
            <a:r>
              <a:rPr sz="3086" spc="-1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poison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reverse.</a:t>
            </a:r>
            <a:r>
              <a:rPr sz="3086" spc="-72" dirty="0">
                <a:latin typeface="Times New Roman"/>
                <a:cs typeface="Times New Roman"/>
              </a:rPr>
              <a:t> </a:t>
            </a:r>
            <a:r>
              <a:rPr sz="3086" spc="-22" dirty="0">
                <a:latin typeface="Times New Roman"/>
                <a:cs typeface="Times New Roman"/>
              </a:rPr>
              <a:t>This </a:t>
            </a:r>
            <a:r>
              <a:rPr sz="3086" dirty="0">
                <a:latin typeface="Times New Roman"/>
                <a:cs typeface="Times New Roman"/>
              </a:rPr>
              <a:t>prevents</a:t>
            </a:r>
            <a:r>
              <a:rPr sz="3086" spc="-66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originating</a:t>
            </a:r>
            <a:r>
              <a:rPr sz="3086" spc="-7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router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from</a:t>
            </a:r>
            <a:r>
              <a:rPr sz="3086" spc="-61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being </a:t>
            </a:r>
            <a:r>
              <a:rPr sz="3086" dirty="0">
                <a:latin typeface="Times New Roman"/>
                <a:cs typeface="Times New Roman"/>
              </a:rPr>
              <a:t>susceptible</a:t>
            </a:r>
            <a:r>
              <a:rPr sz="3086" spc="-77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to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incorrect</a:t>
            </a:r>
            <a:r>
              <a:rPr sz="3086" spc="-33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updates</a:t>
            </a:r>
            <a:r>
              <a:rPr sz="3086" spc="-39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about</a:t>
            </a:r>
            <a:r>
              <a:rPr sz="3086" spc="-44" dirty="0">
                <a:latin typeface="Times New Roman"/>
                <a:cs typeface="Times New Roman"/>
              </a:rPr>
              <a:t> </a:t>
            </a:r>
            <a:r>
              <a:rPr sz="3086" dirty="0">
                <a:latin typeface="Times New Roman"/>
                <a:cs typeface="Times New Roman"/>
              </a:rPr>
              <a:t>the</a:t>
            </a:r>
            <a:r>
              <a:rPr sz="3086" spc="-50" dirty="0">
                <a:latin typeface="Times New Roman"/>
                <a:cs typeface="Times New Roman"/>
              </a:rPr>
              <a:t> </a:t>
            </a:r>
            <a:r>
              <a:rPr sz="3086" spc="-11" dirty="0">
                <a:latin typeface="Times New Roman"/>
                <a:cs typeface="Times New Roman"/>
              </a:rPr>
              <a:t>downed network.</a:t>
            </a:r>
            <a:endParaRPr sz="3086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4719" y="497095"/>
            <a:ext cx="5393265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just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spc="-11" dirty="0">
                <a:solidFill>
                  <a:schemeClr val="bg1"/>
                </a:solidFill>
              </a:rPr>
              <a:t>Triggered</a:t>
            </a:r>
            <a:r>
              <a:rPr lang="en-US" sz="4400" spc="-88" dirty="0">
                <a:solidFill>
                  <a:schemeClr val="bg1"/>
                </a:solidFill>
              </a:rPr>
              <a:t> </a:t>
            </a:r>
            <a:r>
              <a:rPr lang="en-US" sz="4400" spc="-11" dirty="0">
                <a:solidFill>
                  <a:schemeClr val="bg1"/>
                </a:solidFill>
              </a:rPr>
              <a:t>Updates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063" y="1733630"/>
            <a:ext cx="9672033" cy="5369627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0499" marR="630664" indent="-457200" algn="just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spc="-39" dirty="0">
                <a:latin typeface="Times New Roman"/>
                <a:cs typeface="Times New Roman"/>
              </a:rPr>
              <a:t>To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speed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convergence</a:t>
            </a:r>
            <a:r>
              <a:rPr sz="3200" spc="-8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when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there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topology </a:t>
            </a:r>
            <a:r>
              <a:rPr sz="3200" dirty="0">
                <a:latin typeface="Times New Roman"/>
                <a:cs typeface="Times New Roman"/>
              </a:rPr>
              <a:t>change,</a:t>
            </a:r>
            <a:r>
              <a:rPr sz="3200" spc="-7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RIP</a:t>
            </a:r>
            <a:r>
              <a:rPr sz="3200" spc="-12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uses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triggered</a:t>
            </a:r>
            <a:r>
              <a:rPr sz="3200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updates</a:t>
            </a:r>
            <a:r>
              <a:rPr sz="3200" spc="-11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470499" marR="5600" indent="-457200" algn="just">
              <a:spcBef>
                <a:spcPts val="661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82" dirty="0"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tr</a:t>
            </a:r>
            <a:r>
              <a:rPr sz="3200" b="1" spc="-17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g</a:t>
            </a:r>
            <a:r>
              <a:rPr sz="3200" b="1" spc="11" dirty="0">
                <a:solidFill>
                  <a:srgbClr val="FF0000"/>
                </a:solidFill>
                <a:latin typeface="Times New Roman"/>
                <a:cs typeface="Times New Roman"/>
              </a:rPr>
              <a:t>g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er</a:t>
            </a:r>
            <a:r>
              <a:rPr sz="3200" b="1" spc="-17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3200" b="1" spc="11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date</a:t>
            </a:r>
            <a:r>
              <a:rPr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is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 </a:t>
            </a:r>
            <a:r>
              <a:rPr sz="3200" spc="-6" dirty="0">
                <a:latin typeface="Times New Roman"/>
                <a:cs typeface="Times New Roman"/>
              </a:rPr>
              <a:t>routing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</a:t>
            </a:r>
            <a:r>
              <a:rPr sz="3200" spc="-11" dirty="0">
                <a:latin typeface="Times New Roman"/>
                <a:cs typeface="Times New Roman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ble up</a:t>
            </a:r>
            <a:r>
              <a:rPr sz="3200" spc="11" dirty="0">
                <a:latin typeface="Times New Roman"/>
                <a:cs typeface="Times New Roman"/>
              </a:rPr>
              <a:t>d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1" dirty="0">
                <a:latin typeface="Times New Roman"/>
                <a:cs typeface="Times New Roman"/>
              </a:rPr>
              <a:t>t</a:t>
            </a:r>
            <a:r>
              <a:rPr sz="3200" dirty="0">
                <a:latin typeface="Times New Roman"/>
                <a:cs typeface="Times New Roman"/>
              </a:rPr>
              <a:t>e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11" dirty="0">
                <a:latin typeface="Times New Roman"/>
                <a:cs typeface="Times New Roman"/>
              </a:rPr>
              <a:t> is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</a:t>
            </a:r>
            <a:r>
              <a:rPr sz="3200" spc="-17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nt i</a:t>
            </a:r>
            <a:r>
              <a:rPr sz="3200" spc="-22" dirty="0">
                <a:latin typeface="Times New Roman"/>
                <a:cs typeface="Times New Roman"/>
              </a:rPr>
              <a:t>m</a:t>
            </a:r>
            <a:r>
              <a:rPr sz="3200" spc="-17" dirty="0">
                <a:latin typeface="Times New Roman"/>
                <a:cs typeface="Times New Roman"/>
              </a:rPr>
              <a:t>m</a:t>
            </a:r>
            <a:r>
              <a:rPr sz="3200" dirty="0">
                <a:latin typeface="Times New Roman"/>
                <a:cs typeface="Times New Roman"/>
              </a:rPr>
              <a:t>edi</a:t>
            </a:r>
            <a:r>
              <a:rPr sz="3200" spc="-17" dirty="0">
                <a:latin typeface="Times New Roman"/>
                <a:cs typeface="Times New Roman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t</a:t>
            </a:r>
            <a:r>
              <a:rPr sz="3200" spc="-17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ly</a:t>
            </a:r>
            <a:r>
              <a:rPr sz="3200" spc="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</a:t>
            </a:r>
            <a:r>
              <a:rPr sz="3200" spc="-17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spo</a:t>
            </a:r>
            <a:r>
              <a:rPr sz="3200" spc="6" dirty="0">
                <a:latin typeface="Times New Roman"/>
                <a:cs typeface="Times New Roman"/>
              </a:rPr>
              <a:t>n</a:t>
            </a:r>
            <a:r>
              <a:rPr sz="3200" dirty="0">
                <a:latin typeface="Times New Roman"/>
                <a:cs typeface="Times New Roman"/>
              </a:rPr>
              <a:t>se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 a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change.</a:t>
            </a:r>
            <a:r>
              <a:rPr sz="3200" spc="-88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imes New Roman"/>
                <a:cs typeface="Times New Roman"/>
              </a:rPr>
              <a:t>T</a:t>
            </a:r>
            <a:r>
              <a:rPr sz="3200" dirty="0">
                <a:latin typeface="Times New Roman"/>
                <a:cs typeface="Times New Roman"/>
              </a:rPr>
              <a:t>r</a:t>
            </a:r>
            <a:r>
              <a:rPr sz="3200" spc="-11" dirty="0">
                <a:latin typeface="Times New Roman"/>
                <a:cs typeface="Times New Roman"/>
              </a:rPr>
              <a:t>i</a:t>
            </a:r>
            <a:r>
              <a:rPr sz="3200" dirty="0">
                <a:latin typeface="Times New Roman"/>
                <a:cs typeface="Times New Roman"/>
              </a:rPr>
              <a:t>g</a:t>
            </a:r>
            <a:r>
              <a:rPr sz="3200" spc="6" dirty="0">
                <a:latin typeface="Times New Roman"/>
                <a:cs typeface="Times New Roman"/>
              </a:rPr>
              <a:t>g</a:t>
            </a:r>
            <a:r>
              <a:rPr sz="3200" dirty="0">
                <a:latin typeface="Times New Roman"/>
                <a:cs typeface="Times New Roman"/>
              </a:rPr>
              <a:t>e</a:t>
            </a:r>
            <a:r>
              <a:rPr sz="3200" spc="-17" dirty="0">
                <a:latin typeface="Times New Roman"/>
                <a:cs typeface="Times New Roman"/>
              </a:rPr>
              <a:t>r</a:t>
            </a:r>
            <a:r>
              <a:rPr sz="3200" dirty="0">
                <a:latin typeface="Times New Roman"/>
                <a:cs typeface="Times New Roman"/>
              </a:rPr>
              <a:t>ed u</a:t>
            </a:r>
            <a:r>
              <a:rPr sz="3200" spc="11" dirty="0">
                <a:latin typeface="Times New Roman"/>
                <a:cs typeface="Times New Roman"/>
              </a:rPr>
              <a:t>p</a:t>
            </a:r>
            <a:r>
              <a:rPr sz="3200" dirty="0">
                <a:latin typeface="Times New Roman"/>
                <a:cs typeface="Times New Roman"/>
              </a:rPr>
              <a:t>dates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do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not </a:t>
            </a:r>
            <a:r>
              <a:rPr sz="3200" spc="-11" dirty="0">
                <a:latin typeface="Times New Roman"/>
                <a:cs typeface="Times New Roman"/>
              </a:rPr>
              <a:t>wait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7" dirty="0">
                <a:latin typeface="Times New Roman"/>
                <a:cs typeface="Times New Roman"/>
              </a:rPr>
              <a:t>f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3200" b="1" spc="11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date</a:t>
            </a:r>
            <a:r>
              <a:rPr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11" dirty="0">
                <a:solidFill>
                  <a:srgbClr val="FF0000"/>
                </a:solidFill>
                <a:latin typeface="Times New Roman"/>
                <a:cs typeface="Times New Roman"/>
              </a:rPr>
              <a:t>timers</a:t>
            </a:r>
            <a:r>
              <a:rPr sz="3200" b="1" spc="6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to expire</a:t>
            </a:r>
            <a:r>
              <a:rPr sz="3200" dirty="0">
                <a:latin typeface="Times New Roman"/>
                <a:cs typeface="Times New Roman"/>
              </a:rPr>
              <a:t>.</a:t>
            </a:r>
          </a:p>
          <a:p>
            <a:pPr marL="471199" indent="-457200" algn="just">
              <a:spcBef>
                <a:spcPts val="661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4982" algn="l"/>
              </a:tabLst>
            </a:pPr>
            <a:r>
              <a:rPr sz="3200" dirty="0">
                <a:latin typeface="Times New Roman"/>
                <a:cs typeface="Times New Roman"/>
              </a:rPr>
              <a:t>Triggered</a:t>
            </a:r>
            <a:r>
              <a:rPr sz="3200" spc="-6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updates</a:t>
            </a:r>
            <a:r>
              <a:rPr sz="3200" spc="-7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sent</a:t>
            </a:r>
            <a:r>
              <a:rPr sz="3200" spc="-22" dirty="0">
                <a:latin typeface="Times New Roman"/>
                <a:cs typeface="Times New Roman"/>
              </a:rPr>
              <a:t> when</a:t>
            </a:r>
            <a:endParaRPr sz="3200" dirty="0">
              <a:latin typeface="Times New Roman"/>
              <a:cs typeface="Times New Roman"/>
            </a:endParaRPr>
          </a:p>
          <a:p>
            <a:pPr marL="1075265" lvl="2" indent="-251286">
              <a:spcBef>
                <a:spcPts val="451"/>
              </a:spcBef>
              <a:buClr>
                <a:srgbClr val="9B2C1F"/>
              </a:buClr>
              <a:buSzPct val="85416"/>
              <a:buFont typeface="Wingdings"/>
              <a:buChar char=""/>
              <a:tabLst>
                <a:tab pos="618065" algn="l"/>
              </a:tabLst>
            </a:pPr>
            <a:r>
              <a:rPr sz="3200" dirty="0">
                <a:latin typeface="Times New Roman"/>
                <a:cs typeface="Times New Roman"/>
              </a:rPr>
              <a:t>An</a:t>
            </a:r>
            <a:r>
              <a:rPr sz="3200" spc="-17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interface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changes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state</a:t>
            </a:r>
            <a:r>
              <a:rPr sz="3200" spc="-3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(up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11" dirty="0">
                <a:latin typeface="Times New Roman"/>
                <a:cs typeface="Times New Roman"/>
              </a:rPr>
              <a:t> down)</a:t>
            </a:r>
            <a:endParaRPr sz="3200" dirty="0">
              <a:latin typeface="Times New Roman"/>
              <a:cs typeface="Times New Roman"/>
            </a:endParaRPr>
          </a:p>
          <a:p>
            <a:pPr marL="1075265" lvl="2" indent="-251286">
              <a:spcBef>
                <a:spcPts val="446"/>
              </a:spcBef>
              <a:buClr>
                <a:srgbClr val="9B2C1F"/>
              </a:buClr>
              <a:buSzPct val="85416"/>
              <a:buFont typeface="Wingdings"/>
              <a:buChar char=""/>
              <a:tabLst>
                <a:tab pos="618065" algn="l"/>
              </a:tabLst>
            </a:pPr>
            <a:r>
              <a:rPr sz="3200" spc="-22" dirty="0">
                <a:latin typeface="Times New Roman"/>
                <a:cs typeface="Times New Roman"/>
              </a:rPr>
              <a:t>A</a:t>
            </a:r>
            <a:r>
              <a:rPr sz="3200" spc="-15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route</a:t>
            </a:r>
            <a:r>
              <a:rPr sz="3200" spc="-3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has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entered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(or exited)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“unreachable”</a:t>
            </a:r>
            <a:r>
              <a:rPr sz="3200" spc="-72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state</a:t>
            </a:r>
            <a:endParaRPr sz="3200" dirty="0">
              <a:latin typeface="Times New Roman"/>
              <a:cs typeface="Times New Roman"/>
            </a:endParaRPr>
          </a:p>
          <a:p>
            <a:pPr marL="1075265" lvl="2" indent="-251286">
              <a:spcBef>
                <a:spcPts val="435"/>
              </a:spcBef>
              <a:buClr>
                <a:srgbClr val="9B2C1F"/>
              </a:buClr>
              <a:buSzPct val="85416"/>
              <a:buFont typeface="Wingdings"/>
              <a:buChar char=""/>
              <a:tabLst>
                <a:tab pos="618065" algn="l"/>
              </a:tabLst>
            </a:pPr>
            <a:r>
              <a:rPr sz="3200" spc="-22" dirty="0">
                <a:latin typeface="Times New Roman"/>
                <a:cs typeface="Times New Roman"/>
              </a:rPr>
              <a:t>A</a:t>
            </a:r>
            <a:r>
              <a:rPr sz="3200" spc="-15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route</a:t>
            </a:r>
            <a:r>
              <a:rPr sz="3200" spc="-28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installed</a:t>
            </a:r>
            <a:r>
              <a:rPr sz="3200" spc="-4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22" dirty="0">
                <a:latin typeface="Times New Roman"/>
                <a:cs typeface="Times New Roman"/>
              </a:rPr>
              <a:t> </a:t>
            </a:r>
            <a:r>
              <a:rPr sz="3200" spc="-11" dirty="0">
                <a:latin typeface="Times New Roman"/>
                <a:cs typeface="Times New Roman"/>
              </a:rPr>
              <a:t>table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48DD6CE-4E2A-4E38-87E5-C9D4D7C5F26F}"/>
              </a:ext>
            </a:extLst>
          </p:cNvPr>
          <p:cNvSpPr/>
          <p:nvPr/>
        </p:nvSpPr>
        <p:spPr>
          <a:xfrm>
            <a:off x="2405040" y="2220301"/>
            <a:ext cx="5038725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RIP:</a:t>
            </a:r>
          </a:p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  Information  Protocol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AF7DBCF-E7B7-4CD5-9C06-A46158D02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0080625" cy="755967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10E1A45-0A06-48DE-B680-427CA0C31E1C}"/>
              </a:ext>
            </a:extLst>
          </p:cNvPr>
          <p:cNvSpPr/>
          <p:nvPr/>
        </p:nvSpPr>
        <p:spPr>
          <a:xfrm>
            <a:off x="592428" y="1568912"/>
            <a:ext cx="4331974" cy="1506828"/>
          </a:xfrm>
          <a:prstGeom prst="rect">
            <a:avLst/>
          </a:prstGeom>
          <a:solidFill>
            <a:srgbClr val="0020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4719" y="192396"/>
            <a:ext cx="5393265" cy="1232931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spc="150" dirty="0">
                <a:solidFill>
                  <a:schemeClr val="bg1"/>
                </a:solidFill>
              </a:rPr>
              <a:t>Routing</a:t>
            </a:r>
            <a:r>
              <a:rPr lang="en-US" sz="4400" spc="80" dirty="0">
                <a:solidFill>
                  <a:schemeClr val="bg1"/>
                </a:solidFill>
              </a:rPr>
              <a:t> </a:t>
            </a:r>
            <a:r>
              <a:rPr lang="en-US" sz="4400" spc="114" dirty="0">
                <a:solidFill>
                  <a:schemeClr val="bg1"/>
                </a:solidFill>
              </a:rPr>
              <a:t>Information</a:t>
            </a:r>
            <a:r>
              <a:rPr lang="en-US" sz="4400" spc="100" dirty="0">
                <a:solidFill>
                  <a:schemeClr val="bg1"/>
                </a:solidFill>
              </a:rPr>
              <a:t> </a:t>
            </a:r>
            <a:r>
              <a:rPr lang="en-US" sz="4400" spc="110" dirty="0">
                <a:solidFill>
                  <a:schemeClr val="bg1"/>
                </a:solidFill>
              </a:rPr>
              <a:t>Protocol</a:t>
            </a:r>
            <a:r>
              <a:rPr lang="en-US" sz="4400" spc="80" dirty="0">
                <a:solidFill>
                  <a:schemeClr val="bg1"/>
                </a:solidFill>
              </a:rPr>
              <a:t> </a:t>
            </a:r>
            <a:r>
              <a:rPr lang="en-US" sz="4400" spc="300" dirty="0">
                <a:solidFill>
                  <a:schemeClr val="bg1"/>
                </a:solidFill>
              </a:rPr>
              <a:t>(RIP)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063" y="1733630"/>
            <a:ext cx="9672033" cy="3322912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0499" marR="630664" indent="-457200" algn="just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RIP: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Routing Information Protocol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Based on distance vector routing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Designed for use on smaller networks. 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RIP was one of the first true Distance Vector routing protocols, and is supported on a  wide variety of systems.</a:t>
            </a:r>
          </a:p>
        </p:txBody>
      </p:sp>
    </p:spTree>
    <p:extLst>
      <p:ext uri="{BB962C8B-B14F-4D97-AF65-F5344CB8AC3E}">
        <p14:creationId xmlns:p14="http://schemas.microsoft.com/office/powerpoint/2010/main" val="14318999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4719" y="192397"/>
            <a:ext cx="5393265" cy="1232931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spc="150" dirty="0">
                <a:solidFill>
                  <a:schemeClr val="bg1"/>
                </a:solidFill>
              </a:rPr>
              <a:t>Routing</a:t>
            </a:r>
            <a:r>
              <a:rPr lang="en-US" sz="4400" spc="80" dirty="0">
                <a:solidFill>
                  <a:schemeClr val="bg1"/>
                </a:solidFill>
              </a:rPr>
              <a:t> </a:t>
            </a:r>
            <a:r>
              <a:rPr lang="en-US" sz="4400" spc="114" dirty="0">
                <a:solidFill>
                  <a:schemeClr val="bg1"/>
                </a:solidFill>
              </a:rPr>
              <a:t>Information</a:t>
            </a:r>
            <a:r>
              <a:rPr lang="en-US" sz="4400" spc="100" dirty="0">
                <a:solidFill>
                  <a:schemeClr val="bg1"/>
                </a:solidFill>
              </a:rPr>
              <a:t> </a:t>
            </a:r>
            <a:r>
              <a:rPr lang="en-US" sz="4400" spc="110" dirty="0">
                <a:solidFill>
                  <a:schemeClr val="bg1"/>
                </a:solidFill>
              </a:rPr>
              <a:t>Protocol</a:t>
            </a:r>
            <a:r>
              <a:rPr lang="en-US" sz="4400" spc="80" dirty="0">
                <a:solidFill>
                  <a:schemeClr val="bg1"/>
                </a:solidFill>
              </a:rPr>
              <a:t> </a:t>
            </a:r>
            <a:r>
              <a:rPr lang="en-US" sz="4400" spc="300" dirty="0">
                <a:solidFill>
                  <a:schemeClr val="bg1"/>
                </a:solidFill>
              </a:rPr>
              <a:t>(RIP)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030" y="1527566"/>
            <a:ext cx="10187189" cy="4890008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0499" marR="630664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RIP adheres to the following Distance Vector characteristics: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Sends out periodic routing updates (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every 30 seconds</a:t>
            </a:r>
            <a:r>
              <a:rPr lang="en-US" sz="3200" spc="-39" dirty="0">
                <a:latin typeface="Times New Roman"/>
                <a:cs typeface="Times New Roman"/>
              </a:rPr>
              <a:t>)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Sends out the full routing table every periodic update.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Uses a form of distance as its metric (in this case, hop count)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Uses the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Bellman-Ford </a:t>
            </a:r>
            <a:r>
              <a:rPr lang="en-US" sz="3200" spc="-39" dirty="0">
                <a:latin typeface="Times New Roman"/>
                <a:cs typeface="Times New Roman"/>
              </a:rPr>
              <a:t>Distance Vector algorithm to determine the best “path” to a particular destination</a:t>
            </a:r>
          </a:p>
        </p:txBody>
      </p:sp>
    </p:spTree>
    <p:extLst>
      <p:ext uri="{BB962C8B-B14F-4D97-AF65-F5344CB8AC3E}">
        <p14:creationId xmlns:p14="http://schemas.microsoft.com/office/powerpoint/2010/main" val="9954305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4719" y="192397"/>
            <a:ext cx="5393265" cy="1232931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spc="150" dirty="0">
                <a:solidFill>
                  <a:schemeClr val="bg1"/>
                </a:solidFill>
              </a:rPr>
              <a:t>Routing</a:t>
            </a:r>
            <a:r>
              <a:rPr lang="en-US" sz="4400" spc="80" dirty="0">
                <a:solidFill>
                  <a:schemeClr val="bg1"/>
                </a:solidFill>
              </a:rPr>
              <a:t> </a:t>
            </a:r>
            <a:r>
              <a:rPr lang="en-US" sz="4400" spc="114" dirty="0">
                <a:solidFill>
                  <a:schemeClr val="bg1"/>
                </a:solidFill>
              </a:rPr>
              <a:t>Information</a:t>
            </a:r>
            <a:r>
              <a:rPr lang="en-US" sz="4400" spc="100" dirty="0">
                <a:solidFill>
                  <a:schemeClr val="bg1"/>
                </a:solidFill>
              </a:rPr>
              <a:t> </a:t>
            </a:r>
            <a:r>
              <a:rPr lang="en-US" sz="4400" spc="110" dirty="0">
                <a:solidFill>
                  <a:schemeClr val="bg1"/>
                </a:solidFill>
              </a:rPr>
              <a:t>Protocol</a:t>
            </a:r>
            <a:r>
              <a:rPr lang="en-US" sz="4400" spc="80" dirty="0">
                <a:solidFill>
                  <a:schemeClr val="bg1"/>
                </a:solidFill>
              </a:rPr>
              <a:t> </a:t>
            </a:r>
            <a:r>
              <a:rPr lang="en-US" sz="4400" spc="300" dirty="0">
                <a:solidFill>
                  <a:schemeClr val="bg1"/>
                </a:solidFill>
              </a:rPr>
              <a:t>(RIP)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030" y="1527566"/>
            <a:ext cx="10187189" cy="5472219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0499" marR="630664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Other characteristics of RIP include: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RIP supports IP and IPX (Internetwork Packet Exchange) routing.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RIP utilizes UDP port 520.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RIP routes have an administrative distance of	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120</a:t>
            </a:r>
            <a:r>
              <a:rPr lang="en-US" sz="3200" spc="-39" dirty="0">
                <a:latin typeface="Times New Roman"/>
                <a:cs typeface="Times New Roman"/>
              </a:rPr>
              <a:t>.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RIP has a maximum hop count of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15 hops</a:t>
            </a:r>
            <a:r>
              <a:rPr lang="en-US" sz="3200" spc="-39" dirty="0">
                <a:latin typeface="Times New Roman"/>
                <a:cs typeface="Times New Roman"/>
              </a:rPr>
              <a:t>.</a:t>
            </a:r>
          </a:p>
          <a:p>
            <a:pPr marL="470499" marR="630664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Any network that is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16 hops </a:t>
            </a:r>
            <a:r>
              <a:rPr lang="en-US" sz="3200" spc="-39" dirty="0">
                <a:latin typeface="Times New Roman"/>
                <a:cs typeface="Times New Roman"/>
              </a:rPr>
              <a:t>away or more is considered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unreachable to RIP</a:t>
            </a:r>
            <a:r>
              <a:rPr lang="en-US" sz="3200" spc="-39" dirty="0">
                <a:latin typeface="Times New Roman"/>
                <a:cs typeface="Times New Roman"/>
              </a:rPr>
              <a:t>, thus the maximum  diameter of the network is 15 hops. A metric of 16  hops in RIP is considered a poison route or infinity  metric.</a:t>
            </a:r>
          </a:p>
        </p:txBody>
      </p:sp>
    </p:spTree>
    <p:extLst>
      <p:ext uri="{BB962C8B-B14F-4D97-AF65-F5344CB8AC3E}">
        <p14:creationId xmlns:p14="http://schemas.microsoft.com/office/powerpoint/2010/main" val="5989848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4719" y="192397"/>
            <a:ext cx="5393265" cy="1232931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spc="150" dirty="0">
                <a:solidFill>
                  <a:schemeClr val="bg1"/>
                </a:solidFill>
              </a:rPr>
              <a:t>Routing</a:t>
            </a:r>
            <a:r>
              <a:rPr lang="en-US" sz="4400" spc="80" dirty="0">
                <a:solidFill>
                  <a:schemeClr val="bg1"/>
                </a:solidFill>
              </a:rPr>
              <a:t> </a:t>
            </a:r>
            <a:r>
              <a:rPr lang="en-US" sz="4400" spc="114" dirty="0">
                <a:solidFill>
                  <a:schemeClr val="bg1"/>
                </a:solidFill>
              </a:rPr>
              <a:t>Information</a:t>
            </a:r>
            <a:r>
              <a:rPr lang="en-US" sz="4400" spc="100" dirty="0">
                <a:solidFill>
                  <a:schemeClr val="bg1"/>
                </a:solidFill>
              </a:rPr>
              <a:t> </a:t>
            </a:r>
            <a:r>
              <a:rPr lang="en-US" sz="4400" spc="110" dirty="0">
                <a:solidFill>
                  <a:schemeClr val="bg1"/>
                </a:solidFill>
              </a:rPr>
              <a:t>Protocol</a:t>
            </a:r>
            <a:r>
              <a:rPr lang="en-US" sz="4400" spc="80" dirty="0">
                <a:solidFill>
                  <a:schemeClr val="bg1"/>
                </a:solidFill>
              </a:rPr>
              <a:t> </a:t>
            </a:r>
            <a:r>
              <a:rPr lang="en-US" sz="4400" spc="300" dirty="0">
                <a:solidFill>
                  <a:schemeClr val="bg1"/>
                </a:solidFill>
              </a:rPr>
              <a:t>(RIP)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030" y="1527566"/>
            <a:ext cx="10187189" cy="5069544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0499" marR="630664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Each router periodically shares its knowledge about the entire internet with its neighbors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v"/>
              <a:tabLst>
                <a:tab pos="315682" algn="l"/>
              </a:tabLst>
            </a:pP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Sharing knowledge about the entire AS</a:t>
            </a:r>
          </a:p>
          <a:p>
            <a:pPr marL="1384899" marR="630664" lvl="2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At the start, a router’s knowledge may be sparse</a:t>
            </a:r>
          </a:p>
          <a:p>
            <a:pPr marL="1384899" marR="630664" lvl="2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But, how much it knows is unimportant, it sends  whatever it has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v"/>
              <a:tabLst>
                <a:tab pos="315682" algn="l"/>
              </a:tabLst>
            </a:pP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Sharing only with neighbors</a:t>
            </a:r>
          </a:p>
          <a:p>
            <a:pPr marL="1384899" marR="630664" lvl="2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Sends its knowledge only to neighbors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v"/>
              <a:tabLst>
                <a:tab pos="315682" algn="l"/>
              </a:tabLst>
            </a:pP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Sharing at regular intervals</a:t>
            </a:r>
          </a:p>
        </p:txBody>
      </p:sp>
    </p:spTree>
    <p:extLst>
      <p:ext uri="{BB962C8B-B14F-4D97-AF65-F5344CB8AC3E}">
        <p14:creationId xmlns:p14="http://schemas.microsoft.com/office/powerpoint/2010/main" val="4077020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484217"/>
            <a:ext cx="7166402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dirty="0">
                <a:solidFill>
                  <a:schemeClr val="bg1"/>
                </a:solidFill>
              </a:rPr>
              <a:t>RIP</a:t>
            </a:r>
            <a:r>
              <a:rPr lang="en-US" sz="4400" spc="-40" dirty="0">
                <a:solidFill>
                  <a:schemeClr val="bg1"/>
                </a:solidFill>
              </a:rPr>
              <a:t> </a:t>
            </a:r>
            <a:r>
              <a:rPr lang="en-US" sz="4400" spc="-5" dirty="0">
                <a:solidFill>
                  <a:schemeClr val="bg1"/>
                </a:solidFill>
              </a:rPr>
              <a:t>Updating</a:t>
            </a:r>
            <a:r>
              <a:rPr lang="en-US" sz="4400" spc="-75" dirty="0">
                <a:solidFill>
                  <a:schemeClr val="bg1"/>
                </a:solidFill>
              </a:rPr>
              <a:t> </a:t>
            </a:r>
            <a:r>
              <a:rPr lang="en-US" sz="4400" spc="-5" dirty="0">
                <a:solidFill>
                  <a:schemeClr val="bg1"/>
                </a:solidFill>
              </a:rPr>
              <a:t>Information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030" y="1527566"/>
            <a:ext cx="10187189" cy="3815355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0499" marR="630664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Routing table is updated on receipt of a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RIP response message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Receipt: a response RIP message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Add one hop to the hop count for each advertised destination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Repeat the following steps for each advertised destination</a:t>
            </a:r>
          </a:p>
        </p:txBody>
      </p:sp>
    </p:spTree>
    <p:extLst>
      <p:ext uri="{BB962C8B-B14F-4D97-AF65-F5344CB8AC3E}">
        <p14:creationId xmlns:p14="http://schemas.microsoft.com/office/powerpoint/2010/main" val="39713515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8572" y="497096"/>
            <a:ext cx="7836104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dirty="0">
                <a:solidFill>
                  <a:schemeClr val="bg1"/>
                </a:solidFill>
              </a:rPr>
              <a:t>RIP</a:t>
            </a:r>
            <a:r>
              <a:rPr lang="en-US" sz="4400" spc="-40" dirty="0">
                <a:solidFill>
                  <a:schemeClr val="bg1"/>
                </a:solidFill>
              </a:rPr>
              <a:t> </a:t>
            </a:r>
            <a:r>
              <a:rPr lang="en-US" sz="4400" spc="-5" dirty="0">
                <a:solidFill>
                  <a:schemeClr val="bg1"/>
                </a:solidFill>
              </a:rPr>
              <a:t>Updating</a:t>
            </a:r>
            <a:r>
              <a:rPr lang="en-US" sz="4400" spc="-75" dirty="0">
                <a:solidFill>
                  <a:schemeClr val="bg1"/>
                </a:solidFill>
              </a:rPr>
              <a:t> </a:t>
            </a:r>
            <a:r>
              <a:rPr lang="en-US" sz="4400" spc="-5" dirty="0">
                <a:solidFill>
                  <a:schemeClr val="bg1"/>
                </a:solidFill>
              </a:rPr>
              <a:t>Information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030" y="1527566"/>
            <a:ext cx="10187189" cy="5741523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0499" marR="630664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If (destination not in the routing table)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Add the advertised information to the table</a:t>
            </a:r>
          </a:p>
          <a:p>
            <a:pPr marL="470499" marR="630664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Else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If (next-hop field is the same)</a:t>
            </a:r>
          </a:p>
          <a:p>
            <a:pPr marL="1384899" marR="630664" lvl="2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v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Replace retry in the table with the advertised one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Else</a:t>
            </a:r>
          </a:p>
          <a:p>
            <a:pPr marL="1384899" marR="630664" lvl="2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v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If (advertised hop count smaller than one in the table) </a:t>
            </a:r>
          </a:p>
          <a:p>
            <a:pPr marL="1842099" marR="630664" lvl="3" indent="-457200">
              <a:spcBef>
                <a:spcPts val="667"/>
              </a:spcBef>
              <a:buClr>
                <a:srgbClr val="D24717"/>
              </a:buClr>
              <a:buSzPct val="84615"/>
              <a:buFont typeface="Arial" panose="020B0604020202020204" pitchFamily="34" charset="0"/>
              <a:buChar char="•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Replace entry in the routing table</a:t>
            </a:r>
          </a:p>
          <a:p>
            <a:pPr marL="470499" marR="630664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11859607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8572" y="497096"/>
            <a:ext cx="7836104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dirty="0">
                <a:solidFill>
                  <a:schemeClr val="bg1"/>
                </a:solidFill>
              </a:rPr>
              <a:t>RIP</a:t>
            </a:r>
            <a:r>
              <a:rPr lang="en-US" sz="4400" spc="-40" dirty="0">
                <a:solidFill>
                  <a:schemeClr val="bg1"/>
                </a:solidFill>
              </a:rPr>
              <a:t> </a:t>
            </a:r>
            <a:r>
              <a:rPr lang="en-US" sz="4400" spc="-5" dirty="0">
                <a:solidFill>
                  <a:schemeClr val="bg1"/>
                </a:solidFill>
              </a:rPr>
              <a:t>Updating</a:t>
            </a:r>
            <a:r>
              <a:rPr lang="en-US" sz="4400" spc="-75" dirty="0">
                <a:solidFill>
                  <a:schemeClr val="bg1"/>
                </a:solidFill>
              </a:rPr>
              <a:t> </a:t>
            </a:r>
            <a:r>
              <a:rPr lang="en-US" sz="4400" spc="-5" dirty="0">
                <a:solidFill>
                  <a:schemeClr val="bg1"/>
                </a:solidFill>
              </a:rPr>
              <a:t>Information</a:t>
            </a:r>
            <a:endParaRPr lang="en-US" sz="4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374479-0963-4383-A0A4-A6011C795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56" y="1765393"/>
            <a:ext cx="9278511" cy="5297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5115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484217"/>
            <a:ext cx="7166402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dirty="0">
                <a:solidFill>
                  <a:schemeClr val="bg1"/>
                </a:solidFill>
              </a:rPr>
              <a:t>Initializing the Routing Table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5658" y="1707870"/>
            <a:ext cx="9749308" cy="5964661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0499" marR="630664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When a router is added to a network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It initializes a routing table for itself using its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configuration file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The table contains only the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directly attached(connected)</a:t>
            </a:r>
            <a:r>
              <a:rPr lang="en-US" sz="3200" spc="-39" dirty="0">
                <a:latin typeface="Times New Roman"/>
                <a:cs typeface="Times New Roman"/>
              </a:rPr>
              <a:t>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 networks </a:t>
            </a:r>
            <a:r>
              <a:rPr lang="en-US" sz="3200" spc="-39" dirty="0">
                <a:latin typeface="Times New Roman"/>
                <a:cs typeface="Times New Roman"/>
              </a:rPr>
              <a:t>and the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hop count</a:t>
            </a:r>
            <a:r>
              <a:rPr lang="en-US" sz="3200" spc="-39" dirty="0">
                <a:latin typeface="Times New Roman"/>
                <a:cs typeface="Times New Roman"/>
              </a:rPr>
              <a:t> (= 1)</a:t>
            </a:r>
          </a:p>
          <a:p>
            <a:pPr marL="470499" marR="630664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Each routing table is updated upon receipt of 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RIP message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Using the RIP updating message algorithm shown on previous slide.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endParaRPr lang="en-US" sz="3200" spc="-39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459566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179518"/>
            <a:ext cx="7166402" cy="1232931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dirty="0">
                <a:solidFill>
                  <a:schemeClr val="bg1"/>
                </a:solidFill>
              </a:rPr>
              <a:t>Initial Routing Tables in a Small  Autonomous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D6260E-C96A-4146-8F5E-6E30FFBE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69" y="1809076"/>
            <a:ext cx="9212686" cy="493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6985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179518"/>
            <a:ext cx="7166402" cy="1232931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dirty="0">
                <a:solidFill>
                  <a:schemeClr val="bg1"/>
                </a:solidFill>
              </a:rPr>
              <a:t>Final Routing Tables for the  Previous Figure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6652CC-E84E-404D-AE6C-FBD28B335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217" y="2163951"/>
            <a:ext cx="8096190" cy="436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3460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484217"/>
            <a:ext cx="7166402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dirty="0">
                <a:solidFill>
                  <a:schemeClr val="bg1"/>
                </a:solidFill>
              </a:rPr>
              <a:t>RIP Message 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030" y="1527566"/>
            <a:ext cx="10187189" cy="3412681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0499" marR="630664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RIP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uses two type </a:t>
            </a:r>
            <a:r>
              <a:rPr lang="en-US" sz="3200" spc="-39" dirty="0">
                <a:latin typeface="Times New Roman"/>
                <a:cs typeface="Times New Roman"/>
              </a:rPr>
              <a:t>of messages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Request</a:t>
            </a:r>
            <a:r>
              <a:rPr lang="en-US" sz="3200" spc="-39" dirty="0">
                <a:latin typeface="Times New Roman"/>
                <a:cs typeface="Times New Roman"/>
              </a:rPr>
              <a:t> and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response</a:t>
            </a:r>
          </a:p>
          <a:p>
            <a:pPr marL="470499" marR="630664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Request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Sent by a router that has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just come up or has some  time-out entries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Can ask specific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entries</a:t>
            </a:r>
            <a:r>
              <a:rPr lang="en-US" sz="3200" spc="-39" dirty="0">
                <a:latin typeface="Times New Roman"/>
                <a:cs typeface="Times New Roman"/>
              </a:rPr>
              <a:t> or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all entries</a:t>
            </a:r>
          </a:p>
        </p:txBody>
      </p:sp>
    </p:spTree>
    <p:extLst>
      <p:ext uri="{BB962C8B-B14F-4D97-AF65-F5344CB8AC3E}">
        <p14:creationId xmlns:p14="http://schemas.microsoft.com/office/powerpoint/2010/main" val="3745481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484217"/>
            <a:ext cx="7166402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dirty="0">
                <a:solidFill>
                  <a:schemeClr val="bg1"/>
                </a:solidFill>
              </a:rPr>
              <a:t>RIP Message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B3AE6D-3C6E-400A-8452-8BCE3B9C2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01" y="1952782"/>
            <a:ext cx="8084657" cy="465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24151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484217"/>
            <a:ext cx="7166402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dirty="0">
                <a:solidFill>
                  <a:schemeClr val="bg1"/>
                </a:solidFill>
              </a:rPr>
              <a:t>RIP Message 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030" y="1527566"/>
            <a:ext cx="10187189" cy="5069544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0499" marR="630664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Response: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solicited</a:t>
            </a:r>
            <a:r>
              <a:rPr lang="en-US" sz="3200" spc="-39" dirty="0">
                <a:latin typeface="Times New Roman"/>
                <a:cs typeface="Times New Roman"/>
              </a:rPr>
              <a:t> or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unsolicited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A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solicited response: </a:t>
            </a:r>
            <a:r>
              <a:rPr lang="en-US" sz="3200" spc="-39" dirty="0">
                <a:latin typeface="Times New Roman"/>
                <a:cs typeface="Times New Roman"/>
              </a:rPr>
              <a:t>sent only in answer to a  request, </a:t>
            </a:r>
          </a:p>
          <a:p>
            <a:pPr marL="1384899" marR="630664" lvl="2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v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Contain information about the destination specified in the corresponding request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An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unsolicited response</a:t>
            </a:r>
            <a:r>
              <a:rPr lang="en-US" sz="3200" spc="-39" dirty="0">
                <a:latin typeface="Times New Roman"/>
                <a:cs typeface="Times New Roman"/>
              </a:rPr>
              <a:t>: sent periodically</a:t>
            </a:r>
          </a:p>
          <a:p>
            <a:pPr marL="1442049" marR="630664" lvl="2" indent="-51435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v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 Every 30s, </a:t>
            </a:r>
          </a:p>
          <a:p>
            <a:pPr marL="1442049" marR="630664" lvl="2" indent="-51435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v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Contains information about the entire routing table,</a:t>
            </a:r>
          </a:p>
          <a:p>
            <a:pPr marL="1442049" marR="630664" lvl="2" indent="-51435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v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Also called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update packet</a:t>
            </a:r>
          </a:p>
        </p:txBody>
      </p:sp>
    </p:spTree>
    <p:extLst>
      <p:ext uri="{BB962C8B-B14F-4D97-AF65-F5344CB8AC3E}">
        <p14:creationId xmlns:p14="http://schemas.microsoft.com/office/powerpoint/2010/main" val="40661241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179518"/>
            <a:ext cx="7166402" cy="1232931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dirty="0">
                <a:solidFill>
                  <a:schemeClr val="bg1"/>
                </a:solidFill>
              </a:rPr>
              <a:t>Routing Information Protocol (RIP)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030" y="1527566"/>
            <a:ext cx="10187189" cy="3648643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69265" marR="155575" indent="-45720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375"/>
              <a:buFont typeface="Wingdings" panose="05000000000000000000" pitchFamily="2" charset="2"/>
              <a:buChar char="Ø"/>
              <a:tabLst>
                <a:tab pos="287655" algn="l"/>
              </a:tabLst>
            </a:pPr>
            <a:r>
              <a:rPr lang="en-US"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Administrative distance (AD) </a:t>
            </a:r>
            <a:r>
              <a:rPr lang="en-US" sz="3200" dirty="0">
                <a:latin typeface="Times New Roman"/>
                <a:cs typeface="Times New Roman"/>
              </a:rPr>
              <a:t>is the </a:t>
            </a:r>
            <a:r>
              <a:rPr lang="en-US" sz="3200" spc="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trustworthiness</a:t>
            </a:r>
            <a:r>
              <a:rPr lang="en-US" sz="3200" spc="-5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(or</a:t>
            </a:r>
            <a:r>
              <a:rPr lang="en-US" sz="3200" spc="-2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preference)</a:t>
            </a:r>
            <a:r>
              <a:rPr lang="en-US" sz="3200" spc="-5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of</a:t>
            </a:r>
            <a:r>
              <a:rPr lang="en-US" sz="3200" spc="-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the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route </a:t>
            </a:r>
            <a:r>
              <a:rPr lang="en-US" sz="3200" spc="-78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so</a:t>
            </a:r>
            <a:r>
              <a:rPr lang="en-US" sz="3200" spc="5" dirty="0">
                <a:latin typeface="Times New Roman"/>
                <a:cs typeface="Times New Roman"/>
              </a:rPr>
              <a:t>u</a:t>
            </a:r>
            <a:r>
              <a:rPr lang="en-US" sz="3200" dirty="0">
                <a:latin typeface="Times New Roman"/>
                <a:cs typeface="Times New Roman"/>
              </a:rPr>
              <a:t>rc</a:t>
            </a:r>
            <a:r>
              <a:rPr lang="en-US" sz="3200" spc="5" dirty="0">
                <a:latin typeface="Times New Roman"/>
                <a:cs typeface="Times New Roman"/>
              </a:rPr>
              <a:t>e</a:t>
            </a:r>
            <a:r>
              <a:rPr lang="en-US" sz="3200" dirty="0">
                <a:latin typeface="Times New Roman"/>
                <a:cs typeface="Times New Roman"/>
              </a:rPr>
              <a:t>.</a:t>
            </a:r>
            <a:r>
              <a:rPr lang="en-US" sz="3200" spc="-4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RIP</a:t>
            </a:r>
            <a:r>
              <a:rPr lang="en-US" sz="3200" spc="-12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h</a:t>
            </a:r>
            <a:r>
              <a:rPr lang="en-US" sz="3200" spc="10" dirty="0">
                <a:latin typeface="Times New Roman"/>
                <a:cs typeface="Times New Roman"/>
              </a:rPr>
              <a:t>a</a:t>
            </a:r>
            <a:r>
              <a:rPr lang="en-US" sz="3200" dirty="0">
                <a:latin typeface="Times New Roman"/>
                <a:cs typeface="Times New Roman"/>
              </a:rPr>
              <a:t>s</a:t>
            </a:r>
            <a:r>
              <a:rPr lang="en-US" sz="3200" spc="-2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 </a:t>
            </a:r>
            <a:r>
              <a:rPr lang="en-US" sz="3200" spc="10" dirty="0">
                <a:latin typeface="Times New Roman"/>
                <a:cs typeface="Times New Roman"/>
              </a:rPr>
              <a:t>d</a:t>
            </a:r>
            <a:r>
              <a:rPr lang="en-US" sz="3200" dirty="0">
                <a:latin typeface="Times New Roman"/>
                <a:cs typeface="Times New Roman"/>
              </a:rPr>
              <a:t>ef</a:t>
            </a:r>
            <a:r>
              <a:rPr lang="en-US" sz="3200" spc="5" dirty="0">
                <a:latin typeface="Times New Roman"/>
                <a:cs typeface="Times New Roman"/>
              </a:rPr>
              <a:t>a</a:t>
            </a:r>
            <a:r>
              <a:rPr lang="en-US" sz="3200" dirty="0">
                <a:latin typeface="Times New Roman"/>
                <a:cs typeface="Times New Roman"/>
              </a:rPr>
              <a:t>ult</a:t>
            </a:r>
            <a:r>
              <a:rPr lang="en-US" sz="3200" spc="-21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AD</a:t>
            </a:r>
            <a:r>
              <a:rPr lang="en-US" sz="3200" spc="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of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1</a:t>
            </a:r>
            <a:r>
              <a:rPr lang="en-US" sz="3200" spc="5" dirty="0">
                <a:latin typeface="Times New Roman"/>
                <a:cs typeface="Times New Roman"/>
              </a:rPr>
              <a:t>2</a:t>
            </a:r>
            <a:r>
              <a:rPr lang="en-US" sz="3200" dirty="0">
                <a:latin typeface="Times New Roman"/>
                <a:cs typeface="Times New Roman"/>
              </a:rPr>
              <a:t>0.</a:t>
            </a:r>
          </a:p>
          <a:p>
            <a:pPr marL="571500" indent="-571500">
              <a:lnSpc>
                <a:spcPct val="100000"/>
              </a:lnSpc>
              <a:spcBef>
                <a:spcPts val="40"/>
              </a:spcBef>
              <a:buClr>
                <a:srgbClr val="D24717"/>
              </a:buClr>
              <a:buFont typeface="Wingdings" panose="05000000000000000000" pitchFamily="2" charset="2"/>
              <a:buChar char="Ø"/>
            </a:pPr>
            <a:endParaRPr lang="en-US" sz="3200" dirty="0">
              <a:latin typeface="Times New Roman"/>
              <a:cs typeface="Times New Roman"/>
            </a:endParaRPr>
          </a:p>
          <a:p>
            <a:pPr marL="469265" marR="5080" indent="-457200">
              <a:lnSpc>
                <a:spcPct val="100000"/>
              </a:lnSpc>
              <a:buClr>
                <a:srgbClr val="D24717"/>
              </a:buClr>
              <a:buSzPct val="84375"/>
              <a:buFont typeface="Wingdings" panose="05000000000000000000" pitchFamily="2" charset="2"/>
              <a:buChar char="Ø"/>
              <a:tabLst>
                <a:tab pos="287655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What</a:t>
            </a:r>
            <a:r>
              <a:rPr lang="en-US" sz="3200" spc="-3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two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command</a:t>
            </a:r>
            <a:r>
              <a:rPr lang="en-US" sz="3200" spc="-4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outputs</a:t>
            </a:r>
            <a:r>
              <a:rPr lang="en-US" sz="3200" spc="-3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display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the</a:t>
            </a:r>
            <a:r>
              <a:rPr lang="en-US" sz="3200" spc="-18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AD </a:t>
            </a:r>
            <a:r>
              <a:rPr lang="en-US" sz="3200" spc="-78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value?</a:t>
            </a:r>
          </a:p>
          <a:p>
            <a:pPr marL="903605" lvl="1" indent="-571500">
              <a:lnSpc>
                <a:spcPct val="100000"/>
              </a:lnSpc>
              <a:spcBef>
                <a:spcPts val="384"/>
              </a:spcBef>
              <a:buClr>
                <a:srgbClr val="9B2C1F"/>
              </a:buClr>
              <a:buSzPct val="81944"/>
              <a:buFont typeface="Wingdings" panose="05000000000000000000" pitchFamily="2" charset="2"/>
              <a:buChar char="ü"/>
              <a:tabLst>
                <a:tab pos="639445" algn="l"/>
              </a:tabLst>
            </a:pPr>
            <a:r>
              <a:rPr lang="en-US"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show</a:t>
            </a:r>
            <a:r>
              <a:rPr lang="en-US" sz="3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3200" b="1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ip</a:t>
            </a:r>
            <a:r>
              <a:rPr lang="en-US" sz="3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32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route</a:t>
            </a:r>
            <a:endParaRPr lang="en-US"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903605" lvl="1" indent="-571500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1944"/>
              <a:buFont typeface="Wingdings" panose="05000000000000000000" pitchFamily="2" charset="2"/>
              <a:buChar char="ü"/>
              <a:tabLst>
                <a:tab pos="639445" algn="l"/>
              </a:tabLst>
            </a:pPr>
            <a:r>
              <a:rPr lang="en-US"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show</a:t>
            </a:r>
            <a:r>
              <a:rPr lang="en-US" sz="32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3200" b="1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ip</a:t>
            </a:r>
            <a:r>
              <a:rPr lang="en-US" sz="3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3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protocols</a:t>
            </a:r>
            <a:endParaRPr lang="en-US" sz="32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8307725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179518"/>
            <a:ext cx="7166402" cy="1232931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dirty="0">
                <a:solidFill>
                  <a:schemeClr val="bg1"/>
                </a:solidFill>
              </a:rPr>
              <a:t>Routing Information Protocol (RIP)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030" y="1527566"/>
            <a:ext cx="10187189" cy="5100322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69265" marR="478155" indent="-457200">
              <a:spcBef>
                <a:spcPts val="105"/>
              </a:spcBef>
              <a:buClr>
                <a:srgbClr val="D24717"/>
              </a:buClr>
              <a:buSzPct val="84375"/>
              <a:buFont typeface="Wingdings" panose="05000000000000000000" pitchFamily="2" charset="2"/>
              <a:buChar char="Ø"/>
              <a:tabLst>
                <a:tab pos="287020" algn="l"/>
              </a:tabLst>
            </a:pP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It's common to see that your router has multiple paths for the </a:t>
            </a:r>
            <a:r>
              <a:rPr lang="en-US" sz="3200" b="1" spc="-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network</a:t>
            </a: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the </a:t>
            </a:r>
            <a:r>
              <a:rPr lang="en-US" sz="3200" b="1" spc="-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metric</a:t>
            </a: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69265" marR="478155" indent="-45720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375"/>
              <a:buFont typeface="Wingdings" panose="05000000000000000000" pitchFamily="2" charset="2"/>
              <a:buChar char="Ø"/>
              <a:tabLst>
                <a:tab pos="287020" algn="l"/>
              </a:tabLst>
            </a:pP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RIP do in this case? If the metric is the same, then it will use all possible paths and </a:t>
            </a:r>
            <a:r>
              <a:rPr lang="en-US" sz="3200" b="1" spc="-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balance over them</a:t>
            </a: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is called equal </a:t>
            </a:r>
            <a:r>
              <a:rPr lang="en-US" sz="3200" b="1" spc="-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load balancing</a:t>
            </a: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69265" marR="478155" indent="-45720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375"/>
              <a:buFont typeface="Wingdings" panose="05000000000000000000" pitchFamily="2" charset="2"/>
              <a:buChar char="Ø"/>
              <a:tabLst>
                <a:tab pos="287020" algn="l"/>
              </a:tabLst>
            </a:pP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3200" spc="3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spc="-9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lang="en-US" sz="3200" b="1" spc="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spc="-1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paths</a:t>
            </a:r>
            <a:r>
              <a:rPr lang="en-US" sz="3200" b="1" spc="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</a:t>
            </a:r>
            <a:r>
              <a:rPr lang="en-US" sz="3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2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particular </a:t>
            </a: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destination,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</a:t>
            </a:r>
            <a:r>
              <a:rPr lang="en-US" sz="3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en-US"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en-US" sz="3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US" sz="3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</a:t>
            </a:r>
            <a:r>
              <a:rPr lang="en-US" sz="3200" spc="-7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those</a:t>
            </a:r>
            <a:r>
              <a:rPr lang="en-US" sz="3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paths</a:t>
            </a:r>
            <a:r>
              <a:rPr lang="en-US"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(by</a:t>
            </a:r>
            <a:r>
              <a:rPr lang="en-US" sz="32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default,</a:t>
            </a:r>
            <a:r>
              <a:rPr lang="en-US" sz="3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lang="en-US" sz="32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spc="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3200" b="1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200" b="1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en-US" sz="32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3200" spc="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spc="-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</a:t>
            </a:r>
            <a:r>
              <a:rPr lang="en-US" sz="3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(hop count)</a:t>
            </a:r>
            <a:r>
              <a:rPr lang="en-US"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3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spc="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en-US" sz="3200" b="1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marR="5080" indent="-45720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375"/>
              <a:buFont typeface="Wingdings" panose="05000000000000000000" pitchFamily="2" charset="2"/>
              <a:buChar char="Ø"/>
              <a:tabLst>
                <a:tab pos="287020" algn="l"/>
              </a:tabLst>
            </a:pPr>
            <a:r>
              <a:rPr lang="en-US"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</a:t>
            </a:r>
            <a:r>
              <a:rPr lang="en-US" sz="3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lang="en-US" sz="32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spc="-1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round-robin</a:t>
            </a:r>
            <a:r>
              <a:rPr lang="en-US" sz="3200" b="1" spc="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spc="-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3200" b="1" spc="4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32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</a:t>
            </a:r>
            <a:r>
              <a:rPr lang="en-US"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</a:t>
            </a:r>
            <a:r>
              <a:rPr lang="en-US" sz="3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en-US" sz="3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</a:t>
            </a:r>
            <a:r>
              <a:rPr lang="en-US"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routes,</a:t>
            </a:r>
            <a:r>
              <a:rPr lang="en-US"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lang="en-US" sz="3200" spc="-7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</a:t>
            </a:r>
            <a:r>
              <a:rPr lang="en-US"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spc="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pinhole </a:t>
            </a:r>
            <a:r>
              <a:rPr lang="en-US" sz="3200" b="1" spc="6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congestion</a:t>
            </a:r>
            <a:r>
              <a:rPr lang="en-US" sz="3200" b="1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2897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179518"/>
            <a:ext cx="7166402" cy="1232931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dirty="0">
                <a:solidFill>
                  <a:schemeClr val="bg1"/>
                </a:solidFill>
              </a:rPr>
              <a:t>Routing Information Protocol (RIP)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030" y="1527566"/>
            <a:ext cx="10187189" cy="3053608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69265" marR="478155" indent="-457200">
              <a:spcBef>
                <a:spcPts val="105"/>
              </a:spcBef>
              <a:buClr>
                <a:srgbClr val="D24717"/>
              </a:buClr>
              <a:buSzPct val="84375"/>
              <a:buFont typeface="Wingdings" panose="05000000000000000000" pitchFamily="2" charset="2"/>
              <a:buChar char="Ø"/>
              <a:tabLst>
                <a:tab pos="287020" algn="l"/>
              </a:tabLst>
            </a:pP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two paths might exist to a  particular destination, one going through a  9600 baud link, the other via a T1. If the  metric (</a:t>
            </a:r>
            <a:r>
              <a:rPr lang="en-US" sz="3200" spc="-8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hopcount</a:t>
            </a: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equal, RIP will load-  balance, sending an equal amount of traffic  down the 9600 baud link and the T1. This will  (obviously) cause the slower link to become  congested.</a:t>
            </a:r>
          </a:p>
        </p:txBody>
      </p:sp>
    </p:spTree>
    <p:extLst>
      <p:ext uri="{BB962C8B-B14F-4D97-AF65-F5344CB8AC3E}">
        <p14:creationId xmlns:p14="http://schemas.microsoft.com/office/powerpoint/2010/main" val="30989560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484217"/>
            <a:ext cx="7166402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dirty="0">
                <a:solidFill>
                  <a:schemeClr val="bg1"/>
                </a:solidFill>
              </a:rPr>
              <a:t>RIP Versions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030" y="1527566"/>
            <a:ext cx="10187189" cy="1863539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555"/>
              </a:spcBef>
              <a:buClr>
                <a:srgbClr val="D24717"/>
              </a:buClr>
              <a:buSzPct val="85000"/>
              <a:buFont typeface="Wingdings" panose="05000000000000000000" pitchFamily="2" charset="2"/>
              <a:buChar char="Ø"/>
              <a:tabLst>
                <a:tab pos="287020" algn="l"/>
              </a:tabLst>
            </a:pPr>
            <a:r>
              <a:rPr lang="en-US" sz="3600" spc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</a:t>
            </a:r>
            <a:r>
              <a:rPr lang="en-US" sz="36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en-US" sz="36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sz="36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versions</a:t>
            </a:r>
            <a:r>
              <a:rPr lang="en-US" sz="3600" b="1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9940" lvl="1" indent="-458470">
              <a:lnSpc>
                <a:spcPct val="100000"/>
              </a:lnSpc>
              <a:spcBef>
                <a:spcPts val="409"/>
              </a:spcBef>
              <a:buClr>
                <a:srgbClr val="C00000"/>
              </a:buClr>
              <a:buSzPct val="84722"/>
              <a:buAutoNum type="arabicPeriod"/>
              <a:tabLst>
                <a:tab pos="790575" algn="l"/>
              </a:tabLst>
            </a:pPr>
            <a:r>
              <a:rPr lang="en-US" sz="3600" b="1" spc="8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  <a:r>
              <a:rPr lang="en-US" sz="3600" b="1" spc="6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600" b="1" spc="9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2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(RIPv1)</a:t>
            </a:r>
            <a:r>
              <a:rPr lang="en-US" sz="3600" b="1" spc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6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RFC</a:t>
            </a:r>
            <a:r>
              <a:rPr lang="en-US" sz="36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1058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9940" lvl="1" indent="-458470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4722"/>
              <a:buAutoNum type="arabicPeriod"/>
              <a:tabLst>
                <a:tab pos="790575" algn="l"/>
              </a:tabLst>
            </a:pPr>
            <a:r>
              <a:rPr lang="en-US" sz="3600" b="1" spc="8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  <a:r>
              <a:rPr lang="en-US" sz="3600" b="1" spc="6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spc="9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24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(RIPv2</a:t>
            </a:r>
            <a:r>
              <a:rPr lang="en-US" sz="3600" b="1" spc="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600" b="1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6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RFC</a:t>
            </a:r>
            <a:r>
              <a:rPr lang="en-US" sz="36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2543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17206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484217"/>
            <a:ext cx="7166402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dirty="0">
                <a:solidFill>
                  <a:schemeClr val="bg1"/>
                </a:solidFill>
              </a:rPr>
              <a:t>RIP Versions 1 (RIPv1)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030" y="1527566"/>
            <a:ext cx="10187189" cy="5202914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0499" marR="630664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RIPv1 (RFC 1058) </a:t>
            </a:r>
            <a:r>
              <a:rPr lang="en-US" sz="3200" spc="-39" dirty="0">
                <a:latin typeface="Times New Roman"/>
                <a:cs typeface="Times New Roman"/>
              </a:rPr>
              <a:t>is classful, and thus does not  include the subnet mask with its routing table  updates. Because of this, RIPv1 does not support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Variable Length Subnet Masks (VLSMs)</a:t>
            </a:r>
            <a:r>
              <a:rPr lang="en-US" sz="3200" spc="-39" dirty="0">
                <a:latin typeface="Times New Roman"/>
                <a:cs typeface="Times New Roman"/>
              </a:rPr>
              <a:t>.</a:t>
            </a:r>
          </a:p>
          <a:p>
            <a:pPr marL="470499" marR="630664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When using RIPv1, networks must be contiguous,  and subnets of a major network must be configured  with identical subnet masks. Otherwise, route table  inconsistencies (or worse) will occur.</a:t>
            </a:r>
          </a:p>
          <a:p>
            <a:pPr marL="470499" marR="630664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RIPv1 sends updates as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broadcasts</a:t>
            </a:r>
            <a:r>
              <a:rPr lang="en-US" sz="3200" spc="-39" dirty="0">
                <a:latin typeface="Times New Roman"/>
                <a:cs typeface="Times New Roman"/>
              </a:rPr>
              <a:t> to address  255.255.255.255.</a:t>
            </a:r>
          </a:p>
        </p:txBody>
      </p:sp>
    </p:spTree>
    <p:extLst>
      <p:ext uri="{BB962C8B-B14F-4D97-AF65-F5344CB8AC3E}">
        <p14:creationId xmlns:p14="http://schemas.microsoft.com/office/powerpoint/2010/main" val="14494648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484217"/>
            <a:ext cx="7166402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spc="500" dirty="0">
                <a:solidFill>
                  <a:schemeClr val="bg1"/>
                </a:solidFill>
              </a:rPr>
              <a:t>RIP</a:t>
            </a:r>
            <a:r>
              <a:rPr lang="en-US" sz="4400" spc="90" dirty="0">
                <a:solidFill>
                  <a:schemeClr val="bg1"/>
                </a:solidFill>
              </a:rPr>
              <a:t> </a:t>
            </a:r>
            <a:r>
              <a:rPr lang="en-US" sz="4400" spc="85" dirty="0">
                <a:solidFill>
                  <a:schemeClr val="bg1"/>
                </a:solidFill>
              </a:rPr>
              <a:t>Versions</a:t>
            </a:r>
            <a:r>
              <a:rPr lang="en-US" sz="4400" spc="110" dirty="0">
                <a:solidFill>
                  <a:schemeClr val="bg1"/>
                </a:solidFill>
              </a:rPr>
              <a:t> </a:t>
            </a:r>
            <a:r>
              <a:rPr lang="en-US" sz="4400" spc="10" dirty="0">
                <a:solidFill>
                  <a:schemeClr val="bg1"/>
                </a:solidFill>
              </a:rPr>
              <a:t>2</a:t>
            </a:r>
            <a:r>
              <a:rPr lang="en-US" sz="4400" spc="95" dirty="0">
                <a:solidFill>
                  <a:schemeClr val="bg1"/>
                </a:solidFill>
              </a:rPr>
              <a:t> </a:t>
            </a:r>
            <a:r>
              <a:rPr lang="en-US" sz="4400" spc="270" dirty="0">
                <a:solidFill>
                  <a:schemeClr val="bg1"/>
                </a:solidFill>
              </a:rPr>
              <a:t>(RIPv2)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030" y="1527566"/>
            <a:ext cx="9646277" cy="5254210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69265" marR="5080" indent="-45720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287020" algn="l"/>
              </a:tabLst>
            </a:pPr>
            <a:r>
              <a:rPr lang="en-US" sz="3200" b="1" spc="2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RIPv2</a:t>
            </a:r>
            <a:r>
              <a:rPr lang="en-US" sz="3200" b="1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b="1" spc="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RFC</a:t>
            </a:r>
            <a:r>
              <a:rPr lang="en-US" sz="3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spc="-1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2543</a:t>
            </a:r>
            <a:r>
              <a:rPr lang="en-US" sz="32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3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spc="3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classless</a:t>
            </a:r>
            <a:r>
              <a:rPr lang="en-US" sz="3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32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</a:t>
            </a:r>
            <a:r>
              <a:rPr lang="en-US" sz="3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lang="en-US" sz="3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</a:t>
            </a:r>
            <a:r>
              <a:rPr lang="en-US"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subnet</a:t>
            </a:r>
            <a:r>
              <a:rPr lang="en-US" sz="3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mask</a:t>
            </a:r>
            <a:r>
              <a:rPr lang="en-US"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3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en-US"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lang="en-US" sz="3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en-US" sz="3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updates.</a:t>
            </a:r>
            <a:r>
              <a:rPr lang="en-US"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RIPv2 </a:t>
            </a:r>
            <a:r>
              <a:rPr lang="en-US"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</a:t>
            </a:r>
            <a:r>
              <a:rPr lang="en-US" sz="3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</a:t>
            </a:r>
            <a:r>
              <a:rPr lang="en-US" sz="3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spc="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VLSMs</a:t>
            </a:r>
            <a:r>
              <a:rPr lang="en-US" sz="3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3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allowing</a:t>
            </a:r>
            <a:r>
              <a:rPr lang="en-US" sz="3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6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discontiguous</a:t>
            </a:r>
            <a:r>
              <a:rPr lang="en-US" sz="3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 </a:t>
            </a:r>
            <a:r>
              <a:rPr lang="en-US" sz="3200" spc="-6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varying</a:t>
            </a:r>
            <a:r>
              <a:rPr lang="en-US"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subnet</a:t>
            </a:r>
            <a:r>
              <a:rPr lang="en-US" sz="3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masks</a:t>
            </a:r>
            <a:r>
              <a:rPr lang="en-US"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287020" algn="l"/>
              </a:tabLst>
            </a:pPr>
            <a:r>
              <a:rPr lang="en-US"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sz="3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enhancements</a:t>
            </a:r>
            <a:r>
              <a:rPr lang="en-US" sz="3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offered</a:t>
            </a:r>
            <a:r>
              <a:rPr lang="en-US" sz="32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RIPv2</a:t>
            </a:r>
            <a:r>
              <a:rPr lang="en-US"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1340" lvl="1" indent="-229235">
              <a:lnSpc>
                <a:spcPct val="100000"/>
              </a:lnSpc>
              <a:spcBef>
                <a:spcPts val="415"/>
              </a:spcBef>
              <a:buClr>
                <a:srgbClr val="9B2C1F"/>
              </a:buClr>
              <a:buSzPct val="85416"/>
              <a:buFont typeface="Wingdings"/>
              <a:buChar char=""/>
              <a:tabLst>
                <a:tab pos="561975" algn="l"/>
              </a:tabLst>
            </a:pPr>
            <a:r>
              <a:rPr lang="en-US"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lang="en-US" sz="3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</a:t>
            </a:r>
            <a:r>
              <a:rPr lang="en-US" sz="3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3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</a:t>
            </a:r>
            <a:r>
              <a:rPr lang="en-US" sz="3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</a:t>
            </a:r>
            <a:r>
              <a:rPr lang="en-US" sz="32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spc="6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multicast</a:t>
            </a:r>
            <a:r>
              <a:rPr lang="en-US" sz="3200" b="1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3200" b="1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z="32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1340">
              <a:lnSpc>
                <a:spcPct val="100000"/>
              </a:lnSpc>
            </a:pPr>
            <a:r>
              <a:rPr lang="en-US" sz="3200" b="1" spc="5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224.0.0.9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1340" lvl="1" indent="-22923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5416"/>
              <a:buFont typeface="Wingdings"/>
              <a:buChar char=""/>
              <a:tabLst>
                <a:tab pos="561975" algn="l"/>
              </a:tabLst>
            </a:pPr>
            <a:r>
              <a:rPr lang="en-US"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</a:t>
            </a:r>
            <a:r>
              <a:rPr lang="en-US" sz="3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r>
              <a:rPr lang="en-US" sz="32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3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3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</a:t>
            </a:r>
            <a:r>
              <a:rPr lang="en-US" sz="32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1340">
              <a:lnSpc>
                <a:spcPct val="100000"/>
              </a:lnSpc>
            </a:pPr>
            <a:r>
              <a:rPr lang="en-US"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RIPv2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1340" lvl="1" indent="-22923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5416"/>
              <a:buFont typeface="Wingdings"/>
              <a:buChar char=""/>
              <a:tabLst>
                <a:tab pos="561975" algn="l"/>
              </a:tabLst>
            </a:pPr>
            <a:r>
              <a:rPr lang="en-US"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</a:t>
            </a:r>
            <a:r>
              <a:rPr lang="en-US"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tagging</a:t>
            </a:r>
            <a:r>
              <a:rPr lang="en-US" sz="3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0362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484217"/>
            <a:ext cx="7166402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spc="500" dirty="0">
                <a:solidFill>
                  <a:schemeClr val="bg1"/>
                </a:solidFill>
              </a:rPr>
              <a:t>RIP</a:t>
            </a:r>
            <a:r>
              <a:rPr lang="en-US" sz="4400" spc="90" dirty="0">
                <a:solidFill>
                  <a:schemeClr val="bg1"/>
                </a:solidFill>
              </a:rPr>
              <a:t> </a:t>
            </a:r>
            <a:r>
              <a:rPr lang="en-US" sz="4400" spc="85" dirty="0">
                <a:solidFill>
                  <a:schemeClr val="bg1"/>
                </a:solidFill>
              </a:rPr>
              <a:t>Versions</a:t>
            </a:r>
            <a:r>
              <a:rPr lang="en-US" sz="4400" spc="110" dirty="0">
                <a:solidFill>
                  <a:schemeClr val="bg1"/>
                </a:solidFill>
              </a:rPr>
              <a:t> </a:t>
            </a:r>
            <a:r>
              <a:rPr lang="en-US" sz="4400" spc="10" dirty="0">
                <a:solidFill>
                  <a:schemeClr val="bg1"/>
                </a:solidFill>
              </a:rPr>
              <a:t>2</a:t>
            </a:r>
            <a:r>
              <a:rPr lang="en-US" sz="4400" spc="95" dirty="0">
                <a:solidFill>
                  <a:schemeClr val="bg1"/>
                </a:solidFill>
              </a:rPr>
              <a:t> </a:t>
            </a:r>
            <a:r>
              <a:rPr lang="en-US" sz="4400" spc="270" dirty="0">
                <a:solidFill>
                  <a:schemeClr val="bg1"/>
                </a:solidFill>
              </a:rPr>
              <a:t>(RIPv2)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030" y="1527566"/>
            <a:ext cx="9646277" cy="5087498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69265" marR="5080" indent="-45720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287020" algn="l"/>
              </a:tabLst>
            </a:pP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RIPv2 can </a:t>
            </a:r>
            <a:r>
              <a:rPr lang="en-US" sz="3200" b="1" spc="-6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interoperate</a:t>
            </a: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RIPv1. By default:</a:t>
            </a:r>
          </a:p>
          <a:p>
            <a:pPr marL="926465" marR="5080" lvl="1" indent="-457200">
              <a:spcBef>
                <a:spcPts val="105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287020" algn="l"/>
              </a:tabLst>
            </a:pP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RIPv1 routers will sent only Version 1 packets</a:t>
            </a:r>
          </a:p>
          <a:p>
            <a:pPr marL="926465" marR="5080" lvl="1" indent="-457200">
              <a:spcBef>
                <a:spcPts val="105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287020" algn="l"/>
              </a:tabLst>
            </a:pP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RIPv1 routers will receive both Version 1 and 2  updates.</a:t>
            </a:r>
          </a:p>
          <a:p>
            <a:pPr marL="926465" marR="5080" lvl="1" indent="-457200">
              <a:spcBef>
                <a:spcPts val="105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287020" algn="l"/>
              </a:tabLst>
            </a:pP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RIPv2 routers will both send and receive only  Version 2 updates</a:t>
            </a:r>
          </a:p>
          <a:p>
            <a:pPr marL="469265" marR="5080" indent="-45720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287020" algn="l"/>
              </a:tabLst>
            </a:pP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control the version of RIP a particular  interface will “send” or “receive.”</a:t>
            </a:r>
          </a:p>
          <a:p>
            <a:pPr marL="469265" marR="5080" indent="-45720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287020" algn="l"/>
              </a:tabLst>
            </a:pP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Unless RIPv2 is manually specified, a Cisco will  default to RIPv1 when configuring RIP.</a:t>
            </a:r>
          </a:p>
        </p:txBody>
      </p:sp>
    </p:spTree>
    <p:extLst>
      <p:ext uri="{BB962C8B-B14F-4D97-AF65-F5344CB8AC3E}">
        <p14:creationId xmlns:p14="http://schemas.microsoft.com/office/powerpoint/2010/main" val="224473193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484217"/>
            <a:ext cx="7166402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dirty="0">
                <a:solidFill>
                  <a:schemeClr val="bg1"/>
                </a:solidFill>
              </a:rPr>
              <a:t>RIPv1 Basic Configuration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BBDC5BD7-EBDD-4EE6-99DD-7A04F31D34EA}"/>
              </a:ext>
            </a:extLst>
          </p:cNvPr>
          <p:cNvSpPr txBox="1"/>
          <p:nvPr/>
        </p:nvSpPr>
        <p:spPr>
          <a:xfrm>
            <a:off x="334851" y="3092536"/>
            <a:ext cx="9504608" cy="351455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900">
              <a:lnSpc>
                <a:spcPts val="2375"/>
              </a:lnSpc>
              <a:spcBef>
                <a:spcPts val="95"/>
              </a:spcBef>
              <a:buClr>
                <a:srgbClr val="C00000"/>
              </a:buClr>
              <a:buSzPct val="84090"/>
              <a:buFont typeface="Wingdings" panose="05000000000000000000" pitchFamily="2" charset="2"/>
              <a:buChar char="Ø"/>
              <a:tabLst>
                <a:tab pos="287020" algn="l"/>
                <a:tab pos="287655" algn="l"/>
              </a:tabLst>
            </a:pPr>
            <a:r>
              <a:rPr sz="2800" spc="-80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enter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router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configuration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mode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for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imes New Roman"/>
                <a:cs typeface="Times New Roman"/>
              </a:rPr>
              <a:t>RIP,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enter</a:t>
            </a:r>
            <a:r>
              <a:rPr sz="2800" spc="4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router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rip</a:t>
            </a:r>
            <a:r>
              <a:rPr sz="2800" b="1" spc="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at</a:t>
            </a:r>
            <a:r>
              <a:rPr sz="2800" dirty="0">
                <a:latin typeface="Times New Roman"/>
                <a:cs typeface="Times New Roman"/>
              </a:rPr>
              <a:t> the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global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configuration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prompt.</a:t>
            </a:r>
            <a:endParaRPr sz="2800" dirty="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70"/>
              </a:spcBef>
              <a:buClr>
                <a:srgbClr val="C00000"/>
              </a:buClr>
              <a:buSzPct val="84090"/>
              <a:buFont typeface="Wingdings" panose="05000000000000000000" pitchFamily="2" charset="2"/>
              <a:buChar char="Ø"/>
              <a:tabLst>
                <a:tab pos="287020" algn="l"/>
                <a:tab pos="287655" algn="l"/>
              </a:tabLst>
            </a:pPr>
            <a:r>
              <a:rPr sz="2800" dirty="0">
                <a:latin typeface="Times New Roman"/>
                <a:cs typeface="Times New Roman"/>
              </a:rPr>
              <a:t>R1(config)#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router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rip</a:t>
            </a:r>
            <a:endParaRPr sz="28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75"/>
              </a:spcBef>
              <a:buClr>
                <a:srgbClr val="C00000"/>
              </a:buClr>
              <a:buSzPct val="84090"/>
              <a:buFont typeface="Wingdings" panose="05000000000000000000" pitchFamily="2" charset="2"/>
              <a:buChar char="Ø"/>
              <a:tabLst>
                <a:tab pos="287020" algn="l"/>
                <a:tab pos="287655" algn="l"/>
                <a:tab pos="2687955" algn="l"/>
              </a:tabLst>
            </a:pPr>
            <a:r>
              <a:rPr sz="2800" spc="-5" dirty="0">
                <a:latin typeface="Times New Roman"/>
                <a:cs typeface="Times New Roman"/>
              </a:rPr>
              <a:t>R1(config-router)#	What 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 router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prompt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point?</a:t>
            </a:r>
            <a:endParaRPr sz="2800" dirty="0">
              <a:latin typeface="Times New Roman"/>
              <a:cs typeface="Times New Roman"/>
            </a:endParaRPr>
          </a:p>
          <a:p>
            <a:pPr marL="354965" indent="-342900">
              <a:lnSpc>
                <a:spcPts val="2375"/>
              </a:lnSpc>
              <a:buClr>
                <a:srgbClr val="C00000"/>
              </a:buClr>
              <a:buSzPct val="84090"/>
              <a:buFont typeface="Wingdings" panose="05000000000000000000" pitchFamily="2" charset="2"/>
              <a:buChar char="Ø"/>
              <a:tabLst>
                <a:tab pos="287020" algn="l"/>
                <a:tab pos="287655" algn="l"/>
              </a:tabLst>
            </a:pPr>
            <a:r>
              <a:rPr sz="2800" dirty="0">
                <a:latin typeface="Times New Roman"/>
                <a:cs typeface="Times New Roman"/>
              </a:rPr>
              <a:t>What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command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would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you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enter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remove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RIP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routing </a:t>
            </a:r>
            <a:r>
              <a:rPr sz="2800" spc="-5" dirty="0">
                <a:latin typeface="Times New Roman"/>
                <a:cs typeface="Times New Roman"/>
              </a:rPr>
              <a:t>process</a:t>
            </a:r>
            <a:endParaRPr sz="2800" dirty="0">
              <a:latin typeface="Times New Roman"/>
              <a:cs typeface="Times New Roman"/>
            </a:endParaRPr>
          </a:p>
          <a:p>
            <a:pPr marL="629920" indent="-342900">
              <a:lnSpc>
                <a:spcPts val="2375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sz="2800" spc="-5" dirty="0">
                <a:latin typeface="Times New Roman"/>
                <a:cs typeface="Times New Roman"/>
              </a:rPr>
              <a:t>from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device?</a:t>
            </a:r>
            <a:endParaRPr sz="2800" dirty="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75"/>
              </a:spcBef>
              <a:buClr>
                <a:srgbClr val="C00000"/>
              </a:buClr>
              <a:buSzPct val="84090"/>
              <a:buFont typeface="Wingdings" panose="05000000000000000000" pitchFamily="2" charset="2"/>
              <a:buChar char="Ø"/>
              <a:tabLst>
                <a:tab pos="287020" algn="l"/>
                <a:tab pos="287655" algn="l"/>
              </a:tabLst>
            </a:pPr>
            <a:r>
              <a:rPr sz="2800" dirty="0">
                <a:latin typeface="Times New Roman"/>
                <a:cs typeface="Times New Roman"/>
              </a:rPr>
              <a:t>R1(config)#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no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router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rip</a:t>
            </a:r>
            <a:endParaRPr sz="28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354965" marR="398780" indent="-342900">
              <a:lnSpc>
                <a:spcPts val="2110"/>
              </a:lnSpc>
              <a:spcBef>
                <a:spcPts val="580"/>
              </a:spcBef>
              <a:buClr>
                <a:srgbClr val="C00000"/>
              </a:buClr>
              <a:buSzPct val="84090"/>
              <a:buFont typeface="Wingdings" panose="05000000000000000000" pitchFamily="2" charset="2"/>
              <a:buChar char="Ø"/>
              <a:tabLst>
                <a:tab pos="287020" algn="l"/>
                <a:tab pos="287655" algn="l"/>
              </a:tabLst>
            </a:pPr>
            <a:r>
              <a:rPr sz="2800" spc="-5" dirty="0">
                <a:latin typeface="Times New Roman"/>
                <a:cs typeface="Times New Roman"/>
              </a:rPr>
              <a:t>This </a:t>
            </a:r>
            <a:r>
              <a:rPr sz="2800" spc="-10" dirty="0">
                <a:latin typeface="Times New Roman"/>
                <a:cs typeface="Times New Roman"/>
              </a:rPr>
              <a:t>command</a:t>
            </a:r>
            <a:r>
              <a:rPr sz="2800" spc="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stops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 RIP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process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 erases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all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existing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RIP </a:t>
            </a:r>
            <a:r>
              <a:rPr sz="2800" spc="-5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configurations.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BF75B018-0D37-48AB-A30B-78EEC04B852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23" y="1709670"/>
            <a:ext cx="7696200" cy="138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6506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484217"/>
            <a:ext cx="7166402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dirty="0">
                <a:solidFill>
                  <a:schemeClr val="bg1"/>
                </a:solidFill>
              </a:rPr>
              <a:t>RIPv1 Basic Configuration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B970B66-DB42-4B5A-9AA5-A8B8F8BA02BD}"/>
              </a:ext>
            </a:extLst>
          </p:cNvPr>
          <p:cNvSpPr txBox="1"/>
          <p:nvPr/>
        </p:nvSpPr>
        <p:spPr>
          <a:xfrm>
            <a:off x="167426" y="3044587"/>
            <a:ext cx="9787944" cy="4137467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469265" marR="131445" indent="-457200">
              <a:lnSpc>
                <a:spcPts val="2310"/>
              </a:lnSpc>
              <a:spcBef>
                <a:spcPts val="650"/>
              </a:spcBef>
              <a:buClr>
                <a:srgbClr val="D24717"/>
              </a:buClr>
              <a:buSzPct val="85416"/>
              <a:buFont typeface="Wingdings" panose="05000000000000000000" pitchFamily="2" charset="2"/>
              <a:buChar char="Ø"/>
              <a:tabLst>
                <a:tab pos="286385" algn="l"/>
                <a:tab pos="287020" algn="l"/>
              </a:tabLst>
            </a:pPr>
            <a:r>
              <a:rPr sz="3200" spc="-90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enable </a:t>
            </a:r>
            <a:r>
              <a:rPr sz="3200" spc="-5" dirty="0">
                <a:latin typeface="Times New Roman"/>
                <a:cs typeface="Times New Roman"/>
              </a:rPr>
              <a:t>RIP </a:t>
            </a:r>
            <a:r>
              <a:rPr sz="3200" dirty="0">
                <a:latin typeface="Times New Roman"/>
                <a:cs typeface="Times New Roman"/>
              </a:rPr>
              <a:t>routing for a network, </a:t>
            </a:r>
            <a:r>
              <a:rPr sz="3200" spc="-5" dirty="0">
                <a:latin typeface="Times New Roman"/>
                <a:cs typeface="Times New Roman"/>
              </a:rPr>
              <a:t>use </a:t>
            </a:r>
            <a:r>
              <a:rPr sz="3200" dirty="0">
                <a:latin typeface="Times New Roman"/>
                <a:cs typeface="Times New Roman"/>
              </a:rPr>
              <a:t>the 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network</a:t>
            </a:r>
            <a:r>
              <a:rPr sz="3200" b="1" spc="-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command </a:t>
            </a:r>
            <a:r>
              <a:rPr sz="3200" spc="-5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 router configuration </a:t>
            </a:r>
            <a:r>
              <a:rPr sz="3200" spc="-5" dirty="0">
                <a:latin typeface="Times New Roman"/>
                <a:cs typeface="Times New Roman"/>
              </a:rPr>
              <a:t>mode </a:t>
            </a:r>
            <a:r>
              <a:rPr sz="3200" dirty="0">
                <a:latin typeface="Times New Roman"/>
                <a:cs typeface="Times New Roman"/>
              </a:rPr>
              <a:t>and enter the classful 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network</a:t>
            </a:r>
            <a:r>
              <a:rPr sz="3200" b="1" spc="-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address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 each </a:t>
            </a:r>
            <a:r>
              <a:rPr sz="3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directly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connected</a:t>
            </a:r>
            <a:r>
              <a:rPr sz="3200" b="1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network</a:t>
            </a:r>
          </a:p>
          <a:p>
            <a:pPr marL="469900" indent="-457200">
              <a:lnSpc>
                <a:spcPct val="100000"/>
              </a:lnSpc>
              <a:spcBef>
                <a:spcPts val="35"/>
              </a:spcBef>
              <a:buClr>
                <a:srgbClr val="D24717"/>
              </a:buClr>
              <a:buSzPct val="85416"/>
              <a:buFont typeface="Wingdings" panose="05000000000000000000" pitchFamily="2" charset="2"/>
              <a:buChar char="Ø"/>
              <a:tabLst>
                <a:tab pos="286385" algn="l"/>
                <a:tab pos="287020" algn="l"/>
                <a:tab pos="3916045" algn="l"/>
              </a:tabLst>
            </a:pPr>
            <a:r>
              <a:rPr sz="3200" dirty="0">
                <a:latin typeface="Times New Roman"/>
                <a:cs typeface="Times New Roman"/>
              </a:rPr>
              <a:t>R1(config-router)#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network</a:t>
            </a:r>
            <a:r>
              <a:rPr lang="en-US" sz="3200" b="1" spc="-5" dirty="0">
                <a:latin typeface="Times New Roman"/>
                <a:cs typeface="Times New Roman"/>
              </a:rPr>
              <a:t> </a:t>
            </a:r>
            <a:r>
              <a:rPr sz="3200" b="1" dirty="0" err="1">
                <a:solidFill>
                  <a:srgbClr val="FF0000"/>
                </a:solidFill>
                <a:latin typeface="Times New Roman"/>
                <a:cs typeface="Times New Roman"/>
              </a:rPr>
              <a:t>ip</a:t>
            </a:r>
            <a:r>
              <a:rPr sz="3200" b="1" spc="-4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address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9900" indent="-457200">
              <a:lnSpc>
                <a:spcPts val="2790"/>
              </a:lnSpc>
              <a:buClr>
                <a:srgbClr val="D24717"/>
              </a:buClr>
              <a:buSzPct val="85416"/>
              <a:buFont typeface="Wingdings" panose="05000000000000000000" pitchFamily="2" charset="2"/>
              <a:buChar char="Ø"/>
              <a:tabLst>
                <a:tab pos="286385" algn="l"/>
                <a:tab pos="287020" algn="l"/>
              </a:tabLst>
            </a:pPr>
            <a:r>
              <a:rPr sz="3200" spc="-10" dirty="0">
                <a:latin typeface="Times New Roman"/>
                <a:cs typeface="Times New Roman"/>
              </a:rPr>
              <a:t>What </a:t>
            </a:r>
            <a:r>
              <a:rPr sz="3200" spc="-5" dirty="0">
                <a:latin typeface="Times New Roman"/>
                <a:cs typeface="Times New Roman"/>
              </a:rPr>
              <a:t>two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functions</a:t>
            </a:r>
            <a:r>
              <a:rPr sz="3200" dirty="0">
                <a:latin typeface="Times New Roman"/>
                <a:cs typeface="Times New Roman"/>
              </a:rPr>
              <a:t> does this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command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achieve?</a:t>
            </a:r>
          </a:p>
          <a:p>
            <a:pPr marL="789305" marR="43815" lvl="1" indent="-457200">
              <a:lnSpc>
                <a:spcPct val="80000"/>
              </a:lnSpc>
              <a:spcBef>
                <a:spcPts val="484"/>
              </a:spcBef>
              <a:buClr>
                <a:srgbClr val="9B2C1F"/>
              </a:buClr>
              <a:buSzPct val="85416"/>
              <a:buFont typeface="Wingdings" panose="05000000000000000000" pitchFamily="2" charset="2"/>
              <a:buChar char="ü"/>
              <a:tabLst>
                <a:tab pos="561975" algn="l"/>
              </a:tabLst>
            </a:pPr>
            <a:r>
              <a:rPr sz="3200" dirty="0">
                <a:latin typeface="Times New Roman"/>
                <a:cs typeface="Times New Roman"/>
              </a:rPr>
              <a:t>Enables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RIP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all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interfaces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belong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specific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network. </a:t>
            </a:r>
            <a:r>
              <a:rPr sz="3200" spc="-5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Associated interfaces </a:t>
            </a:r>
            <a:r>
              <a:rPr sz="3200" spc="-5" dirty="0">
                <a:latin typeface="Times New Roman"/>
                <a:cs typeface="Times New Roman"/>
              </a:rPr>
              <a:t>will </a:t>
            </a:r>
            <a:r>
              <a:rPr sz="3200" dirty="0">
                <a:latin typeface="Times New Roman"/>
                <a:cs typeface="Times New Roman"/>
              </a:rPr>
              <a:t>now both send and receive </a:t>
            </a:r>
            <a:r>
              <a:rPr sz="3200" spc="-5" dirty="0">
                <a:latin typeface="Times New Roman"/>
                <a:cs typeface="Times New Roman"/>
              </a:rPr>
              <a:t>RIP </a:t>
            </a:r>
            <a:r>
              <a:rPr sz="3200" dirty="0">
                <a:latin typeface="Times New Roman"/>
                <a:cs typeface="Times New Roman"/>
              </a:rPr>
              <a:t> updates.</a:t>
            </a:r>
          </a:p>
          <a:p>
            <a:pPr marL="789305" marR="5080" lvl="1" indent="-457200">
              <a:lnSpc>
                <a:spcPts val="2300"/>
              </a:lnSpc>
              <a:spcBef>
                <a:spcPts val="395"/>
              </a:spcBef>
              <a:buClr>
                <a:srgbClr val="9B2C1F"/>
              </a:buClr>
              <a:buSzPct val="85416"/>
              <a:buFont typeface="Wingdings" panose="05000000000000000000" pitchFamily="2" charset="2"/>
              <a:buChar char="ü"/>
              <a:tabLst>
                <a:tab pos="561975" algn="l"/>
              </a:tabLst>
            </a:pPr>
            <a:r>
              <a:rPr sz="3200" dirty="0">
                <a:latin typeface="Times New Roman"/>
                <a:cs typeface="Times New Roman"/>
              </a:rPr>
              <a:t>Advertises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specified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network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RIP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routing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updates </a:t>
            </a:r>
            <a:r>
              <a:rPr sz="3200" dirty="0">
                <a:latin typeface="Times New Roman"/>
                <a:cs typeface="Times New Roman"/>
              </a:rPr>
              <a:t>sent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 </a:t>
            </a:r>
            <a:r>
              <a:rPr sz="3200" spc="-5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other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routers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every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30 </a:t>
            </a:r>
            <a:r>
              <a:rPr sz="3200" spc="-5" dirty="0">
                <a:latin typeface="Times New Roman"/>
                <a:cs typeface="Times New Roman"/>
              </a:rPr>
              <a:t>seconds..</a:t>
            </a:r>
            <a:endParaRPr sz="3200" dirty="0">
              <a:latin typeface="Times New Roman"/>
              <a:cs typeface="Times New Roman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89580583-08EF-445A-A421-BBD29C9DD24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571" y="1683912"/>
            <a:ext cx="7975681" cy="136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45591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484217"/>
            <a:ext cx="7166402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dirty="0">
                <a:solidFill>
                  <a:schemeClr val="bg1"/>
                </a:solidFill>
              </a:rPr>
              <a:t>RIPv1 Basic Configuration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62BA707-6BCC-4B51-98A9-D071811C3245}"/>
              </a:ext>
            </a:extLst>
          </p:cNvPr>
          <p:cNvSpPr txBox="1"/>
          <p:nvPr/>
        </p:nvSpPr>
        <p:spPr>
          <a:xfrm>
            <a:off x="569244" y="3214971"/>
            <a:ext cx="8944677" cy="358367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marR="917575" indent="-45720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287655" algn="l"/>
              </a:tabLst>
            </a:pP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sz="3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</a:t>
            </a:r>
            <a:r>
              <a:rPr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</a:t>
            </a:r>
            <a:r>
              <a:rPr sz="3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occurs</a:t>
            </a:r>
            <a:r>
              <a:rPr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3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</a:t>
            </a:r>
            <a:r>
              <a:rPr sz="3200" spc="-6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</a:t>
            </a:r>
            <a:r>
              <a:rPr sz="3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720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287655" algn="l"/>
              </a:tabLst>
            </a:pPr>
            <a:r>
              <a:rPr sz="3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3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6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r>
              <a:rPr sz="3200" b="1" spc="8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3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200" b="1" spc="34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3200" b="1" spc="7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3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</a:t>
            </a:r>
            <a:r>
              <a:rPr sz="3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RIP,</a:t>
            </a:r>
            <a:r>
              <a:rPr sz="3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would</a:t>
            </a:r>
            <a:r>
              <a:rPr sz="3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sz="2800" spc="-65" dirty="0">
                <a:latin typeface="Georgia"/>
                <a:cs typeface="Georgia"/>
              </a:rPr>
              <a:t>:</a:t>
            </a:r>
            <a:endParaRPr sz="2800" dirty="0">
              <a:latin typeface="Georgia"/>
              <a:cs typeface="Georgia"/>
            </a:endParaRPr>
          </a:p>
          <a:p>
            <a:pPr marL="561340" lvl="1" indent="-229235">
              <a:lnSpc>
                <a:spcPct val="100000"/>
              </a:lnSpc>
              <a:spcBef>
                <a:spcPts val="370"/>
              </a:spcBef>
              <a:buClr>
                <a:srgbClr val="9B2C1F"/>
              </a:buClr>
              <a:buSzPct val="85416"/>
              <a:buFont typeface="Wingdings"/>
              <a:buChar char=""/>
              <a:tabLst>
                <a:tab pos="561975" algn="l"/>
              </a:tabLst>
            </a:pPr>
            <a:r>
              <a:rPr sz="2800" b="1" spc="325" dirty="0">
                <a:latin typeface="Calibri"/>
                <a:cs typeface="Calibri"/>
              </a:rPr>
              <a:t>R</a:t>
            </a:r>
            <a:r>
              <a:rPr sz="2800" b="1" spc="35" dirty="0">
                <a:latin typeface="Calibri"/>
                <a:cs typeface="Calibri"/>
              </a:rPr>
              <a:t>o</a:t>
            </a:r>
            <a:r>
              <a:rPr sz="2800" b="1" spc="25" dirty="0">
                <a:latin typeface="Calibri"/>
                <a:cs typeface="Calibri"/>
              </a:rPr>
              <a:t>u</a:t>
            </a:r>
            <a:r>
              <a:rPr sz="2800" b="1" spc="-25" dirty="0">
                <a:latin typeface="Calibri"/>
                <a:cs typeface="Calibri"/>
              </a:rPr>
              <a:t>t</a:t>
            </a:r>
            <a:r>
              <a:rPr sz="2800" b="1" spc="-15" dirty="0">
                <a:latin typeface="Calibri"/>
                <a:cs typeface="Calibri"/>
              </a:rPr>
              <a:t>e</a:t>
            </a:r>
            <a:r>
              <a:rPr sz="2800" b="1" spc="-40" dirty="0">
                <a:latin typeface="Calibri"/>
                <a:cs typeface="Calibri"/>
              </a:rPr>
              <a:t>r</a:t>
            </a:r>
            <a:r>
              <a:rPr sz="2800" b="1" spc="409" dirty="0">
                <a:latin typeface="Calibri"/>
                <a:cs typeface="Calibri"/>
              </a:rPr>
              <a:t>A</a:t>
            </a:r>
            <a:r>
              <a:rPr sz="2800" b="1" spc="50" dirty="0">
                <a:latin typeface="Calibri"/>
                <a:cs typeface="Calibri"/>
              </a:rPr>
              <a:t>(</a:t>
            </a:r>
            <a:r>
              <a:rPr sz="2800" b="1" spc="75" dirty="0">
                <a:latin typeface="Calibri"/>
                <a:cs typeface="Calibri"/>
              </a:rPr>
              <a:t>config</a:t>
            </a:r>
            <a:r>
              <a:rPr sz="2800" b="1" spc="225" dirty="0">
                <a:latin typeface="Calibri"/>
                <a:cs typeface="Calibri"/>
              </a:rPr>
              <a:t>)#</a:t>
            </a:r>
            <a:r>
              <a:rPr sz="2800" b="1" spc="114" dirty="0">
                <a:latin typeface="Calibri"/>
                <a:cs typeface="Calibri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r</a:t>
            </a:r>
            <a:r>
              <a:rPr sz="2800" spc="-90" dirty="0">
                <a:latin typeface="Times New Roman"/>
                <a:cs typeface="Times New Roman"/>
              </a:rPr>
              <a:t>outer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75" dirty="0">
                <a:latin typeface="Times New Roman"/>
                <a:cs typeface="Times New Roman"/>
              </a:rPr>
              <a:t>rip</a:t>
            </a:r>
            <a:endParaRPr sz="2800" dirty="0">
              <a:latin typeface="Times New Roman"/>
              <a:cs typeface="Times New Roman"/>
            </a:endParaRPr>
          </a:p>
          <a:p>
            <a:pPr marL="561340" lvl="1" indent="-229235">
              <a:lnSpc>
                <a:spcPct val="100000"/>
              </a:lnSpc>
              <a:spcBef>
                <a:spcPts val="409"/>
              </a:spcBef>
              <a:buClr>
                <a:srgbClr val="9B2C1F"/>
              </a:buClr>
              <a:buSzPct val="85416"/>
              <a:buFont typeface="Wingdings"/>
              <a:buChar char=""/>
              <a:tabLst>
                <a:tab pos="561975" algn="l"/>
              </a:tabLst>
            </a:pPr>
            <a:r>
              <a:rPr sz="2800" b="1" spc="80" dirty="0">
                <a:latin typeface="Calibri"/>
                <a:cs typeface="Calibri"/>
              </a:rPr>
              <a:t>RouterA(config-router)#</a:t>
            </a:r>
            <a:r>
              <a:rPr sz="2800" b="1" spc="130" dirty="0">
                <a:latin typeface="Calibri"/>
                <a:cs typeface="Calibri"/>
              </a:rPr>
              <a:t> </a:t>
            </a:r>
            <a:r>
              <a:rPr sz="2800" spc="-60" dirty="0">
                <a:latin typeface="Times New Roman"/>
                <a:cs typeface="Times New Roman"/>
              </a:rPr>
              <a:t>network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172.16.0.0</a:t>
            </a:r>
            <a:endParaRPr sz="2800" dirty="0">
              <a:latin typeface="Times New Roman"/>
              <a:cs typeface="Times New Roman"/>
            </a:endParaRPr>
          </a:p>
          <a:p>
            <a:pPr marL="561340" lvl="1" indent="-22923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5416"/>
              <a:buFont typeface="Wingdings"/>
              <a:buChar char=""/>
              <a:tabLst>
                <a:tab pos="561975" algn="l"/>
              </a:tabLst>
            </a:pPr>
            <a:r>
              <a:rPr sz="2800" b="1" spc="80" dirty="0">
                <a:latin typeface="Calibri"/>
                <a:cs typeface="Calibri"/>
              </a:rPr>
              <a:t>RouterA(config-router)#</a:t>
            </a:r>
            <a:r>
              <a:rPr sz="2800" b="1" spc="130" dirty="0">
                <a:latin typeface="Calibri"/>
                <a:cs typeface="Calibri"/>
              </a:rPr>
              <a:t> </a:t>
            </a:r>
            <a:r>
              <a:rPr sz="2800" spc="-60" dirty="0">
                <a:latin typeface="Times New Roman"/>
                <a:cs typeface="Times New Roman"/>
              </a:rPr>
              <a:t>network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172.17.0.0</a:t>
            </a:r>
            <a:endParaRPr sz="2800" dirty="0">
              <a:latin typeface="Times New Roman"/>
              <a:cs typeface="Times New Roman"/>
            </a:endParaRPr>
          </a:p>
          <a:p>
            <a:pPr marL="469265" indent="-457200">
              <a:lnSpc>
                <a:spcPct val="100000"/>
              </a:lnSpc>
              <a:spcBef>
                <a:spcPts val="595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287655" algn="l"/>
              </a:tabLst>
            </a:pP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10" dirty="0">
                <a:latin typeface="Georgia"/>
                <a:cs typeface="Georgia"/>
              </a:rPr>
              <a:t> </a:t>
            </a:r>
            <a:r>
              <a:rPr sz="2800" spc="-95" dirty="0">
                <a:latin typeface="Georgia"/>
                <a:cs typeface="Georgia"/>
              </a:rPr>
              <a:t>first</a:t>
            </a:r>
            <a:r>
              <a:rPr sz="2800" spc="30" dirty="0">
                <a:latin typeface="Georgia"/>
                <a:cs typeface="Georgia"/>
              </a:rPr>
              <a:t> </a:t>
            </a:r>
            <a:r>
              <a:rPr sz="2800" spc="-50" dirty="0">
                <a:latin typeface="Georgia"/>
                <a:cs typeface="Georgia"/>
              </a:rPr>
              <a:t>command,</a:t>
            </a:r>
            <a:r>
              <a:rPr sz="2800" spc="30" dirty="0">
                <a:latin typeface="Georgia"/>
                <a:cs typeface="Georgia"/>
              </a:rPr>
              <a:t> </a:t>
            </a:r>
            <a:r>
              <a:rPr sz="2800" b="1" spc="-215" dirty="0">
                <a:solidFill>
                  <a:srgbClr val="FF0000"/>
                </a:solidFill>
                <a:latin typeface="Cambria"/>
                <a:cs typeface="Cambria"/>
              </a:rPr>
              <a:t>router</a:t>
            </a:r>
            <a:r>
              <a:rPr sz="2800" b="1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b="1" spc="-125" dirty="0">
                <a:solidFill>
                  <a:srgbClr val="FF0000"/>
                </a:solidFill>
                <a:latin typeface="Cambria"/>
                <a:cs typeface="Cambria"/>
              </a:rPr>
              <a:t>rip</a:t>
            </a:r>
            <a:r>
              <a:rPr sz="2800" i="1" spc="-125" dirty="0">
                <a:latin typeface="Times New Roman"/>
                <a:cs typeface="Times New Roman"/>
              </a:rPr>
              <a:t>,</a:t>
            </a:r>
            <a:r>
              <a:rPr sz="2800" i="1" spc="-35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Georgia"/>
                <a:cs typeface="Georgia"/>
              </a:rPr>
              <a:t>enables</a:t>
            </a:r>
            <a:r>
              <a:rPr sz="2800" spc="15" dirty="0">
                <a:latin typeface="Georgia"/>
                <a:cs typeface="Georgia"/>
              </a:rPr>
              <a:t> </a:t>
            </a:r>
            <a:r>
              <a:rPr sz="2800" spc="-85" dirty="0">
                <a:latin typeface="Georgia"/>
                <a:cs typeface="Georgia"/>
              </a:rPr>
              <a:t>the</a:t>
            </a:r>
            <a:r>
              <a:rPr sz="2800" spc="25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RIP</a:t>
            </a:r>
            <a:r>
              <a:rPr sz="2800" spc="25" dirty="0">
                <a:latin typeface="Georgia"/>
                <a:cs typeface="Georgia"/>
              </a:rPr>
              <a:t> </a:t>
            </a:r>
            <a:r>
              <a:rPr sz="2800" spc="-70" dirty="0">
                <a:latin typeface="Georgia"/>
                <a:cs typeface="Georgia"/>
              </a:rPr>
              <a:t>process</a:t>
            </a:r>
            <a:r>
              <a:rPr sz="2800" i="1" spc="-70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CE3F5276-B86A-4183-A16A-A021418704B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704" y="1671034"/>
            <a:ext cx="8268683" cy="166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5533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484217"/>
            <a:ext cx="7166402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dirty="0">
                <a:solidFill>
                  <a:schemeClr val="bg1"/>
                </a:solidFill>
              </a:rPr>
              <a:t>RIPv1 Basic Configuration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1D2A9587-D17D-48BE-9746-D34FCA4A1364}"/>
              </a:ext>
            </a:extLst>
          </p:cNvPr>
          <p:cNvSpPr txBox="1"/>
          <p:nvPr/>
        </p:nvSpPr>
        <p:spPr>
          <a:xfrm>
            <a:off x="128789" y="3322749"/>
            <a:ext cx="9951836" cy="3216393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526415" marR="5080" indent="-514350">
              <a:lnSpc>
                <a:spcPct val="90000"/>
              </a:lnSpc>
              <a:spcBef>
                <a:spcPts val="385"/>
              </a:spcBef>
              <a:buClr>
                <a:srgbClr val="D24717"/>
              </a:buClr>
              <a:buSzPct val="85416"/>
              <a:buFont typeface="Wingdings" panose="05000000000000000000" pitchFamily="2" charset="2"/>
              <a:buChar char="Ø"/>
              <a:tabLst>
                <a:tab pos="286385" algn="l"/>
                <a:tab pos="287020" algn="l"/>
              </a:tabLst>
            </a:pP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sz="2800" b="1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</a:t>
            </a:r>
            <a:r>
              <a:rPr sz="2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ents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orks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wish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 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advertise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routers.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simply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 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router.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Notice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specify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classful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boundaries,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specify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subnet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mask.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290"/>
              </a:spcBef>
              <a:buClr>
                <a:srgbClr val="D24717"/>
              </a:buClr>
              <a:buSzPct val="83928"/>
              <a:buFont typeface="Wingdings" panose="05000000000000000000" pitchFamily="2" charset="2"/>
              <a:buChar char="Ø"/>
              <a:tabLst>
                <a:tab pos="287020" algn="l"/>
              </a:tabLst>
            </a:pP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</a:t>
            </a:r>
            <a:r>
              <a:rPr sz="28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r>
              <a:rPr sz="2800" b="1" spc="8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9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8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8540" lvl="2" indent="-229870">
              <a:spcBef>
                <a:spcPts val="85"/>
              </a:spcBef>
              <a:buClr>
                <a:srgbClr val="9B2C1F"/>
              </a:buClr>
              <a:buSzPct val="85416"/>
              <a:buFont typeface="Wingdings"/>
              <a:buChar char=""/>
              <a:tabLst>
                <a:tab pos="561975" algn="l"/>
              </a:tabLst>
            </a:pPr>
            <a:r>
              <a:rPr sz="2400" b="1" spc="325" dirty="0">
                <a:latin typeface="Calibri"/>
                <a:cs typeface="Calibri"/>
              </a:rPr>
              <a:t>R</a:t>
            </a:r>
            <a:r>
              <a:rPr sz="2400" b="1" spc="35" dirty="0">
                <a:latin typeface="Calibri"/>
                <a:cs typeface="Calibri"/>
              </a:rPr>
              <a:t>o</a:t>
            </a:r>
            <a:r>
              <a:rPr sz="2400" b="1" spc="25" dirty="0">
                <a:latin typeface="Calibri"/>
                <a:cs typeface="Calibri"/>
              </a:rPr>
              <a:t>u</a:t>
            </a:r>
            <a:r>
              <a:rPr sz="2400" b="1" spc="-25" dirty="0">
                <a:latin typeface="Calibri"/>
                <a:cs typeface="Calibri"/>
              </a:rPr>
              <a:t>t</a:t>
            </a:r>
            <a:r>
              <a:rPr sz="2400" b="1" spc="-15" dirty="0">
                <a:latin typeface="Calibri"/>
                <a:cs typeface="Calibri"/>
              </a:rPr>
              <a:t>e</a:t>
            </a:r>
            <a:r>
              <a:rPr sz="2400" b="1" spc="-40" dirty="0">
                <a:latin typeface="Calibri"/>
                <a:cs typeface="Calibri"/>
              </a:rPr>
              <a:t>r</a:t>
            </a:r>
            <a:r>
              <a:rPr sz="2400" b="1" spc="220" dirty="0">
                <a:latin typeface="Calibri"/>
                <a:cs typeface="Calibri"/>
              </a:rPr>
              <a:t>B</a:t>
            </a:r>
            <a:r>
              <a:rPr sz="2400" b="1" spc="50" dirty="0">
                <a:latin typeface="Calibri"/>
                <a:cs typeface="Calibri"/>
              </a:rPr>
              <a:t>(</a:t>
            </a:r>
            <a:r>
              <a:rPr sz="2400" b="1" spc="75" dirty="0">
                <a:latin typeface="Calibri"/>
                <a:cs typeface="Calibri"/>
              </a:rPr>
              <a:t>config</a:t>
            </a:r>
            <a:r>
              <a:rPr sz="2400" b="1" spc="225" dirty="0">
                <a:latin typeface="Calibri"/>
                <a:cs typeface="Calibri"/>
              </a:rPr>
              <a:t>)#</a:t>
            </a:r>
            <a:r>
              <a:rPr sz="2400" b="1" spc="114" dirty="0">
                <a:latin typeface="Calibri"/>
                <a:cs typeface="Calibri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r</a:t>
            </a:r>
            <a:r>
              <a:rPr sz="2400" spc="-90" dirty="0">
                <a:latin typeface="Times New Roman"/>
                <a:cs typeface="Times New Roman"/>
              </a:rPr>
              <a:t>outer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rip</a:t>
            </a:r>
            <a:endParaRPr sz="2400" dirty="0">
              <a:latin typeface="Times New Roman"/>
              <a:cs typeface="Times New Roman"/>
            </a:endParaRPr>
          </a:p>
          <a:p>
            <a:pPr marL="1018540" lvl="2" indent="-229870">
              <a:spcBef>
                <a:spcPts val="120"/>
              </a:spcBef>
              <a:buClr>
                <a:srgbClr val="9B2C1F"/>
              </a:buClr>
              <a:buSzPct val="85416"/>
              <a:buFont typeface="Wingdings"/>
              <a:buChar char=""/>
              <a:tabLst>
                <a:tab pos="561975" algn="l"/>
              </a:tabLst>
            </a:pPr>
            <a:r>
              <a:rPr sz="2400" b="1" spc="75" dirty="0">
                <a:latin typeface="Calibri"/>
                <a:cs typeface="Calibri"/>
              </a:rPr>
              <a:t>RouterB(config-router)#</a:t>
            </a:r>
            <a:r>
              <a:rPr sz="2400" b="1" spc="90" dirty="0">
                <a:latin typeface="Calibri"/>
                <a:cs typeface="Calibri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network </a:t>
            </a:r>
            <a:r>
              <a:rPr sz="2400" spc="-50" dirty="0">
                <a:latin typeface="Times New Roman"/>
                <a:cs typeface="Times New Roman"/>
              </a:rPr>
              <a:t>172.17.0.0</a:t>
            </a:r>
            <a:endParaRPr sz="2400" dirty="0">
              <a:latin typeface="Times New Roman"/>
              <a:cs typeface="Times New Roman"/>
            </a:endParaRPr>
          </a:p>
          <a:p>
            <a:pPr marL="1018540" lvl="2" indent="-229870">
              <a:spcBef>
                <a:spcPts val="110"/>
              </a:spcBef>
              <a:buClr>
                <a:srgbClr val="9B2C1F"/>
              </a:buClr>
              <a:buSzPct val="85416"/>
              <a:buFont typeface="Wingdings"/>
              <a:buChar char=""/>
              <a:tabLst>
                <a:tab pos="561975" algn="l"/>
              </a:tabLst>
            </a:pPr>
            <a:r>
              <a:rPr sz="2400" b="1" spc="75" dirty="0">
                <a:latin typeface="Calibri"/>
                <a:cs typeface="Calibri"/>
              </a:rPr>
              <a:t>RouterB(config-router)#</a:t>
            </a:r>
            <a:r>
              <a:rPr sz="2400" b="1" spc="90" dirty="0">
                <a:latin typeface="Calibri"/>
                <a:cs typeface="Calibri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network </a:t>
            </a:r>
            <a:r>
              <a:rPr sz="2400" spc="-50" dirty="0">
                <a:latin typeface="Times New Roman"/>
                <a:cs typeface="Times New Roman"/>
              </a:rPr>
              <a:t>172.18.0.0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5B844246-7A84-4036-BBC5-F8235992283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783" y="1838460"/>
            <a:ext cx="7696200" cy="138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75110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484217"/>
            <a:ext cx="7166402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dirty="0">
                <a:solidFill>
                  <a:schemeClr val="bg1"/>
                </a:solidFill>
              </a:rPr>
              <a:t>RIPv1 Basic Configuration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D2EF7B8-3E59-4283-975C-4EB8B3711764}"/>
              </a:ext>
            </a:extLst>
          </p:cNvPr>
          <p:cNvSpPr txBox="1"/>
          <p:nvPr/>
        </p:nvSpPr>
        <p:spPr>
          <a:xfrm>
            <a:off x="1042352" y="3476460"/>
            <a:ext cx="7846060" cy="1147109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665"/>
              </a:spcBef>
              <a:buClr>
                <a:srgbClr val="D24717"/>
              </a:buClr>
              <a:buSzPct val="83928"/>
              <a:buFont typeface="Wingdings" panose="05000000000000000000" pitchFamily="2" charset="2"/>
              <a:buChar char="Ø"/>
              <a:tabLst>
                <a:tab pos="287020" algn="l"/>
              </a:tabLst>
            </a:pP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sz="32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sz="32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3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r>
              <a:rPr sz="3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32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</a:t>
            </a:r>
            <a:r>
              <a:rPr sz="3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spcBef>
                <a:spcPts val="565"/>
              </a:spcBef>
              <a:buClr>
                <a:srgbClr val="D24717"/>
              </a:buClr>
              <a:buSzPct val="83928"/>
              <a:buFont typeface="Wingdings" panose="05000000000000000000" pitchFamily="2" charset="2"/>
              <a:buChar char="Ø"/>
              <a:tabLst>
                <a:tab pos="287020" algn="l"/>
              </a:tabLst>
            </a:pPr>
            <a:r>
              <a:rPr sz="3200" b="1" spc="37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3200" b="1" spc="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3200" b="1" spc="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3200" b="1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3200" b="1" spc="13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sz="3200" b="1" spc="19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200" b="1" spc="4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sz="3200" b="1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229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</a:t>
            </a:r>
            <a:r>
              <a:rPr sz="3200" b="1" spc="-3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3200" b="1" spc="8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3200" b="1" spc="-19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3200" b="1" spc="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2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790BEF2B-BECC-4783-B798-F5EFA79B789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2212" y="1928611"/>
            <a:ext cx="7696200" cy="1382866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id="{D5BA7C04-35C9-4446-A895-E693C534D4A2}"/>
              </a:ext>
            </a:extLst>
          </p:cNvPr>
          <p:cNvSpPr txBox="1"/>
          <p:nvPr/>
        </p:nvSpPr>
        <p:spPr>
          <a:xfrm>
            <a:off x="963612" y="4900411"/>
            <a:ext cx="8534400" cy="1752600"/>
          </a:xfrm>
          <a:prstGeom prst="rect">
            <a:avLst/>
          </a:prstGeom>
          <a:solidFill>
            <a:srgbClr val="F9D9CD"/>
          </a:solidFill>
        </p:spPr>
        <p:txBody>
          <a:bodyPr vert="horz" wrap="square" lIns="0" tIns="31750" rIns="0" bIns="0" rtlCol="0">
            <a:spAutoFit/>
          </a:bodyPr>
          <a:lstStyle/>
          <a:p>
            <a:pPr marL="323850" marR="313055" algn="ctr">
              <a:lnSpc>
                <a:spcPct val="100000"/>
              </a:lnSpc>
              <a:spcBef>
                <a:spcPts val="250"/>
              </a:spcBef>
            </a:pPr>
            <a:r>
              <a:rPr sz="3600" spc="-5" dirty="0">
                <a:latin typeface="Times New Roman"/>
                <a:cs typeface="Times New Roman"/>
              </a:rPr>
              <a:t>Examining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routing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table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is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easy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way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 </a:t>
            </a:r>
            <a:r>
              <a:rPr sz="3600" spc="-5" dirty="0">
                <a:latin typeface="Times New Roman"/>
                <a:cs typeface="Times New Roman"/>
              </a:rPr>
              <a:t>see </a:t>
            </a:r>
            <a:r>
              <a:rPr sz="3600" dirty="0">
                <a:latin typeface="Times New Roman"/>
                <a:cs typeface="Times New Roman"/>
              </a:rPr>
              <a:t>whether the routing protocol and 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commands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have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been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properly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configured.</a:t>
            </a:r>
          </a:p>
        </p:txBody>
      </p:sp>
    </p:spTree>
    <p:extLst>
      <p:ext uri="{BB962C8B-B14F-4D97-AF65-F5344CB8AC3E}">
        <p14:creationId xmlns:p14="http://schemas.microsoft.com/office/powerpoint/2010/main" val="351844541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484217"/>
            <a:ext cx="7166402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spc="345" dirty="0">
                <a:solidFill>
                  <a:schemeClr val="bg1"/>
                </a:solidFill>
              </a:rPr>
              <a:t>RIPv1</a:t>
            </a:r>
            <a:r>
              <a:rPr lang="en-US" sz="4400" spc="65" dirty="0">
                <a:solidFill>
                  <a:schemeClr val="bg1"/>
                </a:solidFill>
              </a:rPr>
              <a:t> </a:t>
            </a:r>
            <a:r>
              <a:rPr lang="en-US" sz="4400" spc="160" dirty="0">
                <a:solidFill>
                  <a:schemeClr val="bg1"/>
                </a:solidFill>
              </a:rPr>
              <a:t>Basic</a:t>
            </a:r>
            <a:r>
              <a:rPr lang="en-US" sz="4400" spc="95" dirty="0">
                <a:solidFill>
                  <a:schemeClr val="bg1"/>
                </a:solidFill>
              </a:rPr>
              <a:t> </a:t>
            </a:r>
            <a:r>
              <a:rPr lang="en-US" sz="4400" spc="170" dirty="0">
                <a:solidFill>
                  <a:schemeClr val="bg1"/>
                </a:solidFill>
              </a:rPr>
              <a:t>Configuration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47C2E5A-C542-45B0-B4D1-70BD14898140}"/>
              </a:ext>
            </a:extLst>
          </p:cNvPr>
          <p:cNvSpPr txBox="1"/>
          <p:nvPr/>
        </p:nvSpPr>
        <p:spPr>
          <a:xfrm>
            <a:off x="459740" y="3475677"/>
            <a:ext cx="8040316" cy="107016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365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287020" algn="l"/>
              </a:tabLst>
            </a:pP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sz="3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3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r>
              <a:rPr sz="3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3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</a:t>
            </a:r>
            <a:r>
              <a:rPr sz="3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spcBef>
                <a:spcPts val="265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287020" algn="l"/>
              </a:tabLst>
            </a:pPr>
            <a:r>
              <a:rPr sz="3200" b="1" spc="3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3200" b="1" spc="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3200" b="1" spc="1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erA</a:t>
            </a:r>
            <a:r>
              <a:rPr sz="3200" b="1" spc="4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sz="3200" b="1" spc="8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9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3200" b="1" spc="-2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3200" b="1" spc="-24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</a:t>
            </a:r>
            <a:r>
              <a:rPr sz="3200" b="1" spc="5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3200" b="1" spc="-17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3200" b="1" spc="7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2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</a:t>
            </a:r>
            <a:r>
              <a:rPr sz="3200" b="1" spc="-16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3200" b="1" spc="-26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B6873851-7C4B-41D6-A51D-C21CAB588D2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435" y="4504606"/>
            <a:ext cx="8348292" cy="2272573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E906292C-82EA-4EEC-B6CB-83DECDDAB59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6873" y="1721940"/>
            <a:ext cx="7696200" cy="138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8313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484217"/>
            <a:ext cx="7166402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spc="345" dirty="0">
                <a:solidFill>
                  <a:schemeClr val="bg1"/>
                </a:solidFill>
              </a:rPr>
              <a:t>RIPv1</a:t>
            </a:r>
            <a:r>
              <a:rPr lang="en-US" sz="4400" spc="65" dirty="0">
                <a:solidFill>
                  <a:schemeClr val="bg1"/>
                </a:solidFill>
              </a:rPr>
              <a:t> </a:t>
            </a:r>
            <a:r>
              <a:rPr lang="en-US" sz="4400" spc="160" dirty="0">
                <a:solidFill>
                  <a:schemeClr val="bg1"/>
                </a:solidFill>
              </a:rPr>
              <a:t>Basic</a:t>
            </a:r>
            <a:r>
              <a:rPr lang="en-US" sz="4400" spc="95" dirty="0">
                <a:solidFill>
                  <a:schemeClr val="bg1"/>
                </a:solidFill>
              </a:rPr>
              <a:t> </a:t>
            </a:r>
            <a:r>
              <a:rPr lang="en-US" sz="4400" spc="170" dirty="0">
                <a:solidFill>
                  <a:schemeClr val="bg1"/>
                </a:solidFill>
              </a:rPr>
              <a:t>Configuration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6379C42-C6CC-4372-98E1-97B1A635A587}"/>
              </a:ext>
            </a:extLst>
          </p:cNvPr>
          <p:cNvSpPr txBox="1"/>
          <p:nvPr/>
        </p:nvSpPr>
        <p:spPr>
          <a:xfrm>
            <a:off x="265008" y="3054802"/>
            <a:ext cx="8358505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5416"/>
              <a:buFont typeface="Wingdings" panose="05000000000000000000" pitchFamily="2" charset="2"/>
              <a:buChar char="Ø"/>
              <a:tabLst>
                <a:tab pos="286385" algn="l"/>
                <a:tab pos="287020" algn="l"/>
              </a:tabLst>
            </a:pPr>
            <a:r>
              <a:rPr sz="2800" spc="-5" dirty="0">
                <a:latin typeface="Times New Roman"/>
                <a:cs typeface="Times New Roman"/>
              </a:rPr>
              <a:t>Now </a:t>
            </a:r>
            <a:r>
              <a:rPr sz="2800" dirty="0">
                <a:latin typeface="Times New Roman"/>
                <a:cs typeface="Times New Roman"/>
              </a:rPr>
              <a:t>focus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RIP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learned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Router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interpret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output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shown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 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table: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60303E1B-CDA0-40DA-A0D9-F84F43CBB54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308" y="1683202"/>
            <a:ext cx="7696200" cy="1371600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id="{CA6CB0CF-883A-4176-9477-1FE1CCAF82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7308" y="4544857"/>
            <a:ext cx="8983362" cy="269804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5000"/>
              <a:buFont typeface="Wingdings" panose="05000000000000000000" pitchFamily="2" charset="2"/>
              <a:buChar char="ü"/>
              <a:tabLst>
                <a:tab pos="286385" algn="l"/>
                <a:tab pos="287020" algn="l"/>
              </a:tabLst>
            </a:pPr>
            <a:r>
              <a:rPr b="1" dirty="0">
                <a:solidFill>
                  <a:srgbClr val="FF0000"/>
                </a:solidFill>
              </a:rPr>
              <a:t>R</a:t>
            </a:r>
            <a:r>
              <a:rPr dirty="0"/>
              <a:t>:</a:t>
            </a:r>
            <a:r>
              <a:rPr spc="-25" dirty="0"/>
              <a:t> </a:t>
            </a:r>
            <a:r>
              <a:rPr dirty="0"/>
              <a:t>identifies</a:t>
            </a:r>
            <a:r>
              <a:rPr spc="-5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source</a:t>
            </a:r>
            <a:r>
              <a:rPr spc="-4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route</a:t>
            </a:r>
            <a:r>
              <a:rPr spc="-30" dirty="0"/>
              <a:t> </a:t>
            </a:r>
            <a:r>
              <a:rPr dirty="0"/>
              <a:t>as</a:t>
            </a:r>
            <a:r>
              <a:rPr spc="-15" dirty="0"/>
              <a:t> </a:t>
            </a:r>
            <a:r>
              <a:rPr dirty="0"/>
              <a:t>RIP</a:t>
            </a:r>
            <a:endParaRPr lang="en-US" dirty="0"/>
          </a:p>
          <a:p>
            <a:pPr marL="527050" indent="-51435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5000"/>
              <a:buFont typeface="Wingdings" panose="05000000000000000000" pitchFamily="2" charset="2"/>
              <a:buChar char="ü"/>
              <a:tabLst>
                <a:tab pos="286385" algn="l"/>
                <a:tab pos="287020" algn="l"/>
              </a:tabLst>
            </a:pPr>
            <a:r>
              <a:rPr b="1" dirty="0">
                <a:solidFill>
                  <a:srgbClr val="FF0000"/>
                </a:solidFill>
              </a:rPr>
              <a:t>172.18.0.0</a:t>
            </a:r>
            <a:r>
              <a:rPr dirty="0"/>
              <a:t>:</a:t>
            </a:r>
            <a:r>
              <a:rPr spc="-50" dirty="0"/>
              <a:t> </a:t>
            </a:r>
            <a:r>
              <a:rPr spc="-5" dirty="0"/>
              <a:t>indicates</a:t>
            </a:r>
            <a:r>
              <a:rPr spc="-30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address</a:t>
            </a:r>
            <a:r>
              <a:rPr spc="-2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the</a:t>
            </a:r>
            <a:r>
              <a:rPr spc="-5" dirty="0"/>
              <a:t> remote </a:t>
            </a:r>
            <a:r>
              <a:rPr dirty="0"/>
              <a:t>network</a:t>
            </a:r>
            <a:endParaRPr lang="en-US" dirty="0"/>
          </a:p>
          <a:p>
            <a:pPr marL="527050" indent="-51435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5000"/>
              <a:buFont typeface="Wingdings" panose="05000000000000000000" pitchFamily="2" charset="2"/>
              <a:buChar char="ü"/>
              <a:tabLst>
                <a:tab pos="286385" algn="l"/>
                <a:tab pos="287020" algn="l"/>
              </a:tabLst>
            </a:pPr>
            <a:r>
              <a:rPr b="1" dirty="0">
                <a:solidFill>
                  <a:srgbClr val="FF0000"/>
                </a:solidFill>
              </a:rPr>
              <a:t>[120/1]:</a:t>
            </a:r>
            <a:r>
              <a:rPr b="1" spc="-40" dirty="0">
                <a:solidFill>
                  <a:srgbClr val="FF0000"/>
                </a:solidFill>
              </a:rPr>
              <a:t> </a:t>
            </a:r>
            <a:r>
              <a:rPr spc="-5" dirty="0"/>
              <a:t>indicates</a:t>
            </a:r>
            <a:r>
              <a:rPr spc="-30" dirty="0"/>
              <a:t> </a:t>
            </a:r>
            <a:r>
              <a:rPr dirty="0"/>
              <a:t>the</a:t>
            </a:r>
            <a:r>
              <a:rPr spc="-5" dirty="0"/>
              <a:t> administrative</a:t>
            </a:r>
            <a:r>
              <a:rPr spc="-20" dirty="0"/>
              <a:t> </a:t>
            </a:r>
            <a:r>
              <a:rPr dirty="0"/>
              <a:t>distance</a:t>
            </a:r>
            <a:r>
              <a:rPr spc="-35" dirty="0"/>
              <a:t> </a:t>
            </a:r>
            <a:r>
              <a:rPr dirty="0"/>
              <a:t>(120)</a:t>
            </a:r>
            <a:r>
              <a:rPr spc="-35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5" dirty="0"/>
              <a:t>metric</a:t>
            </a:r>
            <a:r>
              <a:rPr spc="5" dirty="0"/>
              <a:t> </a:t>
            </a:r>
            <a:r>
              <a:rPr dirty="0"/>
              <a:t>(1</a:t>
            </a:r>
            <a:r>
              <a:rPr spc="-5" dirty="0"/>
              <a:t> </a:t>
            </a:r>
            <a:r>
              <a:rPr dirty="0"/>
              <a:t>hop)</a:t>
            </a:r>
            <a:endParaRPr lang="en-US" dirty="0"/>
          </a:p>
          <a:p>
            <a:pPr marL="527050" indent="-51435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5000"/>
              <a:buFont typeface="Wingdings" panose="05000000000000000000" pitchFamily="2" charset="2"/>
              <a:buChar char="ü"/>
              <a:tabLst>
                <a:tab pos="286385" algn="l"/>
                <a:tab pos="287020" algn="l"/>
              </a:tabLst>
            </a:pPr>
            <a:r>
              <a:rPr b="1" spc="-40" dirty="0">
                <a:solidFill>
                  <a:srgbClr val="FF0000"/>
                </a:solidFill>
              </a:rPr>
              <a:t>Via</a:t>
            </a:r>
            <a:r>
              <a:rPr b="1" spc="-25" dirty="0">
                <a:solidFill>
                  <a:srgbClr val="FF0000"/>
                </a:solidFill>
              </a:rPr>
              <a:t> </a:t>
            </a:r>
            <a:r>
              <a:rPr b="1" dirty="0">
                <a:solidFill>
                  <a:srgbClr val="FF0000"/>
                </a:solidFill>
              </a:rPr>
              <a:t>172.17.1.2</a:t>
            </a:r>
            <a:r>
              <a:rPr b="1" spc="-50" dirty="0">
                <a:solidFill>
                  <a:srgbClr val="FF0000"/>
                </a:solidFill>
              </a:rPr>
              <a:t> </a:t>
            </a:r>
            <a:r>
              <a:rPr dirty="0"/>
              <a:t>specifies</a:t>
            </a:r>
            <a:r>
              <a:rPr spc="-3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address</a:t>
            </a:r>
            <a:r>
              <a:rPr spc="475" dirty="0"/>
              <a:t> </a:t>
            </a:r>
            <a:r>
              <a:rPr spc="5" dirty="0"/>
              <a:t>of</a:t>
            </a:r>
            <a:r>
              <a:rPr spc="-1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next-hop</a:t>
            </a:r>
            <a:r>
              <a:rPr spc="-35" dirty="0"/>
              <a:t> </a:t>
            </a:r>
            <a:r>
              <a:rPr dirty="0"/>
              <a:t>routerB</a:t>
            </a:r>
            <a:r>
              <a:rPr spc="-3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send</a:t>
            </a:r>
            <a:r>
              <a:rPr spc="-15" dirty="0"/>
              <a:t> </a:t>
            </a:r>
            <a:r>
              <a:rPr spc="-5" dirty="0"/>
              <a:t>traffic</a:t>
            </a:r>
            <a:r>
              <a:rPr spc="-35" dirty="0"/>
              <a:t> </a:t>
            </a:r>
            <a:r>
              <a:rPr dirty="0"/>
              <a:t>to</a:t>
            </a:r>
            <a:r>
              <a:rPr lang="en-US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5" dirty="0"/>
              <a:t>remote</a:t>
            </a:r>
            <a:r>
              <a:rPr spc="-20" dirty="0"/>
              <a:t> </a:t>
            </a:r>
            <a:r>
              <a:rPr dirty="0"/>
              <a:t>network</a:t>
            </a:r>
            <a:r>
              <a:rPr lang="en-US" dirty="0"/>
              <a:t>.</a:t>
            </a: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626B7F7-6138-4E68-9463-DB5BE5730FFA}"/>
              </a:ext>
            </a:extLst>
          </p:cNvPr>
          <p:cNvSpPr txBox="1"/>
          <p:nvPr/>
        </p:nvSpPr>
        <p:spPr>
          <a:xfrm>
            <a:off x="977160" y="3929400"/>
            <a:ext cx="6934200" cy="400685"/>
          </a:xfrm>
          <a:prstGeom prst="rect">
            <a:avLst/>
          </a:prstGeom>
          <a:solidFill>
            <a:srgbClr val="F9D9CD"/>
          </a:solidFill>
        </p:spPr>
        <p:txBody>
          <a:bodyPr vert="horz" wrap="square" lIns="0" tIns="10160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80"/>
              </a:spcBef>
              <a:tabLst>
                <a:tab pos="1041400" algn="l"/>
                <a:tab pos="2338705" algn="l"/>
                <a:tab pos="3350895" algn="l"/>
                <a:tab pos="3839210" algn="l"/>
                <a:tab pos="5135880" algn="l"/>
              </a:tabLst>
            </a:pPr>
            <a:r>
              <a:rPr sz="2000" b="1" spc="-130" dirty="0">
                <a:latin typeface="Times New Roman"/>
                <a:cs typeface="Times New Roman"/>
              </a:rPr>
              <a:t>R	</a:t>
            </a:r>
            <a:r>
              <a:rPr sz="2000" b="1" spc="-95" dirty="0">
                <a:latin typeface="Times New Roman"/>
                <a:cs typeface="Times New Roman"/>
              </a:rPr>
              <a:t>172</a:t>
            </a:r>
            <a:r>
              <a:rPr sz="2000" b="1" spc="-20" dirty="0">
                <a:latin typeface="Times New Roman"/>
                <a:cs typeface="Times New Roman"/>
              </a:rPr>
              <a:t>.</a:t>
            </a:r>
            <a:r>
              <a:rPr sz="2000" b="1" spc="-55" dirty="0">
                <a:latin typeface="Times New Roman"/>
                <a:cs typeface="Times New Roman"/>
              </a:rPr>
              <a:t>1</a:t>
            </a:r>
            <a:r>
              <a:rPr sz="2000" b="1" spc="-95" dirty="0">
                <a:latin typeface="Times New Roman"/>
                <a:cs typeface="Times New Roman"/>
              </a:rPr>
              <a:t>8</a:t>
            </a:r>
            <a:r>
              <a:rPr sz="2000" b="1" spc="-20" dirty="0">
                <a:latin typeface="Times New Roman"/>
                <a:cs typeface="Times New Roman"/>
              </a:rPr>
              <a:t>.</a:t>
            </a:r>
            <a:r>
              <a:rPr sz="2000" b="1" spc="-55" dirty="0">
                <a:latin typeface="Times New Roman"/>
                <a:cs typeface="Times New Roman"/>
              </a:rPr>
              <a:t>0</a:t>
            </a:r>
            <a:r>
              <a:rPr sz="2000" b="1" spc="-30" dirty="0">
                <a:latin typeface="Times New Roman"/>
                <a:cs typeface="Times New Roman"/>
              </a:rPr>
              <a:t>.0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35" dirty="0">
                <a:latin typeface="Times New Roman"/>
                <a:cs typeface="Times New Roman"/>
              </a:rPr>
              <a:t>[1</a:t>
            </a:r>
            <a:r>
              <a:rPr sz="2000" b="1" spc="-55" dirty="0">
                <a:latin typeface="Times New Roman"/>
                <a:cs typeface="Times New Roman"/>
              </a:rPr>
              <a:t>2</a:t>
            </a:r>
            <a:r>
              <a:rPr sz="2000" b="1" spc="-95" dirty="0">
                <a:latin typeface="Times New Roman"/>
                <a:cs typeface="Times New Roman"/>
              </a:rPr>
              <a:t>0</a:t>
            </a:r>
            <a:r>
              <a:rPr sz="2000" b="1" spc="165" dirty="0">
                <a:latin typeface="Times New Roman"/>
                <a:cs typeface="Times New Roman"/>
              </a:rPr>
              <a:t>/0]</a:t>
            </a:r>
            <a:r>
              <a:rPr sz="2000" b="1" dirty="0">
                <a:latin typeface="Times New Roman"/>
                <a:cs typeface="Times New Roman"/>
              </a:rPr>
              <a:t>	v</a:t>
            </a:r>
            <a:r>
              <a:rPr sz="2000" b="1" spc="-30" dirty="0">
                <a:latin typeface="Times New Roman"/>
                <a:cs typeface="Times New Roman"/>
              </a:rPr>
              <a:t>ia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95" dirty="0">
                <a:latin typeface="Times New Roman"/>
                <a:cs typeface="Times New Roman"/>
              </a:rPr>
              <a:t>172</a:t>
            </a:r>
            <a:r>
              <a:rPr sz="2000" b="1" spc="-20" dirty="0">
                <a:latin typeface="Times New Roman"/>
                <a:cs typeface="Times New Roman"/>
              </a:rPr>
              <a:t>.</a:t>
            </a:r>
            <a:r>
              <a:rPr sz="2000" b="1" spc="-55" dirty="0">
                <a:latin typeface="Times New Roman"/>
                <a:cs typeface="Times New Roman"/>
              </a:rPr>
              <a:t>1</a:t>
            </a:r>
            <a:r>
              <a:rPr sz="2000" b="1" spc="-95" dirty="0">
                <a:latin typeface="Times New Roman"/>
                <a:cs typeface="Times New Roman"/>
              </a:rPr>
              <a:t>7</a:t>
            </a:r>
            <a:r>
              <a:rPr sz="2000" b="1" spc="-20" dirty="0">
                <a:latin typeface="Times New Roman"/>
                <a:cs typeface="Times New Roman"/>
              </a:rPr>
              <a:t>.</a:t>
            </a:r>
            <a:r>
              <a:rPr sz="2000" b="1" spc="-55" dirty="0">
                <a:latin typeface="Times New Roman"/>
                <a:cs typeface="Times New Roman"/>
              </a:rPr>
              <a:t>1</a:t>
            </a:r>
            <a:r>
              <a:rPr sz="2000" b="1" spc="-20" dirty="0">
                <a:latin typeface="Times New Roman"/>
                <a:cs typeface="Times New Roman"/>
              </a:rPr>
              <a:t>.</a:t>
            </a:r>
            <a:r>
              <a:rPr sz="2000" b="1" spc="-55" dirty="0">
                <a:latin typeface="Times New Roman"/>
                <a:cs typeface="Times New Roman"/>
              </a:rPr>
              <a:t>2</a:t>
            </a:r>
            <a:r>
              <a:rPr sz="2000" b="1" spc="20" dirty="0">
                <a:latin typeface="Times New Roman"/>
                <a:cs typeface="Times New Roman"/>
              </a:rPr>
              <a:t>,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85" dirty="0">
                <a:latin typeface="Times New Roman"/>
                <a:cs typeface="Times New Roman"/>
              </a:rPr>
              <a:t>0</a:t>
            </a:r>
            <a:r>
              <a:rPr sz="2000" b="1" spc="-100" dirty="0">
                <a:latin typeface="Times New Roman"/>
                <a:cs typeface="Times New Roman"/>
              </a:rPr>
              <a:t>0</a:t>
            </a:r>
            <a:r>
              <a:rPr sz="2000" b="1" spc="-95" dirty="0">
                <a:latin typeface="Times New Roman"/>
                <a:cs typeface="Times New Roman"/>
              </a:rPr>
              <a:t>:</a:t>
            </a:r>
            <a:r>
              <a:rPr sz="2000" b="1" spc="-155" dirty="0">
                <a:latin typeface="Times New Roman"/>
                <a:cs typeface="Times New Roman"/>
              </a:rPr>
              <a:t>0</a:t>
            </a:r>
            <a:r>
              <a:rPr sz="2000" b="1" spc="-95" dirty="0">
                <a:latin typeface="Times New Roman"/>
                <a:cs typeface="Times New Roman"/>
              </a:rPr>
              <a:t>0:</a:t>
            </a:r>
            <a:r>
              <a:rPr sz="2000" b="1" spc="-155" dirty="0">
                <a:latin typeface="Times New Roman"/>
                <a:cs typeface="Times New Roman"/>
              </a:rPr>
              <a:t>0</a:t>
            </a:r>
            <a:r>
              <a:rPr sz="2000" b="1" spc="-95" dirty="0">
                <a:latin typeface="Times New Roman"/>
                <a:cs typeface="Times New Roman"/>
              </a:rPr>
              <a:t>0</a:t>
            </a:r>
            <a:r>
              <a:rPr sz="2000" b="1" spc="20" dirty="0">
                <a:latin typeface="Times New Roman"/>
                <a:cs typeface="Times New Roman"/>
              </a:rPr>
              <a:t>,</a:t>
            </a:r>
            <a:r>
              <a:rPr sz="2000" b="1" spc="-120" dirty="0">
                <a:latin typeface="Times New Roman"/>
                <a:cs typeface="Times New Roman"/>
              </a:rPr>
              <a:t> </a:t>
            </a:r>
            <a:r>
              <a:rPr sz="2000" b="1" spc="-204" dirty="0">
                <a:latin typeface="Times New Roman"/>
                <a:cs typeface="Times New Roman"/>
              </a:rPr>
              <a:t>S</a:t>
            </a:r>
            <a:r>
              <a:rPr sz="2000" b="1" spc="-15" dirty="0">
                <a:latin typeface="Times New Roman"/>
                <a:cs typeface="Times New Roman"/>
              </a:rPr>
              <a:t>e</a:t>
            </a:r>
            <a:r>
              <a:rPr sz="2000" b="1" spc="15" dirty="0">
                <a:latin typeface="Times New Roman"/>
                <a:cs typeface="Times New Roman"/>
              </a:rPr>
              <a:t>r</a:t>
            </a:r>
            <a:r>
              <a:rPr sz="2000" b="1" spc="-30" dirty="0">
                <a:latin typeface="Times New Roman"/>
                <a:cs typeface="Times New Roman"/>
              </a:rPr>
              <a:t>ial0</a:t>
            </a:r>
            <a:endParaRPr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0645235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484217"/>
            <a:ext cx="7166402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spc="345" dirty="0">
                <a:solidFill>
                  <a:schemeClr val="bg1"/>
                </a:solidFill>
              </a:rPr>
              <a:t>RIPv1</a:t>
            </a:r>
            <a:r>
              <a:rPr lang="en-US" sz="4400" spc="65" dirty="0">
                <a:solidFill>
                  <a:schemeClr val="bg1"/>
                </a:solidFill>
              </a:rPr>
              <a:t> </a:t>
            </a:r>
            <a:r>
              <a:rPr lang="en-US" sz="4400" spc="160" dirty="0">
                <a:solidFill>
                  <a:schemeClr val="bg1"/>
                </a:solidFill>
              </a:rPr>
              <a:t>Basic</a:t>
            </a:r>
            <a:r>
              <a:rPr lang="en-US" sz="4400" spc="95" dirty="0">
                <a:solidFill>
                  <a:schemeClr val="bg1"/>
                </a:solidFill>
              </a:rPr>
              <a:t> </a:t>
            </a:r>
            <a:r>
              <a:rPr lang="en-US" sz="4400" spc="170" dirty="0">
                <a:solidFill>
                  <a:schemeClr val="bg1"/>
                </a:solidFill>
              </a:rPr>
              <a:t>Configuration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6379C42-C6CC-4372-98E1-97B1A635A587}"/>
              </a:ext>
            </a:extLst>
          </p:cNvPr>
          <p:cNvSpPr txBox="1"/>
          <p:nvPr/>
        </p:nvSpPr>
        <p:spPr>
          <a:xfrm>
            <a:off x="265008" y="3054802"/>
            <a:ext cx="8358505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5416"/>
              <a:buFont typeface="Wingdings" panose="05000000000000000000" pitchFamily="2" charset="2"/>
              <a:buChar char="Ø"/>
              <a:tabLst>
                <a:tab pos="286385" algn="l"/>
                <a:tab pos="287020" algn="l"/>
              </a:tabLst>
            </a:pPr>
            <a:r>
              <a:rPr sz="2800" spc="-5" dirty="0">
                <a:latin typeface="Times New Roman"/>
                <a:cs typeface="Times New Roman"/>
              </a:rPr>
              <a:t>Now </a:t>
            </a:r>
            <a:r>
              <a:rPr sz="2800" dirty="0">
                <a:latin typeface="Times New Roman"/>
                <a:cs typeface="Times New Roman"/>
              </a:rPr>
              <a:t>focus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RIP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learned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Router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interpret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output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shown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 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table: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60303E1B-CDA0-40DA-A0D9-F84F43CBB54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308" y="1683202"/>
            <a:ext cx="7696200" cy="1371600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id="{CA6CB0CF-883A-4176-9477-1FE1CCAF82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7308" y="4544857"/>
            <a:ext cx="8983362" cy="2231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5000"/>
              <a:buFont typeface="Wingdings" panose="05000000000000000000" pitchFamily="2" charset="2"/>
              <a:buChar char="ü"/>
              <a:tabLst>
                <a:tab pos="286385" algn="l"/>
                <a:tab pos="287020" algn="l"/>
              </a:tabLst>
            </a:pPr>
            <a:r>
              <a:rPr lang="en-US" b="1" dirty="0">
                <a:solidFill>
                  <a:srgbClr val="FF0000"/>
                </a:solidFill>
              </a:rPr>
              <a:t>00:00:00</a:t>
            </a:r>
            <a:r>
              <a:rPr lang="en-US" dirty="0"/>
              <a:t>:</a:t>
            </a:r>
            <a:r>
              <a:rPr lang="en-US" spc="-65" dirty="0"/>
              <a:t> </a:t>
            </a:r>
            <a:r>
              <a:rPr lang="en-US" dirty="0"/>
              <a:t>specifies</a:t>
            </a:r>
            <a:r>
              <a:rPr lang="en-US" spc="-30" dirty="0"/>
              <a:t> </a:t>
            </a:r>
            <a:r>
              <a:rPr lang="en-US" dirty="0"/>
              <a:t>the</a:t>
            </a:r>
            <a:r>
              <a:rPr lang="en-US" spc="-10" dirty="0"/>
              <a:t> </a:t>
            </a:r>
            <a:r>
              <a:rPr lang="en-US" spc="-5" dirty="0"/>
              <a:t>amount </a:t>
            </a:r>
            <a:r>
              <a:rPr lang="en-US" dirty="0"/>
              <a:t>of</a:t>
            </a:r>
            <a:r>
              <a:rPr lang="en-US" spc="-15" dirty="0"/>
              <a:t> </a:t>
            </a:r>
            <a:r>
              <a:rPr lang="en-US" spc="-10" dirty="0"/>
              <a:t>time</a:t>
            </a:r>
            <a:r>
              <a:rPr lang="en-US" spc="5" dirty="0"/>
              <a:t> </a:t>
            </a:r>
            <a:r>
              <a:rPr lang="en-US" dirty="0"/>
              <a:t>the</a:t>
            </a:r>
            <a:r>
              <a:rPr lang="en-US" spc="-5" dirty="0"/>
              <a:t> </a:t>
            </a:r>
            <a:r>
              <a:rPr lang="en-US" dirty="0"/>
              <a:t>route</a:t>
            </a:r>
            <a:r>
              <a:rPr lang="en-US" spc="-35" dirty="0"/>
              <a:t> </a:t>
            </a:r>
            <a:r>
              <a:rPr lang="en-US" dirty="0"/>
              <a:t>was</a:t>
            </a:r>
            <a:r>
              <a:rPr lang="en-US" spc="5" dirty="0"/>
              <a:t> </a:t>
            </a:r>
            <a:r>
              <a:rPr lang="en-US" dirty="0"/>
              <a:t>updated</a:t>
            </a:r>
            <a:r>
              <a:rPr lang="en-US" spc="-25" dirty="0"/>
              <a:t> </a:t>
            </a:r>
            <a:r>
              <a:rPr lang="en-US" dirty="0"/>
              <a:t>(here,</a:t>
            </a:r>
            <a:r>
              <a:rPr lang="en-US" spc="-30" dirty="0"/>
              <a:t> </a:t>
            </a:r>
            <a:r>
              <a:rPr lang="en-US" dirty="0"/>
              <a:t>0</a:t>
            </a:r>
            <a:r>
              <a:rPr lang="en-US" spc="5" dirty="0"/>
              <a:t> </a:t>
            </a:r>
            <a:r>
              <a:rPr lang="en-US" dirty="0"/>
              <a:t>seconds) </a:t>
            </a:r>
            <a:r>
              <a:rPr lang="en-US" spc="-484" dirty="0"/>
              <a:t> </a:t>
            </a:r>
            <a:r>
              <a:rPr lang="en-US" dirty="0"/>
              <a:t>another</a:t>
            </a:r>
            <a:r>
              <a:rPr lang="en-US" spc="-50" dirty="0"/>
              <a:t> </a:t>
            </a:r>
            <a:r>
              <a:rPr lang="en-US" dirty="0"/>
              <a:t>updates</a:t>
            </a:r>
            <a:r>
              <a:rPr lang="en-US" spc="-40" dirty="0"/>
              <a:t> </a:t>
            </a:r>
            <a:r>
              <a:rPr lang="en-US" dirty="0"/>
              <a:t>is</a:t>
            </a:r>
            <a:r>
              <a:rPr lang="en-US" spc="-15" dirty="0"/>
              <a:t> </a:t>
            </a:r>
            <a:r>
              <a:rPr lang="en-US" spc="5" dirty="0"/>
              <a:t>due</a:t>
            </a:r>
            <a:r>
              <a:rPr lang="en-US" spc="-25" dirty="0"/>
              <a:t> </a:t>
            </a:r>
            <a:r>
              <a:rPr lang="en-US" dirty="0"/>
              <a:t>in</a:t>
            </a:r>
            <a:r>
              <a:rPr lang="en-US" spc="-10" dirty="0"/>
              <a:t> </a:t>
            </a:r>
            <a:r>
              <a:rPr lang="en-US" dirty="0"/>
              <a:t>30</a:t>
            </a:r>
            <a:r>
              <a:rPr lang="en-US" spc="-10" dirty="0"/>
              <a:t> </a:t>
            </a:r>
            <a:r>
              <a:rPr lang="en-US" dirty="0"/>
              <a:t>seconds.</a:t>
            </a:r>
          </a:p>
          <a:p>
            <a:pPr marL="527050" indent="-51435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5000"/>
              <a:buFont typeface="Wingdings" panose="05000000000000000000" pitchFamily="2" charset="2"/>
              <a:buChar char="ü"/>
              <a:tabLst>
                <a:tab pos="286385" algn="l"/>
                <a:tab pos="287020" algn="l"/>
              </a:tabLst>
            </a:pPr>
            <a:r>
              <a:rPr lang="en-US" b="1" dirty="0">
                <a:solidFill>
                  <a:srgbClr val="FF0000"/>
                </a:solidFill>
              </a:rPr>
              <a:t>Serial</a:t>
            </a:r>
            <a:r>
              <a:rPr lang="en-US" b="1" spc="-40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dirty="0"/>
              <a:t>:</a:t>
            </a:r>
            <a:r>
              <a:rPr lang="en-US" spc="-5" dirty="0"/>
              <a:t> </a:t>
            </a:r>
            <a:r>
              <a:rPr lang="en-US" dirty="0"/>
              <a:t>specifies</a:t>
            </a:r>
            <a:r>
              <a:rPr lang="en-US" spc="-35" dirty="0"/>
              <a:t> </a:t>
            </a:r>
            <a:r>
              <a:rPr lang="en-US" dirty="0"/>
              <a:t>the</a:t>
            </a:r>
            <a:r>
              <a:rPr lang="en-US" spc="-10" dirty="0"/>
              <a:t> </a:t>
            </a:r>
            <a:r>
              <a:rPr lang="en-US" dirty="0"/>
              <a:t>local</a:t>
            </a:r>
            <a:r>
              <a:rPr lang="en-US" spc="-25" dirty="0"/>
              <a:t> </a:t>
            </a:r>
            <a:r>
              <a:rPr lang="en-US" dirty="0"/>
              <a:t>interface</a:t>
            </a:r>
            <a:r>
              <a:rPr lang="en-US" spc="-35" dirty="0"/>
              <a:t> </a:t>
            </a:r>
            <a:r>
              <a:rPr lang="en-US" dirty="0"/>
              <a:t>through</a:t>
            </a:r>
            <a:r>
              <a:rPr lang="en-US" spc="-35" dirty="0"/>
              <a:t> </a:t>
            </a:r>
            <a:r>
              <a:rPr lang="en-US" dirty="0"/>
              <a:t>which</a:t>
            </a:r>
            <a:r>
              <a:rPr lang="en-US" spc="-10" dirty="0"/>
              <a:t> </a:t>
            </a:r>
            <a:r>
              <a:rPr lang="en-US" dirty="0"/>
              <a:t>the</a:t>
            </a:r>
            <a:r>
              <a:rPr lang="en-US" spc="-25" dirty="0"/>
              <a:t> </a:t>
            </a:r>
            <a:r>
              <a:rPr lang="en-US" spc="-5" dirty="0"/>
              <a:t>remote</a:t>
            </a:r>
            <a:r>
              <a:rPr lang="en-US" spc="-10" dirty="0"/>
              <a:t> </a:t>
            </a:r>
            <a:r>
              <a:rPr lang="en-US" dirty="0"/>
              <a:t>network</a:t>
            </a:r>
            <a:r>
              <a:rPr lang="en-US" spc="-25" dirty="0"/>
              <a:t> </a:t>
            </a:r>
            <a:r>
              <a:rPr lang="en-US" dirty="0"/>
              <a:t>can</a:t>
            </a:r>
            <a:r>
              <a:rPr lang="en-US" spc="-5" dirty="0"/>
              <a:t> </a:t>
            </a:r>
            <a:r>
              <a:rPr lang="en-US" dirty="0"/>
              <a:t>be reached.</a:t>
            </a: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626B7F7-6138-4E68-9463-DB5BE5730FFA}"/>
              </a:ext>
            </a:extLst>
          </p:cNvPr>
          <p:cNvSpPr txBox="1"/>
          <p:nvPr/>
        </p:nvSpPr>
        <p:spPr>
          <a:xfrm>
            <a:off x="977160" y="3929400"/>
            <a:ext cx="6934200" cy="400685"/>
          </a:xfrm>
          <a:prstGeom prst="rect">
            <a:avLst/>
          </a:prstGeom>
          <a:solidFill>
            <a:srgbClr val="F9D9CD"/>
          </a:solidFill>
        </p:spPr>
        <p:txBody>
          <a:bodyPr vert="horz" wrap="square" lIns="0" tIns="10160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80"/>
              </a:spcBef>
              <a:tabLst>
                <a:tab pos="1041400" algn="l"/>
                <a:tab pos="2338705" algn="l"/>
                <a:tab pos="3350895" algn="l"/>
                <a:tab pos="3839210" algn="l"/>
                <a:tab pos="5135880" algn="l"/>
              </a:tabLst>
            </a:pPr>
            <a:r>
              <a:rPr sz="2000" b="1" spc="-130" dirty="0">
                <a:latin typeface="Times New Roman"/>
                <a:cs typeface="Times New Roman"/>
              </a:rPr>
              <a:t>R	</a:t>
            </a:r>
            <a:r>
              <a:rPr sz="2000" b="1" spc="-95" dirty="0">
                <a:latin typeface="Times New Roman"/>
                <a:cs typeface="Times New Roman"/>
              </a:rPr>
              <a:t>172</a:t>
            </a:r>
            <a:r>
              <a:rPr sz="2000" b="1" spc="-20" dirty="0">
                <a:latin typeface="Times New Roman"/>
                <a:cs typeface="Times New Roman"/>
              </a:rPr>
              <a:t>.</a:t>
            </a:r>
            <a:r>
              <a:rPr sz="2000" b="1" spc="-55" dirty="0">
                <a:latin typeface="Times New Roman"/>
                <a:cs typeface="Times New Roman"/>
              </a:rPr>
              <a:t>1</a:t>
            </a:r>
            <a:r>
              <a:rPr sz="2000" b="1" spc="-95" dirty="0">
                <a:latin typeface="Times New Roman"/>
                <a:cs typeface="Times New Roman"/>
              </a:rPr>
              <a:t>8</a:t>
            </a:r>
            <a:r>
              <a:rPr sz="2000" b="1" spc="-20" dirty="0">
                <a:latin typeface="Times New Roman"/>
                <a:cs typeface="Times New Roman"/>
              </a:rPr>
              <a:t>.</a:t>
            </a:r>
            <a:r>
              <a:rPr sz="2000" b="1" spc="-55" dirty="0">
                <a:latin typeface="Times New Roman"/>
                <a:cs typeface="Times New Roman"/>
              </a:rPr>
              <a:t>0</a:t>
            </a:r>
            <a:r>
              <a:rPr sz="2000" b="1" spc="-30" dirty="0">
                <a:latin typeface="Times New Roman"/>
                <a:cs typeface="Times New Roman"/>
              </a:rPr>
              <a:t>.0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35" dirty="0">
                <a:latin typeface="Times New Roman"/>
                <a:cs typeface="Times New Roman"/>
              </a:rPr>
              <a:t>[1</a:t>
            </a:r>
            <a:r>
              <a:rPr sz="2000" b="1" spc="-55" dirty="0">
                <a:latin typeface="Times New Roman"/>
                <a:cs typeface="Times New Roman"/>
              </a:rPr>
              <a:t>2</a:t>
            </a:r>
            <a:r>
              <a:rPr sz="2000" b="1" spc="-95" dirty="0">
                <a:latin typeface="Times New Roman"/>
                <a:cs typeface="Times New Roman"/>
              </a:rPr>
              <a:t>0</a:t>
            </a:r>
            <a:r>
              <a:rPr sz="2000" b="1" spc="165" dirty="0">
                <a:latin typeface="Times New Roman"/>
                <a:cs typeface="Times New Roman"/>
              </a:rPr>
              <a:t>/0]</a:t>
            </a:r>
            <a:r>
              <a:rPr sz="2000" b="1" dirty="0">
                <a:latin typeface="Times New Roman"/>
                <a:cs typeface="Times New Roman"/>
              </a:rPr>
              <a:t>	v</a:t>
            </a:r>
            <a:r>
              <a:rPr sz="2000" b="1" spc="-30" dirty="0">
                <a:latin typeface="Times New Roman"/>
                <a:cs typeface="Times New Roman"/>
              </a:rPr>
              <a:t>ia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95" dirty="0">
                <a:latin typeface="Times New Roman"/>
                <a:cs typeface="Times New Roman"/>
              </a:rPr>
              <a:t>172</a:t>
            </a:r>
            <a:r>
              <a:rPr sz="2000" b="1" spc="-20" dirty="0">
                <a:latin typeface="Times New Roman"/>
                <a:cs typeface="Times New Roman"/>
              </a:rPr>
              <a:t>.</a:t>
            </a:r>
            <a:r>
              <a:rPr sz="2000" b="1" spc="-55" dirty="0">
                <a:latin typeface="Times New Roman"/>
                <a:cs typeface="Times New Roman"/>
              </a:rPr>
              <a:t>1</a:t>
            </a:r>
            <a:r>
              <a:rPr sz="2000" b="1" spc="-95" dirty="0">
                <a:latin typeface="Times New Roman"/>
                <a:cs typeface="Times New Roman"/>
              </a:rPr>
              <a:t>7</a:t>
            </a:r>
            <a:r>
              <a:rPr sz="2000" b="1" spc="-20" dirty="0">
                <a:latin typeface="Times New Roman"/>
                <a:cs typeface="Times New Roman"/>
              </a:rPr>
              <a:t>.</a:t>
            </a:r>
            <a:r>
              <a:rPr sz="2000" b="1" spc="-55" dirty="0">
                <a:latin typeface="Times New Roman"/>
                <a:cs typeface="Times New Roman"/>
              </a:rPr>
              <a:t>1</a:t>
            </a:r>
            <a:r>
              <a:rPr sz="2000" b="1" spc="-20" dirty="0">
                <a:latin typeface="Times New Roman"/>
                <a:cs typeface="Times New Roman"/>
              </a:rPr>
              <a:t>.</a:t>
            </a:r>
            <a:r>
              <a:rPr sz="2000" b="1" spc="-55" dirty="0">
                <a:latin typeface="Times New Roman"/>
                <a:cs typeface="Times New Roman"/>
              </a:rPr>
              <a:t>2</a:t>
            </a:r>
            <a:r>
              <a:rPr sz="2000" b="1" spc="20" dirty="0">
                <a:latin typeface="Times New Roman"/>
                <a:cs typeface="Times New Roman"/>
              </a:rPr>
              <a:t>,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85" dirty="0">
                <a:latin typeface="Times New Roman"/>
                <a:cs typeface="Times New Roman"/>
              </a:rPr>
              <a:t>0</a:t>
            </a:r>
            <a:r>
              <a:rPr sz="2000" b="1" spc="-100" dirty="0">
                <a:latin typeface="Times New Roman"/>
                <a:cs typeface="Times New Roman"/>
              </a:rPr>
              <a:t>0</a:t>
            </a:r>
            <a:r>
              <a:rPr sz="2000" b="1" spc="-95" dirty="0">
                <a:latin typeface="Times New Roman"/>
                <a:cs typeface="Times New Roman"/>
              </a:rPr>
              <a:t>:</a:t>
            </a:r>
            <a:r>
              <a:rPr sz="2000" b="1" spc="-155" dirty="0">
                <a:latin typeface="Times New Roman"/>
                <a:cs typeface="Times New Roman"/>
              </a:rPr>
              <a:t>0</a:t>
            </a:r>
            <a:r>
              <a:rPr sz="2000" b="1" spc="-95" dirty="0">
                <a:latin typeface="Times New Roman"/>
                <a:cs typeface="Times New Roman"/>
              </a:rPr>
              <a:t>0:</a:t>
            </a:r>
            <a:r>
              <a:rPr sz="2000" b="1" spc="-155" dirty="0">
                <a:latin typeface="Times New Roman"/>
                <a:cs typeface="Times New Roman"/>
              </a:rPr>
              <a:t>0</a:t>
            </a:r>
            <a:r>
              <a:rPr sz="2000" b="1" spc="-95" dirty="0">
                <a:latin typeface="Times New Roman"/>
                <a:cs typeface="Times New Roman"/>
              </a:rPr>
              <a:t>0</a:t>
            </a:r>
            <a:r>
              <a:rPr sz="2000" b="1" spc="20" dirty="0">
                <a:latin typeface="Times New Roman"/>
                <a:cs typeface="Times New Roman"/>
              </a:rPr>
              <a:t>,</a:t>
            </a:r>
            <a:r>
              <a:rPr sz="2000" b="1" spc="-120" dirty="0">
                <a:latin typeface="Times New Roman"/>
                <a:cs typeface="Times New Roman"/>
              </a:rPr>
              <a:t> </a:t>
            </a:r>
            <a:r>
              <a:rPr sz="2000" b="1" spc="-204" dirty="0">
                <a:latin typeface="Times New Roman"/>
                <a:cs typeface="Times New Roman"/>
              </a:rPr>
              <a:t>S</a:t>
            </a:r>
            <a:r>
              <a:rPr sz="2000" b="1" spc="-15" dirty="0">
                <a:latin typeface="Times New Roman"/>
                <a:cs typeface="Times New Roman"/>
              </a:rPr>
              <a:t>e</a:t>
            </a:r>
            <a:r>
              <a:rPr sz="2000" b="1" spc="15" dirty="0">
                <a:latin typeface="Times New Roman"/>
                <a:cs typeface="Times New Roman"/>
              </a:rPr>
              <a:t>r</a:t>
            </a:r>
            <a:r>
              <a:rPr sz="2000" b="1" spc="-30" dirty="0">
                <a:latin typeface="Times New Roman"/>
                <a:cs typeface="Times New Roman"/>
              </a:rPr>
              <a:t>ial0</a:t>
            </a:r>
            <a:endParaRPr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7373334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484217"/>
            <a:ext cx="7166402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spc="345" dirty="0">
                <a:solidFill>
                  <a:schemeClr val="bg1"/>
                </a:solidFill>
              </a:rPr>
              <a:t>RIPv1</a:t>
            </a:r>
            <a:r>
              <a:rPr lang="en-US" sz="4400" spc="65" dirty="0">
                <a:solidFill>
                  <a:schemeClr val="bg1"/>
                </a:solidFill>
              </a:rPr>
              <a:t> </a:t>
            </a:r>
            <a:r>
              <a:rPr lang="en-US" sz="4400" spc="160" dirty="0">
                <a:solidFill>
                  <a:schemeClr val="bg1"/>
                </a:solidFill>
              </a:rPr>
              <a:t>Basic</a:t>
            </a:r>
            <a:r>
              <a:rPr lang="en-US" sz="4400" spc="95" dirty="0">
                <a:solidFill>
                  <a:schemeClr val="bg1"/>
                </a:solidFill>
              </a:rPr>
              <a:t> </a:t>
            </a:r>
            <a:r>
              <a:rPr lang="en-US" sz="4400" spc="170" dirty="0">
                <a:solidFill>
                  <a:schemeClr val="bg1"/>
                </a:solidFill>
              </a:rPr>
              <a:t>Configuration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5B79908-FD19-4A12-B0E8-6B18BA12F0FC}"/>
              </a:ext>
            </a:extLst>
          </p:cNvPr>
          <p:cNvSpPr txBox="1"/>
          <p:nvPr/>
        </p:nvSpPr>
        <p:spPr>
          <a:xfrm>
            <a:off x="601408" y="3140828"/>
            <a:ext cx="8697138" cy="107016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365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287020" algn="l"/>
              </a:tabLst>
            </a:pP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3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r>
              <a:rPr sz="3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3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3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</a:t>
            </a:r>
            <a:r>
              <a:rPr sz="3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spcBef>
                <a:spcPts val="265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287020" algn="l"/>
              </a:tabLst>
            </a:pPr>
            <a:r>
              <a:rPr sz="3200" b="1" spc="3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3200" b="1" spc="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3200" b="1" spc="7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erB</a:t>
            </a:r>
            <a:r>
              <a:rPr sz="3200" b="1" spc="4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sz="3200" b="1" spc="8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9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3200" b="1" spc="-2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3200" b="1" spc="-24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</a:t>
            </a:r>
            <a:r>
              <a:rPr sz="3200" b="1" spc="5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3200" b="1" spc="-17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3200" b="1" spc="7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2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</a:t>
            </a:r>
            <a:r>
              <a:rPr sz="3200" b="1" spc="-16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3200" b="1" spc="-26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67BFA1A5-15AC-4833-B490-9BFAEA34912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1268" y="1593761"/>
            <a:ext cx="7696200" cy="1382866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8616BF82-EEE8-4683-8518-D23AAEDCAB6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3612" y="4375194"/>
            <a:ext cx="8153400" cy="232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29485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484217"/>
            <a:ext cx="7166402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spc="345" dirty="0">
                <a:solidFill>
                  <a:schemeClr val="bg1"/>
                </a:solidFill>
              </a:rPr>
              <a:t>RIPv1</a:t>
            </a:r>
            <a:r>
              <a:rPr lang="en-US" sz="4400" spc="65" dirty="0">
                <a:solidFill>
                  <a:schemeClr val="bg1"/>
                </a:solidFill>
              </a:rPr>
              <a:t> </a:t>
            </a:r>
            <a:r>
              <a:rPr lang="en-US" sz="4400" spc="160" dirty="0">
                <a:solidFill>
                  <a:schemeClr val="bg1"/>
                </a:solidFill>
              </a:rPr>
              <a:t>Basic</a:t>
            </a:r>
            <a:r>
              <a:rPr lang="en-US" sz="4400" spc="95" dirty="0">
                <a:solidFill>
                  <a:schemeClr val="bg1"/>
                </a:solidFill>
              </a:rPr>
              <a:t> </a:t>
            </a:r>
            <a:r>
              <a:rPr lang="en-US" sz="4400" spc="170" dirty="0">
                <a:solidFill>
                  <a:schemeClr val="bg1"/>
                </a:solidFill>
              </a:rPr>
              <a:t>Configuration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7DD152EF-D89C-40BD-A8D6-C7572C3908C1}"/>
              </a:ext>
            </a:extLst>
          </p:cNvPr>
          <p:cNvGrpSpPr/>
          <p:nvPr/>
        </p:nvGrpSpPr>
        <p:grpSpPr>
          <a:xfrm>
            <a:off x="306947" y="1693570"/>
            <a:ext cx="9274935" cy="5093595"/>
            <a:chOff x="152400" y="1371600"/>
            <a:chExt cx="8798560" cy="475742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350D9F5E-FCF6-4B59-8E2E-64B609AA548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39321" y="2191168"/>
              <a:ext cx="6411076" cy="3937697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4DBAF83A-9B9F-4825-B430-D1BB05BEAC7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00" y="1371600"/>
              <a:ext cx="4495800" cy="2895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156610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484217"/>
            <a:ext cx="7166402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spc="345" dirty="0">
                <a:solidFill>
                  <a:schemeClr val="bg1"/>
                </a:solidFill>
              </a:rPr>
              <a:t>RIPv1</a:t>
            </a:r>
            <a:r>
              <a:rPr lang="en-US" sz="4400" spc="65" dirty="0">
                <a:solidFill>
                  <a:schemeClr val="bg1"/>
                </a:solidFill>
              </a:rPr>
              <a:t> </a:t>
            </a:r>
            <a:r>
              <a:rPr lang="en-US" sz="4400" spc="160" dirty="0">
                <a:solidFill>
                  <a:schemeClr val="bg1"/>
                </a:solidFill>
              </a:rPr>
              <a:t>Basic</a:t>
            </a:r>
            <a:r>
              <a:rPr lang="en-US" sz="4400" spc="95" dirty="0">
                <a:solidFill>
                  <a:schemeClr val="bg1"/>
                </a:solidFill>
              </a:rPr>
              <a:t> </a:t>
            </a:r>
            <a:r>
              <a:rPr lang="en-US" sz="4400" spc="170" dirty="0">
                <a:solidFill>
                  <a:schemeClr val="bg1"/>
                </a:solidFill>
              </a:rPr>
              <a:t>Configuration</a:t>
            </a:r>
            <a:endParaRPr lang="en-US" sz="4400" dirty="0">
              <a:solidFill>
                <a:schemeClr val="bg1"/>
              </a:solidFill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AEC1CF61-086B-495D-8CA7-F49077AAA60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223" y="1777331"/>
            <a:ext cx="7646542" cy="4841929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B91B8456-B4A0-4E0A-BB48-E40D7FBEB471}"/>
              </a:ext>
            </a:extLst>
          </p:cNvPr>
          <p:cNvSpPr txBox="1"/>
          <p:nvPr/>
        </p:nvSpPr>
        <p:spPr>
          <a:xfrm>
            <a:off x="100203" y="2210700"/>
            <a:ext cx="6133171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latin typeface="Times New Roman"/>
                <a:cs typeface="Times New Roman"/>
              </a:rPr>
              <a:t>R1(config)#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router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rip</a:t>
            </a:r>
            <a:endParaRPr sz="28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R1(config-router)#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network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192.168.1.0</a:t>
            </a:r>
            <a:endParaRPr sz="28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R1(config-router)#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network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192.168.2.0</a:t>
            </a:r>
            <a:endParaRPr sz="28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1669406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484217"/>
            <a:ext cx="7166402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spc="345" dirty="0">
                <a:solidFill>
                  <a:schemeClr val="bg1"/>
                </a:solidFill>
              </a:rPr>
              <a:t>RIPv1</a:t>
            </a:r>
            <a:r>
              <a:rPr lang="en-US" sz="4400" spc="65" dirty="0">
                <a:solidFill>
                  <a:schemeClr val="bg1"/>
                </a:solidFill>
              </a:rPr>
              <a:t> </a:t>
            </a:r>
            <a:r>
              <a:rPr lang="en-US" sz="4400" spc="160" dirty="0">
                <a:solidFill>
                  <a:schemeClr val="bg1"/>
                </a:solidFill>
              </a:rPr>
              <a:t>Basic</a:t>
            </a:r>
            <a:r>
              <a:rPr lang="en-US" sz="4400" spc="95" dirty="0">
                <a:solidFill>
                  <a:schemeClr val="bg1"/>
                </a:solidFill>
              </a:rPr>
              <a:t> </a:t>
            </a:r>
            <a:r>
              <a:rPr lang="en-US" sz="4400" spc="170" dirty="0">
                <a:solidFill>
                  <a:schemeClr val="bg1"/>
                </a:solidFill>
              </a:rPr>
              <a:t>Configuration</a:t>
            </a:r>
            <a:endParaRPr lang="en-US" sz="4400" dirty="0">
              <a:solidFill>
                <a:schemeClr val="bg1"/>
              </a:solidFill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629206A4-229E-4DA9-8DAF-26AC82AD5F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1460" y="1966755"/>
            <a:ext cx="7165320" cy="4224075"/>
          </a:xfrm>
          <a:prstGeom prst="rect">
            <a:avLst/>
          </a:prstGeom>
        </p:spPr>
      </p:pic>
      <p:sp>
        <p:nvSpPr>
          <p:cNvPr id="7" name="object 4">
            <a:extLst>
              <a:ext uri="{FF2B5EF4-FFF2-40B4-BE49-F238E27FC236}">
                <a16:creationId xmlns:a16="http://schemas.microsoft.com/office/drawing/2014/main" id="{B6C87B55-C641-4DE4-A3D7-4434392D4C84}"/>
              </a:ext>
            </a:extLst>
          </p:cNvPr>
          <p:cNvSpPr txBox="1"/>
          <p:nvPr/>
        </p:nvSpPr>
        <p:spPr>
          <a:xfrm>
            <a:off x="383540" y="2081911"/>
            <a:ext cx="5502105" cy="14907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latin typeface="Times New Roman"/>
                <a:cs typeface="Times New Roman"/>
              </a:rPr>
              <a:t>R2(config)#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router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rip</a:t>
            </a:r>
            <a:endParaRPr sz="24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R2(config-router)#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network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192.168.2.0</a:t>
            </a:r>
            <a:endParaRPr sz="24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R2(config-router)#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network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192.168.3.0</a:t>
            </a:r>
            <a:endParaRPr sz="24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R2(config-router)#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network</a:t>
            </a:r>
            <a:r>
              <a:rPr sz="2400" b="1" spc="1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192.168.4.0</a:t>
            </a:r>
            <a:endParaRPr sz="24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048219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484217"/>
            <a:ext cx="7166402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spc="345" dirty="0">
                <a:solidFill>
                  <a:schemeClr val="bg1"/>
                </a:solidFill>
              </a:rPr>
              <a:t>RIPv1</a:t>
            </a:r>
            <a:r>
              <a:rPr lang="en-US" sz="4400" spc="65" dirty="0">
                <a:solidFill>
                  <a:schemeClr val="bg1"/>
                </a:solidFill>
              </a:rPr>
              <a:t> </a:t>
            </a:r>
            <a:r>
              <a:rPr lang="en-US" sz="4400" spc="160" dirty="0">
                <a:solidFill>
                  <a:schemeClr val="bg1"/>
                </a:solidFill>
              </a:rPr>
              <a:t>Basic</a:t>
            </a:r>
            <a:r>
              <a:rPr lang="en-US" sz="4400" spc="95" dirty="0">
                <a:solidFill>
                  <a:schemeClr val="bg1"/>
                </a:solidFill>
              </a:rPr>
              <a:t> </a:t>
            </a:r>
            <a:r>
              <a:rPr lang="en-US" sz="4400" spc="170" dirty="0">
                <a:solidFill>
                  <a:schemeClr val="bg1"/>
                </a:solidFill>
              </a:rPr>
              <a:t>Configuration</a:t>
            </a:r>
            <a:endParaRPr lang="en-US" sz="4400" dirty="0">
              <a:solidFill>
                <a:schemeClr val="bg1"/>
              </a:solidFill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A8CF032-BB33-4C0F-BD44-AB882C27539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5305" y="2018270"/>
            <a:ext cx="7165320" cy="4224075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7C993A68-54D0-4813-9E44-166DA9DDE19A}"/>
              </a:ext>
            </a:extLst>
          </p:cNvPr>
          <p:cNvSpPr txBox="1"/>
          <p:nvPr/>
        </p:nvSpPr>
        <p:spPr>
          <a:xfrm>
            <a:off x="132313" y="2327364"/>
            <a:ext cx="5965745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latin typeface="Times New Roman"/>
                <a:cs typeface="Times New Roman"/>
              </a:rPr>
              <a:t>R3(config)#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router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rip</a:t>
            </a:r>
            <a:endParaRPr sz="28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R3(config-router)#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network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192.168.4.0</a:t>
            </a:r>
            <a:endParaRPr sz="28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R3(config-router)#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network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192.168.5.0</a:t>
            </a:r>
            <a:endParaRPr sz="28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457705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484217"/>
            <a:ext cx="7166402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dirty="0">
                <a:solidFill>
                  <a:schemeClr val="bg1"/>
                </a:solidFill>
              </a:rPr>
              <a:t>Passive Interfaces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030" y="1527566"/>
            <a:ext cx="10187189" cy="4128261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0499" marR="630664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Some routers can have interfaces that do not connect to  another router; therefore, there is no reason to send  routing updates out that interface. You can use the 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passive-interface command </a:t>
            </a:r>
            <a:r>
              <a:rPr lang="en-US" sz="3200" spc="-39" dirty="0">
                <a:latin typeface="Times New Roman"/>
                <a:cs typeface="Times New Roman"/>
              </a:rPr>
              <a:t>with RIP to configure an  interface not to send those updates.</a:t>
            </a:r>
          </a:p>
          <a:p>
            <a:pPr marL="470499" marR="630664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R1, R2, and R3 are currently sending out RIP updates on  all interfaces—including LAN interfaces out which there  is no RIP neighbor.</a:t>
            </a:r>
          </a:p>
        </p:txBody>
      </p:sp>
    </p:spTree>
    <p:extLst>
      <p:ext uri="{BB962C8B-B14F-4D97-AF65-F5344CB8AC3E}">
        <p14:creationId xmlns:p14="http://schemas.microsoft.com/office/powerpoint/2010/main" val="304870107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484217"/>
            <a:ext cx="7166402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dirty="0">
                <a:solidFill>
                  <a:schemeClr val="bg1"/>
                </a:solidFill>
              </a:rPr>
              <a:t>Passive Interfaces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030" y="1527565"/>
            <a:ext cx="9710671" cy="5156569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69265" marR="46355" indent="-457200">
              <a:lnSpc>
                <a:spcPts val="2690"/>
              </a:lnSpc>
              <a:spcBef>
                <a:spcPts val="740"/>
              </a:spcBef>
              <a:buClr>
                <a:srgbClr val="D24717"/>
              </a:buClr>
              <a:buSzPct val="83928"/>
              <a:buFont typeface="Wingdings" panose="05000000000000000000" pitchFamily="2" charset="2"/>
              <a:buChar char="Ø"/>
              <a:tabLst>
                <a:tab pos="287020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Three ways these unnecessary updates negatively impact the LAN environment.</a:t>
            </a:r>
          </a:p>
          <a:p>
            <a:pPr marL="789940" marR="5080" lvl="1" indent="-457834">
              <a:lnSpc>
                <a:spcPts val="2690"/>
              </a:lnSpc>
              <a:spcBef>
                <a:spcPts val="409"/>
              </a:spcBef>
              <a:buClr>
                <a:srgbClr val="9B2C1F"/>
              </a:buClr>
              <a:buSzPct val="83928"/>
              <a:buAutoNum type="arabicPeriod"/>
              <a:tabLst>
                <a:tab pos="789940" algn="l"/>
                <a:tab pos="790575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Bandwidth is wasted transporting unnecessary  updates. Because RIP updates are broadcast, switches  will forward the updates out all ports.</a:t>
            </a:r>
          </a:p>
          <a:p>
            <a:pPr marL="789940" marR="297180" lvl="1" indent="-457834">
              <a:lnSpc>
                <a:spcPct val="80000"/>
              </a:lnSpc>
              <a:spcBef>
                <a:spcPts val="415"/>
              </a:spcBef>
              <a:buClr>
                <a:srgbClr val="9B2C1F"/>
              </a:buClr>
              <a:buSzPct val="83928"/>
              <a:buAutoNum type="arabicPeriod"/>
              <a:tabLst>
                <a:tab pos="789940" algn="l"/>
                <a:tab pos="790575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All devices on the LAN must process the update up  to the transport layers, where the receiving device  will discard the update.</a:t>
            </a:r>
          </a:p>
          <a:p>
            <a:pPr marL="789940" marR="136525" lvl="1" indent="-457834">
              <a:lnSpc>
                <a:spcPct val="80000"/>
              </a:lnSpc>
              <a:spcBef>
                <a:spcPts val="395"/>
              </a:spcBef>
              <a:buClr>
                <a:srgbClr val="9B2C1F"/>
              </a:buClr>
              <a:buSzPct val="83928"/>
              <a:buAutoNum type="arabicPeriod"/>
              <a:tabLst>
                <a:tab pos="789940" algn="l"/>
                <a:tab pos="790575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Advertising updates on a broadcast network is a  security risk. RIP updates can be intercepted with  packet-sniffing software. Routing updates can be  modified and sent back to the router, corrupting the  routing table with false metrics that misdirect traffic.</a:t>
            </a:r>
          </a:p>
        </p:txBody>
      </p:sp>
    </p:spTree>
    <p:extLst>
      <p:ext uri="{BB962C8B-B14F-4D97-AF65-F5344CB8AC3E}">
        <p14:creationId xmlns:p14="http://schemas.microsoft.com/office/powerpoint/2010/main" val="368045761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484217"/>
            <a:ext cx="7166402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dirty="0">
                <a:solidFill>
                  <a:schemeClr val="bg1"/>
                </a:solidFill>
              </a:rPr>
              <a:t>Passive Interfaces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030" y="1527567"/>
            <a:ext cx="9977595" cy="2127714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0499" marR="630664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What command, including the router prompt, do you  use to stop unnecessary updates out an interface?</a:t>
            </a:r>
          </a:p>
          <a:p>
            <a:pPr marL="927699" marR="630664" lvl="1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ü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Router(config-router)#</a:t>
            </a:r>
            <a:r>
              <a:rPr lang="en-US" sz="3000" spc="-39" dirty="0">
                <a:latin typeface="Times New Roman"/>
                <a:cs typeface="Times New Roman"/>
              </a:rPr>
              <a:t> </a:t>
            </a:r>
            <a:r>
              <a:rPr lang="en-US" sz="30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passive-interface </a:t>
            </a:r>
            <a:r>
              <a:rPr lang="en-US" sz="3000" b="1" spc="-39" dirty="0" err="1">
                <a:solidFill>
                  <a:srgbClr val="FF0000"/>
                </a:solidFill>
                <a:latin typeface="Times New Roman"/>
                <a:cs typeface="Times New Roman"/>
              </a:rPr>
              <a:t>interfaceNumber</a:t>
            </a:r>
            <a:endParaRPr lang="en-US" sz="3000" b="1" spc="-39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12675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179518"/>
            <a:ext cx="7166402" cy="1232931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dirty="0">
                <a:solidFill>
                  <a:schemeClr val="bg1"/>
                </a:solidFill>
              </a:rPr>
              <a:t>Disabling Updates with the</a:t>
            </a:r>
            <a:br>
              <a:rPr lang="en-US" sz="4400" dirty="0">
                <a:solidFill>
                  <a:schemeClr val="bg1"/>
                </a:solidFill>
              </a:rPr>
            </a:br>
            <a:r>
              <a:rPr lang="en-US" sz="4400" dirty="0">
                <a:solidFill>
                  <a:schemeClr val="bg1"/>
                </a:solidFill>
              </a:rPr>
              <a:t>passive-interface Command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030" y="1527566"/>
            <a:ext cx="10187189" cy="2338027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0499" marR="630664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R2(config)#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router</a:t>
            </a:r>
            <a:r>
              <a:rPr lang="en-US" sz="3200" spc="-39" dirty="0">
                <a:latin typeface="Times New Roman"/>
                <a:cs typeface="Times New Roman"/>
              </a:rPr>
              <a:t>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rip</a:t>
            </a:r>
          </a:p>
          <a:p>
            <a:pPr marL="470499" marR="630664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R2(config-router)#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passive-interface</a:t>
            </a:r>
            <a:r>
              <a:rPr lang="en-US" sz="3200" spc="-39" dirty="0">
                <a:latin typeface="Times New Roman"/>
                <a:cs typeface="Times New Roman"/>
              </a:rPr>
              <a:t> </a:t>
            </a:r>
            <a:r>
              <a:rPr lang="en-US" sz="3200" b="1" spc="-39" dirty="0" err="1">
                <a:solidFill>
                  <a:srgbClr val="FF0000"/>
                </a:solidFill>
                <a:latin typeface="Times New Roman"/>
                <a:cs typeface="Times New Roman"/>
              </a:rPr>
              <a:t>FastEthernet</a:t>
            </a:r>
            <a:r>
              <a:rPr lang="en-US" sz="3200" spc="-39" dirty="0">
                <a:latin typeface="Times New Roman"/>
                <a:cs typeface="Times New Roman"/>
              </a:rPr>
              <a:t>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0/0</a:t>
            </a:r>
          </a:p>
          <a:p>
            <a:pPr marL="470499" marR="630664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R2(config-router)#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end</a:t>
            </a:r>
          </a:p>
          <a:p>
            <a:pPr marL="470499" marR="630664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R2# 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show</a:t>
            </a:r>
            <a:r>
              <a:rPr lang="en-US" sz="3200" b="1" spc="-39" dirty="0">
                <a:latin typeface="Times New Roman"/>
                <a:cs typeface="Times New Roman"/>
              </a:rPr>
              <a:t> </a:t>
            </a:r>
            <a:r>
              <a:rPr lang="en-US" sz="3200" b="1" spc="-39" dirty="0" err="1">
                <a:solidFill>
                  <a:srgbClr val="FF0000"/>
                </a:solidFill>
                <a:latin typeface="Times New Roman"/>
                <a:cs typeface="Times New Roman"/>
              </a:rPr>
              <a:t>ip</a:t>
            </a:r>
            <a:r>
              <a:rPr lang="en-US" sz="3200" b="1" spc="-39" dirty="0">
                <a:solidFill>
                  <a:srgbClr val="FF0000"/>
                </a:solidFill>
                <a:latin typeface="Times New Roman"/>
                <a:cs typeface="Times New Roman"/>
              </a:rPr>
              <a:t> protocols</a:t>
            </a:r>
          </a:p>
        </p:txBody>
      </p:sp>
    </p:spTree>
    <p:extLst>
      <p:ext uri="{BB962C8B-B14F-4D97-AF65-F5344CB8AC3E}">
        <p14:creationId xmlns:p14="http://schemas.microsoft.com/office/powerpoint/2010/main" val="23320467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111" y="484217"/>
            <a:ext cx="7166402" cy="623533"/>
          </a:xfrm>
          <a:prstGeom prst="rect">
            <a:avLst/>
          </a:prstGeom>
        </p:spPr>
        <p:txBody>
          <a:bodyPr vert="horz" wrap="square" lIns="0" tIns="13999" rIns="0" bIns="0" rtlCol="0" anchor="ctr">
            <a:spAutoFit/>
          </a:bodyPr>
          <a:lstStyle/>
          <a:p>
            <a:pPr marL="13999" algn="ctr">
              <a:spcBef>
                <a:spcPts val="772"/>
              </a:spcBef>
              <a:buClr>
                <a:srgbClr val="D24717"/>
              </a:buClr>
              <a:buSzPct val="84615"/>
              <a:tabLst>
                <a:tab pos="314982" algn="l"/>
              </a:tabLst>
            </a:pPr>
            <a:r>
              <a:rPr lang="en-US" sz="4400" dirty="0">
                <a:solidFill>
                  <a:schemeClr val="bg1"/>
                </a:solidFill>
              </a:rPr>
              <a:t>Home 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030" y="1527566"/>
            <a:ext cx="10187189" cy="1755817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470499" marR="630664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What is the main disadvantage of using RIP?</a:t>
            </a:r>
          </a:p>
          <a:p>
            <a:pPr marL="470499" marR="630664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Differences between RIPv1 and RIPv2.</a:t>
            </a:r>
          </a:p>
          <a:p>
            <a:pPr marL="470499" marR="630664" indent="-457200">
              <a:spcBef>
                <a:spcPts val="667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Ø"/>
              <a:tabLst>
                <a:tab pos="315682" algn="l"/>
              </a:tabLst>
            </a:pPr>
            <a:r>
              <a:rPr lang="en-US" sz="3200" spc="-39" dirty="0">
                <a:latin typeface="Times New Roman"/>
                <a:cs typeface="Times New Roman"/>
              </a:rPr>
              <a:t>How Routing Information Protocol works.</a:t>
            </a:r>
          </a:p>
        </p:txBody>
      </p:sp>
    </p:spTree>
    <p:extLst>
      <p:ext uri="{BB962C8B-B14F-4D97-AF65-F5344CB8AC3E}">
        <p14:creationId xmlns:p14="http://schemas.microsoft.com/office/powerpoint/2010/main" val="29903494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CustomShape 1"/>
          <p:cNvSpPr/>
          <p:nvPr/>
        </p:nvSpPr>
        <p:spPr>
          <a:xfrm>
            <a:off x="9180000" y="6804000"/>
            <a:ext cx="718920" cy="71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C2198156-94BD-48D4-8A24-50D926417968}" type="slidenum">
              <a:rPr lang="en-US" sz="1800" b="1" strike="noStrike" spc="-1">
                <a:solidFill>
                  <a:srgbClr val="FFFFFF"/>
                </a:solidFill>
                <a:latin typeface="Noto Sans Black"/>
                <a:ea typeface="DejaVu Sans"/>
              </a:rPr>
              <a:t>87</a:t>
            </a:fld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2" name="Picture 4"/>
          <p:cNvPicPr/>
          <p:nvPr/>
        </p:nvPicPr>
        <p:blipFill>
          <a:blip r:embed="rId3"/>
          <a:stretch/>
        </p:blipFill>
        <p:spPr>
          <a:xfrm>
            <a:off x="1255320" y="-214560"/>
            <a:ext cx="7923600" cy="769356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855250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CustomShape 1"/>
          <p:cNvSpPr/>
          <p:nvPr/>
        </p:nvSpPr>
        <p:spPr>
          <a:xfrm>
            <a:off x="2451635" y="2155969"/>
            <a:ext cx="5177353" cy="215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p15="http://schemas.microsoft.com/office/powerpoint/2012/main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../../../../usr/lib/libreoffice/share/template/common/presnt/Midnightblue.otp</Template>
  <TotalTime>20463</TotalTime>
  <Words>4083</Words>
  <Application>Microsoft Office PowerPoint</Application>
  <PresentationFormat>Custom</PresentationFormat>
  <Paragraphs>392</Paragraphs>
  <Slides>88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88</vt:i4>
      </vt:variant>
    </vt:vector>
  </HeadingPairs>
  <TitlesOfParts>
    <vt:vector size="98" baseType="lpstr">
      <vt:lpstr>Arial</vt:lpstr>
      <vt:lpstr>Calibri</vt:lpstr>
      <vt:lpstr>Cambria</vt:lpstr>
      <vt:lpstr>Georgia</vt:lpstr>
      <vt:lpstr>Noto Sans Black</vt:lpstr>
      <vt:lpstr>Symbol</vt:lpstr>
      <vt:lpstr>Times New Roman</vt:lpstr>
      <vt:lpstr>Wingdings</vt:lpstr>
      <vt:lpstr>Office Theme</vt:lpstr>
      <vt:lpstr>Office Theme</vt:lpstr>
      <vt:lpstr>PowerPoint Presentation</vt:lpstr>
      <vt:lpstr>Distance Vector Routing Protocols</vt:lpstr>
      <vt:lpstr>Distance Vector Protocols</vt:lpstr>
      <vt:lpstr>Distance Vector Protocols</vt:lpstr>
      <vt:lpstr>Distance Vector Protocols</vt:lpstr>
      <vt:lpstr>Distance Vector Protocols</vt:lpstr>
      <vt:lpstr>Distance Vector Protocols</vt:lpstr>
      <vt:lpstr>Routing Protocols Characteristics</vt:lpstr>
      <vt:lpstr>Distance Vector Protocols</vt:lpstr>
      <vt:lpstr>Distance Vector Protocols</vt:lpstr>
      <vt:lpstr>Network Discovery</vt:lpstr>
      <vt:lpstr>Network Discovery</vt:lpstr>
      <vt:lpstr>Network Discovery</vt:lpstr>
      <vt:lpstr>Network Discovery</vt:lpstr>
      <vt:lpstr>Network Discovery</vt:lpstr>
      <vt:lpstr>Network Discovery</vt:lpstr>
      <vt:lpstr>Network Discovery</vt:lpstr>
      <vt:lpstr>Network Discovery</vt:lpstr>
      <vt:lpstr>Network Discovery</vt:lpstr>
      <vt:lpstr>Network Discovery</vt:lpstr>
      <vt:lpstr>Routing Table Maintenance</vt:lpstr>
      <vt:lpstr>Distance Vector Table Maintenance</vt:lpstr>
      <vt:lpstr>Distance Vector Table Maintenance</vt:lpstr>
      <vt:lpstr>Distance Vector Table Maintenance</vt:lpstr>
      <vt:lpstr>Distance Vector Table Maintenance</vt:lpstr>
      <vt:lpstr>Distance Vector Table Maintenance</vt:lpstr>
      <vt:lpstr>Distance Vector Table Maintenance</vt:lpstr>
      <vt:lpstr>Distance Vector Table Maintenance</vt:lpstr>
      <vt:lpstr>Distance Vector Table Maintenance</vt:lpstr>
      <vt:lpstr>Distance Vector Table Maintenance</vt:lpstr>
      <vt:lpstr>Distance Vector Table Maintenance</vt:lpstr>
      <vt:lpstr>Routing Loops</vt:lpstr>
      <vt:lpstr>Maintaining Routing Information Problem—Routing Loops</vt:lpstr>
      <vt:lpstr>Maintaining Routing Information Problem—Routing Loops</vt:lpstr>
      <vt:lpstr>Maintaining Routing Information Problem—Routing Loops</vt:lpstr>
      <vt:lpstr>Maintaining Routing Information Problem—Routing Loops</vt:lpstr>
      <vt:lpstr>Symptom: Counting to Infinity</vt:lpstr>
      <vt:lpstr>Routing Loops</vt:lpstr>
      <vt:lpstr>PowerPoint Presentation</vt:lpstr>
      <vt:lpstr>Routing Loops</vt:lpstr>
      <vt:lpstr>Routing Loop Prevention Mechanisms</vt:lpstr>
      <vt:lpstr>Count to Infinity</vt:lpstr>
      <vt:lpstr>Hold-down Timers</vt:lpstr>
      <vt:lpstr>Split horizon</vt:lpstr>
      <vt:lpstr>Route Poisoning</vt:lpstr>
      <vt:lpstr>Split Horizon with Poison Reverse</vt:lpstr>
      <vt:lpstr>Triggered Updates</vt:lpstr>
      <vt:lpstr>PowerPoint Presentation</vt:lpstr>
      <vt:lpstr>Routing Information Protocol (RIP)</vt:lpstr>
      <vt:lpstr>Routing Information Protocol (RIP)</vt:lpstr>
      <vt:lpstr>Routing Information Protocol (RIP)</vt:lpstr>
      <vt:lpstr>Routing Information Protocol (RIP)</vt:lpstr>
      <vt:lpstr>RIP Updating Information</vt:lpstr>
      <vt:lpstr>RIP Updating Information</vt:lpstr>
      <vt:lpstr>RIP Updating Information</vt:lpstr>
      <vt:lpstr>Initializing the Routing Table</vt:lpstr>
      <vt:lpstr>Initial Routing Tables in a Small  Autonomous System</vt:lpstr>
      <vt:lpstr>Final Routing Tables for the  Previous Figure</vt:lpstr>
      <vt:lpstr>RIP Message </vt:lpstr>
      <vt:lpstr>RIP Message </vt:lpstr>
      <vt:lpstr>RIP Message </vt:lpstr>
      <vt:lpstr>Routing Information Protocol (RIP)</vt:lpstr>
      <vt:lpstr>Routing Information Protocol (RIP)</vt:lpstr>
      <vt:lpstr>Routing Information Protocol (RIP)</vt:lpstr>
      <vt:lpstr>RIP Versions</vt:lpstr>
      <vt:lpstr>RIP Versions 1 (RIPv1)</vt:lpstr>
      <vt:lpstr>RIP Versions 2 (RIPv2)</vt:lpstr>
      <vt:lpstr>RIP Versions 2 (RIPv2)</vt:lpstr>
      <vt:lpstr>RIPv1 Basic Configuration</vt:lpstr>
      <vt:lpstr>RIPv1 Basic Configuration</vt:lpstr>
      <vt:lpstr>RIPv1 Basic Configuration</vt:lpstr>
      <vt:lpstr>RIPv1 Basic Configuration</vt:lpstr>
      <vt:lpstr>RIPv1 Basic Configuration</vt:lpstr>
      <vt:lpstr>RIPv1 Basic Configuration</vt:lpstr>
      <vt:lpstr>RIPv1 Basic Configuration</vt:lpstr>
      <vt:lpstr>RIPv1 Basic Configuration</vt:lpstr>
      <vt:lpstr>RIPv1 Basic Configuration</vt:lpstr>
      <vt:lpstr>RIPv1 Basic Configuration</vt:lpstr>
      <vt:lpstr>RIPv1 Basic Configuration</vt:lpstr>
      <vt:lpstr>RIPv1 Basic Configuration</vt:lpstr>
      <vt:lpstr>RIPv1 Basic Configuration</vt:lpstr>
      <vt:lpstr>Passive Interfaces</vt:lpstr>
      <vt:lpstr>Passive Interfaces</vt:lpstr>
      <vt:lpstr>Passive Interfaces</vt:lpstr>
      <vt:lpstr>Disabling Updates with the passive-interface Command</vt:lpstr>
      <vt:lpstr>Home Work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Midnightblue</dc:title>
  <dc:subject/>
  <dc:creator>CUTHBERT JOHN KARAWA</dc:creator>
  <dc:description/>
  <cp:lastModifiedBy>Cuthbert John karawa</cp:lastModifiedBy>
  <cp:revision>1730</cp:revision>
  <dcterms:created xsi:type="dcterms:W3CDTF">2022-05-01T12:14:38Z</dcterms:created>
  <dcterms:modified xsi:type="dcterms:W3CDTF">2024-05-23T09:54:34Z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i4>0</vt:i4>
  </property>
  <property fmtid="{D5CDD505-2E9C-101B-9397-08002B2CF9AE}" pid="6" name="Notes">
    <vt:i4>7</vt:i4>
  </property>
  <property fmtid="{D5CDD505-2E9C-101B-9397-08002B2CF9AE}" pid="7" name="PresentationFormat">
    <vt:lpwstr>Custom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50</vt:i4>
  </property>
</Properties>
</file>