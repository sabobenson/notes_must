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7" r:id="rId2"/>
  </p:sldMasterIdLst>
  <p:notesMasterIdLst>
    <p:notesMasterId r:id="rId34"/>
  </p:notesMasterIdLst>
  <p:sldIdLst>
    <p:sldId id="256" r:id="rId3"/>
    <p:sldId id="258" r:id="rId4"/>
    <p:sldId id="478" r:id="rId5"/>
    <p:sldId id="259" r:id="rId6"/>
    <p:sldId id="260" r:id="rId7"/>
    <p:sldId id="479" r:id="rId8"/>
    <p:sldId id="261" r:id="rId9"/>
    <p:sldId id="480" r:id="rId10"/>
    <p:sldId id="481" r:id="rId11"/>
    <p:sldId id="482" r:id="rId12"/>
    <p:sldId id="483" r:id="rId13"/>
    <p:sldId id="484" r:id="rId14"/>
    <p:sldId id="485" r:id="rId15"/>
    <p:sldId id="486" r:id="rId16"/>
    <p:sldId id="487" r:id="rId17"/>
    <p:sldId id="488" r:id="rId18"/>
    <p:sldId id="489" r:id="rId19"/>
    <p:sldId id="490" r:id="rId20"/>
    <p:sldId id="262" r:id="rId21"/>
    <p:sldId id="491" r:id="rId22"/>
    <p:sldId id="263" r:id="rId23"/>
    <p:sldId id="264" r:id="rId24"/>
    <p:sldId id="492" r:id="rId25"/>
    <p:sldId id="493" r:id="rId26"/>
    <p:sldId id="494" r:id="rId27"/>
    <p:sldId id="495" r:id="rId28"/>
    <p:sldId id="496" r:id="rId29"/>
    <p:sldId id="497" r:id="rId30"/>
    <p:sldId id="477" r:id="rId31"/>
    <p:sldId id="360" r:id="rId32"/>
    <p:sldId id="276" r:id="rId33"/>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35"/>
    <a:srgbClr val="2C3E50"/>
    <a:srgbClr val="0404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17" autoAdjust="0"/>
  </p:normalViewPr>
  <p:slideViewPr>
    <p:cSldViewPr snapToGrid="0">
      <p:cViewPr varScale="1">
        <p:scale>
          <a:sx n="72" d="100"/>
          <a:sy n="72" d="100"/>
        </p:scale>
        <p:origin x="1275"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3"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rgbClr val="000000"/>
                </a:solidFill>
                <a:latin typeface="Arial"/>
              </a:rPr>
              <a:t>Click to move the slide</a:t>
            </a:r>
          </a:p>
        </p:txBody>
      </p:sp>
      <p:sp>
        <p:nvSpPr>
          <p:cNvPr id="21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21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216" name="PlaceHolder 4"/>
          <p:cNvSpPr>
            <a:spLocks noGrp="1"/>
          </p:cNvSpPr>
          <p:nvPr>
            <p:ph type="dt" idx="10"/>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217" name="PlaceHolder 5"/>
          <p:cNvSpPr>
            <a:spLocks noGrp="1"/>
          </p:cNvSpPr>
          <p:nvPr>
            <p:ph type="ftr" idx="11"/>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218" name="PlaceHolder 6"/>
          <p:cNvSpPr>
            <a:spLocks noGrp="1"/>
          </p:cNvSpPr>
          <p:nvPr>
            <p:ph type="sldNum" idx="12"/>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3BDCBDC6-F7A9-462D-815D-97517B12C12A}"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4278960" y="1015740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7AB9FE3F-D68D-4D34-B48A-B3E69993D87F}" type="slidenum">
              <a:rPr lang="en-US" sz="1400" b="1" strike="noStrike" spc="-1">
                <a:solidFill>
                  <a:srgbClr val="FFFFFF"/>
                </a:solidFill>
                <a:latin typeface="Noto Sans Black"/>
                <a:ea typeface="DejaVu Sans"/>
              </a:rPr>
              <a:t>1</a:t>
            </a:fld>
            <a:endParaRPr lang="en-US" sz="1400" b="0" strike="noStrike" spc="-1">
              <a:solidFill>
                <a:srgbClr val="000000"/>
              </a:solidFill>
              <a:latin typeface="Arial"/>
            </a:endParaRPr>
          </a:p>
        </p:txBody>
      </p:sp>
      <p:sp>
        <p:nvSpPr>
          <p:cNvPr id="276" name="PlaceHolder 1"/>
          <p:cNvSpPr>
            <a:spLocks noGrp="1" noRot="1" noChangeAspect="1"/>
          </p:cNvSpPr>
          <p:nvPr>
            <p:ph type="sldImg"/>
          </p:nvPr>
        </p:nvSpPr>
        <p:spPr>
          <a:xfrm>
            <a:off x="1106488" y="812800"/>
            <a:ext cx="5345112" cy="4008438"/>
          </a:xfrm>
          <a:prstGeom prst="rect">
            <a:avLst/>
          </a:prstGeom>
          <a:ln w="0">
            <a:noFill/>
          </a:ln>
        </p:spPr>
      </p:sp>
      <p:sp>
        <p:nvSpPr>
          <p:cNvPr id="277" name="PlaceHolder 2"/>
          <p:cNvSpPr>
            <a:spLocks noGrp="1"/>
          </p:cNvSpPr>
          <p:nvPr>
            <p:ph type="body"/>
          </p:nvPr>
        </p:nvSpPr>
        <p:spPr>
          <a:xfrm>
            <a:off x="756000" y="5078520"/>
            <a:ext cx="6046560" cy="481032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6488" y="812800"/>
            <a:ext cx="5346700" cy="4008438"/>
          </a:xfrm>
        </p:spPr>
      </p:sp>
      <p:sp>
        <p:nvSpPr>
          <p:cNvPr id="3" name="Notes Placeholder 2"/>
          <p:cNvSpPr>
            <a:spLocks noGrp="1"/>
          </p:cNvSpPr>
          <p:nvPr>
            <p:ph type="body" idx="1"/>
          </p:nvPr>
        </p:nvSpPr>
        <p:spPr/>
        <p:txBody>
          <a:bodyPr/>
          <a:lstStyle/>
          <a:p>
            <a:r>
              <a:rPr lang="en-US" dirty="0"/>
              <a:t>Adjacency Instead, OSPF directly shares routes only with neighbors</a:t>
            </a:r>
          </a:p>
          <a:p>
            <a:r>
              <a:rPr lang="en-US" dirty="0"/>
              <a:t>that have also established adjacencies. And not all</a:t>
            </a:r>
          </a:p>
          <a:p>
            <a:r>
              <a:rPr lang="en-US" dirty="0"/>
              <a:t>neighbors will become Adjacent, this depends upon both the</a:t>
            </a:r>
          </a:p>
          <a:p>
            <a:r>
              <a:rPr lang="en-US" dirty="0"/>
              <a:t>type of network and the configuration of the routers.</a:t>
            </a:r>
          </a:p>
        </p:txBody>
      </p:sp>
      <p:sp>
        <p:nvSpPr>
          <p:cNvPr id="4" name="Slide Number Placeholder 3"/>
          <p:cNvSpPr>
            <a:spLocks noGrp="1"/>
          </p:cNvSpPr>
          <p:nvPr>
            <p:ph type="sldNum" idx="12"/>
          </p:nvPr>
        </p:nvSpPr>
        <p:spPr/>
        <p:txBody>
          <a:bodyPr/>
          <a:lstStyle/>
          <a:p>
            <a:pPr indent="0" algn="r">
              <a:buNone/>
            </a:pPr>
            <a:fld id="{3BDCBDC6-F7A9-462D-815D-97517B12C12A}" type="slidenum">
              <a:rPr lang="en-US" sz="1400" b="0" strike="noStrike" spc="-1" smtClean="0">
                <a:solidFill>
                  <a:srgbClr val="000000"/>
                </a:solidFill>
                <a:latin typeface="Times New Roman"/>
              </a:rPr>
              <a:t>13</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07262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6488" y="812800"/>
            <a:ext cx="5346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indent="0" algn="r">
              <a:buNone/>
            </a:pPr>
            <a:fld id="{3BDCBDC6-F7A9-462D-815D-97517B12C12A}" type="slidenum">
              <a:rPr lang="en-US" sz="1400" b="0" strike="noStrike" spc="-1" smtClean="0">
                <a:solidFill>
                  <a:srgbClr val="000000"/>
                </a:solidFill>
                <a:latin typeface="Times New Roman"/>
              </a:rPr>
              <a:t>14</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16030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6488" y="812800"/>
            <a:ext cx="5346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indent="0" algn="r">
              <a:buNone/>
            </a:pPr>
            <a:fld id="{3BDCBDC6-F7A9-462D-815D-97517B12C12A}" type="slidenum">
              <a:rPr lang="en-US" sz="1400" b="0" strike="noStrike" spc="-1" smtClean="0">
                <a:solidFill>
                  <a:srgbClr val="000000"/>
                </a:solidFill>
                <a:latin typeface="Times New Roman"/>
              </a:rPr>
              <a:t>15</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076367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6488" y="812800"/>
            <a:ext cx="5346700" cy="4008438"/>
          </a:xfrm>
        </p:spPr>
      </p:sp>
      <p:sp>
        <p:nvSpPr>
          <p:cNvPr id="3" name="Notes Placeholder 2"/>
          <p:cNvSpPr>
            <a:spLocks noGrp="1"/>
          </p:cNvSpPr>
          <p:nvPr>
            <p:ph type="body" idx="1"/>
          </p:nvPr>
        </p:nvSpPr>
        <p:spPr/>
        <p:txBody>
          <a:bodyPr/>
          <a:lstStyle/>
          <a:p>
            <a:r>
              <a:rPr lang="en-US" sz="1200" dirty="0">
                <a:latin typeface="Times New Roman"/>
                <a:cs typeface="Times New Roman"/>
              </a:rPr>
              <a:t>DR- Cisco likes to call these “broadcast” networks, but really, they are networks that have multiple recipients. Try not to confuse multi-access with multipoint, which can be easy to do sometimes. A DR is chosen (elected) to disseminate/receive routing information to/from the remaining routers on the broadcast network or link. This ensures that their topology tables are synchronized. All routers on the shared network will establish adjacencies with the DR and Backup Designated Router (BDR).</a:t>
            </a:r>
          </a:p>
          <a:p>
            <a:endParaRPr lang="en-US" sz="1200" dirty="0">
              <a:latin typeface="Times New Roman"/>
              <a:cs typeface="Times New Roman"/>
            </a:endParaRPr>
          </a:p>
          <a:p>
            <a:endParaRPr lang="en-US" sz="1200" dirty="0">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a:cs typeface="Times New Roman"/>
              </a:rPr>
              <a:t>OSPF AREAS- Because a router can be a member of more than one area at a time, the Area ID is associated with specific interfaces on the router. This would allow some interfaces to belong to area 1 while the remaining interfaces can belong to area 0. All of the routers within the same area have the same topology table. When configuring OSPF, you’ve got to remember that there must be an area 0, and that this is typically configured on the routers that connect to the backbone of the network. Areas also play a role in establishing a hierarchical network organization, something that really enhances the scalability of OSPF</a:t>
            </a:r>
          </a:p>
          <a:p>
            <a:endParaRPr lang="en-US" dirty="0"/>
          </a:p>
        </p:txBody>
      </p:sp>
      <p:sp>
        <p:nvSpPr>
          <p:cNvPr id="4" name="Slide Number Placeholder 3"/>
          <p:cNvSpPr>
            <a:spLocks noGrp="1"/>
          </p:cNvSpPr>
          <p:nvPr>
            <p:ph type="sldNum" idx="12"/>
          </p:nvPr>
        </p:nvSpPr>
        <p:spPr/>
        <p:txBody>
          <a:bodyPr/>
          <a:lstStyle/>
          <a:p>
            <a:pPr indent="0" algn="r">
              <a:buNone/>
            </a:pPr>
            <a:fld id="{3BDCBDC6-F7A9-462D-815D-97517B12C12A}" type="slidenum">
              <a:rPr lang="en-US" sz="1400" b="0" strike="noStrike" spc="-1" smtClean="0">
                <a:solidFill>
                  <a:srgbClr val="000000"/>
                </a:solidFill>
                <a:latin typeface="Times New Roman"/>
              </a:rPr>
              <a:t>16</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731936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6488" y="812800"/>
            <a:ext cx="5346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indent="0" algn="r">
              <a:buNone/>
            </a:pPr>
            <a:fld id="{3BDCBDC6-F7A9-462D-815D-97517B12C12A}" type="slidenum">
              <a:rPr lang="en-US" sz="1400" b="0" strike="noStrike" spc="-1" smtClean="0">
                <a:solidFill>
                  <a:srgbClr val="000000"/>
                </a:solidFill>
                <a:latin typeface="Times New Roman"/>
              </a:rPr>
              <a:t>17</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705775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CustomShape 1"/>
          <p:cNvSpPr/>
          <p:nvPr/>
        </p:nvSpPr>
        <p:spPr>
          <a:xfrm>
            <a:off x="4278960" y="1015740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37F6CAA2-2CF7-432D-98DC-05CAB340EB7D}" type="slidenum">
              <a:rPr lang="en-US" sz="1400" b="1" strike="noStrike" spc="-1">
                <a:solidFill>
                  <a:srgbClr val="FFFFFF"/>
                </a:solidFill>
                <a:latin typeface="Noto Sans Black"/>
                <a:ea typeface="DejaVu Sans"/>
              </a:rPr>
              <a:t>30</a:t>
            </a:fld>
            <a:endParaRPr lang="en-US" sz="1400" b="0" strike="noStrike" spc="-1">
              <a:solidFill>
                <a:srgbClr val="000000"/>
              </a:solidFill>
              <a:latin typeface="Arial"/>
            </a:endParaRPr>
          </a:p>
        </p:txBody>
      </p:sp>
      <p:sp>
        <p:nvSpPr>
          <p:cNvPr id="279" name="PlaceHolder 1"/>
          <p:cNvSpPr>
            <a:spLocks noGrp="1" noRot="1" noChangeAspect="1"/>
          </p:cNvSpPr>
          <p:nvPr>
            <p:ph type="sldImg"/>
          </p:nvPr>
        </p:nvSpPr>
        <p:spPr>
          <a:xfrm>
            <a:off x="1106488" y="812800"/>
            <a:ext cx="5345112" cy="4008438"/>
          </a:xfrm>
          <a:prstGeom prst="rect">
            <a:avLst/>
          </a:prstGeom>
          <a:ln w="0">
            <a:noFill/>
          </a:ln>
        </p:spPr>
      </p:sp>
      <p:sp>
        <p:nvSpPr>
          <p:cNvPr id="280"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Arial"/>
            </a:endParaRPr>
          </a:p>
        </p:txBody>
      </p:sp>
    </p:spTree>
    <p:extLst>
      <p:ext uri="{BB962C8B-B14F-4D97-AF65-F5344CB8AC3E}">
        <p14:creationId xmlns:p14="http://schemas.microsoft.com/office/powerpoint/2010/main" val="1987420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CustomShape 1"/>
          <p:cNvSpPr/>
          <p:nvPr/>
        </p:nvSpPr>
        <p:spPr>
          <a:xfrm>
            <a:off x="4278960" y="10157400"/>
            <a:ext cx="327960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1E5CC62F-B6DE-404F-9E12-83B6E3C80081}" type="slidenum">
              <a:rPr lang="en-US" sz="1400" b="1" strike="noStrike" spc="-1">
                <a:solidFill>
                  <a:srgbClr val="FFFFFF"/>
                </a:solidFill>
                <a:latin typeface="Noto Sans Black"/>
                <a:ea typeface="DejaVu Sans"/>
              </a:rPr>
              <a:t>31</a:t>
            </a:fld>
            <a:endParaRPr lang="en-US" sz="1400" b="0" strike="noStrike" spc="-1">
              <a:solidFill>
                <a:srgbClr val="000000"/>
              </a:solidFill>
              <a:latin typeface="Arial"/>
            </a:endParaRPr>
          </a:p>
        </p:txBody>
      </p:sp>
      <p:sp>
        <p:nvSpPr>
          <p:cNvPr id="282" name="PlaceHolder 1"/>
          <p:cNvSpPr>
            <a:spLocks noGrp="1" noRot="1" noChangeAspect="1"/>
          </p:cNvSpPr>
          <p:nvPr>
            <p:ph type="sldImg"/>
          </p:nvPr>
        </p:nvSpPr>
        <p:spPr>
          <a:xfrm>
            <a:off x="1106488" y="812800"/>
            <a:ext cx="5345112" cy="4008438"/>
          </a:xfrm>
          <a:prstGeom prst="rect">
            <a:avLst/>
          </a:prstGeom>
          <a:ln w="0">
            <a:noFill/>
          </a:ln>
        </p:spPr>
      </p:sp>
      <p:sp>
        <p:nvSpPr>
          <p:cNvPr id="283" name="PlaceHolder 2"/>
          <p:cNvSpPr>
            <a:spLocks noGrp="1"/>
          </p:cNvSpPr>
          <p:nvPr>
            <p:ph type="body"/>
          </p:nvPr>
        </p:nvSpPr>
        <p:spPr>
          <a:xfrm>
            <a:off x="756000" y="5078520"/>
            <a:ext cx="6046560" cy="481032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6"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8"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0"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1"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7"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9"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0"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1"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3"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4"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5"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27"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28"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30"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1"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2"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3"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35"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6"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7"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8"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39"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40"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68" b="1" i="0">
                <a:solidFill>
                  <a:schemeClr val="hlink"/>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66"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21004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21030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34" name="PlaceHolder 2"/>
          <p:cNvSpPr>
            <a:spLocks noGrp="1"/>
          </p:cNvSpPr>
          <p:nvPr>
            <p:ph type="subTitle"/>
          </p:nvPr>
        </p:nvSpPr>
        <p:spPr>
          <a:xfrm>
            <a:off x="504000" y="1768680"/>
            <a:ext cx="9072000" cy="43840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36" name="PlaceHolder 2"/>
          <p:cNvSpPr>
            <a:spLocks noGrp="1"/>
          </p:cNvSpPr>
          <p:nvPr>
            <p:ph/>
          </p:nvPr>
        </p:nvSpPr>
        <p:spPr>
          <a:xfrm>
            <a:off x="504000" y="1768680"/>
            <a:ext cx="907200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38"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39"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1" name="PlaceHolder 1"/>
          <p:cNvSpPr>
            <a:spLocks noGrp="1"/>
          </p:cNvSpPr>
          <p:nvPr>
            <p:ph type="subTitle"/>
          </p:nvPr>
        </p:nvSpPr>
        <p:spPr>
          <a:xfrm>
            <a:off x="504000" y="301320"/>
            <a:ext cx="9072000" cy="58503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43"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4" name="PlaceHolder 3"/>
          <p:cNvSpPr>
            <a:spLocks noGrp="1"/>
          </p:cNvSpPr>
          <p:nvPr>
            <p:ph/>
          </p:nvPr>
        </p:nvSpPr>
        <p:spPr>
          <a:xfrm>
            <a:off x="515268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5"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47" name="PlaceHolder 2"/>
          <p:cNvSpPr>
            <a:spLocks noGrp="1"/>
          </p:cNvSpPr>
          <p:nvPr>
            <p:ph/>
          </p:nvPr>
        </p:nvSpPr>
        <p:spPr>
          <a:xfrm>
            <a:off x="504000" y="1768680"/>
            <a:ext cx="4426920" cy="43840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8"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49" name="PlaceHolder 4"/>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1"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2"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3" name="PlaceHolder 4"/>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5" name="PlaceHolder 2"/>
          <p:cNvSpPr>
            <a:spLocks noGrp="1"/>
          </p:cNvSpPr>
          <p:nvPr>
            <p:ph/>
          </p:nvPr>
        </p:nvSpPr>
        <p:spPr>
          <a:xfrm>
            <a:off x="504000" y="176868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6" name="PlaceHolder 3"/>
          <p:cNvSpPr>
            <a:spLocks noGrp="1"/>
          </p:cNvSpPr>
          <p:nvPr>
            <p:ph/>
          </p:nvPr>
        </p:nvSpPr>
        <p:spPr>
          <a:xfrm>
            <a:off x="504000" y="4058640"/>
            <a:ext cx="907200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58" name="PlaceHolder 2"/>
          <p:cNvSpPr>
            <a:spLocks noGrp="1"/>
          </p:cNvSpPr>
          <p:nvPr>
            <p:ph/>
          </p:nvPr>
        </p:nvSpPr>
        <p:spPr>
          <a:xfrm>
            <a:off x="50400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59" name="PlaceHolder 3"/>
          <p:cNvSpPr>
            <a:spLocks noGrp="1"/>
          </p:cNvSpPr>
          <p:nvPr>
            <p:ph/>
          </p:nvPr>
        </p:nvSpPr>
        <p:spPr>
          <a:xfrm>
            <a:off x="5152680" y="176868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0" name="PlaceHolder 4"/>
          <p:cNvSpPr>
            <a:spLocks noGrp="1"/>
          </p:cNvSpPr>
          <p:nvPr>
            <p:ph/>
          </p:nvPr>
        </p:nvSpPr>
        <p:spPr>
          <a:xfrm>
            <a:off x="50400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1" name="PlaceHolder 5"/>
          <p:cNvSpPr>
            <a:spLocks noGrp="1"/>
          </p:cNvSpPr>
          <p:nvPr>
            <p:ph/>
          </p:nvPr>
        </p:nvSpPr>
        <p:spPr>
          <a:xfrm>
            <a:off x="5152680" y="4058640"/>
            <a:ext cx="442692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2"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Arial"/>
            </a:endParaRPr>
          </a:p>
        </p:txBody>
      </p:sp>
      <p:sp>
        <p:nvSpPr>
          <p:cNvPr id="163" name="PlaceHolder 2"/>
          <p:cNvSpPr>
            <a:spLocks noGrp="1"/>
          </p:cNvSpPr>
          <p:nvPr>
            <p:ph/>
          </p:nvPr>
        </p:nvSpPr>
        <p:spPr>
          <a:xfrm>
            <a:off x="50400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4" name="PlaceHolder 3"/>
          <p:cNvSpPr>
            <a:spLocks noGrp="1"/>
          </p:cNvSpPr>
          <p:nvPr>
            <p:ph/>
          </p:nvPr>
        </p:nvSpPr>
        <p:spPr>
          <a:xfrm>
            <a:off x="357156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5" name="PlaceHolder 4"/>
          <p:cNvSpPr>
            <a:spLocks noGrp="1"/>
          </p:cNvSpPr>
          <p:nvPr>
            <p:ph/>
          </p:nvPr>
        </p:nvSpPr>
        <p:spPr>
          <a:xfrm>
            <a:off x="6639120" y="176868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6" name="PlaceHolder 5"/>
          <p:cNvSpPr>
            <a:spLocks noGrp="1"/>
          </p:cNvSpPr>
          <p:nvPr>
            <p:ph/>
          </p:nvPr>
        </p:nvSpPr>
        <p:spPr>
          <a:xfrm>
            <a:off x="50400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7" name="PlaceHolder 6"/>
          <p:cNvSpPr>
            <a:spLocks noGrp="1"/>
          </p:cNvSpPr>
          <p:nvPr>
            <p:ph/>
          </p:nvPr>
        </p:nvSpPr>
        <p:spPr>
          <a:xfrm>
            <a:off x="357156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
        <p:nvSpPr>
          <p:cNvPr id="168" name="PlaceHolder 7"/>
          <p:cNvSpPr>
            <a:spLocks noGrp="1"/>
          </p:cNvSpPr>
          <p:nvPr>
            <p:ph/>
          </p:nvPr>
        </p:nvSpPr>
        <p:spPr>
          <a:xfrm>
            <a:off x="6639120" y="4058640"/>
            <a:ext cx="2921040" cy="20908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p:cNvSpPr/>
          <p:nvPr/>
        </p:nvSpPr>
        <p:spPr>
          <a:xfrm>
            <a:off x="0" y="7200000"/>
            <a:ext cx="10078920" cy="358920"/>
          </a:xfrm>
          <a:custGeom>
            <a:avLst/>
            <a:gdLst>
              <a:gd name="textAreaLeft" fmla="*/ 0 w 10078920"/>
              <a:gd name="textAreaRight" fmla="*/ 10079280 w 10078920"/>
              <a:gd name="textAreaTop" fmla="*/ 0 h 358920"/>
              <a:gd name="textAreaBottom" fmla="*/ 359280 h 35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 name="CustomShape 2"/>
          <p:cNvSpPr/>
          <p:nvPr/>
        </p:nvSpPr>
        <p:spPr>
          <a:xfrm>
            <a:off x="0" y="0"/>
            <a:ext cx="10078920" cy="1618920"/>
          </a:xfrm>
          <a:custGeom>
            <a:avLst/>
            <a:gdLst>
              <a:gd name="textAreaLeft" fmla="*/ 0 w 10078920"/>
              <a:gd name="textAreaRight" fmla="*/ 10079280 w 10078920"/>
              <a:gd name="textAreaTop" fmla="*/ 0 h 1618920"/>
              <a:gd name="textAreaBottom" fmla="*/ 1619280 h 1618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2C3E5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 name="CustomShape 3"/>
          <p:cNvSpPr/>
          <p:nvPr/>
        </p:nvSpPr>
        <p:spPr>
          <a:xfrm>
            <a:off x="9270000" y="6894000"/>
            <a:ext cx="538920" cy="538920"/>
          </a:xfrm>
          <a:custGeom>
            <a:avLst/>
            <a:gdLst>
              <a:gd name="textAreaLeft" fmla="*/ 0 w 538920"/>
              <a:gd name="textAreaRight" fmla="*/ 539280 w 538920"/>
              <a:gd name="textAreaTop" fmla="*/ 0 h 538920"/>
              <a:gd name="textAreaBottom" fmla="*/ 539280 h 538920"/>
            </a:gdLst>
            <a:ahLst/>
            <a:cxnLst/>
            <a:rect l="textAreaLeft" t="textAreaTop" r="textAreaRight" b="textAreaBottom"/>
            <a:pathLst>
              <a:path w="21600" h="21600">
                <a:moveTo>
                  <a:pt x="10800" y="0"/>
                </a:moveTo>
              </a:path>
            </a:pathLst>
          </a:custGeom>
          <a:solidFill>
            <a:srgbClr val="1ABC9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 name="PlaceHolder 2"/>
          <p:cNvSpPr>
            <a:spLocks noGrp="1"/>
          </p:cNvSpPr>
          <p:nvPr>
            <p:ph type="body"/>
          </p:nvPr>
        </p:nvSpPr>
        <p:spPr>
          <a:xfrm>
            <a:off x="504000" y="1768680"/>
            <a:ext cx="9072000" cy="43840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714" r:id="rId13"/>
    <p:sldLayoutId id="214748371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2520000" y="2520000"/>
            <a:ext cx="5038920" cy="2518920"/>
          </a:xfrm>
          <a:custGeom>
            <a:avLst/>
            <a:gdLst>
              <a:gd name="textAreaLeft" fmla="*/ 0 w 5038920"/>
              <a:gd name="textAreaRight" fmla="*/ 5039280 w 5038920"/>
              <a:gd name="textAreaTop" fmla="*/ 0 h 2518920"/>
              <a:gd name="textAreaBottom" fmla="*/ 2519280 h 2518920"/>
            </a:gdLst>
            <a:ahLst/>
            <a:cxnLst/>
            <a:rect l="textAreaLeft" t="textAreaTop" r="textAreaRight" b="textAreaBottom"/>
            <a:pathLst>
              <a:path w="14001" h="11494">
                <a:moveTo>
                  <a:pt x="0" y="0"/>
                </a:moveTo>
                <a:lnTo>
                  <a:pt x="0" y="1163"/>
                </a:lnTo>
                <a:lnTo>
                  <a:pt x="0" y="2035"/>
                </a:lnTo>
                <a:lnTo>
                  <a:pt x="0" y="2906"/>
                </a:lnTo>
                <a:lnTo>
                  <a:pt x="0" y="4093"/>
                </a:lnTo>
                <a:lnTo>
                  <a:pt x="0" y="4964"/>
                </a:lnTo>
                <a:lnTo>
                  <a:pt x="0" y="5836"/>
                </a:lnTo>
                <a:lnTo>
                  <a:pt x="0" y="7000"/>
                </a:lnTo>
                <a:lnTo>
                  <a:pt x="2326" y="7000"/>
                </a:lnTo>
                <a:lnTo>
                  <a:pt x="1016" y="11493"/>
                </a:lnTo>
                <a:lnTo>
                  <a:pt x="5813" y="7000"/>
                </a:lnTo>
                <a:lnTo>
                  <a:pt x="8186" y="7000"/>
                </a:lnTo>
                <a:lnTo>
                  <a:pt x="9929" y="7000"/>
                </a:lnTo>
                <a:lnTo>
                  <a:pt x="11673" y="7000"/>
                </a:lnTo>
                <a:lnTo>
                  <a:pt x="14000" y="7000"/>
                </a:lnTo>
                <a:lnTo>
                  <a:pt x="14000" y="5836"/>
                </a:lnTo>
                <a:lnTo>
                  <a:pt x="14000" y="4964"/>
                </a:lnTo>
                <a:lnTo>
                  <a:pt x="14000" y="4093"/>
                </a:lnTo>
                <a:lnTo>
                  <a:pt x="14000" y="2906"/>
                </a:lnTo>
                <a:lnTo>
                  <a:pt x="14000" y="2035"/>
                </a:lnTo>
                <a:lnTo>
                  <a:pt x="14000" y="1163"/>
                </a:lnTo>
                <a:lnTo>
                  <a:pt x="14000" y="0"/>
                </a:lnTo>
                <a:lnTo>
                  <a:pt x="11673" y="0"/>
                </a:lnTo>
                <a:lnTo>
                  <a:pt x="9929" y="0"/>
                </a:lnTo>
                <a:lnTo>
                  <a:pt x="8186" y="0"/>
                </a:lnTo>
                <a:lnTo>
                  <a:pt x="5813" y="0"/>
                </a:lnTo>
                <a:lnTo>
                  <a:pt x="4070" y="0"/>
                </a:lnTo>
                <a:lnTo>
                  <a:pt x="2326" y="0"/>
                </a:lnTo>
                <a:lnTo>
                  <a:pt x="0" y="0"/>
                </a:lnTo>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1" name="PlaceHolder 1"/>
          <p:cNvSpPr>
            <a:spLocks noGrp="1"/>
          </p:cNvSpPr>
          <p:nvPr>
            <p:ph type="title"/>
          </p:nvPr>
        </p:nvSpPr>
        <p:spPr>
          <a:xfrm>
            <a:off x="504000" y="301320"/>
            <a:ext cx="9072000" cy="126180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32" name="PlaceHolder 2"/>
          <p:cNvSpPr>
            <a:spLocks noGrp="1"/>
          </p:cNvSpPr>
          <p:nvPr>
            <p:ph type="body"/>
          </p:nvPr>
        </p:nvSpPr>
        <p:spPr>
          <a:xfrm>
            <a:off x="504000" y="1768680"/>
            <a:ext cx="9072000" cy="43840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19" name="CustomShape 1"/>
          <p:cNvSpPr/>
          <p:nvPr/>
        </p:nvSpPr>
        <p:spPr>
          <a:xfrm>
            <a:off x="0" y="1030320"/>
            <a:ext cx="10165278" cy="12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1" spc="-1" dirty="0">
                <a:solidFill>
                  <a:srgbClr val="FFFFFF"/>
                </a:solidFill>
                <a:latin typeface="Times New Roman"/>
              </a:rPr>
              <a:t>NETWORKING AND ROUTING PROTOCAL</a:t>
            </a:r>
            <a:br>
              <a:rPr sz="2400" dirty="0"/>
            </a:br>
            <a:r>
              <a:rPr lang="en-US" sz="2400" dirty="0"/>
              <a:t> </a:t>
            </a:r>
            <a:r>
              <a:rPr lang="en-US" sz="4400" b="1" strike="noStrike" spc="-1" dirty="0">
                <a:solidFill>
                  <a:srgbClr val="FFFFFF"/>
                </a:solidFill>
                <a:latin typeface="Times New Roman"/>
                <a:ea typeface="DejaVu Sans"/>
              </a:rPr>
              <a:t>ET </a:t>
            </a:r>
            <a:r>
              <a:rPr lang="en-US" sz="4400" b="1" spc="-1" dirty="0">
                <a:solidFill>
                  <a:srgbClr val="FFFFFF"/>
                </a:solidFill>
                <a:latin typeface="Times New Roman"/>
                <a:ea typeface="DejaVu Sans"/>
              </a:rPr>
              <a:t>8315</a:t>
            </a:r>
            <a:endParaRPr lang="en-US" sz="4400" b="0" strike="noStrike" spc="-1" dirty="0">
              <a:solidFill>
                <a:srgbClr val="FFFFFF"/>
              </a:solidFill>
              <a:latin typeface="Arial"/>
            </a:endParaRPr>
          </a:p>
        </p:txBody>
      </p:sp>
      <p:sp>
        <p:nvSpPr>
          <p:cNvPr id="220" name="CustomShape 2"/>
          <p:cNvSpPr/>
          <p:nvPr/>
        </p:nvSpPr>
        <p:spPr>
          <a:xfrm>
            <a:off x="303120" y="2561040"/>
            <a:ext cx="9358920" cy="438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spcAft>
                <a:spcPts val="1414"/>
              </a:spcAft>
              <a:tabLst>
                <a:tab pos="0" algn="l"/>
              </a:tabLst>
            </a:pPr>
            <a:fld id="{70F56DB3-9114-4E7E-90CD-7AC6DE244EB8}" type="datetime2">
              <a:rPr lang="en-US" sz="3600" b="1" strike="noStrike" spc="-1" smtClean="0">
                <a:solidFill>
                  <a:srgbClr val="FFFFFF"/>
                </a:solidFill>
                <a:latin typeface="Times New Roman" panose="02020603050405020304" pitchFamily="18" charset="0"/>
                <a:ea typeface="DejaVu Sans"/>
                <a:cs typeface="Times New Roman" panose="02020603050405020304" pitchFamily="18" charset="0"/>
              </a:rPr>
              <a:t>Wednesday, May 29, 2024</a:t>
            </a:fld>
            <a:endParaRPr lang="en-US" sz="3600" b="1" strike="noStrike" spc="-1" dirty="0">
              <a:solidFill>
                <a:srgbClr val="FFFFFF"/>
              </a:solidFill>
              <a:latin typeface="Times New Roman" panose="02020603050405020304" pitchFamily="18" charset="0"/>
              <a:ea typeface="DejaVu Sans"/>
              <a:cs typeface="Times New Roman" panose="02020603050405020304" pitchFamily="18" charset="0"/>
            </a:endParaRPr>
          </a:p>
          <a:p>
            <a:pPr algn="ctr">
              <a:lnSpc>
                <a:spcPct val="100000"/>
              </a:lnSpc>
              <a:spcAft>
                <a:spcPts val="1414"/>
              </a:spcAft>
              <a:tabLst>
                <a:tab pos="0" algn="l"/>
              </a:tabLst>
            </a:pPr>
            <a:r>
              <a:rPr lang="en-US" sz="3600" b="1" strike="noStrike" spc="-1" dirty="0">
                <a:solidFill>
                  <a:srgbClr val="FFFFFF"/>
                </a:solidFill>
                <a:latin typeface="Times New Roman" panose="02020603050405020304" pitchFamily="18" charset="0"/>
                <a:ea typeface="DejaVu Sans"/>
                <a:cs typeface="Times New Roman" panose="02020603050405020304" pitchFamily="18" charset="0"/>
              </a:rPr>
              <a:t>Mr. Cuthbert John Karawa</a:t>
            </a:r>
            <a:endParaRPr lang="en-US" sz="3600" b="0" strike="noStrike" spc="-1" dirty="0">
              <a:solidFill>
                <a:srgbClr val="FFFFFF"/>
              </a:solidFill>
              <a:latin typeface="Times New Roman" panose="02020603050405020304" pitchFamily="18" charset="0"/>
              <a:cs typeface="Times New Roman" panose="02020603050405020304" pitchFamily="18" charset="0"/>
            </a:endParaRPr>
          </a:p>
          <a:p>
            <a:pPr algn="ctr">
              <a:lnSpc>
                <a:spcPct val="100000"/>
              </a:lnSpc>
              <a:spcAft>
                <a:spcPts val="1414"/>
              </a:spcAft>
              <a:tabLst>
                <a:tab pos="0" algn="l"/>
              </a:tabLst>
            </a:pPr>
            <a:r>
              <a:rPr lang="en-US" sz="3600" b="1" strike="noStrike" spc="-1" dirty="0">
                <a:solidFill>
                  <a:srgbClr val="FFFFFF"/>
                </a:solidFill>
                <a:latin typeface="Times New Roman" panose="02020603050405020304" pitchFamily="18" charset="0"/>
                <a:ea typeface="DejaVu Sans"/>
                <a:cs typeface="Times New Roman" panose="02020603050405020304" pitchFamily="18" charset="0"/>
              </a:rPr>
              <a:t>Lecture 6</a:t>
            </a:r>
            <a:endParaRPr lang="en-US" sz="3600" b="0" strike="noStrike" spc="-1" dirty="0">
              <a:solidFill>
                <a:srgbClr val="FFFFFF"/>
              </a:solidFill>
              <a:latin typeface="Times New Roman" panose="02020603050405020304" pitchFamily="18" charset="0"/>
              <a:cs typeface="Times New Roman" panose="02020603050405020304" pitchFamily="18" charset="0"/>
            </a:endParaRPr>
          </a:p>
          <a:p>
            <a:pPr algn="ctr">
              <a:lnSpc>
                <a:spcPct val="100000"/>
              </a:lnSpc>
              <a:spcAft>
                <a:spcPts val="1414"/>
              </a:spcAft>
              <a:tabLst>
                <a:tab pos="0" algn="l"/>
              </a:tabLst>
            </a:pPr>
            <a:r>
              <a:rPr lang="en-US" sz="3600" b="1" spc="-1" dirty="0">
                <a:solidFill>
                  <a:srgbClr val="FFFFFF"/>
                </a:solidFill>
                <a:latin typeface="Times New Roman" panose="02020603050405020304" pitchFamily="18" charset="0"/>
                <a:cs typeface="Times New Roman" panose="02020603050405020304" pitchFamily="18" charset="0"/>
              </a:rPr>
              <a:t>Open Shortest Path First</a:t>
            </a:r>
          </a:p>
          <a:p>
            <a:pPr algn="ctr">
              <a:lnSpc>
                <a:spcPct val="100000"/>
              </a:lnSpc>
              <a:spcAft>
                <a:spcPts val="1414"/>
              </a:spcAft>
              <a:tabLst>
                <a:tab pos="0" algn="l"/>
              </a:tabLst>
            </a:pPr>
            <a:r>
              <a:rPr lang="en-US" sz="2800" b="1" strike="noStrike" spc="-1" dirty="0">
                <a:solidFill>
                  <a:srgbClr val="FFFFFF"/>
                </a:solidFill>
                <a:latin typeface="Times New Roman" panose="02020603050405020304" pitchFamily="18" charset="0"/>
                <a:ea typeface="DejaVu Sans"/>
                <a:cs typeface="Times New Roman" panose="02020603050405020304" pitchFamily="18" charset="0"/>
              </a:rPr>
              <a:t>College of Information and Communication Technology (</a:t>
            </a:r>
            <a:r>
              <a:rPr lang="en-US" sz="2800" b="1" strike="noStrike" spc="-1" dirty="0" err="1">
                <a:solidFill>
                  <a:srgbClr val="FFFFFF"/>
                </a:solidFill>
                <a:latin typeface="Times New Roman" panose="02020603050405020304" pitchFamily="18" charset="0"/>
                <a:ea typeface="DejaVu Sans"/>
                <a:cs typeface="Times New Roman" panose="02020603050405020304" pitchFamily="18" charset="0"/>
              </a:rPr>
              <a:t>CoICT</a:t>
            </a:r>
            <a:r>
              <a:rPr lang="en-US" sz="2800" b="1" strike="noStrike" spc="-1" dirty="0">
                <a:solidFill>
                  <a:srgbClr val="FFFFFF"/>
                </a:solidFill>
                <a:latin typeface="Times New Roman" panose="02020603050405020304" pitchFamily="18" charset="0"/>
                <a:ea typeface="DejaVu Sans"/>
                <a:cs typeface="Times New Roman" panose="02020603050405020304" pitchFamily="18" charset="0"/>
              </a:rPr>
              <a:t>)</a:t>
            </a:r>
            <a:endParaRPr lang="en-US" sz="2800" b="0" strike="noStrike" spc="-1" dirty="0">
              <a:solidFill>
                <a:srgbClr val="FFFFFF"/>
              </a:solidFill>
              <a:latin typeface="Times New Roman" panose="02020603050405020304" pitchFamily="18" charset="0"/>
              <a:cs typeface="Times New Roman" panose="02020603050405020304" pitchFamily="18" charset="0"/>
            </a:endParaRPr>
          </a:p>
          <a:p>
            <a:pPr algn="ctr">
              <a:lnSpc>
                <a:spcPct val="100000"/>
              </a:lnSpc>
              <a:spcAft>
                <a:spcPts val="1414"/>
              </a:spcAft>
              <a:tabLst>
                <a:tab pos="0" algn="l"/>
              </a:tabLst>
            </a:pPr>
            <a:r>
              <a:rPr lang="en-US" sz="2400" b="1" strike="noStrike" spc="-1" dirty="0">
                <a:solidFill>
                  <a:srgbClr val="FFFFFF"/>
                </a:solidFill>
                <a:latin typeface="Times New Roman" panose="02020603050405020304" pitchFamily="18" charset="0"/>
                <a:ea typeface="DejaVu Sans"/>
                <a:cs typeface="Times New Roman" panose="02020603050405020304" pitchFamily="18" charset="0"/>
              </a:rPr>
              <a:t>Department Of Electronics And Telecommunications Engineering</a:t>
            </a:r>
            <a:r>
              <a:rPr lang="en-US" sz="2000" b="1" strike="noStrike" spc="-1" dirty="0">
                <a:solidFill>
                  <a:srgbClr val="FFFFFF"/>
                </a:solidFill>
                <a:latin typeface="Times New Roman" panose="02020603050405020304" pitchFamily="18" charset="0"/>
                <a:ea typeface="DejaVu Sans"/>
                <a:cs typeface="Times New Roman" panose="02020603050405020304" pitchFamily="18" charset="0"/>
              </a:rPr>
              <a:t>.</a:t>
            </a:r>
            <a:endParaRPr lang="en-US" sz="2000" b="0" strike="noStrike" spc="-1" dirty="0">
              <a:solidFill>
                <a:srgbClr val="FFFFFF"/>
              </a:solidFill>
              <a:latin typeface="Times New Roman" panose="02020603050405020304" pitchFamily="18" charset="0"/>
              <a:cs typeface="Times New Roman" panose="02020603050405020304" pitchFamily="18" charset="0"/>
            </a:endParaRPr>
          </a:p>
        </p:txBody>
      </p:sp>
      <p:sp>
        <p:nvSpPr>
          <p:cNvPr id="221" name="CustomShape 3"/>
          <p:cNvSpPr/>
          <p:nvPr/>
        </p:nvSpPr>
        <p:spPr>
          <a:xfrm>
            <a:off x="9180000" y="6804000"/>
            <a:ext cx="718920" cy="71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34D252D4-B34F-42D1-92F6-B16352A7DD31}" type="slidenum">
              <a:rPr lang="en-US" sz="1800" b="1" strike="noStrike" spc="-1">
                <a:solidFill>
                  <a:srgbClr val="FFFFFF"/>
                </a:solidFill>
                <a:latin typeface="Noto Sans Black"/>
                <a:ea typeface="DejaVu Sans"/>
              </a:rPr>
              <a:t>1</a:t>
            </a:fld>
            <a:endParaRPr lang="en-US" sz="1800" b="0" strike="noStrike" spc="-1">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xmlns:p15="http://schemas.microsoft.com/office/powerpoint/2012/main">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9297" y="568614"/>
            <a:ext cx="8203647"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Introduction</a:t>
            </a:r>
            <a:endParaRPr sz="4409" dirty="0">
              <a:solidFill>
                <a:schemeClr val="bg1"/>
              </a:solidFill>
            </a:endParaRPr>
          </a:p>
        </p:txBody>
      </p:sp>
      <p:sp>
        <p:nvSpPr>
          <p:cNvPr id="3" name="object 3"/>
          <p:cNvSpPr txBox="1"/>
          <p:nvPr/>
        </p:nvSpPr>
        <p:spPr>
          <a:xfrm>
            <a:off x="270456" y="1619169"/>
            <a:ext cx="9697791" cy="4483883"/>
          </a:xfrm>
          <a:prstGeom prst="rect">
            <a:avLst/>
          </a:prstGeom>
        </p:spPr>
        <p:txBody>
          <a:bodyPr vert="horz" wrap="square" lIns="0" tIns="13299" rIns="0" bIns="0" rtlCol="0">
            <a:spAutoFit/>
          </a:bodyPr>
          <a:lstStyle/>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b="1" dirty="0">
                <a:solidFill>
                  <a:srgbClr val="FF0000"/>
                </a:solidFill>
                <a:latin typeface="Times New Roman"/>
                <a:cs typeface="Times New Roman"/>
              </a:rPr>
              <a:t>Open Shortest Path First </a:t>
            </a:r>
            <a:r>
              <a:rPr lang="en-US" sz="3200" b="1" dirty="0">
                <a:latin typeface="Times New Roman"/>
                <a:cs typeface="Times New Roman"/>
              </a:rPr>
              <a:t>(</a:t>
            </a:r>
            <a:r>
              <a:rPr lang="en-US" sz="3200" b="1" dirty="0">
                <a:solidFill>
                  <a:srgbClr val="FF0000"/>
                </a:solidFill>
                <a:latin typeface="Times New Roman"/>
                <a:cs typeface="Times New Roman"/>
              </a:rPr>
              <a:t>OSPF</a:t>
            </a:r>
            <a:r>
              <a:rPr lang="en-US" sz="3200" b="1" dirty="0">
                <a:latin typeface="Times New Roman"/>
                <a:cs typeface="Times New Roman"/>
              </a:rPr>
              <a:t>)</a:t>
            </a:r>
            <a:r>
              <a:rPr lang="en-US" sz="3200" b="1" dirty="0">
                <a:solidFill>
                  <a:srgbClr val="FF0000"/>
                </a:solidFill>
                <a:latin typeface="Times New Roman"/>
                <a:cs typeface="Times New Roman"/>
              </a:rPr>
              <a:t> </a:t>
            </a:r>
            <a:r>
              <a:rPr lang="en-US" sz="3200" dirty="0">
                <a:latin typeface="Times New Roman"/>
                <a:cs typeface="Times New Roman"/>
              </a:rPr>
              <a:t>is an open standards routing protocol that’s been implemented by a wide variety of network vendors, including Cisco.</a:t>
            </a:r>
          </a:p>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dirty="0">
                <a:latin typeface="Times New Roman"/>
                <a:cs typeface="Times New Roman"/>
              </a:rPr>
              <a:t>If you have </a:t>
            </a:r>
            <a:r>
              <a:rPr lang="en-US" sz="3200" b="1" dirty="0">
                <a:solidFill>
                  <a:srgbClr val="FF0000"/>
                </a:solidFill>
                <a:latin typeface="Times New Roman"/>
                <a:cs typeface="Times New Roman"/>
              </a:rPr>
              <a:t>multiple routers </a:t>
            </a:r>
            <a:r>
              <a:rPr lang="en-US" sz="3200" dirty="0">
                <a:latin typeface="Times New Roman"/>
                <a:cs typeface="Times New Roman"/>
              </a:rPr>
              <a:t>and </a:t>
            </a:r>
            <a:r>
              <a:rPr lang="en-US" sz="3200" b="1" dirty="0">
                <a:solidFill>
                  <a:srgbClr val="FF0000"/>
                </a:solidFill>
                <a:latin typeface="Times New Roman"/>
                <a:cs typeface="Times New Roman"/>
              </a:rPr>
              <a:t>not all of them are Cisco</a:t>
            </a:r>
            <a:r>
              <a:rPr lang="en-US" sz="3200" dirty="0">
                <a:latin typeface="Times New Roman"/>
                <a:cs typeface="Times New Roman"/>
              </a:rPr>
              <a:t>, the only options you have are basically </a:t>
            </a:r>
            <a:r>
              <a:rPr lang="en-US" sz="3200" b="1" dirty="0">
                <a:solidFill>
                  <a:srgbClr val="FF0000"/>
                </a:solidFill>
                <a:latin typeface="Times New Roman"/>
                <a:cs typeface="Times New Roman"/>
              </a:rPr>
              <a:t>RIPv1</a:t>
            </a:r>
            <a:r>
              <a:rPr lang="en-US" sz="3200" dirty="0">
                <a:latin typeface="Times New Roman"/>
                <a:cs typeface="Times New Roman"/>
              </a:rPr>
              <a:t>, </a:t>
            </a:r>
            <a:r>
              <a:rPr lang="en-US" sz="3200" b="1" dirty="0">
                <a:solidFill>
                  <a:srgbClr val="FF0000"/>
                </a:solidFill>
                <a:latin typeface="Times New Roman"/>
                <a:cs typeface="Times New Roman"/>
              </a:rPr>
              <a:t>RIPv2</a:t>
            </a:r>
            <a:r>
              <a:rPr lang="en-US" sz="3200" dirty="0">
                <a:latin typeface="Times New Roman"/>
                <a:cs typeface="Times New Roman"/>
              </a:rPr>
              <a:t>, or </a:t>
            </a:r>
            <a:r>
              <a:rPr lang="en-US" sz="3200" b="1" dirty="0">
                <a:solidFill>
                  <a:srgbClr val="FF0000"/>
                </a:solidFill>
                <a:latin typeface="Times New Roman"/>
                <a:cs typeface="Times New Roman"/>
              </a:rPr>
              <a:t>OSPF</a:t>
            </a:r>
            <a:r>
              <a:rPr lang="en-US" sz="3200" dirty="0">
                <a:latin typeface="Times New Roman"/>
                <a:cs typeface="Times New Roman"/>
              </a:rPr>
              <a:t>.</a:t>
            </a:r>
          </a:p>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dirty="0">
                <a:latin typeface="Times New Roman"/>
                <a:cs typeface="Times New Roman"/>
              </a:rPr>
              <a:t>If it’s a </a:t>
            </a:r>
            <a:r>
              <a:rPr lang="en-US" sz="3200" b="1" dirty="0">
                <a:solidFill>
                  <a:srgbClr val="FF0000"/>
                </a:solidFill>
                <a:latin typeface="Times New Roman"/>
                <a:cs typeface="Times New Roman"/>
              </a:rPr>
              <a:t>large network</a:t>
            </a:r>
            <a:r>
              <a:rPr lang="en-US" sz="3200" dirty="0">
                <a:latin typeface="Times New Roman"/>
                <a:cs typeface="Times New Roman"/>
              </a:rPr>
              <a:t>, then, really, your only option is </a:t>
            </a:r>
            <a:r>
              <a:rPr lang="en-US" sz="3200" b="1" dirty="0">
                <a:solidFill>
                  <a:srgbClr val="FF0000"/>
                </a:solidFill>
                <a:latin typeface="Times New Roman"/>
                <a:cs typeface="Times New Roman"/>
              </a:rPr>
              <a:t>OSPF</a:t>
            </a:r>
            <a:r>
              <a:rPr lang="en-US" sz="3200" dirty="0">
                <a:latin typeface="Times New Roman"/>
                <a:cs typeface="Times New Roman"/>
              </a:rPr>
              <a:t>.</a:t>
            </a:r>
          </a:p>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dirty="0">
                <a:latin typeface="Times New Roman"/>
                <a:cs typeface="Times New Roman"/>
              </a:rPr>
              <a:t>It works by using the </a:t>
            </a:r>
            <a:r>
              <a:rPr lang="en-US" sz="3200" b="1" dirty="0">
                <a:solidFill>
                  <a:srgbClr val="FF0000"/>
                </a:solidFill>
                <a:latin typeface="Times New Roman"/>
                <a:cs typeface="Times New Roman"/>
              </a:rPr>
              <a:t>Dijkstra algorithm</a:t>
            </a:r>
            <a:r>
              <a:rPr lang="en-US" sz="3200" dirty="0">
                <a:latin typeface="Times New Roman"/>
                <a:cs typeface="Times New Roman"/>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0456" y="1619169"/>
            <a:ext cx="9697791" cy="4976326"/>
          </a:xfrm>
          <a:prstGeom prst="rect">
            <a:avLst/>
          </a:prstGeom>
        </p:spPr>
        <p:txBody>
          <a:bodyPr vert="horz" wrap="square" lIns="0" tIns="13299" rIns="0" bIns="0" rtlCol="0">
            <a:spAutoFit/>
          </a:bodyPr>
          <a:lstStyle/>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dirty="0">
                <a:latin typeface="Times New Roman"/>
                <a:cs typeface="Times New Roman"/>
              </a:rPr>
              <a:t>First, a shortest path tree is constructed, and then the routing table is populated with the resulting best paths.</a:t>
            </a:r>
          </a:p>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dirty="0">
                <a:latin typeface="Times New Roman"/>
                <a:cs typeface="Times New Roman"/>
              </a:rPr>
              <a:t>OSPF </a:t>
            </a:r>
            <a:r>
              <a:rPr lang="en-US" sz="3200" b="1" dirty="0">
                <a:solidFill>
                  <a:srgbClr val="FF0000"/>
                </a:solidFill>
                <a:latin typeface="Times New Roman"/>
                <a:cs typeface="Times New Roman"/>
              </a:rPr>
              <a:t>converges quickly</a:t>
            </a:r>
            <a:r>
              <a:rPr lang="en-US" sz="3200" dirty="0">
                <a:latin typeface="Times New Roman"/>
                <a:cs typeface="Times New Roman"/>
              </a:rPr>
              <a:t>, although perhaps not as quickly as EIGRP, and it supports </a:t>
            </a:r>
            <a:r>
              <a:rPr lang="en-US" sz="3200" b="1" dirty="0">
                <a:solidFill>
                  <a:srgbClr val="FF0000"/>
                </a:solidFill>
                <a:latin typeface="Times New Roman"/>
                <a:cs typeface="Times New Roman"/>
              </a:rPr>
              <a:t>multiple</a:t>
            </a:r>
            <a:r>
              <a:rPr lang="en-US" sz="3200" dirty="0">
                <a:latin typeface="Times New Roman"/>
                <a:cs typeface="Times New Roman"/>
              </a:rPr>
              <a:t>, </a:t>
            </a:r>
            <a:r>
              <a:rPr lang="en-US" sz="3200" b="1" dirty="0">
                <a:solidFill>
                  <a:srgbClr val="FF0000"/>
                </a:solidFill>
                <a:latin typeface="Times New Roman"/>
                <a:cs typeface="Times New Roman"/>
              </a:rPr>
              <a:t>equal-cost</a:t>
            </a:r>
            <a:r>
              <a:rPr lang="en-US" sz="3200" dirty="0">
                <a:latin typeface="Times New Roman"/>
                <a:cs typeface="Times New Roman"/>
              </a:rPr>
              <a:t> </a:t>
            </a:r>
            <a:r>
              <a:rPr lang="en-US" sz="3200" b="1" dirty="0">
                <a:solidFill>
                  <a:srgbClr val="FF0000"/>
                </a:solidFill>
                <a:latin typeface="Times New Roman"/>
                <a:cs typeface="Times New Roman"/>
              </a:rPr>
              <a:t>routes</a:t>
            </a:r>
            <a:r>
              <a:rPr lang="en-US" sz="3200" dirty="0">
                <a:latin typeface="Times New Roman"/>
                <a:cs typeface="Times New Roman"/>
              </a:rPr>
              <a:t> </a:t>
            </a:r>
            <a:r>
              <a:rPr lang="en-US" sz="3200" b="1" dirty="0">
                <a:solidFill>
                  <a:srgbClr val="FF0000"/>
                </a:solidFill>
                <a:latin typeface="Times New Roman"/>
                <a:cs typeface="Times New Roman"/>
              </a:rPr>
              <a:t>to the same destination</a:t>
            </a:r>
            <a:r>
              <a:rPr lang="en-US" sz="3200" dirty="0">
                <a:latin typeface="Times New Roman"/>
                <a:cs typeface="Times New Roman"/>
              </a:rPr>
              <a:t>.</a:t>
            </a:r>
          </a:p>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dirty="0">
                <a:latin typeface="Times New Roman"/>
                <a:cs typeface="Times New Roman"/>
              </a:rPr>
              <a:t>But unlike EIGRP, </a:t>
            </a:r>
            <a:r>
              <a:rPr lang="en-US" sz="3200" b="1" dirty="0">
                <a:solidFill>
                  <a:srgbClr val="FF0000"/>
                </a:solidFill>
                <a:latin typeface="Times New Roman"/>
                <a:cs typeface="Times New Roman"/>
              </a:rPr>
              <a:t>it only supports IP routing</a:t>
            </a:r>
            <a:r>
              <a:rPr lang="en-US" sz="3200" dirty="0">
                <a:latin typeface="Times New Roman"/>
                <a:cs typeface="Times New Roman"/>
              </a:rPr>
              <a:t>.</a:t>
            </a:r>
          </a:p>
          <a:p>
            <a:pPr marL="470499" marR="306583" indent="-457200">
              <a:spcBef>
                <a:spcPts val="105"/>
              </a:spcBef>
              <a:buClr>
                <a:srgbClr val="D24717"/>
              </a:buClr>
              <a:buSzPct val="83928"/>
              <a:buFont typeface="Wingdings" panose="05000000000000000000" pitchFamily="2" charset="2"/>
              <a:buChar char="Ø"/>
              <a:tabLst>
                <a:tab pos="316382" algn="l"/>
              </a:tabLst>
            </a:pPr>
            <a:r>
              <a:rPr lang="en-US" sz="3200" dirty="0">
                <a:latin typeface="Times New Roman"/>
                <a:cs typeface="Times New Roman"/>
              </a:rPr>
              <a:t>Open Shortest Path First (OSPF) is a </a:t>
            </a:r>
            <a:r>
              <a:rPr lang="en-US" sz="3200" b="1" dirty="0">
                <a:solidFill>
                  <a:srgbClr val="FF0000"/>
                </a:solidFill>
                <a:latin typeface="Times New Roman"/>
                <a:cs typeface="Times New Roman"/>
              </a:rPr>
              <a:t>link-state routing protocol</a:t>
            </a:r>
            <a:r>
              <a:rPr lang="en-US" sz="3200" dirty="0">
                <a:latin typeface="Times New Roman"/>
                <a:cs typeface="Times New Roman"/>
              </a:rPr>
              <a:t> that was developed for IP networks and is based on the </a:t>
            </a:r>
            <a:r>
              <a:rPr lang="en-US" sz="3200" b="1" dirty="0">
                <a:solidFill>
                  <a:srgbClr val="FF0000"/>
                </a:solidFill>
                <a:latin typeface="Times New Roman"/>
                <a:cs typeface="Times New Roman"/>
              </a:rPr>
              <a:t>Shortest Path First </a:t>
            </a:r>
            <a:r>
              <a:rPr lang="en-US" sz="3200" dirty="0">
                <a:latin typeface="Times New Roman"/>
                <a:cs typeface="Times New Roman"/>
              </a:rPr>
              <a:t>(</a:t>
            </a:r>
            <a:r>
              <a:rPr lang="en-US" sz="3200" b="1" dirty="0">
                <a:solidFill>
                  <a:srgbClr val="FF0000"/>
                </a:solidFill>
                <a:latin typeface="Times New Roman"/>
                <a:cs typeface="Times New Roman"/>
              </a:rPr>
              <a:t>SPF</a:t>
            </a:r>
            <a:r>
              <a:rPr lang="en-US" sz="3200" dirty="0">
                <a:latin typeface="Times New Roman"/>
                <a:cs typeface="Times New Roman"/>
              </a:rPr>
              <a:t>) algorithm.</a:t>
            </a:r>
            <a:endParaRPr sz="3200" dirty="0">
              <a:latin typeface="Times New Roman"/>
              <a:cs typeface="Times New Roman"/>
            </a:endParaRPr>
          </a:p>
        </p:txBody>
      </p:sp>
      <p:sp>
        <p:nvSpPr>
          <p:cNvPr id="6" name="object 2">
            <a:extLst>
              <a:ext uri="{FF2B5EF4-FFF2-40B4-BE49-F238E27FC236}">
                <a16:creationId xmlns:a16="http://schemas.microsoft.com/office/drawing/2014/main" id="{CB93B2C0-145B-4DB4-B182-716B81E79E36}"/>
              </a:ext>
            </a:extLst>
          </p:cNvPr>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Open Shortest Path First(OSPF) Basics</a:t>
            </a:r>
            <a:endParaRPr sz="4409" dirty="0">
              <a:solidFill>
                <a:schemeClr val="bg1"/>
              </a:solidFill>
            </a:endParaRPr>
          </a:p>
        </p:txBody>
      </p:sp>
    </p:spTree>
    <p:extLst>
      <p:ext uri="{BB962C8B-B14F-4D97-AF65-F5344CB8AC3E}">
        <p14:creationId xmlns:p14="http://schemas.microsoft.com/office/powerpoint/2010/main" val="3105687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31820" y="2010748"/>
            <a:ext cx="9848805" cy="3538177"/>
          </a:xfrm>
          <a:prstGeom prst="rect">
            <a:avLst/>
          </a:prstGeom>
        </p:spPr>
        <p:txBody>
          <a:bodyPr vert="horz" wrap="square" lIns="0" tIns="13999" rIns="0" bIns="0" rtlCol="0">
            <a:spAutoFit/>
          </a:bodyPr>
          <a:lstStyle/>
          <a:p>
            <a:pPr marL="470499" marR="786756" indent="-457200">
              <a:spcBef>
                <a:spcPts val="110"/>
              </a:spcBef>
              <a:buClr>
                <a:srgbClr val="D24717"/>
              </a:buClr>
              <a:buSzPct val="85416"/>
              <a:buFont typeface="Wingdings" panose="05000000000000000000" pitchFamily="2" charset="2"/>
              <a:buChar char="Ø"/>
              <a:tabLst>
                <a:tab pos="315682" algn="l"/>
              </a:tabLst>
            </a:pPr>
            <a:r>
              <a:rPr lang="en-US" sz="3200" dirty="0">
                <a:latin typeface="Times New Roman"/>
                <a:cs typeface="Times New Roman"/>
              </a:rPr>
              <a:t>OSPF provides the following </a:t>
            </a:r>
            <a:r>
              <a:rPr lang="en-US" sz="3200" b="1" dirty="0">
                <a:solidFill>
                  <a:srgbClr val="FF0000"/>
                </a:solidFill>
                <a:latin typeface="Times New Roman"/>
                <a:cs typeface="Times New Roman"/>
              </a:rPr>
              <a:t>features</a:t>
            </a:r>
            <a:r>
              <a:rPr lang="en-US" sz="3200" dirty="0">
                <a:latin typeface="Times New Roman"/>
                <a:cs typeface="Times New Roman"/>
              </a:rPr>
              <a:t>:</a:t>
            </a:r>
          </a:p>
          <a:p>
            <a:pPr marL="927699" marR="786756" lvl="1" indent="-457200">
              <a:spcBef>
                <a:spcPts val="110"/>
              </a:spcBef>
              <a:buClr>
                <a:srgbClr val="D24717"/>
              </a:buClr>
              <a:buSzPct val="85416"/>
              <a:buFont typeface="Wingdings" panose="05000000000000000000" pitchFamily="2" charset="2"/>
              <a:buChar char="ü"/>
              <a:tabLst>
                <a:tab pos="315682" algn="l"/>
              </a:tabLst>
            </a:pPr>
            <a:r>
              <a:rPr lang="en-US" sz="3200" dirty="0">
                <a:latin typeface="Times New Roman"/>
                <a:cs typeface="Times New Roman"/>
              </a:rPr>
              <a:t>Consists of areas and autonomous systems</a:t>
            </a:r>
          </a:p>
          <a:p>
            <a:pPr marL="927699" marR="786756" lvl="1" indent="-457200">
              <a:spcBef>
                <a:spcPts val="110"/>
              </a:spcBef>
              <a:buClr>
                <a:srgbClr val="D24717"/>
              </a:buClr>
              <a:buSzPct val="85416"/>
              <a:buFont typeface="Wingdings" panose="05000000000000000000" pitchFamily="2" charset="2"/>
              <a:buChar char="ü"/>
              <a:tabLst>
                <a:tab pos="315682" algn="l"/>
              </a:tabLst>
            </a:pPr>
            <a:r>
              <a:rPr lang="en-US" sz="3200" dirty="0">
                <a:latin typeface="Times New Roman"/>
                <a:cs typeface="Times New Roman"/>
              </a:rPr>
              <a:t>Minimizes routing update traffic</a:t>
            </a:r>
          </a:p>
          <a:p>
            <a:pPr marL="927699" marR="786756" lvl="1" indent="-457200">
              <a:spcBef>
                <a:spcPts val="110"/>
              </a:spcBef>
              <a:buClr>
                <a:srgbClr val="D24717"/>
              </a:buClr>
              <a:buSzPct val="85416"/>
              <a:buFont typeface="Wingdings" panose="05000000000000000000" pitchFamily="2" charset="2"/>
              <a:buChar char="ü"/>
              <a:tabLst>
                <a:tab pos="315682" algn="l"/>
              </a:tabLst>
            </a:pPr>
            <a:r>
              <a:rPr lang="en-US" sz="3200" dirty="0">
                <a:latin typeface="Times New Roman"/>
                <a:cs typeface="Times New Roman"/>
              </a:rPr>
              <a:t>Allows scalability</a:t>
            </a:r>
          </a:p>
          <a:p>
            <a:pPr marL="927699" marR="786756" lvl="1" indent="-457200">
              <a:spcBef>
                <a:spcPts val="110"/>
              </a:spcBef>
              <a:buClr>
                <a:srgbClr val="D24717"/>
              </a:buClr>
              <a:buSzPct val="85416"/>
              <a:buFont typeface="Wingdings" panose="05000000000000000000" pitchFamily="2" charset="2"/>
              <a:buChar char="ü"/>
              <a:tabLst>
                <a:tab pos="315682" algn="l"/>
              </a:tabLst>
            </a:pPr>
            <a:r>
              <a:rPr lang="en-US" sz="3200" dirty="0">
                <a:latin typeface="Times New Roman"/>
                <a:cs typeface="Times New Roman"/>
              </a:rPr>
              <a:t>Supports VLSM/CIDR</a:t>
            </a:r>
          </a:p>
          <a:p>
            <a:pPr marL="927699" marR="786756" lvl="1" indent="-457200">
              <a:spcBef>
                <a:spcPts val="110"/>
              </a:spcBef>
              <a:buClr>
                <a:srgbClr val="D24717"/>
              </a:buClr>
              <a:buSzPct val="85416"/>
              <a:buFont typeface="Wingdings" panose="05000000000000000000" pitchFamily="2" charset="2"/>
              <a:buChar char="ü"/>
              <a:tabLst>
                <a:tab pos="315682" algn="l"/>
              </a:tabLst>
            </a:pPr>
            <a:r>
              <a:rPr lang="en-US" sz="3200" dirty="0">
                <a:latin typeface="Times New Roman"/>
                <a:cs typeface="Times New Roman"/>
              </a:rPr>
              <a:t>Has </a:t>
            </a:r>
            <a:r>
              <a:rPr lang="en-US" sz="3200" b="1" dirty="0">
                <a:solidFill>
                  <a:srgbClr val="FF0000"/>
                </a:solidFill>
                <a:latin typeface="Times New Roman"/>
                <a:cs typeface="Times New Roman"/>
              </a:rPr>
              <a:t>unlimited hop count</a:t>
            </a:r>
            <a:r>
              <a:rPr lang="en-US" sz="3200" dirty="0">
                <a:latin typeface="Times New Roman"/>
                <a:cs typeface="Times New Roman"/>
              </a:rPr>
              <a:t>.</a:t>
            </a:r>
          </a:p>
          <a:p>
            <a:pPr marL="927699" marR="786756" lvl="1" indent="-457200">
              <a:spcBef>
                <a:spcPts val="110"/>
              </a:spcBef>
              <a:buClr>
                <a:srgbClr val="D24717"/>
              </a:buClr>
              <a:buSzPct val="85416"/>
              <a:buFont typeface="Wingdings" panose="05000000000000000000" pitchFamily="2" charset="2"/>
              <a:buChar char="ü"/>
              <a:tabLst>
                <a:tab pos="315682" algn="l"/>
              </a:tabLst>
            </a:pPr>
            <a:r>
              <a:rPr lang="en-US" sz="3200" dirty="0">
                <a:latin typeface="Times New Roman"/>
                <a:cs typeface="Times New Roman"/>
              </a:rPr>
              <a:t>Allows multi-vendor deployment (open standard)</a:t>
            </a:r>
          </a:p>
        </p:txBody>
      </p:sp>
      <p:sp>
        <p:nvSpPr>
          <p:cNvPr id="6" name="object 2">
            <a:extLst>
              <a:ext uri="{FF2B5EF4-FFF2-40B4-BE49-F238E27FC236}">
                <a16:creationId xmlns:a16="http://schemas.microsoft.com/office/drawing/2014/main" id="{BB9D4268-8868-4047-B1DF-59C2C6180310}"/>
              </a:ext>
            </a:extLst>
          </p:cNvPr>
          <p:cNvSpPr txBox="1">
            <a:spLocks/>
          </p:cNvSpPr>
          <p:nvPr/>
        </p:nvSpPr>
        <p:spPr>
          <a:xfrm>
            <a:off x="-525731" y="126707"/>
            <a:ext cx="10606355" cy="1235113"/>
          </a:xfrm>
          <a:prstGeom prst="rect">
            <a:avLst/>
          </a:prstGeom>
          <a:noFill/>
          <a:ln w="0">
            <a:noFill/>
          </a:ln>
        </p:spPr>
        <p:txBody>
          <a:bodyPr vert="horz" wrap="square" lIns="0" tIns="551211" rIns="0" bIns="0" rtlCol="0" anchor="ctr">
            <a:spAutoFit/>
          </a:bodyPr>
          <a:lstStyle>
            <a:lvl1pPr algn="l" defTabSz="914400" rtl="0" eaLnBrk="1" latinLnBrk="0" hangingPunct="1">
              <a:lnSpc>
                <a:spcPct val="90000"/>
              </a:lnSpc>
              <a:spcBef>
                <a:spcPct val="0"/>
              </a:spcBef>
              <a:buNone/>
              <a:defRPr sz="3968" b="1" i="0" kern="1200">
                <a:solidFill>
                  <a:schemeClr val="hlink"/>
                </a:solidFill>
                <a:latin typeface="Times New Roman"/>
                <a:ea typeface="+mj-ea"/>
                <a:cs typeface="Times New Roman"/>
              </a:defRPr>
            </a:lvl1pPr>
          </a:lstStyle>
          <a:p>
            <a:pPr marL="912049">
              <a:lnSpc>
                <a:spcPct val="100000"/>
              </a:lnSpc>
              <a:spcBef>
                <a:spcPts val="105"/>
              </a:spcBef>
            </a:pPr>
            <a:r>
              <a:rPr lang="en-US" sz="4409">
                <a:solidFill>
                  <a:schemeClr val="bg1"/>
                </a:solidFill>
              </a:rPr>
              <a:t>Open Shortest Path First(OSPF) Basics</a:t>
            </a:r>
            <a:endParaRPr lang="en-US" sz="4409"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6095" y="-255214"/>
            <a:ext cx="9231849" cy="1913632"/>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Comparison between OSPF, RIPv2 and RIPv1</a:t>
            </a:r>
          </a:p>
        </p:txBody>
      </p:sp>
      <p:pic>
        <p:nvPicPr>
          <p:cNvPr id="4" name="Picture 3">
            <a:extLst>
              <a:ext uri="{FF2B5EF4-FFF2-40B4-BE49-F238E27FC236}">
                <a16:creationId xmlns:a16="http://schemas.microsoft.com/office/drawing/2014/main" id="{CE9C2276-7BC0-4305-9EFA-FB06DFFC4D80}"/>
              </a:ext>
            </a:extLst>
          </p:cNvPr>
          <p:cNvPicPr>
            <a:picLocks noChangeAspect="1"/>
          </p:cNvPicPr>
          <p:nvPr/>
        </p:nvPicPr>
        <p:blipFill>
          <a:blip r:embed="rId2"/>
          <a:stretch>
            <a:fillRect/>
          </a:stretch>
        </p:blipFill>
        <p:spPr>
          <a:xfrm>
            <a:off x="318439" y="1822180"/>
            <a:ext cx="9054989" cy="53564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6095" y="-255214"/>
            <a:ext cx="9231849" cy="1913632"/>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Comparison between OSPF, RIPv2 and RIPv1</a:t>
            </a:r>
          </a:p>
        </p:txBody>
      </p:sp>
      <p:pic>
        <p:nvPicPr>
          <p:cNvPr id="3" name="Picture 2">
            <a:extLst>
              <a:ext uri="{FF2B5EF4-FFF2-40B4-BE49-F238E27FC236}">
                <a16:creationId xmlns:a16="http://schemas.microsoft.com/office/drawing/2014/main" id="{DE46D451-707E-4548-9D84-664C798E5A78}"/>
              </a:ext>
            </a:extLst>
          </p:cNvPr>
          <p:cNvPicPr>
            <a:picLocks noChangeAspect="1"/>
          </p:cNvPicPr>
          <p:nvPr/>
        </p:nvPicPr>
        <p:blipFill>
          <a:blip r:embed="rId2"/>
          <a:stretch>
            <a:fillRect/>
          </a:stretch>
        </p:blipFill>
        <p:spPr>
          <a:xfrm>
            <a:off x="129969" y="1658418"/>
            <a:ext cx="9820686" cy="3721995"/>
          </a:xfrm>
          <a:prstGeom prst="rect">
            <a:avLst/>
          </a:prstGeom>
        </p:spPr>
      </p:pic>
    </p:spTree>
    <p:extLst>
      <p:ext uri="{BB962C8B-B14F-4D97-AF65-F5344CB8AC3E}">
        <p14:creationId xmlns:p14="http://schemas.microsoft.com/office/powerpoint/2010/main" val="88429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Open Shortest Path First(OSPF) Basics</a:t>
            </a:r>
            <a:endParaRPr sz="4409" dirty="0">
              <a:solidFill>
                <a:schemeClr val="bg1"/>
              </a:solidFill>
            </a:endParaRPr>
          </a:p>
        </p:txBody>
      </p:sp>
      <p:sp>
        <p:nvSpPr>
          <p:cNvPr id="3" name="object 3"/>
          <p:cNvSpPr txBox="1"/>
          <p:nvPr/>
        </p:nvSpPr>
        <p:spPr>
          <a:xfrm>
            <a:off x="206062" y="1763988"/>
            <a:ext cx="9672034" cy="5472219"/>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dirty="0">
                <a:latin typeface="Times New Roman"/>
                <a:cs typeface="Times New Roman"/>
              </a:rPr>
              <a:t>OSPF is supposed to be designed in a hierarchical fashion, which basically means that </a:t>
            </a:r>
            <a:r>
              <a:rPr lang="en-US" sz="3200" b="1" dirty="0">
                <a:solidFill>
                  <a:srgbClr val="FF0000"/>
                </a:solidFill>
                <a:latin typeface="Times New Roman"/>
                <a:cs typeface="Times New Roman"/>
              </a:rPr>
              <a:t>you can separate the larger internetwork into smaller internetworks </a:t>
            </a:r>
            <a:r>
              <a:rPr lang="en-US" sz="3200" dirty="0">
                <a:latin typeface="Times New Roman"/>
                <a:cs typeface="Times New Roman"/>
              </a:rPr>
              <a:t>called </a:t>
            </a:r>
            <a:r>
              <a:rPr lang="en-US" sz="3200" b="1" dirty="0">
                <a:solidFill>
                  <a:srgbClr val="FF0000"/>
                </a:solidFill>
                <a:latin typeface="Times New Roman"/>
                <a:cs typeface="Times New Roman"/>
              </a:rPr>
              <a:t>areas</a:t>
            </a:r>
            <a:r>
              <a:rPr lang="en-US" sz="3200" dirty="0">
                <a:latin typeface="Times New Roman"/>
                <a:cs typeface="Times New Roman"/>
              </a:rPr>
              <a:t>. This is the best design for OSPF.</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dirty="0">
                <a:latin typeface="Times New Roman"/>
                <a:cs typeface="Times New Roman"/>
              </a:rPr>
              <a:t>The reasons for creating OSPF in a hierarchical design include:</a:t>
            </a:r>
          </a:p>
          <a:p>
            <a:pPr marL="927699" marR="316382" lvl="1" indent="-457200">
              <a:spcBef>
                <a:spcPts val="667"/>
              </a:spcBef>
              <a:buClr>
                <a:srgbClr val="C00000"/>
              </a:buClr>
              <a:buSzPct val="84615"/>
              <a:buFont typeface="Wingdings" panose="05000000000000000000" pitchFamily="2" charset="2"/>
              <a:buChar char="ü"/>
              <a:tabLst>
                <a:tab pos="315682" algn="l"/>
              </a:tabLst>
            </a:pPr>
            <a:r>
              <a:rPr lang="en-US" sz="3200" dirty="0">
                <a:latin typeface="Times New Roman"/>
                <a:cs typeface="Times New Roman"/>
              </a:rPr>
              <a:t>To decrease routing overhead</a:t>
            </a:r>
          </a:p>
          <a:p>
            <a:pPr marL="927699" marR="316382" lvl="1" indent="-457200">
              <a:spcBef>
                <a:spcPts val="667"/>
              </a:spcBef>
              <a:buClr>
                <a:srgbClr val="C00000"/>
              </a:buClr>
              <a:buSzPct val="84615"/>
              <a:buFont typeface="Wingdings" panose="05000000000000000000" pitchFamily="2" charset="2"/>
              <a:buChar char="ü"/>
              <a:tabLst>
                <a:tab pos="315682" algn="l"/>
              </a:tabLst>
            </a:pPr>
            <a:r>
              <a:rPr lang="en-US" sz="3200" dirty="0">
                <a:latin typeface="Times New Roman"/>
                <a:cs typeface="Times New Roman"/>
              </a:rPr>
              <a:t>To speed up convergence</a:t>
            </a:r>
          </a:p>
          <a:p>
            <a:pPr marL="927699" marR="316382" lvl="1" indent="-457200">
              <a:spcBef>
                <a:spcPts val="667"/>
              </a:spcBef>
              <a:buClr>
                <a:srgbClr val="C00000"/>
              </a:buClr>
              <a:buSzPct val="84615"/>
              <a:buFont typeface="Wingdings" panose="05000000000000000000" pitchFamily="2" charset="2"/>
              <a:buChar char="ü"/>
              <a:tabLst>
                <a:tab pos="315682" algn="l"/>
              </a:tabLst>
            </a:pPr>
            <a:r>
              <a:rPr lang="en-US" sz="3200" dirty="0">
                <a:latin typeface="Times New Roman"/>
                <a:cs typeface="Times New Roman"/>
              </a:rPr>
              <a:t>To confine network instability to single areas of the network</a:t>
            </a:r>
            <a:endParaRPr sz="32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Open Shortest Path First(OSPF) Basics</a:t>
            </a:r>
            <a:endParaRPr sz="4409" dirty="0">
              <a:solidFill>
                <a:schemeClr val="bg1"/>
              </a:solidFill>
            </a:endParaRPr>
          </a:p>
        </p:txBody>
      </p:sp>
      <p:sp>
        <p:nvSpPr>
          <p:cNvPr id="3" name="object 3"/>
          <p:cNvSpPr txBox="1"/>
          <p:nvPr/>
        </p:nvSpPr>
        <p:spPr>
          <a:xfrm>
            <a:off x="206062" y="1622319"/>
            <a:ext cx="9672034" cy="2158491"/>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dirty="0">
                <a:latin typeface="Times New Roman"/>
                <a:cs typeface="Times New Roman"/>
              </a:rPr>
              <a:t>This does not make configuring OSPF easier, but more elaborate and difficult. Figure below shows a typical OSPF simple design.</a:t>
            </a:r>
          </a:p>
          <a:p>
            <a:pPr marL="470499" marR="316382" indent="-457200">
              <a:spcBef>
                <a:spcPts val="667"/>
              </a:spcBef>
              <a:buClr>
                <a:srgbClr val="C00000"/>
              </a:buClr>
              <a:buSzPct val="84615"/>
              <a:buFont typeface="Wingdings" panose="05000000000000000000" pitchFamily="2" charset="2"/>
              <a:buChar char="Ø"/>
              <a:tabLst>
                <a:tab pos="315682" algn="l"/>
              </a:tabLst>
            </a:pPr>
            <a:endParaRPr sz="3200" dirty="0">
              <a:latin typeface="Times New Roman"/>
              <a:cs typeface="Times New Roman"/>
            </a:endParaRPr>
          </a:p>
        </p:txBody>
      </p:sp>
      <p:pic>
        <p:nvPicPr>
          <p:cNvPr id="4" name="Picture 3">
            <a:extLst>
              <a:ext uri="{FF2B5EF4-FFF2-40B4-BE49-F238E27FC236}">
                <a16:creationId xmlns:a16="http://schemas.microsoft.com/office/drawing/2014/main" id="{EE924DC7-827D-4C3E-81C5-019AA52B359E}"/>
              </a:ext>
            </a:extLst>
          </p:cNvPr>
          <p:cNvPicPr>
            <a:picLocks noChangeAspect="1"/>
          </p:cNvPicPr>
          <p:nvPr/>
        </p:nvPicPr>
        <p:blipFill>
          <a:blip r:embed="rId2"/>
          <a:stretch>
            <a:fillRect/>
          </a:stretch>
        </p:blipFill>
        <p:spPr>
          <a:xfrm>
            <a:off x="1561674" y="3460817"/>
            <a:ext cx="6590652" cy="3355976"/>
          </a:xfrm>
          <a:prstGeom prst="rect">
            <a:avLst/>
          </a:prstGeom>
        </p:spPr>
      </p:pic>
    </p:spTree>
    <p:extLst>
      <p:ext uri="{BB962C8B-B14F-4D97-AF65-F5344CB8AC3E}">
        <p14:creationId xmlns:p14="http://schemas.microsoft.com/office/powerpoint/2010/main" val="55712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Open Shortest Path First(OSPF) Basics</a:t>
            </a:r>
            <a:endParaRPr sz="4409" dirty="0">
              <a:solidFill>
                <a:schemeClr val="bg1"/>
              </a:solidFill>
            </a:endParaRPr>
          </a:p>
        </p:txBody>
      </p:sp>
      <p:sp>
        <p:nvSpPr>
          <p:cNvPr id="3" name="object 3"/>
          <p:cNvSpPr txBox="1"/>
          <p:nvPr/>
        </p:nvSpPr>
        <p:spPr>
          <a:xfrm>
            <a:off x="206062" y="1763988"/>
            <a:ext cx="9672034" cy="4710472"/>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dirty="0">
                <a:latin typeface="Times New Roman"/>
                <a:cs typeface="Times New Roman"/>
              </a:rPr>
              <a:t>You can notice how each router connects to the backbone, called area 0, or the </a:t>
            </a:r>
            <a:r>
              <a:rPr lang="en-US" sz="3200" b="1" dirty="0">
                <a:solidFill>
                  <a:srgbClr val="FF0000"/>
                </a:solidFill>
                <a:latin typeface="Times New Roman"/>
                <a:cs typeface="Times New Roman"/>
              </a:rPr>
              <a:t>backbone area</a:t>
            </a:r>
            <a:r>
              <a:rPr lang="en-US" sz="3200" dirty="0">
                <a:latin typeface="Times New Roman"/>
                <a:cs typeface="Times New Roman"/>
              </a:rPr>
              <a:t>. </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dirty="0">
                <a:latin typeface="Times New Roman"/>
                <a:cs typeface="Times New Roman"/>
              </a:rPr>
              <a:t>OSPF must have an </a:t>
            </a:r>
            <a:r>
              <a:rPr lang="en-US" sz="3200" b="1" dirty="0">
                <a:solidFill>
                  <a:srgbClr val="FF0000"/>
                </a:solidFill>
                <a:latin typeface="Times New Roman"/>
                <a:cs typeface="Times New Roman"/>
              </a:rPr>
              <a:t>area 0</a:t>
            </a:r>
            <a:r>
              <a:rPr lang="en-US" sz="3200" dirty="0">
                <a:latin typeface="Times New Roman"/>
                <a:cs typeface="Times New Roman"/>
              </a:rPr>
              <a:t>, and all routers should connect to this area, but routers that connect other areas to the backbone within an AS are called </a:t>
            </a:r>
            <a:r>
              <a:rPr lang="en-US" sz="3200" b="1" dirty="0">
                <a:solidFill>
                  <a:srgbClr val="FF0000"/>
                </a:solidFill>
                <a:latin typeface="Times New Roman"/>
                <a:cs typeface="Times New Roman"/>
              </a:rPr>
              <a:t>Area Border Routers </a:t>
            </a:r>
            <a:r>
              <a:rPr lang="en-US" sz="3200" dirty="0">
                <a:latin typeface="Times New Roman"/>
                <a:cs typeface="Times New Roman"/>
              </a:rPr>
              <a:t>(</a:t>
            </a:r>
            <a:r>
              <a:rPr lang="en-US" sz="3200" b="1" dirty="0">
                <a:solidFill>
                  <a:srgbClr val="FF0000"/>
                </a:solidFill>
                <a:latin typeface="Times New Roman"/>
                <a:cs typeface="Times New Roman"/>
              </a:rPr>
              <a:t>ABRs</a:t>
            </a:r>
            <a:r>
              <a:rPr lang="en-US" sz="3200" dirty="0">
                <a:latin typeface="Times New Roman"/>
                <a:cs typeface="Times New Roman"/>
              </a:rPr>
              <a:t>). Still, at least one interface must be in area 0.</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dirty="0">
                <a:latin typeface="Times New Roman"/>
                <a:cs typeface="Times New Roman"/>
              </a:rPr>
              <a:t>OSPF runs inside an </a:t>
            </a:r>
            <a:r>
              <a:rPr lang="en-US" sz="3200" b="1" dirty="0">
                <a:solidFill>
                  <a:srgbClr val="FF0000"/>
                </a:solidFill>
                <a:latin typeface="Times New Roman"/>
                <a:cs typeface="Times New Roman"/>
              </a:rPr>
              <a:t>autonomous system</a:t>
            </a:r>
            <a:r>
              <a:rPr lang="en-US" sz="3200" dirty="0">
                <a:latin typeface="Times New Roman"/>
                <a:cs typeface="Times New Roman"/>
              </a:rPr>
              <a:t>, but can also connect multiple autonomous systems together. </a:t>
            </a:r>
            <a:endParaRPr sz="3200" dirty="0">
              <a:latin typeface="Times New Roman"/>
              <a:cs typeface="Times New Roman"/>
            </a:endParaRPr>
          </a:p>
        </p:txBody>
      </p:sp>
    </p:spTree>
    <p:extLst>
      <p:ext uri="{BB962C8B-B14F-4D97-AF65-F5344CB8AC3E}">
        <p14:creationId xmlns:p14="http://schemas.microsoft.com/office/powerpoint/2010/main" val="3766328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Open Shortest Path First(OSPF) Basics</a:t>
            </a:r>
            <a:endParaRPr sz="4409" dirty="0">
              <a:solidFill>
                <a:schemeClr val="bg1"/>
              </a:solidFill>
            </a:endParaRPr>
          </a:p>
        </p:txBody>
      </p:sp>
      <p:sp>
        <p:nvSpPr>
          <p:cNvPr id="3" name="object 3"/>
          <p:cNvSpPr txBox="1"/>
          <p:nvPr/>
        </p:nvSpPr>
        <p:spPr>
          <a:xfrm>
            <a:off x="204295" y="1635199"/>
            <a:ext cx="9672034" cy="1666049"/>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dirty="0">
                <a:latin typeface="Times New Roman"/>
                <a:cs typeface="Times New Roman"/>
              </a:rPr>
              <a:t>The router that connects these </a:t>
            </a:r>
            <a:r>
              <a:rPr lang="en-US" sz="3200" dirty="0" err="1">
                <a:latin typeface="Times New Roman"/>
                <a:cs typeface="Times New Roman"/>
              </a:rPr>
              <a:t>ASes</a:t>
            </a:r>
            <a:r>
              <a:rPr lang="en-US" sz="3200" dirty="0">
                <a:latin typeface="Times New Roman"/>
                <a:cs typeface="Times New Roman"/>
              </a:rPr>
              <a:t> together is called an </a:t>
            </a:r>
            <a:r>
              <a:rPr lang="en-US" sz="3200" b="1" dirty="0">
                <a:solidFill>
                  <a:srgbClr val="FF0000"/>
                </a:solidFill>
                <a:latin typeface="Times New Roman"/>
                <a:cs typeface="Times New Roman"/>
              </a:rPr>
              <a:t>Autonomous System Boundary Router </a:t>
            </a:r>
            <a:r>
              <a:rPr lang="en-US" sz="3200" dirty="0">
                <a:latin typeface="Times New Roman"/>
                <a:cs typeface="Times New Roman"/>
              </a:rPr>
              <a:t>(</a:t>
            </a:r>
            <a:r>
              <a:rPr lang="en-US" sz="3200" b="1" dirty="0">
                <a:solidFill>
                  <a:srgbClr val="FF0000"/>
                </a:solidFill>
                <a:latin typeface="Times New Roman"/>
                <a:cs typeface="Times New Roman"/>
              </a:rPr>
              <a:t>ASBR</a:t>
            </a:r>
            <a:r>
              <a:rPr lang="en-US" sz="3200" dirty="0">
                <a:latin typeface="Times New Roman"/>
                <a:cs typeface="Times New Roman"/>
              </a:rPr>
              <a:t>).</a:t>
            </a:r>
          </a:p>
          <a:p>
            <a:pPr marL="470499" marR="316382" indent="-457200">
              <a:spcBef>
                <a:spcPts val="667"/>
              </a:spcBef>
              <a:buClr>
                <a:srgbClr val="C00000"/>
              </a:buClr>
              <a:buSzPct val="84615"/>
              <a:buFont typeface="Wingdings" panose="05000000000000000000" pitchFamily="2" charset="2"/>
              <a:buChar char="Ø"/>
              <a:tabLst>
                <a:tab pos="315682" algn="l"/>
              </a:tabLst>
            </a:pPr>
            <a:endParaRPr lang="en-US" sz="3200" dirty="0">
              <a:latin typeface="Times New Roman"/>
              <a:cs typeface="Times New Roman"/>
            </a:endParaRPr>
          </a:p>
        </p:txBody>
      </p:sp>
    </p:spTree>
    <p:extLst>
      <p:ext uri="{BB962C8B-B14F-4D97-AF65-F5344CB8AC3E}">
        <p14:creationId xmlns:p14="http://schemas.microsoft.com/office/powerpoint/2010/main" val="3492910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OSPF Terminologies</a:t>
            </a:r>
            <a:endParaRPr sz="4409" dirty="0">
              <a:solidFill>
                <a:schemeClr val="bg1"/>
              </a:solidFill>
            </a:endParaRPr>
          </a:p>
        </p:txBody>
      </p:sp>
      <p:sp>
        <p:nvSpPr>
          <p:cNvPr id="3" name="object 3"/>
          <p:cNvSpPr txBox="1"/>
          <p:nvPr/>
        </p:nvSpPr>
        <p:spPr>
          <a:xfrm>
            <a:off x="0" y="1545046"/>
            <a:ext cx="10264461" cy="4620704"/>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Link</a:t>
            </a:r>
            <a:r>
              <a:rPr lang="en-US" sz="3200" dirty="0">
                <a:latin typeface="Times New Roman"/>
                <a:cs typeface="Times New Roman"/>
              </a:rPr>
              <a:t> ,A link is a network or router interface assigned to any given network. When an interface is added to the OSPF process, it’s considered by OSPF to be a link. This link, or interface, will have state information associated with it (</a:t>
            </a:r>
            <a:r>
              <a:rPr lang="en-US" sz="3200" b="1" dirty="0">
                <a:solidFill>
                  <a:srgbClr val="FF0000"/>
                </a:solidFill>
                <a:latin typeface="Times New Roman"/>
                <a:cs typeface="Times New Roman"/>
              </a:rPr>
              <a:t>up</a:t>
            </a:r>
            <a:r>
              <a:rPr lang="en-US" sz="3200" dirty="0">
                <a:latin typeface="Times New Roman"/>
                <a:cs typeface="Times New Roman"/>
              </a:rPr>
              <a:t> or </a:t>
            </a:r>
            <a:r>
              <a:rPr lang="en-US" sz="3200" b="1" dirty="0">
                <a:solidFill>
                  <a:srgbClr val="FF0000"/>
                </a:solidFill>
                <a:latin typeface="Times New Roman"/>
                <a:cs typeface="Times New Roman"/>
              </a:rPr>
              <a:t>down</a:t>
            </a:r>
            <a:r>
              <a:rPr lang="en-US" sz="3200" dirty="0">
                <a:latin typeface="Times New Roman"/>
                <a:cs typeface="Times New Roman"/>
              </a:rPr>
              <a:t>) as well as one or more IP addresses.</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Router ID, </a:t>
            </a:r>
            <a:r>
              <a:rPr lang="en-US" sz="3200" dirty="0">
                <a:latin typeface="Times New Roman"/>
                <a:cs typeface="Times New Roman"/>
              </a:rPr>
              <a:t>this is an IP address used to identify the router. If no loopback interfaces are configured with addresses, OSPF will choose the highest IP address of all active physical interfaces.</a:t>
            </a:r>
          </a:p>
        </p:txBody>
      </p:sp>
    </p:spTree>
    <p:extLst>
      <p:ext uri="{BB962C8B-B14F-4D97-AF65-F5344CB8AC3E}">
        <p14:creationId xmlns:p14="http://schemas.microsoft.com/office/powerpoint/2010/main" val="3089887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OSPF Terminologies</a:t>
            </a:r>
            <a:endParaRPr sz="4409" dirty="0">
              <a:solidFill>
                <a:schemeClr val="bg1"/>
              </a:solidFill>
            </a:endParaRPr>
          </a:p>
        </p:txBody>
      </p:sp>
      <p:sp>
        <p:nvSpPr>
          <p:cNvPr id="3" name="object 3"/>
          <p:cNvSpPr txBox="1"/>
          <p:nvPr/>
        </p:nvSpPr>
        <p:spPr>
          <a:xfrm>
            <a:off x="0" y="1545046"/>
            <a:ext cx="10264461" cy="4620704"/>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Link</a:t>
            </a:r>
            <a:r>
              <a:rPr lang="en-US" sz="3200" dirty="0">
                <a:latin typeface="Times New Roman"/>
                <a:cs typeface="Times New Roman"/>
              </a:rPr>
              <a:t> ,A link is a network or router interface assigned to any given network. When an interface is added to the OSPF process, it’s considered by OSPF to be a link. This link, or interface, will have state information associated with it (</a:t>
            </a:r>
            <a:r>
              <a:rPr lang="en-US" sz="3200" b="1" dirty="0">
                <a:solidFill>
                  <a:srgbClr val="FF0000"/>
                </a:solidFill>
                <a:latin typeface="Times New Roman"/>
                <a:cs typeface="Times New Roman"/>
              </a:rPr>
              <a:t>up</a:t>
            </a:r>
            <a:r>
              <a:rPr lang="en-US" sz="3200" dirty="0">
                <a:latin typeface="Times New Roman"/>
                <a:cs typeface="Times New Roman"/>
              </a:rPr>
              <a:t> or </a:t>
            </a:r>
            <a:r>
              <a:rPr lang="en-US" sz="3200" b="1" dirty="0">
                <a:solidFill>
                  <a:srgbClr val="FF0000"/>
                </a:solidFill>
                <a:latin typeface="Times New Roman"/>
                <a:cs typeface="Times New Roman"/>
              </a:rPr>
              <a:t>down</a:t>
            </a:r>
            <a:r>
              <a:rPr lang="en-US" sz="3200" dirty="0">
                <a:latin typeface="Times New Roman"/>
                <a:cs typeface="Times New Roman"/>
              </a:rPr>
              <a:t>) as well as one or more IP addresses.</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Router ID, </a:t>
            </a:r>
            <a:r>
              <a:rPr lang="en-US" sz="3200" dirty="0">
                <a:latin typeface="Times New Roman"/>
                <a:cs typeface="Times New Roman"/>
              </a:rPr>
              <a:t>this is an IP address used to identify the router. If no loopback interfaces are configured with addresses, OSPF will choose the highest IP address of all active physical interfaces.</a:t>
            </a:r>
          </a:p>
        </p:txBody>
      </p:sp>
    </p:spTree>
    <p:extLst>
      <p:ext uri="{BB962C8B-B14F-4D97-AF65-F5344CB8AC3E}">
        <p14:creationId xmlns:p14="http://schemas.microsoft.com/office/powerpoint/2010/main" val="3876516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OSPF Terminologies</a:t>
            </a:r>
            <a:endParaRPr sz="4409" dirty="0">
              <a:solidFill>
                <a:schemeClr val="bg1"/>
              </a:solidFill>
            </a:endParaRPr>
          </a:p>
        </p:txBody>
      </p:sp>
      <p:sp>
        <p:nvSpPr>
          <p:cNvPr id="3" name="object 3"/>
          <p:cNvSpPr txBox="1"/>
          <p:nvPr/>
        </p:nvSpPr>
        <p:spPr>
          <a:xfrm>
            <a:off x="0" y="1545046"/>
            <a:ext cx="10264461" cy="4128261"/>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Neighbors; </a:t>
            </a:r>
            <a:r>
              <a:rPr lang="en-US" sz="3200" dirty="0">
                <a:latin typeface="Times New Roman"/>
                <a:cs typeface="Times New Roman"/>
              </a:rPr>
              <a:t>this are two or more routers that have an interface on a common network, such as two routers connected on a point-to-point serial link.</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Adjacency</a:t>
            </a:r>
            <a:r>
              <a:rPr lang="en-US" sz="3200" dirty="0">
                <a:latin typeface="Times New Roman"/>
                <a:cs typeface="Times New Roman"/>
              </a:rPr>
              <a:t> is a relationship between two OSPF routers that permits the </a:t>
            </a:r>
            <a:r>
              <a:rPr lang="en-US" sz="3200" b="1" dirty="0">
                <a:solidFill>
                  <a:srgbClr val="FF0000"/>
                </a:solidFill>
                <a:latin typeface="Times New Roman"/>
                <a:cs typeface="Times New Roman"/>
              </a:rPr>
              <a:t>direct exchange of route updates</a:t>
            </a:r>
            <a:r>
              <a:rPr lang="en-US" sz="3200" dirty="0">
                <a:latin typeface="Times New Roman"/>
                <a:cs typeface="Times New Roman"/>
              </a:rPr>
              <a:t>. OSPF is really selective about sharing routing information, unlike EIGRP,which directly shares routes with all of its neighbors.</a:t>
            </a:r>
          </a:p>
        </p:txBody>
      </p:sp>
    </p:spTree>
    <p:extLst>
      <p:ext uri="{BB962C8B-B14F-4D97-AF65-F5344CB8AC3E}">
        <p14:creationId xmlns:p14="http://schemas.microsoft.com/office/powerpoint/2010/main" val="293166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OSPF Terminologies</a:t>
            </a:r>
            <a:endParaRPr sz="4409" dirty="0">
              <a:solidFill>
                <a:schemeClr val="bg1"/>
              </a:solidFill>
            </a:endParaRPr>
          </a:p>
        </p:txBody>
      </p:sp>
      <p:sp>
        <p:nvSpPr>
          <p:cNvPr id="3" name="object 3"/>
          <p:cNvSpPr txBox="1"/>
          <p:nvPr/>
        </p:nvSpPr>
        <p:spPr>
          <a:xfrm>
            <a:off x="0" y="1545046"/>
            <a:ext cx="10264461" cy="4710472"/>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Hello protocol </a:t>
            </a:r>
            <a:r>
              <a:rPr lang="en-US" sz="3200" dirty="0">
                <a:latin typeface="Times New Roman"/>
                <a:cs typeface="Times New Roman"/>
              </a:rPr>
              <a:t>provides dynamic neighbor discovery and maintains neighbor relationships. Hello packets and Link State Advertisements (LSAs) build and maintain the topological database. Hello packets are addressed to 224.0.0.5.</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err="1">
                <a:solidFill>
                  <a:srgbClr val="FF0000"/>
                </a:solidFill>
                <a:latin typeface="Times New Roman"/>
                <a:cs typeface="Times New Roman"/>
              </a:rPr>
              <a:t>Neighborship</a:t>
            </a:r>
            <a:r>
              <a:rPr lang="en-US" sz="3200" b="1" dirty="0">
                <a:solidFill>
                  <a:srgbClr val="FF0000"/>
                </a:solidFill>
                <a:latin typeface="Times New Roman"/>
                <a:cs typeface="Times New Roman"/>
              </a:rPr>
              <a:t> database </a:t>
            </a:r>
            <a:r>
              <a:rPr lang="en-US" sz="3200" dirty="0">
                <a:latin typeface="Times New Roman"/>
                <a:cs typeface="Times New Roman"/>
              </a:rPr>
              <a:t>is a list of all OSPF routers for which Hello packets have been seen. A variety of details, including the Router ID and state, are maintained on each router in the </a:t>
            </a:r>
            <a:r>
              <a:rPr lang="en-US" sz="3200" dirty="0" err="1">
                <a:latin typeface="Times New Roman"/>
                <a:cs typeface="Times New Roman"/>
              </a:rPr>
              <a:t>neighborship</a:t>
            </a:r>
            <a:r>
              <a:rPr lang="en-US" sz="3200" dirty="0">
                <a:latin typeface="Times New Roman"/>
                <a:cs typeface="Times New Roman"/>
              </a:rPr>
              <a:t> database.</a:t>
            </a:r>
          </a:p>
        </p:txBody>
      </p:sp>
    </p:spTree>
    <p:extLst>
      <p:ext uri="{BB962C8B-B14F-4D97-AF65-F5344CB8AC3E}">
        <p14:creationId xmlns:p14="http://schemas.microsoft.com/office/powerpoint/2010/main" val="4031450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OSPF Terminologies</a:t>
            </a:r>
            <a:endParaRPr sz="4409" dirty="0">
              <a:solidFill>
                <a:schemeClr val="bg1"/>
              </a:solidFill>
            </a:endParaRPr>
          </a:p>
        </p:txBody>
      </p:sp>
      <p:sp>
        <p:nvSpPr>
          <p:cNvPr id="3" name="object 3"/>
          <p:cNvSpPr txBox="1"/>
          <p:nvPr/>
        </p:nvSpPr>
        <p:spPr>
          <a:xfrm>
            <a:off x="0" y="1545046"/>
            <a:ext cx="10264461" cy="5113146"/>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Topology database </a:t>
            </a:r>
            <a:r>
              <a:rPr lang="en-US" sz="3200" dirty="0">
                <a:latin typeface="Times New Roman"/>
                <a:cs typeface="Times New Roman"/>
              </a:rPr>
              <a:t>contains information from all of the Link State Advertisement packets that have been received for an area. The router uses the information from the topology database as input into the </a:t>
            </a:r>
            <a:r>
              <a:rPr lang="en-US" sz="3200" b="1" dirty="0">
                <a:solidFill>
                  <a:srgbClr val="FF0000"/>
                </a:solidFill>
                <a:latin typeface="Times New Roman"/>
                <a:cs typeface="Times New Roman"/>
              </a:rPr>
              <a:t>Dijkstra</a:t>
            </a:r>
            <a:r>
              <a:rPr lang="en-US" sz="3200" dirty="0">
                <a:latin typeface="Times New Roman"/>
                <a:cs typeface="Times New Roman"/>
              </a:rPr>
              <a:t> </a:t>
            </a:r>
            <a:r>
              <a:rPr lang="en-US" sz="3200" b="1" dirty="0">
                <a:solidFill>
                  <a:srgbClr val="FF0000"/>
                </a:solidFill>
                <a:latin typeface="Times New Roman"/>
                <a:cs typeface="Times New Roman"/>
              </a:rPr>
              <a:t>algorithm</a:t>
            </a:r>
            <a:r>
              <a:rPr lang="en-US" sz="3200" dirty="0">
                <a:latin typeface="Times New Roman"/>
                <a:cs typeface="Times New Roman"/>
              </a:rPr>
              <a:t> that computes the shortest path to every network.</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Link State Advertisement </a:t>
            </a:r>
            <a:r>
              <a:rPr lang="en-US" sz="3200" dirty="0">
                <a:latin typeface="Times New Roman"/>
                <a:cs typeface="Times New Roman"/>
              </a:rPr>
              <a:t>(</a:t>
            </a:r>
            <a:r>
              <a:rPr lang="en-US" sz="3200" b="1" dirty="0">
                <a:solidFill>
                  <a:srgbClr val="FF0000"/>
                </a:solidFill>
                <a:latin typeface="Times New Roman"/>
                <a:cs typeface="Times New Roman"/>
              </a:rPr>
              <a:t>LSA</a:t>
            </a:r>
            <a:r>
              <a:rPr lang="en-US" sz="3200" dirty="0">
                <a:latin typeface="Times New Roman"/>
                <a:cs typeface="Times New Roman"/>
              </a:rPr>
              <a:t>) is an OSPF data packet containing link-state and routing information that’s shared among OSPF routers. There are different types of LSA packets. An OSPF router will exchange LSA packets only with routers to which it has established adjacencies.</a:t>
            </a:r>
          </a:p>
        </p:txBody>
      </p:sp>
    </p:spTree>
    <p:extLst>
      <p:ext uri="{BB962C8B-B14F-4D97-AF65-F5344CB8AC3E}">
        <p14:creationId xmlns:p14="http://schemas.microsoft.com/office/powerpoint/2010/main" val="1996735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OSPF Terminologies</a:t>
            </a:r>
            <a:endParaRPr sz="4409" dirty="0">
              <a:solidFill>
                <a:schemeClr val="bg1"/>
              </a:solidFill>
            </a:endParaRPr>
          </a:p>
        </p:txBody>
      </p:sp>
      <p:sp>
        <p:nvSpPr>
          <p:cNvPr id="3" name="object 3"/>
          <p:cNvSpPr txBox="1"/>
          <p:nvPr/>
        </p:nvSpPr>
        <p:spPr>
          <a:xfrm>
            <a:off x="0" y="1545046"/>
            <a:ext cx="10264461" cy="5202914"/>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Designated router </a:t>
            </a:r>
            <a:r>
              <a:rPr lang="en-US" sz="3200" dirty="0">
                <a:latin typeface="Times New Roman"/>
                <a:cs typeface="Times New Roman"/>
              </a:rPr>
              <a:t>(</a:t>
            </a:r>
            <a:r>
              <a:rPr lang="en-US" sz="3200" b="1" dirty="0">
                <a:solidFill>
                  <a:srgbClr val="FF0000"/>
                </a:solidFill>
                <a:latin typeface="Times New Roman"/>
                <a:cs typeface="Times New Roman"/>
              </a:rPr>
              <a:t>DR</a:t>
            </a:r>
            <a:r>
              <a:rPr lang="en-US" sz="3200" dirty="0">
                <a:latin typeface="Times New Roman"/>
                <a:cs typeface="Times New Roman"/>
              </a:rPr>
              <a:t>) is elected whenever OSPF routers are connected to the same multi-access network.</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Backup designated router </a:t>
            </a:r>
            <a:r>
              <a:rPr lang="en-US" sz="3200" dirty="0">
                <a:latin typeface="Times New Roman"/>
                <a:cs typeface="Times New Roman"/>
              </a:rPr>
              <a:t>(BDR) is a host standby for the DR on multi-access links (remember that Cisco sometimes likes to call these “broadcast” networks). The BDR receives all </a:t>
            </a:r>
            <a:r>
              <a:rPr lang="en-US" sz="3200" b="1" dirty="0">
                <a:solidFill>
                  <a:srgbClr val="FF0000"/>
                </a:solidFill>
                <a:latin typeface="Times New Roman"/>
                <a:cs typeface="Times New Roman"/>
              </a:rPr>
              <a:t>routing updates from OSPF adjacent routers</a:t>
            </a:r>
            <a:r>
              <a:rPr lang="en-US" sz="3200" dirty="0">
                <a:latin typeface="Times New Roman"/>
                <a:cs typeface="Times New Roman"/>
              </a:rPr>
              <a:t>, but doesn’t flood LSA updates. </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200" b="1" dirty="0">
                <a:solidFill>
                  <a:srgbClr val="FF0000"/>
                </a:solidFill>
                <a:latin typeface="Times New Roman"/>
                <a:cs typeface="Times New Roman"/>
              </a:rPr>
              <a:t>OSPF areas </a:t>
            </a:r>
            <a:r>
              <a:rPr lang="en-US" sz="3200" dirty="0">
                <a:latin typeface="Times New Roman"/>
                <a:cs typeface="Times New Roman"/>
              </a:rPr>
              <a:t>is a grouping of contiguous networks and routers. All routers in the same area share a common Area ID. </a:t>
            </a:r>
          </a:p>
        </p:txBody>
      </p:sp>
    </p:spTree>
    <p:extLst>
      <p:ext uri="{BB962C8B-B14F-4D97-AF65-F5344CB8AC3E}">
        <p14:creationId xmlns:p14="http://schemas.microsoft.com/office/powerpoint/2010/main" val="4281651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731" y="126707"/>
            <a:ext cx="10606355" cy="1235113"/>
          </a:xfrm>
          <a:prstGeom prst="rect">
            <a:avLst/>
          </a:prstGeom>
        </p:spPr>
        <p:txBody>
          <a:bodyPr vert="horz" wrap="square" lIns="0" tIns="551211" rIns="0" bIns="0" rtlCol="0" anchor="ctr">
            <a:spAutoFit/>
          </a:bodyPr>
          <a:lstStyle/>
          <a:p>
            <a:pPr marL="912049">
              <a:lnSpc>
                <a:spcPct val="100000"/>
              </a:lnSpc>
              <a:spcBef>
                <a:spcPts val="105"/>
              </a:spcBef>
            </a:pPr>
            <a:r>
              <a:rPr lang="en-US" sz="4409" dirty="0">
                <a:solidFill>
                  <a:schemeClr val="bg1"/>
                </a:solidFill>
              </a:rPr>
              <a:t>OSPF Terminologies</a:t>
            </a:r>
            <a:endParaRPr sz="4409" dirty="0">
              <a:solidFill>
                <a:schemeClr val="bg1"/>
              </a:solidFill>
            </a:endParaRPr>
          </a:p>
        </p:txBody>
      </p:sp>
      <p:sp>
        <p:nvSpPr>
          <p:cNvPr id="3" name="object 3"/>
          <p:cNvSpPr txBox="1"/>
          <p:nvPr/>
        </p:nvSpPr>
        <p:spPr>
          <a:xfrm>
            <a:off x="0" y="1545046"/>
            <a:ext cx="10264461" cy="5818467"/>
          </a:xfrm>
          <a:prstGeom prst="rect">
            <a:avLst/>
          </a:prstGeom>
        </p:spPr>
        <p:txBody>
          <a:bodyPr vert="horz" wrap="square" lIns="0" tIns="97996" rIns="0" bIns="0" rtlCol="0">
            <a:spAutoFit/>
          </a:bodyPr>
          <a:lstStyle/>
          <a:p>
            <a:pPr marL="470499" marR="316382" indent="-457200">
              <a:spcBef>
                <a:spcPts val="667"/>
              </a:spcBef>
              <a:buClr>
                <a:srgbClr val="C00000"/>
              </a:buClr>
              <a:buSzPct val="84615"/>
              <a:buFont typeface="Wingdings" panose="05000000000000000000" pitchFamily="2" charset="2"/>
              <a:buChar char="Ø"/>
              <a:tabLst>
                <a:tab pos="315682" algn="l"/>
              </a:tabLst>
            </a:pPr>
            <a:r>
              <a:rPr lang="en-US" sz="3000" b="1" dirty="0">
                <a:solidFill>
                  <a:srgbClr val="FF0000"/>
                </a:solidFill>
                <a:latin typeface="Times New Roman"/>
                <a:cs typeface="Times New Roman"/>
              </a:rPr>
              <a:t>Broadcast</a:t>
            </a:r>
            <a:r>
              <a:rPr lang="en-US" sz="3000" dirty="0">
                <a:latin typeface="Times New Roman"/>
                <a:cs typeface="Times New Roman"/>
              </a:rPr>
              <a:t> (</a:t>
            </a:r>
            <a:r>
              <a:rPr lang="en-US" sz="3000" b="1" dirty="0">
                <a:solidFill>
                  <a:srgbClr val="FF0000"/>
                </a:solidFill>
                <a:latin typeface="Times New Roman"/>
                <a:cs typeface="Times New Roman"/>
              </a:rPr>
              <a:t>multi-access</a:t>
            </a:r>
            <a:r>
              <a:rPr lang="en-US" sz="3000" dirty="0">
                <a:latin typeface="Times New Roman"/>
                <a:cs typeface="Times New Roman"/>
              </a:rPr>
              <a:t>) networks such as Ethernet allow multiple devices to connect to (or access) the same network, as well as provide a broadcast ability in which a single packet is delivered to all nodes on the network. In OSPF, a DR and a BDR must be elected for each broadcast multi-access network.</a:t>
            </a:r>
          </a:p>
          <a:p>
            <a:pPr marL="470499" marR="316382" indent="-457200">
              <a:spcBef>
                <a:spcPts val="667"/>
              </a:spcBef>
              <a:buClr>
                <a:srgbClr val="C00000"/>
              </a:buClr>
              <a:buSzPct val="84615"/>
              <a:buFont typeface="Wingdings" panose="05000000000000000000" pitchFamily="2" charset="2"/>
              <a:buChar char="Ø"/>
              <a:tabLst>
                <a:tab pos="315682" algn="l"/>
              </a:tabLst>
            </a:pPr>
            <a:r>
              <a:rPr lang="en-US" sz="3000" b="1" dirty="0">
                <a:solidFill>
                  <a:srgbClr val="FF0000"/>
                </a:solidFill>
                <a:latin typeface="Times New Roman"/>
                <a:cs typeface="Times New Roman"/>
              </a:rPr>
              <a:t>Non-broadcast</a:t>
            </a:r>
            <a:r>
              <a:rPr lang="en-US" sz="3000" dirty="0">
                <a:latin typeface="Times New Roman"/>
                <a:cs typeface="Times New Roman"/>
              </a:rPr>
              <a:t> </a:t>
            </a:r>
            <a:r>
              <a:rPr lang="en-US" sz="3000" b="1" dirty="0">
                <a:solidFill>
                  <a:srgbClr val="FF0000"/>
                </a:solidFill>
                <a:latin typeface="Times New Roman"/>
                <a:cs typeface="Times New Roman"/>
              </a:rPr>
              <a:t>multi-access</a:t>
            </a:r>
            <a:r>
              <a:rPr lang="en-US" sz="3000" dirty="0">
                <a:latin typeface="Times New Roman"/>
                <a:cs typeface="Times New Roman"/>
              </a:rPr>
              <a:t> (NBMA) networks are types such as Frame Relay, X.25, and Asynchronous Transfer Mode (ATM). These networks allow for multi-access, but have no broadcast ability like Ethernet. So, NBMA networks require special OSPF configuration to function properly and neighbor relationships must be defined</a:t>
            </a:r>
          </a:p>
        </p:txBody>
      </p:sp>
    </p:spTree>
    <p:extLst>
      <p:ext uri="{BB962C8B-B14F-4D97-AF65-F5344CB8AC3E}">
        <p14:creationId xmlns:p14="http://schemas.microsoft.com/office/powerpoint/2010/main" val="1471475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6464" y="-122555"/>
            <a:ext cx="7544716" cy="1235113"/>
          </a:xfrm>
          <a:prstGeom prst="rect">
            <a:avLst/>
          </a:prstGeom>
        </p:spPr>
        <p:txBody>
          <a:bodyPr vert="horz" wrap="square" lIns="0" tIns="551211" rIns="0" bIns="0" rtlCol="0" anchor="ctr">
            <a:spAutoFit/>
          </a:bodyPr>
          <a:lstStyle/>
          <a:p>
            <a:pPr marL="744058">
              <a:lnSpc>
                <a:spcPct val="100000"/>
              </a:lnSpc>
              <a:spcBef>
                <a:spcPts val="105"/>
              </a:spcBef>
            </a:pPr>
            <a:r>
              <a:rPr lang="en-US" sz="4409" dirty="0">
                <a:solidFill>
                  <a:schemeClr val="bg1"/>
                </a:solidFill>
              </a:rPr>
              <a:t>SPF Tree Calculation</a:t>
            </a:r>
            <a:endParaRPr sz="4409" dirty="0">
              <a:solidFill>
                <a:schemeClr val="bg1"/>
              </a:solidFill>
            </a:endParaRPr>
          </a:p>
        </p:txBody>
      </p:sp>
      <p:sp>
        <p:nvSpPr>
          <p:cNvPr id="3" name="object 3"/>
          <p:cNvSpPr txBox="1"/>
          <p:nvPr/>
        </p:nvSpPr>
        <p:spPr>
          <a:xfrm>
            <a:off x="103031" y="1621865"/>
            <a:ext cx="9977594" cy="4067878"/>
          </a:xfrm>
          <a:prstGeom prst="rect">
            <a:avLst/>
          </a:prstGeom>
        </p:spPr>
        <p:txBody>
          <a:bodyPr vert="horz" wrap="square" lIns="0" tIns="76297" rIns="0" bIns="0" rtlCol="0">
            <a:spAutoFit/>
          </a:bodyPr>
          <a:lstStyle/>
          <a:p>
            <a:pPr marL="366079" marR="5600" indent="-457200">
              <a:spcBef>
                <a:spcPts val="446"/>
              </a:spcBef>
              <a:buClr>
                <a:srgbClr val="C00000"/>
              </a:buClr>
              <a:buSzPct val="85416"/>
              <a:buFont typeface="Wingdings" panose="05000000000000000000" pitchFamily="2" charset="2"/>
              <a:buChar char="Ø"/>
              <a:tabLst>
                <a:tab pos="618765" algn="l"/>
              </a:tabLst>
            </a:pPr>
            <a:r>
              <a:rPr lang="en-US" sz="3200" dirty="0">
                <a:latin typeface="Times New Roman"/>
                <a:cs typeface="Times New Roman"/>
              </a:rPr>
              <a:t>Within an area, </a:t>
            </a:r>
            <a:r>
              <a:rPr lang="en-US" sz="3200" b="1" dirty="0">
                <a:solidFill>
                  <a:srgbClr val="FF0000"/>
                </a:solidFill>
                <a:latin typeface="Times New Roman"/>
                <a:cs typeface="Times New Roman"/>
              </a:rPr>
              <a:t>each router calculates the best/shortest path to every network in that same area</a:t>
            </a:r>
            <a:r>
              <a:rPr lang="en-US" sz="3200" dirty="0">
                <a:latin typeface="Times New Roman"/>
                <a:cs typeface="Times New Roman"/>
              </a:rPr>
              <a:t>. This calculation is based upon the information collected in the topology database and an algorithm called </a:t>
            </a:r>
            <a:r>
              <a:rPr lang="en-US" sz="3200" b="1" dirty="0">
                <a:solidFill>
                  <a:srgbClr val="FF0000"/>
                </a:solidFill>
                <a:latin typeface="Times New Roman"/>
                <a:cs typeface="Times New Roman"/>
              </a:rPr>
              <a:t>shortest path first</a:t>
            </a:r>
            <a:r>
              <a:rPr lang="en-US" sz="3200" dirty="0">
                <a:latin typeface="Times New Roman"/>
                <a:cs typeface="Times New Roman"/>
              </a:rPr>
              <a:t> (SPF).</a:t>
            </a:r>
          </a:p>
          <a:p>
            <a:pPr marL="366079" marR="5600" indent="-457200">
              <a:spcBef>
                <a:spcPts val="446"/>
              </a:spcBef>
              <a:buClr>
                <a:srgbClr val="C00000"/>
              </a:buClr>
              <a:buSzPct val="85416"/>
              <a:buFont typeface="Wingdings" panose="05000000000000000000" pitchFamily="2" charset="2"/>
              <a:buChar char="Ø"/>
              <a:tabLst>
                <a:tab pos="618765" algn="l"/>
              </a:tabLst>
            </a:pPr>
            <a:r>
              <a:rPr lang="en-US" sz="3200" dirty="0">
                <a:latin typeface="Times New Roman"/>
                <a:cs typeface="Times New Roman"/>
              </a:rPr>
              <a:t>Picture each router in an area constructing a tree. This is the shortest path tree used by the router to insert routes into the routing table.</a:t>
            </a:r>
          </a:p>
        </p:txBody>
      </p:sp>
    </p:spTree>
    <p:extLst>
      <p:ext uri="{BB962C8B-B14F-4D97-AF65-F5344CB8AC3E}">
        <p14:creationId xmlns:p14="http://schemas.microsoft.com/office/powerpoint/2010/main" val="395594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6464" y="-122555"/>
            <a:ext cx="7544716" cy="1235113"/>
          </a:xfrm>
          <a:prstGeom prst="rect">
            <a:avLst/>
          </a:prstGeom>
        </p:spPr>
        <p:txBody>
          <a:bodyPr vert="horz" wrap="square" lIns="0" tIns="551211" rIns="0" bIns="0" rtlCol="0" anchor="ctr">
            <a:spAutoFit/>
          </a:bodyPr>
          <a:lstStyle/>
          <a:p>
            <a:pPr marL="744058">
              <a:lnSpc>
                <a:spcPct val="100000"/>
              </a:lnSpc>
              <a:spcBef>
                <a:spcPts val="105"/>
              </a:spcBef>
            </a:pPr>
            <a:r>
              <a:rPr lang="en-US" sz="4409" dirty="0">
                <a:solidFill>
                  <a:schemeClr val="bg1"/>
                </a:solidFill>
              </a:rPr>
              <a:t>SPF Tree Calculation</a:t>
            </a:r>
            <a:endParaRPr sz="4409" dirty="0">
              <a:solidFill>
                <a:schemeClr val="bg1"/>
              </a:solidFill>
            </a:endParaRPr>
          </a:p>
        </p:txBody>
      </p:sp>
      <p:sp>
        <p:nvSpPr>
          <p:cNvPr id="3" name="object 3"/>
          <p:cNvSpPr txBox="1"/>
          <p:nvPr/>
        </p:nvSpPr>
        <p:spPr>
          <a:xfrm>
            <a:off x="103031" y="1621865"/>
            <a:ext cx="9977594" cy="4067878"/>
          </a:xfrm>
          <a:prstGeom prst="rect">
            <a:avLst/>
          </a:prstGeom>
        </p:spPr>
        <p:txBody>
          <a:bodyPr vert="horz" wrap="square" lIns="0" tIns="76297" rIns="0" bIns="0" rtlCol="0">
            <a:spAutoFit/>
          </a:bodyPr>
          <a:lstStyle/>
          <a:p>
            <a:pPr marL="366079" marR="5600" indent="-457200">
              <a:spcBef>
                <a:spcPts val="446"/>
              </a:spcBef>
              <a:buClr>
                <a:srgbClr val="C00000"/>
              </a:buClr>
              <a:buSzPct val="85416"/>
              <a:buFont typeface="Wingdings" panose="05000000000000000000" pitchFamily="2" charset="2"/>
              <a:buChar char="Ø"/>
              <a:tabLst>
                <a:tab pos="618765" algn="l"/>
              </a:tabLst>
            </a:pPr>
            <a:r>
              <a:rPr lang="en-US" sz="3200" dirty="0">
                <a:latin typeface="Times New Roman"/>
                <a:cs typeface="Times New Roman"/>
              </a:rPr>
              <a:t>Note that this tree contains only networks that exist in the same area as the router itself does. If a router has interfaces in multiple areas, then separate trees will be constructed for each area. </a:t>
            </a:r>
          </a:p>
          <a:p>
            <a:pPr marL="366079" marR="5600" indent="-457200">
              <a:spcBef>
                <a:spcPts val="446"/>
              </a:spcBef>
              <a:buClr>
                <a:srgbClr val="C00000"/>
              </a:buClr>
              <a:buSzPct val="85416"/>
              <a:buFont typeface="Wingdings" panose="05000000000000000000" pitchFamily="2" charset="2"/>
              <a:buChar char="Ø"/>
              <a:tabLst>
                <a:tab pos="618765" algn="l"/>
              </a:tabLst>
            </a:pPr>
            <a:r>
              <a:rPr lang="en-US" sz="3200" dirty="0">
                <a:latin typeface="Times New Roman"/>
                <a:cs typeface="Times New Roman"/>
              </a:rPr>
              <a:t>One of the key criteria considered during the route selection process of the SPF algorithm is the </a:t>
            </a:r>
            <a:r>
              <a:rPr lang="en-US" sz="3200" b="1" dirty="0">
                <a:solidFill>
                  <a:srgbClr val="FF0000"/>
                </a:solidFill>
                <a:latin typeface="Times New Roman"/>
                <a:cs typeface="Times New Roman"/>
              </a:rPr>
              <a:t>metric or cost of each potential path to a network</a:t>
            </a:r>
            <a:r>
              <a:rPr lang="en-US" sz="3200" dirty="0">
                <a:latin typeface="Times New Roman"/>
                <a:cs typeface="Times New Roman"/>
              </a:rPr>
              <a:t>. But this SPF calculation doesn’t apply to routes from other areas.</a:t>
            </a:r>
            <a:endParaRPr sz="32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6464" y="-122555"/>
            <a:ext cx="7544716" cy="1235113"/>
          </a:xfrm>
          <a:prstGeom prst="rect">
            <a:avLst/>
          </a:prstGeom>
        </p:spPr>
        <p:txBody>
          <a:bodyPr vert="horz" wrap="square" lIns="0" tIns="551211" rIns="0" bIns="0" rtlCol="0" anchor="ctr">
            <a:spAutoFit/>
          </a:bodyPr>
          <a:lstStyle/>
          <a:p>
            <a:pPr marL="744058">
              <a:lnSpc>
                <a:spcPct val="100000"/>
              </a:lnSpc>
              <a:spcBef>
                <a:spcPts val="105"/>
              </a:spcBef>
            </a:pPr>
            <a:r>
              <a:rPr lang="en-US" sz="4409" dirty="0">
                <a:solidFill>
                  <a:schemeClr val="bg1"/>
                </a:solidFill>
              </a:rPr>
              <a:t>SPF Tree Calculation</a:t>
            </a:r>
            <a:endParaRPr sz="4409" dirty="0">
              <a:solidFill>
                <a:schemeClr val="bg1"/>
              </a:solidFill>
            </a:endParaRPr>
          </a:p>
        </p:txBody>
      </p:sp>
      <mc:AlternateContent xmlns:mc="http://schemas.openxmlformats.org/markup-compatibility/2006" xmlns:a14="http://schemas.microsoft.com/office/drawing/2010/main">
        <mc:Choice Requires="a14">
          <p:sp>
            <p:nvSpPr>
              <p:cNvPr id="3" name="object 3"/>
              <p:cNvSpPr txBox="1"/>
              <p:nvPr/>
            </p:nvSpPr>
            <p:spPr>
              <a:xfrm>
                <a:off x="103031" y="1621865"/>
                <a:ext cx="9977594" cy="5477623"/>
              </a:xfrm>
              <a:prstGeom prst="rect">
                <a:avLst/>
              </a:prstGeom>
            </p:spPr>
            <p:txBody>
              <a:bodyPr vert="horz" wrap="square" lIns="0" tIns="76297" rIns="0" bIns="0" rtlCol="0">
                <a:spAutoFit/>
              </a:bodyPr>
              <a:lstStyle/>
              <a:p>
                <a:pPr marL="366079" marR="5600" indent="-457200">
                  <a:spcBef>
                    <a:spcPts val="446"/>
                  </a:spcBef>
                  <a:buClr>
                    <a:srgbClr val="C00000"/>
                  </a:buClr>
                  <a:buSzPct val="85416"/>
                  <a:buFont typeface="Wingdings" panose="05000000000000000000" pitchFamily="2" charset="2"/>
                  <a:buChar char="Ø"/>
                  <a:tabLst>
                    <a:tab pos="618765" algn="l"/>
                  </a:tabLst>
                </a:pPr>
                <a:r>
                  <a:rPr lang="en-US" sz="3200" dirty="0">
                    <a:latin typeface="Times New Roman"/>
                    <a:cs typeface="Times New Roman"/>
                  </a:rPr>
                  <a:t>OSPF uses a metric referred to as cost. A cost is associated with </a:t>
                </a:r>
                <a:r>
                  <a:rPr lang="en-US" sz="3200" b="1" dirty="0">
                    <a:solidFill>
                      <a:srgbClr val="FF0000"/>
                    </a:solidFill>
                    <a:latin typeface="Times New Roman"/>
                    <a:cs typeface="Times New Roman"/>
                  </a:rPr>
                  <a:t>every outgoing interface</a:t>
                </a:r>
                <a:r>
                  <a:rPr lang="en-US" sz="3200" dirty="0">
                    <a:latin typeface="Times New Roman"/>
                    <a:cs typeface="Times New Roman"/>
                  </a:rPr>
                  <a:t> included in an </a:t>
                </a:r>
                <a:r>
                  <a:rPr lang="en-US" sz="3200" b="1" dirty="0">
                    <a:solidFill>
                      <a:srgbClr val="FF0000"/>
                    </a:solidFill>
                    <a:latin typeface="Times New Roman"/>
                    <a:cs typeface="Times New Roman"/>
                  </a:rPr>
                  <a:t>SPF tree</a:t>
                </a:r>
                <a:r>
                  <a:rPr lang="en-US" sz="3200" dirty="0">
                    <a:latin typeface="Times New Roman"/>
                    <a:cs typeface="Times New Roman"/>
                  </a:rPr>
                  <a:t>. The cost of the entire path is the sum of costs of the outgoing interfaces along the path. Because cost is an arbitrary value as defined in RFC 2338.</a:t>
                </a:r>
              </a:p>
              <a:p>
                <a:pPr marL="366079" marR="5600" indent="-457200">
                  <a:spcBef>
                    <a:spcPts val="446"/>
                  </a:spcBef>
                  <a:buClr>
                    <a:srgbClr val="C00000"/>
                  </a:buClr>
                  <a:buSzPct val="85416"/>
                  <a:buFont typeface="Wingdings" panose="05000000000000000000" pitchFamily="2" charset="2"/>
                  <a:buChar char="Ø"/>
                  <a:tabLst>
                    <a:tab pos="618765" algn="l"/>
                  </a:tabLst>
                </a:pPr>
                <a:r>
                  <a:rPr lang="en-US" sz="3200" dirty="0">
                    <a:latin typeface="Times New Roman"/>
                    <a:cs typeface="Times New Roman"/>
                  </a:rPr>
                  <a:t>Cisco had to implement its own method of calculating the cost for each OSPF-enabled interface. Cisco uses a simple equation of:-</a:t>
                </a:r>
              </a:p>
              <a:p>
                <a:pPr marL="2652079" marR="5600" lvl="6">
                  <a:spcBef>
                    <a:spcPts val="446"/>
                  </a:spcBef>
                  <a:buClr>
                    <a:srgbClr val="C00000"/>
                  </a:buClr>
                  <a:buSzPct val="85416"/>
                  <a:tabLst>
                    <a:tab pos="618765" algn="l"/>
                  </a:tabLst>
                </a:pPr>
                <a14:m>
                  <m:oMathPara xmlns:m="http://schemas.openxmlformats.org/officeDocument/2006/math">
                    <m:oMathParaPr>
                      <m:jc m:val="centerGroup"/>
                    </m:oMathParaPr>
                    <m:oMath xmlns:m="http://schemas.openxmlformats.org/officeDocument/2006/math">
                      <m:r>
                        <a:rPr lang="en-US" sz="3200" b="1" i="1" dirty="0" smtClean="0">
                          <a:latin typeface="Cambria Math" panose="02040503050406030204" pitchFamily="18" charset="0"/>
                          <a:cs typeface="Times New Roman"/>
                        </a:rPr>
                        <m:t>	</m:t>
                      </m:r>
                      <m:r>
                        <a:rPr lang="en-US" sz="3200" b="1" i="1" dirty="0" smtClean="0">
                          <a:solidFill>
                            <a:srgbClr val="FF0000"/>
                          </a:solidFill>
                          <a:latin typeface="Cambria Math" panose="02040503050406030204" pitchFamily="18" charset="0"/>
                          <a:cs typeface="Times New Roman"/>
                        </a:rPr>
                        <m:t>𝒄𝒐𝒔𝒕</m:t>
                      </m:r>
                      <m:r>
                        <a:rPr lang="en-US" sz="3200" b="1" i="1" dirty="0" smtClean="0">
                          <a:solidFill>
                            <a:srgbClr val="FF0000"/>
                          </a:solidFill>
                          <a:latin typeface="Cambria Math" panose="02040503050406030204" pitchFamily="18" charset="0"/>
                          <a:cs typeface="Times New Roman"/>
                        </a:rPr>
                        <m:t>=</m:t>
                      </m:r>
                      <m:f>
                        <m:fPr>
                          <m:type m:val="skw"/>
                          <m:ctrlPr>
                            <a:rPr lang="en-US" sz="3200" b="1" i="1" dirty="0" smtClean="0">
                              <a:solidFill>
                                <a:srgbClr val="FF0000"/>
                              </a:solidFill>
                              <a:latin typeface="Cambria Math" panose="02040503050406030204" pitchFamily="18" charset="0"/>
                              <a:cs typeface="Times New Roman"/>
                            </a:rPr>
                          </m:ctrlPr>
                        </m:fPr>
                        <m:num>
                          <m:sSup>
                            <m:sSupPr>
                              <m:ctrlPr>
                                <a:rPr lang="en-US" sz="3200" b="1" i="1" dirty="0" smtClean="0">
                                  <a:solidFill>
                                    <a:srgbClr val="FF0000"/>
                                  </a:solidFill>
                                  <a:latin typeface="Cambria Math" panose="02040503050406030204" pitchFamily="18" charset="0"/>
                                  <a:cs typeface="Times New Roman"/>
                                </a:rPr>
                              </m:ctrlPr>
                            </m:sSupPr>
                            <m:e>
                              <m:r>
                                <a:rPr lang="en-US" sz="3200" b="1" i="1" dirty="0" smtClean="0">
                                  <a:solidFill>
                                    <a:srgbClr val="FF0000"/>
                                  </a:solidFill>
                                  <a:latin typeface="Cambria Math" panose="02040503050406030204" pitchFamily="18" charset="0"/>
                                  <a:cs typeface="Times New Roman"/>
                                </a:rPr>
                                <m:t>𝟏𝟎</m:t>
                              </m:r>
                            </m:e>
                            <m:sup>
                              <m:r>
                                <a:rPr lang="en-US" sz="3200" b="1" i="1" dirty="0" smtClean="0">
                                  <a:solidFill>
                                    <a:srgbClr val="FF0000"/>
                                  </a:solidFill>
                                  <a:latin typeface="Cambria Math" panose="02040503050406030204" pitchFamily="18" charset="0"/>
                                  <a:cs typeface="Times New Roman"/>
                                </a:rPr>
                                <m:t>𝟖</m:t>
                              </m:r>
                            </m:sup>
                          </m:sSup>
                        </m:num>
                        <m:den>
                          <m:r>
                            <a:rPr lang="en-US" sz="3200" b="1" i="1" dirty="0" smtClean="0">
                              <a:solidFill>
                                <a:srgbClr val="FF0000"/>
                              </a:solidFill>
                              <a:latin typeface="Cambria Math" panose="02040503050406030204" pitchFamily="18" charset="0"/>
                              <a:cs typeface="Times New Roman"/>
                            </a:rPr>
                            <m:t>𝑩𝒂𝒏𝒅𝒘𝒊𝒅𝒕𝒉</m:t>
                          </m:r>
                        </m:den>
                      </m:f>
                    </m:oMath>
                  </m:oMathPara>
                </a14:m>
                <a:endParaRPr lang="en-US" sz="3200" b="1" dirty="0">
                  <a:latin typeface="Times New Roman"/>
                  <a:cs typeface="Times New Roman"/>
                </a:endParaRPr>
              </a:p>
              <a:p>
                <a:pPr marL="366079" marR="5600" indent="-457200">
                  <a:spcBef>
                    <a:spcPts val="446"/>
                  </a:spcBef>
                  <a:buClr>
                    <a:srgbClr val="C00000"/>
                  </a:buClr>
                  <a:buSzPct val="85416"/>
                  <a:buFont typeface="Wingdings" panose="05000000000000000000" pitchFamily="2" charset="2"/>
                  <a:buChar char="Ø"/>
                  <a:tabLst>
                    <a:tab pos="618765" algn="l"/>
                  </a:tabLst>
                </a:pPr>
                <a:endParaRPr sz="3200" dirty="0">
                  <a:latin typeface="Times New Roman"/>
                  <a:cs typeface="Times New Roman"/>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03031" y="1621865"/>
                <a:ext cx="9977594" cy="5477623"/>
              </a:xfrm>
              <a:prstGeom prst="rect">
                <a:avLst/>
              </a:prstGeom>
              <a:blipFill>
                <a:blip r:embed="rId2"/>
                <a:stretch>
                  <a:fillRect l="-1955" t="-1001" r="-2321"/>
                </a:stretch>
              </a:blipFill>
            </p:spPr>
            <p:txBody>
              <a:bodyPr/>
              <a:lstStyle/>
              <a:p>
                <a:r>
                  <a:rPr lang="en-US">
                    <a:noFill/>
                  </a:rPr>
                  <a:t> </a:t>
                </a:r>
              </a:p>
            </p:txBody>
          </p:sp>
        </mc:Fallback>
      </mc:AlternateContent>
    </p:spTree>
    <p:extLst>
      <p:ext uri="{BB962C8B-B14F-4D97-AF65-F5344CB8AC3E}">
        <p14:creationId xmlns:p14="http://schemas.microsoft.com/office/powerpoint/2010/main" val="2068145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0455" y="1536432"/>
            <a:ext cx="9810169" cy="5047210"/>
          </a:xfrm>
          <a:prstGeom prst="rect">
            <a:avLst/>
          </a:prstGeom>
        </p:spPr>
        <p:txBody>
          <a:bodyPr vert="horz" wrap="square" lIns="0" tIns="58098" rIns="0" bIns="0" rtlCol="0">
            <a:spAutoFit/>
          </a:bodyPr>
          <a:lstStyle/>
          <a:p>
            <a:pPr marL="528349" indent="-514350">
              <a:spcBef>
                <a:spcPts val="457"/>
              </a:spcBef>
              <a:buClr>
                <a:srgbClr val="D24717"/>
              </a:buClr>
              <a:buSzPct val="85416"/>
              <a:buFont typeface="Wingdings" panose="05000000000000000000" pitchFamily="2" charset="2"/>
              <a:buChar char="Ø"/>
              <a:tabLst>
                <a:tab pos="316382" algn="l"/>
              </a:tabLst>
            </a:pPr>
            <a:r>
              <a:rPr lang="en-US" sz="3200" dirty="0">
                <a:latin typeface="Times New Roman"/>
                <a:cs typeface="Times New Roman"/>
              </a:rPr>
              <a:t>The </a:t>
            </a:r>
            <a:r>
              <a:rPr lang="en-US" sz="3200" b="1" dirty="0">
                <a:solidFill>
                  <a:srgbClr val="FF0000"/>
                </a:solidFill>
                <a:latin typeface="Times New Roman"/>
                <a:cs typeface="Times New Roman"/>
              </a:rPr>
              <a:t>bandwidth</a:t>
            </a:r>
            <a:r>
              <a:rPr lang="en-US" sz="3200" dirty="0">
                <a:latin typeface="Times New Roman"/>
                <a:cs typeface="Times New Roman"/>
              </a:rPr>
              <a:t> is the configured bandwidth for the </a:t>
            </a:r>
            <a:r>
              <a:rPr lang="en-US" sz="3200" b="1" dirty="0">
                <a:solidFill>
                  <a:srgbClr val="FF0000"/>
                </a:solidFill>
                <a:latin typeface="Times New Roman"/>
                <a:cs typeface="Times New Roman"/>
              </a:rPr>
              <a:t>interface</a:t>
            </a:r>
            <a:r>
              <a:rPr lang="en-US" sz="3200" dirty="0">
                <a:latin typeface="Times New Roman"/>
                <a:cs typeface="Times New Roman"/>
              </a:rPr>
              <a:t>. Using this rule, a 100Mbps Fast Ethernet interface would have a default OSPF cost of 1 and a 10Mbps Ethernet interface would have a cost of 10.</a:t>
            </a:r>
          </a:p>
          <a:p>
            <a:pPr marL="528349" indent="-514350">
              <a:spcBef>
                <a:spcPts val="457"/>
              </a:spcBef>
              <a:buClr>
                <a:srgbClr val="D24717"/>
              </a:buClr>
              <a:buSzPct val="85416"/>
              <a:buFont typeface="Wingdings" panose="05000000000000000000" pitchFamily="2" charset="2"/>
              <a:buChar char="Ø"/>
              <a:tabLst>
                <a:tab pos="316382" algn="l"/>
              </a:tabLst>
            </a:pPr>
            <a:r>
              <a:rPr lang="en-US" sz="3200" dirty="0">
                <a:latin typeface="Times New Roman"/>
                <a:cs typeface="Times New Roman"/>
              </a:rPr>
              <a:t>This value may be overridden by using the </a:t>
            </a:r>
            <a:r>
              <a:rPr lang="en-US" sz="3200" b="1" dirty="0" err="1">
                <a:solidFill>
                  <a:srgbClr val="FF0000"/>
                </a:solidFill>
                <a:latin typeface="Times New Roman"/>
                <a:cs typeface="Times New Roman"/>
              </a:rPr>
              <a:t>ip</a:t>
            </a:r>
            <a:r>
              <a:rPr lang="en-US" sz="3200" b="1" dirty="0">
                <a:solidFill>
                  <a:srgbClr val="FF0000"/>
                </a:solidFill>
                <a:latin typeface="Times New Roman"/>
                <a:cs typeface="Times New Roman"/>
              </a:rPr>
              <a:t> </a:t>
            </a:r>
            <a:r>
              <a:rPr lang="en-US" sz="3200" b="1" dirty="0" err="1">
                <a:solidFill>
                  <a:srgbClr val="FF0000"/>
                </a:solidFill>
                <a:latin typeface="Times New Roman"/>
                <a:cs typeface="Times New Roman"/>
              </a:rPr>
              <a:t>ospf</a:t>
            </a:r>
            <a:r>
              <a:rPr lang="en-US" sz="3200" b="1" dirty="0">
                <a:solidFill>
                  <a:srgbClr val="FF0000"/>
                </a:solidFill>
                <a:latin typeface="Times New Roman"/>
                <a:cs typeface="Times New Roman"/>
              </a:rPr>
              <a:t> cost command</a:t>
            </a:r>
            <a:r>
              <a:rPr lang="en-US" sz="3200" dirty="0">
                <a:latin typeface="Times New Roman"/>
                <a:cs typeface="Times New Roman"/>
              </a:rPr>
              <a:t>. The cost is manipulated by changing the value to a number within the range </a:t>
            </a:r>
            <a:r>
              <a:rPr lang="en-US" sz="3200" b="1" dirty="0">
                <a:solidFill>
                  <a:srgbClr val="FF0000"/>
                </a:solidFill>
                <a:latin typeface="Times New Roman"/>
                <a:cs typeface="Times New Roman"/>
              </a:rPr>
              <a:t>of 1 to 65,535</a:t>
            </a:r>
            <a:r>
              <a:rPr lang="en-US" sz="3200" dirty="0">
                <a:latin typeface="Times New Roman"/>
                <a:cs typeface="Times New Roman"/>
              </a:rPr>
              <a:t>. Because the cost is assigned to each link, the value must be changed on the same interface that you want to change the cost on.</a:t>
            </a:r>
            <a:endParaRPr sz="3200" dirty="0">
              <a:latin typeface="Times New Roman"/>
              <a:cs typeface="Times New Roman"/>
            </a:endParaRPr>
          </a:p>
        </p:txBody>
      </p:sp>
      <p:sp>
        <p:nvSpPr>
          <p:cNvPr id="6" name="object 2">
            <a:extLst>
              <a:ext uri="{FF2B5EF4-FFF2-40B4-BE49-F238E27FC236}">
                <a16:creationId xmlns:a16="http://schemas.microsoft.com/office/drawing/2014/main" id="{666DA762-5C59-4529-AEF0-31FC2E6F818A}"/>
              </a:ext>
            </a:extLst>
          </p:cNvPr>
          <p:cNvSpPr txBox="1">
            <a:spLocks noGrp="1"/>
          </p:cNvSpPr>
          <p:nvPr>
            <p:ph type="title"/>
          </p:nvPr>
        </p:nvSpPr>
        <p:spPr>
          <a:xfrm>
            <a:off x="974949" y="0"/>
            <a:ext cx="7544716" cy="1235113"/>
          </a:xfrm>
          <a:prstGeom prst="rect">
            <a:avLst/>
          </a:prstGeom>
        </p:spPr>
        <p:txBody>
          <a:bodyPr vert="horz" wrap="square" lIns="0" tIns="551211" rIns="0" bIns="0" rtlCol="0" anchor="ctr">
            <a:spAutoFit/>
          </a:bodyPr>
          <a:lstStyle/>
          <a:p>
            <a:pPr marL="744058">
              <a:lnSpc>
                <a:spcPct val="100000"/>
              </a:lnSpc>
              <a:spcBef>
                <a:spcPts val="105"/>
              </a:spcBef>
            </a:pPr>
            <a:r>
              <a:rPr lang="en-US" sz="4409" dirty="0">
                <a:solidFill>
                  <a:schemeClr val="bg1"/>
                </a:solidFill>
              </a:rPr>
              <a:t>SPF Tree Calculation</a:t>
            </a:r>
            <a:endParaRPr sz="4409"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8886" y="484246"/>
            <a:ext cx="8102851"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Configuring OSPF</a:t>
            </a:r>
            <a:endParaRPr sz="4409" dirty="0">
              <a:solidFill>
                <a:schemeClr val="bg1"/>
              </a:solidFill>
            </a:endParaRPr>
          </a:p>
        </p:txBody>
      </p:sp>
      <p:sp>
        <p:nvSpPr>
          <p:cNvPr id="3" name="object 3"/>
          <p:cNvSpPr txBox="1"/>
          <p:nvPr/>
        </p:nvSpPr>
        <p:spPr>
          <a:xfrm>
            <a:off x="0" y="1536431"/>
            <a:ext cx="10187189" cy="3956419"/>
          </a:xfrm>
          <a:prstGeom prst="rect">
            <a:avLst/>
          </a:prstGeom>
        </p:spPr>
        <p:txBody>
          <a:bodyPr vert="horz" wrap="square" lIns="0" tIns="97996" rIns="0" bIns="0" rtlCol="0">
            <a:spAutoFit/>
          </a:bodyPr>
          <a:lstStyle/>
          <a:p>
            <a:pPr marL="471199" indent="-457200">
              <a:spcBef>
                <a:spcPts val="772"/>
              </a:spcBef>
              <a:buClr>
                <a:srgbClr val="C00000"/>
              </a:buClr>
              <a:buSzPct val="85416"/>
              <a:buFont typeface="Wingdings" panose="05000000000000000000" pitchFamily="2" charset="2"/>
              <a:buChar char="Ø"/>
              <a:tabLst>
                <a:tab pos="315682" algn="l"/>
              </a:tabLst>
            </a:pPr>
            <a:r>
              <a:rPr lang="en-US" sz="3200" dirty="0">
                <a:latin typeface="Times New Roman"/>
                <a:cs typeface="Times New Roman"/>
              </a:rPr>
              <a:t>Configuring basic OSPF isn’t as simple as RIP, IGRP, and EIGRP, and it can get really complex once the many options that are allowed within OSPF are factored in.</a:t>
            </a:r>
          </a:p>
          <a:p>
            <a:pPr marL="471199" indent="-457200">
              <a:spcBef>
                <a:spcPts val="772"/>
              </a:spcBef>
              <a:buClr>
                <a:srgbClr val="C00000"/>
              </a:buClr>
              <a:buSzPct val="85416"/>
              <a:buFont typeface="Wingdings" panose="05000000000000000000" pitchFamily="2" charset="2"/>
              <a:buChar char="Ø"/>
              <a:tabLst>
                <a:tab pos="315682" algn="l"/>
              </a:tabLst>
            </a:pPr>
            <a:r>
              <a:rPr lang="en-US" sz="3200" dirty="0">
                <a:latin typeface="Times New Roman"/>
                <a:cs typeface="Times New Roman"/>
              </a:rPr>
              <a:t>There two basic elements of OSPF configuration</a:t>
            </a:r>
          </a:p>
          <a:p>
            <a:pPr marL="1385599" lvl="2" indent="-457200">
              <a:spcBef>
                <a:spcPts val="772"/>
              </a:spcBef>
              <a:buClr>
                <a:srgbClr val="C00000"/>
              </a:buClr>
              <a:buSzPct val="85416"/>
              <a:buFont typeface="Wingdings" panose="05000000000000000000" pitchFamily="2" charset="2"/>
              <a:buChar char="ü"/>
              <a:tabLst>
                <a:tab pos="315682" algn="l"/>
              </a:tabLst>
            </a:pPr>
            <a:r>
              <a:rPr lang="en-US" sz="3200" b="1" dirty="0">
                <a:solidFill>
                  <a:srgbClr val="FF0000"/>
                </a:solidFill>
                <a:latin typeface="Times New Roman"/>
                <a:cs typeface="Times New Roman"/>
              </a:rPr>
              <a:t>Enabling OSPF</a:t>
            </a:r>
          </a:p>
          <a:p>
            <a:pPr marL="1385599" lvl="2" indent="-457200">
              <a:spcBef>
                <a:spcPts val="772"/>
              </a:spcBef>
              <a:buClr>
                <a:srgbClr val="C00000"/>
              </a:buClr>
              <a:buSzPct val="85416"/>
              <a:buFont typeface="Wingdings" panose="05000000000000000000" pitchFamily="2" charset="2"/>
              <a:buChar char="ü"/>
              <a:tabLst>
                <a:tab pos="315682" algn="l"/>
              </a:tabLst>
            </a:pPr>
            <a:r>
              <a:rPr lang="en-US" sz="3200" b="1" dirty="0">
                <a:solidFill>
                  <a:srgbClr val="FF0000"/>
                </a:solidFill>
                <a:latin typeface="Times New Roman"/>
                <a:cs typeface="Times New Roman"/>
              </a:rPr>
              <a:t>Configuring OSPF areas</a:t>
            </a:r>
          </a:p>
          <a:p>
            <a:pPr marL="471199" indent="-457200">
              <a:spcBef>
                <a:spcPts val="772"/>
              </a:spcBef>
              <a:buClr>
                <a:srgbClr val="C00000"/>
              </a:buClr>
              <a:buSzPct val="85416"/>
              <a:buFont typeface="Wingdings" panose="05000000000000000000" pitchFamily="2" charset="2"/>
              <a:buChar char="Ø"/>
              <a:tabLst>
                <a:tab pos="315682" algn="l"/>
              </a:tabLst>
            </a:pPr>
            <a:endParaRPr sz="3200"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8886" y="484246"/>
            <a:ext cx="8102851"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Configuring OSPF</a:t>
            </a:r>
            <a:endParaRPr sz="4409" dirty="0">
              <a:solidFill>
                <a:schemeClr val="bg1"/>
              </a:solidFill>
            </a:endParaRPr>
          </a:p>
        </p:txBody>
      </p:sp>
      <p:sp>
        <p:nvSpPr>
          <p:cNvPr id="3" name="object 3"/>
          <p:cNvSpPr txBox="1"/>
          <p:nvPr/>
        </p:nvSpPr>
        <p:spPr>
          <a:xfrm>
            <a:off x="0" y="1536431"/>
            <a:ext cx="10187189" cy="5433747"/>
          </a:xfrm>
          <a:prstGeom prst="rect">
            <a:avLst/>
          </a:prstGeom>
        </p:spPr>
        <p:txBody>
          <a:bodyPr vert="horz" wrap="square" lIns="0" tIns="97996" rIns="0" bIns="0" rtlCol="0">
            <a:spAutoFit/>
          </a:bodyPr>
          <a:lstStyle/>
          <a:p>
            <a:pPr marL="471199" indent="-457200">
              <a:spcBef>
                <a:spcPts val="772"/>
              </a:spcBef>
              <a:buClr>
                <a:srgbClr val="C00000"/>
              </a:buClr>
              <a:buSzPct val="85416"/>
              <a:buFont typeface="Wingdings" panose="05000000000000000000" pitchFamily="2" charset="2"/>
              <a:buChar char="Ø"/>
              <a:tabLst>
                <a:tab pos="315682" algn="l"/>
              </a:tabLst>
            </a:pPr>
            <a:r>
              <a:rPr lang="en-US" sz="3200" b="1" dirty="0">
                <a:solidFill>
                  <a:srgbClr val="FF0000"/>
                </a:solidFill>
                <a:latin typeface="Times New Roman"/>
                <a:cs typeface="Times New Roman"/>
              </a:rPr>
              <a:t>Enabling OSPF</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200" dirty="0">
                <a:latin typeface="Times New Roman"/>
                <a:cs typeface="Times New Roman"/>
              </a:rPr>
              <a:t>The command you use to activate the OSPF routing process is:</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200" dirty="0" err="1">
                <a:latin typeface="Times New Roman"/>
                <a:cs typeface="Times New Roman"/>
              </a:rPr>
              <a:t>Lab_A</a:t>
            </a:r>
            <a:r>
              <a:rPr lang="en-US" sz="3200" dirty="0">
                <a:latin typeface="Times New Roman"/>
                <a:cs typeface="Times New Roman"/>
              </a:rPr>
              <a:t>(config)#router </a:t>
            </a:r>
            <a:r>
              <a:rPr lang="en-US" sz="3200" dirty="0" err="1">
                <a:latin typeface="Times New Roman"/>
                <a:cs typeface="Times New Roman"/>
              </a:rPr>
              <a:t>ospf</a:t>
            </a:r>
            <a:r>
              <a:rPr lang="en-US" sz="3200" dirty="0">
                <a:latin typeface="Times New Roman"/>
                <a:cs typeface="Times New Roman"/>
              </a:rPr>
              <a:t> ?</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200" dirty="0">
                <a:latin typeface="Times New Roman"/>
                <a:cs typeface="Times New Roman"/>
              </a:rPr>
              <a:t>&lt;1-65535&gt;</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200" dirty="0">
                <a:latin typeface="Times New Roman"/>
                <a:cs typeface="Times New Roman"/>
              </a:rPr>
              <a:t>A value in the range 1–65,535 identifies the </a:t>
            </a:r>
            <a:r>
              <a:rPr lang="en-US" sz="3200" b="1" dirty="0">
                <a:solidFill>
                  <a:srgbClr val="FF0000"/>
                </a:solidFill>
                <a:latin typeface="Times New Roman"/>
                <a:cs typeface="Times New Roman"/>
              </a:rPr>
              <a:t>OSPF Process ID</a:t>
            </a:r>
            <a:r>
              <a:rPr lang="en-US" sz="3200" dirty="0">
                <a:latin typeface="Times New Roman"/>
                <a:cs typeface="Times New Roman"/>
              </a:rPr>
              <a:t>. Different OSPF routers don’t have to use the same Process ID in order to communicate. It’s purely a local value that essentially has little meaning, but it </a:t>
            </a:r>
            <a:r>
              <a:rPr lang="en-US" sz="3200" b="1" dirty="0">
                <a:solidFill>
                  <a:srgbClr val="FF0000"/>
                </a:solidFill>
                <a:latin typeface="Times New Roman"/>
                <a:cs typeface="Times New Roman"/>
              </a:rPr>
              <a:t>cannot start at 0</a:t>
            </a:r>
            <a:r>
              <a:rPr lang="en-US" sz="3200" dirty="0">
                <a:latin typeface="Times New Roman"/>
                <a:cs typeface="Times New Roman"/>
              </a:rPr>
              <a:t>, it has to start at a </a:t>
            </a:r>
            <a:r>
              <a:rPr lang="en-US" sz="3200" b="1" dirty="0">
                <a:solidFill>
                  <a:srgbClr val="FF0000"/>
                </a:solidFill>
                <a:latin typeface="Times New Roman"/>
                <a:cs typeface="Times New Roman"/>
              </a:rPr>
              <a:t>minimum of 1</a:t>
            </a:r>
            <a:r>
              <a:rPr lang="en-US" sz="3200" dirty="0">
                <a:latin typeface="Times New Roman"/>
                <a:cs typeface="Times New Roman"/>
              </a:rPr>
              <a:t>.</a:t>
            </a:r>
            <a:endParaRPr sz="3200" dirty="0">
              <a:latin typeface="Times New Roman"/>
              <a:cs typeface="Times New Roman"/>
            </a:endParaRPr>
          </a:p>
        </p:txBody>
      </p:sp>
    </p:spTree>
    <p:extLst>
      <p:ext uri="{BB962C8B-B14F-4D97-AF65-F5344CB8AC3E}">
        <p14:creationId xmlns:p14="http://schemas.microsoft.com/office/powerpoint/2010/main" val="1931371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8886" y="484246"/>
            <a:ext cx="8102851"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Configuring OSPF</a:t>
            </a:r>
            <a:endParaRPr sz="4409" dirty="0">
              <a:solidFill>
                <a:schemeClr val="bg1"/>
              </a:solidFill>
            </a:endParaRPr>
          </a:p>
        </p:txBody>
      </p:sp>
      <p:sp>
        <p:nvSpPr>
          <p:cNvPr id="3" name="object 3"/>
          <p:cNvSpPr txBox="1"/>
          <p:nvPr/>
        </p:nvSpPr>
        <p:spPr>
          <a:xfrm>
            <a:off x="0" y="1536431"/>
            <a:ext cx="10187189" cy="4141085"/>
          </a:xfrm>
          <a:prstGeom prst="rect">
            <a:avLst/>
          </a:prstGeom>
        </p:spPr>
        <p:txBody>
          <a:bodyPr vert="horz" wrap="square" lIns="0" tIns="97996" rIns="0" bIns="0" rtlCol="0">
            <a:spAutoFit/>
          </a:bodyPr>
          <a:lstStyle/>
          <a:p>
            <a:pPr marL="471199" indent="-457200">
              <a:spcBef>
                <a:spcPts val="772"/>
              </a:spcBef>
              <a:buClr>
                <a:srgbClr val="C00000"/>
              </a:buClr>
              <a:buSzPct val="85416"/>
              <a:buFont typeface="Wingdings" panose="05000000000000000000" pitchFamily="2" charset="2"/>
              <a:buChar char="Ø"/>
              <a:tabLst>
                <a:tab pos="315682" algn="l"/>
              </a:tabLst>
            </a:pPr>
            <a:r>
              <a:rPr lang="en-US" sz="3200" b="1" dirty="0">
                <a:solidFill>
                  <a:srgbClr val="FF0000"/>
                </a:solidFill>
                <a:latin typeface="Times New Roman"/>
                <a:cs typeface="Times New Roman"/>
              </a:rPr>
              <a:t>Configuring OSPF Areas</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200" dirty="0">
                <a:latin typeface="Times New Roman"/>
                <a:cs typeface="Times New Roman"/>
              </a:rPr>
              <a:t>After identifying the OSPF process, you need to identify the interfaces that you want to activate OSPF communications on, as well as the area in which each resides. This will also configure the networks you’re going to advertise to others. OSPF uses wildcards in the configuration; Here’s an OSPF basic configuration example;</a:t>
            </a:r>
            <a:endParaRPr sz="3200" dirty="0">
              <a:latin typeface="Times New Roman"/>
              <a:cs typeface="Times New Roman"/>
            </a:endParaRPr>
          </a:p>
        </p:txBody>
      </p:sp>
    </p:spTree>
    <p:extLst>
      <p:ext uri="{BB962C8B-B14F-4D97-AF65-F5344CB8AC3E}">
        <p14:creationId xmlns:p14="http://schemas.microsoft.com/office/powerpoint/2010/main" val="4153248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8886" y="484246"/>
            <a:ext cx="8102851"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Configuring OSPF</a:t>
            </a:r>
            <a:endParaRPr sz="4409" dirty="0">
              <a:solidFill>
                <a:schemeClr val="bg1"/>
              </a:solidFill>
            </a:endParaRPr>
          </a:p>
        </p:txBody>
      </p:sp>
      <p:sp>
        <p:nvSpPr>
          <p:cNvPr id="3" name="object 3"/>
          <p:cNvSpPr txBox="1"/>
          <p:nvPr/>
        </p:nvSpPr>
        <p:spPr>
          <a:xfrm>
            <a:off x="0" y="1536431"/>
            <a:ext cx="10187189" cy="5495302"/>
          </a:xfrm>
          <a:prstGeom prst="rect">
            <a:avLst/>
          </a:prstGeom>
        </p:spPr>
        <p:txBody>
          <a:bodyPr vert="horz" wrap="square" lIns="0" tIns="97996" rIns="0" bIns="0" rtlCol="0">
            <a:spAutoFit/>
          </a:bodyPr>
          <a:lstStyle/>
          <a:p>
            <a:pPr marL="471199" indent="-457200">
              <a:spcBef>
                <a:spcPts val="772"/>
              </a:spcBef>
              <a:buClr>
                <a:srgbClr val="C00000"/>
              </a:buClr>
              <a:buSzPct val="85416"/>
              <a:buFont typeface="Wingdings" panose="05000000000000000000" pitchFamily="2" charset="2"/>
              <a:buChar char="Ø"/>
              <a:tabLst>
                <a:tab pos="315682" algn="l"/>
              </a:tabLst>
            </a:pPr>
            <a:r>
              <a:rPr lang="en-US" sz="3200" b="1" dirty="0">
                <a:solidFill>
                  <a:srgbClr val="FF0000"/>
                </a:solidFill>
                <a:latin typeface="Times New Roman"/>
                <a:cs typeface="Times New Roman"/>
              </a:rPr>
              <a:t>Configuring OSPF Areas</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200" dirty="0">
                <a:latin typeface="Times New Roman"/>
                <a:cs typeface="Times New Roman"/>
              </a:rPr>
              <a:t>Here’s an OSPF basic configuration example;</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000" dirty="0" err="1">
                <a:latin typeface="Times New Roman"/>
                <a:cs typeface="Times New Roman"/>
              </a:rPr>
              <a:t>Lab_A#config</a:t>
            </a:r>
            <a:r>
              <a:rPr lang="en-US" sz="3000" dirty="0">
                <a:latin typeface="Times New Roman"/>
                <a:cs typeface="Times New Roman"/>
              </a:rPr>
              <a:t> t</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000" dirty="0" err="1">
                <a:latin typeface="Times New Roman"/>
                <a:cs typeface="Times New Roman"/>
              </a:rPr>
              <a:t>Lab_A</a:t>
            </a:r>
            <a:r>
              <a:rPr lang="en-US" sz="3000" dirty="0">
                <a:latin typeface="Times New Roman"/>
                <a:cs typeface="Times New Roman"/>
              </a:rPr>
              <a:t>(config)#router </a:t>
            </a:r>
            <a:r>
              <a:rPr lang="en-US" sz="3000" dirty="0" err="1">
                <a:latin typeface="Times New Roman"/>
                <a:cs typeface="Times New Roman"/>
              </a:rPr>
              <a:t>ospf</a:t>
            </a:r>
            <a:r>
              <a:rPr lang="en-US" sz="3000" dirty="0">
                <a:latin typeface="Times New Roman"/>
                <a:cs typeface="Times New Roman"/>
              </a:rPr>
              <a:t> 1</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000" dirty="0" err="1">
                <a:latin typeface="Times New Roman"/>
                <a:cs typeface="Times New Roman"/>
              </a:rPr>
              <a:t>Lab_A</a:t>
            </a:r>
            <a:r>
              <a:rPr lang="en-US" sz="3000" dirty="0">
                <a:latin typeface="Times New Roman"/>
                <a:cs typeface="Times New Roman"/>
              </a:rPr>
              <a:t>(config-router)#network 10.0.0.0 0.255.255.255 area ?</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000" dirty="0">
                <a:latin typeface="Times New Roman"/>
                <a:cs typeface="Times New Roman"/>
              </a:rPr>
              <a:t>&lt;0-4294967295&gt; OSPF area ID as a decimal value</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000" dirty="0">
                <a:latin typeface="Times New Roman"/>
                <a:cs typeface="Times New Roman"/>
              </a:rPr>
              <a:t>A.B.C.D OSPF area ID in IP address format</a:t>
            </a:r>
          </a:p>
          <a:p>
            <a:pPr marL="1385599" lvl="2" indent="-457200">
              <a:spcBef>
                <a:spcPts val="772"/>
              </a:spcBef>
              <a:buClr>
                <a:srgbClr val="C00000"/>
              </a:buClr>
              <a:buSzPct val="85416"/>
              <a:buFont typeface="Wingdings" panose="05000000000000000000" pitchFamily="2" charset="2"/>
              <a:buChar char="v"/>
              <a:tabLst>
                <a:tab pos="315682" algn="l"/>
              </a:tabLst>
            </a:pPr>
            <a:r>
              <a:rPr lang="en-US" sz="3000" dirty="0" err="1">
                <a:latin typeface="Times New Roman"/>
                <a:cs typeface="Times New Roman"/>
              </a:rPr>
              <a:t>Lab_A</a:t>
            </a:r>
            <a:r>
              <a:rPr lang="en-US" sz="3000" dirty="0">
                <a:latin typeface="Times New Roman"/>
                <a:cs typeface="Times New Roman"/>
              </a:rPr>
              <a:t>(config-router)#network 10.0.0.0 0.255.255.255 area 0</a:t>
            </a:r>
            <a:endParaRPr sz="3000" dirty="0">
              <a:latin typeface="Times New Roman"/>
              <a:cs typeface="Times New Roman"/>
            </a:endParaRPr>
          </a:p>
        </p:txBody>
      </p:sp>
    </p:spTree>
    <p:extLst>
      <p:ext uri="{BB962C8B-B14F-4D97-AF65-F5344CB8AC3E}">
        <p14:creationId xmlns:p14="http://schemas.microsoft.com/office/powerpoint/2010/main" val="2346173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8886" y="484246"/>
            <a:ext cx="8102851"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Configuring OSPF</a:t>
            </a:r>
            <a:endParaRPr sz="4409" dirty="0">
              <a:solidFill>
                <a:schemeClr val="bg1"/>
              </a:solidFill>
            </a:endParaRPr>
          </a:p>
        </p:txBody>
      </p:sp>
      <p:sp>
        <p:nvSpPr>
          <p:cNvPr id="3" name="object 3"/>
          <p:cNvSpPr txBox="1"/>
          <p:nvPr/>
        </p:nvSpPr>
        <p:spPr>
          <a:xfrm>
            <a:off x="0" y="1536431"/>
            <a:ext cx="10187189" cy="5228562"/>
          </a:xfrm>
          <a:prstGeom prst="rect">
            <a:avLst/>
          </a:prstGeom>
        </p:spPr>
        <p:txBody>
          <a:bodyPr vert="horz" wrap="square" lIns="0" tIns="97996" rIns="0" bIns="0" rtlCol="0">
            <a:spAutoFit/>
          </a:bodyPr>
          <a:lstStyle/>
          <a:p>
            <a:pPr marL="471199" indent="-457200">
              <a:spcBef>
                <a:spcPts val="772"/>
              </a:spcBef>
              <a:buClr>
                <a:srgbClr val="C00000"/>
              </a:buClr>
              <a:buSzPct val="85416"/>
              <a:buFont typeface="Wingdings" panose="05000000000000000000" pitchFamily="2" charset="2"/>
              <a:buChar char="Ø"/>
              <a:tabLst>
                <a:tab pos="315682" algn="l"/>
              </a:tabLst>
            </a:pPr>
            <a:r>
              <a:rPr lang="en-US" sz="3200" b="1" dirty="0">
                <a:solidFill>
                  <a:srgbClr val="FF0000"/>
                </a:solidFill>
                <a:latin typeface="Times New Roman"/>
                <a:cs typeface="Times New Roman"/>
              </a:rPr>
              <a:t>The arguments of the network command are the network number (10.0.0.0) and the wildcard mask (0.255.255.255).</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200" dirty="0">
                <a:latin typeface="Times New Roman"/>
                <a:cs typeface="Times New Roman"/>
              </a:rPr>
              <a:t>The combination of these two numbers identifies the interfaces that OSPF will operate on, and will also be included in its OSPF LSA advertisements.</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200" dirty="0">
                <a:latin typeface="Times New Roman"/>
                <a:cs typeface="Times New Roman"/>
              </a:rPr>
              <a:t>OSPF will use this command to find any interface on the router configured in the 10.0.0.0 network, and it will place any interface it finds into area 0.</a:t>
            </a:r>
            <a:r>
              <a:rPr lang="en-US" sz="3200" b="1" dirty="0">
                <a:solidFill>
                  <a:srgbClr val="FF0000"/>
                </a:solidFill>
                <a:latin typeface="Times New Roman"/>
                <a:cs typeface="Times New Roman"/>
              </a:rPr>
              <a:t> Notice that you can create about 4.2 billion areas</a:t>
            </a:r>
            <a:r>
              <a:rPr lang="en-US" sz="3200" dirty="0">
                <a:latin typeface="Times New Roman"/>
                <a:cs typeface="Times New Roman"/>
              </a:rPr>
              <a:t>.</a:t>
            </a:r>
            <a:endParaRPr sz="3200" dirty="0">
              <a:latin typeface="Times New Roman"/>
              <a:cs typeface="Times New Roman"/>
            </a:endParaRPr>
          </a:p>
        </p:txBody>
      </p:sp>
    </p:spTree>
    <p:extLst>
      <p:ext uri="{BB962C8B-B14F-4D97-AF65-F5344CB8AC3E}">
        <p14:creationId xmlns:p14="http://schemas.microsoft.com/office/powerpoint/2010/main" val="2221832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8886" y="484246"/>
            <a:ext cx="8102851"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Configuring OSPF</a:t>
            </a:r>
            <a:endParaRPr sz="4409" dirty="0">
              <a:solidFill>
                <a:schemeClr val="bg1"/>
              </a:solidFill>
            </a:endParaRPr>
          </a:p>
        </p:txBody>
      </p:sp>
      <p:sp>
        <p:nvSpPr>
          <p:cNvPr id="3" name="object 3"/>
          <p:cNvSpPr txBox="1"/>
          <p:nvPr/>
        </p:nvSpPr>
        <p:spPr>
          <a:xfrm>
            <a:off x="0" y="1536431"/>
            <a:ext cx="10187189" cy="5402969"/>
          </a:xfrm>
          <a:prstGeom prst="rect">
            <a:avLst/>
          </a:prstGeom>
        </p:spPr>
        <p:txBody>
          <a:bodyPr vert="horz" wrap="square" lIns="0" tIns="97996" rIns="0" bIns="0" rtlCol="0">
            <a:spAutoFit/>
          </a:bodyPr>
          <a:lstStyle/>
          <a:p>
            <a:pPr marL="471199" indent="-457200">
              <a:spcBef>
                <a:spcPts val="772"/>
              </a:spcBef>
              <a:buClr>
                <a:srgbClr val="C00000"/>
              </a:buClr>
              <a:buSzPct val="85416"/>
              <a:buFont typeface="Wingdings" panose="05000000000000000000" pitchFamily="2" charset="2"/>
              <a:buChar char="Ø"/>
              <a:tabLst>
                <a:tab pos="315682" algn="l"/>
              </a:tabLst>
            </a:pPr>
            <a:r>
              <a:rPr lang="en-US" sz="3000" b="1" dirty="0">
                <a:solidFill>
                  <a:srgbClr val="FF0000"/>
                </a:solidFill>
                <a:latin typeface="Times New Roman"/>
                <a:cs typeface="Times New Roman"/>
              </a:rPr>
              <a:t>A quick review of wildcards</a:t>
            </a:r>
            <a:r>
              <a:rPr lang="en-US" sz="3000" dirty="0">
                <a:latin typeface="Times New Roman"/>
                <a:cs typeface="Times New Roman"/>
              </a:rPr>
              <a:t>: A 0 octet in the wildcard mask indicates that the corresponding octet in the network must match exactly. On the other hand, a 255 indicates that you don’t care what the corresponding octet is in the network number. A network and wildcard mask combination of 1.1.1.1 0.0.0.0 would match 1.1.1.1 only, and nothing else. This is really useful if you want to activate OSPF on a specific interface in a very clear and simple way</a:t>
            </a:r>
            <a:r>
              <a:rPr lang="en-US" sz="3200" dirty="0">
                <a:latin typeface="Times New Roman"/>
                <a:cs typeface="Times New Roman"/>
              </a:rPr>
              <a:t>.</a:t>
            </a:r>
          </a:p>
          <a:p>
            <a:pPr marL="471199" indent="-457200">
              <a:spcBef>
                <a:spcPts val="772"/>
              </a:spcBef>
              <a:buClr>
                <a:srgbClr val="C00000"/>
              </a:buClr>
              <a:buSzPct val="85416"/>
              <a:buFont typeface="Wingdings" panose="05000000000000000000" pitchFamily="2" charset="2"/>
              <a:buChar char="Ø"/>
              <a:tabLst>
                <a:tab pos="315682" algn="l"/>
              </a:tabLst>
            </a:pPr>
            <a:r>
              <a:rPr lang="en-US" sz="3200" dirty="0">
                <a:latin typeface="Times New Roman"/>
                <a:cs typeface="Times New Roman"/>
              </a:rPr>
              <a:t>If you insist on matching a range of networks, the network and wildcard mask combination of </a:t>
            </a:r>
            <a:r>
              <a:rPr lang="en-US" sz="3200" b="1" dirty="0">
                <a:solidFill>
                  <a:srgbClr val="FF0000"/>
                </a:solidFill>
                <a:latin typeface="Times New Roman"/>
                <a:cs typeface="Times New Roman"/>
              </a:rPr>
              <a:t>1.1.0.0 0.0.255.255 would match anything in the range 1.1.0.0–1.1.255.255</a:t>
            </a:r>
            <a:endParaRPr sz="3200" b="1" dirty="0">
              <a:solidFill>
                <a:srgbClr val="FF0000"/>
              </a:solidFill>
              <a:latin typeface="Times New Roman"/>
              <a:cs typeface="Times New Roman"/>
            </a:endParaRPr>
          </a:p>
        </p:txBody>
      </p:sp>
    </p:spTree>
    <p:extLst>
      <p:ext uri="{BB962C8B-B14F-4D97-AF65-F5344CB8AC3E}">
        <p14:creationId xmlns:p14="http://schemas.microsoft.com/office/powerpoint/2010/main" val="1123434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8886" y="484246"/>
            <a:ext cx="8102851" cy="691948"/>
          </a:xfrm>
          <a:prstGeom prst="rect">
            <a:avLst/>
          </a:prstGeom>
        </p:spPr>
        <p:txBody>
          <a:bodyPr vert="horz" wrap="square" lIns="0" tIns="13299" rIns="0" bIns="0" rtlCol="0" anchor="ctr">
            <a:spAutoFit/>
          </a:bodyPr>
          <a:lstStyle/>
          <a:p>
            <a:pPr marL="13999">
              <a:lnSpc>
                <a:spcPct val="100000"/>
              </a:lnSpc>
              <a:spcBef>
                <a:spcPts val="105"/>
              </a:spcBef>
            </a:pPr>
            <a:r>
              <a:rPr lang="en-US" sz="4409" dirty="0">
                <a:solidFill>
                  <a:schemeClr val="bg1"/>
                </a:solidFill>
              </a:rPr>
              <a:t>Configuring OSPF</a:t>
            </a:r>
            <a:endParaRPr sz="4409" dirty="0">
              <a:solidFill>
                <a:schemeClr val="bg1"/>
              </a:solidFill>
            </a:endParaRPr>
          </a:p>
        </p:txBody>
      </p:sp>
      <p:sp>
        <p:nvSpPr>
          <p:cNvPr id="3" name="object 3"/>
          <p:cNvSpPr txBox="1"/>
          <p:nvPr/>
        </p:nvSpPr>
        <p:spPr>
          <a:xfrm>
            <a:off x="0" y="1536431"/>
            <a:ext cx="10187189" cy="4920786"/>
          </a:xfrm>
          <a:prstGeom prst="rect">
            <a:avLst/>
          </a:prstGeom>
        </p:spPr>
        <p:txBody>
          <a:bodyPr vert="horz" wrap="square" lIns="0" tIns="97996" rIns="0" bIns="0" rtlCol="0">
            <a:spAutoFit/>
          </a:bodyPr>
          <a:lstStyle/>
          <a:p>
            <a:pPr marL="471199" indent="-457200">
              <a:spcBef>
                <a:spcPts val="772"/>
              </a:spcBef>
              <a:buClr>
                <a:srgbClr val="C00000"/>
              </a:buClr>
              <a:buSzPct val="85416"/>
              <a:buFont typeface="Wingdings" panose="05000000000000000000" pitchFamily="2" charset="2"/>
              <a:buChar char="Ø"/>
              <a:tabLst>
                <a:tab pos="315682" algn="l"/>
              </a:tabLst>
            </a:pPr>
            <a:r>
              <a:rPr lang="en-US" sz="3000" dirty="0">
                <a:latin typeface="Times New Roman"/>
                <a:cs typeface="Times New Roman"/>
              </a:rPr>
              <a:t>The final argument is the </a:t>
            </a:r>
            <a:r>
              <a:rPr lang="en-US" sz="3000" b="1" dirty="0">
                <a:solidFill>
                  <a:srgbClr val="FF0000"/>
                </a:solidFill>
                <a:latin typeface="Times New Roman"/>
                <a:cs typeface="Times New Roman"/>
              </a:rPr>
              <a:t>area number. </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000" dirty="0">
                <a:latin typeface="Times New Roman"/>
                <a:cs typeface="Times New Roman"/>
              </a:rPr>
              <a:t>It indicates the area to which the interfaces identified in the network and wildcard mask portion belong. Remember that OSPF routers will only become neighbors if their interfaces share a network that’s configured to </a:t>
            </a:r>
            <a:r>
              <a:rPr lang="en-US" sz="3000" dirty="0">
                <a:solidFill>
                  <a:srgbClr val="FF0000"/>
                </a:solidFill>
                <a:latin typeface="Times New Roman"/>
                <a:cs typeface="Times New Roman"/>
              </a:rPr>
              <a:t>belong to the same area number</a:t>
            </a:r>
            <a:r>
              <a:rPr lang="en-US" sz="3000" dirty="0">
                <a:latin typeface="Times New Roman"/>
                <a:cs typeface="Times New Roman"/>
              </a:rPr>
              <a:t>. </a:t>
            </a:r>
          </a:p>
          <a:p>
            <a:pPr marL="928399" lvl="1" indent="-457200">
              <a:spcBef>
                <a:spcPts val="772"/>
              </a:spcBef>
              <a:buClr>
                <a:srgbClr val="C00000"/>
              </a:buClr>
              <a:buSzPct val="85416"/>
              <a:buFont typeface="Wingdings" panose="05000000000000000000" pitchFamily="2" charset="2"/>
              <a:buChar char="ü"/>
              <a:tabLst>
                <a:tab pos="315682" algn="l"/>
              </a:tabLst>
            </a:pPr>
            <a:r>
              <a:rPr lang="en-US" sz="3000" dirty="0">
                <a:latin typeface="Times New Roman"/>
                <a:cs typeface="Times New Roman"/>
              </a:rPr>
              <a:t>The format of the area number is either a decimal value from the range </a:t>
            </a:r>
            <a:r>
              <a:rPr lang="en-US" sz="3000" b="1" dirty="0">
                <a:solidFill>
                  <a:srgbClr val="FF0000"/>
                </a:solidFill>
                <a:latin typeface="Times New Roman"/>
                <a:cs typeface="Times New Roman"/>
              </a:rPr>
              <a:t>1–4,294,967,295</a:t>
            </a:r>
            <a:r>
              <a:rPr lang="en-US" sz="3000" dirty="0">
                <a:latin typeface="Times New Roman"/>
                <a:cs typeface="Times New Roman"/>
              </a:rPr>
              <a:t> or a value represented in standard dotted-decimal notation. For example, </a:t>
            </a:r>
            <a:r>
              <a:rPr lang="en-US" sz="3000" b="1" dirty="0">
                <a:solidFill>
                  <a:srgbClr val="FF0000"/>
                </a:solidFill>
                <a:latin typeface="Times New Roman"/>
                <a:cs typeface="Times New Roman"/>
              </a:rPr>
              <a:t>area 0.0.0.0 is a legitimate area, and is identical to area 0</a:t>
            </a:r>
            <a:r>
              <a:rPr lang="en-US" sz="3000" dirty="0">
                <a:latin typeface="Times New Roman"/>
                <a:cs typeface="Times New Roman"/>
              </a:rPr>
              <a:t>.</a:t>
            </a:r>
            <a:endParaRPr sz="3200" b="1" dirty="0">
              <a:solidFill>
                <a:srgbClr val="FF0000"/>
              </a:solidFill>
              <a:latin typeface="Times New Roman"/>
              <a:cs typeface="Times New Roman"/>
            </a:endParaRPr>
          </a:p>
        </p:txBody>
      </p:sp>
    </p:spTree>
    <p:extLst>
      <p:ext uri="{BB962C8B-B14F-4D97-AF65-F5344CB8AC3E}">
        <p14:creationId xmlns:p14="http://schemas.microsoft.com/office/powerpoint/2010/main" val="39918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7111" y="484217"/>
            <a:ext cx="7166402" cy="623533"/>
          </a:xfrm>
          <a:prstGeom prst="rect">
            <a:avLst/>
          </a:prstGeom>
        </p:spPr>
        <p:txBody>
          <a:bodyPr vert="horz" wrap="square" lIns="0" tIns="13999" rIns="0" bIns="0" rtlCol="0" anchor="ctr">
            <a:spAutoFit/>
          </a:bodyPr>
          <a:lstStyle/>
          <a:p>
            <a:pPr marL="13999" algn="ctr">
              <a:spcBef>
                <a:spcPts val="772"/>
              </a:spcBef>
              <a:buClr>
                <a:srgbClr val="D24717"/>
              </a:buClr>
              <a:buSzPct val="84615"/>
              <a:tabLst>
                <a:tab pos="314982" algn="l"/>
              </a:tabLst>
            </a:pPr>
            <a:r>
              <a:rPr lang="en-US" sz="4400" dirty="0">
                <a:solidFill>
                  <a:schemeClr val="bg1"/>
                </a:solidFill>
              </a:rPr>
              <a:t>Home Work</a:t>
            </a:r>
          </a:p>
        </p:txBody>
      </p:sp>
      <p:sp>
        <p:nvSpPr>
          <p:cNvPr id="3" name="object 3"/>
          <p:cNvSpPr txBox="1"/>
          <p:nvPr/>
        </p:nvSpPr>
        <p:spPr>
          <a:xfrm>
            <a:off x="103030" y="1527566"/>
            <a:ext cx="10187189" cy="1173606"/>
          </a:xfrm>
          <a:prstGeom prst="rect">
            <a:avLst/>
          </a:prstGeom>
        </p:spPr>
        <p:txBody>
          <a:bodyPr vert="horz" wrap="square" lIns="0" tIns="97996" rIns="0" bIns="0" rtlCol="0">
            <a:spAutoFit/>
          </a:bodyPr>
          <a:lstStyle/>
          <a:p>
            <a:pPr marL="470499" marR="630664" indent="-457200">
              <a:spcBef>
                <a:spcPts val="667"/>
              </a:spcBef>
              <a:buClr>
                <a:srgbClr val="D24717"/>
              </a:buClr>
              <a:buSzPct val="84615"/>
              <a:buFont typeface="Wingdings" panose="05000000000000000000" pitchFamily="2" charset="2"/>
              <a:buChar char="Ø"/>
              <a:tabLst>
                <a:tab pos="315682" algn="l"/>
              </a:tabLst>
            </a:pPr>
            <a:r>
              <a:rPr lang="en-US" sz="3200" spc="-39" dirty="0">
                <a:latin typeface="Times New Roman"/>
                <a:cs typeface="Times New Roman"/>
              </a:rPr>
              <a:t>EIGRP</a:t>
            </a:r>
          </a:p>
          <a:p>
            <a:pPr marL="470499" marR="630664" indent="-457200">
              <a:spcBef>
                <a:spcPts val="667"/>
              </a:spcBef>
              <a:buClr>
                <a:srgbClr val="D24717"/>
              </a:buClr>
              <a:buSzPct val="84615"/>
              <a:buFont typeface="Wingdings" panose="05000000000000000000" pitchFamily="2" charset="2"/>
              <a:buChar char="Ø"/>
              <a:tabLst>
                <a:tab pos="315682" algn="l"/>
              </a:tabLst>
            </a:pPr>
            <a:r>
              <a:rPr lang="en-US" sz="3200" spc="-39" dirty="0">
                <a:latin typeface="Times New Roman"/>
                <a:cs typeface="Times New Roman"/>
              </a:rPr>
              <a:t>ISIS</a:t>
            </a:r>
          </a:p>
        </p:txBody>
      </p:sp>
    </p:spTree>
    <p:extLst>
      <p:ext uri="{BB962C8B-B14F-4D97-AF65-F5344CB8AC3E}">
        <p14:creationId xmlns:p14="http://schemas.microsoft.com/office/powerpoint/2010/main" val="299034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71" name="CustomShape 1"/>
          <p:cNvSpPr/>
          <p:nvPr/>
        </p:nvSpPr>
        <p:spPr>
          <a:xfrm>
            <a:off x="9180000" y="6804000"/>
            <a:ext cx="718920" cy="71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C2198156-94BD-48D4-8A24-50D926417968}" type="slidenum">
              <a:rPr lang="en-US" sz="1800" b="1" strike="noStrike" spc="-1">
                <a:solidFill>
                  <a:srgbClr val="FFFFFF"/>
                </a:solidFill>
                <a:latin typeface="Noto Sans Black"/>
                <a:ea typeface="DejaVu Sans"/>
              </a:rPr>
              <a:t>30</a:t>
            </a:fld>
            <a:endParaRPr lang="en-US" sz="1800" b="0" strike="noStrike" spc="-1">
              <a:solidFill>
                <a:srgbClr val="FFFFFF"/>
              </a:solidFill>
              <a:latin typeface="Arial"/>
            </a:endParaRPr>
          </a:p>
        </p:txBody>
      </p:sp>
      <p:pic>
        <p:nvPicPr>
          <p:cNvPr id="272" name="Picture 4"/>
          <p:cNvPicPr/>
          <p:nvPr/>
        </p:nvPicPr>
        <p:blipFill>
          <a:blip r:embed="rId3"/>
          <a:stretch/>
        </p:blipFill>
        <p:spPr>
          <a:xfrm>
            <a:off x="1255320" y="-214560"/>
            <a:ext cx="7923600" cy="7693560"/>
          </a:xfrm>
          <a:prstGeom prst="rect">
            <a:avLst/>
          </a:prstGeom>
          <a:ln w="0">
            <a:noFill/>
          </a:ln>
        </p:spPr>
      </p:pic>
    </p:spTree>
    <p:extLst>
      <p:ext uri="{BB962C8B-B14F-4D97-AF65-F5344CB8AC3E}">
        <p14:creationId xmlns:p14="http://schemas.microsoft.com/office/powerpoint/2010/main" val="2855250020"/>
      </p:ext>
    </p:extLst>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73" name="CustomShape 1"/>
          <p:cNvSpPr/>
          <p:nvPr/>
        </p:nvSpPr>
        <p:spPr>
          <a:xfrm>
            <a:off x="2451635" y="2155969"/>
            <a:ext cx="5177353" cy="215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chorCtr="1">
            <a:noAutofit/>
          </a:bodyPr>
          <a:lstStyle/>
          <a:p>
            <a:pPr algn="ctr">
              <a:lnSpc>
                <a:spcPct val="100000"/>
              </a:lnSpc>
            </a:pPr>
            <a:r>
              <a:rPr lang="en-US" sz="4000" b="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mc:AlternateContent xmlns:mc="http://schemas.openxmlformats.org/markup-compatibility/2006" xmlns:p14="http://schemas.microsoft.com/office/powerpoint/2010/main">
    <mc:Choice Requires="p14">
      <p:transition p14:dur="10"/>
    </mc:Choice>
    <mc:Fallback xmlns="" xmlns:p15="http://schemas.microsoft.com/office/powerpoint/2012/main">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../../../../usr/lib/libreoffice/share/template/common/presnt/Midnightblue.otp</Template>
  <TotalTime>20807</TotalTime>
  <Words>2289</Words>
  <Application>Microsoft Office PowerPoint</Application>
  <PresentationFormat>Custom</PresentationFormat>
  <Paragraphs>132</Paragraphs>
  <Slides>31</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Arial</vt:lpstr>
      <vt:lpstr>Cambria Math</vt:lpstr>
      <vt:lpstr>Noto Sans Black</vt:lpstr>
      <vt:lpstr>Symbol</vt:lpstr>
      <vt:lpstr>Times New Roman</vt:lpstr>
      <vt:lpstr>Wingdings</vt:lpstr>
      <vt:lpstr>Office Theme</vt:lpstr>
      <vt:lpstr>Office Theme</vt:lpstr>
      <vt:lpstr>PowerPoint Presentation</vt:lpstr>
      <vt:lpstr>Introduction</vt:lpstr>
      <vt:lpstr>Open Shortest Path First(OSPF) Basics</vt:lpstr>
      <vt:lpstr>PowerPoint Presentation</vt:lpstr>
      <vt:lpstr>Comparison between OSPF, RIPv2 and RIPv1</vt:lpstr>
      <vt:lpstr>Comparison between OSPF, RIPv2 and RIPv1</vt:lpstr>
      <vt:lpstr>Open Shortest Path First(OSPF) Basics</vt:lpstr>
      <vt:lpstr>Open Shortest Path First(OSPF) Basics</vt:lpstr>
      <vt:lpstr>Open Shortest Path First(OSPF) Basics</vt:lpstr>
      <vt:lpstr>Open Shortest Path First(OSPF) Basics</vt:lpstr>
      <vt:lpstr>OSPF Terminologies</vt:lpstr>
      <vt:lpstr>OSPF Terminologies</vt:lpstr>
      <vt:lpstr>OSPF Terminologies</vt:lpstr>
      <vt:lpstr>OSPF Terminologies</vt:lpstr>
      <vt:lpstr>OSPF Terminologies</vt:lpstr>
      <vt:lpstr>OSPF Terminologies</vt:lpstr>
      <vt:lpstr>OSPF Terminologies</vt:lpstr>
      <vt:lpstr>SPF Tree Calculation</vt:lpstr>
      <vt:lpstr>SPF Tree Calculation</vt:lpstr>
      <vt:lpstr>SPF Tree Calculation</vt:lpstr>
      <vt:lpstr>SPF Tree Calculation</vt:lpstr>
      <vt:lpstr>Configuring OSPF</vt:lpstr>
      <vt:lpstr>Configuring OSPF</vt:lpstr>
      <vt:lpstr>Configuring OSPF</vt:lpstr>
      <vt:lpstr>Configuring OSPF</vt:lpstr>
      <vt:lpstr>Configuring OSPF</vt:lpstr>
      <vt:lpstr>Configuring OSPF</vt:lpstr>
      <vt:lpstr>Configuring OSPF</vt:lpstr>
      <vt:lpstr>Home Work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Midnightblue</dc:title>
  <dc:subject/>
  <dc:creator>CUTHBERT JOHN KARAWA</dc:creator>
  <dc:description/>
  <cp:lastModifiedBy>Cuthbert John karawa</cp:lastModifiedBy>
  <cp:revision>1798</cp:revision>
  <dcterms:created xsi:type="dcterms:W3CDTF">2022-05-01T12:14:38Z</dcterms:created>
  <dcterms:modified xsi:type="dcterms:W3CDTF">2024-05-29T08:53:18Z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false</vt:bool>
  </property>
  <property fmtid="{D5CDD505-2E9C-101B-9397-08002B2CF9AE}" pid="4" name="LinksUpToDate">
    <vt:bool>false</vt:bool>
  </property>
  <property fmtid="{D5CDD505-2E9C-101B-9397-08002B2CF9AE}" pid="5" name="MMClips">
    <vt:i4>0</vt:i4>
  </property>
  <property fmtid="{D5CDD505-2E9C-101B-9397-08002B2CF9AE}" pid="6" name="Notes">
    <vt:i4>7</vt:i4>
  </property>
  <property fmtid="{D5CDD505-2E9C-101B-9397-08002B2CF9AE}" pid="7" name="PresentationFormat">
    <vt:lpwstr>Custom</vt:lpwstr>
  </property>
  <property fmtid="{D5CDD505-2E9C-101B-9397-08002B2CF9AE}" pid="8" name="ScaleCrop">
    <vt:bool>false</vt:bool>
  </property>
  <property fmtid="{D5CDD505-2E9C-101B-9397-08002B2CF9AE}" pid="9" name="ShareDoc">
    <vt:bool>false</vt:bool>
  </property>
  <property fmtid="{D5CDD505-2E9C-101B-9397-08002B2CF9AE}" pid="10" name="Slides">
    <vt:i4>50</vt:i4>
  </property>
</Properties>
</file>