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130"/>
  </p:notesMasterIdLst>
  <p:sldIdLst>
    <p:sldId id="256" r:id="rId5"/>
    <p:sldId id="324" r:id="rId6"/>
    <p:sldId id="387" r:id="rId7"/>
    <p:sldId id="407" r:id="rId8"/>
    <p:sldId id="406" r:id="rId9"/>
    <p:sldId id="409" r:id="rId10"/>
    <p:sldId id="263" r:id="rId11"/>
    <p:sldId id="264" r:id="rId12"/>
    <p:sldId id="265" r:id="rId13"/>
    <p:sldId id="266" r:id="rId14"/>
    <p:sldId id="267" r:id="rId15"/>
    <p:sldId id="411" r:id="rId16"/>
    <p:sldId id="268" r:id="rId17"/>
    <p:sldId id="269" r:id="rId18"/>
    <p:sldId id="270" r:id="rId19"/>
    <p:sldId id="271" r:id="rId20"/>
    <p:sldId id="272" r:id="rId21"/>
    <p:sldId id="412" r:id="rId22"/>
    <p:sldId id="273" r:id="rId23"/>
    <p:sldId id="274" r:id="rId24"/>
    <p:sldId id="275" r:id="rId25"/>
    <p:sldId id="410" r:id="rId26"/>
    <p:sldId id="277" r:id="rId27"/>
    <p:sldId id="413" r:id="rId28"/>
    <p:sldId id="278" r:id="rId29"/>
    <p:sldId id="279" r:id="rId30"/>
    <p:sldId id="280" r:id="rId31"/>
    <p:sldId id="281" r:id="rId32"/>
    <p:sldId id="414" r:id="rId33"/>
    <p:sldId id="282" r:id="rId34"/>
    <p:sldId id="283" r:id="rId35"/>
    <p:sldId id="284" r:id="rId36"/>
    <p:sldId id="415" r:id="rId37"/>
    <p:sldId id="285" r:id="rId38"/>
    <p:sldId id="416" r:id="rId39"/>
    <p:sldId id="286" r:id="rId40"/>
    <p:sldId id="287" r:id="rId41"/>
    <p:sldId id="288" r:id="rId42"/>
    <p:sldId id="289" r:id="rId43"/>
    <p:sldId id="417" r:id="rId44"/>
    <p:sldId id="290" r:id="rId45"/>
    <p:sldId id="418" r:id="rId46"/>
    <p:sldId id="291" r:id="rId47"/>
    <p:sldId id="292" r:id="rId48"/>
    <p:sldId id="419" r:id="rId49"/>
    <p:sldId id="293" r:id="rId50"/>
    <p:sldId id="294" r:id="rId51"/>
    <p:sldId id="295" r:id="rId52"/>
    <p:sldId id="296" r:id="rId53"/>
    <p:sldId id="297" r:id="rId54"/>
    <p:sldId id="298" r:id="rId55"/>
    <p:sldId id="299" r:id="rId56"/>
    <p:sldId id="300" r:id="rId57"/>
    <p:sldId id="301" r:id="rId58"/>
    <p:sldId id="420" r:id="rId59"/>
    <p:sldId id="302" r:id="rId60"/>
    <p:sldId id="303" r:id="rId61"/>
    <p:sldId id="304" r:id="rId62"/>
    <p:sldId id="305" r:id="rId63"/>
    <p:sldId id="306" r:id="rId64"/>
    <p:sldId id="307" r:id="rId65"/>
    <p:sldId id="421" r:id="rId66"/>
    <p:sldId id="308" r:id="rId67"/>
    <p:sldId id="309" r:id="rId68"/>
    <p:sldId id="310" r:id="rId69"/>
    <p:sldId id="311" r:id="rId70"/>
    <p:sldId id="312" r:id="rId71"/>
    <p:sldId id="313" r:id="rId72"/>
    <p:sldId id="314" r:id="rId73"/>
    <p:sldId id="315" r:id="rId74"/>
    <p:sldId id="316" r:id="rId75"/>
    <p:sldId id="317" r:id="rId76"/>
    <p:sldId id="318" r:id="rId77"/>
    <p:sldId id="422" r:id="rId78"/>
    <p:sldId id="319" r:id="rId79"/>
    <p:sldId id="424" r:id="rId80"/>
    <p:sldId id="320" r:id="rId81"/>
    <p:sldId id="425" r:id="rId82"/>
    <p:sldId id="321" r:id="rId83"/>
    <p:sldId id="322" r:id="rId84"/>
    <p:sldId id="323" r:id="rId85"/>
    <p:sldId id="423" r:id="rId86"/>
    <p:sldId id="426" r:id="rId87"/>
    <p:sldId id="325" r:id="rId88"/>
    <p:sldId id="326" r:id="rId89"/>
    <p:sldId id="427" r:id="rId90"/>
    <p:sldId id="327" r:id="rId91"/>
    <p:sldId id="428" r:id="rId92"/>
    <p:sldId id="328" r:id="rId93"/>
    <p:sldId id="329" r:id="rId94"/>
    <p:sldId id="330" r:id="rId95"/>
    <p:sldId id="429" r:id="rId96"/>
    <p:sldId id="430" r:id="rId97"/>
    <p:sldId id="331" r:id="rId98"/>
    <p:sldId id="332" r:id="rId99"/>
    <p:sldId id="431" r:id="rId100"/>
    <p:sldId id="333" r:id="rId101"/>
    <p:sldId id="334" r:id="rId102"/>
    <p:sldId id="335" r:id="rId103"/>
    <p:sldId id="432" r:id="rId104"/>
    <p:sldId id="336" r:id="rId105"/>
    <p:sldId id="337" r:id="rId106"/>
    <p:sldId id="338" r:id="rId107"/>
    <p:sldId id="339" r:id="rId108"/>
    <p:sldId id="340" r:id="rId109"/>
    <p:sldId id="433" r:id="rId110"/>
    <p:sldId id="341" r:id="rId111"/>
    <p:sldId id="342" r:id="rId112"/>
    <p:sldId id="343" r:id="rId113"/>
    <p:sldId id="344" r:id="rId114"/>
    <p:sldId id="345" r:id="rId115"/>
    <p:sldId id="346" r:id="rId116"/>
    <p:sldId id="347" r:id="rId117"/>
    <p:sldId id="434" r:id="rId118"/>
    <p:sldId id="348" r:id="rId119"/>
    <p:sldId id="349" r:id="rId120"/>
    <p:sldId id="350" r:id="rId121"/>
    <p:sldId id="351" r:id="rId122"/>
    <p:sldId id="352" r:id="rId123"/>
    <p:sldId id="353" r:id="rId124"/>
    <p:sldId id="354" r:id="rId125"/>
    <p:sldId id="355" r:id="rId126"/>
    <p:sldId id="435" r:id="rId127"/>
    <p:sldId id="360" r:id="rId128"/>
    <p:sldId id="276" r:id="rId129"/>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17" autoAdjust="0"/>
  </p:normalViewPr>
  <p:slideViewPr>
    <p:cSldViewPr snapToGrid="0">
      <p:cViewPr varScale="1">
        <p:scale>
          <a:sx n="66" d="100"/>
          <a:sy n="66" d="100"/>
        </p:scale>
        <p:origin x="1451" y="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notesMaster" Target="notesMasters/notesMaster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rgbClr val="000000"/>
                </a:solidFill>
                <a:latin typeface="Arial"/>
              </a:rPr>
              <a:t>Click to move the slide</a:t>
            </a:r>
          </a:p>
        </p:txBody>
      </p:sp>
      <p:sp>
        <p:nvSpPr>
          <p:cNvPr id="21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21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216" name="PlaceHolder 4"/>
          <p:cNvSpPr>
            <a:spLocks noGrp="1"/>
          </p:cNvSpPr>
          <p:nvPr>
            <p:ph type="dt" idx="10"/>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217" name="PlaceHolder 5"/>
          <p:cNvSpPr>
            <a:spLocks noGrp="1"/>
          </p:cNvSpPr>
          <p:nvPr>
            <p:ph type="ftr" idx="11"/>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218" name="PlaceHolder 6"/>
          <p:cNvSpPr>
            <a:spLocks noGrp="1"/>
          </p:cNvSpPr>
          <p:nvPr>
            <p:ph type="sldNum" idx="12"/>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3BDCBDC6-F7A9-462D-815D-97517B12C12A}"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4278960" y="1015740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7AB9FE3F-D68D-4D34-B48A-B3E69993D87F}" type="slidenum">
              <a:rPr lang="en-US" sz="1400" b="1" strike="noStrike" spc="-1">
                <a:solidFill>
                  <a:srgbClr val="FFFFFF"/>
                </a:solidFill>
                <a:latin typeface="Noto Sans Black"/>
                <a:ea typeface="DejaVu Sans"/>
              </a:rPr>
              <a:t>1</a:t>
            </a:fld>
            <a:endParaRPr lang="en-US" sz="1400" b="0" strike="noStrike" spc="-1">
              <a:solidFill>
                <a:srgbClr val="000000"/>
              </a:solidFill>
              <a:latin typeface="Arial"/>
            </a:endParaRPr>
          </a:p>
        </p:txBody>
      </p:sp>
      <p:sp>
        <p:nvSpPr>
          <p:cNvPr id="276" name="PlaceHolder 1"/>
          <p:cNvSpPr>
            <a:spLocks noGrp="1" noRot="1" noChangeAspect="1"/>
          </p:cNvSpPr>
          <p:nvPr>
            <p:ph type="sldImg"/>
          </p:nvPr>
        </p:nvSpPr>
        <p:spPr>
          <a:xfrm>
            <a:off x="1106488" y="812800"/>
            <a:ext cx="5345112" cy="4008438"/>
          </a:xfrm>
          <a:prstGeom prst="rect">
            <a:avLst/>
          </a:prstGeom>
          <a:ln w="0">
            <a:noFill/>
          </a:ln>
        </p:spPr>
      </p:sp>
      <p:sp>
        <p:nvSpPr>
          <p:cNvPr id="277" name="PlaceHolder 2"/>
          <p:cNvSpPr>
            <a:spLocks noGrp="1"/>
          </p:cNvSpPr>
          <p:nvPr>
            <p:ph type="body"/>
          </p:nvPr>
        </p:nvSpPr>
        <p:spPr>
          <a:xfrm>
            <a:off x="756000" y="5078520"/>
            <a:ext cx="6046560" cy="481032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6488" y="812800"/>
            <a:ext cx="5346700" cy="4008438"/>
          </a:xfrm>
        </p:spPr>
      </p:sp>
      <p:sp>
        <p:nvSpPr>
          <p:cNvPr id="3" name="Notes Placeholder 2"/>
          <p:cNvSpPr>
            <a:spLocks noGrp="1"/>
          </p:cNvSpPr>
          <p:nvPr>
            <p:ph type="body" idx="1"/>
          </p:nvPr>
        </p:nvSpPr>
        <p:spPr/>
        <p:txBody>
          <a:bodyPr/>
          <a:lstStyle/>
          <a:p>
            <a:r>
              <a:rPr lang="en-US" sz="1200" b="1" dirty="0">
                <a:solidFill>
                  <a:srgbClr val="FF0000"/>
                </a:solidFill>
                <a:latin typeface="Times New Roman"/>
                <a:cs typeface="Times New Roman"/>
              </a:rPr>
              <a:t>Dial on Demand Routing</a:t>
            </a:r>
            <a:r>
              <a:rPr lang="en-US" sz="1200" spc="-6" dirty="0">
                <a:latin typeface="Times New Roman"/>
                <a:cs typeface="Times New Roman"/>
              </a:rPr>
              <a:t>(DDR) is a routing technique where a network connection to a remote site is established only when needed.</a:t>
            </a:r>
            <a:endParaRPr lang="en-US" dirty="0"/>
          </a:p>
        </p:txBody>
      </p:sp>
      <p:sp>
        <p:nvSpPr>
          <p:cNvPr id="4" name="Slide Number Placeholder 3"/>
          <p:cNvSpPr>
            <a:spLocks noGrp="1"/>
          </p:cNvSpPr>
          <p:nvPr>
            <p:ph type="sldNum" idx="12"/>
          </p:nvPr>
        </p:nvSpPr>
        <p:spPr/>
        <p:txBody>
          <a:bodyPr/>
          <a:lstStyle/>
          <a:p>
            <a:pPr indent="0" algn="r">
              <a:buNone/>
            </a:pPr>
            <a:fld id="{3BDCBDC6-F7A9-462D-815D-97517B12C12A}" type="slidenum">
              <a:rPr lang="en-US" sz="1400" b="0" strike="noStrike" spc="-1" smtClean="0">
                <a:solidFill>
                  <a:srgbClr val="000000"/>
                </a:solidFill>
                <a:latin typeface="Times New Roman"/>
              </a:rPr>
              <a:t>35</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052662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CustomShape 1"/>
          <p:cNvSpPr/>
          <p:nvPr/>
        </p:nvSpPr>
        <p:spPr>
          <a:xfrm>
            <a:off x="4278960" y="1015740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37F6CAA2-2CF7-432D-98DC-05CAB340EB7D}" type="slidenum">
              <a:rPr lang="en-US" sz="1400" b="1" strike="noStrike" spc="-1">
                <a:solidFill>
                  <a:srgbClr val="FFFFFF"/>
                </a:solidFill>
                <a:latin typeface="Noto Sans Black"/>
                <a:ea typeface="DejaVu Sans"/>
              </a:rPr>
              <a:t>124</a:t>
            </a:fld>
            <a:endParaRPr lang="en-US" sz="1400" b="0" strike="noStrike" spc="-1">
              <a:solidFill>
                <a:srgbClr val="000000"/>
              </a:solidFill>
              <a:latin typeface="Arial"/>
            </a:endParaRPr>
          </a:p>
        </p:txBody>
      </p:sp>
      <p:sp>
        <p:nvSpPr>
          <p:cNvPr id="279" name="PlaceHolder 1"/>
          <p:cNvSpPr>
            <a:spLocks noGrp="1" noRot="1" noChangeAspect="1"/>
          </p:cNvSpPr>
          <p:nvPr>
            <p:ph type="sldImg"/>
          </p:nvPr>
        </p:nvSpPr>
        <p:spPr>
          <a:xfrm>
            <a:off x="1106488" y="812800"/>
            <a:ext cx="5345112" cy="4008438"/>
          </a:xfrm>
          <a:prstGeom prst="rect">
            <a:avLst/>
          </a:prstGeom>
          <a:ln w="0">
            <a:noFill/>
          </a:ln>
        </p:spPr>
      </p:sp>
      <p:sp>
        <p:nvSpPr>
          <p:cNvPr id="280"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Tree>
    <p:extLst>
      <p:ext uri="{BB962C8B-B14F-4D97-AF65-F5344CB8AC3E}">
        <p14:creationId xmlns:p14="http://schemas.microsoft.com/office/powerpoint/2010/main" val="1987420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CustomShape 1"/>
          <p:cNvSpPr/>
          <p:nvPr/>
        </p:nvSpPr>
        <p:spPr>
          <a:xfrm>
            <a:off x="4278960" y="1015740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1E5CC62F-B6DE-404F-9E12-83B6E3C80081}" type="slidenum">
              <a:rPr lang="en-US" sz="1400" b="1" strike="noStrike" spc="-1">
                <a:solidFill>
                  <a:srgbClr val="FFFFFF"/>
                </a:solidFill>
                <a:latin typeface="Noto Sans Black"/>
                <a:ea typeface="DejaVu Sans"/>
              </a:rPr>
              <a:t>125</a:t>
            </a:fld>
            <a:endParaRPr lang="en-US" sz="1400" b="0" strike="noStrike" spc="-1">
              <a:solidFill>
                <a:srgbClr val="000000"/>
              </a:solidFill>
              <a:latin typeface="Arial"/>
            </a:endParaRPr>
          </a:p>
        </p:txBody>
      </p:sp>
      <p:sp>
        <p:nvSpPr>
          <p:cNvPr id="282" name="PlaceHolder 1"/>
          <p:cNvSpPr>
            <a:spLocks noGrp="1" noRot="1" noChangeAspect="1"/>
          </p:cNvSpPr>
          <p:nvPr>
            <p:ph type="sldImg"/>
          </p:nvPr>
        </p:nvSpPr>
        <p:spPr>
          <a:xfrm>
            <a:off x="1106488" y="812800"/>
            <a:ext cx="5345112" cy="4008438"/>
          </a:xfrm>
          <a:prstGeom prst="rect">
            <a:avLst/>
          </a:prstGeom>
          <a:ln w="0">
            <a:noFill/>
          </a:ln>
        </p:spPr>
      </p:sp>
      <p:sp>
        <p:nvSpPr>
          <p:cNvPr id="283" name="PlaceHolder 2"/>
          <p:cNvSpPr>
            <a:spLocks noGrp="1"/>
          </p:cNvSpPr>
          <p:nvPr>
            <p:ph type="body"/>
          </p:nvPr>
        </p:nvSpPr>
        <p:spPr>
          <a:xfrm>
            <a:off x="756000" y="5078520"/>
            <a:ext cx="6046560" cy="481032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6"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8"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7"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9"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3"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4"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5"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30"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1"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2"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3"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35"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6"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7"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8"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9"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40"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4037CA22-C89A-4488-A9B5-6A07C8A1179F}"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50"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6979C645-0E61-496D-A83B-D643D11AD2D0}"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52"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C4F72FAC-4464-4A2E-8F58-81DE738C958B}"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54"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55"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D5299DCF-4D48-4AD1-93C0-427A1F6E66FF}"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17736880-A937-4980-8ECA-36D1B2EADAFF}"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8F65F09C-9DEB-402D-935F-C8CF676F6F1D}"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59"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0"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1"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34A8943-2508-4258-B413-FF88DF04333B}"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63"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4"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5"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A73F2536-8936-4634-B504-FD8947A7BB77}"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67"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8"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9"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775F80DE-2E1D-41A6-ACF2-02B743D5E664}"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71"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72"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EB65E34A-196C-43C3-9F29-41DC8C0F7F43}"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74"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75"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76"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77"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CFCDD642-F705-4189-A721-2730451A0086}"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79"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80"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81"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82"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83"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84"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36F5583F-0A16-4DC8-9F24-C82247C800F7}"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extLst/>
          </a:lstStyle>
          <a:p>
            <a:r>
              <a:rPr kumimoji="0" lang="en-US"/>
              <a:t>Click to edit Master title style</a:t>
            </a:r>
            <a:endParaRPr kumimoji="0" lang="en-US" dirty="0"/>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4A96C55E-AE2B-4FDE-9302-0FAA0119406E}" type="datetimeFigureOut">
              <a:rPr lang="en-US" smtClean="0"/>
              <a:pPr/>
              <a:t>5/21/2024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50004-A1A1-45C2-A06A-7716233D6B4B}" type="slidenum">
              <a:rPr lang="en-US" smtClean="0"/>
              <a:pPr/>
              <a:t>‹#›</a:t>
            </a:fld>
            <a:endParaRPr lang="en-US"/>
          </a:p>
        </p:txBody>
      </p:sp>
    </p:spTree>
    <p:extLst>
      <p:ext uri="{BB962C8B-B14F-4D97-AF65-F5344CB8AC3E}">
        <p14:creationId xmlns:p14="http://schemas.microsoft.com/office/powerpoint/2010/main" val="12071234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08935" y="481474"/>
            <a:ext cx="8262752" cy="549574"/>
          </a:xfrm>
          <a:prstGeom prst="rect">
            <a:avLst/>
          </a:prstGeom>
        </p:spPr>
        <p:txBody>
          <a:bodyPr wrap="square" lIns="0" tIns="0" rIns="0" bIns="0">
            <a:spAutoFit/>
          </a:bodyPr>
          <a:lstStyle>
            <a:lvl1pPr>
              <a:defRPr sz="3968" b="1" i="0">
                <a:solidFill>
                  <a:schemeClr val="hlink"/>
                </a:solidFill>
                <a:latin typeface="Times New Roman"/>
                <a:cs typeface="Times New Roman"/>
              </a:defRPr>
            </a:lvl1pPr>
          </a:lstStyle>
          <a:p>
            <a:endParaRPr/>
          </a:p>
        </p:txBody>
      </p:sp>
      <p:sp>
        <p:nvSpPr>
          <p:cNvPr id="3" name="Holder 3"/>
          <p:cNvSpPr>
            <a:spLocks noGrp="1"/>
          </p:cNvSpPr>
          <p:nvPr>
            <p:ph type="subTitle" idx="4"/>
          </p:nvPr>
        </p:nvSpPr>
        <p:spPr>
          <a:xfrm>
            <a:off x="338822" y="4897828"/>
            <a:ext cx="9402982" cy="387798"/>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6" name="Holder 6"/>
          <p:cNvSpPr>
            <a:spLocks noGrp="1"/>
          </p:cNvSpPr>
          <p:nvPr>
            <p:ph type="sldNum" sz="quarter" idx="7"/>
          </p:nvPr>
        </p:nvSpPr>
        <p:spPr/>
        <p:txBody>
          <a:bodyPr lIns="0" tIns="0" rIns="0" bIns="0"/>
          <a:lstStyle>
            <a:lvl1pPr>
              <a:defRPr sz="1543" b="0" i="0">
                <a:solidFill>
                  <a:schemeClr val="bg1"/>
                </a:solidFill>
                <a:latin typeface="Franklin Gothic Medium"/>
                <a:cs typeface="Franklin Gothic Medium"/>
              </a:defRPr>
            </a:lvl1pPr>
          </a:lstStyle>
          <a:p>
            <a:pPr marL="41998">
              <a:lnSpc>
                <a:spcPts val="1834"/>
              </a:lnSpc>
            </a:pPr>
            <a:fld id="{81D60167-4931-47E6-BA6A-407CBD079E47}" type="slidenum">
              <a:rPr lang="en-US" smtClean="0"/>
              <a:pPr marL="41998">
                <a:lnSpc>
                  <a:spcPts val="1834"/>
                </a:lnSpc>
              </a:pPr>
              <a:t>‹#›</a:t>
            </a:fld>
            <a:endParaRPr lang="en-US" dirty="0"/>
          </a:p>
        </p:txBody>
      </p:sp>
    </p:spTree>
    <p:extLst>
      <p:ext uri="{BB962C8B-B14F-4D97-AF65-F5344CB8AC3E}">
        <p14:creationId xmlns:p14="http://schemas.microsoft.com/office/powerpoint/2010/main" val="19557927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4" name="Holder 4"/>
          <p:cNvSpPr>
            <a:spLocks noGrp="1"/>
          </p:cNvSpPr>
          <p:nvPr>
            <p:ph type="sldNum" sz="quarter" idx="7"/>
          </p:nvPr>
        </p:nvSpPr>
        <p:spPr/>
        <p:txBody>
          <a:bodyPr lIns="0" tIns="0" rIns="0" bIns="0"/>
          <a:lstStyle>
            <a:lvl1pPr>
              <a:defRPr sz="1543" b="0" i="0">
                <a:solidFill>
                  <a:schemeClr val="bg1"/>
                </a:solidFill>
                <a:latin typeface="Franklin Gothic Medium"/>
                <a:cs typeface="Franklin Gothic Medium"/>
              </a:defRPr>
            </a:lvl1pPr>
          </a:lstStyle>
          <a:p>
            <a:pPr marL="41998">
              <a:lnSpc>
                <a:spcPts val="1834"/>
              </a:lnSpc>
            </a:pPr>
            <a:fld id="{81D60167-4931-47E6-BA6A-407CBD079E47}" type="slidenum">
              <a:rPr lang="en-US" smtClean="0"/>
              <a:pPr marL="41998">
                <a:lnSpc>
                  <a:spcPts val="1834"/>
                </a:lnSpc>
              </a:pPr>
              <a:t>‹#›</a:t>
            </a:fld>
            <a:endParaRPr lang="en-US" dirty="0"/>
          </a:p>
        </p:txBody>
      </p:sp>
    </p:spTree>
    <p:extLst>
      <p:ext uri="{BB962C8B-B14F-4D97-AF65-F5344CB8AC3E}">
        <p14:creationId xmlns:p14="http://schemas.microsoft.com/office/powerpoint/2010/main" val="34184643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68" b="1" i="0">
                <a:solidFill>
                  <a:schemeClr val="hlink"/>
                </a:solidFill>
                <a:latin typeface="Times New Roman"/>
                <a:cs typeface="Times New Roman"/>
              </a:defRPr>
            </a:lvl1pPr>
          </a:lstStyle>
          <a:p>
            <a:endParaRPr/>
          </a:p>
        </p:txBody>
      </p:sp>
      <p:sp>
        <p:nvSpPr>
          <p:cNvPr id="3" name="Holder 3"/>
          <p:cNvSpPr>
            <a:spLocks noGrp="1"/>
          </p:cNvSpPr>
          <p:nvPr>
            <p:ph sz="half" idx="2"/>
          </p:nvPr>
        </p:nvSpPr>
        <p:spPr>
          <a:xfrm>
            <a:off x="338822" y="1200868"/>
            <a:ext cx="4506878" cy="305405"/>
          </a:xfrm>
          <a:prstGeom prst="rect">
            <a:avLst/>
          </a:prstGeom>
        </p:spPr>
        <p:txBody>
          <a:bodyPr wrap="square" lIns="0" tIns="0" rIns="0" bIns="0">
            <a:spAutoFit/>
          </a:bodyPr>
          <a:lstStyle>
            <a:lvl1pPr>
              <a:defRPr sz="2205" b="0" i="0">
                <a:solidFill>
                  <a:schemeClr val="tx1"/>
                </a:solidFill>
                <a:latin typeface="Georgia"/>
                <a:cs typeface="Georgia"/>
              </a:defRPr>
            </a:lvl1pPr>
          </a:lstStyle>
          <a:p>
            <a:endParaRPr/>
          </a:p>
        </p:txBody>
      </p:sp>
      <p:sp>
        <p:nvSpPr>
          <p:cNvPr id="4" name="Holder 4"/>
          <p:cNvSpPr>
            <a:spLocks noGrp="1"/>
          </p:cNvSpPr>
          <p:nvPr>
            <p:ph sz="half" idx="3"/>
          </p:nvPr>
        </p:nvSpPr>
        <p:spPr>
          <a:xfrm>
            <a:off x="5191522" y="1738725"/>
            <a:ext cx="4385072"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5/21/2024</a:t>
            </a:fld>
            <a:endParaRPr lang="en-US"/>
          </a:p>
        </p:txBody>
      </p:sp>
      <p:sp>
        <p:nvSpPr>
          <p:cNvPr id="7" name="Holder 7"/>
          <p:cNvSpPr>
            <a:spLocks noGrp="1"/>
          </p:cNvSpPr>
          <p:nvPr>
            <p:ph type="sldNum" sz="quarter" idx="7"/>
          </p:nvPr>
        </p:nvSpPr>
        <p:spPr/>
        <p:txBody>
          <a:bodyPr lIns="0" tIns="0" rIns="0" bIns="0"/>
          <a:lstStyle>
            <a:lvl1pPr>
              <a:defRPr sz="1543" b="0" i="0">
                <a:solidFill>
                  <a:schemeClr val="bg1"/>
                </a:solidFill>
                <a:latin typeface="Franklin Gothic Medium"/>
                <a:cs typeface="Franklin Gothic Medium"/>
              </a:defRPr>
            </a:lvl1pPr>
          </a:lstStyle>
          <a:p>
            <a:pPr marL="41998">
              <a:lnSpc>
                <a:spcPts val="1834"/>
              </a:lnSpc>
            </a:pPr>
            <a:fld id="{81D60167-4931-47E6-BA6A-407CBD079E47}" type="slidenum">
              <a:rPr lang="en-US" smtClean="0"/>
              <a:pPr marL="41998">
                <a:lnSpc>
                  <a:spcPts val="1834"/>
                </a:lnSpc>
              </a:pPr>
              <a:t>‹#›</a:t>
            </a:fld>
            <a:endParaRPr lang="en-US" dirty="0"/>
          </a:p>
        </p:txBody>
      </p:sp>
    </p:spTree>
    <p:extLst>
      <p:ext uri="{BB962C8B-B14F-4D97-AF65-F5344CB8AC3E}">
        <p14:creationId xmlns:p14="http://schemas.microsoft.com/office/powerpoint/2010/main" val="5504794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10F4ECD0-146A-4F48-8896-0A90C4B5354B}"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95"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E1EA27EA-DCA0-4642-B5AD-26A5885A9E14}"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97"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6564F72C-ADE2-442C-9576-528AF593ABA5}"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99"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00"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AE31FB95-3877-406A-B341-6725EB768001}"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6683A9A0-EC5C-4468-9B93-E512D03320CB}"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81739A83-12E5-4B1D-8E39-C9F9E68B2831}"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4"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05"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06"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4F234D88-AD64-48C9-9906-9362258CE39D}"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8"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09"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0"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E4F7F66A-56DB-4B67-8DE2-1E09A54EBB4C}"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2"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3"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4"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53D6B9F-87AC-4C99-8E57-B7ABA78FCC5C}"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6"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7"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56B8B98E-1C5E-4198-AE76-A722FCFC6D67}"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19"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0"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1"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2"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83944F91-87BE-4A68-A7A3-9F61828BF2E9}"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24"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5"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6"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7"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8"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29"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4754E578-4736-434C-8FEC-C364428E7CA9}"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34"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36"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38"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9"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1"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43"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4"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5"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47"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8"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9"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1"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2"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3"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5"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6"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8"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9"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0"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1"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63"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4"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5"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6"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7"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8"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p:cNvSpPr/>
          <p:nvPr/>
        </p:nvSpPr>
        <p:spPr>
          <a:xfrm>
            <a:off x="0" y="7200000"/>
            <a:ext cx="10078920" cy="358920"/>
          </a:xfrm>
          <a:custGeom>
            <a:avLst/>
            <a:gdLst>
              <a:gd name="textAreaLeft" fmla="*/ 0 w 10078920"/>
              <a:gd name="textAreaRight" fmla="*/ 10079280 w 10078920"/>
              <a:gd name="textAreaTop" fmla="*/ 0 h 358920"/>
              <a:gd name="textAreaBottom" fmla="*/ 359280 h 35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 name="CustomShape 2"/>
          <p:cNvSpPr/>
          <p:nvPr/>
        </p:nvSpPr>
        <p:spPr>
          <a:xfrm>
            <a:off x="0" y="0"/>
            <a:ext cx="10078920" cy="1618920"/>
          </a:xfrm>
          <a:custGeom>
            <a:avLst/>
            <a:gdLst>
              <a:gd name="textAreaLeft" fmla="*/ 0 w 10078920"/>
              <a:gd name="textAreaRight" fmla="*/ 10079280 w 10078920"/>
              <a:gd name="textAreaTop" fmla="*/ 0 h 1618920"/>
              <a:gd name="textAreaBottom" fmla="*/ 1619280 h 161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 name="CustomShape 3"/>
          <p:cNvSpPr/>
          <p:nvPr/>
        </p:nvSpPr>
        <p:spPr>
          <a:xfrm>
            <a:off x="9270000" y="6894000"/>
            <a:ext cx="538920" cy="538920"/>
          </a:xfrm>
          <a:custGeom>
            <a:avLst/>
            <a:gdLst>
              <a:gd name="textAreaLeft" fmla="*/ 0 w 538920"/>
              <a:gd name="textAreaRight" fmla="*/ 539280 w 538920"/>
              <a:gd name="textAreaTop" fmla="*/ 0 h 538920"/>
              <a:gd name="textAreaBottom" fmla="*/ 539280 h 538920"/>
            </a:gdLst>
            <a:ahLst/>
            <a:cxnLst/>
            <a:rect l="textAreaLeft" t="textAreaTop" r="textAreaRight" b="textAreaBottom"/>
            <a:pathLst>
              <a:path w="21600" h="21600">
                <a:moveTo>
                  <a:pt x="10800" y="0"/>
                </a:moveTo>
              </a:path>
            </a:pathLst>
          </a:custGeom>
          <a:solidFill>
            <a:srgbClr val="1ABC9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 name="PlaceHolder 2"/>
          <p:cNvSpPr>
            <a:spLocks noGrp="1"/>
          </p:cNvSpPr>
          <p:nvPr>
            <p:ph type="body"/>
          </p:nvPr>
        </p:nvSpPr>
        <p:spPr>
          <a:xfrm>
            <a:off x="504000" y="1768680"/>
            <a:ext cx="9072000" cy="43840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0" y="7200000"/>
            <a:ext cx="10078920" cy="358920"/>
          </a:xfrm>
          <a:custGeom>
            <a:avLst/>
            <a:gdLst>
              <a:gd name="textAreaLeft" fmla="*/ 0 w 10078920"/>
              <a:gd name="textAreaRight" fmla="*/ 10079280 w 10078920"/>
              <a:gd name="textAreaTop" fmla="*/ 0 h 358920"/>
              <a:gd name="textAreaBottom" fmla="*/ 359280 h 35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2" name="CustomShape 2"/>
          <p:cNvSpPr/>
          <p:nvPr/>
        </p:nvSpPr>
        <p:spPr>
          <a:xfrm>
            <a:off x="0" y="0"/>
            <a:ext cx="10078920" cy="1618920"/>
          </a:xfrm>
          <a:custGeom>
            <a:avLst/>
            <a:gdLst>
              <a:gd name="textAreaLeft" fmla="*/ 0 w 10078920"/>
              <a:gd name="textAreaRight" fmla="*/ 10079280 w 10078920"/>
              <a:gd name="textAreaTop" fmla="*/ 0 h 1618920"/>
              <a:gd name="textAreaBottom" fmla="*/ 1619280 h 161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3" name="CustomShape 3"/>
          <p:cNvSpPr/>
          <p:nvPr/>
        </p:nvSpPr>
        <p:spPr>
          <a:xfrm>
            <a:off x="9270000" y="6894000"/>
            <a:ext cx="538920" cy="538920"/>
          </a:xfrm>
          <a:custGeom>
            <a:avLst/>
            <a:gdLst>
              <a:gd name="textAreaLeft" fmla="*/ 0 w 538920"/>
              <a:gd name="textAreaRight" fmla="*/ 539280 w 538920"/>
              <a:gd name="textAreaTop" fmla="*/ 0 h 538920"/>
              <a:gd name="textAreaBottom" fmla="*/ 539280 h 538920"/>
            </a:gdLst>
            <a:ahLst/>
            <a:cxnLst/>
            <a:rect l="textAreaLeft" t="textAreaTop" r="textAreaRight" b="textAreaBottom"/>
            <a:pathLst>
              <a:path w="21600" h="21600">
                <a:moveTo>
                  <a:pt x="10800" y="0"/>
                </a:moveTo>
              </a:path>
            </a:pathLst>
          </a:custGeom>
          <a:solidFill>
            <a:srgbClr val="1ABC9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4" name="PlaceHolder 1"/>
          <p:cNvSpPr>
            <a:spLocks noGrp="1"/>
          </p:cNvSpPr>
          <p:nvPr>
            <p:ph type="title"/>
          </p:nvPr>
        </p:nvSpPr>
        <p:spPr>
          <a:xfrm>
            <a:off x="504000" y="301320"/>
            <a:ext cx="9071640" cy="1261440"/>
          </a:xfrm>
          <a:prstGeom prst="rect">
            <a:avLst/>
          </a:prstGeom>
          <a:noFill/>
          <a:ln w="0">
            <a:noFill/>
          </a:ln>
        </p:spPr>
        <p:txBody>
          <a:bodyPr lIns="0" tIns="0" rIns="0" bIns="0" anchor="ctr">
            <a:noAutofit/>
          </a:bodyPr>
          <a:lstStyle/>
          <a:p>
            <a:pPr indent="0">
              <a:lnSpc>
                <a:spcPct val="90000"/>
              </a:lnSpc>
              <a:buNone/>
            </a:pPr>
            <a:r>
              <a:rPr lang="en-US" sz="4400" b="0" strike="noStrike" spc="-1">
                <a:solidFill>
                  <a:srgbClr val="000000"/>
                </a:solidFill>
                <a:latin typeface="Arial"/>
                <a:ea typeface="DejaVu Sans"/>
              </a:rPr>
              <a:t>Click to edit Master title style</a:t>
            </a:r>
            <a:endParaRPr lang="en-US" sz="4400" b="0" strike="noStrike" spc="-1">
              <a:solidFill>
                <a:srgbClr val="000000"/>
              </a:solidFill>
              <a:latin typeface="Arial"/>
            </a:endParaRPr>
          </a:p>
        </p:txBody>
      </p:sp>
      <p:sp>
        <p:nvSpPr>
          <p:cNvPr id="45" name="PlaceHolder 2"/>
          <p:cNvSpPr>
            <a:spLocks noGrp="1"/>
          </p:cNvSpPr>
          <p:nvPr>
            <p:ph type="body"/>
          </p:nvPr>
        </p:nvSpPr>
        <p:spPr>
          <a:xfrm>
            <a:off x="504000" y="1768680"/>
            <a:ext cx="9071640" cy="4383720"/>
          </a:xfrm>
          <a:prstGeom prst="rect">
            <a:avLst/>
          </a:prstGeom>
          <a:noFill/>
          <a:ln w="0">
            <a:noFill/>
          </a:ln>
        </p:spPr>
        <p:txBody>
          <a:bodyPr lIns="0" tIns="0" rIns="0" bIns="0"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Arial"/>
                <a:ea typeface="DejaVu Sans"/>
              </a:rPr>
              <a:t>Click to edit Master text styles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Arial"/>
                <a:ea typeface="DejaVu Sans"/>
              </a:rPr>
              <a:t>Second level</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Arial"/>
                <a:ea typeface="DejaVu Sans"/>
              </a:rPr>
              <a:t>Third level</a:t>
            </a:r>
            <a:endParaRPr lang="en-US" sz="200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Arial"/>
                <a:ea typeface="DejaVu Sans"/>
              </a:rPr>
              <a:t>Fourth level</a:t>
            </a:r>
            <a:endParaRPr lang="en-US" sz="1800"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Arial"/>
                <a:ea typeface="DejaVu Sans"/>
              </a:rPr>
              <a:t>Fifth level</a:t>
            </a:r>
            <a:endParaRPr lang="en-US" sz="1800" b="0" strike="noStrike" spc="-1">
              <a:solidFill>
                <a:srgbClr val="000000"/>
              </a:solidFill>
              <a:latin typeface="Arial"/>
            </a:endParaRPr>
          </a:p>
        </p:txBody>
      </p:sp>
      <p:sp>
        <p:nvSpPr>
          <p:cNvPr id="46" name="PlaceHolder 3"/>
          <p:cNvSpPr>
            <a:spLocks noGrp="1"/>
          </p:cNvSpPr>
          <p:nvPr>
            <p:ph type="dt" idx="1"/>
          </p:nvPr>
        </p:nvSpPr>
        <p:spPr>
          <a:xfrm>
            <a:off x="0" y="0"/>
            <a:ext cx="0" cy="0"/>
          </a:xfrm>
          <a:prstGeom prst="rect">
            <a:avLst/>
          </a:prstGeom>
          <a:noFill/>
          <a:ln w="0">
            <a:noFill/>
          </a:ln>
        </p:spPr>
        <p:txBody>
          <a:bodyPr lIns="90000" tIns="-45000" rIns="90000" bIns="-45000" anchor="t">
            <a:noAutofit/>
          </a:bodyPr>
          <a:lstStyle>
            <a:lvl1pPr indent="0">
              <a:lnSpc>
                <a:spcPct val="100000"/>
              </a:lnSpc>
              <a:buNone/>
              <a:defRPr lang="en-US" sz="1800" b="0" strike="noStrike" spc="-1">
                <a:solidFill>
                  <a:srgbClr val="000000"/>
                </a:solidFill>
                <a:latin typeface="Arial"/>
                <a:ea typeface="DejaVu Sans"/>
              </a:defRPr>
            </a:lvl1pPr>
          </a:lstStyle>
          <a:p>
            <a:pPr indent="0">
              <a:lnSpc>
                <a:spcPct val="100000"/>
              </a:lnSpc>
              <a:buNone/>
            </a:pPr>
            <a:r>
              <a:rPr lang="en-US" sz="1800" b="0" strike="noStrike" spc="-1">
                <a:solidFill>
                  <a:srgbClr val="000000"/>
                </a:solidFill>
                <a:latin typeface="Arial"/>
                <a:ea typeface="DejaVu Sans"/>
              </a:rPr>
              <a:t>&lt;date/time&gt;</a:t>
            </a:r>
            <a:endParaRPr lang="en-US" sz="1800" b="0" strike="noStrike" spc="-1">
              <a:solidFill>
                <a:srgbClr val="000000"/>
              </a:solidFill>
              <a:latin typeface="Times New Roman"/>
            </a:endParaRPr>
          </a:p>
        </p:txBody>
      </p:sp>
      <p:sp>
        <p:nvSpPr>
          <p:cNvPr id="47" name="PlaceHolder 4"/>
          <p:cNvSpPr>
            <a:spLocks noGrp="1"/>
          </p:cNvSpPr>
          <p:nvPr>
            <p:ph type="ftr" idx="2"/>
          </p:nvPr>
        </p:nvSpPr>
        <p:spPr>
          <a:xfrm>
            <a:off x="0" y="0"/>
            <a:ext cx="0" cy="0"/>
          </a:xfrm>
          <a:prstGeom prst="rect">
            <a:avLst/>
          </a:prstGeom>
          <a:noFill/>
          <a:ln w="0">
            <a:noFill/>
          </a:ln>
        </p:spPr>
        <p:txBody>
          <a:bodyPr lIns="90000" tIns="-45000" rIns="90000" bIns="-45000" anchor="t">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8" name="PlaceHolder 5"/>
          <p:cNvSpPr>
            <a:spLocks noGrp="1"/>
          </p:cNvSpPr>
          <p:nvPr>
            <p:ph type="sldNum" idx="3"/>
          </p:nvPr>
        </p:nvSpPr>
        <p:spPr>
          <a:xfrm>
            <a:off x="0" y="0"/>
            <a:ext cx="0" cy="0"/>
          </a:xfrm>
          <a:prstGeom prst="rect">
            <a:avLst/>
          </a:prstGeom>
          <a:noFill/>
          <a:ln w="0">
            <a:noFill/>
          </a:ln>
        </p:spPr>
        <p:txBody>
          <a:bodyPr lIns="90000" tIns="-45000" rIns="90000" bIns="-45000" anchor="t">
            <a:noAutofit/>
          </a:bodyPr>
          <a:lstStyle>
            <a:lvl1pPr indent="0">
              <a:lnSpc>
                <a:spcPct val="100000"/>
              </a:lnSpc>
              <a:buNone/>
              <a:defRPr lang="en-US" sz="1800" b="0" strike="noStrike" spc="-1">
                <a:solidFill>
                  <a:srgbClr val="000000"/>
                </a:solidFill>
                <a:latin typeface="Arial"/>
                <a:ea typeface="DejaVu Sans"/>
              </a:defRPr>
            </a:lvl1pPr>
          </a:lstStyle>
          <a:p>
            <a:pPr indent="0">
              <a:lnSpc>
                <a:spcPct val="100000"/>
              </a:lnSpc>
              <a:buNone/>
            </a:pPr>
            <a:fld id="{F235E4B9-85DA-4DB9-A2B8-39E179F52E2F}" type="slidenum">
              <a:rPr lang="en-US" sz="1800" b="0" strike="noStrike" spc="-1">
                <a:solidFill>
                  <a:srgbClr val="000000"/>
                </a:solidFill>
                <a:latin typeface="Arial"/>
                <a:ea typeface="DejaVu Sans"/>
              </a:rPr>
              <a:t>‹#›</a:t>
            </a:fld>
            <a:endParaRPr lang="en-US"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13" r:id="rId13"/>
    <p:sldLayoutId id="2147483714" r:id="rId14"/>
    <p:sldLayoutId id="2147483715" r:id="rId15"/>
    <p:sldLayoutId id="214748371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 name="CustomShape 1"/>
          <p:cNvSpPr/>
          <p:nvPr/>
        </p:nvSpPr>
        <p:spPr>
          <a:xfrm>
            <a:off x="0" y="7200000"/>
            <a:ext cx="10078920" cy="358920"/>
          </a:xfrm>
          <a:custGeom>
            <a:avLst/>
            <a:gdLst>
              <a:gd name="textAreaLeft" fmla="*/ 0 w 10078920"/>
              <a:gd name="textAreaRight" fmla="*/ 10079280 w 10078920"/>
              <a:gd name="textAreaTop" fmla="*/ 0 h 358920"/>
              <a:gd name="textAreaBottom" fmla="*/ 359280 h 35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6" name="CustomShape 2"/>
          <p:cNvSpPr/>
          <p:nvPr/>
        </p:nvSpPr>
        <p:spPr>
          <a:xfrm>
            <a:off x="0" y="0"/>
            <a:ext cx="10078920" cy="1618920"/>
          </a:xfrm>
          <a:custGeom>
            <a:avLst/>
            <a:gdLst>
              <a:gd name="textAreaLeft" fmla="*/ 0 w 10078920"/>
              <a:gd name="textAreaRight" fmla="*/ 10079280 w 10078920"/>
              <a:gd name="textAreaTop" fmla="*/ 0 h 1618920"/>
              <a:gd name="textAreaBottom" fmla="*/ 1619280 h 161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 name="CustomShape 3"/>
          <p:cNvSpPr/>
          <p:nvPr/>
        </p:nvSpPr>
        <p:spPr>
          <a:xfrm>
            <a:off x="9270000" y="6894000"/>
            <a:ext cx="538920" cy="538920"/>
          </a:xfrm>
          <a:custGeom>
            <a:avLst/>
            <a:gdLst>
              <a:gd name="textAreaLeft" fmla="*/ 0 w 538920"/>
              <a:gd name="textAreaRight" fmla="*/ 539280 w 538920"/>
              <a:gd name="textAreaTop" fmla="*/ 0 h 538920"/>
              <a:gd name="textAreaBottom" fmla="*/ 539280 h 538920"/>
            </a:gdLst>
            <a:ahLst/>
            <a:cxnLst/>
            <a:rect l="textAreaLeft" t="textAreaTop" r="textAreaRight" b="textAreaBottom"/>
            <a:pathLst>
              <a:path w="21600" h="21600">
                <a:moveTo>
                  <a:pt x="10800" y="0"/>
                </a:moveTo>
              </a:path>
            </a:pathLst>
          </a:custGeom>
          <a:solidFill>
            <a:srgbClr val="1ABC9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8" name="PlaceHolder 1"/>
          <p:cNvSpPr>
            <a:spLocks noGrp="1"/>
          </p:cNvSpPr>
          <p:nvPr>
            <p:ph type="title"/>
          </p:nvPr>
        </p:nvSpPr>
        <p:spPr>
          <a:xfrm>
            <a:off x="1582560" y="302400"/>
            <a:ext cx="8265600" cy="1259640"/>
          </a:xfrm>
          <a:prstGeom prst="rect">
            <a:avLst/>
          </a:prstGeom>
          <a:noFill/>
          <a:ln w="0">
            <a:noFill/>
          </a:ln>
        </p:spPr>
        <p:txBody>
          <a:bodyPr lIns="0" tIns="0" rIns="0" bIns="0" anchor="ctr">
            <a:noAutofit/>
          </a:bodyPr>
          <a:lstStyle/>
          <a:p>
            <a:pPr indent="0">
              <a:lnSpc>
                <a:spcPct val="90000"/>
              </a:lnSpc>
              <a:buNone/>
            </a:pPr>
            <a:r>
              <a:rPr lang="en-US" sz="4400" b="0" strike="noStrike" spc="-1">
                <a:solidFill>
                  <a:srgbClr val="000000"/>
                </a:solidFill>
                <a:latin typeface="Arial"/>
                <a:ea typeface="DejaVu Sans"/>
              </a:rPr>
              <a:t>Click to edit Master title style</a:t>
            </a:r>
            <a:endParaRPr lang="en-US" sz="4400" b="0" strike="noStrike" spc="-1">
              <a:solidFill>
                <a:srgbClr val="000000"/>
              </a:solidFill>
              <a:latin typeface="Arial"/>
            </a:endParaRPr>
          </a:p>
        </p:txBody>
      </p:sp>
      <p:sp>
        <p:nvSpPr>
          <p:cNvPr id="89" name="PlaceHolder 2"/>
          <p:cNvSpPr>
            <a:spLocks noGrp="1"/>
          </p:cNvSpPr>
          <p:nvPr>
            <p:ph type="body"/>
          </p:nvPr>
        </p:nvSpPr>
        <p:spPr>
          <a:xfrm>
            <a:off x="1582560" y="1679760"/>
            <a:ext cx="4032000" cy="5140080"/>
          </a:xfrm>
          <a:prstGeom prst="rect">
            <a:avLst/>
          </a:prstGeom>
          <a:noFill/>
          <a:ln w="0">
            <a:noFill/>
          </a:ln>
        </p:spPr>
        <p:txBody>
          <a:bodyPr lIns="0" tIns="0" rIns="0" bIns="0" anchor="t">
            <a:noAutofit/>
          </a:bodyPr>
          <a:lstStyle/>
          <a:p>
            <a:pPr marL="228600" indent="-228600">
              <a:lnSpc>
                <a:spcPct val="90000"/>
              </a:lnSpc>
              <a:spcBef>
                <a:spcPts val="1001"/>
              </a:spcBef>
              <a:buClr>
                <a:srgbClr val="000000"/>
              </a:buClr>
              <a:buFont typeface="Arial"/>
              <a:buChar char="•"/>
            </a:pPr>
            <a:r>
              <a:rPr lang="en-US" sz="3080" b="0" strike="noStrike" spc="-1">
                <a:solidFill>
                  <a:srgbClr val="000000"/>
                </a:solidFill>
                <a:latin typeface="Arial"/>
                <a:ea typeface="DejaVu Sans"/>
              </a:rPr>
              <a:t>Click to edit Master text styles</a:t>
            </a:r>
            <a:endParaRPr lang="en-US" sz="308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640" b="0" strike="noStrike" spc="-1">
                <a:solidFill>
                  <a:srgbClr val="000000"/>
                </a:solidFill>
                <a:latin typeface="Arial"/>
                <a:ea typeface="DejaVu Sans"/>
              </a:rPr>
              <a:t>Second level</a:t>
            </a:r>
            <a:endParaRPr lang="en-US" sz="264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210" b="0" strike="noStrike" spc="-1">
                <a:solidFill>
                  <a:srgbClr val="000000"/>
                </a:solidFill>
                <a:latin typeface="Arial"/>
                <a:ea typeface="DejaVu Sans"/>
              </a:rPr>
              <a:t>Third level</a:t>
            </a:r>
            <a:endParaRPr lang="en-US" sz="221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979" b="0" strike="noStrike" spc="-1">
                <a:solidFill>
                  <a:srgbClr val="000000"/>
                </a:solidFill>
                <a:latin typeface="Arial"/>
                <a:ea typeface="DejaVu Sans"/>
              </a:rPr>
              <a:t>Fourth level</a:t>
            </a:r>
            <a:endParaRPr lang="en-US" sz="1979"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979" b="0" strike="noStrike" spc="-1">
                <a:solidFill>
                  <a:srgbClr val="000000"/>
                </a:solidFill>
                <a:latin typeface="Arial"/>
                <a:ea typeface="DejaVu Sans"/>
              </a:rPr>
              <a:t>Fifth level</a:t>
            </a:r>
            <a:endParaRPr lang="en-US" sz="1979" b="0" strike="noStrike" spc="-1">
              <a:solidFill>
                <a:srgbClr val="000000"/>
              </a:solidFill>
              <a:latin typeface="Arial"/>
            </a:endParaRPr>
          </a:p>
        </p:txBody>
      </p:sp>
      <p:sp>
        <p:nvSpPr>
          <p:cNvPr id="90" name="PlaceHolder 3"/>
          <p:cNvSpPr>
            <a:spLocks noGrp="1"/>
          </p:cNvSpPr>
          <p:nvPr>
            <p:ph type="body"/>
          </p:nvPr>
        </p:nvSpPr>
        <p:spPr>
          <a:xfrm>
            <a:off x="5816520" y="1679760"/>
            <a:ext cx="4032000" cy="5140080"/>
          </a:xfrm>
          <a:prstGeom prst="rect">
            <a:avLst/>
          </a:prstGeom>
          <a:noFill/>
          <a:ln w="0">
            <a:noFill/>
          </a:ln>
        </p:spPr>
        <p:txBody>
          <a:bodyPr lIns="0" tIns="0" rIns="0" bIns="0" anchor="t">
            <a:noAutofit/>
          </a:bodyPr>
          <a:lstStyle/>
          <a:p>
            <a:pPr marL="228600" indent="-228600">
              <a:lnSpc>
                <a:spcPct val="90000"/>
              </a:lnSpc>
              <a:spcBef>
                <a:spcPts val="1001"/>
              </a:spcBef>
              <a:buClr>
                <a:srgbClr val="000000"/>
              </a:buClr>
              <a:buFont typeface="Arial"/>
              <a:buChar char="•"/>
            </a:pPr>
            <a:r>
              <a:rPr lang="en-US" sz="3080" b="0" strike="noStrike" spc="-1">
                <a:solidFill>
                  <a:srgbClr val="000000"/>
                </a:solidFill>
                <a:latin typeface="Arial"/>
                <a:ea typeface="DejaVu Sans"/>
              </a:rPr>
              <a:t>Click to edit Master text styles</a:t>
            </a:r>
            <a:endParaRPr lang="en-US" sz="3080" b="0" strike="noStrike" spc="-1">
              <a:solidFill>
                <a:srgbClr val="000000"/>
              </a:solidFill>
              <a:latin typeface="Arial"/>
            </a:endParaRPr>
          </a:p>
          <a:p>
            <a:pPr marL="685800" lvl="1" indent="-228600">
              <a:lnSpc>
                <a:spcPct val="90000"/>
              </a:lnSpc>
              <a:spcBef>
                <a:spcPts val="499"/>
              </a:spcBef>
              <a:buClr>
                <a:srgbClr val="000000"/>
              </a:buClr>
              <a:buFont typeface="Arial"/>
              <a:buChar char="•"/>
            </a:pPr>
            <a:r>
              <a:rPr lang="en-US" sz="2640" b="0" strike="noStrike" spc="-1">
                <a:solidFill>
                  <a:srgbClr val="000000"/>
                </a:solidFill>
                <a:latin typeface="Arial"/>
                <a:ea typeface="DejaVu Sans"/>
              </a:rPr>
              <a:t>Second level</a:t>
            </a:r>
            <a:endParaRPr lang="en-US" sz="2640" b="0" strike="noStrike" spc="-1">
              <a:solidFill>
                <a:srgbClr val="000000"/>
              </a:solidFill>
              <a:latin typeface="Arial"/>
            </a:endParaRPr>
          </a:p>
          <a:p>
            <a:pPr marL="1143000" lvl="2" indent="-228600">
              <a:lnSpc>
                <a:spcPct val="90000"/>
              </a:lnSpc>
              <a:spcBef>
                <a:spcPts val="499"/>
              </a:spcBef>
              <a:buClr>
                <a:srgbClr val="000000"/>
              </a:buClr>
              <a:buFont typeface="Arial"/>
              <a:buChar char="•"/>
            </a:pPr>
            <a:r>
              <a:rPr lang="en-US" sz="2210" b="0" strike="noStrike" spc="-1">
                <a:solidFill>
                  <a:srgbClr val="000000"/>
                </a:solidFill>
                <a:latin typeface="Arial"/>
                <a:ea typeface="DejaVu Sans"/>
              </a:rPr>
              <a:t>Third level</a:t>
            </a:r>
            <a:endParaRPr lang="en-US" sz="2210" b="0" strike="noStrike" spc="-1">
              <a:solidFill>
                <a:srgbClr val="000000"/>
              </a:solidFill>
              <a:latin typeface="Arial"/>
            </a:endParaRPr>
          </a:p>
          <a:p>
            <a:pPr marL="1600200" lvl="3" indent="-228600">
              <a:lnSpc>
                <a:spcPct val="90000"/>
              </a:lnSpc>
              <a:spcBef>
                <a:spcPts val="499"/>
              </a:spcBef>
              <a:buClr>
                <a:srgbClr val="000000"/>
              </a:buClr>
              <a:buFont typeface="Arial"/>
              <a:buChar char="•"/>
            </a:pPr>
            <a:r>
              <a:rPr lang="en-US" sz="1979" b="0" strike="noStrike" spc="-1">
                <a:solidFill>
                  <a:srgbClr val="000000"/>
                </a:solidFill>
                <a:latin typeface="Arial"/>
                <a:ea typeface="DejaVu Sans"/>
              </a:rPr>
              <a:t>Fourth level</a:t>
            </a:r>
            <a:endParaRPr lang="en-US" sz="1979" b="0" strike="noStrike" spc="-1">
              <a:solidFill>
                <a:srgbClr val="000000"/>
              </a:solidFill>
              <a:latin typeface="Arial"/>
            </a:endParaRPr>
          </a:p>
          <a:p>
            <a:pPr marL="2057400" lvl="4" indent="-228600">
              <a:lnSpc>
                <a:spcPct val="90000"/>
              </a:lnSpc>
              <a:spcBef>
                <a:spcPts val="499"/>
              </a:spcBef>
              <a:buClr>
                <a:srgbClr val="000000"/>
              </a:buClr>
              <a:buFont typeface="Arial"/>
              <a:buChar char="•"/>
            </a:pPr>
            <a:r>
              <a:rPr lang="en-US" sz="1979" b="0" strike="noStrike" spc="-1">
                <a:solidFill>
                  <a:srgbClr val="000000"/>
                </a:solidFill>
                <a:latin typeface="Arial"/>
                <a:ea typeface="DejaVu Sans"/>
              </a:rPr>
              <a:t>Fifth level</a:t>
            </a:r>
            <a:endParaRPr lang="en-US" sz="1979" b="0" strike="noStrike" spc="-1">
              <a:solidFill>
                <a:srgbClr val="000000"/>
              </a:solidFill>
              <a:latin typeface="Arial"/>
            </a:endParaRPr>
          </a:p>
        </p:txBody>
      </p:sp>
      <p:sp>
        <p:nvSpPr>
          <p:cNvPr id="91" name="PlaceHolder 4"/>
          <p:cNvSpPr>
            <a:spLocks noGrp="1"/>
          </p:cNvSpPr>
          <p:nvPr>
            <p:ph type="dt" idx="4"/>
          </p:nvPr>
        </p:nvSpPr>
        <p:spPr>
          <a:xfrm>
            <a:off x="0" y="0"/>
            <a:ext cx="0" cy="0"/>
          </a:xfrm>
          <a:prstGeom prst="rect">
            <a:avLst/>
          </a:prstGeom>
          <a:noFill/>
          <a:ln w="0">
            <a:noFill/>
          </a:ln>
        </p:spPr>
        <p:txBody>
          <a:bodyPr lIns="90000" tIns="-45000" rIns="90000" bIns="-45000" anchor="t">
            <a:noAutofit/>
          </a:bodyPr>
          <a:lstStyle>
            <a:lvl1pPr indent="0">
              <a:lnSpc>
                <a:spcPct val="100000"/>
              </a:lnSpc>
              <a:buNone/>
              <a:defRPr lang="en-US" sz="1800" b="0" strike="noStrike" spc="-1">
                <a:solidFill>
                  <a:srgbClr val="000000"/>
                </a:solidFill>
                <a:latin typeface="Arial"/>
                <a:ea typeface="DejaVu Sans"/>
              </a:defRPr>
            </a:lvl1pPr>
          </a:lstStyle>
          <a:p>
            <a:pPr indent="0">
              <a:lnSpc>
                <a:spcPct val="100000"/>
              </a:lnSpc>
              <a:buNone/>
            </a:pPr>
            <a:r>
              <a:rPr lang="en-US" sz="1800" b="0" strike="noStrike" spc="-1">
                <a:solidFill>
                  <a:srgbClr val="000000"/>
                </a:solidFill>
                <a:latin typeface="Arial"/>
                <a:ea typeface="DejaVu Sans"/>
              </a:rPr>
              <a:t>&lt;date/time&gt;</a:t>
            </a:r>
            <a:endParaRPr lang="en-US" sz="1800" b="0" strike="noStrike" spc="-1">
              <a:solidFill>
                <a:srgbClr val="000000"/>
              </a:solidFill>
              <a:latin typeface="Times New Roman"/>
            </a:endParaRPr>
          </a:p>
        </p:txBody>
      </p:sp>
      <p:sp>
        <p:nvSpPr>
          <p:cNvPr id="92" name="PlaceHolder 5"/>
          <p:cNvSpPr>
            <a:spLocks noGrp="1"/>
          </p:cNvSpPr>
          <p:nvPr>
            <p:ph type="ftr" idx="5"/>
          </p:nvPr>
        </p:nvSpPr>
        <p:spPr>
          <a:xfrm>
            <a:off x="0" y="0"/>
            <a:ext cx="0" cy="0"/>
          </a:xfrm>
          <a:prstGeom prst="rect">
            <a:avLst/>
          </a:prstGeom>
          <a:noFill/>
          <a:ln w="0">
            <a:noFill/>
          </a:ln>
        </p:spPr>
        <p:txBody>
          <a:bodyPr lIns="90000" tIns="-45000" rIns="90000" bIns="-45000" anchor="t">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93" name="PlaceHolder 6"/>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nSpc>
                <a:spcPct val="100000"/>
              </a:lnSpc>
              <a:buNone/>
              <a:defRPr lang="en-US" sz="1800" b="0" strike="noStrike" spc="-1">
                <a:solidFill>
                  <a:srgbClr val="000000"/>
                </a:solidFill>
                <a:latin typeface="Arial"/>
                <a:ea typeface="DejaVu Sans"/>
              </a:defRPr>
            </a:lvl1pPr>
          </a:lstStyle>
          <a:p>
            <a:pPr indent="0">
              <a:lnSpc>
                <a:spcPct val="100000"/>
              </a:lnSpc>
              <a:buNone/>
            </a:pPr>
            <a:fld id="{497CA44A-D564-49E2-B023-3C3A4873D5AD}" type="slidenum">
              <a:rPr lang="en-US" sz="1800" b="0" strike="noStrike" spc="-1">
                <a:solidFill>
                  <a:srgbClr val="000000"/>
                </a:solidFill>
                <a:latin typeface="Arial"/>
                <a:ea typeface="DejaVu Sans"/>
              </a:rPr>
              <a:t>‹#›</a:t>
            </a:fld>
            <a:endParaRPr lang="en-US"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2520000" y="2520000"/>
            <a:ext cx="5038920" cy="2518920"/>
          </a:xfrm>
          <a:custGeom>
            <a:avLst/>
            <a:gdLst>
              <a:gd name="textAreaLeft" fmla="*/ 0 w 5038920"/>
              <a:gd name="textAreaRight" fmla="*/ 5039280 w 5038920"/>
              <a:gd name="textAreaTop" fmla="*/ 0 h 2518920"/>
              <a:gd name="textAreaBottom" fmla="*/ 2519280 h 2518920"/>
            </a:gdLst>
            <a:ahLst/>
            <a:cxnLst/>
            <a:rect l="textAreaLeft" t="textAreaTop" r="textAreaRight" b="textAreaBottom"/>
            <a:pathLst>
              <a:path w="14001" h="11494">
                <a:moveTo>
                  <a:pt x="0" y="0"/>
                </a:moveTo>
                <a:lnTo>
                  <a:pt x="0" y="1163"/>
                </a:lnTo>
                <a:lnTo>
                  <a:pt x="0" y="2035"/>
                </a:lnTo>
                <a:lnTo>
                  <a:pt x="0" y="2906"/>
                </a:lnTo>
                <a:lnTo>
                  <a:pt x="0" y="4093"/>
                </a:lnTo>
                <a:lnTo>
                  <a:pt x="0" y="4964"/>
                </a:lnTo>
                <a:lnTo>
                  <a:pt x="0" y="5836"/>
                </a:lnTo>
                <a:lnTo>
                  <a:pt x="0" y="7000"/>
                </a:lnTo>
                <a:lnTo>
                  <a:pt x="2326" y="7000"/>
                </a:lnTo>
                <a:lnTo>
                  <a:pt x="1016" y="11493"/>
                </a:lnTo>
                <a:lnTo>
                  <a:pt x="5813" y="7000"/>
                </a:lnTo>
                <a:lnTo>
                  <a:pt x="8186" y="7000"/>
                </a:lnTo>
                <a:lnTo>
                  <a:pt x="9929" y="7000"/>
                </a:lnTo>
                <a:lnTo>
                  <a:pt x="11673" y="7000"/>
                </a:lnTo>
                <a:lnTo>
                  <a:pt x="14000" y="7000"/>
                </a:lnTo>
                <a:lnTo>
                  <a:pt x="14000" y="5836"/>
                </a:lnTo>
                <a:lnTo>
                  <a:pt x="14000" y="4964"/>
                </a:lnTo>
                <a:lnTo>
                  <a:pt x="14000" y="4093"/>
                </a:lnTo>
                <a:lnTo>
                  <a:pt x="14000" y="2906"/>
                </a:lnTo>
                <a:lnTo>
                  <a:pt x="14000" y="2035"/>
                </a:lnTo>
                <a:lnTo>
                  <a:pt x="14000" y="1163"/>
                </a:lnTo>
                <a:lnTo>
                  <a:pt x="14000" y="0"/>
                </a:lnTo>
                <a:lnTo>
                  <a:pt x="11673" y="0"/>
                </a:lnTo>
                <a:lnTo>
                  <a:pt x="9929" y="0"/>
                </a:lnTo>
                <a:lnTo>
                  <a:pt x="8186" y="0"/>
                </a:lnTo>
                <a:lnTo>
                  <a:pt x="5813" y="0"/>
                </a:lnTo>
                <a:lnTo>
                  <a:pt x="4070" y="0"/>
                </a:lnTo>
                <a:lnTo>
                  <a:pt x="2326" y="0"/>
                </a:lnTo>
                <a:lnTo>
                  <a:pt x="0" y="0"/>
                </a:lnTo>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32" name="PlaceHolder 2"/>
          <p:cNvSpPr>
            <a:spLocks noGrp="1"/>
          </p:cNvSpPr>
          <p:nvPr>
            <p:ph type="body"/>
          </p:nvPr>
        </p:nvSpPr>
        <p:spPr>
          <a:xfrm>
            <a:off x="504000" y="1768680"/>
            <a:ext cx="9072000" cy="43840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png"/><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1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1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1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19" name="CustomShape 1"/>
          <p:cNvSpPr/>
          <p:nvPr/>
        </p:nvSpPr>
        <p:spPr>
          <a:xfrm>
            <a:off x="180360" y="1030320"/>
            <a:ext cx="9358920"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1" spc="-1" dirty="0">
                <a:solidFill>
                  <a:srgbClr val="FFFFFF"/>
                </a:solidFill>
                <a:latin typeface="Times New Roman"/>
              </a:rPr>
              <a:t>NETWORKING AND ROUTING PROTOCAL</a:t>
            </a:r>
            <a:br>
              <a:rPr sz="2400" dirty="0"/>
            </a:br>
            <a:r>
              <a:rPr lang="en-US" sz="4400" b="1" strike="noStrike" spc="-1" dirty="0">
                <a:solidFill>
                  <a:srgbClr val="FFFFFF"/>
                </a:solidFill>
                <a:latin typeface="Times New Roman"/>
                <a:ea typeface="DejaVu Sans"/>
              </a:rPr>
              <a:t>ET </a:t>
            </a:r>
            <a:r>
              <a:rPr lang="en-US" sz="4400" b="1" spc="-1" dirty="0">
                <a:solidFill>
                  <a:srgbClr val="FFFFFF"/>
                </a:solidFill>
                <a:latin typeface="Times New Roman"/>
                <a:ea typeface="DejaVu Sans"/>
              </a:rPr>
              <a:t>8315</a:t>
            </a:r>
            <a:endParaRPr lang="en-US" sz="4400" b="0" strike="noStrike" spc="-1" dirty="0">
              <a:solidFill>
                <a:srgbClr val="FFFFFF"/>
              </a:solidFill>
              <a:latin typeface="Arial"/>
            </a:endParaRPr>
          </a:p>
        </p:txBody>
      </p:sp>
      <p:sp>
        <p:nvSpPr>
          <p:cNvPr id="220" name="CustomShape 2"/>
          <p:cNvSpPr/>
          <p:nvPr/>
        </p:nvSpPr>
        <p:spPr>
          <a:xfrm>
            <a:off x="303120" y="2561040"/>
            <a:ext cx="9358920" cy="438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spcAft>
                <a:spcPts val="1414"/>
              </a:spcAft>
              <a:tabLst>
                <a:tab pos="0" algn="l"/>
              </a:tabLst>
            </a:pPr>
            <a:fld id="{70F56DB3-9114-4E7E-90CD-7AC6DE244EB8}" type="datetime2">
              <a:rPr lang="en-US" sz="3600" b="1" strike="noStrike" spc="-1" smtClean="0">
                <a:solidFill>
                  <a:srgbClr val="FFFFFF"/>
                </a:solidFill>
                <a:latin typeface="Times New Roman" panose="02020603050405020304" pitchFamily="18" charset="0"/>
                <a:ea typeface="DejaVu Sans"/>
                <a:cs typeface="Times New Roman" panose="02020603050405020304" pitchFamily="18" charset="0"/>
              </a:rPr>
              <a:t>Tuesday, May 21, 2024</a:t>
            </a:fld>
            <a:endParaRPr lang="en-US" sz="3600" b="1" strike="noStrike" spc="-1" dirty="0">
              <a:solidFill>
                <a:srgbClr val="FFFFFF"/>
              </a:solidFill>
              <a:latin typeface="Times New Roman" panose="02020603050405020304" pitchFamily="18" charset="0"/>
              <a:ea typeface="DejaVu Sans"/>
              <a:cs typeface="Times New Roman" panose="02020603050405020304" pitchFamily="18" charset="0"/>
            </a:endParaRPr>
          </a:p>
          <a:p>
            <a:pPr algn="ctr">
              <a:lnSpc>
                <a:spcPct val="100000"/>
              </a:lnSpc>
              <a:spcAft>
                <a:spcPts val="1414"/>
              </a:spcAft>
              <a:tabLst>
                <a:tab pos="0" algn="l"/>
              </a:tabLst>
            </a:pPr>
            <a:r>
              <a:rPr lang="en-US" sz="3600" b="1" strike="noStrike" spc="-1" dirty="0">
                <a:solidFill>
                  <a:srgbClr val="FFFFFF"/>
                </a:solidFill>
                <a:latin typeface="Times New Roman" panose="02020603050405020304" pitchFamily="18" charset="0"/>
                <a:ea typeface="DejaVu Sans"/>
                <a:cs typeface="Times New Roman" panose="02020603050405020304" pitchFamily="18" charset="0"/>
              </a:rPr>
              <a:t>Mr. Cuthbert John Karawa</a:t>
            </a:r>
            <a:endParaRPr lang="en-US" sz="3600" b="0" strike="noStrike" spc="-1" dirty="0">
              <a:solidFill>
                <a:srgbClr val="FFFFFF"/>
              </a:solidFill>
              <a:latin typeface="Times New Roman" panose="02020603050405020304" pitchFamily="18" charset="0"/>
              <a:cs typeface="Times New Roman" panose="02020603050405020304" pitchFamily="18" charset="0"/>
            </a:endParaRPr>
          </a:p>
          <a:p>
            <a:pPr algn="ctr">
              <a:lnSpc>
                <a:spcPct val="100000"/>
              </a:lnSpc>
              <a:spcAft>
                <a:spcPts val="1414"/>
              </a:spcAft>
              <a:tabLst>
                <a:tab pos="0" algn="l"/>
              </a:tabLst>
            </a:pPr>
            <a:r>
              <a:rPr lang="en-US" sz="3600" b="1" strike="noStrike" spc="-1" dirty="0">
                <a:solidFill>
                  <a:srgbClr val="FFFFFF"/>
                </a:solidFill>
                <a:latin typeface="Times New Roman" panose="02020603050405020304" pitchFamily="18" charset="0"/>
                <a:ea typeface="DejaVu Sans"/>
                <a:cs typeface="Times New Roman" panose="02020603050405020304" pitchFamily="18" charset="0"/>
              </a:rPr>
              <a:t>Lecture 4</a:t>
            </a:r>
            <a:endParaRPr lang="en-US" sz="3600" b="0" strike="noStrike" spc="-1" dirty="0">
              <a:solidFill>
                <a:srgbClr val="FFFFFF"/>
              </a:solidFill>
              <a:latin typeface="Times New Roman" panose="02020603050405020304" pitchFamily="18" charset="0"/>
              <a:cs typeface="Times New Roman" panose="02020603050405020304" pitchFamily="18" charset="0"/>
            </a:endParaRPr>
          </a:p>
          <a:p>
            <a:pPr algn="ctr">
              <a:lnSpc>
                <a:spcPct val="100000"/>
              </a:lnSpc>
              <a:spcAft>
                <a:spcPts val="1414"/>
              </a:spcAft>
              <a:tabLst>
                <a:tab pos="0" algn="l"/>
              </a:tabLst>
            </a:pPr>
            <a:r>
              <a:rPr lang="en-US" sz="3600" b="1" spc="-1" dirty="0">
                <a:solidFill>
                  <a:srgbClr val="FFFFFF"/>
                </a:solidFill>
                <a:latin typeface="Times New Roman" panose="02020603050405020304" pitchFamily="18" charset="0"/>
                <a:cs typeface="Times New Roman" panose="02020603050405020304" pitchFamily="18" charset="0"/>
              </a:rPr>
              <a:t>ROUTING AND ROUTING  PROTOCOLS</a:t>
            </a:r>
          </a:p>
          <a:p>
            <a:pPr algn="ctr">
              <a:lnSpc>
                <a:spcPct val="100000"/>
              </a:lnSpc>
              <a:spcAft>
                <a:spcPts val="1414"/>
              </a:spcAft>
              <a:tabLst>
                <a:tab pos="0" algn="l"/>
              </a:tabLst>
            </a:pPr>
            <a:r>
              <a:rPr lang="en-US" sz="2800" b="1" strike="noStrike" spc="-1" dirty="0">
                <a:solidFill>
                  <a:srgbClr val="FFFFFF"/>
                </a:solidFill>
                <a:latin typeface="Times New Roman" panose="02020603050405020304" pitchFamily="18" charset="0"/>
                <a:ea typeface="DejaVu Sans"/>
                <a:cs typeface="Times New Roman" panose="02020603050405020304" pitchFamily="18" charset="0"/>
              </a:rPr>
              <a:t>College of Information and Communication Technology (</a:t>
            </a:r>
            <a:r>
              <a:rPr lang="en-US" sz="2800" b="1" strike="noStrike" spc="-1" dirty="0" err="1">
                <a:solidFill>
                  <a:srgbClr val="FFFFFF"/>
                </a:solidFill>
                <a:latin typeface="Times New Roman" panose="02020603050405020304" pitchFamily="18" charset="0"/>
                <a:ea typeface="DejaVu Sans"/>
                <a:cs typeface="Times New Roman" panose="02020603050405020304" pitchFamily="18" charset="0"/>
              </a:rPr>
              <a:t>CoICT</a:t>
            </a:r>
            <a:r>
              <a:rPr lang="en-US" sz="2800" b="1" strike="noStrike" spc="-1" dirty="0">
                <a:solidFill>
                  <a:srgbClr val="FFFFFF"/>
                </a:solidFill>
                <a:latin typeface="Times New Roman" panose="02020603050405020304" pitchFamily="18" charset="0"/>
                <a:ea typeface="DejaVu Sans"/>
                <a:cs typeface="Times New Roman" panose="02020603050405020304" pitchFamily="18" charset="0"/>
              </a:rPr>
              <a:t>)</a:t>
            </a:r>
            <a:endParaRPr lang="en-US" sz="2800" b="0" strike="noStrike" spc="-1" dirty="0">
              <a:solidFill>
                <a:srgbClr val="FFFFFF"/>
              </a:solidFill>
              <a:latin typeface="Times New Roman" panose="02020603050405020304" pitchFamily="18" charset="0"/>
              <a:cs typeface="Times New Roman" panose="02020603050405020304" pitchFamily="18" charset="0"/>
            </a:endParaRPr>
          </a:p>
          <a:p>
            <a:pPr algn="ctr">
              <a:lnSpc>
                <a:spcPct val="100000"/>
              </a:lnSpc>
              <a:spcAft>
                <a:spcPts val="1414"/>
              </a:spcAft>
              <a:tabLst>
                <a:tab pos="0" algn="l"/>
              </a:tabLst>
            </a:pPr>
            <a:r>
              <a:rPr lang="en-US" sz="2400" b="1" strike="noStrike" spc="-1" dirty="0">
                <a:solidFill>
                  <a:srgbClr val="FFFFFF"/>
                </a:solidFill>
                <a:latin typeface="Times New Roman" panose="02020603050405020304" pitchFamily="18" charset="0"/>
                <a:ea typeface="DejaVu Sans"/>
                <a:cs typeface="Times New Roman" panose="02020603050405020304" pitchFamily="18" charset="0"/>
              </a:rPr>
              <a:t>Department Of Electronics And Telecommunications Engineering</a:t>
            </a:r>
            <a:r>
              <a:rPr lang="en-US" sz="2000" b="1" strike="noStrike" spc="-1" dirty="0">
                <a:solidFill>
                  <a:srgbClr val="FFFFFF"/>
                </a:solidFill>
                <a:latin typeface="Times New Roman" panose="02020603050405020304" pitchFamily="18" charset="0"/>
                <a:ea typeface="DejaVu Sans"/>
                <a:cs typeface="Times New Roman" panose="02020603050405020304" pitchFamily="18" charset="0"/>
              </a:rPr>
              <a:t>.</a:t>
            </a:r>
            <a:endParaRPr lang="en-US" sz="2000" b="0" strike="noStrike" spc="-1" dirty="0">
              <a:solidFill>
                <a:srgbClr val="FFFFFF"/>
              </a:solidFill>
              <a:latin typeface="Times New Roman" panose="02020603050405020304" pitchFamily="18" charset="0"/>
              <a:cs typeface="Times New Roman" panose="02020603050405020304" pitchFamily="18" charset="0"/>
            </a:endParaRPr>
          </a:p>
        </p:txBody>
      </p:sp>
      <p:sp>
        <p:nvSpPr>
          <p:cNvPr id="221" name="CustomShape 3"/>
          <p:cNvSpPr/>
          <p:nvPr/>
        </p:nvSpPr>
        <p:spPr>
          <a:xfrm>
            <a:off x="9180000" y="6804000"/>
            <a:ext cx="718920" cy="71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34D252D4-B34F-42D1-92F6-B16352A7DD31}" type="slidenum">
              <a:rPr lang="en-US" sz="1800" b="1" strike="noStrike" spc="-1">
                <a:solidFill>
                  <a:srgbClr val="FFFFFF"/>
                </a:solidFill>
                <a:latin typeface="Noto Sans Black"/>
                <a:ea typeface="DejaVu Sans"/>
              </a:rPr>
              <a:t>1</a:t>
            </a:fld>
            <a:endParaRPr lang="en-US" sz="1800" b="0" strike="noStrike" spc="-1">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xmlns:p15="http://schemas.microsoft.com/office/powerpoint/2012/main">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64311" y="404788"/>
            <a:ext cx="8105394" cy="691948"/>
          </a:xfrm>
          <a:prstGeom prst="rect">
            <a:avLst/>
          </a:prstGeom>
        </p:spPr>
        <p:txBody>
          <a:bodyPr vert="horz" wrap="square" lIns="0" tIns="13299" rIns="0" bIns="0" rtlCol="0" anchor="ctr">
            <a:spAutoFit/>
          </a:bodyPr>
          <a:lstStyle/>
          <a:p>
            <a:pPr marL="13999">
              <a:lnSpc>
                <a:spcPct val="100000"/>
              </a:lnSpc>
              <a:spcBef>
                <a:spcPts val="105"/>
              </a:spcBef>
            </a:pPr>
            <a:r>
              <a:rPr lang="en-US" sz="4409" b="1" spc="209" dirty="0">
                <a:solidFill>
                  <a:schemeClr val="bg1"/>
                </a:solidFill>
                <a:latin typeface="Times New Roman" panose="02020603050405020304" pitchFamily="18" charset="0"/>
                <a:cs typeface="Times New Roman" panose="02020603050405020304" pitchFamily="18" charset="0"/>
              </a:rPr>
              <a:t>OUTLINE</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xfrm>
            <a:off x="230124"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9370">
              <a:lnSpc>
                <a:spcPts val="1664"/>
              </a:lnSpc>
            </a:pPr>
            <a:fld id="{81D60167-4931-47E6-BA6A-407CBD079E47}" type="slidenum">
              <a:rPr lang="en-US" smtClean="0"/>
              <a:pPr marL="39370">
                <a:lnSpc>
                  <a:spcPts val="1664"/>
                </a:lnSpc>
              </a:pPr>
              <a:t>2</a:t>
            </a:fld>
            <a:endParaRPr dirty="0"/>
          </a:p>
        </p:txBody>
      </p:sp>
      <p:sp>
        <p:nvSpPr>
          <p:cNvPr id="4" name="object 4"/>
          <p:cNvSpPr txBox="1"/>
          <p:nvPr/>
        </p:nvSpPr>
        <p:spPr>
          <a:xfrm>
            <a:off x="230125" y="1825885"/>
            <a:ext cx="9850500" cy="5232400"/>
          </a:xfrm>
          <a:prstGeom prst="rect">
            <a:avLst/>
          </a:prstGeom>
        </p:spPr>
        <p:txBody>
          <a:bodyPr vert="horz" wrap="square" lIns="0" tIns="63697" rIns="0" bIns="0" rtlCol="0">
            <a:spAutoFit/>
          </a:bodyPr>
          <a:lstStyle/>
          <a:p>
            <a:pPr marL="469900" indent="-457200">
              <a:lnSpc>
                <a:spcPts val="3279"/>
              </a:lnSpc>
              <a:spcBef>
                <a:spcPts val="95"/>
              </a:spcBef>
              <a:buClr>
                <a:srgbClr val="D24717"/>
              </a:buClr>
              <a:buSzPct val="83928"/>
              <a:buFont typeface="Wingdings" panose="05000000000000000000" pitchFamily="2" charset="2"/>
              <a:buChar char="Ø"/>
              <a:tabLst>
                <a:tab pos="287020" algn="l"/>
              </a:tabLst>
            </a:pPr>
            <a:r>
              <a:rPr lang="en-US" sz="3200" b="1" spc="-5" dirty="0">
                <a:latin typeface="Times New Roman"/>
                <a:cs typeface="Times New Roman"/>
              </a:rPr>
              <a:t>Introduction</a:t>
            </a:r>
            <a:r>
              <a:rPr lang="en-US" sz="3200" b="1" spc="-15" dirty="0">
                <a:latin typeface="Times New Roman"/>
                <a:cs typeface="Times New Roman"/>
              </a:rPr>
              <a:t> </a:t>
            </a:r>
            <a:r>
              <a:rPr lang="en-US" sz="3200" b="1" spc="-5" dirty="0">
                <a:latin typeface="Times New Roman"/>
                <a:cs typeface="Times New Roman"/>
              </a:rPr>
              <a:t>to</a:t>
            </a:r>
            <a:r>
              <a:rPr lang="en-US" sz="3200" b="1" dirty="0">
                <a:latin typeface="Times New Roman"/>
                <a:cs typeface="Times New Roman"/>
              </a:rPr>
              <a:t> Static</a:t>
            </a:r>
            <a:r>
              <a:rPr lang="en-US" sz="3200" b="1" spc="-5" dirty="0">
                <a:latin typeface="Times New Roman"/>
                <a:cs typeface="Times New Roman"/>
              </a:rPr>
              <a:t> and</a:t>
            </a:r>
            <a:r>
              <a:rPr lang="en-US" sz="3200" b="1" spc="5" dirty="0">
                <a:latin typeface="Times New Roman"/>
                <a:cs typeface="Times New Roman"/>
              </a:rPr>
              <a:t> </a:t>
            </a:r>
            <a:r>
              <a:rPr lang="en-US" sz="3200" b="1" spc="-5" dirty="0">
                <a:latin typeface="Times New Roman"/>
                <a:cs typeface="Times New Roman"/>
              </a:rPr>
              <a:t>Connected</a:t>
            </a:r>
            <a:r>
              <a:rPr lang="en-US" sz="3200" b="1" spc="15" dirty="0">
                <a:latin typeface="Times New Roman"/>
                <a:cs typeface="Times New Roman"/>
              </a:rPr>
              <a:t> </a:t>
            </a:r>
            <a:r>
              <a:rPr lang="en-US" sz="3200" b="1" spc="-5" dirty="0">
                <a:latin typeface="Times New Roman"/>
                <a:cs typeface="Times New Roman"/>
              </a:rPr>
              <a:t>IP</a:t>
            </a:r>
            <a:r>
              <a:rPr lang="en-US" sz="3200" b="1" spc="-160" dirty="0">
                <a:latin typeface="Times New Roman"/>
                <a:cs typeface="Times New Roman"/>
              </a:rPr>
              <a:t> </a:t>
            </a:r>
            <a:r>
              <a:rPr lang="en-US" sz="3200" b="1" spc="-5" dirty="0">
                <a:latin typeface="Times New Roman"/>
                <a:cs typeface="Times New Roman"/>
              </a:rPr>
              <a:t>Routes</a:t>
            </a:r>
            <a:endParaRPr lang="en-US" sz="3200" dirty="0">
              <a:latin typeface="Times New Roman"/>
              <a:cs typeface="Times New Roman"/>
            </a:endParaRPr>
          </a:p>
          <a:p>
            <a:pPr marL="561340" lvl="1" indent="-229235">
              <a:lnSpc>
                <a:spcPts val="2715"/>
              </a:lnSpc>
              <a:buClr>
                <a:srgbClr val="9B2C1F"/>
              </a:buClr>
              <a:buSzPct val="85416"/>
              <a:buFont typeface="Wingdings"/>
              <a:buChar char=""/>
              <a:tabLst>
                <a:tab pos="561975" algn="l"/>
              </a:tabLst>
            </a:pPr>
            <a:r>
              <a:rPr lang="en-US" sz="2800" dirty="0">
                <a:latin typeface="Times New Roman"/>
                <a:cs typeface="Times New Roman"/>
              </a:rPr>
              <a:t>Learning</a:t>
            </a:r>
            <a:r>
              <a:rPr lang="en-US" sz="2800" spc="-65" dirty="0">
                <a:latin typeface="Times New Roman"/>
                <a:cs typeface="Times New Roman"/>
              </a:rPr>
              <a:t> </a:t>
            </a:r>
            <a:r>
              <a:rPr lang="en-US" sz="2800" dirty="0">
                <a:latin typeface="Times New Roman"/>
                <a:cs typeface="Times New Roman"/>
              </a:rPr>
              <a:t>Connected</a:t>
            </a:r>
            <a:r>
              <a:rPr lang="en-US" sz="2800" spc="-50" dirty="0">
                <a:latin typeface="Times New Roman"/>
                <a:cs typeface="Times New Roman"/>
              </a:rPr>
              <a:t> </a:t>
            </a:r>
            <a:r>
              <a:rPr lang="en-US" sz="2800" dirty="0">
                <a:latin typeface="Times New Roman"/>
                <a:cs typeface="Times New Roman"/>
              </a:rPr>
              <a:t>Routes</a:t>
            </a:r>
          </a:p>
          <a:p>
            <a:pPr marL="561340" lvl="1" indent="-229235">
              <a:lnSpc>
                <a:spcPts val="2755"/>
              </a:lnSpc>
              <a:buClr>
                <a:srgbClr val="9B2C1F"/>
              </a:buClr>
              <a:buSzPct val="85416"/>
              <a:buFont typeface="Wingdings"/>
              <a:buChar char=""/>
              <a:tabLst>
                <a:tab pos="561975" algn="l"/>
              </a:tabLst>
            </a:pPr>
            <a:r>
              <a:rPr lang="en-US" sz="2800" dirty="0">
                <a:latin typeface="Times New Roman"/>
                <a:cs typeface="Times New Roman"/>
              </a:rPr>
              <a:t>Static</a:t>
            </a:r>
            <a:r>
              <a:rPr lang="en-US" sz="2800" spc="-80" dirty="0">
                <a:latin typeface="Times New Roman"/>
                <a:cs typeface="Times New Roman"/>
              </a:rPr>
              <a:t> </a:t>
            </a:r>
            <a:r>
              <a:rPr lang="en-US" sz="2800" spc="-5" dirty="0">
                <a:latin typeface="Times New Roman"/>
                <a:cs typeface="Times New Roman"/>
              </a:rPr>
              <a:t>Routes</a:t>
            </a:r>
            <a:endParaRPr lang="en-US" sz="2800" dirty="0">
              <a:latin typeface="Times New Roman"/>
              <a:cs typeface="Times New Roman"/>
            </a:endParaRPr>
          </a:p>
          <a:p>
            <a:pPr marL="469265" indent="-457200">
              <a:lnSpc>
                <a:spcPts val="3235"/>
              </a:lnSpc>
              <a:buClr>
                <a:srgbClr val="D24717"/>
              </a:buClr>
              <a:buSzPct val="83928"/>
              <a:buFont typeface="Wingdings" panose="05000000000000000000" pitchFamily="2" charset="2"/>
              <a:buChar char="Ø"/>
              <a:tabLst>
                <a:tab pos="374015" algn="l"/>
                <a:tab pos="374650" algn="l"/>
              </a:tabLst>
            </a:pPr>
            <a:r>
              <a:rPr lang="en-US" sz="3200" b="1" spc="-5" dirty="0">
                <a:latin typeface="Times New Roman"/>
                <a:cs typeface="Times New Roman"/>
              </a:rPr>
              <a:t>Dynamic</a:t>
            </a:r>
            <a:r>
              <a:rPr lang="en-US" sz="3200" b="1" spc="-15" dirty="0">
                <a:latin typeface="Times New Roman"/>
                <a:cs typeface="Times New Roman"/>
              </a:rPr>
              <a:t> </a:t>
            </a:r>
            <a:r>
              <a:rPr lang="en-US" sz="3200" b="1" dirty="0">
                <a:latin typeface="Times New Roman"/>
                <a:cs typeface="Times New Roman"/>
              </a:rPr>
              <a:t>Routing</a:t>
            </a:r>
            <a:r>
              <a:rPr lang="en-US" sz="3200" b="1" spc="-5" dirty="0">
                <a:latin typeface="Times New Roman"/>
                <a:cs typeface="Times New Roman"/>
              </a:rPr>
              <a:t> Overview</a:t>
            </a:r>
            <a:endParaRPr lang="en-US" sz="3200" dirty="0">
              <a:latin typeface="Times New Roman"/>
              <a:cs typeface="Times New Roman"/>
            </a:endParaRPr>
          </a:p>
          <a:p>
            <a:pPr marL="561340" marR="5080" lvl="1" indent="-229235">
              <a:lnSpc>
                <a:spcPts val="2300"/>
              </a:lnSpc>
              <a:spcBef>
                <a:spcPts val="475"/>
              </a:spcBef>
              <a:buClr>
                <a:srgbClr val="9B2C1F"/>
              </a:buClr>
              <a:buSzPct val="85416"/>
              <a:buFont typeface="Wingdings"/>
              <a:buChar char=""/>
              <a:tabLst>
                <a:tab pos="561975" algn="l"/>
                <a:tab pos="5879465" algn="l"/>
              </a:tabLst>
            </a:pPr>
            <a:r>
              <a:rPr lang="en-US" sz="2800" spc="-20" dirty="0">
                <a:latin typeface="Times New Roman"/>
                <a:cs typeface="Times New Roman"/>
              </a:rPr>
              <a:t>Terminology </a:t>
            </a:r>
            <a:r>
              <a:rPr lang="en-US" sz="2800" dirty="0">
                <a:latin typeface="Times New Roman"/>
                <a:cs typeface="Times New Roman"/>
              </a:rPr>
              <a:t>Related</a:t>
            </a:r>
            <a:r>
              <a:rPr lang="en-US" sz="2800" spc="-30" dirty="0">
                <a:latin typeface="Times New Roman"/>
                <a:cs typeface="Times New Roman"/>
              </a:rPr>
              <a:t> </a:t>
            </a:r>
            <a:r>
              <a:rPr lang="en-US" sz="2800" dirty="0">
                <a:latin typeface="Times New Roman"/>
                <a:cs typeface="Times New Roman"/>
              </a:rPr>
              <a:t>to</a:t>
            </a:r>
            <a:r>
              <a:rPr lang="en-US" sz="2800" spc="-5" dirty="0">
                <a:latin typeface="Times New Roman"/>
                <a:cs typeface="Times New Roman"/>
              </a:rPr>
              <a:t> </a:t>
            </a:r>
            <a:r>
              <a:rPr lang="en-US" sz="2800" dirty="0">
                <a:latin typeface="Times New Roman"/>
                <a:cs typeface="Times New Roman"/>
              </a:rPr>
              <a:t>Routing </a:t>
            </a:r>
            <a:r>
              <a:rPr lang="en-US" sz="2800" dirty="0" err="1">
                <a:latin typeface="Times New Roman"/>
                <a:cs typeface="Times New Roman"/>
              </a:rPr>
              <a:t>Protocols,Routing</a:t>
            </a:r>
            <a:r>
              <a:rPr lang="en-US" sz="2800" spc="-105" dirty="0">
                <a:latin typeface="Times New Roman"/>
                <a:cs typeface="Times New Roman"/>
              </a:rPr>
              <a:t> </a:t>
            </a:r>
            <a:r>
              <a:rPr lang="en-US" sz="2800" dirty="0">
                <a:latin typeface="Times New Roman"/>
                <a:cs typeface="Times New Roman"/>
              </a:rPr>
              <a:t>Protocol </a:t>
            </a:r>
            <a:r>
              <a:rPr lang="en-US" sz="2800" spc="-585" dirty="0">
                <a:latin typeface="Times New Roman"/>
                <a:cs typeface="Times New Roman"/>
              </a:rPr>
              <a:t> </a:t>
            </a:r>
            <a:r>
              <a:rPr lang="en-US" sz="2800" dirty="0">
                <a:latin typeface="Times New Roman"/>
                <a:cs typeface="Times New Roman"/>
              </a:rPr>
              <a:t>Functions</a:t>
            </a:r>
          </a:p>
          <a:p>
            <a:pPr marL="561340" lvl="1" indent="-229235">
              <a:lnSpc>
                <a:spcPts val="2585"/>
              </a:lnSpc>
              <a:buClr>
                <a:srgbClr val="9B2C1F"/>
              </a:buClr>
              <a:buSzPct val="85416"/>
              <a:buFont typeface="Wingdings"/>
              <a:buChar char=""/>
              <a:tabLst>
                <a:tab pos="561975" algn="l"/>
              </a:tabLst>
            </a:pPr>
            <a:r>
              <a:rPr lang="en-US" sz="2800" dirty="0">
                <a:latin typeface="Times New Roman"/>
                <a:cs typeface="Times New Roman"/>
              </a:rPr>
              <a:t>Interior</a:t>
            </a:r>
            <a:r>
              <a:rPr lang="en-US" sz="2800" spc="-65" dirty="0">
                <a:latin typeface="Times New Roman"/>
                <a:cs typeface="Times New Roman"/>
              </a:rPr>
              <a:t> </a:t>
            </a:r>
            <a:r>
              <a:rPr lang="en-US" sz="2800" dirty="0">
                <a:latin typeface="Times New Roman"/>
                <a:cs typeface="Times New Roman"/>
              </a:rPr>
              <a:t>and</a:t>
            </a:r>
            <a:r>
              <a:rPr lang="en-US" sz="2800" spc="-25" dirty="0">
                <a:latin typeface="Times New Roman"/>
                <a:cs typeface="Times New Roman"/>
              </a:rPr>
              <a:t> </a:t>
            </a:r>
            <a:r>
              <a:rPr lang="en-US" sz="2800" dirty="0">
                <a:latin typeface="Times New Roman"/>
                <a:cs typeface="Times New Roman"/>
              </a:rPr>
              <a:t>Exterior</a:t>
            </a:r>
            <a:r>
              <a:rPr lang="en-US" sz="2800" spc="-35" dirty="0">
                <a:latin typeface="Times New Roman"/>
                <a:cs typeface="Times New Roman"/>
              </a:rPr>
              <a:t> </a:t>
            </a:r>
            <a:r>
              <a:rPr lang="en-US" sz="2800" dirty="0">
                <a:latin typeface="Times New Roman"/>
                <a:cs typeface="Times New Roman"/>
              </a:rPr>
              <a:t>Routing</a:t>
            </a:r>
            <a:r>
              <a:rPr lang="en-US" sz="2800" spc="-35" dirty="0">
                <a:latin typeface="Times New Roman"/>
                <a:cs typeface="Times New Roman"/>
              </a:rPr>
              <a:t> </a:t>
            </a:r>
            <a:r>
              <a:rPr lang="en-US" sz="2800" dirty="0">
                <a:latin typeface="Times New Roman"/>
                <a:cs typeface="Times New Roman"/>
              </a:rPr>
              <a:t>Protocols</a:t>
            </a:r>
          </a:p>
          <a:p>
            <a:pPr marL="561340" marR="563245" lvl="1" indent="-229235">
              <a:lnSpc>
                <a:spcPts val="2690"/>
              </a:lnSpc>
              <a:spcBef>
                <a:spcPts val="509"/>
              </a:spcBef>
              <a:buClr>
                <a:srgbClr val="9B2C1F"/>
              </a:buClr>
              <a:buSzPct val="80357"/>
              <a:buFont typeface="Wingdings"/>
              <a:buChar char=""/>
              <a:tabLst>
                <a:tab pos="570865" algn="l"/>
              </a:tabLst>
            </a:pPr>
            <a:r>
              <a:rPr lang="en-US" sz="3200" spc="-5" dirty="0">
                <a:latin typeface="Times New Roman"/>
                <a:cs typeface="Times New Roman"/>
              </a:rPr>
              <a:t>How</a:t>
            </a:r>
            <a:r>
              <a:rPr lang="en-US" sz="3200" spc="5" dirty="0">
                <a:latin typeface="Times New Roman"/>
                <a:cs typeface="Times New Roman"/>
              </a:rPr>
              <a:t> </a:t>
            </a:r>
            <a:r>
              <a:rPr lang="en-US" sz="3200" spc="-5" dirty="0">
                <a:latin typeface="Times New Roman"/>
                <a:cs typeface="Times New Roman"/>
              </a:rPr>
              <a:t>Routing</a:t>
            </a:r>
            <a:r>
              <a:rPr lang="en-US" sz="3200" dirty="0">
                <a:latin typeface="Times New Roman"/>
                <a:cs typeface="Times New Roman"/>
              </a:rPr>
              <a:t> </a:t>
            </a:r>
            <a:r>
              <a:rPr lang="en-US" sz="3200" spc="-5" dirty="0">
                <a:latin typeface="Times New Roman"/>
                <a:cs typeface="Times New Roman"/>
              </a:rPr>
              <a:t>Protocols</a:t>
            </a:r>
            <a:r>
              <a:rPr lang="en-US" sz="3200" spc="-65" dirty="0">
                <a:latin typeface="Times New Roman"/>
                <a:cs typeface="Times New Roman"/>
              </a:rPr>
              <a:t> </a:t>
            </a:r>
            <a:r>
              <a:rPr lang="en-US" sz="3200" spc="-50" dirty="0">
                <a:latin typeface="Times New Roman"/>
                <a:cs typeface="Times New Roman"/>
              </a:rPr>
              <a:t>Work:</a:t>
            </a:r>
            <a:r>
              <a:rPr lang="en-US" sz="3200" spc="10" dirty="0">
                <a:latin typeface="Times New Roman"/>
                <a:cs typeface="Times New Roman"/>
              </a:rPr>
              <a:t> </a:t>
            </a:r>
            <a:r>
              <a:rPr lang="en-US" sz="3200" spc="-5" dirty="0">
                <a:latin typeface="Times New Roman"/>
                <a:cs typeface="Times New Roman"/>
              </a:rPr>
              <a:t>Routing</a:t>
            </a:r>
            <a:r>
              <a:rPr lang="en-US" sz="3200" spc="-15" dirty="0">
                <a:latin typeface="Times New Roman"/>
                <a:cs typeface="Times New Roman"/>
              </a:rPr>
              <a:t> </a:t>
            </a:r>
            <a:r>
              <a:rPr lang="en-US" sz="3200" spc="-5" dirty="0">
                <a:latin typeface="Times New Roman"/>
                <a:cs typeface="Times New Roman"/>
              </a:rPr>
              <a:t>Protocol </a:t>
            </a:r>
            <a:r>
              <a:rPr lang="en-US" sz="3200" spc="-685" dirty="0">
                <a:latin typeface="Times New Roman"/>
                <a:cs typeface="Times New Roman"/>
              </a:rPr>
              <a:t> </a:t>
            </a:r>
            <a:r>
              <a:rPr lang="en-US" sz="3200" spc="-5" dirty="0">
                <a:latin typeface="Times New Roman"/>
                <a:cs typeface="Times New Roman"/>
              </a:rPr>
              <a:t>Algorithms</a:t>
            </a:r>
            <a:endParaRPr lang="en-US" sz="3200" dirty="0">
              <a:latin typeface="Times New Roman"/>
              <a:cs typeface="Times New Roman"/>
            </a:endParaRPr>
          </a:p>
          <a:p>
            <a:pPr marL="469900" indent="-457200">
              <a:lnSpc>
                <a:spcPts val="3229"/>
              </a:lnSpc>
              <a:buClr>
                <a:srgbClr val="D24717"/>
              </a:buClr>
              <a:buSzPct val="83928"/>
              <a:buFont typeface="Wingdings" panose="05000000000000000000" pitchFamily="2" charset="2"/>
              <a:buChar char="Ø"/>
              <a:tabLst>
                <a:tab pos="287020" algn="l"/>
              </a:tabLst>
            </a:pPr>
            <a:r>
              <a:rPr lang="en-US" sz="3200" b="1" spc="-5" dirty="0">
                <a:latin typeface="Times New Roman"/>
                <a:cs typeface="Times New Roman"/>
              </a:rPr>
              <a:t>Routing </a:t>
            </a:r>
            <a:r>
              <a:rPr lang="en-US" sz="3200" b="1" spc="-10" dirty="0">
                <a:latin typeface="Times New Roman"/>
                <a:cs typeface="Times New Roman"/>
              </a:rPr>
              <a:t>Protocols</a:t>
            </a:r>
            <a:r>
              <a:rPr lang="en-US" sz="3200" b="1" spc="-20" dirty="0">
                <a:latin typeface="Times New Roman"/>
                <a:cs typeface="Times New Roman"/>
              </a:rPr>
              <a:t> </a:t>
            </a:r>
            <a:r>
              <a:rPr lang="en-US" sz="3200" b="1" spc="-5" dirty="0">
                <a:latin typeface="Times New Roman"/>
                <a:cs typeface="Times New Roman"/>
              </a:rPr>
              <a:t>Overview</a:t>
            </a:r>
            <a:endParaRPr lang="en-US" sz="3200" dirty="0">
              <a:latin typeface="Times New Roman"/>
              <a:cs typeface="Times New Roman"/>
            </a:endParaRPr>
          </a:p>
          <a:p>
            <a:pPr marL="561340" lvl="1" indent="-229235">
              <a:lnSpc>
                <a:spcPts val="2710"/>
              </a:lnSpc>
              <a:buClr>
                <a:srgbClr val="9B2C1F"/>
              </a:buClr>
              <a:buSzPct val="85416"/>
              <a:buFont typeface="Wingdings"/>
              <a:buChar char=""/>
              <a:tabLst>
                <a:tab pos="561975" algn="l"/>
              </a:tabLst>
            </a:pPr>
            <a:r>
              <a:rPr lang="en-US" sz="2800" spc="-5" dirty="0">
                <a:latin typeface="Times New Roman"/>
                <a:cs typeface="Times New Roman"/>
              </a:rPr>
              <a:t>A</a:t>
            </a:r>
            <a:r>
              <a:rPr lang="en-US" sz="2800" spc="-140" dirty="0">
                <a:latin typeface="Times New Roman"/>
                <a:cs typeface="Times New Roman"/>
              </a:rPr>
              <a:t> </a:t>
            </a:r>
            <a:r>
              <a:rPr lang="en-US" sz="2800" dirty="0">
                <a:latin typeface="Times New Roman"/>
                <a:cs typeface="Times New Roman"/>
              </a:rPr>
              <a:t>Brief</a:t>
            </a:r>
            <a:r>
              <a:rPr lang="en-US" sz="2800" spc="-20" dirty="0">
                <a:latin typeface="Times New Roman"/>
                <a:cs typeface="Times New Roman"/>
              </a:rPr>
              <a:t> </a:t>
            </a:r>
            <a:r>
              <a:rPr lang="en-US" sz="2800" dirty="0">
                <a:latin typeface="Times New Roman"/>
                <a:cs typeface="Times New Roman"/>
              </a:rPr>
              <a:t>Review of</a:t>
            </a:r>
            <a:r>
              <a:rPr lang="en-US" sz="2800" spc="-10" dirty="0">
                <a:latin typeface="Times New Roman"/>
                <a:cs typeface="Times New Roman"/>
              </a:rPr>
              <a:t> </a:t>
            </a:r>
            <a:r>
              <a:rPr lang="en-US" sz="2800" spc="-5" dirty="0">
                <a:latin typeface="Times New Roman"/>
                <a:cs typeface="Times New Roman"/>
              </a:rPr>
              <a:t>IP</a:t>
            </a:r>
            <a:r>
              <a:rPr lang="en-US" sz="2800" spc="-85" dirty="0">
                <a:latin typeface="Times New Roman"/>
                <a:cs typeface="Times New Roman"/>
              </a:rPr>
              <a:t> </a:t>
            </a:r>
            <a:r>
              <a:rPr lang="en-US" sz="2800" dirty="0">
                <a:latin typeface="Times New Roman"/>
                <a:cs typeface="Times New Roman"/>
              </a:rPr>
              <a:t>Routing</a:t>
            </a:r>
          </a:p>
          <a:p>
            <a:pPr marL="561340" lvl="1" indent="-229235">
              <a:lnSpc>
                <a:spcPts val="2705"/>
              </a:lnSpc>
              <a:buClr>
                <a:srgbClr val="9B2C1F"/>
              </a:buClr>
              <a:buSzPct val="85416"/>
              <a:buFont typeface="Wingdings"/>
              <a:buChar char=""/>
              <a:tabLst>
                <a:tab pos="561975" algn="l"/>
              </a:tabLst>
            </a:pPr>
            <a:r>
              <a:rPr lang="en-US" sz="2800" dirty="0">
                <a:latin typeface="Times New Roman"/>
                <a:cs typeface="Times New Roman"/>
              </a:rPr>
              <a:t>Routing</a:t>
            </a:r>
            <a:r>
              <a:rPr lang="en-US" sz="2800" spc="-30" dirty="0">
                <a:latin typeface="Times New Roman"/>
                <a:cs typeface="Times New Roman"/>
              </a:rPr>
              <a:t> </a:t>
            </a:r>
            <a:r>
              <a:rPr lang="en-US" sz="2800" dirty="0">
                <a:latin typeface="Times New Roman"/>
                <a:cs typeface="Times New Roman"/>
              </a:rPr>
              <a:t>Protocol</a:t>
            </a:r>
            <a:r>
              <a:rPr lang="en-US" sz="2800" spc="-25" dirty="0">
                <a:latin typeface="Times New Roman"/>
                <a:cs typeface="Times New Roman"/>
              </a:rPr>
              <a:t> </a:t>
            </a:r>
            <a:r>
              <a:rPr lang="en-US" sz="2800" dirty="0">
                <a:latin typeface="Times New Roman"/>
                <a:cs typeface="Times New Roman"/>
              </a:rPr>
              <a:t>Features:</a:t>
            </a:r>
            <a:r>
              <a:rPr lang="en-US" sz="2800" spc="-35" dirty="0">
                <a:latin typeface="Times New Roman"/>
                <a:cs typeface="Times New Roman"/>
              </a:rPr>
              <a:t> </a:t>
            </a:r>
            <a:r>
              <a:rPr lang="en-US" sz="2800" spc="-70" dirty="0">
                <a:latin typeface="Times New Roman"/>
                <a:cs typeface="Times New Roman"/>
              </a:rPr>
              <a:t>RIP,</a:t>
            </a:r>
            <a:r>
              <a:rPr lang="en-US" sz="2800" spc="-10" dirty="0">
                <a:latin typeface="Times New Roman"/>
                <a:cs typeface="Times New Roman"/>
              </a:rPr>
              <a:t> </a:t>
            </a:r>
            <a:r>
              <a:rPr lang="en-US" sz="2800" spc="-45" dirty="0">
                <a:latin typeface="Times New Roman"/>
                <a:cs typeface="Times New Roman"/>
              </a:rPr>
              <a:t>OSPF,</a:t>
            </a:r>
            <a:r>
              <a:rPr lang="en-US" sz="2800" spc="25" dirty="0">
                <a:latin typeface="Times New Roman"/>
                <a:cs typeface="Times New Roman"/>
              </a:rPr>
              <a:t> </a:t>
            </a:r>
            <a:r>
              <a:rPr lang="en-US" sz="2800" spc="-50" dirty="0">
                <a:latin typeface="Times New Roman"/>
                <a:cs typeface="Times New Roman"/>
              </a:rPr>
              <a:t>EIGRP,</a:t>
            </a:r>
            <a:r>
              <a:rPr lang="en-US" sz="2800" dirty="0">
                <a:latin typeface="Times New Roman"/>
                <a:cs typeface="Times New Roman"/>
              </a:rPr>
              <a:t> and</a:t>
            </a:r>
            <a:r>
              <a:rPr lang="en-US" sz="2800" spc="-15" dirty="0">
                <a:latin typeface="Times New Roman"/>
                <a:cs typeface="Times New Roman"/>
              </a:rPr>
              <a:t> </a:t>
            </a:r>
            <a:r>
              <a:rPr lang="en-US" sz="2800" spc="-5" dirty="0">
                <a:latin typeface="Times New Roman"/>
                <a:cs typeface="Times New Roman"/>
              </a:rPr>
              <a:t>BGP</a:t>
            </a:r>
            <a:endParaRPr lang="en-US" sz="2800" dirty="0">
              <a:latin typeface="Times New Roman"/>
              <a:cs typeface="Times New Roman"/>
            </a:endParaRPr>
          </a:p>
          <a:p>
            <a:pPr marL="561340" lvl="1" indent="-229235">
              <a:lnSpc>
                <a:spcPts val="2755"/>
              </a:lnSpc>
              <a:buClr>
                <a:srgbClr val="9B2C1F"/>
              </a:buClr>
              <a:buSzPct val="85416"/>
              <a:buFont typeface="Wingdings"/>
              <a:buChar char=""/>
              <a:tabLst>
                <a:tab pos="561975" algn="l"/>
              </a:tabLst>
            </a:pPr>
            <a:r>
              <a:rPr lang="en-US" sz="2800" dirty="0">
                <a:latin typeface="Times New Roman"/>
                <a:cs typeface="Times New Roman"/>
              </a:rPr>
              <a:t>RIP</a:t>
            </a:r>
            <a:r>
              <a:rPr lang="en-US" sz="2800" spc="-120" dirty="0">
                <a:latin typeface="Times New Roman"/>
                <a:cs typeface="Times New Roman"/>
              </a:rPr>
              <a:t> </a:t>
            </a:r>
            <a:r>
              <a:rPr lang="en-US" sz="2800" spc="-5" dirty="0">
                <a:latin typeface="Times New Roman"/>
                <a:cs typeface="Times New Roman"/>
              </a:rPr>
              <a:t>Configuration</a:t>
            </a:r>
            <a:endParaRPr lang="en-US" sz="2800" dirty="0">
              <a:latin typeface="Times New Roman"/>
              <a:cs typeface="Times New Roman"/>
            </a:endParaRPr>
          </a:p>
          <a:p>
            <a:pPr marL="469900" indent="-457200">
              <a:lnSpc>
                <a:spcPts val="3315"/>
              </a:lnSpc>
              <a:buClr>
                <a:srgbClr val="D24717"/>
              </a:buClr>
              <a:buSzPct val="83928"/>
              <a:buFont typeface="Wingdings" panose="05000000000000000000" pitchFamily="2" charset="2"/>
              <a:buChar char="Ø"/>
              <a:tabLst>
                <a:tab pos="287020" algn="l"/>
              </a:tabLst>
            </a:pPr>
            <a:r>
              <a:rPr lang="en-US" sz="3200" b="1" spc="-5" dirty="0">
                <a:latin typeface="Times New Roman"/>
                <a:cs typeface="Times New Roman"/>
              </a:rPr>
              <a:t>Summary</a:t>
            </a:r>
            <a:endParaRPr lang="en-US" sz="32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5612" y="373684"/>
            <a:ext cx="8010488" cy="690537"/>
          </a:xfrm>
          <a:prstGeom prst="rect">
            <a:avLst/>
          </a:prstGeom>
        </p:spPr>
        <p:txBody>
          <a:bodyPr vert="horz" wrap="square" lIns="0" tIns="13299" rIns="0" bIns="0" rtlCol="0" anchor="ctr">
            <a:spAutoFit/>
          </a:bodyPr>
          <a:lstStyle/>
          <a:p>
            <a:pPr marL="13999">
              <a:lnSpc>
                <a:spcPct val="100000"/>
              </a:lnSpc>
              <a:spcBef>
                <a:spcPts val="105"/>
              </a:spcBef>
            </a:pPr>
            <a:r>
              <a:rPr lang="en-US" b="1" spc="209" dirty="0">
                <a:solidFill>
                  <a:schemeClr val="bg1"/>
                </a:solidFill>
                <a:latin typeface="Times New Roman" panose="02020603050405020304" pitchFamily="18" charset="0"/>
                <a:cs typeface="Times New Roman" panose="02020603050405020304" pitchFamily="18" charset="0"/>
              </a:rPr>
              <a:t>Routing Basics</a:t>
            </a:r>
            <a:endParaRPr b="1" dirty="0">
              <a:solidFill>
                <a:schemeClr val="bg1"/>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xfrm>
            <a:off x="230124"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9370">
              <a:lnSpc>
                <a:spcPts val="1664"/>
              </a:lnSpc>
            </a:pPr>
            <a:fld id="{81D60167-4931-47E6-BA6A-407CBD079E47}" type="slidenum">
              <a:rPr lang="en-US" smtClean="0"/>
              <a:pPr marL="39370">
                <a:lnSpc>
                  <a:spcPts val="1664"/>
                </a:lnSpc>
              </a:pPr>
              <a:t>3</a:t>
            </a:fld>
            <a:endParaRPr dirty="0"/>
          </a:p>
        </p:txBody>
      </p:sp>
      <p:pic>
        <p:nvPicPr>
          <p:cNvPr id="2" name="Picture 1">
            <a:extLst>
              <a:ext uri="{FF2B5EF4-FFF2-40B4-BE49-F238E27FC236}">
                <a16:creationId xmlns:a16="http://schemas.microsoft.com/office/drawing/2014/main" id="{9851F532-DE1B-4060-9A1C-116C22BD0E1F}"/>
              </a:ext>
            </a:extLst>
          </p:cNvPr>
          <p:cNvPicPr>
            <a:picLocks noChangeAspect="1"/>
          </p:cNvPicPr>
          <p:nvPr/>
        </p:nvPicPr>
        <p:blipFill>
          <a:blip r:embed="rId2"/>
          <a:stretch>
            <a:fillRect/>
          </a:stretch>
        </p:blipFill>
        <p:spPr>
          <a:xfrm>
            <a:off x="1289907" y="1718522"/>
            <a:ext cx="7794882" cy="5467469"/>
          </a:xfrm>
          <a:prstGeom prst="rect">
            <a:avLst/>
          </a:prstGeom>
        </p:spPr>
      </p:pic>
    </p:spTree>
    <p:extLst>
      <p:ext uri="{BB962C8B-B14F-4D97-AF65-F5344CB8AC3E}">
        <p14:creationId xmlns:p14="http://schemas.microsoft.com/office/powerpoint/2010/main" val="3526283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5612" y="373684"/>
            <a:ext cx="8010488" cy="690537"/>
          </a:xfrm>
          <a:prstGeom prst="rect">
            <a:avLst/>
          </a:prstGeom>
        </p:spPr>
        <p:txBody>
          <a:bodyPr vert="horz" wrap="square" lIns="0" tIns="13299" rIns="0" bIns="0" rtlCol="0" anchor="ctr">
            <a:spAutoFit/>
          </a:bodyPr>
          <a:lstStyle/>
          <a:p>
            <a:pPr marL="13999">
              <a:lnSpc>
                <a:spcPct val="100000"/>
              </a:lnSpc>
              <a:spcBef>
                <a:spcPts val="105"/>
              </a:spcBef>
            </a:pPr>
            <a:r>
              <a:rPr lang="en-US" b="1" spc="209" dirty="0">
                <a:solidFill>
                  <a:schemeClr val="bg1"/>
                </a:solidFill>
                <a:latin typeface="Times New Roman" panose="02020603050405020304" pitchFamily="18" charset="0"/>
                <a:cs typeface="Times New Roman" panose="02020603050405020304" pitchFamily="18" charset="0"/>
              </a:rPr>
              <a:t>Routing Basics</a:t>
            </a:r>
            <a:endParaRPr b="1" dirty="0">
              <a:solidFill>
                <a:schemeClr val="bg1"/>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xfrm>
            <a:off x="230124"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9370">
              <a:lnSpc>
                <a:spcPts val="1664"/>
              </a:lnSpc>
            </a:pPr>
            <a:fld id="{81D60167-4931-47E6-BA6A-407CBD079E47}" type="slidenum">
              <a:rPr lang="en-US" smtClean="0"/>
              <a:pPr marL="39370">
                <a:lnSpc>
                  <a:spcPts val="1664"/>
                </a:lnSpc>
              </a:pPr>
              <a:t>4</a:t>
            </a:fld>
            <a:endParaRPr dirty="0"/>
          </a:p>
        </p:txBody>
      </p:sp>
      <p:sp>
        <p:nvSpPr>
          <p:cNvPr id="4" name="object 4"/>
          <p:cNvSpPr txBox="1"/>
          <p:nvPr/>
        </p:nvSpPr>
        <p:spPr>
          <a:xfrm>
            <a:off x="230123" y="1818070"/>
            <a:ext cx="9620377" cy="4484590"/>
          </a:xfrm>
          <a:prstGeom prst="rect">
            <a:avLst/>
          </a:prstGeom>
        </p:spPr>
        <p:txBody>
          <a:bodyPr vert="horz" wrap="square" lIns="0" tIns="13999" rIns="0" bIns="0" rtlCol="0">
            <a:spAutoFit/>
          </a:bodyPr>
          <a:lstStyle/>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Routing is the process that a router uses to </a:t>
            </a:r>
            <a:r>
              <a:rPr lang="en-US" sz="3200" b="1" spc="-28" dirty="0">
                <a:solidFill>
                  <a:srgbClr val="FF0000"/>
                </a:solidFill>
                <a:latin typeface="Times New Roman" panose="02020603050405020304" pitchFamily="18" charset="0"/>
                <a:cs typeface="Times New Roman" panose="02020603050405020304" pitchFamily="18" charset="0"/>
              </a:rPr>
              <a:t>forward  packets</a:t>
            </a:r>
            <a:r>
              <a:rPr lang="en-US" sz="3200" spc="-28" dirty="0">
                <a:latin typeface="Times New Roman" panose="02020603050405020304" pitchFamily="18" charset="0"/>
                <a:cs typeface="Times New Roman" panose="02020603050405020304" pitchFamily="18" charset="0"/>
              </a:rPr>
              <a:t> toward the destination network.</a:t>
            </a:r>
          </a:p>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A router makes  decisions based upon the </a:t>
            </a:r>
            <a:r>
              <a:rPr lang="en-US" sz="3200" b="1" spc="-28" dirty="0">
                <a:solidFill>
                  <a:srgbClr val="FF0000"/>
                </a:solidFill>
                <a:latin typeface="Times New Roman" panose="02020603050405020304" pitchFamily="18" charset="0"/>
                <a:cs typeface="Times New Roman" panose="02020603050405020304" pitchFamily="18" charset="0"/>
              </a:rPr>
              <a:t>destination</a:t>
            </a:r>
            <a:r>
              <a:rPr lang="en-US" sz="3200" spc="-28" dirty="0">
                <a:latin typeface="Times New Roman" panose="02020603050405020304" pitchFamily="18" charset="0"/>
                <a:cs typeface="Times New Roman" panose="02020603050405020304" pitchFamily="18" charset="0"/>
              </a:rPr>
              <a:t> </a:t>
            </a:r>
            <a:r>
              <a:rPr lang="en-US" sz="3200" b="1" spc="-28" dirty="0">
                <a:solidFill>
                  <a:srgbClr val="FF0000"/>
                </a:solidFill>
                <a:latin typeface="Times New Roman" panose="02020603050405020304" pitchFamily="18" charset="0"/>
                <a:cs typeface="Times New Roman" panose="02020603050405020304" pitchFamily="18" charset="0"/>
              </a:rPr>
              <a:t>IP</a:t>
            </a:r>
            <a:r>
              <a:rPr lang="en-US" sz="3200" spc="-28" dirty="0">
                <a:latin typeface="Times New Roman" panose="02020603050405020304" pitchFamily="18" charset="0"/>
                <a:cs typeface="Times New Roman" panose="02020603050405020304" pitchFamily="18" charset="0"/>
              </a:rPr>
              <a:t> address of a  packet.</a:t>
            </a:r>
          </a:p>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When routers use </a:t>
            </a:r>
            <a:r>
              <a:rPr lang="en-US" sz="3200" b="1" spc="-28" dirty="0">
                <a:solidFill>
                  <a:srgbClr val="FF0000"/>
                </a:solidFill>
                <a:latin typeface="Times New Roman" panose="02020603050405020304" pitchFamily="18" charset="0"/>
                <a:cs typeface="Times New Roman" panose="02020603050405020304" pitchFamily="18" charset="0"/>
              </a:rPr>
              <a:t>dynamic routing</a:t>
            </a:r>
            <a:r>
              <a:rPr lang="en-US" sz="3200" spc="-28" dirty="0">
                <a:latin typeface="Times New Roman" panose="02020603050405020304" pitchFamily="18" charset="0"/>
                <a:cs typeface="Times New Roman" panose="02020603050405020304" pitchFamily="18" charset="0"/>
              </a:rPr>
              <a:t>, this information is  </a:t>
            </a:r>
            <a:r>
              <a:rPr lang="en-US" sz="3200" b="1" spc="-28" dirty="0">
                <a:solidFill>
                  <a:srgbClr val="FF0000"/>
                </a:solidFill>
                <a:latin typeface="Times New Roman" panose="02020603050405020304" pitchFamily="18" charset="0"/>
                <a:cs typeface="Times New Roman" panose="02020603050405020304" pitchFamily="18" charset="0"/>
              </a:rPr>
              <a:t>learned from other routers</a:t>
            </a:r>
            <a:r>
              <a:rPr lang="en-US" sz="3200" spc="-28" dirty="0">
                <a:latin typeface="Times New Roman" panose="02020603050405020304" pitchFamily="18" charset="0"/>
                <a:cs typeface="Times New Roman" panose="02020603050405020304" pitchFamily="18" charset="0"/>
              </a:rPr>
              <a:t>.</a:t>
            </a:r>
          </a:p>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When </a:t>
            </a:r>
            <a:r>
              <a:rPr lang="en-US" sz="3200" b="1" spc="-28" dirty="0">
                <a:solidFill>
                  <a:srgbClr val="FF0000"/>
                </a:solidFill>
                <a:latin typeface="Times New Roman" panose="02020603050405020304" pitchFamily="18" charset="0"/>
                <a:cs typeface="Times New Roman" panose="02020603050405020304" pitchFamily="18" charset="0"/>
              </a:rPr>
              <a:t>static</a:t>
            </a:r>
            <a:r>
              <a:rPr lang="en-US" sz="3200" spc="-28" dirty="0">
                <a:latin typeface="Times New Roman" panose="02020603050405020304" pitchFamily="18" charset="0"/>
                <a:cs typeface="Times New Roman" panose="02020603050405020304" pitchFamily="18" charset="0"/>
              </a:rPr>
              <a:t> </a:t>
            </a:r>
            <a:r>
              <a:rPr lang="en-US" sz="3200" b="1" spc="-28" dirty="0">
                <a:solidFill>
                  <a:srgbClr val="FF0000"/>
                </a:solidFill>
                <a:latin typeface="Times New Roman" panose="02020603050405020304" pitchFamily="18" charset="0"/>
                <a:cs typeface="Times New Roman" panose="02020603050405020304" pitchFamily="18" charset="0"/>
              </a:rPr>
              <a:t>routing</a:t>
            </a:r>
            <a:r>
              <a:rPr lang="en-US" sz="3200" spc="-28" dirty="0">
                <a:latin typeface="Times New Roman" panose="02020603050405020304" pitchFamily="18" charset="0"/>
                <a:cs typeface="Times New Roman" panose="02020603050405020304" pitchFamily="18" charset="0"/>
              </a:rPr>
              <a:t> is used, a network administrator  </a:t>
            </a:r>
            <a:r>
              <a:rPr lang="en-US" sz="3200" b="1" spc="-28" dirty="0">
                <a:solidFill>
                  <a:srgbClr val="FF0000"/>
                </a:solidFill>
                <a:latin typeface="Times New Roman" panose="02020603050405020304" pitchFamily="18" charset="0"/>
                <a:cs typeface="Times New Roman" panose="02020603050405020304" pitchFamily="18" charset="0"/>
              </a:rPr>
              <a:t>configures information</a:t>
            </a:r>
            <a:r>
              <a:rPr lang="en-US" sz="3200" spc="-28" dirty="0">
                <a:solidFill>
                  <a:srgbClr val="FF0000"/>
                </a:solidFill>
                <a:latin typeface="Times New Roman" panose="02020603050405020304" pitchFamily="18" charset="0"/>
                <a:cs typeface="Times New Roman" panose="02020603050405020304" pitchFamily="18" charset="0"/>
              </a:rPr>
              <a:t> </a:t>
            </a:r>
            <a:r>
              <a:rPr lang="en-US" sz="3200" spc="-28" dirty="0">
                <a:latin typeface="Times New Roman" panose="02020603050405020304" pitchFamily="18" charset="0"/>
                <a:cs typeface="Times New Roman" panose="02020603050405020304" pitchFamily="18" charset="0"/>
              </a:rPr>
              <a:t>about remote networks manually.</a:t>
            </a:r>
          </a:p>
        </p:txBody>
      </p:sp>
    </p:spTree>
    <p:extLst>
      <p:ext uri="{BB962C8B-B14F-4D97-AF65-F5344CB8AC3E}">
        <p14:creationId xmlns:p14="http://schemas.microsoft.com/office/powerpoint/2010/main" val="2864935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5612" y="373684"/>
            <a:ext cx="8010488" cy="690537"/>
          </a:xfrm>
          <a:prstGeom prst="rect">
            <a:avLst/>
          </a:prstGeom>
        </p:spPr>
        <p:txBody>
          <a:bodyPr vert="horz" wrap="square" lIns="0" tIns="13299" rIns="0" bIns="0" rtlCol="0" anchor="ctr">
            <a:spAutoFit/>
          </a:bodyPr>
          <a:lstStyle/>
          <a:p>
            <a:pPr marL="13999">
              <a:lnSpc>
                <a:spcPct val="100000"/>
              </a:lnSpc>
              <a:spcBef>
                <a:spcPts val="105"/>
              </a:spcBef>
            </a:pPr>
            <a:r>
              <a:rPr lang="en-US" b="1" spc="209" dirty="0">
                <a:solidFill>
                  <a:schemeClr val="bg1"/>
                </a:solidFill>
                <a:latin typeface="Times New Roman" panose="02020603050405020304" pitchFamily="18" charset="0"/>
                <a:cs typeface="Times New Roman" panose="02020603050405020304" pitchFamily="18" charset="0"/>
              </a:rPr>
              <a:t>Role of the Router</a:t>
            </a:r>
            <a:endParaRPr b="1" dirty="0">
              <a:solidFill>
                <a:schemeClr val="bg1"/>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xfrm>
            <a:off x="230124"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9370">
              <a:lnSpc>
                <a:spcPts val="1664"/>
              </a:lnSpc>
            </a:pPr>
            <a:fld id="{81D60167-4931-47E6-BA6A-407CBD079E47}" type="slidenum">
              <a:rPr lang="en-US" smtClean="0"/>
              <a:pPr marL="39370">
                <a:lnSpc>
                  <a:spcPts val="1664"/>
                </a:lnSpc>
              </a:pPr>
              <a:t>5</a:t>
            </a:fld>
            <a:endParaRPr dirty="0"/>
          </a:p>
        </p:txBody>
      </p:sp>
      <p:sp>
        <p:nvSpPr>
          <p:cNvPr id="4" name="object 4"/>
          <p:cNvSpPr txBox="1"/>
          <p:nvPr/>
        </p:nvSpPr>
        <p:spPr>
          <a:xfrm>
            <a:off x="230123" y="1637766"/>
            <a:ext cx="9620377" cy="5002681"/>
          </a:xfrm>
          <a:prstGeom prst="rect">
            <a:avLst/>
          </a:prstGeom>
        </p:spPr>
        <p:txBody>
          <a:bodyPr vert="horz" wrap="square" lIns="0" tIns="13999" rIns="0" bIns="0" rtlCol="0">
            <a:spAutoFit/>
          </a:bodyPr>
          <a:lstStyle/>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The router is a </a:t>
            </a:r>
            <a:r>
              <a:rPr lang="en-US" sz="3200" b="1" spc="-28" dirty="0">
                <a:solidFill>
                  <a:srgbClr val="FF0000"/>
                </a:solidFill>
                <a:latin typeface="Times New Roman" panose="02020603050405020304" pitchFamily="18" charset="0"/>
                <a:cs typeface="Times New Roman" panose="02020603050405020304" pitchFamily="18" charset="0"/>
              </a:rPr>
              <a:t>special-purpose computer </a:t>
            </a:r>
            <a:r>
              <a:rPr lang="en-US" sz="3200" spc="-28" dirty="0">
                <a:latin typeface="Times New Roman" panose="02020603050405020304" pitchFamily="18" charset="0"/>
                <a:cs typeface="Times New Roman" panose="02020603050405020304" pitchFamily="18" charset="0"/>
              </a:rPr>
              <a:t>that plays a  key role in the operation of any data network.</a:t>
            </a:r>
          </a:p>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Routers are primarily responsible for interconnecting  networks by</a:t>
            </a:r>
          </a:p>
          <a:p>
            <a:pPr marL="927699" lvl="1" indent="-457200">
              <a:spcBef>
                <a:spcPts val="110"/>
              </a:spcBef>
              <a:buClr>
                <a:srgbClr val="D24717"/>
              </a:buClr>
              <a:buSzPct val="85416"/>
              <a:buFont typeface="Wingdings" panose="05000000000000000000" pitchFamily="2" charset="2"/>
              <a:buChar char="ü"/>
              <a:tabLst>
                <a:tab pos="314282" algn="l"/>
                <a:tab pos="314982" algn="l"/>
              </a:tabLst>
            </a:pPr>
            <a:r>
              <a:rPr lang="en-US" sz="3200" b="1" spc="-28" dirty="0">
                <a:solidFill>
                  <a:srgbClr val="FF0000"/>
                </a:solidFill>
                <a:latin typeface="Times New Roman" panose="02020603050405020304" pitchFamily="18" charset="0"/>
                <a:cs typeface="Times New Roman" panose="02020603050405020304" pitchFamily="18" charset="0"/>
              </a:rPr>
              <a:t>Determining the best path to send packets</a:t>
            </a:r>
          </a:p>
          <a:p>
            <a:pPr marL="927699" lvl="1" indent="-457200">
              <a:spcBef>
                <a:spcPts val="110"/>
              </a:spcBef>
              <a:buClr>
                <a:srgbClr val="D24717"/>
              </a:buClr>
              <a:buSzPct val="85416"/>
              <a:buFont typeface="Wingdings" panose="05000000000000000000" pitchFamily="2" charset="2"/>
              <a:buChar char="ü"/>
              <a:tabLst>
                <a:tab pos="314282" algn="l"/>
                <a:tab pos="314982" algn="l"/>
              </a:tabLst>
            </a:pPr>
            <a:r>
              <a:rPr lang="en-US" sz="3200" b="1" spc="-28" dirty="0">
                <a:solidFill>
                  <a:srgbClr val="FF0000"/>
                </a:solidFill>
                <a:latin typeface="Times New Roman" panose="02020603050405020304" pitchFamily="18" charset="0"/>
                <a:cs typeface="Times New Roman" panose="02020603050405020304" pitchFamily="18" charset="0"/>
              </a:rPr>
              <a:t>Forwarding packets toward their destination</a:t>
            </a:r>
          </a:p>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The router decides where to forward the packet base on  the </a:t>
            </a:r>
            <a:r>
              <a:rPr lang="en-US" sz="3200" b="1" spc="-28" dirty="0">
                <a:solidFill>
                  <a:srgbClr val="FF0000"/>
                </a:solidFill>
                <a:latin typeface="Times New Roman" panose="02020603050405020304" pitchFamily="18" charset="0"/>
                <a:cs typeface="Times New Roman" panose="02020603050405020304" pitchFamily="18" charset="0"/>
              </a:rPr>
              <a:t>routing table</a:t>
            </a:r>
            <a:r>
              <a:rPr lang="en-US" sz="3200" spc="-28" dirty="0">
                <a:latin typeface="Times New Roman" panose="02020603050405020304" pitchFamily="18" charset="0"/>
                <a:cs typeface="Times New Roman" panose="02020603050405020304" pitchFamily="18" charset="0"/>
              </a:rPr>
              <a:t>.</a:t>
            </a:r>
          </a:p>
          <a:p>
            <a:pPr marL="470499" indent="-457200">
              <a:spcBef>
                <a:spcPts val="110"/>
              </a:spcBef>
              <a:buClr>
                <a:srgbClr val="D24717"/>
              </a:buClr>
              <a:buSzPct val="85416"/>
              <a:buFont typeface="Wingdings" panose="05000000000000000000" pitchFamily="2" charset="2"/>
              <a:buChar char="Ø"/>
              <a:tabLst>
                <a:tab pos="314282" algn="l"/>
                <a:tab pos="314982" algn="l"/>
              </a:tabLst>
            </a:pPr>
            <a:r>
              <a:rPr lang="en-US" sz="3200" spc="-28" dirty="0">
                <a:latin typeface="Times New Roman" panose="02020603050405020304" pitchFamily="18" charset="0"/>
                <a:cs typeface="Times New Roman" panose="02020603050405020304" pitchFamily="18" charset="0"/>
              </a:rPr>
              <a:t>To route packets, routers must have routes in their IP  routing tables.</a:t>
            </a:r>
          </a:p>
        </p:txBody>
      </p:sp>
    </p:spTree>
    <p:extLst>
      <p:ext uri="{BB962C8B-B14F-4D97-AF65-F5344CB8AC3E}">
        <p14:creationId xmlns:p14="http://schemas.microsoft.com/office/powerpoint/2010/main" val="1932925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5612" y="373684"/>
            <a:ext cx="8010488" cy="690537"/>
          </a:xfrm>
          <a:prstGeom prst="rect">
            <a:avLst/>
          </a:prstGeom>
        </p:spPr>
        <p:txBody>
          <a:bodyPr vert="horz" wrap="square" lIns="0" tIns="13299" rIns="0" bIns="0" rtlCol="0" anchor="ctr">
            <a:spAutoFit/>
          </a:bodyPr>
          <a:lstStyle/>
          <a:p>
            <a:pPr marL="13999">
              <a:lnSpc>
                <a:spcPct val="100000"/>
              </a:lnSpc>
              <a:spcBef>
                <a:spcPts val="105"/>
              </a:spcBef>
            </a:pPr>
            <a:r>
              <a:rPr lang="en-US" b="1" spc="209" dirty="0">
                <a:solidFill>
                  <a:schemeClr val="bg1"/>
                </a:solidFill>
                <a:latin typeface="Times New Roman" panose="02020603050405020304" pitchFamily="18" charset="0"/>
                <a:cs typeface="Times New Roman" panose="02020603050405020304" pitchFamily="18" charset="0"/>
              </a:rPr>
              <a:t>Routing Table</a:t>
            </a:r>
            <a:endParaRPr b="1" dirty="0">
              <a:solidFill>
                <a:schemeClr val="bg1"/>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xfrm>
            <a:off x="230124"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9370">
              <a:lnSpc>
                <a:spcPts val="1664"/>
              </a:lnSpc>
            </a:pPr>
            <a:fld id="{81D60167-4931-47E6-BA6A-407CBD079E47}" type="slidenum">
              <a:rPr lang="en-US" smtClean="0"/>
              <a:pPr marL="39370">
                <a:lnSpc>
                  <a:spcPts val="1664"/>
                </a:lnSpc>
              </a:pPr>
              <a:t>6</a:t>
            </a:fld>
            <a:endParaRPr dirty="0"/>
          </a:p>
        </p:txBody>
      </p:sp>
      <p:sp>
        <p:nvSpPr>
          <p:cNvPr id="4" name="object 4"/>
          <p:cNvSpPr txBox="1"/>
          <p:nvPr/>
        </p:nvSpPr>
        <p:spPr>
          <a:xfrm>
            <a:off x="230123" y="1637764"/>
            <a:ext cx="9725246" cy="5623364"/>
          </a:xfrm>
          <a:prstGeom prst="rect">
            <a:avLst/>
          </a:prstGeom>
        </p:spPr>
        <p:txBody>
          <a:bodyPr vert="horz" wrap="square" lIns="0" tIns="13999" rIns="0" bIns="0" rtlCol="0">
            <a:spAutoFit/>
          </a:bodyPr>
          <a:lstStyle/>
          <a:p>
            <a:pPr marL="469265" marR="283845" indent="-457200">
              <a:spcBef>
                <a:spcPts val="470"/>
              </a:spcBef>
              <a:buClr>
                <a:srgbClr val="D24717"/>
              </a:buClr>
              <a:buSzPct val="83928"/>
              <a:buFont typeface="Wingdings" panose="05000000000000000000" pitchFamily="2" charset="2"/>
              <a:buChar char="Ø"/>
              <a:tabLst>
                <a:tab pos="287020" algn="l"/>
              </a:tabLst>
            </a:pPr>
            <a:r>
              <a:rPr lang="en-US" sz="3200" b="1" spc="-5" dirty="0">
                <a:solidFill>
                  <a:srgbClr val="FF0000"/>
                </a:solidFill>
                <a:latin typeface="Times New Roman"/>
                <a:cs typeface="Times New Roman"/>
              </a:rPr>
              <a:t>Routing</a:t>
            </a:r>
            <a:r>
              <a:rPr lang="en-US" sz="3200" spc="-5" dirty="0">
                <a:latin typeface="Times New Roman"/>
                <a:cs typeface="Times New Roman"/>
              </a:rPr>
              <a:t> </a:t>
            </a:r>
            <a:r>
              <a:rPr lang="en-US" sz="3200" b="1" spc="-5" dirty="0">
                <a:solidFill>
                  <a:srgbClr val="FF0000"/>
                </a:solidFill>
                <a:latin typeface="Times New Roman"/>
                <a:cs typeface="Times New Roman"/>
              </a:rPr>
              <a:t>table</a:t>
            </a:r>
            <a:r>
              <a:rPr lang="en-US" sz="3200" spc="-5" dirty="0">
                <a:latin typeface="Times New Roman"/>
                <a:cs typeface="Times New Roman"/>
              </a:rPr>
              <a:t> is a data structure used to store </a:t>
            </a:r>
            <a:r>
              <a:rPr lang="en-US" sz="3200" b="1" dirty="0">
                <a:solidFill>
                  <a:srgbClr val="FF0000"/>
                </a:solidFill>
                <a:latin typeface="Times New Roman"/>
                <a:cs typeface="Times New Roman"/>
              </a:rPr>
              <a:t>routing </a:t>
            </a:r>
            <a:r>
              <a:rPr lang="en-US" sz="3200" b="1" spc="-685" dirty="0">
                <a:solidFill>
                  <a:srgbClr val="FF0000"/>
                </a:solidFill>
                <a:latin typeface="Times New Roman"/>
                <a:cs typeface="Times New Roman"/>
              </a:rPr>
              <a:t> </a:t>
            </a:r>
            <a:r>
              <a:rPr lang="en-US" sz="3200" b="1" spc="-5" dirty="0">
                <a:solidFill>
                  <a:srgbClr val="FF0000"/>
                </a:solidFill>
                <a:latin typeface="Times New Roman"/>
                <a:cs typeface="Times New Roman"/>
              </a:rPr>
              <a:t>information</a:t>
            </a:r>
            <a:r>
              <a:rPr lang="en-US" sz="3200" spc="-20" dirty="0">
                <a:latin typeface="Times New Roman"/>
                <a:cs typeface="Times New Roman"/>
              </a:rPr>
              <a:t> </a:t>
            </a:r>
            <a:r>
              <a:rPr lang="en-US" sz="3200" spc="-5" dirty="0">
                <a:latin typeface="Times New Roman"/>
                <a:cs typeface="Times New Roman"/>
              </a:rPr>
              <a:t>acquired</a:t>
            </a:r>
            <a:r>
              <a:rPr lang="en-US" sz="3200" dirty="0">
                <a:latin typeface="Times New Roman"/>
                <a:cs typeface="Times New Roman"/>
              </a:rPr>
              <a:t> from</a:t>
            </a:r>
            <a:r>
              <a:rPr lang="en-US" sz="3200" spc="-5" dirty="0">
                <a:latin typeface="Times New Roman"/>
                <a:cs typeface="Times New Roman"/>
              </a:rPr>
              <a:t> </a:t>
            </a:r>
            <a:r>
              <a:rPr lang="en-US" sz="3200" spc="-10" dirty="0">
                <a:latin typeface="Times New Roman"/>
                <a:cs typeface="Times New Roman"/>
              </a:rPr>
              <a:t>different</a:t>
            </a:r>
            <a:r>
              <a:rPr lang="en-US" sz="3200" spc="-5" dirty="0">
                <a:latin typeface="Times New Roman"/>
                <a:cs typeface="Times New Roman"/>
              </a:rPr>
              <a:t> sources.</a:t>
            </a:r>
            <a:endParaRPr lang="en-US" sz="3200" dirty="0">
              <a:latin typeface="Times New Roman"/>
              <a:cs typeface="Times New Roman"/>
            </a:endParaRPr>
          </a:p>
          <a:p>
            <a:pPr marL="469265" marR="310515" indent="-457200">
              <a:spcBef>
                <a:spcPts val="600"/>
              </a:spcBef>
              <a:buClr>
                <a:srgbClr val="D24717"/>
              </a:buClr>
              <a:buSzPct val="83928"/>
              <a:buFont typeface="Wingdings" panose="05000000000000000000" pitchFamily="2" charset="2"/>
              <a:buChar char="Ø"/>
              <a:tabLst>
                <a:tab pos="287020" algn="l"/>
              </a:tabLst>
            </a:pPr>
            <a:r>
              <a:rPr lang="en-US" sz="3200" spc="-5" dirty="0">
                <a:latin typeface="Times New Roman"/>
                <a:cs typeface="Times New Roman"/>
              </a:rPr>
              <a:t>The</a:t>
            </a:r>
            <a:r>
              <a:rPr lang="en-US" sz="3200" spc="-10" dirty="0">
                <a:latin typeface="Times New Roman"/>
                <a:cs typeface="Times New Roman"/>
              </a:rPr>
              <a:t> main</a:t>
            </a:r>
            <a:r>
              <a:rPr lang="en-US" sz="3200" dirty="0">
                <a:latin typeface="Times New Roman"/>
                <a:cs typeface="Times New Roman"/>
              </a:rPr>
              <a:t> purpose</a:t>
            </a:r>
            <a:r>
              <a:rPr lang="en-US" sz="3200" spc="-30" dirty="0">
                <a:latin typeface="Times New Roman"/>
                <a:cs typeface="Times New Roman"/>
              </a:rPr>
              <a:t> </a:t>
            </a:r>
            <a:r>
              <a:rPr lang="en-US" sz="3200" spc="-5" dirty="0">
                <a:latin typeface="Times New Roman"/>
                <a:cs typeface="Times New Roman"/>
              </a:rPr>
              <a:t>of</a:t>
            </a:r>
            <a:r>
              <a:rPr lang="en-US" sz="3200" spc="5" dirty="0">
                <a:latin typeface="Times New Roman"/>
                <a:cs typeface="Times New Roman"/>
              </a:rPr>
              <a:t> </a:t>
            </a:r>
            <a:r>
              <a:rPr lang="en-US" sz="3200" spc="-5" dirty="0">
                <a:latin typeface="Times New Roman"/>
                <a:cs typeface="Times New Roman"/>
              </a:rPr>
              <a:t>a</a:t>
            </a:r>
            <a:r>
              <a:rPr lang="en-US" sz="3200" spc="-15" dirty="0">
                <a:latin typeface="Times New Roman"/>
                <a:cs typeface="Times New Roman"/>
              </a:rPr>
              <a:t> </a:t>
            </a:r>
            <a:r>
              <a:rPr lang="en-US" sz="3200" dirty="0">
                <a:latin typeface="Times New Roman"/>
                <a:cs typeface="Times New Roman"/>
              </a:rPr>
              <a:t>routing</a:t>
            </a:r>
            <a:r>
              <a:rPr lang="en-US" sz="3200" spc="-15" dirty="0">
                <a:latin typeface="Times New Roman"/>
                <a:cs typeface="Times New Roman"/>
              </a:rPr>
              <a:t> </a:t>
            </a:r>
            <a:r>
              <a:rPr lang="en-US" sz="3200" spc="-5" dirty="0">
                <a:latin typeface="Times New Roman"/>
                <a:cs typeface="Times New Roman"/>
              </a:rPr>
              <a:t>table</a:t>
            </a:r>
            <a:r>
              <a:rPr lang="en-US" sz="3200" spc="-15" dirty="0">
                <a:latin typeface="Times New Roman"/>
                <a:cs typeface="Times New Roman"/>
              </a:rPr>
              <a:t> </a:t>
            </a:r>
            <a:r>
              <a:rPr lang="en-US" sz="3200" spc="-5" dirty="0">
                <a:latin typeface="Times New Roman"/>
                <a:cs typeface="Times New Roman"/>
              </a:rPr>
              <a:t>is</a:t>
            </a:r>
            <a:r>
              <a:rPr lang="en-US" sz="3200" spc="-10" dirty="0">
                <a:latin typeface="Times New Roman"/>
                <a:cs typeface="Times New Roman"/>
              </a:rPr>
              <a:t> </a:t>
            </a:r>
            <a:r>
              <a:rPr lang="en-US" sz="3200" spc="-5" dirty="0">
                <a:latin typeface="Times New Roman"/>
                <a:cs typeface="Times New Roman"/>
              </a:rPr>
              <a:t>to</a:t>
            </a:r>
            <a:r>
              <a:rPr lang="en-US" sz="3200" spc="-10" dirty="0">
                <a:latin typeface="Times New Roman"/>
                <a:cs typeface="Times New Roman"/>
              </a:rPr>
              <a:t> </a:t>
            </a:r>
            <a:r>
              <a:rPr lang="en-US" sz="3200" b="1" dirty="0">
                <a:solidFill>
                  <a:srgbClr val="FF0000"/>
                </a:solidFill>
                <a:latin typeface="Times New Roman"/>
                <a:cs typeface="Times New Roman"/>
              </a:rPr>
              <a:t>provide</a:t>
            </a:r>
            <a:r>
              <a:rPr lang="en-US" sz="3200" b="1" spc="-25" dirty="0">
                <a:solidFill>
                  <a:srgbClr val="FF0000"/>
                </a:solidFill>
                <a:latin typeface="Times New Roman"/>
                <a:cs typeface="Times New Roman"/>
              </a:rPr>
              <a:t> </a:t>
            </a:r>
            <a:r>
              <a:rPr lang="en-US" sz="3200" b="1" dirty="0">
                <a:solidFill>
                  <a:srgbClr val="FF0000"/>
                </a:solidFill>
                <a:latin typeface="Times New Roman"/>
                <a:cs typeface="Times New Roman"/>
              </a:rPr>
              <a:t>the </a:t>
            </a:r>
            <a:r>
              <a:rPr lang="en-US" sz="3200" b="1" spc="-685" dirty="0">
                <a:solidFill>
                  <a:srgbClr val="FF0000"/>
                </a:solidFill>
                <a:latin typeface="Times New Roman"/>
                <a:cs typeface="Times New Roman"/>
              </a:rPr>
              <a:t> </a:t>
            </a:r>
            <a:r>
              <a:rPr lang="en-US" sz="3200" b="1" dirty="0">
                <a:solidFill>
                  <a:srgbClr val="FF0000"/>
                </a:solidFill>
                <a:latin typeface="Times New Roman"/>
                <a:cs typeface="Times New Roman"/>
              </a:rPr>
              <a:t>router</a:t>
            </a:r>
            <a:r>
              <a:rPr lang="en-US" sz="3200" b="1" spc="-15" dirty="0">
                <a:solidFill>
                  <a:srgbClr val="FF0000"/>
                </a:solidFill>
                <a:latin typeface="Times New Roman"/>
                <a:cs typeface="Times New Roman"/>
              </a:rPr>
              <a:t> </a:t>
            </a:r>
            <a:r>
              <a:rPr lang="en-US" sz="3200" b="1" spc="-5" dirty="0">
                <a:solidFill>
                  <a:srgbClr val="FF0000"/>
                </a:solidFill>
                <a:latin typeface="Times New Roman"/>
                <a:cs typeface="Times New Roman"/>
              </a:rPr>
              <a:t>with</a:t>
            </a:r>
            <a:r>
              <a:rPr lang="en-US" sz="3200" b="1" spc="5" dirty="0">
                <a:solidFill>
                  <a:srgbClr val="FF0000"/>
                </a:solidFill>
                <a:latin typeface="Times New Roman"/>
                <a:cs typeface="Times New Roman"/>
              </a:rPr>
              <a:t> </a:t>
            </a:r>
            <a:r>
              <a:rPr lang="en-US" sz="3200" b="1" spc="-5" dirty="0">
                <a:solidFill>
                  <a:srgbClr val="FF0000"/>
                </a:solidFill>
                <a:latin typeface="Times New Roman"/>
                <a:cs typeface="Times New Roman"/>
              </a:rPr>
              <a:t>paths to </a:t>
            </a:r>
            <a:r>
              <a:rPr lang="en-US" sz="3200" b="1" spc="-10" dirty="0">
                <a:solidFill>
                  <a:srgbClr val="FF0000"/>
                </a:solidFill>
                <a:latin typeface="Times New Roman"/>
                <a:cs typeface="Times New Roman"/>
              </a:rPr>
              <a:t>different</a:t>
            </a:r>
            <a:r>
              <a:rPr lang="en-US" sz="3200" b="1" dirty="0">
                <a:solidFill>
                  <a:srgbClr val="FF0000"/>
                </a:solidFill>
                <a:latin typeface="Times New Roman"/>
                <a:cs typeface="Times New Roman"/>
              </a:rPr>
              <a:t> </a:t>
            </a:r>
            <a:r>
              <a:rPr lang="en-US" sz="3200" b="1" spc="-5" dirty="0">
                <a:solidFill>
                  <a:srgbClr val="FF0000"/>
                </a:solidFill>
                <a:latin typeface="Times New Roman"/>
                <a:cs typeface="Times New Roman"/>
              </a:rPr>
              <a:t>destination</a:t>
            </a:r>
            <a:r>
              <a:rPr lang="en-US" sz="3200" b="1" spc="-20" dirty="0">
                <a:solidFill>
                  <a:srgbClr val="FF0000"/>
                </a:solidFill>
                <a:latin typeface="Times New Roman"/>
                <a:cs typeface="Times New Roman"/>
              </a:rPr>
              <a:t> </a:t>
            </a:r>
            <a:r>
              <a:rPr lang="en-US" sz="3200" b="1" spc="-5" dirty="0">
                <a:solidFill>
                  <a:srgbClr val="FF0000"/>
                </a:solidFill>
                <a:latin typeface="Times New Roman"/>
                <a:cs typeface="Times New Roman"/>
              </a:rPr>
              <a:t>networks</a:t>
            </a:r>
            <a:r>
              <a:rPr lang="en-US" sz="3200" spc="-5" dirty="0">
                <a:latin typeface="Times New Roman"/>
                <a:cs typeface="Times New Roman"/>
              </a:rPr>
              <a:t>.</a:t>
            </a:r>
            <a:endParaRPr lang="en-US" sz="3200" dirty="0">
              <a:latin typeface="Times New Roman"/>
              <a:cs typeface="Times New Roman"/>
            </a:endParaRPr>
          </a:p>
          <a:p>
            <a:pPr marL="469265" marR="16510" indent="-457200">
              <a:buClr>
                <a:srgbClr val="D24717"/>
              </a:buClr>
              <a:buSzPct val="83928"/>
              <a:buFont typeface="Wingdings" panose="05000000000000000000" pitchFamily="2" charset="2"/>
              <a:buChar char="Ø"/>
              <a:tabLst>
                <a:tab pos="287020" algn="l"/>
              </a:tabLst>
            </a:pPr>
            <a:r>
              <a:rPr lang="en-US" sz="3200" spc="-5" dirty="0">
                <a:latin typeface="Times New Roman"/>
                <a:cs typeface="Times New Roman"/>
              </a:rPr>
              <a:t>Each entry in a </a:t>
            </a:r>
            <a:r>
              <a:rPr lang="en-US" sz="3200" spc="-10" dirty="0">
                <a:latin typeface="Times New Roman"/>
                <a:cs typeface="Times New Roman"/>
              </a:rPr>
              <a:t>router‘s </a:t>
            </a:r>
            <a:r>
              <a:rPr lang="en-US" sz="3200" b="1" spc="-5" dirty="0">
                <a:solidFill>
                  <a:srgbClr val="FF0000"/>
                </a:solidFill>
                <a:latin typeface="Times New Roman"/>
                <a:cs typeface="Times New Roman"/>
              </a:rPr>
              <a:t>IP routing </a:t>
            </a:r>
            <a:r>
              <a:rPr lang="en-US" sz="3200" b="1" dirty="0">
                <a:solidFill>
                  <a:srgbClr val="FF0000"/>
                </a:solidFill>
                <a:latin typeface="Times New Roman"/>
                <a:cs typeface="Times New Roman"/>
              </a:rPr>
              <a:t>table </a:t>
            </a:r>
            <a:r>
              <a:rPr lang="en-US" sz="3200" spc="-5" dirty="0">
                <a:latin typeface="Times New Roman"/>
                <a:cs typeface="Times New Roman"/>
              </a:rPr>
              <a:t>has important </a:t>
            </a:r>
            <a:r>
              <a:rPr lang="en-US" sz="3200" spc="-685" dirty="0">
                <a:latin typeface="Times New Roman"/>
                <a:cs typeface="Times New Roman"/>
              </a:rPr>
              <a:t> </a:t>
            </a:r>
            <a:r>
              <a:rPr lang="en-US" sz="3200" spc="-5" dirty="0">
                <a:latin typeface="Times New Roman"/>
                <a:cs typeface="Times New Roman"/>
              </a:rPr>
              <a:t>information,</a:t>
            </a:r>
            <a:r>
              <a:rPr lang="en-US" sz="3200" spc="-15" dirty="0">
                <a:latin typeface="Times New Roman"/>
                <a:cs typeface="Times New Roman"/>
              </a:rPr>
              <a:t> </a:t>
            </a:r>
            <a:r>
              <a:rPr lang="en-US" sz="3200" dirty="0">
                <a:latin typeface="Times New Roman"/>
                <a:cs typeface="Times New Roman"/>
              </a:rPr>
              <a:t>including</a:t>
            </a:r>
            <a:r>
              <a:rPr lang="en-US" sz="3200" spc="-25" dirty="0">
                <a:latin typeface="Times New Roman"/>
                <a:cs typeface="Times New Roman"/>
              </a:rPr>
              <a:t> </a:t>
            </a:r>
            <a:r>
              <a:rPr lang="en-US" sz="3200" dirty="0">
                <a:latin typeface="Times New Roman"/>
                <a:cs typeface="Times New Roman"/>
              </a:rPr>
              <a:t>the</a:t>
            </a:r>
            <a:r>
              <a:rPr lang="en-US" sz="3200" spc="-5" dirty="0">
                <a:latin typeface="Times New Roman"/>
                <a:cs typeface="Times New Roman"/>
              </a:rPr>
              <a:t> following</a:t>
            </a:r>
            <a:r>
              <a:rPr lang="en-US" sz="3200" dirty="0">
                <a:latin typeface="Times New Roman"/>
                <a:cs typeface="Times New Roman"/>
              </a:rPr>
              <a:t> </a:t>
            </a:r>
            <a:r>
              <a:rPr lang="en-US" sz="3200" spc="-5" dirty="0">
                <a:latin typeface="Times New Roman"/>
                <a:cs typeface="Times New Roman"/>
              </a:rPr>
              <a:t>vital</a:t>
            </a:r>
            <a:r>
              <a:rPr lang="en-US" sz="3200" spc="-20" dirty="0">
                <a:latin typeface="Times New Roman"/>
                <a:cs typeface="Times New Roman"/>
              </a:rPr>
              <a:t> </a:t>
            </a:r>
            <a:r>
              <a:rPr lang="en-US" sz="3200" spc="-5" dirty="0">
                <a:latin typeface="Times New Roman"/>
                <a:cs typeface="Times New Roman"/>
              </a:rPr>
              <a:t>information:</a:t>
            </a:r>
            <a:endParaRPr lang="en-US" sz="3200" dirty="0">
              <a:latin typeface="Times New Roman"/>
              <a:cs typeface="Times New Roman"/>
            </a:endParaRPr>
          </a:p>
          <a:p>
            <a:pPr marL="927100" marR="5080" lvl="1" indent="-457200">
              <a:spcBef>
                <a:spcPts val="400"/>
              </a:spcBef>
              <a:buClr>
                <a:srgbClr val="C00000"/>
              </a:buClr>
              <a:buSzPct val="83928"/>
              <a:buAutoNum type="arabicPeriod"/>
              <a:tabLst>
                <a:tab pos="927100" algn="l"/>
                <a:tab pos="927735" algn="l"/>
              </a:tabLst>
            </a:pPr>
            <a:r>
              <a:rPr lang="en-US" sz="3200" spc="-5" dirty="0">
                <a:latin typeface="Times New Roman"/>
                <a:cs typeface="Times New Roman"/>
              </a:rPr>
              <a:t>The</a:t>
            </a:r>
            <a:r>
              <a:rPr lang="en-US" sz="3200" spc="-20" dirty="0">
                <a:latin typeface="Times New Roman"/>
                <a:cs typeface="Times New Roman"/>
              </a:rPr>
              <a:t> </a:t>
            </a:r>
            <a:r>
              <a:rPr lang="en-US" sz="3200" spc="-5" dirty="0">
                <a:latin typeface="Times New Roman"/>
                <a:cs typeface="Times New Roman"/>
              </a:rPr>
              <a:t>destination</a:t>
            </a:r>
            <a:r>
              <a:rPr lang="en-US" sz="3200" spc="-35" dirty="0">
                <a:latin typeface="Times New Roman"/>
                <a:cs typeface="Times New Roman"/>
              </a:rPr>
              <a:t> </a:t>
            </a:r>
            <a:r>
              <a:rPr lang="en-US" sz="3200" dirty="0">
                <a:latin typeface="Times New Roman"/>
                <a:cs typeface="Times New Roman"/>
              </a:rPr>
              <a:t>subnet</a:t>
            </a:r>
            <a:r>
              <a:rPr lang="en-US" sz="3200" spc="-15" dirty="0">
                <a:latin typeface="Times New Roman"/>
                <a:cs typeface="Times New Roman"/>
              </a:rPr>
              <a:t> </a:t>
            </a:r>
            <a:r>
              <a:rPr lang="en-US" sz="3200" dirty="0">
                <a:latin typeface="Times New Roman"/>
                <a:cs typeface="Times New Roman"/>
              </a:rPr>
              <a:t>(subnet</a:t>
            </a:r>
            <a:r>
              <a:rPr lang="en-US" sz="3200" spc="-20" dirty="0">
                <a:latin typeface="Times New Roman"/>
                <a:cs typeface="Times New Roman"/>
              </a:rPr>
              <a:t> </a:t>
            </a:r>
            <a:r>
              <a:rPr lang="en-US" sz="3200" spc="-5" dirty="0">
                <a:latin typeface="Times New Roman"/>
                <a:cs typeface="Times New Roman"/>
              </a:rPr>
              <a:t>number and</a:t>
            </a:r>
            <a:r>
              <a:rPr lang="en-US" sz="3200" dirty="0">
                <a:latin typeface="Times New Roman"/>
                <a:cs typeface="Times New Roman"/>
              </a:rPr>
              <a:t> subnet </a:t>
            </a:r>
            <a:r>
              <a:rPr lang="en-US" sz="3200" spc="-685" dirty="0">
                <a:latin typeface="Times New Roman"/>
                <a:cs typeface="Times New Roman"/>
              </a:rPr>
              <a:t> </a:t>
            </a:r>
            <a:r>
              <a:rPr lang="en-US" sz="3200" spc="-5" dirty="0">
                <a:latin typeface="Times New Roman"/>
                <a:cs typeface="Times New Roman"/>
              </a:rPr>
              <a:t>mask).</a:t>
            </a:r>
            <a:endParaRPr lang="en-US" sz="3200" dirty="0">
              <a:latin typeface="Times New Roman"/>
              <a:cs typeface="Times New Roman"/>
            </a:endParaRPr>
          </a:p>
          <a:p>
            <a:pPr marL="927100" lvl="1" indent="-457834">
              <a:buClr>
                <a:srgbClr val="C00000"/>
              </a:buClr>
              <a:buSzPct val="83928"/>
              <a:buAutoNum type="arabicPeriod"/>
              <a:tabLst>
                <a:tab pos="927100" algn="l"/>
                <a:tab pos="927735" algn="l"/>
              </a:tabLst>
            </a:pPr>
            <a:r>
              <a:rPr lang="en-US" sz="3200" spc="-5" dirty="0">
                <a:latin typeface="Times New Roman"/>
                <a:cs typeface="Times New Roman"/>
              </a:rPr>
              <a:t>Directions</a:t>
            </a:r>
            <a:r>
              <a:rPr lang="en-US" sz="3200" spc="-25" dirty="0">
                <a:latin typeface="Times New Roman"/>
                <a:cs typeface="Times New Roman"/>
              </a:rPr>
              <a:t> </a:t>
            </a:r>
            <a:r>
              <a:rPr lang="en-US" sz="3200" spc="-5" dirty="0">
                <a:latin typeface="Times New Roman"/>
                <a:cs typeface="Times New Roman"/>
              </a:rPr>
              <a:t>that</a:t>
            </a:r>
            <a:r>
              <a:rPr lang="en-US" sz="3200" spc="-20" dirty="0">
                <a:latin typeface="Times New Roman"/>
                <a:cs typeface="Times New Roman"/>
              </a:rPr>
              <a:t> </a:t>
            </a:r>
            <a:r>
              <a:rPr lang="en-US" sz="3200" spc="-5" dirty="0">
                <a:latin typeface="Times New Roman"/>
                <a:cs typeface="Times New Roman"/>
              </a:rPr>
              <a:t>tell</a:t>
            </a:r>
            <a:r>
              <a:rPr lang="en-US" sz="3200" dirty="0">
                <a:latin typeface="Times New Roman"/>
                <a:cs typeface="Times New Roman"/>
              </a:rPr>
              <a:t> the</a:t>
            </a:r>
            <a:r>
              <a:rPr lang="en-US" sz="3200" spc="-25" dirty="0">
                <a:latin typeface="Times New Roman"/>
                <a:cs typeface="Times New Roman"/>
              </a:rPr>
              <a:t> </a:t>
            </a:r>
            <a:r>
              <a:rPr lang="en-US" sz="3200" dirty="0">
                <a:latin typeface="Times New Roman"/>
                <a:cs typeface="Times New Roman"/>
              </a:rPr>
              <a:t>router</a:t>
            </a:r>
            <a:r>
              <a:rPr lang="en-US" sz="3200" spc="-5" dirty="0">
                <a:latin typeface="Times New Roman"/>
                <a:cs typeface="Times New Roman"/>
              </a:rPr>
              <a:t> to</a:t>
            </a:r>
            <a:r>
              <a:rPr lang="en-US" sz="3200" dirty="0">
                <a:latin typeface="Times New Roman"/>
                <a:cs typeface="Times New Roman"/>
              </a:rPr>
              <a:t> </a:t>
            </a:r>
            <a:r>
              <a:rPr lang="en-US" sz="3200" spc="-5" dirty="0">
                <a:latin typeface="Times New Roman"/>
                <a:cs typeface="Times New Roman"/>
              </a:rPr>
              <a:t>what other</a:t>
            </a:r>
            <a:r>
              <a:rPr lang="en-US" sz="3200" dirty="0">
                <a:latin typeface="Times New Roman"/>
                <a:cs typeface="Times New Roman"/>
              </a:rPr>
              <a:t> router</a:t>
            </a:r>
          </a:p>
          <a:p>
            <a:pPr marL="927100" marR="27940">
              <a:spcBef>
                <a:spcPts val="505"/>
              </a:spcBef>
            </a:pPr>
            <a:r>
              <a:rPr lang="en-US" sz="3200" spc="-5" dirty="0">
                <a:latin typeface="Times New Roman"/>
                <a:cs typeface="Times New Roman"/>
              </a:rPr>
              <a:t>or</a:t>
            </a:r>
            <a:r>
              <a:rPr lang="en-US" sz="3200" spc="-10" dirty="0">
                <a:latin typeface="Times New Roman"/>
                <a:cs typeface="Times New Roman"/>
              </a:rPr>
              <a:t> </a:t>
            </a:r>
            <a:r>
              <a:rPr lang="en-US" sz="3200" spc="-5" dirty="0">
                <a:latin typeface="Times New Roman"/>
                <a:cs typeface="Times New Roman"/>
              </a:rPr>
              <a:t>host to</a:t>
            </a:r>
            <a:r>
              <a:rPr lang="en-US" sz="3200" dirty="0">
                <a:latin typeface="Times New Roman"/>
                <a:cs typeface="Times New Roman"/>
              </a:rPr>
              <a:t> </a:t>
            </a:r>
            <a:r>
              <a:rPr lang="en-US" sz="3200" spc="-5" dirty="0">
                <a:latin typeface="Times New Roman"/>
                <a:cs typeface="Times New Roman"/>
              </a:rPr>
              <a:t>send</a:t>
            </a:r>
            <a:r>
              <a:rPr lang="en-US" sz="3200" spc="-10" dirty="0">
                <a:latin typeface="Times New Roman"/>
                <a:cs typeface="Times New Roman"/>
              </a:rPr>
              <a:t> </a:t>
            </a:r>
            <a:r>
              <a:rPr lang="en-US" sz="3200" dirty="0">
                <a:latin typeface="Times New Roman"/>
                <a:cs typeface="Times New Roman"/>
              </a:rPr>
              <a:t>the</a:t>
            </a:r>
            <a:r>
              <a:rPr lang="en-US" sz="3200" spc="-5" dirty="0">
                <a:latin typeface="Times New Roman"/>
                <a:cs typeface="Times New Roman"/>
              </a:rPr>
              <a:t> packet</a:t>
            </a:r>
            <a:r>
              <a:rPr lang="en-US" sz="3200" spc="-20" dirty="0">
                <a:latin typeface="Times New Roman"/>
                <a:cs typeface="Times New Roman"/>
              </a:rPr>
              <a:t> </a:t>
            </a:r>
            <a:r>
              <a:rPr lang="en-US" sz="3200" spc="-5" dirty="0">
                <a:latin typeface="Times New Roman"/>
                <a:cs typeface="Times New Roman"/>
              </a:rPr>
              <a:t>next</a:t>
            </a:r>
            <a:r>
              <a:rPr lang="en-US" sz="3200" dirty="0">
                <a:latin typeface="Times New Roman"/>
                <a:cs typeface="Times New Roman"/>
              </a:rPr>
              <a:t> (outgoing</a:t>
            </a:r>
            <a:r>
              <a:rPr lang="en-US" sz="3200" spc="-30" dirty="0">
                <a:latin typeface="Times New Roman"/>
                <a:cs typeface="Times New Roman"/>
              </a:rPr>
              <a:t> </a:t>
            </a:r>
            <a:r>
              <a:rPr lang="en-US" sz="3200" spc="-5" dirty="0">
                <a:latin typeface="Times New Roman"/>
                <a:cs typeface="Times New Roman"/>
              </a:rPr>
              <a:t>interface </a:t>
            </a:r>
            <a:r>
              <a:rPr lang="en-US" sz="3200" spc="-685" dirty="0">
                <a:latin typeface="Times New Roman"/>
                <a:cs typeface="Times New Roman"/>
              </a:rPr>
              <a:t> </a:t>
            </a:r>
            <a:r>
              <a:rPr lang="en-US" sz="3200" spc="-5" dirty="0">
                <a:latin typeface="Times New Roman"/>
                <a:cs typeface="Times New Roman"/>
              </a:rPr>
              <a:t>and</a:t>
            </a:r>
            <a:r>
              <a:rPr lang="en-US" sz="3200" spc="-20" dirty="0">
                <a:latin typeface="Times New Roman"/>
                <a:cs typeface="Times New Roman"/>
              </a:rPr>
              <a:t> </a:t>
            </a:r>
            <a:r>
              <a:rPr lang="en-US" sz="3200" dirty="0">
                <a:latin typeface="Times New Roman"/>
                <a:cs typeface="Times New Roman"/>
              </a:rPr>
              <a:t>next-hop</a:t>
            </a:r>
            <a:r>
              <a:rPr lang="en-US" sz="3200" spc="-25" dirty="0">
                <a:latin typeface="Times New Roman"/>
                <a:cs typeface="Times New Roman"/>
              </a:rPr>
              <a:t> </a:t>
            </a:r>
            <a:r>
              <a:rPr lang="en-US" sz="3200" dirty="0">
                <a:latin typeface="Times New Roman"/>
                <a:cs typeface="Times New Roman"/>
              </a:rPr>
              <a:t>router).</a:t>
            </a:r>
          </a:p>
        </p:txBody>
      </p:sp>
    </p:spTree>
    <p:extLst>
      <p:ext uri="{BB962C8B-B14F-4D97-AF65-F5344CB8AC3E}">
        <p14:creationId xmlns:p14="http://schemas.microsoft.com/office/powerpoint/2010/main" val="3125429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4406" y="540403"/>
            <a:ext cx="8316761" cy="691244"/>
          </a:xfrm>
          <a:prstGeom prst="rect">
            <a:avLst/>
          </a:prstGeom>
        </p:spPr>
        <p:txBody>
          <a:bodyPr vert="horz" wrap="square" lIns="0" tIns="13999" rIns="0" bIns="0" rtlCol="0" anchor="ctr">
            <a:spAutoFit/>
          </a:bodyPr>
          <a:lstStyle/>
          <a:p>
            <a:pPr marL="13999">
              <a:lnSpc>
                <a:spcPct val="100000"/>
              </a:lnSpc>
              <a:spcBef>
                <a:spcPts val="110"/>
              </a:spcBef>
            </a:pPr>
            <a:r>
              <a:rPr b="1" spc="83" dirty="0">
                <a:solidFill>
                  <a:schemeClr val="bg1"/>
                </a:solidFill>
                <a:latin typeface="Times New Roman" panose="02020603050405020304" pitchFamily="18" charset="0"/>
                <a:cs typeface="Times New Roman" panose="02020603050405020304" pitchFamily="18" charset="0"/>
              </a:rPr>
              <a:t>Packet</a:t>
            </a:r>
            <a:r>
              <a:rPr b="1" spc="72" dirty="0">
                <a:solidFill>
                  <a:schemeClr val="bg1"/>
                </a:solidFill>
                <a:latin typeface="Times New Roman" panose="02020603050405020304" pitchFamily="18" charset="0"/>
                <a:cs typeface="Times New Roman" panose="02020603050405020304" pitchFamily="18" charset="0"/>
              </a:rPr>
              <a:t> </a:t>
            </a:r>
            <a:r>
              <a:rPr b="1" spc="176" dirty="0">
                <a:solidFill>
                  <a:schemeClr val="bg1"/>
                </a:solidFill>
                <a:latin typeface="Times New Roman" panose="02020603050405020304" pitchFamily="18" charset="0"/>
                <a:cs typeface="Times New Roman" panose="02020603050405020304" pitchFamily="18" charset="0"/>
              </a:rPr>
              <a:t>Routing:</a:t>
            </a:r>
            <a:r>
              <a:rPr b="1" spc="83" dirty="0">
                <a:solidFill>
                  <a:schemeClr val="bg1"/>
                </a:solidFill>
                <a:latin typeface="Times New Roman" panose="02020603050405020304" pitchFamily="18" charset="0"/>
                <a:cs typeface="Times New Roman" panose="02020603050405020304" pitchFamily="18" charset="0"/>
              </a:rPr>
              <a:t> </a:t>
            </a:r>
            <a:r>
              <a:rPr b="1" spc="160" dirty="0">
                <a:solidFill>
                  <a:schemeClr val="bg1"/>
                </a:solidFill>
                <a:latin typeface="Times New Roman" panose="02020603050405020304" pitchFamily="18" charset="0"/>
                <a:cs typeface="Times New Roman" panose="02020603050405020304" pitchFamily="18" charset="0"/>
              </a:rPr>
              <a:t>Basic</a:t>
            </a:r>
            <a:r>
              <a:rPr b="1" spc="88" dirty="0">
                <a:solidFill>
                  <a:schemeClr val="bg1"/>
                </a:solidFill>
                <a:latin typeface="Times New Roman" panose="02020603050405020304" pitchFamily="18" charset="0"/>
                <a:cs typeface="Times New Roman" panose="02020603050405020304" pitchFamily="18" charset="0"/>
              </a:rPr>
              <a:t> </a:t>
            </a:r>
            <a:r>
              <a:rPr b="1" spc="138" dirty="0">
                <a:solidFill>
                  <a:schemeClr val="bg1"/>
                </a:solidFill>
                <a:latin typeface="Times New Roman" panose="02020603050405020304" pitchFamily="18" charset="0"/>
                <a:cs typeface="Times New Roman" panose="02020603050405020304" pitchFamily="18" charset="0"/>
              </a:rPr>
              <a:t>Concepts</a:t>
            </a:r>
          </a:p>
        </p:txBody>
      </p:sp>
      <p:sp>
        <p:nvSpPr>
          <p:cNvPr id="3" name="object 3"/>
          <p:cNvSpPr txBox="1"/>
          <p:nvPr/>
        </p:nvSpPr>
        <p:spPr>
          <a:xfrm>
            <a:off x="50149" y="1571003"/>
            <a:ext cx="9943855" cy="5623161"/>
          </a:xfrm>
          <a:prstGeom prst="rect">
            <a:avLst/>
          </a:prstGeom>
        </p:spPr>
        <p:txBody>
          <a:bodyPr vert="horz" wrap="square" lIns="0" tIns="39198" rIns="0" bIns="0" rtlCol="0">
            <a:spAutoFit/>
          </a:bodyPr>
          <a:lstStyle/>
          <a:p>
            <a:pPr marL="517971" marR="294683" indent="-503972">
              <a:spcBef>
                <a:spcPts val="187"/>
              </a:spcBef>
              <a:buClr>
                <a:srgbClr val="D24717"/>
              </a:buClr>
              <a:buSzPct val="83928"/>
              <a:buFont typeface="Wingdings" panose="05000000000000000000" pitchFamily="2" charset="2"/>
              <a:buChar char="Ø"/>
              <a:tabLst>
                <a:tab pos="517271" algn="l"/>
                <a:tab pos="517971" algn="l"/>
                <a:tab pos="1017043" algn="l"/>
              </a:tabLst>
            </a:pPr>
            <a:r>
              <a:rPr sz="3200" dirty="0">
                <a:latin typeface="Times New Roman" panose="02020603050405020304" pitchFamily="18" charset="0"/>
                <a:cs typeface="Times New Roman" panose="02020603050405020304" pitchFamily="18" charset="0"/>
              </a:rPr>
              <a:t>The </a:t>
            </a:r>
            <a:r>
              <a:rPr sz="3200" b="1" dirty="0">
                <a:solidFill>
                  <a:srgbClr val="FF0000"/>
                </a:solidFill>
                <a:latin typeface="Times New Roman" panose="02020603050405020304" pitchFamily="18" charset="0"/>
                <a:cs typeface="Times New Roman" panose="02020603050405020304" pitchFamily="18" charset="0"/>
              </a:rPr>
              <a:t>three</a:t>
            </a:r>
            <a:r>
              <a:rPr sz="3200" dirty="0">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methods</a:t>
            </a:r>
            <a:r>
              <a:rPr sz="3200" dirty="0">
                <a:latin typeface="Times New Roman" panose="02020603050405020304" pitchFamily="18" charset="0"/>
                <a:cs typeface="Times New Roman" panose="02020603050405020304" pitchFamily="18" charset="0"/>
              </a:rPr>
              <a:t> by which a router can add IP routes  to	its routing table are:</a:t>
            </a:r>
          </a:p>
          <a:p>
            <a:pPr marL="937947" lvl="1" indent="-420676">
              <a:spcBef>
                <a:spcPts val="451"/>
              </a:spcBef>
              <a:buClr>
                <a:srgbClr val="C00000"/>
              </a:buClr>
              <a:buSzPct val="83928"/>
              <a:buAutoNum type="arabicPeriod"/>
              <a:tabLst>
                <a:tab pos="937947" algn="l"/>
                <a:tab pos="938647" algn="l"/>
              </a:tabLst>
            </a:pPr>
            <a:r>
              <a:rPr sz="3200" b="1" dirty="0">
                <a:solidFill>
                  <a:srgbClr val="FF0000"/>
                </a:solidFill>
                <a:latin typeface="Times New Roman" panose="02020603050405020304" pitchFamily="18" charset="0"/>
                <a:cs typeface="Times New Roman" panose="02020603050405020304" pitchFamily="18" charset="0"/>
              </a:rPr>
              <a:t>Connected routes </a:t>
            </a:r>
            <a:r>
              <a:rPr sz="3200" dirty="0">
                <a:latin typeface="Times New Roman" panose="02020603050405020304" pitchFamily="18" charset="0"/>
                <a:cs typeface="Times New Roman" panose="02020603050405020304" pitchFamily="18" charset="0"/>
              </a:rPr>
              <a:t>– Adding a route to locally</a:t>
            </a:r>
          </a:p>
          <a:p>
            <a:pPr marL="937947" marR="310782"/>
            <a:r>
              <a:rPr sz="3200" dirty="0">
                <a:latin typeface="Times New Roman" panose="02020603050405020304" pitchFamily="18" charset="0"/>
                <a:cs typeface="Times New Roman" panose="02020603050405020304" pitchFamily="18" charset="0"/>
              </a:rPr>
              <a:t>connected subnets when a router</a:t>
            </a:r>
            <a:r>
              <a:rPr lang="en-US" sz="3200" dirty="0">
                <a:latin typeface="Times New Roman" panose="02020603050405020304" pitchFamily="18" charset="0"/>
                <a:cs typeface="Times New Roman" panose="02020603050405020304" pitchFamily="18" charset="0"/>
              </a:rPr>
              <a:t>'</a:t>
            </a:r>
            <a:r>
              <a:rPr sz="3200" dirty="0">
                <a:latin typeface="Times New Roman" panose="02020603050405020304" pitchFamily="18" charset="0"/>
                <a:cs typeface="Times New Roman" panose="02020603050405020304" pitchFamily="18" charset="0"/>
              </a:rPr>
              <a:t>s interface reaches  an </a:t>
            </a:r>
            <a:r>
              <a:rPr lang="en-US" sz="3200" dirty="0">
                <a:latin typeface="Times New Roman" panose="02020603050405020304" pitchFamily="18" charset="0"/>
                <a:cs typeface="Times New Roman" panose="02020603050405020304" pitchFamily="18" charset="0"/>
              </a:rPr>
              <a:t>"</a:t>
            </a:r>
            <a:r>
              <a:rPr sz="3200" dirty="0">
                <a:latin typeface="Times New Roman" panose="02020603050405020304" pitchFamily="18" charset="0"/>
                <a:cs typeface="Times New Roman" panose="02020603050405020304" pitchFamily="18" charset="0"/>
              </a:rPr>
              <a:t>up and up</a:t>
            </a:r>
            <a:r>
              <a:rPr lang="en-US" sz="3200" dirty="0">
                <a:latin typeface="Times New Roman" panose="02020603050405020304" pitchFamily="18" charset="0"/>
                <a:cs typeface="Times New Roman" panose="02020603050405020304" pitchFamily="18" charset="0"/>
              </a:rPr>
              <a:t>"</a:t>
            </a:r>
            <a:r>
              <a:rPr sz="3200" dirty="0">
                <a:latin typeface="Times New Roman" panose="02020603050405020304" pitchFamily="18" charset="0"/>
                <a:cs typeface="Times New Roman" panose="02020603050405020304" pitchFamily="18" charset="0"/>
              </a:rPr>
              <a:t> state.</a:t>
            </a:r>
          </a:p>
          <a:p>
            <a:pPr marL="937947" marR="445175" lvl="1" indent="-420676">
              <a:spcBef>
                <a:spcPts val="441"/>
              </a:spcBef>
              <a:buClr>
                <a:srgbClr val="9B2C1F"/>
              </a:buClr>
              <a:buSzPct val="83928"/>
              <a:buFont typeface="Times New Roman"/>
              <a:buAutoNum type="arabicPeriod" startAt="2"/>
              <a:tabLst>
                <a:tab pos="1021942" algn="l"/>
                <a:tab pos="1022642" algn="l"/>
              </a:tabLst>
            </a:pPr>
            <a:r>
              <a:rPr sz="3200" b="1" dirty="0">
                <a:solidFill>
                  <a:srgbClr val="FF0000"/>
                </a:solidFill>
                <a:latin typeface="Times New Roman" panose="02020603050405020304" pitchFamily="18" charset="0"/>
                <a:cs typeface="Times New Roman" panose="02020603050405020304" pitchFamily="18" charset="0"/>
              </a:rPr>
              <a:t>Static routes </a:t>
            </a:r>
            <a:r>
              <a:rPr sz="3200" dirty="0">
                <a:latin typeface="Times New Roman" panose="02020603050405020304" pitchFamily="18" charset="0"/>
                <a:cs typeface="Times New Roman" panose="02020603050405020304" pitchFamily="18" charset="0"/>
              </a:rPr>
              <a:t>– Adding a route due to the engineer  adding an </a:t>
            </a:r>
            <a:r>
              <a:rPr sz="3200" b="1" dirty="0">
                <a:latin typeface="Times New Roman" panose="02020603050405020304" pitchFamily="18" charset="0"/>
                <a:cs typeface="Times New Roman" panose="02020603050405020304" pitchFamily="18" charset="0"/>
              </a:rPr>
              <a:t>ip route </a:t>
            </a:r>
            <a:r>
              <a:rPr sz="3200" dirty="0">
                <a:latin typeface="Times New Roman" panose="02020603050405020304" pitchFamily="18" charset="0"/>
                <a:cs typeface="Times New Roman" panose="02020603050405020304" pitchFamily="18" charset="0"/>
              </a:rPr>
              <a:t>command to the router</a:t>
            </a:r>
            <a:r>
              <a:rPr lang="en-US" sz="3200" dirty="0">
                <a:latin typeface="Times New Roman" panose="02020603050405020304" pitchFamily="18" charset="0"/>
                <a:cs typeface="Times New Roman" panose="02020603050405020304" pitchFamily="18" charset="0"/>
              </a:rPr>
              <a:t>'</a:t>
            </a:r>
            <a:r>
              <a:rPr sz="3200" dirty="0">
                <a:latin typeface="Times New Roman" panose="02020603050405020304" pitchFamily="18" charset="0"/>
                <a:cs typeface="Times New Roman" panose="02020603050405020304" pitchFamily="18" charset="0"/>
              </a:rPr>
              <a:t>s  configuration.</a:t>
            </a:r>
          </a:p>
          <a:p>
            <a:pPr marL="937947" marR="5600" lvl="1" indent="-420676">
              <a:spcBef>
                <a:spcPts val="441"/>
              </a:spcBef>
              <a:buClr>
                <a:srgbClr val="9B2C1F"/>
              </a:buClr>
              <a:buSzPct val="83928"/>
              <a:buFont typeface="Times New Roman"/>
              <a:buAutoNum type="arabicPeriod" startAt="2"/>
              <a:tabLst>
                <a:tab pos="1021942" algn="l"/>
                <a:tab pos="1022642" algn="l"/>
              </a:tabLst>
            </a:pPr>
            <a:r>
              <a:rPr sz="3200" b="1" dirty="0">
                <a:solidFill>
                  <a:srgbClr val="FF0000"/>
                </a:solidFill>
                <a:latin typeface="Times New Roman" panose="02020603050405020304" pitchFamily="18" charset="0"/>
                <a:cs typeface="Times New Roman" panose="02020603050405020304" pitchFamily="18" charset="0"/>
              </a:rPr>
              <a:t>Dynamic routing protocols </a:t>
            </a:r>
            <a:r>
              <a:rPr sz="3200" dirty="0">
                <a:latin typeface="Times New Roman" panose="02020603050405020304" pitchFamily="18" charset="0"/>
                <a:cs typeface="Times New Roman" panose="02020603050405020304" pitchFamily="18" charset="0"/>
              </a:rPr>
              <a:t>– Adding routes using  routing protocols, which cause routers to dynamically  exchange routing information with other routers</a:t>
            </a:r>
            <a:r>
              <a:rPr lang="en-US" sz="320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56213" y="6977471"/>
            <a:ext cx="316386" cy="230832"/>
          </a:xfrm>
          <a:prstGeom prst="rect">
            <a:avLst/>
          </a:prstGeom>
        </p:spPr>
        <p:txBody>
          <a:bodyPr vert="horz" wrap="square" lIns="0" tIns="0" rIns="0" bIns="0" rtlCol="0">
            <a:spAutoFit/>
          </a:bodyPr>
          <a:lstStyle/>
          <a:p>
            <a:pPr marL="41998">
              <a:lnSpc>
                <a:spcPts val="1834"/>
              </a:lnSpc>
            </a:pPr>
            <a:fld id="{81D60167-4931-47E6-BA6A-407CBD079E47}" type="slidenum">
              <a:rPr sz="1543" dirty="0">
                <a:solidFill>
                  <a:srgbClr val="FFFFFF"/>
                </a:solidFill>
                <a:latin typeface="Franklin Gothic Medium"/>
                <a:cs typeface="Franklin Gothic Medium"/>
              </a:rPr>
              <a:pPr marL="41998">
                <a:lnSpc>
                  <a:spcPts val="1834"/>
                </a:lnSpc>
              </a:pPr>
              <a:t>7</a:t>
            </a:fld>
            <a:endParaRPr sz="1543">
              <a:latin typeface="Franklin Gothic Medium"/>
              <a:cs typeface="Franklin Gothic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3791" y="398736"/>
            <a:ext cx="8242285" cy="691244"/>
          </a:xfrm>
          <a:prstGeom prst="rect">
            <a:avLst/>
          </a:prstGeom>
        </p:spPr>
        <p:txBody>
          <a:bodyPr vert="horz" wrap="square" lIns="0" tIns="13999" rIns="0" bIns="0" rtlCol="0" anchor="ctr">
            <a:spAutoFit/>
          </a:bodyPr>
          <a:lstStyle/>
          <a:p>
            <a:pPr marL="13999">
              <a:lnSpc>
                <a:spcPct val="100000"/>
              </a:lnSpc>
              <a:spcBef>
                <a:spcPts val="110"/>
              </a:spcBef>
            </a:pPr>
            <a:r>
              <a:rPr b="1" spc="83" dirty="0">
                <a:solidFill>
                  <a:schemeClr val="bg1"/>
                </a:solidFill>
                <a:latin typeface="Times New Roman" panose="02020603050405020304" pitchFamily="18" charset="0"/>
                <a:cs typeface="Times New Roman" panose="02020603050405020304" pitchFamily="18" charset="0"/>
              </a:rPr>
              <a:t>Packet</a:t>
            </a:r>
            <a:r>
              <a:rPr b="1" spc="72" dirty="0">
                <a:solidFill>
                  <a:schemeClr val="bg1"/>
                </a:solidFill>
                <a:latin typeface="Times New Roman" panose="02020603050405020304" pitchFamily="18" charset="0"/>
                <a:cs typeface="Times New Roman" panose="02020603050405020304" pitchFamily="18" charset="0"/>
              </a:rPr>
              <a:t> </a:t>
            </a:r>
            <a:r>
              <a:rPr b="1" spc="176" dirty="0">
                <a:solidFill>
                  <a:schemeClr val="bg1"/>
                </a:solidFill>
                <a:latin typeface="Times New Roman" panose="02020603050405020304" pitchFamily="18" charset="0"/>
                <a:cs typeface="Times New Roman" panose="02020603050405020304" pitchFamily="18" charset="0"/>
              </a:rPr>
              <a:t>Routing:</a:t>
            </a:r>
            <a:r>
              <a:rPr b="1" spc="83" dirty="0">
                <a:solidFill>
                  <a:schemeClr val="bg1"/>
                </a:solidFill>
                <a:latin typeface="Times New Roman" panose="02020603050405020304" pitchFamily="18" charset="0"/>
                <a:cs typeface="Times New Roman" panose="02020603050405020304" pitchFamily="18" charset="0"/>
              </a:rPr>
              <a:t> </a:t>
            </a:r>
            <a:r>
              <a:rPr b="1" spc="160" dirty="0">
                <a:solidFill>
                  <a:schemeClr val="bg1"/>
                </a:solidFill>
                <a:latin typeface="Times New Roman" panose="02020603050405020304" pitchFamily="18" charset="0"/>
                <a:cs typeface="Times New Roman" panose="02020603050405020304" pitchFamily="18" charset="0"/>
              </a:rPr>
              <a:t>Basic</a:t>
            </a:r>
            <a:r>
              <a:rPr b="1" spc="88" dirty="0">
                <a:solidFill>
                  <a:schemeClr val="bg1"/>
                </a:solidFill>
                <a:latin typeface="Times New Roman" panose="02020603050405020304" pitchFamily="18" charset="0"/>
                <a:cs typeface="Times New Roman" panose="02020603050405020304" pitchFamily="18" charset="0"/>
              </a:rPr>
              <a:t> </a:t>
            </a:r>
            <a:r>
              <a:rPr b="1" spc="138" dirty="0">
                <a:solidFill>
                  <a:schemeClr val="bg1"/>
                </a:solidFill>
                <a:latin typeface="Times New Roman" panose="02020603050405020304" pitchFamily="18" charset="0"/>
                <a:cs typeface="Times New Roman" panose="02020603050405020304" pitchFamily="18" charset="0"/>
              </a:rPr>
              <a:t>Concepts</a:t>
            </a:r>
          </a:p>
        </p:txBody>
      </p:sp>
      <p:sp>
        <p:nvSpPr>
          <p:cNvPr id="3" name="object 3"/>
          <p:cNvSpPr txBox="1"/>
          <p:nvPr/>
        </p:nvSpPr>
        <p:spPr>
          <a:xfrm>
            <a:off x="272122" y="1679432"/>
            <a:ext cx="9087009" cy="4740868"/>
          </a:xfrm>
          <a:prstGeom prst="rect">
            <a:avLst/>
          </a:prstGeom>
        </p:spPr>
        <p:txBody>
          <a:bodyPr vert="horz" wrap="square" lIns="0" tIns="39198" rIns="0" bIns="0" rtlCol="0">
            <a:spAutoFit/>
          </a:bodyPr>
          <a:lstStyle/>
          <a:p>
            <a:pPr marL="517971" marR="5600" indent="-503972">
              <a:spcBef>
                <a:spcPts val="187"/>
              </a:spcBef>
              <a:buClr>
                <a:srgbClr val="D24717"/>
              </a:buClr>
              <a:buSzPct val="83928"/>
              <a:buFont typeface="Wingdings" panose="05000000000000000000" pitchFamily="2" charset="2"/>
              <a:buChar char="Ø"/>
              <a:tabLst>
                <a:tab pos="517271" algn="l"/>
                <a:tab pos="517971" algn="l"/>
                <a:tab pos="1017043" algn="l"/>
              </a:tabLst>
            </a:pPr>
            <a:r>
              <a:rPr sz="3200" dirty="0">
                <a:latin typeface="Times New Roman"/>
                <a:cs typeface="Times New Roman"/>
              </a:rPr>
              <a:t>The three methods by which a router can add IP routes to</a:t>
            </a:r>
            <a:r>
              <a:rPr lang="en-US" sz="3200" dirty="0">
                <a:latin typeface="Times New Roman"/>
                <a:cs typeface="Times New Roman"/>
              </a:rPr>
              <a:t> </a:t>
            </a:r>
            <a:r>
              <a:rPr sz="3200" dirty="0">
                <a:latin typeface="Times New Roman"/>
                <a:cs typeface="Times New Roman"/>
              </a:rPr>
              <a:t>its routing table are:</a:t>
            </a:r>
          </a:p>
          <a:p>
            <a:pPr marL="937947" lvl="1" indent="-420676">
              <a:spcBef>
                <a:spcPts val="451"/>
              </a:spcBef>
              <a:buClr>
                <a:srgbClr val="C00000"/>
              </a:buClr>
              <a:buSzPct val="83928"/>
              <a:buAutoNum type="arabicPeriod"/>
              <a:tabLst>
                <a:tab pos="937947" algn="l"/>
                <a:tab pos="938647" algn="l"/>
              </a:tabLst>
            </a:pPr>
            <a:r>
              <a:rPr sz="3200" b="1" dirty="0">
                <a:solidFill>
                  <a:srgbClr val="FF0000"/>
                </a:solidFill>
                <a:latin typeface="Times New Roman"/>
                <a:cs typeface="Times New Roman"/>
              </a:rPr>
              <a:t>Connected</a:t>
            </a:r>
            <a:r>
              <a:rPr sz="3200" b="1" dirty="0">
                <a:solidFill>
                  <a:srgbClr val="C00000"/>
                </a:solidFill>
                <a:latin typeface="Times New Roman"/>
                <a:cs typeface="Times New Roman"/>
              </a:rPr>
              <a:t> </a:t>
            </a:r>
            <a:r>
              <a:rPr sz="3200" b="1" dirty="0">
                <a:solidFill>
                  <a:srgbClr val="FF0000"/>
                </a:solidFill>
                <a:latin typeface="Times New Roman"/>
                <a:cs typeface="Times New Roman"/>
              </a:rPr>
              <a:t>routes</a:t>
            </a:r>
            <a:r>
              <a:rPr sz="3200" b="1" dirty="0">
                <a:solidFill>
                  <a:srgbClr val="C00000"/>
                </a:solidFill>
                <a:latin typeface="Times New Roman"/>
                <a:cs typeface="Times New Roman"/>
              </a:rPr>
              <a:t> </a:t>
            </a:r>
            <a:r>
              <a:rPr sz="3200" dirty="0">
                <a:latin typeface="Times New Roman"/>
                <a:cs typeface="Times New Roman"/>
              </a:rPr>
              <a:t>– Adding a route to locally</a:t>
            </a:r>
          </a:p>
          <a:p>
            <a:pPr marL="937947" marR="21699"/>
            <a:r>
              <a:rPr sz="3200" dirty="0">
                <a:latin typeface="Times New Roman"/>
                <a:cs typeface="Times New Roman"/>
              </a:rPr>
              <a:t>connected subnets when a router‘s interface reaches  an </a:t>
            </a:r>
            <a:r>
              <a:rPr lang="en-US" sz="3200" dirty="0">
                <a:latin typeface="Times New Roman"/>
                <a:cs typeface="Times New Roman"/>
              </a:rPr>
              <a:t> “up and up” state.</a:t>
            </a:r>
          </a:p>
          <a:p>
            <a:pPr marL="937947" lvl="1" indent="-420676">
              <a:spcBef>
                <a:spcPts val="441"/>
              </a:spcBef>
              <a:buClr>
                <a:srgbClr val="C00000"/>
              </a:buClr>
              <a:buSzPct val="83928"/>
              <a:buAutoNum type="arabicPeriod" startAt="2"/>
              <a:tabLst>
                <a:tab pos="937947" algn="l"/>
                <a:tab pos="938647" algn="l"/>
              </a:tabLst>
            </a:pPr>
            <a:r>
              <a:rPr lang="en-US" sz="3200" b="1" dirty="0">
                <a:solidFill>
                  <a:srgbClr val="FF0000"/>
                </a:solidFill>
                <a:latin typeface="Times New Roman"/>
                <a:cs typeface="Times New Roman"/>
              </a:rPr>
              <a:t>Manually</a:t>
            </a:r>
            <a:r>
              <a:rPr lang="en-US" sz="3200" b="1" dirty="0">
                <a:solidFill>
                  <a:srgbClr val="C00000"/>
                </a:solidFill>
                <a:latin typeface="Times New Roman"/>
                <a:cs typeface="Times New Roman"/>
              </a:rPr>
              <a:t>, </a:t>
            </a:r>
            <a:r>
              <a:rPr lang="en-US" sz="3200" dirty="0">
                <a:latin typeface="Times New Roman"/>
                <a:cs typeface="Times New Roman"/>
              </a:rPr>
              <a:t>from configured static routes</a:t>
            </a:r>
          </a:p>
          <a:p>
            <a:pPr marL="1240330" lvl="2" indent="-420676">
              <a:spcBef>
                <a:spcPts val="441"/>
              </a:spcBef>
              <a:buClr>
                <a:srgbClr val="C00000"/>
              </a:buClr>
              <a:buSzPct val="83928"/>
              <a:buFont typeface="Wingdings"/>
              <a:buChar char=""/>
              <a:tabLst>
                <a:tab pos="1240330" algn="l"/>
                <a:tab pos="1241030" algn="l"/>
              </a:tabLst>
            </a:pPr>
            <a:r>
              <a:rPr sz="3200" dirty="0">
                <a:latin typeface="Times New Roman"/>
                <a:cs typeface="Times New Roman"/>
              </a:rPr>
              <a:t>Using </a:t>
            </a:r>
            <a:r>
              <a:rPr sz="3200" b="1" dirty="0">
                <a:solidFill>
                  <a:srgbClr val="FF0000"/>
                </a:solidFill>
                <a:latin typeface="Times New Roman"/>
                <a:cs typeface="Times New Roman"/>
              </a:rPr>
              <a:t>ip</a:t>
            </a:r>
            <a:r>
              <a:rPr sz="3200" b="1" dirty="0">
                <a:latin typeface="Times New Roman"/>
                <a:cs typeface="Times New Roman"/>
              </a:rPr>
              <a:t> </a:t>
            </a:r>
            <a:r>
              <a:rPr sz="3200" b="1" dirty="0">
                <a:solidFill>
                  <a:srgbClr val="FF0000"/>
                </a:solidFill>
                <a:latin typeface="Times New Roman"/>
                <a:cs typeface="Times New Roman"/>
              </a:rPr>
              <a:t>route</a:t>
            </a:r>
            <a:r>
              <a:rPr sz="3200" b="1" dirty="0">
                <a:latin typeface="Times New Roman"/>
                <a:cs typeface="Times New Roman"/>
              </a:rPr>
              <a:t> </a:t>
            </a:r>
            <a:r>
              <a:rPr sz="3200" dirty="0">
                <a:latin typeface="Times New Roman"/>
                <a:cs typeface="Times New Roman"/>
              </a:rPr>
              <a:t>command</a:t>
            </a:r>
            <a:r>
              <a:rPr lang="en-US" sz="3200" dirty="0">
                <a:latin typeface="Times New Roman"/>
                <a:cs typeface="Times New Roman"/>
              </a:rPr>
              <a:t>.</a:t>
            </a:r>
            <a:endParaRPr sz="3200" dirty="0">
              <a:latin typeface="Times New Roman"/>
              <a:cs typeface="Times New Roman"/>
            </a:endParaRPr>
          </a:p>
          <a:p>
            <a:pPr marL="937947" lvl="1" indent="-420676">
              <a:spcBef>
                <a:spcPts val="446"/>
              </a:spcBef>
              <a:buClr>
                <a:srgbClr val="C00000"/>
              </a:buClr>
              <a:buSzPct val="83928"/>
              <a:buAutoNum type="arabicPeriod" startAt="2"/>
              <a:tabLst>
                <a:tab pos="937947" algn="l"/>
                <a:tab pos="938647" algn="l"/>
              </a:tabLst>
            </a:pPr>
            <a:r>
              <a:rPr sz="3200" b="1" dirty="0">
                <a:solidFill>
                  <a:srgbClr val="FF0000"/>
                </a:solidFill>
                <a:latin typeface="Times New Roman"/>
                <a:cs typeface="Times New Roman"/>
              </a:rPr>
              <a:t>Automatically</a:t>
            </a:r>
            <a:r>
              <a:rPr sz="3200" b="1" dirty="0">
                <a:solidFill>
                  <a:srgbClr val="C00000"/>
                </a:solidFill>
                <a:latin typeface="Times New Roman"/>
                <a:cs typeface="Times New Roman"/>
              </a:rPr>
              <a:t>, </a:t>
            </a:r>
            <a:r>
              <a:rPr sz="3200" dirty="0">
                <a:latin typeface="Times New Roman"/>
                <a:cs typeface="Times New Roman"/>
              </a:rPr>
              <a:t>from a dynamic routing protocol</a:t>
            </a:r>
          </a:p>
          <a:p>
            <a:pPr marL="1240330" lvl="2" indent="-420676">
              <a:spcBef>
                <a:spcPts val="435"/>
              </a:spcBef>
              <a:buClr>
                <a:srgbClr val="C00000"/>
              </a:buClr>
              <a:buSzPct val="83928"/>
              <a:buFont typeface="Wingdings"/>
              <a:buChar char=""/>
              <a:tabLst>
                <a:tab pos="1240330" algn="l"/>
                <a:tab pos="1241030" algn="l"/>
              </a:tabLst>
            </a:pPr>
            <a:r>
              <a:rPr sz="3200" dirty="0">
                <a:latin typeface="Times New Roman"/>
                <a:cs typeface="Times New Roman"/>
              </a:rPr>
              <a:t>Example: RIP, OSPF, EIGRP</a:t>
            </a:r>
            <a:r>
              <a:rPr lang="en-US" sz="3200" dirty="0">
                <a:latin typeface="Times New Roman"/>
                <a:cs typeface="Times New Roman"/>
              </a:rPr>
              <a:t>.</a:t>
            </a:r>
            <a:endParaRPr sz="32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608" y="415170"/>
            <a:ext cx="8017720" cy="690537"/>
          </a:xfrm>
          <a:prstGeom prst="rect">
            <a:avLst/>
          </a:prstGeom>
        </p:spPr>
        <p:txBody>
          <a:bodyPr vert="horz" wrap="square" lIns="0" tIns="13299" rIns="0" bIns="0" rtlCol="0" anchor="ctr">
            <a:spAutoFit/>
          </a:bodyPr>
          <a:lstStyle/>
          <a:p>
            <a:pPr marL="13999">
              <a:lnSpc>
                <a:spcPct val="100000"/>
              </a:lnSpc>
              <a:spcBef>
                <a:spcPts val="105"/>
              </a:spcBef>
            </a:pPr>
            <a:r>
              <a:rPr b="1" spc="-17" dirty="0">
                <a:solidFill>
                  <a:schemeClr val="bg1"/>
                </a:solidFill>
                <a:latin typeface="Times New Roman" panose="02020603050405020304" pitchFamily="18" charset="0"/>
                <a:cs typeface="Times New Roman" panose="02020603050405020304" pitchFamily="18" charset="0"/>
              </a:rPr>
              <a:t>Directly</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Connected</a:t>
            </a:r>
            <a:r>
              <a:rPr b="1" spc="6"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Routes</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53419" y="1783860"/>
            <a:ext cx="9763313" cy="4132505"/>
          </a:xfrm>
          <a:prstGeom prst="rect">
            <a:avLst/>
          </a:prstGeom>
        </p:spPr>
        <p:txBody>
          <a:bodyPr vert="horz" wrap="square" lIns="0" tIns="13299" rIns="0" bIns="0" rtlCol="0">
            <a:spAutoFit/>
          </a:bodyPr>
          <a:lstStyle/>
          <a:p>
            <a:pPr marL="470499" marR="5600" indent="-457200" algn="just">
              <a:spcBef>
                <a:spcPts val="105"/>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Subnets to </a:t>
            </a:r>
            <a:r>
              <a:rPr sz="3200" spc="-11" dirty="0">
                <a:latin typeface="Times New Roman"/>
                <a:cs typeface="Times New Roman"/>
              </a:rPr>
              <a:t>which </a:t>
            </a:r>
            <a:r>
              <a:rPr sz="3200" spc="-6" dirty="0">
                <a:latin typeface="Times New Roman"/>
                <a:cs typeface="Times New Roman"/>
              </a:rPr>
              <a:t>a </a:t>
            </a:r>
            <a:r>
              <a:rPr sz="3200" spc="-11" dirty="0">
                <a:latin typeface="Times New Roman"/>
                <a:cs typeface="Times New Roman"/>
              </a:rPr>
              <a:t>router‘s </a:t>
            </a:r>
            <a:r>
              <a:rPr sz="3200" spc="-6" dirty="0">
                <a:latin typeface="Times New Roman"/>
                <a:cs typeface="Times New Roman"/>
              </a:rPr>
              <a:t>interfaces are connected </a:t>
            </a:r>
            <a:r>
              <a:rPr sz="3200" spc="-11" dirty="0">
                <a:latin typeface="Times New Roman"/>
                <a:cs typeface="Times New Roman"/>
              </a:rPr>
              <a:t>are </a:t>
            </a:r>
            <a:r>
              <a:rPr sz="3200" spc="-755" dirty="0">
                <a:latin typeface="Times New Roman"/>
                <a:cs typeface="Times New Roman"/>
              </a:rPr>
              <a:t> </a:t>
            </a:r>
            <a:r>
              <a:rPr sz="3200" spc="-6" dirty="0">
                <a:latin typeface="Times New Roman"/>
                <a:cs typeface="Times New Roman"/>
              </a:rPr>
              <a:t>called</a:t>
            </a:r>
            <a:r>
              <a:rPr sz="3200" spc="-17" dirty="0">
                <a:latin typeface="Times New Roman"/>
                <a:cs typeface="Times New Roman"/>
              </a:rPr>
              <a:t> </a:t>
            </a:r>
            <a:r>
              <a:rPr sz="3200" b="1" spc="-6" dirty="0">
                <a:solidFill>
                  <a:srgbClr val="FF0000"/>
                </a:solidFill>
                <a:latin typeface="Times New Roman"/>
                <a:cs typeface="Times New Roman"/>
              </a:rPr>
              <a:t>connected </a:t>
            </a:r>
            <a:r>
              <a:rPr sz="3200" b="1" dirty="0">
                <a:solidFill>
                  <a:srgbClr val="FF0000"/>
                </a:solidFill>
                <a:latin typeface="Times New Roman"/>
                <a:cs typeface="Times New Roman"/>
              </a:rPr>
              <a:t>subnets</a:t>
            </a:r>
            <a:r>
              <a:rPr sz="3200" dirty="0">
                <a:latin typeface="Times New Roman"/>
                <a:cs typeface="Times New Roman"/>
              </a:rPr>
              <a:t>.</a:t>
            </a:r>
          </a:p>
          <a:p>
            <a:pPr marL="470499" marR="594266" indent="-457200" algn="just">
              <a:spcBef>
                <a:spcPts val="667"/>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Routers automatically add </a:t>
            </a:r>
            <a:r>
              <a:rPr sz="3200" dirty="0">
                <a:latin typeface="Times New Roman"/>
                <a:cs typeface="Times New Roman"/>
              </a:rPr>
              <a:t>routes </a:t>
            </a:r>
            <a:r>
              <a:rPr sz="3200" spc="-6" dirty="0">
                <a:latin typeface="Times New Roman"/>
                <a:cs typeface="Times New Roman"/>
              </a:rPr>
              <a:t>to their IP </a:t>
            </a:r>
            <a:r>
              <a:rPr sz="3200" dirty="0">
                <a:latin typeface="Times New Roman"/>
                <a:cs typeface="Times New Roman"/>
              </a:rPr>
              <a:t>routing </a:t>
            </a:r>
            <a:r>
              <a:rPr sz="3200" spc="-755" dirty="0">
                <a:latin typeface="Times New Roman"/>
                <a:cs typeface="Times New Roman"/>
              </a:rPr>
              <a:t> </a:t>
            </a:r>
            <a:r>
              <a:rPr sz="3200" spc="-6" dirty="0">
                <a:latin typeface="Times New Roman"/>
                <a:cs typeface="Times New Roman"/>
              </a:rPr>
              <a:t>tables </a:t>
            </a:r>
            <a:r>
              <a:rPr sz="3200" dirty="0">
                <a:latin typeface="Times New Roman"/>
                <a:cs typeface="Times New Roman"/>
              </a:rPr>
              <a:t>for </a:t>
            </a:r>
            <a:r>
              <a:rPr sz="3200" spc="-6" dirty="0">
                <a:latin typeface="Times New Roman"/>
                <a:cs typeface="Times New Roman"/>
              </a:rPr>
              <a:t>directly connected </a:t>
            </a:r>
            <a:r>
              <a:rPr sz="3200" dirty="0">
                <a:latin typeface="Times New Roman"/>
                <a:cs typeface="Times New Roman"/>
              </a:rPr>
              <a:t>subnets, </a:t>
            </a:r>
            <a:r>
              <a:rPr sz="3200" spc="-6" dirty="0">
                <a:latin typeface="Times New Roman"/>
                <a:cs typeface="Times New Roman"/>
              </a:rPr>
              <a:t>called </a:t>
            </a:r>
            <a:r>
              <a:rPr sz="3200" b="1" spc="-6" dirty="0">
                <a:solidFill>
                  <a:srgbClr val="FF0000"/>
                </a:solidFill>
                <a:latin typeface="Times New Roman"/>
                <a:cs typeface="Times New Roman"/>
              </a:rPr>
              <a:t>directly </a:t>
            </a:r>
            <a:r>
              <a:rPr sz="3200" b="1" spc="-755" dirty="0">
                <a:solidFill>
                  <a:srgbClr val="FF0000"/>
                </a:solidFill>
                <a:latin typeface="Times New Roman"/>
                <a:cs typeface="Times New Roman"/>
              </a:rPr>
              <a:t> </a:t>
            </a:r>
            <a:r>
              <a:rPr sz="3200" b="1" spc="-6" dirty="0">
                <a:solidFill>
                  <a:srgbClr val="FF0000"/>
                </a:solidFill>
                <a:latin typeface="Times New Roman"/>
                <a:cs typeface="Times New Roman"/>
              </a:rPr>
              <a:t>connected</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routes</a:t>
            </a:r>
            <a:r>
              <a:rPr sz="3200" dirty="0">
                <a:latin typeface="Times New Roman"/>
                <a:cs typeface="Times New Roman"/>
              </a:rPr>
              <a:t>.</a:t>
            </a:r>
          </a:p>
          <a:p>
            <a:pPr marL="470499" marR="366079" indent="-457200">
              <a:spcBef>
                <a:spcPts val="661"/>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A </a:t>
            </a:r>
            <a:r>
              <a:rPr sz="3200" dirty="0">
                <a:latin typeface="Times New Roman"/>
                <a:cs typeface="Times New Roman"/>
              </a:rPr>
              <a:t>router </a:t>
            </a:r>
            <a:r>
              <a:rPr sz="3200" spc="-6" dirty="0">
                <a:latin typeface="Times New Roman"/>
                <a:cs typeface="Times New Roman"/>
              </a:rPr>
              <a:t>adds a directly connected </a:t>
            </a:r>
            <a:r>
              <a:rPr sz="3200" dirty="0">
                <a:latin typeface="Times New Roman"/>
                <a:cs typeface="Times New Roman"/>
              </a:rPr>
              <a:t>route for </a:t>
            </a:r>
            <a:r>
              <a:rPr sz="3200" spc="-6" dirty="0">
                <a:latin typeface="Times New Roman"/>
                <a:cs typeface="Times New Roman"/>
              </a:rPr>
              <a:t>each </a:t>
            </a:r>
            <a:r>
              <a:rPr sz="3200" dirty="0">
                <a:latin typeface="Times New Roman"/>
                <a:cs typeface="Times New Roman"/>
              </a:rPr>
              <a:t> </a:t>
            </a:r>
            <a:r>
              <a:rPr sz="3200" spc="-6" dirty="0">
                <a:latin typeface="Times New Roman"/>
                <a:cs typeface="Times New Roman"/>
              </a:rPr>
              <a:t>interface</a:t>
            </a:r>
            <a:r>
              <a:rPr sz="3200" spc="-28" dirty="0">
                <a:latin typeface="Times New Roman"/>
                <a:cs typeface="Times New Roman"/>
              </a:rPr>
              <a:t> </a:t>
            </a:r>
            <a:r>
              <a:rPr sz="3200" spc="-6" dirty="0">
                <a:latin typeface="Times New Roman"/>
                <a:cs typeface="Times New Roman"/>
              </a:rPr>
              <a:t>that</a:t>
            </a:r>
            <a:r>
              <a:rPr sz="3200" spc="-11"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been</a:t>
            </a:r>
            <a:r>
              <a:rPr sz="3200" dirty="0">
                <a:latin typeface="Times New Roman"/>
                <a:cs typeface="Times New Roman"/>
              </a:rPr>
              <a:t> configured</a:t>
            </a:r>
            <a:r>
              <a:rPr sz="3200" spc="-17" dirty="0">
                <a:latin typeface="Times New Roman"/>
                <a:cs typeface="Times New Roman"/>
              </a:rPr>
              <a:t> </a:t>
            </a:r>
            <a:r>
              <a:rPr sz="3200" spc="-6" dirty="0">
                <a:latin typeface="Times New Roman"/>
                <a:cs typeface="Times New Roman"/>
              </a:rPr>
              <a:t>with</a:t>
            </a:r>
            <a:r>
              <a:rPr sz="3200" dirty="0">
                <a:latin typeface="Times New Roman"/>
                <a:cs typeface="Times New Roman"/>
              </a:rPr>
              <a:t> </a:t>
            </a:r>
            <a:r>
              <a:rPr sz="3200" spc="-6" dirty="0">
                <a:latin typeface="Times New Roman"/>
                <a:cs typeface="Times New Roman"/>
              </a:rPr>
              <a:t>an</a:t>
            </a:r>
            <a:r>
              <a:rPr sz="3200" spc="6" dirty="0">
                <a:latin typeface="Times New Roman"/>
                <a:cs typeface="Times New Roman"/>
              </a:rPr>
              <a:t> </a:t>
            </a:r>
            <a:r>
              <a:rPr sz="3200" spc="-6" dirty="0">
                <a:latin typeface="Times New Roman"/>
                <a:cs typeface="Times New Roman"/>
              </a:rPr>
              <a:t>IP</a:t>
            </a:r>
            <a:r>
              <a:rPr sz="3200" spc="-105" dirty="0">
                <a:latin typeface="Times New Roman"/>
                <a:cs typeface="Times New Roman"/>
              </a:rPr>
              <a:t> </a:t>
            </a:r>
            <a:r>
              <a:rPr sz="3200" spc="-6" dirty="0">
                <a:latin typeface="Times New Roman"/>
                <a:cs typeface="Times New Roman"/>
              </a:rPr>
              <a:t>address, </a:t>
            </a:r>
            <a:r>
              <a:rPr sz="3200" spc="-755" dirty="0">
                <a:latin typeface="Times New Roman"/>
                <a:cs typeface="Times New Roman"/>
              </a:rPr>
              <a:t> </a:t>
            </a:r>
            <a:r>
              <a:rPr sz="3200" spc="-6" dirty="0">
                <a:latin typeface="Times New Roman"/>
                <a:cs typeface="Times New Roman"/>
              </a:rPr>
              <a:t>and</a:t>
            </a:r>
            <a:r>
              <a:rPr sz="3200" spc="-17" dirty="0">
                <a:latin typeface="Times New Roman"/>
                <a:cs typeface="Times New Roman"/>
              </a:rPr>
              <a:t> </a:t>
            </a:r>
            <a:r>
              <a:rPr sz="3200" spc="-6" dirty="0">
                <a:latin typeface="Times New Roman"/>
                <a:cs typeface="Times New Roman"/>
              </a:rPr>
              <a:t>is up and </a:t>
            </a:r>
            <a:r>
              <a:rPr sz="3200" dirty="0">
                <a:latin typeface="Times New Roman"/>
                <a:cs typeface="Times New Roman"/>
              </a:rPr>
              <a:t>working.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6958" y="364723"/>
            <a:ext cx="9226302" cy="691948"/>
          </a:xfrm>
          <a:prstGeom prst="rect">
            <a:avLst/>
          </a:prstGeom>
        </p:spPr>
        <p:txBody>
          <a:bodyPr vert="horz" wrap="square" lIns="0" tIns="13299" rIns="0" bIns="0" rtlCol="0" anchor="ctr">
            <a:spAutoFit/>
          </a:bodyPr>
          <a:lstStyle/>
          <a:p>
            <a:pPr marL="13999">
              <a:lnSpc>
                <a:spcPct val="100000"/>
              </a:lnSpc>
              <a:spcBef>
                <a:spcPts val="105"/>
              </a:spcBef>
            </a:pPr>
            <a:r>
              <a:rPr b="1" spc="-6" dirty="0">
                <a:solidFill>
                  <a:schemeClr val="bg1"/>
                </a:solidFill>
                <a:latin typeface="Times New Roman" panose="02020603050405020304" pitchFamily="18" charset="0"/>
                <a:cs typeface="Times New Roman" panose="02020603050405020304" pitchFamily="18" charset="0"/>
              </a:rPr>
              <a:t>Connected</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Routes</a:t>
            </a:r>
            <a:r>
              <a:rPr b="1" spc="11" dirty="0">
                <a:solidFill>
                  <a:schemeClr val="bg1"/>
                </a:solidFill>
                <a:latin typeface="Times New Roman" panose="02020603050405020304" pitchFamily="18" charset="0"/>
                <a:cs typeface="Times New Roman" panose="02020603050405020304" pitchFamily="18" charset="0"/>
              </a:rPr>
              <a:t> </a:t>
            </a:r>
            <a:r>
              <a:rPr b="1" spc="-50" dirty="0">
                <a:solidFill>
                  <a:schemeClr val="bg1"/>
                </a:solidFill>
                <a:latin typeface="Times New Roman" panose="02020603050405020304" pitchFamily="18" charset="0"/>
                <a:cs typeface="Times New Roman" panose="02020603050405020304" pitchFamily="18" charset="0"/>
              </a:rPr>
              <a:t>Only,</a:t>
            </a:r>
            <a:r>
              <a:rPr b="1" spc="-6" dirty="0">
                <a:solidFill>
                  <a:schemeClr val="bg1"/>
                </a:solidFill>
                <a:latin typeface="Times New Roman" panose="02020603050405020304" pitchFamily="18" charset="0"/>
                <a:cs typeface="Times New Roman" panose="02020603050405020304" pitchFamily="18" charset="0"/>
              </a:rPr>
              <a:t> on</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R1 </a:t>
            </a:r>
            <a:r>
              <a:rPr b="1" dirty="0">
                <a:solidFill>
                  <a:schemeClr val="bg1"/>
                </a:solidFill>
                <a:latin typeface="Times New Roman" panose="02020603050405020304" pitchFamily="18" charset="0"/>
                <a:cs typeface="Times New Roman" panose="02020603050405020304" pitchFamily="18" charset="0"/>
              </a:rPr>
              <a:t>and</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R2</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54546" y="5409131"/>
            <a:ext cx="9926079" cy="1617783"/>
          </a:xfrm>
          <a:prstGeom prst="rect">
            <a:avLst/>
          </a:prstGeom>
        </p:spPr>
        <p:txBody>
          <a:bodyPr vert="horz" wrap="square" lIns="0" tIns="75597" rIns="0" bIns="0" rtlCol="0">
            <a:spAutoFit/>
          </a:bodyPr>
          <a:lstStyle/>
          <a:p>
            <a:pPr marL="470500" indent="-457200">
              <a:spcBef>
                <a:spcPts val="595"/>
              </a:spcBef>
              <a:buClr>
                <a:srgbClr val="D24717"/>
              </a:buClr>
              <a:buSzPct val="80769"/>
              <a:buFont typeface="Wingdings" panose="05000000000000000000" pitchFamily="2" charset="2"/>
              <a:buChar char="Ø"/>
              <a:tabLst>
                <a:tab pos="186189" algn="l"/>
              </a:tabLst>
            </a:pPr>
            <a:r>
              <a:rPr sz="3200" dirty="0">
                <a:latin typeface="Times New Roman"/>
                <a:cs typeface="Times New Roman"/>
              </a:rPr>
              <a:t>A</a:t>
            </a:r>
            <a:r>
              <a:rPr sz="3200" spc="-187" dirty="0">
                <a:latin typeface="Times New Roman"/>
                <a:cs typeface="Times New Roman"/>
              </a:rPr>
              <a:t> </a:t>
            </a:r>
            <a:r>
              <a:rPr sz="3200" dirty="0">
                <a:latin typeface="Times New Roman"/>
                <a:cs typeface="Times New Roman"/>
              </a:rPr>
              <a:t>conceptual</a:t>
            </a:r>
            <a:r>
              <a:rPr sz="3200" spc="-39" dirty="0">
                <a:latin typeface="Times New Roman"/>
                <a:cs typeface="Times New Roman"/>
              </a:rPr>
              <a:t> </a:t>
            </a:r>
            <a:r>
              <a:rPr sz="3200" dirty="0">
                <a:latin typeface="Times New Roman"/>
                <a:cs typeface="Times New Roman"/>
              </a:rPr>
              <a:t>view</a:t>
            </a:r>
            <a:r>
              <a:rPr sz="3200" spc="-17" dirty="0">
                <a:latin typeface="Times New Roman"/>
                <a:cs typeface="Times New Roman"/>
              </a:rPr>
              <a:t> </a:t>
            </a:r>
            <a:r>
              <a:rPr sz="3200" dirty="0">
                <a:latin typeface="Times New Roman"/>
                <a:cs typeface="Times New Roman"/>
              </a:rPr>
              <a:t>of the</a:t>
            </a:r>
            <a:r>
              <a:rPr sz="3200" spc="-22" dirty="0">
                <a:latin typeface="Times New Roman"/>
                <a:cs typeface="Times New Roman"/>
              </a:rPr>
              <a:t> </a:t>
            </a:r>
            <a:r>
              <a:rPr sz="3200" dirty="0">
                <a:latin typeface="Times New Roman"/>
                <a:cs typeface="Times New Roman"/>
              </a:rPr>
              <a:t>IP</a:t>
            </a:r>
            <a:r>
              <a:rPr sz="3200" spc="-105" dirty="0">
                <a:latin typeface="Times New Roman"/>
                <a:cs typeface="Times New Roman"/>
              </a:rPr>
              <a:t> </a:t>
            </a:r>
            <a:r>
              <a:rPr sz="3200" dirty="0">
                <a:latin typeface="Times New Roman"/>
                <a:cs typeface="Times New Roman"/>
              </a:rPr>
              <a:t>routing</a:t>
            </a:r>
            <a:r>
              <a:rPr sz="3200" spc="-22" dirty="0">
                <a:latin typeface="Times New Roman"/>
                <a:cs typeface="Times New Roman"/>
              </a:rPr>
              <a:t> </a:t>
            </a:r>
            <a:r>
              <a:rPr sz="3200" spc="-6" dirty="0">
                <a:latin typeface="Times New Roman"/>
                <a:cs typeface="Times New Roman"/>
              </a:rPr>
              <a:t>tables</a:t>
            </a:r>
            <a:r>
              <a:rPr sz="3200" dirty="0">
                <a:latin typeface="Times New Roman"/>
                <a:cs typeface="Times New Roman"/>
              </a:rPr>
              <a:t> in R1</a:t>
            </a:r>
            <a:r>
              <a:rPr sz="3200" spc="-11" dirty="0">
                <a:latin typeface="Times New Roman"/>
                <a:cs typeface="Times New Roman"/>
              </a:rPr>
              <a:t> </a:t>
            </a:r>
            <a:r>
              <a:rPr sz="3200" dirty="0">
                <a:latin typeface="Times New Roman"/>
                <a:cs typeface="Times New Roman"/>
              </a:rPr>
              <a:t>and</a:t>
            </a:r>
            <a:r>
              <a:rPr sz="3200" spc="-11" dirty="0">
                <a:latin typeface="Times New Roman"/>
                <a:cs typeface="Times New Roman"/>
              </a:rPr>
              <a:t> </a:t>
            </a:r>
            <a:r>
              <a:rPr sz="3200" dirty="0">
                <a:latin typeface="Times New Roman"/>
                <a:cs typeface="Times New Roman"/>
              </a:rPr>
              <a:t>R2:</a:t>
            </a:r>
          </a:p>
          <a:p>
            <a:pPr marL="315682" marR="5600" lvl="1">
              <a:spcBef>
                <a:spcPts val="451"/>
              </a:spcBef>
              <a:buClr>
                <a:srgbClr val="9B2C1F"/>
              </a:buClr>
              <a:buSzPct val="81250"/>
              <a:buFont typeface="Wingdings"/>
              <a:buChar char=""/>
              <a:tabLst>
                <a:tab pos="541769" algn="l"/>
              </a:tabLst>
            </a:pPr>
            <a:r>
              <a:rPr sz="3200" dirty="0">
                <a:latin typeface="Times New Roman"/>
                <a:cs typeface="Times New Roman"/>
              </a:rPr>
              <a:t>The</a:t>
            </a:r>
            <a:r>
              <a:rPr sz="3200" spc="-33" dirty="0">
                <a:latin typeface="Times New Roman"/>
                <a:cs typeface="Times New Roman"/>
              </a:rPr>
              <a:t> </a:t>
            </a:r>
            <a:r>
              <a:rPr sz="3200" dirty="0">
                <a:latin typeface="Times New Roman"/>
                <a:cs typeface="Times New Roman"/>
              </a:rPr>
              <a:t>routers</a:t>
            </a:r>
            <a:r>
              <a:rPr sz="3200" spc="-22" dirty="0">
                <a:latin typeface="Times New Roman"/>
                <a:cs typeface="Times New Roman"/>
              </a:rPr>
              <a:t> </a:t>
            </a:r>
            <a:r>
              <a:rPr sz="3200" dirty="0">
                <a:latin typeface="Times New Roman"/>
                <a:cs typeface="Times New Roman"/>
              </a:rPr>
              <a:t>were</a:t>
            </a:r>
            <a:r>
              <a:rPr sz="3200" spc="-17" dirty="0">
                <a:latin typeface="Times New Roman"/>
                <a:cs typeface="Times New Roman"/>
              </a:rPr>
              <a:t> </a:t>
            </a:r>
            <a:r>
              <a:rPr sz="3200" dirty="0">
                <a:latin typeface="Times New Roman"/>
                <a:cs typeface="Times New Roman"/>
              </a:rPr>
              <a:t>able</a:t>
            </a:r>
            <a:r>
              <a:rPr sz="3200" spc="-33" dirty="0">
                <a:latin typeface="Times New Roman"/>
                <a:cs typeface="Times New Roman"/>
              </a:rPr>
              <a:t> </a:t>
            </a:r>
            <a:r>
              <a:rPr sz="3200" dirty="0">
                <a:latin typeface="Times New Roman"/>
                <a:cs typeface="Times New Roman"/>
              </a:rPr>
              <a:t>to</a:t>
            </a:r>
            <a:r>
              <a:rPr sz="3200" spc="-6" dirty="0">
                <a:latin typeface="Times New Roman"/>
                <a:cs typeface="Times New Roman"/>
              </a:rPr>
              <a:t> </a:t>
            </a:r>
            <a:r>
              <a:rPr sz="3200" dirty="0">
                <a:latin typeface="Times New Roman"/>
                <a:cs typeface="Times New Roman"/>
              </a:rPr>
              <a:t>learn</a:t>
            </a:r>
            <a:r>
              <a:rPr sz="3200" spc="-33" dirty="0">
                <a:latin typeface="Times New Roman"/>
                <a:cs typeface="Times New Roman"/>
              </a:rPr>
              <a:t> </a:t>
            </a:r>
            <a:r>
              <a:rPr sz="3200" dirty="0">
                <a:latin typeface="Times New Roman"/>
                <a:cs typeface="Times New Roman"/>
              </a:rPr>
              <a:t>the</a:t>
            </a:r>
            <a:r>
              <a:rPr sz="3200" spc="-28" dirty="0">
                <a:latin typeface="Times New Roman"/>
                <a:cs typeface="Times New Roman"/>
              </a:rPr>
              <a:t> </a:t>
            </a:r>
            <a:r>
              <a:rPr sz="3200" dirty="0">
                <a:latin typeface="Times New Roman"/>
                <a:cs typeface="Times New Roman"/>
              </a:rPr>
              <a:t>entries</a:t>
            </a:r>
            <a:r>
              <a:rPr sz="3200" spc="-28" dirty="0">
                <a:latin typeface="Times New Roman"/>
                <a:cs typeface="Times New Roman"/>
              </a:rPr>
              <a:t> </a:t>
            </a:r>
            <a:r>
              <a:rPr sz="3200" dirty="0">
                <a:latin typeface="Times New Roman"/>
                <a:cs typeface="Times New Roman"/>
              </a:rPr>
              <a:t>in</a:t>
            </a:r>
            <a:r>
              <a:rPr sz="3200" spc="-17" dirty="0">
                <a:latin typeface="Times New Roman"/>
                <a:cs typeface="Times New Roman"/>
              </a:rPr>
              <a:t> </a:t>
            </a:r>
            <a:r>
              <a:rPr sz="3200" dirty="0">
                <a:latin typeface="Times New Roman"/>
                <a:cs typeface="Times New Roman"/>
              </a:rPr>
              <a:t>each</a:t>
            </a:r>
            <a:r>
              <a:rPr sz="3200" spc="-22" dirty="0">
                <a:latin typeface="Times New Roman"/>
                <a:cs typeface="Times New Roman"/>
              </a:rPr>
              <a:t> </a:t>
            </a:r>
            <a:r>
              <a:rPr sz="3200" dirty="0">
                <a:latin typeface="Times New Roman"/>
                <a:cs typeface="Times New Roman"/>
              </a:rPr>
              <a:t>table</a:t>
            </a:r>
            <a:r>
              <a:rPr sz="3200" spc="-44" dirty="0">
                <a:latin typeface="Times New Roman"/>
                <a:cs typeface="Times New Roman"/>
              </a:rPr>
              <a:t> </a:t>
            </a:r>
            <a:r>
              <a:rPr sz="3200" dirty="0">
                <a:latin typeface="Times New Roman"/>
                <a:cs typeface="Times New Roman"/>
              </a:rPr>
              <a:t>only </a:t>
            </a:r>
            <a:r>
              <a:rPr sz="3200" spc="-645" dirty="0">
                <a:latin typeface="Times New Roman"/>
                <a:cs typeface="Times New Roman"/>
              </a:rPr>
              <a:t> </a:t>
            </a:r>
            <a:r>
              <a:rPr sz="3200" spc="-6" dirty="0">
                <a:latin typeface="Times New Roman"/>
                <a:cs typeface="Times New Roman"/>
              </a:rPr>
              <a:t>because</a:t>
            </a:r>
            <a:r>
              <a:rPr sz="3200" spc="-44"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routers</a:t>
            </a:r>
            <a:r>
              <a:rPr sz="3200" spc="-28" dirty="0">
                <a:latin typeface="Times New Roman"/>
                <a:cs typeface="Times New Roman"/>
              </a:rPr>
              <a:t> </a:t>
            </a:r>
            <a:r>
              <a:rPr sz="3200" dirty="0">
                <a:latin typeface="Times New Roman"/>
                <a:cs typeface="Times New Roman"/>
              </a:rPr>
              <a:t>are</a:t>
            </a:r>
            <a:r>
              <a:rPr sz="3200" spc="-11" dirty="0">
                <a:latin typeface="Times New Roman"/>
                <a:cs typeface="Times New Roman"/>
              </a:rPr>
              <a:t> </a:t>
            </a:r>
            <a:r>
              <a:rPr sz="3200" b="1" dirty="0">
                <a:solidFill>
                  <a:srgbClr val="FF0000"/>
                </a:solidFill>
                <a:latin typeface="Times New Roman"/>
                <a:cs typeface="Times New Roman"/>
              </a:rPr>
              <a:t>connected</a:t>
            </a:r>
            <a:r>
              <a:rPr sz="3200" spc="-50" dirty="0">
                <a:latin typeface="Times New Roman"/>
                <a:cs typeface="Times New Roman"/>
              </a:rPr>
              <a:t> </a:t>
            </a:r>
            <a:r>
              <a:rPr sz="3200" dirty="0">
                <a:latin typeface="Times New Roman"/>
                <a:cs typeface="Times New Roman"/>
              </a:rPr>
              <a:t>to these</a:t>
            </a:r>
            <a:r>
              <a:rPr sz="3200" spc="-22" dirty="0">
                <a:latin typeface="Times New Roman"/>
                <a:cs typeface="Times New Roman"/>
              </a:rPr>
              <a:t> </a:t>
            </a:r>
            <a:r>
              <a:rPr sz="3200" spc="-6" dirty="0">
                <a:latin typeface="Times New Roman"/>
                <a:cs typeface="Times New Roman"/>
              </a:rPr>
              <a:t>IP</a:t>
            </a:r>
            <a:r>
              <a:rPr sz="3200" spc="-94" dirty="0">
                <a:latin typeface="Times New Roman"/>
                <a:cs typeface="Times New Roman"/>
              </a:rPr>
              <a:t> </a:t>
            </a:r>
            <a:r>
              <a:rPr sz="3200" dirty="0">
                <a:latin typeface="Times New Roman"/>
                <a:cs typeface="Times New Roman"/>
              </a:rPr>
              <a:t>subnets.</a:t>
            </a:r>
          </a:p>
        </p:txBody>
      </p:sp>
      <p:pic>
        <p:nvPicPr>
          <p:cNvPr id="4" name="object 4"/>
          <p:cNvPicPr/>
          <p:nvPr/>
        </p:nvPicPr>
        <p:blipFill>
          <a:blip r:embed="rId2" cstate="print"/>
          <a:stretch>
            <a:fillRect/>
          </a:stretch>
        </p:blipFill>
        <p:spPr>
          <a:xfrm>
            <a:off x="588503" y="1635955"/>
            <a:ext cx="8843213" cy="37375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5611" y="358558"/>
            <a:ext cx="6620599"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132" dirty="0">
                <a:solidFill>
                  <a:schemeClr val="bg1"/>
                </a:solidFill>
                <a:latin typeface="Times New Roman" panose="02020603050405020304" pitchFamily="18" charset="0"/>
                <a:cs typeface="Times New Roman" panose="02020603050405020304" pitchFamily="18" charset="0"/>
              </a:rPr>
              <a:t> </a:t>
            </a:r>
            <a:r>
              <a:rPr b="1" spc="-77" dirty="0">
                <a:solidFill>
                  <a:schemeClr val="bg1"/>
                </a:solidFill>
                <a:latin typeface="Times New Roman" panose="02020603050405020304" pitchFamily="18" charset="0"/>
                <a:cs typeface="Times New Roman" panose="02020603050405020304" pitchFamily="18" charset="0"/>
              </a:rPr>
              <a:t>Table</a:t>
            </a:r>
            <a:r>
              <a:rPr b="1" spc="-28"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Fields</a:t>
            </a:r>
          </a:p>
        </p:txBody>
      </p:sp>
      <p:sp>
        <p:nvSpPr>
          <p:cNvPr id="3" name="object 3"/>
          <p:cNvSpPr txBox="1"/>
          <p:nvPr/>
        </p:nvSpPr>
        <p:spPr>
          <a:xfrm>
            <a:off x="407911" y="1860485"/>
            <a:ext cx="9264802" cy="4231701"/>
          </a:xfrm>
          <a:prstGeom prst="rect">
            <a:avLst/>
          </a:prstGeom>
        </p:spPr>
        <p:txBody>
          <a:bodyPr vert="horz" wrap="square" lIns="0" tIns="13999" rIns="0" bIns="0" rtlCol="0">
            <a:spAutoFit/>
          </a:bodyPr>
          <a:lstStyle/>
          <a:p>
            <a:pPr marL="13999" algn="just">
              <a:spcBef>
                <a:spcPts val="110"/>
              </a:spcBef>
            </a:pPr>
            <a:r>
              <a:rPr sz="3200" dirty="0">
                <a:latin typeface="Times New Roman"/>
                <a:cs typeface="Times New Roman"/>
              </a:rPr>
              <a:t>The following fields make up the table:</a:t>
            </a:r>
          </a:p>
          <a:p>
            <a:pPr marL="470499" marR="42698" indent="-457200" algn="just">
              <a:lnSpc>
                <a:spcPct val="80100"/>
              </a:lnSpc>
              <a:spcBef>
                <a:spcPts val="656"/>
              </a:spcBef>
              <a:buClr>
                <a:srgbClr val="D24717"/>
              </a:buClr>
              <a:buSzPct val="85416"/>
              <a:buFont typeface="Wingdings" panose="05000000000000000000" pitchFamily="2" charset="2"/>
              <a:buChar char="Ø"/>
              <a:tabLst>
                <a:tab pos="316382" algn="l"/>
              </a:tabLst>
            </a:pPr>
            <a:r>
              <a:rPr sz="3200" b="1" dirty="0">
                <a:solidFill>
                  <a:srgbClr val="FF0000"/>
                </a:solidFill>
                <a:latin typeface="Times New Roman"/>
                <a:cs typeface="Times New Roman"/>
              </a:rPr>
              <a:t>Source:</a:t>
            </a:r>
            <a:r>
              <a:rPr sz="3200" b="1" dirty="0">
                <a:solidFill>
                  <a:srgbClr val="C00000"/>
                </a:solidFill>
                <a:latin typeface="Times New Roman"/>
                <a:cs typeface="Times New Roman"/>
              </a:rPr>
              <a:t> </a:t>
            </a:r>
            <a:r>
              <a:rPr sz="3200" dirty="0">
                <a:latin typeface="Times New Roman"/>
                <a:cs typeface="Times New Roman"/>
              </a:rPr>
              <a:t>This column refers to how the router</a:t>
            </a:r>
            <a:r>
              <a:rPr sz="3200" b="1" dirty="0">
                <a:solidFill>
                  <a:srgbClr val="FF0000"/>
                </a:solidFill>
                <a:latin typeface="Times New Roman"/>
                <a:cs typeface="Times New Roman"/>
              </a:rPr>
              <a:t> </a:t>
            </a:r>
            <a:r>
              <a:rPr sz="3200" dirty="0">
                <a:latin typeface="Times New Roman"/>
                <a:cs typeface="Times New Roman"/>
              </a:rPr>
              <a:t>learned</a:t>
            </a:r>
            <a:r>
              <a:rPr sz="3200" b="1" dirty="0">
                <a:solidFill>
                  <a:srgbClr val="FF0000"/>
                </a:solidFill>
                <a:latin typeface="Times New Roman"/>
                <a:cs typeface="Times New Roman"/>
              </a:rPr>
              <a:t> </a:t>
            </a:r>
            <a:r>
              <a:rPr sz="3200" dirty="0">
                <a:latin typeface="Times New Roman"/>
                <a:cs typeface="Times New Roman"/>
              </a:rPr>
              <a:t>the route</a:t>
            </a:r>
            <a:r>
              <a:rPr lang="en-US" sz="3200" dirty="0">
                <a:latin typeface="Times New Roman"/>
                <a:cs typeface="Times New Roman"/>
              </a:rPr>
              <a:t> </a:t>
            </a:r>
            <a:r>
              <a:rPr sz="3200" dirty="0">
                <a:latin typeface="Times New Roman"/>
                <a:cs typeface="Times New Roman"/>
              </a:rPr>
              <a:t>- in</a:t>
            </a:r>
            <a:r>
              <a:rPr lang="en-US" sz="3200" dirty="0">
                <a:latin typeface="Times New Roman"/>
                <a:cs typeface="Times New Roman"/>
              </a:rPr>
              <a:t> </a:t>
            </a:r>
            <a:r>
              <a:rPr sz="3200" dirty="0">
                <a:latin typeface="Times New Roman"/>
                <a:cs typeface="Times New Roman"/>
              </a:rPr>
              <a:t>other words, the source of the routing information. </a:t>
            </a:r>
            <a:r>
              <a:rPr sz="3200" b="1" i="1" dirty="0">
                <a:solidFill>
                  <a:srgbClr val="FF0000"/>
                </a:solidFill>
                <a:latin typeface="Times New Roman"/>
                <a:cs typeface="Times New Roman"/>
              </a:rPr>
              <a:t>C</a:t>
            </a:r>
            <a:r>
              <a:rPr sz="3200" i="1" dirty="0">
                <a:latin typeface="Times New Roman"/>
                <a:cs typeface="Times New Roman"/>
              </a:rPr>
              <a:t> </a:t>
            </a:r>
            <a:r>
              <a:rPr sz="3200" dirty="0">
                <a:latin typeface="Times New Roman"/>
                <a:cs typeface="Times New Roman"/>
              </a:rPr>
              <a:t>is shorthand  for </a:t>
            </a:r>
            <a:r>
              <a:rPr lang="en-US" sz="3200" dirty="0">
                <a:latin typeface="Times New Roman"/>
                <a:cs typeface="Times New Roman"/>
              </a:rPr>
              <a:t>"</a:t>
            </a:r>
            <a:r>
              <a:rPr sz="3200" dirty="0">
                <a:latin typeface="Times New Roman"/>
                <a:cs typeface="Times New Roman"/>
              </a:rPr>
              <a:t>connected</a:t>
            </a:r>
            <a:r>
              <a:rPr lang="en-US" sz="3200" dirty="0">
                <a:latin typeface="Times New Roman"/>
                <a:cs typeface="Times New Roman"/>
              </a:rPr>
              <a:t>"</a:t>
            </a:r>
            <a:r>
              <a:rPr sz="3200" dirty="0">
                <a:latin typeface="Times New Roman"/>
                <a:cs typeface="Times New Roman"/>
              </a:rPr>
              <a:t>.</a:t>
            </a:r>
          </a:p>
          <a:p>
            <a:pPr marL="470499" marR="284884" indent="-457200">
              <a:lnSpc>
                <a:spcPct val="80000"/>
              </a:lnSpc>
              <a:spcBef>
                <a:spcPts val="661"/>
              </a:spcBef>
              <a:buClr>
                <a:srgbClr val="D24717"/>
              </a:buClr>
              <a:buSzPct val="85416"/>
              <a:buFont typeface="Wingdings" panose="05000000000000000000" pitchFamily="2" charset="2"/>
              <a:buChar char="Ø"/>
              <a:tabLst>
                <a:tab pos="315682" algn="l"/>
                <a:tab pos="316382" algn="l"/>
              </a:tabLst>
            </a:pPr>
            <a:r>
              <a:rPr sz="3200" b="1" dirty="0">
                <a:solidFill>
                  <a:srgbClr val="FF0000"/>
                </a:solidFill>
                <a:latin typeface="Times New Roman"/>
                <a:cs typeface="Times New Roman"/>
              </a:rPr>
              <a:t>Subnet/Mask:</a:t>
            </a:r>
            <a:r>
              <a:rPr sz="3200" b="1" dirty="0">
                <a:solidFill>
                  <a:srgbClr val="C00000"/>
                </a:solidFill>
                <a:latin typeface="Times New Roman"/>
                <a:cs typeface="Times New Roman"/>
              </a:rPr>
              <a:t> </a:t>
            </a:r>
            <a:r>
              <a:rPr sz="3200" dirty="0">
                <a:latin typeface="Times New Roman"/>
                <a:cs typeface="Times New Roman"/>
              </a:rPr>
              <a:t>These two fields together define a set of </a:t>
            </a:r>
            <a:r>
              <a:rPr sz="3200" b="1" dirty="0">
                <a:solidFill>
                  <a:srgbClr val="FF0000"/>
                </a:solidFill>
                <a:latin typeface="Times New Roman"/>
                <a:cs typeface="Times New Roman"/>
              </a:rPr>
              <a:t>IP  addresses</a:t>
            </a:r>
            <a:r>
              <a:rPr sz="3200" dirty="0">
                <a:latin typeface="Times New Roman"/>
                <a:cs typeface="Times New Roman"/>
              </a:rPr>
              <a:t>, either an </a:t>
            </a:r>
            <a:r>
              <a:rPr sz="3200" b="1" dirty="0">
                <a:solidFill>
                  <a:srgbClr val="FF0000"/>
                </a:solidFill>
                <a:latin typeface="Times New Roman"/>
                <a:cs typeface="Times New Roman"/>
              </a:rPr>
              <a:t>IP network </a:t>
            </a:r>
            <a:r>
              <a:rPr sz="3200" dirty="0">
                <a:latin typeface="Times New Roman"/>
                <a:cs typeface="Times New Roman"/>
              </a:rPr>
              <a:t>or </a:t>
            </a:r>
            <a:r>
              <a:rPr sz="3200" b="1" dirty="0">
                <a:solidFill>
                  <a:srgbClr val="FF0000"/>
                </a:solidFill>
                <a:latin typeface="Times New Roman"/>
                <a:cs typeface="Times New Roman"/>
              </a:rPr>
              <a:t>IP subnet</a:t>
            </a:r>
            <a:r>
              <a:rPr sz="3200" dirty="0">
                <a:latin typeface="Times New Roman"/>
                <a:cs typeface="Times New Roman"/>
              </a:rPr>
              <a:t>. When routing  packets, routers compare the destination IP address of packets to  this field in each route in the routing table, looking to find the  matching route.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5611" y="358558"/>
            <a:ext cx="6620599"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132" dirty="0">
                <a:solidFill>
                  <a:schemeClr val="bg1"/>
                </a:solidFill>
                <a:latin typeface="Times New Roman" panose="02020603050405020304" pitchFamily="18" charset="0"/>
                <a:cs typeface="Times New Roman" panose="02020603050405020304" pitchFamily="18" charset="0"/>
              </a:rPr>
              <a:t> </a:t>
            </a:r>
            <a:r>
              <a:rPr b="1" spc="-77" dirty="0">
                <a:solidFill>
                  <a:schemeClr val="bg1"/>
                </a:solidFill>
                <a:latin typeface="Times New Roman" panose="02020603050405020304" pitchFamily="18" charset="0"/>
                <a:cs typeface="Times New Roman" panose="02020603050405020304" pitchFamily="18" charset="0"/>
              </a:rPr>
              <a:t>Table</a:t>
            </a:r>
            <a:r>
              <a:rPr b="1" spc="-28"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Fields</a:t>
            </a:r>
          </a:p>
        </p:txBody>
      </p:sp>
      <p:sp>
        <p:nvSpPr>
          <p:cNvPr id="3" name="object 3"/>
          <p:cNvSpPr txBox="1"/>
          <p:nvPr/>
        </p:nvSpPr>
        <p:spPr>
          <a:xfrm>
            <a:off x="407911" y="1860485"/>
            <a:ext cx="9264802" cy="4030620"/>
          </a:xfrm>
          <a:prstGeom prst="rect">
            <a:avLst/>
          </a:prstGeom>
        </p:spPr>
        <p:txBody>
          <a:bodyPr vert="horz" wrap="square" lIns="0" tIns="13999" rIns="0" bIns="0" rtlCol="0">
            <a:spAutoFit/>
          </a:bodyPr>
          <a:lstStyle/>
          <a:p>
            <a:pPr marL="469900" indent="-457200">
              <a:spcBef>
                <a:spcPts val="25"/>
              </a:spcBef>
              <a:buClr>
                <a:srgbClr val="D24717"/>
              </a:buClr>
              <a:buSzPct val="85416"/>
              <a:buFont typeface="Wingdings" panose="05000000000000000000" pitchFamily="2" charset="2"/>
              <a:buChar char="Ø"/>
              <a:tabLst>
                <a:tab pos="286385" algn="l"/>
                <a:tab pos="287020" algn="l"/>
              </a:tabLst>
            </a:pPr>
            <a:r>
              <a:rPr lang="en-US" sz="3200" b="1" dirty="0">
                <a:solidFill>
                  <a:srgbClr val="FF0000"/>
                </a:solidFill>
                <a:latin typeface="Times New Roman"/>
                <a:cs typeface="Times New Roman"/>
              </a:rPr>
              <a:t>Out Int: </a:t>
            </a:r>
            <a:r>
              <a:rPr lang="en-US" sz="3200" dirty="0">
                <a:latin typeface="Times New Roman"/>
                <a:cs typeface="Times New Roman"/>
              </a:rPr>
              <a:t>The abbreviation for “output interface” or “outgoing interface,” this field tells the router out of which interface to send packets that match this route.</a:t>
            </a:r>
          </a:p>
          <a:p>
            <a:pPr marL="469265" marR="5080" indent="-457200">
              <a:spcBef>
                <a:spcPts val="600"/>
              </a:spcBef>
              <a:buClr>
                <a:srgbClr val="D24717"/>
              </a:buClr>
              <a:buSzPct val="85416"/>
              <a:buFont typeface="Wingdings" panose="05000000000000000000" pitchFamily="2" charset="2"/>
              <a:buChar char="Ø"/>
              <a:tabLst>
                <a:tab pos="286385" algn="l"/>
                <a:tab pos="287020" algn="l"/>
              </a:tabLst>
            </a:pPr>
            <a:r>
              <a:rPr lang="en-US" sz="3200" b="1" dirty="0">
                <a:solidFill>
                  <a:srgbClr val="FF0000"/>
                </a:solidFill>
                <a:latin typeface="Times New Roman"/>
                <a:cs typeface="Times New Roman"/>
              </a:rPr>
              <a:t>Next-Hop: </a:t>
            </a:r>
            <a:r>
              <a:rPr lang="en-US" sz="3200" dirty="0">
                <a:latin typeface="Times New Roman"/>
                <a:cs typeface="Times New Roman"/>
              </a:rPr>
              <a:t>Short for </a:t>
            </a:r>
            <a:r>
              <a:rPr lang="en-US" sz="3200" b="1" dirty="0">
                <a:solidFill>
                  <a:srgbClr val="FF0000"/>
                </a:solidFill>
                <a:latin typeface="Times New Roman"/>
                <a:cs typeface="Times New Roman"/>
              </a:rPr>
              <a:t>next-hop router</a:t>
            </a:r>
            <a:r>
              <a:rPr lang="en-US" sz="3200" dirty="0">
                <a:latin typeface="Times New Roman"/>
                <a:cs typeface="Times New Roman"/>
              </a:rPr>
              <a:t>, this field is meaningless for  routes to connected subnets. For routes in which the packet is  forwarded to another router, this field lists the IP address of the  router to which this router should forward the packet.</a:t>
            </a:r>
          </a:p>
        </p:txBody>
      </p:sp>
    </p:spTree>
    <p:extLst>
      <p:ext uri="{BB962C8B-B14F-4D97-AF65-F5344CB8AC3E}">
        <p14:creationId xmlns:p14="http://schemas.microsoft.com/office/powerpoint/2010/main" val="1492908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641" y="478020"/>
            <a:ext cx="6636124" cy="691948"/>
          </a:xfrm>
          <a:prstGeom prst="rect">
            <a:avLst/>
          </a:prstGeom>
        </p:spPr>
        <p:txBody>
          <a:bodyPr vert="horz" wrap="square" lIns="0" tIns="13299" rIns="0" bIns="0" rtlCol="0" anchor="ctr">
            <a:spAutoFit/>
          </a:bodyPr>
          <a:lstStyle/>
          <a:p>
            <a:pPr marL="13999">
              <a:lnSpc>
                <a:spcPct val="100000"/>
              </a:lnSpc>
              <a:spcBef>
                <a:spcPts val="105"/>
              </a:spcBef>
            </a:pPr>
            <a:r>
              <a:rPr sz="4409" b="1" spc="126" dirty="0">
                <a:solidFill>
                  <a:schemeClr val="bg1"/>
                </a:solidFill>
                <a:latin typeface="Times New Roman" panose="02020603050405020304" pitchFamily="18" charset="0"/>
                <a:cs typeface="Times New Roman" panose="02020603050405020304" pitchFamily="18" charset="0"/>
              </a:rPr>
              <a:t>Static</a:t>
            </a:r>
            <a:r>
              <a:rPr sz="4409" b="1" spc="55" dirty="0">
                <a:solidFill>
                  <a:schemeClr val="bg1"/>
                </a:solidFill>
                <a:latin typeface="Times New Roman" panose="02020603050405020304" pitchFamily="18" charset="0"/>
                <a:cs typeface="Times New Roman" panose="02020603050405020304" pitchFamily="18" charset="0"/>
              </a:rPr>
              <a:t> </a:t>
            </a:r>
            <a:r>
              <a:rPr sz="4409" b="1" spc="94" dirty="0">
                <a:solidFill>
                  <a:schemeClr val="bg1"/>
                </a:solidFill>
                <a:latin typeface="Times New Roman" panose="02020603050405020304" pitchFamily="18" charset="0"/>
                <a:cs typeface="Times New Roman" panose="02020603050405020304" pitchFamily="18" charset="0"/>
              </a:rPr>
              <a:t>Routes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62609" y="1654595"/>
            <a:ext cx="9714984" cy="5506343"/>
          </a:xfrm>
          <a:prstGeom prst="rect">
            <a:avLst/>
          </a:prstGeom>
        </p:spPr>
        <p:txBody>
          <a:bodyPr vert="horz" wrap="square" lIns="0" tIns="13299" rIns="0" bIns="0" rtlCol="0">
            <a:spAutoFit/>
          </a:bodyPr>
          <a:lstStyle/>
          <a:p>
            <a:pPr marL="470499" marR="385678" indent="-457200">
              <a:spcBef>
                <a:spcPts val="105"/>
              </a:spcBef>
              <a:buClr>
                <a:srgbClr val="D24717"/>
              </a:buClr>
              <a:buSzPct val="83928"/>
              <a:buFont typeface="Wingdings" panose="05000000000000000000" pitchFamily="2" charset="2"/>
              <a:buChar char="Ø"/>
              <a:tabLst>
                <a:tab pos="316382" algn="l"/>
              </a:tabLst>
            </a:pPr>
            <a:r>
              <a:rPr sz="3086" spc="-6" dirty="0">
                <a:latin typeface="Times New Roman"/>
                <a:cs typeface="Times New Roman"/>
              </a:rPr>
              <a:t>A</a:t>
            </a:r>
            <a:r>
              <a:rPr sz="3086" spc="-182" dirty="0">
                <a:latin typeface="Times New Roman"/>
                <a:cs typeface="Times New Roman"/>
              </a:rPr>
              <a:t> </a:t>
            </a:r>
            <a:r>
              <a:rPr sz="3086" b="1" spc="-6" dirty="0">
                <a:solidFill>
                  <a:srgbClr val="FF0000"/>
                </a:solidFill>
                <a:latin typeface="Times New Roman"/>
                <a:cs typeface="Times New Roman"/>
              </a:rPr>
              <a:t>static</a:t>
            </a:r>
            <a:r>
              <a:rPr sz="3086" b="1" spc="-22" dirty="0">
                <a:solidFill>
                  <a:srgbClr val="FF0000"/>
                </a:solidFill>
                <a:latin typeface="Times New Roman"/>
                <a:cs typeface="Times New Roman"/>
              </a:rPr>
              <a:t> </a:t>
            </a:r>
            <a:r>
              <a:rPr sz="3086" b="1" dirty="0">
                <a:solidFill>
                  <a:srgbClr val="FF0000"/>
                </a:solidFill>
                <a:latin typeface="Times New Roman"/>
                <a:cs typeface="Times New Roman"/>
              </a:rPr>
              <a:t>route</a:t>
            </a:r>
            <a:r>
              <a:rPr sz="3086" b="1" spc="-11" dirty="0">
                <a:solidFill>
                  <a:srgbClr val="FF0000"/>
                </a:solidFill>
                <a:latin typeface="Times New Roman"/>
                <a:cs typeface="Times New Roman"/>
              </a:rPr>
              <a:t> </a:t>
            </a:r>
            <a:r>
              <a:rPr sz="3086" spc="-6" dirty="0">
                <a:latin typeface="Times New Roman"/>
                <a:cs typeface="Times New Roman"/>
              </a:rPr>
              <a:t>is simply a route that</a:t>
            </a:r>
            <a:r>
              <a:rPr sz="3086" spc="-17" dirty="0">
                <a:latin typeface="Times New Roman"/>
                <a:cs typeface="Times New Roman"/>
              </a:rPr>
              <a:t> </a:t>
            </a:r>
            <a:r>
              <a:rPr sz="3086" spc="-6" dirty="0">
                <a:latin typeface="Times New Roman"/>
                <a:cs typeface="Times New Roman"/>
              </a:rPr>
              <a:t>is added</a:t>
            </a:r>
            <a:r>
              <a:rPr sz="3086" spc="-17" dirty="0">
                <a:latin typeface="Times New Roman"/>
                <a:cs typeface="Times New Roman"/>
              </a:rPr>
              <a:t> </a:t>
            </a:r>
            <a:r>
              <a:rPr sz="3086" dirty="0">
                <a:latin typeface="Times New Roman"/>
                <a:cs typeface="Times New Roman"/>
              </a:rPr>
              <a:t>using</a:t>
            </a:r>
            <a:r>
              <a:rPr sz="3086" spc="-6" dirty="0">
                <a:latin typeface="Times New Roman"/>
                <a:cs typeface="Times New Roman"/>
              </a:rPr>
              <a:t> a </a:t>
            </a:r>
            <a:r>
              <a:rPr sz="3086" spc="-755" dirty="0">
                <a:latin typeface="Times New Roman"/>
                <a:cs typeface="Times New Roman"/>
              </a:rPr>
              <a:t> </a:t>
            </a:r>
            <a:r>
              <a:rPr sz="3086" b="1" dirty="0">
                <a:solidFill>
                  <a:srgbClr val="FF0000"/>
                </a:solidFill>
                <a:latin typeface="Times New Roman"/>
                <a:cs typeface="Times New Roman"/>
              </a:rPr>
              <a:t>configuration</a:t>
            </a:r>
            <a:r>
              <a:rPr sz="3086" b="1" spc="-44" dirty="0">
                <a:solidFill>
                  <a:srgbClr val="FF0000"/>
                </a:solidFill>
                <a:latin typeface="Times New Roman"/>
                <a:cs typeface="Times New Roman"/>
              </a:rPr>
              <a:t> </a:t>
            </a:r>
            <a:r>
              <a:rPr sz="3086" b="1" spc="-11" dirty="0">
                <a:solidFill>
                  <a:srgbClr val="FF0000"/>
                </a:solidFill>
                <a:latin typeface="Times New Roman"/>
                <a:cs typeface="Times New Roman"/>
              </a:rPr>
              <a:t>command</a:t>
            </a:r>
            <a:r>
              <a:rPr sz="3086" spc="17" dirty="0">
                <a:latin typeface="Times New Roman"/>
                <a:cs typeface="Times New Roman"/>
              </a:rPr>
              <a:t> </a:t>
            </a:r>
            <a:r>
              <a:rPr sz="3086" spc="-6" dirty="0">
                <a:latin typeface="Times New Roman"/>
                <a:cs typeface="Times New Roman"/>
              </a:rPr>
              <a:t>in</a:t>
            </a:r>
            <a:r>
              <a:rPr sz="3086" spc="-11" dirty="0">
                <a:latin typeface="Times New Roman"/>
                <a:cs typeface="Times New Roman"/>
              </a:rPr>
              <a:t> </a:t>
            </a:r>
            <a:r>
              <a:rPr sz="3086" spc="-6" dirty="0">
                <a:latin typeface="Times New Roman"/>
                <a:cs typeface="Times New Roman"/>
              </a:rPr>
              <a:t>a </a:t>
            </a:r>
            <a:r>
              <a:rPr sz="3086" spc="-28" dirty="0">
                <a:latin typeface="Times New Roman"/>
                <a:cs typeface="Times New Roman"/>
              </a:rPr>
              <a:t>router.</a:t>
            </a:r>
            <a:endParaRPr sz="3086" dirty="0">
              <a:latin typeface="Times New Roman"/>
              <a:cs typeface="Times New Roman"/>
            </a:endParaRPr>
          </a:p>
          <a:p>
            <a:pPr marL="470499" marR="5600" indent="-457200">
              <a:spcBef>
                <a:spcPts val="667"/>
              </a:spcBef>
              <a:buClr>
                <a:srgbClr val="D24717"/>
              </a:buClr>
              <a:buSzPct val="83928"/>
              <a:buFont typeface="Wingdings" panose="05000000000000000000" pitchFamily="2" charset="2"/>
              <a:buChar char="Ø"/>
              <a:tabLst>
                <a:tab pos="316382" algn="l"/>
              </a:tabLst>
            </a:pPr>
            <a:r>
              <a:rPr sz="3086" spc="-6" dirty="0">
                <a:latin typeface="Times New Roman"/>
                <a:cs typeface="Times New Roman"/>
              </a:rPr>
              <a:t>After it</a:t>
            </a:r>
            <a:r>
              <a:rPr sz="3086" dirty="0">
                <a:latin typeface="Times New Roman"/>
                <a:cs typeface="Times New Roman"/>
              </a:rPr>
              <a:t> </a:t>
            </a:r>
            <a:r>
              <a:rPr sz="3086" spc="-6" dirty="0">
                <a:latin typeface="Times New Roman"/>
                <a:cs typeface="Times New Roman"/>
              </a:rPr>
              <a:t>is configured,</a:t>
            </a:r>
            <a:r>
              <a:rPr sz="3086" spc="-22" dirty="0">
                <a:latin typeface="Times New Roman"/>
                <a:cs typeface="Times New Roman"/>
              </a:rPr>
              <a:t> </a:t>
            </a:r>
            <a:r>
              <a:rPr sz="3086" spc="-6" dirty="0">
                <a:latin typeface="Times New Roman"/>
                <a:cs typeface="Times New Roman"/>
              </a:rPr>
              <a:t>IOS</a:t>
            </a:r>
            <a:r>
              <a:rPr sz="3086" spc="28" dirty="0">
                <a:latin typeface="Times New Roman"/>
                <a:cs typeface="Times New Roman"/>
              </a:rPr>
              <a:t> </a:t>
            </a:r>
            <a:r>
              <a:rPr sz="3086" spc="-6" dirty="0">
                <a:latin typeface="Times New Roman"/>
                <a:cs typeface="Times New Roman"/>
              </a:rPr>
              <a:t>adds </a:t>
            </a:r>
            <a:r>
              <a:rPr sz="3086" dirty="0">
                <a:latin typeface="Times New Roman"/>
                <a:cs typeface="Times New Roman"/>
              </a:rPr>
              <a:t>the</a:t>
            </a:r>
            <a:r>
              <a:rPr sz="3086" spc="-6" dirty="0">
                <a:latin typeface="Times New Roman"/>
                <a:cs typeface="Times New Roman"/>
              </a:rPr>
              <a:t> </a:t>
            </a:r>
            <a:r>
              <a:rPr sz="3086" dirty="0">
                <a:latin typeface="Times New Roman"/>
                <a:cs typeface="Times New Roman"/>
              </a:rPr>
              <a:t>route,</a:t>
            </a:r>
            <a:r>
              <a:rPr sz="3086" spc="-11" dirty="0">
                <a:latin typeface="Times New Roman"/>
                <a:cs typeface="Times New Roman"/>
              </a:rPr>
              <a:t> </a:t>
            </a:r>
            <a:r>
              <a:rPr sz="3086" spc="-6" dirty="0">
                <a:latin typeface="Times New Roman"/>
                <a:cs typeface="Times New Roman"/>
              </a:rPr>
              <a:t>including </a:t>
            </a:r>
            <a:r>
              <a:rPr sz="3086" dirty="0">
                <a:latin typeface="Times New Roman"/>
                <a:cs typeface="Times New Roman"/>
              </a:rPr>
              <a:t> </a:t>
            </a:r>
            <a:r>
              <a:rPr sz="3086" spc="-6" dirty="0">
                <a:latin typeface="Times New Roman"/>
                <a:cs typeface="Times New Roman"/>
              </a:rPr>
              <a:t>details</a:t>
            </a:r>
            <a:r>
              <a:rPr sz="3086" spc="-28" dirty="0">
                <a:latin typeface="Times New Roman"/>
                <a:cs typeface="Times New Roman"/>
              </a:rPr>
              <a:t> </a:t>
            </a:r>
            <a:r>
              <a:rPr sz="3086" spc="-6" dirty="0">
                <a:latin typeface="Times New Roman"/>
                <a:cs typeface="Times New Roman"/>
              </a:rPr>
              <a:t>such</a:t>
            </a:r>
            <a:r>
              <a:rPr sz="3086" spc="-17" dirty="0">
                <a:latin typeface="Times New Roman"/>
                <a:cs typeface="Times New Roman"/>
              </a:rPr>
              <a:t> </a:t>
            </a:r>
            <a:r>
              <a:rPr sz="3086" spc="-6" dirty="0">
                <a:latin typeface="Times New Roman"/>
                <a:cs typeface="Times New Roman"/>
              </a:rPr>
              <a:t>as the subnet</a:t>
            </a:r>
            <a:r>
              <a:rPr sz="3086" spc="-17" dirty="0">
                <a:latin typeface="Times New Roman"/>
                <a:cs typeface="Times New Roman"/>
              </a:rPr>
              <a:t> </a:t>
            </a:r>
            <a:r>
              <a:rPr sz="3086" spc="-22" dirty="0">
                <a:latin typeface="Times New Roman"/>
                <a:cs typeface="Times New Roman"/>
              </a:rPr>
              <a:t>number,</a:t>
            </a:r>
            <a:r>
              <a:rPr sz="3086" spc="-6" dirty="0">
                <a:latin typeface="Times New Roman"/>
                <a:cs typeface="Times New Roman"/>
              </a:rPr>
              <a:t> </a:t>
            </a:r>
            <a:r>
              <a:rPr sz="3086" spc="-11" dirty="0">
                <a:latin typeface="Times New Roman"/>
                <a:cs typeface="Times New Roman"/>
              </a:rPr>
              <a:t>mask,</a:t>
            </a:r>
            <a:r>
              <a:rPr sz="3086" spc="17" dirty="0">
                <a:latin typeface="Times New Roman"/>
                <a:cs typeface="Times New Roman"/>
              </a:rPr>
              <a:t> </a:t>
            </a:r>
            <a:r>
              <a:rPr sz="3086" dirty="0">
                <a:latin typeface="Times New Roman"/>
                <a:cs typeface="Times New Roman"/>
              </a:rPr>
              <a:t>output </a:t>
            </a:r>
            <a:r>
              <a:rPr sz="3086" spc="6" dirty="0">
                <a:latin typeface="Times New Roman"/>
                <a:cs typeface="Times New Roman"/>
              </a:rPr>
              <a:t> </a:t>
            </a:r>
            <a:r>
              <a:rPr sz="3086" spc="-6" dirty="0">
                <a:latin typeface="Times New Roman"/>
                <a:cs typeface="Times New Roman"/>
              </a:rPr>
              <a:t>interface, and </a:t>
            </a:r>
            <a:r>
              <a:rPr sz="3086" dirty="0">
                <a:latin typeface="Times New Roman"/>
                <a:cs typeface="Times New Roman"/>
              </a:rPr>
              <a:t>next-hop </a:t>
            </a:r>
            <a:r>
              <a:rPr sz="3086" spc="-17" dirty="0">
                <a:latin typeface="Times New Roman"/>
                <a:cs typeface="Times New Roman"/>
              </a:rPr>
              <a:t>router, </a:t>
            </a:r>
            <a:r>
              <a:rPr sz="3086" dirty="0">
                <a:latin typeface="Times New Roman"/>
                <a:cs typeface="Times New Roman"/>
              </a:rPr>
              <a:t>into </a:t>
            </a:r>
            <a:r>
              <a:rPr sz="3086" spc="-6" dirty="0">
                <a:latin typeface="Times New Roman"/>
                <a:cs typeface="Times New Roman"/>
              </a:rPr>
              <a:t>a new entry in that </a:t>
            </a:r>
            <a:r>
              <a:rPr sz="3086" spc="-755" dirty="0">
                <a:latin typeface="Times New Roman"/>
                <a:cs typeface="Times New Roman"/>
              </a:rPr>
              <a:t> </a:t>
            </a:r>
            <a:r>
              <a:rPr sz="3086" spc="-11" dirty="0">
                <a:latin typeface="Times New Roman"/>
                <a:cs typeface="Times New Roman"/>
              </a:rPr>
              <a:t>router‘s</a:t>
            </a:r>
            <a:r>
              <a:rPr sz="3086" spc="-33" dirty="0">
                <a:latin typeface="Times New Roman"/>
                <a:cs typeface="Times New Roman"/>
              </a:rPr>
              <a:t> </a:t>
            </a:r>
            <a:r>
              <a:rPr sz="3086" spc="-6" dirty="0">
                <a:latin typeface="Times New Roman"/>
                <a:cs typeface="Times New Roman"/>
              </a:rPr>
              <a:t>IP</a:t>
            </a:r>
            <a:r>
              <a:rPr sz="3086" spc="-105" dirty="0">
                <a:latin typeface="Times New Roman"/>
                <a:cs typeface="Times New Roman"/>
              </a:rPr>
              <a:t> </a:t>
            </a:r>
            <a:r>
              <a:rPr sz="3086" dirty="0">
                <a:latin typeface="Times New Roman"/>
                <a:cs typeface="Times New Roman"/>
              </a:rPr>
              <a:t>routing</a:t>
            </a:r>
            <a:r>
              <a:rPr sz="3086" spc="-28" dirty="0">
                <a:latin typeface="Times New Roman"/>
                <a:cs typeface="Times New Roman"/>
              </a:rPr>
              <a:t> </a:t>
            </a:r>
            <a:r>
              <a:rPr sz="3086" spc="-6" dirty="0">
                <a:latin typeface="Times New Roman"/>
                <a:cs typeface="Times New Roman"/>
              </a:rPr>
              <a:t>table.</a:t>
            </a:r>
            <a:endParaRPr sz="3086" dirty="0">
              <a:latin typeface="Times New Roman"/>
              <a:cs typeface="Times New Roman"/>
            </a:endParaRPr>
          </a:p>
          <a:p>
            <a:pPr marL="470499" marR="62996" indent="-457200">
              <a:spcBef>
                <a:spcPts val="661"/>
              </a:spcBef>
              <a:buClr>
                <a:srgbClr val="D24717"/>
              </a:buClr>
              <a:buSzPct val="83928"/>
              <a:buFont typeface="Wingdings" panose="05000000000000000000" pitchFamily="2" charset="2"/>
              <a:buChar char="Ø"/>
              <a:tabLst>
                <a:tab pos="316382" algn="l"/>
              </a:tabLst>
            </a:pPr>
            <a:r>
              <a:rPr sz="3086" spc="-6" dirty="0">
                <a:latin typeface="Times New Roman"/>
                <a:cs typeface="Times New Roman"/>
              </a:rPr>
              <a:t>After it is added, </a:t>
            </a:r>
            <a:r>
              <a:rPr sz="3086" dirty="0">
                <a:latin typeface="Times New Roman"/>
                <a:cs typeface="Times New Roman"/>
              </a:rPr>
              <a:t>the router </a:t>
            </a:r>
            <a:r>
              <a:rPr sz="3086" spc="-11" dirty="0">
                <a:latin typeface="Times New Roman"/>
                <a:cs typeface="Times New Roman"/>
              </a:rPr>
              <a:t>can </a:t>
            </a:r>
            <a:r>
              <a:rPr sz="3086" spc="-6" dirty="0">
                <a:latin typeface="Times New Roman"/>
                <a:cs typeface="Times New Roman"/>
              </a:rPr>
              <a:t>then </a:t>
            </a:r>
            <a:r>
              <a:rPr sz="3086" dirty="0">
                <a:latin typeface="Times New Roman"/>
                <a:cs typeface="Times New Roman"/>
              </a:rPr>
              <a:t>route </a:t>
            </a:r>
            <a:r>
              <a:rPr sz="3086" spc="-6" dirty="0">
                <a:latin typeface="Times New Roman"/>
                <a:cs typeface="Times New Roman"/>
              </a:rPr>
              <a:t>packets</a:t>
            </a:r>
            <a:r>
              <a:rPr lang="en-US" sz="3086" spc="-6" dirty="0">
                <a:latin typeface="Times New Roman"/>
                <a:cs typeface="Times New Roman"/>
              </a:rPr>
              <a:t> </a:t>
            </a:r>
            <a:r>
              <a:rPr sz="3086" dirty="0">
                <a:latin typeface="Times New Roman"/>
                <a:cs typeface="Times New Roman"/>
              </a:rPr>
              <a:t>whose</a:t>
            </a:r>
            <a:r>
              <a:rPr sz="3086" spc="-22" dirty="0">
                <a:latin typeface="Times New Roman"/>
                <a:cs typeface="Times New Roman"/>
              </a:rPr>
              <a:t> </a:t>
            </a:r>
            <a:r>
              <a:rPr sz="3086" spc="-6" dirty="0">
                <a:latin typeface="Times New Roman"/>
                <a:cs typeface="Times New Roman"/>
              </a:rPr>
              <a:t>destination</a:t>
            </a:r>
            <a:r>
              <a:rPr sz="3086" spc="-28" dirty="0">
                <a:latin typeface="Times New Roman"/>
                <a:cs typeface="Times New Roman"/>
              </a:rPr>
              <a:t> </a:t>
            </a:r>
            <a:r>
              <a:rPr sz="3086" spc="-6" dirty="0">
                <a:latin typeface="Times New Roman"/>
                <a:cs typeface="Times New Roman"/>
              </a:rPr>
              <a:t>IP</a:t>
            </a:r>
            <a:r>
              <a:rPr sz="3086" spc="-99" dirty="0">
                <a:latin typeface="Times New Roman"/>
                <a:cs typeface="Times New Roman"/>
              </a:rPr>
              <a:t> </a:t>
            </a:r>
            <a:r>
              <a:rPr sz="3086" spc="-6" dirty="0">
                <a:latin typeface="Times New Roman"/>
                <a:cs typeface="Times New Roman"/>
              </a:rPr>
              <a:t>address</a:t>
            </a:r>
            <a:r>
              <a:rPr sz="3086" spc="11" dirty="0">
                <a:latin typeface="Times New Roman"/>
                <a:cs typeface="Times New Roman"/>
              </a:rPr>
              <a:t> </a:t>
            </a:r>
            <a:r>
              <a:rPr sz="3086" spc="-11" dirty="0">
                <a:latin typeface="Times New Roman"/>
                <a:cs typeface="Times New Roman"/>
              </a:rPr>
              <a:t>matches</a:t>
            </a:r>
            <a:r>
              <a:rPr sz="3086" spc="17" dirty="0">
                <a:latin typeface="Times New Roman"/>
                <a:cs typeface="Times New Roman"/>
              </a:rPr>
              <a:t> </a:t>
            </a:r>
            <a:r>
              <a:rPr sz="3086" spc="-6" dirty="0">
                <a:latin typeface="Times New Roman"/>
                <a:cs typeface="Times New Roman"/>
              </a:rPr>
              <a:t>the</a:t>
            </a:r>
            <a:r>
              <a:rPr sz="3086" spc="-11" dirty="0">
                <a:latin typeface="Times New Roman"/>
                <a:cs typeface="Times New Roman"/>
              </a:rPr>
              <a:t> </a:t>
            </a:r>
            <a:r>
              <a:rPr sz="3086" spc="-6" dirty="0">
                <a:latin typeface="Times New Roman"/>
                <a:cs typeface="Times New Roman"/>
              </a:rPr>
              <a:t>static</a:t>
            </a:r>
            <a:r>
              <a:rPr sz="3086" spc="-11" dirty="0">
                <a:latin typeface="Times New Roman"/>
                <a:cs typeface="Times New Roman"/>
              </a:rPr>
              <a:t> </a:t>
            </a:r>
            <a:r>
              <a:rPr sz="3086" dirty="0">
                <a:latin typeface="Times New Roman"/>
                <a:cs typeface="Times New Roman"/>
              </a:rPr>
              <a:t>route.</a:t>
            </a:r>
          </a:p>
          <a:p>
            <a:pPr marL="470499" marR="272285" indent="-457200">
              <a:spcBef>
                <a:spcPts val="667"/>
              </a:spcBef>
              <a:buClr>
                <a:srgbClr val="D24717"/>
              </a:buClr>
              <a:buSzPct val="83928"/>
              <a:buFont typeface="Wingdings" panose="05000000000000000000" pitchFamily="2" charset="2"/>
              <a:buChar char="Ø"/>
              <a:tabLst>
                <a:tab pos="316382" algn="l"/>
              </a:tabLst>
            </a:pPr>
            <a:r>
              <a:rPr sz="3086" spc="-6" dirty="0">
                <a:latin typeface="Times New Roman"/>
                <a:cs typeface="Times New Roman"/>
              </a:rPr>
              <a:t>Engineers</a:t>
            </a:r>
            <a:r>
              <a:rPr sz="3086" spc="-11" dirty="0">
                <a:latin typeface="Times New Roman"/>
                <a:cs typeface="Times New Roman"/>
              </a:rPr>
              <a:t> </a:t>
            </a:r>
            <a:r>
              <a:rPr sz="3086" spc="-6" dirty="0">
                <a:latin typeface="Times New Roman"/>
                <a:cs typeface="Times New Roman"/>
              </a:rPr>
              <a:t>use</a:t>
            </a:r>
            <a:r>
              <a:rPr sz="3086" spc="-22" dirty="0">
                <a:latin typeface="Times New Roman"/>
                <a:cs typeface="Times New Roman"/>
              </a:rPr>
              <a:t> </a:t>
            </a:r>
            <a:r>
              <a:rPr sz="3086" spc="-6" dirty="0">
                <a:latin typeface="Times New Roman"/>
                <a:cs typeface="Times New Roman"/>
              </a:rPr>
              <a:t>static</a:t>
            </a:r>
            <a:r>
              <a:rPr sz="3086" spc="-11" dirty="0">
                <a:latin typeface="Times New Roman"/>
                <a:cs typeface="Times New Roman"/>
              </a:rPr>
              <a:t> </a:t>
            </a:r>
            <a:r>
              <a:rPr sz="3086" dirty="0">
                <a:latin typeface="Times New Roman"/>
                <a:cs typeface="Times New Roman"/>
              </a:rPr>
              <a:t>routes</a:t>
            </a:r>
            <a:r>
              <a:rPr sz="3086" spc="-17" dirty="0">
                <a:latin typeface="Times New Roman"/>
                <a:cs typeface="Times New Roman"/>
              </a:rPr>
              <a:t> </a:t>
            </a:r>
            <a:r>
              <a:rPr sz="3086" dirty="0">
                <a:latin typeface="Times New Roman"/>
                <a:cs typeface="Times New Roman"/>
              </a:rPr>
              <a:t>for</a:t>
            </a:r>
            <a:r>
              <a:rPr sz="3086" spc="17" dirty="0">
                <a:latin typeface="Times New Roman"/>
                <a:cs typeface="Times New Roman"/>
              </a:rPr>
              <a:t> </a:t>
            </a:r>
            <a:r>
              <a:rPr sz="3086" spc="-6" dirty="0">
                <a:latin typeface="Times New Roman"/>
                <a:cs typeface="Times New Roman"/>
              </a:rPr>
              <a:t>several</a:t>
            </a:r>
            <a:r>
              <a:rPr sz="3086" spc="-11" dirty="0">
                <a:latin typeface="Times New Roman"/>
                <a:cs typeface="Times New Roman"/>
              </a:rPr>
              <a:t> </a:t>
            </a:r>
            <a:r>
              <a:rPr sz="3086" spc="-6" dirty="0">
                <a:latin typeface="Times New Roman"/>
                <a:cs typeface="Times New Roman"/>
              </a:rPr>
              <a:t>reasons.</a:t>
            </a:r>
            <a:r>
              <a:rPr sz="3086" spc="-55" dirty="0">
                <a:latin typeface="Times New Roman"/>
                <a:cs typeface="Times New Roman"/>
              </a:rPr>
              <a:t> </a:t>
            </a:r>
            <a:r>
              <a:rPr sz="3086" spc="-6" dirty="0">
                <a:latin typeface="Times New Roman"/>
                <a:cs typeface="Times New Roman"/>
              </a:rPr>
              <a:t>They </a:t>
            </a:r>
            <a:r>
              <a:rPr sz="3086" spc="-755" dirty="0">
                <a:latin typeface="Times New Roman"/>
                <a:cs typeface="Times New Roman"/>
              </a:rPr>
              <a:t> </a:t>
            </a:r>
            <a:r>
              <a:rPr sz="3086" spc="-6" dirty="0">
                <a:latin typeface="Times New Roman"/>
                <a:cs typeface="Times New Roman"/>
              </a:rPr>
              <a:t>could </a:t>
            </a:r>
            <a:r>
              <a:rPr sz="3086" dirty="0">
                <a:latin typeface="Times New Roman"/>
                <a:cs typeface="Times New Roman"/>
              </a:rPr>
              <a:t>configure </a:t>
            </a:r>
            <a:r>
              <a:rPr sz="3086" spc="-6" dirty="0">
                <a:latin typeface="Times New Roman"/>
                <a:cs typeface="Times New Roman"/>
              </a:rPr>
              <a:t>static </a:t>
            </a:r>
            <a:r>
              <a:rPr sz="3086" dirty="0">
                <a:latin typeface="Times New Roman"/>
                <a:cs typeface="Times New Roman"/>
              </a:rPr>
              <a:t>routes for </a:t>
            </a:r>
            <a:r>
              <a:rPr sz="3086" spc="-6" dirty="0">
                <a:latin typeface="Times New Roman"/>
                <a:cs typeface="Times New Roman"/>
              </a:rPr>
              <a:t>all </a:t>
            </a:r>
            <a:r>
              <a:rPr sz="3086" dirty="0">
                <a:latin typeface="Times New Roman"/>
                <a:cs typeface="Times New Roman"/>
              </a:rPr>
              <a:t>routes </a:t>
            </a:r>
            <a:r>
              <a:rPr sz="3086" spc="-6" dirty="0">
                <a:latin typeface="Times New Roman"/>
                <a:cs typeface="Times New Roman"/>
              </a:rPr>
              <a:t>in </a:t>
            </a:r>
            <a:r>
              <a:rPr sz="3086" spc="-11" dirty="0">
                <a:latin typeface="Times New Roman"/>
                <a:cs typeface="Times New Roman"/>
              </a:rPr>
              <a:t>any </a:t>
            </a:r>
            <a:r>
              <a:rPr sz="3086" spc="-6" dirty="0">
                <a:latin typeface="Times New Roman"/>
                <a:cs typeface="Times New Roman"/>
              </a:rPr>
              <a:t> internetwork,</a:t>
            </a:r>
            <a:r>
              <a:rPr sz="3086" spc="-39" dirty="0">
                <a:latin typeface="Times New Roman"/>
                <a:cs typeface="Times New Roman"/>
              </a:rPr>
              <a:t> </a:t>
            </a:r>
            <a:r>
              <a:rPr sz="3086" dirty="0">
                <a:latin typeface="Times New Roman"/>
                <a:cs typeface="Times New Roman"/>
              </a:rPr>
              <a:t>but </a:t>
            </a:r>
            <a:r>
              <a:rPr sz="3086" spc="-6" dirty="0">
                <a:latin typeface="Times New Roman"/>
                <a:cs typeface="Times New Roman"/>
              </a:rPr>
              <a:t>typically</a:t>
            </a:r>
            <a:r>
              <a:rPr sz="3086" spc="-22" dirty="0">
                <a:latin typeface="Times New Roman"/>
                <a:cs typeface="Times New Roman"/>
              </a:rPr>
              <a:t> </a:t>
            </a:r>
            <a:r>
              <a:rPr sz="3086" spc="-6" dirty="0">
                <a:latin typeface="Times New Roman"/>
                <a:cs typeface="Times New Roman"/>
              </a:rPr>
              <a:t>it</a:t>
            </a:r>
            <a:r>
              <a:rPr sz="3086" spc="-11" dirty="0">
                <a:latin typeface="Times New Roman"/>
                <a:cs typeface="Times New Roman"/>
              </a:rPr>
              <a:t> </a:t>
            </a:r>
            <a:r>
              <a:rPr sz="3086" spc="-6" dirty="0">
                <a:latin typeface="Times New Roman"/>
                <a:cs typeface="Times New Roman"/>
              </a:rPr>
              <a:t>is</a:t>
            </a:r>
            <a:r>
              <a:rPr sz="3086" dirty="0">
                <a:latin typeface="Times New Roman"/>
                <a:cs typeface="Times New Roman"/>
              </a:rPr>
              <a:t> not</a:t>
            </a:r>
            <a:r>
              <a:rPr sz="3086" spc="-6" dirty="0">
                <a:latin typeface="Times New Roman"/>
                <a:cs typeface="Times New Roman"/>
              </a:rPr>
              <a:t> worth</a:t>
            </a:r>
            <a:r>
              <a:rPr sz="3086" dirty="0">
                <a:latin typeface="Times New Roman"/>
                <a:cs typeface="Times New Roman"/>
              </a:rPr>
              <a:t> the</a:t>
            </a:r>
            <a:r>
              <a:rPr sz="3086" spc="-11" dirty="0">
                <a:latin typeface="Times New Roman"/>
                <a:cs typeface="Times New Roman"/>
              </a:rPr>
              <a:t> effort.</a:t>
            </a:r>
            <a:endParaRPr sz="3086"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7730" y="459361"/>
            <a:ext cx="7519341" cy="690537"/>
          </a:xfrm>
          <a:prstGeom prst="rect">
            <a:avLst/>
          </a:prstGeom>
        </p:spPr>
        <p:txBody>
          <a:bodyPr vert="horz" wrap="square" lIns="0" tIns="13299" rIns="0" bIns="0" rtlCol="0" anchor="ctr">
            <a:spAutoFit/>
          </a:bodyPr>
          <a:lstStyle/>
          <a:p>
            <a:pPr marL="13999">
              <a:lnSpc>
                <a:spcPct val="100000"/>
              </a:lnSpc>
              <a:spcBef>
                <a:spcPts val="105"/>
              </a:spcBef>
            </a:pPr>
            <a:r>
              <a:rPr b="1" spc="-6" dirty="0">
                <a:solidFill>
                  <a:schemeClr val="bg1"/>
                </a:solidFill>
                <a:latin typeface="Times New Roman" panose="02020603050405020304" pitchFamily="18" charset="0"/>
                <a:cs typeface="Times New Roman" panose="02020603050405020304" pitchFamily="18" charset="0"/>
              </a:rPr>
              <a:t>Static</a:t>
            </a:r>
            <a:r>
              <a:rPr b="1" spc="-33"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Routes</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47730" y="1580520"/>
            <a:ext cx="9530366" cy="5724175"/>
          </a:xfrm>
          <a:prstGeom prst="rect">
            <a:avLst/>
          </a:prstGeom>
        </p:spPr>
        <p:txBody>
          <a:bodyPr vert="horz" wrap="square" lIns="0" tIns="111295" rIns="0" bIns="0" rtlCol="0">
            <a:spAutoFit/>
          </a:bodyPr>
          <a:lstStyle/>
          <a:p>
            <a:pPr marL="470499" marR="1235430" indent="-457200">
              <a:lnSpc>
                <a:spcPts val="3175"/>
              </a:lnSpc>
              <a:spcBef>
                <a:spcPts val="876"/>
              </a:spcBef>
              <a:buClr>
                <a:srgbClr val="D24717"/>
              </a:buClr>
              <a:buSzPct val="85000"/>
              <a:buFont typeface="Wingdings" panose="05000000000000000000" pitchFamily="2" charset="2"/>
              <a:buChar char="Ø"/>
              <a:tabLst>
                <a:tab pos="316382" algn="l"/>
              </a:tabLst>
            </a:pPr>
            <a:r>
              <a:rPr sz="3200" spc="-22" dirty="0">
                <a:latin typeface="Times New Roman"/>
                <a:cs typeface="Times New Roman"/>
              </a:rPr>
              <a:t>However, </a:t>
            </a:r>
            <a:r>
              <a:rPr sz="3200" spc="-6" dirty="0">
                <a:latin typeface="Times New Roman"/>
                <a:cs typeface="Times New Roman"/>
              </a:rPr>
              <a:t>static </a:t>
            </a:r>
            <a:r>
              <a:rPr sz="3200" dirty="0">
                <a:latin typeface="Times New Roman"/>
                <a:cs typeface="Times New Roman"/>
              </a:rPr>
              <a:t>routes can be very useful in </a:t>
            </a:r>
            <a:r>
              <a:rPr sz="3200" spc="-810" dirty="0">
                <a:latin typeface="Times New Roman"/>
                <a:cs typeface="Times New Roman"/>
              </a:rPr>
              <a:t> </a:t>
            </a:r>
            <a:r>
              <a:rPr sz="3200" spc="-6" dirty="0">
                <a:latin typeface="Times New Roman"/>
                <a:cs typeface="Times New Roman"/>
              </a:rPr>
              <a:t>several</a:t>
            </a:r>
            <a:r>
              <a:rPr sz="3200" dirty="0">
                <a:latin typeface="Times New Roman"/>
                <a:cs typeface="Times New Roman"/>
              </a:rPr>
              <a:t> </a:t>
            </a:r>
            <a:r>
              <a:rPr sz="3200" spc="-6" dirty="0">
                <a:latin typeface="Times New Roman"/>
                <a:cs typeface="Times New Roman"/>
              </a:rPr>
              <a:t>cases,</a:t>
            </a:r>
            <a:r>
              <a:rPr sz="3200" spc="6" dirty="0">
                <a:latin typeface="Times New Roman"/>
                <a:cs typeface="Times New Roman"/>
              </a:rPr>
              <a:t> </a:t>
            </a:r>
            <a:r>
              <a:rPr sz="3200" spc="-6" dirty="0">
                <a:latin typeface="Times New Roman"/>
                <a:cs typeface="Times New Roman"/>
              </a:rPr>
              <a:t>including</a:t>
            </a:r>
            <a:r>
              <a:rPr sz="3200" spc="17" dirty="0">
                <a:latin typeface="Times New Roman"/>
                <a:cs typeface="Times New Roman"/>
              </a:rPr>
              <a:t> </a:t>
            </a:r>
            <a:r>
              <a:rPr sz="3200" dirty="0">
                <a:latin typeface="Times New Roman"/>
                <a:cs typeface="Times New Roman"/>
              </a:rPr>
              <a:t>the following:</a:t>
            </a:r>
          </a:p>
          <a:p>
            <a:pPr marL="927699" marR="176390" lvl="1" indent="-457200">
              <a:spcBef>
                <a:spcPts val="689"/>
              </a:spcBef>
              <a:buClr>
                <a:srgbClr val="D24717"/>
              </a:buClr>
              <a:buSzPct val="85000"/>
              <a:buFont typeface="Wingdings" panose="05000000000000000000" pitchFamily="2" charset="2"/>
              <a:buChar char="ü"/>
              <a:tabLst>
                <a:tab pos="316382" algn="l"/>
                <a:tab pos="1609209" algn="l"/>
              </a:tabLst>
            </a:pPr>
            <a:r>
              <a:rPr sz="3200" dirty="0">
                <a:latin typeface="Times New Roman"/>
                <a:cs typeface="Times New Roman"/>
              </a:rPr>
              <a:t>The internetwork is small, may seldom change, or  has no</a:t>
            </a:r>
            <a:r>
              <a:rPr lang="en-US" sz="3200" dirty="0">
                <a:latin typeface="Times New Roman"/>
                <a:cs typeface="Times New Roman"/>
              </a:rPr>
              <a:t> </a:t>
            </a:r>
            <a:r>
              <a:rPr sz="3200" dirty="0">
                <a:latin typeface="Times New Roman"/>
                <a:cs typeface="Times New Roman"/>
              </a:rPr>
              <a:t>redundant links.</a:t>
            </a:r>
            <a:endParaRPr lang="en-US" sz="3200" dirty="0">
              <a:latin typeface="Times New Roman"/>
              <a:cs typeface="Times New Roman"/>
            </a:endParaRPr>
          </a:p>
          <a:p>
            <a:pPr marL="927699" marR="176390" lvl="1" indent="-457200">
              <a:spcBef>
                <a:spcPts val="689"/>
              </a:spcBef>
              <a:buClr>
                <a:srgbClr val="D24717"/>
              </a:buClr>
              <a:buSzPct val="85000"/>
              <a:buFont typeface="Wingdings" panose="05000000000000000000" pitchFamily="2" charset="2"/>
              <a:buChar char="ü"/>
              <a:tabLst>
                <a:tab pos="316382" algn="l"/>
                <a:tab pos="1609209" algn="l"/>
              </a:tabLst>
            </a:pPr>
            <a:r>
              <a:rPr sz="3200" dirty="0">
                <a:latin typeface="Times New Roman"/>
                <a:cs typeface="Times New Roman"/>
              </a:rPr>
              <a:t>The</a:t>
            </a:r>
            <a:r>
              <a:rPr sz="3200" spc="-6" dirty="0">
                <a:latin typeface="Times New Roman"/>
                <a:cs typeface="Times New Roman"/>
              </a:rPr>
              <a:t> routers</a:t>
            </a:r>
            <a:r>
              <a:rPr sz="3200" dirty="0">
                <a:latin typeface="Times New Roman"/>
                <a:cs typeface="Times New Roman"/>
              </a:rPr>
              <a:t> need</a:t>
            </a:r>
            <a:r>
              <a:rPr sz="3200" spc="17" dirty="0">
                <a:latin typeface="Times New Roman"/>
                <a:cs typeface="Times New Roman"/>
              </a:rPr>
              <a:t> </a:t>
            </a:r>
            <a:r>
              <a:rPr sz="3200" dirty="0">
                <a:latin typeface="Times New Roman"/>
                <a:cs typeface="Times New Roman"/>
              </a:rPr>
              <a:t>to</a:t>
            </a:r>
            <a:r>
              <a:rPr sz="3200" spc="-6" dirty="0">
                <a:latin typeface="Times New Roman"/>
                <a:cs typeface="Times New Roman"/>
              </a:rPr>
              <a:t> </a:t>
            </a:r>
            <a:r>
              <a:rPr sz="3200" dirty="0">
                <a:latin typeface="Times New Roman"/>
                <a:cs typeface="Times New Roman"/>
              </a:rPr>
              <a:t>use </a:t>
            </a:r>
            <a:r>
              <a:rPr sz="3200" spc="-6" dirty="0">
                <a:latin typeface="Times New Roman"/>
                <a:cs typeface="Times New Roman"/>
              </a:rPr>
              <a:t>dial</a:t>
            </a:r>
            <a:r>
              <a:rPr sz="3200" spc="6" dirty="0">
                <a:latin typeface="Times New Roman"/>
                <a:cs typeface="Times New Roman"/>
              </a:rPr>
              <a:t> </a:t>
            </a:r>
            <a:r>
              <a:rPr sz="3200" dirty="0">
                <a:latin typeface="Times New Roman"/>
                <a:cs typeface="Times New Roman"/>
              </a:rPr>
              <a:t>backup to </a:t>
            </a:r>
            <a:r>
              <a:rPr sz="3200" spc="-6" dirty="0">
                <a:latin typeface="Times New Roman"/>
                <a:cs typeface="Times New Roman"/>
              </a:rPr>
              <a:t>dynamically </a:t>
            </a:r>
            <a:r>
              <a:rPr sz="3200" spc="-810" dirty="0">
                <a:latin typeface="Times New Roman"/>
                <a:cs typeface="Times New Roman"/>
              </a:rPr>
              <a:t> </a:t>
            </a:r>
            <a:r>
              <a:rPr sz="3200" dirty="0">
                <a:latin typeface="Times New Roman"/>
                <a:cs typeface="Times New Roman"/>
              </a:rPr>
              <a:t>call</a:t>
            </a:r>
            <a:r>
              <a:rPr sz="3200" spc="-6" dirty="0">
                <a:latin typeface="Times New Roman"/>
                <a:cs typeface="Times New Roman"/>
              </a:rPr>
              <a:t> </a:t>
            </a:r>
            <a:r>
              <a:rPr sz="3200" dirty="0">
                <a:latin typeface="Times New Roman"/>
                <a:cs typeface="Times New Roman"/>
              </a:rPr>
              <a:t>another</a:t>
            </a:r>
            <a:r>
              <a:rPr sz="3200" spc="11" dirty="0">
                <a:latin typeface="Times New Roman"/>
                <a:cs typeface="Times New Roman"/>
              </a:rPr>
              <a:t> </a:t>
            </a:r>
            <a:r>
              <a:rPr sz="3200" dirty="0">
                <a:latin typeface="Times New Roman"/>
                <a:cs typeface="Times New Roman"/>
              </a:rPr>
              <a:t>router</a:t>
            </a:r>
            <a:r>
              <a:rPr sz="3200" spc="-6" dirty="0">
                <a:latin typeface="Times New Roman"/>
                <a:cs typeface="Times New Roman"/>
              </a:rPr>
              <a:t> </a:t>
            </a:r>
            <a:r>
              <a:rPr sz="3200" dirty="0">
                <a:latin typeface="Times New Roman"/>
                <a:cs typeface="Times New Roman"/>
              </a:rPr>
              <a:t>when a</a:t>
            </a:r>
            <a:r>
              <a:rPr sz="3200" spc="-6" dirty="0">
                <a:latin typeface="Times New Roman"/>
                <a:cs typeface="Times New Roman"/>
              </a:rPr>
              <a:t> </a:t>
            </a:r>
            <a:r>
              <a:rPr sz="3200" dirty="0">
                <a:latin typeface="Times New Roman"/>
                <a:cs typeface="Times New Roman"/>
              </a:rPr>
              <a:t>leased</a:t>
            </a:r>
            <a:r>
              <a:rPr sz="3200" spc="17" dirty="0">
                <a:latin typeface="Times New Roman"/>
                <a:cs typeface="Times New Roman"/>
              </a:rPr>
              <a:t> </a:t>
            </a:r>
            <a:r>
              <a:rPr sz="3200" spc="-6" dirty="0">
                <a:latin typeface="Times New Roman"/>
                <a:cs typeface="Times New Roman"/>
              </a:rPr>
              <a:t>line</a:t>
            </a:r>
            <a:r>
              <a:rPr sz="3200" spc="11" dirty="0">
                <a:latin typeface="Times New Roman"/>
                <a:cs typeface="Times New Roman"/>
              </a:rPr>
              <a:t> </a:t>
            </a:r>
            <a:r>
              <a:rPr sz="3200" spc="-6" dirty="0">
                <a:latin typeface="Times New Roman"/>
                <a:cs typeface="Times New Roman"/>
              </a:rPr>
              <a:t>fails.</a:t>
            </a:r>
            <a:endParaRPr lang="en-US" sz="3200" dirty="0">
              <a:latin typeface="Times New Roman"/>
              <a:cs typeface="Times New Roman"/>
            </a:endParaRPr>
          </a:p>
          <a:p>
            <a:pPr marL="927699" marR="176390" lvl="1" indent="-457200">
              <a:spcBef>
                <a:spcPts val="689"/>
              </a:spcBef>
              <a:buClr>
                <a:srgbClr val="D24717"/>
              </a:buClr>
              <a:buSzPct val="85000"/>
              <a:buFont typeface="Wingdings" panose="05000000000000000000" pitchFamily="2" charset="2"/>
              <a:buChar char="ü"/>
              <a:tabLst>
                <a:tab pos="316382" algn="l"/>
                <a:tab pos="1609209" algn="l"/>
              </a:tabLst>
            </a:pPr>
            <a:r>
              <a:rPr sz="3200" spc="-6" dirty="0">
                <a:latin typeface="Times New Roman"/>
                <a:cs typeface="Times New Roman"/>
              </a:rPr>
              <a:t>An</a:t>
            </a:r>
            <a:r>
              <a:rPr sz="3200" spc="-17" dirty="0">
                <a:latin typeface="Times New Roman"/>
                <a:cs typeface="Times New Roman"/>
              </a:rPr>
              <a:t> </a:t>
            </a:r>
            <a:r>
              <a:rPr sz="3200" spc="-6" dirty="0">
                <a:latin typeface="Times New Roman"/>
                <a:cs typeface="Times New Roman"/>
              </a:rPr>
              <a:t>enterprise</a:t>
            </a:r>
            <a:r>
              <a:rPr sz="3200" spc="39" dirty="0">
                <a:latin typeface="Times New Roman"/>
                <a:cs typeface="Times New Roman"/>
              </a:rPr>
              <a:t> </a:t>
            </a:r>
            <a:r>
              <a:rPr sz="3200" spc="-6" dirty="0">
                <a:latin typeface="Times New Roman"/>
                <a:cs typeface="Times New Roman"/>
              </a:rPr>
              <a:t>internetwork</a:t>
            </a:r>
            <a:r>
              <a:rPr sz="3200" spc="28" dirty="0">
                <a:latin typeface="Times New Roman"/>
                <a:cs typeface="Times New Roman"/>
              </a:rPr>
              <a:t> </a:t>
            </a:r>
            <a:r>
              <a:rPr sz="3200" spc="-6" dirty="0">
                <a:latin typeface="Times New Roman"/>
                <a:cs typeface="Times New Roman"/>
              </a:rPr>
              <a:t>has</a:t>
            </a:r>
            <a:r>
              <a:rPr sz="3200" dirty="0">
                <a:latin typeface="Times New Roman"/>
                <a:cs typeface="Times New Roman"/>
              </a:rPr>
              <a:t> many</a:t>
            </a:r>
            <a:r>
              <a:rPr sz="3200" spc="17" dirty="0">
                <a:latin typeface="Times New Roman"/>
                <a:cs typeface="Times New Roman"/>
              </a:rPr>
              <a:t> </a:t>
            </a:r>
            <a:r>
              <a:rPr sz="3200" spc="-6" dirty="0">
                <a:latin typeface="Times New Roman"/>
                <a:cs typeface="Times New Roman"/>
              </a:rPr>
              <a:t>small</a:t>
            </a:r>
            <a:r>
              <a:rPr sz="3200" spc="17" dirty="0">
                <a:latin typeface="Times New Roman"/>
                <a:cs typeface="Times New Roman"/>
              </a:rPr>
              <a:t> </a:t>
            </a:r>
            <a:r>
              <a:rPr sz="3200" dirty="0">
                <a:latin typeface="Times New Roman"/>
                <a:cs typeface="Times New Roman"/>
              </a:rPr>
              <a:t>branch </a:t>
            </a:r>
            <a:r>
              <a:rPr sz="3200" spc="-810" dirty="0">
                <a:latin typeface="Times New Roman"/>
                <a:cs typeface="Times New Roman"/>
              </a:rPr>
              <a:t> </a:t>
            </a:r>
            <a:r>
              <a:rPr sz="3200" spc="-11" dirty="0">
                <a:latin typeface="Times New Roman"/>
                <a:cs typeface="Times New Roman"/>
              </a:rPr>
              <a:t>offices,</a:t>
            </a:r>
            <a:r>
              <a:rPr sz="3200" spc="-6" dirty="0">
                <a:latin typeface="Times New Roman"/>
                <a:cs typeface="Times New Roman"/>
              </a:rPr>
              <a:t> </a:t>
            </a:r>
            <a:r>
              <a:rPr sz="3200" dirty="0">
                <a:latin typeface="Times New Roman"/>
                <a:cs typeface="Times New Roman"/>
              </a:rPr>
              <a:t>each</a:t>
            </a:r>
            <a:r>
              <a:rPr sz="3200" spc="17" dirty="0">
                <a:latin typeface="Times New Roman"/>
                <a:cs typeface="Times New Roman"/>
              </a:rPr>
              <a:t> </a:t>
            </a:r>
            <a:r>
              <a:rPr sz="3200" spc="-6" dirty="0">
                <a:latin typeface="Times New Roman"/>
                <a:cs typeface="Times New Roman"/>
              </a:rPr>
              <a:t>with</a:t>
            </a:r>
            <a:r>
              <a:rPr sz="3200" dirty="0">
                <a:latin typeface="Times New Roman"/>
                <a:cs typeface="Times New Roman"/>
              </a:rPr>
              <a:t> only one </a:t>
            </a:r>
            <a:r>
              <a:rPr sz="3200" spc="-6" dirty="0">
                <a:latin typeface="Times New Roman"/>
                <a:cs typeface="Times New Roman"/>
              </a:rPr>
              <a:t>possible </a:t>
            </a:r>
            <a:r>
              <a:rPr sz="3200" dirty="0">
                <a:latin typeface="Times New Roman"/>
                <a:cs typeface="Times New Roman"/>
              </a:rPr>
              <a:t>path</a:t>
            </a:r>
            <a:r>
              <a:rPr sz="3200" spc="11" dirty="0">
                <a:latin typeface="Times New Roman"/>
                <a:cs typeface="Times New Roman"/>
              </a:rPr>
              <a:t> </a:t>
            </a:r>
            <a:r>
              <a:rPr sz="3200" dirty="0">
                <a:latin typeface="Times New Roman"/>
                <a:cs typeface="Times New Roman"/>
              </a:rPr>
              <a:t>to</a:t>
            </a:r>
            <a:r>
              <a:rPr sz="3200" spc="6" dirty="0">
                <a:latin typeface="Times New Roman"/>
                <a:cs typeface="Times New Roman"/>
              </a:rPr>
              <a:t> </a:t>
            </a:r>
            <a:r>
              <a:rPr sz="3200" dirty="0">
                <a:latin typeface="Times New Roman"/>
                <a:cs typeface="Times New Roman"/>
              </a:rPr>
              <a:t>reach </a:t>
            </a:r>
            <a:r>
              <a:rPr sz="3200" spc="6" dirty="0">
                <a:latin typeface="Times New Roman"/>
                <a:cs typeface="Times New Roman"/>
              </a:rPr>
              <a:t> </a:t>
            </a:r>
            <a:r>
              <a:rPr sz="3200" dirty="0">
                <a:latin typeface="Times New Roman"/>
                <a:cs typeface="Times New Roman"/>
              </a:rPr>
              <a:t>the</a:t>
            </a:r>
            <a:r>
              <a:rPr sz="3200" spc="-6" dirty="0">
                <a:latin typeface="Times New Roman"/>
                <a:cs typeface="Times New Roman"/>
              </a:rPr>
              <a:t> rest</a:t>
            </a:r>
            <a:r>
              <a:rPr sz="3200" dirty="0">
                <a:latin typeface="Times New Roman"/>
                <a:cs typeface="Times New Roman"/>
              </a:rPr>
              <a:t> of the </a:t>
            </a:r>
            <a:r>
              <a:rPr sz="3200" spc="-6" dirty="0">
                <a:latin typeface="Times New Roman"/>
                <a:cs typeface="Times New Roman"/>
              </a:rPr>
              <a:t>internetwork.</a:t>
            </a:r>
            <a:endParaRPr lang="en-US" sz="3200" dirty="0">
              <a:latin typeface="Times New Roman"/>
              <a:cs typeface="Times New Roman"/>
            </a:endParaRPr>
          </a:p>
          <a:p>
            <a:pPr marL="927699" marR="176390" lvl="1" indent="-457200">
              <a:spcBef>
                <a:spcPts val="689"/>
              </a:spcBef>
              <a:buClr>
                <a:srgbClr val="D24717"/>
              </a:buClr>
              <a:buSzPct val="85000"/>
              <a:buFont typeface="Wingdings" panose="05000000000000000000" pitchFamily="2" charset="2"/>
              <a:buChar char="ü"/>
              <a:tabLst>
                <a:tab pos="316382" algn="l"/>
                <a:tab pos="1609209" algn="l"/>
              </a:tabLst>
            </a:pPr>
            <a:r>
              <a:rPr sz="3200" spc="-6" dirty="0">
                <a:latin typeface="Times New Roman"/>
                <a:cs typeface="Times New Roman"/>
              </a:rPr>
              <a:t>An</a:t>
            </a:r>
            <a:r>
              <a:rPr sz="3200" spc="-22" dirty="0">
                <a:latin typeface="Times New Roman"/>
                <a:cs typeface="Times New Roman"/>
              </a:rPr>
              <a:t> </a:t>
            </a:r>
            <a:r>
              <a:rPr sz="3200" spc="-6" dirty="0">
                <a:latin typeface="Times New Roman"/>
                <a:cs typeface="Times New Roman"/>
              </a:rPr>
              <a:t>enterprise</a:t>
            </a:r>
            <a:r>
              <a:rPr sz="3200" spc="39" dirty="0">
                <a:latin typeface="Times New Roman"/>
                <a:cs typeface="Times New Roman"/>
              </a:rPr>
              <a:t> </a:t>
            </a:r>
            <a:r>
              <a:rPr sz="3200" spc="-6" dirty="0">
                <a:latin typeface="Times New Roman"/>
                <a:cs typeface="Times New Roman"/>
              </a:rPr>
              <a:t>wants</a:t>
            </a:r>
            <a:r>
              <a:rPr sz="3200" dirty="0">
                <a:latin typeface="Times New Roman"/>
                <a:cs typeface="Times New Roman"/>
              </a:rPr>
              <a:t> to</a:t>
            </a:r>
            <a:r>
              <a:rPr sz="3200" spc="-6" dirty="0">
                <a:latin typeface="Times New Roman"/>
                <a:cs typeface="Times New Roman"/>
              </a:rPr>
              <a:t> </a:t>
            </a:r>
            <a:r>
              <a:rPr sz="3200" dirty="0">
                <a:latin typeface="Times New Roman"/>
                <a:cs typeface="Times New Roman"/>
              </a:rPr>
              <a:t>forward packets</a:t>
            </a:r>
            <a:r>
              <a:rPr sz="3200" spc="22" dirty="0">
                <a:latin typeface="Times New Roman"/>
                <a:cs typeface="Times New Roman"/>
              </a:rPr>
              <a:t> </a:t>
            </a:r>
            <a:r>
              <a:rPr sz="3200" dirty="0">
                <a:latin typeface="Times New Roman"/>
                <a:cs typeface="Times New Roman"/>
              </a:rPr>
              <a:t>to</a:t>
            </a:r>
            <a:r>
              <a:rPr sz="3200" spc="-6" dirty="0">
                <a:latin typeface="Times New Roman"/>
                <a:cs typeface="Times New Roman"/>
              </a:rPr>
              <a:t> hosts</a:t>
            </a:r>
            <a:r>
              <a:rPr sz="3200" spc="-17" dirty="0">
                <a:latin typeface="Times New Roman"/>
                <a:cs typeface="Times New Roman"/>
              </a:rPr>
              <a:t> </a:t>
            </a:r>
            <a:r>
              <a:rPr sz="3200" dirty="0">
                <a:latin typeface="Times New Roman"/>
                <a:cs typeface="Times New Roman"/>
              </a:rPr>
              <a:t>in </a:t>
            </a:r>
            <a:r>
              <a:rPr sz="3200" spc="-810" dirty="0">
                <a:latin typeface="Times New Roman"/>
                <a:cs typeface="Times New Roman"/>
              </a:rPr>
              <a:t> </a:t>
            </a:r>
            <a:r>
              <a:rPr sz="3200" dirty="0">
                <a:latin typeface="Times New Roman"/>
                <a:cs typeface="Times New Roman"/>
              </a:rPr>
              <a:t>the </a:t>
            </a:r>
            <a:r>
              <a:rPr sz="3200" spc="-6" dirty="0">
                <a:latin typeface="Times New Roman"/>
                <a:cs typeface="Times New Roman"/>
              </a:rPr>
              <a:t>Internet,</a:t>
            </a:r>
            <a:r>
              <a:rPr sz="3200" spc="39" dirty="0">
                <a:latin typeface="Times New Roman"/>
                <a:cs typeface="Times New Roman"/>
              </a:rPr>
              <a:t> </a:t>
            </a:r>
            <a:r>
              <a:rPr sz="3200" dirty="0">
                <a:latin typeface="Times New Roman"/>
                <a:cs typeface="Times New Roman"/>
              </a:rPr>
              <a:t>not</a:t>
            </a:r>
            <a:r>
              <a:rPr sz="3200" spc="-11" dirty="0">
                <a:latin typeface="Times New Roman"/>
                <a:cs typeface="Times New Roman"/>
              </a:rPr>
              <a:t> </a:t>
            </a:r>
            <a:r>
              <a:rPr sz="3200" dirty="0">
                <a:latin typeface="Times New Roman"/>
                <a:cs typeface="Times New Roman"/>
              </a:rPr>
              <a:t>to</a:t>
            </a:r>
            <a:r>
              <a:rPr sz="3200" spc="17" dirty="0">
                <a:latin typeface="Times New Roman"/>
                <a:cs typeface="Times New Roman"/>
              </a:rPr>
              <a:t> </a:t>
            </a:r>
            <a:r>
              <a:rPr sz="3200" spc="-6" dirty="0">
                <a:latin typeface="Times New Roman"/>
                <a:cs typeface="Times New Roman"/>
              </a:rPr>
              <a:t>hosts</a:t>
            </a:r>
            <a:r>
              <a:rPr sz="3200" dirty="0">
                <a:latin typeface="Times New Roman"/>
                <a:cs typeface="Times New Roman"/>
              </a:rPr>
              <a:t> in</a:t>
            </a:r>
            <a:r>
              <a:rPr sz="3200" spc="6"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spc="-6" dirty="0">
                <a:latin typeface="Times New Roman"/>
                <a:cs typeface="Times New Roman"/>
              </a:rPr>
              <a:t>enterprise</a:t>
            </a:r>
            <a:r>
              <a:rPr sz="3200" spc="39" dirty="0">
                <a:latin typeface="Times New Roman"/>
                <a:cs typeface="Times New Roman"/>
              </a:rPr>
              <a:t> </a:t>
            </a:r>
            <a:r>
              <a:rPr sz="3200" spc="-6" dirty="0">
                <a:latin typeface="Times New Roman"/>
                <a:cs typeface="Times New Roman"/>
              </a:rPr>
              <a:t>network.</a:t>
            </a:r>
            <a:endParaRPr sz="32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803" y="151608"/>
            <a:ext cx="9918822" cy="1368353"/>
          </a:xfrm>
          <a:prstGeom prst="rect">
            <a:avLst/>
          </a:prstGeom>
        </p:spPr>
        <p:txBody>
          <a:bodyPr vert="horz" wrap="square" lIns="0" tIns="13999" rIns="0" bIns="0" rtlCol="0" anchor="ctr">
            <a:spAutoFit/>
          </a:bodyPr>
          <a:lstStyle/>
          <a:p>
            <a:pPr marL="3426307" marR="5600" indent="-3413007">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Static</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Routes</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in</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a:t>
            </a:r>
            <a:r>
              <a:rPr b="1" spc="-6" dirty="0">
                <a:solidFill>
                  <a:schemeClr val="bg1"/>
                </a:solidFill>
                <a:latin typeface="Times New Roman" panose="02020603050405020304" pitchFamily="18" charset="0"/>
                <a:cs typeface="Times New Roman" panose="02020603050405020304" pitchFamily="18" charset="0"/>
              </a:rPr>
              <a:t> Small,</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Non-redundant </a:t>
            </a:r>
            <a:r>
              <a:rPr b="1" spc="-976"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Network</a:t>
            </a:r>
          </a:p>
        </p:txBody>
      </p:sp>
      <p:sp>
        <p:nvSpPr>
          <p:cNvPr id="3" name="object 3"/>
          <p:cNvSpPr txBox="1"/>
          <p:nvPr/>
        </p:nvSpPr>
        <p:spPr>
          <a:xfrm>
            <a:off x="334851" y="1813571"/>
            <a:ext cx="9745774" cy="4239714"/>
          </a:xfrm>
          <a:prstGeom prst="rect">
            <a:avLst/>
          </a:prstGeom>
        </p:spPr>
        <p:txBody>
          <a:bodyPr vert="horz" wrap="square" lIns="0" tIns="13299" rIns="0" bIns="0" rtlCol="0">
            <a:spAutoFit/>
          </a:bodyPr>
          <a:lstStyle/>
          <a:p>
            <a:pPr marL="470499" marR="113394" indent="-457200">
              <a:spcBef>
                <a:spcPts val="105"/>
              </a:spcBef>
              <a:buClr>
                <a:srgbClr val="D24717"/>
              </a:buClr>
              <a:buSzPct val="83928"/>
              <a:buFont typeface="Wingdings" panose="05000000000000000000" pitchFamily="2" charset="2"/>
              <a:buChar char="Ø"/>
              <a:tabLst>
                <a:tab pos="316382" algn="l"/>
              </a:tabLst>
            </a:pPr>
            <a:r>
              <a:rPr sz="3200" dirty="0">
                <a:latin typeface="Times New Roman"/>
                <a:cs typeface="Times New Roman"/>
              </a:rPr>
              <a:t>In a small internetwork that has no redundancy and  seldom changes, you may simply choose to configure  static routes and not bother with an IP routing protocol.</a:t>
            </a:r>
          </a:p>
          <a:p>
            <a:pPr marL="470499" marR="5600" indent="-457200">
              <a:lnSpc>
                <a:spcPct val="90000"/>
              </a:lnSpc>
              <a:spcBef>
                <a:spcPts val="667"/>
              </a:spcBef>
              <a:buClr>
                <a:srgbClr val="D24717"/>
              </a:buClr>
              <a:buSzPct val="83928"/>
              <a:buFont typeface="Wingdings" panose="05000000000000000000" pitchFamily="2" charset="2"/>
              <a:buChar char="Ø"/>
              <a:tabLst>
                <a:tab pos="316382" algn="l"/>
              </a:tabLst>
            </a:pPr>
            <a:r>
              <a:rPr sz="3200" dirty="0">
                <a:latin typeface="Times New Roman"/>
                <a:cs typeface="Times New Roman"/>
              </a:rPr>
              <a:t>In a real world, the most engineers would still choose to  use a dynamic routing protocol even in a small  internetwork, but such an internetwork provides a good  example for showing the mechanics of configuring  static routes with the </a:t>
            </a:r>
            <a:r>
              <a:rPr sz="3200" b="1" dirty="0">
                <a:solidFill>
                  <a:srgbClr val="FF0000"/>
                </a:solidFill>
                <a:latin typeface="Times New Roman"/>
                <a:cs typeface="Times New Roman"/>
              </a:rPr>
              <a:t>ip route </a:t>
            </a:r>
            <a:r>
              <a:rPr sz="3200" dirty="0">
                <a:latin typeface="Times New Roman"/>
                <a:cs typeface="Times New Roman"/>
              </a:rPr>
              <a:t>global configuration  command.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14" y="492955"/>
            <a:ext cx="9505972" cy="691244"/>
          </a:xfrm>
          <a:prstGeom prst="rect">
            <a:avLst/>
          </a:prstGeom>
        </p:spPr>
        <p:txBody>
          <a:bodyPr vert="horz" wrap="square" lIns="0" tIns="13999" rIns="0" bIns="0" rtlCol="0" anchor="ctr">
            <a:spAutoFit/>
          </a:bodyPr>
          <a:lstStyle/>
          <a:p>
            <a:pPr marL="13999">
              <a:lnSpc>
                <a:spcPct val="100000"/>
              </a:lnSpc>
              <a:spcBef>
                <a:spcPts val="110"/>
              </a:spcBef>
            </a:pPr>
            <a:r>
              <a:rPr b="1" spc="116" dirty="0">
                <a:solidFill>
                  <a:schemeClr val="bg1"/>
                </a:solidFill>
                <a:latin typeface="Times New Roman" panose="02020603050405020304" pitchFamily="18" charset="0"/>
                <a:cs typeface="Times New Roman" panose="02020603050405020304" pitchFamily="18" charset="0"/>
              </a:rPr>
              <a:t>Static</a:t>
            </a:r>
            <a:r>
              <a:rPr b="1" spc="66" dirty="0">
                <a:solidFill>
                  <a:schemeClr val="bg1"/>
                </a:solidFill>
                <a:latin typeface="Times New Roman" panose="02020603050405020304" pitchFamily="18" charset="0"/>
                <a:cs typeface="Times New Roman" panose="02020603050405020304" pitchFamily="18" charset="0"/>
              </a:rPr>
              <a:t> </a:t>
            </a:r>
            <a:r>
              <a:rPr b="1" spc="105" dirty="0">
                <a:solidFill>
                  <a:schemeClr val="bg1"/>
                </a:solidFill>
                <a:latin typeface="Times New Roman" panose="02020603050405020304" pitchFamily="18" charset="0"/>
                <a:cs typeface="Times New Roman" panose="02020603050405020304" pitchFamily="18" charset="0"/>
              </a:rPr>
              <a:t>routing </a:t>
            </a:r>
            <a:r>
              <a:rPr b="1" spc="22" dirty="0">
                <a:solidFill>
                  <a:schemeClr val="bg1"/>
                </a:solidFill>
                <a:latin typeface="Times New Roman" panose="02020603050405020304" pitchFamily="18" charset="0"/>
                <a:cs typeface="Times New Roman" panose="02020603050405020304" pitchFamily="18" charset="0"/>
              </a:rPr>
              <a:t>versus</a:t>
            </a:r>
            <a:r>
              <a:rPr b="1" spc="99" dirty="0">
                <a:solidFill>
                  <a:schemeClr val="bg1"/>
                </a:solidFill>
                <a:latin typeface="Times New Roman" panose="02020603050405020304" pitchFamily="18" charset="0"/>
                <a:cs typeface="Times New Roman" panose="02020603050405020304" pitchFamily="18" charset="0"/>
              </a:rPr>
              <a:t> </a:t>
            </a:r>
            <a:r>
              <a:rPr b="1" spc="94" dirty="0">
                <a:solidFill>
                  <a:schemeClr val="bg1"/>
                </a:solidFill>
                <a:latin typeface="Times New Roman" panose="02020603050405020304" pitchFamily="18" charset="0"/>
                <a:cs typeface="Times New Roman" panose="02020603050405020304" pitchFamily="18" charset="0"/>
              </a:rPr>
              <a:t>dynamic</a:t>
            </a:r>
            <a:r>
              <a:rPr b="1" spc="66" dirty="0">
                <a:solidFill>
                  <a:schemeClr val="bg1"/>
                </a:solidFill>
                <a:latin typeface="Times New Roman" panose="02020603050405020304" pitchFamily="18" charset="0"/>
                <a:cs typeface="Times New Roman" panose="02020603050405020304" pitchFamily="18" charset="0"/>
              </a:rPr>
              <a:t> </a:t>
            </a:r>
            <a:r>
              <a:rPr b="1" spc="105" dirty="0">
                <a:solidFill>
                  <a:schemeClr val="bg1"/>
                </a:solidFill>
                <a:latin typeface="Times New Roman" panose="02020603050405020304" pitchFamily="18" charset="0"/>
                <a:cs typeface="Times New Roman" panose="02020603050405020304" pitchFamily="18" charset="0"/>
              </a:rPr>
              <a:t>routing</a:t>
            </a:r>
          </a:p>
        </p:txBody>
      </p:sp>
      <p:sp>
        <p:nvSpPr>
          <p:cNvPr id="4" name="object 4"/>
          <p:cNvSpPr txBox="1"/>
          <p:nvPr/>
        </p:nvSpPr>
        <p:spPr>
          <a:xfrm>
            <a:off x="256215" y="1647159"/>
            <a:ext cx="9712034" cy="4369293"/>
          </a:xfrm>
          <a:prstGeom prst="rect">
            <a:avLst/>
          </a:prstGeom>
        </p:spPr>
        <p:txBody>
          <a:bodyPr vert="horz" wrap="square" lIns="0" tIns="69997" rIns="0" bIns="0" rtlCol="0">
            <a:spAutoFit/>
          </a:bodyPr>
          <a:lstStyle/>
          <a:p>
            <a:pPr marL="470499" indent="-457200">
              <a:spcBef>
                <a:spcPts val="551"/>
              </a:spcBef>
              <a:buClr>
                <a:srgbClr val="D24717"/>
              </a:buClr>
              <a:buSzPct val="83928"/>
              <a:buFont typeface="Wingdings" panose="05000000000000000000" pitchFamily="2" charset="2"/>
              <a:buChar char="Ø"/>
              <a:tabLst>
                <a:tab pos="317082" algn="l"/>
              </a:tabLst>
            </a:pPr>
            <a:r>
              <a:rPr sz="3200" b="1" dirty="0">
                <a:solidFill>
                  <a:srgbClr val="FF0000"/>
                </a:solidFill>
                <a:latin typeface="Times New Roman" panose="02020603050405020304" pitchFamily="18" charset="0"/>
                <a:cs typeface="Times New Roman" panose="02020603050405020304" pitchFamily="18" charset="0"/>
              </a:rPr>
              <a:t>Static</a:t>
            </a:r>
            <a:r>
              <a:rPr sz="3200" b="1" dirty="0">
                <a:solidFill>
                  <a:srgbClr val="C0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routing</a:t>
            </a:r>
            <a:endParaRPr sz="3200" dirty="0">
              <a:solidFill>
                <a:srgbClr val="FF0000"/>
              </a:solidFill>
              <a:latin typeface="Times New Roman" panose="02020603050405020304" pitchFamily="18" charset="0"/>
              <a:cs typeface="Times New Roman" panose="02020603050405020304" pitchFamily="18" charset="0"/>
            </a:endParaRPr>
          </a:p>
          <a:p>
            <a:pPr marL="628565" lvl="1" indent="-262485">
              <a:spcBef>
                <a:spcPts val="435"/>
              </a:spcBef>
              <a:buClr>
                <a:srgbClr val="C00000"/>
              </a:buClr>
              <a:buSzPct val="80357"/>
              <a:buFont typeface="Wingdings"/>
              <a:buChar char=""/>
              <a:tabLst>
                <a:tab pos="629264" algn="l"/>
              </a:tabLst>
            </a:pPr>
            <a:r>
              <a:rPr sz="3200" dirty="0">
                <a:latin typeface="Times New Roman" panose="02020603050405020304" pitchFamily="18" charset="0"/>
                <a:cs typeface="Times New Roman" panose="02020603050405020304" pitchFamily="18" charset="0"/>
              </a:rPr>
              <a:t>Fixes routes at boot time</a:t>
            </a:r>
          </a:p>
          <a:p>
            <a:pPr marL="628565" lvl="1" indent="-262485">
              <a:spcBef>
                <a:spcPts val="435"/>
              </a:spcBef>
              <a:buClr>
                <a:srgbClr val="C00000"/>
              </a:buClr>
              <a:buSzPct val="80357"/>
              <a:buFont typeface="Wingdings"/>
              <a:buChar char=""/>
              <a:tabLst>
                <a:tab pos="629264" algn="l"/>
              </a:tabLst>
            </a:pPr>
            <a:r>
              <a:rPr sz="3200" dirty="0">
                <a:latin typeface="Times New Roman" panose="02020603050405020304" pitchFamily="18" charset="0"/>
                <a:cs typeface="Times New Roman" panose="02020603050405020304" pitchFamily="18" charset="0"/>
              </a:rPr>
              <a:t>Useful only for simplest cases</a:t>
            </a:r>
          </a:p>
          <a:p>
            <a:pPr marL="470499" indent="-457200">
              <a:spcBef>
                <a:spcPts val="661"/>
              </a:spcBef>
              <a:buClr>
                <a:srgbClr val="D24717"/>
              </a:buClr>
              <a:buSzPct val="83928"/>
              <a:buFont typeface="Wingdings" panose="05000000000000000000" pitchFamily="2" charset="2"/>
              <a:buChar char="Ø"/>
              <a:tabLst>
                <a:tab pos="317082" algn="l"/>
              </a:tabLst>
            </a:pPr>
            <a:r>
              <a:rPr sz="3200" b="1" dirty="0">
                <a:solidFill>
                  <a:srgbClr val="FF0000"/>
                </a:solidFill>
                <a:latin typeface="Times New Roman" panose="02020603050405020304" pitchFamily="18" charset="0"/>
                <a:cs typeface="Times New Roman" panose="02020603050405020304" pitchFamily="18" charset="0"/>
              </a:rPr>
              <a:t>Dynamic routing</a:t>
            </a:r>
            <a:endParaRPr sz="3200" dirty="0">
              <a:solidFill>
                <a:srgbClr val="FF0000"/>
              </a:solidFill>
              <a:latin typeface="Times New Roman" panose="02020603050405020304" pitchFamily="18" charset="0"/>
              <a:cs typeface="Times New Roman" panose="02020603050405020304" pitchFamily="18" charset="0"/>
            </a:endParaRPr>
          </a:p>
          <a:p>
            <a:pPr marL="628565" lvl="1" indent="-262485">
              <a:spcBef>
                <a:spcPts val="441"/>
              </a:spcBef>
              <a:buClr>
                <a:srgbClr val="C00000"/>
              </a:buClr>
              <a:buSzPct val="80357"/>
              <a:buFont typeface="Wingdings"/>
              <a:buChar char=""/>
              <a:tabLst>
                <a:tab pos="629264" algn="l"/>
              </a:tabLst>
            </a:pPr>
            <a:r>
              <a:rPr sz="3200" dirty="0">
                <a:latin typeface="Times New Roman" panose="02020603050405020304" pitchFamily="18" charset="0"/>
                <a:cs typeface="Times New Roman" panose="02020603050405020304" pitchFamily="18" charset="0"/>
              </a:rPr>
              <a:t>Table initialized at boot time</a:t>
            </a:r>
          </a:p>
          <a:p>
            <a:pPr marL="618765" marR="5600" lvl="1" indent="-251986">
              <a:spcBef>
                <a:spcPts val="451"/>
              </a:spcBef>
              <a:buClr>
                <a:srgbClr val="C00000"/>
              </a:buClr>
              <a:buSzPct val="80357"/>
              <a:buFont typeface="Wingdings"/>
              <a:buChar char=""/>
              <a:tabLst>
                <a:tab pos="629264" algn="l"/>
              </a:tabLst>
            </a:pPr>
            <a:r>
              <a:rPr sz="3200" dirty="0">
                <a:latin typeface="Times New Roman" panose="02020603050405020304" pitchFamily="18" charset="0"/>
                <a:cs typeface="Times New Roman" panose="02020603050405020304" pitchFamily="18" charset="0"/>
              </a:rPr>
              <a:t>Values inserted/updated by protocols that  propagate route information</a:t>
            </a:r>
          </a:p>
          <a:p>
            <a:pPr marL="628565" lvl="1" indent="-262485">
              <a:spcBef>
                <a:spcPts val="435"/>
              </a:spcBef>
              <a:buClr>
                <a:srgbClr val="C00000"/>
              </a:buClr>
              <a:buSzPct val="80357"/>
              <a:buFont typeface="Wingdings"/>
              <a:buChar char=""/>
              <a:tabLst>
                <a:tab pos="629264" algn="l"/>
              </a:tabLst>
            </a:pPr>
            <a:r>
              <a:rPr sz="3200" dirty="0">
                <a:latin typeface="Times New Roman" panose="02020603050405020304" pitchFamily="18" charset="0"/>
                <a:cs typeface="Times New Roman" panose="02020603050405020304" pitchFamily="18" charset="0"/>
              </a:rPr>
              <a:t>Necessary in large Networks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487" y="506391"/>
            <a:ext cx="8210913" cy="691951"/>
          </a:xfrm>
          <a:prstGeom prst="rect">
            <a:avLst/>
          </a:prstGeom>
        </p:spPr>
        <p:txBody>
          <a:bodyPr vert="horz" wrap="square" lIns="0" tIns="14699" rIns="0" bIns="0" rtlCol="0" anchor="ctr">
            <a:spAutoFit/>
          </a:bodyPr>
          <a:lstStyle/>
          <a:p>
            <a:pPr marL="13999">
              <a:lnSpc>
                <a:spcPct val="100000"/>
              </a:lnSpc>
              <a:spcBef>
                <a:spcPts val="116"/>
              </a:spcBef>
            </a:pPr>
            <a:r>
              <a:rPr b="1" dirty="0">
                <a:solidFill>
                  <a:schemeClr val="bg1"/>
                </a:solidFill>
                <a:latin typeface="Times New Roman" panose="02020603050405020304" pitchFamily="18" charset="0"/>
                <a:cs typeface="Times New Roman" panose="02020603050405020304" pitchFamily="18" charset="0"/>
              </a:rPr>
              <a:t>Configuring</a:t>
            </a:r>
            <a:r>
              <a:rPr b="1" spc="-7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static</a:t>
            </a:r>
            <a:r>
              <a:rPr b="1" spc="-44" dirty="0">
                <a:solidFill>
                  <a:schemeClr val="bg1"/>
                </a:solidFill>
                <a:latin typeface="Times New Roman" panose="02020603050405020304" pitchFamily="18" charset="0"/>
                <a:cs typeface="Times New Roman" panose="02020603050405020304" pitchFamily="18" charset="0"/>
              </a:rPr>
              <a:t> </a:t>
            </a:r>
            <a:r>
              <a:rPr b="1" spc="-17" dirty="0">
                <a:solidFill>
                  <a:schemeClr val="bg1"/>
                </a:solidFill>
                <a:latin typeface="Times New Roman" panose="02020603050405020304" pitchFamily="18" charset="0"/>
                <a:cs typeface="Times New Roman" panose="02020603050405020304" pitchFamily="18" charset="0"/>
              </a:rPr>
              <a:t>routes</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18941" y="1703250"/>
            <a:ext cx="9350062" cy="3640063"/>
          </a:xfrm>
          <a:prstGeom prst="rect">
            <a:avLst/>
          </a:prstGeom>
        </p:spPr>
        <p:txBody>
          <a:bodyPr vert="horz" wrap="square" lIns="0" tIns="13299" rIns="0" bIns="0" rtlCol="0">
            <a:spAutoFit/>
          </a:bodyPr>
          <a:lstStyle/>
          <a:p>
            <a:pPr marL="470499" marR="438875" indent="-457200">
              <a:spcBef>
                <a:spcPts val="105"/>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Static </a:t>
            </a:r>
            <a:r>
              <a:rPr sz="3200" dirty="0">
                <a:latin typeface="Times New Roman"/>
                <a:cs typeface="Times New Roman"/>
              </a:rPr>
              <a:t>routes </a:t>
            </a:r>
            <a:r>
              <a:rPr sz="3200" spc="-6" dirty="0">
                <a:latin typeface="Times New Roman"/>
                <a:cs typeface="Times New Roman"/>
              </a:rPr>
              <a:t>are entered manually by the network </a:t>
            </a:r>
            <a:r>
              <a:rPr sz="3200" spc="-755" dirty="0">
                <a:latin typeface="Times New Roman"/>
                <a:cs typeface="Times New Roman"/>
              </a:rPr>
              <a:t> </a:t>
            </a:r>
            <a:r>
              <a:rPr sz="3200" spc="-6" dirty="0">
                <a:latin typeface="Times New Roman"/>
                <a:cs typeface="Times New Roman"/>
              </a:rPr>
              <a:t>admin.</a:t>
            </a:r>
            <a:endParaRPr sz="3200" dirty="0">
              <a:latin typeface="Times New Roman"/>
              <a:cs typeface="Times New Roman"/>
            </a:endParaRPr>
          </a:p>
          <a:p>
            <a:pPr marL="470499" marR="5600" indent="-457200">
              <a:spcBef>
                <a:spcPts val="661"/>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Anytime</a:t>
            </a:r>
            <a:r>
              <a:rPr sz="3200" spc="-17" dirty="0">
                <a:latin typeface="Times New Roman"/>
                <a:cs typeface="Times New Roman"/>
              </a:rPr>
              <a:t> </a:t>
            </a:r>
            <a:r>
              <a:rPr sz="3200" dirty="0">
                <a:latin typeface="Times New Roman"/>
                <a:cs typeface="Times New Roman"/>
              </a:rPr>
              <a:t>the</a:t>
            </a:r>
            <a:r>
              <a:rPr sz="3200" spc="-17" dirty="0">
                <a:latin typeface="Times New Roman"/>
                <a:cs typeface="Times New Roman"/>
              </a:rPr>
              <a:t> </a:t>
            </a:r>
            <a:r>
              <a:rPr sz="3200" spc="-6" dirty="0">
                <a:latin typeface="Times New Roman"/>
                <a:cs typeface="Times New Roman"/>
              </a:rPr>
              <a:t>network </a:t>
            </a:r>
            <a:r>
              <a:rPr sz="3200" dirty="0">
                <a:latin typeface="Times New Roman"/>
                <a:cs typeface="Times New Roman"/>
              </a:rPr>
              <a:t>topology</a:t>
            </a:r>
            <a:r>
              <a:rPr sz="3200" spc="-44" dirty="0">
                <a:latin typeface="Times New Roman"/>
                <a:cs typeface="Times New Roman"/>
              </a:rPr>
              <a:t> </a:t>
            </a:r>
            <a:r>
              <a:rPr sz="3200" spc="-6" dirty="0">
                <a:latin typeface="Times New Roman"/>
                <a:cs typeface="Times New Roman"/>
              </a:rPr>
              <a:t>changes,</a:t>
            </a:r>
            <a:r>
              <a:rPr sz="3200" spc="-11" dirty="0">
                <a:latin typeface="Times New Roman"/>
                <a:cs typeface="Times New Roman"/>
              </a:rPr>
              <a:t> </a:t>
            </a:r>
            <a:r>
              <a:rPr sz="3200" spc="-6" dirty="0">
                <a:latin typeface="Times New Roman"/>
                <a:cs typeface="Times New Roman"/>
              </a:rPr>
              <a:t>admin</a:t>
            </a:r>
            <a:r>
              <a:rPr sz="3200" dirty="0">
                <a:latin typeface="Times New Roman"/>
                <a:cs typeface="Times New Roman"/>
              </a:rPr>
              <a:t> </a:t>
            </a:r>
            <a:r>
              <a:rPr sz="3200" spc="-11" dirty="0">
                <a:latin typeface="Times New Roman"/>
                <a:cs typeface="Times New Roman"/>
              </a:rPr>
              <a:t>must </a:t>
            </a:r>
            <a:r>
              <a:rPr sz="3200" spc="-755" dirty="0">
                <a:latin typeface="Times New Roman"/>
                <a:cs typeface="Times New Roman"/>
              </a:rPr>
              <a:t> </a:t>
            </a:r>
            <a:r>
              <a:rPr sz="3200" dirty="0">
                <a:latin typeface="Times New Roman"/>
                <a:cs typeface="Times New Roman"/>
              </a:rPr>
              <a:t>update</a:t>
            </a:r>
            <a:r>
              <a:rPr sz="3200" spc="-44" dirty="0">
                <a:latin typeface="Times New Roman"/>
                <a:cs typeface="Times New Roman"/>
              </a:rPr>
              <a:t> </a:t>
            </a:r>
            <a:r>
              <a:rPr sz="3200" spc="-6" dirty="0">
                <a:latin typeface="Times New Roman"/>
                <a:cs typeface="Times New Roman"/>
              </a:rPr>
              <a:t>the</a:t>
            </a:r>
            <a:r>
              <a:rPr sz="3200" dirty="0">
                <a:latin typeface="Times New Roman"/>
                <a:cs typeface="Times New Roman"/>
              </a:rPr>
              <a:t> routes</a:t>
            </a:r>
          </a:p>
          <a:p>
            <a:pPr marL="471199" indent="-457200">
              <a:spcBef>
                <a:spcPts val="667"/>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S</a:t>
            </a:r>
            <a:r>
              <a:rPr sz="3200" dirty="0">
                <a:latin typeface="Times New Roman"/>
                <a:cs typeface="Times New Roman"/>
              </a:rPr>
              <a:t>p</a:t>
            </a:r>
            <a:r>
              <a:rPr sz="3200" spc="-6" dirty="0">
                <a:latin typeface="Times New Roman"/>
                <a:cs typeface="Times New Roman"/>
              </a:rPr>
              <a:t>e</a:t>
            </a:r>
            <a:r>
              <a:rPr sz="3200" spc="-22" dirty="0">
                <a:latin typeface="Times New Roman"/>
                <a:cs typeface="Times New Roman"/>
              </a:rPr>
              <a:t>c</a:t>
            </a:r>
            <a:r>
              <a:rPr sz="3200" spc="-6" dirty="0">
                <a:latin typeface="Times New Roman"/>
                <a:cs typeface="Times New Roman"/>
              </a:rPr>
              <a:t>if</a:t>
            </a:r>
            <a:r>
              <a:rPr sz="3200" spc="6" dirty="0">
                <a:latin typeface="Times New Roman"/>
                <a:cs typeface="Times New Roman"/>
              </a:rPr>
              <a:t>y</a:t>
            </a:r>
            <a:r>
              <a:rPr sz="3200" spc="-6" dirty="0">
                <a:latin typeface="Times New Roman"/>
                <a:cs typeface="Times New Roman"/>
              </a:rPr>
              <a:t>i</a:t>
            </a:r>
            <a:r>
              <a:rPr sz="3200" dirty="0">
                <a:latin typeface="Times New Roman"/>
                <a:cs typeface="Times New Roman"/>
              </a:rPr>
              <a:t>n</a:t>
            </a:r>
            <a:r>
              <a:rPr sz="3200" spc="-6" dirty="0">
                <a:latin typeface="Times New Roman"/>
                <a:cs typeface="Times New Roman"/>
              </a:rPr>
              <a:t>g</a:t>
            </a:r>
            <a:r>
              <a:rPr sz="3200" spc="-28" dirty="0">
                <a:latin typeface="Times New Roman"/>
                <a:cs typeface="Times New Roman"/>
              </a:rPr>
              <a:t> </a:t>
            </a:r>
            <a:r>
              <a:rPr sz="3200" spc="-6" dirty="0">
                <a:latin typeface="Times New Roman"/>
                <a:cs typeface="Times New Roman"/>
              </a:rPr>
              <a:t>t</a:t>
            </a:r>
            <a:r>
              <a:rPr sz="3200" dirty="0">
                <a:latin typeface="Times New Roman"/>
                <a:cs typeface="Times New Roman"/>
              </a:rPr>
              <a:t>h</a:t>
            </a:r>
            <a:r>
              <a:rPr sz="3200" spc="-6" dirty="0">
                <a:latin typeface="Times New Roman"/>
                <a:cs typeface="Times New Roman"/>
              </a:rPr>
              <a:t>e</a:t>
            </a:r>
            <a:r>
              <a:rPr sz="3200" spc="-28" dirty="0">
                <a:latin typeface="Times New Roman"/>
                <a:cs typeface="Times New Roman"/>
              </a:rPr>
              <a:t> </a:t>
            </a:r>
            <a:r>
              <a:rPr sz="3200" spc="-6" dirty="0">
                <a:latin typeface="Times New Roman"/>
                <a:cs typeface="Times New Roman"/>
              </a:rPr>
              <a:t>Nex</a:t>
            </a:r>
            <a:r>
              <a:rPr sz="3200" spc="11" dirty="0">
                <a:latin typeface="Times New Roman"/>
                <a:cs typeface="Times New Roman"/>
              </a:rPr>
              <a:t>t</a:t>
            </a:r>
            <a:r>
              <a:rPr sz="3200" spc="-6" dirty="0">
                <a:latin typeface="Times New Roman"/>
                <a:cs typeface="Times New Roman"/>
              </a:rPr>
              <a:t>-h</a:t>
            </a:r>
            <a:r>
              <a:rPr sz="3200" dirty="0">
                <a:latin typeface="Times New Roman"/>
                <a:cs typeface="Times New Roman"/>
              </a:rPr>
              <a:t>o</a:t>
            </a:r>
            <a:r>
              <a:rPr sz="3200" spc="-6" dirty="0">
                <a:latin typeface="Times New Roman"/>
                <a:cs typeface="Times New Roman"/>
              </a:rPr>
              <a:t>p IP</a:t>
            </a:r>
            <a:r>
              <a:rPr sz="3200" spc="-270" dirty="0">
                <a:latin typeface="Times New Roman"/>
                <a:cs typeface="Times New Roman"/>
              </a:rPr>
              <a:t> </a:t>
            </a:r>
            <a:r>
              <a:rPr sz="3200" spc="-6" dirty="0">
                <a:latin typeface="Times New Roman"/>
                <a:cs typeface="Times New Roman"/>
              </a:rPr>
              <a:t>Ad</a:t>
            </a:r>
            <a:r>
              <a:rPr sz="3200" dirty="0">
                <a:latin typeface="Times New Roman"/>
                <a:cs typeface="Times New Roman"/>
              </a:rPr>
              <a:t>d</a:t>
            </a:r>
            <a:r>
              <a:rPr sz="3200" spc="-6" dirty="0">
                <a:latin typeface="Times New Roman"/>
                <a:cs typeface="Times New Roman"/>
              </a:rPr>
              <a:t>ress</a:t>
            </a:r>
            <a:endParaRPr sz="3200" dirty="0">
              <a:latin typeface="Times New Roman"/>
              <a:cs typeface="Times New Roman"/>
            </a:endParaRPr>
          </a:p>
          <a:p>
            <a:pPr marL="470499" marR="623665" indent="-457200">
              <a:buClr>
                <a:srgbClr val="D24717"/>
              </a:buClr>
              <a:buSzPct val="84375"/>
              <a:buFont typeface="Wingdings" panose="05000000000000000000" pitchFamily="2" charset="2"/>
              <a:buChar char="Ø"/>
              <a:tabLst>
                <a:tab pos="316382" algn="l"/>
              </a:tabLst>
            </a:pPr>
            <a:r>
              <a:rPr sz="3200" dirty="0">
                <a:latin typeface="Times New Roman"/>
                <a:cs typeface="Times New Roman"/>
              </a:rPr>
              <a:t>Router(config)#</a:t>
            </a:r>
            <a:r>
              <a:rPr sz="3200" spc="-83" dirty="0">
                <a:latin typeface="Times New Roman"/>
                <a:cs typeface="Times New Roman"/>
              </a:rPr>
              <a:t> </a:t>
            </a:r>
            <a:r>
              <a:rPr sz="3200" b="1" spc="-6" dirty="0">
                <a:solidFill>
                  <a:srgbClr val="FF0000"/>
                </a:solidFill>
                <a:latin typeface="Times New Roman"/>
                <a:cs typeface="Times New Roman"/>
              </a:rPr>
              <a:t>ip</a:t>
            </a:r>
            <a:r>
              <a:rPr sz="3200" b="1" spc="-28" dirty="0">
                <a:solidFill>
                  <a:srgbClr val="FF0000"/>
                </a:solidFill>
                <a:latin typeface="Times New Roman"/>
                <a:cs typeface="Times New Roman"/>
              </a:rPr>
              <a:t> </a:t>
            </a:r>
            <a:r>
              <a:rPr sz="3200" b="1" spc="-11" dirty="0">
                <a:solidFill>
                  <a:srgbClr val="FF0000"/>
                </a:solidFill>
                <a:latin typeface="Times New Roman"/>
                <a:cs typeface="Times New Roman"/>
              </a:rPr>
              <a:t>route</a:t>
            </a:r>
            <a:r>
              <a:rPr sz="3200" b="1" spc="-39" dirty="0">
                <a:solidFill>
                  <a:srgbClr val="FF0000"/>
                </a:solidFill>
                <a:latin typeface="Times New Roman"/>
                <a:cs typeface="Times New Roman"/>
              </a:rPr>
              <a:t> </a:t>
            </a:r>
            <a:r>
              <a:rPr sz="3200" i="1" spc="-6" dirty="0">
                <a:latin typeface="Times New Roman"/>
                <a:cs typeface="Times New Roman"/>
              </a:rPr>
              <a:t>network-address </a:t>
            </a:r>
            <a:r>
              <a:rPr sz="3200" i="1" spc="-865" dirty="0">
                <a:latin typeface="Times New Roman"/>
                <a:cs typeface="Times New Roman"/>
              </a:rPr>
              <a:t> </a:t>
            </a:r>
            <a:r>
              <a:rPr sz="3200" i="1" dirty="0">
                <a:latin typeface="Times New Roman"/>
                <a:cs typeface="Times New Roman"/>
              </a:rPr>
              <a:t>subnet-mask</a:t>
            </a:r>
            <a:r>
              <a:rPr sz="3200" i="1" spc="-55" dirty="0">
                <a:latin typeface="Times New Roman"/>
                <a:cs typeface="Times New Roman"/>
              </a:rPr>
              <a:t> </a:t>
            </a:r>
            <a:r>
              <a:rPr sz="3200" i="1" spc="-11" dirty="0">
                <a:latin typeface="Times New Roman"/>
                <a:cs typeface="Times New Roman"/>
              </a:rPr>
              <a:t>{ip-address</a:t>
            </a:r>
            <a:r>
              <a:rPr sz="3200" i="1" spc="-39" dirty="0">
                <a:latin typeface="Times New Roman"/>
                <a:cs typeface="Times New Roman"/>
              </a:rPr>
              <a:t> </a:t>
            </a:r>
            <a:r>
              <a:rPr sz="3200" i="1" dirty="0">
                <a:latin typeface="Times New Roman"/>
                <a:cs typeface="Times New Roman"/>
              </a:rPr>
              <a:t>| exit-interface}</a:t>
            </a:r>
            <a:endParaRPr sz="3200" dirty="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314" y="374659"/>
            <a:ext cx="7947458"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Configuring</a:t>
            </a:r>
            <a:r>
              <a:rPr sz="4409" b="1" spc="-28" dirty="0">
                <a:solidFill>
                  <a:schemeClr val="bg1"/>
                </a:solidFill>
                <a:latin typeface="Times New Roman" panose="02020603050405020304" pitchFamily="18" charset="0"/>
                <a:cs typeface="Times New Roman" panose="02020603050405020304" pitchFamily="18" charset="0"/>
              </a:rPr>
              <a:t> </a:t>
            </a:r>
            <a:r>
              <a:rPr sz="4409" b="1" dirty="0">
                <a:solidFill>
                  <a:schemeClr val="bg1"/>
                </a:solidFill>
                <a:latin typeface="Times New Roman" panose="02020603050405020304" pitchFamily="18" charset="0"/>
                <a:cs typeface="Times New Roman" panose="02020603050405020304" pitchFamily="18" charset="0"/>
              </a:rPr>
              <a:t>static</a:t>
            </a:r>
            <a:r>
              <a:rPr sz="4409" b="1" spc="-11" dirty="0">
                <a:solidFill>
                  <a:schemeClr val="bg1"/>
                </a:solidFill>
                <a:latin typeface="Times New Roman" panose="02020603050405020304" pitchFamily="18" charset="0"/>
                <a:cs typeface="Times New Roman" panose="02020603050405020304" pitchFamily="18" charset="0"/>
              </a:rPr>
              <a:t> </a:t>
            </a:r>
            <a:r>
              <a:rPr sz="4409" b="1" spc="-17" dirty="0">
                <a:solidFill>
                  <a:schemeClr val="bg1"/>
                </a:solidFill>
                <a:latin typeface="Times New Roman" panose="02020603050405020304" pitchFamily="18" charset="0"/>
                <a:cs typeface="Times New Roman" panose="02020603050405020304" pitchFamily="18" charset="0"/>
              </a:rPr>
              <a:t>routes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10524" y="1603426"/>
            <a:ext cx="9834996" cy="4120805"/>
          </a:xfrm>
          <a:prstGeom prst="rect">
            <a:avLst/>
          </a:prstGeom>
        </p:spPr>
        <p:txBody>
          <a:bodyPr vert="horz" wrap="square" lIns="0" tIns="59497" rIns="0" bIns="0" rtlCol="0">
            <a:spAutoFit/>
          </a:bodyPr>
          <a:lstStyle/>
          <a:p>
            <a:pPr marL="470499" marR="953345" indent="-457200">
              <a:lnSpc>
                <a:spcPts val="2855"/>
              </a:lnSpc>
              <a:spcBef>
                <a:spcPts val="468"/>
              </a:spcBef>
              <a:buClr>
                <a:srgbClr val="D24717"/>
              </a:buClr>
              <a:buSzPct val="85416"/>
              <a:buFont typeface="Wingdings" panose="05000000000000000000" pitchFamily="2" charset="2"/>
              <a:buChar char="Ø"/>
              <a:tabLst>
                <a:tab pos="315682" algn="l"/>
                <a:tab pos="316382" algn="l"/>
              </a:tabLst>
            </a:pPr>
            <a:r>
              <a:rPr sz="3200" dirty="0">
                <a:latin typeface="Times New Roman"/>
                <a:cs typeface="Times New Roman"/>
              </a:rPr>
              <a:t>Router(config)#</a:t>
            </a:r>
            <a:r>
              <a:rPr sz="3200" spc="-55" dirty="0">
                <a:latin typeface="Times New Roman"/>
                <a:cs typeface="Times New Roman"/>
              </a:rPr>
              <a:t> </a:t>
            </a:r>
            <a:r>
              <a:rPr sz="3200" b="1" dirty="0">
                <a:solidFill>
                  <a:srgbClr val="FF0000"/>
                </a:solidFill>
                <a:latin typeface="Times New Roman"/>
                <a:cs typeface="Times New Roman"/>
              </a:rPr>
              <a:t>ip</a:t>
            </a:r>
            <a:r>
              <a:rPr sz="3200" b="1" spc="-33" dirty="0">
                <a:solidFill>
                  <a:srgbClr val="FF0000"/>
                </a:solidFill>
                <a:latin typeface="Times New Roman"/>
                <a:cs typeface="Times New Roman"/>
              </a:rPr>
              <a:t> </a:t>
            </a:r>
            <a:r>
              <a:rPr sz="3200" b="1" spc="-11" dirty="0">
                <a:solidFill>
                  <a:srgbClr val="FF0000"/>
                </a:solidFill>
                <a:latin typeface="Times New Roman"/>
                <a:cs typeface="Times New Roman"/>
              </a:rPr>
              <a:t>route </a:t>
            </a:r>
            <a:r>
              <a:rPr sz="3200" b="1" dirty="0">
                <a:latin typeface="Times New Roman"/>
                <a:cs typeface="Times New Roman"/>
              </a:rPr>
              <a:t>network-address</a:t>
            </a:r>
            <a:r>
              <a:rPr sz="3200" b="1" spc="-28" dirty="0">
                <a:latin typeface="Times New Roman"/>
                <a:cs typeface="Times New Roman"/>
              </a:rPr>
              <a:t> </a:t>
            </a:r>
            <a:r>
              <a:rPr sz="3200" b="1" dirty="0">
                <a:latin typeface="Times New Roman"/>
                <a:cs typeface="Times New Roman"/>
              </a:rPr>
              <a:t>subnet-mask</a:t>
            </a:r>
            <a:r>
              <a:rPr sz="3200" b="1" spc="-28" dirty="0">
                <a:latin typeface="Times New Roman"/>
                <a:cs typeface="Times New Roman"/>
              </a:rPr>
              <a:t> </a:t>
            </a:r>
            <a:r>
              <a:rPr sz="3200" b="1" dirty="0">
                <a:latin typeface="Times New Roman"/>
                <a:cs typeface="Times New Roman"/>
              </a:rPr>
              <a:t>{ip- </a:t>
            </a:r>
            <a:r>
              <a:rPr sz="3200" b="1" spc="-645" dirty="0">
                <a:latin typeface="Times New Roman"/>
                <a:cs typeface="Times New Roman"/>
              </a:rPr>
              <a:t> </a:t>
            </a:r>
            <a:r>
              <a:rPr sz="3200" b="1" spc="-6" dirty="0">
                <a:latin typeface="Times New Roman"/>
                <a:cs typeface="Times New Roman"/>
              </a:rPr>
              <a:t>address</a:t>
            </a:r>
            <a:r>
              <a:rPr sz="3200" b="1" spc="-17" dirty="0">
                <a:latin typeface="Times New Roman"/>
                <a:cs typeface="Times New Roman"/>
              </a:rPr>
              <a:t> </a:t>
            </a:r>
            <a:r>
              <a:rPr sz="3200" b="1" spc="-6" dirty="0">
                <a:latin typeface="Times New Roman"/>
                <a:cs typeface="Times New Roman"/>
              </a:rPr>
              <a:t>| </a:t>
            </a:r>
            <a:r>
              <a:rPr sz="3200" b="1" dirty="0">
                <a:latin typeface="Times New Roman"/>
                <a:cs typeface="Times New Roman"/>
              </a:rPr>
              <a:t>exit-interface</a:t>
            </a:r>
            <a:r>
              <a:rPr sz="3200" b="1" dirty="0">
                <a:solidFill>
                  <a:srgbClr val="FF0000"/>
                </a:solidFill>
                <a:latin typeface="Times New Roman"/>
                <a:cs typeface="Times New Roman"/>
              </a:rPr>
              <a:t>}</a:t>
            </a:r>
            <a:endParaRPr sz="3200" dirty="0">
              <a:solidFill>
                <a:srgbClr val="FF0000"/>
              </a:solidFill>
              <a:latin typeface="Times New Roman"/>
              <a:cs typeface="Times New Roman"/>
            </a:endParaRPr>
          </a:p>
          <a:p>
            <a:pPr marL="471199" indent="-457200">
              <a:spcBef>
                <a:spcPts val="309"/>
              </a:spcBef>
              <a:buClr>
                <a:srgbClr val="D24717"/>
              </a:buClr>
              <a:buSzPct val="85416"/>
              <a:buFont typeface="Wingdings" panose="05000000000000000000" pitchFamily="2" charset="2"/>
              <a:buChar char="Ø"/>
              <a:tabLst>
                <a:tab pos="315682" algn="l"/>
                <a:tab pos="316382" algn="l"/>
              </a:tabLst>
            </a:pPr>
            <a:r>
              <a:rPr sz="3200" dirty="0">
                <a:latin typeface="Times New Roman"/>
                <a:cs typeface="Times New Roman"/>
              </a:rPr>
              <a:t>The</a:t>
            </a:r>
            <a:r>
              <a:rPr sz="3200" spc="-44" dirty="0">
                <a:latin typeface="Times New Roman"/>
                <a:cs typeface="Times New Roman"/>
              </a:rPr>
              <a:t> </a:t>
            </a:r>
            <a:r>
              <a:rPr sz="3200" spc="-6" dirty="0">
                <a:latin typeface="Times New Roman"/>
                <a:cs typeface="Times New Roman"/>
              </a:rPr>
              <a:t>following</a:t>
            </a:r>
            <a:r>
              <a:rPr sz="3200" spc="-11" dirty="0">
                <a:latin typeface="Times New Roman"/>
                <a:cs typeface="Times New Roman"/>
              </a:rPr>
              <a:t> </a:t>
            </a:r>
            <a:r>
              <a:rPr sz="3200" dirty="0">
                <a:latin typeface="Times New Roman"/>
                <a:cs typeface="Times New Roman"/>
              </a:rPr>
              <a:t>parameters</a:t>
            </a:r>
            <a:r>
              <a:rPr sz="3200" spc="-33" dirty="0">
                <a:latin typeface="Times New Roman"/>
                <a:cs typeface="Times New Roman"/>
              </a:rPr>
              <a:t> </a:t>
            </a:r>
            <a:r>
              <a:rPr sz="3200" dirty="0">
                <a:latin typeface="Times New Roman"/>
                <a:cs typeface="Times New Roman"/>
              </a:rPr>
              <a:t>are</a:t>
            </a:r>
            <a:r>
              <a:rPr sz="3200" spc="-33" dirty="0">
                <a:latin typeface="Times New Roman"/>
                <a:cs typeface="Times New Roman"/>
              </a:rPr>
              <a:t> </a:t>
            </a:r>
            <a:r>
              <a:rPr sz="3200" dirty="0">
                <a:latin typeface="Times New Roman"/>
                <a:cs typeface="Times New Roman"/>
              </a:rPr>
              <a:t>used:</a:t>
            </a:r>
          </a:p>
          <a:p>
            <a:pPr marL="927699" marR="877051" lvl="1" indent="-457200">
              <a:lnSpc>
                <a:spcPts val="2855"/>
              </a:lnSpc>
              <a:spcBef>
                <a:spcPts val="705"/>
              </a:spcBef>
              <a:buClr>
                <a:srgbClr val="D24717"/>
              </a:buClr>
              <a:buSzPct val="85416"/>
              <a:buFont typeface="Wingdings" panose="05000000000000000000" pitchFamily="2" charset="2"/>
              <a:buChar char="ü"/>
              <a:tabLst>
                <a:tab pos="315682" algn="l"/>
                <a:tab pos="316382" algn="l"/>
              </a:tabLst>
            </a:pPr>
            <a:r>
              <a:rPr lang="en-US" sz="3200" b="1" spc="-6" dirty="0">
                <a:solidFill>
                  <a:srgbClr val="FF0000"/>
                </a:solidFill>
                <a:latin typeface="Times New Roman"/>
                <a:cs typeface="Times New Roman"/>
              </a:rPr>
              <a:t>n</a:t>
            </a:r>
            <a:r>
              <a:rPr sz="3200" b="1" spc="-6" dirty="0">
                <a:solidFill>
                  <a:srgbClr val="FF0000"/>
                </a:solidFill>
                <a:latin typeface="Times New Roman"/>
                <a:cs typeface="Times New Roman"/>
              </a:rPr>
              <a:t>etwork-address:</a:t>
            </a:r>
            <a:r>
              <a:rPr sz="3200" b="1" i="1" spc="-22" dirty="0">
                <a:solidFill>
                  <a:srgbClr val="FF0000"/>
                </a:solidFill>
                <a:latin typeface="Times New Roman"/>
                <a:cs typeface="Times New Roman"/>
              </a:rPr>
              <a:t> </a:t>
            </a:r>
            <a:r>
              <a:rPr sz="3200" dirty="0">
                <a:latin typeface="Times New Roman"/>
                <a:cs typeface="Times New Roman"/>
              </a:rPr>
              <a:t>Destination</a:t>
            </a:r>
            <a:r>
              <a:rPr sz="3200" spc="-39" dirty="0">
                <a:latin typeface="Times New Roman"/>
                <a:cs typeface="Times New Roman"/>
              </a:rPr>
              <a:t> </a:t>
            </a:r>
            <a:r>
              <a:rPr sz="3200" dirty="0">
                <a:latin typeface="Times New Roman"/>
                <a:cs typeface="Times New Roman"/>
              </a:rPr>
              <a:t>network</a:t>
            </a:r>
            <a:r>
              <a:rPr sz="3200" spc="-17" dirty="0">
                <a:latin typeface="Times New Roman"/>
                <a:cs typeface="Times New Roman"/>
              </a:rPr>
              <a:t> </a:t>
            </a:r>
            <a:r>
              <a:rPr sz="3200" dirty="0">
                <a:latin typeface="Times New Roman"/>
                <a:cs typeface="Times New Roman"/>
              </a:rPr>
              <a:t>address</a:t>
            </a:r>
            <a:r>
              <a:rPr sz="3200" spc="-11" dirty="0">
                <a:latin typeface="Times New Roman"/>
                <a:cs typeface="Times New Roman"/>
              </a:rPr>
              <a:t> </a:t>
            </a:r>
            <a:r>
              <a:rPr sz="3200" dirty="0">
                <a:latin typeface="Times New Roman"/>
                <a:cs typeface="Times New Roman"/>
              </a:rPr>
              <a:t>of the</a:t>
            </a:r>
            <a:r>
              <a:rPr sz="3200" spc="-11" dirty="0">
                <a:latin typeface="Times New Roman"/>
                <a:cs typeface="Times New Roman"/>
              </a:rPr>
              <a:t> </a:t>
            </a:r>
            <a:r>
              <a:rPr sz="3200" spc="-6" dirty="0">
                <a:latin typeface="Times New Roman"/>
                <a:cs typeface="Times New Roman"/>
              </a:rPr>
              <a:t>remote </a:t>
            </a:r>
            <a:r>
              <a:rPr sz="3200" spc="-645" dirty="0">
                <a:latin typeface="Times New Roman"/>
                <a:cs typeface="Times New Roman"/>
              </a:rPr>
              <a:t> </a:t>
            </a:r>
            <a:r>
              <a:rPr sz="3200" dirty="0">
                <a:latin typeface="Times New Roman"/>
                <a:cs typeface="Times New Roman"/>
              </a:rPr>
              <a:t>network</a:t>
            </a:r>
            <a:r>
              <a:rPr sz="3200" spc="-33" dirty="0">
                <a:latin typeface="Times New Roman"/>
                <a:cs typeface="Times New Roman"/>
              </a:rPr>
              <a:t> </a:t>
            </a:r>
            <a:r>
              <a:rPr sz="3200" dirty="0">
                <a:latin typeface="Times New Roman"/>
                <a:cs typeface="Times New Roman"/>
              </a:rPr>
              <a:t>to</a:t>
            </a:r>
            <a:r>
              <a:rPr sz="3200" spc="-11" dirty="0">
                <a:latin typeface="Times New Roman"/>
                <a:cs typeface="Times New Roman"/>
              </a:rPr>
              <a:t> </a:t>
            </a:r>
            <a:r>
              <a:rPr sz="3200" dirty="0">
                <a:latin typeface="Times New Roman"/>
                <a:cs typeface="Times New Roman"/>
              </a:rPr>
              <a:t>be</a:t>
            </a:r>
            <a:r>
              <a:rPr sz="3200" spc="-6" dirty="0">
                <a:latin typeface="Times New Roman"/>
                <a:cs typeface="Times New Roman"/>
              </a:rPr>
              <a:t> </a:t>
            </a:r>
            <a:r>
              <a:rPr sz="3200" dirty="0">
                <a:latin typeface="Times New Roman"/>
                <a:cs typeface="Times New Roman"/>
              </a:rPr>
              <a:t>added to</a:t>
            </a:r>
            <a:r>
              <a:rPr sz="3200" spc="-22"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routing</a:t>
            </a:r>
            <a:r>
              <a:rPr sz="3200" spc="-28" dirty="0">
                <a:latin typeface="Times New Roman"/>
                <a:cs typeface="Times New Roman"/>
              </a:rPr>
              <a:t> </a:t>
            </a:r>
            <a:r>
              <a:rPr sz="3200" dirty="0">
                <a:latin typeface="Times New Roman"/>
                <a:cs typeface="Times New Roman"/>
              </a:rPr>
              <a:t>table.</a:t>
            </a:r>
            <a:endParaRPr lang="en-US" sz="3200" dirty="0">
              <a:latin typeface="Times New Roman"/>
              <a:cs typeface="Times New Roman"/>
            </a:endParaRPr>
          </a:p>
          <a:p>
            <a:pPr marL="927699" marR="877051" lvl="1" indent="-457200">
              <a:lnSpc>
                <a:spcPts val="2855"/>
              </a:lnSpc>
              <a:spcBef>
                <a:spcPts val="705"/>
              </a:spcBef>
              <a:buClr>
                <a:srgbClr val="D24717"/>
              </a:buClr>
              <a:buSzPct val="85416"/>
              <a:buFont typeface="Wingdings" panose="05000000000000000000" pitchFamily="2" charset="2"/>
              <a:buChar char="ü"/>
              <a:tabLst>
                <a:tab pos="315682" algn="l"/>
                <a:tab pos="316382" algn="l"/>
              </a:tabLst>
            </a:pPr>
            <a:r>
              <a:rPr sz="3200" b="1" dirty="0">
                <a:solidFill>
                  <a:srgbClr val="FF0000"/>
                </a:solidFill>
                <a:latin typeface="Times New Roman"/>
                <a:cs typeface="Times New Roman"/>
              </a:rPr>
              <a:t>subnet-mask:</a:t>
            </a:r>
            <a:r>
              <a:rPr sz="3200" b="1" i="1" dirty="0">
                <a:solidFill>
                  <a:srgbClr val="FF0000"/>
                </a:solidFill>
                <a:latin typeface="Times New Roman"/>
                <a:cs typeface="Times New Roman"/>
              </a:rPr>
              <a:t> </a:t>
            </a:r>
            <a:r>
              <a:rPr sz="3200" spc="-6" dirty="0">
                <a:latin typeface="Times New Roman"/>
                <a:cs typeface="Times New Roman"/>
              </a:rPr>
              <a:t>Subnet mask </a:t>
            </a:r>
            <a:r>
              <a:rPr sz="3200" dirty="0">
                <a:latin typeface="Times New Roman"/>
                <a:cs typeface="Times New Roman"/>
              </a:rPr>
              <a:t>of the </a:t>
            </a:r>
            <a:r>
              <a:rPr sz="3200" spc="-6" dirty="0">
                <a:latin typeface="Times New Roman"/>
                <a:cs typeface="Times New Roman"/>
              </a:rPr>
              <a:t>remote </a:t>
            </a:r>
            <a:r>
              <a:rPr sz="3200" dirty="0">
                <a:latin typeface="Times New Roman"/>
                <a:cs typeface="Times New Roman"/>
              </a:rPr>
              <a:t>network to be added to </a:t>
            </a:r>
            <a:r>
              <a:rPr sz="3200" spc="6" dirty="0">
                <a:latin typeface="Times New Roman"/>
                <a:cs typeface="Times New Roman"/>
              </a:rPr>
              <a:t> </a:t>
            </a:r>
            <a:r>
              <a:rPr sz="3200" dirty="0">
                <a:latin typeface="Times New Roman"/>
                <a:cs typeface="Times New Roman"/>
              </a:rPr>
              <a:t>the</a:t>
            </a:r>
            <a:r>
              <a:rPr sz="3200" spc="-28" dirty="0">
                <a:latin typeface="Times New Roman"/>
                <a:cs typeface="Times New Roman"/>
              </a:rPr>
              <a:t> </a:t>
            </a:r>
            <a:r>
              <a:rPr sz="3200" dirty="0">
                <a:latin typeface="Times New Roman"/>
                <a:cs typeface="Times New Roman"/>
              </a:rPr>
              <a:t>routing</a:t>
            </a:r>
            <a:r>
              <a:rPr sz="3200" spc="-28" dirty="0">
                <a:latin typeface="Times New Roman"/>
                <a:cs typeface="Times New Roman"/>
              </a:rPr>
              <a:t> </a:t>
            </a:r>
            <a:r>
              <a:rPr sz="3200" dirty="0">
                <a:latin typeface="Times New Roman"/>
                <a:cs typeface="Times New Roman"/>
              </a:rPr>
              <a:t>table.</a:t>
            </a:r>
            <a:r>
              <a:rPr sz="3200" spc="-83"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dirty="0">
                <a:latin typeface="Times New Roman"/>
                <a:cs typeface="Times New Roman"/>
              </a:rPr>
              <a:t>subnet</a:t>
            </a:r>
            <a:r>
              <a:rPr sz="3200" spc="-11" dirty="0">
                <a:latin typeface="Times New Roman"/>
                <a:cs typeface="Times New Roman"/>
              </a:rPr>
              <a:t> mask</a:t>
            </a:r>
            <a:r>
              <a:rPr sz="3200" spc="11" dirty="0">
                <a:latin typeface="Times New Roman"/>
                <a:cs typeface="Times New Roman"/>
              </a:rPr>
              <a:t> </a:t>
            </a:r>
            <a:r>
              <a:rPr sz="3200" dirty="0">
                <a:latin typeface="Times New Roman"/>
                <a:cs typeface="Times New Roman"/>
              </a:rPr>
              <a:t>can</a:t>
            </a:r>
            <a:r>
              <a:rPr sz="3200" spc="-6" dirty="0">
                <a:latin typeface="Times New Roman"/>
                <a:cs typeface="Times New Roman"/>
              </a:rPr>
              <a:t> </a:t>
            </a:r>
            <a:r>
              <a:rPr sz="3200" dirty="0">
                <a:latin typeface="Times New Roman"/>
                <a:cs typeface="Times New Roman"/>
              </a:rPr>
              <a:t>be</a:t>
            </a:r>
            <a:r>
              <a:rPr sz="3200" spc="-6" dirty="0">
                <a:latin typeface="Times New Roman"/>
                <a:cs typeface="Times New Roman"/>
              </a:rPr>
              <a:t> modified</a:t>
            </a:r>
            <a:r>
              <a:rPr sz="3200" spc="-11" dirty="0">
                <a:latin typeface="Times New Roman"/>
                <a:cs typeface="Times New Roman"/>
              </a:rPr>
              <a:t> </a:t>
            </a:r>
            <a:r>
              <a:rPr sz="3200" dirty="0">
                <a:latin typeface="Times New Roman"/>
                <a:cs typeface="Times New Roman"/>
              </a:rPr>
              <a:t>to</a:t>
            </a:r>
            <a:r>
              <a:rPr sz="3200" spc="-6" dirty="0">
                <a:latin typeface="Times New Roman"/>
                <a:cs typeface="Times New Roman"/>
              </a:rPr>
              <a:t> summarize </a:t>
            </a:r>
            <a:r>
              <a:rPr sz="3200" dirty="0">
                <a:latin typeface="Times New Roman"/>
                <a:cs typeface="Times New Roman"/>
              </a:rPr>
              <a:t>a </a:t>
            </a:r>
            <a:r>
              <a:rPr sz="3200" spc="-645" dirty="0">
                <a:latin typeface="Times New Roman"/>
                <a:cs typeface="Times New Roman"/>
              </a:rPr>
              <a:t> </a:t>
            </a:r>
            <a:r>
              <a:rPr sz="3200" dirty="0">
                <a:latin typeface="Times New Roman"/>
                <a:cs typeface="Times New Roman"/>
              </a:rPr>
              <a:t>group</a:t>
            </a:r>
            <a:r>
              <a:rPr sz="3200" spc="-17" dirty="0">
                <a:latin typeface="Times New Roman"/>
                <a:cs typeface="Times New Roman"/>
              </a:rPr>
              <a:t> </a:t>
            </a:r>
            <a:r>
              <a:rPr sz="3200" dirty="0">
                <a:latin typeface="Times New Roman"/>
                <a:cs typeface="Times New Roman"/>
              </a:rPr>
              <a:t>of</a:t>
            </a:r>
            <a:r>
              <a:rPr sz="3200" spc="-11" dirty="0">
                <a:latin typeface="Times New Roman"/>
                <a:cs typeface="Times New Roman"/>
              </a:rPr>
              <a:t> </a:t>
            </a:r>
            <a:r>
              <a:rPr sz="3200" spc="-6" dirty="0">
                <a:latin typeface="Times New Roman"/>
                <a:cs typeface="Times New Roman"/>
              </a:rPr>
              <a:t>networks.</a:t>
            </a:r>
            <a:endParaRPr sz="3200" dirty="0">
              <a:latin typeface="Times New Roman"/>
              <a:cs typeface="Times New Roman"/>
            </a:endParaRPr>
          </a:p>
        </p:txBody>
      </p:sp>
    </p:spTree>
    <p:extLst>
      <p:ext uri="{BB962C8B-B14F-4D97-AF65-F5344CB8AC3E}">
        <p14:creationId xmlns:p14="http://schemas.microsoft.com/office/powerpoint/2010/main" val="1951587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314" y="374659"/>
            <a:ext cx="7947458"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Configuring</a:t>
            </a:r>
            <a:r>
              <a:rPr sz="4409" b="1" spc="-28" dirty="0">
                <a:solidFill>
                  <a:schemeClr val="bg1"/>
                </a:solidFill>
                <a:latin typeface="Times New Roman" panose="02020603050405020304" pitchFamily="18" charset="0"/>
                <a:cs typeface="Times New Roman" panose="02020603050405020304" pitchFamily="18" charset="0"/>
              </a:rPr>
              <a:t> </a:t>
            </a:r>
            <a:r>
              <a:rPr sz="4409" b="1" dirty="0">
                <a:solidFill>
                  <a:schemeClr val="bg1"/>
                </a:solidFill>
                <a:latin typeface="Times New Roman" panose="02020603050405020304" pitchFamily="18" charset="0"/>
                <a:cs typeface="Times New Roman" panose="02020603050405020304" pitchFamily="18" charset="0"/>
              </a:rPr>
              <a:t>static</a:t>
            </a:r>
            <a:r>
              <a:rPr sz="4409" b="1" spc="-11" dirty="0">
                <a:solidFill>
                  <a:schemeClr val="bg1"/>
                </a:solidFill>
                <a:latin typeface="Times New Roman" panose="02020603050405020304" pitchFamily="18" charset="0"/>
                <a:cs typeface="Times New Roman" panose="02020603050405020304" pitchFamily="18" charset="0"/>
              </a:rPr>
              <a:t> </a:t>
            </a:r>
            <a:r>
              <a:rPr sz="4409" b="1" spc="-17" dirty="0">
                <a:solidFill>
                  <a:schemeClr val="bg1"/>
                </a:solidFill>
                <a:latin typeface="Times New Roman" panose="02020603050405020304" pitchFamily="18" charset="0"/>
                <a:cs typeface="Times New Roman" panose="02020603050405020304" pitchFamily="18" charset="0"/>
              </a:rPr>
              <a:t>routes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10524" y="1603426"/>
            <a:ext cx="9834996" cy="2715292"/>
          </a:xfrm>
          <a:prstGeom prst="rect">
            <a:avLst/>
          </a:prstGeom>
        </p:spPr>
        <p:txBody>
          <a:bodyPr vert="horz" wrap="square" lIns="0" tIns="59497" rIns="0" bIns="0" rtlCol="0">
            <a:spAutoFit/>
          </a:bodyPr>
          <a:lstStyle/>
          <a:p>
            <a:pPr marL="471199" indent="-457200">
              <a:spcBef>
                <a:spcPts val="309"/>
              </a:spcBef>
              <a:buClr>
                <a:srgbClr val="D24717"/>
              </a:buClr>
              <a:buSzPct val="85416"/>
              <a:buFont typeface="Wingdings" panose="05000000000000000000" pitchFamily="2" charset="2"/>
              <a:buChar char="Ø"/>
              <a:tabLst>
                <a:tab pos="315682" algn="l"/>
                <a:tab pos="316382" algn="l"/>
              </a:tabLst>
            </a:pPr>
            <a:r>
              <a:rPr sz="3200" b="1" dirty="0">
                <a:solidFill>
                  <a:srgbClr val="FF0000"/>
                </a:solidFill>
                <a:latin typeface="Times New Roman"/>
                <a:cs typeface="Times New Roman"/>
              </a:rPr>
              <a:t>One</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or</a:t>
            </a:r>
            <a:r>
              <a:rPr sz="3200" b="1" spc="-55" dirty="0">
                <a:solidFill>
                  <a:srgbClr val="FF0000"/>
                </a:solidFill>
                <a:latin typeface="Times New Roman"/>
                <a:cs typeface="Times New Roman"/>
              </a:rPr>
              <a:t> </a:t>
            </a:r>
            <a:r>
              <a:rPr sz="3200" b="1" spc="-6" dirty="0">
                <a:solidFill>
                  <a:srgbClr val="FF0000"/>
                </a:solidFill>
                <a:latin typeface="Times New Roman"/>
                <a:cs typeface="Times New Roman"/>
              </a:rPr>
              <a:t>both</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of</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the</a:t>
            </a:r>
            <a:r>
              <a:rPr sz="3200" b="1" spc="6" dirty="0">
                <a:solidFill>
                  <a:srgbClr val="FF0000"/>
                </a:solidFill>
                <a:latin typeface="Times New Roman"/>
                <a:cs typeface="Times New Roman"/>
              </a:rPr>
              <a:t> </a:t>
            </a:r>
            <a:r>
              <a:rPr sz="3200" b="1" spc="-6" dirty="0">
                <a:solidFill>
                  <a:srgbClr val="FF0000"/>
                </a:solidFill>
                <a:latin typeface="Times New Roman"/>
                <a:cs typeface="Times New Roman"/>
              </a:rPr>
              <a:t>following</a:t>
            </a:r>
            <a:r>
              <a:rPr sz="3200" b="1" dirty="0">
                <a:solidFill>
                  <a:srgbClr val="FF0000"/>
                </a:solidFill>
                <a:latin typeface="Times New Roman"/>
                <a:cs typeface="Times New Roman"/>
              </a:rPr>
              <a:t> parameters</a:t>
            </a:r>
            <a:r>
              <a:rPr sz="3200" b="1" spc="-17" dirty="0">
                <a:solidFill>
                  <a:srgbClr val="FF0000"/>
                </a:solidFill>
                <a:latin typeface="Times New Roman"/>
                <a:cs typeface="Times New Roman"/>
              </a:rPr>
              <a:t> </a:t>
            </a:r>
            <a:r>
              <a:rPr sz="3200" b="1" spc="-6" dirty="0">
                <a:solidFill>
                  <a:srgbClr val="FF0000"/>
                </a:solidFill>
                <a:latin typeface="Times New Roman"/>
                <a:cs typeface="Times New Roman"/>
              </a:rPr>
              <a:t>must</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also</a:t>
            </a:r>
            <a:r>
              <a:rPr sz="3200" b="1" spc="6" dirty="0">
                <a:solidFill>
                  <a:srgbClr val="FF0000"/>
                </a:solidFill>
                <a:latin typeface="Times New Roman"/>
                <a:cs typeface="Times New Roman"/>
              </a:rPr>
              <a:t> </a:t>
            </a:r>
            <a:r>
              <a:rPr sz="3200" b="1" spc="-11" dirty="0">
                <a:solidFill>
                  <a:srgbClr val="FF0000"/>
                </a:solidFill>
                <a:latin typeface="Times New Roman"/>
                <a:cs typeface="Times New Roman"/>
              </a:rPr>
              <a:t>be</a:t>
            </a:r>
            <a:r>
              <a:rPr sz="3200" b="1" dirty="0">
                <a:solidFill>
                  <a:srgbClr val="FF0000"/>
                </a:solidFill>
                <a:latin typeface="Times New Roman"/>
                <a:cs typeface="Times New Roman"/>
              </a:rPr>
              <a:t> </a:t>
            </a:r>
            <a:r>
              <a:rPr sz="3200" b="1" spc="-6" dirty="0">
                <a:solidFill>
                  <a:srgbClr val="FF0000"/>
                </a:solidFill>
                <a:latin typeface="Times New Roman"/>
                <a:cs typeface="Times New Roman"/>
              </a:rPr>
              <a:t>used</a:t>
            </a:r>
            <a:r>
              <a:rPr sz="3200" b="1" spc="-6" dirty="0">
                <a:latin typeface="Times New Roman"/>
                <a:cs typeface="Times New Roman"/>
              </a:rPr>
              <a:t>:</a:t>
            </a:r>
            <a:endParaRPr sz="3200" dirty="0">
              <a:latin typeface="Times New Roman"/>
              <a:cs typeface="Times New Roman"/>
            </a:endParaRPr>
          </a:p>
          <a:p>
            <a:pPr marL="927699" marR="844852" lvl="1" indent="-457200">
              <a:lnSpc>
                <a:spcPts val="2855"/>
              </a:lnSpc>
              <a:spcBef>
                <a:spcPts val="711"/>
              </a:spcBef>
              <a:buClr>
                <a:srgbClr val="D24717"/>
              </a:buClr>
              <a:buSzPct val="85416"/>
              <a:buFont typeface="Wingdings" panose="05000000000000000000" pitchFamily="2" charset="2"/>
              <a:buChar char="ü"/>
              <a:tabLst>
                <a:tab pos="315682" algn="l"/>
                <a:tab pos="316382" algn="l"/>
              </a:tabLst>
            </a:pPr>
            <a:r>
              <a:rPr sz="3200" b="1" dirty="0">
                <a:solidFill>
                  <a:srgbClr val="FF0000"/>
                </a:solidFill>
                <a:latin typeface="Times New Roman"/>
                <a:cs typeface="Times New Roman"/>
              </a:rPr>
              <a:t>ip-address:</a:t>
            </a:r>
            <a:r>
              <a:rPr sz="3200" b="1" spc="-39" dirty="0">
                <a:solidFill>
                  <a:srgbClr val="FF0000"/>
                </a:solidFill>
                <a:latin typeface="Times New Roman"/>
                <a:cs typeface="Times New Roman"/>
              </a:rPr>
              <a:t> </a:t>
            </a:r>
            <a:r>
              <a:rPr sz="3200" spc="-11" dirty="0">
                <a:latin typeface="Times New Roman"/>
                <a:cs typeface="Times New Roman"/>
              </a:rPr>
              <a:t>Commonly</a:t>
            </a:r>
            <a:r>
              <a:rPr sz="3200" spc="22" dirty="0">
                <a:latin typeface="Times New Roman"/>
                <a:cs typeface="Times New Roman"/>
              </a:rPr>
              <a:t> </a:t>
            </a:r>
            <a:r>
              <a:rPr sz="3200" dirty="0">
                <a:latin typeface="Times New Roman"/>
                <a:cs typeface="Times New Roman"/>
              </a:rPr>
              <a:t>referred</a:t>
            </a:r>
            <a:r>
              <a:rPr sz="3200" spc="-17" dirty="0">
                <a:latin typeface="Times New Roman"/>
                <a:cs typeface="Times New Roman"/>
              </a:rPr>
              <a:t> </a:t>
            </a:r>
            <a:r>
              <a:rPr sz="3200" dirty="0">
                <a:latin typeface="Times New Roman"/>
                <a:cs typeface="Times New Roman"/>
              </a:rPr>
              <a:t>to</a:t>
            </a:r>
            <a:r>
              <a:rPr sz="3200" spc="-17" dirty="0">
                <a:latin typeface="Times New Roman"/>
                <a:cs typeface="Times New Roman"/>
              </a:rPr>
              <a:t> </a:t>
            </a:r>
            <a:r>
              <a:rPr sz="3200" spc="-6" dirty="0">
                <a:latin typeface="Times New Roman"/>
                <a:cs typeface="Times New Roman"/>
              </a:rPr>
              <a:t>as</a:t>
            </a:r>
            <a:r>
              <a:rPr sz="3200" dirty="0">
                <a:latin typeface="Times New Roman"/>
                <a:cs typeface="Times New Roman"/>
              </a:rPr>
              <a:t> the</a:t>
            </a:r>
            <a:r>
              <a:rPr sz="3200" spc="-33" dirty="0">
                <a:latin typeface="Times New Roman"/>
                <a:cs typeface="Times New Roman"/>
              </a:rPr>
              <a:t> </a:t>
            </a:r>
            <a:r>
              <a:rPr sz="3200" dirty="0">
                <a:latin typeface="Times New Roman"/>
                <a:cs typeface="Times New Roman"/>
              </a:rPr>
              <a:t>next-hop</a:t>
            </a:r>
            <a:r>
              <a:rPr sz="3200" spc="-17" dirty="0">
                <a:latin typeface="Times New Roman"/>
                <a:cs typeface="Times New Roman"/>
              </a:rPr>
              <a:t> </a:t>
            </a:r>
            <a:r>
              <a:rPr sz="3200" spc="-6" dirty="0">
                <a:latin typeface="Times New Roman"/>
                <a:cs typeface="Times New Roman"/>
              </a:rPr>
              <a:t>router‘s</a:t>
            </a:r>
            <a:r>
              <a:rPr sz="3200" spc="-33" dirty="0">
                <a:latin typeface="Times New Roman"/>
                <a:cs typeface="Times New Roman"/>
              </a:rPr>
              <a:t> </a:t>
            </a:r>
            <a:r>
              <a:rPr sz="3200" dirty="0">
                <a:latin typeface="Times New Roman"/>
                <a:cs typeface="Times New Roman"/>
              </a:rPr>
              <a:t>IP </a:t>
            </a:r>
            <a:r>
              <a:rPr sz="3200" spc="-645" dirty="0">
                <a:latin typeface="Times New Roman"/>
                <a:cs typeface="Times New Roman"/>
              </a:rPr>
              <a:t> </a:t>
            </a:r>
            <a:r>
              <a:rPr sz="3200" dirty="0">
                <a:latin typeface="Times New Roman"/>
                <a:cs typeface="Times New Roman"/>
              </a:rPr>
              <a:t>address.</a:t>
            </a:r>
          </a:p>
          <a:p>
            <a:pPr marL="927699" marR="5600" lvl="1" indent="-457200">
              <a:lnSpc>
                <a:spcPts val="2855"/>
              </a:lnSpc>
              <a:spcBef>
                <a:spcPts val="661"/>
              </a:spcBef>
              <a:buClr>
                <a:srgbClr val="D24717"/>
              </a:buClr>
              <a:buSzPct val="85416"/>
              <a:buFont typeface="Wingdings" panose="05000000000000000000" pitchFamily="2" charset="2"/>
              <a:buChar char="ü"/>
              <a:tabLst>
                <a:tab pos="315682" algn="l"/>
                <a:tab pos="316382" algn="l"/>
              </a:tabLst>
            </a:pPr>
            <a:r>
              <a:rPr sz="3200" b="1" i="1" dirty="0">
                <a:solidFill>
                  <a:srgbClr val="FF0000"/>
                </a:solidFill>
                <a:latin typeface="Times New Roman"/>
                <a:cs typeface="Times New Roman"/>
              </a:rPr>
              <a:t>exit-interface:</a:t>
            </a:r>
            <a:r>
              <a:rPr sz="3200" b="1" i="1" spc="-66" dirty="0">
                <a:solidFill>
                  <a:srgbClr val="FF0000"/>
                </a:solidFill>
                <a:latin typeface="Times New Roman"/>
                <a:cs typeface="Times New Roman"/>
              </a:rPr>
              <a:t> </a:t>
            </a:r>
            <a:r>
              <a:rPr sz="3200" dirty="0">
                <a:latin typeface="Times New Roman"/>
                <a:cs typeface="Times New Roman"/>
              </a:rPr>
              <a:t>Outgoing</a:t>
            </a:r>
            <a:r>
              <a:rPr sz="3200" spc="-11" dirty="0">
                <a:latin typeface="Times New Roman"/>
                <a:cs typeface="Times New Roman"/>
              </a:rPr>
              <a:t> </a:t>
            </a:r>
            <a:r>
              <a:rPr sz="3200" dirty="0">
                <a:latin typeface="Times New Roman"/>
                <a:cs typeface="Times New Roman"/>
              </a:rPr>
              <a:t>interface</a:t>
            </a:r>
            <a:r>
              <a:rPr sz="3200" spc="-55" dirty="0">
                <a:latin typeface="Times New Roman"/>
                <a:cs typeface="Times New Roman"/>
              </a:rPr>
              <a:t> </a:t>
            </a:r>
            <a:r>
              <a:rPr sz="3200" dirty="0">
                <a:latin typeface="Times New Roman"/>
                <a:cs typeface="Times New Roman"/>
              </a:rPr>
              <a:t>that</a:t>
            </a:r>
            <a:r>
              <a:rPr sz="3200" spc="-28" dirty="0">
                <a:latin typeface="Times New Roman"/>
                <a:cs typeface="Times New Roman"/>
              </a:rPr>
              <a:t> </a:t>
            </a:r>
            <a:r>
              <a:rPr sz="3200" dirty="0">
                <a:latin typeface="Times New Roman"/>
                <a:cs typeface="Times New Roman"/>
              </a:rPr>
              <a:t>would</a:t>
            </a:r>
            <a:r>
              <a:rPr sz="3200" spc="-11" dirty="0">
                <a:latin typeface="Times New Roman"/>
                <a:cs typeface="Times New Roman"/>
              </a:rPr>
              <a:t> </a:t>
            </a:r>
            <a:r>
              <a:rPr sz="3200" dirty="0">
                <a:latin typeface="Times New Roman"/>
                <a:cs typeface="Times New Roman"/>
              </a:rPr>
              <a:t>be</a:t>
            </a:r>
            <a:r>
              <a:rPr sz="3200" spc="-22" dirty="0">
                <a:latin typeface="Times New Roman"/>
                <a:cs typeface="Times New Roman"/>
              </a:rPr>
              <a:t> </a:t>
            </a:r>
            <a:r>
              <a:rPr sz="3200" dirty="0">
                <a:latin typeface="Times New Roman"/>
                <a:cs typeface="Times New Roman"/>
              </a:rPr>
              <a:t>used</a:t>
            </a:r>
            <a:r>
              <a:rPr sz="3200" spc="-11" dirty="0">
                <a:latin typeface="Times New Roman"/>
                <a:cs typeface="Times New Roman"/>
              </a:rPr>
              <a:t> </a:t>
            </a:r>
            <a:r>
              <a:rPr sz="3200" dirty="0">
                <a:latin typeface="Times New Roman"/>
                <a:cs typeface="Times New Roman"/>
              </a:rPr>
              <a:t>in</a:t>
            </a:r>
            <a:r>
              <a:rPr sz="3200" spc="-22" dirty="0">
                <a:latin typeface="Times New Roman"/>
                <a:cs typeface="Times New Roman"/>
              </a:rPr>
              <a:t> </a:t>
            </a:r>
            <a:r>
              <a:rPr sz="3200" dirty="0">
                <a:latin typeface="Times New Roman"/>
                <a:cs typeface="Times New Roman"/>
              </a:rPr>
              <a:t>forwarding </a:t>
            </a:r>
            <a:r>
              <a:rPr sz="3200" spc="-645" dirty="0">
                <a:latin typeface="Times New Roman"/>
                <a:cs typeface="Times New Roman"/>
              </a:rPr>
              <a:t> </a:t>
            </a:r>
            <a:r>
              <a:rPr sz="3200" dirty="0">
                <a:latin typeface="Times New Roman"/>
                <a:cs typeface="Times New Roman"/>
              </a:rPr>
              <a:t>packets</a:t>
            </a:r>
            <a:r>
              <a:rPr sz="3200" spc="-39" dirty="0">
                <a:latin typeface="Times New Roman"/>
                <a:cs typeface="Times New Roman"/>
              </a:rPr>
              <a:t> </a:t>
            </a:r>
            <a:r>
              <a:rPr sz="3200" dirty="0">
                <a:latin typeface="Times New Roman"/>
                <a:cs typeface="Times New Roman"/>
              </a:rPr>
              <a:t>to</a:t>
            </a:r>
            <a:r>
              <a:rPr sz="3200" spc="-11"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destination</a:t>
            </a:r>
            <a:r>
              <a:rPr sz="3200" spc="-55" dirty="0">
                <a:latin typeface="Times New Roman"/>
                <a:cs typeface="Times New Roman"/>
              </a:rPr>
              <a:t> </a:t>
            </a:r>
            <a:r>
              <a:rPr sz="3200" dirty="0">
                <a:latin typeface="Times New Roman"/>
                <a:cs typeface="Times New Roman"/>
              </a:rPr>
              <a:t>network.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14" y="129199"/>
            <a:ext cx="9660518" cy="1367646"/>
          </a:xfrm>
          <a:prstGeom prst="rect">
            <a:avLst/>
          </a:prstGeom>
        </p:spPr>
        <p:txBody>
          <a:bodyPr vert="horz" wrap="square" lIns="0" tIns="13299" rIns="0" bIns="0" rtlCol="0" anchor="ctr">
            <a:spAutoFit/>
          </a:bodyPr>
          <a:lstStyle/>
          <a:p>
            <a:pPr marL="13999">
              <a:lnSpc>
                <a:spcPct val="100000"/>
              </a:lnSpc>
              <a:spcBef>
                <a:spcPts val="105"/>
              </a:spcBef>
            </a:pPr>
            <a:r>
              <a:rPr b="1" spc="-6" dirty="0">
                <a:solidFill>
                  <a:schemeClr val="bg1"/>
                </a:solidFill>
                <a:latin typeface="Times New Roman" panose="02020603050405020304" pitchFamily="18" charset="0"/>
                <a:cs typeface="Times New Roman" panose="02020603050405020304" pitchFamily="18" charset="0"/>
              </a:rPr>
              <a:t>Configuring</a:t>
            </a:r>
            <a:r>
              <a:rPr b="1" spc="-17"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a</a:t>
            </a:r>
            <a:r>
              <a:rPr b="1" dirty="0">
                <a:solidFill>
                  <a:schemeClr val="bg1"/>
                </a:solidFill>
                <a:latin typeface="Times New Roman" panose="02020603050405020304" pitchFamily="18" charset="0"/>
                <a:cs typeface="Times New Roman" panose="02020603050405020304" pitchFamily="18" charset="0"/>
              </a:rPr>
              <a:t> Static</a:t>
            </a:r>
            <a:r>
              <a:rPr b="1" spc="6"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Route</a:t>
            </a:r>
            <a:r>
              <a:rPr b="1" spc="17"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with</a:t>
            </a:r>
            <a:r>
              <a:rPr b="1" spc="39"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an</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Exit</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Interface</a:t>
            </a:r>
            <a:endParaRPr b="1" dirty="0">
              <a:solidFill>
                <a:schemeClr val="bg1"/>
              </a:solidFill>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23904" y="1760146"/>
            <a:ext cx="9125138" cy="53015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5780" y="324962"/>
            <a:ext cx="7398402" cy="691244"/>
          </a:xfrm>
          <a:prstGeom prst="rect">
            <a:avLst/>
          </a:prstGeom>
        </p:spPr>
        <p:txBody>
          <a:bodyPr vert="horz" wrap="square" lIns="0" tIns="13999" rIns="0" bIns="0" rtlCol="0" anchor="ctr">
            <a:spAutoFit/>
          </a:bodyPr>
          <a:lstStyle/>
          <a:p>
            <a:pPr marL="13999">
              <a:lnSpc>
                <a:spcPct val="100000"/>
              </a:lnSpc>
              <a:spcBef>
                <a:spcPts val="110"/>
              </a:spcBef>
            </a:pPr>
            <a:r>
              <a:rPr b="1" spc="204" dirty="0">
                <a:solidFill>
                  <a:schemeClr val="bg1"/>
                </a:solidFill>
                <a:latin typeface="Times New Roman" panose="02020603050405020304" pitchFamily="18" charset="0"/>
                <a:cs typeface="Times New Roman" panose="02020603050405020304" pitchFamily="18" charset="0"/>
              </a:rPr>
              <a:t>Configuring</a:t>
            </a:r>
            <a:r>
              <a:rPr b="1" spc="72"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static</a:t>
            </a:r>
            <a:r>
              <a:rPr b="1" spc="94" dirty="0">
                <a:solidFill>
                  <a:schemeClr val="bg1"/>
                </a:solidFill>
                <a:latin typeface="Times New Roman" panose="02020603050405020304" pitchFamily="18" charset="0"/>
                <a:cs typeface="Times New Roman" panose="02020603050405020304" pitchFamily="18" charset="0"/>
              </a:rPr>
              <a:t> </a:t>
            </a:r>
            <a:r>
              <a:rPr b="1" spc="17" dirty="0">
                <a:solidFill>
                  <a:schemeClr val="bg1"/>
                </a:solidFill>
                <a:latin typeface="Times New Roman" panose="02020603050405020304" pitchFamily="18" charset="0"/>
                <a:cs typeface="Times New Roman" panose="02020603050405020304" pitchFamily="18" charset="0"/>
              </a:rPr>
              <a:t>routes</a:t>
            </a:r>
          </a:p>
        </p:txBody>
      </p:sp>
      <p:pic>
        <p:nvPicPr>
          <p:cNvPr id="4" name="object 4"/>
          <p:cNvPicPr/>
          <p:nvPr/>
        </p:nvPicPr>
        <p:blipFill>
          <a:blip r:embed="rId2" cstate="print"/>
          <a:stretch>
            <a:fillRect/>
          </a:stretch>
        </p:blipFill>
        <p:spPr>
          <a:xfrm>
            <a:off x="504508" y="1664343"/>
            <a:ext cx="9140347" cy="54646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2124" y="472620"/>
            <a:ext cx="7626300" cy="691244"/>
          </a:xfrm>
          <a:prstGeom prst="rect">
            <a:avLst/>
          </a:prstGeom>
        </p:spPr>
        <p:txBody>
          <a:bodyPr vert="horz" wrap="square" lIns="0" tIns="13999" rIns="0" bIns="0" rtlCol="0">
            <a:spAutoFit/>
          </a:bodyPr>
          <a:lstStyle/>
          <a:p>
            <a:pPr marL="13999">
              <a:spcBef>
                <a:spcPts val="110"/>
              </a:spcBef>
            </a:pPr>
            <a:r>
              <a:rPr sz="4400" b="1" spc="204" dirty="0">
                <a:solidFill>
                  <a:schemeClr val="bg1"/>
                </a:solidFill>
                <a:latin typeface="Times New Roman" panose="02020603050405020304" pitchFamily="18" charset="0"/>
                <a:cs typeface="Times New Roman" panose="02020603050405020304" pitchFamily="18" charset="0"/>
              </a:rPr>
              <a:t>Configuring</a:t>
            </a:r>
            <a:r>
              <a:rPr sz="4400" b="1" spc="72" dirty="0">
                <a:solidFill>
                  <a:schemeClr val="bg1"/>
                </a:solidFill>
                <a:latin typeface="Times New Roman" panose="02020603050405020304" pitchFamily="18" charset="0"/>
                <a:cs typeface="Times New Roman" panose="02020603050405020304" pitchFamily="18" charset="0"/>
              </a:rPr>
              <a:t> </a:t>
            </a:r>
            <a:r>
              <a:rPr sz="4400" b="1" spc="66" dirty="0">
                <a:solidFill>
                  <a:schemeClr val="bg1"/>
                </a:solidFill>
                <a:latin typeface="Times New Roman" panose="02020603050405020304" pitchFamily="18" charset="0"/>
                <a:cs typeface="Times New Roman" panose="02020603050405020304" pitchFamily="18" charset="0"/>
              </a:rPr>
              <a:t>static</a:t>
            </a:r>
            <a:r>
              <a:rPr sz="4400" b="1" spc="94" dirty="0">
                <a:solidFill>
                  <a:schemeClr val="bg1"/>
                </a:solidFill>
                <a:latin typeface="Times New Roman" panose="02020603050405020304" pitchFamily="18" charset="0"/>
                <a:cs typeface="Times New Roman" panose="02020603050405020304" pitchFamily="18" charset="0"/>
              </a:rPr>
              <a:t> </a:t>
            </a:r>
            <a:r>
              <a:rPr sz="4400" b="1" spc="17" dirty="0">
                <a:solidFill>
                  <a:schemeClr val="bg1"/>
                </a:solidFill>
                <a:latin typeface="Times New Roman" panose="02020603050405020304" pitchFamily="18" charset="0"/>
                <a:cs typeface="Times New Roman" panose="02020603050405020304" pitchFamily="18" charset="0"/>
              </a:rPr>
              <a:t>routes</a:t>
            </a:r>
            <a:endParaRPr sz="4400" dirty="0">
              <a:solidFill>
                <a:schemeClr val="bg1"/>
              </a:solidFill>
              <a:latin typeface="Times New Roman" panose="02020603050405020304" pitchFamily="18" charset="0"/>
              <a:cs typeface="Times New Roman" panose="02020603050405020304" pitchFamily="18" charset="0"/>
            </a:endParaRPr>
          </a:p>
        </p:txBody>
      </p:sp>
      <p:grpSp>
        <p:nvGrpSpPr>
          <p:cNvPr id="4" name="object 4"/>
          <p:cNvGrpSpPr/>
          <p:nvPr/>
        </p:nvGrpSpPr>
        <p:grpSpPr>
          <a:xfrm>
            <a:off x="314815" y="2186742"/>
            <a:ext cx="9765810" cy="4278451"/>
            <a:chOff x="341636" y="1066800"/>
            <a:chExt cx="8573770" cy="3505200"/>
          </a:xfrm>
        </p:grpSpPr>
        <p:pic>
          <p:nvPicPr>
            <p:cNvPr id="5" name="object 5"/>
            <p:cNvPicPr/>
            <p:nvPr/>
          </p:nvPicPr>
          <p:blipFill>
            <a:blip r:embed="rId2" cstate="print"/>
            <a:stretch>
              <a:fillRect/>
            </a:stretch>
          </p:blipFill>
          <p:spPr>
            <a:xfrm>
              <a:off x="341636" y="1104694"/>
              <a:ext cx="4220546" cy="3410464"/>
            </a:xfrm>
            <a:prstGeom prst="rect">
              <a:avLst/>
            </a:prstGeom>
          </p:spPr>
        </p:pic>
        <p:pic>
          <p:nvPicPr>
            <p:cNvPr id="6" name="object 6"/>
            <p:cNvPicPr/>
            <p:nvPr/>
          </p:nvPicPr>
          <p:blipFill>
            <a:blip r:embed="rId3" cstate="print"/>
            <a:stretch>
              <a:fillRect/>
            </a:stretch>
          </p:blipFill>
          <p:spPr>
            <a:xfrm>
              <a:off x="4343399" y="1066800"/>
              <a:ext cx="4572000" cy="3505200"/>
            </a:xfrm>
            <a:prstGeom prst="rect">
              <a:avLst/>
            </a:prstGeom>
          </p:spPr>
        </p:pic>
      </p:grpSp>
      <p:sp>
        <p:nvSpPr>
          <p:cNvPr id="7" name="object 7"/>
          <p:cNvSpPr txBox="1"/>
          <p:nvPr/>
        </p:nvSpPr>
        <p:spPr>
          <a:xfrm>
            <a:off x="3440602" y="6460206"/>
            <a:ext cx="2354891" cy="507285"/>
          </a:xfrm>
          <a:prstGeom prst="rect">
            <a:avLst/>
          </a:prstGeom>
        </p:spPr>
        <p:txBody>
          <a:bodyPr vert="horz" wrap="square" lIns="0" tIns="14699" rIns="0" bIns="0" rtlCol="0">
            <a:spAutoFit/>
          </a:bodyPr>
          <a:lstStyle/>
          <a:p>
            <a:pPr marL="13999">
              <a:spcBef>
                <a:spcPts val="116"/>
              </a:spcBef>
            </a:pPr>
            <a:r>
              <a:rPr sz="3200" spc="-83" dirty="0">
                <a:solidFill>
                  <a:srgbClr val="FF0000"/>
                </a:solidFill>
                <a:latin typeface="Times New Roman"/>
                <a:cs typeface="Times New Roman"/>
              </a:rPr>
              <a:t>Two</a:t>
            </a:r>
            <a:r>
              <a:rPr sz="3200" spc="-77" dirty="0">
                <a:solidFill>
                  <a:srgbClr val="FF0000"/>
                </a:solidFill>
                <a:latin typeface="Times New Roman"/>
                <a:cs typeface="Times New Roman"/>
              </a:rPr>
              <a:t> </a:t>
            </a:r>
            <a:r>
              <a:rPr sz="3200" dirty="0">
                <a:solidFill>
                  <a:srgbClr val="FF0000"/>
                </a:solidFill>
                <a:latin typeface="Times New Roman"/>
                <a:cs typeface="Times New Roman"/>
              </a:rPr>
              <a:t>choices.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9707" y="540972"/>
            <a:ext cx="7296766" cy="691948"/>
          </a:xfrm>
          <a:prstGeom prst="rect">
            <a:avLst/>
          </a:prstGeom>
        </p:spPr>
        <p:txBody>
          <a:bodyPr vert="horz" wrap="square" lIns="0" tIns="13299" rIns="0" bIns="0" rtlCol="0" anchor="ctr">
            <a:spAutoFit/>
          </a:bodyPr>
          <a:lstStyle/>
          <a:p>
            <a:pPr marL="13999">
              <a:lnSpc>
                <a:spcPct val="100000"/>
              </a:lnSpc>
              <a:spcBef>
                <a:spcPts val="105"/>
              </a:spcBef>
            </a:pPr>
            <a:r>
              <a:rPr lang="en-US" sz="4409" b="1" spc="639" dirty="0">
                <a:solidFill>
                  <a:schemeClr val="bg1"/>
                </a:solidFill>
                <a:latin typeface="Times New Roman" panose="02020603050405020304" pitchFamily="18" charset="0"/>
                <a:cs typeface="Times New Roman" panose="02020603050405020304" pitchFamily="18" charset="0"/>
              </a:rPr>
              <a:t>Static</a:t>
            </a:r>
            <a:r>
              <a:rPr lang="en-US" sz="4409" b="1" spc="88" dirty="0">
                <a:solidFill>
                  <a:schemeClr val="bg1"/>
                </a:solidFill>
                <a:latin typeface="Times New Roman" panose="02020603050405020304" pitchFamily="18" charset="0"/>
                <a:cs typeface="Times New Roman" panose="02020603050405020304" pitchFamily="18" charset="0"/>
              </a:rPr>
              <a:t> </a:t>
            </a:r>
            <a:r>
              <a:rPr lang="en-US" sz="4409" b="1" spc="656" dirty="0">
                <a:solidFill>
                  <a:schemeClr val="bg1"/>
                </a:solidFill>
                <a:latin typeface="Times New Roman" panose="02020603050405020304" pitchFamily="18" charset="0"/>
                <a:cs typeface="Times New Roman" panose="02020603050405020304" pitchFamily="18" charset="0"/>
              </a:rPr>
              <a:t>Routing</a:t>
            </a:r>
            <a:endParaRPr lang="en-US" sz="4409" b="1"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67426" y="1622738"/>
            <a:ext cx="9569002" cy="3785919"/>
          </a:xfrm>
          <a:prstGeom prst="rect">
            <a:avLst/>
          </a:prstGeom>
        </p:spPr>
        <p:txBody>
          <a:bodyPr vert="horz" wrap="square" lIns="0" tIns="65797" rIns="0" bIns="0" rtlCol="0">
            <a:spAutoFit/>
          </a:bodyPr>
          <a:lstStyle/>
          <a:p>
            <a:pPr marL="470499" marR="110594" indent="-457200">
              <a:lnSpc>
                <a:spcPts val="3340"/>
              </a:lnSpc>
              <a:spcBef>
                <a:spcPts val="518"/>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In</a:t>
            </a:r>
            <a:r>
              <a:rPr sz="3200" spc="-11" dirty="0">
                <a:latin typeface="Times New Roman"/>
                <a:cs typeface="Times New Roman"/>
              </a:rPr>
              <a:t> </a:t>
            </a:r>
            <a:r>
              <a:rPr sz="3200" spc="-6" dirty="0">
                <a:latin typeface="Times New Roman"/>
                <a:cs typeface="Times New Roman"/>
              </a:rPr>
              <a:t>privileged</a:t>
            </a:r>
            <a:r>
              <a:rPr sz="3200" spc="-22" dirty="0">
                <a:latin typeface="Times New Roman"/>
                <a:cs typeface="Times New Roman"/>
              </a:rPr>
              <a:t> </a:t>
            </a:r>
            <a:r>
              <a:rPr sz="3200" spc="-6" dirty="0">
                <a:latin typeface="Times New Roman"/>
                <a:cs typeface="Times New Roman"/>
              </a:rPr>
              <a:t>mode enter</a:t>
            </a:r>
            <a:r>
              <a:rPr sz="3200" dirty="0">
                <a:latin typeface="Times New Roman"/>
                <a:cs typeface="Times New Roman"/>
              </a:rPr>
              <a:t> the</a:t>
            </a:r>
            <a:r>
              <a:rPr sz="3200" spc="-11" dirty="0">
                <a:latin typeface="Times New Roman"/>
                <a:cs typeface="Times New Roman"/>
              </a:rPr>
              <a:t> command</a:t>
            </a:r>
            <a:r>
              <a:rPr sz="3200" spc="50" dirty="0">
                <a:latin typeface="Times New Roman"/>
                <a:cs typeface="Times New Roman"/>
              </a:rPr>
              <a:t> </a:t>
            </a:r>
            <a:r>
              <a:rPr sz="3200" b="1" spc="-6" dirty="0">
                <a:solidFill>
                  <a:srgbClr val="FF0000"/>
                </a:solidFill>
                <a:latin typeface="Times New Roman"/>
                <a:cs typeface="Times New Roman"/>
              </a:rPr>
              <a:t>show</a:t>
            </a:r>
            <a:r>
              <a:rPr sz="3200" b="1" spc="17" dirty="0">
                <a:solidFill>
                  <a:srgbClr val="FF0000"/>
                </a:solidFill>
                <a:latin typeface="Times New Roman"/>
                <a:cs typeface="Times New Roman"/>
              </a:rPr>
              <a:t> </a:t>
            </a:r>
            <a:r>
              <a:rPr sz="3200" b="1" dirty="0">
                <a:solidFill>
                  <a:srgbClr val="FF0000"/>
                </a:solidFill>
                <a:latin typeface="Times New Roman"/>
                <a:cs typeface="Times New Roman"/>
              </a:rPr>
              <a:t>running- </a:t>
            </a:r>
            <a:r>
              <a:rPr sz="3200" b="1" spc="-755" dirty="0">
                <a:solidFill>
                  <a:srgbClr val="FF0000"/>
                </a:solidFill>
                <a:latin typeface="Times New Roman"/>
                <a:cs typeface="Times New Roman"/>
              </a:rPr>
              <a:t> </a:t>
            </a:r>
            <a:r>
              <a:rPr sz="3200" b="1" spc="-6" dirty="0">
                <a:solidFill>
                  <a:srgbClr val="FF0000"/>
                </a:solidFill>
                <a:latin typeface="Times New Roman"/>
                <a:cs typeface="Times New Roman"/>
              </a:rPr>
              <a:t>config </a:t>
            </a:r>
            <a:r>
              <a:rPr sz="3200" spc="-6" dirty="0">
                <a:latin typeface="Times New Roman"/>
                <a:cs typeface="Times New Roman"/>
              </a:rPr>
              <a:t>to</a:t>
            </a:r>
            <a:r>
              <a:rPr sz="3200" spc="-11" dirty="0">
                <a:latin typeface="Times New Roman"/>
                <a:cs typeface="Times New Roman"/>
              </a:rPr>
              <a:t> </a:t>
            </a:r>
            <a:r>
              <a:rPr sz="3200" spc="-6" dirty="0">
                <a:latin typeface="Times New Roman"/>
                <a:cs typeface="Times New Roman"/>
              </a:rPr>
              <a:t>view </a:t>
            </a:r>
            <a:r>
              <a:rPr sz="3200" dirty="0">
                <a:latin typeface="Times New Roman"/>
                <a:cs typeface="Times New Roman"/>
              </a:rPr>
              <a:t>the</a:t>
            </a:r>
            <a:r>
              <a:rPr sz="3200" spc="-28" dirty="0">
                <a:latin typeface="Times New Roman"/>
                <a:cs typeface="Times New Roman"/>
              </a:rPr>
              <a:t> </a:t>
            </a:r>
            <a:r>
              <a:rPr sz="3200" spc="-6" dirty="0">
                <a:latin typeface="Times New Roman"/>
                <a:cs typeface="Times New Roman"/>
              </a:rPr>
              <a:t>active</a:t>
            </a:r>
            <a:r>
              <a:rPr sz="3200" spc="-11" dirty="0">
                <a:latin typeface="Times New Roman"/>
                <a:cs typeface="Times New Roman"/>
              </a:rPr>
              <a:t> </a:t>
            </a:r>
            <a:r>
              <a:rPr sz="3200" spc="-6" dirty="0">
                <a:latin typeface="Times New Roman"/>
                <a:cs typeface="Times New Roman"/>
              </a:rPr>
              <a:t>configuration.</a:t>
            </a:r>
            <a:endParaRPr sz="3200" dirty="0">
              <a:latin typeface="Times New Roman"/>
              <a:cs typeface="Times New Roman"/>
            </a:endParaRPr>
          </a:p>
          <a:p>
            <a:pPr marL="470499" marR="5600" indent="-457200">
              <a:lnSpc>
                <a:spcPct val="90000"/>
              </a:lnSpc>
              <a:spcBef>
                <a:spcPts val="606"/>
              </a:spcBef>
              <a:buClr>
                <a:srgbClr val="D24717"/>
              </a:buClr>
              <a:buSzPct val="83928"/>
              <a:buFont typeface="Wingdings" panose="05000000000000000000" pitchFamily="2" charset="2"/>
              <a:buChar char="Ø"/>
              <a:tabLst>
                <a:tab pos="316382" algn="l"/>
              </a:tabLst>
            </a:pPr>
            <a:r>
              <a:rPr sz="3200" spc="-66" dirty="0">
                <a:latin typeface="Times New Roman"/>
                <a:cs typeface="Times New Roman"/>
              </a:rPr>
              <a:t>Verify</a:t>
            </a:r>
            <a:r>
              <a:rPr sz="3200" spc="11" dirty="0">
                <a:latin typeface="Times New Roman"/>
                <a:cs typeface="Times New Roman"/>
              </a:rPr>
              <a:t> </a:t>
            </a:r>
            <a:r>
              <a:rPr sz="3200" spc="-6" dirty="0">
                <a:latin typeface="Times New Roman"/>
                <a:cs typeface="Times New Roman"/>
              </a:rPr>
              <a:t>that</a:t>
            </a:r>
            <a:r>
              <a:rPr sz="3200" spc="-11" dirty="0">
                <a:latin typeface="Times New Roman"/>
                <a:cs typeface="Times New Roman"/>
              </a:rPr>
              <a:t> </a:t>
            </a:r>
            <a:r>
              <a:rPr sz="3200" dirty="0">
                <a:latin typeface="Times New Roman"/>
                <a:cs typeface="Times New Roman"/>
              </a:rPr>
              <a:t>the</a:t>
            </a:r>
            <a:r>
              <a:rPr sz="3200" spc="-6" dirty="0">
                <a:latin typeface="Times New Roman"/>
                <a:cs typeface="Times New Roman"/>
              </a:rPr>
              <a:t> static</a:t>
            </a:r>
            <a:r>
              <a:rPr sz="3200" spc="-11" dirty="0">
                <a:latin typeface="Times New Roman"/>
                <a:cs typeface="Times New Roman"/>
              </a:rPr>
              <a:t> </a:t>
            </a:r>
            <a:r>
              <a:rPr sz="3200" dirty="0">
                <a:latin typeface="Times New Roman"/>
                <a:cs typeface="Times New Roman"/>
              </a:rPr>
              <a:t>route</a:t>
            </a:r>
            <a:r>
              <a:rPr sz="3200" spc="-22"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been</a:t>
            </a:r>
            <a:r>
              <a:rPr sz="3200" dirty="0">
                <a:latin typeface="Times New Roman"/>
                <a:cs typeface="Times New Roman"/>
              </a:rPr>
              <a:t> </a:t>
            </a:r>
            <a:r>
              <a:rPr sz="3200" spc="-6" dirty="0">
                <a:latin typeface="Times New Roman"/>
                <a:cs typeface="Times New Roman"/>
              </a:rPr>
              <a:t>correctly entered.</a:t>
            </a:r>
            <a:r>
              <a:rPr sz="3200" spc="11" dirty="0">
                <a:latin typeface="Times New Roman"/>
                <a:cs typeface="Times New Roman"/>
              </a:rPr>
              <a:t> </a:t>
            </a:r>
            <a:r>
              <a:rPr sz="3200" spc="-6" dirty="0">
                <a:latin typeface="Times New Roman"/>
                <a:cs typeface="Times New Roman"/>
              </a:rPr>
              <a:t>If </a:t>
            </a:r>
            <a:r>
              <a:rPr sz="3200" spc="-755" dirty="0">
                <a:latin typeface="Times New Roman"/>
                <a:cs typeface="Times New Roman"/>
              </a:rPr>
              <a:t> </a:t>
            </a:r>
            <a:r>
              <a:rPr sz="3200" dirty="0">
                <a:latin typeface="Times New Roman"/>
                <a:cs typeface="Times New Roman"/>
              </a:rPr>
              <a:t>the route </a:t>
            </a:r>
            <a:r>
              <a:rPr sz="3200" spc="-6" dirty="0">
                <a:latin typeface="Times New Roman"/>
                <a:cs typeface="Times New Roman"/>
              </a:rPr>
              <a:t>is </a:t>
            </a:r>
            <a:r>
              <a:rPr sz="3200" dirty="0">
                <a:latin typeface="Times New Roman"/>
                <a:cs typeface="Times New Roman"/>
              </a:rPr>
              <a:t>not </a:t>
            </a:r>
            <a:r>
              <a:rPr sz="3200" spc="-6" dirty="0">
                <a:latin typeface="Times New Roman"/>
                <a:cs typeface="Times New Roman"/>
              </a:rPr>
              <a:t>correct, it will </a:t>
            </a:r>
            <a:r>
              <a:rPr sz="3200" dirty="0">
                <a:latin typeface="Times New Roman"/>
                <a:cs typeface="Times New Roman"/>
              </a:rPr>
              <a:t>be </a:t>
            </a:r>
            <a:r>
              <a:rPr sz="3200" spc="-6" dirty="0">
                <a:latin typeface="Times New Roman"/>
                <a:cs typeface="Times New Roman"/>
              </a:rPr>
              <a:t>necessary to go back </a:t>
            </a:r>
            <a:r>
              <a:rPr sz="3200" dirty="0">
                <a:latin typeface="Times New Roman"/>
                <a:cs typeface="Times New Roman"/>
              </a:rPr>
              <a:t> </a:t>
            </a:r>
            <a:r>
              <a:rPr sz="3200" spc="-6" dirty="0">
                <a:latin typeface="Times New Roman"/>
                <a:cs typeface="Times New Roman"/>
              </a:rPr>
              <a:t>into </a:t>
            </a:r>
            <a:r>
              <a:rPr sz="3200" dirty="0">
                <a:latin typeface="Times New Roman"/>
                <a:cs typeface="Times New Roman"/>
              </a:rPr>
              <a:t>global </a:t>
            </a:r>
            <a:r>
              <a:rPr sz="3200" spc="-6" dirty="0">
                <a:latin typeface="Times New Roman"/>
                <a:cs typeface="Times New Roman"/>
              </a:rPr>
              <a:t>configuration mode to remove </a:t>
            </a:r>
            <a:r>
              <a:rPr sz="3200" dirty="0">
                <a:latin typeface="Times New Roman"/>
                <a:cs typeface="Times New Roman"/>
              </a:rPr>
              <a:t>the </a:t>
            </a:r>
            <a:r>
              <a:rPr sz="3200" spc="-6" dirty="0">
                <a:latin typeface="Times New Roman"/>
                <a:cs typeface="Times New Roman"/>
              </a:rPr>
              <a:t>incorrect </a:t>
            </a:r>
            <a:r>
              <a:rPr sz="3200" dirty="0">
                <a:latin typeface="Times New Roman"/>
                <a:cs typeface="Times New Roman"/>
              </a:rPr>
              <a:t> </a:t>
            </a:r>
            <a:r>
              <a:rPr sz="3200" spc="-6" dirty="0">
                <a:latin typeface="Times New Roman"/>
                <a:cs typeface="Times New Roman"/>
              </a:rPr>
              <a:t>static</a:t>
            </a:r>
            <a:r>
              <a:rPr sz="3200" spc="-39" dirty="0">
                <a:latin typeface="Times New Roman"/>
                <a:cs typeface="Times New Roman"/>
              </a:rPr>
              <a:t> </a:t>
            </a:r>
            <a:r>
              <a:rPr sz="3200" dirty="0">
                <a:latin typeface="Times New Roman"/>
                <a:cs typeface="Times New Roman"/>
              </a:rPr>
              <a:t>route</a:t>
            </a:r>
            <a:r>
              <a:rPr sz="3200" spc="-28" dirty="0">
                <a:latin typeface="Times New Roman"/>
                <a:cs typeface="Times New Roman"/>
              </a:rPr>
              <a:t> </a:t>
            </a:r>
            <a:r>
              <a:rPr sz="3200" spc="-6" dirty="0">
                <a:latin typeface="Times New Roman"/>
                <a:cs typeface="Times New Roman"/>
              </a:rPr>
              <a:t>and enter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correct one.</a:t>
            </a:r>
            <a:endParaRPr sz="3200" dirty="0">
              <a:latin typeface="Times New Roman"/>
              <a:cs typeface="Times New Roman"/>
            </a:endParaRPr>
          </a:p>
          <a:p>
            <a:pPr marL="471199" indent="-457200">
              <a:spcBef>
                <a:spcPts val="292"/>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Enter</a:t>
            </a:r>
            <a:r>
              <a:rPr sz="3200" spc="-11" dirty="0">
                <a:latin typeface="Times New Roman"/>
                <a:cs typeface="Times New Roman"/>
              </a:rPr>
              <a:t> </a:t>
            </a:r>
            <a:r>
              <a:rPr sz="3200" dirty="0">
                <a:latin typeface="Times New Roman"/>
                <a:cs typeface="Times New Roman"/>
              </a:rPr>
              <a:t>the</a:t>
            </a:r>
            <a:r>
              <a:rPr sz="3200" spc="-28" dirty="0">
                <a:latin typeface="Times New Roman"/>
                <a:cs typeface="Times New Roman"/>
              </a:rPr>
              <a:t> </a:t>
            </a:r>
            <a:r>
              <a:rPr sz="3200" spc="-11" dirty="0">
                <a:latin typeface="Times New Roman"/>
                <a:cs typeface="Times New Roman"/>
              </a:rPr>
              <a:t>command</a:t>
            </a:r>
            <a:r>
              <a:rPr sz="3200" spc="33" dirty="0">
                <a:latin typeface="Times New Roman"/>
                <a:cs typeface="Times New Roman"/>
              </a:rPr>
              <a:t> </a:t>
            </a:r>
            <a:r>
              <a:rPr sz="3200" b="1" spc="-6" dirty="0">
                <a:solidFill>
                  <a:srgbClr val="FF0000"/>
                </a:solidFill>
                <a:latin typeface="Times New Roman"/>
                <a:cs typeface="Times New Roman"/>
              </a:rPr>
              <a:t>show</a:t>
            </a:r>
            <a:r>
              <a:rPr sz="3200" b="1" spc="11" dirty="0">
                <a:solidFill>
                  <a:srgbClr val="FF0000"/>
                </a:solidFill>
                <a:latin typeface="Times New Roman"/>
                <a:cs typeface="Times New Roman"/>
              </a:rPr>
              <a:t> </a:t>
            </a:r>
            <a:r>
              <a:rPr sz="3200" b="1" spc="-6" dirty="0" err="1">
                <a:solidFill>
                  <a:srgbClr val="FF0000"/>
                </a:solidFill>
                <a:latin typeface="Times New Roman"/>
                <a:cs typeface="Times New Roman"/>
              </a:rPr>
              <a:t>ip</a:t>
            </a:r>
            <a:r>
              <a:rPr sz="3200" b="1" dirty="0">
                <a:solidFill>
                  <a:srgbClr val="FF0000"/>
                </a:solidFill>
                <a:latin typeface="Times New Roman"/>
                <a:cs typeface="Times New Roman"/>
              </a:rPr>
              <a:t> </a:t>
            </a:r>
            <a:r>
              <a:rPr sz="3200" b="1" spc="-17" dirty="0">
                <a:solidFill>
                  <a:srgbClr val="FF0000"/>
                </a:solidFill>
                <a:latin typeface="Times New Roman"/>
                <a:cs typeface="Times New Roman"/>
              </a:rPr>
              <a:t>route</a:t>
            </a:r>
            <a:r>
              <a:rPr lang="en-US" sz="3200" b="1" spc="-17" dirty="0">
                <a:solidFill>
                  <a:srgbClr val="FF0000"/>
                </a:solidFill>
                <a:latin typeface="Times New Roman"/>
                <a:cs typeface="Times New Roman"/>
              </a:rPr>
              <a:t> </a:t>
            </a:r>
            <a:r>
              <a:rPr lang="en-US" sz="3200" spc="-66" dirty="0">
                <a:latin typeface="Times New Roman"/>
                <a:cs typeface="Times New Roman"/>
              </a:rPr>
              <a:t>command to v</a:t>
            </a:r>
            <a:r>
              <a:rPr sz="3200" spc="-66" dirty="0">
                <a:latin typeface="Times New Roman"/>
                <a:cs typeface="Times New Roman"/>
              </a:rPr>
              <a:t>erify</a:t>
            </a:r>
            <a:r>
              <a:rPr sz="3200" spc="11" dirty="0">
                <a:latin typeface="Times New Roman"/>
                <a:cs typeface="Times New Roman"/>
              </a:rPr>
              <a:t> </a:t>
            </a:r>
            <a:r>
              <a:rPr sz="3200" spc="-6" dirty="0">
                <a:latin typeface="Times New Roman"/>
                <a:cs typeface="Times New Roman"/>
              </a:rPr>
              <a:t>that</a:t>
            </a:r>
            <a:r>
              <a:rPr sz="3200" spc="-11"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dirty="0">
                <a:latin typeface="Times New Roman"/>
                <a:cs typeface="Times New Roman"/>
              </a:rPr>
              <a:t>route</a:t>
            </a:r>
            <a:r>
              <a:rPr sz="3200" spc="-28" dirty="0">
                <a:latin typeface="Times New Roman"/>
                <a:cs typeface="Times New Roman"/>
              </a:rPr>
              <a:t> </a:t>
            </a:r>
            <a:r>
              <a:rPr sz="3200" spc="-6" dirty="0">
                <a:latin typeface="Times New Roman"/>
                <a:cs typeface="Times New Roman"/>
              </a:rPr>
              <a:t>that</a:t>
            </a:r>
            <a:r>
              <a:rPr sz="3200" dirty="0">
                <a:latin typeface="Times New Roman"/>
                <a:cs typeface="Times New Roman"/>
              </a:rPr>
              <a:t> </a:t>
            </a:r>
            <a:r>
              <a:rPr sz="3200" spc="-11" dirty="0">
                <a:latin typeface="Times New Roman"/>
                <a:cs typeface="Times New Roman"/>
              </a:rPr>
              <a:t>was</a:t>
            </a:r>
            <a:r>
              <a:rPr sz="3200" dirty="0">
                <a:latin typeface="Times New Roman"/>
                <a:cs typeface="Times New Roman"/>
              </a:rPr>
              <a:t> </a:t>
            </a:r>
            <a:r>
              <a:rPr sz="3200" spc="-6" dirty="0">
                <a:latin typeface="Times New Roman"/>
                <a:cs typeface="Times New Roman"/>
              </a:rPr>
              <a:t>configured</a:t>
            </a:r>
            <a:r>
              <a:rPr sz="3200" spc="-11" dirty="0">
                <a:latin typeface="Times New Roman"/>
                <a:cs typeface="Times New Roman"/>
              </a:rPr>
              <a:t> </a:t>
            </a:r>
            <a:r>
              <a:rPr sz="3200" spc="-6" dirty="0">
                <a:latin typeface="Times New Roman"/>
                <a:cs typeface="Times New Roman"/>
              </a:rPr>
              <a:t>is in</a:t>
            </a:r>
            <a:r>
              <a:rPr sz="3200" dirty="0">
                <a:latin typeface="Times New Roman"/>
                <a:cs typeface="Times New Roman"/>
              </a:rPr>
              <a:t> the </a:t>
            </a:r>
            <a:r>
              <a:rPr sz="3200" spc="-755" dirty="0">
                <a:latin typeface="Times New Roman"/>
                <a:cs typeface="Times New Roman"/>
              </a:rPr>
              <a:t> </a:t>
            </a:r>
            <a:r>
              <a:rPr sz="3200" dirty="0">
                <a:latin typeface="Times New Roman"/>
                <a:cs typeface="Times New Roman"/>
              </a:rPr>
              <a:t>routing</a:t>
            </a:r>
            <a:r>
              <a:rPr sz="3200" spc="-44" dirty="0">
                <a:latin typeface="Times New Roman"/>
                <a:cs typeface="Times New Roman"/>
              </a:rPr>
              <a:t> </a:t>
            </a:r>
            <a:r>
              <a:rPr sz="3200" spc="-6" dirty="0">
                <a:latin typeface="Times New Roman"/>
                <a:cs typeface="Times New Roman"/>
              </a:rPr>
              <a:t>table.</a:t>
            </a:r>
            <a:endParaRPr sz="320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3457" y="454462"/>
            <a:ext cx="7807969" cy="691244"/>
          </a:xfrm>
          <a:prstGeom prst="rect">
            <a:avLst/>
          </a:prstGeom>
        </p:spPr>
        <p:txBody>
          <a:bodyPr vert="horz" wrap="square" lIns="0" tIns="13999" rIns="0" bIns="0" rtlCol="0" anchor="ctr">
            <a:spAutoFit/>
          </a:bodyPr>
          <a:lstStyle/>
          <a:p>
            <a:pPr marL="13999">
              <a:lnSpc>
                <a:spcPct val="100000"/>
              </a:lnSpc>
              <a:spcBef>
                <a:spcPts val="110"/>
              </a:spcBef>
            </a:pPr>
            <a:r>
              <a:rPr b="1" spc="204" dirty="0">
                <a:solidFill>
                  <a:schemeClr val="bg1"/>
                </a:solidFill>
                <a:latin typeface="Times New Roman" panose="02020603050405020304" pitchFamily="18" charset="0"/>
                <a:cs typeface="Times New Roman" panose="02020603050405020304" pitchFamily="18" charset="0"/>
              </a:rPr>
              <a:t>Configuring</a:t>
            </a:r>
            <a:r>
              <a:rPr b="1" spc="72"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static</a:t>
            </a:r>
            <a:r>
              <a:rPr b="1" spc="94" dirty="0">
                <a:solidFill>
                  <a:schemeClr val="bg1"/>
                </a:solidFill>
                <a:latin typeface="Times New Roman" panose="02020603050405020304" pitchFamily="18" charset="0"/>
                <a:cs typeface="Times New Roman" panose="02020603050405020304" pitchFamily="18" charset="0"/>
              </a:rPr>
              <a:t> </a:t>
            </a:r>
            <a:r>
              <a:rPr b="1" spc="17" dirty="0">
                <a:solidFill>
                  <a:schemeClr val="bg1"/>
                </a:solidFill>
                <a:latin typeface="Times New Roman" panose="02020603050405020304" pitchFamily="18" charset="0"/>
                <a:cs typeface="Times New Roman" panose="02020603050405020304" pitchFamily="18" charset="0"/>
              </a:rPr>
              <a:t>routes</a:t>
            </a:r>
          </a:p>
        </p:txBody>
      </p:sp>
      <p:grpSp>
        <p:nvGrpSpPr>
          <p:cNvPr id="4" name="object 4"/>
          <p:cNvGrpSpPr/>
          <p:nvPr/>
        </p:nvGrpSpPr>
        <p:grpSpPr>
          <a:xfrm>
            <a:off x="4451952" y="3007601"/>
            <a:ext cx="2484193" cy="363984"/>
            <a:chOff x="4038250" y="1384831"/>
            <a:chExt cx="2253615" cy="330200"/>
          </a:xfrm>
        </p:grpSpPr>
        <p:sp>
          <p:nvSpPr>
            <p:cNvPr id="5" name="object 5"/>
            <p:cNvSpPr/>
            <p:nvPr/>
          </p:nvSpPr>
          <p:spPr>
            <a:xfrm>
              <a:off x="4038244" y="1481315"/>
              <a:ext cx="904240" cy="233679"/>
            </a:xfrm>
            <a:custGeom>
              <a:avLst/>
              <a:gdLst/>
              <a:ahLst/>
              <a:cxnLst/>
              <a:rect l="l" t="t" r="r" b="b"/>
              <a:pathLst>
                <a:path w="904239" h="233680">
                  <a:moveTo>
                    <a:pt x="903770" y="0"/>
                  </a:moveTo>
                  <a:lnTo>
                    <a:pt x="0" y="0"/>
                  </a:lnTo>
                  <a:lnTo>
                    <a:pt x="0" y="136829"/>
                  </a:lnTo>
                  <a:lnTo>
                    <a:pt x="22479" y="168694"/>
                  </a:lnTo>
                  <a:lnTo>
                    <a:pt x="85318" y="195351"/>
                  </a:lnTo>
                  <a:lnTo>
                    <a:pt x="129692" y="206387"/>
                  </a:lnTo>
                  <a:lnTo>
                    <a:pt x="181571" y="215709"/>
                  </a:lnTo>
                  <a:lnTo>
                    <a:pt x="240068" y="223202"/>
                  </a:lnTo>
                  <a:lnTo>
                    <a:pt x="304317" y="228714"/>
                  </a:lnTo>
                  <a:lnTo>
                    <a:pt x="373468" y="232117"/>
                  </a:lnTo>
                  <a:lnTo>
                    <a:pt x="446646" y="233286"/>
                  </a:lnTo>
                  <a:lnTo>
                    <a:pt x="522592" y="232117"/>
                  </a:lnTo>
                  <a:lnTo>
                    <a:pt x="593979" y="228714"/>
                  </a:lnTo>
                  <a:lnTo>
                    <a:pt x="659980" y="223202"/>
                  </a:lnTo>
                  <a:lnTo>
                    <a:pt x="719810" y="215709"/>
                  </a:lnTo>
                  <a:lnTo>
                    <a:pt x="772629" y="206387"/>
                  </a:lnTo>
                  <a:lnTo>
                    <a:pt x="817664" y="195351"/>
                  </a:lnTo>
                  <a:lnTo>
                    <a:pt x="854087" y="182740"/>
                  </a:lnTo>
                  <a:lnTo>
                    <a:pt x="897915" y="153339"/>
                  </a:lnTo>
                  <a:lnTo>
                    <a:pt x="903693" y="136829"/>
                  </a:lnTo>
                  <a:lnTo>
                    <a:pt x="903770" y="0"/>
                  </a:lnTo>
                  <a:close/>
                </a:path>
              </a:pathLst>
            </a:custGeom>
            <a:solidFill>
              <a:srgbClr val="0078AA"/>
            </a:solidFill>
          </p:spPr>
          <p:txBody>
            <a:bodyPr wrap="square" lIns="0" tIns="0" rIns="0" bIns="0" rtlCol="0"/>
            <a:lstStyle/>
            <a:p>
              <a:endParaRPr sz="1984"/>
            </a:p>
          </p:txBody>
        </p:sp>
        <p:sp>
          <p:nvSpPr>
            <p:cNvPr id="6" name="object 6"/>
            <p:cNvSpPr/>
            <p:nvPr/>
          </p:nvSpPr>
          <p:spPr>
            <a:xfrm>
              <a:off x="4038250" y="1384831"/>
              <a:ext cx="904240" cy="193040"/>
            </a:xfrm>
            <a:custGeom>
              <a:avLst/>
              <a:gdLst/>
              <a:ahLst/>
              <a:cxnLst/>
              <a:rect l="l" t="t" r="r" b="b"/>
              <a:pathLst>
                <a:path w="904239" h="193040">
                  <a:moveTo>
                    <a:pt x="446641" y="0"/>
                  </a:moveTo>
                  <a:lnTo>
                    <a:pt x="373466" y="1165"/>
                  </a:lnTo>
                  <a:lnTo>
                    <a:pt x="304319" y="4572"/>
                  </a:lnTo>
                  <a:lnTo>
                    <a:pt x="240064" y="10088"/>
                  </a:lnTo>
                  <a:lnTo>
                    <a:pt x="181568" y="17577"/>
                  </a:lnTo>
                  <a:lnTo>
                    <a:pt x="129696" y="26907"/>
                  </a:lnTo>
                  <a:lnTo>
                    <a:pt x="85314" y="37943"/>
                  </a:lnTo>
                  <a:lnTo>
                    <a:pt x="49287" y="50552"/>
                  </a:lnTo>
                  <a:lnTo>
                    <a:pt x="5765" y="79954"/>
                  </a:lnTo>
                  <a:lnTo>
                    <a:pt x="0" y="96478"/>
                  </a:lnTo>
                  <a:lnTo>
                    <a:pt x="5765" y="112894"/>
                  </a:lnTo>
                  <a:lnTo>
                    <a:pt x="49287" y="142141"/>
                  </a:lnTo>
                  <a:lnTo>
                    <a:pt x="85314" y="154699"/>
                  </a:lnTo>
                  <a:lnTo>
                    <a:pt x="129696" y="165699"/>
                  </a:lnTo>
                  <a:lnTo>
                    <a:pt x="181568" y="175004"/>
                  </a:lnTo>
                  <a:lnTo>
                    <a:pt x="240064" y="182479"/>
                  </a:lnTo>
                  <a:lnTo>
                    <a:pt x="304319" y="187987"/>
                  </a:lnTo>
                  <a:lnTo>
                    <a:pt x="373466" y="191391"/>
                  </a:lnTo>
                  <a:lnTo>
                    <a:pt x="446641" y="192556"/>
                  </a:lnTo>
                  <a:lnTo>
                    <a:pt x="522597" y="191391"/>
                  </a:lnTo>
                  <a:lnTo>
                    <a:pt x="593981" y="187987"/>
                  </a:lnTo>
                  <a:lnTo>
                    <a:pt x="659985" y="182479"/>
                  </a:lnTo>
                  <a:lnTo>
                    <a:pt x="719805" y="175004"/>
                  </a:lnTo>
                  <a:lnTo>
                    <a:pt x="772633" y="165699"/>
                  </a:lnTo>
                  <a:lnTo>
                    <a:pt x="817664" y="154699"/>
                  </a:lnTo>
                  <a:lnTo>
                    <a:pt x="854092" y="142141"/>
                  </a:lnTo>
                  <a:lnTo>
                    <a:pt x="897911" y="112894"/>
                  </a:lnTo>
                  <a:lnTo>
                    <a:pt x="903691" y="96478"/>
                  </a:lnTo>
                  <a:lnTo>
                    <a:pt x="897911" y="79954"/>
                  </a:lnTo>
                  <a:lnTo>
                    <a:pt x="854092" y="50552"/>
                  </a:lnTo>
                  <a:lnTo>
                    <a:pt x="817664" y="37943"/>
                  </a:lnTo>
                  <a:lnTo>
                    <a:pt x="772633" y="26907"/>
                  </a:lnTo>
                  <a:lnTo>
                    <a:pt x="719805" y="17577"/>
                  </a:lnTo>
                  <a:lnTo>
                    <a:pt x="659985" y="10088"/>
                  </a:lnTo>
                  <a:lnTo>
                    <a:pt x="593981" y="4572"/>
                  </a:lnTo>
                  <a:lnTo>
                    <a:pt x="522597" y="1165"/>
                  </a:lnTo>
                  <a:lnTo>
                    <a:pt x="446641" y="0"/>
                  </a:lnTo>
                  <a:close/>
                </a:path>
              </a:pathLst>
            </a:custGeom>
            <a:solidFill>
              <a:srgbClr val="00B4FF"/>
            </a:solidFill>
          </p:spPr>
          <p:txBody>
            <a:bodyPr wrap="square" lIns="0" tIns="0" rIns="0" bIns="0" rtlCol="0"/>
            <a:lstStyle/>
            <a:p>
              <a:endParaRPr sz="1984"/>
            </a:p>
          </p:txBody>
        </p:sp>
        <p:sp>
          <p:nvSpPr>
            <p:cNvPr id="7" name="object 7"/>
            <p:cNvSpPr/>
            <p:nvPr/>
          </p:nvSpPr>
          <p:spPr>
            <a:xfrm>
              <a:off x="4171962" y="1408658"/>
              <a:ext cx="624205" cy="145415"/>
            </a:xfrm>
            <a:custGeom>
              <a:avLst/>
              <a:gdLst/>
              <a:ahLst/>
              <a:cxnLst/>
              <a:rect l="l" t="t" r="r" b="b"/>
              <a:pathLst>
                <a:path w="624204" h="145415">
                  <a:moveTo>
                    <a:pt x="302996" y="88417"/>
                  </a:moveTo>
                  <a:lnTo>
                    <a:pt x="229806" y="72656"/>
                  </a:lnTo>
                  <a:lnTo>
                    <a:pt x="83591" y="113385"/>
                  </a:lnTo>
                  <a:lnTo>
                    <a:pt x="0" y="105702"/>
                  </a:lnTo>
                  <a:lnTo>
                    <a:pt x="43078" y="137223"/>
                  </a:lnTo>
                  <a:lnTo>
                    <a:pt x="229806" y="137223"/>
                  </a:lnTo>
                  <a:lnTo>
                    <a:pt x="146532" y="129146"/>
                  </a:lnTo>
                  <a:lnTo>
                    <a:pt x="302996" y="88417"/>
                  </a:lnTo>
                  <a:close/>
                </a:path>
                <a:path w="624204" h="145415">
                  <a:moveTo>
                    <a:pt x="312928" y="24993"/>
                  </a:moveTo>
                  <a:lnTo>
                    <a:pt x="239737" y="33058"/>
                  </a:lnTo>
                  <a:lnTo>
                    <a:pt x="83591" y="0"/>
                  </a:lnTo>
                  <a:lnTo>
                    <a:pt x="20345" y="7708"/>
                  </a:lnTo>
                  <a:lnTo>
                    <a:pt x="166878" y="48818"/>
                  </a:lnTo>
                  <a:lnTo>
                    <a:pt x="83591" y="56502"/>
                  </a:lnTo>
                  <a:lnTo>
                    <a:pt x="280416" y="56502"/>
                  </a:lnTo>
                  <a:lnTo>
                    <a:pt x="312928" y="24993"/>
                  </a:lnTo>
                  <a:close/>
                </a:path>
                <a:path w="624204" h="145415">
                  <a:moveTo>
                    <a:pt x="613511" y="129146"/>
                  </a:moveTo>
                  <a:lnTo>
                    <a:pt x="467461" y="88417"/>
                  </a:lnTo>
                  <a:lnTo>
                    <a:pt x="550735" y="80340"/>
                  </a:lnTo>
                  <a:lnTo>
                    <a:pt x="353593" y="80340"/>
                  </a:lnTo>
                  <a:lnTo>
                    <a:pt x="312928" y="113385"/>
                  </a:lnTo>
                  <a:lnTo>
                    <a:pt x="396201" y="105702"/>
                  </a:lnTo>
                  <a:lnTo>
                    <a:pt x="550735" y="144907"/>
                  </a:lnTo>
                  <a:lnTo>
                    <a:pt x="613511" y="129146"/>
                  </a:lnTo>
                  <a:close/>
                </a:path>
                <a:path w="624204" h="145415">
                  <a:moveTo>
                    <a:pt x="623608" y="33058"/>
                  </a:moveTo>
                  <a:lnTo>
                    <a:pt x="583247" y="0"/>
                  </a:lnTo>
                  <a:lnTo>
                    <a:pt x="396201" y="0"/>
                  </a:lnTo>
                  <a:lnTo>
                    <a:pt x="479310" y="7708"/>
                  </a:lnTo>
                  <a:lnTo>
                    <a:pt x="323329" y="48818"/>
                  </a:lnTo>
                  <a:lnTo>
                    <a:pt x="396201" y="64566"/>
                  </a:lnTo>
                  <a:lnTo>
                    <a:pt x="550735" y="24993"/>
                  </a:lnTo>
                  <a:lnTo>
                    <a:pt x="623608" y="33058"/>
                  </a:lnTo>
                  <a:close/>
                </a:path>
              </a:pathLst>
            </a:custGeom>
            <a:solidFill>
              <a:srgbClr val="000000"/>
            </a:solidFill>
          </p:spPr>
          <p:txBody>
            <a:bodyPr wrap="square" lIns="0" tIns="0" rIns="0" bIns="0" rtlCol="0"/>
            <a:lstStyle/>
            <a:p>
              <a:endParaRPr sz="1984"/>
            </a:p>
          </p:txBody>
        </p:sp>
        <p:sp>
          <p:nvSpPr>
            <p:cNvPr id="8" name="object 8"/>
            <p:cNvSpPr/>
            <p:nvPr/>
          </p:nvSpPr>
          <p:spPr>
            <a:xfrm>
              <a:off x="4182376" y="1408658"/>
              <a:ext cx="613410" cy="145415"/>
            </a:xfrm>
            <a:custGeom>
              <a:avLst/>
              <a:gdLst/>
              <a:ahLst/>
              <a:cxnLst/>
              <a:rect l="l" t="t" r="r" b="b"/>
              <a:pathLst>
                <a:path w="613410" h="145415">
                  <a:moveTo>
                    <a:pt x="292582" y="88417"/>
                  </a:moveTo>
                  <a:lnTo>
                    <a:pt x="229323" y="80340"/>
                  </a:lnTo>
                  <a:lnTo>
                    <a:pt x="73177" y="121462"/>
                  </a:lnTo>
                  <a:lnTo>
                    <a:pt x="0" y="105702"/>
                  </a:lnTo>
                  <a:lnTo>
                    <a:pt x="32664" y="144907"/>
                  </a:lnTo>
                  <a:lnTo>
                    <a:pt x="229323" y="144907"/>
                  </a:lnTo>
                  <a:lnTo>
                    <a:pt x="146050" y="129146"/>
                  </a:lnTo>
                  <a:lnTo>
                    <a:pt x="292582" y="88417"/>
                  </a:lnTo>
                  <a:close/>
                </a:path>
                <a:path w="613410" h="145415">
                  <a:moveTo>
                    <a:pt x="312915" y="33058"/>
                  </a:moveTo>
                  <a:lnTo>
                    <a:pt x="239572" y="40754"/>
                  </a:lnTo>
                  <a:lnTo>
                    <a:pt x="73177" y="0"/>
                  </a:lnTo>
                  <a:lnTo>
                    <a:pt x="9931" y="15773"/>
                  </a:lnTo>
                  <a:lnTo>
                    <a:pt x="156464" y="56502"/>
                  </a:lnTo>
                  <a:lnTo>
                    <a:pt x="83273" y="64566"/>
                  </a:lnTo>
                  <a:lnTo>
                    <a:pt x="270002" y="64566"/>
                  </a:lnTo>
                  <a:lnTo>
                    <a:pt x="312915" y="33058"/>
                  </a:lnTo>
                  <a:close/>
                </a:path>
                <a:path w="613410" h="145415">
                  <a:moveTo>
                    <a:pt x="603097" y="129146"/>
                  </a:moveTo>
                  <a:lnTo>
                    <a:pt x="457047" y="96100"/>
                  </a:lnTo>
                  <a:lnTo>
                    <a:pt x="540321" y="80340"/>
                  </a:lnTo>
                  <a:lnTo>
                    <a:pt x="343179" y="80340"/>
                  </a:lnTo>
                  <a:lnTo>
                    <a:pt x="312915" y="121462"/>
                  </a:lnTo>
                  <a:lnTo>
                    <a:pt x="385787" y="105702"/>
                  </a:lnTo>
                  <a:lnTo>
                    <a:pt x="540321" y="144907"/>
                  </a:lnTo>
                  <a:lnTo>
                    <a:pt x="603097" y="129146"/>
                  </a:lnTo>
                  <a:close/>
                </a:path>
                <a:path w="613410" h="145415">
                  <a:moveTo>
                    <a:pt x="613194" y="40754"/>
                  </a:moveTo>
                  <a:lnTo>
                    <a:pt x="582764" y="0"/>
                  </a:lnTo>
                  <a:lnTo>
                    <a:pt x="396036" y="0"/>
                  </a:lnTo>
                  <a:lnTo>
                    <a:pt x="468896" y="15773"/>
                  </a:lnTo>
                  <a:lnTo>
                    <a:pt x="322846" y="56502"/>
                  </a:lnTo>
                  <a:lnTo>
                    <a:pt x="385787" y="64566"/>
                  </a:lnTo>
                  <a:lnTo>
                    <a:pt x="552488" y="24993"/>
                  </a:lnTo>
                  <a:lnTo>
                    <a:pt x="613194" y="40754"/>
                  </a:lnTo>
                  <a:close/>
                </a:path>
              </a:pathLst>
            </a:custGeom>
            <a:solidFill>
              <a:srgbClr val="FFFFFF"/>
            </a:solidFill>
          </p:spPr>
          <p:txBody>
            <a:bodyPr wrap="square" lIns="0" tIns="0" rIns="0" bIns="0" rtlCol="0"/>
            <a:lstStyle/>
            <a:p>
              <a:endParaRPr sz="1984"/>
            </a:p>
          </p:txBody>
        </p:sp>
        <p:sp>
          <p:nvSpPr>
            <p:cNvPr id="9" name="object 9"/>
            <p:cNvSpPr/>
            <p:nvPr/>
          </p:nvSpPr>
          <p:spPr>
            <a:xfrm>
              <a:off x="4924326" y="1478220"/>
              <a:ext cx="1365885" cy="144780"/>
            </a:xfrm>
            <a:custGeom>
              <a:avLst/>
              <a:gdLst/>
              <a:ahLst/>
              <a:cxnLst/>
              <a:rect l="l" t="t" r="r" b="b"/>
              <a:pathLst>
                <a:path w="1365885" h="144780">
                  <a:moveTo>
                    <a:pt x="753476" y="0"/>
                  </a:moveTo>
                  <a:lnTo>
                    <a:pt x="0" y="73039"/>
                  </a:lnTo>
                  <a:lnTo>
                    <a:pt x="663315" y="44204"/>
                  </a:lnTo>
                  <a:lnTo>
                    <a:pt x="609667" y="144525"/>
                  </a:lnTo>
                  <a:lnTo>
                    <a:pt x="1365386" y="73039"/>
                  </a:lnTo>
                  <a:lnTo>
                    <a:pt x="699828" y="102242"/>
                  </a:lnTo>
                  <a:lnTo>
                    <a:pt x="753476" y="0"/>
                  </a:lnTo>
                  <a:close/>
                </a:path>
              </a:pathLst>
            </a:custGeom>
            <a:solidFill>
              <a:srgbClr val="000000"/>
            </a:solidFill>
          </p:spPr>
          <p:txBody>
            <a:bodyPr wrap="square" lIns="0" tIns="0" rIns="0" bIns="0" rtlCol="0"/>
            <a:lstStyle/>
            <a:p>
              <a:endParaRPr sz="1984"/>
            </a:p>
          </p:txBody>
        </p:sp>
        <p:sp>
          <p:nvSpPr>
            <p:cNvPr id="10" name="object 10"/>
            <p:cNvSpPr/>
            <p:nvPr/>
          </p:nvSpPr>
          <p:spPr>
            <a:xfrm>
              <a:off x="4924326" y="1478220"/>
              <a:ext cx="1365885" cy="144780"/>
            </a:xfrm>
            <a:custGeom>
              <a:avLst/>
              <a:gdLst/>
              <a:ahLst/>
              <a:cxnLst/>
              <a:rect l="l" t="t" r="r" b="b"/>
              <a:pathLst>
                <a:path w="1365885" h="144780">
                  <a:moveTo>
                    <a:pt x="0" y="73039"/>
                  </a:moveTo>
                  <a:lnTo>
                    <a:pt x="753476" y="0"/>
                  </a:lnTo>
                  <a:lnTo>
                    <a:pt x="699828" y="102242"/>
                  </a:lnTo>
                  <a:lnTo>
                    <a:pt x="1365386" y="73039"/>
                  </a:lnTo>
                  <a:lnTo>
                    <a:pt x="609667" y="144525"/>
                  </a:lnTo>
                  <a:lnTo>
                    <a:pt x="663315" y="44204"/>
                  </a:lnTo>
                  <a:lnTo>
                    <a:pt x="0" y="73039"/>
                  </a:lnTo>
                  <a:close/>
                </a:path>
              </a:pathLst>
            </a:custGeom>
            <a:ln w="3833">
              <a:solidFill>
                <a:srgbClr val="000000"/>
              </a:solidFill>
            </a:ln>
          </p:spPr>
          <p:txBody>
            <a:bodyPr wrap="square" lIns="0" tIns="0" rIns="0" bIns="0" rtlCol="0"/>
            <a:lstStyle/>
            <a:p>
              <a:endParaRPr sz="1984"/>
            </a:p>
          </p:txBody>
        </p:sp>
      </p:grpSp>
      <p:grpSp>
        <p:nvGrpSpPr>
          <p:cNvPr id="11" name="object 11"/>
          <p:cNvGrpSpPr/>
          <p:nvPr/>
        </p:nvGrpSpPr>
        <p:grpSpPr>
          <a:xfrm>
            <a:off x="821700" y="2548057"/>
            <a:ext cx="8260344" cy="1292144"/>
            <a:chOff x="744952" y="967941"/>
            <a:chExt cx="7493634" cy="1172210"/>
          </a:xfrm>
        </p:grpSpPr>
        <p:sp>
          <p:nvSpPr>
            <p:cNvPr id="12" name="object 12"/>
            <p:cNvSpPr/>
            <p:nvPr/>
          </p:nvSpPr>
          <p:spPr>
            <a:xfrm>
              <a:off x="1757895" y="1481315"/>
              <a:ext cx="904240" cy="233679"/>
            </a:xfrm>
            <a:custGeom>
              <a:avLst/>
              <a:gdLst/>
              <a:ahLst/>
              <a:cxnLst/>
              <a:rect l="l" t="t" r="r" b="b"/>
              <a:pathLst>
                <a:path w="904239" h="233680">
                  <a:moveTo>
                    <a:pt x="903770" y="0"/>
                  </a:moveTo>
                  <a:lnTo>
                    <a:pt x="0" y="0"/>
                  </a:lnTo>
                  <a:lnTo>
                    <a:pt x="0" y="136829"/>
                  </a:lnTo>
                  <a:lnTo>
                    <a:pt x="22491" y="168694"/>
                  </a:lnTo>
                  <a:lnTo>
                    <a:pt x="85344" y="195351"/>
                  </a:lnTo>
                  <a:lnTo>
                    <a:pt x="129743" y="206387"/>
                  </a:lnTo>
                  <a:lnTo>
                    <a:pt x="181622" y="215709"/>
                  </a:lnTo>
                  <a:lnTo>
                    <a:pt x="240131" y="223202"/>
                  </a:lnTo>
                  <a:lnTo>
                    <a:pt x="304393" y="228714"/>
                  </a:lnTo>
                  <a:lnTo>
                    <a:pt x="373532" y="232117"/>
                  </a:lnTo>
                  <a:lnTo>
                    <a:pt x="446697" y="233286"/>
                  </a:lnTo>
                  <a:lnTo>
                    <a:pt x="522655" y="232117"/>
                  </a:lnTo>
                  <a:lnTo>
                    <a:pt x="594042" y="228714"/>
                  </a:lnTo>
                  <a:lnTo>
                    <a:pt x="660044" y="223202"/>
                  </a:lnTo>
                  <a:lnTo>
                    <a:pt x="719861" y="215709"/>
                  </a:lnTo>
                  <a:lnTo>
                    <a:pt x="772693" y="206387"/>
                  </a:lnTo>
                  <a:lnTo>
                    <a:pt x="817727" y="195351"/>
                  </a:lnTo>
                  <a:lnTo>
                    <a:pt x="854151" y="182740"/>
                  </a:lnTo>
                  <a:lnTo>
                    <a:pt x="897966" y="153339"/>
                  </a:lnTo>
                  <a:lnTo>
                    <a:pt x="903757" y="136829"/>
                  </a:lnTo>
                  <a:lnTo>
                    <a:pt x="903770" y="0"/>
                  </a:lnTo>
                  <a:close/>
                </a:path>
              </a:pathLst>
            </a:custGeom>
            <a:solidFill>
              <a:srgbClr val="0078AA"/>
            </a:solidFill>
          </p:spPr>
          <p:txBody>
            <a:bodyPr wrap="square" lIns="0" tIns="0" rIns="0" bIns="0" rtlCol="0"/>
            <a:lstStyle/>
            <a:p>
              <a:endParaRPr sz="1984"/>
            </a:p>
          </p:txBody>
        </p:sp>
        <p:sp>
          <p:nvSpPr>
            <p:cNvPr id="13" name="object 13"/>
            <p:cNvSpPr/>
            <p:nvPr/>
          </p:nvSpPr>
          <p:spPr>
            <a:xfrm>
              <a:off x="1757898" y="1384831"/>
              <a:ext cx="904240" cy="193040"/>
            </a:xfrm>
            <a:custGeom>
              <a:avLst/>
              <a:gdLst/>
              <a:ahLst/>
              <a:cxnLst/>
              <a:rect l="l" t="t" r="r" b="b"/>
              <a:pathLst>
                <a:path w="904239" h="193040">
                  <a:moveTo>
                    <a:pt x="446705" y="0"/>
                  </a:moveTo>
                  <a:lnTo>
                    <a:pt x="373540" y="1165"/>
                  </a:lnTo>
                  <a:lnTo>
                    <a:pt x="304395" y="4572"/>
                  </a:lnTo>
                  <a:lnTo>
                    <a:pt x="240136" y="10088"/>
                  </a:lnTo>
                  <a:lnTo>
                    <a:pt x="181630" y="17577"/>
                  </a:lnTo>
                  <a:lnTo>
                    <a:pt x="129746" y="26907"/>
                  </a:lnTo>
                  <a:lnTo>
                    <a:pt x="85350" y="37943"/>
                  </a:lnTo>
                  <a:lnTo>
                    <a:pt x="49310" y="50552"/>
                  </a:lnTo>
                  <a:lnTo>
                    <a:pt x="5768" y="79954"/>
                  </a:lnTo>
                  <a:lnTo>
                    <a:pt x="0" y="96478"/>
                  </a:lnTo>
                  <a:lnTo>
                    <a:pt x="5768" y="112894"/>
                  </a:lnTo>
                  <a:lnTo>
                    <a:pt x="49310" y="142141"/>
                  </a:lnTo>
                  <a:lnTo>
                    <a:pt x="85350" y="154699"/>
                  </a:lnTo>
                  <a:lnTo>
                    <a:pt x="129746" y="165699"/>
                  </a:lnTo>
                  <a:lnTo>
                    <a:pt x="181630" y="175004"/>
                  </a:lnTo>
                  <a:lnTo>
                    <a:pt x="240136" y="182479"/>
                  </a:lnTo>
                  <a:lnTo>
                    <a:pt x="304395" y="187987"/>
                  </a:lnTo>
                  <a:lnTo>
                    <a:pt x="373540" y="191391"/>
                  </a:lnTo>
                  <a:lnTo>
                    <a:pt x="446705" y="192556"/>
                  </a:lnTo>
                  <a:lnTo>
                    <a:pt x="522661" y="191391"/>
                  </a:lnTo>
                  <a:lnTo>
                    <a:pt x="594045" y="187987"/>
                  </a:lnTo>
                  <a:lnTo>
                    <a:pt x="660049" y="182479"/>
                  </a:lnTo>
                  <a:lnTo>
                    <a:pt x="719869" y="175004"/>
                  </a:lnTo>
                  <a:lnTo>
                    <a:pt x="772697" y="165699"/>
                  </a:lnTo>
                  <a:lnTo>
                    <a:pt x="817728" y="154699"/>
                  </a:lnTo>
                  <a:lnTo>
                    <a:pt x="854156" y="142141"/>
                  </a:lnTo>
                  <a:lnTo>
                    <a:pt x="897975" y="112894"/>
                  </a:lnTo>
                  <a:lnTo>
                    <a:pt x="903755" y="96478"/>
                  </a:lnTo>
                  <a:lnTo>
                    <a:pt x="897975" y="79954"/>
                  </a:lnTo>
                  <a:lnTo>
                    <a:pt x="854156" y="50552"/>
                  </a:lnTo>
                  <a:lnTo>
                    <a:pt x="817728" y="37943"/>
                  </a:lnTo>
                  <a:lnTo>
                    <a:pt x="772697" y="26907"/>
                  </a:lnTo>
                  <a:lnTo>
                    <a:pt x="719869" y="17577"/>
                  </a:lnTo>
                  <a:lnTo>
                    <a:pt x="660049" y="10088"/>
                  </a:lnTo>
                  <a:lnTo>
                    <a:pt x="594045" y="4572"/>
                  </a:lnTo>
                  <a:lnTo>
                    <a:pt x="522661" y="1165"/>
                  </a:lnTo>
                  <a:lnTo>
                    <a:pt x="446705" y="0"/>
                  </a:lnTo>
                  <a:close/>
                </a:path>
              </a:pathLst>
            </a:custGeom>
            <a:solidFill>
              <a:srgbClr val="00B4FF"/>
            </a:solidFill>
          </p:spPr>
          <p:txBody>
            <a:bodyPr wrap="square" lIns="0" tIns="0" rIns="0" bIns="0" rtlCol="0"/>
            <a:lstStyle/>
            <a:p>
              <a:endParaRPr sz="1984"/>
            </a:p>
          </p:txBody>
        </p:sp>
        <p:sp>
          <p:nvSpPr>
            <p:cNvPr id="14" name="object 14"/>
            <p:cNvSpPr/>
            <p:nvPr/>
          </p:nvSpPr>
          <p:spPr>
            <a:xfrm>
              <a:off x="1891703" y="1408658"/>
              <a:ext cx="624205" cy="145415"/>
            </a:xfrm>
            <a:custGeom>
              <a:avLst/>
              <a:gdLst/>
              <a:ahLst/>
              <a:cxnLst/>
              <a:rect l="l" t="t" r="r" b="b"/>
              <a:pathLst>
                <a:path w="624205" h="145415">
                  <a:moveTo>
                    <a:pt x="302920" y="88417"/>
                  </a:moveTo>
                  <a:lnTo>
                    <a:pt x="229679" y="72656"/>
                  </a:lnTo>
                  <a:lnTo>
                    <a:pt x="83604" y="113385"/>
                  </a:lnTo>
                  <a:lnTo>
                    <a:pt x="0" y="105702"/>
                  </a:lnTo>
                  <a:lnTo>
                    <a:pt x="42951" y="137223"/>
                  </a:lnTo>
                  <a:lnTo>
                    <a:pt x="229679" y="137223"/>
                  </a:lnTo>
                  <a:lnTo>
                    <a:pt x="146469" y="129146"/>
                  </a:lnTo>
                  <a:lnTo>
                    <a:pt x="302920" y="88417"/>
                  </a:lnTo>
                  <a:close/>
                </a:path>
                <a:path w="624205" h="145415">
                  <a:moveTo>
                    <a:pt x="312889" y="24993"/>
                  </a:moveTo>
                  <a:lnTo>
                    <a:pt x="239661" y="33058"/>
                  </a:lnTo>
                  <a:lnTo>
                    <a:pt x="83604" y="0"/>
                  </a:lnTo>
                  <a:lnTo>
                    <a:pt x="20332" y="7708"/>
                  </a:lnTo>
                  <a:lnTo>
                    <a:pt x="166789" y="48818"/>
                  </a:lnTo>
                  <a:lnTo>
                    <a:pt x="83604" y="56502"/>
                  </a:lnTo>
                  <a:lnTo>
                    <a:pt x="280301" y="56502"/>
                  </a:lnTo>
                  <a:lnTo>
                    <a:pt x="312889" y="24993"/>
                  </a:lnTo>
                  <a:close/>
                </a:path>
                <a:path w="624205" h="145415">
                  <a:moveTo>
                    <a:pt x="613486" y="129146"/>
                  </a:moveTo>
                  <a:lnTo>
                    <a:pt x="467436" y="88417"/>
                  </a:lnTo>
                  <a:lnTo>
                    <a:pt x="550545" y="80340"/>
                  </a:lnTo>
                  <a:lnTo>
                    <a:pt x="353542" y="80340"/>
                  </a:lnTo>
                  <a:lnTo>
                    <a:pt x="312889" y="113385"/>
                  </a:lnTo>
                  <a:lnTo>
                    <a:pt x="396163" y="105702"/>
                  </a:lnTo>
                  <a:lnTo>
                    <a:pt x="550545" y="144907"/>
                  </a:lnTo>
                  <a:lnTo>
                    <a:pt x="613486" y="129146"/>
                  </a:lnTo>
                  <a:close/>
                </a:path>
                <a:path w="624205" h="145415">
                  <a:moveTo>
                    <a:pt x="623900" y="33058"/>
                  </a:moveTo>
                  <a:lnTo>
                    <a:pt x="583222" y="0"/>
                  </a:lnTo>
                  <a:lnTo>
                    <a:pt x="396163" y="0"/>
                  </a:lnTo>
                  <a:lnTo>
                    <a:pt x="479285" y="7708"/>
                  </a:lnTo>
                  <a:lnTo>
                    <a:pt x="323240" y="48818"/>
                  </a:lnTo>
                  <a:lnTo>
                    <a:pt x="396163" y="64566"/>
                  </a:lnTo>
                  <a:lnTo>
                    <a:pt x="550545" y="24993"/>
                  </a:lnTo>
                  <a:lnTo>
                    <a:pt x="623900" y="33058"/>
                  </a:lnTo>
                  <a:close/>
                </a:path>
              </a:pathLst>
            </a:custGeom>
            <a:solidFill>
              <a:srgbClr val="000000"/>
            </a:solidFill>
          </p:spPr>
          <p:txBody>
            <a:bodyPr wrap="square" lIns="0" tIns="0" rIns="0" bIns="0" rtlCol="0"/>
            <a:lstStyle/>
            <a:p>
              <a:endParaRPr sz="1984"/>
            </a:p>
          </p:txBody>
        </p:sp>
        <p:sp>
          <p:nvSpPr>
            <p:cNvPr id="15" name="object 15"/>
            <p:cNvSpPr/>
            <p:nvPr/>
          </p:nvSpPr>
          <p:spPr>
            <a:xfrm>
              <a:off x="1902053" y="1408658"/>
              <a:ext cx="614045" cy="145415"/>
            </a:xfrm>
            <a:custGeom>
              <a:avLst/>
              <a:gdLst/>
              <a:ahLst/>
              <a:cxnLst/>
              <a:rect l="l" t="t" r="r" b="b"/>
              <a:pathLst>
                <a:path w="614044" h="145415">
                  <a:moveTo>
                    <a:pt x="292569" y="88417"/>
                  </a:moveTo>
                  <a:lnTo>
                    <a:pt x="229311" y="80340"/>
                  </a:lnTo>
                  <a:lnTo>
                    <a:pt x="73253" y="121462"/>
                  </a:lnTo>
                  <a:lnTo>
                    <a:pt x="0" y="105702"/>
                  </a:lnTo>
                  <a:lnTo>
                    <a:pt x="32600" y="144907"/>
                  </a:lnTo>
                  <a:lnTo>
                    <a:pt x="229311" y="144907"/>
                  </a:lnTo>
                  <a:lnTo>
                    <a:pt x="146100" y="129146"/>
                  </a:lnTo>
                  <a:lnTo>
                    <a:pt x="292569" y="88417"/>
                  </a:lnTo>
                  <a:close/>
                </a:path>
                <a:path w="614044" h="145415">
                  <a:moveTo>
                    <a:pt x="312889" y="33058"/>
                  </a:moveTo>
                  <a:lnTo>
                    <a:pt x="239661" y="40754"/>
                  </a:lnTo>
                  <a:lnTo>
                    <a:pt x="73253" y="0"/>
                  </a:lnTo>
                  <a:lnTo>
                    <a:pt x="9982" y="15773"/>
                  </a:lnTo>
                  <a:lnTo>
                    <a:pt x="156438" y="56502"/>
                  </a:lnTo>
                  <a:lnTo>
                    <a:pt x="83210" y="64566"/>
                  </a:lnTo>
                  <a:lnTo>
                    <a:pt x="269951" y="64566"/>
                  </a:lnTo>
                  <a:lnTo>
                    <a:pt x="312889" y="33058"/>
                  </a:lnTo>
                  <a:close/>
                </a:path>
                <a:path w="614044" h="145415">
                  <a:moveTo>
                    <a:pt x="603135" y="129146"/>
                  </a:moveTo>
                  <a:lnTo>
                    <a:pt x="457085" y="96100"/>
                  </a:lnTo>
                  <a:lnTo>
                    <a:pt x="540194" y="80340"/>
                  </a:lnTo>
                  <a:lnTo>
                    <a:pt x="343192" y="80340"/>
                  </a:lnTo>
                  <a:lnTo>
                    <a:pt x="312889" y="121462"/>
                  </a:lnTo>
                  <a:lnTo>
                    <a:pt x="385813" y="105702"/>
                  </a:lnTo>
                  <a:lnTo>
                    <a:pt x="540194" y="144907"/>
                  </a:lnTo>
                  <a:lnTo>
                    <a:pt x="603135" y="129146"/>
                  </a:lnTo>
                  <a:close/>
                </a:path>
                <a:path w="614044" h="145415">
                  <a:moveTo>
                    <a:pt x="613549" y="40754"/>
                  </a:moveTo>
                  <a:lnTo>
                    <a:pt x="582790" y="0"/>
                  </a:lnTo>
                  <a:lnTo>
                    <a:pt x="396062" y="0"/>
                  </a:lnTo>
                  <a:lnTo>
                    <a:pt x="468934" y="15773"/>
                  </a:lnTo>
                  <a:lnTo>
                    <a:pt x="322872" y="56502"/>
                  </a:lnTo>
                  <a:lnTo>
                    <a:pt x="385813" y="64566"/>
                  </a:lnTo>
                  <a:lnTo>
                    <a:pt x="552526" y="24993"/>
                  </a:lnTo>
                  <a:lnTo>
                    <a:pt x="613549" y="40754"/>
                  </a:lnTo>
                  <a:close/>
                </a:path>
              </a:pathLst>
            </a:custGeom>
            <a:solidFill>
              <a:srgbClr val="FFFFFF"/>
            </a:solidFill>
          </p:spPr>
          <p:txBody>
            <a:bodyPr wrap="square" lIns="0" tIns="0" rIns="0" bIns="0" rtlCol="0"/>
            <a:lstStyle/>
            <a:p>
              <a:endParaRPr sz="1984"/>
            </a:p>
          </p:txBody>
        </p:sp>
        <p:sp>
          <p:nvSpPr>
            <p:cNvPr id="16" name="object 16"/>
            <p:cNvSpPr/>
            <p:nvPr/>
          </p:nvSpPr>
          <p:spPr>
            <a:xfrm>
              <a:off x="2620978" y="1478219"/>
              <a:ext cx="1367790" cy="144780"/>
            </a:xfrm>
            <a:custGeom>
              <a:avLst/>
              <a:gdLst/>
              <a:ahLst/>
              <a:cxnLst/>
              <a:rect l="l" t="t" r="r" b="b"/>
              <a:pathLst>
                <a:path w="1367789" h="144780">
                  <a:moveTo>
                    <a:pt x="755398" y="0"/>
                  </a:moveTo>
                  <a:lnTo>
                    <a:pt x="0" y="73039"/>
                  </a:lnTo>
                  <a:lnTo>
                    <a:pt x="665237" y="44204"/>
                  </a:lnTo>
                  <a:lnTo>
                    <a:pt x="611589" y="144525"/>
                  </a:lnTo>
                  <a:lnTo>
                    <a:pt x="1367307" y="73039"/>
                  </a:lnTo>
                  <a:lnTo>
                    <a:pt x="701750" y="102242"/>
                  </a:lnTo>
                  <a:lnTo>
                    <a:pt x="755398" y="0"/>
                  </a:lnTo>
                  <a:close/>
                </a:path>
              </a:pathLst>
            </a:custGeom>
            <a:solidFill>
              <a:srgbClr val="000000"/>
            </a:solidFill>
          </p:spPr>
          <p:txBody>
            <a:bodyPr wrap="square" lIns="0" tIns="0" rIns="0" bIns="0" rtlCol="0"/>
            <a:lstStyle/>
            <a:p>
              <a:endParaRPr sz="1984"/>
            </a:p>
          </p:txBody>
        </p:sp>
        <p:sp>
          <p:nvSpPr>
            <p:cNvPr id="17" name="object 17"/>
            <p:cNvSpPr/>
            <p:nvPr/>
          </p:nvSpPr>
          <p:spPr>
            <a:xfrm>
              <a:off x="2620978" y="1478219"/>
              <a:ext cx="1367790" cy="144780"/>
            </a:xfrm>
            <a:custGeom>
              <a:avLst/>
              <a:gdLst/>
              <a:ahLst/>
              <a:cxnLst/>
              <a:rect l="l" t="t" r="r" b="b"/>
              <a:pathLst>
                <a:path w="1367789" h="144780">
                  <a:moveTo>
                    <a:pt x="0" y="73039"/>
                  </a:moveTo>
                  <a:lnTo>
                    <a:pt x="755398" y="0"/>
                  </a:lnTo>
                  <a:lnTo>
                    <a:pt x="701750" y="102242"/>
                  </a:lnTo>
                  <a:lnTo>
                    <a:pt x="1367307" y="73039"/>
                  </a:lnTo>
                  <a:lnTo>
                    <a:pt x="611589" y="144525"/>
                  </a:lnTo>
                  <a:lnTo>
                    <a:pt x="665237" y="44204"/>
                  </a:lnTo>
                  <a:lnTo>
                    <a:pt x="0" y="73039"/>
                  </a:lnTo>
                  <a:close/>
                </a:path>
              </a:pathLst>
            </a:custGeom>
            <a:ln w="3833">
              <a:solidFill>
                <a:srgbClr val="000000"/>
              </a:solidFill>
            </a:ln>
          </p:spPr>
          <p:txBody>
            <a:bodyPr wrap="square" lIns="0" tIns="0" rIns="0" bIns="0" rtlCol="0"/>
            <a:lstStyle/>
            <a:p>
              <a:endParaRPr sz="1984"/>
            </a:p>
          </p:txBody>
        </p:sp>
        <p:sp>
          <p:nvSpPr>
            <p:cNvPr id="18" name="object 18"/>
            <p:cNvSpPr/>
            <p:nvPr/>
          </p:nvSpPr>
          <p:spPr>
            <a:xfrm>
              <a:off x="750984" y="973973"/>
              <a:ext cx="1007110" cy="1155065"/>
            </a:xfrm>
            <a:custGeom>
              <a:avLst/>
              <a:gdLst/>
              <a:ahLst/>
              <a:cxnLst/>
              <a:rect l="l" t="t" r="r" b="b"/>
              <a:pathLst>
                <a:path w="1007110" h="1155064">
                  <a:moveTo>
                    <a:pt x="1006913" y="577285"/>
                  </a:moveTo>
                  <a:lnTo>
                    <a:pt x="0" y="577285"/>
                  </a:lnTo>
                </a:path>
                <a:path w="1007110" h="1155064">
                  <a:moveTo>
                    <a:pt x="0" y="0"/>
                  </a:moveTo>
                  <a:lnTo>
                    <a:pt x="0" y="1154947"/>
                  </a:lnTo>
                </a:path>
              </a:pathLst>
            </a:custGeom>
            <a:ln w="11501">
              <a:solidFill>
                <a:srgbClr val="000000"/>
              </a:solidFill>
            </a:ln>
          </p:spPr>
          <p:txBody>
            <a:bodyPr wrap="square" lIns="0" tIns="0" rIns="0" bIns="0" rtlCol="0"/>
            <a:lstStyle/>
            <a:p>
              <a:endParaRPr sz="1984"/>
            </a:p>
          </p:txBody>
        </p:sp>
        <p:sp>
          <p:nvSpPr>
            <p:cNvPr id="19" name="object 19"/>
            <p:cNvSpPr/>
            <p:nvPr/>
          </p:nvSpPr>
          <p:spPr>
            <a:xfrm>
              <a:off x="6362573" y="1481315"/>
              <a:ext cx="902335" cy="233679"/>
            </a:xfrm>
            <a:custGeom>
              <a:avLst/>
              <a:gdLst/>
              <a:ahLst/>
              <a:cxnLst/>
              <a:rect l="l" t="t" r="r" b="b"/>
              <a:pathLst>
                <a:path w="902334" h="233680">
                  <a:moveTo>
                    <a:pt x="901928" y="136829"/>
                  </a:moveTo>
                  <a:lnTo>
                    <a:pt x="901852" y="136613"/>
                  </a:lnTo>
                  <a:lnTo>
                    <a:pt x="901852" y="0"/>
                  </a:lnTo>
                  <a:lnTo>
                    <a:pt x="0" y="0"/>
                  </a:lnTo>
                  <a:lnTo>
                    <a:pt x="0" y="136829"/>
                  </a:lnTo>
                  <a:lnTo>
                    <a:pt x="5740" y="153339"/>
                  </a:lnTo>
                  <a:lnTo>
                    <a:pt x="49149" y="182740"/>
                  </a:lnTo>
                  <a:lnTo>
                    <a:pt x="129374" y="206387"/>
                  </a:lnTo>
                  <a:lnTo>
                    <a:pt x="181152" y="215709"/>
                  </a:lnTo>
                  <a:lnTo>
                    <a:pt x="239560" y="223202"/>
                  </a:lnTo>
                  <a:lnTo>
                    <a:pt x="303745" y="228714"/>
                  </a:lnTo>
                  <a:lnTo>
                    <a:pt x="372846" y="232117"/>
                  </a:lnTo>
                  <a:lnTo>
                    <a:pt x="445998" y="233286"/>
                  </a:lnTo>
                  <a:lnTo>
                    <a:pt x="521728" y="232117"/>
                  </a:lnTo>
                  <a:lnTo>
                    <a:pt x="592912" y="228714"/>
                  </a:lnTo>
                  <a:lnTo>
                    <a:pt x="658749" y="223202"/>
                  </a:lnTo>
                  <a:lnTo>
                    <a:pt x="718426" y="215709"/>
                  </a:lnTo>
                  <a:lnTo>
                    <a:pt x="771131" y="206387"/>
                  </a:lnTo>
                  <a:lnTo>
                    <a:pt x="816063" y="195351"/>
                  </a:lnTo>
                  <a:lnTo>
                    <a:pt x="852424" y="182740"/>
                  </a:lnTo>
                  <a:lnTo>
                    <a:pt x="896162" y="153339"/>
                  </a:lnTo>
                  <a:lnTo>
                    <a:pt x="901928" y="136829"/>
                  </a:lnTo>
                  <a:close/>
                </a:path>
              </a:pathLst>
            </a:custGeom>
            <a:solidFill>
              <a:srgbClr val="0078AA"/>
            </a:solidFill>
          </p:spPr>
          <p:txBody>
            <a:bodyPr wrap="square" lIns="0" tIns="0" rIns="0" bIns="0" rtlCol="0"/>
            <a:lstStyle/>
            <a:p>
              <a:endParaRPr sz="1984"/>
            </a:p>
          </p:txBody>
        </p:sp>
        <p:sp>
          <p:nvSpPr>
            <p:cNvPr id="20" name="object 20"/>
            <p:cNvSpPr/>
            <p:nvPr/>
          </p:nvSpPr>
          <p:spPr>
            <a:xfrm>
              <a:off x="6362578" y="1384831"/>
              <a:ext cx="902335" cy="193040"/>
            </a:xfrm>
            <a:custGeom>
              <a:avLst/>
              <a:gdLst/>
              <a:ahLst/>
              <a:cxnLst/>
              <a:rect l="l" t="t" r="r" b="b"/>
              <a:pathLst>
                <a:path w="902334" h="193040">
                  <a:moveTo>
                    <a:pt x="446000" y="0"/>
                  </a:moveTo>
                  <a:lnTo>
                    <a:pt x="372844" y="1165"/>
                  </a:lnTo>
                  <a:lnTo>
                    <a:pt x="303745" y="4572"/>
                  </a:lnTo>
                  <a:lnTo>
                    <a:pt x="239562" y="10088"/>
                  </a:lnTo>
                  <a:lnTo>
                    <a:pt x="181153" y="17577"/>
                  </a:lnTo>
                  <a:lnTo>
                    <a:pt x="129376" y="26907"/>
                  </a:lnTo>
                  <a:lnTo>
                    <a:pt x="85088" y="37943"/>
                  </a:lnTo>
                  <a:lnTo>
                    <a:pt x="22416" y="64600"/>
                  </a:lnTo>
                  <a:lnTo>
                    <a:pt x="0" y="96478"/>
                  </a:lnTo>
                  <a:lnTo>
                    <a:pt x="5747" y="112894"/>
                  </a:lnTo>
                  <a:lnTo>
                    <a:pt x="49149" y="142141"/>
                  </a:lnTo>
                  <a:lnTo>
                    <a:pt x="129376" y="165699"/>
                  </a:lnTo>
                  <a:lnTo>
                    <a:pt x="181153" y="175004"/>
                  </a:lnTo>
                  <a:lnTo>
                    <a:pt x="239562" y="182479"/>
                  </a:lnTo>
                  <a:lnTo>
                    <a:pt x="303745" y="187987"/>
                  </a:lnTo>
                  <a:lnTo>
                    <a:pt x="372844" y="191391"/>
                  </a:lnTo>
                  <a:lnTo>
                    <a:pt x="446000" y="192556"/>
                  </a:lnTo>
                  <a:lnTo>
                    <a:pt x="521730" y="191391"/>
                  </a:lnTo>
                  <a:lnTo>
                    <a:pt x="592916" y="187987"/>
                  </a:lnTo>
                  <a:lnTo>
                    <a:pt x="658750" y="182479"/>
                  </a:lnTo>
                  <a:lnTo>
                    <a:pt x="718424" y="175004"/>
                  </a:lnTo>
                  <a:lnTo>
                    <a:pt x="771132" y="165699"/>
                  </a:lnTo>
                  <a:lnTo>
                    <a:pt x="816067" y="154699"/>
                  </a:lnTo>
                  <a:lnTo>
                    <a:pt x="852421" y="142141"/>
                  </a:lnTo>
                  <a:lnTo>
                    <a:pt x="896160" y="112894"/>
                  </a:lnTo>
                  <a:lnTo>
                    <a:pt x="901930" y="96478"/>
                  </a:lnTo>
                  <a:lnTo>
                    <a:pt x="896160" y="79954"/>
                  </a:lnTo>
                  <a:lnTo>
                    <a:pt x="852421" y="50552"/>
                  </a:lnTo>
                  <a:lnTo>
                    <a:pt x="816067" y="37943"/>
                  </a:lnTo>
                  <a:lnTo>
                    <a:pt x="771132" y="26907"/>
                  </a:lnTo>
                  <a:lnTo>
                    <a:pt x="718424" y="17577"/>
                  </a:lnTo>
                  <a:lnTo>
                    <a:pt x="658750" y="10088"/>
                  </a:lnTo>
                  <a:lnTo>
                    <a:pt x="592916" y="4572"/>
                  </a:lnTo>
                  <a:lnTo>
                    <a:pt x="521730" y="1165"/>
                  </a:lnTo>
                  <a:lnTo>
                    <a:pt x="446000" y="0"/>
                  </a:lnTo>
                  <a:close/>
                </a:path>
              </a:pathLst>
            </a:custGeom>
            <a:solidFill>
              <a:srgbClr val="00B4FF"/>
            </a:solidFill>
          </p:spPr>
          <p:txBody>
            <a:bodyPr wrap="square" lIns="0" tIns="0" rIns="0" bIns="0" rtlCol="0"/>
            <a:lstStyle/>
            <a:p>
              <a:endParaRPr sz="1984"/>
            </a:p>
          </p:txBody>
        </p:sp>
        <p:sp>
          <p:nvSpPr>
            <p:cNvPr id="21" name="object 21"/>
            <p:cNvSpPr/>
            <p:nvPr/>
          </p:nvSpPr>
          <p:spPr>
            <a:xfrm>
              <a:off x="6496456" y="1408658"/>
              <a:ext cx="622300" cy="145415"/>
            </a:xfrm>
            <a:custGeom>
              <a:avLst/>
              <a:gdLst/>
              <a:ahLst/>
              <a:cxnLst/>
              <a:rect l="l" t="t" r="r" b="b"/>
              <a:pathLst>
                <a:path w="622300" h="145415">
                  <a:moveTo>
                    <a:pt x="301701" y="88417"/>
                  </a:moveTo>
                  <a:lnTo>
                    <a:pt x="228841" y="72656"/>
                  </a:lnTo>
                  <a:lnTo>
                    <a:pt x="82791" y="113385"/>
                  </a:lnTo>
                  <a:lnTo>
                    <a:pt x="0" y="105702"/>
                  </a:lnTo>
                  <a:lnTo>
                    <a:pt x="42595" y="137223"/>
                  </a:lnTo>
                  <a:lnTo>
                    <a:pt x="228841" y="137223"/>
                  </a:lnTo>
                  <a:lnTo>
                    <a:pt x="145732" y="129146"/>
                  </a:lnTo>
                  <a:lnTo>
                    <a:pt x="301701" y="88417"/>
                  </a:lnTo>
                  <a:close/>
                </a:path>
                <a:path w="622300" h="145415">
                  <a:moveTo>
                    <a:pt x="312115" y="24993"/>
                  </a:moveTo>
                  <a:lnTo>
                    <a:pt x="238925" y="33058"/>
                  </a:lnTo>
                  <a:lnTo>
                    <a:pt x="82791" y="0"/>
                  </a:lnTo>
                  <a:lnTo>
                    <a:pt x="19850" y="7708"/>
                  </a:lnTo>
                  <a:lnTo>
                    <a:pt x="166065" y="48818"/>
                  </a:lnTo>
                  <a:lnTo>
                    <a:pt x="82791" y="56502"/>
                  </a:lnTo>
                  <a:lnTo>
                    <a:pt x="279450" y="56502"/>
                  </a:lnTo>
                  <a:lnTo>
                    <a:pt x="312115" y="24993"/>
                  </a:lnTo>
                  <a:close/>
                </a:path>
                <a:path w="622300" h="145415">
                  <a:moveTo>
                    <a:pt x="611911" y="129146"/>
                  </a:moveTo>
                  <a:lnTo>
                    <a:pt x="465848" y="88417"/>
                  </a:lnTo>
                  <a:lnTo>
                    <a:pt x="549122" y="80340"/>
                  </a:lnTo>
                  <a:lnTo>
                    <a:pt x="352310" y="80340"/>
                  </a:lnTo>
                  <a:lnTo>
                    <a:pt x="312115" y="113385"/>
                  </a:lnTo>
                  <a:lnTo>
                    <a:pt x="394906" y="105702"/>
                  </a:lnTo>
                  <a:lnTo>
                    <a:pt x="549122" y="144907"/>
                  </a:lnTo>
                  <a:lnTo>
                    <a:pt x="611911" y="129146"/>
                  </a:lnTo>
                  <a:close/>
                </a:path>
                <a:path w="622300" h="145415">
                  <a:moveTo>
                    <a:pt x="621830" y="33058"/>
                  </a:moveTo>
                  <a:lnTo>
                    <a:pt x="581634" y="0"/>
                  </a:lnTo>
                  <a:lnTo>
                    <a:pt x="394906" y="0"/>
                  </a:lnTo>
                  <a:lnTo>
                    <a:pt x="478180" y="7708"/>
                  </a:lnTo>
                  <a:lnTo>
                    <a:pt x="322046" y="48818"/>
                  </a:lnTo>
                  <a:lnTo>
                    <a:pt x="394906" y="64566"/>
                  </a:lnTo>
                  <a:lnTo>
                    <a:pt x="549122" y="24993"/>
                  </a:lnTo>
                  <a:lnTo>
                    <a:pt x="621830" y="33058"/>
                  </a:lnTo>
                  <a:close/>
                </a:path>
              </a:pathLst>
            </a:custGeom>
            <a:solidFill>
              <a:srgbClr val="000000"/>
            </a:solidFill>
          </p:spPr>
          <p:txBody>
            <a:bodyPr wrap="square" lIns="0" tIns="0" rIns="0" bIns="0" rtlCol="0"/>
            <a:lstStyle/>
            <a:p>
              <a:endParaRPr sz="1984"/>
            </a:p>
          </p:txBody>
        </p:sp>
        <p:sp>
          <p:nvSpPr>
            <p:cNvPr id="22" name="object 22"/>
            <p:cNvSpPr/>
            <p:nvPr/>
          </p:nvSpPr>
          <p:spPr>
            <a:xfrm>
              <a:off x="6506375" y="1408658"/>
              <a:ext cx="612140" cy="145415"/>
            </a:xfrm>
            <a:custGeom>
              <a:avLst/>
              <a:gdLst/>
              <a:ahLst/>
              <a:cxnLst/>
              <a:rect l="l" t="t" r="r" b="b"/>
              <a:pathLst>
                <a:path w="612140" h="145415">
                  <a:moveTo>
                    <a:pt x="291782" y="88417"/>
                  </a:moveTo>
                  <a:lnTo>
                    <a:pt x="229006" y="80340"/>
                  </a:lnTo>
                  <a:lnTo>
                    <a:pt x="72872" y="121462"/>
                  </a:lnTo>
                  <a:lnTo>
                    <a:pt x="0" y="105702"/>
                  </a:lnTo>
                  <a:lnTo>
                    <a:pt x="32677" y="144907"/>
                  </a:lnTo>
                  <a:lnTo>
                    <a:pt x="229006" y="144907"/>
                  </a:lnTo>
                  <a:lnTo>
                    <a:pt x="146062" y="129146"/>
                  </a:lnTo>
                  <a:lnTo>
                    <a:pt x="291782" y="88417"/>
                  </a:lnTo>
                  <a:close/>
                </a:path>
                <a:path w="612140" h="145415">
                  <a:moveTo>
                    <a:pt x="312127" y="33058"/>
                  </a:moveTo>
                  <a:lnTo>
                    <a:pt x="239255" y="40754"/>
                  </a:lnTo>
                  <a:lnTo>
                    <a:pt x="72872" y="0"/>
                  </a:lnTo>
                  <a:lnTo>
                    <a:pt x="9931" y="15773"/>
                  </a:lnTo>
                  <a:lnTo>
                    <a:pt x="156146" y="56502"/>
                  </a:lnTo>
                  <a:lnTo>
                    <a:pt x="83286" y="64566"/>
                  </a:lnTo>
                  <a:lnTo>
                    <a:pt x="269532" y="64566"/>
                  </a:lnTo>
                  <a:lnTo>
                    <a:pt x="312127" y="33058"/>
                  </a:lnTo>
                  <a:close/>
                </a:path>
                <a:path w="612140" h="145415">
                  <a:moveTo>
                    <a:pt x="601992" y="129146"/>
                  </a:moveTo>
                  <a:lnTo>
                    <a:pt x="455930" y="96100"/>
                  </a:lnTo>
                  <a:lnTo>
                    <a:pt x="539203" y="80340"/>
                  </a:lnTo>
                  <a:lnTo>
                    <a:pt x="342392" y="80340"/>
                  </a:lnTo>
                  <a:lnTo>
                    <a:pt x="312127" y="121462"/>
                  </a:lnTo>
                  <a:lnTo>
                    <a:pt x="384987" y="105702"/>
                  </a:lnTo>
                  <a:lnTo>
                    <a:pt x="539203" y="144907"/>
                  </a:lnTo>
                  <a:lnTo>
                    <a:pt x="601992" y="129146"/>
                  </a:lnTo>
                  <a:close/>
                </a:path>
                <a:path w="612140" h="145415">
                  <a:moveTo>
                    <a:pt x="611911" y="40754"/>
                  </a:moveTo>
                  <a:lnTo>
                    <a:pt x="581647" y="0"/>
                  </a:lnTo>
                  <a:lnTo>
                    <a:pt x="395401" y="0"/>
                  </a:lnTo>
                  <a:lnTo>
                    <a:pt x="468261" y="15773"/>
                  </a:lnTo>
                  <a:lnTo>
                    <a:pt x="322059" y="56502"/>
                  </a:lnTo>
                  <a:lnTo>
                    <a:pt x="384987" y="64566"/>
                  </a:lnTo>
                  <a:lnTo>
                    <a:pt x="551383" y="24993"/>
                  </a:lnTo>
                  <a:lnTo>
                    <a:pt x="611911" y="40754"/>
                  </a:lnTo>
                  <a:close/>
                </a:path>
              </a:pathLst>
            </a:custGeom>
            <a:solidFill>
              <a:srgbClr val="FFFFFF"/>
            </a:solidFill>
          </p:spPr>
          <p:txBody>
            <a:bodyPr wrap="square" lIns="0" tIns="0" rIns="0" bIns="0" rtlCol="0"/>
            <a:lstStyle/>
            <a:p>
              <a:endParaRPr sz="1984"/>
            </a:p>
          </p:txBody>
        </p:sp>
        <p:sp>
          <p:nvSpPr>
            <p:cNvPr id="23" name="object 23"/>
            <p:cNvSpPr/>
            <p:nvPr/>
          </p:nvSpPr>
          <p:spPr>
            <a:xfrm>
              <a:off x="7296216" y="1551259"/>
              <a:ext cx="936625" cy="0"/>
            </a:xfrm>
            <a:custGeom>
              <a:avLst/>
              <a:gdLst/>
              <a:ahLst/>
              <a:cxnLst/>
              <a:rect l="l" t="t" r="r" b="b"/>
              <a:pathLst>
                <a:path w="936625">
                  <a:moveTo>
                    <a:pt x="0" y="0"/>
                  </a:moveTo>
                  <a:lnTo>
                    <a:pt x="936040" y="0"/>
                  </a:lnTo>
                </a:path>
              </a:pathLst>
            </a:custGeom>
            <a:ln w="11500">
              <a:solidFill>
                <a:srgbClr val="000000"/>
              </a:solidFill>
            </a:ln>
          </p:spPr>
          <p:txBody>
            <a:bodyPr wrap="square" lIns="0" tIns="0" rIns="0" bIns="0" rtlCol="0"/>
            <a:lstStyle/>
            <a:p>
              <a:endParaRPr sz="1984"/>
            </a:p>
          </p:txBody>
        </p:sp>
        <p:sp>
          <p:nvSpPr>
            <p:cNvPr id="24" name="object 24"/>
            <p:cNvSpPr/>
            <p:nvPr/>
          </p:nvSpPr>
          <p:spPr>
            <a:xfrm>
              <a:off x="8232257" y="1045459"/>
              <a:ext cx="0" cy="1088390"/>
            </a:xfrm>
            <a:custGeom>
              <a:avLst/>
              <a:gdLst/>
              <a:ahLst/>
              <a:cxnLst/>
              <a:rect l="l" t="t" r="r" b="b"/>
              <a:pathLst>
                <a:path h="1088389">
                  <a:moveTo>
                    <a:pt x="0" y="0"/>
                  </a:moveTo>
                  <a:lnTo>
                    <a:pt x="0" y="1088140"/>
                  </a:lnTo>
                </a:path>
              </a:pathLst>
            </a:custGeom>
            <a:ln w="11503">
              <a:solidFill>
                <a:srgbClr val="000000"/>
              </a:solidFill>
            </a:ln>
          </p:spPr>
          <p:txBody>
            <a:bodyPr wrap="square" lIns="0" tIns="0" rIns="0" bIns="0" rtlCol="0"/>
            <a:lstStyle/>
            <a:p>
              <a:endParaRPr sz="1984"/>
            </a:p>
          </p:txBody>
        </p:sp>
      </p:grpSp>
      <p:sp>
        <p:nvSpPr>
          <p:cNvPr id="25" name="object 25"/>
          <p:cNvSpPr txBox="1"/>
          <p:nvPr/>
        </p:nvSpPr>
        <p:spPr>
          <a:xfrm>
            <a:off x="3173652" y="2496683"/>
            <a:ext cx="3716840" cy="226888"/>
          </a:xfrm>
          <a:prstGeom prst="rect">
            <a:avLst/>
          </a:prstGeom>
        </p:spPr>
        <p:txBody>
          <a:bodyPr vert="horz" wrap="square" lIns="0" tIns="14699" rIns="0" bIns="0" rtlCol="0">
            <a:spAutoFit/>
          </a:bodyPr>
          <a:lstStyle/>
          <a:p>
            <a:pPr marL="13999">
              <a:spcBef>
                <a:spcPts val="116"/>
              </a:spcBef>
              <a:tabLst>
                <a:tab pos="2522658" algn="l"/>
              </a:tabLst>
            </a:pPr>
            <a:r>
              <a:rPr sz="1378" b="1" dirty="0">
                <a:latin typeface="Arial"/>
                <a:cs typeface="Arial"/>
              </a:rPr>
              <a:t>172.16.0.0/16	192.168.1.0/24</a:t>
            </a:r>
            <a:endParaRPr sz="1378" dirty="0">
              <a:latin typeface="Arial"/>
              <a:cs typeface="Arial"/>
            </a:endParaRPr>
          </a:p>
        </p:txBody>
      </p:sp>
      <p:sp>
        <p:nvSpPr>
          <p:cNvPr id="26" name="object 26"/>
          <p:cNvSpPr txBox="1"/>
          <p:nvPr/>
        </p:nvSpPr>
        <p:spPr>
          <a:xfrm>
            <a:off x="924251" y="2496683"/>
            <a:ext cx="1195549"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192.168.2.0/24</a:t>
            </a:r>
            <a:endParaRPr sz="1378">
              <a:latin typeface="Arial"/>
              <a:cs typeface="Arial"/>
            </a:endParaRPr>
          </a:p>
        </p:txBody>
      </p:sp>
      <p:sp>
        <p:nvSpPr>
          <p:cNvPr id="27" name="object 27"/>
          <p:cNvSpPr txBox="1"/>
          <p:nvPr/>
        </p:nvSpPr>
        <p:spPr>
          <a:xfrm>
            <a:off x="8036142" y="3372824"/>
            <a:ext cx="174293"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.1</a:t>
            </a:r>
            <a:endParaRPr sz="1378">
              <a:latin typeface="Arial"/>
              <a:cs typeface="Arial"/>
            </a:endParaRPr>
          </a:p>
        </p:txBody>
      </p:sp>
      <p:sp>
        <p:nvSpPr>
          <p:cNvPr id="28" name="object 28"/>
          <p:cNvSpPr txBox="1"/>
          <p:nvPr/>
        </p:nvSpPr>
        <p:spPr>
          <a:xfrm>
            <a:off x="8086805" y="2496683"/>
            <a:ext cx="903661"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10.1.0.0/16</a:t>
            </a:r>
            <a:endParaRPr sz="1378">
              <a:latin typeface="Arial"/>
              <a:cs typeface="Arial"/>
            </a:endParaRPr>
          </a:p>
        </p:txBody>
      </p:sp>
      <p:sp>
        <p:nvSpPr>
          <p:cNvPr id="29" name="object 29"/>
          <p:cNvSpPr txBox="1"/>
          <p:nvPr/>
        </p:nvSpPr>
        <p:spPr>
          <a:xfrm>
            <a:off x="2260310" y="2736472"/>
            <a:ext cx="5425467" cy="399563"/>
          </a:xfrm>
          <a:prstGeom prst="rect">
            <a:avLst/>
          </a:prstGeom>
        </p:spPr>
        <p:txBody>
          <a:bodyPr vert="horz" wrap="square" lIns="0" tIns="14699" rIns="0" bIns="0" rtlCol="0">
            <a:spAutoFit/>
          </a:bodyPr>
          <a:lstStyle/>
          <a:p>
            <a:pPr algn="ctr">
              <a:lnSpc>
                <a:spcPts val="1450"/>
              </a:lnSpc>
              <a:spcBef>
                <a:spcPts val="116"/>
              </a:spcBef>
              <a:tabLst>
                <a:tab pos="2493959" algn="l"/>
                <a:tab pos="5032716" algn="l"/>
              </a:tabLst>
            </a:pPr>
            <a:r>
              <a:rPr sz="1378" b="1" spc="6" dirty="0">
                <a:latin typeface="Arial"/>
                <a:cs typeface="Arial"/>
              </a:rPr>
              <a:t>RTA	RTB	RTC</a:t>
            </a:r>
            <a:endParaRPr sz="1378">
              <a:latin typeface="Arial"/>
              <a:cs typeface="Arial"/>
            </a:endParaRPr>
          </a:p>
          <a:p>
            <a:pPr marR="34998" algn="ctr">
              <a:lnSpc>
                <a:spcPts val="1450"/>
              </a:lnSpc>
              <a:tabLst>
                <a:tab pos="1268328" algn="l"/>
                <a:tab pos="2536657" algn="l"/>
                <a:tab pos="3804985" algn="l"/>
              </a:tabLst>
            </a:pPr>
            <a:r>
              <a:rPr sz="1378" b="1" dirty="0">
                <a:latin typeface="Arial"/>
                <a:cs typeface="Arial"/>
              </a:rPr>
              <a:t>s0	s0	s1	</a:t>
            </a:r>
            <a:r>
              <a:rPr sz="1378" b="1" spc="-6" dirty="0">
                <a:latin typeface="Arial"/>
                <a:cs typeface="Arial"/>
              </a:rPr>
              <a:t>s1</a:t>
            </a:r>
            <a:endParaRPr sz="1378">
              <a:latin typeface="Arial"/>
              <a:cs typeface="Arial"/>
            </a:endParaRPr>
          </a:p>
        </p:txBody>
      </p:sp>
      <p:sp>
        <p:nvSpPr>
          <p:cNvPr id="30" name="object 30"/>
          <p:cNvSpPr txBox="1"/>
          <p:nvPr/>
        </p:nvSpPr>
        <p:spPr>
          <a:xfrm>
            <a:off x="1668567" y="2895344"/>
            <a:ext cx="222590"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e0</a:t>
            </a:r>
            <a:endParaRPr sz="1378">
              <a:latin typeface="Arial"/>
              <a:cs typeface="Arial"/>
            </a:endParaRPr>
          </a:p>
        </p:txBody>
      </p:sp>
      <p:sp>
        <p:nvSpPr>
          <p:cNvPr id="31" name="object 31"/>
          <p:cNvSpPr txBox="1"/>
          <p:nvPr/>
        </p:nvSpPr>
        <p:spPr>
          <a:xfrm>
            <a:off x="8012486" y="2895344"/>
            <a:ext cx="222590"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e0</a:t>
            </a:r>
            <a:endParaRPr sz="1378">
              <a:latin typeface="Arial"/>
              <a:cs typeface="Arial"/>
            </a:endParaRPr>
          </a:p>
        </p:txBody>
      </p:sp>
      <p:sp>
        <p:nvSpPr>
          <p:cNvPr id="32" name="object 32"/>
          <p:cNvSpPr/>
          <p:nvPr/>
        </p:nvSpPr>
        <p:spPr>
          <a:xfrm>
            <a:off x="672500" y="3832980"/>
            <a:ext cx="8567632" cy="2267903"/>
          </a:xfrm>
          <a:custGeom>
            <a:avLst/>
            <a:gdLst/>
            <a:ahLst/>
            <a:cxnLst/>
            <a:rect l="l" t="t" r="r" b="b"/>
            <a:pathLst>
              <a:path w="7772400" h="2057400">
                <a:moveTo>
                  <a:pt x="0" y="2057400"/>
                </a:moveTo>
                <a:lnTo>
                  <a:pt x="7772400" y="2057400"/>
                </a:lnTo>
                <a:lnTo>
                  <a:pt x="7772400" y="0"/>
                </a:lnTo>
                <a:lnTo>
                  <a:pt x="0" y="0"/>
                </a:lnTo>
                <a:lnTo>
                  <a:pt x="0" y="2057400"/>
                </a:lnTo>
                <a:close/>
              </a:path>
            </a:pathLst>
          </a:custGeom>
          <a:ln w="12700">
            <a:solidFill>
              <a:srgbClr val="000000"/>
            </a:solidFill>
          </a:ln>
        </p:spPr>
        <p:txBody>
          <a:bodyPr wrap="square" lIns="0" tIns="0" rIns="0" bIns="0" rtlCol="0"/>
          <a:lstStyle/>
          <a:p>
            <a:endParaRPr sz="1984"/>
          </a:p>
        </p:txBody>
      </p:sp>
      <p:sp>
        <p:nvSpPr>
          <p:cNvPr id="33" name="object 33"/>
          <p:cNvSpPr txBox="1"/>
          <p:nvPr/>
        </p:nvSpPr>
        <p:spPr>
          <a:xfrm>
            <a:off x="759297" y="3372824"/>
            <a:ext cx="6714811" cy="1024543"/>
          </a:xfrm>
          <a:prstGeom prst="rect">
            <a:avLst/>
          </a:prstGeom>
        </p:spPr>
        <p:txBody>
          <a:bodyPr vert="horz" wrap="square" lIns="0" tIns="14699" rIns="0" bIns="0" rtlCol="0">
            <a:spAutoFit/>
          </a:bodyPr>
          <a:lstStyle/>
          <a:p>
            <a:pPr marL="948446">
              <a:spcBef>
                <a:spcPts val="116"/>
              </a:spcBef>
              <a:tabLst>
                <a:tab pos="2216775" algn="l"/>
                <a:tab pos="3485103" algn="l"/>
                <a:tab pos="4753432" algn="l"/>
                <a:tab pos="6021760" algn="l"/>
              </a:tabLst>
            </a:pPr>
            <a:r>
              <a:rPr sz="1378" b="1" spc="-6" dirty="0">
                <a:latin typeface="Arial"/>
                <a:cs typeface="Arial"/>
              </a:rPr>
              <a:t>.1	.1	.2	.1	.2</a:t>
            </a:r>
            <a:endParaRPr sz="1378" dirty="0">
              <a:latin typeface="Arial"/>
              <a:cs typeface="Arial"/>
            </a:endParaRPr>
          </a:p>
          <a:p>
            <a:pPr>
              <a:spcBef>
                <a:spcPts val="44"/>
              </a:spcBef>
            </a:pPr>
            <a:endParaRPr sz="1764" dirty="0">
              <a:latin typeface="Arial"/>
              <a:cs typeface="Arial"/>
            </a:endParaRPr>
          </a:p>
          <a:p>
            <a:pPr marL="13999"/>
            <a:r>
              <a:rPr sz="1543" spc="-6" dirty="0">
                <a:latin typeface="Courier New"/>
                <a:cs typeface="Courier New"/>
              </a:rPr>
              <a:t>RTA(config)#ip</a:t>
            </a:r>
            <a:r>
              <a:rPr sz="1543" spc="-50" dirty="0">
                <a:latin typeface="Courier New"/>
                <a:cs typeface="Courier New"/>
              </a:rPr>
              <a:t> </a:t>
            </a:r>
            <a:r>
              <a:rPr sz="1543" spc="-6" dirty="0">
                <a:latin typeface="Courier New"/>
                <a:cs typeface="Courier New"/>
              </a:rPr>
              <a:t>route 192.168.1.0</a:t>
            </a:r>
            <a:r>
              <a:rPr sz="1543" spc="-33" dirty="0">
                <a:latin typeface="Courier New"/>
                <a:cs typeface="Courier New"/>
              </a:rPr>
              <a:t> </a:t>
            </a:r>
            <a:r>
              <a:rPr sz="1543" spc="-6" dirty="0">
                <a:latin typeface="Courier New"/>
                <a:cs typeface="Courier New"/>
              </a:rPr>
              <a:t>255.255.255.0</a:t>
            </a:r>
            <a:r>
              <a:rPr sz="1543" spc="-33" dirty="0">
                <a:latin typeface="Courier New"/>
                <a:cs typeface="Courier New"/>
              </a:rPr>
              <a:t> </a:t>
            </a:r>
            <a:r>
              <a:rPr sz="1543" spc="-6" dirty="0">
                <a:latin typeface="Courier New"/>
                <a:cs typeface="Courier New"/>
              </a:rPr>
              <a:t>172.16.0.2</a:t>
            </a:r>
            <a:endParaRPr sz="1543" dirty="0">
              <a:latin typeface="Courier New"/>
              <a:cs typeface="Courier New"/>
            </a:endParaRPr>
          </a:p>
          <a:p>
            <a:pPr marL="13999">
              <a:spcBef>
                <a:spcPts val="375"/>
              </a:spcBef>
            </a:pPr>
            <a:r>
              <a:rPr sz="1543" spc="-6" dirty="0">
                <a:latin typeface="Courier New"/>
                <a:cs typeface="Courier New"/>
              </a:rPr>
              <a:t>RTA(config)#ip</a:t>
            </a:r>
            <a:r>
              <a:rPr sz="1543" spc="-55" dirty="0">
                <a:latin typeface="Courier New"/>
                <a:cs typeface="Courier New"/>
              </a:rPr>
              <a:t> </a:t>
            </a:r>
            <a:r>
              <a:rPr sz="1543" spc="-6" dirty="0">
                <a:latin typeface="Courier New"/>
                <a:cs typeface="Courier New"/>
              </a:rPr>
              <a:t>route 10.1.0.0</a:t>
            </a:r>
            <a:r>
              <a:rPr sz="1543" spc="-28" dirty="0">
                <a:latin typeface="Courier New"/>
                <a:cs typeface="Courier New"/>
              </a:rPr>
              <a:t> </a:t>
            </a:r>
            <a:r>
              <a:rPr sz="1543" spc="-6" dirty="0">
                <a:latin typeface="Courier New"/>
                <a:cs typeface="Courier New"/>
              </a:rPr>
              <a:t>255.255.0.0</a:t>
            </a:r>
            <a:r>
              <a:rPr sz="1543" spc="-33" dirty="0">
                <a:latin typeface="Courier New"/>
                <a:cs typeface="Courier New"/>
              </a:rPr>
              <a:t> </a:t>
            </a:r>
            <a:r>
              <a:rPr sz="1543" spc="-6" dirty="0">
                <a:latin typeface="Courier New"/>
                <a:cs typeface="Courier New"/>
              </a:rPr>
              <a:t>172.16.0.2</a:t>
            </a:r>
            <a:endParaRPr sz="1543" dirty="0">
              <a:latin typeface="Courier New"/>
              <a:cs typeface="Courier New"/>
            </a:endParaRPr>
          </a:p>
        </p:txBody>
      </p:sp>
      <p:sp>
        <p:nvSpPr>
          <p:cNvPr id="34" name="object 34"/>
          <p:cNvSpPr txBox="1"/>
          <p:nvPr/>
        </p:nvSpPr>
        <p:spPr>
          <a:xfrm>
            <a:off x="759297" y="4646809"/>
            <a:ext cx="6832406" cy="1461618"/>
          </a:xfrm>
          <a:prstGeom prst="rect">
            <a:avLst/>
          </a:prstGeom>
        </p:spPr>
        <p:txBody>
          <a:bodyPr vert="horz" wrap="square" lIns="0" tIns="60896" rIns="0" bIns="0" rtlCol="0">
            <a:spAutoFit/>
          </a:bodyPr>
          <a:lstStyle/>
          <a:p>
            <a:pPr marL="13999">
              <a:spcBef>
                <a:spcPts val="478"/>
              </a:spcBef>
            </a:pPr>
            <a:r>
              <a:rPr sz="1543" spc="-6" dirty="0">
                <a:latin typeface="Courier New"/>
                <a:cs typeface="Courier New"/>
              </a:rPr>
              <a:t>RTB(config)#ip</a:t>
            </a:r>
            <a:r>
              <a:rPr sz="1543" spc="-55" dirty="0">
                <a:latin typeface="Courier New"/>
                <a:cs typeface="Courier New"/>
              </a:rPr>
              <a:t> </a:t>
            </a:r>
            <a:r>
              <a:rPr sz="1543" spc="-6" dirty="0">
                <a:latin typeface="Courier New"/>
                <a:cs typeface="Courier New"/>
              </a:rPr>
              <a:t>route</a:t>
            </a:r>
            <a:r>
              <a:rPr sz="1543" spc="-11" dirty="0">
                <a:latin typeface="Courier New"/>
                <a:cs typeface="Courier New"/>
              </a:rPr>
              <a:t> </a:t>
            </a:r>
            <a:r>
              <a:rPr sz="1543" spc="-6" dirty="0">
                <a:latin typeface="Courier New"/>
                <a:cs typeface="Courier New"/>
              </a:rPr>
              <a:t>192.168.2.0</a:t>
            </a:r>
            <a:r>
              <a:rPr sz="1543" spc="-39" dirty="0">
                <a:latin typeface="Courier New"/>
                <a:cs typeface="Courier New"/>
              </a:rPr>
              <a:t> </a:t>
            </a:r>
            <a:r>
              <a:rPr sz="1543" spc="-6" dirty="0">
                <a:latin typeface="Courier New"/>
                <a:cs typeface="Courier New"/>
              </a:rPr>
              <a:t>255.255.255.0</a:t>
            </a:r>
            <a:r>
              <a:rPr sz="1543" spc="-44" dirty="0">
                <a:latin typeface="Courier New"/>
                <a:cs typeface="Courier New"/>
              </a:rPr>
              <a:t> </a:t>
            </a:r>
            <a:r>
              <a:rPr sz="1543" spc="-6" dirty="0">
                <a:latin typeface="Courier New"/>
                <a:cs typeface="Courier New"/>
              </a:rPr>
              <a:t>172.16.0.1</a:t>
            </a:r>
            <a:endParaRPr sz="1543" dirty="0">
              <a:latin typeface="Courier New"/>
              <a:cs typeface="Courier New"/>
            </a:endParaRPr>
          </a:p>
          <a:p>
            <a:pPr marL="13999">
              <a:spcBef>
                <a:spcPts val="369"/>
              </a:spcBef>
            </a:pPr>
            <a:r>
              <a:rPr sz="1543" spc="-6" dirty="0">
                <a:latin typeface="Courier New"/>
                <a:cs typeface="Courier New"/>
              </a:rPr>
              <a:t>RTB(config)#ip</a:t>
            </a:r>
            <a:r>
              <a:rPr sz="1543" spc="-55" dirty="0">
                <a:latin typeface="Courier New"/>
                <a:cs typeface="Courier New"/>
              </a:rPr>
              <a:t> </a:t>
            </a:r>
            <a:r>
              <a:rPr sz="1543" spc="-6" dirty="0">
                <a:latin typeface="Courier New"/>
                <a:cs typeface="Courier New"/>
              </a:rPr>
              <a:t>route 10.1.0.0</a:t>
            </a:r>
            <a:r>
              <a:rPr sz="1543" spc="-22" dirty="0">
                <a:latin typeface="Courier New"/>
                <a:cs typeface="Courier New"/>
              </a:rPr>
              <a:t> </a:t>
            </a:r>
            <a:r>
              <a:rPr sz="1543" spc="-6" dirty="0">
                <a:latin typeface="Courier New"/>
                <a:cs typeface="Courier New"/>
              </a:rPr>
              <a:t>255.255.0.0</a:t>
            </a:r>
            <a:r>
              <a:rPr sz="1543" spc="-33" dirty="0">
                <a:latin typeface="Courier New"/>
                <a:cs typeface="Courier New"/>
              </a:rPr>
              <a:t> </a:t>
            </a:r>
            <a:r>
              <a:rPr sz="1543" spc="-6" dirty="0">
                <a:latin typeface="Courier New"/>
                <a:cs typeface="Courier New"/>
              </a:rPr>
              <a:t>192.168.1.2</a:t>
            </a:r>
            <a:endParaRPr sz="1543" dirty="0">
              <a:latin typeface="Courier New"/>
              <a:cs typeface="Courier New"/>
            </a:endParaRPr>
          </a:p>
          <a:p>
            <a:pPr>
              <a:spcBef>
                <a:spcPts val="33"/>
              </a:spcBef>
            </a:pPr>
            <a:endParaRPr sz="2260" dirty="0">
              <a:latin typeface="Courier New"/>
              <a:cs typeface="Courier New"/>
            </a:endParaRPr>
          </a:p>
          <a:p>
            <a:pPr marL="13999"/>
            <a:r>
              <a:rPr sz="1543" spc="-6" dirty="0">
                <a:latin typeface="Courier New"/>
                <a:cs typeface="Courier New"/>
              </a:rPr>
              <a:t>RTC(config)#ip</a:t>
            </a:r>
            <a:r>
              <a:rPr sz="1543" spc="-50" dirty="0">
                <a:latin typeface="Courier New"/>
                <a:cs typeface="Courier New"/>
              </a:rPr>
              <a:t> </a:t>
            </a:r>
            <a:r>
              <a:rPr sz="1543" spc="-6" dirty="0">
                <a:latin typeface="Courier New"/>
                <a:cs typeface="Courier New"/>
              </a:rPr>
              <a:t>route</a:t>
            </a:r>
            <a:r>
              <a:rPr sz="1543" dirty="0">
                <a:latin typeface="Courier New"/>
                <a:cs typeface="Courier New"/>
              </a:rPr>
              <a:t> </a:t>
            </a:r>
            <a:r>
              <a:rPr sz="1543" spc="-6" dirty="0">
                <a:latin typeface="Courier New"/>
                <a:cs typeface="Courier New"/>
              </a:rPr>
              <a:t>192.168.2.0</a:t>
            </a:r>
            <a:r>
              <a:rPr sz="1543" spc="-33" dirty="0">
                <a:latin typeface="Courier New"/>
                <a:cs typeface="Courier New"/>
              </a:rPr>
              <a:t> </a:t>
            </a:r>
            <a:r>
              <a:rPr sz="1543" spc="-6" dirty="0">
                <a:latin typeface="Courier New"/>
                <a:cs typeface="Courier New"/>
              </a:rPr>
              <a:t>255.255.255.0</a:t>
            </a:r>
            <a:r>
              <a:rPr sz="1543" spc="-28" dirty="0">
                <a:latin typeface="Courier New"/>
                <a:cs typeface="Courier New"/>
              </a:rPr>
              <a:t> </a:t>
            </a:r>
            <a:r>
              <a:rPr sz="1543" spc="-6" dirty="0">
                <a:latin typeface="Courier New"/>
                <a:cs typeface="Courier New"/>
              </a:rPr>
              <a:t>192.168.1.1</a:t>
            </a:r>
            <a:endParaRPr sz="1543" dirty="0">
              <a:latin typeface="Courier New"/>
              <a:cs typeface="Courier New"/>
            </a:endParaRPr>
          </a:p>
          <a:p>
            <a:pPr marL="13999">
              <a:spcBef>
                <a:spcPts val="375"/>
              </a:spcBef>
            </a:pPr>
            <a:r>
              <a:rPr sz="1543" spc="-6" dirty="0">
                <a:latin typeface="Courier New"/>
                <a:cs typeface="Courier New"/>
              </a:rPr>
              <a:t>RTC(config)#ip</a:t>
            </a:r>
            <a:r>
              <a:rPr sz="1543" spc="-50" dirty="0">
                <a:latin typeface="Courier New"/>
                <a:cs typeface="Courier New"/>
              </a:rPr>
              <a:t> </a:t>
            </a:r>
            <a:r>
              <a:rPr sz="1543" spc="-6" dirty="0">
                <a:latin typeface="Courier New"/>
                <a:cs typeface="Courier New"/>
              </a:rPr>
              <a:t>route 172.16.0.0</a:t>
            </a:r>
            <a:r>
              <a:rPr sz="1543" spc="-33" dirty="0">
                <a:latin typeface="Courier New"/>
                <a:cs typeface="Courier New"/>
              </a:rPr>
              <a:t> </a:t>
            </a:r>
            <a:r>
              <a:rPr sz="1543" spc="-6" dirty="0">
                <a:latin typeface="Courier New"/>
                <a:cs typeface="Courier New"/>
              </a:rPr>
              <a:t>255.255.0.0</a:t>
            </a:r>
            <a:r>
              <a:rPr sz="1543" spc="-22" dirty="0">
                <a:latin typeface="Courier New"/>
                <a:cs typeface="Courier New"/>
              </a:rPr>
              <a:t> </a:t>
            </a:r>
            <a:r>
              <a:rPr sz="1543" spc="-6" dirty="0">
                <a:latin typeface="Courier New"/>
                <a:cs typeface="Courier New"/>
              </a:rPr>
              <a:t>192.168.1.1</a:t>
            </a:r>
            <a:endParaRPr sz="1543" dirty="0">
              <a:latin typeface="Courier New"/>
              <a:cs typeface="Courier New"/>
            </a:endParaRPr>
          </a:p>
        </p:txBody>
      </p:sp>
    </p:spTree>
    <p:extLst>
      <p:ext uri="{BB962C8B-B14F-4D97-AF65-F5344CB8AC3E}">
        <p14:creationId xmlns:p14="http://schemas.microsoft.com/office/powerpoint/2010/main" val="547650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2499" y="415887"/>
            <a:ext cx="7235833" cy="691244"/>
          </a:xfrm>
          <a:prstGeom prst="rect">
            <a:avLst/>
          </a:prstGeom>
        </p:spPr>
        <p:txBody>
          <a:bodyPr vert="horz" wrap="square" lIns="0" tIns="13999" rIns="0" bIns="0" rtlCol="0" anchor="ctr">
            <a:spAutoFit/>
          </a:bodyPr>
          <a:lstStyle/>
          <a:p>
            <a:pPr marL="13999">
              <a:lnSpc>
                <a:spcPct val="100000"/>
              </a:lnSpc>
              <a:spcBef>
                <a:spcPts val="110"/>
              </a:spcBef>
            </a:pPr>
            <a:r>
              <a:rPr b="1" spc="204" dirty="0">
                <a:solidFill>
                  <a:schemeClr val="bg1"/>
                </a:solidFill>
                <a:latin typeface="Times New Roman" panose="02020603050405020304" pitchFamily="18" charset="0"/>
                <a:cs typeface="Times New Roman" panose="02020603050405020304" pitchFamily="18" charset="0"/>
              </a:rPr>
              <a:t>Configuring</a:t>
            </a:r>
            <a:r>
              <a:rPr b="1" spc="72"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static</a:t>
            </a:r>
            <a:r>
              <a:rPr b="1" spc="94" dirty="0">
                <a:solidFill>
                  <a:schemeClr val="bg1"/>
                </a:solidFill>
                <a:latin typeface="Times New Roman" panose="02020603050405020304" pitchFamily="18" charset="0"/>
                <a:cs typeface="Times New Roman" panose="02020603050405020304" pitchFamily="18" charset="0"/>
              </a:rPr>
              <a:t> </a:t>
            </a:r>
            <a:r>
              <a:rPr b="1" spc="17" dirty="0">
                <a:solidFill>
                  <a:schemeClr val="bg1"/>
                </a:solidFill>
                <a:latin typeface="Times New Roman" panose="02020603050405020304" pitchFamily="18" charset="0"/>
                <a:cs typeface="Times New Roman" panose="02020603050405020304" pitchFamily="18" charset="0"/>
              </a:rPr>
              <a:t>routes</a:t>
            </a:r>
          </a:p>
        </p:txBody>
      </p:sp>
      <p:grpSp>
        <p:nvGrpSpPr>
          <p:cNvPr id="4" name="object 4"/>
          <p:cNvGrpSpPr/>
          <p:nvPr/>
        </p:nvGrpSpPr>
        <p:grpSpPr>
          <a:xfrm>
            <a:off x="4451952" y="2543960"/>
            <a:ext cx="2484193" cy="363984"/>
            <a:chOff x="4038250" y="1384831"/>
            <a:chExt cx="2253615" cy="330200"/>
          </a:xfrm>
        </p:grpSpPr>
        <p:sp>
          <p:nvSpPr>
            <p:cNvPr id="5" name="object 5"/>
            <p:cNvSpPr/>
            <p:nvPr/>
          </p:nvSpPr>
          <p:spPr>
            <a:xfrm>
              <a:off x="4038244" y="1481315"/>
              <a:ext cx="904240" cy="233679"/>
            </a:xfrm>
            <a:custGeom>
              <a:avLst/>
              <a:gdLst/>
              <a:ahLst/>
              <a:cxnLst/>
              <a:rect l="l" t="t" r="r" b="b"/>
              <a:pathLst>
                <a:path w="904239" h="233680">
                  <a:moveTo>
                    <a:pt x="903770" y="0"/>
                  </a:moveTo>
                  <a:lnTo>
                    <a:pt x="0" y="0"/>
                  </a:lnTo>
                  <a:lnTo>
                    <a:pt x="0" y="136829"/>
                  </a:lnTo>
                  <a:lnTo>
                    <a:pt x="22479" y="168694"/>
                  </a:lnTo>
                  <a:lnTo>
                    <a:pt x="85318" y="195351"/>
                  </a:lnTo>
                  <a:lnTo>
                    <a:pt x="129692" y="206387"/>
                  </a:lnTo>
                  <a:lnTo>
                    <a:pt x="181571" y="215709"/>
                  </a:lnTo>
                  <a:lnTo>
                    <a:pt x="240068" y="223202"/>
                  </a:lnTo>
                  <a:lnTo>
                    <a:pt x="304317" y="228714"/>
                  </a:lnTo>
                  <a:lnTo>
                    <a:pt x="373468" y="232117"/>
                  </a:lnTo>
                  <a:lnTo>
                    <a:pt x="446646" y="233286"/>
                  </a:lnTo>
                  <a:lnTo>
                    <a:pt x="522592" y="232117"/>
                  </a:lnTo>
                  <a:lnTo>
                    <a:pt x="593979" y="228714"/>
                  </a:lnTo>
                  <a:lnTo>
                    <a:pt x="659980" y="223202"/>
                  </a:lnTo>
                  <a:lnTo>
                    <a:pt x="719810" y="215709"/>
                  </a:lnTo>
                  <a:lnTo>
                    <a:pt x="772629" y="206387"/>
                  </a:lnTo>
                  <a:lnTo>
                    <a:pt x="817664" y="195351"/>
                  </a:lnTo>
                  <a:lnTo>
                    <a:pt x="854087" y="182740"/>
                  </a:lnTo>
                  <a:lnTo>
                    <a:pt x="897915" y="153339"/>
                  </a:lnTo>
                  <a:lnTo>
                    <a:pt x="903693" y="136829"/>
                  </a:lnTo>
                  <a:lnTo>
                    <a:pt x="903770" y="0"/>
                  </a:lnTo>
                  <a:close/>
                </a:path>
              </a:pathLst>
            </a:custGeom>
            <a:solidFill>
              <a:srgbClr val="0078AA"/>
            </a:solidFill>
          </p:spPr>
          <p:txBody>
            <a:bodyPr wrap="square" lIns="0" tIns="0" rIns="0" bIns="0" rtlCol="0"/>
            <a:lstStyle/>
            <a:p>
              <a:endParaRPr sz="1984"/>
            </a:p>
          </p:txBody>
        </p:sp>
        <p:sp>
          <p:nvSpPr>
            <p:cNvPr id="6" name="object 6"/>
            <p:cNvSpPr/>
            <p:nvPr/>
          </p:nvSpPr>
          <p:spPr>
            <a:xfrm>
              <a:off x="4038250" y="1384831"/>
              <a:ext cx="904240" cy="193040"/>
            </a:xfrm>
            <a:custGeom>
              <a:avLst/>
              <a:gdLst/>
              <a:ahLst/>
              <a:cxnLst/>
              <a:rect l="l" t="t" r="r" b="b"/>
              <a:pathLst>
                <a:path w="904239" h="193040">
                  <a:moveTo>
                    <a:pt x="446641" y="0"/>
                  </a:moveTo>
                  <a:lnTo>
                    <a:pt x="373466" y="1165"/>
                  </a:lnTo>
                  <a:lnTo>
                    <a:pt x="304319" y="4572"/>
                  </a:lnTo>
                  <a:lnTo>
                    <a:pt x="240064" y="10088"/>
                  </a:lnTo>
                  <a:lnTo>
                    <a:pt x="181568" y="17577"/>
                  </a:lnTo>
                  <a:lnTo>
                    <a:pt x="129696" y="26907"/>
                  </a:lnTo>
                  <a:lnTo>
                    <a:pt x="85314" y="37943"/>
                  </a:lnTo>
                  <a:lnTo>
                    <a:pt x="49287" y="50552"/>
                  </a:lnTo>
                  <a:lnTo>
                    <a:pt x="5765" y="79954"/>
                  </a:lnTo>
                  <a:lnTo>
                    <a:pt x="0" y="96478"/>
                  </a:lnTo>
                  <a:lnTo>
                    <a:pt x="5765" y="112894"/>
                  </a:lnTo>
                  <a:lnTo>
                    <a:pt x="49287" y="142141"/>
                  </a:lnTo>
                  <a:lnTo>
                    <a:pt x="85314" y="154699"/>
                  </a:lnTo>
                  <a:lnTo>
                    <a:pt x="129696" y="165699"/>
                  </a:lnTo>
                  <a:lnTo>
                    <a:pt x="181568" y="175004"/>
                  </a:lnTo>
                  <a:lnTo>
                    <a:pt x="240064" y="182479"/>
                  </a:lnTo>
                  <a:lnTo>
                    <a:pt x="304319" y="187987"/>
                  </a:lnTo>
                  <a:lnTo>
                    <a:pt x="373466" y="191391"/>
                  </a:lnTo>
                  <a:lnTo>
                    <a:pt x="446641" y="192556"/>
                  </a:lnTo>
                  <a:lnTo>
                    <a:pt x="522597" y="191391"/>
                  </a:lnTo>
                  <a:lnTo>
                    <a:pt x="593981" y="187987"/>
                  </a:lnTo>
                  <a:lnTo>
                    <a:pt x="659985" y="182479"/>
                  </a:lnTo>
                  <a:lnTo>
                    <a:pt x="719805" y="175004"/>
                  </a:lnTo>
                  <a:lnTo>
                    <a:pt x="772633" y="165699"/>
                  </a:lnTo>
                  <a:lnTo>
                    <a:pt x="817664" y="154699"/>
                  </a:lnTo>
                  <a:lnTo>
                    <a:pt x="854092" y="142141"/>
                  </a:lnTo>
                  <a:lnTo>
                    <a:pt x="897911" y="112894"/>
                  </a:lnTo>
                  <a:lnTo>
                    <a:pt x="903691" y="96478"/>
                  </a:lnTo>
                  <a:lnTo>
                    <a:pt x="897911" y="79954"/>
                  </a:lnTo>
                  <a:lnTo>
                    <a:pt x="854092" y="50552"/>
                  </a:lnTo>
                  <a:lnTo>
                    <a:pt x="817664" y="37943"/>
                  </a:lnTo>
                  <a:lnTo>
                    <a:pt x="772633" y="26907"/>
                  </a:lnTo>
                  <a:lnTo>
                    <a:pt x="719805" y="17577"/>
                  </a:lnTo>
                  <a:lnTo>
                    <a:pt x="659985" y="10088"/>
                  </a:lnTo>
                  <a:lnTo>
                    <a:pt x="593981" y="4572"/>
                  </a:lnTo>
                  <a:lnTo>
                    <a:pt x="522597" y="1165"/>
                  </a:lnTo>
                  <a:lnTo>
                    <a:pt x="446641" y="0"/>
                  </a:lnTo>
                  <a:close/>
                </a:path>
              </a:pathLst>
            </a:custGeom>
            <a:solidFill>
              <a:srgbClr val="00B4FF"/>
            </a:solidFill>
          </p:spPr>
          <p:txBody>
            <a:bodyPr wrap="square" lIns="0" tIns="0" rIns="0" bIns="0" rtlCol="0"/>
            <a:lstStyle/>
            <a:p>
              <a:endParaRPr sz="1984"/>
            </a:p>
          </p:txBody>
        </p:sp>
        <p:sp>
          <p:nvSpPr>
            <p:cNvPr id="7" name="object 7"/>
            <p:cNvSpPr/>
            <p:nvPr/>
          </p:nvSpPr>
          <p:spPr>
            <a:xfrm>
              <a:off x="4171962" y="1408658"/>
              <a:ext cx="624205" cy="145415"/>
            </a:xfrm>
            <a:custGeom>
              <a:avLst/>
              <a:gdLst/>
              <a:ahLst/>
              <a:cxnLst/>
              <a:rect l="l" t="t" r="r" b="b"/>
              <a:pathLst>
                <a:path w="624204" h="145415">
                  <a:moveTo>
                    <a:pt x="302996" y="88417"/>
                  </a:moveTo>
                  <a:lnTo>
                    <a:pt x="229806" y="72656"/>
                  </a:lnTo>
                  <a:lnTo>
                    <a:pt x="83591" y="113385"/>
                  </a:lnTo>
                  <a:lnTo>
                    <a:pt x="0" y="105702"/>
                  </a:lnTo>
                  <a:lnTo>
                    <a:pt x="43078" y="137223"/>
                  </a:lnTo>
                  <a:lnTo>
                    <a:pt x="229806" y="137223"/>
                  </a:lnTo>
                  <a:lnTo>
                    <a:pt x="146532" y="129146"/>
                  </a:lnTo>
                  <a:lnTo>
                    <a:pt x="302996" y="88417"/>
                  </a:lnTo>
                  <a:close/>
                </a:path>
                <a:path w="624204" h="145415">
                  <a:moveTo>
                    <a:pt x="312928" y="24993"/>
                  </a:moveTo>
                  <a:lnTo>
                    <a:pt x="239737" y="33058"/>
                  </a:lnTo>
                  <a:lnTo>
                    <a:pt x="83591" y="0"/>
                  </a:lnTo>
                  <a:lnTo>
                    <a:pt x="20345" y="7708"/>
                  </a:lnTo>
                  <a:lnTo>
                    <a:pt x="166878" y="48818"/>
                  </a:lnTo>
                  <a:lnTo>
                    <a:pt x="83591" y="56502"/>
                  </a:lnTo>
                  <a:lnTo>
                    <a:pt x="280416" y="56502"/>
                  </a:lnTo>
                  <a:lnTo>
                    <a:pt x="312928" y="24993"/>
                  </a:lnTo>
                  <a:close/>
                </a:path>
                <a:path w="624204" h="145415">
                  <a:moveTo>
                    <a:pt x="613511" y="129146"/>
                  </a:moveTo>
                  <a:lnTo>
                    <a:pt x="467461" y="88417"/>
                  </a:lnTo>
                  <a:lnTo>
                    <a:pt x="550735" y="80340"/>
                  </a:lnTo>
                  <a:lnTo>
                    <a:pt x="353593" y="80340"/>
                  </a:lnTo>
                  <a:lnTo>
                    <a:pt x="312928" y="113385"/>
                  </a:lnTo>
                  <a:lnTo>
                    <a:pt x="396201" y="105702"/>
                  </a:lnTo>
                  <a:lnTo>
                    <a:pt x="550735" y="144907"/>
                  </a:lnTo>
                  <a:lnTo>
                    <a:pt x="613511" y="129146"/>
                  </a:lnTo>
                  <a:close/>
                </a:path>
                <a:path w="624204" h="145415">
                  <a:moveTo>
                    <a:pt x="623608" y="33058"/>
                  </a:moveTo>
                  <a:lnTo>
                    <a:pt x="583247" y="0"/>
                  </a:lnTo>
                  <a:lnTo>
                    <a:pt x="396201" y="0"/>
                  </a:lnTo>
                  <a:lnTo>
                    <a:pt x="479310" y="7708"/>
                  </a:lnTo>
                  <a:lnTo>
                    <a:pt x="323329" y="48818"/>
                  </a:lnTo>
                  <a:lnTo>
                    <a:pt x="396201" y="64566"/>
                  </a:lnTo>
                  <a:lnTo>
                    <a:pt x="550735" y="24993"/>
                  </a:lnTo>
                  <a:lnTo>
                    <a:pt x="623608" y="33058"/>
                  </a:lnTo>
                  <a:close/>
                </a:path>
              </a:pathLst>
            </a:custGeom>
            <a:solidFill>
              <a:srgbClr val="000000"/>
            </a:solidFill>
          </p:spPr>
          <p:txBody>
            <a:bodyPr wrap="square" lIns="0" tIns="0" rIns="0" bIns="0" rtlCol="0"/>
            <a:lstStyle/>
            <a:p>
              <a:endParaRPr sz="1984"/>
            </a:p>
          </p:txBody>
        </p:sp>
        <p:sp>
          <p:nvSpPr>
            <p:cNvPr id="8" name="object 8"/>
            <p:cNvSpPr/>
            <p:nvPr/>
          </p:nvSpPr>
          <p:spPr>
            <a:xfrm>
              <a:off x="4182376" y="1408658"/>
              <a:ext cx="613410" cy="145415"/>
            </a:xfrm>
            <a:custGeom>
              <a:avLst/>
              <a:gdLst/>
              <a:ahLst/>
              <a:cxnLst/>
              <a:rect l="l" t="t" r="r" b="b"/>
              <a:pathLst>
                <a:path w="613410" h="145415">
                  <a:moveTo>
                    <a:pt x="292582" y="88417"/>
                  </a:moveTo>
                  <a:lnTo>
                    <a:pt x="229323" y="80340"/>
                  </a:lnTo>
                  <a:lnTo>
                    <a:pt x="73177" y="121462"/>
                  </a:lnTo>
                  <a:lnTo>
                    <a:pt x="0" y="105702"/>
                  </a:lnTo>
                  <a:lnTo>
                    <a:pt x="32664" y="144907"/>
                  </a:lnTo>
                  <a:lnTo>
                    <a:pt x="229323" y="144907"/>
                  </a:lnTo>
                  <a:lnTo>
                    <a:pt x="146050" y="129146"/>
                  </a:lnTo>
                  <a:lnTo>
                    <a:pt x="292582" y="88417"/>
                  </a:lnTo>
                  <a:close/>
                </a:path>
                <a:path w="613410" h="145415">
                  <a:moveTo>
                    <a:pt x="312915" y="33058"/>
                  </a:moveTo>
                  <a:lnTo>
                    <a:pt x="239572" y="40754"/>
                  </a:lnTo>
                  <a:lnTo>
                    <a:pt x="73177" y="0"/>
                  </a:lnTo>
                  <a:lnTo>
                    <a:pt x="9931" y="15773"/>
                  </a:lnTo>
                  <a:lnTo>
                    <a:pt x="156464" y="56502"/>
                  </a:lnTo>
                  <a:lnTo>
                    <a:pt x="83273" y="64566"/>
                  </a:lnTo>
                  <a:lnTo>
                    <a:pt x="270002" y="64566"/>
                  </a:lnTo>
                  <a:lnTo>
                    <a:pt x="312915" y="33058"/>
                  </a:lnTo>
                  <a:close/>
                </a:path>
                <a:path w="613410" h="145415">
                  <a:moveTo>
                    <a:pt x="603097" y="129146"/>
                  </a:moveTo>
                  <a:lnTo>
                    <a:pt x="457047" y="96100"/>
                  </a:lnTo>
                  <a:lnTo>
                    <a:pt x="540321" y="80340"/>
                  </a:lnTo>
                  <a:lnTo>
                    <a:pt x="343179" y="80340"/>
                  </a:lnTo>
                  <a:lnTo>
                    <a:pt x="312915" y="121462"/>
                  </a:lnTo>
                  <a:lnTo>
                    <a:pt x="385787" y="105702"/>
                  </a:lnTo>
                  <a:lnTo>
                    <a:pt x="540321" y="144907"/>
                  </a:lnTo>
                  <a:lnTo>
                    <a:pt x="603097" y="129146"/>
                  </a:lnTo>
                  <a:close/>
                </a:path>
                <a:path w="613410" h="145415">
                  <a:moveTo>
                    <a:pt x="613194" y="40754"/>
                  </a:moveTo>
                  <a:lnTo>
                    <a:pt x="582764" y="0"/>
                  </a:lnTo>
                  <a:lnTo>
                    <a:pt x="396036" y="0"/>
                  </a:lnTo>
                  <a:lnTo>
                    <a:pt x="468896" y="15773"/>
                  </a:lnTo>
                  <a:lnTo>
                    <a:pt x="322846" y="56502"/>
                  </a:lnTo>
                  <a:lnTo>
                    <a:pt x="385787" y="64566"/>
                  </a:lnTo>
                  <a:lnTo>
                    <a:pt x="552488" y="24993"/>
                  </a:lnTo>
                  <a:lnTo>
                    <a:pt x="613194" y="40754"/>
                  </a:lnTo>
                  <a:close/>
                </a:path>
              </a:pathLst>
            </a:custGeom>
            <a:solidFill>
              <a:srgbClr val="FFFFFF"/>
            </a:solidFill>
          </p:spPr>
          <p:txBody>
            <a:bodyPr wrap="square" lIns="0" tIns="0" rIns="0" bIns="0" rtlCol="0"/>
            <a:lstStyle/>
            <a:p>
              <a:endParaRPr sz="1984"/>
            </a:p>
          </p:txBody>
        </p:sp>
        <p:sp>
          <p:nvSpPr>
            <p:cNvPr id="9" name="object 9"/>
            <p:cNvSpPr/>
            <p:nvPr/>
          </p:nvSpPr>
          <p:spPr>
            <a:xfrm>
              <a:off x="4924326" y="1478220"/>
              <a:ext cx="1365885" cy="144780"/>
            </a:xfrm>
            <a:custGeom>
              <a:avLst/>
              <a:gdLst/>
              <a:ahLst/>
              <a:cxnLst/>
              <a:rect l="l" t="t" r="r" b="b"/>
              <a:pathLst>
                <a:path w="1365885" h="144780">
                  <a:moveTo>
                    <a:pt x="753476" y="0"/>
                  </a:moveTo>
                  <a:lnTo>
                    <a:pt x="0" y="73039"/>
                  </a:lnTo>
                  <a:lnTo>
                    <a:pt x="663315" y="44204"/>
                  </a:lnTo>
                  <a:lnTo>
                    <a:pt x="609667" y="144525"/>
                  </a:lnTo>
                  <a:lnTo>
                    <a:pt x="1365386" y="73039"/>
                  </a:lnTo>
                  <a:lnTo>
                    <a:pt x="699828" y="102242"/>
                  </a:lnTo>
                  <a:lnTo>
                    <a:pt x="753476" y="0"/>
                  </a:lnTo>
                  <a:close/>
                </a:path>
              </a:pathLst>
            </a:custGeom>
            <a:solidFill>
              <a:srgbClr val="000000"/>
            </a:solidFill>
          </p:spPr>
          <p:txBody>
            <a:bodyPr wrap="square" lIns="0" tIns="0" rIns="0" bIns="0" rtlCol="0"/>
            <a:lstStyle/>
            <a:p>
              <a:endParaRPr sz="1984"/>
            </a:p>
          </p:txBody>
        </p:sp>
        <p:sp>
          <p:nvSpPr>
            <p:cNvPr id="10" name="object 10"/>
            <p:cNvSpPr/>
            <p:nvPr/>
          </p:nvSpPr>
          <p:spPr>
            <a:xfrm>
              <a:off x="4924326" y="1478220"/>
              <a:ext cx="1365885" cy="144780"/>
            </a:xfrm>
            <a:custGeom>
              <a:avLst/>
              <a:gdLst/>
              <a:ahLst/>
              <a:cxnLst/>
              <a:rect l="l" t="t" r="r" b="b"/>
              <a:pathLst>
                <a:path w="1365885" h="144780">
                  <a:moveTo>
                    <a:pt x="0" y="73039"/>
                  </a:moveTo>
                  <a:lnTo>
                    <a:pt x="753476" y="0"/>
                  </a:lnTo>
                  <a:lnTo>
                    <a:pt x="699828" y="102242"/>
                  </a:lnTo>
                  <a:lnTo>
                    <a:pt x="1365386" y="73039"/>
                  </a:lnTo>
                  <a:lnTo>
                    <a:pt x="609667" y="144525"/>
                  </a:lnTo>
                  <a:lnTo>
                    <a:pt x="663315" y="44204"/>
                  </a:lnTo>
                  <a:lnTo>
                    <a:pt x="0" y="73039"/>
                  </a:lnTo>
                  <a:close/>
                </a:path>
              </a:pathLst>
            </a:custGeom>
            <a:ln w="3833">
              <a:solidFill>
                <a:srgbClr val="000000"/>
              </a:solidFill>
            </a:ln>
          </p:spPr>
          <p:txBody>
            <a:bodyPr wrap="square" lIns="0" tIns="0" rIns="0" bIns="0" rtlCol="0"/>
            <a:lstStyle/>
            <a:p>
              <a:endParaRPr sz="1984"/>
            </a:p>
          </p:txBody>
        </p:sp>
      </p:grpSp>
      <p:grpSp>
        <p:nvGrpSpPr>
          <p:cNvPr id="11" name="object 11"/>
          <p:cNvGrpSpPr/>
          <p:nvPr/>
        </p:nvGrpSpPr>
        <p:grpSpPr>
          <a:xfrm>
            <a:off x="821700" y="2084416"/>
            <a:ext cx="8260344" cy="1292144"/>
            <a:chOff x="744952" y="967941"/>
            <a:chExt cx="7493634" cy="1172210"/>
          </a:xfrm>
        </p:grpSpPr>
        <p:sp>
          <p:nvSpPr>
            <p:cNvPr id="12" name="object 12"/>
            <p:cNvSpPr/>
            <p:nvPr/>
          </p:nvSpPr>
          <p:spPr>
            <a:xfrm>
              <a:off x="1757895" y="1481315"/>
              <a:ext cx="904240" cy="233679"/>
            </a:xfrm>
            <a:custGeom>
              <a:avLst/>
              <a:gdLst/>
              <a:ahLst/>
              <a:cxnLst/>
              <a:rect l="l" t="t" r="r" b="b"/>
              <a:pathLst>
                <a:path w="904239" h="233680">
                  <a:moveTo>
                    <a:pt x="903770" y="0"/>
                  </a:moveTo>
                  <a:lnTo>
                    <a:pt x="0" y="0"/>
                  </a:lnTo>
                  <a:lnTo>
                    <a:pt x="0" y="136829"/>
                  </a:lnTo>
                  <a:lnTo>
                    <a:pt x="22491" y="168694"/>
                  </a:lnTo>
                  <a:lnTo>
                    <a:pt x="85344" y="195351"/>
                  </a:lnTo>
                  <a:lnTo>
                    <a:pt x="129743" y="206387"/>
                  </a:lnTo>
                  <a:lnTo>
                    <a:pt x="181622" y="215709"/>
                  </a:lnTo>
                  <a:lnTo>
                    <a:pt x="240131" y="223202"/>
                  </a:lnTo>
                  <a:lnTo>
                    <a:pt x="304393" y="228714"/>
                  </a:lnTo>
                  <a:lnTo>
                    <a:pt x="373532" y="232117"/>
                  </a:lnTo>
                  <a:lnTo>
                    <a:pt x="446697" y="233286"/>
                  </a:lnTo>
                  <a:lnTo>
                    <a:pt x="522655" y="232117"/>
                  </a:lnTo>
                  <a:lnTo>
                    <a:pt x="594042" y="228714"/>
                  </a:lnTo>
                  <a:lnTo>
                    <a:pt x="660044" y="223202"/>
                  </a:lnTo>
                  <a:lnTo>
                    <a:pt x="719861" y="215709"/>
                  </a:lnTo>
                  <a:lnTo>
                    <a:pt x="772693" y="206387"/>
                  </a:lnTo>
                  <a:lnTo>
                    <a:pt x="817727" y="195351"/>
                  </a:lnTo>
                  <a:lnTo>
                    <a:pt x="854151" y="182740"/>
                  </a:lnTo>
                  <a:lnTo>
                    <a:pt x="897966" y="153339"/>
                  </a:lnTo>
                  <a:lnTo>
                    <a:pt x="903757" y="136829"/>
                  </a:lnTo>
                  <a:lnTo>
                    <a:pt x="903770" y="0"/>
                  </a:lnTo>
                  <a:close/>
                </a:path>
              </a:pathLst>
            </a:custGeom>
            <a:solidFill>
              <a:srgbClr val="0078AA"/>
            </a:solidFill>
          </p:spPr>
          <p:txBody>
            <a:bodyPr wrap="square" lIns="0" tIns="0" rIns="0" bIns="0" rtlCol="0"/>
            <a:lstStyle/>
            <a:p>
              <a:endParaRPr sz="1984"/>
            </a:p>
          </p:txBody>
        </p:sp>
        <p:sp>
          <p:nvSpPr>
            <p:cNvPr id="13" name="object 13"/>
            <p:cNvSpPr/>
            <p:nvPr/>
          </p:nvSpPr>
          <p:spPr>
            <a:xfrm>
              <a:off x="1757898" y="1384831"/>
              <a:ext cx="904240" cy="193040"/>
            </a:xfrm>
            <a:custGeom>
              <a:avLst/>
              <a:gdLst/>
              <a:ahLst/>
              <a:cxnLst/>
              <a:rect l="l" t="t" r="r" b="b"/>
              <a:pathLst>
                <a:path w="904239" h="193040">
                  <a:moveTo>
                    <a:pt x="446705" y="0"/>
                  </a:moveTo>
                  <a:lnTo>
                    <a:pt x="373540" y="1165"/>
                  </a:lnTo>
                  <a:lnTo>
                    <a:pt x="304395" y="4572"/>
                  </a:lnTo>
                  <a:lnTo>
                    <a:pt x="240136" y="10088"/>
                  </a:lnTo>
                  <a:lnTo>
                    <a:pt x="181630" y="17577"/>
                  </a:lnTo>
                  <a:lnTo>
                    <a:pt x="129746" y="26907"/>
                  </a:lnTo>
                  <a:lnTo>
                    <a:pt x="85350" y="37943"/>
                  </a:lnTo>
                  <a:lnTo>
                    <a:pt x="49310" y="50552"/>
                  </a:lnTo>
                  <a:lnTo>
                    <a:pt x="5768" y="79954"/>
                  </a:lnTo>
                  <a:lnTo>
                    <a:pt x="0" y="96478"/>
                  </a:lnTo>
                  <a:lnTo>
                    <a:pt x="5768" y="112894"/>
                  </a:lnTo>
                  <a:lnTo>
                    <a:pt x="49310" y="142141"/>
                  </a:lnTo>
                  <a:lnTo>
                    <a:pt x="85350" y="154699"/>
                  </a:lnTo>
                  <a:lnTo>
                    <a:pt x="129746" y="165699"/>
                  </a:lnTo>
                  <a:lnTo>
                    <a:pt x="181630" y="175004"/>
                  </a:lnTo>
                  <a:lnTo>
                    <a:pt x="240136" y="182479"/>
                  </a:lnTo>
                  <a:lnTo>
                    <a:pt x="304395" y="187987"/>
                  </a:lnTo>
                  <a:lnTo>
                    <a:pt x="373540" y="191391"/>
                  </a:lnTo>
                  <a:lnTo>
                    <a:pt x="446705" y="192556"/>
                  </a:lnTo>
                  <a:lnTo>
                    <a:pt x="522661" y="191391"/>
                  </a:lnTo>
                  <a:lnTo>
                    <a:pt x="594045" y="187987"/>
                  </a:lnTo>
                  <a:lnTo>
                    <a:pt x="660049" y="182479"/>
                  </a:lnTo>
                  <a:lnTo>
                    <a:pt x="719869" y="175004"/>
                  </a:lnTo>
                  <a:lnTo>
                    <a:pt x="772697" y="165699"/>
                  </a:lnTo>
                  <a:lnTo>
                    <a:pt x="817728" y="154699"/>
                  </a:lnTo>
                  <a:lnTo>
                    <a:pt x="854156" y="142141"/>
                  </a:lnTo>
                  <a:lnTo>
                    <a:pt x="897975" y="112894"/>
                  </a:lnTo>
                  <a:lnTo>
                    <a:pt x="903755" y="96478"/>
                  </a:lnTo>
                  <a:lnTo>
                    <a:pt x="897975" y="79954"/>
                  </a:lnTo>
                  <a:lnTo>
                    <a:pt x="854156" y="50552"/>
                  </a:lnTo>
                  <a:lnTo>
                    <a:pt x="817728" y="37943"/>
                  </a:lnTo>
                  <a:lnTo>
                    <a:pt x="772697" y="26907"/>
                  </a:lnTo>
                  <a:lnTo>
                    <a:pt x="719869" y="17577"/>
                  </a:lnTo>
                  <a:lnTo>
                    <a:pt x="660049" y="10088"/>
                  </a:lnTo>
                  <a:lnTo>
                    <a:pt x="594045" y="4572"/>
                  </a:lnTo>
                  <a:lnTo>
                    <a:pt x="522661" y="1165"/>
                  </a:lnTo>
                  <a:lnTo>
                    <a:pt x="446705" y="0"/>
                  </a:lnTo>
                  <a:close/>
                </a:path>
              </a:pathLst>
            </a:custGeom>
            <a:solidFill>
              <a:srgbClr val="00B4FF"/>
            </a:solidFill>
          </p:spPr>
          <p:txBody>
            <a:bodyPr wrap="square" lIns="0" tIns="0" rIns="0" bIns="0" rtlCol="0"/>
            <a:lstStyle/>
            <a:p>
              <a:endParaRPr sz="1984"/>
            </a:p>
          </p:txBody>
        </p:sp>
        <p:sp>
          <p:nvSpPr>
            <p:cNvPr id="14" name="object 14"/>
            <p:cNvSpPr/>
            <p:nvPr/>
          </p:nvSpPr>
          <p:spPr>
            <a:xfrm>
              <a:off x="1891703" y="1408658"/>
              <a:ext cx="624205" cy="145415"/>
            </a:xfrm>
            <a:custGeom>
              <a:avLst/>
              <a:gdLst/>
              <a:ahLst/>
              <a:cxnLst/>
              <a:rect l="l" t="t" r="r" b="b"/>
              <a:pathLst>
                <a:path w="624205" h="145415">
                  <a:moveTo>
                    <a:pt x="302920" y="88417"/>
                  </a:moveTo>
                  <a:lnTo>
                    <a:pt x="229679" y="72656"/>
                  </a:lnTo>
                  <a:lnTo>
                    <a:pt x="83604" y="113385"/>
                  </a:lnTo>
                  <a:lnTo>
                    <a:pt x="0" y="105702"/>
                  </a:lnTo>
                  <a:lnTo>
                    <a:pt x="42951" y="137223"/>
                  </a:lnTo>
                  <a:lnTo>
                    <a:pt x="229679" y="137223"/>
                  </a:lnTo>
                  <a:lnTo>
                    <a:pt x="146469" y="129146"/>
                  </a:lnTo>
                  <a:lnTo>
                    <a:pt x="302920" y="88417"/>
                  </a:lnTo>
                  <a:close/>
                </a:path>
                <a:path w="624205" h="145415">
                  <a:moveTo>
                    <a:pt x="312889" y="24993"/>
                  </a:moveTo>
                  <a:lnTo>
                    <a:pt x="239661" y="33058"/>
                  </a:lnTo>
                  <a:lnTo>
                    <a:pt x="83604" y="0"/>
                  </a:lnTo>
                  <a:lnTo>
                    <a:pt x="20332" y="7708"/>
                  </a:lnTo>
                  <a:lnTo>
                    <a:pt x="166789" y="48818"/>
                  </a:lnTo>
                  <a:lnTo>
                    <a:pt x="83604" y="56502"/>
                  </a:lnTo>
                  <a:lnTo>
                    <a:pt x="280301" y="56502"/>
                  </a:lnTo>
                  <a:lnTo>
                    <a:pt x="312889" y="24993"/>
                  </a:lnTo>
                  <a:close/>
                </a:path>
                <a:path w="624205" h="145415">
                  <a:moveTo>
                    <a:pt x="613486" y="129146"/>
                  </a:moveTo>
                  <a:lnTo>
                    <a:pt x="467436" y="88417"/>
                  </a:lnTo>
                  <a:lnTo>
                    <a:pt x="550545" y="80340"/>
                  </a:lnTo>
                  <a:lnTo>
                    <a:pt x="353542" y="80340"/>
                  </a:lnTo>
                  <a:lnTo>
                    <a:pt x="312889" y="113385"/>
                  </a:lnTo>
                  <a:lnTo>
                    <a:pt x="396163" y="105702"/>
                  </a:lnTo>
                  <a:lnTo>
                    <a:pt x="550545" y="144907"/>
                  </a:lnTo>
                  <a:lnTo>
                    <a:pt x="613486" y="129146"/>
                  </a:lnTo>
                  <a:close/>
                </a:path>
                <a:path w="624205" h="145415">
                  <a:moveTo>
                    <a:pt x="623900" y="33058"/>
                  </a:moveTo>
                  <a:lnTo>
                    <a:pt x="583222" y="0"/>
                  </a:lnTo>
                  <a:lnTo>
                    <a:pt x="396163" y="0"/>
                  </a:lnTo>
                  <a:lnTo>
                    <a:pt x="479285" y="7708"/>
                  </a:lnTo>
                  <a:lnTo>
                    <a:pt x="323240" y="48818"/>
                  </a:lnTo>
                  <a:lnTo>
                    <a:pt x="396163" y="64566"/>
                  </a:lnTo>
                  <a:lnTo>
                    <a:pt x="550545" y="24993"/>
                  </a:lnTo>
                  <a:lnTo>
                    <a:pt x="623900" y="33058"/>
                  </a:lnTo>
                  <a:close/>
                </a:path>
              </a:pathLst>
            </a:custGeom>
            <a:solidFill>
              <a:srgbClr val="000000"/>
            </a:solidFill>
          </p:spPr>
          <p:txBody>
            <a:bodyPr wrap="square" lIns="0" tIns="0" rIns="0" bIns="0" rtlCol="0"/>
            <a:lstStyle/>
            <a:p>
              <a:endParaRPr sz="1984"/>
            </a:p>
          </p:txBody>
        </p:sp>
        <p:sp>
          <p:nvSpPr>
            <p:cNvPr id="15" name="object 15"/>
            <p:cNvSpPr/>
            <p:nvPr/>
          </p:nvSpPr>
          <p:spPr>
            <a:xfrm>
              <a:off x="1902053" y="1408658"/>
              <a:ext cx="614045" cy="145415"/>
            </a:xfrm>
            <a:custGeom>
              <a:avLst/>
              <a:gdLst/>
              <a:ahLst/>
              <a:cxnLst/>
              <a:rect l="l" t="t" r="r" b="b"/>
              <a:pathLst>
                <a:path w="614044" h="145415">
                  <a:moveTo>
                    <a:pt x="292569" y="88417"/>
                  </a:moveTo>
                  <a:lnTo>
                    <a:pt x="229311" y="80340"/>
                  </a:lnTo>
                  <a:lnTo>
                    <a:pt x="73253" y="121462"/>
                  </a:lnTo>
                  <a:lnTo>
                    <a:pt x="0" y="105702"/>
                  </a:lnTo>
                  <a:lnTo>
                    <a:pt x="32600" y="144907"/>
                  </a:lnTo>
                  <a:lnTo>
                    <a:pt x="229311" y="144907"/>
                  </a:lnTo>
                  <a:lnTo>
                    <a:pt x="146100" y="129146"/>
                  </a:lnTo>
                  <a:lnTo>
                    <a:pt x="292569" y="88417"/>
                  </a:lnTo>
                  <a:close/>
                </a:path>
                <a:path w="614044" h="145415">
                  <a:moveTo>
                    <a:pt x="312889" y="33058"/>
                  </a:moveTo>
                  <a:lnTo>
                    <a:pt x="239661" y="40754"/>
                  </a:lnTo>
                  <a:lnTo>
                    <a:pt x="73253" y="0"/>
                  </a:lnTo>
                  <a:lnTo>
                    <a:pt x="9982" y="15773"/>
                  </a:lnTo>
                  <a:lnTo>
                    <a:pt x="156438" y="56502"/>
                  </a:lnTo>
                  <a:lnTo>
                    <a:pt x="83210" y="64566"/>
                  </a:lnTo>
                  <a:lnTo>
                    <a:pt x="269951" y="64566"/>
                  </a:lnTo>
                  <a:lnTo>
                    <a:pt x="312889" y="33058"/>
                  </a:lnTo>
                  <a:close/>
                </a:path>
                <a:path w="614044" h="145415">
                  <a:moveTo>
                    <a:pt x="603135" y="129146"/>
                  </a:moveTo>
                  <a:lnTo>
                    <a:pt x="457085" y="96100"/>
                  </a:lnTo>
                  <a:lnTo>
                    <a:pt x="540194" y="80340"/>
                  </a:lnTo>
                  <a:lnTo>
                    <a:pt x="343192" y="80340"/>
                  </a:lnTo>
                  <a:lnTo>
                    <a:pt x="312889" y="121462"/>
                  </a:lnTo>
                  <a:lnTo>
                    <a:pt x="385813" y="105702"/>
                  </a:lnTo>
                  <a:lnTo>
                    <a:pt x="540194" y="144907"/>
                  </a:lnTo>
                  <a:lnTo>
                    <a:pt x="603135" y="129146"/>
                  </a:lnTo>
                  <a:close/>
                </a:path>
                <a:path w="614044" h="145415">
                  <a:moveTo>
                    <a:pt x="613549" y="40754"/>
                  </a:moveTo>
                  <a:lnTo>
                    <a:pt x="582790" y="0"/>
                  </a:lnTo>
                  <a:lnTo>
                    <a:pt x="396062" y="0"/>
                  </a:lnTo>
                  <a:lnTo>
                    <a:pt x="468934" y="15773"/>
                  </a:lnTo>
                  <a:lnTo>
                    <a:pt x="322872" y="56502"/>
                  </a:lnTo>
                  <a:lnTo>
                    <a:pt x="385813" y="64566"/>
                  </a:lnTo>
                  <a:lnTo>
                    <a:pt x="552526" y="24993"/>
                  </a:lnTo>
                  <a:lnTo>
                    <a:pt x="613549" y="40754"/>
                  </a:lnTo>
                  <a:close/>
                </a:path>
              </a:pathLst>
            </a:custGeom>
            <a:solidFill>
              <a:srgbClr val="FFFFFF"/>
            </a:solidFill>
          </p:spPr>
          <p:txBody>
            <a:bodyPr wrap="square" lIns="0" tIns="0" rIns="0" bIns="0" rtlCol="0"/>
            <a:lstStyle/>
            <a:p>
              <a:endParaRPr sz="1984"/>
            </a:p>
          </p:txBody>
        </p:sp>
        <p:sp>
          <p:nvSpPr>
            <p:cNvPr id="16" name="object 16"/>
            <p:cNvSpPr/>
            <p:nvPr/>
          </p:nvSpPr>
          <p:spPr>
            <a:xfrm>
              <a:off x="2620978" y="1478219"/>
              <a:ext cx="1367790" cy="144780"/>
            </a:xfrm>
            <a:custGeom>
              <a:avLst/>
              <a:gdLst/>
              <a:ahLst/>
              <a:cxnLst/>
              <a:rect l="l" t="t" r="r" b="b"/>
              <a:pathLst>
                <a:path w="1367789" h="144780">
                  <a:moveTo>
                    <a:pt x="755398" y="0"/>
                  </a:moveTo>
                  <a:lnTo>
                    <a:pt x="0" y="73039"/>
                  </a:lnTo>
                  <a:lnTo>
                    <a:pt x="665237" y="44204"/>
                  </a:lnTo>
                  <a:lnTo>
                    <a:pt x="611589" y="144525"/>
                  </a:lnTo>
                  <a:lnTo>
                    <a:pt x="1367307" y="73039"/>
                  </a:lnTo>
                  <a:lnTo>
                    <a:pt x="701750" y="102242"/>
                  </a:lnTo>
                  <a:lnTo>
                    <a:pt x="755398" y="0"/>
                  </a:lnTo>
                  <a:close/>
                </a:path>
              </a:pathLst>
            </a:custGeom>
            <a:solidFill>
              <a:srgbClr val="000000"/>
            </a:solidFill>
          </p:spPr>
          <p:txBody>
            <a:bodyPr wrap="square" lIns="0" tIns="0" rIns="0" bIns="0" rtlCol="0"/>
            <a:lstStyle/>
            <a:p>
              <a:endParaRPr sz="1984"/>
            </a:p>
          </p:txBody>
        </p:sp>
        <p:sp>
          <p:nvSpPr>
            <p:cNvPr id="17" name="object 17"/>
            <p:cNvSpPr/>
            <p:nvPr/>
          </p:nvSpPr>
          <p:spPr>
            <a:xfrm>
              <a:off x="2620978" y="1478219"/>
              <a:ext cx="1367790" cy="144780"/>
            </a:xfrm>
            <a:custGeom>
              <a:avLst/>
              <a:gdLst/>
              <a:ahLst/>
              <a:cxnLst/>
              <a:rect l="l" t="t" r="r" b="b"/>
              <a:pathLst>
                <a:path w="1367789" h="144780">
                  <a:moveTo>
                    <a:pt x="0" y="73039"/>
                  </a:moveTo>
                  <a:lnTo>
                    <a:pt x="755398" y="0"/>
                  </a:lnTo>
                  <a:lnTo>
                    <a:pt x="701750" y="102242"/>
                  </a:lnTo>
                  <a:lnTo>
                    <a:pt x="1367307" y="73039"/>
                  </a:lnTo>
                  <a:lnTo>
                    <a:pt x="611589" y="144525"/>
                  </a:lnTo>
                  <a:lnTo>
                    <a:pt x="665237" y="44204"/>
                  </a:lnTo>
                  <a:lnTo>
                    <a:pt x="0" y="73039"/>
                  </a:lnTo>
                  <a:close/>
                </a:path>
              </a:pathLst>
            </a:custGeom>
            <a:ln w="3833">
              <a:solidFill>
                <a:srgbClr val="000000"/>
              </a:solidFill>
            </a:ln>
          </p:spPr>
          <p:txBody>
            <a:bodyPr wrap="square" lIns="0" tIns="0" rIns="0" bIns="0" rtlCol="0"/>
            <a:lstStyle/>
            <a:p>
              <a:endParaRPr sz="1984"/>
            </a:p>
          </p:txBody>
        </p:sp>
        <p:sp>
          <p:nvSpPr>
            <p:cNvPr id="18" name="object 18"/>
            <p:cNvSpPr/>
            <p:nvPr/>
          </p:nvSpPr>
          <p:spPr>
            <a:xfrm>
              <a:off x="750984" y="973973"/>
              <a:ext cx="1007110" cy="1155065"/>
            </a:xfrm>
            <a:custGeom>
              <a:avLst/>
              <a:gdLst/>
              <a:ahLst/>
              <a:cxnLst/>
              <a:rect l="l" t="t" r="r" b="b"/>
              <a:pathLst>
                <a:path w="1007110" h="1155064">
                  <a:moveTo>
                    <a:pt x="1006913" y="577285"/>
                  </a:moveTo>
                  <a:lnTo>
                    <a:pt x="0" y="577285"/>
                  </a:lnTo>
                </a:path>
                <a:path w="1007110" h="1155064">
                  <a:moveTo>
                    <a:pt x="0" y="0"/>
                  </a:moveTo>
                  <a:lnTo>
                    <a:pt x="0" y="1154947"/>
                  </a:lnTo>
                </a:path>
              </a:pathLst>
            </a:custGeom>
            <a:ln w="11501">
              <a:solidFill>
                <a:srgbClr val="000000"/>
              </a:solidFill>
            </a:ln>
          </p:spPr>
          <p:txBody>
            <a:bodyPr wrap="square" lIns="0" tIns="0" rIns="0" bIns="0" rtlCol="0"/>
            <a:lstStyle/>
            <a:p>
              <a:endParaRPr sz="1984"/>
            </a:p>
          </p:txBody>
        </p:sp>
        <p:sp>
          <p:nvSpPr>
            <p:cNvPr id="19" name="object 19"/>
            <p:cNvSpPr/>
            <p:nvPr/>
          </p:nvSpPr>
          <p:spPr>
            <a:xfrm>
              <a:off x="6362573" y="1481315"/>
              <a:ext cx="902335" cy="233679"/>
            </a:xfrm>
            <a:custGeom>
              <a:avLst/>
              <a:gdLst/>
              <a:ahLst/>
              <a:cxnLst/>
              <a:rect l="l" t="t" r="r" b="b"/>
              <a:pathLst>
                <a:path w="902334" h="233680">
                  <a:moveTo>
                    <a:pt x="901928" y="136829"/>
                  </a:moveTo>
                  <a:lnTo>
                    <a:pt x="901852" y="136613"/>
                  </a:lnTo>
                  <a:lnTo>
                    <a:pt x="901852" y="0"/>
                  </a:lnTo>
                  <a:lnTo>
                    <a:pt x="0" y="0"/>
                  </a:lnTo>
                  <a:lnTo>
                    <a:pt x="0" y="136829"/>
                  </a:lnTo>
                  <a:lnTo>
                    <a:pt x="5740" y="153339"/>
                  </a:lnTo>
                  <a:lnTo>
                    <a:pt x="49149" y="182740"/>
                  </a:lnTo>
                  <a:lnTo>
                    <a:pt x="129374" y="206387"/>
                  </a:lnTo>
                  <a:lnTo>
                    <a:pt x="181152" y="215709"/>
                  </a:lnTo>
                  <a:lnTo>
                    <a:pt x="239560" y="223202"/>
                  </a:lnTo>
                  <a:lnTo>
                    <a:pt x="303745" y="228714"/>
                  </a:lnTo>
                  <a:lnTo>
                    <a:pt x="372846" y="232117"/>
                  </a:lnTo>
                  <a:lnTo>
                    <a:pt x="445998" y="233286"/>
                  </a:lnTo>
                  <a:lnTo>
                    <a:pt x="521728" y="232117"/>
                  </a:lnTo>
                  <a:lnTo>
                    <a:pt x="592912" y="228714"/>
                  </a:lnTo>
                  <a:lnTo>
                    <a:pt x="658749" y="223202"/>
                  </a:lnTo>
                  <a:lnTo>
                    <a:pt x="718426" y="215709"/>
                  </a:lnTo>
                  <a:lnTo>
                    <a:pt x="771131" y="206387"/>
                  </a:lnTo>
                  <a:lnTo>
                    <a:pt x="816063" y="195351"/>
                  </a:lnTo>
                  <a:lnTo>
                    <a:pt x="852424" y="182740"/>
                  </a:lnTo>
                  <a:lnTo>
                    <a:pt x="896162" y="153339"/>
                  </a:lnTo>
                  <a:lnTo>
                    <a:pt x="901928" y="136829"/>
                  </a:lnTo>
                  <a:close/>
                </a:path>
              </a:pathLst>
            </a:custGeom>
            <a:solidFill>
              <a:srgbClr val="0078AA"/>
            </a:solidFill>
          </p:spPr>
          <p:txBody>
            <a:bodyPr wrap="square" lIns="0" tIns="0" rIns="0" bIns="0" rtlCol="0"/>
            <a:lstStyle/>
            <a:p>
              <a:endParaRPr sz="1984"/>
            </a:p>
          </p:txBody>
        </p:sp>
        <p:sp>
          <p:nvSpPr>
            <p:cNvPr id="20" name="object 20"/>
            <p:cNvSpPr/>
            <p:nvPr/>
          </p:nvSpPr>
          <p:spPr>
            <a:xfrm>
              <a:off x="6362578" y="1384831"/>
              <a:ext cx="902335" cy="193040"/>
            </a:xfrm>
            <a:custGeom>
              <a:avLst/>
              <a:gdLst/>
              <a:ahLst/>
              <a:cxnLst/>
              <a:rect l="l" t="t" r="r" b="b"/>
              <a:pathLst>
                <a:path w="902334" h="193040">
                  <a:moveTo>
                    <a:pt x="446000" y="0"/>
                  </a:moveTo>
                  <a:lnTo>
                    <a:pt x="372844" y="1165"/>
                  </a:lnTo>
                  <a:lnTo>
                    <a:pt x="303745" y="4572"/>
                  </a:lnTo>
                  <a:lnTo>
                    <a:pt x="239562" y="10088"/>
                  </a:lnTo>
                  <a:lnTo>
                    <a:pt x="181153" y="17577"/>
                  </a:lnTo>
                  <a:lnTo>
                    <a:pt x="129376" y="26907"/>
                  </a:lnTo>
                  <a:lnTo>
                    <a:pt x="85088" y="37943"/>
                  </a:lnTo>
                  <a:lnTo>
                    <a:pt x="22416" y="64600"/>
                  </a:lnTo>
                  <a:lnTo>
                    <a:pt x="0" y="96478"/>
                  </a:lnTo>
                  <a:lnTo>
                    <a:pt x="5747" y="112894"/>
                  </a:lnTo>
                  <a:lnTo>
                    <a:pt x="49149" y="142141"/>
                  </a:lnTo>
                  <a:lnTo>
                    <a:pt x="129376" y="165699"/>
                  </a:lnTo>
                  <a:lnTo>
                    <a:pt x="181153" y="175004"/>
                  </a:lnTo>
                  <a:lnTo>
                    <a:pt x="239562" y="182479"/>
                  </a:lnTo>
                  <a:lnTo>
                    <a:pt x="303745" y="187987"/>
                  </a:lnTo>
                  <a:lnTo>
                    <a:pt x="372844" y="191391"/>
                  </a:lnTo>
                  <a:lnTo>
                    <a:pt x="446000" y="192556"/>
                  </a:lnTo>
                  <a:lnTo>
                    <a:pt x="521730" y="191391"/>
                  </a:lnTo>
                  <a:lnTo>
                    <a:pt x="592916" y="187987"/>
                  </a:lnTo>
                  <a:lnTo>
                    <a:pt x="658750" y="182479"/>
                  </a:lnTo>
                  <a:lnTo>
                    <a:pt x="718424" y="175004"/>
                  </a:lnTo>
                  <a:lnTo>
                    <a:pt x="771132" y="165699"/>
                  </a:lnTo>
                  <a:lnTo>
                    <a:pt x="816067" y="154699"/>
                  </a:lnTo>
                  <a:lnTo>
                    <a:pt x="852421" y="142141"/>
                  </a:lnTo>
                  <a:lnTo>
                    <a:pt x="896160" y="112894"/>
                  </a:lnTo>
                  <a:lnTo>
                    <a:pt x="901930" y="96478"/>
                  </a:lnTo>
                  <a:lnTo>
                    <a:pt x="896160" y="79954"/>
                  </a:lnTo>
                  <a:lnTo>
                    <a:pt x="852421" y="50552"/>
                  </a:lnTo>
                  <a:lnTo>
                    <a:pt x="816067" y="37943"/>
                  </a:lnTo>
                  <a:lnTo>
                    <a:pt x="771132" y="26907"/>
                  </a:lnTo>
                  <a:lnTo>
                    <a:pt x="718424" y="17577"/>
                  </a:lnTo>
                  <a:lnTo>
                    <a:pt x="658750" y="10088"/>
                  </a:lnTo>
                  <a:lnTo>
                    <a:pt x="592916" y="4572"/>
                  </a:lnTo>
                  <a:lnTo>
                    <a:pt x="521730" y="1165"/>
                  </a:lnTo>
                  <a:lnTo>
                    <a:pt x="446000" y="0"/>
                  </a:lnTo>
                  <a:close/>
                </a:path>
              </a:pathLst>
            </a:custGeom>
            <a:solidFill>
              <a:srgbClr val="00B4FF"/>
            </a:solidFill>
          </p:spPr>
          <p:txBody>
            <a:bodyPr wrap="square" lIns="0" tIns="0" rIns="0" bIns="0" rtlCol="0"/>
            <a:lstStyle/>
            <a:p>
              <a:endParaRPr sz="1984"/>
            </a:p>
          </p:txBody>
        </p:sp>
        <p:sp>
          <p:nvSpPr>
            <p:cNvPr id="21" name="object 21"/>
            <p:cNvSpPr/>
            <p:nvPr/>
          </p:nvSpPr>
          <p:spPr>
            <a:xfrm>
              <a:off x="6496456" y="1408658"/>
              <a:ext cx="622300" cy="145415"/>
            </a:xfrm>
            <a:custGeom>
              <a:avLst/>
              <a:gdLst/>
              <a:ahLst/>
              <a:cxnLst/>
              <a:rect l="l" t="t" r="r" b="b"/>
              <a:pathLst>
                <a:path w="622300" h="145415">
                  <a:moveTo>
                    <a:pt x="301701" y="88417"/>
                  </a:moveTo>
                  <a:lnTo>
                    <a:pt x="228841" y="72656"/>
                  </a:lnTo>
                  <a:lnTo>
                    <a:pt x="82791" y="113385"/>
                  </a:lnTo>
                  <a:lnTo>
                    <a:pt x="0" y="105702"/>
                  </a:lnTo>
                  <a:lnTo>
                    <a:pt x="42595" y="137223"/>
                  </a:lnTo>
                  <a:lnTo>
                    <a:pt x="228841" y="137223"/>
                  </a:lnTo>
                  <a:lnTo>
                    <a:pt x="145732" y="129146"/>
                  </a:lnTo>
                  <a:lnTo>
                    <a:pt x="301701" y="88417"/>
                  </a:lnTo>
                  <a:close/>
                </a:path>
                <a:path w="622300" h="145415">
                  <a:moveTo>
                    <a:pt x="312115" y="24993"/>
                  </a:moveTo>
                  <a:lnTo>
                    <a:pt x="238925" y="33058"/>
                  </a:lnTo>
                  <a:lnTo>
                    <a:pt x="82791" y="0"/>
                  </a:lnTo>
                  <a:lnTo>
                    <a:pt x="19850" y="7708"/>
                  </a:lnTo>
                  <a:lnTo>
                    <a:pt x="166065" y="48818"/>
                  </a:lnTo>
                  <a:lnTo>
                    <a:pt x="82791" y="56502"/>
                  </a:lnTo>
                  <a:lnTo>
                    <a:pt x="279450" y="56502"/>
                  </a:lnTo>
                  <a:lnTo>
                    <a:pt x="312115" y="24993"/>
                  </a:lnTo>
                  <a:close/>
                </a:path>
                <a:path w="622300" h="145415">
                  <a:moveTo>
                    <a:pt x="611911" y="129146"/>
                  </a:moveTo>
                  <a:lnTo>
                    <a:pt x="465848" y="88417"/>
                  </a:lnTo>
                  <a:lnTo>
                    <a:pt x="549122" y="80340"/>
                  </a:lnTo>
                  <a:lnTo>
                    <a:pt x="352310" y="80340"/>
                  </a:lnTo>
                  <a:lnTo>
                    <a:pt x="312115" y="113385"/>
                  </a:lnTo>
                  <a:lnTo>
                    <a:pt x="394906" y="105702"/>
                  </a:lnTo>
                  <a:lnTo>
                    <a:pt x="549122" y="144907"/>
                  </a:lnTo>
                  <a:lnTo>
                    <a:pt x="611911" y="129146"/>
                  </a:lnTo>
                  <a:close/>
                </a:path>
                <a:path w="622300" h="145415">
                  <a:moveTo>
                    <a:pt x="621830" y="33058"/>
                  </a:moveTo>
                  <a:lnTo>
                    <a:pt x="581634" y="0"/>
                  </a:lnTo>
                  <a:lnTo>
                    <a:pt x="394906" y="0"/>
                  </a:lnTo>
                  <a:lnTo>
                    <a:pt x="478180" y="7708"/>
                  </a:lnTo>
                  <a:lnTo>
                    <a:pt x="322046" y="48818"/>
                  </a:lnTo>
                  <a:lnTo>
                    <a:pt x="394906" y="64566"/>
                  </a:lnTo>
                  <a:lnTo>
                    <a:pt x="549122" y="24993"/>
                  </a:lnTo>
                  <a:lnTo>
                    <a:pt x="621830" y="33058"/>
                  </a:lnTo>
                  <a:close/>
                </a:path>
              </a:pathLst>
            </a:custGeom>
            <a:solidFill>
              <a:srgbClr val="000000"/>
            </a:solidFill>
          </p:spPr>
          <p:txBody>
            <a:bodyPr wrap="square" lIns="0" tIns="0" rIns="0" bIns="0" rtlCol="0"/>
            <a:lstStyle/>
            <a:p>
              <a:endParaRPr sz="1984"/>
            </a:p>
          </p:txBody>
        </p:sp>
        <p:sp>
          <p:nvSpPr>
            <p:cNvPr id="22" name="object 22"/>
            <p:cNvSpPr/>
            <p:nvPr/>
          </p:nvSpPr>
          <p:spPr>
            <a:xfrm>
              <a:off x="6506375" y="1408658"/>
              <a:ext cx="612140" cy="145415"/>
            </a:xfrm>
            <a:custGeom>
              <a:avLst/>
              <a:gdLst/>
              <a:ahLst/>
              <a:cxnLst/>
              <a:rect l="l" t="t" r="r" b="b"/>
              <a:pathLst>
                <a:path w="612140" h="145415">
                  <a:moveTo>
                    <a:pt x="291782" y="88417"/>
                  </a:moveTo>
                  <a:lnTo>
                    <a:pt x="229006" y="80340"/>
                  </a:lnTo>
                  <a:lnTo>
                    <a:pt x="72872" y="121462"/>
                  </a:lnTo>
                  <a:lnTo>
                    <a:pt x="0" y="105702"/>
                  </a:lnTo>
                  <a:lnTo>
                    <a:pt x="32677" y="144907"/>
                  </a:lnTo>
                  <a:lnTo>
                    <a:pt x="229006" y="144907"/>
                  </a:lnTo>
                  <a:lnTo>
                    <a:pt x="146062" y="129146"/>
                  </a:lnTo>
                  <a:lnTo>
                    <a:pt x="291782" y="88417"/>
                  </a:lnTo>
                  <a:close/>
                </a:path>
                <a:path w="612140" h="145415">
                  <a:moveTo>
                    <a:pt x="312127" y="33058"/>
                  </a:moveTo>
                  <a:lnTo>
                    <a:pt x="239255" y="40754"/>
                  </a:lnTo>
                  <a:lnTo>
                    <a:pt x="72872" y="0"/>
                  </a:lnTo>
                  <a:lnTo>
                    <a:pt x="9931" y="15773"/>
                  </a:lnTo>
                  <a:lnTo>
                    <a:pt x="156146" y="56502"/>
                  </a:lnTo>
                  <a:lnTo>
                    <a:pt x="83286" y="64566"/>
                  </a:lnTo>
                  <a:lnTo>
                    <a:pt x="269532" y="64566"/>
                  </a:lnTo>
                  <a:lnTo>
                    <a:pt x="312127" y="33058"/>
                  </a:lnTo>
                  <a:close/>
                </a:path>
                <a:path w="612140" h="145415">
                  <a:moveTo>
                    <a:pt x="601992" y="129146"/>
                  </a:moveTo>
                  <a:lnTo>
                    <a:pt x="455930" y="96100"/>
                  </a:lnTo>
                  <a:lnTo>
                    <a:pt x="539203" y="80340"/>
                  </a:lnTo>
                  <a:lnTo>
                    <a:pt x="342392" y="80340"/>
                  </a:lnTo>
                  <a:lnTo>
                    <a:pt x="312127" y="121462"/>
                  </a:lnTo>
                  <a:lnTo>
                    <a:pt x="384987" y="105702"/>
                  </a:lnTo>
                  <a:lnTo>
                    <a:pt x="539203" y="144907"/>
                  </a:lnTo>
                  <a:lnTo>
                    <a:pt x="601992" y="129146"/>
                  </a:lnTo>
                  <a:close/>
                </a:path>
                <a:path w="612140" h="145415">
                  <a:moveTo>
                    <a:pt x="611911" y="40754"/>
                  </a:moveTo>
                  <a:lnTo>
                    <a:pt x="581647" y="0"/>
                  </a:lnTo>
                  <a:lnTo>
                    <a:pt x="395401" y="0"/>
                  </a:lnTo>
                  <a:lnTo>
                    <a:pt x="468261" y="15773"/>
                  </a:lnTo>
                  <a:lnTo>
                    <a:pt x="322059" y="56502"/>
                  </a:lnTo>
                  <a:lnTo>
                    <a:pt x="384987" y="64566"/>
                  </a:lnTo>
                  <a:lnTo>
                    <a:pt x="551383" y="24993"/>
                  </a:lnTo>
                  <a:lnTo>
                    <a:pt x="611911" y="40754"/>
                  </a:lnTo>
                  <a:close/>
                </a:path>
              </a:pathLst>
            </a:custGeom>
            <a:solidFill>
              <a:srgbClr val="FFFFFF"/>
            </a:solidFill>
          </p:spPr>
          <p:txBody>
            <a:bodyPr wrap="square" lIns="0" tIns="0" rIns="0" bIns="0" rtlCol="0"/>
            <a:lstStyle/>
            <a:p>
              <a:endParaRPr sz="1984"/>
            </a:p>
          </p:txBody>
        </p:sp>
        <p:sp>
          <p:nvSpPr>
            <p:cNvPr id="23" name="object 23"/>
            <p:cNvSpPr/>
            <p:nvPr/>
          </p:nvSpPr>
          <p:spPr>
            <a:xfrm>
              <a:off x="7296216" y="1551259"/>
              <a:ext cx="936625" cy="0"/>
            </a:xfrm>
            <a:custGeom>
              <a:avLst/>
              <a:gdLst/>
              <a:ahLst/>
              <a:cxnLst/>
              <a:rect l="l" t="t" r="r" b="b"/>
              <a:pathLst>
                <a:path w="936625">
                  <a:moveTo>
                    <a:pt x="0" y="0"/>
                  </a:moveTo>
                  <a:lnTo>
                    <a:pt x="936040" y="0"/>
                  </a:lnTo>
                </a:path>
              </a:pathLst>
            </a:custGeom>
            <a:ln w="11500">
              <a:solidFill>
                <a:srgbClr val="000000"/>
              </a:solidFill>
            </a:ln>
          </p:spPr>
          <p:txBody>
            <a:bodyPr wrap="square" lIns="0" tIns="0" rIns="0" bIns="0" rtlCol="0"/>
            <a:lstStyle/>
            <a:p>
              <a:endParaRPr sz="1984"/>
            </a:p>
          </p:txBody>
        </p:sp>
        <p:sp>
          <p:nvSpPr>
            <p:cNvPr id="24" name="object 24"/>
            <p:cNvSpPr/>
            <p:nvPr/>
          </p:nvSpPr>
          <p:spPr>
            <a:xfrm>
              <a:off x="8232257" y="1045459"/>
              <a:ext cx="0" cy="1088390"/>
            </a:xfrm>
            <a:custGeom>
              <a:avLst/>
              <a:gdLst/>
              <a:ahLst/>
              <a:cxnLst/>
              <a:rect l="l" t="t" r="r" b="b"/>
              <a:pathLst>
                <a:path h="1088389">
                  <a:moveTo>
                    <a:pt x="0" y="0"/>
                  </a:moveTo>
                  <a:lnTo>
                    <a:pt x="0" y="1088140"/>
                  </a:lnTo>
                </a:path>
              </a:pathLst>
            </a:custGeom>
            <a:ln w="11503">
              <a:solidFill>
                <a:srgbClr val="000000"/>
              </a:solidFill>
            </a:ln>
          </p:spPr>
          <p:txBody>
            <a:bodyPr wrap="square" lIns="0" tIns="0" rIns="0" bIns="0" rtlCol="0"/>
            <a:lstStyle/>
            <a:p>
              <a:endParaRPr sz="1984"/>
            </a:p>
          </p:txBody>
        </p:sp>
      </p:grpSp>
      <p:sp>
        <p:nvSpPr>
          <p:cNvPr id="25" name="object 25"/>
          <p:cNvSpPr txBox="1"/>
          <p:nvPr/>
        </p:nvSpPr>
        <p:spPr>
          <a:xfrm>
            <a:off x="3173652" y="2033042"/>
            <a:ext cx="3716840" cy="226888"/>
          </a:xfrm>
          <a:prstGeom prst="rect">
            <a:avLst/>
          </a:prstGeom>
        </p:spPr>
        <p:txBody>
          <a:bodyPr vert="horz" wrap="square" lIns="0" tIns="14699" rIns="0" bIns="0" rtlCol="0">
            <a:spAutoFit/>
          </a:bodyPr>
          <a:lstStyle/>
          <a:p>
            <a:pPr marL="13999">
              <a:spcBef>
                <a:spcPts val="116"/>
              </a:spcBef>
              <a:tabLst>
                <a:tab pos="2522658" algn="l"/>
              </a:tabLst>
            </a:pPr>
            <a:r>
              <a:rPr sz="1378" b="1" dirty="0">
                <a:latin typeface="Arial"/>
                <a:cs typeface="Arial"/>
              </a:rPr>
              <a:t>172.16.0.0/16	192.168.1.0/24</a:t>
            </a:r>
            <a:endParaRPr sz="1378" dirty="0">
              <a:latin typeface="Arial"/>
              <a:cs typeface="Arial"/>
            </a:endParaRPr>
          </a:p>
        </p:txBody>
      </p:sp>
      <p:sp>
        <p:nvSpPr>
          <p:cNvPr id="26" name="object 26"/>
          <p:cNvSpPr txBox="1"/>
          <p:nvPr/>
        </p:nvSpPr>
        <p:spPr>
          <a:xfrm>
            <a:off x="924251" y="2033042"/>
            <a:ext cx="1195549"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192.168.2.0/24</a:t>
            </a:r>
            <a:endParaRPr sz="1378">
              <a:latin typeface="Arial"/>
              <a:cs typeface="Arial"/>
            </a:endParaRPr>
          </a:p>
        </p:txBody>
      </p:sp>
      <p:sp>
        <p:nvSpPr>
          <p:cNvPr id="27" name="object 27"/>
          <p:cNvSpPr txBox="1"/>
          <p:nvPr/>
        </p:nvSpPr>
        <p:spPr>
          <a:xfrm>
            <a:off x="8036142" y="2909183"/>
            <a:ext cx="174293"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.1</a:t>
            </a:r>
            <a:endParaRPr sz="1378">
              <a:latin typeface="Arial"/>
              <a:cs typeface="Arial"/>
            </a:endParaRPr>
          </a:p>
        </p:txBody>
      </p:sp>
      <p:sp>
        <p:nvSpPr>
          <p:cNvPr id="28" name="object 28"/>
          <p:cNvSpPr txBox="1"/>
          <p:nvPr/>
        </p:nvSpPr>
        <p:spPr>
          <a:xfrm>
            <a:off x="8086805" y="2033042"/>
            <a:ext cx="903661"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10.1.0.0/16</a:t>
            </a:r>
            <a:endParaRPr sz="1378">
              <a:latin typeface="Arial"/>
              <a:cs typeface="Arial"/>
            </a:endParaRPr>
          </a:p>
        </p:txBody>
      </p:sp>
      <p:sp>
        <p:nvSpPr>
          <p:cNvPr id="29" name="object 29"/>
          <p:cNvSpPr txBox="1"/>
          <p:nvPr/>
        </p:nvSpPr>
        <p:spPr>
          <a:xfrm>
            <a:off x="2260310" y="2272831"/>
            <a:ext cx="5425467" cy="399563"/>
          </a:xfrm>
          <a:prstGeom prst="rect">
            <a:avLst/>
          </a:prstGeom>
        </p:spPr>
        <p:txBody>
          <a:bodyPr vert="horz" wrap="square" lIns="0" tIns="14699" rIns="0" bIns="0" rtlCol="0">
            <a:spAutoFit/>
          </a:bodyPr>
          <a:lstStyle/>
          <a:p>
            <a:pPr algn="ctr">
              <a:lnSpc>
                <a:spcPts val="1450"/>
              </a:lnSpc>
              <a:spcBef>
                <a:spcPts val="116"/>
              </a:spcBef>
              <a:tabLst>
                <a:tab pos="2493959" algn="l"/>
                <a:tab pos="5032716" algn="l"/>
              </a:tabLst>
            </a:pPr>
            <a:r>
              <a:rPr sz="1378" b="1" spc="6" dirty="0">
                <a:latin typeface="Arial"/>
                <a:cs typeface="Arial"/>
              </a:rPr>
              <a:t>RTA	RTB	RTC</a:t>
            </a:r>
            <a:endParaRPr sz="1378">
              <a:latin typeface="Arial"/>
              <a:cs typeface="Arial"/>
            </a:endParaRPr>
          </a:p>
          <a:p>
            <a:pPr marR="34998" algn="ctr">
              <a:lnSpc>
                <a:spcPts val="1450"/>
              </a:lnSpc>
              <a:tabLst>
                <a:tab pos="1268328" algn="l"/>
                <a:tab pos="2536657" algn="l"/>
                <a:tab pos="3804985" algn="l"/>
              </a:tabLst>
            </a:pPr>
            <a:r>
              <a:rPr sz="1378" b="1" dirty="0">
                <a:latin typeface="Arial"/>
                <a:cs typeface="Arial"/>
              </a:rPr>
              <a:t>s0	s0	s1	</a:t>
            </a:r>
            <a:r>
              <a:rPr sz="1378" b="1" spc="-6" dirty="0">
                <a:latin typeface="Arial"/>
                <a:cs typeface="Arial"/>
              </a:rPr>
              <a:t>s1</a:t>
            </a:r>
            <a:endParaRPr sz="1378">
              <a:latin typeface="Arial"/>
              <a:cs typeface="Arial"/>
            </a:endParaRPr>
          </a:p>
        </p:txBody>
      </p:sp>
      <p:sp>
        <p:nvSpPr>
          <p:cNvPr id="30" name="object 30"/>
          <p:cNvSpPr txBox="1"/>
          <p:nvPr/>
        </p:nvSpPr>
        <p:spPr>
          <a:xfrm>
            <a:off x="1668567" y="2431703"/>
            <a:ext cx="222590"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e0</a:t>
            </a:r>
            <a:endParaRPr sz="1378">
              <a:latin typeface="Arial"/>
              <a:cs typeface="Arial"/>
            </a:endParaRPr>
          </a:p>
        </p:txBody>
      </p:sp>
      <p:sp>
        <p:nvSpPr>
          <p:cNvPr id="31" name="object 31"/>
          <p:cNvSpPr txBox="1"/>
          <p:nvPr/>
        </p:nvSpPr>
        <p:spPr>
          <a:xfrm>
            <a:off x="8012486" y="2431703"/>
            <a:ext cx="222590" cy="226888"/>
          </a:xfrm>
          <a:prstGeom prst="rect">
            <a:avLst/>
          </a:prstGeom>
        </p:spPr>
        <p:txBody>
          <a:bodyPr vert="horz" wrap="square" lIns="0" tIns="14699" rIns="0" bIns="0" rtlCol="0">
            <a:spAutoFit/>
          </a:bodyPr>
          <a:lstStyle/>
          <a:p>
            <a:pPr marL="13999">
              <a:spcBef>
                <a:spcPts val="116"/>
              </a:spcBef>
            </a:pPr>
            <a:r>
              <a:rPr sz="1378" b="1" spc="-6" dirty="0">
                <a:latin typeface="Arial"/>
                <a:cs typeface="Arial"/>
              </a:rPr>
              <a:t>e0</a:t>
            </a:r>
            <a:endParaRPr sz="1378">
              <a:latin typeface="Arial"/>
              <a:cs typeface="Arial"/>
            </a:endParaRPr>
          </a:p>
        </p:txBody>
      </p:sp>
      <p:sp>
        <p:nvSpPr>
          <p:cNvPr id="35" name="object 35"/>
          <p:cNvSpPr txBox="1"/>
          <p:nvPr/>
        </p:nvSpPr>
        <p:spPr>
          <a:xfrm>
            <a:off x="672499" y="3917330"/>
            <a:ext cx="8922239" cy="2260551"/>
          </a:xfrm>
          <a:prstGeom prst="rect">
            <a:avLst/>
          </a:prstGeom>
          <a:ln w="12700">
            <a:solidFill>
              <a:srgbClr val="000000"/>
            </a:solidFill>
          </a:ln>
        </p:spPr>
        <p:txBody>
          <a:bodyPr vert="horz" wrap="square" lIns="0" tIns="28698" rIns="0" bIns="0" rtlCol="0">
            <a:spAutoFit/>
          </a:bodyPr>
          <a:lstStyle/>
          <a:p>
            <a:pPr marL="100794">
              <a:spcBef>
                <a:spcPts val="225"/>
              </a:spcBef>
            </a:pPr>
            <a:r>
              <a:rPr sz="1543" spc="-6" dirty="0">
                <a:latin typeface="Courier New"/>
                <a:cs typeface="Courier New"/>
              </a:rPr>
              <a:t>RTA#show</a:t>
            </a:r>
            <a:r>
              <a:rPr sz="1543" spc="-72" dirty="0">
                <a:latin typeface="Courier New"/>
                <a:cs typeface="Courier New"/>
              </a:rPr>
              <a:t> </a:t>
            </a:r>
            <a:r>
              <a:rPr sz="1543" spc="-6" dirty="0">
                <a:latin typeface="Courier New"/>
                <a:cs typeface="Courier New"/>
              </a:rPr>
              <a:t>ip</a:t>
            </a:r>
            <a:r>
              <a:rPr sz="1543" spc="-39" dirty="0">
                <a:latin typeface="Courier New"/>
                <a:cs typeface="Courier New"/>
              </a:rPr>
              <a:t> </a:t>
            </a:r>
            <a:r>
              <a:rPr sz="1543" spc="-6" dirty="0">
                <a:latin typeface="Courier New"/>
                <a:cs typeface="Courier New"/>
              </a:rPr>
              <a:t>route</a:t>
            </a:r>
            <a:endParaRPr sz="1543" dirty="0">
              <a:latin typeface="Courier New"/>
              <a:cs typeface="Courier New"/>
            </a:endParaRPr>
          </a:p>
          <a:p>
            <a:pPr marL="100794">
              <a:spcBef>
                <a:spcPts val="369"/>
              </a:spcBef>
            </a:pPr>
            <a:r>
              <a:rPr sz="1543" spc="-6" dirty="0">
                <a:latin typeface="Courier New"/>
                <a:cs typeface="Courier New"/>
              </a:rPr>
              <a:t>Codes:</a:t>
            </a:r>
            <a:r>
              <a:rPr sz="1543" spc="-39" dirty="0">
                <a:latin typeface="Courier New"/>
                <a:cs typeface="Courier New"/>
              </a:rPr>
              <a:t> </a:t>
            </a:r>
            <a:r>
              <a:rPr sz="1543" dirty="0">
                <a:latin typeface="Courier New"/>
                <a:cs typeface="Courier New"/>
              </a:rPr>
              <a:t>C</a:t>
            </a:r>
            <a:r>
              <a:rPr sz="1543" spc="-22" dirty="0">
                <a:latin typeface="Courier New"/>
                <a:cs typeface="Courier New"/>
              </a:rPr>
              <a:t> </a:t>
            </a:r>
            <a:r>
              <a:rPr sz="1543" dirty="0">
                <a:latin typeface="Courier New"/>
                <a:cs typeface="Courier New"/>
              </a:rPr>
              <a:t>-</a:t>
            </a:r>
            <a:r>
              <a:rPr sz="1543" spc="-11" dirty="0">
                <a:latin typeface="Courier New"/>
                <a:cs typeface="Courier New"/>
              </a:rPr>
              <a:t> </a:t>
            </a:r>
            <a:r>
              <a:rPr sz="1543" spc="-6" dirty="0">
                <a:latin typeface="Courier New"/>
                <a:cs typeface="Courier New"/>
              </a:rPr>
              <a:t>connected,</a:t>
            </a:r>
            <a:r>
              <a:rPr sz="1543" spc="-50" dirty="0">
                <a:latin typeface="Courier New"/>
                <a:cs typeface="Courier New"/>
              </a:rPr>
              <a:t> </a:t>
            </a:r>
            <a:r>
              <a:rPr sz="1543" dirty="0">
                <a:latin typeface="Courier New"/>
                <a:cs typeface="Courier New"/>
              </a:rPr>
              <a:t>S -</a:t>
            </a:r>
            <a:r>
              <a:rPr sz="1543" spc="-11" dirty="0">
                <a:latin typeface="Courier New"/>
                <a:cs typeface="Courier New"/>
              </a:rPr>
              <a:t> </a:t>
            </a:r>
            <a:r>
              <a:rPr sz="1543" spc="-6" dirty="0">
                <a:latin typeface="Courier New"/>
                <a:cs typeface="Courier New"/>
              </a:rPr>
              <a:t>static,</a:t>
            </a:r>
            <a:endParaRPr sz="1543" dirty="0">
              <a:latin typeface="Courier New"/>
              <a:cs typeface="Courier New"/>
            </a:endParaRPr>
          </a:p>
          <a:p>
            <a:pPr marL="685261" marR="2710247" indent="-585167">
              <a:lnSpc>
                <a:spcPct val="120000"/>
              </a:lnSpc>
              <a:tabLst>
                <a:tab pos="685261" algn="l"/>
              </a:tabLst>
            </a:pPr>
            <a:r>
              <a:rPr sz="1543" dirty="0">
                <a:latin typeface="Courier New"/>
                <a:cs typeface="Courier New"/>
              </a:rPr>
              <a:t>C	</a:t>
            </a:r>
            <a:r>
              <a:rPr sz="1543" spc="-6" dirty="0">
                <a:latin typeface="Courier New"/>
                <a:cs typeface="Courier New"/>
              </a:rPr>
              <a:t>172.16.0.0/16 is directly connected, Serial0 </a:t>
            </a:r>
            <a:r>
              <a:rPr sz="1543" spc="-915" dirty="0">
                <a:latin typeface="Courier New"/>
                <a:cs typeface="Courier New"/>
              </a:rPr>
              <a:t> </a:t>
            </a:r>
            <a:r>
              <a:rPr sz="1543" spc="-6" dirty="0">
                <a:latin typeface="Courier New"/>
                <a:cs typeface="Courier New"/>
              </a:rPr>
              <a:t>10.0.0.0/16</a:t>
            </a:r>
            <a:r>
              <a:rPr sz="1543" spc="-50" dirty="0">
                <a:latin typeface="Courier New"/>
                <a:cs typeface="Courier New"/>
              </a:rPr>
              <a:t> </a:t>
            </a:r>
            <a:r>
              <a:rPr sz="1543" spc="-6" dirty="0">
                <a:latin typeface="Courier New"/>
                <a:cs typeface="Courier New"/>
              </a:rPr>
              <a:t>is</a:t>
            </a:r>
            <a:r>
              <a:rPr sz="1543" dirty="0">
                <a:latin typeface="Courier New"/>
                <a:cs typeface="Courier New"/>
              </a:rPr>
              <a:t> </a:t>
            </a:r>
            <a:r>
              <a:rPr sz="1543" spc="-6" dirty="0">
                <a:latin typeface="Courier New"/>
                <a:cs typeface="Courier New"/>
              </a:rPr>
              <a:t>subnetted,</a:t>
            </a:r>
            <a:r>
              <a:rPr sz="1543" spc="-33" dirty="0">
                <a:latin typeface="Courier New"/>
                <a:cs typeface="Courier New"/>
              </a:rPr>
              <a:t> </a:t>
            </a:r>
            <a:r>
              <a:rPr sz="1543" dirty="0">
                <a:latin typeface="Courier New"/>
                <a:cs typeface="Courier New"/>
              </a:rPr>
              <a:t>1</a:t>
            </a:r>
            <a:r>
              <a:rPr sz="1543" spc="-17" dirty="0">
                <a:latin typeface="Courier New"/>
                <a:cs typeface="Courier New"/>
              </a:rPr>
              <a:t> </a:t>
            </a:r>
            <a:r>
              <a:rPr sz="1543" spc="-6" dirty="0">
                <a:latin typeface="Courier New"/>
                <a:cs typeface="Courier New"/>
              </a:rPr>
              <a:t>subnets</a:t>
            </a:r>
            <a:endParaRPr sz="1543" dirty="0">
              <a:latin typeface="Courier New"/>
              <a:cs typeface="Courier New"/>
            </a:endParaRPr>
          </a:p>
          <a:p>
            <a:pPr marL="100794">
              <a:spcBef>
                <a:spcPts val="369"/>
              </a:spcBef>
              <a:tabLst>
                <a:tab pos="1035942" algn="l"/>
              </a:tabLst>
            </a:pPr>
            <a:r>
              <a:rPr sz="1543" dirty="0">
                <a:latin typeface="Courier New"/>
                <a:cs typeface="Courier New"/>
              </a:rPr>
              <a:t>S</a:t>
            </a:r>
            <a:r>
              <a:rPr lang="en-US" sz="1543" dirty="0">
                <a:latin typeface="Courier New"/>
                <a:cs typeface="Courier New"/>
              </a:rPr>
              <a:t>    </a:t>
            </a:r>
            <a:r>
              <a:rPr sz="1543" spc="-6" dirty="0">
                <a:latin typeface="Courier New"/>
                <a:cs typeface="Courier New"/>
              </a:rPr>
              <a:t>10.1.0.0</a:t>
            </a:r>
            <a:r>
              <a:rPr sz="1543" spc="-44" dirty="0">
                <a:latin typeface="Courier New"/>
                <a:cs typeface="Courier New"/>
              </a:rPr>
              <a:t> </a:t>
            </a:r>
            <a:r>
              <a:rPr sz="1543" spc="-6" dirty="0">
                <a:latin typeface="Courier New"/>
                <a:cs typeface="Courier New"/>
              </a:rPr>
              <a:t>[1/0]</a:t>
            </a:r>
            <a:r>
              <a:rPr sz="1543" spc="-22" dirty="0">
                <a:latin typeface="Courier New"/>
                <a:cs typeface="Courier New"/>
              </a:rPr>
              <a:t> </a:t>
            </a:r>
            <a:r>
              <a:rPr sz="1543" spc="-6" dirty="0">
                <a:latin typeface="Courier New"/>
                <a:cs typeface="Courier New"/>
              </a:rPr>
              <a:t>via</a:t>
            </a:r>
            <a:r>
              <a:rPr sz="1543" spc="-22" dirty="0">
                <a:latin typeface="Courier New"/>
                <a:cs typeface="Courier New"/>
              </a:rPr>
              <a:t> </a:t>
            </a:r>
            <a:r>
              <a:rPr sz="1543" spc="-6" dirty="0">
                <a:latin typeface="Courier New"/>
                <a:cs typeface="Courier New"/>
              </a:rPr>
              <a:t>172.16.0.2</a:t>
            </a:r>
            <a:endParaRPr sz="1543" dirty="0">
              <a:latin typeface="Courier New"/>
              <a:cs typeface="Courier New"/>
            </a:endParaRPr>
          </a:p>
          <a:p>
            <a:pPr marL="100794">
              <a:spcBef>
                <a:spcPts val="375"/>
              </a:spcBef>
              <a:tabLst>
                <a:tab pos="685261" algn="l"/>
              </a:tabLst>
            </a:pPr>
            <a:r>
              <a:rPr sz="1543" dirty="0">
                <a:latin typeface="Courier New"/>
                <a:cs typeface="Courier New"/>
              </a:rPr>
              <a:t>S	</a:t>
            </a:r>
            <a:r>
              <a:rPr sz="1543" spc="-6" dirty="0">
                <a:latin typeface="Courier New"/>
                <a:cs typeface="Courier New"/>
              </a:rPr>
              <a:t>192.168.1.0/24</a:t>
            </a:r>
            <a:r>
              <a:rPr sz="1543" spc="-50" dirty="0">
                <a:latin typeface="Courier New"/>
                <a:cs typeface="Courier New"/>
              </a:rPr>
              <a:t> </a:t>
            </a:r>
            <a:r>
              <a:rPr sz="1543" spc="-6" dirty="0">
                <a:latin typeface="Courier New"/>
                <a:cs typeface="Courier New"/>
              </a:rPr>
              <a:t>[1/0]</a:t>
            </a:r>
            <a:r>
              <a:rPr sz="1543" spc="-17" dirty="0">
                <a:latin typeface="Courier New"/>
                <a:cs typeface="Courier New"/>
              </a:rPr>
              <a:t> </a:t>
            </a:r>
            <a:r>
              <a:rPr sz="1543" spc="-6" dirty="0">
                <a:latin typeface="Courier New"/>
                <a:cs typeface="Courier New"/>
              </a:rPr>
              <a:t>via</a:t>
            </a:r>
            <a:r>
              <a:rPr sz="1543" spc="-22" dirty="0">
                <a:latin typeface="Courier New"/>
                <a:cs typeface="Courier New"/>
              </a:rPr>
              <a:t> </a:t>
            </a:r>
            <a:r>
              <a:rPr sz="1543" spc="-6" dirty="0">
                <a:latin typeface="Courier New"/>
                <a:cs typeface="Courier New"/>
              </a:rPr>
              <a:t>172.16.0.2</a:t>
            </a:r>
            <a:endParaRPr sz="1543" dirty="0">
              <a:latin typeface="Courier New"/>
              <a:cs typeface="Courier New"/>
            </a:endParaRPr>
          </a:p>
          <a:p>
            <a:pPr marL="100794" marR="2358167">
              <a:lnSpc>
                <a:spcPct val="120000"/>
              </a:lnSpc>
              <a:tabLst>
                <a:tab pos="685261" algn="l"/>
              </a:tabLst>
            </a:pPr>
            <a:r>
              <a:rPr sz="1543" dirty="0">
                <a:latin typeface="Courier New"/>
                <a:cs typeface="Courier New"/>
              </a:rPr>
              <a:t>C	</a:t>
            </a:r>
            <a:r>
              <a:rPr sz="1543" spc="-6" dirty="0">
                <a:latin typeface="Courier New"/>
                <a:cs typeface="Courier New"/>
              </a:rPr>
              <a:t>192.168.2.0/24 is directly connected, Ethernet0 </a:t>
            </a:r>
            <a:r>
              <a:rPr sz="1543" spc="-915" dirty="0">
                <a:latin typeface="Courier New"/>
                <a:cs typeface="Courier New"/>
              </a:rPr>
              <a:t> </a:t>
            </a:r>
            <a:r>
              <a:rPr sz="1543" spc="-6" dirty="0">
                <a:latin typeface="Courier New"/>
                <a:cs typeface="Courier New"/>
              </a:rPr>
              <a:t>RTA#</a:t>
            </a:r>
            <a:endParaRPr sz="1543" dirty="0">
              <a:latin typeface="Courier New"/>
              <a:cs typeface="Courier New"/>
            </a:endParaRPr>
          </a:p>
        </p:txBody>
      </p:sp>
      <p:sp>
        <p:nvSpPr>
          <p:cNvPr id="37" name="object 33">
            <a:extLst>
              <a:ext uri="{FF2B5EF4-FFF2-40B4-BE49-F238E27FC236}">
                <a16:creationId xmlns:a16="http://schemas.microsoft.com/office/drawing/2014/main" id="{F7A68DA0-CA18-4446-BB72-10B8C8109659}"/>
              </a:ext>
            </a:extLst>
          </p:cNvPr>
          <p:cNvSpPr txBox="1"/>
          <p:nvPr/>
        </p:nvSpPr>
        <p:spPr>
          <a:xfrm>
            <a:off x="759297" y="3037971"/>
            <a:ext cx="6714811" cy="735809"/>
          </a:xfrm>
          <a:prstGeom prst="rect">
            <a:avLst/>
          </a:prstGeom>
        </p:spPr>
        <p:txBody>
          <a:bodyPr vert="horz" wrap="square" lIns="0" tIns="14699" rIns="0" bIns="0" rtlCol="0">
            <a:spAutoFit/>
          </a:bodyPr>
          <a:lstStyle/>
          <a:p>
            <a:pPr marL="948446">
              <a:spcBef>
                <a:spcPts val="116"/>
              </a:spcBef>
              <a:tabLst>
                <a:tab pos="2216775" algn="l"/>
                <a:tab pos="3485103" algn="l"/>
                <a:tab pos="4753432" algn="l"/>
                <a:tab pos="6021760" algn="l"/>
              </a:tabLst>
            </a:pPr>
            <a:r>
              <a:rPr sz="1378" b="1" spc="-6" dirty="0">
                <a:latin typeface="Arial"/>
                <a:cs typeface="Arial"/>
              </a:rPr>
              <a:t>.1	.1	.2	.1	.2</a:t>
            </a:r>
            <a:endParaRPr sz="1378" dirty="0">
              <a:latin typeface="Arial"/>
              <a:cs typeface="Arial"/>
            </a:endParaRPr>
          </a:p>
          <a:p>
            <a:pPr>
              <a:spcBef>
                <a:spcPts val="44"/>
              </a:spcBef>
            </a:pPr>
            <a:endParaRPr sz="1764" dirty="0">
              <a:latin typeface="Arial"/>
              <a:cs typeface="Arial"/>
            </a:endParaRPr>
          </a:p>
          <a:p>
            <a:pPr marL="13999"/>
            <a:endParaRPr sz="1543" dirty="0">
              <a:latin typeface="Courier New"/>
              <a:cs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13" y="454637"/>
            <a:ext cx="7592153"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Show</a:t>
            </a:r>
            <a:r>
              <a:rPr b="1" spc="-50"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ip</a:t>
            </a:r>
            <a:r>
              <a:rPr b="1" spc="-22" dirty="0">
                <a:solidFill>
                  <a:schemeClr val="bg1"/>
                </a:solidFill>
                <a:latin typeface="Times New Roman" panose="02020603050405020304" pitchFamily="18" charset="0"/>
                <a:cs typeface="Times New Roman" panose="02020603050405020304" pitchFamily="18" charset="0"/>
              </a:rPr>
              <a:t> </a:t>
            </a:r>
            <a:r>
              <a:rPr b="1" spc="-17" dirty="0">
                <a:solidFill>
                  <a:schemeClr val="bg1"/>
                </a:solidFill>
                <a:latin typeface="Times New Roman" panose="02020603050405020304" pitchFamily="18" charset="0"/>
                <a:cs typeface="Times New Roman" panose="02020603050405020304" pitchFamily="18" charset="0"/>
              </a:rPr>
              <a:t>route</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command</a:t>
            </a:r>
          </a:p>
        </p:txBody>
      </p:sp>
      <p:sp>
        <p:nvSpPr>
          <p:cNvPr id="4" name="object 4"/>
          <p:cNvSpPr txBox="1"/>
          <p:nvPr/>
        </p:nvSpPr>
        <p:spPr>
          <a:xfrm>
            <a:off x="256213" y="5596106"/>
            <a:ext cx="9299800" cy="1194574"/>
          </a:xfrm>
          <a:prstGeom prst="rect">
            <a:avLst/>
          </a:prstGeom>
        </p:spPr>
        <p:txBody>
          <a:bodyPr vert="horz" wrap="square" lIns="0" tIns="97996" rIns="0" bIns="0" rtlCol="0">
            <a:spAutoFit/>
          </a:bodyPr>
          <a:lstStyle/>
          <a:p>
            <a:pPr marL="470499" marR="5600" indent="-457200">
              <a:lnSpc>
                <a:spcPts val="2756"/>
              </a:lnSpc>
              <a:spcBef>
                <a:spcPts val="772"/>
              </a:spcBef>
              <a:buClr>
                <a:srgbClr val="D24717"/>
              </a:buClr>
              <a:buSzPct val="84615"/>
              <a:buFont typeface="Wingdings" panose="05000000000000000000" pitchFamily="2" charset="2"/>
              <a:buChar char="Ø"/>
              <a:tabLst>
                <a:tab pos="316382" algn="l"/>
              </a:tabLst>
            </a:pPr>
            <a:r>
              <a:rPr sz="3200" dirty="0">
                <a:latin typeface="Times New Roman"/>
                <a:cs typeface="Times New Roman"/>
              </a:rPr>
              <a:t>The </a:t>
            </a:r>
            <a:r>
              <a:rPr sz="3200" b="1" dirty="0">
                <a:solidFill>
                  <a:srgbClr val="FF0000"/>
                </a:solidFill>
                <a:latin typeface="Times New Roman"/>
                <a:cs typeface="Times New Roman"/>
              </a:rPr>
              <a:t>show </a:t>
            </a:r>
            <a:r>
              <a:rPr sz="3200" b="1" spc="-6" dirty="0">
                <a:solidFill>
                  <a:srgbClr val="FF0000"/>
                </a:solidFill>
                <a:latin typeface="Times New Roman"/>
                <a:cs typeface="Times New Roman"/>
              </a:rPr>
              <a:t>ip </a:t>
            </a:r>
            <a:r>
              <a:rPr sz="3200" b="1" spc="-11" dirty="0">
                <a:solidFill>
                  <a:srgbClr val="FF0000"/>
                </a:solidFill>
                <a:latin typeface="Times New Roman"/>
                <a:cs typeface="Times New Roman"/>
              </a:rPr>
              <a:t>route </a:t>
            </a:r>
            <a:r>
              <a:rPr sz="3200" spc="-6" dirty="0">
                <a:latin typeface="Times New Roman"/>
                <a:cs typeface="Times New Roman"/>
              </a:rPr>
              <a:t>command </a:t>
            </a:r>
            <a:r>
              <a:rPr sz="3200" dirty="0">
                <a:latin typeface="Times New Roman"/>
                <a:cs typeface="Times New Roman"/>
              </a:rPr>
              <a:t>is used to display the routing </a:t>
            </a:r>
            <a:r>
              <a:rPr sz="3200" spc="6" dirty="0">
                <a:latin typeface="Times New Roman"/>
                <a:cs typeface="Times New Roman"/>
              </a:rPr>
              <a:t> </a:t>
            </a:r>
            <a:r>
              <a:rPr sz="3200" spc="-6" dirty="0">
                <a:latin typeface="Times New Roman"/>
                <a:cs typeface="Times New Roman"/>
              </a:rPr>
              <a:t>table.</a:t>
            </a:r>
            <a:r>
              <a:rPr sz="3200" spc="-22" dirty="0">
                <a:latin typeface="Times New Roman"/>
                <a:cs typeface="Times New Roman"/>
              </a:rPr>
              <a:t> Initially,</a:t>
            </a:r>
            <a:r>
              <a:rPr sz="3200" spc="11"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dirty="0">
                <a:latin typeface="Times New Roman"/>
                <a:cs typeface="Times New Roman"/>
              </a:rPr>
              <a:t>routing</a:t>
            </a:r>
            <a:r>
              <a:rPr sz="3200" spc="-17" dirty="0">
                <a:latin typeface="Times New Roman"/>
                <a:cs typeface="Times New Roman"/>
              </a:rPr>
              <a:t> </a:t>
            </a:r>
            <a:r>
              <a:rPr sz="3200" spc="-6" dirty="0">
                <a:latin typeface="Times New Roman"/>
                <a:cs typeface="Times New Roman"/>
              </a:rPr>
              <a:t>table </a:t>
            </a:r>
            <a:r>
              <a:rPr sz="3200" dirty="0">
                <a:latin typeface="Times New Roman"/>
                <a:cs typeface="Times New Roman"/>
              </a:rPr>
              <a:t>is</a:t>
            </a:r>
            <a:r>
              <a:rPr sz="3200" spc="6" dirty="0">
                <a:latin typeface="Times New Roman"/>
                <a:cs typeface="Times New Roman"/>
              </a:rPr>
              <a:t> </a:t>
            </a:r>
            <a:r>
              <a:rPr sz="3200" spc="-6" dirty="0">
                <a:latin typeface="Times New Roman"/>
                <a:cs typeface="Times New Roman"/>
              </a:rPr>
              <a:t>empty</a:t>
            </a:r>
            <a:r>
              <a:rPr sz="3200" spc="6" dirty="0">
                <a:latin typeface="Times New Roman"/>
                <a:cs typeface="Times New Roman"/>
              </a:rPr>
              <a:t> </a:t>
            </a:r>
            <a:r>
              <a:rPr sz="3200" dirty="0">
                <a:latin typeface="Times New Roman"/>
                <a:cs typeface="Times New Roman"/>
              </a:rPr>
              <a:t>if no</a:t>
            </a:r>
            <a:r>
              <a:rPr sz="3200" spc="-6" dirty="0">
                <a:latin typeface="Times New Roman"/>
                <a:cs typeface="Times New Roman"/>
              </a:rPr>
              <a:t> interfaces</a:t>
            </a:r>
            <a:r>
              <a:rPr sz="3200" dirty="0">
                <a:latin typeface="Times New Roman"/>
                <a:cs typeface="Times New Roman"/>
              </a:rPr>
              <a:t> have </a:t>
            </a:r>
            <a:r>
              <a:rPr sz="3200" spc="-700" dirty="0">
                <a:latin typeface="Times New Roman"/>
                <a:cs typeface="Times New Roman"/>
              </a:rPr>
              <a:t> </a:t>
            </a:r>
            <a:r>
              <a:rPr sz="3200" dirty="0">
                <a:latin typeface="Times New Roman"/>
                <a:cs typeface="Times New Roman"/>
              </a:rPr>
              <a:t>been</a:t>
            </a:r>
            <a:r>
              <a:rPr sz="3200" spc="-50" dirty="0">
                <a:latin typeface="Times New Roman"/>
                <a:cs typeface="Times New Roman"/>
              </a:rPr>
              <a:t> </a:t>
            </a:r>
            <a:r>
              <a:rPr sz="3200" dirty="0">
                <a:latin typeface="Times New Roman"/>
                <a:cs typeface="Times New Roman"/>
              </a:rPr>
              <a:t>configured.</a:t>
            </a:r>
          </a:p>
        </p:txBody>
      </p:sp>
      <p:pic>
        <p:nvPicPr>
          <p:cNvPr id="5" name="object 5"/>
          <p:cNvPicPr/>
          <p:nvPr/>
        </p:nvPicPr>
        <p:blipFill>
          <a:blip r:embed="rId2" cstate="print"/>
          <a:stretch>
            <a:fillRect/>
          </a:stretch>
        </p:blipFill>
        <p:spPr>
          <a:xfrm>
            <a:off x="336514" y="1669884"/>
            <a:ext cx="3443852" cy="2095344"/>
          </a:xfrm>
          <a:prstGeom prst="rect">
            <a:avLst/>
          </a:prstGeom>
        </p:spPr>
      </p:pic>
      <p:pic>
        <p:nvPicPr>
          <p:cNvPr id="6" name="object 6"/>
          <p:cNvPicPr/>
          <p:nvPr/>
        </p:nvPicPr>
        <p:blipFill>
          <a:blip r:embed="rId3" cstate="print"/>
          <a:stretch>
            <a:fillRect/>
          </a:stretch>
        </p:blipFill>
        <p:spPr>
          <a:xfrm>
            <a:off x="3984744" y="1712473"/>
            <a:ext cx="5799700" cy="37343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669" y="416227"/>
            <a:ext cx="7146984"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Static</a:t>
            </a:r>
            <a:r>
              <a:rPr b="1" spc="-3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a:t>
            </a:r>
            <a:r>
              <a:rPr b="1" spc="-3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Configurations</a:t>
            </a:r>
          </a:p>
        </p:txBody>
      </p:sp>
      <p:sp>
        <p:nvSpPr>
          <p:cNvPr id="3" name="object 3"/>
          <p:cNvSpPr txBox="1"/>
          <p:nvPr/>
        </p:nvSpPr>
        <p:spPr>
          <a:xfrm>
            <a:off x="141669" y="4817192"/>
            <a:ext cx="10045520" cy="2475558"/>
          </a:xfrm>
          <a:prstGeom prst="rect">
            <a:avLst/>
          </a:prstGeom>
        </p:spPr>
        <p:txBody>
          <a:bodyPr vert="horz" wrap="square" lIns="0" tIns="94496" rIns="0" bIns="0" rtlCol="0">
            <a:spAutoFit/>
          </a:bodyPr>
          <a:lstStyle/>
          <a:p>
            <a:pPr marL="470499" marR="109894" indent="-457200">
              <a:lnSpc>
                <a:spcPct val="80000"/>
              </a:lnSpc>
              <a:spcBef>
                <a:spcPts val="744"/>
              </a:spcBef>
              <a:buClr>
                <a:srgbClr val="D24717"/>
              </a:buClr>
              <a:buSzPct val="85416"/>
              <a:buFont typeface="Wingdings" panose="05000000000000000000" pitchFamily="2" charset="2"/>
              <a:buChar char="Ø"/>
              <a:tabLst>
                <a:tab pos="315682" algn="l"/>
                <a:tab pos="316382" algn="l"/>
              </a:tabLst>
            </a:pPr>
            <a:r>
              <a:rPr sz="3000" dirty="0">
                <a:latin typeface="Times New Roman"/>
                <a:cs typeface="Times New Roman"/>
              </a:rPr>
              <a:t>The</a:t>
            </a:r>
            <a:r>
              <a:rPr sz="3000" spc="-39" dirty="0">
                <a:latin typeface="Times New Roman"/>
                <a:cs typeface="Times New Roman"/>
              </a:rPr>
              <a:t> </a:t>
            </a:r>
            <a:r>
              <a:rPr sz="3000" dirty="0">
                <a:latin typeface="Times New Roman"/>
                <a:cs typeface="Times New Roman"/>
              </a:rPr>
              <a:t>internetwork</a:t>
            </a:r>
            <a:r>
              <a:rPr sz="3000" spc="-55" dirty="0">
                <a:latin typeface="Times New Roman"/>
                <a:cs typeface="Times New Roman"/>
              </a:rPr>
              <a:t> </a:t>
            </a:r>
            <a:r>
              <a:rPr sz="3000" spc="-6" dirty="0">
                <a:latin typeface="Times New Roman"/>
                <a:cs typeface="Times New Roman"/>
              </a:rPr>
              <a:t>has</a:t>
            </a:r>
            <a:r>
              <a:rPr sz="3000" spc="-11" dirty="0">
                <a:latin typeface="Times New Roman"/>
                <a:cs typeface="Times New Roman"/>
              </a:rPr>
              <a:t> </a:t>
            </a:r>
            <a:r>
              <a:rPr sz="3000" dirty="0">
                <a:latin typeface="Times New Roman"/>
                <a:cs typeface="Times New Roman"/>
              </a:rPr>
              <a:t>three</a:t>
            </a:r>
            <a:r>
              <a:rPr sz="3000" spc="-39" dirty="0">
                <a:latin typeface="Times New Roman"/>
                <a:cs typeface="Times New Roman"/>
              </a:rPr>
              <a:t> </a:t>
            </a:r>
            <a:r>
              <a:rPr sz="3000" dirty="0">
                <a:latin typeface="Times New Roman"/>
                <a:cs typeface="Times New Roman"/>
              </a:rPr>
              <a:t>subnets:</a:t>
            </a:r>
            <a:r>
              <a:rPr sz="3000" spc="-33" dirty="0">
                <a:latin typeface="Times New Roman"/>
                <a:cs typeface="Times New Roman"/>
              </a:rPr>
              <a:t> </a:t>
            </a:r>
            <a:r>
              <a:rPr sz="3000" dirty="0">
                <a:latin typeface="Times New Roman"/>
                <a:cs typeface="Times New Roman"/>
              </a:rPr>
              <a:t>172.16.1.0,</a:t>
            </a:r>
            <a:r>
              <a:rPr sz="3000" spc="-11" dirty="0">
                <a:latin typeface="Times New Roman"/>
                <a:cs typeface="Times New Roman"/>
              </a:rPr>
              <a:t> </a:t>
            </a:r>
            <a:r>
              <a:rPr sz="3000" dirty="0">
                <a:latin typeface="Times New Roman"/>
                <a:cs typeface="Times New Roman"/>
              </a:rPr>
              <a:t>172.16.4.0,</a:t>
            </a:r>
            <a:r>
              <a:rPr sz="3000" spc="-11" dirty="0">
                <a:latin typeface="Times New Roman"/>
                <a:cs typeface="Times New Roman"/>
              </a:rPr>
              <a:t> </a:t>
            </a:r>
            <a:r>
              <a:rPr sz="3000" dirty="0">
                <a:latin typeface="Times New Roman"/>
                <a:cs typeface="Times New Roman"/>
              </a:rPr>
              <a:t>and </a:t>
            </a:r>
            <a:r>
              <a:rPr sz="3000" spc="-645" dirty="0">
                <a:latin typeface="Times New Roman"/>
                <a:cs typeface="Times New Roman"/>
              </a:rPr>
              <a:t> </a:t>
            </a:r>
            <a:r>
              <a:rPr sz="3000" dirty="0">
                <a:latin typeface="Times New Roman"/>
                <a:cs typeface="Times New Roman"/>
              </a:rPr>
              <a:t>172.16.3.0,</a:t>
            </a:r>
            <a:r>
              <a:rPr sz="3000" spc="-22" dirty="0">
                <a:latin typeface="Times New Roman"/>
                <a:cs typeface="Times New Roman"/>
              </a:rPr>
              <a:t> </a:t>
            </a:r>
            <a:r>
              <a:rPr sz="3000" dirty="0">
                <a:latin typeface="Times New Roman"/>
                <a:cs typeface="Times New Roman"/>
              </a:rPr>
              <a:t>all</a:t>
            </a:r>
            <a:r>
              <a:rPr sz="3000" spc="-22" dirty="0">
                <a:latin typeface="Times New Roman"/>
                <a:cs typeface="Times New Roman"/>
              </a:rPr>
              <a:t> </a:t>
            </a:r>
            <a:r>
              <a:rPr sz="3000" dirty="0">
                <a:latin typeface="Times New Roman"/>
                <a:cs typeface="Times New Roman"/>
              </a:rPr>
              <a:t>with</a:t>
            </a:r>
            <a:r>
              <a:rPr sz="3000" spc="-6" dirty="0">
                <a:latin typeface="Times New Roman"/>
                <a:cs typeface="Times New Roman"/>
              </a:rPr>
              <a:t> </a:t>
            </a:r>
            <a:r>
              <a:rPr sz="3000" spc="-11" dirty="0">
                <a:latin typeface="Times New Roman"/>
                <a:cs typeface="Times New Roman"/>
              </a:rPr>
              <a:t>masks</a:t>
            </a:r>
            <a:r>
              <a:rPr sz="3000" spc="11" dirty="0">
                <a:latin typeface="Times New Roman"/>
                <a:cs typeface="Times New Roman"/>
              </a:rPr>
              <a:t> </a:t>
            </a:r>
            <a:r>
              <a:rPr sz="3000" dirty="0">
                <a:latin typeface="Times New Roman"/>
                <a:cs typeface="Times New Roman"/>
              </a:rPr>
              <a:t>of</a:t>
            </a:r>
            <a:r>
              <a:rPr sz="3000" spc="-6" dirty="0">
                <a:latin typeface="Times New Roman"/>
                <a:cs typeface="Times New Roman"/>
              </a:rPr>
              <a:t> </a:t>
            </a:r>
            <a:r>
              <a:rPr sz="3000" dirty="0">
                <a:latin typeface="Times New Roman"/>
                <a:cs typeface="Times New Roman"/>
              </a:rPr>
              <a:t>255.255.255.0.</a:t>
            </a:r>
          </a:p>
          <a:p>
            <a:pPr marL="470499" marR="342281" indent="-457200">
              <a:lnSpc>
                <a:spcPts val="2546"/>
              </a:lnSpc>
              <a:spcBef>
                <a:spcPts val="634"/>
              </a:spcBef>
              <a:buClr>
                <a:srgbClr val="D24717"/>
              </a:buClr>
              <a:buSzPct val="85416"/>
              <a:buFont typeface="Wingdings" panose="05000000000000000000" pitchFamily="2" charset="2"/>
              <a:buChar char="Ø"/>
              <a:tabLst>
                <a:tab pos="315682" algn="l"/>
                <a:tab pos="316382" algn="l"/>
              </a:tabLst>
            </a:pPr>
            <a:r>
              <a:rPr sz="3000" dirty="0">
                <a:latin typeface="Times New Roman"/>
                <a:cs typeface="Times New Roman"/>
              </a:rPr>
              <a:t>Both</a:t>
            </a:r>
            <a:r>
              <a:rPr sz="3000" spc="-22" dirty="0">
                <a:latin typeface="Times New Roman"/>
                <a:cs typeface="Times New Roman"/>
              </a:rPr>
              <a:t> </a:t>
            </a:r>
            <a:r>
              <a:rPr sz="3000" dirty="0">
                <a:latin typeface="Times New Roman"/>
                <a:cs typeface="Times New Roman"/>
              </a:rPr>
              <a:t>routers</a:t>
            </a:r>
            <a:r>
              <a:rPr sz="3000" spc="-33" dirty="0">
                <a:latin typeface="Times New Roman"/>
                <a:cs typeface="Times New Roman"/>
              </a:rPr>
              <a:t> </a:t>
            </a:r>
            <a:r>
              <a:rPr sz="3000" dirty="0">
                <a:latin typeface="Times New Roman"/>
                <a:cs typeface="Times New Roman"/>
              </a:rPr>
              <a:t>know</a:t>
            </a:r>
            <a:r>
              <a:rPr sz="3000" spc="-6" dirty="0">
                <a:latin typeface="Times New Roman"/>
                <a:cs typeface="Times New Roman"/>
              </a:rPr>
              <a:t> </a:t>
            </a:r>
            <a:r>
              <a:rPr sz="3000" dirty="0">
                <a:latin typeface="Times New Roman"/>
                <a:cs typeface="Times New Roman"/>
              </a:rPr>
              <a:t>how</a:t>
            </a:r>
            <a:r>
              <a:rPr sz="3000" spc="-6" dirty="0">
                <a:latin typeface="Times New Roman"/>
                <a:cs typeface="Times New Roman"/>
              </a:rPr>
              <a:t> </a:t>
            </a:r>
            <a:r>
              <a:rPr sz="3000" dirty="0">
                <a:latin typeface="Times New Roman"/>
                <a:cs typeface="Times New Roman"/>
              </a:rPr>
              <a:t>to</a:t>
            </a:r>
            <a:r>
              <a:rPr sz="3000" spc="-6" dirty="0">
                <a:latin typeface="Times New Roman"/>
                <a:cs typeface="Times New Roman"/>
              </a:rPr>
              <a:t> </a:t>
            </a:r>
            <a:r>
              <a:rPr sz="3000" dirty="0">
                <a:latin typeface="Times New Roman"/>
                <a:cs typeface="Times New Roman"/>
              </a:rPr>
              <a:t>reach</a:t>
            </a:r>
            <a:r>
              <a:rPr sz="3000" spc="-33" dirty="0">
                <a:latin typeface="Times New Roman"/>
                <a:cs typeface="Times New Roman"/>
              </a:rPr>
              <a:t> </a:t>
            </a:r>
            <a:r>
              <a:rPr sz="3000" spc="-6" dirty="0">
                <a:latin typeface="Times New Roman"/>
                <a:cs typeface="Times New Roman"/>
              </a:rPr>
              <a:t>two </a:t>
            </a:r>
            <a:r>
              <a:rPr sz="3000" dirty="0">
                <a:latin typeface="Times New Roman"/>
                <a:cs typeface="Times New Roman"/>
              </a:rPr>
              <a:t>of</a:t>
            </a:r>
            <a:r>
              <a:rPr sz="3000" spc="-6" dirty="0">
                <a:latin typeface="Times New Roman"/>
                <a:cs typeface="Times New Roman"/>
              </a:rPr>
              <a:t> </a:t>
            </a:r>
            <a:r>
              <a:rPr sz="3000" dirty="0">
                <a:latin typeface="Times New Roman"/>
                <a:cs typeface="Times New Roman"/>
              </a:rPr>
              <a:t>the</a:t>
            </a:r>
            <a:r>
              <a:rPr sz="3000" spc="-28" dirty="0">
                <a:latin typeface="Times New Roman"/>
                <a:cs typeface="Times New Roman"/>
              </a:rPr>
              <a:t> </a:t>
            </a:r>
            <a:r>
              <a:rPr sz="3000" dirty="0">
                <a:latin typeface="Times New Roman"/>
                <a:cs typeface="Times New Roman"/>
              </a:rPr>
              <a:t>directly</a:t>
            </a:r>
            <a:r>
              <a:rPr sz="3000" spc="-44" dirty="0">
                <a:latin typeface="Times New Roman"/>
                <a:cs typeface="Times New Roman"/>
              </a:rPr>
              <a:t> </a:t>
            </a:r>
            <a:r>
              <a:rPr sz="3000" dirty="0">
                <a:latin typeface="Times New Roman"/>
                <a:cs typeface="Times New Roman"/>
              </a:rPr>
              <a:t>connected </a:t>
            </a:r>
            <a:r>
              <a:rPr sz="3000" spc="-645" dirty="0">
                <a:latin typeface="Times New Roman"/>
                <a:cs typeface="Times New Roman"/>
              </a:rPr>
              <a:t> </a:t>
            </a:r>
            <a:r>
              <a:rPr sz="3000" dirty="0">
                <a:latin typeface="Times New Roman"/>
                <a:cs typeface="Times New Roman"/>
              </a:rPr>
              <a:t>subnets.</a:t>
            </a:r>
          </a:p>
          <a:p>
            <a:pPr marL="471199" indent="-457200">
              <a:spcBef>
                <a:spcPts val="44"/>
              </a:spcBef>
              <a:buClr>
                <a:srgbClr val="D24717"/>
              </a:buClr>
              <a:buSzPct val="85416"/>
              <a:buFont typeface="Wingdings" panose="05000000000000000000" pitchFamily="2" charset="2"/>
              <a:buChar char="Ø"/>
              <a:tabLst>
                <a:tab pos="315682" algn="l"/>
                <a:tab pos="316382" algn="l"/>
              </a:tabLst>
            </a:pPr>
            <a:r>
              <a:rPr sz="3000" dirty="0">
                <a:latin typeface="Times New Roman"/>
                <a:cs typeface="Times New Roman"/>
              </a:rPr>
              <a:t>Each</a:t>
            </a:r>
            <a:r>
              <a:rPr sz="3000" spc="-39" dirty="0">
                <a:latin typeface="Times New Roman"/>
                <a:cs typeface="Times New Roman"/>
              </a:rPr>
              <a:t> </a:t>
            </a:r>
            <a:r>
              <a:rPr sz="3000" dirty="0">
                <a:latin typeface="Times New Roman"/>
                <a:cs typeface="Times New Roman"/>
              </a:rPr>
              <a:t>router</a:t>
            </a:r>
            <a:r>
              <a:rPr sz="3000" spc="-28" dirty="0">
                <a:latin typeface="Times New Roman"/>
                <a:cs typeface="Times New Roman"/>
              </a:rPr>
              <a:t> </a:t>
            </a:r>
            <a:r>
              <a:rPr sz="3000" dirty="0">
                <a:latin typeface="Times New Roman"/>
                <a:cs typeface="Times New Roman"/>
              </a:rPr>
              <a:t>needs</a:t>
            </a:r>
            <a:r>
              <a:rPr sz="3000" spc="-17" dirty="0">
                <a:latin typeface="Times New Roman"/>
                <a:cs typeface="Times New Roman"/>
              </a:rPr>
              <a:t> </a:t>
            </a:r>
            <a:r>
              <a:rPr sz="3000" dirty="0">
                <a:latin typeface="Times New Roman"/>
                <a:cs typeface="Times New Roman"/>
              </a:rPr>
              <a:t>one</a:t>
            </a:r>
            <a:r>
              <a:rPr sz="3000" spc="-6" dirty="0">
                <a:latin typeface="Times New Roman"/>
                <a:cs typeface="Times New Roman"/>
              </a:rPr>
              <a:t> more </a:t>
            </a:r>
            <a:r>
              <a:rPr sz="3000" dirty="0">
                <a:latin typeface="Times New Roman"/>
                <a:cs typeface="Times New Roman"/>
              </a:rPr>
              <a:t>route</a:t>
            </a:r>
            <a:r>
              <a:rPr sz="3000" spc="-17" dirty="0">
                <a:latin typeface="Times New Roman"/>
                <a:cs typeface="Times New Roman"/>
              </a:rPr>
              <a:t> </a:t>
            </a:r>
            <a:r>
              <a:rPr sz="3000" dirty="0">
                <a:latin typeface="Times New Roman"/>
                <a:cs typeface="Times New Roman"/>
              </a:rPr>
              <a:t>to</a:t>
            </a:r>
            <a:r>
              <a:rPr sz="3000" spc="-17" dirty="0">
                <a:latin typeface="Times New Roman"/>
                <a:cs typeface="Times New Roman"/>
              </a:rPr>
              <a:t> </a:t>
            </a:r>
            <a:r>
              <a:rPr sz="3000" dirty="0">
                <a:latin typeface="Times New Roman"/>
                <a:cs typeface="Times New Roman"/>
              </a:rPr>
              <a:t>reach</a:t>
            </a:r>
            <a:r>
              <a:rPr sz="3000" spc="-28" dirty="0">
                <a:latin typeface="Times New Roman"/>
                <a:cs typeface="Times New Roman"/>
              </a:rPr>
              <a:t> </a:t>
            </a:r>
            <a:r>
              <a:rPr sz="3000" dirty="0">
                <a:latin typeface="Times New Roman"/>
                <a:cs typeface="Times New Roman"/>
              </a:rPr>
              <a:t>the</a:t>
            </a:r>
            <a:r>
              <a:rPr sz="3000" spc="-17" dirty="0">
                <a:latin typeface="Times New Roman"/>
                <a:cs typeface="Times New Roman"/>
              </a:rPr>
              <a:t> </a:t>
            </a:r>
            <a:r>
              <a:rPr sz="3000" spc="-6" dirty="0">
                <a:latin typeface="Times New Roman"/>
                <a:cs typeface="Times New Roman"/>
              </a:rPr>
              <a:t>remaining</a:t>
            </a:r>
            <a:r>
              <a:rPr sz="3000" spc="-28" dirty="0">
                <a:latin typeface="Times New Roman"/>
                <a:cs typeface="Times New Roman"/>
              </a:rPr>
              <a:t> </a:t>
            </a:r>
            <a:r>
              <a:rPr sz="3000" dirty="0">
                <a:latin typeface="Times New Roman"/>
                <a:cs typeface="Times New Roman"/>
              </a:rPr>
              <a:t>subnet.</a:t>
            </a:r>
          </a:p>
        </p:txBody>
      </p:sp>
      <p:pic>
        <p:nvPicPr>
          <p:cNvPr id="5" name="object 5"/>
          <p:cNvPicPr/>
          <p:nvPr/>
        </p:nvPicPr>
        <p:blipFill>
          <a:blip r:embed="rId2" cstate="print"/>
          <a:stretch>
            <a:fillRect/>
          </a:stretch>
        </p:blipFill>
        <p:spPr>
          <a:xfrm>
            <a:off x="141669" y="1635346"/>
            <a:ext cx="9272787" cy="300104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430" y="139022"/>
            <a:ext cx="9621763" cy="1368353"/>
          </a:xfrm>
          <a:prstGeom prst="rect">
            <a:avLst/>
          </a:prstGeom>
        </p:spPr>
        <p:txBody>
          <a:bodyPr vert="horz" wrap="square" lIns="0" tIns="13999" rIns="0" bIns="0" rtlCol="0" anchor="ctr">
            <a:spAutoFit/>
          </a:bodyPr>
          <a:lstStyle/>
          <a:p>
            <a:pPr marL="1925591" marR="5600" indent="-1912292">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R1:</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Configuring</a:t>
            </a:r>
            <a:r>
              <a:rPr b="1" spc="-50"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 Static</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a:t>
            </a:r>
            <a:r>
              <a:rPr b="1" spc="-3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Using</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 </a:t>
            </a:r>
            <a:r>
              <a:rPr b="1" spc="-78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Outgoing</a:t>
            </a:r>
            <a:r>
              <a:rPr b="1" spc="-6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Interface</a:t>
            </a:r>
          </a:p>
        </p:txBody>
      </p:sp>
      <p:sp>
        <p:nvSpPr>
          <p:cNvPr id="3" name="object 3"/>
          <p:cNvSpPr txBox="1"/>
          <p:nvPr/>
        </p:nvSpPr>
        <p:spPr>
          <a:xfrm>
            <a:off x="154546" y="6028364"/>
            <a:ext cx="9621763" cy="861228"/>
          </a:xfrm>
          <a:prstGeom prst="rect">
            <a:avLst/>
          </a:prstGeom>
        </p:spPr>
        <p:txBody>
          <a:bodyPr vert="horz" wrap="square" lIns="0" tIns="14699" rIns="0" bIns="0" rtlCol="0">
            <a:spAutoFit/>
          </a:bodyPr>
          <a:lstStyle/>
          <a:p>
            <a:pPr marL="186189" indent="-172190">
              <a:lnSpc>
                <a:spcPts val="3268"/>
              </a:lnSpc>
              <a:spcBef>
                <a:spcPts val="116"/>
              </a:spcBef>
              <a:buClr>
                <a:srgbClr val="D24717"/>
              </a:buClr>
              <a:buSzPct val="80769"/>
              <a:buFont typeface="Segoe UI Symbol"/>
              <a:buChar char="⚫"/>
              <a:tabLst>
                <a:tab pos="186189" algn="l"/>
              </a:tabLst>
            </a:pPr>
            <a:r>
              <a:rPr sz="2866" dirty="0">
                <a:latin typeface="Times New Roman"/>
                <a:cs typeface="Times New Roman"/>
              </a:rPr>
              <a:t>When</a:t>
            </a:r>
            <a:r>
              <a:rPr sz="2866" spc="-33" dirty="0">
                <a:latin typeface="Times New Roman"/>
                <a:cs typeface="Times New Roman"/>
              </a:rPr>
              <a:t> </a:t>
            </a:r>
            <a:r>
              <a:rPr sz="2866" dirty="0">
                <a:latin typeface="Times New Roman"/>
                <a:cs typeface="Times New Roman"/>
              </a:rPr>
              <a:t>point-to-point</a:t>
            </a:r>
            <a:r>
              <a:rPr sz="2866" spc="-50" dirty="0">
                <a:latin typeface="Times New Roman"/>
                <a:cs typeface="Times New Roman"/>
              </a:rPr>
              <a:t> </a:t>
            </a:r>
            <a:r>
              <a:rPr sz="2866" dirty="0">
                <a:latin typeface="Times New Roman"/>
                <a:cs typeface="Times New Roman"/>
              </a:rPr>
              <a:t>topologies</a:t>
            </a:r>
            <a:r>
              <a:rPr sz="2866" spc="-39" dirty="0">
                <a:latin typeface="Times New Roman"/>
                <a:cs typeface="Times New Roman"/>
              </a:rPr>
              <a:t> </a:t>
            </a:r>
            <a:r>
              <a:rPr sz="2866" dirty="0">
                <a:latin typeface="Times New Roman"/>
                <a:cs typeface="Times New Roman"/>
              </a:rPr>
              <a:t>such</a:t>
            </a:r>
            <a:r>
              <a:rPr sz="2866" spc="11" dirty="0">
                <a:latin typeface="Times New Roman"/>
                <a:cs typeface="Times New Roman"/>
              </a:rPr>
              <a:t> </a:t>
            </a:r>
            <a:r>
              <a:rPr sz="2866" spc="-6" dirty="0">
                <a:latin typeface="Times New Roman"/>
                <a:cs typeface="Times New Roman"/>
              </a:rPr>
              <a:t>as leased</a:t>
            </a:r>
            <a:r>
              <a:rPr sz="2866" spc="6" dirty="0">
                <a:latin typeface="Times New Roman"/>
                <a:cs typeface="Times New Roman"/>
              </a:rPr>
              <a:t> </a:t>
            </a:r>
            <a:r>
              <a:rPr sz="2866" dirty="0">
                <a:latin typeface="Times New Roman"/>
                <a:cs typeface="Times New Roman"/>
              </a:rPr>
              <a:t>lines</a:t>
            </a:r>
            <a:r>
              <a:rPr sz="2866" spc="-6" dirty="0">
                <a:latin typeface="Times New Roman"/>
                <a:cs typeface="Times New Roman"/>
              </a:rPr>
              <a:t> are used,</a:t>
            </a:r>
            <a:endParaRPr sz="2866" dirty="0">
              <a:latin typeface="Times New Roman"/>
              <a:cs typeface="Times New Roman"/>
            </a:endParaRPr>
          </a:p>
          <a:p>
            <a:pPr marL="13999">
              <a:lnSpc>
                <a:spcPts val="3268"/>
              </a:lnSpc>
            </a:pPr>
            <a:r>
              <a:rPr sz="2866" b="1" spc="-6" dirty="0">
                <a:latin typeface="Times New Roman"/>
                <a:cs typeface="Times New Roman"/>
              </a:rPr>
              <a:t>ip</a:t>
            </a:r>
            <a:r>
              <a:rPr sz="2866" b="1" spc="-11" dirty="0">
                <a:latin typeface="Times New Roman"/>
                <a:cs typeface="Times New Roman"/>
              </a:rPr>
              <a:t> route</a:t>
            </a:r>
            <a:r>
              <a:rPr sz="2866" b="1" spc="-22" dirty="0">
                <a:latin typeface="Times New Roman"/>
                <a:cs typeface="Times New Roman"/>
              </a:rPr>
              <a:t> </a:t>
            </a:r>
            <a:r>
              <a:rPr sz="2866" dirty="0">
                <a:latin typeface="Times New Roman"/>
                <a:cs typeface="Times New Roman"/>
              </a:rPr>
              <a:t>command</a:t>
            </a:r>
            <a:r>
              <a:rPr sz="2866" spc="6" dirty="0">
                <a:latin typeface="Times New Roman"/>
                <a:cs typeface="Times New Roman"/>
              </a:rPr>
              <a:t> </a:t>
            </a:r>
            <a:r>
              <a:rPr sz="2866" spc="-6" dirty="0">
                <a:latin typeface="Times New Roman"/>
                <a:cs typeface="Times New Roman"/>
              </a:rPr>
              <a:t>can</a:t>
            </a:r>
            <a:r>
              <a:rPr sz="2866" spc="-11" dirty="0">
                <a:latin typeface="Times New Roman"/>
                <a:cs typeface="Times New Roman"/>
              </a:rPr>
              <a:t> </a:t>
            </a:r>
            <a:r>
              <a:rPr sz="2866" dirty="0">
                <a:latin typeface="Times New Roman"/>
                <a:cs typeface="Times New Roman"/>
              </a:rPr>
              <a:t>simply</a:t>
            </a:r>
            <a:r>
              <a:rPr sz="2866" spc="6" dirty="0">
                <a:latin typeface="Times New Roman"/>
                <a:cs typeface="Times New Roman"/>
              </a:rPr>
              <a:t> </a:t>
            </a:r>
            <a:r>
              <a:rPr sz="2866" spc="-6" dirty="0">
                <a:latin typeface="Times New Roman"/>
                <a:cs typeface="Times New Roman"/>
              </a:rPr>
              <a:t>refer</a:t>
            </a:r>
            <a:r>
              <a:rPr sz="2866" spc="-28" dirty="0">
                <a:latin typeface="Times New Roman"/>
                <a:cs typeface="Times New Roman"/>
              </a:rPr>
              <a:t> </a:t>
            </a:r>
            <a:r>
              <a:rPr sz="2866" dirty="0">
                <a:latin typeface="Times New Roman"/>
                <a:cs typeface="Times New Roman"/>
              </a:rPr>
              <a:t>to the</a:t>
            </a:r>
            <a:r>
              <a:rPr sz="2866" spc="-6" dirty="0">
                <a:latin typeface="Times New Roman"/>
                <a:cs typeface="Times New Roman"/>
              </a:rPr>
              <a:t> </a:t>
            </a:r>
            <a:r>
              <a:rPr sz="2866" i="1" dirty="0">
                <a:latin typeface="Times New Roman"/>
                <a:cs typeface="Times New Roman"/>
              </a:rPr>
              <a:t>outgoing</a:t>
            </a:r>
            <a:r>
              <a:rPr sz="2866" i="1" spc="-28" dirty="0">
                <a:latin typeface="Times New Roman"/>
                <a:cs typeface="Times New Roman"/>
              </a:rPr>
              <a:t> </a:t>
            </a:r>
            <a:r>
              <a:rPr sz="2866" spc="-6" dirty="0">
                <a:latin typeface="Times New Roman"/>
                <a:cs typeface="Times New Roman"/>
              </a:rPr>
              <a:t>interface</a:t>
            </a:r>
            <a:endParaRPr sz="2866" dirty="0">
              <a:latin typeface="Times New Roman"/>
              <a:cs typeface="Times New Roman"/>
            </a:endParaRPr>
          </a:p>
        </p:txBody>
      </p:sp>
      <p:pic>
        <p:nvPicPr>
          <p:cNvPr id="5" name="object 5"/>
          <p:cNvPicPr/>
          <p:nvPr/>
        </p:nvPicPr>
        <p:blipFill>
          <a:blip r:embed="rId2" cstate="print"/>
          <a:stretch>
            <a:fillRect/>
          </a:stretch>
        </p:blipFill>
        <p:spPr>
          <a:xfrm>
            <a:off x="0" y="1622738"/>
            <a:ext cx="10080625" cy="555079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429" y="126143"/>
            <a:ext cx="9621763" cy="1368353"/>
          </a:xfrm>
          <a:prstGeom prst="rect">
            <a:avLst/>
          </a:prstGeom>
        </p:spPr>
        <p:txBody>
          <a:bodyPr vert="horz" wrap="square" lIns="0" tIns="13999" rIns="0" bIns="0" rtlCol="0" anchor="ctr">
            <a:spAutoFit/>
          </a:bodyPr>
          <a:lstStyle/>
          <a:p>
            <a:pPr marL="1925591" marR="5600" indent="-1912292">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R1:</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Configuring</a:t>
            </a:r>
            <a:r>
              <a:rPr b="1" spc="-50"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 Static</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a:t>
            </a:r>
            <a:r>
              <a:rPr b="1" spc="-3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Using</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 </a:t>
            </a:r>
            <a:r>
              <a:rPr b="1" spc="-78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Outgoing</a:t>
            </a:r>
            <a:r>
              <a:rPr b="1" spc="-6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Interface</a:t>
            </a:r>
          </a:p>
        </p:txBody>
      </p:sp>
      <p:sp>
        <p:nvSpPr>
          <p:cNvPr id="3" name="object 3"/>
          <p:cNvSpPr txBox="1"/>
          <p:nvPr/>
        </p:nvSpPr>
        <p:spPr>
          <a:xfrm>
            <a:off x="229430" y="1868488"/>
            <a:ext cx="9621763" cy="2579647"/>
          </a:xfrm>
          <a:prstGeom prst="rect">
            <a:avLst/>
          </a:prstGeom>
        </p:spPr>
        <p:txBody>
          <a:bodyPr vert="horz" wrap="square" lIns="0" tIns="14699" rIns="0" bIns="0" rtlCol="0">
            <a:spAutoFit/>
          </a:bodyPr>
          <a:lstStyle/>
          <a:p>
            <a:pPr marL="471199" indent="-457200">
              <a:lnSpc>
                <a:spcPts val="3268"/>
              </a:lnSpc>
              <a:spcBef>
                <a:spcPts val="116"/>
              </a:spcBef>
              <a:buClr>
                <a:srgbClr val="D24717"/>
              </a:buClr>
              <a:buSzPct val="80769"/>
              <a:buFont typeface="Wingdings" panose="05000000000000000000" pitchFamily="2" charset="2"/>
              <a:buChar char="Ø"/>
              <a:tabLst>
                <a:tab pos="186189" algn="l"/>
              </a:tabLst>
            </a:pPr>
            <a:r>
              <a:rPr sz="3200" dirty="0">
                <a:latin typeface="Times New Roman"/>
                <a:cs typeface="Times New Roman"/>
              </a:rPr>
              <a:t>When</a:t>
            </a:r>
            <a:r>
              <a:rPr sz="3200" spc="-33" dirty="0">
                <a:latin typeface="Times New Roman"/>
                <a:cs typeface="Times New Roman"/>
              </a:rPr>
              <a:t> </a:t>
            </a:r>
            <a:r>
              <a:rPr sz="3200" dirty="0">
                <a:latin typeface="Times New Roman"/>
                <a:cs typeface="Times New Roman"/>
              </a:rPr>
              <a:t>point-to-point</a:t>
            </a:r>
            <a:r>
              <a:rPr sz="3200" spc="-50" dirty="0">
                <a:latin typeface="Times New Roman"/>
                <a:cs typeface="Times New Roman"/>
              </a:rPr>
              <a:t> </a:t>
            </a:r>
            <a:r>
              <a:rPr sz="3200" dirty="0">
                <a:latin typeface="Times New Roman"/>
                <a:cs typeface="Times New Roman"/>
              </a:rPr>
              <a:t>topologies</a:t>
            </a:r>
            <a:r>
              <a:rPr sz="3200" spc="-39" dirty="0">
                <a:latin typeface="Times New Roman"/>
                <a:cs typeface="Times New Roman"/>
              </a:rPr>
              <a:t> </a:t>
            </a:r>
            <a:r>
              <a:rPr sz="3200" dirty="0">
                <a:latin typeface="Times New Roman"/>
                <a:cs typeface="Times New Roman"/>
              </a:rPr>
              <a:t>such</a:t>
            </a:r>
            <a:r>
              <a:rPr sz="3200" spc="11" dirty="0">
                <a:latin typeface="Times New Roman"/>
                <a:cs typeface="Times New Roman"/>
              </a:rPr>
              <a:t> </a:t>
            </a:r>
            <a:r>
              <a:rPr sz="3200" spc="-6" dirty="0">
                <a:latin typeface="Times New Roman"/>
                <a:cs typeface="Times New Roman"/>
              </a:rPr>
              <a:t>as leased</a:t>
            </a:r>
            <a:r>
              <a:rPr sz="3200" spc="6" dirty="0">
                <a:latin typeface="Times New Roman"/>
                <a:cs typeface="Times New Roman"/>
              </a:rPr>
              <a:t> </a:t>
            </a:r>
            <a:r>
              <a:rPr sz="3200" dirty="0">
                <a:latin typeface="Times New Roman"/>
                <a:cs typeface="Times New Roman"/>
              </a:rPr>
              <a:t>lines</a:t>
            </a:r>
            <a:r>
              <a:rPr sz="3200" spc="-6" dirty="0">
                <a:latin typeface="Times New Roman"/>
                <a:cs typeface="Times New Roman"/>
              </a:rPr>
              <a:t> are used,</a:t>
            </a:r>
            <a:r>
              <a:rPr lang="en-US" sz="3200" dirty="0">
                <a:latin typeface="Times New Roman"/>
                <a:cs typeface="Times New Roman"/>
              </a:rPr>
              <a:t> </a:t>
            </a:r>
            <a:r>
              <a:rPr sz="3200" b="1" spc="-6" dirty="0" err="1">
                <a:solidFill>
                  <a:srgbClr val="FF0000"/>
                </a:solidFill>
                <a:latin typeface="Times New Roman"/>
                <a:cs typeface="Times New Roman"/>
              </a:rPr>
              <a:t>ip</a:t>
            </a:r>
            <a:r>
              <a:rPr sz="3200" b="1" spc="-11" dirty="0">
                <a:solidFill>
                  <a:srgbClr val="FF0000"/>
                </a:solidFill>
                <a:latin typeface="Times New Roman"/>
                <a:cs typeface="Times New Roman"/>
              </a:rPr>
              <a:t> route</a:t>
            </a:r>
            <a:r>
              <a:rPr sz="3200" b="1" spc="-22" dirty="0">
                <a:solidFill>
                  <a:srgbClr val="FF0000"/>
                </a:solidFill>
                <a:latin typeface="Times New Roman"/>
                <a:cs typeface="Times New Roman"/>
              </a:rPr>
              <a:t> </a:t>
            </a:r>
            <a:r>
              <a:rPr sz="3200" dirty="0">
                <a:latin typeface="Times New Roman"/>
                <a:cs typeface="Times New Roman"/>
              </a:rPr>
              <a:t>command</a:t>
            </a:r>
            <a:r>
              <a:rPr sz="3200" spc="6" dirty="0">
                <a:latin typeface="Times New Roman"/>
                <a:cs typeface="Times New Roman"/>
              </a:rPr>
              <a:t> </a:t>
            </a:r>
            <a:r>
              <a:rPr sz="3200" spc="-6" dirty="0">
                <a:latin typeface="Times New Roman"/>
                <a:cs typeface="Times New Roman"/>
              </a:rPr>
              <a:t>can</a:t>
            </a:r>
            <a:r>
              <a:rPr sz="3200" spc="-11" dirty="0">
                <a:latin typeface="Times New Roman"/>
                <a:cs typeface="Times New Roman"/>
              </a:rPr>
              <a:t> </a:t>
            </a:r>
            <a:r>
              <a:rPr sz="3200" dirty="0">
                <a:latin typeface="Times New Roman"/>
                <a:cs typeface="Times New Roman"/>
              </a:rPr>
              <a:t>simply</a:t>
            </a:r>
            <a:r>
              <a:rPr sz="3200" spc="6" dirty="0">
                <a:latin typeface="Times New Roman"/>
                <a:cs typeface="Times New Roman"/>
              </a:rPr>
              <a:t> </a:t>
            </a:r>
            <a:r>
              <a:rPr sz="3200" spc="-6" dirty="0">
                <a:latin typeface="Times New Roman"/>
                <a:cs typeface="Times New Roman"/>
              </a:rPr>
              <a:t>refer</a:t>
            </a:r>
            <a:r>
              <a:rPr sz="3200" spc="-28" dirty="0">
                <a:latin typeface="Times New Roman"/>
                <a:cs typeface="Times New Roman"/>
              </a:rPr>
              <a:t> </a:t>
            </a:r>
            <a:r>
              <a:rPr sz="3200" dirty="0">
                <a:latin typeface="Times New Roman"/>
                <a:cs typeface="Times New Roman"/>
              </a:rPr>
              <a:t>to the</a:t>
            </a:r>
            <a:r>
              <a:rPr sz="3200" spc="-6" dirty="0">
                <a:latin typeface="Times New Roman"/>
                <a:cs typeface="Times New Roman"/>
              </a:rPr>
              <a:t> </a:t>
            </a:r>
            <a:r>
              <a:rPr sz="3200" b="1" dirty="0">
                <a:solidFill>
                  <a:srgbClr val="FF0000"/>
                </a:solidFill>
                <a:latin typeface="Times New Roman"/>
                <a:cs typeface="Times New Roman"/>
              </a:rPr>
              <a:t>outgoing</a:t>
            </a:r>
            <a:r>
              <a:rPr sz="3200" i="1" spc="-28" dirty="0">
                <a:latin typeface="Times New Roman"/>
                <a:cs typeface="Times New Roman"/>
              </a:rPr>
              <a:t> </a:t>
            </a:r>
            <a:r>
              <a:rPr sz="3200" spc="-6" dirty="0">
                <a:latin typeface="Times New Roman"/>
                <a:cs typeface="Times New Roman"/>
              </a:rPr>
              <a:t>interface</a:t>
            </a:r>
            <a:r>
              <a:rPr lang="en-US" sz="3200" spc="-6" dirty="0">
                <a:latin typeface="Times New Roman"/>
                <a:cs typeface="Times New Roman"/>
              </a:rPr>
              <a:t>.</a:t>
            </a:r>
          </a:p>
          <a:p>
            <a:pPr marL="471199" indent="-457200">
              <a:lnSpc>
                <a:spcPts val="3268"/>
              </a:lnSpc>
              <a:spcBef>
                <a:spcPts val="116"/>
              </a:spcBef>
              <a:buClr>
                <a:srgbClr val="D24717"/>
              </a:buClr>
              <a:buSzPct val="80769"/>
              <a:buFont typeface="Wingdings" panose="05000000000000000000" pitchFamily="2" charset="2"/>
              <a:buChar char="Ø"/>
              <a:tabLst>
                <a:tab pos="186189" algn="l"/>
              </a:tabLst>
            </a:pPr>
            <a:r>
              <a:rPr lang="en-US" sz="3200" dirty="0">
                <a:latin typeface="Times New Roman"/>
                <a:cs typeface="Times New Roman"/>
              </a:rPr>
              <a:t>The</a:t>
            </a:r>
            <a:r>
              <a:rPr lang="en-US" sz="3200" spc="-33" dirty="0">
                <a:latin typeface="Times New Roman"/>
                <a:cs typeface="Times New Roman"/>
              </a:rPr>
              <a:t> </a:t>
            </a:r>
            <a:r>
              <a:rPr lang="en-US" sz="3200" b="1" spc="-6" dirty="0">
                <a:solidFill>
                  <a:srgbClr val="FF0000"/>
                </a:solidFill>
                <a:latin typeface="Times New Roman"/>
                <a:cs typeface="Times New Roman"/>
              </a:rPr>
              <a:t>show</a:t>
            </a:r>
            <a:r>
              <a:rPr lang="en-US" sz="3200" b="1" spc="11" dirty="0">
                <a:solidFill>
                  <a:srgbClr val="FF0000"/>
                </a:solidFill>
                <a:latin typeface="Times New Roman"/>
                <a:cs typeface="Times New Roman"/>
              </a:rPr>
              <a:t> </a:t>
            </a:r>
            <a:r>
              <a:rPr lang="en-US" sz="3200" b="1" dirty="0" err="1">
                <a:solidFill>
                  <a:srgbClr val="FF0000"/>
                </a:solidFill>
                <a:latin typeface="Times New Roman"/>
                <a:cs typeface="Times New Roman"/>
              </a:rPr>
              <a:t>ip</a:t>
            </a:r>
            <a:r>
              <a:rPr lang="en-US" sz="3200" b="1" spc="-22" dirty="0">
                <a:solidFill>
                  <a:srgbClr val="FF0000"/>
                </a:solidFill>
                <a:latin typeface="Times New Roman"/>
                <a:cs typeface="Times New Roman"/>
              </a:rPr>
              <a:t> </a:t>
            </a:r>
            <a:r>
              <a:rPr lang="en-US" sz="3200" b="1" spc="-11" dirty="0">
                <a:solidFill>
                  <a:srgbClr val="FF0000"/>
                </a:solidFill>
                <a:latin typeface="Times New Roman"/>
                <a:cs typeface="Times New Roman"/>
              </a:rPr>
              <a:t>route</a:t>
            </a:r>
            <a:r>
              <a:rPr lang="en-US" sz="3200" b="1" dirty="0">
                <a:solidFill>
                  <a:srgbClr val="FF0000"/>
                </a:solidFill>
                <a:latin typeface="Times New Roman"/>
                <a:cs typeface="Times New Roman"/>
              </a:rPr>
              <a:t> </a:t>
            </a:r>
            <a:r>
              <a:rPr lang="en-US" sz="3200" spc="-6" dirty="0">
                <a:latin typeface="Times New Roman"/>
                <a:cs typeface="Times New Roman"/>
              </a:rPr>
              <a:t>command</a:t>
            </a:r>
            <a:r>
              <a:rPr lang="en-US" sz="3200" spc="17" dirty="0">
                <a:latin typeface="Times New Roman"/>
                <a:cs typeface="Times New Roman"/>
              </a:rPr>
              <a:t> </a:t>
            </a:r>
            <a:r>
              <a:rPr lang="en-US" sz="3200" dirty="0">
                <a:latin typeface="Times New Roman"/>
                <a:cs typeface="Times New Roman"/>
              </a:rPr>
              <a:t>now lists</a:t>
            </a:r>
            <a:r>
              <a:rPr lang="en-US" sz="3200" spc="-28" dirty="0">
                <a:latin typeface="Times New Roman"/>
                <a:cs typeface="Times New Roman"/>
              </a:rPr>
              <a:t> </a:t>
            </a:r>
            <a:r>
              <a:rPr lang="en-US" sz="3200" dirty="0">
                <a:latin typeface="Times New Roman"/>
                <a:cs typeface="Times New Roman"/>
              </a:rPr>
              <a:t>the</a:t>
            </a:r>
            <a:r>
              <a:rPr lang="en-US" sz="3200" spc="-11" dirty="0">
                <a:latin typeface="Times New Roman"/>
                <a:cs typeface="Times New Roman"/>
              </a:rPr>
              <a:t> </a:t>
            </a:r>
            <a:r>
              <a:rPr lang="en-US" sz="3200" spc="-6" dirty="0">
                <a:latin typeface="Times New Roman"/>
                <a:cs typeface="Times New Roman"/>
              </a:rPr>
              <a:t>new </a:t>
            </a:r>
            <a:r>
              <a:rPr lang="en-US" sz="3200" dirty="0">
                <a:latin typeface="Times New Roman"/>
                <a:cs typeface="Times New Roman"/>
              </a:rPr>
              <a:t>static</a:t>
            </a:r>
            <a:r>
              <a:rPr lang="en-US" sz="3200" spc="-39" dirty="0">
                <a:latin typeface="Times New Roman"/>
                <a:cs typeface="Times New Roman"/>
              </a:rPr>
              <a:t> </a:t>
            </a:r>
            <a:r>
              <a:rPr lang="en-US" sz="3200" dirty="0">
                <a:latin typeface="Times New Roman"/>
                <a:cs typeface="Times New Roman"/>
              </a:rPr>
              <a:t>route.</a:t>
            </a:r>
          </a:p>
          <a:p>
            <a:pPr marL="471199" indent="-457200">
              <a:lnSpc>
                <a:spcPts val="3268"/>
              </a:lnSpc>
              <a:spcBef>
                <a:spcPts val="116"/>
              </a:spcBef>
              <a:buClr>
                <a:srgbClr val="D24717"/>
              </a:buClr>
              <a:buSzPct val="80769"/>
              <a:buFont typeface="Wingdings" panose="05000000000000000000" pitchFamily="2" charset="2"/>
              <a:buChar char="Ø"/>
              <a:tabLst>
                <a:tab pos="186189" algn="l"/>
              </a:tabLst>
            </a:pPr>
            <a:endParaRPr sz="3200" dirty="0">
              <a:latin typeface="Times New Roman"/>
              <a:cs typeface="Times New Roman"/>
            </a:endParaRPr>
          </a:p>
        </p:txBody>
      </p:sp>
    </p:spTree>
    <p:extLst>
      <p:ext uri="{BB962C8B-B14F-4D97-AF65-F5344CB8AC3E}">
        <p14:creationId xmlns:p14="http://schemas.microsoft.com/office/powerpoint/2010/main" val="2442093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4370" y="50650"/>
            <a:ext cx="9232361" cy="1368353"/>
          </a:xfrm>
          <a:prstGeom prst="rect">
            <a:avLst/>
          </a:prstGeom>
        </p:spPr>
        <p:txBody>
          <a:bodyPr vert="horz" wrap="square" lIns="0" tIns="13999" rIns="0" bIns="0" rtlCol="0" anchor="ctr">
            <a:spAutoFit/>
          </a:bodyPr>
          <a:lstStyle/>
          <a:p>
            <a:pPr marL="2727746" marR="5600" indent="-2714447">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R1:</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Configuring</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 Static</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Using</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Outgoing </a:t>
            </a:r>
            <a:r>
              <a:rPr b="1" spc="-78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Interface</a:t>
            </a:r>
          </a:p>
        </p:txBody>
      </p:sp>
      <p:grpSp>
        <p:nvGrpSpPr>
          <p:cNvPr id="5" name="object 5"/>
          <p:cNvGrpSpPr/>
          <p:nvPr/>
        </p:nvGrpSpPr>
        <p:grpSpPr>
          <a:xfrm>
            <a:off x="0" y="1455313"/>
            <a:ext cx="10212946" cy="5731098"/>
            <a:chOff x="685800" y="1447728"/>
            <a:chExt cx="7757795" cy="4344035"/>
          </a:xfrm>
        </p:grpSpPr>
        <p:pic>
          <p:nvPicPr>
            <p:cNvPr id="6" name="object 6"/>
            <p:cNvPicPr/>
            <p:nvPr/>
          </p:nvPicPr>
          <p:blipFill>
            <a:blip r:embed="rId2" cstate="print"/>
            <a:stretch>
              <a:fillRect/>
            </a:stretch>
          </p:blipFill>
          <p:spPr>
            <a:xfrm>
              <a:off x="685800" y="1447728"/>
              <a:ext cx="7743483" cy="1295362"/>
            </a:xfrm>
            <a:prstGeom prst="rect">
              <a:avLst/>
            </a:prstGeom>
          </p:spPr>
        </p:pic>
        <p:pic>
          <p:nvPicPr>
            <p:cNvPr id="7" name="object 7"/>
            <p:cNvPicPr/>
            <p:nvPr/>
          </p:nvPicPr>
          <p:blipFill>
            <a:blip r:embed="rId3" cstate="print"/>
            <a:stretch>
              <a:fillRect/>
            </a:stretch>
          </p:blipFill>
          <p:spPr>
            <a:xfrm>
              <a:off x="685800" y="2666970"/>
              <a:ext cx="7757503" cy="3124229"/>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13" y="6973"/>
            <a:ext cx="8977926" cy="1368353"/>
          </a:xfrm>
          <a:prstGeom prst="rect">
            <a:avLst/>
          </a:prstGeom>
        </p:spPr>
        <p:txBody>
          <a:bodyPr vert="horz" wrap="square" lIns="0" tIns="13999" rIns="0" bIns="0" rtlCol="0" anchor="ctr">
            <a:spAutoFit/>
          </a:bodyPr>
          <a:lstStyle/>
          <a:p>
            <a:pPr marL="1919292" marR="5600" indent="-1905992">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R2:</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Configuring</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a:t>
            </a:r>
            <a:r>
              <a:rPr b="1" spc="-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Static</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Using</a:t>
            </a:r>
            <a:r>
              <a:rPr b="1" spc="-6" dirty="0">
                <a:solidFill>
                  <a:schemeClr val="bg1"/>
                </a:solidFill>
                <a:latin typeface="Times New Roman" panose="02020603050405020304" pitchFamily="18" charset="0"/>
                <a:cs typeface="Times New Roman" panose="02020603050405020304" pitchFamily="18" charset="0"/>
              </a:rPr>
              <a:t> the </a:t>
            </a:r>
            <a:r>
              <a:rPr b="1" spc="-865"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Ne</a:t>
            </a:r>
            <a:r>
              <a:rPr b="1" spc="6" dirty="0">
                <a:solidFill>
                  <a:schemeClr val="bg1"/>
                </a:solidFill>
                <a:latin typeface="Times New Roman" panose="02020603050405020304" pitchFamily="18" charset="0"/>
                <a:cs typeface="Times New Roman" panose="02020603050405020304" pitchFamily="18" charset="0"/>
              </a:rPr>
              <a:t>xt</a:t>
            </a:r>
            <a:r>
              <a:rPr b="1" dirty="0">
                <a:solidFill>
                  <a:schemeClr val="bg1"/>
                </a:solidFill>
                <a:latin typeface="Times New Roman" panose="02020603050405020304" pitchFamily="18" charset="0"/>
                <a:cs typeface="Times New Roman" panose="02020603050405020304" pitchFamily="18" charset="0"/>
              </a:rPr>
              <a:t>-Hop</a:t>
            </a:r>
            <a:r>
              <a:rPr b="1" spc="-6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IP</a:t>
            </a:r>
            <a:r>
              <a:rPr b="1" spc="-39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Add</a:t>
            </a:r>
            <a:r>
              <a:rPr b="1" spc="-72" dirty="0">
                <a:solidFill>
                  <a:schemeClr val="bg1"/>
                </a:solidFill>
                <a:latin typeface="Times New Roman" panose="02020603050405020304" pitchFamily="18" charset="0"/>
                <a:cs typeface="Times New Roman" panose="02020603050405020304" pitchFamily="18" charset="0"/>
              </a:rPr>
              <a:t>r</a:t>
            </a:r>
            <a:r>
              <a:rPr b="1" dirty="0">
                <a:solidFill>
                  <a:schemeClr val="bg1"/>
                </a:solidFill>
                <a:latin typeface="Times New Roman" panose="02020603050405020304" pitchFamily="18" charset="0"/>
                <a:cs typeface="Times New Roman" panose="02020603050405020304" pitchFamily="18" charset="0"/>
              </a:rPr>
              <a:t>ess</a:t>
            </a:r>
          </a:p>
        </p:txBody>
      </p:sp>
      <p:pic>
        <p:nvPicPr>
          <p:cNvPr id="5" name="object 5"/>
          <p:cNvPicPr/>
          <p:nvPr/>
        </p:nvPicPr>
        <p:blipFill>
          <a:blip r:embed="rId2" cstate="print"/>
          <a:stretch>
            <a:fillRect/>
          </a:stretch>
        </p:blipFill>
        <p:spPr>
          <a:xfrm>
            <a:off x="1" y="1648496"/>
            <a:ext cx="10080624" cy="55636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967" y="440260"/>
            <a:ext cx="6160877" cy="691244"/>
          </a:xfrm>
          <a:prstGeom prst="rect">
            <a:avLst/>
          </a:prstGeom>
        </p:spPr>
        <p:txBody>
          <a:bodyPr vert="horz" wrap="square" lIns="0" tIns="13999" rIns="0" bIns="0" rtlCol="0" anchor="ctr">
            <a:spAutoFit/>
          </a:bodyPr>
          <a:lstStyle/>
          <a:p>
            <a:pPr marL="13999">
              <a:lnSpc>
                <a:spcPct val="100000"/>
              </a:lnSpc>
              <a:spcBef>
                <a:spcPts val="110"/>
              </a:spcBef>
            </a:pPr>
            <a:r>
              <a:rPr b="1" spc="529" dirty="0">
                <a:solidFill>
                  <a:schemeClr val="bg1"/>
                </a:solidFill>
                <a:latin typeface="Times New Roman" panose="02020603050405020304" pitchFamily="18" charset="0"/>
                <a:cs typeface="Times New Roman" panose="02020603050405020304" pitchFamily="18" charset="0"/>
              </a:rPr>
              <a:t>ISDN</a:t>
            </a:r>
            <a:r>
              <a:rPr b="1" spc="55" dirty="0">
                <a:solidFill>
                  <a:schemeClr val="bg1"/>
                </a:solidFill>
                <a:latin typeface="Times New Roman" panose="02020603050405020304" pitchFamily="18" charset="0"/>
                <a:cs typeface="Times New Roman" panose="02020603050405020304" pitchFamily="18" charset="0"/>
              </a:rPr>
              <a:t> </a:t>
            </a:r>
            <a:r>
              <a:rPr b="1" spc="314" dirty="0">
                <a:solidFill>
                  <a:schemeClr val="bg1"/>
                </a:solidFill>
                <a:latin typeface="Times New Roman" panose="02020603050405020304" pitchFamily="18" charset="0"/>
                <a:cs typeface="Times New Roman" panose="02020603050405020304" pitchFamily="18" charset="0"/>
              </a:rPr>
              <a:t>Dial</a:t>
            </a:r>
            <a:r>
              <a:rPr b="1" spc="66" dirty="0">
                <a:solidFill>
                  <a:schemeClr val="bg1"/>
                </a:solidFill>
                <a:latin typeface="Times New Roman" panose="02020603050405020304" pitchFamily="18" charset="0"/>
                <a:cs typeface="Times New Roman" panose="02020603050405020304" pitchFamily="18" charset="0"/>
              </a:rPr>
              <a:t> </a:t>
            </a:r>
            <a:r>
              <a:rPr b="1" spc="138" dirty="0">
                <a:solidFill>
                  <a:schemeClr val="bg1"/>
                </a:solidFill>
                <a:latin typeface="Times New Roman" panose="02020603050405020304" pitchFamily="18" charset="0"/>
                <a:cs typeface="Times New Roman" panose="02020603050405020304" pitchFamily="18" charset="0"/>
              </a:rPr>
              <a:t>Backup</a:t>
            </a:r>
          </a:p>
        </p:txBody>
      </p:sp>
      <p:sp>
        <p:nvSpPr>
          <p:cNvPr id="3" name="object 3"/>
          <p:cNvSpPr txBox="1"/>
          <p:nvPr/>
        </p:nvSpPr>
        <p:spPr>
          <a:xfrm>
            <a:off x="51515" y="5134802"/>
            <a:ext cx="9977594" cy="1984613"/>
          </a:xfrm>
          <a:prstGeom prst="rect">
            <a:avLst/>
          </a:prstGeom>
        </p:spPr>
        <p:txBody>
          <a:bodyPr vert="horz" wrap="square" lIns="0" tIns="14699" rIns="0" bIns="0" rtlCol="0">
            <a:spAutoFit/>
          </a:bodyPr>
          <a:lstStyle/>
          <a:p>
            <a:pPr marL="470499" marR="5600" indent="-457200">
              <a:spcBef>
                <a:spcPts val="116"/>
              </a:spcBef>
              <a:buClr>
                <a:srgbClr val="D24717"/>
              </a:buClr>
              <a:buSzPct val="84782"/>
              <a:buFont typeface="Wingdings" panose="05000000000000000000" pitchFamily="2" charset="2"/>
              <a:buChar char="Ø"/>
              <a:tabLst>
                <a:tab pos="315682" algn="l"/>
                <a:tab pos="316382" algn="l"/>
              </a:tabLst>
            </a:pPr>
            <a:r>
              <a:rPr sz="3200" dirty="0">
                <a:latin typeface="Times New Roman"/>
                <a:cs typeface="Times New Roman"/>
              </a:rPr>
              <a:t>Dial backup </a:t>
            </a:r>
            <a:r>
              <a:rPr sz="3200" spc="-6" dirty="0">
                <a:latin typeface="Times New Roman"/>
                <a:cs typeface="Times New Roman"/>
              </a:rPr>
              <a:t>provides </a:t>
            </a:r>
            <a:r>
              <a:rPr sz="3200" dirty="0">
                <a:latin typeface="Times New Roman"/>
                <a:cs typeface="Times New Roman"/>
              </a:rPr>
              <a:t>a way for a router to use </a:t>
            </a:r>
            <a:r>
              <a:rPr sz="3200" spc="-6" dirty="0">
                <a:latin typeface="Times New Roman"/>
                <a:cs typeface="Times New Roman"/>
              </a:rPr>
              <a:t>some permanent </a:t>
            </a:r>
            <a:r>
              <a:rPr sz="3200" spc="-94" dirty="0">
                <a:latin typeface="Times New Roman"/>
                <a:cs typeface="Times New Roman"/>
              </a:rPr>
              <a:t>WAN </a:t>
            </a:r>
            <a:r>
              <a:rPr sz="3200" spc="-88" dirty="0">
                <a:latin typeface="Times New Roman"/>
                <a:cs typeface="Times New Roman"/>
              </a:rPr>
              <a:t> </a:t>
            </a:r>
            <a:r>
              <a:rPr sz="3200" dirty="0">
                <a:latin typeface="Times New Roman"/>
                <a:cs typeface="Times New Roman"/>
              </a:rPr>
              <a:t>services, such as a leased line, </a:t>
            </a:r>
            <a:r>
              <a:rPr sz="3200" b="1" dirty="0">
                <a:solidFill>
                  <a:srgbClr val="FF0000"/>
                </a:solidFill>
                <a:latin typeface="Times New Roman"/>
                <a:cs typeface="Times New Roman"/>
              </a:rPr>
              <a:t>but when that leased </a:t>
            </a:r>
            <a:r>
              <a:rPr sz="3200" b="1" spc="-6" dirty="0">
                <a:solidFill>
                  <a:srgbClr val="FF0000"/>
                </a:solidFill>
                <a:latin typeface="Times New Roman"/>
                <a:cs typeface="Times New Roman"/>
              </a:rPr>
              <a:t>line fails, </a:t>
            </a:r>
            <a:r>
              <a:rPr sz="3200" b="1" dirty="0">
                <a:solidFill>
                  <a:srgbClr val="FF0000"/>
                </a:solidFill>
                <a:latin typeface="Times New Roman"/>
                <a:cs typeface="Times New Roman"/>
              </a:rPr>
              <a:t>the </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router</a:t>
            </a:r>
            <a:r>
              <a:rPr sz="3200" b="1" spc="-33" dirty="0">
                <a:solidFill>
                  <a:srgbClr val="FF0000"/>
                </a:solidFill>
                <a:latin typeface="Times New Roman"/>
                <a:cs typeface="Times New Roman"/>
              </a:rPr>
              <a:t> </a:t>
            </a:r>
            <a:r>
              <a:rPr sz="3200" b="1" dirty="0">
                <a:solidFill>
                  <a:srgbClr val="FF0000"/>
                </a:solidFill>
                <a:latin typeface="Times New Roman"/>
                <a:cs typeface="Times New Roman"/>
              </a:rPr>
              <a:t>can</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use</a:t>
            </a:r>
            <a:r>
              <a:rPr sz="3200" b="1" spc="6" dirty="0">
                <a:solidFill>
                  <a:srgbClr val="FF0000"/>
                </a:solidFill>
                <a:latin typeface="Times New Roman"/>
                <a:cs typeface="Times New Roman"/>
              </a:rPr>
              <a:t> </a:t>
            </a:r>
            <a:r>
              <a:rPr sz="3200" b="1" spc="-6" dirty="0">
                <a:solidFill>
                  <a:srgbClr val="FF0000"/>
                </a:solidFill>
                <a:latin typeface="Times New Roman"/>
                <a:cs typeface="Times New Roman"/>
              </a:rPr>
              <a:t>the</a:t>
            </a:r>
            <a:r>
              <a:rPr sz="3200" b="1" spc="6" dirty="0">
                <a:solidFill>
                  <a:srgbClr val="FF0000"/>
                </a:solidFill>
                <a:latin typeface="Times New Roman"/>
                <a:cs typeface="Times New Roman"/>
              </a:rPr>
              <a:t> </a:t>
            </a:r>
            <a:r>
              <a:rPr sz="3200" b="1" spc="-6" dirty="0">
                <a:solidFill>
                  <a:srgbClr val="FF0000"/>
                </a:solidFill>
                <a:latin typeface="Times New Roman"/>
                <a:cs typeface="Times New Roman"/>
              </a:rPr>
              <a:t>telephone</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network</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and</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replace</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the</a:t>
            </a:r>
            <a:r>
              <a:rPr sz="3200" b="1" spc="-6" dirty="0">
                <a:solidFill>
                  <a:srgbClr val="FF0000"/>
                </a:solidFill>
                <a:latin typeface="Times New Roman"/>
                <a:cs typeface="Times New Roman"/>
              </a:rPr>
              <a:t> failed</a:t>
            </a:r>
            <a:r>
              <a:rPr sz="3200" b="1" spc="-39" dirty="0">
                <a:solidFill>
                  <a:srgbClr val="FF0000"/>
                </a:solidFill>
                <a:latin typeface="Times New Roman"/>
                <a:cs typeface="Times New Roman"/>
              </a:rPr>
              <a:t> </a:t>
            </a:r>
            <a:r>
              <a:rPr sz="3200" b="1" spc="-94" dirty="0">
                <a:solidFill>
                  <a:srgbClr val="FF0000"/>
                </a:solidFill>
                <a:latin typeface="Times New Roman"/>
                <a:cs typeface="Times New Roman"/>
              </a:rPr>
              <a:t>WAN</a:t>
            </a:r>
            <a:r>
              <a:rPr sz="3200" b="1" dirty="0">
                <a:solidFill>
                  <a:srgbClr val="FF0000"/>
                </a:solidFill>
                <a:latin typeface="Times New Roman"/>
                <a:cs typeface="Times New Roman"/>
              </a:rPr>
              <a:t> </a:t>
            </a:r>
            <a:r>
              <a:rPr sz="3200" b="1" spc="-6" dirty="0">
                <a:solidFill>
                  <a:srgbClr val="FF0000"/>
                </a:solidFill>
                <a:latin typeface="Times New Roman"/>
                <a:cs typeface="Times New Roman"/>
              </a:rPr>
              <a:t>link</a:t>
            </a:r>
            <a:r>
              <a:rPr sz="3200" spc="-6" dirty="0">
                <a:latin typeface="Times New Roman"/>
                <a:cs typeface="Times New Roman"/>
              </a:rPr>
              <a:t>.</a:t>
            </a:r>
            <a:endParaRPr sz="3200" dirty="0">
              <a:latin typeface="Times New Roman"/>
              <a:cs typeface="Times New Roman"/>
            </a:endParaRPr>
          </a:p>
        </p:txBody>
      </p:sp>
      <p:pic>
        <p:nvPicPr>
          <p:cNvPr id="5" name="object 5"/>
          <p:cNvPicPr/>
          <p:nvPr/>
        </p:nvPicPr>
        <p:blipFill>
          <a:blip r:embed="rId2" cstate="print"/>
          <a:stretch>
            <a:fillRect/>
          </a:stretch>
        </p:blipFill>
        <p:spPr>
          <a:xfrm>
            <a:off x="181967" y="1606954"/>
            <a:ext cx="9323599" cy="352784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604" y="407246"/>
            <a:ext cx="6160877" cy="691244"/>
          </a:xfrm>
          <a:prstGeom prst="rect">
            <a:avLst/>
          </a:prstGeom>
        </p:spPr>
        <p:txBody>
          <a:bodyPr vert="horz" wrap="square" lIns="0" tIns="13999" rIns="0" bIns="0" rtlCol="0" anchor="ctr">
            <a:spAutoFit/>
          </a:bodyPr>
          <a:lstStyle/>
          <a:p>
            <a:pPr marL="13999">
              <a:lnSpc>
                <a:spcPct val="100000"/>
              </a:lnSpc>
              <a:spcBef>
                <a:spcPts val="110"/>
              </a:spcBef>
            </a:pPr>
            <a:r>
              <a:rPr b="1" spc="529" dirty="0">
                <a:solidFill>
                  <a:schemeClr val="bg1"/>
                </a:solidFill>
                <a:latin typeface="Times New Roman" panose="02020603050405020304" pitchFamily="18" charset="0"/>
                <a:cs typeface="Times New Roman" panose="02020603050405020304" pitchFamily="18" charset="0"/>
              </a:rPr>
              <a:t>ISDN</a:t>
            </a:r>
            <a:r>
              <a:rPr b="1" spc="55" dirty="0">
                <a:solidFill>
                  <a:schemeClr val="bg1"/>
                </a:solidFill>
                <a:latin typeface="Times New Roman" panose="02020603050405020304" pitchFamily="18" charset="0"/>
                <a:cs typeface="Times New Roman" panose="02020603050405020304" pitchFamily="18" charset="0"/>
              </a:rPr>
              <a:t> </a:t>
            </a:r>
            <a:r>
              <a:rPr b="1" spc="314" dirty="0">
                <a:solidFill>
                  <a:schemeClr val="bg1"/>
                </a:solidFill>
                <a:latin typeface="Times New Roman" panose="02020603050405020304" pitchFamily="18" charset="0"/>
                <a:cs typeface="Times New Roman" panose="02020603050405020304" pitchFamily="18" charset="0"/>
              </a:rPr>
              <a:t>Dial</a:t>
            </a:r>
            <a:r>
              <a:rPr b="1" spc="66" dirty="0">
                <a:solidFill>
                  <a:schemeClr val="bg1"/>
                </a:solidFill>
                <a:latin typeface="Times New Roman" panose="02020603050405020304" pitchFamily="18" charset="0"/>
                <a:cs typeface="Times New Roman" panose="02020603050405020304" pitchFamily="18" charset="0"/>
              </a:rPr>
              <a:t> </a:t>
            </a:r>
            <a:r>
              <a:rPr b="1" spc="138" dirty="0">
                <a:solidFill>
                  <a:schemeClr val="bg1"/>
                </a:solidFill>
                <a:latin typeface="Times New Roman" panose="02020603050405020304" pitchFamily="18" charset="0"/>
                <a:cs typeface="Times New Roman" panose="02020603050405020304" pitchFamily="18" charset="0"/>
              </a:rPr>
              <a:t>Backup</a:t>
            </a:r>
          </a:p>
        </p:txBody>
      </p:sp>
      <p:sp>
        <p:nvSpPr>
          <p:cNvPr id="3" name="object 3"/>
          <p:cNvSpPr txBox="1"/>
          <p:nvPr/>
        </p:nvSpPr>
        <p:spPr>
          <a:xfrm>
            <a:off x="103031" y="5314637"/>
            <a:ext cx="9977594" cy="1492170"/>
          </a:xfrm>
          <a:prstGeom prst="rect">
            <a:avLst/>
          </a:prstGeom>
        </p:spPr>
        <p:txBody>
          <a:bodyPr vert="horz" wrap="square" lIns="0" tIns="14699" rIns="0" bIns="0" rtlCol="0">
            <a:spAutoFit/>
          </a:bodyPr>
          <a:lstStyle/>
          <a:p>
            <a:pPr marL="470499" marR="63696" indent="-457200">
              <a:spcBef>
                <a:spcPts val="661"/>
              </a:spcBef>
              <a:buClr>
                <a:srgbClr val="D24717"/>
              </a:buClr>
              <a:buSzPct val="84782"/>
              <a:buFont typeface="Wingdings" panose="05000000000000000000" pitchFamily="2" charset="2"/>
              <a:buChar char="Ø"/>
              <a:tabLst>
                <a:tab pos="315682" algn="l"/>
                <a:tab pos="316382" algn="l"/>
              </a:tabLst>
            </a:pPr>
            <a:r>
              <a:rPr sz="3200" dirty="0">
                <a:latin typeface="Times New Roman"/>
                <a:cs typeface="Times New Roman"/>
              </a:rPr>
              <a:t>Most often </a:t>
            </a:r>
            <a:r>
              <a:rPr sz="3200" spc="-28" dirty="0">
                <a:latin typeface="Times New Roman"/>
                <a:cs typeface="Times New Roman"/>
              </a:rPr>
              <a:t>today, </a:t>
            </a:r>
            <a:r>
              <a:rPr sz="3200" dirty="0">
                <a:latin typeface="Times New Roman"/>
                <a:cs typeface="Times New Roman"/>
              </a:rPr>
              <a:t>the </a:t>
            </a:r>
            <a:r>
              <a:rPr sz="3200" spc="-6" dirty="0">
                <a:latin typeface="Times New Roman"/>
                <a:cs typeface="Times New Roman"/>
              </a:rPr>
              <a:t>link </a:t>
            </a:r>
            <a:r>
              <a:rPr sz="3200" dirty="0">
                <a:latin typeface="Times New Roman"/>
                <a:cs typeface="Times New Roman"/>
              </a:rPr>
              <a:t>would use </a:t>
            </a:r>
            <a:r>
              <a:rPr sz="3200" b="1" dirty="0">
                <a:solidFill>
                  <a:srgbClr val="FF0000"/>
                </a:solidFill>
                <a:latin typeface="Times New Roman"/>
                <a:cs typeface="Times New Roman"/>
              </a:rPr>
              <a:t>Integrated Services Digital </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Network</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(ISDN)</a:t>
            </a:r>
            <a:r>
              <a:rPr sz="3200" b="1" i="1" spc="-33" dirty="0">
                <a:solidFill>
                  <a:srgbClr val="0066CC"/>
                </a:solidFill>
                <a:latin typeface="Times New Roman"/>
                <a:cs typeface="Times New Roman"/>
              </a:rPr>
              <a:t> </a:t>
            </a:r>
            <a:r>
              <a:rPr sz="3200" dirty="0">
                <a:latin typeface="Times New Roman"/>
                <a:cs typeface="Times New Roman"/>
              </a:rPr>
              <a:t>services,</a:t>
            </a:r>
            <a:r>
              <a:rPr sz="3200" spc="11" dirty="0">
                <a:latin typeface="Times New Roman"/>
                <a:cs typeface="Times New Roman"/>
              </a:rPr>
              <a:t> </a:t>
            </a:r>
            <a:r>
              <a:rPr sz="3200" dirty="0">
                <a:latin typeface="Times New Roman"/>
                <a:cs typeface="Times New Roman"/>
              </a:rPr>
              <a:t>often</a:t>
            </a:r>
            <a:r>
              <a:rPr sz="3200" spc="-22" dirty="0">
                <a:latin typeface="Times New Roman"/>
                <a:cs typeface="Times New Roman"/>
              </a:rPr>
              <a:t> </a:t>
            </a:r>
            <a:r>
              <a:rPr sz="3200" dirty="0">
                <a:latin typeface="Times New Roman"/>
                <a:cs typeface="Times New Roman"/>
              </a:rPr>
              <a:t>an</a:t>
            </a:r>
            <a:r>
              <a:rPr sz="3200" spc="6" dirty="0">
                <a:latin typeface="Times New Roman"/>
                <a:cs typeface="Times New Roman"/>
              </a:rPr>
              <a:t> </a:t>
            </a:r>
            <a:r>
              <a:rPr sz="3200" dirty="0">
                <a:latin typeface="Times New Roman"/>
                <a:cs typeface="Times New Roman"/>
              </a:rPr>
              <a:t>ISDN</a:t>
            </a:r>
            <a:r>
              <a:rPr sz="3200" spc="-22" dirty="0">
                <a:latin typeface="Times New Roman"/>
                <a:cs typeface="Times New Roman"/>
              </a:rPr>
              <a:t> </a:t>
            </a:r>
            <a:r>
              <a:rPr sz="3200" b="1" dirty="0">
                <a:solidFill>
                  <a:srgbClr val="FF0000"/>
                </a:solidFill>
                <a:latin typeface="Times New Roman"/>
                <a:cs typeface="Times New Roman"/>
              </a:rPr>
              <a:t>Basic</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Rate</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Interface</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(BRI)</a:t>
            </a:r>
            <a:r>
              <a:rPr sz="3200" b="1" i="1" dirty="0">
                <a:solidFill>
                  <a:srgbClr val="0066CC"/>
                </a:solidFill>
                <a:latin typeface="Times New Roman"/>
                <a:cs typeface="Times New Roman"/>
              </a:rPr>
              <a:t> </a:t>
            </a:r>
            <a:r>
              <a:rPr sz="3200" b="1" i="1" spc="-617" dirty="0">
                <a:solidFill>
                  <a:srgbClr val="0066CC"/>
                </a:solidFill>
                <a:latin typeface="Times New Roman"/>
                <a:cs typeface="Times New Roman"/>
              </a:rPr>
              <a:t> </a:t>
            </a:r>
            <a:r>
              <a:rPr sz="3200" spc="-6" dirty="0">
                <a:latin typeface="Times New Roman"/>
                <a:cs typeface="Times New Roman"/>
              </a:rPr>
              <a:t>line.</a:t>
            </a:r>
            <a:endParaRPr sz="3200" dirty="0">
              <a:latin typeface="Times New Roman"/>
              <a:cs typeface="Times New Roman"/>
            </a:endParaRPr>
          </a:p>
        </p:txBody>
      </p:sp>
      <p:pic>
        <p:nvPicPr>
          <p:cNvPr id="5" name="object 5"/>
          <p:cNvPicPr/>
          <p:nvPr/>
        </p:nvPicPr>
        <p:blipFill>
          <a:blip r:embed="rId2" cstate="print"/>
          <a:stretch>
            <a:fillRect/>
          </a:stretch>
        </p:blipFill>
        <p:spPr>
          <a:xfrm>
            <a:off x="336514" y="1645177"/>
            <a:ext cx="9323599" cy="3527848"/>
          </a:xfrm>
          <a:prstGeom prst="rect">
            <a:avLst/>
          </a:prstGeom>
        </p:spPr>
      </p:pic>
    </p:spTree>
    <p:extLst>
      <p:ext uri="{BB962C8B-B14F-4D97-AF65-F5344CB8AC3E}">
        <p14:creationId xmlns:p14="http://schemas.microsoft.com/office/powerpoint/2010/main" val="3231646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314" y="324963"/>
            <a:ext cx="7920300" cy="691244"/>
          </a:xfrm>
          <a:prstGeom prst="rect">
            <a:avLst/>
          </a:prstGeom>
        </p:spPr>
        <p:txBody>
          <a:bodyPr vert="horz" wrap="square" lIns="0" tIns="13999" rIns="0" bIns="0" rtlCol="0" anchor="ctr">
            <a:spAutoFit/>
          </a:bodyPr>
          <a:lstStyle/>
          <a:p>
            <a:pPr marL="13999">
              <a:lnSpc>
                <a:spcPct val="100000"/>
              </a:lnSpc>
              <a:spcBef>
                <a:spcPts val="110"/>
              </a:spcBef>
            </a:pPr>
            <a:r>
              <a:rPr b="1" spc="529" dirty="0">
                <a:solidFill>
                  <a:schemeClr val="bg1"/>
                </a:solidFill>
                <a:latin typeface="Times New Roman" panose="02020603050405020304" pitchFamily="18" charset="0"/>
                <a:cs typeface="Times New Roman" panose="02020603050405020304" pitchFamily="18" charset="0"/>
              </a:rPr>
              <a:t>ISDN</a:t>
            </a:r>
            <a:r>
              <a:rPr b="1" spc="83" dirty="0">
                <a:solidFill>
                  <a:schemeClr val="bg1"/>
                </a:solidFill>
                <a:latin typeface="Times New Roman" panose="02020603050405020304" pitchFamily="18" charset="0"/>
                <a:cs typeface="Times New Roman" panose="02020603050405020304" pitchFamily="18" charset="0"/>
              </a:rPr>
              <a:t> </a:t>
            </a:r>
            <a:r>
              <a:rPr b="1" spc="314" dirty="0">
                <a:solidFill>
                  <a:schemeClr val="bg1"/>
                </a:solidFill>
                <a:latin typeface="Times New Roman" panose="02020603050405020304" pitchFamily="18" charset="0"/>
                <a:cs typeface="Times New Roman" panose="02020603050405020304" pitchFamily="18" charset="0"/>
              </a:rPr>
              <a:t>Dial</a:t>
            </a:r>
            <a:r>
              <a:rPr b="1" spc="94" dirty="0">
                <a:solidFill>
                  <a:schemeClr val="bg1"/>
                </a:solidFill>
                <a:latin typeface="Times New Roman" panose="02020603050405020304" pitchFamily="18" charset="0"/>
                <a:cs typeface="Times New Roman" panose="02020603050405020304" pitchFamily="18" charset="0"/>
              </a:rPr>
              <a:t> </a:t>
            </a:r>
            <a:r>
              <a:rPr b="1" spc="138" dirty="0">
                <a:solidFill>
                  <a:schemeClr val="bg1"/>
                </a:solidFill>
                <a:latin typeface="Times New Roman" panose="02020603050405020304" pitchFamily="18" charset="0"/>
                <a:cs typeface="Times New Roman" panose="02020603050405020304" pitchFamily="18" charset="0"/>
              </a:rPr>
              <a:t>Backup</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39314" y="4650021"/>
            <a:ext cx="9427895" cy="2158491"/>
          </a:xfrm>
          <a:prstGeom prst="rect">
            <a:avLst/>
          </a:prstGeom>
        </p:spPr>
        <p:txBody>
          <a:bodyPr vert="horz" wrap="square" lIns="0" tIns="97996" rIns="0" bIns="0" rtlCol="0">
            <a:spAutoFit/>
          </a:bodyPr>
          <a:lstStyle/>
          <a:p>
            <a:pPr marL="471199" indent="-457200">
              <a:spcBef>
                <a:spcPts val="772"/>
              </a:spcBef>
              <a:buClr>
                <a:srgbClr val="D24717"/>
              </a:buClr>
              <a:buSzPct val="85416"/>
              <a:buFont typeface="Wingdings" panose="05000000000000000000" pitchFamily="2" charset="2"/>
              <a:buChar char="Ø"/>
              <a:tabLst>
                <a:tab pos="315682" algn="l"/>
                <a:tab pos="316382" algn="l"/>
              </a:tabLst>
            </a:pPr>
            <a:r>
              <a:rPr sz="3200" dirty="0">
                <a:latin typeface="Times New Roman"/>
                <a:cs typeface="Times New Roman"/>
              </a:rPr>
              <a:t>Each</a:t>
            </a:r>
            <a:r>
              <a:rPr sz="3200" spc="-33" dirty="0">
                <a:latin typeface="Times New Roman"/>
                <a:cs typeface="Times New Roman"/>
              </a:rPr>
              <a:t> </a:t>
            </a:r>
            <a:r>
              <a:rPr sz="3200" dirty="0">
                <a:latin typeface="Times New Roman"/>
                <a:cs typeface="Times New Roman"/>
              </a:rPr>
              <a:t>router</a:t>
            </a:r>
            <a:r>
              <a:rPr sz="3200" spc="-22" dirty="0">
                <a:latin typeface="Times New Roman"/>
                <a:cs typeface="Times New Roman"/>
              </a:rPr>
              <a:t> </a:t>
            </a:r>
            <a:r>
              <a:rPr sz="3200" spc="-6" dirty="0">
                <a:latin typeface="Times New Roman"/>
                <a:cs typeface="Times New Roman"/>
              </a:rPr>
              <a:t>has</a:t>
            </a:r>
            <a:r>
              <a:rPr sz="3200" dirty="0">
                <a:latin typeface="Times New Roman"/>
                <a:cs typeface="Times New Roman"/>
              </a:rPr>
              <a:t> an</a:t>
            </a:r>
            <a:r>
              <a:rPr sz="3200" spc="-17" dirty="0">
                <a:latin typeface="Times New Roman"/>
                <a:cs typeface="Times New Roman"/>
              </a:rPr>
              <a:t> </a:t>
            </a:r>
            <a:r>
              <a:rPr sz="3200" spc="-6" dirty="0">
                <a:latin typeface="Times New Roman"/>
                <a:cs typeface="Times New Roman"/>
              </a:rPr>
              <a:t>ISDN</a:t>
            </a:r>
            <a:r>
              <a:rPr sz="3200" spc="6" dirty="0">
                <a:latin typeface="Times New Roman"/>
                <a:cs typeface="Times New Roman"/>
              </a:rPr>
              <a:t> </a:t>
            </a:r>
            <a:r>
              <a:rPr sz="3200" spc="-6" dirty="0">
                <a:latin typeface="Times New Roman"/>
                <a:cs typeface="Times New Roman"/>
              </a:rPr>
              <a:t>BRI</a:t>
            </a:r>
            <a:r>
              <a:rPr sz="3200" dirty="0">
                <a:latin typeface="Times New Roman"/>
                <a:cs typeface="Times New Roman"/>
              </a:rPr>
              <a:t> interface,</a:t>
            </a:r>
            <a:r>
              <a:rPr sz="3200" spc="-39" dirty="0">
                <a:latin typeface="Times New Roman"/>
                <a:cs typeface="Times New Roman"/>
              </a:rPr>
              <a:t> </a:t>
            </a:r>
            <a:r>
              <a:rPr sz="3200" dirty="0">
                <a:latin typeface="Times New Roman"/>
                <a:cs typeface="Times New Roman"/>
              </a:rPr>
              <a:t>connected</a:t>
            </a:r>
            <a:r>
              <a:rPr sz="3200" spc="-28" dirty="0">
                <a:latin typeface="Times New Roman"/>
                <a:cs typeface="Times New Roman"/>
              </a:rPr>
              <a:t> </a:t>
            </a:r>
            <a:r>
              <a:rPr sz="3200" dirty="0">
                <a:latin typeface="Times New Roman"/>
                <a:cs typeface="Times New Roman"/>
              </a:rPr>
              <a:t>to</a:t>
            </a:r>
            <a:r>
              <a:rPr sz="3200" spc="-11" dirty="0">
                <a:latin typeface="Times New Roman"/>
                <a:cs typeface="Times New Roman"/>
              </a:rPr>
              <a:t> </a:t>
            </a:r>
            <a:r>
              <a:rPr sz="3200" dirty="0">
                <a:latin typeface="Times New Roman"/>
                <a:cs typeface="Times New Roman"/>
              </a:rPr>
              <a:t>an</a:t>
            </a:r>
            <a:r>
              <a:rPr sz="3200" spc="-17" dirty="0">
                <a:latin typeface="Times New Roman"/>
                <a:cs typeface="Times New Roman"/>
              </a:rPr>
              <a:t> </a:t>
            </a:r>
            <a:r>
              <a:rPr sz="3200" spc="-6" dirty="0">
                <a:latin typeface="Times New Roman"/>
                <a:cs typeface="Times New Roman"/>
              </a:rPr>
              <a:t>ISDN</a:t>
            </a:r>
            <a:r>
              <a:rPr sz="3200" spc="11" dirty="0">
                <a:latin typeface="Times New Roman"/>
                <a:cs typeface="Times New Roman"/>
              </a:rPr>
              <a:t> </a:t>
            </a:r>
            <a:r>
              <a:rPr sz="3200" dirty="0">
                <a:latin typeface="Times New Roman"/>
                <a:cs typeface="Times New Roman"/>
              </a:rPr>
              <a:t>line.</a:t>
            </a:r>
          </a:p>
          <a:p>
            <a:pPr marL="470499" marR="5600" indent="-457200">
              <a:spcBef>
                <a:spcPts val="667"/>
              </a:spcBef>
              <a:buClr>
                <a:srgbClr val="D24717"/>
              </a:buClr>
              <a:buSzPct val="85416"/>
              <a:buFont typeface="Wingdings" panose="05000000000000000000" pitchFamily="2" charset="2"/>
              <a:buChar char="Ø"/>
              <a:tabLst>
                <a:tab pos="315682" algn="l"/>
                <a:tab pos="316382" algn="l"/>
              </a:tabLst>
            </a:pPr>
            <a:r>
              <a:rPr lang="en-US" sz="3200" spc="-6" dirty="0">
                <a:latin typeface="Times New Roman"/>
                <a:cs typeface="Times New Roman"/>
              </a:rPr>
              <a:t>ISDN </a:t>
            </a:r>
            <a:r>
              <a:rPr lang="en-US" sz="3200" dirty="0">
                <a:latin typeface="Times New Roman"/>
                <a:cs typeface="Times New Roman"/>
              </a:rPr>
              <a:t>line</a:t>
            </a:r>
            <a:r>
              <a:rPr lang="en-US" sz="3200" spc="-28" dirty="0">
                <a:latin typeface="Times New Roman"/>
                <a:cs typeface="Times New Roman"/>
              </a:rPr>
              <a:t> </a:t>
            </a:r>
            <a:r>
              <a:rPr lang="en-US" sz="3200" spc="-6" dirty="0">
                <a:latin typeface="Times New Roman"/>
                <a:cs typeface="Times New Roman"/>
              </a:rPr>
              <a:t>is</a:t>
            </a:r>
            <a:r>
              <a:rPr lang="en-US" sz="3200" dirty="0">
                <a:latin typeface="Times New Roman"/>
                <a:cs typeface="Times New Roman"/>
              </a:rPr>
              <a:t> </a:t>
            </a:r>
            <a:r>
              <a:rPr lang="en-US" sz="3200" spc="-6" dirty="0">
                <a:latin typeface="Times New Roman"/>
                <a:cs typeface="Times New Roman"/>
              </a:rPr>
              <a:t>similar</a:t>
            </a:r>
            <a:r>
              <a:rPr lang="en-US" sz="3200" spc="-28" dirty="0">
                <a:latin typeface="Times New Roman"/>
                <a:cs typeface="Times New Roman"/>
              </a:rPr>
              <a:t> </a:t>
            </a:r>
            <a:r>
              <a:rPr lang="en-US" sz="3200" dirty="0">
                <a:latin typeface="Times New Roman"/>
                <a:cs typeface="Times New Roman"/>
              </a:rPr>
              <a:t>to</a:t>
            </a:r>
            <a:r>
              <a:rPr lang="en-US" sz="3200" spc="-11" dirty="0">
                <a:latin typeface="Times New Roman"/>
                <a:cs typeface="Times New Roman"/>
              </a:rPr>
              <a:t> </a:t>
            </a:r>
            <a:r>
              <a:rPr lang="en-US" sz="3200" dirty="0">
                <a:latin typeface="Times New Roman"/>
                <a:cs typeface="Times New Roman"/>
              </a:rPr>
              <a:t>a </a:t>
            </a:r>
            <a:r>
              <a:rPr lang="en-US" sz="3200" b="1" dirty="0">
                <a:solidFill>
                  <a:srgbClr val="FF0000"/>
                </a:solidFill>
                <a:latin typeface="Times New Roman"/>
                <a:cs typeface="Times New Roman"/>
              </a:rPr>
              <a:t>local</a:t>
            </a:r>
            <a:r>
              <a:rPr lang="en-US" sz="3200" b="1" spc="-39" dirty="0">
                <a:solidFill>
                  <a:srgbClr val="FF0000"/>
                </a:solidFill>
                <a:latin typeface="Times New Roman"/>
                <a:cs typeface="Times New Roman"/>
              </a:rPr>
              <a:t> </a:t>
            </a:r>
            <a:r>
              <a:rPr lang="en-US" sz="3200" b="1" dirty="0">
                <a:solidFill>
                  <a:srgbClr val="FF0000"/>
                </a:solidFill>
                <a:latin typeface="Times New Roman"/>
                <a:cs typeface="Times New Roman"/>
              </a:rPr>
              <a:t>telephone</a:t>
            </a:r>
            <a:r>
              <a:rPr lang="en-US" sz="3200" b="1" spc="-39" dirty="0">
                <a:solidFill>
                  <a:srgbClr val="FF0000"/>
                </a:solidFill>
                <a:latin typeface="Times New Roman"/>
                <a:cs typeface="Times New Roman"/>
              </a:rPr>
              <a:t> </a:t>
            </a:r>
            <a:r>
              <a:rPr lang="en-US" sz="3200" b="1" dirty="0">
                <a:solidFill>
                  <a:srgbClr val="FF0000"/>
                </a:solidFill>
                <a:latin typeface="Times New Roman"/>
                <a:cs typeface="Times New Roman"/>
              </a:rPr>
              <a:t>line</a:t>
            </a:r>
            <a:r>
              <a:rPr lang="en-US" sz="3200" dirty="0">
                <a:latin typeface="Times New Roman"/>
                <a:cs typeface="Times New Roman"/>
              </a:rPr>
              <a:t>,</a:t>
            </a:r>
            <a:r>
              <a:rPr lang="en-US" sz="3200" spc="-28" dirty="0">
                <a:latin typeface="Times New Roman"/>
                <a:cs typeface="Times New Roman"/>
              </a:rPr>
              <a:t> </a:t>
            </a:r>
            <a:r>
              <a:rPr lang="en-US" sz="3200" dirty="0">
                <a:latin typeface="Times New Roman"/>
                <a:cs typeface="Times New Roman"/>
              </a:rPr>
              <a:t>except</a:t>
            </a:r>
            <a:r>
              <a:rPr lang="en-US" sz="3200" spc="-22" dirty="0">
                <a:latin typeface="Times New Roman"/>
                <a:cs typeface="Times New Roman"/>
              </a:rPr>
              <a:t> </a:t>
            </a:r>
            <a:r>
              <a:rPr lang="en-US" sz="3200" dirty="0">
                <a:latin typeface="Times New Roman"/>
                <a:cs typeface="Times New Roman"/>
              </a:rPr>
              <a:t>that</a:t>
            </a:r>
            <a:r>
              <a:rPr lang="en-US" sz="3200" spc="-28" dirty="0">
                <a:latin typeface="Times New Roman"/>
                <a:cs typeface="Times New Roman"/>
              </a:rPr>
              <a:t> </a:t>
            </a:r>
            <a:r>
              <a:rPr lang="en-US" sz="3200" dirty="0">
                <a:latin typeface="Times New Roman"/>
                <a:cs typeface="Times New Roman"/>
              </a:rPr>
              <a:t>it</a:t>
            </a:r>
            <a:r>
              <a:rPr lang="en-US" sz="3200" spc="-6" dirty="0">
                <a:latin typeface="Times New Roman"/>
                <a:cs typeface="Times New Roman"/>
              </a:rPr>
              <a:t> </a:t>
            </a:r>
            <a:r>
              <a:rPr lang="en-US" sz="3200" dirty="0">
                <a:latin typeface="Times New Roman"/>
                <a:cs typeface="Times New Roman"/>
              </a:rPr>
              <a:t>supports </a:t>
            </a:r>
            <a:r>
              <a:rPr lang="en-US" sz="3200" spc="-645" dirty="0">
                <a:latin typeface="Times New Roman"/>
                <a:cs typeface="Times New Roman"/>
              </a:rPr>
              <a:t> </a:t>
            </a:r>
            <a:r>
              <a:rPr lang="en-US" sz="3200" dirty="0">
                <a:latin typeface="Times New Roman"/>
                <a:cs typeface="Times New Roman"/>
              </a:rPr>
              <a:t>digital</a:t>
            </a:r>
            <a:r>
              <a:rPr lang="en-US" sz="3200" spc="-66" dirty="0">
                <a:latin typeface="Times New Roman"/>
                <a:cs typeface="Times New Roman"/>
              </a:rPr>
              <a:t> </a:t>
            </a:r>
            <a:r>
              <a:rPr lang="en-US" sz="3200" dirty="0">
                <a:latin typeface="Times New Roman"/>
                <a:cs typeface="Times New Roman"/>
              </a:rPr>
              <a:t>data</a:t>
            </a:r>
            <a:r>
              <a:rPr lang="en-US" sz="3200" spc="-11" dirty="0">
                <a:latin typeface="Times New Roman"/>
                <a:cs typeface="Times New Roman"/>
              </a:rPr>
              <a:t> </a:t>
            </a:r>
            <a:r>
              <a:rPr lang="en-US" sz="3200" dirty="0">
                <a:latin typeface="Times New Roman"/>
                <a:cs typeface="Times New Roman"/>
              </a:rPr>
              <a:t>at</a:t>
            </a:r>
            <a:r>
              <a:rPr lang="en-US" sz="3200" spc="-22" dirty="0">
                <a:latin typeface="Times New Roman"/>
                <a:cs typeface="Times New Roman"/>
              </a:rPr>
              <a:t> </a:t>
            </a:r>
            <a:r>
              <a:rPr lang="en-US" sz="3200" spc="-6" dirty="0">
                <a:latin typeface="Times New Roman"/>
                <a:cs typeface="Times New Roman"/>
              </a:rPr>
              <a:t>speeds</a:t>
            </a:r>
            <a:r>
              <a:rPr lang="en-US" sz="3200" dirty="0">
                <a:latin typeface="Times New Roman"/>
                <a:cs typeface="Times New Roman"/>
              </a:rPr>
              <a:t> up to</a:t>
            </a:r>
            <a:r>
              <a:rPr lang="en-US" sz="3200" spc="-22" dirty="0">
                <a:latin typeface="Times New Roman"/>
                <a:cs typeface="Times New Roman"/>
              </a:rPr>
              <a:t> </a:t>
            </a:r>
            <a:r>
              <a:rPr lang="en-US" sz="3200" b="1" dirty="0">
                <a:solidFill>
                  <a:srgbClr val="FF0000"/>
                </a:solidFill>
                <a:latin typeface="Times New Roman"/>
                <a:cs typeface="Times New Roman"/>
              </a:rPr>
              <a:t>128 kbps</a:t>
            </a:r>
            <a:r>
              <a:rPr lang="en-US" sz="3200" dirty="0">
                <a:latin typeface="Times New Roman"/>
                <a:cs typeface="Times New Roman"/>
              </a:rPr>
              <a:t>.</a:t>
            </a:r>
          </a:p>
        </p:txBody>
      </p:sp>
      <p:pic>
        <p:nvPicPr>
          <p:cNvPr id="5" name="object 5"/>
          <p:cNvPicPr/>
          <p:nvPr/>
        </p:nvPicPr>
        <p:blipFill>
          <a:blip r:embed="rId2" cstate="print"/>
          <a:stretch>
            <a:fillRect/>
          </a:stretch>
        </p:blipFill>
        <p:spPr>
          <a:xfrm>
            <a:off x="637057" y="1645939"/>
            <a:ext cx="8836854" cy="306760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314" y="324963"/>
            <a:ext cx="7920300" cy="691244"/>
          </a:xfrm>
          <a:prstGeom prst="rect">
            <a:avLst/>
          </a:prstGeom>
        </p:spPr>
        <p:txBody>
          <a:bodyPr vert="horz" wrap="square" lIns="0" tIns="13999" rIns="0" bIns="0" rtlCol="0" anchor="ctr">
            <a:spAutoFit/>
          </a:bodyPr>
          <a:lstStyle/>
          <a:p>
            <a:pPr marL="13999">
              <a:lnSpc>
                <a:spcPct val="100000"/>
              </a:lnSpc>
              <a:spcBef>
                <a:spcPts val="110"/>
              </a:spcBef>
            </a:pPr>
            <a:r>
              <a:rPr b="1" spc="529" dirty="0">
                <a:solidFill>
                  <a:schemeClr val="bg1"/>
                </a:solidFill>
                <a:latin typeface="Times New Roman" panose="02020603050405020304" pitchFamily="18" charset="0"/>
                <a:cs typeface="Times New Roman" panose="02020603050405020304" pitchFamily="18" charset="0"/>
              </a:rPr>
              <a:t>ISDN</a:t>
            </a:r>
            <a:r>
              <a:rPr b="1" spc="83" dirty="0">
                <a:solidFill>
                  <a:schemeClr val="bg1"/>
                </a:solidFill>
                <a:latin typeface="Times New Roman" panose="02020603050405020304" pitchFamily="18" charset="0"/>
                <a:cs typeface="Times New Roman" panose="02020603050405020304" pitchFamily="18" charset="0"/>
              </a:rPr>
              <a:t> </a:t>
            </a:r>
            <a:r>
              <a:rPr b="1" spc="314" dirty="0">
                <a:solidFill>
                  <a:schemeClr val="bg1"/>
                </a:solidFill>
                <a:latin typeface="Times New Roman" panose="02020603050405020304" pitchFamily="18" charset="0"/>
                <a:cs typeface="Times New Roman" panose="02020603050405020304" pitchFamily="18" charset="0"/>
              </a:rPr>
              <a:t>Dial</a:t>
            </a:r>
            <a:r>
              <a:rPr b="1" spc="94" dirty="0">
                <a:solidFill>
                  <a:schemeClr val="bg1"/>
                </a:solidFill>
                <a:latin typeface="Times New Roman" panose="02020603050405020304" pitchFamily="18" charset="0"/>
                <a:cs typeface="Times New Roman" panose="02020603050405020304" pitchFamily="18" charset="0"/>
              </a:rPr>
              <a:t> </a:t>
            </a:r>
            <a:r>
              <a:rPr b="1" spc="138" dirty="0">
                <a:solidFill>
                  <a:schemeClr val="bg1"/>
                </a:solidFill>
                <a:latin typeface="Times New Roman" panose="02020603050405020304" pitchFamily="18" charset="0"/>
                <a:cs typeface="Times New Roman" panose="02020603050405020304" pitchFamily="18" charset="0"/>
              </a:rPr>
              <a:t>Backup</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59009" y="4856082"/>
            <a:ext cx="9427895" cy="2068723"/>
          </a:xfrm>
          <a:prstGeom prst="rect">
            <a:avLst/>
          </a:prstGeom>
        </p:spPr>
        <p:txBody>
          <a:bodyPr vert="horz" wrap="square" lIns="0" tIns="97996" rIns="0" bIns="0" rtlCol="0">
            <a:spAutoFit/>
          </a:bodyPr>
          <a:lstStyle/>
          <a:p>
            <a:pPr marL="470499" marR="195989" indent="-457200">
              <a:spcBef>
                <a:spcPts val="661"/>
              </a:spcBef>
              <a:buClr>
                <a:srgbClr val="D24717"/>
              </a:buClr>
              <a:buSzPct val="85416"/>
              <a:buFont typeface="Wingdings" panose="05000000000000000000" pitchFamily="2" charset="2"/>
              <a:buChar char="Ø"/>
              <a:tabLst>
                <a:tab pos="315682" algn="l"/>
                <a:tab pos="316382" algn="l"/>
                <a:tab pos="7076601" algn="l"/>
              </a:tabLst>
            </a:pPr>
            <a:r>
              <a:rPr sz="3200" spc="-6" dirty="0">
                <a:latin typeface="Times New Roman"/>
                <a:cs typeface="Times New Roman"/>
              </a:rPr>
              <a:t>Routers</a:t>
            </a:r>
            <a:r>
              <a:rPr sz="3200" spc="-22" dirty="0">
                <a:latin typeface="Times New Roman"/>
                <a:cs typeface="Times New Roman"/>
              </a:rPr>
              <a:t> </a:t>
            </a:r>
            <a:r>
              <a:rPr sz="3200" dirty="0">
                <a:latin typeface="Times New Roman"/>
                <a:cs typeface="Times New Roman"/>
              </a:rPr>
              <a:t>backup</a:t>
            </a:r>
            <a:r>
              <a:rPr sz="3200" spc="-6"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dirty="0">
                <a:latin typeface="Times New Roman"/>
                <a:cs typeface="Times New Roman"/>
              </a:rPr>
              <a:t>leased</a:t>
            </a:r>
            <a:r>
              <a:rPr sz="3200" spc="-17" dirty="0">
                <a:latin typeface="Times New Roman"/>
                <a:cs typeface="Times New Roman"/>
              </a:rPr>
              <a:t> </a:t>
            </a:r>
            <a:r>
              <a:rPr sz="3200" dirty="0">
                <a:latin typeface="Times New Roman"/>
                <a:cs typeface="Times New Roman"/>
              </a:rPr>
              <a:t>line</a:t>
            </a:r>
            <a:r>
              <a:rPr sz="3200" spc="-22" dirty="0">
                <a:latin typeface="Times New Roman"/>
                <a:cs typeface="Times New Roman"/>
              </a:rPr>
              <a:t> </a:t>
            </a:r>
            <a:r>
              <a:rPr sz="3200" dirty="0">
                <a:latin typeface="Times New Roman"/>
                <a:cs typeface="Times New Roman"/>
              </a:rPr>
              <a:t>with</a:t>
            </a:r>
            <a:r>
              <a:rPr sz="3200" spc="6"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BRI</a:t>
            </a:r>
            <a:r>
              <a:rPr sz="3200" spc="11" dirty="0">
                <a:latin typeface="Times New Roman"/>
                <a:cs typeface="Times New Roman"/>
              </a:rPr>
              <a:t> </a:t>
            </a:r>
            <a:r>
              <a:rPr sz="3200" dirty="0">
                <a:latin typeface="Times New Roman"/>
                <a:cs typeface="Times New Roman"/>
              </a:rPr>
              <a:t>line:</a:t>
            </a:r>
            <a:r>
              <a:rPr lang="en-US" sz="3200" dirty="0">
                <a:latin typeface="Times New Roman"/>
                <a:cs typeface="Times New Roman"/>
              </a:rPr>
              <a:t> </a:t>
            </a:r>
            <a:r>
              <a:rPr sz="3200" spc="-6" dirty="0">
                <a:latin typeface="Times New Roman"/>
                <a:cs typeface="Times New Roman"/>
              </a:rPr>
              <a:t>One</a:t>
            </a:r>
            <a:r>
              <a:rPr sz="3200" spc="-44" dirty="0">
                <a:latin typeface="Times New Roman"/>
                <a:cs typeface="Times New Roman"/>
              </a:rPr>
              <a:t> </a:t>
            </a:r>
            <a:r>
              <a:rPr sz="3200" dirty="0">
                <a:latin typeface="Times New Roman"/>
                <a:cs typeface="Times New Roman"/>
              </a:rPr>
              <a:t>router</a:t>
            </a:r>
            <a:r>
              <a:rPr sz="3200" spc="-55" dirty="0">
                <a:latin typeface="Times New Roman"/>
                <a:cs typeface="Times New Roman"/>
              </a:rPr>
              <a:t> </a:t>
            </a:r>
            <a:r>
              <a:rPr sz="3200" dirty="0">
                <a:latin typeface="Times New Roman"/>
                <a:cs typeface="Times New Roman"/>
              </a:rPr>
              <a:t>calls </a:t>
            </a:r>
            <a:r>
              <a:rPr sz="3200" spc="-645" dirty="0">
                <a:latin typeface="Times New Roman"/>
                <a:cs typeface="Times New Roman"/>
              </a:rPr>
              <a:t> </a:t>
            </a:r>
            <a:r>
              <a:rPr sz="3200" dirty="0">
                <a:latin typeface="Times New Roman"/>
                <a:cs typeface="Times New Roman"/>
              </a:rPr>
              <a:t>the other router automatically </a:t>
            </a:r>
            <a:r>
              <a:rPr lang="en-US" sz="3200" b="1" dirty="0">
                <a:solidFill>
                  <a:srgbClr val="FF0000"/>
                </a:solidFill>
                <a:latin typeface="Times New Roman"/>
                <a:cs typeface="Times New Roman"/>
              </a:rPr>
              <a:t>Dial on Demand Routing</a:t>
            </a:r>
            <a:r>
              <a:rPr sz="3200" spc="-6" dirty="0">
                <a:latin typeface="Times New Roman"/>
                <a:cs typeface="Times New Roman"/>
              </a:rPr>
              <a:t>(DDR), </a:t>
            </a:r>
            <a:r>
              <a:rPr sz="3200" dirty="0">
                <a:latin typeface="Times New Roman"/>
                <a:cs typeface="Times New Roman"/>
              </a:rPr>
              <a:t>and the </a:t>
            </a:r>
            <a:r>
              <a:rPr sz="3200" spc="-6" dirty="0">
                <a:latin typeface="Times New Roman"/>
                <a:cs typeface="Times New Roman"/>
              </a:rPr>
              <a:t>two </a:t>
            </a:r>
            <a:r>
              <a:rPr sz="3200" dirty="0">
                <a:latin typeface="Times New Roman"/>
                <a:cs typeface="Times New Roman"/>
              </a:rPr>
              <a:t>routers can</a:t>
            </a:r>
            <a:r>
              <a:rPr sz="3200" spc="6" dirty="0">
                <a:latin typeface="Times New Roman"/>
                <a:cs typeface="Times New Roman"/>
              </a:rPr>
              <a:t> </a:t>
            </a:r>
            <a:r>
              <a:rPr sz="3200" dirty="0">
                <a:latin typeface="Times New Roman"/>
                <a:cs typeface="Times New Roman"/>
              </a:rPr>
              <a:t>forward</a:t>
            </a:r>
            <a:r>
              <a:rPr sz="3200" spc="-22" dirty="0">
                <a:latin typeface="Times New Roman"/>
                <a:cs typeface="Times New Roman"/>
              </a:rPr>
              <a:t> </a:t>
            </a:r>
            <a:r>
              <a:rPr sz="3200" spc="-6" dirty="0">
                <a:latin typeface="Times New Roman"/>
                <a:cs typeface="Times New Roman"/>
              </a:rPr>
              <a:t>packets</a:t>
            </a:r>
            <a:r>
              <a:rPr sz="3200" spc="-22" dirty="0">
                <a:latin typeface="Times New Roman"/>
                <a:cs typeface="Times New Roman"/>
              </a:rPr>
              <a:t> </a:t>
            </a:r>
            <a:r>
              <a:rPr sz="3200" dirty="0">
                <a:latin typeface="Times New Roman"/>
                <a:cs typeface="Times New Roman"/>
              </a:rPr>
              <a:t>to each</a:t>
            </a:r>
            <a:r>
              <a:rPr sz="3200" spc="-22" dirty="0">
                <a:latin typeface="Times New Roman"/>
                <a:cs typeface="Times New Roman"/>
              </a:rPr>
              <a:t> </a:t>
            </a:r>
            <a:r>
              <a:rPr sz="3200" spc="-28" dirty="0">
                <a:latin typeface="Times New Roman"/>
                <a:cs typeface="Times New Roman"/>
              </a:rPr>
              <a:t>other.</a:t>
            </a:r>
            <a:endParaRPr sz="3200" dirty="0">
              <a:latin typeface="Times New Roman"/>
              <a:cs typeface="Times New Roman"/>
            </a:endParaRPr>
          </a:p>
        </p:txBody>
      </p:sp>
      <p:pic>
        <p:nvPicPr>
          <p:cNvPr id="5" name="object 5"/>
          <p:cNvPicPr/>
          <p:nvPr/>
        </p:nvPicPr>
        <p:blipFill>
          <a:blip r:embed="rId3" cstate="print"/>
          <a:stretch>
            <a:fillRect/>
          </a:stretch>
        </p:blipFill>
        <p:spPr>
          <a:xfrm>
            <a:off x="493721" y="1916393"/>
            <a:ext cx="8836854" cy="3067604"/>
          </a:xfrm>
          <a:prstGeom prst="rect">
            <a:avLst/>
          </a:prstGeom>
        </p:spPr>
      </p:pic>
    </p:spTree>
    <p:extLst>
      <p:ext uri="{BB962C8B-B14F-4D97-AF65-F5344CB8AC3E}">
        <p14:creationId xmlns:p14="http://schemas.microsoft.com/office/powerpoint/2010/main" val="3829388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3791" y="445820"/>
            <a:ext cx="6453723"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The</a:t>
            </a:r>
            <a:r>
              <a:rPr sz="4409" b="1" spc="-17"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Need</a:t>
            </a:r>
            <a:r>
              <a:rPr sz="4409" b="1" spc="-6" dirty="0">
                <a:solidFill>
                  <a:schemeClr val="bg1"/>
                </a:solidFill>
                <a:latin typeface="Times New Roman" panose="02020603050405020304" pitchFamily="18" charset="0"/>
                <a:cs typeface="Times New Roman" panose="02020603050405020304" pitchFamily="18" charset="0"/>
              </a:rPr>
              <a:t> </a:t>
            </a:r>
            <a:r>
              <a:rPr sz="4409" b="1" dirty="0">
                <a:solidFill>
                  <a:schemeClr val="bg1"/>
                </a:solidFill>
                <a:latin typeface="Times New Roman" panose="02020603050405020304" pitchFamily="18" charset="0"/>
                <a:cs typeface="Times New Roman" panose="02020603050405020304" pitchFamily="18" charset="0"/>
              </a:rPr>
              <a:t>for</a:t>
            </a:r>
            <a:r>
              <a:rPr sz="4409" b="1" spc="-88"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Static</a:t>
            </a:r>
            <a:r>
              <a:rPr sz="4409" b="1"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84977" y="1879510"/>
            <a:ext cx="9710669" cy="4840391"/>
          </a:xfrm>
          <a:prstGeom prst="rect">
            <a:avLst/>
          </a:prstGeom>
        </p:spPr>
        <p:txBody>
          <a:bodyPr vert="horz" wrap="square" lIns="0" tIns="13299" rIns="0" bIns="0" rtlCol="0">
            <a:spAutoFit/>
          </a:bodyPr>
          <a:lstStyle/>
          <a:p>
            <a:pPr marL="470499" marR="262485" indent="-457200">
              <a:spcBef>
                <a:spcPts val="105"/>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The dial backup configuration uses static routes. The </a:t>
            </a:r>
            <a:r>
              <a:rPr sz="3200" spc="-755" dirty="0">
                <a:latin typeface="Times New Roman"/>
                <a:cs typeface="Times New Roman"/>
              </a:rPr>
              <a:t> </a:t>
            </a:r>
            <a:r>
              <a:rPr sz="3200" spc="-6" dirty="0">
                <a:latin typeface="Times New Roman"/>
                <a:cs typeface="Times New Roman"/>
              </a:rPr>
              <a:t>need</a:t>
            </a:r>
            <a:r>
              <a:rPr sz="3200" spc="-17" dirty="0">
                <a:latin typeface="Times New Roman"/>
                <a:cs typeface="Times New Roman"/>
              </a:rPr>
              <a:t> </a:t>
            </a:r>
            <a:r>
              <a:rPr sz="3200" dirty="0">
                <a:latin typeface="Times New Roman"/>
                <a:cs typeface="Times New Roman"/>
              </a:rPr>
              <a:t>for</a:t>
            </a:r>
            <a:r>
              <a:rPr sz="3200" spc="-6" dirty="0">
                <a:latin typeface="Times New Roman"/>
                <a:cs typeface="Times New Roman"/>
              </a:rPr>
              <a:t> static</a:t>
            </a:r>
            <a:r>
              <a:rPr sz="3200" spc="-28" dirty="0">
                <a:latin typeface="Times New Roman"/>
                <a:cs typeface="Times New Roman"/>
              </a:rPr>
              <a:t> </a:t>
            </a:r>
            <a:r>
              <a:rPr sz="3200" dirty="0">
                <a:latin typeface="Times New Roman"/>
                <a:cs typeface="Times New Roman"/>
              </a:rPr>
              <a:t>routes</a:t>
            </a:r>
            <a:r>
              <a:rPr sz="3200" spc="-22" dirty="0">
                <a:latin typeface="Times New Roman"/>
                <a:cs typeface="Times New Roman"/>
              </a:rPr>
              <a:t> </a:t>
            </a:r>
            <a:r>
              <a:rPr sz="3200" spc="-6" dirty="0">
                <a:latin typeface="Times New Roman"/>
                <a:cs typeface="Times New Roman"/>
              </a:rPr>
              <a:t>is shown</a:t>
            </a:r>
            <a:r>
              <a:rPr sz="3200" dirty="0">
                <a:latin typeface="Times New Roman"/>
                <a:cs typeface="Times New Roman"/>
              </a:rPr>
              <a:t> </a:t>
            </a:r>
            <a:r>
              <a:rPr sz="3200" spc="-6" dirty="0">
                <a:latin typeface="Times New Roman"/>
                <a:cs typeface="Times New Roman"/>
              </a:rPr>
              <a:t>by</a:t>
            </a:r>
            <a:r>
              <a:rPr sz="3200" spc="-11" dirty="0">
                <a:latin typeface="Times New Roman"/>
                <a:cs typeface="Times New Roman"/>
              </a:rPr>
              <a:t> </a:t>
            </a:r>
            <a:r>
              <a:rPr sz="3200" spc="-6" dirty="0">
                <a:latin typeface="Times New Roman"/>
                <a:cs typeface="Times New Roman"/>
              </a:rPr>
              <a:t>these</a:t>
            </a:r>
            <a:r>
              <a:rPr sz="3200" spc="-11" dirty="0">
                <a:latin typeface="Times New Roman"/>
                <a:cs typeface="Times New Roman"/>
              </a:rPr>
              <a:t> </a:t>
            </a:r>
            <a:r>
              <a:rPr sz="3200" spc="-6" dirty="0">
                <a:latin typeface="Times New Roman"/>
                <a:cs typeface="Times New Roman"/>
              </a:rPr>
              <a:t>facts:</a:t>
            </a:r>
            <a:endParaRPr sz="3200" dirty="0">
              <a:latin typeface="Times New Roman"/>
              <a:cs typeface="Times New Roman"/>
            </a:endParaRPr>
          </a:p>
          <a:p>
            <a:pPr marL="772882" marR="622265" lvl="1" indent="-302383">
              <a:lnSpc>
                <a:spcPts val="2965"/>
              </a:lnSpc>
              <a:spcBef>
                <a:spcPts val="639"/>
              </a:spcBef>
              <a:buClr>
                <a:srgbClr val="D24717"/>
              </a:buClr>
              <a:buSzPct val="83928"/>
              <a:buFont typeface="Wingdings"/>
              <a:buChar char=""/>
              <a:tabLst>
                <a:tab pos="316382" algn="l"/>
              </a:tabLst>
            </a:pPr>
            <a:r>
              <a:rPr sz="3200" spc="-6" dirty="0">
                <a:latin typeface="Times New Roman"/>
                <a:cs typeface="Times New Roman"/>
              </a:rPr>
              <a:t>When the leased line is </a:t>
            </a:r>
            <a:r>
              <a:rPr sz="3200" dirty="0">
                <a:latin typeface="Times New Roman"/>
                <a:cs typeface="Times New Roman"/>
              </a:rPr>
              <a:t>up, the </a:t>
            </a:r>
            <a:r>
              <a:rPr sz="3200" spc="-6" dirty="0">
                <a:latin typeface="Times New Roman"/>
                <a:cs typeface="Times New Roman"/>
              </a:rPr>
              <a:t>routers learn </a:t>
            </a:r>
            <a:r>
              <a:rPr sz="3200" dirty="0">
                <a:latin typeface="Times New Roman"/>
                <a:cs typeface="Times New Roman"/>
              </a:rPr>
              <a:t>routes </a:t>
            </a:r>
            <a:r>
              <a:rPr sz="3200" spc="-755" dirty="0">
                <a:latin typeface="Times New Roman"/>
                <a:cs typeface="Times New Roman"/>
              </a:rPr>
              <a:t> </a:t>
            </a:r>
            <a:r>
              <a:rPr sz="3200" dirty="0">
                <a:latin typeface="Times New Roman"/>
                <a:cs typeface="Times New Roman"/>
              </a:rPr>
              <a:t>using</a:t>
            </a:r>
            <a:r>
              <a:rPr sz="3200" spc="-33" dirty="0">
                <a:latin typeface="Times New Roman"/>
                <a:cs typeface="Times New Roman"/>
              </a:rPr>
              <a:t> </a:t>
            </a:r>
            <a:r>
              <a:rPr sz="3200" spc="-6" dirty="0">
                <a:latin typeface="Times New Roman"/>
                <a:cs typeface="Times New Roman"/>
              </a:rPr>
              <a:t>a</a:t>
            </a:r>
            <a:r>
              <a:rPr sz="3200" spc="-11" dirty="0">
                <a:latin typeface="Times New Roman"/>
                <a:cs typeface="Times New Roman"/>
              </a:rPr>
              <a:t> </a:t>
            </a:r>
            <a:r>
              <a:rPr sz="3200" spc="-6" dirty="0">
                <a:latin typeface="Times New Roman"/>
                <a:cs typeface="Times New Roman"/>
              </a:rPr>
              <a:t>dynamic routing</a:t>
            </a:r>
            <a:r>
              <a:rPr sz="3200" spc="-17" dirty="0">
                <a:latin typeface="Times New Roman"/>
                <a:cs typeface="Times New Roman"/>
              </a:rPr>
              <a:t> </a:t>
            </a:r>
            <a:r>
              <a:rPr sz="3200" dirty="0">
                <a:latin typeface="Times New Roman"/>
                <a:cs typeface="Times New Roman"/>
              </a:rPr>
              <a:t>protocol.</a:t>
            </a:r>
          </a:p>
          <a:p>
            <a:pPr marL="772882" marR="274385" lvl="1" indent="-302383">
              <a:lnSpc>
                <a:spcPct val="80000"/>
              </a:lnSpc>
              <a:spcBef>
                <a:spcPts val="683"/>
              </a:spcBef>
              <a:buClr>
                <a:srgbClr val="D24717"/>
              </a:buClr>
              <a:buSzPct val="83928"/>
              <a:buFont typeface="Wingdings"/>
              <a:buChar char=""/>
              <a:tabLst>
                <a:tab pos="316382" algn="l"/>
              </a:tabLst>
            </a:pPr>
            <a:r>
              <a:rPr sz="3200" spc="-6" dirty="0">
                <a:latin typeface="Times New Roman"/>
                <a:cs typeface="Times New Roman"/>
              </a:rPr>
              <a:t>When</a:t>
            </a:r>
            <a:r>
              <a:rPr sz="3200" spc="-17" dirty="0">
                <a:latin typeface="Times New Roman"/>
                <a:cs typeface="Times New Roman"/>
              </a:rPr>
              <a:t> </a:t>
            </a:r>
            <a:r>
              <a:rPr sz="3200" spc="-6" dirty="0">
                <a:latin typeface="Times New Roman"/>
                <a:cs typeface="Times New Roman"/>
              </a:rPr>
              <a:t>the</a:t>
            </a:r>
            <a:r>
              <a:rPr sz="3200" spc="-17" dirty="0">
                <a:latin typeface="Times New Roman"/>
                <a:cs typeface="Times New Roman"/>
              </a:rPr>
              <a:t> </a:t>
            </a:r>
            <a:r>
              <a:rPr sz="3200" b="1" spc="-6" dirty="0">
                <a:solidFill>
                  <a:srgbClr val="FF0000"/>
                </a:solidFill>
                <a:latin typeface="Times New Roman"/>
                <a:cs typeface="Times New Roman"/>
              </a:rPr>
              <a:t>leased line</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fails</a:t>
            </a:r>
            <a:r>
              <a:rPr sz="3200" spc="-6" dirty="0">
                <a:latin typeface="Times New Roman"/>
                <a:cs typeface="Times New Roman"/>
              </a:rPr>
              <a:t>, the</a:t>
            </a:r>
            <a:r>
              <a:rPr sz="3200" dirty="0">
                <a:latin typeface="Times New Roman"/>
                <a:cs typeface="Times New Roman"/>
              </a:rPr>
              <a:t> routers</a:t>
            </a:r>
            <a:r>
              <a:rPr sz="3200" spc="-17" dirty="0">
                <a:latin typeface="Times New Roman"/>
                <a:cs typeface="Times New Roman"/>
              </a:rPr>
              <a:t> </a:t>
            </a:r>
            <a:r>
              <a:rPr sz="3200" dirty="0">
                <a:latin typeface="Times New Roman"/>
                <a:cs typeface="Times New Roman"/>
              </a:rPr>
              <a:t>lose</a:t>
            </a:r>
            <a:r>
              <a:rPr sz="3200" spc="-22" dirty="0">
                <a:latin typeface="Times New Roman"/>
                <a:cs typeface="Times New Roman"/>
              </a:rPr>
              <a:t> </a:t>
            </a:r>
            <a:r>
              <a:rPr sz="3200" spc="-6" dirty="0">
                <a:latin typeface="Times New Roman"/>
                <a:cs typeface="Times New Roman"/>
              </a:rPr>
              <a:t>the</a:t>
            </a:r>
            <a:r>
              <a:rPr sz="3200" dirty="0">
                <a:latin typeface="Times New Roman"/>
                <a:cs typeface="Times New Roman"/>
              </a:rPr>
              <a:t> routes </a:t>
            </a:r>
            <a:r>
              <a:rPr sz="3200" spc="-755" dirty="0">
                <a:latin typeface="Times New Roman"/>
                <a:cs typeface="Times New Roman"/>
              </a:rPr>
              <a:t> </a:t>
            </a:r>
            <a:r>
              <a:rPr sz="3200" spc="-6" dirty="0">
                <a:latin typeface="Times New Roman"/>
                <a:cs typeface="Times New Roman"/>
              </a:rPr>
              <a:t>learned</a:t>
            </a:r>
            <a:r>
              <a:rPr sz="3200" spc="-22" dirty="0">
                <a:latin typeface="Times New Roman"/>
                <a:cs typeface="Times New Roman"/>
              </a:rPr>
              <a:t> </a:t>
            </a:r>
            <a:r>
              <a:rPr sz="3200" spc="-6" dirty="0">
                <a:latin typeface="Times New Roman"/>
                <a:cs typeface="Times New Roman"/>
              </a:rPr>
              <a:t>by</a:t>
            </a:r>
            <a:r>
              <a:rPr sz="3200" spc="-11" dirty="0">
                <a:latin typeface="Times New Roman"/>
                <a:cs typeface="Times New Roman"/>
              </a:rPr>
              <a:t> </a:t>
            </a:r>
            <a:r>
              <a:rPr sz="3200" dirty="0">
                <a:latin typeface="Times New Roman"/>
                <a:cs typeface="Times New Roman"/>
              </a:rPr>
              <a:t>the</a:t>
            </a:r>
            <a:r>
              <a:rPr sz="3200" spc="-17" dirty="0">
                <a:latin typeface="Times New Roman"/>
                <a:cs typeface="Times New Roman"/>
              </a:rPr>
              <a:t> </a:t>
            </a:r>
            <a:r>
              <a:rPr sz="3200" spc="-6" dirty="0">
                <a:latin typeface="Times New Roman"/>
                <a:cs typeface="Times New Roman"/>
              </a:rPr>
              <a:t>dynamic </a:t>
            </a:r>
            <a:r>
              <a:rPr sz="3200" dirty="0">
                <a:latin typeface="Times New Roman"/>
                <a:cs typeface="Times New Roman"/>
              </a:rPr>
              <a:t>routing</a:t>
            </a:r>
            <a:r>
              <a:rPr sz="3200" spc="-33" dirty="0">
                <a:latin typeface="Times New Roman"/>
                <a:cs typeface="Times New Roman"/>
              </a:rPr>
              <a:t> </a:t>
            </a:r>
            <a:r>
              <a:rPr sz="3200" dirty="0">
                <a:latin typeface="Times New Roman"/>
                <a:cs typeface="Times New Roman"/>
              </a:rPr>
              <a:t>protocol.</a:t>
            </a:r>
          </a:p>
          <a:p>
            <a:pPr marL="772882" marR="132992" lvl="1" indent="-302383">
              <a:lnSpc>
                <a:spcPts val="2965"/>
              </a:lnSpc>
              <a:spcBef>
                <a:spcPts val="634"/>
              </a:spcBef>
              <a:buClr>
                <a:srgbClr val="D24717"/>
              </a:buClr>
              <a:buSzPct val="83928"/>
              <a:buFont typeface="Wingdings"/>
              <a:buChar char=""/>
              <a:tabLst>
                <a:tab pos="316382" algn="l"/>
              </a:tabLst>
            </a:pPr>
            <a:r>
              <a:rPr sz="3200" spc="-6" dirty="0">
                <a:latin typeface="Times New Roman"/>
                <a:cs typeface="Times New Roman"/>
              </a:rPr>
              <a:t>Before dial</a:t>
            </a:r>
            <a:r>
              <a:rPr sz="3200" spc="-17" dirty="0">
                <a:latin typeface="Times New Roman"/>
                <a:cs typeface="Times New Roman"/>
              </a:rPr>
              <a:t> </a:t>
            </a:r>
            <a:r>
              <a:rPr sz="3200" spc="-6" dirty="0">
                <a:latin typeface="Times New Roman"/>
                <a:cs typeface="Times New Roman"/>
              </a:rPr>
              <a:t>backup dials</a:t>
            </a:r>
            <a:r>
              <a:rPr sz="3200" spc="-17" dirty="0">
                <a:latin typeface="Times New Roman"/>
                <a:cs typeface="Times New Roman"/>
              </a:rPr>
              <a:t> </a:t>
            </a:r>
            <a:r>
              <a:rPr sz="3200" spc="-6" dirty="0">
                <a:latin typeface="Times New Roman"/>
                <a:cs typeface="Times New Roman"/>
              </a:rPr>
              <a:t>an ISDN</a:t>
            </a:r>
            <a:r>
              <a:rPr sz="3200" spc="17" dirty="0">
                <a:latin typeface="Times New Roman"/>
                <a:cs typeface="Times New Roman"/>
              </a:rPr>
              <a:t> </a:t>
            </a:r>
            <a:r>
              <a:rPr sz="3200" spc="-6" dirty="0">
                <a:latin typeface="Times New Roman"/>
                <a:cs typeface="Times New Roman"/>
              </a:rPr>
              <a:t>call,</a:t>
            </a:r>
            <a:r>
              <a:rPr sz="3200" spc="11" dirty="0">
                <a:latin typeface="Times New Roman"/>
                <a:cs typeface="Times New Roman"/>
              </a:rPr>
              <a:t> </a:t>
            </a:r>
            <a:r>
              <a:rPr sz="3200" spc="-6" dirty="0">
                <a:latin typeface="Times New Roman"/>
                <a:cs typeface="Times New Roman"/>
              </a:rPr>
              <a:t>at least</a:t>
            </a:r>
            <a:r>
              <a:rPr sz="3200" spc="-17" dirty="0">
                <a:latin typeface="Times New Roman"/>
                <a:cs typeface="Times New Roman"/>
              </a:rPr>
              <a:t> </a:t>
            </a:r>
            <a:r>
              <a:rPr sz="3200" spc="-6" dirty="0">
                <a:latin typeface="Times New Roman"/>
                <a:cs typeface="Times New Roman"/>
              </a:rPr>
              <a:t>one </a:t>
            </a:r>
            <a:r>
              <a:rPr sz="3200" dirty="0">
                <a:latin typeface="Times New Roman"/>
                <a:cs typeface="Times New Roman"/>
              </a:rPr>
              <a:t> router</a:t>
            </a:r>
            <a:r>
              <a:rPr sz="3200" spc="-17" dirty="0">
                <a:latin typeface="Times New Roman"/>
                <a:cs typeface="Times New Roman"/>
              </a:rPr>
              <a:t> </a:t>
            </a:r>
            <a:r>
              <a:rPr sz="3200" spc="-11" dirty="0">
                <a:latin typeface="Times New Roman"/>
                <a:cs typeface="Times New Roman"/>
              </a:rPr>
              <a:t>must</a:t>
            </a:r>
            <a:r>
              <a:rPr sz="3200" spc="11" dirty="0">
                <a:latin typeface="Times New Roman"/>
                <a:cs typeface="Times New Roman"/>
              </a:rPr>
              <a:t> </a:t>
            </a:r>
            <a:r>
              <a:rPr sz="3200" spc="-6" dirty="0">
                <a:latin typeface="Times New Roman"/>
                <a:cs typeface="Times New Roman"/>
              </a:rPr>
              <a:t>try</a:t>
            </a:r>
            <a:r>
              <a:rPr sz="3200" spc="6" dirty="0">
                <a:latin typeface="Times New Roman"/>
                <a:cs typeface="Times New Roman"/>
              </a:rPr>
              <a:t> </a:t>
            </a:r>
            <a:r>
              <a:rPr sz="3200" spc="-6" dirty="0">
                <a:latin typeface="Times New Roman"/>
                <a:cs typeface="Times New Roman"/>
              </a:rPr>
              <a:t>to </a:t>
            </a:r>
            <a:r>
              <a:rPr sz="3200" dirty="0">
                <a:latin typeface="Times New Roman"/>
                <a:cs typeface="Times New Roman"/>
              </a:rPr>
              <a:t>route</a:t>
            </a:r>
            <a:r>
              <a:rPr sz="3200" spc="-6" dirty="0">
                <a:latin typeface="Times New Roman"/>
                <a:cs typeface="Times New Roman"/>
              </a:rPr>
              <a:t> a packet</a:t>
            </a:r>
            <a:r>
              <a:rPr sz="3200" dirty="0">
                <a:latin typeface="Times New Roman"/>
                <a:cs typeface="Times New Roman"/>
              </a:rPr>
              <a:t> </a:t>
            </a:r>
            <a:r>
              <a:rPr sz="3200" spc="-6" dirty="0">
                <a:latin typeface="Times New Roman"/>
                <a:cs typeface="Times New Roman"/>
              </a:rPr>
              <a:t>out</a:t>
            </a:r>
            <a:r>
              <a:rPr sz="3200" spc="-11" dirty="0">
                <a:latin typeface="Times New Roman"/>
                <a:cs typeface="Times New Roman"/>
              </a:rPr>
              <a:t> </a:t>
            </a:r>
            <a:r>
              <a:rPr sz="3200" spc="-6" dirty="0">
                <a:latin typeface="Times New Roman"/>
                <a:cs typeface="Times New Roman"/>
              </a:rPr>
              <a:t>its</a:t>
            </a:r>
            <a:r>
              <a:rPr sz="3200" dirty="0">
                <a:latin typeface="Times New Roman"/>
                <a:cs typeface="Times New Roman"/>
              </a:rPr>
              <a:t> </a:t>
            </a:r>
            <a:r>
              <a:rPr sz="3200" spc="-11" dirty="0">
                <a:latin typeface="Times New Roman"/>
                <a:cs typeface="Times New Roman"/>
              </a:rPr>
              <a:t>BRI</a:t>
            </a:r>
            <a:r>
              <a:rPr sz="3200" dirty="0">
                <a:latin typeface="Times New Roman"/>
                <a:cs typeface="Times New Roman"/>
              </a:rPr>
              <a:t> </a:t>
            </a:r>
            <a:r>
              <a:rPr sz="3200" spc="-6" dirty="0">
                <a:latin typeface="Times New Roman"/>
                <a:cs typeface="Times New Roman"/>
              </a:rPr>
              <a:t>interface.</a:t>
            </a:r>
            <a:endParaRPr sz="3200" dirty="0">
              <a:latin typeface="Times New Roman"/>
              <a:cs typeface="Times New Roman"/>
            </a:endParaRPr>
          </a:p>
          <a:p>
            <a:pPr marL="772882" marR="5600" lvl="1" indent="-302383">
              <a:lnSpc>
                <a:spcPct val="80000"/>
              </a:lnSpc>
              <a:spcBef>
                <a:spcPts val="689"/>
              </a:spcBef>
              <a:buClr>
                <a:srgbClr val="D24717"/>
              </a:buClr>
              <a:buSzPct val="83928"/>
              <a:buFont typeface="Wingdings"/>
              <a:buChar char=""/>
              <a:tabLst>
                <a:tab pos="316382" algn="l"/>
                <a:tab pos="815454" algn="l"/>
              </a:tabLst>
            </a:pPr>
            <a:r>
              <a:rPr sz="3200" spc="-6" dirty="0">
                <a:latin typeface="Times New Roman"/>
                <a:cs typeface="Times New Roman"/>
              </a:rPr>
              <a:t>A </a:t>
            </a:r>
            <a:r>
              <a:rPr sz="3200" dirty="0">
                <a:latin typeface="Times New Roman"/>
                <a:cs typeface="Times New Roman"/>
              </a:rPr>
              <a:t>router </a:t>
            </a:r>
            <a:r>
              <a:rPr sz="3200" spc="-6" dirty="0">
                <a:latin typeface="Times New Roman"/>
                <a:cs typeface="Times New Roman"/>
              </a:rPr>
              <a:t>needs a </a:t>
            </a:r>
            <a:r>
              <a:rPr sz="3200" b="1" spc="-6" dirty="0">
                <a:solidFill>
                  <a:srgbClr val="FF0000"/>
                </a:solidFill>
                <a:latin typeface="Times New Roman"/>
                <a:cs typeface="Times New Roman"/>
              </a:rPr>
              <a:t>static </a:t>
            </a:r>
            <a:r>
              <a:rPr sz="3200" b="1" dirty="0">
                <a:solidFill>
                  <a:srgbClr val="FF0000"/>
                </a:solidFill>
                <a:latin typeface="Times New Roman"/>
                <a:cs typeface="Times New Roman"/>
              </a:rPr>
              <a:t>route </a:t>
            </a:r>
            <a:r>
              <a:rPr sz="3200" b="1" spc="-6" dirty="0">
                <a:solidFill>
                  <a:srgbClr val="FF0000"/>
                </a:solidFill>
                <a:latin typeface="Times New Roman"/>
                <a:cs typeface="Times New Roman"/>
              </a:rPr>
              <a:t>to be configured</a:t>
            </a:r>
            <a:r>
              <a:rPr sz="3200" spc="-6" dirty="0">
                <a:latin typeface="Times New Roman"/>
                <a:cs typeface="Times New Roman"/>
              </a:rPr>
              <a:t>, </a:t>
            </a:r>
            <a:r>
              <a:rPr sz="3200" dirty="0">
                <a:latin typeface="Times New Roman"/>
                <a:cs typeface="Times New Roman"/>
              </a:rPr>
              <a:t> </a:t>
            </a:r>
            <a:r>
              <a:rPr sz="3200" spc="-6" dirty="0">
                <a:latin typeface="Times New Roman"/>
                <a:cs typeface="Times New Roman"/>
              </a:rPr>
              <a:t>referencing </a:t>
            </a:r>
            <a:r>
              <a:rPr sz="3200" dirty="0">
                <a:latin typeface="Times New Roman"/>
                <a:cs typeface="Times New Roman"/>
              </a:rPr>
              <a:t>the </a:t>
            </a:r>
            <a:r>
              <a:rPr sz="3200" spc="-11" dirty="0">
                <a:latin typeface="Times New Roman"/>
                <a:cs typeface="Times New Roman"/>
              </a:rPr>
              <a:t>BRI </a:t>
            </a:r>
            <a:r>
              <a:rPr sz="3200" spc="-6" dirty="0">
                <a:latin typeface="Times New Roman"/>
                <a:cs typeface="Times New Roman"/>
              </a:rPr>
              <a:t>interface </a:t>
            </a:r>
            <a:r>
              <a:rPr sz="3200" spc="-11" dirty="0">
                <a:latin typeface="Times New Roman"/>
                <a:cs typeface="Times New Roman"/>
              </a:rPr>
              <a:t>as </a:t>
            </a:r>
            <a:r>
              <a:rPr sz="3200" dirty="0">
                <a:latin typeface="Times New Roman"/>
                <a:cs typeface="Times New Roman"/>
              </a:rPr>
              <a:t>the outgoing </a:t>
            </a:r>
            <a:r>
              <a:rPr sz="3200" spc="-6" dirty="0">
                <a:latin typeface="Times New Roman"/>
                <a:cs typeface="Times New Roman"/>
              </a:rPr>
              <a:t>interface </a:t>
            </a:r>
            <a:r>
              <a:rPr sz="3200" spc="-755" dirty="0">
                <a:latin typeface="Times New Roman"/>
                <a:cs typeface="Times New Roman"/>
              </a:rPr>
              <a:t> </a:t>
            </a:r>
            <a:r>
              <a:rPr sz="3200" spc="-6" dirty="0">
                <a:latin typeface="Times New Roman"/>
                <a:cs typeface="Times New Roman"/>
              </a:rPr>
              <a:t>to</a:t>
            </a:r>
            <a:r>
              <a:rPr lang="en-US" sz="3200" spc="-6" dirty="0">
                <a:latin typeface="Times New Roman"/>
                <a:cs typeface="Times New Roman"/>
              </a:rPr>
              <a:t> </a:t>
            </a:r>
            <a:r>
              <a:rPr sz="3200" dirty="0">
                <a:latin typeface="Times New Roman"/>
                <a:cs typeface="Times New Roman"/>
              </a:rPr>
              <a:t>force</a:t>
            </a:r>
            <a:r>
              <a:rPr sz="3200" spc="-11" dirty="0">
                <a:latin typeface="Times New Roman"/>
                <a:cs typeface="Times New Roman"/>
              </a:rPr>
              <a:t> </a:t>
            </a:r>
            <a:r>
              <a:rPr sz="3200" spc="-6" dirty="0">
                <a:latin typeface="Times New Roman"/>
                <a:cs typeface="Times New Roman"/>
              </a:rPr>
              <a:t>the</a:t>
            </a:r>
            <a:r>
              <a:rPr sz="3200" spc="6" dirty="0">
                <a:latin typeface="Times New Roman"/>
                <a:cs typeface="Times New Roman"/>
              </a:rPr>
              <a:t> </a:t>
            </a:r>
            <a:r>
              <a:rPr sz="3200" spc="-6" dirty="0">
                <a:latin typeface="Times New Roman"/>
                <a:cs typeface="Times New Roman"/>
              </a:rPr>
              <a:t>try</a:t>
            </a:r>
            <a:r>
              <a:rPr sz="3200" spc="6"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a packet</a:t>
            </a:r>
            <a:r>
              <a:rPr sz="3200" dirty="0">
                <a:latin typeface="Times New Roman"/>
                <a:cs typeface="Times New Roman"/>
              </a:rPr>
              <a:t> </a:t>
            </a:r>
            <a:r>
              <a:rPr sz="3200" spc="-6" dirty="0">
                <a:latin typeface="Times New Roman"/>
                <a:cs typeface="Times New Roman"/>
              </a:rPr>
              <a:t>out</a:t>
            </a:r>
            <a:r>
              <a:rPr sz="3200" spc="-11" dirty="0">
                <a:latin typeface="Times New Roman"/>
                <a:cs typeface="Times New Roman"/>
              </a:rPr>
              <a:t> </a:t>
            </a:r>
            <a:r>
              <a:rPr sz="3200" spc="-6" dirty="0">
                <a:latin typeface="Times New Roman"/>
                <a:cs typeface="Times New Roman"/>
              </a:rPr>
              <a:t>its</a:t>
            </a:r>
            <a:r>
              <a:rPr sz="3200" spc="6" dirty="0">
                <a:latin typeface="Times New Roman"/>
                <a:cs typeface="Times New Roman"/>
              </a:rPr>
              <a:t> </a:t>
            </a:r>
            <a:r>
              <a:rPr sz="3200" spc="-11" dirty="0">
                <a:latin typeface="Times New Roman"/>
                <a:cs typeface="Times New Roman"/>
              </a:rPr>
              <a:t>BRI</a:t>
            </a:r>
            <a:r>
              <a:rPr sz="3200" dirty="0">
                <a:latin typeface="Times New Roman"/>
                <a:cs typeface="Times New Roman"/>
              </a:rPr>
              <a:t> </a:t>
            </a:r>
            <a:r>
              <a:rPr sz="3200" spc="-6" dirty="0">
                <a:latin typeface="Times New Roman"/>
                <a:cs typeface="Times New Roman"/>
              </a:rPr>
              <a:t>interface.</a:t>
            </a:r>
            <a:endParaRPr sz="3200"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310" y="318123"/>
            <a:ext cx="9557817" cy="691244"/>
          </a:xfrm>
          <a:prstGeom prst="rect">
            <a:avLst/>
          </a:prstGeom>
        </p:spPr>
        <p:txBody>
          <a:bodyPr vert="horz" wrap="square" lIns="0" tIns="13999" rIns="0" bIns="0" rtlCol="0" anchor="ctr">
            <a:spAutoFit/>
          </a:bodyPr>
          <a:lstStyle/>
          <a:p>
            <a:pPr marL="13999">
              <a:lnSpc>
                <a:spcPct val="100000"/>
              </a:lnSpc>
              <a:spcBef>
                <a:spcPts val="110"/>
              </a:spcBef>
            </a:pPr>
            <a:r>
              <a:rPr spc="-6" dirty="0">
                <a:solidFill>
                  <a:schemeClr val="bg1"/>
                </a:solidFill>
                <a:latin typeface="Times New Roman" panose="02020603050405020304" pitchFamily="18" charset="0"/>
                <a:cs typeface="Times New Roman" panose="02020603050405020304" pitchFamily="18" charset="0"/>
              </a:rPr>
              <a:t>Administrative</a:t>
            </a:r>
            <a:r>
              <a:rPr spc="-22"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Distance on </a:t>
            </a:r>
            <a:r>
              <a:rPr spc="-6" dirty="0">
                <a:solidFill>
                  <a:schemeClr val="bg1"/>
                </a:solidFill>
                <a:latin typeface="Times New Roman" panose="02020603050405020304" pitchFamily="18" charset="0"/>
                <a:cs typeface="Times New Roman" panose="02020603050405020304" pitchFamily="18" charset="0"/>
              </a:rPr>
              <a:t>Static</a:t>
            </a:r>
            <a:r>
              <a:rPr dirty="0">
                <a:solidFill>
                  <a:schemeClr val="bg1"/>
                </a:solidFill>
                <a:latin typeface="Times New Roman" panose="02020603050405020304" pitchFamily="18" charset="0"/>
                <a:cs typeface="Times New Roman" panose="02020603050405020304" pitchFamily="18" charset="0"/>
              </a:rPr>
              <a:t> Routes</a:t>
            </a:r>
          </a:p>
        </p:txBody>
      </p:sp>
      <p:sp>
        <p:nvSpPr>
          <p:cNvPr id="3" name="object 3"/>
          <p:cNvSpPr txBox="1"/>
          <p:nvPr/>
        </p:nvSpPr>
        <p:spPr>
          <a:xfrm>
            <a:off x="193183" y="1552024"/>
            <a:ext cx="9787944" cy="5135158"/>
          </a:xfrm>
          <a:prstGeom prst="rect">
            <a:avLst/>
          </a:prstGeom>
        </p:spPr>
        <p:txBody>
          <a:bodyPr vert="horz" wrap="square" lIns="0" tIns="107095" rIns="0" bIns="0" rtlCol="0">
            <a:spAutoFit/>
          </a:bodyPr>
          <a:lstStyle/>
          <a:p>
            <a:pPr marL="470499" marR="23099" indent="-457200">
              <a:lnSpc>
                <a:spcPct val="80000"/>
              </a:lnSpc>
              <a:spcBef>
                <a:spcPts val="843"/>
              </a:spcBef>
              <a:buClr>
                <a:srgbClr val="D24717"/>
              </a:buClr>
              <a:buSzPct val="83928"/>
              <a:buFont typeface="Wingdings" panose="05000000000000000000" pitchFamily="2" charset="2"/>
              <a:buChar char="Ø"/>
              <a:tabLst>
                <a:tab pos="316382" algn="l"/>
                <a:tab pos="4779330" algn="l"/>
              </a:tabLst>
            </a:pPr>
            <a:r>
              <a:rPr sz="3200" spc="-6" dirty="0">
                <a:latin typeface="Times New Roman"/>
                <a:cs typeface="Times New Roman"/>
              </a:rPr>
              <a:t>Some </a:t>
            </a:r>
            <a:r>
              <a:rPr sz="3200" dirty="0">
                <a:latin typeface="Times New Roman"/>
                <a:cs typeface="Times New Roman"/>
              </a:rPr>
              <a:t>styles </a:t>
            </a:r>
            <a:r>
              <a:rPr sz="3200" spc="-6" dirty="0">
                <a:latin typeface="Times New Roman"/>
                <a:cs typeface="Times New Roman"/>
              </a:rPr>
              <a:t>of </a:t>
            </a:r>
            <a:r>
              <a:rPr sz="3200" b="1" spc="-6" dirty="0">
                <a:solidFill>
                  <a:srgbClr val="FF0000"/>
                </a:solidFill>
                <a:latin typeface="Times New Roman"/>
                <a:cs typeface="Times New Roman"/>
              </a:rPr>
              <a:t>dial backup configuration require a static</a:t>
            </a:r>
            <a:r>
              <a:rPr sz="3200" b="1" spc="-39" dirty="0">
                <a:solidFill>
                  <a:srgbClr val="FF0000"/>
                </a:solidFill>
                <a:latin typeface="Times New Roman"/>
                <a:cs typeface="Times New Roman"/>
              </a:rPr>
              <a:t> </a:t>
            </a:r>
            <a:r>
              <a:rPr sz="3200" b="1" dirty="0">
                <a:solidFill>
                  <a:srgbClr val="FF0000"/>
                </a:solidFill>
                <a:latin typeface="Times New Roman"/>
                <a:cs typeface="Times New Roman"/>
              </a:rPr>
              <a:t>route</a:t>
            </a:r>
            <a:r>
              <a:rPr sz="3200" dirty="0">
                <a:latin typeface="Times New Roman"/>
                <a:cs typeface="Times New Roman"/>
              </a:rPr>
              <a:t>, </a:t>
            </a:r>
            <a:r>
              <a:rPr sz="3200" spc="-11" dirty="0">
                <a:latin typeface="Times New Roman"/>
                <a:cs typeface="Times New Roman"/>
              </a:rPr>
              <a:t>and</a:t>
            </a:r>
            <a:r>
              <a:rPr sz="3200" spc="6" dirty="0">
                <a:latin typeface="Times New Roman"/>
                <a:cs typeface="Times New Roman"/>
              </a:rPr>
              <a:t> </a:t>
            </a:r>
            <a:r>
              <a:rPr sz="3200" spc="-6" dirty="0">
                <a:latin typeface="Times New Roman"/>
                <a:cs typeface="Times New Roman"/>
              </a:rPr>
              <a:t>these</a:t>
            </a:r>
            <a:r>
              <a:rPr sz="3200" spc="-22" dirty="0">
                <a:latin typeface="Times New Roman"/>
                <a:cs typeface="Times New Roman"/>
              </a:rPr>
              <a:t> </a:t>
            </a:r>
            <a:r>
              <a:rPr sz="3200" spc="-6" dirty="0">
                <a:latin typeface="Times New Roman"/>
                <a:cs typeface="Times New Roman"/>
              </a:rPr>
              <a:t>static</a:t>
            </a:r>
            <a:r>
              <a:rPr sz="3200" spc="-22" dirty="0">
                <a:latin typeface="Times New Roman"/>
                <a:cs typeface="Times New Roman"/>
              </a:rPr>
              <a:t> </a:t>
            </a:r>
            <a:r>
              <a:rPr sz="3200" dirty="0">
                <a:latin typeface="Times New Roman"/>
                <a:cs typeface="Times New Roman"/>
              </a:rPr>
              <a:t>routes</a:t>
            </a:r>
            <a:r>
              <a:rPr sz="3200" spc="-11" dirty="0">
                <a:latin typeface="Times New Roman"/>
                <a:cs typeface="Times New Roman"/>
              </a:rPr>
              <a:t> </a:t>
            </a:r>
            <a:r>
              <a:rPr sz="3200" spc="-6" dirty="0">
                <a:latin typeface="Times New Roman"/>
                <a:cs typeface="Times New Roman"/>
              </a:rPr>
              <a:t>tell</a:t>
            </a:r>
            <a:r>
              <a:rPr sz="3200" spc="-17" dirty="0">
                <a:latin typeface="Times New Roman"/>
                <a:cs typeface="Times New Roman"/>
              </a:rPr>
              <a:t> </a:t>
            </a:r>
            <a:r>
              <a:rPr sz="3200" spc="-6" dirty="0">
                <a:latin typeface="Times New Roman"/>
                <a:cs typeface="Times New Roman"/>
              </a:rPr>
              <a:t>a</a:t>
            </a:r>
            <a:r>
              <a:rPr sz="3200" dirty="0">
                <a:latin typeface="Times New Roman"/>
                <a:cs typeface="Times New Roman"/>
              </a:rPr>
              <a:t> router</a:t>
            </a:r>
            <a:r>
              <a:rPr sz="3200" spc="-11" dirty="0">
                <a:latin typeface="Times New Roman"/>
                <a:cs typeface="Times New Roman"/>
              </a:rPr>
              <a:t> </a:t>
            </a:r>
            <a:r>
              <a:rPr sz="3200" spc="-6" dirty="0">
                <a:latin typeface="Times New Roman"/>
                <a:cs typeface="Times New Roman"/>
              </a:rPr>
              <a:t>to</a:t>
            </a:r>
            <a:r>
              <a:rPr sz="3200" dirty="0">
                <a:latin typeface="Times New Roman"/>
                <a:cs typeface="Times New Roman"/>
              </a:rPr>
              <a:t> try </a:t>
            </a:r>
            <a:r>
              <a:rPr sz="3200" spc="-6" dirty="0">
                <a:latin typeface="Times New Roman"/>
                <a:cs typeface="Times New Roman"/>
              </a:rPr>
              <a:t>to </a:t>
            </a:r>
            <a:r>
              <a:rPr sz="3200" spc="-755" dirty="0">
                <a:latin typeface="Times New Roman"/>
                <a:cs typeface="Times New Roman"/>
              </a:rPr>
              <a:t> </a:t>
            </a:r>
            <a:r>
              <a:rPr sz="3200" dirty="0">
                <a:latin typeface="Times New Roman"/>
                <a:cs typeface="Times New Roman"/>
              </a:rPr>
              <a:t>route</a:t>
            </a:r>
            <a:r>
              <a:rPr sz="3200" spc="-33" dirty="0">
                <a:latin typeface="Times New Roman"/>
                <a:cs typeface="Times New Roman"/>
              </a:rPr>
              <a:t> </a:t>
            </a:r>
            <a:r>
              <a:rPr sz="3200" dirty="0">
                <a:latin typeface="Times New Roman"/>
                <a:cs typeface="Times New Roman"/>
              </a:rPr>
              <a:t>the</a:t>
            </a:r>
            <a:r>
              <a:rPr sz="3200" spc="-6" dirty="0">
                <a:latin typeface="Times New Roman"/>
                <a:cs typeface="Times New Roman"/>
              </a:rPr>
              <a:t> packets</a:t>
            </a:r>
            <a:r>
              <a:rPr sz="3200" spc="-11" dirty="0">
                <a:latin typeface="Times New Roman"/>
                <a:cs typeface="Times New Roman"/>
              </a:rPr>
              <a:t> </a:t>
            </a:r>
            <a:r>
              <a:rPr sz="3200" dirty="0">
                <a:latin typeface="Times New Roman"/>
                <a:cs typeface="Times New Roman"/>
              </a:rPr>
              <a:t>out</a:t>
            </a:r>
            <a:r>
              <a:rPr sz="3200" spc="6"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b="1" spc="-11" dirty="0">
                <a:solidFill>
                  <a:srgbClr val="FF0000"/>
                </a:solidFill>
                <a:latin typeface="Times New Roman"/>
                <a:cs typeface="Times New Roman"/>
              </a:rPr>
              <a:t>BRI</a:t>
            </a:r>
            <a:r>
              <a:rPr lang="en-US" sz="3200" b="1" spc="-11" dirty="0">
                <a:solidFill>
                  <a:srgbClr val="FF0000"/>
                </a:solidFill>
                <a:latin typeface="Times New Roman"/>
                <a:cs typeface="Times New Roman"/>
              </a:rPr>
              <a:t> </a:t>
            </a:r>
            <a:r>
              <a:rPr sz="3200" b="1" spc="-6" dirty="0">
                <a:solidFill>
                  <a:srgbClr val="FF0000"/>
                </a:solidFill>
                <a:latin typeface="Times New Roman"/>
                <a:cs typeface="Times New Roman"/>
              </a:rPr>
              <a:t>interface</a:t>
            </a:r>
            <a:r>
              <a:rPr sz="3200" spc="-6" dirty="0">
                <a:latin typeface="Times New Roman"/>
                <a:cs typeface="Times New Roman"/>
              </a:rPr>
              <a:t>. </a:t>
            </a:r>
            <a:r>
              <a:rPr sz="3200" spc="-44" dirty="0">
                <a:latin typeface="Times New Roman"/>
                <a:cs typeface="Times New Roman"/>
              </a:rPr>
              <a:t>R1‘s</a:t>
            </a:r>
            <a:r>
              <a:rPr lang="en-US" sz="3200" spc="-44" dirty="0">
                <a:latin typeface="Times New Roman"/>
                <a:cs typeface="Times New Roman"/>
              </a:rPr>
              <a:t> </a:t>
            </a:r>
            <a:r>
              <a:rPr sz="3200" spc="-6" dirty="0">
                <a:latin typeface="Times New Roman"/>
                <a:cs typeface="Times New Roman"/>
              </a:rPr>
              <a:t>configuration</a:t>
            </a:r>
            <a:r>
              <a:rPr sz="3200" spc="-39" dirty="0">
                <a:latin typeface="Times New Roman"/>
                <a:cs typeface="Times New Roman"/>
              </a:rPr>
              <a:t> </a:t>
            </a:r>
            <a:r>
              <a:rPr sz="3200" spc="-6" dirty="0">
                <a:latin typeface="Times New Roman"/>
                <a:cs typeface="Times New Roman"/>
              </a:rPr>
              <a:t>might</a:t>
            </a:r>
            <a:r>
              <a:rPr sz="3200" spc="6" dirty="0">
                <a:latin typeface="Times New Roman"/>
                <a:cs typeface="Times New Roman"/>
              </a:rPr>
              <a:t> </a:t>
            </a:r>
            <a:r>
              <a:rPr sz="3200" spc="-6" dirty="0">
                <a:latin typeface="Times New Roman"/>
                <a:cs typeface="Times New Roman"/>
              </a:rPr>
              <a:t>include</a:t>
            </a:r>
            <a:r>
              <a:rPr sz="3200" spc="-28"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11" dirty="0">
                <a:latin typeface="Times New Roman"/>
                <a:cs typeface="Times New Roman"/>
              </a:rPr>
              <a:t>command</a:t>
            </a:r>
            <a:r>
              <a:rPr sz="3200" spc="28" dirty="0">
                <a:latin typeface="Times New Roman"/>
                <a:cs typeface="Times New Roman"/>
              </a:rPr>
              <a:t> </a:t>
            </a:r>
            <a:r>
              <a:rPr sz="3200" spc="-6" dirty="0">
                <a:latin typeface="Times New Roman"/>
                <a:cs typeface="Times New Roman"/>
              </a:rPr>
              <a:t>like</a:t>
            </a:r>
            <a:r>
              <a:rPr sz="3200" spc="-28" dirty="0">
                <a:latin typeface="Times New Roman"/>
                <a:cs typeface="Times New Roman"/>
              </a:rPr>
              <a:t> </a:t>
            </a:r>
            <a:r>
              <a:rPr sz="3200" spc="-6" dirty="0">
                <a:latin typeface="Times New Roman"/>
                <a:cs typeface="Times New Roman"/>
              </a:rPr>
              <a:t>this:</a:t>
            </a:r>
            <a:endParaRPr lang="en-US" sz="3200" spc="-6" dirty="0">
              <a:latin typeface="Times New Roman"/>
              <a:cs typeface="Times New Roman"/>
            </a:endParaRPr>
          </a:p>
          <a:p>
            <a:pPr marL="315682" marR="23099" indent="-302383">
              <a:lnSpc>
                <a:spcPct val="80000"/>
              </a:lnSpc>
              <a:spcBef>
                <a:spcPts val="843"/>
              </a:spcBef>
              <a:buClr>
                <a:srgbClr val="D24717"/>
              </a:buClr>
              <a:buSzPct val="83928"/>
              <a:buFont typeface="Segoe UI Symbol"/>
              <a:buChar char="⚫"/>
              <a:tabLst>
                <a:tab pos="316382" algn="l"/>
                <a:tab pos="4779330" algn="l"/>
              </a:tabLst>
            </a:pPr>
            <a:endParaRPr sz="3200" dirty="0">
              <a:latin typeface="Times New Roman"/>
              <a:cs typeface="Times New Roman"/>
            </a:endParaRPr>
          </a:p>
          <a:p>
            <a:pPr marL="822579" lvl="1" indent="-457200">
              <a:spcBef>
                <a:spcPts val="6"/>
              </a:spcBef>
              <a:buClr>
                <a:srgbClr val="9B2C1F"/>
              </a:buClr>
              <a:buSzPct val="80357"/>
              <a:buFont typeface="Wingdings" panose="05000000000000000000" pitchFamily="2" charset="2"/>
              <a:buChar char="ü"/>
              <a:tabLst>
                <a:tab pos="632064" algn="l"/>
              </a:tabLst>
            </a:pPr>
            <a:r>
              <a:rPr sz="3200" b="1" spc="-6" dirty="0">
                <a:solidFill>
                  <a:srgbClr val="FF0000"/>
                </a:solidFill>
                <a:latin typeface="Times New Roman"/>
                <a:cs typeface="Times New Roman"/>
              </a:rPr>
              <a:t>ip</a:t>
            </a:r>
            <a:r>
              <a:rPr sz="3200" b="1" spc="-33" dirty="0">
                <a:solidFill>
                  <a:srgbClr val="FF0000"/>
                </a:solidFill>
                <a:latin typeface="Times New Roman"/>
                <a:cs typeface="Times New Roman"/>
              </a:rPr>
              <a:t> </a:t>
            </a:r>
            <a:r>
              <a:rPr sz="3200" b="1" dirty="0">
                <a:solidFill>
                  <a:srgbClr val="FF0000"/>
                </a:solidFill>
                <a:latin typeface="Times New Roman"/>
                <a:cs typeface="Times New Roman"/>
              </a:rPr>
              <a:t>route</a:t>
            </a:r>
            <a:r>
              <a:rPr sz="3200" b="1" spc="-33" dirty="0">
                <a:solidFill>
                  <a:srgbClr val="FF0000"/>
                </a:solidFill>
                <a:latin typeface="Times New Roman"/>
                <a:cs typeface="Times New Roman"/>
              </a:rPr>
              <a:t> </a:t>
            </a:r>
            <a:r>
              <a:rPr sz="3200" b="1" dirty="0">
                <a:solidFill>
                  <a:srgbClr val="FF0000"/>
                </a:solidFill>
                <a:latin typeface="Times New Roman"/>
                <a:cs typeface="Times New Roman"/>
              </a:rPr>
              <a:t>172.16.3.0</a:t>
            </a:r>
            <a:r>
              <a:rPr sz="3200" b="1" spc="-33" dirty="0">
                <a:solidFill>
                  <a:srgbClr val="FF0000"/>
                </a:solidFill>
                <a:latin typeface="Times New Roman"/>
                <a:cs typeface="Times New Roman"/>
              </a:rPr>
              <a:t> </a:t>
            </a:r>
            <a:r>
              <a:rPr sz="3200" b="1" dirty="0">
                <a:solidFill>
                  <a:srgbClr val="FF0000"/>
                </a:solidFill>
                <a:latin typeface="Times New Roman"/>
                <a:cs typeface="Times New Roman"/>
              </a:rPr>
              <a:t>255.255.255.0</a:t>
            </a:r>
            <a:r>
              <a:rPr sz="3200" b="1" spc="-44" dirty="0">
                <a:solidFill>
                  <a:srgbClr val="FF0000"/>
                </a:solidFill>
                <a:latin typeface="Times New Roman"/>
                <a:cs typeface="Times New Roman"/>
              </a:rPr>
              <a:t> </a:t>
            </a:r>
            <a:r>
              <a:rPr sz="3200" b="1" dirty="0">
                <a:solidFill>
                  <a:srgbClr val="FF0000"/>
                </a:solidFill>
                <a:latin typeface="Times New Roman"/>
                <a:cs typeface="Times New Roman"/>
              </a:rPr>
              <a:t>bri0/0</a:t>
            </a:r>
          </a:p>
          <a:p>
            <a:pPr lvl="1">
              <a:spcBef>
                <a:spcPts val="39"/>
              </a:spcBef>
              <a:buClr>
                <a:srgbClr val="9B2C1F"/>
              </a:buClr>
              <a:buFont typeface="Wingdings"/>
              <a:buChar char=""/>
            </a:pPr>
            <a:endParaRPr sz="3200" dirty="0">
              <a:latin typeface="Times New Roman"/>
              <a:cs typeface="Times New Roman"/>
            </a:endParaRPr>
          </a:p>
          <a:p>
            <a:pPr marL="470499" marR="5600" indent="-457200">
              <a:lnSpc>
                <a:spcPct val="80000"/>
              </a:lnSpc>
              <a:buClr>
                <a:srgbClr val="D24717"/>
              </a:buClr>
              <a:buSzPct val="83928"/>
              <a:buFont typeface="Wingdings" panose="05000000000000000000" pitchFamily="2" charset="2"/>
              <a:buChar char="Ø"/>
              <a:tabLst>
                <a:tab pos="316382" algn="l"/>
                <a:tab pos="4946621" algn="l"/>
              </a:tabLst>
            </a:pPr>
            <a:r>
              <a:rPr sz="3200" spc="-6" dirty="0">
                <a:latin typeface="Times New Roman"/>
                <a:cs typeface="Times New Roman"/>
              </a:rPr>
              <a:t>This </a:t>
            </a:r>
            <a:r>
              <a:rPr sz="3200" spc="-11" dirty="0">
                <a:latin typeface="Times New Roman"/>
                <a:cs typeface="Times New Roman"/>
              </a:rPr>
              <a:t>command </a:t>
            </a:r>
            <a:r>
              <a:rPr sz="3200" b="1" spc="-6" dirty="0">
                <a:solidFill>
                  <a:srgbClr val="FF0000"/>
                </a:solidFill>
                <a:latin typeface="Times New Roman"/>
                <a:cs typeface="Times New Roman"/>
              </a:rPr>
              <a:t>solves one problem </a:t>
            </a:r>
            <a:r>
              <a:rPr sz="3200" b="1" dirty="0">
                <a:solidFill>
                  <a:srgbClr val="FF0000"/>
                </a:solidFill>
                <a:latin typeface="Times New Roman"/>
                <a:cs typeface="Times New Roman"/>
              </a:rPr>
              <a:t>for </a:t>
            </a:r>
            <a:r>
              <a:rPr sz="3200" b="1" spc="-6" dirty="0">
                <a:solidFill>
                  <a:srgbClr val="FF0000"/>
                </a:solidFill>
                <a:latin typeface="Times New Roman"/>
                <a:cs typeface="Times New Roman"/>
              </a:rPr>
              <a:t>dial backup </a:t>
            </a:r>
            <a:r>
              <a:rPr sz="3200" b="1" dirty="0">
                <a:solidFill>
                  <a:srgbClr val="FF0000"/>
                </a:solidFill>
                <a:latin typeface="Times New Roman"/>
                <a:cs typeface="Times New Roman"/>
              </a:rPr>
              <a:t> configuration</a:t>
            </a:r>
            <a:r>
              <a:rPr sz="3200" dirty="0">
                <a:latin typeface="Times New Roman"/>
                <a:cs typeface="Times New Roman"/>
              </a:rPr>
              <a:t>:</a:t>
            </a:r>
            <a:r>
              <a:rPr sz="3200" spc="-61"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packets</a:t>
            </a:r>
            <a:r>
              <a:rPr sz="3200" spc="-17" dirty="0">
                <a:latin typeface="Times New Roman"/>
                <a:cs typeface="Times New Roman"/>
              </a:rPr>
              <a:t> </a:t>
            </a:r>
            <a:r>
              <a:rPr sz="3200" spc="-6" dirty="0">
                <a:latin typeface="Times New Roman"/>
                <a:cs typeface="Times New Roman"/>
              </a:rPr>
              <a:t>destined</a:t>
            </a:r>
            <a:r>
              <a:rPr sz="3200" spc="-22" dirty="0">
                <a:latin typeface="Times New Roman"/>
                <a:cs typeface="Times New Roman"/>
              </a:rPr>
              <a:t> </a:t>
            </a:r>
            <a:r>
              <a:rPr sz="3200" dirty="0">
                <a:latin typeface="Times New Roman"/>
                <a:cs typeface="Times New Roman"/>
              </a:rPr>
              <a:t>for</a:t>
            </a:r>
            <a:r>
              <a:rPr sz="3200" spc="-6" dirty="0">
                <a:latin typeface="Times New Roman"/>
                <a:cs typeface="Times New Roman"/>
              </a:rPr>
              <a:t> the</a:t>
            </a:r>
            <a:r>
              <a:rPr sz="3200" spc="-17" dirty="0">
                <a:latin typeface="Times New Roman"/>
                <a:cs typeface="Times New Roman"/>
              </a:rPr>
              <a:t> </a:t>
            </a:r>
            <a:r>
              <a:rPr sz="3200" spc="-11" dirty="0">
                <a:latin typeface="Times New Roman"/>
                <a:cs typeface="Times New Roman"/>
              </a:rPr>
              <a:t>LAN</a:t>
            </a:r>
            <a:r>
              <a:rPr sz="3200" spc="22" dirty="0">
                <a:latin typeface="Times New Roman"/>
                <a:cs typeface="Times New Roman"/>
              </a:rPr>
              <a:t> </a:t>
            </a:r>
            <a:r>
              <a:rPr sz="3200" dirty="0">
                <a:latin typeface="Times New Roman"/>
                <a:cs typeface="Times New Roman"/>
              </a:rPr>
              <a:t>subnet </a:t>
            </a:r>
            <a:r>
              <a:rPr sz="3200" spc="-755" dirty="0">
                <a:latin typeface="Times New Roman"/>
                <a:cs typeface="Times New Roman"/>
              </a:rPr>
              <a:t> </a:t>
            </a:r>
            <a:r>
              <a:rPr sz="3200" spc="-6" dirty="0">
                <a:latin typeface="Times New Roman"/>
                <a:cs typeface="Times New Roman"/>
              </a:rPr>
              <a:t>172.16.3.0/24</a:t>
            </a:r>
            <a:r>
              <a:rPr sz="3200" spc="-17" dirty="0">
                <a:latin typeface="Times New Roman"/>
                <a:cs typeface="Times New Roman"/>
              </a:rPr>
              <a:t> </a:t>
            </a:r>
            <a:r>
              <a:rPr sz="3200" spc="-6" dirty="0">
                <a:latin typeface="Times New Roman"/>
                <a:cs typeface="Times New Roman"/>
              </a:rPr>
              <a:t>are</a:t>
            </a:r>
            <a:r>
              <a:rPr sz="3200" spc="17" dirty="0">
                <a:latin typeface="Times New Roman"/>
                <a:cs typeface="Times New Roman"/>
              </a:rPr>
              <a:t> </a:t>
            </a:r>
            <a:r>
              <a:rPr sz="3200" dirty="0">
                <a:latin typeface="Times New Roman"/>
                <a:cs typeface="Times New Roman"/>
              </a:rPr>
              <a:t>routed</a:t>
            </a:r>
            <a:r>
              <a:rPr sz="3200" spc="6" dirty="0">
                <a:latin typeface="Times New Roman"/>
                <a:cs typeface="Times New Roman"/>
              </a:rPr>
              <a:t> </a:t>
            </a:r>
            <a:r>
              <a:rPr sz="3200" dirty="0">
                <a:latin typeface="Times New Roman"/>
                <a:cs typeface="Times New Roman"/>
              </a:rPr>
              <a:t>out</a:t>
            </a:r>
            <a:r>
              <a:rPr lang="en-US" sz="3200" dirty="0">
                <a:latin typeface="Times New Roman"/>
                <a:cs typeface="Times New Roman"/>
              </a:rPr>
              <a:t> </a:t>
            </a:r>
            <a:r>
              <a:rPr sz="3200" spc="-50" dirty="0">
                <a:latin typeface="Times New Roman"/>
                <a:cs typeface="Times New Roman"/>
              </a:rPr>
              <a:t>R1‘s</a:t>
            </a:r>
            <a:r>
              <a:rPr sz="3200" spc="-17" dirty="0">
                <a:latin typeface="Times New Roman"/>
                <a:cs typeface="Times New Roman"/>
              </a:rPr>
              <a:t> </a:t>
            </a:r>
            <a:r>
              <a:rPr sz="3200" spc="-6" dirty="0">
                <a:latin typeface="Times New Roman"/>
                <a:cs typeface="Times New Roman"/>
              </a:rPr>
              <a:t>BRI0/0</a:t>
            </a:r>
            <a:r>
              <a:rPr sz="3200" dirty="0">
                <a:latin typeface="Times New Roman"/>
                <a:cs typeface="Times New Roman"/>
              </a:rPr>
              <a:t> </a:t>
            </a:r>
            <a:r>
              <a:rPr sz="3200" spc="-6" dirty="0">
                <a:latin typeface="Times New Roman"/>
                <a:cs typeface="Times New Roman"/>
              </a:rPr>
              <a:t>interface.</a:t>
            </a:r>
            <a:endParaRPr lang="en-US" sz="3200" dirty="0">
              <a:latin typeface="Times New Roman"/>
              <a:cs typeface="Times New Roman"/>
            </a:endParaRPr>
          </a:p>
          <a:p>
            <a:pPr marL="470499" marR="5600" indent="-457200">
              <a:lnSpc>
                <a:spcPct val="80000"/>
              </a:lnSpc>
              <a:buClr>
                <a:srgbClr val="D24717"/>
              </a:buClr>
              <a:buSzPct val="83928"/>
              <a:buFont typeface="Wingdings" panose="05000000000000000000" pitchFamily="2" charset="2"/>
              <a:buChar char="Ø"/>
              <a:tabLst>
                <a:tab pos="316382" algn="l"/>
                <a:tab pos="4946621" algn="l"/>
              </a:tabLst>
            </a:pPr>
            <a:r>
              <a:rPr sz="3200" spc="-22" dirty="0">
                <a:latin typeface="Times New Roman"/>
                <a:cs typeface="Times New Roman"/>
              </a:rPr>
              <a:t>However,</a:t>
            </a:r>
            <a:r>
              <a:rPr sz="3200" spc="-6" dirty="0">
                <a:latin typeface="Times New Roman"/>
                <a:cs typeface="Times New Roman"/>
              </a:rPr>
              <a:t> </a:t>
            </a:r>
            <a:r>
              <a:rPr sz="3200" dirty="0">
                <a:latin typeface="Times New Roman"/>
                <a:cs typeface="Times New Roman"/>
              </a:rPr>
              <a:t>this</a:t>
            </a:r>
            <a:r>
              <a:rPr sz="3200" spc="-22" dirty="0">
                <a:latin typeface="Times New Roman"/>
                <a:cs typeface="Times New Roman"/>
              </a:rPr>
              <a:t> </a:t>
            </a:r>
            <a:r>
              <a:rPr sz="3200" spc="-11" dirty="0">
                <a:latin typeface="Times New Roman"/>
                <a:cs typeface="Times New Roman"/>
              </a:rPr>
              <a:t>command</a:t>
            </a:r>
            <a:r>
              <a:rPr sz="3200" spc="28" dirty="0">
                <a:latin typeface="Times New Roman"/>
                <a:cs typeface="Times New Roman"/>
              </a:rPr>
              <a:t> </a:t>
            </a:r>
            <a:r>
              <a:rPr sz="3200" spc="-6" dirty="0">
                <a:latin typeface="Times New Roman"/>
                <a:cs typeface="Times New Roman"/>
              </a:rPr>
              <a:t>creates</a:t>
            </a:r>
            <a:r>
              <a:rPr sz="3200" spc="11" dirty="0">
                <a:latin typeface="Times New Roman"/>
                <a:cs typeface="Times New Roman"/>
              </a:rPr>
              <a:t> </a:t>
            </a:r>
            <a:r>
              <a:rPr sz="3200" spc="-6" dirty="0">
                <a:latin typeface="Times New Roman"/>
                <a:cs typeface="Times New Roman"/>
              </a:rPr>
              <a:t>yet</a:t>
            </a:r>
            <a:r>
              <a:rPr sz="3200" spc="-11" dirty="0">
                <a:latin typeface="Times New Roman"/>
                <a:cs typeface="Times New Roman"/>
              </a:rPr>
              <a:t> </a:t>
            </a:r>
            <a:r>
              <a:rPr sz="3200" spc="-6" dirty="0">
                <a:latin typeface="Times New Roman"/>
                <a:cs typeface="Times New Roman"/>
              </a:rPr>
              <a:t>another</a:t>
            </a:r>
            <a:r>
              <a:rPr sz="3200" dirty="0">
                <a:latin typeface="Times New Roman"/>
                <a:cs typeface="Times New Roman"/>
              </a:rPr>
              <a:t> </a:t>
            </a:r>
            <a:r>
              <a:rPr sz="3200" spc="-6" dirty="0">
                <a:latin typeface="Times New Roman"/>
                <a:cs typeface="Times New Roman"/>
              </a:rPr>
              <a:t>problem: </a:t>
            </a:r>
            <a:r>
              <a:rPr sz="3200" spc="-755" dirty="0">
                <a:latin typeface="Times New Roman"/>
                <a:cs typeface="Times New Roman"/>
              </a:rPr>
              <a:t> </a:t>
            </a:r>
            <a:r>
              <a:rPr sz="3200" spc="-6" dirty="0">
                <a:latin typeface="Times New Roman"/>
                <a:cs typeface="Times New Roman"/>
              </a:rPr>
              <a:t>which</a:t>
            </a:r>
            <a:r>
              <a:rPr sz="3200" spc="-17" dirty="0">
                <a:latin typeface="Times New Roman"/>
                <a:cs typeface="Times New Roman"/>
              </a:rPr>
              <a:t> </a:t>
            </a:r>
            <a:r>
              <a:rPr sz="3200" dirty="0">
                <a:latin typeface="Times New Roman"/>
                <a:cs typeface="Times New Roman"/>
              </a:rPr>
              <a:t>route</a:t>
            </a:r>
            <a:r>
              <a:rPr sz="3200" spc="-6" dirty="0">
                <a:latin typeface="Times New Roman"/>
                <a:cs typeface="Times New Roman"/>
              </a:rPr>
              <a:t> does</a:t>
            </a:r>
            <a:r>
              <a:rPr sz="3200" spc="-17" dirty="0">
                <a:latin typeface="Times New Roman"/>
                <a:cs typeface="Times New Roman"/>
              </a:rPr>
              <a:t> </a:t>
            </a:r>
            <a:r>
              <a:rPr sz="3200" spc="-6" dirty="0">
                <a:latin typeface="Times New Roman"/>
                <a:cs typeface="Times New Roman"/>
              </a:rPr>
              <a:t>R1 use</a:t>
            </a:r>
            <a:r>
              <a:rPr sz="3200" dirty="0">
                <a:latin typeface="Times New Roman"/>
                <a:cs typeface="Times New Roman"/>
              </a:rPr>
              <a:t> </a:t>
            </a:r>
            <a:r>
              <a:rPr sz="3200" spc="-6" dirty="0">
                <a:latin typeface="Times New Roman"/>
                <a:cs typeface="Times New Roman"/>
              </a:rPr>
              <a:t>when</a:t>
            </a:r>
            <a:r>
              <a:rPr sz="3200" spc="6" dirty="0">
                <a:latin typeface="Times New Roman"/>
                <a:cs typeface="Times New Roman"/>
              </a:rPr>
              <a:t> </a:t>
            </a:r>
            <a:r>
              <a:rPr sz="3200" spc="-6" dirty="0">
                <a:latin typeface="Times New Roman"/>
                <a:cs typeface="Times New Roman"/>
              </a:rPr>
              <a:t>the</a:t>
            </a:r>
            <a:r>
              <a:rPr sz="3200" spc="-17" dirty="0">
                <a:latin typeface="Times New Roman"/>
                <a:cs typeface="Times New Roman"/>
              </a:rPr>
              <a:t> </a:t>
            </a:r>
            <a:r>
              <a:rPr sz="3200" spc="-6" dirty="0">
                <a:latin typeface="Times New Roman"/>
                <a:cs typeface="Times New Roman"/>
              </a:rPr>
              <a:t>leased line</a:t>
            </a:r>
            <a:r>
              <a:rPr sz="3200" spc="-17" dirty="0">
                <a:latin typeface="Times New Roman"/>
                <a:cs typeface="Times New Roman"/>
              </a:rPr>
              <a:t> </a:t>
            </a:r>
            <a:r>
              <a:rPr sz="3200" spc="-6" dirty="0">
                <a:latin typeface="Times New Roman"/>
                <a:cs typeface="Times New Roman"/>
              </a:rPr>
              <a:t>is</a:t>
            </a:r>
            <a:r>
              <a:rPr sz="3200" spc="6" dirty="0">
                <a:latin typeface="Times New Roman"/>
                <a:cs typeface="Times New Roman"/>
              </a:rPr>
              <a:t> </a:t>
            </a:r>
            <a:r>
              <a:rPr sz="3200" dirty="0">
                <a:latin typeface="Times New Roman"/>
                <a:cs typeface="Times New Roman"/>
              </a:rPr>
              <a:t>up?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455151" y="1616718"/>
            <a:ext cx="9170321" cy="2906152"/>
          </a:xfrm>
          <a:prstGeom prst="rect">
            <a:avLst/>
          </a:prstGeom>
        </p:spPr>
      </p:pic>
      <p:sp>
        <p:nvSpPr>
          <p:cNvPr id="2" name="object 2"/>
          <p:cNvSpPr txBox="1">
            <a:spLocks noGrp="1"/>
          </p:cNvSpPr>
          <p:nvPr>
            <p:ph type="title"/>
          </p:nvPr>
        </p:nvSpPr>
        <p:spPr>
          <a:xfrm>
            <a:off x="0" y="582600"/>
            <a:ext cx="9968248" cy="629689"/>
          </a:xfrm>
          <a:prstGeom prst="rect">
            <a:avLst/>
          </a:prstGeom>
        </p:spPr>
        <p:txBody>
          <a:bodyPr vert="horz" wrap="square" lIns="0" tIns="13999" rIns="0" bIns="0" rtlCol="0" anchor="ctr">
            <a:spAutoFit/>
          </a:bodyPr>
          <a:lstStyle/>
          <a:p>
            <a:pPr algn="ctr">
              <a:lnSpc>
                <a:spcPts val="4756"/>
              </a:lnSpc>
              <a:spcBef>
                <a:spcPts val="110"/>
              </a:spcBef>
            </a:pPr>
            <a:r>
              <a:rPr spc="121" dirty="0">
                <a:solidFill>
                  <a:schemeClr val="bg1"/>
                </a:solidFill>
                <a:latin typeface="Times New Roman" panose="02020603050405020304" pitchFamily="18" charset="0"/>
                <a:cs typeface="Times New Roman" panose="02020603050405020304" pitchFamily="18" charset="0"/>
              </a:rPr>
              <a:t>Administrative</a:t>
            </a:r>
            <a:r>
              <a:rPr spc="88" dirty="0">
                <a:solidFill>
                  <a:schemeClr val="bg1"/>
                </a:solidFill>
                <a:latin typeface="Times New Roman" panose="02020603050405020304" pitchFamily="18" charset="0"/>
                <a:cs typeface="Times New Roman" panose="02020603050405020304" pitchFamily="18" charset="0"/>
              </a:rPr>
              <a:t> </a:t>
            </a:r>
            <a:r>
              <a:rPr spc="138" dirty="0">
                <a:solidFill>
                  <a:schemeClr val="bg1"/>
                </a:solidFill>
                <a:latin typeface="Times New Roman" panose="02020603050405020304" pitchFamily="18" charset="0"/>
                <a:cs typeface="Times New Roman" panose="02020603050405020304" pitchFamily="18" charset="0"/>
              </a:rPr>
              <a:t>Distance</a:t>
            </a:r>
            <a:r>
              <a:rPr spc="83" dirty="0">
                <a:solidFill>
                  <a:schemeClr val="bg1"/>
                </a:solidFill>
                <a:latin typeface="Times New Roman" panose="02020603050405020304" pitchFamily="18" charset="0"/>
                <a:cs typeface="Times New Roman" panose="02020603050405020304" pitchFamily="18" charset="0"/>
              </a:rPr>
              <a:t> </a:t>
            </a:r>
            <a:r>
              <a:rPr spc="77" dirty="0">
                <a:solidFill>
                  <a:schemeClr val="bg1"/>
                </a:solidFill>
                <a:latin typeface="Times New Roman" panose="02020603050405020304" pitchFamily="18" charset="0"/>
                <a:cs typeface="Times New Roman" panose="02020603050405020304" pitchFamily="18" charset="0"/>
              </a:rPr>
              <a:t>on</a:t>
            </a:r>
            <a:r>
              <a:rPr spc="99" dirty="0">
                <a:solidFill>
                  <a:schemeClr val="bg1"/>
                </a:solidFill>
                <a:latin typeface="Times New Roman" panose="02020603050405020304" pitchFamily="18" charset="0"/>
                <a:cs typeface="Times New Roman" panose="02020603050405020304" pitchFamily="18" charset="0"/>
              </a:rPr>
              <a:t> </a:t>
            </a:r>
            <a:r>
              <a:rPr spc="116" dirty="0">
                <a:solidFill>
                  <a:schemeClr val="bg1"/>
                </a:solidFill>
                <a:latin typeface="Times New Roman" panose="02020603050405020304" pitchFamily="18" charset="0"/>
                <a:cs typeface="Times New Roman" panose="02020603050405020304" pitchFamily="18" charset="0"/>
              </a:rPr>
              <a:t>Static</a:t>
            </a:r>
            <a:r>
              <a:rPr spc="88" dirty="0">
                <a:solidFill>
                  <a:schemeClr val="bg1"/>
                </a:solidFill>
                <a:latin typeface="Times New Roman" panose="02020603050405020304" pitchFamily="18" charset="0"/>
                <a:cs typeface="Times New Roman" panose="02020603050405020304" pitchFamily="18" charset="0"/>
              </a:rPr>
              <a:t> Routes</a:t>
            </a:r>
            <a:endParaRPr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39314" y="4419838"/>
            <a:ext cx="9341798" cy="2865408"/>
          </a:xfrm>
          <a:prstGeom prst="rect">
            <a:avLst/>
          </a:prstGeom>
        </p:spPr>
        <p:txBody>
          <a:bodyPr vert="horz" wrap="square" lIns="0" tIns="94496" rIns="0" bIns="0" rtlCol="0">
            <a:spAutoFit/>
          </a:bodyPr>
          <a:lstStyle/>
          <a:p>
            <a:pPr marL="470499" marR="5600" indent="-457200">
              <a:lnSpc>
                <a:spcPts val="2646"/>
              </a:lnSpc>
              <a:spcBef>
                <a:spcPts val="744"/>
              </a:spcBef>
              <a:buClr>
                <a:srgbClr val="D24717"/>
              </a:buClr>
              <a:buSzPct val="84000"/>
              <a:buFont typeface="Wingdings" panose="05000000000000000000" pitchFamily="2" charset="2"/>
              <a:buChar char="Ø"/>
              <a:tabLst>
                <a:tab pos="316382" algn="l"/>
                <a:tab pos="7616269" algn="l"/>
              </a:tabLst>
            </a:pPr>
            <a:r>
              <a:rPr sz="3200" spc="-6" dirty="0">
                <a:latin typeface="Times New Roman"/>
                <a:cs typeface="Times New Roman"/>
              </a:rPr>
              <a:t>R1 will</a:t>
            </a:r>
            <a:r>
              <a:rPr sz="3200" spc="17" dirty="0">
                <a:latin typeface="Times New Roman"/>
                <a:cs typeface="Times New Roman"/>
              </a:rPr>
              <a:t> </a:t>
            </a:r>
            <a:r>
              <a:rPr sz="3200" spc="-6" dirty="0">
                <a:latin typeface="Times New Roman"/>
                <a:cs typeface="Times New Roman"/>
              </a:rPr>
              <a:t>have</a:t>
            </a:r>
            <a:r>
              <a:rPr sz="3200" spc="33" dirty="0">
                <a:latin typeface="Times New Roman"/>
                <a:cs typeface="Times New Roman"/>
              </a:rPr>
              <a:t> </a:t>
            </a:r>
            <a:r>
              <a:rPr sz="3200" spc="-6" dirty="0">
                <a:latin typeface="Times New Roman"/>
                <a:cs typeface="Times New Roman"/>
              </a:rPr>
              <a:t>a</a:t>
            </a:r>
            <a:r>
              <a:rPr sz="3200" spc="11" dirty="0">
                <a:latin typeface="Times New Roman"/>
                <a:cs typeface="Times New Roman"/>
              </a:rPr>
              <a:t> </a:t>
            </a:r>
            <a:r>
              <a:rPr sz="3200" dirty="0">
                <a:latin typeface="Times New Roman"/>
                <a:cs typeface="Times New Roman"/>
              </a:rPr>
              <a:t>static</a:t>
            </a:r>
            <a:r>
              <a:rPr sz="3200" spc="28" dirty="0">
                <a:latin typeface="Times New Roman"/>
                <a:cs typeface="Times New Roman"/>
              </a:rPr>
              <a:t> </a:t>
            </a:r>
            <a:r>
              <a:rPr sz="3200" spc="-6" dirty="0">
                <a:latin typeface="Times New Roman"/>
                <a:cs typeface="Times New Roman"/>
              </a:rPr>
              <a:t>route</a:t>
            </a:r>
            <a:r>
              <a:rPr sz="3200" spc="33" dirty="0">
                <a:latin typeface="Times New Roman"/>
                <a:cs typeface="Times New Roman"/>
              </a:rPr>
              <a:t> </a:t>
            </a:r>
            <a:r>
              <a:rPr sz="3200" spc="-6" dirty="0">
                <a:latin typeface="Times New Roman"/>
                <a:cs typeface="Times New Roman"/>
              </a:rPr>
              <a:t>that</a:t>
            </a:r>
            <a:r>
              <a:rPr sz="3200" spc="22" dirty="0">
                <a:latin typeface="Times New Roman"/>
                <a:cs typeface="Times New Roman"/>
              </a:rPr>
              <a:t> </a:t>
            </a:r>
            <a:r>
              <a:rPr sz="3200" spc="-6" dirty="0">
                <a:latin typeface="Times New Roman"/>
                <a:cs typeface="Times New Roman"/>
              </a:rPr>
              <a:t>references</a:t>
            </a:r>
            <a:r>
              <a:rPr sz="3200" spc="66" dirty="0">
                <a:latin typeface="Times New Roman"/>
                <a:cs typeface="Times New Roman"/>
              </a:rPr>
              <a:t> </a:t>
            </a:r>
            <a:r>
              <a:rPr sz="3200" spc="-6" dirty="0">
                <a:latin typeface="Times New Roman"/>
                <a:cs typeface="Times New Roman"/>
              </a:rPr>
              <a:t>interfac</a:t>
            </a:r>
            <a:r>
              <a:rPr lang="en-US" sz="3200" spc="-6" dirty="0">
                <a:latin typeface="Times New Roman"/>
                <a:cs typeface="Times New Roman"/>
              </a:rPr>
              <a:t>e </a:t>
            </a:r>
            <a:r>
              <a:rPr sz="3200" spc="-6" dirty="0">
                <a:latin typeface="Times New Roman"/>
                <a:cs typeface="Times New Roman"/>
              </a:rPr>
              <a:t>BRI0/0,</a:t>
            </a:r>
            <a:r>
              <a:rPr sz="3200" spc="-61" dirty="0">
                <a:latin typeface="Times New Roman"/>
                <a:cs typeface="Times New Roman"/>
              </a:rPr>
              <a:t> </a:t>
            </a:r>
            <a:r>
              <a:rPr sz="3200" spc="-6" dirty="0">
                <a:latin typeface="Times New Roman"/>
                <a:cs typeface="Times New Roman"/>
              </a:rPr>
              <a:t>and </a:t>
            </a:r>
            <a:r>
              <a:rPr sz="3200" spc="-672" dirty="0">
                <a:latin typeface="Times New Roman"/>
                <a:cs typeface="Times New Roman"/>
              </a:rPr>
              <a:t> </a:t>
            </a:r>
            <a:r>
              <a:rPr sz="3200" spc="-6" dirty="0">
                <a:latin typeface="Times New Roman"/>
                <a:cs typeface="Times New Roman"/>
              </a:rPr>
              <a:t>a </a:t>
            </a:r>
            <a:r>
              <a:rPr lang="en-US" sz="3200" b="1" spc="-6" dirty="0">
                <a:solidFill>
                  <a:srgbClr val="FF0000"/>
                </a:solidFill>
                <a:latin typeface="Times New Roman"/>
                <a:cs typeface="Times New Roman"/>
              </a:rPr>
              <a:t>Routing Information Protocol</a:t>
            </a:r>
            <a:r>
              <a:rPr lang="en-US" sz="3200" spc="-6" dirty="0">
                <a:latin typeface="Times New Roman"/>
                <a:cs typeface="Times New Roman"/>
              </a:rPr>
              <a:t>(</a:t>
            </a:r>
            <a:r>
              <a:rPr sz="3200" spc="-6" dirty="0">
                <a:latin typeface="Times New Roman"/>
                <a:cs typeface="Times New Roman"/>
              </a:rPr>
              <a:t>RIP</a:t>
            </a:r>
            <a:r>
              <a:rPr lang="en-US" sz="3200" spc="-6" dirty="0">
                <a:latin typeface="Times New Roman"/>
                <a:cs typeface="Times New Roman"/>
              </a:rPr>
              <a:t>)</a:t>
            </a:r>
            <a:r>
              <a:rPr sz="3200" spc="-6" dirty="0">
                <a:latin typeface="Times New Roman"/>
                <a:cs typeface="Times New Roman"/>
              </a:rPr>
              <a:t>-</a:t>
            </a:r>
            <a:r>
              <a:rPr sz="3200" spc="11" dirty="0">
                <a:latin typeface="Times New Roman"/>
                <a:cs typeface="Times New Roman"/>
              </a:rPr>
              <a:t> </a:t>
            </a:r>
            <a:r>
              <a:rPr sz="3200" spc="-6" dirty="0">
                <a:latin typeface="Times New Roman"/>
                <a:cs typeface="Times New Roman"/>
              </a:rPr>
              <a:t>learned</a:t>
            </a:r>
            <a:r>
              <a:rPr sz="3200" spc="33" dirty="0">
                <a:latin typeface="Times New Roman"/>
                <a:cs typeface="Times New Roman"/>
              </a:rPr>
              <a:t> </a:t>
            </a:r>
            <a:r>
              <a:rPr sz="3200" spc="-6" dirty="0">
                <a:latin typeface="Times New Roman"/>
                <a:cs typeface="Times New Roman"/>
              </a:rPr>
              <a:t>route</a:t>
            </a:r>
            <a:r>
              <a:rPr sz="3200" spc="33" dirty="0">
                <a:latin typeface="Times New Roman"/>
                <a:cs typeface="Times New Roman"/>
              </a:rPr>
              <a:t> </a:t>
            </a:r>
            <a:r>
              <a:rPr sz="3200" spc="-6" dirty="0">
                <a:latin typeface="Times New Roman"/>
                <a:cs typeface="Times New Roman"/>
              </a:rPr>
              <a:t>that</a:t>
            </a:r>
            <a:r>
              <a:rPr sz="3200" spc="6" dirty="0">
                <a:latin typeface="Times New Roman"/>
                <a:cs typeface="Times New Roman"/>
              </a:rPr>
              <a:t> </a:t>
            </a:r>
            <a:r>
              <a:rPr sz="3200" spc="-6" dirty="0">
                <a:latin typeface="Times New Roman"/>
                <a:cs typeface="Times New Roman"/>
              </a:rPr>
              <a:t>references</a:t>
            </a:r>
            <a:r>
              <a:rPr sz="3200" spc="55" dirty="0">
                <a:latin typeface="Times New Roman"/>
                <a:cs typeface="Times New Roman"/>
              </a:rPr>
              <a:t> </a:t>
            </a:r>
            <a:r>
              <a:rPr sz="3200" spc="-39" dirty="0">
                <a:latin typeface="Times New Roman"/>
                <a:cs typeface="Times New Roman"/>
              </a:rPr>
              <a:t>R1‘s</a:t>
            </a:r>
            <a:r>
              <a:rPr sz="3200" spc="-11" dirty="0">
                <a:latin typeface="Times New Roman"/>
                <a:cs typeface="Times New Roman"/>
              </a:rPr>
              <a:t> S0/0</a:t>
            </a:r>
            <a:r>
              <a:rPr sz="3200" dirty="0">
                <a:latin typeface="Times New Roman"/>
                <a:cs typeface="Times New Roman"/>
              </a:rPr>
              <a:t> </a:t>
            </a:r>
            <a:r>
              <a:rPr sz="3200" spc="-6" dirty="0">
                <a:latin typeface="Times New Roman"/>
                <a:cs typeface="Times New Roman"/>
              </a:rPr>
              <a:t>interface,</a:t>
            </a:r>
            <a:r>
              <a:rPr sz="3200" spc="50" dirty="0">
                <a:latin typeface="Times New Roman"/>
                <a:cs typeface="Times New Roman"/>
              </a:rPr>
              <a:t> </a:t>
            </a:r>
            <a:r>
              <a:rPr sz="3200" spc="-11" dirty="0">
                <a:latin typeface="Times New Roman"/>
                <a:cs typeface="Times New Roman"/>
              </a:rPr>
              <a:t>so </a:t>
            </a:r>
            <a:r>
              <a:rPr sz="3200" spc="-6" dirty="0">
                <a:latin typeface="Times New Roman"/>
                <a:cs typeface="Times New Roman"/>
              </a:rPr>
              <a:t> which</a:t>
            </a:r>
            <a:r>
              <a:rPr sz="3200" spc="-11" dirty="0">
                <a:latin typeface="Times New Roman"/>
                <a:cs typeface="Times New Roman"/>
              </a:rPr>
              <a:t> </a:t>
            </a:r>
            <a:r>
              <a:rPr sz="3200" spc="-6" dirty="0">
                <a:latin typeface="Times New Roman"/>
                <a:cs typeface="Times New Roman"/>
              </a:rPr>
              <a:t>is</a:t>
            </a:r>
            <a:r>
              <a:rPr sz="3200" spc="6" dirty="0">
                <a:latin typeface="Times New Roman"/>
                <a:cs typeface="Times New Roman"/>
              </a:rPr>
              <a:t> </a:t>
            </a:r>
            <a:r>
              <a:rPr sz="3200" spc="-6" dirty="0">
                <a:latin typeface="Times New Roman"/>
                <a:cs typeface="Times New Roman"/>
              </a:rPr>
              <a:t>better?</a:t>
            </a:r>
            <a:endParaRPr sz="3200" dirty="0">
              <a:latin typeface="Times New Roman"/>
              <a:cs typeface="Times New Roman"/>
            </a:endParaRPr>
          </a:p>
          <a:p>
            <a:pPr marL="470499" marR="312182" indent="-457200">
              <a:lnSpc>
                <a:spcPts val="2646"/>
              </a:lnSpc>
              <a:spcBef>
                <a:spcPts val="661"/>
              </a:spcBef>
              <a:buClr>
                <a:srgbClr val="D24717"/>
              </a:buClr>
              <a:buSzPct val="84000"/>
              <a:buFont typeface="Wingdings" panose="05000000000000000000" pitchFamily="2" charset="2"/>
              <a:buChar char="Ø"/>
              <a:tabLst>
                <a:tab pos="316382" algn="l"/>
              </a:tabLst>
            </a:pPr>
            <a:r>
              <a:rPr sz="3200" spc="-6" dirty="0">
                <a:latin typeface="Times New Roman"/>
                <a:cs typeface="Times New Roman"/>
              </a:rPr>
              <a:t>By</a:t>
            </a:r>
            <a:r>
              <a:rPr sz="3200" spc="-17" dirty="0">
                <a:latin typeface="Times New Roman"/>
                <a:cs typeface="Times New Roman"/>
              </a:rPr>
              <a:t> </a:t>
            </a:r>
            <a:r>
              <a:rPr sz="3200" spc="-6" dirty="0">
                <a:latin typeface="Times New Roman"/>
                <a:cs typeface="Times New Roman"/>
              </a:rPr>
              <a:t>design,</a:t>
            </a:r>
            <a:r>
              <a:rPr sz="3200" spc="22" dirty="0">
                <a:latin typeface="Times New Roman"/>
                <a:cs typeface="Times New Roman"/>
              </a:rPr>
              <a:t> </a:t>
            </a:r>
            <a:r>
              <a:rPr sz="3200" spc="-6" dirty="0">
                <a:latin typeface="Times New Roman"/>
                <a:cs typeface="Times New Roman"/>
              </a:rPr>
              <a:t>the</a:t>
            </a:r>
            <a:r>
              <a:rPr sz="3200" spc="11" dirty="0">
                <a:latin typeface="Times New Roman"/>
                <a:cs typeface="Times New Roman"/>
              </a:rPr>
              <a:t> </a:t>
            </a:r>
            <a:r>
              <a:rPr sz="3200" spc="-6" dirty="0">
                <a:latin typeface="Times New Roman"/>
                <a:cs typeface="Times New Roman"/>
              </a:rPr>
              <a:t>engineer</a:t>
            </a:r>
            <a:r>
              <a:rPr sz="3200" spc="50" dirty="0">
                <a:latin typeface="Times New Roman"/>
                <a:cs typeface="Times New Roman"/>
              </a:rPr>
              <a:t> </a:t>
            </a:r>
            <a:r>
              <a:rPr sz="3200" spc="-6" dirty="0">
                <a:latin typeface="Times New Roman"/>
                <a:cs typeface="Times New Roman"/>
              </a:rPr>
              <a:t>wants</a:t>
            </a:r>
            <a:r>
              <a:rPr sz="3200" spc="6" dirty="0">
                <a:latin typeface="Times New Roman"/>
                <a:cs typeface="Times New Roman"/>
              </a:rPr>
              <a:t> </a:t>
            </a:r>
            <a:r>
              <a:rPr sz="3200" spc="-6" dirty="0">
                <a:latin typeface="Times New Roman"/>
                <a:cs typeface="Times New Roman"/>
              </a:rPr>
              <a:t>to</a:t>
            </a:r>
            <a:r>
              <a:rPr sz="3200" spc="17" dirty="0">
                <a:latin typeface="Times New Roman"/>
                <a:cs typeface="Times New Roman"/>
              </a:rPr>
              <a:t> </a:t>
            </a:r>
            <a:r>
              <a:rPr sz="3200" spc="-6" dirty="0">
                <a:latin typeface="Times New Roman"/>
                <a:cs typeface="Times New Roman"/>
              </a:rPr>
              <a:t>route</a:t>
            </a:r>
            <a:r>
              <a:rPr sz="3200" spc="22" dirty="0">
                <a:latin typeface="Times New Roman"/>
                <a:cs typeface="Times New Roman"/>
              </a:rPr>
              <a:t> </a:t>
            </a:r>
            <a:r>
              <a:rPr sz="3200" spc="-6" dirty="0">
                <a:latin typeface="Times New Roman"/>
                <a:cs typeface="Times New Roman"/>
              </a:rPr>
              <a:t>packets</a:t>
            </a:r>
            <a:r>
              <a:rPr sz="3200" spc="39" dirty="0">
                <a:latin typeface="Times New Roman"/>
                <a:cs typeface="Times New Roman"/>
              </a:rPr>
              <a:t> </a:t>
            </a:r>
            <a:r>
              <a:rPr sz="3200" spc="-6" dirty="0">
                <a:latin typeface="Times New Roman"/>
                <a:cs typeface="Times New Roman"/>
              </a:rPr>
              <a:t>over</a:t>
            </a:r>
            <a:r>
              <a:rPr sz="3200" spc="11" dirty="0">
                <a:latin typeface="Times New Roman"/>
                <a:cs typeface="Times New Roman"/>
              </a:rPr>
              <a:t> </a:t>
            </a:r>
            <a:r>
              <a:rPr sz="3200" spc="-6" dirty="0">
                <a:latin typeface="Times New Roman"/>
                <a:cs typeface="Times New Roman"/>
              </a:rPr>
              <a:t>the</a:t>
            </a:r>
            <a:r>
              <a:rPr sz="3200" spc="22" dirty="0">
                <a:latin typeface="Times New Roman"/>
                <a:cs typeface="Times New Roman"/>
              </a:rPr>
              <a:t> </a:t>
            </a:r>
            <a:r>
              <a:rPr sz="3200" spc="-6" dirty="0">
                <a:latin typeface="Times New Roman"/>
                <a:cs typeface="Times New Roman"/>
              </a:rPr>
              <a:t>leased </a:t>
            </a:r>
            <a:r>
              <a:rPr sz="3200" spc="-672" dirty="0">
                <a:latin typeface="Times New Roman"/>
                <a:cs typeface="Times New Roman"/>
              </a:rPr>
              <a:t> </a:t>
            </a:r>
            <a:r>
              <a:rPr sz="3200" spc="-6" dirty="0">
                <a:latin typeface="Times New Roman"/>
                <a:cs typeface="Times New Roman"/>
              </a:rPr>
              <a:t>line</a:t>
            </a:r>
            <a:r>
              <a:rPr sz="3200" spc="6" dirty="0">
                <a:latin typeface="Times New Roman"/>
                <a:cs typeface="Times New Roman"/>
              </a:rPr>
              <a:t> </a:t>
            </a:r>
            <a:r>
              <a:rPr sz="3200" spc="-6" dirty="0">
                <a:latin typeface="Times New Roman"/>
                <a:cs typeface="Times New Roman"/>
              </a:rPr>
              <a:t>when</a:t>
            </a:r>
            <a:r>
              <a:rPr sz="3200" spc="11" dirty="0">
                <a:latin typeface="Times New Roman"/>
                <a:cs typeface="Times New Roman"/>
              </a:rPr>
              <a:t> </a:t>
            </a:r>
            <a:r>
              <a:rPr sz="3200" spc="-6" dirty="0">
                <a:latin typeface="Times New Roman"/>
                <a:cs typeface="Times New Roman"/>
              </a:rPr>
              <a:t>it</a:t>
            </a:r>
            <a:r>
              <a:rPr sz="3200" spc="17" dirty="0">
                <a:latin typeface="Times New Roman"/>
                <a:cs typeface="Times New Roman"/>
              </a:rPr>
              <a:t> </a:t>
            </a:r>
            <a:r>
              <a:rPr sz="3200" spc="-6" dirty="0">
                <a:latin typeface="Times New Roman"/>
                <a:cs typeface="Times New Roman"/>
              </a:rPr>
              <a:t>is</a:t>
            </a:r>
            <a:r>
              <a:rPr sz="3200" spc="6" dirty="0">
                <a:latin typeface="Times New Roman"/>
                <a:cs typeface="Times New Roman"/>
              </a:rPr>
              <a:t> </a:t>
            </a:r>
            <a:r>
              <a:rPr sz="3200" spc="-6" dirty="0">
                <a:latin typeface="Times New Roman"/>
                <a:cs typeface="Times New Roman"/>
              </a:rPr>
              <a:t>working</a:t>
            </a:r>
            <a:r>
              <a:rPr sz="3200" spc="17" dirty="0">
                <a:latin typeface="Times New Roman"/>
                <a:cs typeface="Times New Roman"/>
              </a:rPr>
              <a:t> </a:t>
            </a:r>
            <a:r>
              <a:rPr sz="3200" spc="-6" dirty="0">
                <a:latin typeface="Times New Roman"/>
                <a:cs typeface="Times New Roman"/>
              </a:rPr>
              <a:t>and</a:t>
            </a:r>
            <a:r>
              <a:rPr sz="3200" spc="6" dirty="0">
                <a:latin typeface="Times New Roman"/>
                <a:cs typeface="Times New Roman"/>
              </a:rPr>
              <a:t> </a:t>
            </a:r>
            <a:r>
              <a:rPr sz="3200" spc="-6" dirty="0">
                <a:latin typeface="Times New Roman"/>
                <a:cs typeface="Times New Roman"/>
              </a:rPr>
              <a:t>use</a:t>
            </a:r>
            <a:r>
              <a:rPr sz="3200" dirty="0">
                <a:latin typeface="Times New Roman"/>
                <a:cs typeface="Times New Roman"/>
              </a:rPr>
              <a:t> </a:t>
            </a:r>
            <a:r>
              <a:rPr sz="3200" spc="-6" dirty="0">
                <a:latin typeface="Times New Roman"/>
                <a:cs typeface="Times New Roman"/>
              </a:rPr>
              <a:t>the</a:t>
            </a:r>
            <a:r>
              <a:rPr sz="3200" spc="28" dirty="0">
                <a:latin typeface="Times New Roman"/>
                <a:cs typeface="Times New Roman"/>
              </a:rPr>
              <a:t> </a:t>
            </a:r>
            <a:r>
              <a:rPr sz="3200" spc="-6" dirty="0">
                <a:latin typeface="Times New Roman"/>
                <a:cs typeface="Times New Roman"/>
              </a:rPr>
              <a:t>(</a:t>
            </a:r>
            <a:r>
              <a:rPr sz="3200" b="1" spc="-6" dirty="0">
                <a:solidFill>
                  <a:srgbClr val="FF0000"/>
                </a:solidFill>
                <a:latin typeface="Times New Roman"/>
                <a:cs typeface="Times New Roman"/>
              </a:rPr>
              <a:t>probably</a:t>
            </a:r>
            <a:r>
              <a:rPr sz="3200" b="1" spc="33" dirty="0">
                <a:solidFill>
                  <a:srgbClr val="FF0000"/>
                </a:solidFill>
                <a:latin typeface="Times New Roman"/>
                <a:cs typeface="Times New Roman"/>
              </a:rPr>
              <a:t> </a:t>
            </a:r>
            <a:r>
              <a:rPr sz="3200" b="1" spc="-6" dirty="0">
                <a:solidFill>
                  <a:srgbClr val="FF0000"/>
                </a:solidFill>
                <a:latin typeface="Times New Roman"/>
                <a:cs typeface="Times New Roman"/>
              </a:rPr>
              <a:t>slower</a:t>
            </a:r>
            <a:r>
              <a:rPr sz="3200" spc="-6" dirty="0">
                <a:latin typeface="Times New Roman"/>
                <a:cs typeface="Times New Roman"/>
              </a:rPr>
              <a:t>)</a:t>
            </a:r>
            <a:r>
              <a:rPr sz="3200" spc="28" dirty="0">
                <a:latin typeface="Times New Roman"/>
                <a:cs typeface="Times New Roman"/>
              </a:rPr>
              <a:t> </a:t>
            </a:r>
            <a:r>
              <a:rPr sz="3200" spc="-6" dirty="0">
                <a:latin typeface="Times New Roman"/>
                <a:cs typeface="Times New Roman"/>
              </a:rPr>
              <a:t>ISDN </a:t>
            </a:r>
            <a:r>
              <a:rPr sz="3200" dirty="0">
                <a:latin typeface="Times New Roman"/>
                <a:cs typeface="Times New Roman"/>
              </a:rPr>
              <a:t> </a:t>
            </a:r>
            <a:r>
              <a:rPr sz="3200" spc="-6" dirty="0">
                <a:latin typeface="Times New Roman"/>
                <a:cs typeface="Times New Roman"/>
              </a:rPr>
              <a:t>lines</a:t>
            </a:r>
            <a:r>
              <a:rPr sz="3200" dirty="0">
                <a:latin typeface="Times New Roman"/>
                <a:cs typeface="Times New Roman"/>
              </a:rPr>
              <a:t> </a:t>
            </a:r>
            <a:r>
              <a:rPr sz="3200" spc="-6" dirty="0">
                <a:latin typeface="Times New Roman"/>
                <a:cs typeface="Times New Roman"/>
              </a:rPr>
              <a:t>only</a:t>
            </a:r>
            <a:r>
              <a:rPr sz="3200" spc="11" dirty="0">
                <a:latin typeface="Times New Roman"/>
                <a:cs typeface="Times New Roman"/>
              </a:rPr>
              <a:t> </a:t>
            </a:r>
            <a:r>
              <a:rPr sz="3200" spc="-6" dirty="0">
                <a:latin typeface="Times New Roman"/>
                <a:cs typeface="Times New Roman"/>
              </a:rPr>
              <a:t>when </a:t>
            </a:r>
            <a:r>
              <a:rPr sz="3200" dirty="0">
                <a:latin typeface="Times New Roman"/>
                <a:cs typeface="Times New Roman"/>
              </a:rPr>
              <a:t>the </a:t>
            </a:r>
            <a:r>
              <a:rPr sz="3200" spc="-6" dirty="0">
                <a:latin typeface="Times New Roman"/>
                <a:cs typeface="Times New Roman"/>
              </a:rPr>
              <a:t>leased</a:t>
            </a:r>
            <a:r>
              <a:rPr sz="3200" spc="33" dirty="0">
                <a:latin typeface="Times New Roman"/>
                <a:cs typeface="Times New Roman"/>
              </a:rPr>
              <a:t> </a:t>
            </a:r>
            <a:r>
              <a:rPr sz="3200" spc="-6" dirty="0">
                <a:latin typeface="Times New Roman"/>
                <a:cs typeface="Times New Roman"/>
              </a:rPr>
              <a:t>line</a:t>
            </a:r>
            <a:r>
              <a:rPr sz="3200" spc="22" dirty="0">
                <a:latin typeface="Times New Roman"/>
                <a:cs typeface="Times New Roman"/>
              </a:rPr>
              <a:t> </a:t>
            </a:r>
            <a:r>
              <a:rPr sz="3200" spc="-6" dirty="0">
                <a:latin typeface="Times New Roman"/>
                <a:cs typeface="Times New Roman"/>
              </a:rPr>
              <a:t>fails.</a:t>
            </a:r>
            <a:endParaRPr sz="3200" dirty="0">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310263"/>
            <a:ext cx="9942490"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Administrative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 on </a:t>
            </a:r>
            <a:r>
              <a:rPr b="1" spc="-6" dirty="0">
                <a:solidFill>
                  <a:schemeClr val="bg1"/>
                </a:solidFill>
                <a:latin typeface="Times New Roman" panose="02020603050405020304" pitchFamily="18" charset="0"/>
                <a:cs typeface="Times New Roman" panose="02020603050405020304" pitchFamily="18" charset="0"/>
              </a:rPr>
              <a:t>Static</a:t>
            </a:r>
            <a:r>
              <a:rPr b="1" dirty="0">
                <a:solidFill>
                  <a:schemeClr val="bg1"/>
                </a:solidFill>
                <a:latin typeface="Times New Roman" panose="02020603050405020304" pitchFamily="18" charset="0"/>
                <a:cs typeface="Times New Roman" panose="02020603050405020304" pitchFamily="18" charset="0"/>
              </a:rPr>
              <a:t> Routes</a:t>
            </a:r>
          </a:p>
        </p:txBody>
      </p:sp>
      <p:sp>
        <p:nvSpPr>
          <p:cNvPr id="4" name="object 4"/>
          <p:cNvSpPr txBox="1"/>
          <p:nvPr/>
        </p:nvSpPr>
        <p:spPr>
          <a:xfrm>
            <a:off x="-1" y="1429616"/>
            <a:ext cx="10080625" cy="6304625"/>
          </a:xfrm>
          <a:prstGeom prst="rect">
            <a:avLst/>
          </a:prstGeom>
        </p:spPr>
        <p:txBody>
          <a:bodyPr vert="horz" wrap="square" lIns="0" tIns="188292" rIns="0" bIns="0" rtlCol="0">
            <a:spAutoFit/>
          </a:bodyPr>
          <a:lstStyle/>
          <a:p>
            <a:pPr marL="470499" marR="210688" indent="-457200">
              <a:spcBef>
                <a:spcPts val="1472"/>
              </a:spcBef>
              <a:buClr>
                <a:srgbClr val="D24717"/>
              </a:buClr>
              <a:buSzPct val="85000"/>
              <a:buFont typeface="Wingdings" panose="05000000000000000000" pitchFamily="2" charset="2"/>
              <a:buChar char="Ø"/>
              <a:tabLst>
                <a:tab pos="315682" algn="l"/>
                <a:tab pos="316382" algn="l"/>
              </a:tabLst>
            </a:pPr>
            <a:r>
              <a:rPr sz="3200" dirty="0">
                <a:latin typeface="Times New Roman"/>
                <a:cs typeface="Times New Roman"/>
              </a:rPr>
              <a:t>An</a:t>
            </a:r>
            <a:r>
              <a:rPr sz="3200" spc="-17" dirty="0">
                <a:latin typeface="Times New Roman"/>
                <a:cs typeface="Times New Roman"/>
              </a:rPr>
              <a:t> </a:t>
            </a:r>
            <a:r>
              <a:rPr sz="3200" b="1" dirty="0">
                <a:solidFill>
                  <a:srgbClr val="FF0000"/>
                </a:solidFill>
                <a:latin typeface="Times New Roman"/>
                <a:cs typeface="Times New Roman"/>
              </a:rPr>
              <a:t>administrative</a:t>
            </a:r>
            <a:r>
              <a:rPr sz="3200" b="1" spc="-61" dirty="0">
                <a:solidFill>
                  <a:srgbClr val="FF0000"/>
                </a:solidFill>
                <a:latin typeface="Times New Roman"/>
                <a:cs typeface="Times New Roman"/>
              </a:rPr>
              <a:t> </a:t>
            </a:r>
            <a:r>
              <a:rPr sz="3200" b="1" dirty="0">
                <a:solidFill>
                  <a:srgbClr val="FF0000"/>
                </a:solidFill>
                <a:latin typeface="Times New Roman"/>
                <a:cs typeface="Times New Roman"/>
              </a:rPr>
              <a:t>distance</a:t>
            </a:r>
            <a:r>
              <a:rPr sz="3200" b="1" spc="-28" dirty="0">
                <a:solidFill>
                  <a:srgbClr val="FF0000"/>
                </a:solidFill>
                <a:latin typeface="Times New Roman"/>
                <a:cs typeface="Times New Roman"/>
              </a:rPr>
              <a:t> </a:t>
            </a:r>
            <a:r>
              <a:rPr sz="3200" dirty="0">
                <a:latin typeface="Times New Roman"/>
                <a:cs typeface="Times New Roman"/>
              </a:rPr>
              <a:t>is</a:t>
            </a:r>
            <a:r>
              <a:rPr sz="3200" spc="-17"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metric</a:t>
            </a:r>
            <a:r>
              <a:rPr sz="3200" spc="-11" dirty="0">
                <a:latin typeface="Times New Roman"/>
                <a:cs typeface="Times New Roman"/>
              </a:rPr>
              <a:t> </a:t>
            </a:r>
            <a:r>
              <a:rPr sz="3200" dirty="0">
                <a:latin typeface="Times New Roman"/>
                <a:cs typeface="Times New Roman"/>
              </a:rPr>
              <a:t>used</a:t>
            </a:r>
            <a:r>
              <a:rPr sz="3200" spc="-17" dirty="0">
                <a:latin typeface="Times New Roman"/>
                <a:cs typeface="Times New Roman"/>
              </a:rPr>
              <a:t> </a:t>
            </a:r>
            <a:r>
              <a:rPr sz="3200" dirty="0">
                <a:latin typeface="Times New Roman"/>
                <a:cs typeface="Times New Roman"/>
              </a:rPr>
              <a:t>by routers</a:t>
            </a:r>
            <a:r>
              <a:rPr sz="3200" spc="-44" dirty="0">
                <a:latin typeface="Times New Roman"/>
                <a:cs typeface="Times New Roman"/>
              </a:rPr>
              <a:t> </a:t>
            </a:r>
            <a:r>
              <a:rPr sz="3200" dirty="0">
                <a:latin typeface="Times New Roman"/>
                <a:cs typeface="Times New Roman"/>
              </a:rPr>
              <a:t>to</a:t>
            </a:r>
            <a:r>
              <a:rPr sz="3200" spc="-11" dirty="0">
                <a:latin typeface="Times New Roman"/>
                <a:cs typeface="Times New Roman"/>
              </a:rPr>
              <a:t> </a:t>
            </a:r>
            <a:r>
              <a:rPr sz="3200" b="1" dirty="0">
                <a:solidFill>
                  <a:srgbClr val="FF0000"/>
                </a:solidFill>
                <a:latin typeface="Times New Roman"/>
                <a:cs typeface="Times New Roman"/>
              </a:rPr>
              <a:t>choose</a:t>
            </a:r>
            <a:r>
              <a:rPr sz="3200" b="1" spc="-33" dirty="0">
                <a:solidFill>
                  <a:srgbClr val="FF0000"/>
                </a:solidFill>
                <a:latin typeface="Times New Roman"/>
                <a:cs typeface="Times New Roman"/>
              </a:rPr>
              <a:t> </a:t>
            </a:r>
            <a:r>
              <a:rPr sz="3200" b="1" dirty="0">
                <a:solidFill>
                  <a:srgbClr val="FF0000"/>
                </a:solidFill>
                <a:latin typeface="Times New Roman"/>
                <a:cs typeface="Times New Roman"/>
              </a:rPr>
              <a:t>the</a:t>
            </a:r>
            <a:r>
              <a:rPr sz="3200" b="1" spc="-28" dirty="0">
                <a:solidFill>
                  <a:srgbClr val="FF0000"/>
                </a:solidFill>
                <a:latin typeface="Times New Roman"/>
                <a:cs typeface="Times New Roman"/>
              </a:rPr>
              <a:t> </a:t>
            </a:r>
            <a:r>
              <a:rPr sz="3200" b="1" dirty="0">
                <a:solidFill>
                  <a:srgbClr val="FF0000"/>
                </a:solidFill>
                <a:latin typeface="Times New Roman"/>
                <a:cs typeface="Times New Roman"/>
              </a:rPr>
              <a:t>best</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path </a:t>
            </a:r>
            <a:r>
              <a:rPr sz="3200" b="1" spc="-534" dirty="0">
                <a:solidFill>
                  <a:srgbClr val="FF0000"/>
                </a:solidFill>
                <a:latin typeface="Times New Roman"/>
                <a:cs typeface="Times New Roman"/>
              </a:rPr>
              <a:t> </a:t>
            </a:r>
            <a:r>
              <a:rPr sz="3200" dirty="0">
                <a:latin typeface="Times New Roman"/>
                <a:cs typeface="Times New Roman"/>
              </a:rPr>
              <a:t>when there are two or </a:t>
            </a:r>
            <a:r>
              <a:rPr sz="3200" spc="-6" dirty="0">
                <a:latin typeface="Times New Roman"/>
                <a:cs typeface="Times New Roman"/>
              </a:rPr>
              <a:t>more</a:t>
            </a:r>
            <a:r>
              <a:rPr lang="en-US" sz="3200" spc="-6" dirty="0">
                <a:latin typeface="Times New Roman"/>
                <a:cs typeface="Times New Roman"/>
              </a:rPr>
              <a:t> </a:t>
            </a:r>
            <a:r>
              <a:rPr sz="3200" dirty="0">
                <a:latin typeface="Times New Roman"/>
                <a:cs typeface="Times New Roman"/>
              </a:rPr>
              <a:t>routes to the </a:t>
            </a:r>
            <a:r>
              <a:rPr sz="3200" spc="-6" dirty="0">
                <a:latin typeface="Times New Roman"/>
                <a:cs typeface="Times New Roman"/>
              </a:rPr>
              <a:t>same </a:t>
            </a:r>
            <a:r>
              <a:rPr sz="3200" dirty="0">
                <a:latin typeface="Times New Roman"/>
                <a:cs typeface="Times New Roman"/>
              </a:rPr>
              <a:t>destination from two </a:t>
            </a:r>
            <a:r>
              <a:rPr sz="3200" spc="-6" dirty="0">
                <a:latin typeface="Times New Roman"/>
                <a:cs typeface="Times New Roman"/>
              </a:rPr>
              <a:t>different</a:t>
            </a:r>
            <a:r>
              <a:rPr lang="en-US" sz="3200" spc="-6" dirty="0">
                <a:latin typeface="Times New Roman"/>
                <a:cs typeface="Times New Roman"/>
              </a:rPr>
              <a:t> </a:t>
            </a:r>
            <a:r>
              <a:rPr sz="3200" dirty="0">
                <a:latin typeface="Times New Roman"/>
                <a:cs typeface="Times New Roman"/>
              </a:rPr>
              <a:t>routing</a:t>
            </a:r>
            <a:r>
              <a:rPr sz="3200" spc="-61" dirty="0">
                <a:latin typeface="Times New Roman"/>
                <a:cs typeface="Times New Roman"/>
              </a:rPr>
              <a:t> </a:t>
            </a:r>
            <a:r>
              <a:rPr sz="3200" dirty="0">
                <a:latin typeface="Times New Roman"/>
                <a:cs typeface="Times New Roman"/>
              </a:rPr>
              <a:t>protocols.</a:t>
            </a:r>
          </a:p>
          <a:p>
            <a:pPr marL="618765" marR="996044" lvl="1" indent="-251986">
              <a:spcBef>
                <a:spcPts val="441"/>
              </a:spcBef>
              <a:buClr>
                <a:srgbClr val="9B2C1F"/>
              </a:buClr>
              <a:buSzPct val="85000"/>
              <a:buFont typeface="Wingdings"/>
              <a:buChar char=""/>
              <a:tabLst>
                <a:tab pos="618765" algn="l"/>
              </a:tabLst>
            </a:pPr>
            <a:r>
              <a:rPr sz="2800" b="1" dirty="0">
                <a:solidFill>
                  <a:srgbClr val="FF0000"/>
                </a:solidFill>
                <a:latin typeface="Times New Roman"/>
                <a:cs typeface="Times New Roman"/>
              </a:rPr>
              <a:t>Administrative</a:t>
            </a:r>
            <a:r>
              <a:rPr sz="2800" b="1" spc="-61" dirty="0">
                <a:latin typeface="Times New Roman"/>
                <a:cs typeface="Times New Roman"/>
              </a:rPr>
              <a:t> </a:t>
            </a:r>
            <a:r>
              <a:rPr sz="2800" b="1" dirty="0">
                <a:solidFill>
                  <a:srgbClr val="FF0000"/>
                </a:solidFill>
                <a:latin typeface="Times New Roman"/>
                <a:cs typeface="Times New Roman"/>
              </a:rPr>
              <a:t>Distance</a:t>
            </a:r>
            <a:r>
              <a:rPr sz="2800" b="1" spc="-28" dirty="0">
                <a:latin typeface="Times New Roman"/>
                <a:cs typeface="Times New Roman"/>
              </a:rPr>
              <a:t> </a:t>
            </a:r>
            <a:r>
              <a:rPr sz="2800" dirty="0">
                <a:latin typeface="Times New Roman"/>
                <a:cs typeface="Times New Roman"/>
              </a:rPr>
              <a:t>–</a:t>
            </a:r>
            <a:r>
              <a:rPr sz="2800" spc="-39" dirty="0">
                <a:latin typeface="Times New Roman"/>
                <a:cs typeface="Times New Roman"/>
              </a:rPr>
              <a:t> </a:t>
            </a:r>
            <a:r>
              <a:rPr sz="2800" dirty="0">
                <a:latin typeface="Times New Roman"/>
                <a:cs typeface="Times New Roman"/>
              </a:rPr>
              <a:t>This</a:t>
            </a:r>
            <a:r>
              <a:rPr sz="2800" spc="-22" dirty="0">
                <a:latin typeface="Times New Roman"/>
                <a:cs typeface="Times New Roman"/>
              </a:rPr>
              <a:t> </a:t>
            </a:r>
            <a:r>
              <a:rPr sz="2800" dirty="0">
                <a:latin typeface="Times New Roman"/>
                <a:cs typeface="Times New Roman"/>
              </a:rPr>
              <a:t>is</a:t>
            </a:r>
            <a:r>
              <a:rPr sz="2800" spc="-17" dirty="0">
                <a:latin typeface="Times New Roman"/>
                <a:cs typeface="Times New Roman"/>
              </a:rPr>
              <a:t> </a:t>
            </a:r>
            <a:r>
              <a:rPr sz="2800" dirty="0">
                <a:latin typeface="Times New Roman"/>
                <a:cs typeface="Times New Roman"/>
              </a:rPr>
              <a:t>the</a:t>
            </a:r>
            <a:r>
              <a:rPr lang="en-US" sz="2800" spc="-6" dirty="0">
                <a:latin typeface="Times New Roman"/>
                <a:cs typeface="Times New Roman"/>
              </a:rPr>
              <a:t> “</a:t>
            </a:r>
            <a:r>
              <a:rPr sz="2800" spc="-55" dirty="0">
                <a:latin typeface="Times New Roman"/>
                <a:cs typeface="Times New Roman"/>
              </a:rPr>
              <a:t>trustworthiness</a:t>
            </a:r>
            <a:r>
              <a:rPr lang="en-US" sz="2800" spc="-55" dirty="0">
                <a:latin typeface="Times New Roman"/>
                <a:cs typeface="Times New Roman"/>
              </a:rPr>
              <a:t>"</a:t>
            </a:r>
            <a:r>
              <a:rPr sz="2800" spc="-66" dirty="0">
                <a:latin typeface="Times New Roman"/>
                <a:cs typeface="Times New Roman"/>
              </a:rPr>
              <a:t> </a:t>
            </a:r>
            <a:r>
              <a:rPr sz="2800" dirty="0">
                <a:latin typeface="Times New Roman"/>
                <a:cs typeface="Times New Roman"/>
              </a:rPr>
              <a:t>of</a:t>
            </a:r>
            <a:r>
              <a:rPr sz="2800" spc="-17" dirty="0">
                <a:latin typeface="Times New Roman"/>
                <a:cs typeface="Times New Roman"/>
              </a:rPr>
              <a:t> </a:t>
            </a:r>
            <a:r>
              <a:rPr sz="2800" dirty="0">
                <a:latin typeface="Times New Roman"/>
                <a:cs typeface="Times New Roman"/>
              </a:rPr>
              <a:t>the</a:t>
            </a:r>
            <a:r>
              <a:rPr sz="2800" spc="-6" dirty="0">
                <a:latin typeface="Times New Roman"/>
                <a:cs typeface="Times New Roman"/>
              </a:rPr>
              <a:t> </a:t>
            </a:r>
            <a:r>
              <a:rPr sz="2800" dirty="0">
                <a:latin typeface="Times New Roman"/>
                <a:cs typeface="Times New Roman"/>
              </a:rPr>
              <a:t>routing </a:t>
            </a:r>
            <a:r>
              <a:rPr sz="2800" spc="-534" dirty="0">
                <a:latin typeface="Times New Roman"/>
                <a:cs typeface="Times New Roman"/>
              </a:rPr>
              <a:t> </a:t>
            </a:r>
            <a:r>
              <a:rPr sz="2800" dirty="0">
                <a:latin typeface="Times New Roman"/>
                <a:cs typeface="Times New Roman"/>
              </a:rPr>
              <a:t>information.</a:t>
            </a:r>
          </a:p>
          <a:p>
            <a:pPr marL="618765" lvl="1" indent="-251986">
              <a:buClr>
                <a:srgbClr val="9B2C1F"/>
              </a:buClr>
              <a:buSzPct val="85000"/>
              <a:buFont typeface="Wingdings"/>
              <a:buChar char=""/>
              <a:tabLst>
                <a:tab pos="618765" algn="l"/>
              </a:tabLst>
            </a:pPr>
            <a:r>
              <a:rPr sz="2800" dirty="0">
                <a:latin typeface="Times New Roman"/>
                <a:cs typeface="Times New Roman"/>
              </a:rPr>
              <a:t>Lower</a:t>
            </a:r>
            <a:r>
              <a:rPr sz="2800" spc="-39" dirty="0">
                <a:latin typeface="Times New Roman"/>
                <a:cs typeface="Times New Roman"/>
              </a:rPr>
              <a:t> </a:t>
            </a:r>
            <a:r>
              <a:rPr sz="2800" dirty="0">
                <a:latin typeface="Times New Roman"/>
                <a:cs typeface="Times New Roman"/>
              </a:rPr>
              <a:t>the</a:t>
            </a:r>
            <a:r>
              <a:rPr sz="2800" spc="-132" dirty="0">
                <a:latin typeface="Times New Roman"/>
                <a:cs typeface="Times New Roman"/>
              </a:rPr>
              <a:t> </a:t>
            </a:r>
            <a:r>
              <a:rPr sz="2800" dirty="0">
                <a:latin typeface="Times New Roman"/>
                <a:cs typeface="Times New Roman"/>
              </a:rPr>
              <a:t>AD the</a:t>
            </a:r>
            <a:r>
              <a:rPr sz="2800" spc="-11" dirty="0">
                <a:latin typeface="Times New Roman"/>
                <a:cs typeface="Times New Roman"/>
              </a:rPr>
              <a:t> </a:t>
            </a:r>
            <a:r>
              <a:rPr sz="2800" spc="-6" dirty="0">
                <a:latin typeface="Times New Roman"/>
                <a:cs typeface="Times New Roman"/>
              </a:rPr>
              <a:t>more</a:t>
            </a:r>
            <a:r>
              <a:rPr sz="2800" spc="-11" dirty="0">
                <a:latin typeface="Times New Roman"/>
                <a:cs typeface="Times New Roman"/>
              </a:rPr>
              <a:t> </a:t>
            </a:r>
            <a:r>
              <a:rPr sz="2800" spc="-17" dirty="0">
                <a:latin typeface="Times New Roman"/>
                <a:cs typeface="Times New Roman"/>
              </a:rPr>
              <a:t>trustworthy.</a:t>
            </a:r>
            <a:endParaRPr sz="2800" dirty="0">
              <a:latin typeface="Times New Roman"/>
              <a:cs typeface="Times New Roman"/>
            </a:endParaRPr>
          </a:p>
          <a:p>
            <a:pPr marL="618765" lvl="1" indent="-251986">
              <a:buClr>
                <a:srgbClr val="9B2C1F"/>
              </a:buClr>
              <a:buSzPct val="85000"/>
              <a:buFont typeface="Wingdings"/>
              <a:buChar char=""/>
              <a:tabLst>
                <a:tab pos="618765" algn="l"/>
              </a:tabLst>
            </a:pPr>
            <a:r>
              <a:rPr sz="2800" dirty="0">
                <a:latin typeface="Times New Roman"/>
                <a:cs typeface="Times New Roman"/>
              </a:rPr>
              <a:t>default</a:t>
            </a:r>
            <a:r>
              <a:rPr sz="2800" spc="-55" dirty="0">
                <a:latin typeface="Times New Roman"/>
                <a:cs typeface="Times New Roman"/>
              </a:rPr>
              <a:t> </a:t>
            </a:r>
            <a:r>
              <a:rPr sz="2800" spc="-6" dirty="0">
                <a:latin typeface="Times New Roman"/>
                <a:cs typeface="Times New Roman"/>
              </a:rPr>
              <a:t>administrative</a:t>
            </a:r>
            <a:r>
              <a:rPr sz="2800" spc="-28" dirty="0">
                <a:latin typeface="Times New Roman"/>
                <a:cs typeface="Times New Roman"/>
              </a:rPr>
              <a:t> </a:t>
            </a:r>
            <a:r>
              <a:rPr sz="2800" dirty="0">
                <a:latin typeface="Times New Roman"/>
                <a:cs typeface="Times New Roman"/>
              </a:rPr>
              <a:t>distance</a:t>
            </a:r>
            <a:r>
              <a:rPr sz="2800" spc="-44" dirty="0">
                <a:latin typeface="Times New Roman"/>
                <a:cs typeface="Times New Roman"/>
              </a:rPr>
              <a:t> </a:t>
            </a:r>
            <a:r>
              <a:rPr sz="2800" dirty="0">
                <a:latin typeface="Times New Roman"/>
                <a:cs typeface="Times New Roman"/>
              </a:rPr>
              <a:t>of</a:t>
            </a:r>
            <a:r>
              <a:rPr sz="2800" spc="-11" dirty="0">
                <a:latin typeface="Times New Roman"/>
                <a:cs typeface="Times New Roman"/>
              </a:rPr>
              <a:t> </a:t>
            </a:r>
            <a:r>
              <a:rPr sz="2800" spc="-6" dirty="0">
                <a:latin typeface="Times New Roman"/>
                <a:cs typeface="Times New Roman"/>
              </a:rPr>
              <a:t>static</a:t>
            </a:r>
            <a:r>
              <a:rPr sz="2800" spc="-11" dirty="0">
                <a:latin typeface="Times New Roman"/>
                <a:cs typeface="Times New Roman"/>
              </a:rPr>
              <a:t> </a:t>
            </a:r>
            <a:r>
              <a:rPr sz="2800" dirty="0">
                <a:latin typeface="Times New Roman"/>
                <a:cs typeface="Times New Roman"/>
              </a:rPr>
              <a:t>routes</a:t>
            </a:r>
            <a:r>
              <a:rPr sz="2800" spc="-33" dirty="0">
                <a:latin typeface="Times New Roman"/>
                <a:cs typeface="Times New Roman"/>
              </a:rPr>
              <a:t> </a:t>
            </a:r>
            <a:r>
              <a:rPr sz="2800" dirty="0">
                <a:latin typeface="Times New Roman"/>
                <a:cs typeface="Times New Roman"/>
              </a:rPr>
              <a:t>is</a:t>
            </a:r>
            <a:r>
              <a:rPr sz="2800" spc="-17" dirty="0">
                <a:latin typeface="Times New Roman"/>
                <a:cs typeface="Times New Roman"/>
              </a:rPr>
              <a:t> </a:t>
            </a:r>
            <a:r>
              <a:rPr sz="2800" dirty="0">
                <a:latin typeface="Times New Roman"/>
                <a:cs typeface="Times New Roman"/>
              </a:rPr>
              <a:t>1.</a:t>
            </a:r>
          </a:p>
          <a:p>
            <a:pPr marL="618765" lvl="1" indent="-251986">
              <a:buClr>
                <a:srgbClr val="9B2C1F"/>
              </a:buClr>
              <a:buSzPct val="85000"/>
              <a:buFont typeface="Wingdings"/>
              <a:buChar char=""/>
              <a:tabLst>
                <a:tab pos="618765" algn="l"/>
              </a:tabLst>
            </a:pPr>
            <a:r>
              <a:rPr sz="2800" dirty="0">
                <a:latin typeface="Times New Roman"/>
                <a:cs typeface="Times New Roman"/>
              </a:rPr>
              <a:t>The</a:t>
            </a:r>
            <a:r>
              <a:rPr sz="2800" spc="-138" dirty="0">
                <a:latin typeface="Times New Roman"/>
                <a:cs typeface="Times New Roman"/>
              </a:rPr>
              <a:t> </a:t>
            </a:r>
            <a:r>
              <a:rPr sz="2800" spc="-6" dirty="0">
                <a:latin typeface="Times New Roman"/>
                <a:cs typeface="Times New Roman"/>
              </a:rPr>
              <a:t>Administrative</a:t>
            </a:r>
            <a:r>
              <a:rPr sz="2800" spc="-44" dirty="0">
                <a:latin typeface="Times New Roman"/>
                <a:cs typeface="Times New Roman"/>
              </a:rPr>
              <a:t> </a:t>
            </a:r>
            <a:r>
              <a:rPr sz="2800" dirty="0">
                <a:latin typeface="Times New Roman"/>
                <a:cs typeface="Times New Roman"/>
              </a:rPr>
              <a:t>Distance</a:t>
            </a:r>
            <a:r>
              <a:rPr sz="2800" spc="-22" dirty="0">
                <a:latin typeface="Times New Roman"/>
                <a:cs typeface="Times New Roman"/>
              </a:rPr>
              <a:t> </a:t>
            </a:r>
            <a:r>
              <a:rPr sz="2800" dirty="0">
                <a:latin typeface="Times New Roman"/>
                <a:cs typeface="Times New Roman"/>
              </a:rPr>
              <a:t>of</a:t>
            </a:r>
            <a:r>
              <a:rPr sz="2800" spc="6" dirty="0">
                <a:latin typeface="Times New Roman"/>
                <a:cs typeface="Times New Roman"/>
              </a:rPr>
              <a:t> </a:t>
            </a:r>
            <a:r>
              <a:rPr sz="2800" dirty="0">
                <a:latin typeface="Times New Roman"/>
                <a:cs typeface="Times New Roman"/>
              </a:rPr>
              <a:t>a</a:t>
            </a:r>
            <a:r>
              <a:rPr sz="2800" spc="-11" dirty="0">
                <a:latin typeface="Times New Roman"/>
                <a:cs typeface="Times New Roman"/>
              </a:rPr>
              <a:t> </a:t>
            </a:r>
            <a:r>
              <a:rPr sz="2800" dirty="0">
                <a:latin typeface="Times New Roman"/>
                <a:cs typeface="Times New Roman"/>
              </a:rPr>
              <a:t>directly</a:t>
            </a:r>
            <a:r>
              <a:rPr sz="2800" spc="-33" dirty="0">
                <a:latin typeface="Times New Roman"/>
                <a:cs typeface="Times New Roman"/>
              </a:rPr>
              <a:t> </a:t>
            </a:r>
            <a:r>
              <a:rPr sz="2800" dirty="0">
                <a:latin typeface="Times New Roman"/>
                <a:cs typeface="Times New Roman"/>
              </a:rPr>
              <a:t>connected</a:t>
            </a:r>
            <a:r>
              <a:rPr sz="2800" spc="-33" dirty="0">
                <a:latin typeface="Times New Roman"/>
                <a:cs typeface="Times New Roman"/>
              </a:rPr>
              <a:t> </a:t>
            </a:r>
            <a:r>
              <a:rPr sz="2800" dirty="0">
                <a:latin typeface="Times New Roman"/>
                <a:cs typeface="Times New Roman"/>
              </a:rPr>
              <a:t>route</a:t>
            </a:r>
            <a:r>
              <a:rPr sz="2800" spc="-39" dirty="0">
                <a:latin typeface="Times New Roman"/>
                <a:cs typeface="Times New Roman"/>
              </a:rPr>
              <a:t> </a:t>
            </a:r>
            <a:r>
              <a:rPr sz="2800" dirty="0">
                <a:latin typeface="Times New Roman"/>
                <a:cs typeface="Times New Roman"/>
              </a:rPr>
              <a:t>is</a:t>
            </a:r>
            <a:r>
              <a:rPr sz="2800" spc="-17" dirty="0">
                <a:latin typeface="Times New Roman"/>
                <a:cs typeface="Times New Roman"/>
              </a:rPr>
              <a:t> </a:t>
            </a:r>
            <a:r>
              <a:rPr sz="2800" dirty="0">
                <a:latin typeface="Times New Roman"/>
                <a:cs typeface="Times New Roman"/>
              </a:rPr>
              <a:t>0.</a:t>
            </a:r>
          </a:p>
          <a:p>
            <a:pPr marL="618765" marR="5600" lvl="1" indent="-251986">
              <a:spcBef>
                <a:spcPts val="485"/>
              </a:spcBef>
              <a:buClr>
                <a:srgbClr val="9B2C1F"/>
              </a:buClr>
              <a:buSzPct val="85000"/>
              <a:buFont typeface="Wingdings"/>
              <a:buChar char=""/>
              <a:tabLst>
                <a:tab pos="618765" algn="l"/>
              </a:tabLst>
            </a:pPr>
            <a:r>
              <a:rPr sz="2800" dirty="0">
                <a:latin typeface="Times New Roman"/>
                <a:cs typeface="Times New Roman"/>
              </a:rPr>
              <a:t>If</a:t>
            </a:r>
            <a:r>
              <a:rPr sz="2800" spc="-28" dirty="0">
                <a:latin typeface="Times New Roman"/>
                <a:cs typeface="Times New Roman"/>
              </a:rPr>
              <a:t> </a:t>
            </a:r>
            <a:r>
              <a:rPr sz="2800" dirty="0">
                <a:latin typeface="Times New Roman"/>
                <a:cs typeface="Times New Roman"/>
              </a:rPr>
              <a:t>the</a:t>
            </a:r>
            <a:r>
              <a:rPr sz="2800" spc="-11" dirty="0">
                <a:latin typeface="Times New Roman"/>
                <a:cs typeface="Times New Roman"/>
              </a:rPr>
              <a:t> </a:t>
            </a:r>
            <a:r>
              <a:rPr sz="2800" dirty="0">
                <a:latin typeface="Times New Roman"/>
                <a:cs typeface="Times New Roman"/>
              </a:rPr>
              <a:t>router</a:t>
            </a:r>
            <a:r>
              <a:rPr sz="2800" spc="-44" dirty="0">
                <a:latin typeface="Times New Roman"/>
                <a:cs typeface="Times New Roman"/>
              </a:rPr>
              <a:t> </a:t>
            </a:r>
            <a:r>
              <a:rPr sz="2800" dirty="0">
                <a:latin typeface="Times New Roman"/>
                <a:cs typeface="Times New Roman"/>
              </a:rPr>
              <a:t>learns</a:t>
            </a:r>
            <a:r>
              <a:rPr sz="2800" spc="-22" dirty="0">
                <a:latin typeface="Times New Roman"/>
                <a:cs typeface="Times New Roman"/>
              </a:rPr>
              <a:t> </a:t>
            </a:r>
            <a:r>
              <a:rPr sz="2800" dirty="0">
                <a:latin typeface="Times New Roman"/>
                <a:cs typeface="Times New Roman"/>
              </a:rPr>
              <a:t>about</a:t>
            </a:r>
            <a:r>
              <a:rPr sz="2800" spc="-39" dirty="0">
                <a:latin typeface="Times New Roman"/>
                <a:cs typeface="Times New Roman"/>
              </a:rPr>
              <a:t> </a:t>
            </a:r>
            <a:r>
              <a:rPr sz="2800" dirty="0">
                <a:latin typeface="Times New Roman"/>
                <a:cs typeface="Times New Roman"/>
              </a:rPr>
              <a:t>a</a:t>
            </a:r>
            <a:r>
              <a:rPr sz="2800" spc="6" dirty="0">
                <a:latin typeface="Times New Roman"/>
                <a:cs typeface="Times New Roman"/>
              </a:rPr>
              <a:t> </a:t>
            </a:r>
            <a:r>
              <a:rPr sz="2800" dirty="0">
                <a:latin typeface="Times New Roman"/>
                <a:cs typeface="Times New Roman"/>
              </a:rPr>
              <a:t>route</a:t>
            </a:r>
            <a:r>
              <a:rPr sz="2800" spc="-39" dirty="0">
                <a:latin typeface="Times New Roman"/>
                <a:cs typeface="Times New Roman"/>
              </a:rPr>
              <a:t> </a:t>
            </a:r>
            <a:r>
              <a:rPr sz="2800" dirty="0">
                <a:latin typeface="Times New Roman"/>
                <a:cs typeface="Times New Roman"/>
              </a:rPr>
              <a:t>to</a:t>
            </a:r>
            <a:r>
              <a:rPr sz="2800" spc="-6" dirty="0">
                <a:latin typeface="Times New Roman"/>
                <a:cs typeface="Times New Roman"/>
              </a:rPr>
              <a:t> </a:t>
            </a:r>
            <a:r>
              <a:rPr sz="2800" dirty="0">
                <a:latin typeface="Times New Roman"/>
                <a:cs typeface="Times New Roman"/>
              </a:rPr>
              <a:t>a network</a:t>
            </a:r>
            <a:r>
              <a:rPr sz="2800" spc="-44" dirty="0">
                <a:latin typeface="Times New Roman"/>
                <a:cs typeface="Times New Roman"/>
              </a:rPr>
              <a:t> </a:t>
            </a:r>
            <a:r>
              <a:rPr sz="2800" dirty="0">
                <a:latin typeface="Times New Roman"/>
                <a:cs typeface="Times New Roman"/>
              </a:rPr>
              <a:t>from</a:t>
            </a:r>
            <a:r>
              <a:rPr sz="2800" spc="-28" dirty="0">
                <a:latin typeface="Times New Roman"/>
                <a:cs typeface="Times New Roman"/>
              </a:rPr>
              <a:t> </a:t>
            </a:r>
            <a:r>
              <a:rPr sz="2800" spc="-6" dirty="0">
                <a:latin typeface="Times New Roman"/>
                <a:cs typeface="Times New Roman"/>
              </a:rPr>
              <a:t>more</a:t>
            </a:r>
            <a:r>
              <a:rPr sz="2800" spc="-11" dirty="0">
                <a:latin typeface="Times New Roman"/>
                <a:cs typeface="Times New Roman"/>
              </a:rPr>
              <a:t> </a:t>
            </a:r>
            <a:r>
              <a:rPr sz="2800" dirty="0">
                <a:latin typeface="Times New Roman"/>
                <a:cs typeface="Times New Roman"/>
              </a:rPr>
              <a:t>than</a:t>
            </a:r>
            <a:r>
              <a:rPr sz="2800" spc="-17" dirty="0">
                <a:latin typeface="Times New Roman"/>
                <a:cs typeface="Times New Roman"/>
              </a:rPr>
              <a:t> </a:t>
            </a:r>
            <a:r>
              <a:rPr sz="2800" spc="6" dirty="0">
                <a:latin typeface="Times New Roman"/>
                <a:cs typeface="Times New Roman"/>
              </a:rPr>
              <a:t>one</a:t>
            </a:r>
            <a:r>
              <a:rPr sz="2800" spc="-6" dirty="0">
                <a:latin typeface="Times New Roman"/>
                <a:cs typeface="Times New Roman"/>
              </a:rPr>
              <a:t> </a:t>
            </a:r>
            <a:r>
              <a:rPr sz="2800" dirty="0">
                <a:latin typeface="Times New Roman"/>
                <a:cs typeface="Times New Roman"/>
              </a:rPr>
              <a:t>source,</a:t>
            </a:r>
            <a:r>
              <a:rPr sz="2800" spc="-50" dirty="0">
                <a:latin typeface="Times New Roman"/>
                <a:cs typeface="Times New Roman"/>
              </a:rPr>
              <a:t> </a:t>
            </a:r>
            <a:r>
              <a:rPr sz="2800" dirty="0">
                <a:latin typeface="Times New Roman"/>
                <a:cs typeface="Times New Roman"/>
              </a:rPr>
              <a:t>it</a:t>
            </a:r>
            <a:r>
              <a:rPr sz="2800" spc="-6" dirty="0">
                <a:latin typeface="Times New Roman"/>
                <a:cs typeface="Times New Roman"/>
              </a:rPr>
              <a:t> </a:t>
            </a:r>
            <a:r>
              <a:rPr sz="2800" dirty="0">
                <a:latin typeface="Times New Roman"/>
                <a:cs typeface="Times New Roman"/>
              </a:rPr>
              <a:t>will </a:t>
            </a:r>
            <a:r>
              <a:rPr sz="2800" spc="-534" dirty="0">
                <a:latin typeface="Times New Roman"/>
                <a:cs typeface="Times New Roman"/>
              </a:rPr>
              <a:t> </a:t>
            </a:r>
            <a:r>
              <a:rPr sz="2800" dirty="0">
                <a:latin typeface="Times New Roman"/>
                <a:cs typeface="Times New Roman"/>
              </a:rPr>
              <a:t>install</a:t>
            </a:r>
            <a:r>
              <a:rPr sz="2800" spc="-44" dirty="0">
                <a:latin typeface="Times New Roman"/>
                <a:cs typeface="Times New Roman"/>
              </a:rPr>
              <a:t> </a:t>
            </a:r>
            <a:r>
              <a:rPr sz="2800" dirty="0">
                <a:latin typeface="Times New Roman"/>
                <a:cs typeface="Times New Roman"/>
              </a:rPr>
              <a:t>the</a:t>
            </a:r>
            <a:r>
              <a:rPr sz="2800" spc="-6" dirty="0">
                <a:latin typeface="Times New Roman"/>
                <a:cs typeface="Times New Roman"/>
              </a:rPr>
              <a:t> </a:t>
            </a:r>
            <a:r>
              <a:rPr sz="2800" dirty="0">
                <a:latin typeface="Times New Roman"/>
                <a:cs typeface="Times New Roman"/>
              </a:rPr>
              <a:t>route</a:t>
            </a:r>
            <a:r>
              <a:rPr sz="2800" spc="-39" dirty="0">
                <a:latin typeface="Times New Roman"/>
                <a:cs typeface="Times New Roman"/>
              </a:rPr>
              <a:t> </a:t>
            </a:r>
            <a:r>
              <a:rPr sz="2800" dirty="0">
                <a:latin typeface="Times New Roman"/>
                <a:cs typeface="Times New Roman"/>
              </a:rPr>
              <a:t>with</a:t>
            </a:r>
            <a:r>
              <a:rPr sz="2800" spc="-6" dirty="0">
                <a:latin typeface="Times New Roman"/>
                <a:cs typeface="Times New Roman"/>
              </a:rPr>
              <a:t> </a:t>
            </a:r>
            <a:r>
              <a:rPr sz="2800" dirty="0">
                <a:latin typeface="Times New Roman"/>
                <a:cs typeface="Times New Roman"/>
              </a:rPr>
              <a:t>the</a:t>
            </a:r>
            <a:r>
              <a:rPr sz="2800" spc="-28" dirty="0">
                <a:latin typeface="Times New Roman"/>
                <a:cs typeface="Times New Roman"/>
              </a:rPr>
              <a:t> </a:t>
            </a:r>
            <a:r>
              <a:rPr sz="2800" dirty="0">
                <a:latin typeface="Times New Roman"/>
                <a:cs typeface="Times New Roman"/>
              </a:rPr>
              <a:t>lower</a:t>
            </a:r>
            <a:r>
              <a:rPr sz="2800" spc="-11" dirty="0">
                <a:latin typeface="Times New Roman"/>
                <a:cs typeface="Times New Roman"/>
              </a:rPr>
              <a:t> </a:t>
            </a:r>
            <a:r>
              <a:rPr sz="2800" spc="-6" dirty="0">
                <a:latin typeface="Times New Roman"/>
                <a:cs typeface="Times New Roman"/>
              </a:rPr>
              <a:t>administrative</a:t>
            </a:r>
            <a:r>
              <a:rPr sz="2800" spc="-33" dirty="0">
                <a:latin typeface="Times New Roman"/>
                <a:cs typeface="Times New Roman"/>
              </a:rPr>
              <a:t> </a:t>
            </a:r>
            <a:r>
              <a:rPr sz="2800" dirty="0">
                <a:latin typeface="Times New Roman"/>
                <a:cs typeface="Times New Roman"/>
              </a:rPr>
              <a:t>distance</a:t>
            </a:r>
            <a:r>
              <a:rPr sz="2800" spc="-39" dirty="0">
                <a:latin typeface="Times New Roman"/>
                <a:cs typeface="Times New Roman"/>
              </a:rPr>
              <a:t> </a:t>
            </a:r>
            <a:r>
              <a:rPr sz="2800" dirty="0">
                <a:latin typeface="Times New Roman"/>
                <a:cs typeface="Times New Roman"/>
              </a:rPr>
              <a:t>in</a:t>
            </a:r>
            <a:r>
              <a:rPr sz="2800" spc="-6" dirty="0">
                <a:latin typeface="Times New Roman"/>
                <a:cs typeface="Times New Roman"/>
              </a:rPr>
              <a:t> </a:t>
            </a:r>
            <a:r>
              <a:rPr sz="2800" dirty="0">
                <a:latin typeface="Times New Roman"/>
                <a:cs typeface="Times New Roman"/>
              </a:rPr>
              <a:t>the</a:t>
            </a:r>
            <a:r>
              <a:rPr sz="2800" spc="-11" dirty="0">
                <a:latin typeface="Times New Roman"/>
                <a:cs typeface="Times New Roman"/>
              </a:rPr>
              <a:t> </a:t>
            </a:r>
            <a:r>
              <a:rPr sz="2800" dirty="0">
                <a:latin typeface="Times New Roman"/>
                <a:cs typeface="Times New Roman"/>
              </a:rPr>
              <a:t>routing</a:t>
            </a:r>
            <a:r>
              <a:rPr sz="2800" spc="-39" dirty="0">
                <a:latin typeface="Times New Roman"/>
                <a:cs typeface="Times New Roman"/>
              </a:rPr>
              <a:t> </a:t>
            </a:r>
            <a:r>
              <a:rPr sz="2800" spc="-6" dirty="0">
                <a:latin typeface="Times New Roman"/>
                <a:cs typeface="Times New Roman"/>
              </a:rPr>
              <a:t>table.</a:t>
            </a:r>
            <a:endParaRPr sz="2800" dirty="0">
              <a:latin typeface="Times New Roman"/>
              <a:cs typeface="Times New Roman"/>
            </a:endParaRPr>
          </a:p>
          <a:p>
            <a:pPr marL="13299" marR="277884">
              <a:spcBef>
                <a:spcPts val="650"/>
              </a:spcBef>
              <a:buClr>
                <a:srgbClr val="D24717"/>
              </a:buClr>
              <a:buSzPct val="85000"/>
              <a:tabLst>
                <a:tab pos="315682" algn="l"/>
                <a:tab pos="316382" algn="l"/>
              </a:tabLst>
            </a:pPr>
            <a:endParaRPr sz="3200" dirty="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310263"/>
            <a:ext cx="9942490"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Administrative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 on </a:t>
            </a:r>
            <a:r>
              <a:rPr b="1" spc="-6" dirty="0">
                <a:solidFill>
                  <a:schemeClr val="bg1"/>
                </a:solidFill>
                <a:latin typeface="Times New Roman" panose="02020603050405020304" pitchFamily="18" charset="0"/>
                <a:cs typeface="Times New Roman" panose="02020603050405020304" pitchFamily="18" charset="0"/>
              </a:rPr>
              <a:t>Static</a:t>
            </a:r>
            <a:r>
              <a:rPr b="1" dirty="0">
                <a:solidFill>
                  <a:schemeClr val="bg1"/>
                </a:solidFill>
                <a:latin typeface="Times New Roman" panose="02020603050405020304" pitchFamily="18" charset="0"/>
                <a:cs typeface="Times New Roman" panose="02020603050405020304" pitchFamily="18" charset="0"/>
              </a:rPr>
              <a:t> Routes</a:t>
            </a:r>
          </a:p>
        </p:txBody>
      </p:sp>
      <p:sp>
        <p:nvSpPr>
          <p:cNvPr id="4" name="object 4"/>
          <p:cNvSpPr txBox="1"/>
          <p:nvPr/>
        </p:nvSpPr>
        <p:spPr>
          <a:xfrm>
            <a:off x="251818" y="1635680"/>
            <a:ext cx="9576988" cy="3157610"/>
          </a:xfrm>
          <a:prstGeom prst="rect">
            <a:avLst/>
          </a:prstGeom>
        </p:spPr>
        <p:txBody>
          <a:bodyPr vert="horz" wrap="square" lIns="0" tIns="188292" rIns="0" bIns="0" rtlCol="0">
            <a:spAutoFit/>
          </a:bodyPr>
          <a:lstStyle/>
          <a:p>
            <a:pPr marL="470499" marR="277884" indent="-457200">
              <a:spcBef>
                <a:spcPts val="650"/>
              </a:spcBef>
              <a:buClr>
                <a:srgbClr val="D24717"/>
              </a:buClr>
              <a:buSzPct val="85000"/>
              <a:buFont typeface="Wingdings" panose="05000000000000000000" pitchFamily="2" charset="2"/>
              <a:buChar char="Ø"/>
              <a:tabLst>
                <a:tab pos="315682" algn="l"/>
                <a:tab pos="316382" algn="l"/>
              </a:tabLst>
            </a:pPr>
            <a:r>
              <a:rPr sz="3200" dirty="0">
                <a:latin typeface="Times New Roman"/>
                <a:cs typeface="Times New Roman"/>
              </a:rPr>
              <a:t>An administrative distance guides the selection of </a:t>
            </a:r>
            <a:r>
              <a:rPr sz="3200" b="1" dirty="0">
                <a:solidFill>
                  <a:srgbClr val="FF0000"/>
                </a:solidFill>
                <a:latin typeface="Times New Roman"/>
                <a:cs typeface="Times New Roman"/>
              </a:rPr>
              <a:t>one routing protocol (or static  route) </a:t>
            </a:r>
            <a:r>
              <a:rPr sz="3200" dirty="0">
                <a:latin typeface="Times New Roman"/>
                <a:cs typeface="Times New Roman"/>
              </a:rPr>
              <a:t>over another, when more than one protocol adds the same route to the  unicast routing table.</a:t>
            </a:r>
          </a:p>
          <a:p>
            <a:pPr marL="471199" indent="-457200">
              <a:spcBef>
                <a:spcPts val="149"/>
              </a:spcBef>
              <a:buClr>
                <a:srgbClr val="D24717"/>
              </a:buClr>
              <a:buSzPct val="85000"/>
              <a:buFont typeface="Wingdings" panose="05000000000000000000" pitchFamily="2" charset="2"/>
              <a:buChar char="Ø"/>
              <a:tabLst>
                <a:tab pos="315682" algn="l"/>
                <a:tab pos="316382" algn="l"/>
              </a:tabLst>
            </a:pPr>
            <a:r>
              <a:rPr sz="3200" dirty="0">
                <a:latin typeface="Times New Roman"/>
                <a:cs typeface="Times New Roman"/>
              </a:rPr>
              <a:t>Each routing protocol is prioritized in order of most to least reliable using an</a:t>
            </a:r>
            <a:r>
              <a:rPr lang="en-US" sz="3200" dirty="0">
                <a:latin typeface="Times New Roman"/>
                <a:cs typeface="Times New Roman"/>
              </a:rPr>
              <a:t> </a:t>
            </a:r>
            <a:r>
              <a:rPr sz="3200" dirty="0">
                <a:latin typeface="Times New Roman"/>
                <a:cs typeface="Times New Roman"/>
              </a:rPr>
              <a:t>administrative distance value.</a:t>
            </a:r>
          </a:p>
        </p:txBody>
      </p:sp>
    </p:spTree>
    <p:extLst>
      <p:ext uri="{BB962C8B-B14F-4D97-AF65-F5344CB8AC3E}">
        <p14:creationId xmlns:p14="http://schemas.microsoft.com/office/powerpoint/2010/main" val="416339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377" y="516325"/>
            <a:ext cx="9968248"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Administrative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 on </a:t>
            </a:r>
            <a:r>
              <a:rPr b="1" spc="-6" dirty="0">
                <a:solidFill>
                  <a:schemeClr val="bg1"/>
                </a:solidFill>
                <a:latin typeface="Times New Roman" panose="02020603050405020304" pitchFamily="18" charset="0"/>
                <a:cs typeface="Times New Roman" panose="02020603050405020304" pitchFamily="18" charset="0"/>
              </a:rPr>
              <a:t>Static</a:t>
            </a:r>
            <a:r>
              <a:rPr b="1" dirty="0">
                <a:solidFill>
                  <a:schemeClr val="bg1"/>
                </a:solidFill>
                <a:latin typeface="Times New Roman" panose="02020603050405020304" pitchFamily="18" charset="0"/>
                <a:cs typeface="Times New Roman" panose="02020603050405020304" pitchFamily="18" charset="0"/>
              </a:rPr>
              <a:t> Routes</a:t>
            </a:r>
          </a:p>
        </p:txBody>
      </p:sp>
      <p:sp>
        <p:nvSpPr>
          <p:cNvPr id="3" name="object 3"/>
          <p:cNvSpPr txBox="1"/>
          <p:nvPr/>
        </p:nvSpPr>
        <p:spPr>
          <a:xfrm>
            <a:off x="112377" y="1786929"/>
            <a:ext cx="9968248" cy="5448805"/>
          </a:xfrm>
          <a:prstGeom prst="rect">
            <a:avLst/>
          </a:prstGeom>
        </p:spPr>
        <p:txBody>
          <a:bodyPr vert="horz" wrap="square" lIns="0" tIns="244989" rIns="0" bIns="0" rtlCol="0">
            <a:spAutoFit/>
          </a:bodyPr>
          <a:lstStyle/>
          <a:p>
            <a:pPr marL="470499" marR="121792" indent="-457200">
              <a:spcBef>
                <a:spcPts val="2127"/>
              </a:spcBef>
              <a:buClr>
                <a:srgbClr val="C00000"/>
              </a:buClr>
              <a:buSzPct val="85416"/>
              <a:buFont typeface="Wingdings" panose="05000000000000000000" pitchFamily="2" charset="2"/>
              <a:buChar char="Ø"/>
              <a:tabLst>
                <a:tab pos="315682" algn="l"/>
                <a:tab pos="316382" algn="l"/>
              </a:tabLst>
            </a:pPr>
            <a:r>
              <a:rPr sz="3200" dirty="0">
                <a:latin typeface="Times New Roman"/>
                <a:cs typeface="Times New Roman"/>
              </a:rPr>
              <a:t>When the leased line is working, R1 learns a </a:t>
            </a:r>
            <a:r>
              <a:rPr lang="en-US" sz="3200" dirty="0">
                <a:latin typeface="Times New Roman"/>
                <a:cs typeface="Times New Roman"/>
              </a:rPr>
              <a:t>Routing Information Protocol (</a:t>
            </a:r>
            <a:r>
              <a:rPr sz="3200" dirty="0">
                <a:latin typeface="Times New Roman"/>
                <a:cs typeface="Times New Roman"/>
              </a:rPr>
              <a:t>RIP</a:t>
            </a:r>
            <a:r>
              <a:rPr lang="en-US" sz="3200" dirty="0">
                <a:latin typeface="Times New Roman"/>
                <a:cs typeface="Times New Roman"/>
              </a:rPr>
              <a:t>)</a:t>
            </a:r>
            <a:r>
              <a:rPr sz="3200" dirty="0">
                <a:latin typeface="Times New Roman"/>
                <a:cs typeface="Times New Roman"/>
              </a:rPr>
              <a:t> route for  172.16.3.0/24, and it has the static route that references interface BRI0/0.</a:t>
            </a:r>
          </a:p>
          <a:p>
            <a:pPr marL="471199" indent="-457200">
              <a:spcBef>
                <a:spcPts val="28"/>
              </a:spcBef>
              <a:buClr>
                <a:srgbClr val="C00000"/>
              </a:buClr>
              <a:buSzPct val="85416"/>
              <a:buFont typeface="Wingdings" panose="05000000000000000000" pitchFamily="2" charset="2"/>
              <a:buChar char="Ø"/>
              <a:tabLst>
                <a:tab pos="315682" algn="l"/>
                <a:tab pos="316382" algn="l"/>
              </a:tabLst>
            </a:pPr>
            <a:r>
              <a:rPr sz="3200" dirty="0">
                <a:latin typeface="Times New Roman"/>
                <a:cs typeface="Times New Roman"/>
              </a:rPr>
              <a:t>In such cases, the router uses the route with the </a:t>
            </a:r>
            <a:r>
              <a:rPr sz="3200" b="1" dirty="0">
                <a:solidFill>
                  <a:srgbClr val="FF0000"/>
                </a:solidFill>
                <a:latin typeface="Times New Roman"/>
                <a:cs typeface="Times New Roman"/>
              </a:rPr>
              <a:t>lowest</a:t>
            </a:r>
            <a:r>
              <a:rPr lang="en-US" sz="3200" b="1" i="1" dirty="0">
                <a:solidFill>
                  <a:srgbClr val="C00000"/>
                </a:solidFill>
                <a:latin typeface="Times New Roman"/>
                <a:cs typeface="Times New Roman"/>
              </a:rPr>
              <a:t> </a:t>
            </a:r>
            <a:r>
              <a:rPr sz="3200" b="1" dirty="0">
                <a:solidFill>
                  <a:srgbClr val="FF0000"/>
                </a:solidFill>
                <a:latin typeface="Times New Roman"/>
                <a:cs typeface="Times New Roman"/>
              </a:rPr>
              <a:t>administrative distance</a:t>
            </a:r>
            <a:r>
              <a:rPr sz="3200" dirty="0">
                <a:latin typeface="Times New Roman"/>
                <a:cs typeface="Times New Roman"/>
              </a:rPr>
              <a:t>.</a:t>
            </a:r>
          </a:p>
          <a:p>
            <a:pPr marL="470499" marR="5600" indent="-457200">
              <a:spcBef>
                <a:spcPts val="645"/>
              </a:spcBef>
              <a:buClr>
                <a:srgbClr val="C00000"/>
              </a:buClr>
              <a:buSzPct val="85416"/>
              <a:buFont typeface="Wingdings" panose="05000000000000000000" pitchFamily="2" charset="2"/>
              <a:buChar char="Ø"/>
              <a:tabLst>
                <a:tab pos="315682" algn="l"/>
                <a:tab pos="316382" algn="l"/>
              </a:tabLst>
            </a:pPr>
            <a:r>
              <a:rPr sz="3200" dirty="0">
                <a:latin typeface="Times New Roman"/>
                <a:cs typeface="Times New Roman"/>
              </a:rPr>
              <a:t>RIP-learned routes have an administrative distance of </a:t>
            </a:r>
            <a:r>
              <a:rPr sz="3200" b="1" dirty="0">
                <a:solidFill>
                  <a:srgbClr val="FF0000"/>
                </a:solidFill>
                <a:latin typeface="Times New Roman"/>
                <a:cs typeface="Times New Roman"/>
              </a:rPr>
              <a:t>120</a:t>
            </a:r>
            <a:r>
              <a:rPr sz="3200" dirty="0">
                <a:latin typeface="Times New Roman"/>
                <a:cs typeface="Times New Roman"/>
              </a:rPr>
              <a:t> by</a:t>
            </a:r>
            <a:r>
              <a:rPr lang="en-US" sz="3200" dirty="0">
                <a:latin typeface="Times New Roman"/>
                <a:cs typeface="Times New Roman"/>
              </a:rPr>
              <a:t> </a:t>
            </a:r>
            <a:r>
              <a:rPr sz="3200" dirty="0">
                <a:latin typeface="Times New Roman"/>
                <a:cs typeface="Times New Roman"/>
              </a:rPr>
              <a:t>default, and static routes have an administrative distance of either  0 or 1 by default.</a:t>
            </a:r>
            <a:endParaRPr lang="en-US" sz="3200" dirty="0">
              <a:latin typeface="Times New Roman"/>
              <a:cs typeface="Times New Roman"/>
            </a:endParaRPr>
          </a:p>
          <a:p>
            <a:pPr marL="927699" marR="5600" lvl="1" indent="-457200">
              <a:spcBef>
                <a:spcPts val="645"/>
              </a:spcBef>
              <a:buClr>
                <a:srgbClr val="C00000"/>
              </a:buClr>
              <a:buSzPct val="85416"/>
              <a:buFont typeface="Wingdings" panose="05000000000000000000" pitchFamily="2" charset="2"/>
              <a:buChar char="ü"/>
              <a:tabLst>
                <a:tab pos="315682" algn="l"/>
                <a:tab pos="316382" algn="l"/>
              </a:tabLst>
            </a:pPr>
            <a:r>
              <a:rPr lang="en-US" sz="2400" b="1" dirty="0">
                <a:solidFill>
                  <a:srgbClr val="FF0000"/>
                </a:solidFill>
                <a:latin typeface="Times New Roman"/>
                <a:cs typeface="Times New Roman"/>
              </a:rPr>
              <a:t>Routing Information Protocol </a:t>
            </a:r>
            <a:r>
              <a:rPr lang="en-US" sz="2400" dirty="0">
                <a:latin typeface="Times New Roman"/>
                <a:cs typeface="Times New Roman"/>
              </a:rPr>
              <a:t>(</a:t>
            </a:r>
            <a:r>
              <a:rPr lang="en-US" sz="2400" b="1" dirty="0">
                <a:solidFill>
                  <a:srgbClr val="FF0000"/>
                </a:solidFill>
                <a:latin typeface="Times New Roman"/>
                <a:cs typeface="Times New Roman"/>
              </a:rPr>
              <a:t>RIP</a:t>
            </a:r>
            <a:r>
              <a:rPr lang="en-US" sz="2400" dirty="0">
                <a:latin typeface="Times New Roman"/>
                <a:cs typeface="Times New Roman"/>
              </a:rPr>
              <a:t>) is a dynamic routing protocol that </a:t>
            </a:r>
            <a:r>
              <a:rPr lang="en-US" sz="2400" b="1" dirty="0">
                <a:solidFill>
                  <a:srgbClr val="FF0000"/>
                </a:solidFill>
                <a:latin typeface="Times New Roman"/>
                <a:cs typeface="Times New Roman"/>
              </a:rPr>
              <a:t>uses hop count as a routing metric </a:t>
            </a:r>
            <a:r>
              <a:rPr lang="en-US" sz="2400" dirty="0">
                <a:latin typeface="Times New Roman"/>
                <a:cs typeface="Times New Roman"/>
              </a:rPr>
              <a:t>to find the best path between the source and the destination network. </a:t>
            </a:r>
            <a:endParaRPr sz="2400" dirty="0">
              <a:latin typeface="Times New Roman"/>
              <a:cs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918" y="529203"/>
            <a:ext cx="9814787"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Administrative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 on </a:t>
            </a:r>
            <a:r>
              <a:rPr b="1" spc="-6" dirty="0">
                <a:solidFill>
                  <a:schemeClr val="bg1"/>
                </a:solidFill>
                <a:latin typeface="Times New Roman" panose="02020603050405020304" pitchFamily="18" charset="0"/>
                <a:cs typeface="Times New Roman" panose="02020603050405020304" pitchFamily="18" charset="0"/>
              </a:rPr>
              <a:t>Static</a:t>
            </a:r>
            <a:r>
              <a:rPr b="1" dirty="0">
                <a:solidFill>
                  <a:schemeClr val="bg1"/>
                </a:solidFill>
                <a:latin typeface="Times New Roman" panose="02020603050405020304" pitchFamily="18" charset="0"/>
                <a:cs typeface="Times New Roman" panose="02020603050405020304" pitchFamily="18" charset="0"/>
              </a:rPr>
              <a:t> Routes</a:t>
            </a:r>
          </a:p>
        </p:txBody>
      </p:sp>
      <p:sp>
        <p:nvSpPr>
          <p:cNvPr id="3" name="object 3"/>
          <p:cNvSpPr txBox="1"/>
          <p:nvPr/>
        </p:nvSpPr>
        <p:spPr>
          <a:xfrm>
            <a:off x="0" y="1413441"/>
            <a:ext cx="9968248" cy="3771423"/>
          </a:xfrm>
          <a:prstGeom prst="rect">
            <a:avLst/>
          </a:prstGeom>
        </p:spPr>
        <p:txBody>
          <a:bodyPr vert="horz" wrap="square" lIns="0" tIns="244989" rIns="0" bIns="0" rtlCol="0">
            <a:spAutoFit/>
          </a:bodyPr>
          <a:lstStyle/>
          <a:p>
            <a:pPr marL="470499" marR="232387" indent="-457200">
              <a:spcBef>
                <a:spcPts val="694"/>
              </a:spcBef>
              <a:buClr>
                <a:srgbClr val="C00000"/>
              </a:buClr>
              <a:buSzPct val="85416"/>
              <a:buFont typeface="Wingdings" panose="05000000000000000000" pitchFamily="2" charset="2"/>
              <a:buChar char="Ø"/>
              <a:tabLst>
                <a:tab pos="315682" algn="l"/>
                <a:tab pos="316382" algn="l"/>
                <a:tab pos="2020786" algn="l"/>
              </a:tabLst>
            </a:pPr>
            <a:r>
              <a:rPr sz="3200" dirty="0">
                <a:latin typeface="Times New Roman"/>
                <a:cs typeface="Times New Roman"/>
              </a:rPr>
              <a:t>If the </a:t>
            </a:r>
            <a:r>
              <a:rPr sz="3200" b="1" dirty="0">
                <a:solidFill>
                  <a:srgbClr val="FF0000"/>
                </a:solidFill>
                <a:latin typeface="Times New Roman"/>
                <a:cs typeface="Times New Roman"/>
              </a:rPr>
              <a:t>ip route 172.16.3.0 255.255.255.0 bri0/0 </a:t>
            </a:r>
            <a:r>
              <a:rPr sz="3200" dirty="0">
                <a:latin typeface="Times New Roman"/>
                <a:cs typeface="Times New Roman"/>
              </a:rPr>
              <a:t>command is configured,</a:t>
            </a:r>
            <a:r>
              <a:rPr lang="en-US" sz="3200" dirty="0">
                <a:latin typeface="Times New Roman"/>
                <a:cs typeface="Times New Roman"/>
              </a:rPr>
              <a:t> </a:t>
            </a:r>
            <a:r>
              <a:rPr sz="3200" dirty="0">
                <a:latin typeface="Times New Roman"/>
                <a:cs typeface="Times New Roman"/>
              </a:rPr>
              <a:t>it has a lower administrative distance than the RIP-learned route, and R1 uses the static route.</a:t>
            </a:r>
          </a:p>
          <a:p>
            <a:pPr marL="470499" marR="573268" indent="-457200">
              <a:spcBef>
                <a:spcPts val="634"/>
              </a:spcBef>
              <a:buClr>
                <a:srgbClr val="C00000"/>
              </a:buClr>
              <a:buSzPct val="85416"/>
              <a:buFont typeface="Wingdings" panose="05000000000000000000" pitchFamily="2" charset="2"/>
              <a:buChar char="Ø"/>
              <a:tabLst>
                <a:tab pos="315682" algn="l"/>
                <a:tab pos="316382" algn="l"/>
              </a:tabLst>
            </a:pPr>
            <a:r>
              <a:rPr sz="3200" dirty="0">
                <a:latin typeface="Times New Roman"/>
                <a:cs typeface="Times New Roman"/>
              </a:rPr>
              <a:t>A router prefers a static route to a dynamic route because the  router considers a </a:t>
            </a:r>
            <a:r>
              <a:rPr sz="3200" b="1" dirty="0">
                <a:solidFill>
                  <a:srgbClr val="FF0000"/>
                </a:solidFill>
                <a:latin typeface="Times New Roman"/>
                <a:cs typeface="Times New Roman"/>
              </a:rPr>
              <a:t>route with a low number to be the shortest</a:t>
            </a:r>
            <a:r>
              <a:rPr sz="3200" dirty="0">
                <a:latin typeface="Times New Roman"/>
                <a:cs typeface="Times New Roman"/>
              </a:rPr>
              <a:t>.</a:t>
            </a:r>
          </a:p>
        </p:txBody>
      </p:sp>
    </p:spTree>
    <p:extLst>
      <p:ext uri="{BB962C8B-B14F-4D97-AF65-F5344CB8AC3E}">
        <p14:creationId xmlns:p14="http://schemas.microsoft.com/office/powerpoint/2010/main" val="9413217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030" y="426173"/>
            <a:ext cx="9813701"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Administrative</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on</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Static</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Routes</a:t>
            </a:r>
          </a:p>
        </p:txBody>
      </p:sp>
      <p:sp>
        <p:nvSpPr>
          <p:cNvPr id="3" name="object 3"/>
          <p:cNvSpPr txBox="1"/>
          <p:nvPr/>
        </p:nvSpPr>
        <p:spPr>
          <a:xfrm>
            <a:off x="199426" y="1887777"/>
            <a:ext cx="9717306" cy="4044151"/>
          </a:xfrm>
          <a:prstGeom prst="rect">
            <a:avLst/>
          </a:prstGeom>
        </p:spPr>
        <p:txBody>
          <a:bodyPr vert="horz" wrap="square" lIns="0" tIns="14699" rIns="0" bIns="0" rtlCol="0">
            <a:spAutoFit/>
          </a:bodyPr>
          <a:lstStyle/>
          <a:p>
            <a:pPr marL="470499" marR="5600" indent="-457200">
              <a:spcBef>
                <a:spcPts val="2772"/>
              </a:spcBef>
              <a:buClr>
                <a:srgbClr val="D24717"/>
              </a:buClr>
              <a:buSzPct val="84615"/>
              <a:buFont typeface="Wingdings" panose="05000000000000000000" pitchFamily="2" charset="2"/>
              <a:buChar char="Ø"/>
              <a:tabLst>
                <a:tab pos="317082" algn="l"/>
              </a:tabLst>
            </a:pPr>
            <a:r>
              <a:rPr sz="3200" dirty="0">
                <a:latin typeface="Times New Roman"/>
                <a:cs typeface="Times New Roman"/>
              </a:rPr>
              <a:t>If you want a dynamic route to override a static route, you  can </a:t>
            </a:r>
            <a:r>
              <a:rPr sz="3200" b="1" dirty="0">
                <a:solidFill>
                  <a:srgbClr val="FF0000"/>
                </a:solidFill>
                <a:latin typeface="Times New Roman"/>
                <a:cs typeface="Times New Roman"/>
              </a:rPr>
              <a:t>specify an administrative distance for the static route</a:t>
            </a:r>
            <a:r>
              <a:rPr sz="3200" dirty="0">
                <a:latin typeface="Times New Roman"/>
                <a:cs typeface="Times New Roman"/>
              </a:rPr>
              <a:t>.</a:t>
            </a:r>
          </a:p>
          <a:p>
            <a:pPr marL="470499" marR="187589" indent="-457200">
              <a:spcBef>
                <a:spcPts val="661"/>
              </a:spcBef>
              <a:buClr>
                <a:srgbClr val="D24717"/>
              </a:buClr>
              <a:buSzPct val="84615"/>
              <a:buFont typeface="Wingdings" panose="05000000000000000000" pitchFamily="2" charset="2"/>
              <a:buChar char="Ø"/>
              <a:tabLst>
                <a:tab pos="317082" algn="l"/>
              </a:tabLst>
            </a:pPr>
            <a:r>
              <a:rPr sz="3200" dirty="0">
                <a:latin typeface="Times New Roman"/>
                <a:cs typeface="Times New Roman"/>
              </a:rPr>
              <a:t>For example, if you have two dynamic routes with an  administrative distance of </a:t>
            </a:r>
            <a:r>
              <a:rPr sz="3200" b="1" dirty="0">
                <a:solidFill>
                  <a:srgbClr val="FF0000"/>
                </a:solidFill>
                <a:latin typeface="Times New Roman"/>
                <a:cs typeface="Times New Roman"/>
              </a:rPr>
              <a:t>120</a:t>
            </a:r>
            <a:r>
              <a:rPr sz="3200" dirty="0">
                <a:latin typeface="Times New Roman"/>
                <a:cs typeface="Times New Roman"/>
              </a:rPr>
              <a:t> (RIP), you would specify  an administrative distance that is greater than 120 for the  static route if you want the dynamic route to override the  static route.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303" y="517022"/>
            <a:ext cx="9900320"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Administrative</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on</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Static</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Routes</a:t>
            </a:r>
          </a:p>
        </p:txBody>
      </p:sp>
      <p:sp>
        <p:nvSpPr>
          <p:cNvPr id="3" name="object 3"/>
          <p:cNvSpPr txBox="1"/>
          <p:nvPr/>
        </p:nvSpPr>
        <p:spPr>
          <a:xfrm>
            <a:off x="180303" y="1600976"/>
            <a:ext cx="9900321" cy="4511056"/>
          </a:xfrm>
          <a:prstGeom prst="rect">
            <a:avLst/>
          </a:prstGeom>
        </p:spPr>
        <p:txBody>
          <a:bodyPr vert="horz" wrap="square" lIns="0" tIns="248489" rIns="0" bIns="0" rtlCol="0">
            <a:spAutoFit/>
          </a:bodyPr>
          <a:lstStyle/>
          <a:p>
            <a:pPr marL="470499" marR="146992" indent="-457200">
              <a:spcBef>
                <a:spcPts val="2519"/>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The administrative distance </a:t>
            </a:r>
            <a:r>
              <a:rPr sz="3200" spc="-11" dirty="0">
                <a:latin typeface="Times New Roman"/>
                <a:cs typeface="Times New Roman"/>
              </a:rPr>
              <a:t>can </a:t>
            </a:r>
            <a:r>
              <a:rPr sz="3200" spc="-6" dirty="0">
                <a:latin typeface="Times New Roman"/>
                <a:cs typeface="Times New Roman"/>
              </a:rPr>
              <a:t>be used to compare </a:t>
            </a:r>
            <a:r>
              <a:rPr sz="3200" dirty="0">
                <a:latin typeface="Times New Roman"/>
                <a:cs typeface="Times New Roman"/>
              </a:rPr>
              <a:t> routes </a:t>
            </a:r>
            <a:r>
              <a:rPr sz="3200" spc="-6" dirty="0">
                <a:latin typeface="Times New Roman"/>
                <a:cs typeface="Times New Roman"/>
              </a:rPr>
              <a:t>learned by multiple </a:t>
            </a:r>
            <a:r>
              <a:rPr sz="3200" spc="-11" dirty="0">
                <a:latin typeface="Times New Roman"/>
                <a:cs typeface="Times New Roman"/>
              </a:rPr>
              <a:t>different </a:t>
            </a:r>
            <a:r>
              <a:rPr sz="3200" spc="-6" dirty="0">
                <a:latin typeface="Times New Roman"/>
                <a:cs typeface="Times New Roman"/>
              </a:rPr>
              <a:t>routing </a:t>
            </a:r>
            <a:r>
              <a:rPr sz="3200" dirty="0">
                <a:latin typeface="Times New Roman"/>
                <a:cs typeface="Times New Roman"/>
              </a:rPr>
              <a:t>protocols </a:t>
            </a:r>
            <a:r>
              <a:rPr sz="3200" spc="-6" dirty="0">
                <a:latin typeface="Times New Roman"/>
                <a:cs typeface="Times New Roman"/>
              </a:rPr>
              <a:t>as </a:t>
            </a:r>
            <a:r>
              <a:rPr sz="3200" spc="-755" dirty="0">
                <a:latin typeface="Times New Roman"/>
                <a:cs typeface="Times New Roman"/>
              </a:rPr>
              <a:t> </a:t>
            </a:r>
            <a:r>
              <a:rPr sz="3200" spc="-6" dirty="0">
                <a:latin typeface="Times New Roman"/>
                <a:cs typeface="Times New Roman"/>
              </a:rPr>
              <a:t>well.</a:t>
            </a:r>
            <a:endParaRPr lang="en-US" sz="3200" spc="-6" dirty="0">
              <a:latin typeface="Times New Roman"/>
              <a:cs typeface="Times New Roman"/>
            </a:endParaRPr>
          </a:p>
          <a:p>
            <a:pPr marL="470499" marR="146992" indent="-457200">
              <a:spcBef>
                <a:spcPts val="2519"/>
              </a:spcBef>
              <a:buClr>
                <a:srgbClr val="D24717"/>
              </a:buClr>
              <a:buSzPct val="83928"/>
              <a:buFont typeface="Wingdings" panose="05000000000000000000" pitchFamily="2" charset="2"/>
              <a:buChar char="Ø"/>
              <a:tabLst>
                <a:tab pos="316382" algn="l"/>
              </a:tabLst>
            </a:pPr>
            <a:r>
              <a:rPr sz="3200" dirty="0">
                <a:latin typeface="Times New Roman"/>
                <a:cs typeface="Times New Roman"/>
              </a:rPr>
              <a:t>If,</a:t>
            </a:r>
            <a:r>
              <a:rPr sz="3200" spc="-6" dirty="0">
                <a:latin typeface="Times New Roman"/>
                <a:cs typeface="Times New Roman"/>
              </a:rPr>
              <a:t> for</a:t>
            </a:r>
            <a:r>
              <a:rPr sz="3200" spc="6" dirty="0">
                <a:latin typeface="Times New Roman"/>
                <a:cs typeface="Times New Roman"/>
              </a:rPr>
              <a:t> </a:t>
            </a:r>
            <a:r>
              <a:rPr sz="3200" spc="-6" dirty="0">
                <a:latin typeface="Times New Roman"/>
                <a:cs typeface="Times New Roman"/>
              </a:rPr>
              <a:t>example, a </a:t>
            </a:r>
            <a:r>
              <a:rPr sz="3200" dirty="0">
                <a:latin typeface="Times New Roman"/>
                <a:cs typeface="Times New Roman"/>
              </a:rPr>
              <a:t>router</a:t>
            </a:r>
            <a:r>
              <a:rPr sz="3200" spc="-11" dirty="0">
                <a:latin typeface="Times New Roman"/>
                <a:cs typeface="Times New Roman"/>
              </a:rPr>
              <a:t> </a:t>
            </a:r>
            <a:r>
              <a:rPr sz="3200" spc="-6" dirty="0">
                <a:latin typeface="Times New Roman"/>
                <a:cs typeface="Times New Roman"/>
              </a:rPr>
              <a:t>uses both</a:t>
            </a:r>
            <a:r>
              <a:rPr sz="3200" spc="-11" dirty="0">
                <a:latin typeface="Times New Roman"/>
                <a:cs typeface="Times New Roman"/>
              </a:rPr>
              <a:t> </a:t>
            </a:r>
            <a:r>
              <a:rPr sz="3200" b="1" spc="-6" dirty="0">
                <a:solidFill>
                  <a:srgbClr val="FF0000"/>
                </a:solidFill>
                <a:latin typeface="Times New Roman"/>
                <a:cs typeface="Times New Roman"/>
              </a:rPr>
              <a:t>RIP</a:t>
            </a:r>
            <a:r>
              <a:rPr sz="3200" spc="-110" dirty="0">
                <a:latin typeface="Times New Roman"/>
                <a:cs typeface="Times New Roman"/>
              </a:rPr>
              <a:t> </a:t>
            </a:r>
            <a:r>
              <a:rPr sz="3200" spc="-6" dirty="0">
                <a:latin typeface="Times New Roman"/>
                <a:cs typeface="Times New Roman"/>
              </a:rPr>
              <a:t>and </a:t>
            </a:r>
            <a:r>
              <a:rPr sz="3200" b="1" spc="-6" dirty="0">
                <a:solidFill>
                  <a:srgbClr val="FF0000"/>
                </a:solidFill>
                <a:latin typeface="Times New Roman"/>
                <a:cs typeface="Times New Roman"/>
              </a:rPr>
              <a:t>OSPF</a:t>
            </a:r>
            <a:r>
              <a:rPr sz="3200" spc="17" dirty="0">
                <a:latin typeface="Times New Roman"/>
                <a:cs typeface="Times New Roman"/>
              </a:rPr>
              <a:t> </a:t>
            </a:r>
            <a:r>
              <a:rPr sz="3200" spc="-6" dirty="0">
                <a:latin typeface="Times New Roman"/>
                <a:cs typeface="Times New Roman"/>
              </a:rPr>
              <a:t>(which </a:t>
            </a:r>
            <a:r>
              <a:rPr sz="3200" spc="-755" dirty="0">
                <a:latin typeface="Times New Roman"/>
                <a:cs typeface="Times New Roman"/>
              </a:rPr>
              <a:t> </a:t>
            </a:r>
            <a:r>
              <a:rPr sz="3200" spc="-6" dirty="0">
                <a:latin typeface="Times New Roman"/>
                <a:cs typeface="Times New Roman"/>
              </a:rPr>
              <a:t>makes sense in some cases), the </a:t>
            </a:r>
            <a:r>
              <a:rPr sz="3200" dirty="0">
                <a:latin typeface="Times New Roman"/>
                <a:cs typeface="Times New Roman"/>
              </a:rPr>
              <a:t>router </a:t>
            </a:r>
            <a:r>
              <a:rPr sz="3200" spc="-6" dirty="0">
                <a:latin typeface="Times New Roman"/>
                <a:cs typeface="Times New Roman"/>
              </a:rPr>
              <a:t>might learn (with </a:t>
            </a:r>
            <a:r>
              <a:rPr sz="3200" spc="-755" dirty="0">
                <a:latin typeface="Times New Roman"/>
                <a:cs typeface="Times New Roman"/>
              </a:rPr>
              <a:t> </a:t>
            </a:r>
            <a:r>
              <a:rPr sz="3200" spc="-6" dirty="0">
                <a:latin typeface="Times New Roman"/>
                <a:cs typeface="Times New Roman"/>
              </a:rPr>
              <a:t>RIP) a </a:t>
            </a:r>
            <a:r>
              <a:rPr sz="3200" dirty="0">
                <a:latin typeface="Times New Roman"/>
                <a:cs typeface="Times New Roman"/>
              </a:rPr>
              <a:t>hop-count-3 route </a:t>
            </a:r>
            <a:r>
              <a:rPr sz="3200" spc="-6" dirty="0">
                <a:latin typeface="Times New Roman"/>
                <a:cs typeface="Times New Roman"/>
              </a:rPr>
              <a:t>to a destination subnet, and </a:t>
            </a:r>
            <a:r>
              <a:rPr sz="3200" dirty="0">
                <a:latin typeface="Times New Roman"/>
                <a:cs typeface="Times New Roman"/>
              </a:rPr>
              <a:t> </a:t>
            </a:r>
            <a:r>
              <a:rPr sz="3200" spc="-6" dirty="0">
                <a:latin typeface="Times New Roman"/>
                <a:cs typeface="Times New Roman"/>
              </a:rPr>
              <a:t>(with</a:t>
            </a:r>
            <a:r>
              <a:rPr sz="3200" spc="-11" dirty="0">
                <a:latin typeface="Times New Roman"/>
                <a:cs typeface="Times New Roman"/>
              </a:rPr>
              <a:t> </a:t>
            </a:r>
            <a:r>
              <a:rPr sz="3200" spc="-6" dirty="0">
                <a:latin typeface="Times New Roman"/>
                <a:cs typeface="Times New Roman"/>
              </a:rPr>
              <a:t>OSPF)</a:t>
            </a:r>
            <a:r>
              <a:rPr sz="3200" spc="22" dirty="0">
                <a:latin typeface="Times New Roman"/>
                <a:cs typeface="Times New Roman"/>
              </a:rPr>
              <a:t> </a:t>
            </a:r>
            <a:r>
              <a:rPr sz="3200" spc="-6" dirty="0">
                <a:latin typeface="Times New Roman"/>
                <a:cs typeface="Times New Roman"/>
              </a:rPr>
              <a:t>a</a:t>
            </a:r>
            <a:r>
              <a:rPr sz="3200" spc="-11" dirty="0">
                <a:latin typeface="Times New Roman"/>
                <a:cs typeface="Times New Roman"/>
              </a:rPr>
              <a:t> </a:t>
            </a:r>
            <a:r>
              <a:rPr sz="3200" dirty="0">
                <a:latin typeface="Times New Roman"/>
                <a:cs typeface="Times New Roman"/>
              </a:rPr>
              <a:t>cost-54</a:t>
            </a:r>
            <a:r>
              <a:rPr sz="3200" spc="-11" dirty="0">
                <a:latin typeface="Times New Roman"/>
                <a:cs typeface="Times New Roman"/>
              </a:rPr>
              <a:t> </a:t>
            </a:r>
            <a:r>
              <a:rPr sz="3200" dirty="0">
                <a:latin typeface="Times New Roman"/>
                <a:cs typeface="Times New Roman"/>
              </a:rPr>
              <a:t>route</a:t>
            </a:r>
            <a:r>
              <a:rPr sz="3200" spc="-17" dirty="0">
                <a:latin typeface="Times New Roman"/>
                <a:cs typeface="Times New Roman"/>
              </a:rPr>
              <a:t> </a:t>
            </a:r>
            <a:r>
              <a:rPr sz="3200" spc="-6" dirty="0">
                <a:latin typeface="Times New Roman"/>
                <a:cs typeface="Times New Roman"/>
              </a:rPr>
              <a:t>to</a:t>
            </a:r>
            <a:r>
              <a:rPr sz="3200" spc="-11" dirty="0">
                <a:latin typeface="Times New Roman"/>
                <a:cs typeface="Times New Roman"/>
              </a:rPr>
              <a:t> </a:t>
            </a:r>
            <a:r>
              <a:rPr sz="3200" dirty="0">
                <a:latin typeface="Times New Roman"/>
                <a:cs typeface="Times New Roman"/>
              </a:rPr>
              <a:t>the</a:t>
            </a:r>
            <a:r>
              <a:rPr sz="3200" spc="-11" dirty="0">
                <a:latin typeface="Times New Roman"/>
                <a:cs typeface="Times New Roman"/>
              </a:rPr>
              <a:t> same</a:t>
            </a:r>
            <a:r>
              <a:rPr sz="3200" spc="-6" dirty="0">
                <a:latin typeface="Times New Roman"/>
                <a:cs typeface="Times New Roman"/>
              </a:rPr>
              <a:t> </a:t>
            </a:r>
            <a:r>
              <a:rPr sz="3200" dirty="0">
                <a:latin typeface="Times New Roman"/>
                <a:cs typeface="Times New Roman"/>
              </a:rPr>
              <a:t>subnet.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302" y="517022"/>
            <a:ext cx="9900321"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Administrative</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on</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Static</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Routes</a:t>
            </a:r>
          </a:p>
        </p:txBody>
      </p:sp>
      <p:sp>
        <p:nvSpPr>
          <p:cNvPr id="3" name="object 3"/>
          <p:cNvSpPr txBox="1"/>
          <p:nvPr/>
        </p:nvSpPr>
        <p:spPr>
          <a:xfrm>
            <a:off x="180303" y="1600976"/>
            <a:ext cx="9900321" cy="4280224"/>
          </a:xfrm>
          <a:prstGeom prst="rect">
            <a:avLst/>
          </a:prstGeom>
        </p:spPr>
        <p:txBody>
          <a:bodyPr vert="horz" wrap="square" lIns="0" tIns="248489" rIns="0" bIns="0" rtlCol="0">
            <a:spAutoFit/>
          </a:bodyPr>
          <a:lstStyle/>
          <a:p>
            <a:pPr marL="470499" marR="291884" indent="-457200">
              <a:spcBef>
                <a:spcPts val="667"/>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It is </a:t>
            </a:r>
            <a:r>
              <a:rPr sz="3200" b="1" spc="-6" dirty="0">
                <a:solidFill>
                  <a:srgbClr val="FF0000"/>
                </a:solidFill>
                <a:latin typeface="Times New Roman"/>
                <a:cs typeface="Times New Roman"/>
              </a:rPr>
              <a:t>impossible</a:t>
            </a:r>
            <a:r>
              <a:rPr sz="3200" spc="-6" dirty="0">
                <a:latin typeface="Times New Roman"/>
                <a:cs typeface="Times New Roman"/>
              </a:rPr>
              <a:t> to compare </a:t>
            </a:r>
            <a:r>
              <a:rPr sz="3200" dirty="0">
                <a:latin typeface="Times New Roman"/>
                <a:cs typeface="Times New Roman"/>
              </a:rPr>
              <a:t>the totally </a:t>
            </a:r>
            <a:r>
              <a:rPr sz="3200" b="1" spc="-11" dirty="0">
                <a:solidFill>
                  <a:srgbClr val="FF0000"/>
                </a:solidFill>
                <a:latin typeface="Times New Roman"/>
                <a:cs typeface="Times New Roman"/>
              </a:rPr>
              <a:t>different </a:t>
            </a:r>
            <a:r>
              <a:rPr sz="3200" b="1" spc="-6" dirty="0">
                <a:solidFill>
                  <a:srgbClr val="FF0000"/>
                </a:solidFill>
                <a:latin typeface="Times New Roman"/>
                <a:cs typeface="Times New Roman"/>
              </a:rPr>
              <a:t>metrics </a:t>
            </a:r>
            <a:r>
              <a:rPr sz="3200" b="1" spc="-755" dirty="0">
                <a:solidFill>
                  <a:srgbClr val="FF0000"/>
                </a:solidFill>
                <a:latin typeface="Times New Roman"/>
                <a:cs typeface="Times New Roman"/>
              </a:rPr>
              <a:t> </a:t>
            </a:r>
            <a:r>
              <a:rPr sz="3200" b="1" spc="-6" dirty="0">
                <a:solidFill>
                  <a:srgbClr val="FF0000"/>
                </a:solidFill>
                <a:latin typeface="Times New Roman"/>
                <a:cs typeface="Times New Roman"/>
              </a:rPr>
              <a:t>and tell which </a:t>
            </a:r>
            <a:r>
              <a:rPr sz="3200" b="1" dirty="0">
                <a:solidFill>
                  <a:srgbClr val="FF0000"/>
                </a:solidFill>
                <a:latin typeface="Times New Roman"/>
                <a:cs typeface="Times New Roman"/>
              </a:rPr>
              <a:t>route </a:t>
            </a:r>
            <a:r>
              <a:rPr sz="3200" b="1" spc="-6" dirty="0">
                <a:solidFill>
                  <a:srgbClr val="FF0000"/>
                </a:solidFill>
                <a:latin typeface="Times New Roman"/>
                <a:cs typeface="Times New Roman"/>
              </a:rPr>
              <a:t>is best</a:t>
            </a:r>
            <a:r>
              <a:rPr sz="3200" spc="-6" dirty="0">
                <a:latin typeface="Times New Roman"/>
                <a:cs typeface="Times New Roman"/>
              </a:rPr>
              <a:t>, so </a:t>
            </a:r>
            <a:r>
              <a:rPr sz="3200" dirty="0">
                <a:latin typeface="Times New Roman"/>
                <a:cs typeface="Times New Roman"/>
              </a:rPr>
              <a:t>the router </a:t>
            </a:r>
            <a:r>
              <a:rPr sz="3200" spc="-6" dirty="0">
                <a:latin typeface="Times New Roman"/>
                <a:cs typeface="Times New Roman"/>
              </a:rPr>
              <a:t>uses </a:t>
            </a:r>
            <a:r>
              <a:rPr sz="3200" dirty="0">
                <a:latin typeface="Times New Roman"/>
                <a:cs typeface="Times New Roman"/>
              </a:rPr>
              <a:t>the </a:t>
            </a:r>
            <a:r>
              <a:rPr sz="3200" spc="6" dirty="0">
                <a:latin typeface="Times New Roman"/>
                <a:cs typeface="Times New Roman"/>
              </a:rPr>
              <a:t> </a:t>
            </a:r>
            <a:r>
              <a:rPr sz="3200" spc="-6" dirty="0">
                <a:latin typeface="Times New Roman"/>
                <a:cs typeface="Times New Roman"/>
              </a:rPr>
              <a:t>administrative distance, </a:t>
            </a:r>
            <a:r>
              <a:rPr sz="3200" dirty="0">
                <a:latin typeface="Times New Roman"/>
                <a:cs typeface="Times New Roman"/>
              </a:rPr>
              <a:t>choosing the </a:t>
            </a:r>
            <a:r>
              <a:rPr sz="3200" spc="-6" dirty="0">
                <a:latin typeface="Times New Roman"/>
                <a:cs typeface="Times New Roman"/>
              </a:rPr>
              <a:t>OSPF </a:t>
            </a:r>
            <a:r>
              <a:rPr sz="3200" dirty="0">
                <a:latin typeface="Times New Roman"/>
                <a:cs typeface="Times New Roman"/>
              </a:rPr>
              <a:t>route </a:t>
            </a:r>
            <a:r>
              <a:rPr sz="3200" spc="6" dirty="0">
                <a:latin typeface="Times New Roman"/>
                <a:cs typeface="Times New Roman"/>
              </a:rPr>
              <a:t> </a:t>
            </a:r>
            <a:r>
              <a:rPr sz="3200" spc="-6" dirty="0">
                <a:latin typeface="Times New Roman"/>
                <a:cs typeface="Times New Roman"/>
              </a:rPr>
              <a:t>because,</a:t>
            </a:r>
            <a:r>
              <a:rPr sz="3200" spc="-28" dirty="0">
                <a:latin typeface="Times New Roman"/>
                <a:cs typeface="Times New Roman"/>
              </a:rPr>
              <a:t> </a:t>
            </a:r>
            <a:r>
              <a:rPr sz="3200" spc="-6" dirty="0">
                <a:latin typeface="Times New Roman"/>
                <a:cs typeface="Times New Roman"/>
              </a:rPr>
              <a:t>by</a:t>
            </a:r>
            <a:r>
              <a:rPr sz="3200" spc="11" dirty="0">
                <a:latin typeface="Times New Roman"/>
                <a:cs typeface="Times New Roman"/>
              </a:rPr>
              <a:t> </a:t>
            </a:r>
            <a:r>
              <a:rPr sz="3200" spc="-6" dirty="0">
                <a:latin typeface="Times New Roman"/>
                <a:cs typeface="Times New Roman"/>
              </a:rPr>
              <a:t>default,</a:t>
            </a:r>
            <a:r>
              <a:rPr sz="3200" spc="-17" dirty="0">
                <a:latin typeface="Times New Roman"/>
                <a:cs typeface="Times New Roman"/>
              </a:rPr>
              <a:t> </a:t>
            </a:r>
            <a:r>
              <a:rPr sz="3200" spc="-6" dirty="0">
                <a:latin typeface="Times New Roman"/>
                <a:cs typeface="Times New Roman"/>
              </a:rPr>
              <a:t>OSPF</a:t>
            </a:r>
            <a:r>
              <a:rPr sz="3200" spc="33"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6" dirty="0">
                <a:latin typeface="Times New Roman"/>
                <a:cs typeface="Times New Roman"/>
              </a:rPr>
              <a:t>lower</a:t>
            </a:r>
            <a:r>
              <a:rPr sz="3200" dirty="0">
                <a:latin typeface="Times New Roman"/>
                <a:cs typeface="Times New Roman"/>
              </a:rPr>
              <a:t> </a:t>
            </a:r>
            <a:r>
              <a:rPr sz="3200" spc="-6" dirty="0">
                <a:latin typeface="Times New Roman"/>
                <a:cs typeface="Times New Roman"/>
              </a:rPr>
              <a:t>administrative </a:t>
            </a:r>
            <a:r>
              <a:rPr sz="3200" dirty="0">
                <a:latin typeface="Times New Roman"/>
                <a:cs typeface="Times New Roman"/>
              </a:rPr>
              <a:t> </a:t>
            </a:r>
            <a:r>
              <a:rPr sz="3200" spc="-6" dirty="0">
                <a:latin typeface="Times New Roman"/>
                <a:cs typeface="Times New Roman"/>
              </a:rPr>
              <a:t>distance</a:t>
            </a:r>
            <a:r>
              <a:rPr sz="3200" spc="-55" dirty="0">
                <a:latin typeface="Times New Roman"/>
                <a:cs typeface="Times New Roman"/>
              </a:rPr>
              <a:t> </a:t>
            </a:r>
            <a:r>
              <a:rPr sz="3200" spc="-22" dirty="0">
                <a:latin typeface="Times New Roman"/>
                <a:cs typeface="Times New Roman"/>
              </a:rPr>
              <a:t>(110)</a:t>
            </a:r>
            <a:r>
              <a:rPr sz="3200" spc="-6" dirty="0">
                <a:latin typeface="Times New Roman"/>
                <a:cs typeface="Times New Roman"/>
              </a:rPr>
              <a:t> than</a:t>
            </a:r>
            <a:r>
              <a:rPr sz="3200" spc="-17" dirty="0">
                <a:latin typeface="Times New Roman"/>
                <a:cs typeface="Times New Roman"/>
              </a:rPr>
              <a:t> </a:t>
            </a:r>
            <a:r>
              <a:rPr sz="3200" spc="-6" dirty="0">
                <a:latin typeface="Times New Roman"/>
                <a:cs typeface="Times New Roman"/>
              </a:rPr>
              <a:t>RIP</a:t>
            </a:r>
            <a:r>
              <a:rPr sz="3200" spc="-116" dirty="0">
                <a:latin typeface="Times New Roman"/>
                <a:cs typeface="Times New Roman"/>
              </a:rPr>
              <a:t> </a:t>
            </a:r>
            <a:r>
              <a:rPr sz="3200" dirty="0">
                <a:latin typeface="Times New Roman"/>
                <a:cs typeface="Times New Roman"/>
              </a:rPr>
              <a:t>(120).</a:t>
            </a:r>
            <a:endParaRPr lang="en-US" sz="3200" dirty="0">
              <a:latin typeface="Times New Roman"/>
              <a:cs typeface="Times New Roman"/>
            </a:endParaRPr>
          </a:p>
          <a:p>
            <a:pPr marL="470499" marR="291884" indent="-457200">
              <a:spcBef>
                <a:spcPts val="667"/>
              </a:spcBef>
              <a:buClr>
                <a:srgbClr val="D24717"/>
              </a:buClr>
              <a:buSzPct val="83928"/>
              <a:buFont typeface="Wingdings" panose="05000000000000000000" pitchFamily="2" charset="2"/>
              <a:buChar char="Ø"/>
              <a:tabLst>
                <a:tab pos="316382" algn="l"/>
              </a:tabLst>
            </a:pPr>
            <a:r>
              <a:rPr lang="en-US" sz="3200" spc="-6" dirty="0">
                <a:latin typeface="Times New Roman"/>
                <a:cs typeface="Times New Roman"/>
              </a:rPr>
              <a:t>The administrative distance </a:t>
            </a:r>
            <a:r>
              <a:rPr lang="en-US" sz="3200" spc="-11" dirty="0">
                <a:latin typeface="Times New Roman"/>
                <a:cs typeface="Times New Roman"/>
              </a:rPr>
              <a:t>can </a:t>
            </a:r>
            <a:r>
              <a:rPr lang="en-US" sz="3200" spc="-6" dirty="0">
                <a:latin typeface="Times New Roman"/>
                <a:cs typeface="Times New Roman"/>
              </a:rPr>
              <a:t>be used to compare </a:t>
            </a:r>
            <a:r>
              <a:rPr lang="en-US" sz="3200" dirty="0">
                <a:latin typeface="Times New Roman"/>
                <a:cs typeface="Times New Roman"/>
              </a:rPr>
              <a:t> routes </a:t>
            </a:r>
            <a:r>
              <a:rPr lang="en-US" sz="3200" spc="-6" dirty="0">
                <a:latin typeface="Times New Roman"/>
                <a:cs typeface="Times New Roman"/>
              </a:rPr>
              <a:t>learned by multiple </a:t>
            </a:r>
            <a:r>
              <a:rPr lang="en-US" sz="3200" spc="-11" dirty="0">
                <a:latin typeface="Times New Roman"/>
                <a:cs typeface="Times New Roman"/>
              </a:rPr>
              <a:t>different </a:t>
            </a:r>
            <a:r>
              <a:rPr lang="en-US" sz="3200" spc="-6" dirty="0">
                <a:latin typeface="Times New Roman"/>
                <a:cs typeface="Times New Roman"/>
              </a:rPr>
              <a:t>routing </a:t>
            </a:r>
            <a:r>
              <a:rPr lang="en-US" sz="3200" dirty="0">
                <a:latin typeface="Times New Roman"/>
                <a:cs typeface="Times New Roman"/>
              </a:rPr>
              <a:t>protocols </a:t>
            </a:r>
            <a:r>
              <a:rPr lang="en-US" sz="3200" spc="-6" dirty="0">
                <a:latin typeface="Times New Roman"/>
                <a:cs typeface="Times New Roman"/>
              </a:rPr>
              <a:t>as </a:t>
            </a:r>
            <a:r>
              <a:rPr lang="en-US" sz="3200" spc="-755" dirty="0">
                <a:latin typeface="Times New Roman"/>
                <a:cs typeface="Times New Roman"/>
              </a:rPr>
              <a:t> </a:t>
            </a:r>
            <a:r>
              <a:rPr lang="en-US" sz="3200" spc="-6" dirty="0">
                <a:latin typeface="Times New Roman"/>
                <a:cs typeface="Times New Roman"/>
              </a:rPr>
              <a:t>well.</a:t>
            </a:r>
            <a:endParaRPr lang="en-US" sz="3200" dirty="0">
              <a:latin typeface="Times New Roman"/>
              <a:cs typeface="Times New Roman"/>
            </a:endParaRPr>
          </a:p>
        </p:txBody>
      </p:sp>
    </p:spTree>
    <p:extLst>
      <p:ext uri="{BB962C8B-B14F-4D97-AF65-F5344CB8AC3E}">
        <p14:creationId xmlns:p14="http://schemas.microsoft.com/office/powerpoint/2010/main" val="1902815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272" y="542083"/>
            <a:ext cx="9901353"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Administrative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 on </a:t>
            </a:r>
            <a:r>
              <a:rPr b="1" spc="-6" dirty="0">
                <a:solidFill>
                  <a:schemeClr val="bg1"/>
                </a:solidFill>
                <a:latin typeface="Times New Roman" panose="02020603050405020304" pitchFamily="18" charset="0"/>
                <a:cs typeface="Times New Roman" panose="02020603050405020304" pitchFamily="18" charset="0"/>
              </a:rPr>
              <a:t>Static</a:t>
            </a:r>
            <a:r>
              <a:rPr b="1" dirty="0">
                <a:solidFill>
                  <a:schemeClr val="bg1"/>
                </a:solidFill>
                <a:latin typeface="Times New Roman" panose="02020603050405020304" pitchFamily="18" charset="0"/>
                <a:cs typeface="Times New Roman" panose="02020603050405020304" pitchFamily="18" charset="0"/>
              </a:rPr>
              <a:t> Routes</a:t>
            </a:r>
          </a:p>
        </p:txBody>
      </p:sp>
      <p:sp>
        <p:nvSpPr>
          <p:cNvPr id="3" name="object 3"/>
          <p:cNvSpPr txBox="1"/>
          <p:nvPr/>
        </p:nvSpPr>
        <p:spPr>
          <a:xfrm>
            <a:off x="145824" y="1714721"/>
            <a:ext cx="9788976" cy="4679368"/>
          </a:xfrm>
          <a:prstGeom prst="rect">
            <a:avLst/>
          </a:prstGeom>
        </p:spPr>
        <p:txBody>
          <a:bodyPr vert="horz" wrap="square" lIns="0" tIns="156093" rIns="0" bIns="0" rtlCol="0">
            <a:spAutoFit/>
          </a:bodyPr>
          <a:lstStyle/>
          <a:p>
            <a:pPr marL="315682" marR="5600" indent="-302383">
              <a:spcBef>
                <a:spcPts val="661"/>
              </a:spcBef>
              <a:buClr>
                <a:srgbClr val="D24717"/>
              </a:buClr>
              <a:buSzPct val="83928"/>
              <a:buFont typeface="Segoe UI Symbol"/>
              <a:buChar char="⚫"/>
              <a:tabLst>
                <a:tab pos="316382" algn="l"/>
              </a:tabLst>
            </a:pPr>
            <a:r>
              <a:rPr sz="3200" dirty="0">
                <a:latin typeface="Times New Roman"/>
                <a:cs typeface="Times New Roman"/>
              </a:rPr>
              <a:t>If,</a:t>
            </a:r>
            <a:r>
              <a:rPr sz="3200" spc="-6" dirty="0">
                <a:latin typeface="Times New Roman"/>
                <a:cs typeface="Times New Roman"/>
              </a:rPr>
              <a:t> for</a:t>
            </a:r>
            <a:r>
              <a:rPr sz="3200" spc="6" dirty="0">
                <a:latin typeface="Times New Roman"/>
                <a:cs typeface="Times New Roman"/>
              </a:rPr>
              <a:t> </a:t>
            </a:r>
            <a:r>
              <a:rPr sz="3200" spc="-6" dirty="0">
                <a:latin typeface="Times New Roman"/>
                <a:cs typeface="Times New Roman"/>
              </a:rPr>
              <a:t>example, a </a:t>
            </a:r>
            <a:r>
              <a:rPr sz="3200" dirty="0">
                <a:latin typeface="Times New Roman"/>
                <a:cs typeface="Times New Roman"/>
              </a:rPr>
              <a:t>router</a:t>
            </a:r>
            <a:r>
              <a:rPr sz="3200" spc="-11" dirty="0">
                <a:latin typeface="Times New Roman"/>
                <a:cs typeface="Times New Roman"/>
              </a:rPr>
              <a:t> </a:t>
            </a:r>
            <a:r>
              <a:rPr sz="3200" spc="-6" dirty="0">
                <a:latin typeface="Times New Roman"/>
                <a:cs typeface="Times New Roman"/>
              </a:rPr>
              <a:t>uses both</a:t>
            </a:r>
            <a:r>
              <a:rPr sz="3200" spc="-11" dirty="0">
                <a:latin typeface="Times New Roman"/>
                <a:cs typeface="Times New Roman"/>
              </a:rPr>
              <a:t> </a:t>
            </a:r>
            <a:r>
              <a:rPr sz="3200" spc="-6" dirty="0">
                <a:latin typeface="Times New Roman"/>
                <a:cs typeface="Times New Roman"/>
              </a:rPr>
              <a:t>RIP</a:t>
            </a:r>
            <a:r>
              <a:rPr sz="3200" spc="-110" dirty="0">
                <a:latin typeface="Times New Roman"/>
                <a:cs typeface="Times New Roman"/>
              </a:rPr>
              <a:t> </a:t>
            </a:r>
            <a:r>
              <a:rPr sz="3200" spc="-6" dirty="0">
                <a:latin typeface="Times New Roman"/>
                <a:cs typeface="Times New Roman"/>
              </a:rPr>
              <a:t>and OSPF</a:t>
            </a:r>
            <a:r>
              <a:rPr sz="3200" spc="17" dirty="0">
                <a:latin typeface="Times New Roman"/>
                <a:cs typeface="Times New Roman"/>
              </a:rPr>
              <a:t> </a:t>
            </a:r>
            <a:r>
              <a:rPr sz="3200" spc="-6" dirty="0">
                <a:latin typeface="Times New Roman"/>
                <a:cs typeface="Times New Roman"/>
              </a:rPr>
              <a:t>(which </a:t>
            </a:r>
            <a:r>
              <a:rPr sz="3200" spc="-755" dirty="0">
                <a:latin typeface="Times New Roman"/>
                <a:cs typeface="Times New Roman"/>
              </a:rPr>
              <a:t> </a:t>
            </a:r>
            <a:r>
              <a:rPr sz="3200" spc="-11" dirty="0">
                <a:latin typeface="Times New Roman"/>
                <a:cs typeface="Times New Roman"/>
              </a:rPr>
              <a:t>makes </a:t>
            </a:r>
            <a:r>
              <a:rPr sz="3200" spc="-6" dirty="0">
                <a:latin typeface="Times New Roman"/>
                <a:cs typeface="Times New Roman"/>
              </a:rPr>
              <a:t>sense in some cases), </a:t>
            </a:r>
            <a:r>
              <a:rPr sz="3200" dirty="0">
                <a:latin typeface="Times New Roman"/>
                <a:cs typeface="Times New Roman"/>
              </a:rPr>
              <a:t>the router </a:t>
            </a:r>
            <a:r>
              <a:rPr sz="3200" spc="-6" dirty="0">
                <a:latin typeface="Times New Roman"/>
                <a:cs typeface="Times New Roman"/>
              </a:rPr>
              <a:t>might learn (with </a:t>
            </a:r>
            <a:r>
              <a:rPr sz="3200" spc="-755" dirty="0">
                <a:latin typeface="Times New Roman"/>
                <a:cs typeface="Times New Roman"/>
              </a:rPr>
              <a:t> </a:t>
            </a:r>
            <a:r>
              <a:rPr sz="3200" spc="-6" dirty="0">
                <a:latin typeface="Times New Roman"/>
                <a:cs typeface="Times New Roman"/>
              </a:rPr>
              <a:t>RIP) a </a:t>
            </a:r>
            <a:r>
              <a:rPr sz="3200" dirty="0">
                <a:latin typeface="Times New Roman"/>
                <a:cs typeface="Times New Roman"/>
              </a:rPr>
              <a:t>hop-count-3 route </a:t>
            </a:r>
            <a:r>
              <a:rPr sz="3200" spc="-6" dirty="0">
                <a:latin typeface="Times New Roman"/>
                <a:cs typeface="Times New Roman"/>
              </a:rPr>
              <a:t>to a destination subnet, and </a:t>
            </a:r>
            <a:r>
              <a:rPr sz="3200" dirty="0">
                <a:latin typeface="Times New Roman"/>
                <a:cs typeface="Times New Roman"/>
              </a:rPr>
              <a:t> </a:t>
            </a:r>
            <a:r>
              <a:rPr sz="3200" spc="-6" dirty="0">
                <a:latin typeface="Times New Roman"/>
                <a:cs typeface="Times New Roman"/>
              </a:rPr>
              <a:t>(with</a:t>
            </a:r>
            <a:r>
              <a:rPr sz="3200" spc="-11" dirty="0">
                <a:latin typeface="Times New Roman"/>
                <a:cs typeface="Times New Roman"/>
              </a:rPr>
              <a:t> </a:t>
            </a:r>
            <a:r>
              <a:rPr sz="3200" spc="-6" dirty="0">
                <a:latin typeface="Times New Roman"/>
                <a:cs typeface="Times New Roman"/>
              </a:rPr>
              <a:t>OSPF)</a:t>
            </a:r>
            <a:r>
              <a:rPr sz="3200" spc="22" dirty="0">
                <a:latin typeface="Times New Roman"/>
                <a:cs typeface="Times New Roman"/>
              </a:rPr>
              <a:t> </a:t>
            </a:r>
            <a:r>
              <a:rPr sz="3200" spc="-6" dirty="0">
                <a:latin typeface="Times New Roman"/>
                <a:cs typeface="Times New Roman"/>
              </a:rPr>
              <a:t>a</a:t>
            </a:r>
            <a:r>
              <a:rPr sz="3200" spc="-11" dirty="0">
                <a:latin typeface="Times New Roman"/>
                <a:cs typeface="Times New Roman"/>
              </a:rPr>
              <a:t> </a:t>
            </a:r>
            <a:r>
              <a:rPr sz="3200" dirty="0">
                <a:latin typeface="Times New Roman"/>
                <a:cs typeface="Times New Roman"/>
              </a:rPr>
              <a:t>cost-54</a:t>
            </a:r>
            <a:r>
              <a:rPr sz="3200" spc="-11" dirty="0">
                <a:latin typeface="Times New Roman"/>
                <a:cs typeface="Times New Roman"/>
              </a:rPr>
              <a:t> </a:t>
            </a:r>
            <a:r>
              <a:rPr sz="3200" dirty="0">
                <a:latin typeface="Times New Roman"/>
                <a:cs typeface="Times New Roman"/>
              </a:rPr>
              <a:t>route</a:t>
            </a:r>
            <a:r>
              <a:rPr sz="3200" spc="-17" dirty="0">
                <a:latin typeface="Times New Roman"/>
                <a:cs typeface="Times New Roman"/>
              </a:rPr>
              <a:t> </a:t>
            </a:r>
            <a:r>
              <a:rPr sz="3200" spc="-6" dirty="0">
                <a:latin typeface="Times New Roman"/>
                <a:cs typeface="Times New Roman"/>
              </a:rPr>
              <a:t>to</a:t>
            </a:r>
            <a:r>
              <a:rPr sz="3200" spc="-11" dirty="0">
                <a:latin typeface="Times New Roman"/>
                <a:cs typeface="Times New Roman"/>
              </a:rPr>
              <a:t> </a:t>
            </a:r>
            <a:r>
              <a:rPr sz="3200" dirty="0">
                <a:latin typeface="Times New Roman"/>
                <a:cs typeface="Times New Roman"/>
              </a:rPr>
              <a:t>the</a:t>
            </a:r>
            <a:r>
              <a:rPr sz="3200" spc="-11" dirty="0">
                <a:latin typeface="Times New Roman"/>
                <a:cs typeface="Times New Roman"/>
              </a:rPr>
              <a:t> same</a:t>
            </a:r>
            <a:r>
              <a:rPr sz="3200" spc="-6" dirty="0">
                <a:latin typeface="Times New Roman"/>
                <a:cs typeface="Times New Roman"/>
              </a:rPr>
              <a:t> </a:t>
            </a:r>
            <a:r>
              <a:rPr sz="3200" dirty="0">
                <a:latin typeface="Times New Roman"/>
                <a:cs typeface="Times New Roman"/>
              </a:rPr>
              <a:t>subnet.</a:t>
            </a:r>
          </a:p>
          <a:p>
            <a:pPr marL="315682" marR="291884" indent="-302383">
              <a:spcBef>
                <a:spcPts val="667"/>
              </a:spcBef>
              <a:buClr>
                <a:srgbClr val="D24717"/>
              </a:buClr>
              <a:buSzPct val="83928"/>
              <a:buFont typeface="Segoe UI Symbol"/>
              <a:buChar char="⚫"/>
              <a:tabLst>
                <a:tab pos="316382" algn="l"/>
              </a:tabLst>
            </a:pPr>
            <a:r>
              <a:rPr sz="3200" spc="-6" dirty="0">
                <a:latin typeface="Times New Roman"/>
                <a:cs typeface="Times New Roman"/>
              </a:rPr>
              <a:t>It is impossible to compare </a:t>
            </a:r>
            <a:r>
              <a:rPr sz="3200" dirty="0">
                <a:latin typeface="Times New Roman"/>
                <a:cs typeface="Times New Roman"/>
              </a:rPr>
              <a:t>the totally </a:t>
            </a:r>
            <a:r>
              <a:rPr sz="3200" spc="-11" dirty="0">
                <a:latin typeface="Times New Roman"/>
                <a:cs typeface="Times New Roman"/>
              </a:rPr>
              <a:t>different </a:t>
            </a:r>
            <a:r>
              <a:rPr sz="3200" spc="-6" dirty="0">
                <a:latin typeface="Times New Roman"/>
                <a:cs typeface="Times New Roman"/>
              </a:rPr>
              <a:t>metrics </a:t>
            </a:r>
            <a:r>
              <a:rPr sz="3200" spc="-755" dirty="0">
                <a:latin typeface="Times New Roman"/>
                <a:cs typeface="Times New Roman"/>
              </a:rPr>
              <a:t> </a:t>
            </a:r>
            <a:r>
              <a:rPr sz="3200" spc="-6" dirty="0">
                <a:latin typeface="Times New Roman"/>
                <a:cs typeface="Times New Roman"/>
              </a:rPr>
              <a:t>and tell which </a:t>
            </a:r>
            <a:r>
              <a:rPr sz="3200" dirty="0">
                <a:latin typeface="Times New Roman"/>
                <a:cs typeface="Times New Roman"/>
              </a:rPr>
              <a:t>route </a:t>
            </a:r>
            <a:r>
              <a:rPr sz="3200" spc="-6" dirty="0">
                <a:latin typeface="Times New Roman"/>
                <a:cs typeface="Times New Roman"/>
              </a:rPr>
              <a:t>is best, so </a:t>
            </a:r>
            <a:r>
              <a:rPr sz="3200" dirty="0">
                <a:latin typeface="Times New Roman"/>
                <a:cs typeface="Times New Roman"/>
              </a:rPr>
              <a:t>the router </a:t>
            </a:r>
            <a:r>
              <a:rPr sz="3200" spc="-6" dirty="0">
                <a:latin typeface="Times New Roman"/>
                <a:cs typeface="Times New Roman"/>
              </a:rPr>
              <a:t>uses </a:t>
            </a:r>
            <a:r>
              <a:rPr sz="3200" dirty="0">
                <a:latin typeface="Times New Roman"/>
                <a:cs typeface="Times New Roman"/>
              </a:rPr>
              <a:t>the </a:t>
            </a:r>
            <a:r>
              <a:rPr sz="3200" spc="6" dirty="0">
                <a:latin typeface="Times New Roman"/>
                <a:cs typeface="Times New Roman"/>
              </a:rPr>
              <a:t> </a:t>
            </a:r>
            <a:r>
              <a:rPr sz="3200" spc="-6" dirty="0">
                <a:latin typeface="Times New Roman"/>
                <a:cs typeface="Times New Roman"/>
              </a:rPr>
              <a:t>administrative distance, </a:t>
            </a:r>
            <a:r>
              <a:rPr sz="3200" dirty="0">
                <a:latin typeface="Times New Roman"/>
                <a:cs typeface="Times New Roman"/>
              </a:rPr>
              <a:t>choosing the </a:t>
            </a:r>
            <a:r>
              <a:rPr sz="3200" spc="-6" dirty="0">
                <a:latin typeface="Times New Roman"/>
                <a:cs typeface="Times New Roman"/>
              </a:rPr>
              <a:t>OSPF </a:t>
            </a:r>
            <a:r>
              <a:rPr sz="3200" dirty="0">
                <a:latin typeface="Times New Roman"/>
                <a:cs typeface="Times New Roman"/>
              </a:rPr>
              <a:t>route </a:t>
            </a:r>
            <a:r>
              <a:rPr sz="3200" spc="6" dirty="0">
                <a:latin typeface="Times New Roman"/>
                <a:cs typeface="Times New Roman"/>
              </a:rPr>
              <a:t> </a:t>
            </a:r>
            <a:r>
              <a:rPr sz="3200" spc="-6" dirty="0">
                <a:latin typeface="Times New Roman"/>
                <a:cs typeface="Times New Roman"/>
              </a:rPr>
              <a:t>because,</a:t>
            </a:r>
            <a:r>
              <a:rPr sz="3200" spc="-28" dirty="0">
                <a:latin typeface="Times New Roman"/>
                <a:cs typeface="Times New Roman"/>
              </a:rPr>
              <a:t> </a:t>
            </a:r>
            <a:r>
              <a:rPr sz="3200" spc="-6" dirty="0">
                <a:latin typeface="Times New Roman"/>
                <a:cs typeface="Times New Roman"/>
              </a:rPr>
              <a:t>by</a:t>
            </a:r>
            <a:r>
              <a:rPr sz="3200" spc="11" dirty="0">
                <a:latin typeface="Times New Roman"/>
                <a:cs typeface="Times New Roman"/>
              </a:rPr>
              <a:t> </a:t>
            </a:r>
            <a:r>
              <a:rPr sz="3200" spc="-6" dirty="0">
                <a:latin typeface="Times New Roman"/>
                <a:cs typeface="Times New Roman"/>
              </a:rPr>
              <a:t>default,</a:t>
            </a:r>
            <a:r>
              <a:rPr sz="3200" spc="-17" dirty="0">
                <a:latin typeface="Times New Roman"/>
                <a:cs typeface="Times New Roman"/>
              </a:rPr>
              <a:t> </a:t>
            </a:r>
            <a:r>
              <a:rPr sz="3200" spc="-6" dirty="0">
                <a:latin typeface="Times New Roman"/>
                <a:cs typeface="Times New Roman"/>
              </a:rPr>
              <a:t>OSPF</a:t>
            </a:r>
            <a:r>
              <a:rPr sz="3200" spc="33"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6" dirty="0">
                <a:latin typeface="Times New Roman"/>
                <a:cs typeface="Times New Roman"/>
              </a:rPr>
              <a:t>lower</a:t>
            </a:r>
            <a:r>
              <a:rPr sz="3200" dirty="0">
                <a:latin typeface="Times New Roman"/>
                <a:cs typeface="Times New Roman"/>
              </a:rPr>
              <a:t> </a:t>
            </a:r>
            <a:r>
              <a:rPr sz="3200" spc="-6" dirty="0">
                <a:latin typeface="Times New Roman"/>
                <a:cs typeface="Times New Roman"/>
              </a:rPr>
              <a:t>administrative </a:t>
            </a:r>
            <a:r>
              <a:rPr sz="3200" dirty="0">
                <a:latin typeface="Times New Roman"/>
                <a:cs typeface="Times New Roman"/>
              </a:rPr>
              <a:t> </a:t>
            </a:r>
            <a:r>
              <a:rPr sz="3200" spc="-6" dirty="0">
                <a:latin typeface="Times New Roman"/>
                <a:cs typeface="Times New Roman"/>
              </a:rPr>
              <a:t>distance</a:t>
            </a:r>
            <a:r>
              <a:rPr sz="3200" spc="-55" dirty="0">
                <a:latin typeface="Times New Roman"/>
                <a:cs typeface="Times New Roman"/>
              </a:rPr>
              <a:t> </a:t>
            </a:r>
            <a:r>
              <a:rPr sz="3200" spc="-22" dirty="0">
                <a:latin typeface="Times New Roman"/>
                <a:cs typeface="Times New Roman"/>
              </a:rPr>
              <a:t>(110)</a:t>
            </a:r>
            <a:r>
              <a:rPr sz="3200" spc="-6" dirty="0">
                <a:latin typeface="Times New Roman"/>
                <a:cs typeface="Times New Roman"/>
              </a:rPr>
              <a:t> than</a:t>
            </a:r>
            <a:r>
              <a:rPr sz="3200" spc="-17" dirty="0">
                <a:latin typeface="Times New Roman"/>
                <a:cs typeface="Times New Roman"/>
              </a:rPr>
              <a:t> </a:t>
            </a:r>
            <a:r>
              <a:rPr sz="3200" spc="-6" dirty="0">
                <a:latin typeface="Times New Roman"/>
                <a:cs typeface="Times New Roman"/>
              </a:rPr>
              <a:t>RIP</a:t>
            </a:r>
            <a:r>
              <a:rPr sz="3200" spc="-116" dirty="0">
                <a:latin typeface="Times New Roman"/>
                <a:cs typeface="Times New Roman"/>
              </a:rPr>
              <a:t> </a:t>
            </a:r>
            <a:r>
              <a:rPr sz="3200" dirty="0">
                <a:latin typeface="Times New Roman"/>
                <a:cs typeface="Times New Roman"/>
              </a:rPr>
              <a:t>(120).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10080625" cy="75596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514" y="515675"/>
            <a:ext cx="8698084"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Administrative</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a:t>
            </a:r>
            <a:r>
              <a:rPr b="1" spc="-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and</a:t>
            </a:r>
            <a:r>
              <a:rPr b="1" spc="-6" dirty="0">
                <a:solidFill>
                  <a:schemeClr val="bg1"/>
                </a:solidFill>
                <a:latin typeface="Times New Roman" panose="02020603050405020304" pitchFamily="18" charset="0"/>
                <a:cs typeface="Times New Roman" panose="02020603050405020304" pitchFamily="18" charset="0"/>
              </a:rPr>
              <a:t> Metric</a:t>
            </a:r>
          </a:p>
        </p:txBody>
      </p:sp>
      <p:sp>
        <p:nvSpPr>
          <p:cNvPr id="5" name="object 5"/>
          <p:cNvSpPr txBox="1"/>
          <p:nvPr/>
        </p:nvSpPr>
        <p:spPr>
          <a:xfrm>
            <a:off x="5692462" y="1958599"/>
            <a:ext cx="4293416" cy="2779702"/>
          </a:xfrm>
          <a:prstGeom prst="rect">
            <a:avLst/>
          </a:prstGeom>
        </p:spPr>
        <p:txBody>
          <a:bodyPr vert="horz" wrap="square" lIns="0" tIns="14699" rIns="0" bIns="0" rtlCol="0">
            <a:spAutoFit/>
          </a:bodyPr>
          <a:lstStyle/>
          <a:p>
            <a:pPr marL="356899" indent="-342900">
              <a:spcBef>
                <a:spcPts val="116"/>
              </a:spcBef>
              <a:buClr>
                <a:srgbClr val="D24717"/>
              </a:buClr>
              <a:buSzPct val="85000"/>
              <a:buFont typeface="Wingdings" panose="05000000000000000000" pitchFamily="2" charset="2"/>
              <a:buChar char="Ø"/>
              <a:tabLst>
                <a:tab pos="315682" algn="l"/>
                <a:tab pos="316382" algn="l"/>
              </a:tabLst>
            </a:pPr>
            <a:r>
              <a:rPr sz="2400" dirty="0">
                <a:latin typeface="Times New Roman"/>
                <a:cs typeface="Times New Roman"/>
              </a:rPr>
              <a:t>[</a:t>
            </a:r>
            <a:r>
              <a:rPr sz="2400" spc="-33" dirty="0">
                <a:latin typeface="Times New Roman"/>
                <a:cs typeface="Times New Roman"/>
              </a:rPr>
              <a:t> </a:t>
            </a:r>
            <a:r>
              <a:rPr sz="2400" spc="-6" dirty="0">
                <a:latin typeface="Times New Roman"/>
                <a:cs typeface="Times New Roman"/>
              </a:rPr>
              <a:t>administrative</a:t>
            </a:r>
            <a:r>
              <a:rPr sz="2400" spc="-44" dirty="0">
                <a:latin typeface="Times New Roman"/>
                <a:cs typeface="Times New Roman"/>
              </a:rPr>
              <a:t> </a:t>
            </a:r>
            <a:r>
              <a:rPr sz="2400" dirty="0">
                <a:latin typeface="Times New Roman"/>
                <a:cs typeface="Times New Roman"/>
              </a:rPr>
              <a:t>distance</a:t>
            </a:r>
            <a:r>
              <a:rPr sz="2400" spc="-50" dirty="0">
                <a:latin typeface="Times New Roman"/>
                <a:cs typeface="Times New Roman"/>
              </a:rPr>
              <a:t> </a:t>
            </a:r>
            <a:r>
              <a:rPr sz="2400" dirty="0">
                <a:latin typeface="Times New Roman"/>
                <a:cs typeface="Times New Roman"/>
              </a:rPr>
              <a:t>/</a:t>
            </a:r>
            <a:r>
              <a:rPr sz="2400" spc="-6" dirty="0">
                <a:latin typeface="Times New Roman"/>
                <a:cs typeface="Times New Roman"/>
              </a:rPr>
              <a:t> </a:t>
            </a:r>
            <a:r>
              <a:rPr sz="2400" dirty="0">
                <a:latin typeface="Times New Roman"/>
                <a:cs typeface="Times New Roman"/>
              </a:rPr>
              <a:t>routing</a:t>
            </a:r>
            <a:r>
              <a:rPr lang="en-US" sz="2400" dirty="0">
                <a:latin typeface="Times New Roman"/>
                <a:cs typeface="Times New Roman"/>
              </a:rPr>
              <a:t> </a:t>
            </a:r>
            <a:r>
              <a:rPr sz="2400" spc="-6" dirty="0">
                <a:latin typeface="Times New Roman"/>
                <a:cs typeface="Times New Roman"/>
              </a:rPr>
              <a:t>metric</a:t>
            </a:r>
            <a:r>
              <a:rPr sz="2400" spc="-39" dirty="0">
                <a:latin typeface="Times New Roman"/>
                <a:cs typeface="Times New Roman"/>
              </a:rPr>
              <a:t> </a:t>
            </a:r>
            <a:r>
              <a:rPr sz="2400" dirty="0">
                <a:latin typeface="Times New Roman"/>
                <a:cs typeface="Times New Roman"/>
              </a:rPr>
              <a:t>(or</a:t>
            </a:r>
            <a:r>
              <a:rPr sz="2400" spc="-50" dirty="0">
                <a:latin typeface="Times New Roman"/>
                <a:cs typeface="Times New Roman"/>
              </a:rPr>
              <a:t> </a:t>
            </a:r>
            <a:r>
              <a:rPr sz="2400" dirty="0">
                <a:latin typeface="Times New Roman"/>
                <a:cs typeface="Times New Roman"/>
              </a:rPr>
              <a:t>cost)</a:t>
            </a:r>
            <a:r>
              <a:rPr sz="2400" spc="-39" dirty="0">
                <a:latin typeface="Times New Roman"/>
                <a:cs typeface="Times New Roman"/>
              </a:rPr>
              <a:t> </a:t>
            </a:r>
            <a:r>
              <a:rPr sz="2400" dirty="0">
                <a:latin typeface="Times New Roman"/>
                <a:cs typeface="Times New Roman"/>
              </a:rPr>
              <a:t>]</a:t>
            </a:r>
          </a:p>
          <a:p>
            <a:pPr marL="356899" indent="-342900">
              <a:spcBef>
                <a:spcPts val="661"/>
              </a:spcBef>
              <a:buClr>
                <a:srgbClr val="D24717"/>
              </a:buClr>
              <a:buSzPct val="85000"/>
              <a:buFont typeface="Wingdings" panose="05000000000000000000" pitchFamily="2" charset="2"/>
              <a:buChar char="Ø"/>
              <a:tabLst>
                <a:tab pos="315682" algn="l"/>
                <a:tab pos="316382" algn="l"/>
              </a:tabLst>
            </a:pPr>
            <a:r>
              <a:rPr sz="2400" dirty="0">
                <a:latin typeface="Times New Roman"/>
                <a:cs typeface="Times New Roman"/>
              </a:rPr>
              <a:t>The cost for all static routes is </a:t>
            </a:r>
            <a:r>
              <a:rPr lang="en-US" sz="2400" dirty="0">
                <a:latin typeface="Times New Roman"/>
                <a:cs typeface="Times New Roman"/>
              </a:rPr>
              <a:t>'</a:t>
            </a:r>
            <a:r>
              <a:rPr sz="2000" dirty="0">
                <a:latin typeface="Times New Roman"/>
                <a:cs typeface="Times New Roman"/>
              </a:rPr>
              <a:t>0</a:t>
            </a:r>
            <a:r>
              <a:rPr lang="en-US" sz="2400" dirty="0">
                <a:latin typeface="Times New Roman"/>
                <a:cs typeface="Times New Roman"/>
              </a:rPr>
              <a:t>'</a:t>
            </a:r>
            <a:endParaRPr sz="2400" dirty="0">
              <a:latin typeface="Times New Roman"/>
              <a:cs typeface="Times New Roman"/>
            </a:endParaRPr>
          </a:p>
          <a:p>
            <a:pPr marL="356899" marR="403177" indent="-342900">
              <a:spcBef>
                <a:spcPts val="661"/>
              </a:spcBef>
              <a:buClr>
                <a:srgbClr val="D24717"/>
              </a:buClr>
              <a:buSzPct val="85000"/>
              <a:buFont typeface="Wingdings" panose="05000000000000000000" pitchFamily="2" charset="2"/>
              <a:buChar char="Ø"/>
              <a:tabLst>
                <a:tab pos="315682" algn="l"/>
                <a:tab pos="316382" algn="l"/>
              </a:tabLst>
            </a:pPr>
            <a:r>
              <a:rPr sz="2400" dirty="0">
                <a:latin typeface="Times New Roman"/>
                <a:cs typeface="Times New Roman"/>
              </a:rPr>
              <a:t>The default administrative  distance for static routes is </a:t>
            </a:r>
            <a:r>
              <a:rPr lang="en-US" sz="2400" dirty="0">
                <a:latin typeface="Times New Roman"/>
                <a:cs typeface="Times New Roman"/>
              </a:rPr>
              <a:t>‘1’</a:t>
            </a:r>
            <a:endParaRPr sz="2400" dirty="0">
              <a:latin typeface="Times New Roman"/>
              <a:cs typeface="Times New Roman"/>
            </a:endParaRPr>
          </a:p>
        </p:txBody>
      </p:sp>
      <p:sp>
        <p:nvSpPr>
          <p:cNvPr id="6" name="object 6"/>
          <p:cNvSpPr/>
          <p:nvPr/>
        </p:nvSpPr>
        <p:spPr>
          <a:xfrm>
            <a:off x="336514" y="4955787"/>
            <a:ext cx="8567632" cy="1763924"/>
          </a:xfrm>
          <a:custGeom>
            <a:avLst/>
            <a:gdLst/>
            <a:ahLst/>
            <a:cxnLst/>
            <a:rect l="l" t="t" r="r" b="b"/>
            <a:pathLst>
              <a:path w="7772400" h="1600200">
                <a:moveTo>
                  <a:pt x="0" y="1600200"/>
                </a:moveTo>
                <a:lnTo>
                  <a:pt x="7772400" y="1600200"/>
                </a:lnTo>
                <a:lnTo>
                  <a:pt x="7772400" y="0"/>
                </a:lnTo>
                <a:lnTo>
                  <a:pt x="0" y="0"/>
                </a:lnTo>
                <a:lnTo>
                  <a:pt x="0" y="1600200"/>
                </a:lnTo>
                <a:close/>
              </a:path>
            </a:pathLst>
          </a:custGeom>
          <a:ln w="12700">
            <a:solidFill>
              <a:srgbClr val="000000"/>
            </a:solidFill>
          </a:ln>
        </p:spPr>
        <p:txBody>
          <a:bodyPr wrap="square" lIns="0" tIns="0" rIns="0" bIns="0" rtlCol="0"/>
          <a:lstStyle/>
          <a:p>
            <a:endParaRPr sz="1984"/>
          </a:p>
        </p:txBody>
      </p:sp>
      <p:sp>
        <p:nvSpPr>
          <p:cNvPr id="7" name="object 7"/>
          <p:cNvSpPr txBox="1"/>
          <p:nvPr/>
        </p:nvSpPr>
        <p:spPr>
          <a:xfrm>
            <a:off x="437311" y="4913956"/>
            <a:ext cx="4456708" cy="662824"/>
          </a:xfrm>
          <a:prstGeom prst="rect">
            <a:avLst/>
          </a:prstGeom>
        </p:spPr>
        <p:txBody>
          <a:bodyPr vert="horz" wrap="square" lIns="0" tIns="67896" rIns="0" bIns="0" rtlCol="0">
            <a:spAutoFit/>
          </a:bodyPr>
          <a:lstStyle/>
          <a:p>
            <a:pPr>
              <a:spcBef>
                <a:spcPts val="534"/>
              </a:spcBef>
            </a:pPr>
            <a:r>
              <a:rPr sz="1764" spc="-6" dirty="0">
                <a:latin typeface="Courier New"/>
                <a:cs typeface="Courier New"/>
              </a:rPr>
              <a:t>Hoboken#show</a:t>
            </a:r>
            <a:r>
              <a:rPr sz="1764" dirty="0">
                <a:latin typeface="Courier New"/>
                <a:cs typeface="Courier New"/>
              </a:rPr>
              <a:t> </a:t>
            </a:r>
            <a:r>
              <a:rPr sz="1764" spc="-6" dirty="0">
                <a:latin typeface="Courier New"/>
                <a:cs typeface="Courier New"/>
              </a:rPr>
              <a:t>ip</a:t>
            </a:r>
            <a:r>
              <a:rPr sz="1764" spc="-17" dirty="0">
                <a:latin typeface="Courier New"/>
                <a:cs typeface="Courier New"/>
              </a:rPr>
              <a:t> </a:t>
            </a:r>
            <a:r>
              <a:rPr sz="1764" spc="-6" dirty="0">
                <a:latin typeface="Courier New"/>
                <a:cs typeface="Courier New"/>
              </a:rPr>
              <a:t>route</a:t>
            </a:r>
            <a:endParaRPr sz="1764">
              <a:latin typeface="Courier New"/>
              <a:cs typeface="Courier New"/>
            </a:endParaRPr>
          </a:p>
          <a:p>
            <a:pPr>
              <a:spcBef>
                <a:spcPts val="419"/>
              </a:spcBef>
            </a:pPr>
            <a:r>
              <a:rPr sz="1764" spc="-6" dirty="0">
                <a:latin typeface="Courier New"/>
                <a:cs typeface="Courier New"/>
              </a:rPr>
              <a:t>Codes: C</a:t>
            </a:r>
            <a:r>
              <a:rPr sz="1764" spc="11" dirty="0">
                <a:latin typeface="Courier New"/>
                <a:cs typeface="Courier New"/>
              </a:rPr>
              <a:t> </a:t>
            </a:r>
            <a:r>
              <a:rPr sz="1764" spc="-6" dirty="0">
                <a:latin typeface="Courier New"/>
                <a:cs typeface="Courier New"/>
              </a:rPr>
              <a:t>- connected,</a:t>
            </a:r>
            <a:r>
              <a:rPr sz="1764" spc="33" dirty="0">
                <a:latin typeface="Courier New"/>
                <a:cs typeface="Courier New"/>
              </a:rPr>
              <a:t> </a:t>
            </a:r>
            <a:r>
              <a:rPr sz="1764" spc="-6" dirty="0">
                <a:latin typeface="Courier New"/>
                <a:cs typeface="Courier New"/>
              </a:rPr>
              <a:t>S</a:t>
            </a:r>
            <a:r>
              <a:rPr sz="1764" dirty="0">
                <a:latin typeface="Courier New"/>
                <a:cs typeface="Courier New"/>
              </a:rPr>
              <a:t> </a:t>
            </a:r>
            <a:r>
              <a:rPr sz="1764" spc="-6" dirty="0">
                <a:latin typeface="Courier New"/>
                <a:cs typeface="Courier New"/>
              </a:rPr>
              <a:t>- static,</a:t>
            </a:r>
            <a:endParaRPr sz="1764">
              <a:latin typeface="Courier New"/>
              <a:cs typeface="Courier New"/>
            </a:endParaRPr>
          </a:p>
        </p:txBody>
      </p:sp>
      <p:sp>
        <p:nvSpPr>
          <p:cNvPr id="8" name="object 8"/>
          <p:cNvSpPr txBox="1"/>
          <p:nvPr/>
        </p:nvSpPr>
        <p:spPr>
          <a:xfrm>
            <a:off x="2940402" y="5627758"/>
            <a:ext cx="755968" cy="269817"/>
          </a:xfrm>
          <a:prstGeom prst="rect">
            <a:avLst/>
          </a:prstGeom>
          <a:ln w="25400">
            <a:solidFill>
              <a:srgbClr val="0000FF"/>
            </a:solidFill>
          </a:ln>
        </p:spPr>
        <p:txBody>
          <a:bodyPr vert="horz" wrap="square" lIns="0" tIns="0" rIns="0" bIns="0" rtlCol="0">
            <a:spAutoFit/>
          </a:bodyPr>
          <a:lstStyle/>
          <a:p>
            <a:pPr marL="53197">
              <a:lnSpc>
                <a:spcPts val="2110"/>
              </a:lnSpc>
            </a:pPr>
            <a:r>
              <a:rPr sz="1764" spc="-6" dirty="0">
                <a:latin typeface="Courier New"/>
                <a:cs typeface="Courier New"/>
              </a:rPr>
              <a:t>[1/0]</a:t>
            </a:r>
            <a:endParaRPr sz="1764">
              <a:latin typeface="Courier New"/>
              <a:cs typeface="Courier New"/>
            </a:endParaRPr>
          </a:p>
        </p:txBody>
      </p:sp>
      <p:sp>
        <p:nvSpPr>
          <p:cNvPr id="9" name="object 9"/>
          <p:cNvSpPr txBox="1"/>
          <p:nvPr/>
        </p:nvSpPr>
        <p:spPr>
          <a:xfrm>
            <a:off x="3801213" y="5613478"/>
            <a:ext cx="4050726" cy="284913"/>
          </a:xfrm>
          <a:prstGeom prst="rect">
            <a:avLst/>
          </a:prstGeom>
        </p:spPr>
        <p:txBody>
          <a:bodyPr vert="horz" wrap="square" lIns="0" tIns="13299" rIns="0" bIns="0" rtlCol="0">
            <a:spAutoFit/>
          </a:bodyPr>
          <a:lstStyle/>
          <a:p>
            <a:pPr>
              <a:spcBef>
                <a:spcPts val="105"/>
              </a:spcBef>
            </a:pPr>
            <a:r>
              <a:rPr sz="1764" spc="-6" dirty="0">
                <a:latin typeface="Courier New"/>
                <a:cs typeface="Courier New"/>
              </a:rPr>
              <a:t>is</a:t>
            </a:r>
            <a:r>
              <a:rPr sz="1764" spc="-22" dirty="0">
                <a:latin typeface="Courier New"/>
                <a:cs typeface="Courier New"/>
              </a:rPr>
              <a:t> </a:t>
            </a:r>
            <a:r>
              <a:rPr sz="1764" spc="-6" dirty="0">
                <a:latin typeface="Courier New"/>
                <a:cs typeface="Courier New"/>
              </a:rPr>
              <a:t>directly connected, Serial0</a:t>
            </a:r>
            <a:endParaRPr sz="1764">
              <a:latin typeface="Courier New"/>
              <a:cs typeface="Courier New"/>
            </a:endParaRPr>
          </a:p>
        </p:txBody>
      </p:sp>
      <p:sp>
        <p:nvSpPr>
          <p:cNvPr id="10" name="object 10"/>
          <p:cNvSpPr txBox="1"/>
          <p:nvPr/>
        </p:nvSpPr>
        <p:spPr>
          <a:xfrm>
            <a:off x="437311" y="5559104"/>
            <a:ext cx="2430995" cy="652196"/>
          </a:xfrm>
          <a:prstGeom prst="rect">
            <a:avLst/>
          </a:prstGeom>
        </p:spPr>
        <p:txBody>
          <a:bodyPr vert="horz" wrap="square" lIns="0" tIns="13999" rIns="0" bIns="0" rtlCol="0">
            <a:spAutoFit/>
          </a:bodyPr>
          <a:lstStyle/>
          <a:p>
            <a:pPr marR="5600">
              <a:lnSpc>
                <a:spcPct val="120000"/>
              </a:lnSpc>
              <a:spcBef>
                <a:spcPts val="110"/>
              </a:spcBef>
              <a:tabLst>
                <a:tab pos="671262" algn="l"/>
              </a:tabLst>
            </a:pPr>
            <a:r>
              <a:rPr sz="1764" spc="-6" dirty="0">
                <a:latin typeface="Courier New"/>
                <a:cs typeface="Courier New"/>
              </a:rPr>
              <a:t>S	</a:t>
            </a:r>
            <a:r>
              <a:rPr sz="1764" spc="-11" dirty="0">
                <a:latin typeface="Courier New"/>
                <a:cs typeface="Courier New"/>
              </a:rPr>
              <a:t>1</a:t>
            </a:r>
            <a:r>
              <a:rPr sz="1764" spc="-6" dirty="0">
                <a:latin typeface="Courier New"/>
                <a:cs typeface="Courier New"/>
              </a:rPr>
              <a:t>7</a:t>
            </a:r>
            <a:r>
              <a:rPr sz="1764" spc="-11" dirty="0">
                <a:latin typeface="Courier New"/>
                <a:cs typeface="Courier New"/>
              </a:rPr>
              <a:t>2</a:t>
            </a:r>
            <a:r>
              <a:rPr sz="1764" spc="-6" dirty="0">
                <a:latin typeface="Courier New"/>
                <a:cs typeface="Courier New"/>
              </a:rPr>
              <a:t>.</a:t>
            </a:r>
            <a:r>
              <a:rPr sz="1764" spc="-11" dirty="0">
                <a:latin typeface="Courier New"/>
                <a:cs typeface="Courier New"/>
              </a:rPr>
              <a:t>1</a:t>
            </a:r>
            <a:r>
              <a:rPr sz="1764" spc="-6" dirty="0">
                <a:latin typeface="Courier New"/>
                <a:cs typeface="Courier New"/>
              </a:rPr>
              <a:t>6</a:t>
            </a:r>
            <a:r>
              <a:rPr sz="1764" spc="-11" dirty="0">
                <a:latin typeface="Courier New"/>
                <a:cs typeface="Courier New"/>
              </a:rPr>
              <a:t>.</a:t>
            </a:r>
            <a:r>
              <a:rPr sz="1764" spc="-6" dirty="0">
                <a:latin typeface="Courier New"/>
                <a:cs typeface="Courier New"/>
              </a:rPr>
              <a:t>1</a:t>
            </a:r>
            <a:r>
              <a:rPr sz="1764" spc="-11" dirty="0">
                <a:latin typeface="Courier New"/>
                <a:cs typeface="Courier New"/>
              </a:rPr>
              <a:t>.</a:t>
            </a:r>
            <a:r>
              <a:rPr sz="1764" spc="-6" dirty="0">
                <a:latin typeface="Courier New"/>
                <a:cs typeface="Courier New"/>
              </a:rPr>
              <a:t>0</a:t>
            </a:r>
            <a:r>
              <a:rPr sz="1764" spc="-11" dirty="0">
                <a:latin typeface="Courier New"/>
                <a:cs typeface="Courier New"/>
              </a:rPr>
              <a:t>/</a:t>
            </a:r>
            <a:r>
              <a:rPr sz="1764" spc="-6" dirty="0">
                <a:latin typeface="Courier New"/>
                <a:cs typeface="Courier New"/>
              </a:rPr>
              <a:t>24  </a:t>
            </a:r>
            <a:r>
              <a:rPr sz="1764" dirty="0">
                <a:latin typeface="Courier New"/>
                <a:cs typeface="Courier New"/>
              </a:rPr>
              <a:t> </a:t>
            </a:r>
            <a:r>
              <a:rPr sz="1764" spc="-6" dirty="0">
                <a:latin typeface="Courier New"/>
                <a:cs typeface="Courier New"/>
              </a:rPr>
              <a:t>C</a:t>
            </a:r>
            <a:endParaRPr sz="1764">
              <a:latin typeface="Courier New"/>
              <a:cs typeface="Courier New"/>
            </a:endParaRPr>
          </a:p>
        </p:txBody>
      </p:sp>
      <p:sp>
        <p:nvSpPr>
          <p:cNvPr id="11" name="object 11"/>
          <p:cNvSpPr txBox="1"/>
          <p:nvPr/>
        </p:nvSpPr>
        <p:spPr>
          <a:xfrm>
            <a:off x="1108696" y="5935968"/>
            <a:ext cx="6338228" cy="284913"/>
          </a:xfrm>
          <a:prstGeom prst="rect">
            <a:avLst/>
          </a:prstGeom>
        </p:spPr>
        <p:txBody>
          <a:bodyPr vert="horz" wrap="square" lIns="0" tIns="13299" rIns="0" bIns="0" rtlCol="0">
            <a:spAutoFit/>
          </a:bodyPr>
          <a:lstStyle/>
          <a:p>
            <a:pPr>
              <a:spcBef>
                <a:spcPts val="105"/>
              </a:spcBef>
            </a:pPr>
            <a:r>
              <a:rPr sz="1764" spc="-6" dirty="0">
                <a:latin typeface="Courier New"/>
                <a:cs typeface="Courier New"/>
              </a:rPr>
              <a:t>192.168.2.0/24</a:t>
            </a:r>
            <a:r>
              <a:rPr sz="1764" spc="11" dirty="0">
                <a:latin typeface="Courier New"/>
                <a:cs typeface="Courier New"/>
              </a:rPr>
              <a:t> </a:t>
            </a:r>
            <a:r>
              <a:rPr sz="1764" spc="-6" dirty="0">
                <a:latin typeface="Courier New"/>
                <a:cs typeface="Courier New"/>
              </a:rPr>
              <a:t>is</a:t>
            </a:r>
            <a:r>
              <a:rPr sz="1764" spc="-11" dirty="0">
                <a:latin typeface="Courier New"/>
                <a:cs typeface="Courier New"/>
              </a:rPr>
              <a:t> </a:t>
            </a:r>
            <a:r>
              <a:rPr sz="1764" spc="-6" dirty="0">
                <a:latin typeface="Courier New"/>
                <a:cs typeface="Courier New"/>
              </a:rPr>
              <a:t>directly</a:t>
            </a:r>
            <a:r>
              <a:rPr sz="1764" dirty="0">
                <a:latin typeface="Courier New"/>
                <a:cs typeface="Courier New"/>
              </a:rPr>
              <a:t> </a:t>
            </a:r>
            <a:r>
              <a:rPr sz="1764" spc="-6" dirty="0">
                <a:latin typeface="Courier New"/>
                <a:cs typeface="Courier New"/>
              </a:rPr>
              <a:t>connected,</a:t>
            </a:r>
            <a:r>
              <a:rPr sz="1764" spc="6" dirty="0">
                <a:latin typeface="Courier New"/>
                <a:cs typeface="Courier New"/>
              </a:rPr>
              <a:t> </a:t>
            </a:r>
            <a:r>
              <a:rPr sz="1764" spc="-6" dirty="0">
                <a:latin typeface="Courier New"/>
                <a:cs typeface="Courier New"/>
              </a:rPr>
              <a:t>Ethernet0</a:t>
            </a:r>
            <a:endParaRPr sz="1764">
              <a:latin typeface="Courier New"/>
              <a:cs typeface="Courier New"/>
            </a:endParaRPr>
          </a:p>
        </p:txBody>
      </p:sp>
      <p:pic>
        <p:nvPicPr>
          <p:cNvPr id="12" name="object 12"/>
          <p:cNvPicPr/>
          <p:nvPr/>
        </p:nvPicPr>
        <p:blipFill>
          <a:blip r:embed="rId2" cstate="print"/>
          <a:stretch>
            <a:fillRect/>
          </a:stretch>
        </p:blipFill>
        <p:spPr>
          <a:xfrm>
            <a:off x="82636" y="1661284"/>
            <a:ext cx="5715532" cy="3277288"/>
          </a:xfrm>
          <a:prstGeom prst="rect">
            <a:avLst/>
          </a:prstGeom>
        </p:spPr>
      </p:pic>
      <p:sp>
        <p:nvSpPr>
          <p:cNvPr id="13" name="object 13"/>
          <p:cNvSpPr txBox="1"/>
          <p:nvPr/>
        </p:nvSpPr>
        <p:spPr>
          <a:xfrm>
            <a:off x="2523501" y="6803146"/>
            <a:ext cx="4582703" cy="319476"/>
          </a:xfrm>
          <a:prstGeom prst="rect">
            <a:avLst/>
          </a:prstGeom>
        </p:spPr>
        <p:txBody>
          <a:bodyPr vert="horz" wrap="square" lIns="0" tIns="13999" rIns="0" bIns="0" rtlCol="0">
            <a:spAutoFit/>
          </a:bodyPr>
          <a:lstStyle/>
          <a:p>
            <a:pPr marL="13999">
              <a:spcBef>
                <a:spcPts val="110"/>
              </a:spcBef>
            </a:pPr>
            <a:r>
              <a:rPr sz="1984" b="1" dirty="0">
                <a:solidFill>
                  <a:srgbClr val="FF0000"/>
                </a:solidFill>
                <a:latin typeface="Times New Roman"/>
                <a:cs typeface="Times New Roman"/>
              </a:rPr>
              <a:t>[1/0]</a:t>
            </a:r>
            <a:r>
              <a:rPr sz="1984" b="1" spc="-17" dirty="0">
                <a:solidFill>
                  <a:srgbClr val="FF0000"/>
                </a:solidFill>
                <a:latin typeface="Times New Roman"/>
                <a:cs typeface="Times New Roman"/>
              </a:rPr>
              <a:t> </a:t>
            </a:r>
            <a:r>
              <a:rPr sz="1984" b="1" dirty="0">
                <a:solidFill>
                  <a:srgbClr val="FF0000"/>
                </a:solidFill>
                <a:latin typeface="Times New Roman"/>
                <a:cs typeface="Times New Roman"/>
              </a:rPr>
              <a:t>–</a:t>
            </a:r>
            <a:r>
              <a:rPr sz="1984" b="1" spc="6" dirty="0">
                <a:solidFill>
                  <a:srgbClr val="FF0000"/>
                </a:solidFill>
                <a:latin typeface="Times New Roman"/>
                <a:cs typeface="Times New Roman"/>
              </a:rPr>
              <a:t> </a:t>
            </a:r>
            <a:r>
              <a:rPr sz="1984" b="1" dirty="0">
                <a:solidFill>
                  <a:srgbClr val="FF0000"/>
                </a:solidFill>
                <a:latin typeface="Times New Roman"/>
                <a:cs typeface="Times New Roman"/>
              </a:rPr>
              <a:t>[</a:t>
            </a:r>
            <a:r>
              <a:rPr sz="1984" b="1" spc="-116" dirty="0">
                <a:solidFill>
                  <a:srgbClr val="FF0000"/>
                </a:solidFill>
                <a:latin typeface="Times New Roman"/>
                <a:cs typeface="Times New Roman"/>
              </a:rPr>
              <a:t> </a:t>
            </a:r>
            <a:r>
              <a:rPr sz="1984" b="1" spc="-6" dirty="0">
                <a:solidFill>
                  <a:srgbClr val="FF0000"/>
                </a:solidFill>
                <a:latin typeface="Times New Roman"/>
                <a:cs typeface="Times New Roman"/>
              </a:rPr>
              <a:t>Administrative</a:t>
            </a:r>
            <a:r>
              <a:rPr sz="1984" b="1" dirty="0">
                <a:solidFill>
                  <a:srgbClr val="FF0000"/>
                </a:solidFill>
                <a:latin typeface="Times New Roman"/>
                <a:cs typeface="Times New Roman"/>
              </a:rPr>
              <a:t> </a:t>
            </a:r>
            <a:r>
              <a:rPr sz="1984" b="1" spc="-6" dirty="0">
                <a:solidFill>
                  <a:srgbClr val="FF0000"/>
                </a:solidFill>
                <a:latin typeface="Times New Roman"/>
                <a:cs typeface="Times New Roman"/>
              </a:rPr>
              <a:t>Distance</a:t>
            </a:r>
            <a:r>
              <a:rPr sz="1984" b="1" spc="11" dirty="0">
                <a:solidFill>
                  <a:srgbClr val="FF0000"/>
                </a:solidFill>
                <a:latin typeface="Times New Roman"/>
                <a:cs typeface="Times New Roman"/>
              </a:rPr>
              <a:t> </a:t>
            </a:r>
            <a:r>
              <a:rPr sz="1984" b="1" dirty="0">
                <a:solidFill>
                  <a:srgbClr val="FF0000"/>
                </a:solidFill>
                <a:latin typeface="Times New Roman"/>
                <a:cs typeface="Times New Roman"/>
              </a:rPr>
              <a:t>/ Metric</a:t>
            </a:r>
            <a:r>
              <a:rPr sz="1984" b="1" spc="-17" dirty="0">
                <a:solidFill>
                  <a:srgbClr val="FF0000"/>
                </a:solidFill>
                <a:latin typeface="Times New Roman"/>
                <a:cs typeface="Times New Roman"/>
              </a:rPr>
              <a:t> </a:t>
            </a:r>
            <a:r>
              <a:rPr sz="1984" b="1" dirty="0">
                <a:solidFill>
                  <a:srgbClr val="FF0000"/>
                </a:solidFill>
                <a:latin typeface="Times New Roman"/>
                <a:cs typeface="Times New Roman"/>
              </a:rPr>
              <a:t>]</a:t>
            </a:r>
            <a:endParaRPr sz="1984" dirty="0">
              <a:solidFill>
                <a:srgbClr val="FF0000"/>
              </a:solidFill>
              <a:latin typeface="Times New Roman"/>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3" y="415423"/>
            <a:ext cx="7973356"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Statically Defined</a:t>
            </a:r>
            <a:r>
              <a:rPr sz="4409" b="1" spc="17"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Default</a:t>
            </a:r>
            <a:r>
              <a:rPr sz="4409" b="1" spc="6"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30428" y="1856577"/>
            <a:ext cx="9489321" cy="4941701"/>
          </a:xfrm>
          <a:prstGeom prst="rect">
            <a:avLst/>
          </a:prstGeom>
        </p:spPr>
        <p:txBody>
          <a:bodyPr vert="horz" wrap="square" lIns="0" tIns="13299" rIns="0" bIns="0" rtlCol="0">
            <a:spAutoFit/>
          </a:bodyPr>
          <a:lstStyle/>
          <a:p>
            <a:pPr marL="470499" marR="66496" indent="-457200">
              <a:spcBef>
                <a:spcPts val="105"/>
              </a:spcBef>
              <a:buClr>
                <a:srgbClr val="C00000"/>
              </a:buClr>
              <a:buSzPct val="83928"/>
              <a:buFont typeface="Wingdings" panose="05000000000000000000" pitchFamily="2" charset="2"/>
              <a:buChar char="Ø"/>
              <a:tabLst>
                <a:tab pos="316382" algn="l"/>
              </a:tabLst>
            </a:pPr>
            <a:r>
              <a:rPr sz="3086" spc="-6" dirty="0">
                <a:latin typeface="Times New Roman"/>
                <a:cs typeface="Times New Roman"/>
              </a:rPr>
              <a:t>A</a:t>
            </a:r>
            <a:r>
              <a:rPr sz="3086" spc="-182" dirty="0">
                <a:latin typeface="Times New Roman"/>
                <a:cs typeface="Times New Roman"/>
              </a:rPr>
              <a:t> </a:t>
            </a:r>
            <a:r>
              <a:rPr sz="3086" b="1" spc="-6" dirty="0">
                <a:solidFill>
                  <a:srgbClr val="FF0000"/>
                </a:solidFill>
                <a:latin typeface="Times New Roman"/>
                <a:cs typeface="Times New Roman"/>
              </a:rPr>
              <a:t>default</a:t>
            </a:r>
            <a:r>
              <a:rPr sz="3086" b="1" spc="-11" dirty="0">
                <a:solidFill>
                  <a:srgbClr val="FF0000"/>
                </a:solidFill>
                <a:latin typeface="Times New Roman"/>
                <a:cs typeface="Times New Roman"/>
              </a:rPr>
              <a:t> </a:t>
            </a:r>
            <a:r>
              <a:rPr sz="3086" b="1" dirty="0">
                <a:solidFill>
                  <a:srgbClr val="FF0000"/>
                </a:solidFill>
                <a:latin typeface="Times New Roman"/>
                <a:cs typeface="Times New Roman"/>
              </a:rPr>
              <a:t>route</a:t>
            </a:r>
            <a:r>
              <a:rPr sz="3086" b="1" spc="-11" dirty="0">
                <a:solidFill>
                  <a:srgbClr val="FF0000"/>
                </a:solidFill>
                <a:latin typeface="Times New Roman"/>
                <a:cs typeface="Times New Roman"/>
              </a:rPr>
              <a:t> </a:t>
            </a:r>
            <a:r>
              <a:rPr sz="3086" spc="-6" dirty="0">
                <a:latin typeface="Times New Roman"/>
                <a:cs typeface="Times New Roman"/>
              </a:rPr>
              <a:t>is</a:t>
            </a:r>
            <a:r>
              <a:rPr sz="3086" dirty="0">
                <a:latin typeface="Times New Roman"/>
                <a:cs typeface="Times New Roman"/>
              </a:rPr>
              <a:t> </a:t>
            </a:r>
            <a:r>
              <a:rPr sz="3086" spc="-6" dirty="0">
                <a:latin typeface="Times New Roman"/>
                <a:cs typeface="Times New Roman"/>
              </a:rPr>
              <a:t>used to</a:t>
            </a:r>
            <a:r>
              <a:rPr sz="3086" spc="-11" dirty="0">
                <a:latin typeface="Times New Roman"/>
                <a:cs typeface="Times New Roman"/>
              </a:rPr>
              <a:t> </a:t>
            </a:r>
            <a:r>
              <a:rPr sz="3086" spc="-6" dirty="0">
                <a:latin typeface="Times New Roman"/>
                <a:cs typeface="Times New Roman"/>
              </a:rPr>
              <a:t>represent</a:t>
            </a:r>
            <a:r>
              <a:rPr sz="3086" dirty="0">
                <a:latin typeface="Times New Roman"/>
                <a:cs typeface="Times New Roman"/>
              </a:rPr>
              <a:t> </a:t>
            </a:r>
            <a:r>
              <a:rPr sz="3086" spc="-6" dirty="0">
                <a:latin typeface="Times New Roman"/>
                <a:cs typeface="Times New Roman"/>
              </a:rPr>
              <a:t>all </a:t>
            </a:r>
            <a:r>
              <a:rPr sz="3086" dirty="0">
                <a:latin typeface="Times New Roman"/>
                <a:cs typeface="Times New Roman"/>
              </a:rPr>
              <a:t>routes</a:t>
            </a:r>
            <a:r>
              <a:rPr sz="3086" spc="-17" dirty="0">
                <a:latin typeface="Times New Roman"/>
                <a:cs typeface="Times New Roman"/>
              </a:rPr>
              <a:t> </a:t>
            </a:r>
            <a:r>
              <a:rPr sz="3086" spc="-6" dirty="0">
                <a:latin typeface="Times New Roman"/>
                <a:cs typeface="Times New Roman"/>
              </a:rPr>
              <a:t>with</a:t>
            </a:r>
            <a:r>
              <a:rPr sz="3086" dirty="0">
                <a:latin typeface="Times New Roman"/>
                <a:cs typeface="Times New Roman"/>
              </a:rPr>
              <a:t> </a:t>
            </a:r>
            <a:r>
              <a:rPr sz="3086" spc="-6" dirty="0">
                <a:latin typeface="Times New Roman"/>
                <a:cs typeface="Times New Roman"/>
              </a:rPr>
              <a:t>zero </a:t>
            </a:r>
            <a:r>
              <a:rPr sz="3086" spc="-755" dirty="0">
                <a:latin typeface="Times New Roman"/>
                <a:cs typeface="Times New Roman"/>
              </a:rPr>
              <a:t> </a:t>
            </a:r>
            <a:r>
              <a:rPr sz="3086" spc="-6" dirty="0">
                <a:latin typeface="Times New Roman"/>
                <a:cs typeface="Times New Roman"/>
              </a:rPr>
              <a:t>or</a:t>
            </a:r>
            <a:r>
              <a:rPr sz="3086" spc="-17" dirty="0">
                <a:latin typeface="Times New Roman"/>
                <a:cs typeface="Times New Roman"/>
              </a:rPr>
              <a:t> </a:t>
            </a:r>
            <a:r>
              <a:rPr sz="3086" spc="-6" dirty="0">
                <a:latin typeface="Times New Roman"/>
                <a:cs typeface="Times New Roman"/>
              </a:rPr>
              <a:t>no</a:t>
            </a:r>
            <a:r>
              <a:rPr sz="3086" spc="11" dirty="0">
                <a:latin typeface="Times New Roman"/>
                <a:cs typeface="Times New Roman"/>
              </a:rPr>
              <a:t> </a:t>
            </a:r>
            <a:r>
              <a:rPr sz="3086" spc="-6" dirty="0">
                <a:latin typeface="Times New Roman"/>
                <a:cs typeface="Times New Roman"/>
              </a:rPr>
              <a:t>bits</a:t>
            </a:r>
            <a:r>
              <a:rPr sz="3086" spc="-11" dirty="0">
                <a:latin typeface="Times New Roman"/>
                <a:cs typeface="Times New Roman"/>
              </a:rPr>
              <a:t> </a:t>
            </a:r>
            <a:r>
              <a:rPr sz="3086" spc="-6" dirty="0">
                <a:latin typeface="Times New Roman"/>
                <a:cs typeface="Times New Roman"/>
              </a:rPr>
              <a:t>matching. In</a:t>
            </a:r>
            <a:r>
              <a:rPr sz="3086" dirty="0">
                <a:latin typeface="Times New Roman"/>
                <a:cs typeface="Times New Roman"/>
              </a:rPr>
              <a:t> other</a:t>
            </a:r>
            <a:r>
              <a:rPr sz="3086" spc="33" dirty="0">
                <a:latin typeface="Times New Roman"/>
                <a:cs typeface="Times New Roman"/>
              </a:rPr>
              <a:t> </a:t>
            </a:r>
            <a:r>
              <a:rPr sz="3086" spc="-6" dirty="0">
                <a:latin typeface="Times New Roman"/>
                <a:cs typeface="Times New Roman"/>
              </a:rPr>
              <a:t>words,</a:t>
            </a:r>
            <a:r>
              <a:rPr sz="3086" b="1" spc="-6" dirty="0">
                <a:solidFill>
                  <a:srgbClr val="FF0000"/>
                </a:solidFill>
                <a:latin typeface="Times New Roman"/>
                <a:cs typeface="Times New Roman"/>
              </a:rPr>
              <a:t>when</a:t>
            </a:r>
            <a:r>
              <a:rPr sz="3086" b="1" dirty="0">
                <a:solidFill>
                  <a:srgbClr val="FF0000"/>
                </a:solidFill>
                <a:latin typeface="Times New Roman"/>
                <a:cs typeface="Times New Roman"/>
              </a:rPr>
              <a:t> </a:t>
            </a:r>
            <a:r>
              <a:rPr sz="3086" b="1" spc="-6" dirty="0">
                <a:solidFill>
                  <a:srgbClr val="FF0000"/>
                </a:solidFill>
                <a:latin typeface="Times New Roman"/>
                <a:cs typeface="Times New Roman"/>
              </a:rPr>
              <a:t>there</a:t>
            </a:r>
            <a:r>
              <a:rPr sz="3086" b="1" spc="6" dirty="0">
                <a:solidFill>
                  <a:srgbClr val="FF0000"/>
                </a:solidFill>
                <a:latin typeface="Times New Roman"/>
                <a:cs typeface="Times New Roman"/>
              </a:rPr>
              <a:t> </a:t>
            </a:r>
            <a:r>
              <a:rPr sz="3086" b="1" spc="-11" dirty="0">
                <a:solidFill>
                  <a:srgbClr val="FF0000"/>
                </a:solidFill>
                <a:latin typeface="Times New Roman"/>
                <a:cs typeface="Times New Roman"/>
              </a:rPr>
              <a:t>are</a:t>
            </a:r>
            <a:r>
              <a:rPr sz="3086" b="1" dirty="0">
                <a:solidFill>
                  <a:srgbClr val="FF0000"/>
                </a:solidFill>
                <a:latin typeface="Times New Roman"/>
                <a:cs typeface="Times New Roman"/>
              </a:rPr>
              <a:t> no </a:t>
            </a:r>
            <a:r>
              <a:rPr sz="3086" b="1" spc="6" dirty="0">
                <a:solidFill>
                  <a:srgbClr val="FF0000"/>
                </a:solidFill>
                <a:latin typeface="Times New Roman"/>
                <a:cs typeface="Times New Roman"/>
              </a:rPr>
              <a:t> </a:t>
            </a:r>
            <a:r>
              <a:rPr sz="3086" b="1" dirty="0">
                <a:solidFill>
                  <a:srgbClr val="FF0000"/>
                </a:solidFill>
                <a:latin typeface="Times New Roman"/>
                <a:cs typeface="Times New Roman"/>
              </a:rPr>
              <a:t>routes </a:t>
            </a:r>
            <a:r>
              <a:rPr sz="3086" b="1" spc="-6" dirty="0">
                <a:solidFill>
                  <a:srgbClr val="FF0000"/>
                </a:solidFill>
                <a:latin typeface="Times New Roman"/>
                <a:cs typeface="Times New Roman"/>
              </a:rPr>
              <a:t>that have a more specific match</a:t>
            </a:r>
            <a:r>
              <a:rPr sz="3086" spc="-6" dirty="0">
                <a:latin typeface="Times New Roman"/>
                <a:cs typeface="Times New Roman"/>
              </a:rPr>
              <a:t>, </a:t>
            </a:r>
            <a:r>
              <a:rPr sz="3086" b="1" dirty="0">
                <a:solidFill>
                  <a:srgbClr val="FF0000"/>
                </a:solidFill>
                <a:latin typeface="Times New Roman"/>
                <a:cs typeface="Times New Roman"/>
              </a:rPr>
              <a:t>the </a:t>
            </a:r>
            <a:r>
              <a:rPr sz="3086" b="1" spc="-6" dirty="0">
                <a:solidFill>
                  <a:srgbClr val="FF0000"/>
                </a:solidFill>
                <a:latin typeface="Times New Roman"/>
                <a:cs typeface="Times New Roman"/>
              </a:rPr>
              <a:t>default </a:t>
            </a:r>
            <a:r>
              <a:rPr sz="3086" b="1" dirty="0">
                <a:solidFill>
                  <a:srgbClr val="FF0000"/>
                </a:solidFill>
                <a:latin typeface="Times New Roman"/>
                <a:cs typeface="Times New Roman"/>
              </a:rPr>
              <a:t> route</a:t>
            </a:r>
            <a:r>
              <a:rPr sz="3086" b="1" spc="-44" dirty="0">
                <a:solidFill>
                  <a:srgbClr val="FF0000"/>
                </a:solidFill>
                <a:latin typeface="Times New Roman"/>
                <a:cs typeface="Times New Roman"/>
              </a:rPr>
              <a:t> </a:t>
            </a:r>
            <a:r>
              <a:rPr sz="3086" b="1" spc="-6" dirty="0">
                <a:solidFill>
                  <a:srgbClr val="FF0000"/>
                </a:solidFill>
                <a:latin typeface="Times New Roman"/>
                <a:cs typeface="Times New Roman"/>
              </a:rPr>
              <a:t>will </a:t>
            </a:r>
            <a:r>
              <a:rPr sz="3086" b="1" dirty="0">
                <a:solidFill>
                  <a:srgbClr val="FF0000"/>
                </a:solidFill>
                <a:latin typeface="Times New Roman"/>
                <a:cs typeface="Times New Roman"/>
              </a:rPr>
              <a:t>be</a:t>
            </a:r>
            <a:r>
              <a:rPr sz="3086" b="1" spc="-11" dirty="0">
                <a:solidFill>
                  <a:srgbClr val="FF0000"/>
                </a:solidFill>
                <a:latin typeface="Times New Roman"/>
                <a:cs typeface="Times New Roman"/>
              </a:rPr>
              <a:t> </a:t>
            </a:r>
            <a:r>
              <a:rPr sz="3086" b="1" spc="-6" dirty="0">
                <a:solidFill>
                  <a:srgbClr val="FF0000"/>
                </a:solidFill>
                <a:latin typeface="Times New Roman"/>
                <a:cs typeface="Times New Roman"/>
              </a:rPr>
              <a:t>a</a:t>
            </a:r>
            <a:r>
              <a:rPr sz="3086" b="1" spc="-11" dirty="0">
                <a:solidFill>
                  <a:srgbClr val="FF0000"/>
                </a:solidFill>
                <a:latin typeface="Times New Roman"/>
                <a:cs typeface="Times New Roman"/>
              </a:rPr>
              <a:t> </a:t>
            </a:r>
            <a:r>
              <a:rPr sz="3086" b="1" spc="-6" dirty="0">
                <a:solidFill>
                  <a:srgbClr val="FF0000"/>
                </a:solidFill>
                <a:latin typeface="Times New Roman"/>
                <a:cs typeface="Times New Roman"/>
              </a:rPr>
              <a:t>match</a:t>
            </a:r>
            <a:r>
              <a:rPr sz="3086" spc="-6" dirty="0">
                <a:latin typeface="Times New Roman"/>
                <a:cs typeface="Times New Roman"/>
              </a:rPr>
              <a:t>.</a:t>
            </a:r>
            <a:endParaRPr sz="3086" dirty="0">
              <a:latin typeface="Times New Roman"/>
              <a:cs typeface="Times New Roman"/>
            </a:endParaRPr>
          </a:p>
          <a:p>
            <a:pPr marL="471199" indent="-457200">
              <a:spcBef>
                <a:spcPts val="667"/>
              </a:spcBef>
              <a:buClr>
                <a:srgbClr val="C00000"/>
              </a:buClr>
              <a:buSzPct val="83928"/>
              <a:buFont typeface="Wingdings" panose="05000000000000000000" pitchFamily="2" charset="2"/>
              <a:buChar char="Ø"/>
              <a:tabLst>
                <a:tab pos="316382" algn="l"/>
              </a:tabLst>
            </a:pPr>
            <a:r>
              <a:rPr sz="3086" spc="-6" dirty="0">
                <a:latin typeface="Times New Roman"/>
                <a:cs typeface="Times New Roman"/>
              </a:rPr>
              <a:t>When</a:t>
            </a:r>
            <a:r>
              <a:rPr sz="3086" spc="-17" dirty="0">
                <a:latin typeface="Times New Roman"/>
                <a:cs typeface="Times New Roman"/>
              </a:rPr>
              <a:t> </a:t>
            </a:r>
            <a:r>
              <a:rPr sz="3086" spc="-6" dirty="0">
                <a:latin typeface="Times New Roman"/>
                <a:cs typeface="Times New Roman"/>
              </a:rPr>
              <a:t>a</a:t>
            </a:r>
            <a:r>
              <a:rPr sz="3086" spc="-11" dirty="0">
                <a:latin typeface="Times New Roman"/>
                <a:cs typeface="Times New Roman"/>
              </a:rPr>
              <a:t> </a:t>
            </a:r>
            <a:r>
              <a:rPr sz="3086" dirty="0">
                <a:latin typeface="Times New Roman"/>
                <a:cs typeface="Times New Roman"/>
              </a:rPr>
              <a:t>router </a:t>
            </a:r>
            <a:r>
              <a:rPr sz="3086" spc="-6" dirty="0">
                <a:latin typeface="Times New Roman"/>
                <a:cs typeface="Times New Roman"/>
              </a:rPr>
              <a:t>receives</a:t>
            </a:r>
            <a:r>
              <a:rPr sz="3086" dirty="0">
                <a:latin typeface="Times New Roman"/>
                <a:cs typeface="Times New Roman"/>
              </a:rPr>
              <a:t> </a:t>
            </a:r>
            <a:r>
              <a:rPr sz="3086" spc="-6" dirty="0">
                <a:latin typeface="Times New Roman"/>
                <a:cs typeface="Times New Roman"/>
              </a:rPr>
              <a:t>a</a:t>
            </a:r>
            <a:r>
              <a:rPr sz="3086" spc="-11" dirty="0">
                <a:latin typeface="Times New Roman"/>
                <a:cs typeface="Times New Roman"/>
              </a:rPr>
              <a:t> </a:t>
            </a:r>
            <a:r>
              <a:rPr sz="3086" spc="-6" dirty="0">
                <a:latin typeface="Times New Roman"/>
                <a:cs typeface="Times New Roman"/>
              </a:rPr>
              <a:t>packet</a:t>
            </a:r>
            <a:r>
              <a:rPr sz="3086" spc="6" dirty="0">
                <a:latin typeface="Times New Roman"/>
                <a:cs typeface="Times New Roman"/>
              </a:rPr>
              <a:t> </a:t>
            </a:r>
            <a:r>
              <a:rPr sz="3086" spc="-6" dirty="0">
                <a:latin typeface="Times New Roman"/>
                <a:cs typeface="Times New Roman"/>
              </a:rPr>
              <a:t>whose destination</a:t>
            </a:r>
            <a:r>
              <a:rPr lang="en-US" sz="3086" dirty="0">
                <a:latin typeface="Times New Roman"/>
                <a:cs typeface="Times New Roman"/>
              </a:rPr>
              <a:t> </a:t>
            </a:r>
            <a:r>
              <a:rPr sz="3086" spc="-6" dirty="0">
                <a:latin typeface="Times New Roman"/>
                <a:cs typeface="Times New Roman"/>
              </a:rPr>
              <a:t>address</a:t>
            </a:r>
            <a:r>
              <a:rPr sz="3086" spc="-28" dirty="0">
                <a:latin typeface="Times New Roman"/>
                <a:cs typeface="Times New Roman"/>
              </a:rPr>
              <a:t> </a:t>
            </a:r>
            <a:r>
              <a:rPr sz="3086" spc="-6" dirty="0">
                <a:latin typeface="Times New Roman"/>
                <a:cs typeface="Times New Roman"/>
              </a:rPr>
              <a:t>is</a:t>
            </a:r>
            <a:r>
              <a:rPr sz="3086" dirty="0">
                <a:latin typeface="Times New Roman"/>
                <a:cs typeface="Times New Roman"/>
              </a:rPr>
              <a:t> not</a:t>
            </a:r>
            <a:r>
              <a:rPr sz="3086" spc="-6" dirty="0">
                <a:latin typeface="Times New Roman"/>
                <a:cs typeface="Times New Roman"/>
              </a:rPr>
              <a:t> </a:t>
            </a:r>
            <a:r>
              <a:rPr sz="3086" dirty="0">
                <a:latin typeface="Times New Roman"/>
                <a:cs typeface="Times New Roman"/>
              </a:rPr>
              <a:t>found</a:t>
            </a:r>
            <a:r>
              <a:rPr sz="3086" spc="-11" dirty="0">
                <a:latin typeface="Times New Roman"/>
                <a:cs typeface="Times New Roman"/>
              </a:rPr>
              <a:t> </a:t>
            </a:r>
            <a:r>
              <a:rPr sz="3086" spc="-6" dirty="0">
                <a:latin typeface="Times New Roman"/>
                <a:cs typeface="Times New Roman"/>
              </a:rPr>
              <a:t>in</a:t>
            </a:r>
            <a:r>
              <a:rPr sz="3086" spc="11" dirty="0">
                <a:latin typeface="Times New Roman"/>
                <a:cs typeface="Times New Roman"/>
              </a:rPr>
              <a:t> </a:t>
            </a:r>
            <a:r>
              <a:rPr sz="3086" spc="-6" dirty="0">
                <a:latin typeface="Times New Roman"/>
                <a:cs typeface="Times New Roman"/>
              </a:rPr>
              <a:t>the</a:t>
            </a:r>
            <a:r>
              <a:rPr sz="3086" dirty="0">
                <a:latin typeface="Times New Roman"/>
                <a:cs typeface="Times New Roman"/>
              </a:rPr>
              <a:t> </a:t>
            </a:r>
            <a:r>
              <a:rPr sz="3086" spc="-11" dirty="0">
                <a:latin typeface="Times New Roman"/>
                <a:cs typeface="Times New Roman"/>
              </a:rPr>
              <a:t>router‘s </a:t>
            </a:r>
            <a:r>
              <a:rPr sz="3086" spc="-6" dirty="0">
                <a:latin typeface="Times New Roman"/>
                <a:cs typeface="Times New Roman"/>
              </a:rPr>
              <a:t>IP</a:t>
            </a:r>
            <a:r>
              <a:rPr sz="3086" spc="-105" dirty="0">
                <a:latin typeface="Times New Roman"/>
                <a:cs typeface="Times New Roman"/>
              </a:rPr>
              <a:t> </a:t>
            </a:r>
            <a:r>
              <a:rPr sz="3086" dirty="0">
                <a:latin typeface="Times New Roman"/>
                <a:cs typeface="Times New Roman"/>
              </a:rPr>
              <a:t>routing</a:t>
            </a:r>
            <a:r>
              <a:rPr sz="3086" spc="-28" dirty="0">
                <a:latin typeface="Times New Roman"/>
                <a:cs typeface="Times New Roman"/>
              </a:rPr>
              <a:t> </a:t>
            </a:r>
            <a:r>
              <a:rPr sz="3086" spc="-6" dirty="0">
                <a:latin typeface="Times New Roman"/>
                <a:cs typeface="Times New Roman"/>
              </a:rPr>
              <a:t>table,</a:t>
            </a:r>
            <a:r>
              <a:rPr sz="3086" spc="6" dirty="0">
                <a:latin typeface="Times New Roman"/>
                <a:cs typeface="Times New Roman"/>
              </a:rPr>
              <a:t> </a:t>
            </a:r>
            <a:r>
              <a:rPr sz="3086" b="1" spc="-6" dirty="0">
                <a:solidFill>
                  <a:srgbClr val="FF0000"/>
                </a:solidFill>
                <a:latin typeface="Times New Roman"/>
                <a:cs typeface="Times New Roman"/>
              </a:rPr>
              <a:t>the </a:t>
            </a:r>
            <a:r>
              <a:rPr sz="3086" b="1" spc="-755" dirty="0">
                <a:solidFill>
                  <a:srgbClr val="FF0000"/>
                </a:solidFill>
                <a:latin typeface="Times New Roman"/>
                <a:cs typeface="Times New Roman"/>
              </a:rPr>
              <a:t> </a:t>
            </a:r>
            <a:r>
              <a:rPr sz="3086" b="1" dirty="0">
                <a:solidFill>
                  <a:srgbClr val="FF0000"/>
                </a:solidFill>
                <a:latin typeface="Times New Roman"/>
                <a:cs typeface="Times New Roman"/>
              </a:rPr>
              <a:t>router </a:t>
            </a:r>
            <a:r>
              <a:rPr sz="3086" b="1" spc="-6" dirty="0">
                <a:solidFill>
                  <a:srgbClr val="FF0000"/>
                </a:solidFill>
                <a:latin typeface="Times New Roman"/>
                <a:cs typeface="Times New Roman"/>
              </a:rPr>
              <a:t>discards </a:t>
            </a:r>
            <a:r>
              <a:rPr sz="3086" b="1" dirty="0">
                <a:solidFill>
                  <a:srgbClr val="FF0000"/>
                </a:solidFill>
                <a:latin typeface="Times New Roman"/>
                <a:cs typeface="Times New Roman"/>
              </a:rPr>
              <a:t>the </a:t>
            </a:r>
            <a:r>
              <a:rPr sz="3086" b="1" spc="-6" dirty="0">
                <a:solidFill>
                  <a:srgbClr val="FF0000"/>
                </a:solidFill>
                <a:latin typeface="Times New Roman"/>
                <a:cs typeface="Times New Roman"/>
              </a:rPr>
              <a:t>packet</a:t>
            </a:r>
            <a:r>
              <a:rPr sz="3086" spc="-6" dirty="0">
                <a:latin typeface="Times New Roman"/>
                <a:cs typeface="Times New Roman"/>
              </a:rPr>
              <a:t>, </a:t>
            </a:r>
            <a:r>
              <a:rPr sz="3086" b="1" spc="-6" dirty="0">
                <a:solidFill>
                  <a:srgbClr val="FF0000"/>
                </a:solidFill>
                <a:latin typeface="Times New Roman"/>
                <a:cs typeface="Times New Roman"/>
              </a:rPr>
              <a:t>unless a default </a:t>
            </a:r>
            <a:r>
              <a:rPr sz="3086" b="1" dirty="0">
                <a:solidFill>
                  <a:srgbClr val="FF0000"/>
                </a:solidFill>
                <a:latin typeface="Times New Roman"/>
                <a:cs typeface="Times New Roman"/>
              </a:rPr>
              <a:t>route </a:t>
            </a:r>
            <a:r>
              <a:rPr sz="3086" b="1" spc="-6" dirty="0">
                <a:solidFill>
                  <a:srgbClr val="FF0000"/>
                </a:solidFill>
                <a:latin typeface="Times New Roman"/>
                <a:cs typeface="Times New Roman"/>
              </a:rPr>
              <a:t>has </a:t>
            </a:r>
            <a:r>
              <a:rPr sz="3086" b="1" dirty="0">
                <a:solidFill>
                  <a:srgbClr val="FF0000"/>
                </a:solidFill>
                <a:latin typeface="Times New Roman"/>
                <a:cs typeface="Times New Roman"/>
              </a:rPr>
              <a:t> </a:t>
            </a:r>
            <a:r>
              <a:rPr sz="3086" b="1" spc="-6" dirty="0">
                <a:solidFill>
                  <a:srgbClr val="FF0000"/>
                </a:solidFill>
                <a:latin typeface="Times New Roman"/>
                <a:cs typeface="Times New Roman"/>
              </a:rPr>
              <a:t>been</a:t>
            </a:r>
            <a:r>
              <a:rPr sz="3086" b="1" spc="-22" dirty="0">
                <a:solidFill>
                  <a:srgbClr val="FF0000"/>
                </a:solidFill>
                <a:latin typeface="Times New Roman"/>
                <a:cs typeface="Times New Roman"/>
              </a:rPr>
              <a:t> </a:t>
            </a:r>
            <a:r>
              <a:rPr sz="3086" b="1" spc="-6" dirty="0">
                <a:solidFill>
                  <a:srgbClr val="FF0000"/>
                </a:solidFill>
                <a:latin typeface="Times New Roman"/>
                <a:cs typeface="Times New Roman"/>
              </a:rPr>
              <a:t>configured</a:t>
            </a:r>
            <a:r>
              <a:rPr lang="en-US" sz="3086" spc="-6" dirty="0">
                <a:latin typeface="Times New Roman"/>
                <a:cs typeface="Times New Roman"/>
              </a:rPr>
              <a:t>.</a:t>
            </a:r>
            <a:endParaRPr sz="3086" dirty="0">
              <a:latin typeface="Times New Roman"/>
              <a:cs typeface="Times New Roman"/>
            </a:endParaRPr>
          </a:p>
          <a:p>
            <a:pPr marL="470499" marR="273685" indent="-457200">
              <a:spcBef>
                <a:spcPts val="667"/>
              </a:spcBef>
              <a:buClr>
                <a:srgbClr val="C00000"/>
              </a:buClr>
              <a:buSzPct val="83928"/>
              <a:buFont typeface="Wingdings" panose="05000000000000000000" pitchFamily="2" charset="2"/>
              <a:buChar char="Ø"/>
              <a:tabLst>
                <a:tab pos="316382" algn="l"/>
              </a:tabLst>
            </a:pPr>
            <a:r>
              <a:rPr sz="3086" spc="-6" dirty="0">
                <a:latin typeface="Times New Roman"/>
                <a:cs typeface="Times New Roman"/>
              </a:rPr>
              <a:t>Default </a:t>
            </a:r>
            <a:r>
              <a:rPr sz="3086" dirty="0">
                <a:latin typeface="Times New Roman"/>
                <a:cs typeface="Times New Roman"/>
              </a:rPr>
              <a:t>route </a:t>
            </a:r>
            <a:r>
              <a:rPr sz="3086" b="1" spc="-6" dirty="0">
                <a:solidFill>
                  <a:srgbClr val="FF0000"/>
                </a:solidFill>
                <a:latin typeface="Times New Roman"/>
                <a:cs typeface="Times New Roman"/>
              </a:rPr>
              <a:t>tells a </a:t>
            </a:r>
            <a:r>
              <a:rPr sz="3086" b="1" dirty="0">
                <a:solidFill>
                  <a:srgbClr val="FF0000"/>
                </a:solidFill>
                <a:latin typeface="Times New Roman"/>
                <a:cs typeface="Times New Roman"/>
              </a:rPr>
              <a:t>router </a:t>
            </a:r>
            <a:r>
              <a:rPr sz="3086" b="1" spc="-6" dirty="0">
                <a:solidFill>
                  <a:srgbClr val="FF0000"/>
                </a:solidFill>
                <a:latin typeface="Times New Roman"/>
                <a:cs typeface="Times New Roman"/>
              </a:rPr>
              <a:t>where to send packets that </a:t>
            </a:r>
            <a:r>
              <a:rPr sz="3086" b="1" spc="-755" dirty="0">
                <a:solidFill>
                  <a:srgbClr val="FF0000"/>
                </a:solidFill>
                <a:latin typeface="Times New Roman"/>
                <a:cs typeface="Times New Roman"/>
              </a:rPr>
              <a:t> </a:t>
            </a:r>
            <a:r>
              <a:rPr sz="3086" b="1" spc="-6" dirty="0">
                <a:solidFill>
                  <a:srgbClr val="FF0000"/>
                </a:solidFill>
                <a:latin typeface="Times New Roman"/>
                <a:cs typeface="Times New Roman"/>
              </a:rPr>
              <a:t>do</a:t>
            </a:r>
            <a:r>
              <a:rPr sz="3086" b="1" spc="-17" dirty="0">
                <a:solidFill>
                  <a:srgbClr val="FF0000"/>
                </a:solidFill>
                <a:latin typeface="Times New Roman"/>
                <a:cs typeface="Times New Roman"/>
              </a:rPr>
              <a:t> </a:t>
            </a:r>
            <a:r>
              <a:rPr sz="3086" b="1" dirty="0">
                <a:solidFill>
                  <a:srgbClr val="FF0000"/>
                </a:solidFill>
                <a:latin typeface="Times New Roman"/>
                <a:cs typeface="Times New Roman"/>
              </a:rPr>
              <a:t>not</a:t>
            </a:r>
            <a:r>
              <a:rPr sz="3086" b="1" spc="-17" dirty="0">
                <a:solidFill>
                  <a:srgbClr val="FF0000"/>
                </a:solidFill>
                <a:latin typeface="Times New Roman"/>
                <a:cs typeface="Times New Roman"/>
              </a:rPr>
              <a:t> </a:t>
            </a:r>
            <a:r>
              <a:rPr sz="3086" b="1" spc="-11" dirty="0">
                <a:solidFill>
                  <a:srgbClr val="FF0000"/>
                </a:solidFill>
                <a:latin typeface="Times New Roman"/>
                <a:cs typeface="Times New Roman"/>
              </a:rPr>
              <a:t>match</a:t>
            </a:r>
            <a:r>
              <a:rPr sz="3086" b="1" spc="11" dirty="0">
                <a:solidFill>
                  <a:srgbClr val="FF0000"/>
                </a:solidFill>
                <a:latin typeface="Times New Roman"/>
                <a:cs typeface="Times New Roman"/>
              </a:rPr>
              <a:t> </a:t>
            </a:r>
            <a:r>
              <a:rPr sz="3086" b="1" spc="-6" dirty="0">
                <a:solidFill>
                  <a:srgbClr val="FF0000"/>
                </a:solidFill>
                <a:latin typeface="Times New Roman"/>
                <a:cs typeface="Times New Roman"/>
              </a:rPr>
              <a:t>any</a:t>
            </a:r>
            <a:r>
              <a:rPr sz="3086" dirty="0">
                <a:latin typeface="Times New Roman"/>
                <a:cs typeface="Times New Roman"/>
              </a:rPr>
              <a:t> </a:t>
            </a:r>
            <a:r>
              <a:rPr sz="3086" spc="-6" dirty="0">
                <a:latin typeface="Times New Roman"/>
                <a:cs typeface="Times New Roman"/>
              </a:rPr>
              <a:t>of</a:t>
            </a:r>
            <a:r>
              <a:rPr sz="3086" spc="6" dirty="0">
                <a:latin typeface="Times New Roman"/>
                <a:cs typeface="Times New Roman"/>
              </a:rPr>
              <a:t> </a:t>
            </a:r>
            <a:r>
              <a:rPr sz="3086" spc="-6" dirty="0">
                <a:latin typeface="Times New Roman"/>
                <a:cs typeface="Times New Roman"/>
              </a:rPr>
              <a:t>that</a:t>
            </a:r>
            <a:r>
              <a:rPr sz="3086" spc="-22" dirty="0">
                <a:latin typeface="Times New Roman"/>
                <a:cs typeface="Times New Roman"/>
              </a:rPr>
              <a:t> </a:t>
            </a:r>
            <a:r>
              <a:rPr sz="3086" spc="-11" dirty="0">
                <a:latin typeface="Times New Roman"/>
                <a:cs typeface="Times New Roman"/>
              </a:rPr>
              <a:t>router</a:t>
            </a:r>
            <a:r>
              <a:rPr lang="en-US" sz="3086" spc="-11" dirty="0">
                <a:latin typeface="Times New Roman"/>
                <a:cs typeface="Times New Roman"/>
              </a:rPr>
              <a:t>'</a:t>
            </a:r>
            <a:r>
              <a:rPr sz="3086" spc="-11" dirty="0">
                <a:latin typeface="Times New Roman"/>
                <a:cs typeface="Times New Roman"/>
              </a:rPr>
              <a:t>s</a:t>
            </a:r>
            <a:r>
              <a:rPr sz="3086" spc="-17" dirty="0">
                <a:latin typeface="Times New Roman"/>
                <a:cs typeface="Times New Roman"/>
              </a:rPr>
              <a:t> </a:t>
            </a:r>
            <a:r>
              <a:rPr sz="3086" dirty="0">
                <a:latin typeface="Times New Roman"/>
                <a:cs typeface="Times New Roman"/>
              </a:rPr>
              <a:t>other </a:t>
            </a:r>
            <a:r>
              <a:rPr sz="3086" spc="-6" dirty="0">
                <a:latin typeface="Times New Roman"/>
                <a:cs typeface="Times New Roman"/>
              </a:rPr>
              <a:t>IP</a:t>
            </a:r>
            <a:r>
              <a:rPr sz="3086" spc="-116" dirty="0">
                <a:latin typeface="Times New Roman"/>
                <a:cs typeface="Times New Roman"/>
              </a:rPr>
              <a:t> </a:t>
            </a:r>
            <a:r>
              <a:rPr sz="3086" dirty="0">
                <a:latin typeface="Times New Roman"/>
                <a:cs typeface="Times New Roman"/>
              </a:rPr>
              <a:t>routes.</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49</a:t>
            </a:fld>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3" y="459360"/>
            <a:ext cx="7973356" cy="690537"/>
          </a:xfrm>
          <a:prstGeom prst="rect">
            <a:avLst/>
          </a:prstGeom>
        </p:spPr>
        <p:txBody>
          <a:bodyPr vert="horz" wrap="square" lIns="0" tIns="13299" rIns="0" bIns="0" rtlCol="0" anchor="ctr">
            <a:spAutoFit/>
          </a:bodyPr>
          <a:lstStyle/>
          <a:p>
            <a:pPr marL="13999">
              <a:lnSpc>
                <a:spcPct val="100000"/>
              </a:lnSpc>
              <a:spcBef>
                <a:spcPts val="105"/>
              </a:spcBef>
            </a:pPr>
            <a:r>
              <a:rPr b="1" spc="-6" dirty="0">
                <a:solidFill>
                  <a:schemeClr val="bg1"/>
                </a:solidFill>
                <a:latin typeface="Times New Roman" panose="02020603050405020304" pitchFamily="18" charset="0"/>
                <a:cs typeface="Times New Roman" panose="02020603050405020304" pitchFamily="18" charset="0"/>
              </a:rPr>
              <a:t>Statically Defined</a:t>
            </a:r>
            <a:r>
              <a:rPr b="1" spc="17"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Default</a:t>
            </a:r>
            <a:r>
              <a:rPr b="1" spc="6"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Routes</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0" y="1777285"/>
            <a:ext cx="10080625" cy="4957340"/>
          </a:xfrm>
          <a:prstGeom prst="rect">
            <a:avLst/>
          </a:prstGeom>
        </p:spPr>
        <p:txBody>
          <a:bodyPr vert="horz" wrap="square" lIns="0" tIns="70697" rIns="0" bIns="0" rtlCol="0">
            <a:spAutoFit/>
          </a:bodyPr>
          <a:lstStyle/>
          <a:p>
            <a:pPr marL="470499" marR="5600" indent="-457200">
              <a:lnSpc>
                <a:spcPts val="3571"/>
              </a:lnSpc>
              <a:spcBef>
                <a:spcPts val="557"/>
              </a:spcBef>
              <a:buClr>
                <a:srgbClr val="D24717"/>
              </a:buClr>
              <a:buSzPct val="85000"/>
              <a:buFont typeface="Wingdings" panose="05000000000000000000" pitchFamily="2" charset="2"/>
              <a:buChar char="Ø"/>
              <a:tabLst>
                <a:tab pos="316382" algn="l"/>
              </a:tabLst>
            </a:pPr>
            <a:r>
              <a:rPr sz="3300" spc="-39" dirty="0">
                <a:latin typeface="Times New Roman"/>
                <a:cs typeface="Times New Roman"/>
              </a:rPr>
              <a:t>With</a:t>
            </a:r>
            <a:r>
              <a:rPr sz="3300" spc="6" dirty="0">
                <a:latin typeface="Times New Roman"/>
                <a:cs typeface="Times New Roman"/>
              </a:rPr>
              <a:t> </a:t>
            </a:r>
            <a:r>
              <a:rPr sz="3300" dirty="0">
                <a:latin typeface="Times New Roman"/>
                <a:cs typeface="Times New Roman"/>
              </a:rPr>
              <a:t>a</a:t>
            </a:r>
            <a:r>
              <a:rPr sz="3300" spc="-11" dirty="0">
                <a:latin typeface="Times New Roman"/>
                <a:cs typeface="Times New Roman"/>
              </a:rPr>
              <a:t> </a:t>
            </a:r>
            <a:r>
              <a:rPr sz="3300" spc="-6" dirty="0">
                <a:latin typeface="Times New Roman"/>
                <a:cs typeface="Times New Roman"/>
              </a:rPr>
              <a:t>default</a:t>
            </a:r>
            <a:r>
              <a:rPr sz="3300" spc="17" dirty="0">
                <a:latin typeface="Times New Roman"/>
                <a:cs typeface="Times New Roman"/>
              </a:rPr>
              <a:t> </a:t>
            </a:r>
            <a:r>
              <a:rPr sz="3300" dirty="0">
                <a:latin typeface="Times New Roman"/>
                <a:cs typeface="Times New Roman"/>
              </a:rPr>
              <a:t>route,</a:t>
            </a:r>
            <a:r>
              <a:rPr sz="3300" spc="-6" dirty="0">
                <a:latin typeface="Times New Roman"/>
                <a:cs typeface="Times New Roman"/>
              </a:rPr>
              <a:t> </a:t>
            </a:r>
            <a:r>
              <a:rPr sz="3300" dirty="0">
                <a:latin typeface="Times New Roman"/>
                <a:cs typeface="Times New Roman"/>
              </a:rPr>
              <a:t>the router</a:t>
            </a:r>
            <a:r>
              <a:rPr sz="3300" spc="6" dirty="0">
                <a:latin typeface="Times New Roman"/>
                <a:cs typeface="Times New Roman"/>
              </a:rPr>
              <a:t> </a:t>
            </a:r>
            <a:r>
              <a:rPr sz="3300" dirty="0">
                <a:latin typeface="Times New Roman"/>
                <a:cs typeface="Times New Roman"/>
              </a:rPr>
              <a:t>forwards</a:t>
            </a:r>
            <a:r>
              <a:rPr sz="3300" spc="-11" dirty="0">
                <a:latin typeface="Times New Roman"/>
                <a:cs typeface="Times New Roman"/>
              </a:rPr>
              <a:t> </a:t>
            </a:r>
            <a:r>
              <a:rPr sz="3300" dirty="0">
                <a:latin typeface="Times New Roman"/>
                <a:cs typeface="Times New Roman"/>
              </a:rPr>
              <a:t>the</a:t>
            </a:r>
            <a:r>
              <a:rPr sz="3300" spc="-6" dirty="0">
                <a:latin typeface="Times New Roman"/>
                <a:cs typeface="Times New Roman"/>
              </a:rPr>
              <a:t> </a:t>
            </a:r>
            <a:r>
              <a:rPr sz="3300" dirty="0">
                <a:latin typeface="Times New Roman"/>
                <a:cs typeface="Times New Roman"/>
              </a:rPr>
              <a:t>packet </a:t>
            </a:r>
            <a:r>
              <a:rPr sz="3300" spc="-810" dirty="0">
                <a:latin typeface="Times New Roman"/>
                <a:cs typeface="Times New Roman"/>
              </a:rPr>
              <a:t> </a:t>
            </a:r>
            <a:r>
              <a:rPr sz="3300" dirty="0">
                <a:latin typeface="Times New Roman"/>
                <a:cs typeface="Times New Roman"/>
              </a:rPr>
              <a:t>based</a:t>
            </a:r>
            <a:r>
              <a:rPr sz="3300" spc="-22" dirty="0">
                <a:latin typeface="Times New Roman"/>
                <a:cs typeface="Times New Roman"/>
              </a:rPr>
              <a:t> </a:t>
            </a:r>
            <a:r>
              <a:rPr sz="3300" dirty="0">
                <a:latin typeface="Times New Roman"/>
                <a:cs typeface="Times New Roman"/>
              </a:rPr>
              <a:t>on the</a:t>
            </a:r>
            <a:r>
              <a:rPr sz="3300" spc="11" dirty="0">
                <a:latin typeface="Times New Roman"/>
                <a:cs typeface="Times New Roman"/>
              </a:rPr>
              <a:t> </a:t>
            </a:r>
            <a:r>
              <a:rPr sz="3300" spc="-6" dirty="0">
                <a:latin typeface="Times New Roman"/>
                <a:cs typeface="Times New Roman"/>
              </a:rPr>
              <a:t>instructions</a:t>
            </a:r>
            <a:r>
              <a:rPr sz="3300" spc="33" dirty="0">
                <a:latin typeface="Times New Roman"/>
                <a:cs typeface="Times New Roman"/>
              </a:rPr>
              <a:t> </a:t>
            </a:r>
            <a:r>
              <a:rPr sz="3300" dirty="0">
                <a:latin typeface="Times New Roman"/>
                <a:cs typeface="Times New Roman"/>
              </a:rPr>
              <a:t>in </a:t>
            </a:r>
            <a:r>
              <a:rPr sz="3300" spc="-6" dirty="0">
                <a:latin typeface="Times New Roman"/>
                <a:cs typeface="Times New Roman"/>
              </a:rPr>
              <a:t>the</a:t>
            </a:r>
            <a:r>
              <a:rPr sz="3300" spc="11" dirty="0">
                <a:latin typeface="Times New Roman"/>
                <a:cs typeface="Times New Roman"/>
              </a:rPr>
              <a:t> </a:t>
            </a:r>
            <a:r>
              <a:rPr sz="3300" spc="-6" dirty="0">
                <a:latin typeface="Times New Roman"/>
                <a:cs typeface="Times New Roman"/>
              </a:rPr>
              <a:t>default</a:t>
            </a:r>
            <a:r>
              <a:rPr sz="3300" spc="22" dirty="0">
                <a:latin typeface="Times New Roman"/>
                <a:cs typeface="Times New Roman"/>
              </a:rPr>
              <a:t> </a:t>
            </a:r>
            <a:r>
              <a:rPr sz="3300" spc="-6" dirty="0">
                <a:latin typeface="Times New Roman"/>
                <a:cs typeface="Times New Roman"/>
              </a:rPr>
              <a:t>route.</a:t>
            </a:r>
            <a:endParaRPr sz="3300" dirty="0">
              <a:latin typeface="Times New Roman"/>
              <a:cs typeface="Times New Roman"/>
            </a:endParaRPr>
          </a:p>
          <a:p>
            <a:pPr marL="470499" marR="725859" indent="-457200">
              <a:lnSpc>
                <a:spcPts val="3571"/>
              </a:lnSpc>
              <a:spcBef>
                <a:spcPts val="667"/>
              </a:spcBef>
              <a:buClr>
                <a:srgbClr val="D24717"/>
              </a:buClr>
              <a:buSzPct val="85000"/>
              <a:buFont typeface="Wingdings" panose="05000000000000000000" pitchFamily="2" charset="2"/>
              <a:buChar char="Ø"/>
              <a:tabLst>
                <a:tab pos="316382" algn="l"/>
              </a:tabLst>
            </a:pPr>
            <a:r>
              <a:rPr sz="3300" dirty="0">
                <a:latin typeface="Times New Roman"/>
                <a:cs typeface="Times New Roman"/>
              </a:rPr>
              <a:t>Default</a:t>
            </a:r>
            <a:r>
              <a:rPr sz="3300" spc="-6" dirty="0">
                <a:latin typeface="Times New Roman"/>
                <a:cs typeface="Times New Roman"/>
              </a:rPr>
              <a:t> </a:t>
            </a:r>
            <a:r>
              <a:rPr sz="3300" dirty="0">
                <a:latin typeface="Times New Roman"/>
                <a:cs typeface="Times New Roman"/>
              </a:rPr>
              <a:t>routes</a:t>
            </a:r>
            <a:r>
              <a:rPr sz="3300" spc="-11" dirty="0">
                <a:latin typeface="Times New Roman"/>
                <a:cs typeface="Times New Roman"/>
              </a:rPr>
              <a:t> </a:t>
            </a:r>
            <a:r>
              <a:rPr sz="3300" dirty="0">
                <a:latin typeface="Times New Roman"/>
                <a:cs typeface="Times New Roman"/>
              </a:rPr>
              <a:t>can</a:t>
            </a:r>
            <a:r>
              <a:rPr sz="3300" spc="-11" dirty="0">
                <a:latin typeface="Times New Roman"/>
                <a:cs typeface="Times New Roman"/>
              </a:rPr>
              <a:t> </a:t>
            </a:r>
            <a:r>
              <a:rPr sz="3300" dirty="0">
                <a:latin typeface="Times New Roman"/>
                <a:cs typeface="Times New Roman"/>
              </a:rPr>
              <a:t>be</a:t>
            </a:r>
            <a:r>
              <a:rPr sz="3300" spc="-6" dirty="0">
                <a:latin typeface="Times New Roman"/>
                <a:cs typeface="Times New Roman"/>
              </a:rPr>
              <a:t> most </a:t>
            </a:r>
            <a:r>
              <a:rPr sz="3300" dirty="0">
                <a:latin typeface="Times New Roman"/>
                <a:cs typeface="Times New Roman"/>
              </a:rPr>
              <a:t>useful</a:t>
            </a:r>
            <a:r>
              <a:rPr sz="3300" spc="-11" dirty="0">
                <a:latin typeface="Times New Roman"/>
                <a:cs typeface="Times New Roman"/>
              </a:rPr>
              <a:t> </a:t>
            </a:r>
            <a:r>
              <a:rPr sz="3300" dirty="0">
                <a:latin typeface="Times New Roman"/>
                <a:cs typeface="Times New Roman"/>
              </a:rPr>
              <a:t>in</a:t>
            </a:r>
            <a:r>
              <a:rPr sz="3300" spc="-11" dirty="0">
                <a:latin typeface="Times New Roman"/>
                <a:cs typeface="Times New Roman"/>
              </a:rPr>
              <a:t> </a:t>
            </a:r>
            <a:r>
              <a:rPr sz="3300" spc="-6" dirty="0">
                <a:latin typeface="Times New Roman"/>
                <a:cs typeface="Times New Roman"/>
              </a:rPr>
              <a:t>two </a:t>
            </a:r>
            <a:r>
              <a:rPr sz="3300" dirty="0">
                <a:latin typeface="Times New Roman"/>
                <a:cs typeface="Times New Roman"/>
              </a:rPr>
              <a:t>major </a:t>
            </a:r>
            <a:r>
              <a:rPr sz="3300" spc="-810" dirty="0">
                <a:latin typeface="Times New Roman"/>
                <a:cs typeface="Times New Roman"/>
              </a:rPr>
              <a:t> </a:t>
            </a:r>
            <a:r>
              <a:rPr sz="3300" spc="-6" dirty="0">
                <a:latin typeface="Times New Roman"/>
                <a:cs typeface="Times New Roman"/>
              </a:rPr>
              <a:t>cases:</a:t>
            </a:r>
            <a:endParaRPr sz="3300" dirty="0">
              <a:latin typeface="Times New Roman"/>
              <a:cs typeface="Times New Roman"/>
            </a:endParaRPr>
          </a:p>
          <a:p>
            <a:pPr marL="772882" marR="317782" lvl="1" indent="-302383">
              <a:lnSpc>
                <a:spcPts val="3571"/>
              </a:lnSpc>
              <a:spcBef>
                <a:spcPts val="661"/>
              </a:spcBef>
              <a:buClr>
                <a:srgbClr val="D24717"/>
              </a:buClr>
              <a:buSzPct val="85000"/>
              <a:buFont typeface="Wingdings"/>
              <a:buChar char=""/>
              <a:tabLst>
                <a:tab pos="316382" algn="l"/>
              </a:tabLst>
            </a:pPr>
            <a:r>
              <a:rPr sz="3300" dirty="0">
                <a:latin typeface="Times New Roman"/>
                <a:cs typeface="Times New Roman"/>
              </a:rPr>
              <a:t>In</a:t>
            </a:r>
            <a:r>
              <a:rPr sz="3300" spc="-17" dirty="0">
                <a:latin typeface="Times New Roman"/>
                <a:cs typeface="Times New Roman"/>
              </a:rPr>
              <a:t> </a:t>
            </a:r>
            <a:r>
              <a:rPr sz="3300" spc="-6" dirty="0">
                <a:latin typeface="Times New Roman"/>
                <a:cs typeface="Times New Roman"/>
              </a:rPr>
              <a:t>enterprise</a:t>
            </a:r>
            <a:r>
              <a:rPr sz="3300" spc="33" dirty="0">
                <a:latin typeface="Times New Roman"/>
                <a:cs typeface="Times New Roman"/>
              </a:rPr>
              <a:t> </a:t>
            </a:r>
            <a:r>
              <a:rPr sz="3300" spc="-6" dirty="0">
                <a:latin typeface="Times New Roman"/>
                <a:cs typeface="Times New Roman"/>
              </a:rPr>
              <a:t>routers</a:t>
            </a:r>
            <a:r>
              <a:rPr sz="3300" dirty="0">
                <a:latin typeface="Times New Roman"/>
                <a:cs typeface="Times New Roman"/>
              </a:rPr>
              <a:t> that</a:t>
            </a:r>
            <a:r>
              <a:rPr sz="3300" spc="22" dirty="0">
                <a:latin typeface="Times New Roman"/>
                <a:cs typeface="Times New Roman"/>
              </a:rPr>
              <a:t> </a:t>
            </a:r>
            <a:r>
              <a:rPr sz="3300" dirty="0">
                <a:latin typeface="Times New Roman"/>
                <a:cs typeface="Times New Roman"/>
              </a:rPr>
              <a:t>have only</a:t>
            </a:r>
            <a:r>
              <a:rPr sz="3300" spc="-11" dirty="0">
                <a:latin typeface="Times New Roman"/>
                <a:cs typeface="Times New Roman"/>
              </a:rPr>
              <a:t> </a:t>
            </a:r>
            <a:r>
              <a:rPr sz="3300" dirty="0">
                <a:latin typeface="Times New Roman"/>
                <a:cs typeface="Times New Roman"/>
              </a:rPr>
              <a:t>one</a:t>
            </a:r>
            <a:r>
              <a:rPr sz="3300" spc="6" dirty="0">
                <a:latin typeface="Times New Roman"/>
                <a:cs typeface="Times New Roman"/>
              </a:rPr>
              <a:t> </a:t>
            </a:r>
            <a:r>
              <a:rPr sz="3300" spc="-6" dirty="0">
                <a:latin typeface="Times New Roman"/>
                <a:cs typeface="Times New Roman"/>
              </a:rPr>
              <a:t>possible </a:t>
            </a:r>
            <a:r>
              <a:rPr sz="3300" dirty="0">
                <a:latin typeface="Times New Roman"/>
                <a:cs typeface="Times New Roman"/>
              </a:rPr>
              <a:t> </a:t>
            </a:r>
            <a:r>
              <a:rPr sz="3300" spc="-6" dirty="0">
                <a:latin typeface="Times New Roman"/>
                <a:cs typeface="Times New Roman"/>
              </a:rPr>
              <a:t>physical</a:t>
            </a:r>
            <a:r>
              <a:rPr sz="3300" spc="11" dirty="0">
                <a:latin typeface="Times New Roman"/>
                <a:cs typeface="Times New Roman"/>
              </a:rPr>
              <a:t> </a:t>
            </a:r>
            <a:r>
              <a:rPr sz="3300" spc="-6" dirty="0">
                <a:latin typeface="Times New Roman"/>
                <a:cs typeface="Times New Roman"/>
              </a:rPr>
              <a:t>path</a:t>
            </a:r>
            <a:r>
              <a:rPr sz="3300" spc="17" dirty="0">
                <a:latin typeface="Times New Roman"/>
                <a:cs typeface="Times New Roman"/>
              </a:rPr>
              <a:t> </a:t>
            </a:r>
            <a:r>
              <a:rPr sz="3300" spc="-6" dirty="0">
                <a:latin typeface="Times New Roman"/>
                <a:cs typeface="Times New Roman"/>
              </a:rPr>
              <a:t>to</a:t>
            </a:r>
            <a:r>
              <a:rPr sz="3300" spc="17" dirty="0">
                <a:latin typeface="Times New Roman"/>
                <a:cs typeface="Times New Roman"/>
              </a:rPr>
              <a:t> </a:t>
            </a:r>
            <a:r>
              <a:rPr sz="3300" spc="-6" dirty="0">
                <a:latin typeface="Times New Roman"/>
                <a:cs typeface="Times New Roman"/>
              </a:rPr>
              <a:t>forward</a:t>
            </a:r>
            <a:r>
              <a:rPr sz="3300" spc="11" dirty="0">
                <a:latin typeface="Times New Roman"/>
                <a:cs typeface="Times New Roman"/>
              </a:rPr>
              <a:t> </a:t>
            </a:r>
            <a:r>
              <a:rPr sz="3300" spc="-6" dirty="0">
                <a:latin typeface="Times New Roman"/>
                <a:cs typeface="Times New Roman"/>
              </a:rPr>
              <a:t>packets</a:t>
            </a:r>
            <a:r>
              <a:rPr sz="3300" spc="33" dirty="0">
                <a:latin typeface="Times New Roman"/>
                <a:cs typeface="Times New Roman"/>
              </a:rPr>
              <a:t> </a:t>
            </a:r>
            <a:r>
              <a:rPr sz="3300" spc="-6" dirty="0">
                <a:latin typeface="Times New Roman"/>
                <a:cs typeface="Times New Roman"/>
              </a:rPr>
              <a:t>to</a:t>
            </a:r>
            <a:r>
              <a:rPr sz="3300" spc="17" dirty="0">
                <a:latin typeface="Times New Roman"/>
                <a:cs typeface="Times New Roman"/>
              </a:rPr>
              <a:t> </a:t>
            </a:r>
            <a:r>
              <a:rPr sz="3300" spc="-6" dirty="0">
                <a:latin typeface="Times New Roman"/>
                <a:cs typeface="Times New Roman"/>
              </a:rPr>
              <a:t>the</a:t>
            </a:r>
            <a:r>
              <a:rPr sz="3300" spc="17" dirty="0">
                <a:latin typeface="Times New Roman"/>
                <a:cs typeface="Times New Roman"/>
              </a:rPr>
              <a:t> </a:t>
            </a:r>
            <a:r>
              <a:rPr sz="3300" spc="-6" dirty="0">
                <a:latin typeface="Times New Roman"/>
                <a:cs typeface="Times New Roman"/>
              </a:rPr>
              <a:t>rest</a:t>
            </a:r>
            <a:r>
              <a:rPr sz="3300" spc="11" dirty="0">
                <a:latin typeface="Times New Roman"/>
                <a:cs typeface="Times New Roman"/>
              </a:rPr>
              <a:t> </a:t>
            </a:r>
            <a:r>
              <a:rPr sz="3300" spc="-6" dirty="0">
                <a:latin typeface="Times New Roman"/>
                <a:cs typeface="Times New Roman"/>
              </a:rPr>
              <a:t>of</a:t>
            </a:r>
            <a:r>
              <a:rPr sz="3300" spc="17" dirty="0">
                <a:latin typeface="Times New Roman"/>
                <a:cs typeface="Times New Roman"/>
              </a:rPr>
              <a:t> </a:t>
            </a:r>
            <a:r>
              <a:rPr sz="3300" spc="-11" dirty="0">
                <a:latin typeface="Times New Roman"/>
                <a:cs typeface="Times New Roman"/>
              </a:rPr>
              <a:t>the </a:t>
            </a:r>
            <a:r>
              <a:rPr sz="3300" spc="-810" dirty="0">
                <a:latin typeface="Times New Roman"/>
                <a:cs typeface="Times New Roman"/>
              </a:rPr>
              <a:t> </a:t>
            </a:r>
            <a:r>
              <a:rPr sz="3300" spc="-6" dirty="0">
                <a:latin typeface="Times New Roman"/>
                <a:cs typeface="Times New Roman"/>
              </a:rPr>
              <a:t>internetwork</a:t>
            </a:r>
            <a:endParaRPr sz="3300" dirty="0">
              <a:latin typeface="Times New Roman"/>
              <a:cs typeface="Times New Roman"/>
            </a:endParaRPr>
          </a:p>
          <a:p>
            <a:pPr marL="772882" marR="373079" lvl="1" indent="-302383" algn="just">
              <a:lnSpc>
                <a:spcPts val="3571"/>
              </a:lnSpc>
              <a:spcBef>
                <a:spcPts val="667"/>
              </a:spcBef>
              <a:buClr>
                <a:srgbClr val="D24717"/>
              </a:buClr>
              <a:buSzPct val="85000"/>
              <a:buFont typeface="Wingdings"/>
              <a:buChar char=""/>
              <a:tabLst>
                <a:tab pos="316382" algn="l"/>
              </a:tabLst>
            </a:pPr>
            <a:r>
              <a:rPr sz="3300" spc="-116" dirty="0">
                <a:latin typeface="Times New Roman"/>
                <a:cs typeface="Times New Roman"/>
              </a:rPr>
              <a:t>To</a:t>
            </a:r>
            <a:r>
              <a:rPr lang="en-US" sz="3300" spc="-116" dirty="0">
                <a:latin typeface="Times New Roman"/>
                <a:cs typeface="Times New Roman"/>
              </a:rPr>
              <a:t> </a:t>
            </a:r>
            <a:r>
              <a:rPr sz="3300" dirty="0">
                <a:latin typeface="Times New Roman"/>
                <a:cs typeface="Times New Roman"/>
              </a:rPr>
              <a:t>route packets from a company to the </a:t>
            </a:r>
            <a:r>
              <a:rPr sz="3300" spc="-6" dirty="0">
                <a:latin typeface="Times New Roman"/>
                <a:cs typeface="Times New Roman"/>
              </a:rPr>
              <a:t>Internet, </a:t>
            </a:r>
            <a:r>
              <a:rPr sz="3300" spc="-810" dirty="0">
                <a:latin typeface="Times New Roman"/>
                <a:cs typeface="Times New Roman"/>
              </a:rPr>
              <a:t> </a:t>
            </a:r>
            <a:r>
              <a:rPr sz="3300" dirty="0">
                <a:latin typeface="Times New Roman"/>
                <a:cs typeface="Times New Roman"/>
              </a:rPr>
              <a:t>when the company </a:t>
            </a:r>
            <a:r>
              <a:rPr sz="3300" spc="-6" dirty="0">
                <a:latin typeface="Times New Roman"/>
                <a:cs typeface="Times New Roman"/>
              </a:rPr>
              <a:t>has </a:t>
            </a:r>
            <a:r>
              <a:rPr sz="3300" dirty="0">
                <a:latin typeface="Times New Roman"/>
                <a:cs typeface="Times New Roman"/>
              </a:rPr>
              <a:t>a </a:t>
            </a:r>
            <a:r>
              <a:rPr sz="3300" spc="-6" dirty="0">
                <a:latin typeface="Times New Roman"/>
                <a:cs typeface="Times New Roman"/>
              </a:rPr>
              <a:t>single connection </a:t>
            </a:r>
            <a:r>
              <a:rPr sz="3300" dirty="0">
                <a:latin typeface="Times New Roman"/>
                <a:cs typeface="Times New Roman"/>
              </a:rPr>
              <a:t>to</a:t>
            </a:r>
            <a:r>
              <a:rPr lang="en-US" sz="3300" dirty="0">
                <a:latin typeface="Times New Roman"/>
                <a:cs typeface="Times New Roman"/>
              </a:rPr>
              <a:t> </a:t>
            </a:r>
            <a:r>
              <a:rPr sz="3300" dirty="0">
                <a:latin typeface="Times New Roman"/>
                <a:cs typeface="Times New Roman"/>
              </a:rPr>
              <a:t>the </a:t>
            </a:r>
            <a:r>
              <a:rPr sz="3300" spc="-810" dirty="0">
                <a:latin typeface="Times New Roman"/>
                <a:cs typeface="Times New Roman"/>
              </a:rPr>
              <a:t> </a:t>
            </a:r>
            <a:r>
              <a:rPr sz="3300" spc="-6" dirty="0">
                <a:latin typeface="Times New Roman"/>
                <a:cs typeface="Times New Roman"/>
              </a:rPr>
              <a:t>Internet.</a:t>
            </a:r>
            <a:endParaRPr sz="3300"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50</a:t>
            </a:fld>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429" y="456975"/>
            <a:ext cx="9207206" cy="691948"/>
          </a:xfrm>
          <a:prstGeom prst="rect">
            <a:avLst/>
          </a:prstGeom>
        </p:spPr>
        <p:txBody>
          <a:bodyPr vert="horz" wrap="square" lIns="0" tIns="13299" rIns="0" bIns="0" rtlCol="0" anchor="ctr">
            <a:spAutoFit/>
          </a:bodyPr>
          <a:lstStyle/>
          <a:p>
            <a:pPr marL="13999">
              <a:lnSpc>
                <a:spcPct val="100000"/>
              </a:lnSpc>
              <a:spcBef>
                <a:spcPts val="105"/>
              </a:spcBef>
            </a:pPr>
            <a:r>
              <a:rPr sz="4409" b="1" spc="225" dirty="0">
                <a:solidFill>
                  <a:schemeClr val="bg1"/>
                </a:solidFill>
                <a:latin typeface="Times New Roman" panose="02020603050405020304" pitchFamily="18" charset="0"/>
                <a:cs typeface="Times New Roman" panose="02020603050405020304" pitchFamily="18" charset="0"/>
              </a:rPr>
              <a:t>Configuring</a:t>
            </a:r>
            <a:r>
              <a:rPr sz="4409" b="1" spc="132" dirty="0">
                <a:solidFill>
                  <a:schemeClr val="bg1"/>
                </a:solidFill>
                <a:latin typeface="Times New Roman" panose="02020603050405020304" pitchFamily="18" charset="0"/>
                <a:cs typeface="Times New Roman" panose="02020603050405020304" pitchFamily="18" charset="0"/>
              </a:rPr>
              <a:t> </a:t>
            </a:r>
            <a:r>
              <a:rPr sz="4409" b="1" spc="22" dirty="0">
                <a:solidFill>
                  <a:schemeClr val="bg1"/>
                </a:solidFill>
                <a:latin typeface="Times New Roman" panose="02020603050405020304" pitchFamily="18" charset="0"/>
                <a:cs typeface="Times New Roman" panose="02020603050405020304" pitchFamily="18" charset="0"/>
              </a:rPr>
              <a:t>a</a:t>
            </a:r>
            <a:r>
              <a:rPr sz="4409" b="1" spc="126" dirty="0">
                <a:solidFill>
                  <a:schemeClr val="bg1"/>
                </a:solidFill>
                <a:latin typeface="Times New Roman" panose="02020603050405020304" pitchFamily="18" charset="0"/>
                <a:cs typeface="Times New Roman" panose="02020603050405020304" pitchFamily="18" charset="0"/>
              </a:rPr>
              <a:t> </a:t>
            </a:r>
            <a:r>
              <a:rPr sz="4409" b="1" spc="160" dirty="0">
                <a:solidFill>
                  <a:schemeClr val="bg1"/>
                </a:solidFill>
                <a:latin typeface="Times New Roman" panose="02020603050405020304" pitchFamily="18" charset="0"/>
                <a:cs typeface="Times New Roman" panose="02020603050405020304" pitchFamily="18" charset="0"/>
              </a:rPr>
              <a:t>Default</a:t>
            </a:r>
            <a:r>
              <a:rPr sz="4409" b="1" spc="132" dirty="0">
                <a:solidFill>
                  <a:schemeClr val="bg1"/>
                </a:solidFill>
                <a:latin typeface="Times New Roman" panose="02020603050405020304" pitchFamily="18" charset="0"/>
                <a:cs typeface="Times New Roman" panose="02020603050405020304" pitchFamily="18" charset="0"/>
              </a:rPr>
              <a:t> </a:t>
            </a:r>
            <a:r>
              <a:rPr sz="4409" b="1" spc="126" dirty="0">
                <a:solidFill>
                  <a:schemeClr val="bg1"/>
                </a:solidFill>
                <a:latin typeface="Times New Roman" panose="02020603050405020304" pitchFamily="18" charset="0"/>
                <a:cs typeface="Times New Roman" panose="02020603050405020304" pitchFamily="18" charset="0"/>
              </a:rPr>
              <a:t>Static</a:t>
            </a:r>
            <a:r>
              <a:rPr sz="4409" b="1" spc="121" dirty="0">
                <a:solidFill>
                  <a:schemeClr val="bg1"/>
                </a:solidFill>
                <a:latin typeface="Times New Roman" panose="02020603050405020304" pitchFamily="18" charset="0"/>
                <a:cs typeface="Times New Roman" panose="02020603050405020304" pitchFamily="18" charset="0"/>
              </a:rPr>
              <a:t> </a:t>
            </a:r>
            <a:r>
              <a:rPr sz="4409" b="1" spc="110" dirty="0">
                <a:solidFill>
                  <a:schemeClr val="bg1"/>
                </a:solidFill>
                <a:latin typeface="Times New Roman" panose="02020603050405020304" pitchFamily="18" charset="0"/>
                <a:cs typeface="Times New Roman" panose="02020603050405020304" pitchFamily="18" charset="0"/>
              </a:rPr>
              <a:t>Route</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30428" y="1870186"/>
            <a:ext cx="9299938" cy="3551819"/>
          </a:xfrm>
          <a:prstGeom prst="rect">
            <a:avLst/>
          </a:prstGeom>
        </p:spPr>
        <p:txBody>
          <a:bodyPr vert="horz" wrap="square" lIns="0" tIns="14699" rIns="0" bIns="0" rtlCol="0">
            <a:spAutoFit/>
          </a:bodyPr>
          <a:lstStyle/>
          <a:p>
            <a:pPr marL="470499" marR="5600" indent="-457200">
              <a:spcBef>
                <a:spcPts val="116"/>
              </a:spcBef>
              <a:buClr>
                <a:srgbClr val="D24717"/>
              </a:buClr>
              <a:buSzPct val="84375"/>
              <a:buFont typeface="Wingdings" panose="05000000000000000000" pitchFamily="2" charset="2"/>
              <a:buChar char="Ø"/>
              <a:tabLst>
                <a:tab pos="316382" algn="l"/>
              </a:tabLst>
            </a:pPr>
            <a:r>
              <a:rPr sz="3200" dirty="0">
                <a:latin typeface="Times New Roman"/>
                <a:cs typeface="Times New Roman"/>
              </a:rPr>
              <a:t>The syntax for a default static route is similar to </a:t>
            </a:r>
            <a:r>
              <a:rPr sz="3200" spc="-865" dirty="0">
                <a:latin typeface="Times New Roman"/>
                <a:cs typeface="Times New Roman"/>
              </a:rPr>
              <a:t> </a:t>
            </a:r>
            <a:r>
              <a:rPr sz="3200" dirty="0">
                <a:latin typeface="Times New Roman"/>
                <a:cs typeface="Times New Roman"/>
              </a:rPr>
              <a:t>any other static route, except that the network </a:t>
            </a:r>
            <a:r>
              <a:rPr sz="3200" spc="6" dirty="0">
                <a:latin typeface="Times New Roman"/>
                <a:cs typeface="Times New Roman"/>
              </a:rPr>
              <a:t> </a:t>
            </a:r>
            <a:r>
              <a:rPr sz="3200" dirty="0">
                <a:latin typeface="Times New Roman"/>
                <a:cs typeface="Times New Roman"/>
              </a:rPr>
              <a:t>address</a:t>
            </a:r>
            <a:r>
              <a:rPr sz="3200" spc="-33" dirty="0">
                <a:latin typeface="Times New Roman"/>
                <a:cs typeface="Times New Roman"/>
              </a:rPr>
              <a:t> </a:t>
            </a:r>
            <a:r>
              <a:rPr sz="3200" dirty="0">
                <a:latin typeface="Times New Roman"/>
                <a:cs typeface="Times New Roman"/>
              </a:rPr>
              <a:t>is</a:t>
            </a:r>
            <a:r>
              <a:rPr sz="3200" spc="6" dirty="0">
                <a:latin typeface="Times New Roman"/>
                <a:cs typeface="Times New Roman"/>
              </a:rPr>
              <a:t> </a:t>
            </a:r>
            <a:r>
              <a:rPr sz="3200" dirty="0">
                <a:latin typeface="Times New Roman"/>
                <a:cs typeface="Times New Roman"/>
              </a:rPr>
              <a:t>0.0.0.0</a:t>
            </a:r>
            <a:r>
              <a:rPr sz="3200" spc="-39" dirty="0">
                <a:latin typeface="Times New Roman"/>
                <a:cs typeface="Times New Roman"/>
              </a:rPr>
              <a:t> </a:t>
            </a:r>
            <a:r>
              <a:rPr sz="3200" dirty="0">
                <a:latin typeface="Times New Roman"/>
                <a:cs typeface="Times New Roman"/>
              </a:rPr>
              <a:t>and</a:t>
            </a:r>
            <a:r>
              <a:rPr sz="3200" spc="-11"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subnet</a:t>
            </a:r>
            <a:r>
              <a:rPr sz="3200" spc="-28" dirty="0">
                <a:latin typeface="Times New Roman"/>
                <a:cs typeface="Times New Roman"/>
              </a:rPr>
              <a:t> </a:t>
            </a:r>
            <a:r>
              <a:rPr sz="3200" dirty="0">
                <a:latin typeface="Times New Roman"/>
                <a:cs typeface="Times New Roman"/>
              </a:rPr>
              <a:t>mask</a:t>
            </a:r>
            <a:r>
              <a:rPr sz="3200" spc="-11" dirty="0">
                <a:latin typeface="Times New Roman"/>
                <a:cs typeface="Times New Roman"/>
              </a:rPr>
              <a:t> </a:t>
            </a:r>
            <a:r>
              <a:rPr sz="3200" dirty="0">
                <a:latin typeface="Times New Roman"/>
                <a:cs typeface="Times New Roman"/>
              </a:rPr>
              <a:t>is</a:t>
            </a:r>
            <a:r>
              <a:rPr sz="3200" spc="6" dirty="0">
                <a:latin typeface="Times New Roman"/>
                <a:cs typeface="Times New Roman"/>
              </a:rPr>
              <a:t> </a:t>
            </a:r>
            <a:r>
              <a:rPr sz="3200" dirty="0">
                <a:latin typeface="Times New Roman"/>
                <a:cs typeface="Times New Roman"/>
              </a:rPr>
              <a:t>0.0.0.0</a:t>
            </a:r>
          </a:p>
          <a:p>
            <a:pPr marL="823279" marR="535470" lvl="1" indent="-457200">
              <a:buClr>
                <a:srgbClr val="9B2C1F"/>
              </a:buClr>
              <a:buSzPct val="81666"/>
              <a:buFont typeface="Wingdings" panose="05000000000000000000" pitchFamily="2" charset="2"/>
              <a:buChar char="ü"/>
              <a:tabLst>
                <a:tab pos="651663" algn="l"/>
              </a:tabLst>
            </a:pPr>
            <a:r>
              <a:rPr sz="3200" b="1" spc="-6" dirty="0">
                <a:latin typeface="Times New Roman"/>
                <a:cs typeface="Times New Roman"/>
              </a:rPr>
              <a:t>Router(config)#</a:t>
            </a:r>
            <a:r>
              <a:rPr sz="3200" b="1" spc="28" dirty="0">
                <a:latin typeface="Times New Roman"/>
                <a:cs typeface="Times New Roman"/>
              </a:rPr>
              <a:t> </a:t>
            </a:r>
            <a:r>
              <a:rPr sz="3200" b="1" spc="-11" dirty="0">
                <a:solidFill>
                  <a:srgbClr val="FF0000"/>
                </a:solidFill>
                <a:latin typeface="Times New Roman"/>
                <a:cs typeface="Times New Roman"/>
              </a:rPr>
              <a:t>ip</a:t>
            </a:r>
            <a:r>
              <a:rPr sz="3200" b="1" spc="6" dirty="0">
                <a:solidFill>
                  <a:srgbClr val="FF0000"/>
                </a:solidFill>
                <a:latin typeface="Times New Roman"/>
                <a:cs typeface="Times New Roman"/>
              </a:rPr>
              <a:t> </a:t>
            </a:r>
            <a:r>
              <a:rPr sz="3200" b="1" spc="-11" dirty="0">
                <a:solidFill>
                  <a:srgbClr val="FF0000"/>
                </a:solidFill>
                <a:latin typeface="Times New Roman"/>
                <a:cs typeface="Times New Roman"/>
              </a:rPr>
              <a:t>route</a:t>
            </a:r>
            <a:r>
              <a:rPr sz="3200" b="1" dirty="0">
                <a:solidFill>
                  <a:srgbClr val="FF0000"/>
                </a:solidFill>
                <a:latin typeface="Times New Roman"/>
                <a:cs typeface="Times New Roman"/>
              </a:rPr>
              <a:t> 0.0.0.0</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0.0.0.0</a:t>
            </a:r>
            <a:r>
              <a:rPr sz="3200" b="1" spc="-17" dirty="0">
                <a:solidFill>
                  <a:srgbClr val="FF0000"/>
                </a:solidFill>
                <a:latin typeface="Times New Roman"/>
                <a:cs typeface="Times New Roman"/>
              </a:rPr>
              <a:t> </a:t>
            </a:r>
            <a:r>
              <a:rPr sz="3200" b="1" spc="-6" dirty="0">
                <a:solidFill>
                  <a:srgbClr val="FF0000"/>
                </a:solidFill>
                <a:latin typeface="Times New Roman"/>
                <a:cs typeface="Times New Roman"/>
              </a:rPr>
              <a:t>[</a:t>
            </a:r>
            <a:r>
              <a:rPr sz="3200" b="1" i="1" spc="-6" dirty="0">
                <a:solidFill>
                  <a:srgbClr val="FF0000"/>
                </a:solidFill>
                <a:latin typeface="Times New Roman"/>
                <a:cs typeface="Times New Roman"/>
              </a:rPr>
              <a:t>exit- </a:t>
            </a:r>
            <a:r>
              <a:rPr sz="3200" b="1" i="1" spc="-810" dirty="0">
                <a:solidFill>
                  <a:srgbClr val="FF0000"/>
                </a:solidFill>
                <a:latin typeface="Times New Roman"/>
                <a:cs typeface="Times New Roman"/>
              </a:rPr>
              <a:t> </a:t>
            </a:r>
            <a:r>
              <a:rPr sz="3200" b="1" i="1" spc="-6" dirty="0">
                <a:solidFill>
                  <a:srgbClr val="FF0000"/>
                </a:solidFill>
                <a:latin typeface="Times New Roman"/>
                <a:cs typeface="Times New Roman"/>
              </a:rPr>
              <a:t>interface</a:t>
            </a:r>
            <a:r>
              <a:rPr sz="3200" b="1" i="1" dirty="0">
                <a:solidFill>
                  <a:srgbClr val="FF0000"/>
                </a:solidFill>
                <a:latin typeface="Times New Roman"/>
                <a:cs typeface="Times New Roman"/>
              </a:rPr>
              <a:t> </a:t>
            </a:r>
            <a:r>
              <a:rPr sz="3200" b="1" i="1" spc="-6" dirty="0">
                <a:solidFill>
                  <a:srgbClr val="FF0000"/>
                </a:solidFill>
                <a:latin typeface="Times New Roman"/>
                <a:cs typeface="Times New Roman"/>
              </a:rPr>
              <a:t>|</a:t>
            </a:r>
            <a:r>
              <a:rPr sz="3200" b="1" i="1" spc="6" dirty="0">
                <a:solidFill>
                  <a:srgbClr val="FF0000"/>
                </a:solidFill>
                <a:latin typeface="Times New Roman"/>
                <a:cs typeface="Times New Roman"/>
              </a:rPr>
              <a:t> </a:t>
            </a:r>
            <a:r>
              <a:rPr sz="3200" b="1" i="1" spc="-6" dirty="0" err="1">
                <a:solidFill>
                  <a:srgbClr val="FF0000"/>
                </a:solidFill>
                <a:latin typeface="Times New Roman"/>
                <a:cs typeface="Times New Roman"/>
              </a:rPr>
              <a:t>ip</a:t>
            </a:r>
            <a:r>
              <a:rPr sz="3200" b="1" i="1" spc="-6" dirty="0">
                <a:solidFill>
                  <a:srgbClr val="FF0000"/>
                </a:solidFill>
                <a:latin typeface="Times New Roman"/>
                <a:cs typeface="Times New Roman"/>
              </a:rPr>
              <a:t>-address</a:t>
            </a:r>
            <a:r>
              <a:rPr sz="3200" b="1" i="1" spc="6" dirty="0">
                <a:solidFill>
                  <a:srgbClr val="FF0000"/>
                </a:solidFill>
                <a:latin typeface="Times New Roman"/>
                <a:cs typeface="Times New Roman"/>
              </a:rPr>
              <a:t> </a:t>
            </a:r>
            <a:r>
              <a:rPr sz="3200" b="1" i="1" dirty="0">
                <a:solidFill>
                  <a:srgbClr val="FF0000"/>
                </a:solidFill>
                <a:latin typeface="Times New Roman"/>
                <a:cs typeface="Times New Roman"/>
              </a:rPr>
              <a:t>]</a:t>
            </a:r>
            <a:r>
              <a:rPr lang="en-US" sz="3200" b="1" i="1" dirty="0">
                <a:solidFill>
                  <a:srgbClr val="FF0000"/>
                </a:solidFill>
                <a:latin typeface="Times New Roman"/>
                <a:cs typeface="Times New Roman"/>
              </a:rPr>
              <a:t> </a:t>
            </a:r>
            <a:endParaRPr sz="3200" dirty="0">
              <a:solidFill>
                <a:srgbClr val="FF0000"/>
              </a:solidFill>
              <a:latin typeface="Times New Roman"/>
              <a:cs typeface="Times New Roman"/>
            </a:endParaRPr>
          </a:p>
          <a:p>
            <a:pPr marL="822579" lvl="1" indent="-457200">
              <a:buClr>
                <a:srgbClr val="9B2C1F"/>
              </a:buClr>
              <a:buSzPct val="85416"/>
              <a:buFont typeface="Wingdings" panose="05000000000000000000" pitchFamily="2" charset="2"/>
              <a:buChar char="ü"/>
              <a:tabLst>
                <a:tab pos="619465" algn="l"/>
              </a:tabLst>
            </a:pPr>
            <a:r>
              <a:rPr sz="3200" b="1" dirty="0">
                <a:solidFill>
                  <a:srgbClr val="FF0000"/>
                </a:solidFill>
                <a:latin typeface="Times New Roman"/>
                <a:cs typeface="Times New Roman"/>
              </a:rPr>
              <a:t>Example</a:t>
            </a:r>
            <a:r>
              <a:rPr sz="3200" b="1" dirty="0">
                <a:latin typeface="Times New Roman"/>
                <a:cs typeface="Times New Roman"/>
              </a:rPr>
              <a:t>:</a:t>
            </a:r>
            <a:r>
              <a:rPr sz="3200" b="1" spc="-28" dirty="0">
                <a:latin typeface="Times New Roman"/>
                <a:cs typeface="Times New Roman"/>
              </a:rPr>
              <a:t> </a:t>
            </a:r>
            <a:r>
              <a:rPr sz="3200" b="1" dirty="0">
                <a:latin typeface="Times New Roman"/>
                <a:cs typeface="Times New Roman"/>
              </a:rPr>
              <a:t>R1(config)#</a:t>
            </a:r>
            <a:r>
              <a:rPr sz="3200" b="1" spc="-17" dirty="0">
                <a:latin typeface="Times New Roman"/>
                <a:cs typeface="Times New Roman"/>
              </a:rPr>
              <a:t> </a:t>
            </a:r>
            <a:r>
              <a:rPr sz="3200" b="1" spc="-6" dirty="0">
                <a:solidFill>
                  <a:srgbClr val="FF0000"/>
                </a:solidFill>
                <a:latin typeface="Times New Roman"/>
                <a:cs typeface="Times New Roman"/>
              </a:rPr>
              <a:t>ip</a:t>
            </a:r>
            <a:r>
              <a:rPr sz="3200" b="1" spc="-11" dirty="0">
                <a:solidFill>
                  <a:srgbClr val="FF0000"/>
                </a:solidFill>
                <a:latin typeface="Times New Roman"/>
                <a:cs typeface="Times New Roman"/>
              </a:rPr>
              <a:t> route</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0.0.0.0</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0.0.0.0</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serial</a:t>
            </a:r>
            <a:r>
              <a:rPr sz="3200" b="1" spc="-33" dirty="0">
                <a:solidFill>
                  <a:srgbClr val="FF0000"/>
                </a:solidFill>
                <a:latin typeface="Times New Roman"/>
                <a:cs typeface="Times New Roman"/>
              </a:rPr>
              <a:t> </a:t>
            </a:r>
            <a:r>
              <a:rPr sz="3200" b="1" dirty="0">
                <a:solidFill>
                  <a:srgbClr val="FF0000"/>
                </a:solidFill>
                <a:latin typeface="Times New Roman"/>
                <a:cs typeface="Times New Roman"/>
              </a:rPr>
              <a:t>0/0/0</a:t>
            </a:r>
            <a:r>
              <a:rPr lang="en-US" sz="3200" b="1" dirty="0">
                <a:solidFill>
                  <a:srgbClr val="FF0000"/>
                </a:solidFill>
                <a:latin typeface="Times New Roman"/>
                <a:cs typeface="Times New Roman"/>
              </a:rPr>
              <a:t>.</a:t>
            </a:r>
            <a:endParaRPr sz="3200" dirty="0">
              <a:solidFill>
                <a:srgbClr val="FF0000"/>
              </a:solidFill>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51</a:t>
            </a:fld>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505" y="492955"/>
            <a:ext cx="9126588" cy="691244"/>
          </a:xfrm>
          <a:prstGeom prst="rect">
            <a:avLst/>
          </a:prstGeom>
        </p:spPr>
        <p:txBody>
          <a:bodyPr vert="horz" wrap="square" lIns="0" tIns="13999" rIns="0" bIns="0" rtlCol="0" anchor="ctr">
            <a:spAutoFit/>
          </a:bodyPr>
          <a:lstStyle/>
          <a:p>
            <a:pPr marL="13999">
              <a:lnSpc>
                <a:spcPct val="100000"/>
              </a:lnSpc>
              <a:spcBef>
                <a:spcPts val="110"/>
              </a:spcBef>
            </a:pPr>
            <a:r>
              <a:rPr b="1" spc="204" dirty="0">
                <a:solidFill>
                  <a:schemeClr val="bg1"/>
                </a:solidFill>
                <a:latin typeface="Times New Roman" panose="02020603050405020304" pitchFamily="18" charset="0"/>
                <a:cs typeface="Times New Roman" panose="02020603050405020304" pitchFamily="18" charset="0"/>
              </a:rPr>
              <a:t>Configuring</a:t>
            </a:r>
            <a:r>
              <a:rPr b="1" spc="77" dirty="0">
                <a:solidFill>
                  <a:schemeClr val="bg1"/>
                </a:solidFill>
                <a:latin typeface="Times New Roman" panose="02020603050405020304" pitchFamily="18" charset="0"/>
                <a:cs typeface="Times New Roman" panose="02020603050405020304" pitchFamily="18" charset="0"/>
              </a:rPr>
              <a:t> </a:t>
            </a:r>
            <a:r>
              <a:rPr b="1" spc="22" dirty="0">
                <a:solidFill>
                  <a:schemeClr val="bg1"/>
                </a:solidFill>
                <a:latin typeface="Times New Roman" panose="02020603050405020304" pitchFamily="18" charset="0"/>
                <a:cs typeface="Times New Roman" panose="02020603050405020304" pitchFamily="18" charset="0"/>
              </a:rPr>
              <a:t>a</a:t>
            </a:r>
            <a:r>
              <a:rPr b="1" spc="110" dirty="0">
                <a:solidFill>
                  <a:schemeClr val="bg1"/>
                </a:solidFill>
                <a:latin typeface="Times New Roman" panose="02020603050405020304" pitchFamily="18" charset="0"/>
                <a:cs typeface="Times New Roman" panose="02020603050405020304" pitchFamily="18" charset="0"/>
              </a:rPr>
              <a:t> </a:t>
            </a:r>
            <a:r>
              <a:rPr b="1" spc="143" dirty="0">
                <a:solidFill>
                  <a:schemeClr val="bg1"/>
                </a:solidFill>
                <a:latin typeface="Times New Roman" panose="02020603050405020304" pitchFamily="18" charset="0"/>
                <a:cs typeface="Times New Roman" panose="02020603050405020304" pitchFamily="18" charset="0"/>
              </a:rPr>
              <a:t>Default</a:t>
            </a:r>
            <a:r>
              <a:rPr b="1" spc="94" dirty="0">
                <a:solidFill>
                  <a:schemeClr val="bg1"/>
                </a:solidFill>
                <a:latin typeface="Times New Roman" panose="02020603050405020304" pitchFamily="18" charset="0"/>
                <a:cs typeface="Times New Roman" panose="02020603050405020304" pitchFamily="18" charset="0"/>
              </a:rPr>
              <a:t> </a:t>
            </a:r>
            <a:r>
              <a:rPr b="1" spc="116" dirty="0">
                <a:solidFill>
                  <a:schemeClr val="bg1"/>
                </a:solidFill>
                <a:latin typeface="Times New Roman" panose="02020603050405020304" pitchFamily="18" charset="0"/>
                <a:cs typeface="Times New Roman" panose="02020603050405020304" pitchFamily="18" charset="0"/>
              </a:rPr>
              <a:t>Static</a:t>
            </a:r>
            <a:r>
              <a:rPr b="1" spc="94" dirty="0">
                <a:solidFill>
                  <a:schemeClr val="bg1"/>
                </a:solidFill>
                <a:latin typeface="Times New Roman" panose="02020603050405020304" pitchFamily="18" charset="0"/>
                <a:cs typeface="Times New Roman" panose="02020603050405020304" pitchFamily="18" charset="0"/>
              </a:rPr>
              <a:t> </a:t>
            </a:r>
            <a:r>
              <a:rPr b="1" spc="99" dirty="0">
                <a:solidFill>
                  <a:schemeClr val="bg1"/>
                </a:solidFill>
                <a:latin typeface="Times New Roman" panose="02020603050405020304" pitchFamily="18" charset="0"/>
                <a:cs typeface="Times New Roman" panose="02020603050405020304" pitchFamily="18" charset="0"/>
              </a:rPr>
              <a:t>Route</a:t>
            </a:r>
          </a:p>
        </p:txBody>
      </p:sp>
      <p:sp>
        <p:nvSpPr>
          <p:cNvPr id="4" name="object 4"/>
          <p:cNvSpPr txBox="1"/>
          <p:nvPr/>
        </p:nvSpPr>
        <p:spPr>
          <a:xfrm>
            <a:off x="184242" y="5487484"/>
            <a:ext cx="9126588" cy="999021"/>
          </a:xfrm>
          <a:prstGeom prst="rect">
            <a:avLst/>
          </a:prstGeom>
        </p:spPr>
        <p:txBody>
          <a:bodyPr vert="horz" wrap="square" lIns="0" tIns="13999" rIns="0" bIns="0" rtlCol="0">
            <a:spAutoFit/>
          </a:bodyPr>
          <a:lstStyle/>
          <a:p>
            <a:pPr marL="470499" marR="5600" indent="-457200">
              <a:spcBef>
                <a:spcPts val="110"/>
              </a:spcBef>
              <a:buClr>
                <a:srgbClr val="D24717"/>
              </a:buClr>
              <a:buSzPct val="84615"/>
              <a:buFont typeface="Wingdings" panose="05000000000000000000" pitchFamily="2" charset="2"/>
              <a:buChar char="Ø"/>
              <a:tabLst>
                <a:tab pos="316382" algn="l"/>
              </a:tabLst>
            </a:pPr>
            <a:r>
              <a:rPr sz="3200" dirty="0">
                <a:latin typeface="Times New Roman" panose="02020603050405020304" pitchFamily="18" charset="0"/>
                <a:cs typeface="Times New Roman" panose="02020603050405020304" pitchFamily="18" charset="0"/>
              </a:rPr>
              <a:t>The</a:t>
            </a:r>
            <a:r>
              <a:rPr sz="3200" spc="-28" dirty="0">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network</a:t>
            </a:r>
            <a:r>
              <a:rPr sz="3200" b="1" spc="-11"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0.0.0.0</a:t>
            </a:r>
            <a:r>
              <a:rPr sz="3200" b="1" spc="11" dirty="0">
                <a:solidFill>
                  <a:srgbClr val="FF0000"/>
                </a:solidFill>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and</a:t>
            </a:r>
            <a:r>
              <a:rPr sz="3200" spc="6" dirty="0">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mask</a:t>
            </a:r>
            <a:r>
              <a:rPr sz="3200" b="1" spc="-22"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0.0.0.0</a:t>
            </a:r>
            <a:r>
              <a:rPr sz="3200" b="1" spc="11" dirty="0">
                <a:solidFill>
                  <a:srgbClr val="FF0000"/>
                </a:solidFill>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are known</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 </a:t>
            </a:r>
            <a:r>
              <a:rPr sz="3200" spc="-783"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a:t>
            </a:r>
            <a:r>
              <a:rPr sz="3200" spc="-22"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t>
            </a:r>
            <a:r>
              <a:rPr sz="3200" b="1" dirty="0">
                <a:solidFill>
                  <a:srgbClr val="FF0000"/>
                </a:solidFill>
                <a:latin typeface="Times New Roman" panose="02020603050405020304" pitchFamily="18" charset="0"/>
                <a:cs typeface="Times New Roman" panose="02020603050405020304" pitchFamily="18" charset="0"/>
              </a:rPr>
              <a:t>default route</a:t>
            </a:r>
            <a:r>
              <a:rPr sz="3200" dirty="0">
                <a:latin typeface="Times New Roman" panose="02020603050405020304" pitchFamily="18" charset="0"/>
                <a:cs typeface="Times New Roman" panose="02020603050405020304" pitchFamily="18" charset="0"/>
              </a:rPr>
              <a:t>”</a:t>
            </a:r>
          </a:p>
        </p:txBody>
      </p:sp>
      <p:pic>
        <p:nvPicPr>
          <p:cNvPr id="5" name="object 5"/>
          <p:cNvPicPr/>
          <p:nvPr/>
        </p:nvPicPr>
        <p:blipFill>
          <a:blip r:embed="rId2" cstate="print"/>
          <a:stretch>
            <a:fillRect/>
          </a:stretch>
        </p:blipFill>
        <p:spPr>
          <a:xfrm>
            <a:off x="529" y="1634002"/>
            <a:ext cx="4955787" cy="3499850"/>
          </a:xfrm>
          <a:prstGeom prst="rect">
            <a:avLst/>
          </a:prstGeom>
        </p:spPr>
      </p:pic>
      <p:pic>
        <p:nvPicPr>
          <p:cNvPr id="6" name="object 6"/>
          <p:cNvPicPr/>
          <p:nvPr/>
        </p:nvPicPr>
        <p:blipFill>
          <a:blip r:embed="rId3" cstate="print"/>
          <a:stretch>
            <a:fillRect/>
          </a:stretch>
        </p:blipFill>
        <p:spPr>
          <a:xfrm>
            <a:off x="5093054" y="1647672"/>
            <a:ext cx="4661067" cy="3481045"/>
          </a:xfrm>
          <a:prstGeom prst="rect">
            <a:avLst/>
          </a:prstGeom>
        </p:spPr>
      </p:pic>
      <p:sp>
        <p:nvSpPr>
          <p:cNvPr id="7" name="object 7"/>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52</a:t>
            </a:fld>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5299" y="489456"/>
            <a:ext cx="7502785" cy="691948"/>
          </a:xfrm>
          <a:prstGeom prst="rect">
            <a:avLst/>
          </a:prstGeom>
        </p:spPr>
        <p:txBody>
          <a:bodyPr vert="horz" wrap="square" lIns="0" tIns="13299" rIns="0" bIns="0" rtlCol="0" anchor="ctr">
            <a:spAutoFit/>
          </a:bodyPr>
          <a:lstStyle/>
          <a:p>
            <a:pPr marL="13999">
              <a:lnSpc>
                <a:spcPct val="100000"/>
              </a:lnSpc>
              <a:spcBef>
                <a:spcPts val="105"/>
              </a:spcBef>
            </a:pPr>
            <a:r>
              <a:rPr sz="4409" b="1" spc="143" dirty="0">
                <a:solidFill>
                  <a:schemeClr val="bg1"/>
                </a:solidFill>
                <a:latin typeface="Times New Roman" panose="02020603050405020304" pitchFamily="18" charset="0"/>
                <a:cs typeface="Times New Roman" panose="02020603050405020304" pitchFamily="18" charset="0"/>
              </a:rPr>
              <a:t>Verifying</a:t>
            </a:r>
            <a:r>
              <a:rPr sz="4409" b="1" spc="88" dirty="0">
                <a:solidFill>
                  <a:schemeClr val="bg1"/>
                </a:solidFill>
                <a:latin typeface="Times New Roman" panose="02020603050405020304" pitchFamily="18" charset="0"/>
                <a:cs typeface="Times New Roman" panose="02020603050405020304" pitchFamily="18" charset="0"/>
              </a:rPr>
              <a:t> </a:t>
            </a:r>
            <a:r>
              <a:rPr sz="4409" b="1" spc="126" dirty="0">
                <a:solidFill>
                  <a:schemeClr val="bg1"/>
                </a:solidFill>
                <a:latin typeface="Times New Roman" panose="02020603050405020304" pitchFamily="18" charset="0"/>
                <a:cs typeface="Times New Roman" panose="02020603050405020304" pitchFamily="18" charset="0"/>
              </a:rPr>
              <a:t>Static</a:t>
            </a:r>
            <a:r>
              <a:rPr sz="4409" b="1" spc="116" dirty="0">
                <a:solidFill>
                  <a:schemeClr val="bg1"/>
                </a:solidFill>
                <a:latin typeface="Times New Roman" panose="02020603050405020304" pitchFamily="18" charset="0"/>
                <a:cs typeface="Times New Roman" panose="02020603050405020304" pitchFamily="18" charset="0"/>
              </a:rPr>
              <a:t> </a:t>
            </a:r>
            <a:r>
              <a:rPr sz="4409" b="1" spc="94" dirty="0">
                <a:solidFill>
                  <a:schemeClr val="bg1"/>
                </a:solidFill>
                <a:latin typeface="Times New Roman" panose="02020603050405020304" pitchFamily="18" charset="0"/>
                <a:cs typeface="Times New Roman" panose="02020603050405020304" pitchFamily="18" charset="0"/>
              </a:rPr>
              <a:t>Routes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30427" y="1847134"/>
            <a:ext cx="9619769" cy="4458235"/>
          </a:xfrm>
          <a:prstGeom prst="rect">
            <a:avLst/>
          </a:prstGeom>
        </p:spPr>
        <p:txBody>
          <a:bodyPr vert="horz" wrap="square" lIns="0" tIns="13299" rIns="0" bIns="0" rtlCol="0">
            <a:spAutoFit/>
          </a:bodyPr>
          <a:lstStyle/>
          <a:p>
            <a:pPr marL="470499" marR="76296" indent="-457200">
              <a:spcBef>
                <a:spcPts val="105"/>
              </a:spcBef>
              <a:buClr>
                <a:srgbClr val="D24717"/>
              </a:buClr>
              <a:buSzPct val="83928"/>
              <a:buFont typeface="Wingdings" panose="05000000000000000000" pitchFamily="2" charset="2"/>
              <a:buChar char="Ø"/>
              <a:tabLst>
                <a:tab pos="317082" algn="l"/>
              </a:tabLst>
            </a:pPr>
            <a:r>
              <a:rPr sz="3200" dirty="0">
                <a:latin typeface="Times New Roman"/>
                <a:cs typeface="Times New Roman"/>
              </a:rPr>
              <a:t>Verifying whether static routes work correctly requires  a few steps. The following list points out the  highlights:</a:t>
            </a:r>
            <a:endParaRPr lang="en-US" sz="3200" dirty="0">
              <a:latin typeface="Times New Roman"/>
              <a:cs typeface="Times New Roman"/>
            </a:endParaRPr>
          </a:p>
          <a:p>
            <a:pPr marL="927699" marR="76296" lvl="1" indent="-457200">
              <a:spcBef>
                <a:spcPts val="105"/>
              </a:spcBef>
              <a:buClr>
                <a:srgbClr val="D24717"/>
              </a:buClr>
              <a:buSzPct val="83928"/>
              <a:buFont typeface="Wingdings" panose="05000000000000000000" pitchFamily="2" charset="2"/>
              <a:buChar char="ü"/>
              <a:tabLst>
                <a:tab pos="317082" algn="l"/>
              </a:tabLst>
            </a:pPr>
            <a:r>
              <a:rPr sz="3200" dirty="0">
                <a:latin typeface="Times New Roman"/>
                <a:cs typeface="Times New Roman"/>
              </a:rPr>
              <a:t>Because the routes are added in configuration mode,  once the network engineer is convinced that the  routes are configured correctly, </a:t>
            </a:r>
            <a:r>
              <a:rPr lang="en-US" sz="3200" dirty="0">
                <a:latin typeface="Times New Roman"/>
                <a:cs typeface="Times New Roman"/>
              </a:rPr>
              <a:t>t</a:t>
            </a:r>
            <a:r>
              <a:rPr sz="3200" dirty="0">
                <a:latin typeface="Times New Roman"/>
                <a:cs typeface="Times New Roman"/>
              </a:rPr>
              <a:t>he saves the  configuration (</a:t>
            </a:r>
            <a:r>
              <a:rPr sz="3200" b="1" dirty="0">
                <a:solidFill>
                  <a:srgbClr val="FF0000"/>
                </a:solidFill>
                <a:latin typeface="Times New Roman"/>
                <a:cs typeface="Times New Roman"/>
              </a:rPr>
              <a:t>copy running-config startup-config</a:t>
            </a:r>
            <a:r>
              <a:rPr sz="3200" dirty="0">
                <a:latin typeface="Times New Roman"/>
                <a:cs typeface="Times New Roman"/>
              </a:rPr>
              <a:t>)  to ensure that the routes are saved and are reloaded  after the next reload of the router.</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53</a:t>
            </a:fld>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1304" y="495612"/>
            <a:ext cx="7976856" cy="691948"/>
          </a:xfrm>
          <a:prstGeom prst="rect">
            <a:avLst/>
          </a:prstGeom>
        </p:spPr>
        <p:txBody>
          <a:bodyPr vert="horz" wrap="square" lIns="0" tIns="13299" rIns="0" bIns="0" rtlCol="0" anchor="ctr">
            <a:spAutoFit/>
          </a:bodyPr>
          <a:lstStyle/>
          <a:p>
            <a:pPr marL="13999">
              <a:lnSpc>
                <a:spcPct val="100000"/>
              </a:lnSpc>
              <a:spcBef>
                <a:spcPts val="105"/>
              </a:spcBef>
            </a:pPr>
            <a:r>
              <a:rPr sz="4409" b="1" spc="143" dirty="0">
                <a:solidFill>
                  <a:schemeClr val="bg1"/>
                </a:solidFill>
                <a:latin typeface="Times New Roman" panose="02020603050405020304" pitchFamily="18" charset="0"/>
                <a:cs typeface="Times New Roman" panose="02020603050405020304" pitchFamily="18" charset="0"/>
              </a:rPr>
              <a:t>Verifying</a:t>
            </a:r>
            <a:r>
              <a:rPr sz="4409" b="1" spc="99" dirty="0">
                <a:solidFill>
                  <a:schemeClr val="bg1"/>
                </a:solidFill>
                <a:latin typeface="Times New Roman" panose="02020603050405020304" pitchFamily="18" charset="0"/>
                <a:cs typeface="Times New Roman" panose="02020603050405020304" pitchFamily="18" charset="0"/>
              </a:rPr>
              <a:t> </a:t>
            </a:r>
            <a:r>
              <a:rPr sz="4409" b="1" spc="126" dirty="0">
                <a:solidFill>
                  <a:schemeClr val="bg1"/>
                </a:solidFill>
                <a:latin typeface="Times New Roman" panose="02020603050405020304" pitchFamily="18" charset="0"/>
                <a:cs typeface="Times New Roman" panose="02020603050405020304" pitchFamily="18" charset="0"/>
              </a:rPr>
              <a:t>Static</a:t>
            </a:r>
            <a:r>
              <a:rPr sz="4409" b="1" spc="132" dirty="0">
                <a:solidFill>
                  <a:schemeClr val="bg1"/>
                </a:solidFill>
                <a:latin typeface="Times New Roman" panose="02020603050405020304" pitchFamily="18" charset="0"/>
                <a:cs typeface="Times New Roman" panose="02020603050405020304" pitchFamily="18" charset="0"/>
              </a:rPr>
              <a:t> </a:t>
            </a:r>
            <a:r>
              <a:rPr sz="4409" b="1" spc="94" dirty="0">
                <a:solidFill>
                  <a:schemeClr val="bg1"/>
                </a:solidFill>
                <a:latin typeface="Times New Roman" panose="02020603050405020304" pitchFamily="18" charset="0"/>
                <a:cs typeface="Times New Roman" panose="02020603050405020304" pitchFamily="18" charset="0"/>
              </a:rPr>
              <a:t>Routes</a:t>
            </a:r>
            <a:endParaRPr sz="3527"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90151" y="1575490"/>
            <a:ext cx="9990473" cy="4618888"/>
          </a:xfrm>
          <a:prstGeom prst="rect">
            <a:avLst/>
          </a:prstGeom>
        </p:spPr>
        <p:txBody>
          <a:bodyPr vert="horz" wrap="square" lIns="0" tIns="58098" rIns="0" bIns="0" rtlCol="0">
            <a:spAutoFit/>
          </a:bodyPr>
          <a:lstStyle/>
          <a:p>
            <a:pPr marL="470499" marR="39898" indent="-457200">
              <a:lnSpc>
                <a:spcPct val="90000"/>
              </a:lnSpc>
              <a:spcBef>
                <a:spcPts val="457"/>
              </a:spcBef>
              <a:buClr>
                <a:srgbClr val="D24717"/>
              </a:buClr>
              <a:buSzPct val="84615"/>
              <a:buFont typeface="Wingdings" panose="05000000000000000000" pitchFamily="2" charset="2"/>
              <a:buChar char="Ø"/>
              <a:tabLst>
                <a:tab pos="315682" algn="l"/>
                <a:tab pos="316382" algn="l"/>
              </a:tabLst>
            </a:pPr>
            <a:r>
              <a:rPr sz="3200" dirty="0">
                <a:latin typeface="Times New Roman"/>
                <a:cs typeface="Times New Roman"/>
              </a:rPr>
              <a:t>When</a:t>
            </a:r>
            <a:r>
              <a:rPr sz="3200" spc="-44" dirty="0">
                <a:latin typeface="Times New Roman"/>
                <a:cs typeface="Times New Roman"/>
              </a:rPr>
              <a:t> </a:t>
            </a:r>
            <a:r>
              <a:rPr sz="3200" dirty="0">
                <a:latin typeface="Times New Roman"/>
                <a:cs typeface="Times New Roman"/>
              </a:rPr>
              <a:t>configured,</a:t>
            </a:r>
            <a:r>
              <a:rPr sz="3200" spc="-44"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dirty="0">
                <a:latin typeface="Times New Roman"/>
                <a:cs typeface="Times New Roman"/>
              </a:rPr>
              <a:t>routes</a:t>
            </a:r>
            <a:r>
              <a:rPr sz="3200" spc="-6" dirty="0">
                <a:latin typeface="Times New Roman"/>
                <a:cs typeface="Times New Roman"/>
              </a:rPr>
              <a:t> </a:t>
            </a:r>
            <a:r>
              <a:rPr sz="3200" dirty="0">
                <a:latin typeface="Times New Roman"/>
                <a:cs typeface="Times New Roman"/>
              </a:rPr>
              <a:t>should</a:t>
            </a:r>
            <a:r>
              <a:rPr sz="3200" spc="-28" dirty="0">
                <a:latin typeface="Times New Roman"/>
                <a:cs typeface="Times New Roman"/>
              </a:rPr>
              <a:t> </a:t>
            </a:r>
            <a:r>
              <a:rPr sz="3200" dirty="0">
                <a:latin typeface="Times New Roman"/>
                <a:cs typeface="Times New Roman"/>
              </a:rPr>
              <a:t>be</a:t>
            </a:r>
            <a:r>
              <a:rPr sz="3200" spc="-17" dirty="0">
                <a:latin typeface="Times New Roman"/>
                <a:cs typeface="Times New Roman"/>
              </a:rPr>
              <a:t> </a:t>
            </a:r>
            <a:r>
              <a:rPr sz="3200" spc="-6" dirty="0">
                <a:latin typeface="Times New Roman"/>
                <a:cs typeface="Times New Roman"/>
              </a:rPr>
              <a:t>seen</a:t>
            </a:r>
            <a:r>
              <a:rPr sz="3200" dirty="0">
                <a:latin typeface="Times New Roman"/>
                <a:cs typeface="Times New Roman"/>
              </a:rPr>
              <a:t> in</a:t>
            </a:r>
            <a:r>
              <a:rPr sz="3200" spc="6" dirty="0">
                <a:latin typeface="Times New Roman"/>
                <a:cs typeface="Times New Roman"/>
              </a:rPr>
              <a:t> </a:t>
            </a:r>
            <a:r>
              <a:rPr sz="3200" dirty="0">
                <a:latin typeface="Times New Roman"/>
                <a:cs typeface="Times New Roman"/>
              </a:rPr>
              <a:t>the output</a:t>
            </a:r>
            <a:r>
              <a:rPr sz="3200" spc="-33" dirty="0">
                <a:latin typeface="Times New Roman"/>
                <a:cs typeface="Times New Roman"/>
              </a:rPr>
              <a:t> </a:t>
            </a:r>
            <a:r>
              <a:rPr sz="3200" dirty="0">
                <a:latin typeface="Times New Roman"/>
                <a:cs typeface="Times New Roman"/>
              </a:rPr>
              <a:t>of </a:t>
            </a:r>
            <a:r>
              <a:rPr sz="3200" spc="-700" dirty="0">
                <a:latin typeface="Times New Roman"/>
                <a:cs typeface="Times New Roman"/>
              </a:rPr>
              <a:t> </a:t>
            </a:r>
            <a:r>
              <a:rPr sz="3200" dirty="0">
                <a:latin typeface="Times New Roman"/>
                <a:cs typeface="Times New Roman"/>
              </a:rPr>
              <a:t>the </a:t>
            </a:r>
            <a:r>
              <a:rPr sz="3200" b="1" dirty="0">
                <a:solidFill>
                  <a:srgbClr val="FF0000"/>
                </a:solidFill>
                <a:latin typeface="Times New Roman"/>
                <a:cs typeface="Times New Roman"/>
              </a:rPr>
              <a:t>show </a:t>
            </a:r>
            <a:r>
              <a:rPr sz="3200" b="1" spc="-6" dirty="0">
                <a:solidFill>
                  <a:srgbClr val="FF0000"/>
                </a:solidFill>
                <a:latin typeface="Times New Roman"/>
                <a:cs typeface="Times New Roman"/>
              </a:rPr>
              <a:t>ip </a:t>
            </a:r>
            <a:r>
              <a:rPr sz="3200" b="1" spc="-11" dirty="0">
                <a:solidFill>
                  <a:srgbClr val="FF0000"/>
                </a:solidFill>
                <a:latin typeface="Times New Roman"/>
                <a:cs typeface="Times New Roman"/>
              </a:rPr>
              <a:t>route </a:t>
            </a:r>
            <a:r>
              <a:rPr sz="3200" spc="-6" dirty="0">
                <a:latin typeface="Times New Roman"/>
                <a:cs typeface="Times New Roman"/>
              </a:rPr>
              <a:t>command, with </a:t>
            </a:r>
            <a:r>
              <a:rPr sz="3200" dirty="0">
                <a:latin typeface="Times New Roman"/>
                <a:cs typeface="Times New Roman"/>
              </a:rPr>
              <a:t>an </a:t>
            </a:r>
            <a:r>
              <a:rPr sz="3200" b="1" i="1" dirty="0">
                <a:latin typeface="Times New Roman"/>
                <a:cs typeface="Times New Roman"/>
              </a:rPr>
              <a:t>S</a:t>
            </a:r>
            <a:r>
              <a:rPr sz="3200" i="1" dirty="0">
                <a:latin typeface="Times New Roman"/>
                <a:cs typeface="Times New Roman"/>
              </a:rPr>
              <a:t> </a:t>
            </a:r>
            <a:r>
              <a:rPr sz="3200" dirty="0">
                <a:latin typeface="Times New Roman"/>
                <a:cs typeface="Times New Roman"/>
              </a:rPr>
              <a:t>in the </a:t>
            </a:r>
            <a:r>
              <a:rPr sz="3200" spc="-6" dirty="0">
                <a:latin typeface="Times New Roman"/>
                <a:cs typeface="Times New Roman"/>
              </a:rPr>
              <a:t>left </a:t>
            </a:r>
            <a:r>
              <a:rPr sz="3200" dirty="0">
                <a:latin typeface="Times New Roman"/>
                <a:cs typeface="Times New Roman"/>
              </a:rPr>
              <a:t>colomn, </a:t>
            </a:r>
            <a:r>
              <a:rPr sz="3200" spc="6" dirty="0">
                <a:latin typeface="Times New Roman"/>
                <a:cs typeface="Times New Roman"/>
              </a:rPr>
              <a:t> </a:t>
            </a:r>
            <a:r>
              <a:rPr sz="3200" dirty="0">
                <a:latin typeface="Times New Roman"/>
                <a:cs typeface="Times New Roman"/>
              </a:rPr>
              <a:t>unless</a:t>
            </a:r>
            <a:r>
              <a:rPr sz="3200" spc="-33" dirty="0">
                <a:latin typeface="Times New Roman"/>
                <a:cs typeface="Times New Roman"/>
              </a:rPr>
              <a:t> </a:t>
            </a:r>
            <a:r>
              <a:rPr sz="3200" spc="6" dirty="0">
                <a:latin typeface="Times New Roman"/>
                <a:cs typeface="Times New Roman"/>
              </a:rPr>
              <a:t>one</a:t>
            </a:r>
            <a:r>
              <a:rPr sz="3200" spc="-33" dirty="0">
                <a:latin typeface="Times New Roman"/>
                <a:cs typeface="Times New Roman"/>
              </a:rPr>
              <a:t> </a:t>
            </a:r>
            <a:r>
              <a:rPr sz="3200" dirty="0">
                <a:latin typeface="Times New Roman"/>
                <a:cs typeface="Times New Roman"/>
              </a:rPr>
              <a:t>of the following</a:t>
            </a:r>
            <a:r>
              <a:rPr sz="3200" spc="-28" dirty="0">
                <a:latin typeface="Times New Roman"/>
                <a:cs typeface="Times New Roman"/>
              </a:rPr>
              <a:t> </a:t>
            </a:r>
            <a:r>
              <a:rPr sz="3200" dirty="0">
                <a:latin typeface="Times New Roman"/>
                <a:cs typeface="Times New Roman"/>
              </a:rPr>
              <a:t>is</a:t>
            </a:r>
            <a:r>
              <a:rPr sz="3200" spc="-11" dirty="0">
                <a:latin typeface="Times New Roman"/>
                <a:cs typeface="Times New Roman"/>
              </a:rPr>
              <a:t> </a:t>
            </a:r>
            <a:r>
              <a:rPr sz="3200" spc="-6" dirty="0">
                <a:latin typeface="Times New Roman"/>
                <a:cs typeface="Times New Roman"/>
              </a:rPr>
              <a:t>also</a:t>
            </a:r>
            <a:r>
              <a:rPr sz="3200" spc="6" dirty="0">
                <a:latin typeface="Times New Roman"/>
                <a:cs typeface="Times New Roman"/>
              </a:rPr>
              <a:t> </a:t>
            </a:r>
            <a:r>
              <a:rPr sz="3200" dirty="0">
                <a:latin typeface="Times New Roman"/>
                <a:cs typeface="Times New Roman"/>
              </a:rPr>
              <a:t>true:</a:t>
            </a:r>
            <a:endParaRPr lang="en-US" sz="3200" dirty="0">
              <a:latin typeface="Times New Roman"/>
              <a:cs typeface="Times New Roman"/>
            </a:endParaRPr>
          </a:p>
          <a:p>
            <a:pPr marL="927699" marR="39898" lvl="1" indent="-457200">
              <a:lnSpc>
                <a:spcPct val="90000"/>
              </a:lnSpc>
              <a:spcBef>
                <a:spcPts val="457"/>
              </a:spcBef>
              <a:buClr>
                <a:srgbClr val="D24717"/>
              </a:buClr>
              <a:buSzPct val="84615"/>
              <a:buFont typeface="Wingdings" panose="05000000000000000000" pitchFamily="2" charset="2"/>
              <a:buChar char="ü"/>
              <a:tabLst>
                <a:tab pos="315682" algn="l"/>
                <a:tab pos="316382" algn="l"/>
              </a:tabLst>
            </a:pPr>
            <a:r>
              <a:rPr sz="3200" spc="-6" dirty="0">
                <a:latin typeface="Times New Roman"/>
                <a:cs typeface="Times New Roman"/>
              </a:rPr>
              <a:t>If </a:t>
            </a:r>
            <a:r>
              <a:rPr sz="3200" dirty="0">
                <a:latin typeface="Times New Roman"/>
                <a:cs typeface="Times New Roman"/>
              </a:rPr>
              <a:t>the </a:t>
            </a:r>
            <a:r>
              <a:rPr sz="3200" spc="-6" dirty="0">
                <a:latin typeface="Times New Roman"/>
                <a:cs typeface="Times New Roman"/>
              </a:rPr>
              <a:t>outgoing</a:t>
            </a:r>
            <a:r>
              <a:rPr sz="3200" spc="-28" dirty="0">
                <a:latin typeface="Times New Roman"/>
                <a:cs typeface="Times New Roman"/>
              </a:rPr>
              <a:t> </a:t>
            </a:r>
            <a:r>
              <a:rPr sz="3200" spc="-6" dirty="0">
                <a:latin typeface="Times New Roman"/>
                <a:cs typeface="Times New Roman"/>
              </a:rPr>
              <a:t>interface</a:t>
            </a:r>
            <a:r>
              <a:rPr sz="3200" spc="17" dirty="0">
                <a:latin typeface="Times New Roman"/>
                <a:cs typeface="Times New Roman"/>
              </a:rPr>
              <a:t> </a:t>
            </a:r>
            <a:r>
              <a:rPr sz="3200" spc="-6" dirty="0">
                <a:latin typeface="Times New Roman"/>
                <a:cs typeface="Times New Roman"/>
              </a:rPr>
              <a:t>is</a:t>
            </a:r>
            <a:r>
              <a:rPr sz="3200" dirty="0">
                <a:latin typeface="Times New Roman"/>
                <a:cs typeface="Times New Roman"/>
              </a:rPr>
              <a:t> down, </a:t>
            </a:r>
            <a:r>
              <a:rPr sz="3200" spc="-6" dirty="0">
                <a:latin typeface="Times New Roman"/>
                <a:cs typeface="Times New Roman"/>
              </a:rPr>
              <a:t>the</a:t>
            </a:r>
            <a:r>
              <a:rPr sz="3200" spc="-11" dirty="0">
                <a:latin typeface="Times New Roman"/>
                <a:cs typeface="Times New Roman"/>
              </a:rPr>
              <a:t> </a:t>
            </a:r>
            <a:r>
              <a:rPr sz="3200" spc="-6" dirty="0">
                <a:latin typeface="Times New Roman"/>
                <a:cs typeface="Times New Roman"/>
              </a:rPr>
              <a:t>route is</a:t>
            </a:r>
            <a:r>
              <a:rPr sz="3200" dirty="0">
                <a:latin typeface="Times New Roman"/>
                <a:cs typeface="Times New Roman"/>
              </a:rPr>
              <a:t> not</a:t>
            </a:r>
            <a:r>
              <a:rPr sz="3200" spc="-6" dirty="0">
                <a:latin typeface="Times New Roman"/>
                <a:cs typeface="Times New Roman"/>
              </a:rPr>
              <a:t> in</a:t>
            </a:r>
            <a:r>
              <a:rPr sz="3200" spc="6" dirty="0">
                <a:latin typeface="Times New Roman"/>
                <a:cs typeface="Times New Roman"/>
              </a:rPr>
              <a:t> </a:t>
            </a:r>
            <a:r>
              <a:rPr sz="3200" dirty="0">
                <a:latin typeface="Times New Roman"/>
                <a:cs typeface="Times New Roman"/>
              </a:rPr>
              <a:t>the </a:t>
            </a:r>
            <a:r>
              <a:rPr sz="3200" spc="-6" dirty="0">
                <a:latin typeface="Times New Roman"/>
                <a:cs typeface="Times New Roman"/>
              </a:rPr>
              <a:t>routing</a:t>
            </a:r>
            <a:r>
              <a:rPr sz="3200" dirty="0">
                <a:latin typeface="Times New Roman"/>
                <a:cs typeface="Times New Roman"/>
              </a:rPr>
              <a:t> </a:t>
            </a:r>
            <a:r>
              <a:rPr sz="3200" spc="-6" dirty="0">
                <a:latin typeface="Times New Roman"/>
                <a:cs typeface="Times New Roman"/>
              </a:rPr>
              <a:t>table</a:t>
            </a:r>
            <a:r>
              <a:rPr lang="en-US" sz="3200" dirty="0">
                <a:latin typeface="Times New Roman"/>
                <a:cs typeface="Times New Roman"/>
              </a:rPr>
              <a:t>.</a:t>
            </a:r>
          </a:p>
          <a:p>
            <a:pPr marL="927699" marR="39898" lvl="1" indent="-457200">
              <a:lnSpc>
                <a:spcPct val="90000"/>
              </a:lnSpc>
              <a:spcBef>
                <a:spcPts val="457"/>
              </a:spcBef>
              <a:buClr>
                <a:srgbClr val="D24717"/>
              </a:buClr>
              <a:buSzPct val="84615"/>
              <a:buFont typeface="Wingdings" panose="05000000000000000000" pitchFamily="2" charset="2"/>
              <a:buChar char="ü"/>
              <a:tabLst>
                <a:tab pos="315682" algn="l"/>
                <a:tab pos="316382" algn="l"/>
              </a:tabLst>
            </a:pPr>
            <a:r>
              <a:rPr sz="3200" spc="-6" dirty="0">
                <a:latin typeface="Times New Roman"/>
                <a:cs typeface="Times New Roman"/>
              </a:rPr>
              <a:t>If</a:t>
            </a:r>
            <a:r>
              <a:rPr sz="3200" dirty="0">
                <a:latin typeface="Times New Roman"/>
                <a:cs typeface="Times New Roman"/>
              </a:rPr>
              <a:t> the</a:t>
            </a:r>
            <a:r>
              <a:rPr sz="3200" spc="6" dirty="0">
                <a:latin typeface="Times New Roman"/>
                <a:cs typeface="Times New Roman"/>
              </a:rPr>
              <a:t> </a:t>
            </a:r>
            <a:r>
              <a:rPr sz="3200" spc="-6" dirty="0">
                <a:latin typeface="Times New Roman"/>
                <a:cs typeface="Times New Roman"/>
              </a:rPr>
              <a:t>network</a:t>
            </a:r>
            <a:r>
              <a:rPr sz="3200" spc="6" dirty="0">
                <a:latin typeface="Times New Roman"/>
                <a:cs typeface="Times New Roman"/>
              </a:rPr>
              <a:t> </a:t>
            </a:r>
            <a:r>
              <a:rPr sz="3200" spc="-6" dirty="0">
                <a:latin typeface="Times New Roman"/>
                <a:cs typeface="Times New Roman"/>
              </a:rPr>
              <a:t>engineer</a:t>
            </a:r>
            <a:r>
              <a:rPr sz="3200" spc="17" dirty="0">
                <a:latin typeface="Times New Roman"/>
                <a:cs typeface="Times New Roman"/>
              </a:rPr>
              <a:t> </a:t>
            </a:r>
            <a:r>
              <a:rPr sz="3200" spc="-6" dirty="0">
                <a:latin typeface="Times New Roman"/>
                <a:cs typeface="Times New Roman"/>
              </a:rPr>
              <a:t>sets the</a:t>
            </a:r>
            <a:r>
              <a:rPr sz="3200" spc="11" dirty="0">
                <a:latin typeface="Times New Roman"/>
                <a:cs typeface="Times New Roman"/>
              </a:rPr>
              <a:t> </a:t>
            </a:r>
            <a:r>
              <a:rPr sz="3200" spc="-6" dirty="0">
                <a:latin typeface="Times New Roman"/>
                <a:cs typeface="Times New Roman"/>
              </a:rPr>
              <a:t>administrative</a:t>
            </a:r>
            <a:r>
              <a:rPr sz="3200" spc="39" dirty="0">
                <a:latin typeface="Times New Roman"/>
                <a:cs typeface="Times New Roman"/>
              </a:rPr>
              <a:t> </a:t>
            </a:r>
            <a:r>
              <a:rPr sz="3200" spc="-6" dirty="0">
                <a:latin typeface="Times New Roman"/>
                <a:cs typeface="Times New Roman"/>
              </a:rPr>
              <a:t>distance</a:t>
            </a:r>
            <a:r>
              <a:rPr sz="3200" spc="6" dirty="0">
                <a:latin typeface="Times New Roman"/>
                <a:cs typeface="Times New Roman"/>
              </a:rPr>
              <a:t> </a:t>
            </a:r>
            <a:r>
              <a:rPr sz="3200" spc="-6" dirty="0">
                <a:latin typeface="Times New Roman"/>
                <a:cs typeface="Times New Roman"/>
              </a:rPr>
              <a:t>on</a:t>
            </a:r>
            <a:r>
              <a:rPr sz="3200" spc="6" dirty="0">
                <a:latin typeface="Times New Roman"/>
                <a:cs typeface="Times New Roman"/>
              </a:rPr>
              <a:t> </a:t>
            </a:r>
            <a:r>
              <a:rPr sz="3200" spc="-6" dirty="0">
                <a:latin typeface="Times New Roman"/>
                <a:cs typeface="Times New Roman"/>
              </a:rPr>
              <a:t>the</a:t>
            </a:r>
            <a:r>
              <a:rPr sz="3200" spc="28" dirty="0">
                <a:latin typeface="Times New Roman"/>
                <a:cs typeface="Times New Roman"/>
              </a:rPr>
              <a:t> </a:t>
            </a:r>
            <a:r>
              <a:rPr sz="3200" b="1" spc="-6" dirty="0">
                <a:solidFill>
                  <a:srgbClr val="FF0000"/>
                </a:solidFill>
                <a:latin typeface="Times New Roman"/>
                <a:cs typeface="Times New Roman"/>
              </a:rPr>
              <a:t>ip </a:t>
            </a:r>
            <a:r>
              <a:rPr sz="3200" b="1" spc="-590" dirty="0">
                <a:solidFill>
                  <a:srgbClr val="FF0000"/>
                </a:solidFill>
                <a:latin typeface="Times New Roman"/>
                <a:cs typeface="Times New Roman"/>
              </a:rPr>
              <a:t> </a:t>
            </a:r>
            <a:r>
              <a:rPr sz="3200" b="1" spc="-11" dirty="0">
                <a:solidFill>
                  <a:srgbClr val="FF0000"/>
                </a:solidFill>
                <a:latin typeface="Times New Roman"/>
                <a:cs typeface="Times New Roman"/>
              </a:rPr>
              <a:t>route</a:t>
            </a:r>
            <a:r>
              <a:rPr sz="3200" b="1" spc="-6" dirty="0">
                <a:solidFill>
                  <a:srgbClr val="FF0000"/>
                </a:solidFill>
                <a:latin typeface="Times New Roman"/>
                <a:cs typeface="Times New Roman"/>
              </a:rPr>
              <a:t> </a:t>
            </a:r>
            <a:r>
              <a:rPr sz="3200" spc="-11" dirty="0">
                <a:latin typeface="Times New Roman"/>
                <a:cs typeface="Times New Roman"/>
              </a:rPr>
              <a:t>command,</a:t>
            </a:r>
            <a:r>
              <a:rPr sz="3200" spc="44" dirty="0">
                <a:latin typeface="Times New Roman"/>
                <a:cs typeface="Times New Roman"/>
              </a:rPr>
              <a:t> </a:t>
            </a:r>
            <a:r>
              <a:rPr sz="3200" spc="-6" dirty="0">
                <a:latin typeface="Times New Roman"/>
                <a:cs typeface="Times New Roman"/>
              </a:rPr>
              <a:t>and</a:t>
            </a:r>
            <a:r>
              <a:rPr sz="3200" spc="6"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static</a:t>
            </a:r>
            <a:r>
              <a:rPr sz="3200" dirty="0">
                <a:latin typeface="Times New Roman"/>
                <a:cs typeface="Times New Roman"/>
              </a:rPr>
              <a:t> </a:t>
            </a:r>
            <a:r>
              <a:rPr sz="3200" spc="-6" dirty="0">
                <a:latin typeface="Times New Roman"/>
                <a:cs typeface="Times New Roman"/>
              </a:rPr>
              <a:t>route</a:t>
            </a:r>
            <a:r>
              <a:rPr sz="3200" spc="6"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6" dirty="0">
                <a:latin typeface="Times New Roman"/>
                <a:cs typeface="Times New Roman"/>
              </a:rPr>
              <a:t>higher</a:t>
            </a:r>
            <a:r>
              <a:rPr sz="3200" spc="11" dirty="0">
                <a:latin typeface="Times New Roman"/>
                <a:cs typeface="Times New Roman"/>
              </a:rPr>
              <a:t> </a:t>
            </a:r>
            <a:r>
              <a:rPr sz="3200" spc="-6" dirty="0">
                <a:latin typeface="Times New Roman"/>
                <a:cs typeface="Times New Roman"/>
              </a:rPr>
              <a:t>administrative </a:t>
            </a:r>
            <a:r>
              <a:rPr sz="3200" dirty="0">
                <a:latin typeface="Times New Roman"/>
                <a:cs typeface="Times New Roman"/>
              </a:rPr>
              <a:t> </a:t>
            </a:r>
            <a:r>
              <a:rPr sz="3200" spc="-6" dirty="0">
                <a:latin typeface="Times New Roman"/>
                <a:cs typeface="Times New Roman"/>
              </a:rPr>
              <a:t>distance</a:t>
            </a:r>
            <a:r>
              <a:rPr sz="3200" spc="-11" dirty="0">
                <a:latin typeface="Times New Roman"/>
                <a:cs typeface="Times New Roman"/>
              </a:rPr>
              <a:t> </a:t>
            </a:r>
            <a:r>
              <a:rPr sz="3200" spc="-6" dirty="0">
                <a:latin typeface="Times New Roman"/>
                <a:cs typeface="Times New Roman"/>
              </a:rPr>
              <a:t>than</a:t>
            </a:r>
            <a:r>
              <a:rPr sz="3200"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administrative</a:t>
            </a:r>
            <a:r>
              <a:rPr sz="3200" spc="28" dirty="0">
                <a:latin typeface="Times New Roman"/>
                <a:cs typeface="Times New Roman"/>
              </a:rPr>
              <a:t> </a:t>
            </a:r>
            <a:r>
              <a:rPr sz="3200" spc="-6" dirty="0">
                <a:latin typeface="Times New Roman"/>
                <a:cs typeface="Times New Roman"/>
              </a:rPr>
              <a:t>distance</a:t>
            </a:r>
            <a:r>
              <a:rPr sz="3200" dirty="0">
                <a:latin typeface="Times New Roman"/>
                <a:cs typeface="Times New Roman"/>
              </a:rPr>
              <a:t> </a:t>
            </a:r>
            <a:r>
              <a:rPr sz="3200" spc="-6" dirty="0">
                <a:latin typeface="Times New Roman"/>
                <a:cs typeface="Times New Roman"/>
              </a:rPr>
              <a:t>of</a:t>
            </a:r>
            <a:r>
              <a:rPr sz="3200" spc="17" dirty="0">
                <a:latin typeface="Times New Roman"/>
                <a:cs typeface="Times New Roman"/>
              </a:rPr>
              <a:t> </a:t>
            </a:r>
            <a:r>
              <a:rPr sz="3200" spc="-6" dirty="0">
                <a:latin typeface="Times New Roman"/>
                <a:cs typeface="Times New Roman"/>
              </a:rPr>
              <a:t>another</a:t>
            </a:r>
            <a:r>
              <a:rPr sz="3200" dirty="0">
                <a:latin typeface="Times New Roman"/>
                <a:cs typeface="Times New Roman"/>
              </a:rPr>
              <a:t> </a:t>
            </a:r>
            <a:r>
              <a:rPr sz="3200" spc="-6" dirty="0">
                <a:latin typeface="Times New Roman"/>
                <a:cs typeface="Times New Roman"/>
              </a:rPr>
              <a:t>route</a:t>
            </a:r>
            <a:r>
              <a:rPr sz="3200" spc="-11"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dirty="0">
                <a:latin typeface="Times New Roman"/>
                <a:cs typeface="Times New Roman"/>
              </a:rPr>
              <a:t>the </a:t>
            </a:r>
            <a:r>
              <a:rPr sz="3200" spc="6" dirty="0">
                <a:latin typeface="Times New Roman"/>
                <a:cs typeface="Times New Roman"/>
              </a:rPr>
              <a:t> </a:t>
            </a:r>
            <a:r>
              <a:rPr sz="3200" spc="-11" dirty="0">
                <a:latin typeface="Times New Roman"/>
                <a:cs typeface="Times New Roman"/>
              </a:rPr>
              <a:t>same</a:t>
            </a:r>
            <a:r>
              <a:rPr sz="3200" spc="6" dirty="0">
                <a:latin typeface="Times New Roman"/>
                <a:cs typeface="Times New Roman"/>
              </a:rPr>
              <a:t> </a:t>
            </a:r>
            <a:r>
              <a:rPr sz="3200" spc="-6" dirty="0">
                <a:latin typeface="Times New Roman"/>
                <a:cs typeface="Times New Roman"/>
              </a:rPr>
              <a:t>subnet, the</a:t>
            </a:r>
            <a:r>
              <a:rPr sz="3200" spc="-11" dirty="0">
                <a:latin typeface="Times New Roman"/>
                <a:cs typeface="Times New Roman"/>
              </a:rPr>
              <a:t> </a:t>
            </a:r>
            <a:r>
              <a:rPr sz="3200" spc="-6" dirty="0">
                <a:latin typeface="Times New Roman"/>
                <a:cs typeface="Times New Roman"/>
              </a:rPr>
              <a:t>static</a:t>
            </a:r>
            <a:r>
              <a:rPr sz="3200" spc="6"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is </a:t>
            </a:r>
            <a:r>
              <a:rPr sz="3200" dirty="0">
                <a:latin typeface="Times New Roman"/>
                <a:cs typeface="Times New Roman"/>
              </a:rPr>
              <a:t>not</a:t>
            </a:r>
            <a:r>
              <a:rPr sz="3200" spc="-6" dirty="0">
                <a:latin typeface="Times New Roman"/>
                <a:cs typeface="Times New Roman"/>
              </a:rPr>
              <a:t> listed in</a:t>
            </a:r>
            <a:r>
              <a:rPr sz="3200" spc="6" dirty="0">
                <a:latin typeface="Times New Roman"/>
                <a:cs typeface="Times New Roman"/>
              </a:rPr>
              <a:t> </a:t>
            </a:r>
            <a:r>
              <a:rPr sz="3200" dirty="0">
                <a:latin typeface="Times New Roman"/>
                <a:cs typeface="Times New Roman"/>
              </a:rPr>
              <a:t>the </a:t>
            </a:r>
            <a:r>
              <a:rPr sz="3200" spc="-6" dirty="0">
                <a:latin typeface="Times New Roman"/>
                <a:cs typeface="Times New Roman"/>
              </a:rPr>
              <a:t>routing table.</a:t>
            </a:r>
            <a:endParaRPr sz="3600"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54</a:t>
            </a:fld>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1304" y="495612"/>
            <a:ext cx="7976856" cy="691948"/>
          </a:xfrm>
          <a:prstGeom prst="rect">
            <a:avLst/>
          </a:prstGeom>
        </p:spPr>
        <p:txBody>
          <a:bodyPr vert="horz" wrap="square" lIns="0" tIns="13299" rIns="0" bIns="0" rtlCol="0" anchor="ctr">
            <a:spAutoFit/>
          </a:bodyPr>
          <a:lstStyle/>
          <a:p>
            <a:pPr marL="13999">
              <a:lnSpc>
                <a:spcPct val="100000"/>
              </a:lnSpc>
              <a:spcBef>
                <a:spcPts val="105"/>
              </a:spcBef>
            </a:pPr>
            <a:r>
              <a:rPr sz="4409" b="1" spc="143" dirty="0">
                <a:solidFill>
                  <a:schemeClr val="bg1"/>
                </a:solidFill>
                <a:latin typeface="Times New Roman" panose="02020603050405020304" pitchFamily="18" charset="0"/>
                <a:cs typeface="Times New Roman" panose="02020603050405020304" pitchFamily="18" charset="0"/>
              </a:rPr>
              <a:t>Verifying</a:t>
            </a:r>
            <a:r>
              <a:rPr sz="4409" b="1" spc="99" dirty="0">
                <a:solidFill>
                  <a:schemeClr val="bg1"/>
                </a:solidFill>
                <a:latin typeface="Times New Roman" panose="02020603050405020304" pitchFamily="18" charset="0"/>
                <a:cs typeface="Times New Roman" panose="02020603050405020304" pitchFamily="18" charset="0"/>
              </a:rPr>
              <a:t> </a:t>
            </a:r>
            <a:r>
              <a:rPr sz="4409" b="1" spc="126" dirty="0">
                <a:solidFill>
                  <a:schemeClr val="bg1"/>
                </a:solidFill>
                <a:latin typeface="Times New Roman" panose="02020603050405020304" pitchFamily="18" charset="0"/>
                <a:cs typeface="Times New Roman" panose="02020603050405020304" pitchFamily="18" charset="0"/>
              </a:rPr>
              <a:t>Static</a:t>
            </a:r>
            <a:r>
              <a:rPr sz="4409" b="1" spc="132" dirty="0">
                <a:solidFill>
                  <a:schemeClr val="bg1"/>
                </a:solidFill>
                <a:latin typeface="Times New Roman" panose="02020603050405020304" pitchFamily="18" charset="0"/>
                <a:cs typeface="Times New Roman" panose="02020603050405020304" pitchFamily="18" charset="0"/>
              </a:rPr>
              <a:t> </a:t>
            </a:r>
            <a:r>
              <a:rPr sz="4409" b="1" spc="94" dirty="0">
                <a:solidFill>
                  <a:schemeClr val="bg1"/>
                </a:solidFill>
                <a:latin typeface="Times New Roman" panose="02020603050405020304" pitchFamily="18" charset="0"/>
                <a:cs typeface="Times New Roman" panose="02020603050405020304" pitchFamily="18" charset="0"/>
              </a:rPr>
              <a:t>Routes</a:t>
            </a:r>
            <a:endParaRPr sz="3527"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28789" y="1575490"/>
            <a:ext cx="9826580" cy="2043474"/>
          </a:xfrm>
          <a:prstGeom prst="rect">
            <a:avLst/>
          </a:prstGeom>
        </p:spPr>
        <p:txBody>
          <a:bodyPr vert="horz" wrap="square" lIns="0" tIns="58098" rIns="0" bIns="0" rtlCol="0">
            <a:spAutoFit/>
          </a:bodyPr>
          <a:lstStyle/>
          <a:p>
            <a:pPr marL="470499" marR="7000" indent="-457200">
              <a:lnSpc>
                <a:spcPct val="90000"/>
              </a:lnSpc>
              <a:spcBef>
                <a:spcPts val="1284"/>
              </a:spcBef>
              <a:buClr>
                <a:srgbClr val="D24717"/>
              </a:buClr>
              <a:buSzPct val="84615"/>
              <a:buFont typeface="Wingdings" panose="05000000000000000000" pitchFamily="2" charset="2"/>
              <a:buChar char="Ø"/>
              <a:tabLst>
                <a:tab pos="315682" algn="l"/>
                <a:tab pos="316382" algn="l"/>
              </a:tabLst>
            </a:pPr>
            <a:r>
              <a:rPr sz="3600" dirty="0">
                <a:latin typeface="Times New Roman"/>
                <a:cs typeface="Times New Roman"/>
              </a:rPr>
              <a:t>As with </a:t>
            </a:r>
            <a:r>
              <a:rPr sz="3600" spc="-6" dirty="0">
                <a:latin typeface="Times New Roman"/>
                <a:cs typeface="Times New Roman"/>
              </a:rPr>
              <a:t>testing </a:t>
            </a:r>
            <a:r>
              <a:rPr sz="3600" dirty="0">
                <a:latin typeface="Times New Roman"/>
                <a:cs typeface="Times New Roman"/>
              </a:rPr>
              <a:t>any routes, </a:t>
            </a:r>
            <a:r>
              <a:rPr sz="3600" spc="-6" dirty="0">
                <a:latin typeface="Times New Roman"/>
                <a:cs typeface="Times New Roman"/>
              </a:rPr>
              <a:t>regardless </a:t>
            </a:r>
            <a:r>
              <a:rPr sz="3600" dirty="0">
                <a:latin typeface="Times New Roman"/>
                <a:cs typeface="Times New Roman"/>
              </a:rPr>
              <a:t>of </a:t>
            </a:r>
            <a:r>
              <a:rPr sz="3600" spc="6" dirty="0">
                <a:latin typeface="Times New Roman"/>
                <a:cs typeface="Times New Roman"/>
              </a:rPr>
              <a:t>how </a:t>
            </a:r>
            <a:r>
              <a:rPr sz="3600" dirty="0">
                <a:latin typeface="Times New Roman"/>
                <a:cs typeface="Times New Roman"/>
              </a:rPr>
              <a:t>they were </a:t>
            </a:r>
            <a:r>
              <a:rPr sz="3600" spc="6" dirty="0">
                <a:latin typeface="Times New Roman"/>
                <a:cs typeface="Times New Roman"/>
              </a:rPr>
              <a:t> </a:t>
            </a:r>
            <a:r>
              <a:rPr sz="3600" dirty="0">
                <a:latin typeface="Times New Roman"/>
                <a:cs typeface="Times New Roman"/>
              </a:rPr>
              <a:t>learned,</a:t>
            </a:r>
            <a:r>
              <a:rPr sz="3600" spc="-33" dirty="0">
                <a:latin typeface="Times New Roman"/>
                <a:cs typeface="Times New Roman"/>
              </a:rPr>
              <a:t> </a:t>
            </a:r>
            <a:r>
              <a:rPr sz="3600" dirty="0">
                <a:latin typeface="Times New Roman"/>
                <a:cs typeface="Times New Roman"/>
              </a:rPr>
              <a:t>the</a:t>
            </a:r>
            <a:r>
              <a:rPr sz="3600" spc="-6" dirty="0">
                <a:latin typeface="Times New Roman"/>
                <a:cs typeface="Times New Roman"/>
              </a:rPr>
              <a:t> </a:t>
            </a:r>
            <a:r>
              <a:rPr sz="3600" b="1" dirty="0">
                <a:solidFill>
                  <a:srgbClr val="FF0000"/>
                </a:solidFill>
                <a:latin typeface="Times New Roman"/>
                <a:cs typeface="Times New Roman"/>
              </a:rPr>
              <a:t>ping</a:t>
            </a:r>
            <a:r>
              <a:rPr sz="3600" b="1" spc="-6" dirty="0">
                <a:latin typeface="Times New Roman"/>
                <a:cs typeface="Times New Roman"/>
              </a:rPr>
              <a:t> </a:t>
            </a:r>
            <a:r>
              <a:rPr sz="3600" dirty="0">
                <a:latin typeface="Times New Roman"/>
                <a:cs typeface="Times New Roman"/>
              </a:rPr>
              <a:t>and</a:t>
            </a:r>
            <a:r>
              <a:rPr sz="3600" spc="-11" dirty="0">
                <a:latin typeface="Times New Roman"/>
                <a:cs typeface="Times New Roman"/>
              </a:rPr>
              <a:t> </a:t>
            </a:r>
            <a:r>
              <a:rPr sz="3600" b="1" spc="-6" dirty="0">
                <a:solidFill>
                  <a:srgbClr val="FF0000"/>
                </a:solidFill>
                <a:latin typeface="Times New Roman"/>
                <a:cs typeface="Times New Roman"/>
              </a:rPr>
              <a:t>traceroute</a:t>
            </a:r>
            <a:r>
              <a:rPr sz="3600" b="1" spc="-44" dirty="0">
                <a:latin typeface="Times New Roman"/>
                <a:cs typeface="Times New Roman"/>
              </a:rPr>
              <a:t> </a:t>
            </a:r>
            <a:r>
              <a:rPr sz="3600" spc="-6" dirty="0">
                <a:latin typeface="Times New Roman"/>
                <a:cs typeface="Times New Roman"/>
              </a:rPr>
              <a:t>commands</a:t>
            </a:r>
            <a:r>
              <a:rPr sz="3600" spc="-11" dirty="0">
                <a:latin typeface="Times New Roman"/>
                <a:cs typeface="Times New Roman"/>
              </a:rPr>
              <a:t> </a:t>
            </a:r>
            <a:r>
              <a:rPr sz="3600" spc="-6" dirty="0">
                <a:latin typeface="Times New Roman"/>
                <a:cs typeface="Times New Roman"/>
              </a:rPr>
              <a:t>can</a:t>
            </a:r>
            <a:r>
              <a:rPr sz="3600" spc="-11" dirty="0">
                <a:latin typeface="Times New Roman"/>
                <a:cs typeface="Times New Roman"/>
              </a:rPr>
              <a:t> </a:t>
            </a:r>
            <a:r>
              <a:rPr sz="3600" dirty="0">
                <a:latin typeface="Times New Roman"/>
                <a:cs typeface="Times New Roman"/>
              </a:rPr>
              <a:t>help</a:t>
            </a:r>
            <a:r>
              <a:rPr sz="3600" spc="-6" dirty="0">
                <a:latin typeface="Times New Roman"/>
                <a:cs typeface="Times New Roman"/>
              </a:rPr>
              <a:t> verify </a:t>
            </a:r>
            <a:r>
              <a:rPr sz="3600" spc="-700" dirty="0">
                <a:latin typeface="Times New Roman"/>
                <a:cs typeface="Times New Roman"/>
              </a:rPr>
              <a:t> </a:t>
            </a:r>
            <a:r>
              <a:rPr sz="3600" dirty="0">
                <a:latin typeface="Times New Roman"/>
                <a:cs typeface="Times New Roman"/>
              </a:rPr>
              <a:t>if </a:t>
            </a:r>
            <a:r>
              <a:rPr sz="3600" spc="-6" dirty="0">
                <a:latin typeface="Times New Roman"/>
                <a:cs typeface="Times New Roman"/>
              </a:rPr>
              <a:t>all </a:t>
            </a:r>
            <a:r>
              <a:rPr sz="3600" dirty="0">
                <a:latin typeface="Times New Roman"/>
                <a:cs typeface="Times New Roman"/>
              </a:rPr>
              <a:t>required routes between a source and destination are </a:t>
            </a:r>
            <a:r>
              <a:rPr sz="3600" spc="6" dirty="0">
                <a:latin typeface="Times New Roman"/>
                <a:cs typeface="Times New Roman"/>
              </a:rPr>
              <a:t> </a:t>
            </a:r>
            <a:r>
              <a:rPr sz="3600" dirty="0">
                <a:latin typeface="Times New Roman"/>
                <a:cs typeface="Times New Roman"/>
              </a:rPr>
              <a:t>working.</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55</a:t>
            </a:fld>
            <a:endParaRPr dirty="0"/>
          </a:p>
        </p:txBody>
      </p:sp>
    </p:spTree>
    <p:extLst>
      <p:ext uri="{BB962C8B-B14F-4D97-AF65-F5344CB8AC3E}">
        <p14:creationId xmlns:p14="http://schemas.microsoft.com/office/powerpoint/2010/main" val="38180162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305" y="149977"/>
            <a:ext cx="9544911" cy="1245242"/>
          </a:xfrm>
          <a:prstGeom prst="rect">
            <a:avLst/>
          </a:prstGeom>
        </p:spPr>
        <p:txBody>
          <a:bodyPr vert="horz" wrap="square" lIns="0" tIns="13999" rIns="0" bIns="0" rtlCol="0" anchor="ctr">
            <a:spAutoFit/>
          </a:bodyPr>
          <a:lstStyle/>
          <a:p>
            <a:pPr algn="ctr">
              <a:lnSpc>
                <a:spcPts val="4756"/>
              </a:lnSpc>
              <a:spcBef>
                <a:spcPts val="110"/>
              </a:spcBef>
            </a:pPr>
            <a:r>
              <a:rPr b="1" spc="-143" dirty="0">
                <a:solidFill>
                  <a:schemeClr val="bg1"/>
                </a:solidFill>
                <a:latin typeface="Times New Roman" panose="02020603050405020304" pitchFamily="18" charset="0"/>
                <a:cs typeface="Times New Roman" panose="02020603050405020304" pitchFamily="18" charset="0"/>
              </a:rPr>
              <a:t>Testing</a:t>
            </a:r>
            <a:r>
              <a:rPr b="1" spc="55" dirty="0">
                <a:solidFill>
                  <a:schemeClr val="bg1"/>
                </a:solidFill>
                <a:latin typeface="Times New Roman" panose="02020603050405020304" pitchFamily="18" charset="0"/>
                <a:cs typeface="Times New Roman" panose="02020603050405020304" pitchFamily="18" charset="0"/>
              </a:rPr>
              <a:t> </a:t>
            </a:r>
            <a:r>
              <a:rPr b="1" spc="-99" dirty="0">
                <a:solidFill>
                  <a:schemeClr val="bg1"/>
                </a:solidFill>
                <a:latin typeface="Times New Roman" panose="02020603050405020304" pitchFamily="18" charset="0"/>
                <a:cs typeface="Times New Roman" panose="02020603050405020304" pitchFamily="18" charset="0"/>
              </a:rPr>
              <a:t>Rout</a:t>
            </a:r>
            <a:r>
              <a:rPr lang="en-US" b="1" spc="-99" dirty="0">
                <a:solidFill>
                  <a:schemeClr val="bg1"/>
                </a:solidFill>
                <a:latin typeface="Times New Roman" panose="02020603050405020304" pitchFamily="18" charset="0"/>
                <a:cs typeface="Times New Roman" panose="02020603050405020304" pitchFamily="18" charset="0"/>
              </a:rPr>
              <a:t>e</a:t>
            </a:r>
            <a:r>
              <a:rPr b="1" spc="-99" dirty="0">
                <a:solidFill>
                  <a:schemeClr val="bg1"/>
                </a:solidFill>
                <a:latin typeface="Times New Roman" panose="02020603050405020304" pitchFamily="18" charset="0"/>
                <a:cs typeface="Times New Roman" panose="02020603050405020304" pitchFamily="18" charset="0"/>
              </a:rPr>
              <a:t>s</a:t>
            </a:r>
            <a:r>
              <a:rPr b="1" spc="33"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with</a:t>
            </a:r>
            <a:r>
              <a:rPr b="1" spc="33" dirty="0">
                <a:solidFill>
                  <a:schemeClr val="bg1"/>
                </a:solidFill>
                <a:latin typeface="Times New Roman" panose="02020603050405020304" pitchFamily="18" charset="0"/>
                <a:cs typeface="Times New Roman" panose="02020603050405020304" pitchFamily="18" charset="0"/>
              </a:rPr>
              <a:t> </a:t>
            </a:r>
            <a:r>
              <a:rPr b="1" spc="132" dirty="0">
                <a:solidFill>
                  <a:schemeClr val="bg1"/>
                </a:solidFill>
                <a:latin typeface="Times New Roman" panose="02020603050405020304" pitchFamily="18" charset="0"/>
                <a:cs typeface="Times New Roman" panose="02020603050405020304" pitchFamily="18" charset="0"/>
              </a:rPr>
              <a:t>ping</a:t>
            </a:r>
            <a:r>
              <a:rPr b="1" spc="94" dirty="0">
                <a:solidFill>
                  <a:schemeClr val="bg1"/>
                </a:solidFill>
                <a:latin typeface="Times New Roman" panose="02020603050405020304" pitchFamily="18" charset="0"/>
                <a:cs typeface="Times New Roman" panose="02020603050405020304" pitchFamily="18" charset="0"/>
              </a:rPr>
              <a:t> </a:t>
            </a:r>
            <a:r>
              <a:rPr b="1" spc="-116" dirty="0">
                <a:solidFill>
                  <a:schemeClr val="bg1"/>
                </a:solidFill>
                <a:latin typeface="Times New Roman" panose="02020603050405020304" pitchFamily="18" charset="0"/>
                <a:cs typeface="Times New Roman" panose="02020603050405020304" pitchFamily="18" charset="0"/>
              </a:rPr>
              <a:t>and</a:t>
            </a:r>
            <a:r>
              <a:rPr b="1" spc="44"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traceroute</a:t>
            </a:r>
            <a:r>
              <a:rPr lang="en-US" b="1" spc="11" dirty="0">
                <a:solidFill>
                  <a:schemeClr val="bg1"/>
                </a:solidFill>
                <a:latin typeface="Times New Roman" panose="02020603050405020304" pitchFamily="18" charset="0"/>
                <a:cs typeface="Times New Roman" panose="02020603050405020304" pitchFamily="18" charset="0"/>
              </a:rPr>
              <a:t> </a:t>
            </a:r>
            <a:r>
              <a:rPr b="1" spc="-110" dirty="0">
                <a:solidFill>
                  <a:schemeClr val="bg1"/>
                </a:solidFill>
                <a:latin typeface="Times New Roman" panose="02020603050405020304" pitchFamily="18" charset="0"/>
                <a:cs typeface="Times New Roman" panose="02020603050405020304" pitchFamily="18" charset="0"/>
              </a:rPr>
              <a:t>commands</a:t>
            </a:r>
          </a:p>
        </p:txBody>
      </p:sp>
      <p:sp>
        <p:nvSpPr>
          <p:cNvPr id="3" name="object 3"/>
          <p:cNvSpPr txBox="1"/>
          <p:nvPr/>
        </p:nvSpPr>
        <p:spPr>
          <a:xfrm>
            <a:off x="230428" y="1635618"/>
            <a:ext cx="9850197" cy="4624948"/>
          </a:xfrm>
          <a:prstGeom prst="rect">
            <a:avLst/>
          </a:prstGeom>
        </p:spPr>
        <p:txBody>
          <a:bodyPr vert="horz" wrap="square" lIns="0" tIns="13299" rIns="0" bIns="0" rtlCol="0">
            <a:spAutoFit/>
          </a:bodyPr>
          <a:lstStyle/>
          <a:p>
            <a:pPr marL="470499" marR="153291" indent="-457200">
              <a:spcBef>
                <a:spcPts val="105"/>
              </a:spcBef>
              <a:buClr>
                <a:srgbClr val="D24717"/>
              </a:buClr>
              <a:buSzPct val="83928"/>
              <a:buFont typeface="Wingdings" panose="05000000000000000000" pitchFamily="2" charset="2"/>
              <a:buChar char="Ø"/>
              <a:tabLst>
                <a:tab pos="315682" algn="l"/>
                <a:tab pos="316382" algn="l"/>
              </a:tabLst>
            </a:pPr>
            <a:r>
              <a:rPr sz="3200" spc="-6" dirty="0">
                <a:latin typeface="Times New Roman" panose="02020603050405020304" pitchFamily="18" charset="0"/>
                <a:cs typeface="Times New Roman" panose="02020603050405020304" pitchFamily="18" charset="0"/>
              </a:rPr>
              <a:t>The</a:t>
            </a:r>
            <a:r>
              <a:rPr sz="3200" spc="-11" dirty="0">
                <a:latin typeface="Times New Roman" panose="02020603050405020304" pitchFamily="18" charset="0"/>
                <a:cs typeface="Times New Roman" panose="02020603050405020304" pitchFamily="18" charset="0"/>
              </a:rPr>
              <a:t> </a:t>
            </a:r>
            <a:r>
              <a:rPr sz="3200" b="1" spc="-11" dirty="0">
                <a:solidFill>
                  <a:srgbClr val="FF0000"/>
                </a:solidFill>
                <a:latin typeface="Times New Roman" panose="02020603050405020304" pitchFamily="18" charset="0"/>
                <a:cs typeface="Times New Roman" panose="02020603050405020304" pitchFamily="18" charset="0"/>
              </a:rPr>
              <a:t>traceroute</a:t>
            </a:r>
            <a:r>
              <a:rPr sz="3200" b="1"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command</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works</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very well for</a:t>
            </a:r>
            <a:r>
              <a:rPr sz="3200" dirty="0">
                <a:latin typeface="Times New Roman" panose="02020603050405020304" pitchFamily="18" charset="0"/>
                <a:cs typeface="Times New Roman" panose="02020603050405020304" pitchFamily="18" charset="0"/>
              </a:rPr>
              <a:t> testing </a:t>
            </a:r>
            <a:r>
              <a:rPr sz="3200" spc="-755"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routes.</a:t>
            </a:r>
            <a:endParaRPr sz="3200" dirty="0">
              <a:latin typeface="Times New Roman" panose="02020603050405020304" pitchFamily="18" charset="0"/>
              <a:cs typeface="Times New Roman" panose="02020603050405020304" pitchFamily="18" charset="0"/>
            </a:endParaRPr>
          </a:p>
          <a:p>
            <a:pPr marL="470499" marR="157491" indent="-457200">
              <a:spcBef>
                <a:spcPts val="661"/>
              </a:spcBef>
              <a:buClr>
                <a:srgbClr val="D24717"/>
              </a:buClr>
              <a:buSzPct val="83928"/>
              <a:buFont typeface="Wingdings" panose="05000000000000000000" pitchFamily="2" charset="2"/>
              <a:buChar char="Ø"/>
              <a:tabLst>
                <a:tab pos="405277" algn="l"/>
                <a:tab pos="405977" algn="l"/>
              </a:tabLst>
            </a:pPr>
            <a:r>
              <a:rPr sz="3200" spc="-6" dirty="0">
                <a:latin typeface="Times New Roman" panose="02020603050405020304" pitchFamily="18" charset="0"/>
                <a:cs typeface="Times New Roman" panose="02020603050405020304" pitchFamily="18" charset="0"/>
              </a:rPr>
              <a:t>The </a:t>
            </a:r>
            <a:r>
              <a:rPr sz="3200" b="1" dirty="0">
                <a:solidFill>
                  <a:srgbClr val="FF0000"/>
                </a:solidFill>
                <a:latin typeface="Times New Roman" panose="02020603050405020304" pitchFamily="18" charset="0"/>
                <a:cs typeface="Times New Roman" panose="02020603050405020304" pitchFamily="18" charset="0"/>
              </a:rPr>
              <a:t>ping</a:t>
            </a:r>
            <a:r>
              <a:rPr sz="3200" b="1"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command</a:t>
            </a:r>
            <a:r>
              <a:rPr sz="3200" spc="2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tells you</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whether</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complete </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end-to-end </a:t>
            </a:r>
            <a:r>
              <a:rPr sz="3200" dirty="0">
                <a:latin typeface="Times New Roman" panose="02020603050405020304" pitchFamily="18" charset="0"/>
                <a:cs typeface="Times New Roman" panose="02020603050405020304" pitchFamily="18" charset="0"/>
              </a:rPr>
              <a:t>route </a:t>
            </a:r>
            <a:r>
              <a:rPr sz="3200" spc="-6" dirty="0">
                <a:latin typeface="Times New Roman" panose="02020603050405020304" pitchFamily="18" charset="0"/>
                <a:cs typeface="Times New Roman" panose="02020603050405020304" pitchFamily="18" charset="0"/>
              </a:rPr>
              <a:t>works, </a:t>
            </a:r>
            <a:r>
              <a:rPr sz="3200" dirty="0">
                <a:latin typeface="Times New Roman" panose="02020603050405020304" pitchFamily="18" charset="0"/>
                <a:cs typeface="Times New Roman" panose="02020603050405020304" pitchFamily="18" charset="0"/>
              </a:rPr>
              <a:t>but the </a:t>
            </a:r>
            <a:r>
              <a:rPr sz="3200" b="1" spc="-11" dirty="0">
                <a:solidFill>
                  <a:srgbClr val="FF0000"/>
                </a:solidFill>
                <a:latin typeface="Times New Roman" panose="02020603050405020304" pitchFamily="18" charset="0"/>
                <a:cs typeface="Times New Roman" panose="02020603050405020304" pitchFamily="18" charset="0"/>
              </a:rPr>
              <a:t>traceroute</a:t>
            </a:r>
            <a:r>
              <a:rPr sz="3200" b="1" spc="-11"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command </a:t>
            </a:r>
            <a:r>
              <a:rPr sz="3200" spc="-755"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tells</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you</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first router that has a problem.</a:t>
            </a:r>
            <a:endParaRPr sz="3200" dirty="0">
              <a:latin typeface="Times New Roman" panose="02020603050405020304" pitchFamily="18" charset="0"/>
              <a:cs typeface="Times New Roman" panose="02020603050405020304" pitchFamily="18" charset="0"/>
            </a:endParaRPr>
          </a:p>
          <a:p>
            <a:pPr marL="470499" marR="5600" indent="-457200">
              <a:spcBef>
                <a:spcPts val="667"/>
              </a:spcBef>
              <a:buClr>
                <a:srgbClr val="D24717"/>
              </a:buClr>
              <a:buSzPct val="83928"/>
              <a:buFont typeface="Wingdings" panose="05000000000000000000" pitchFamily="2" charset="2"/>
              <a:buChar char="Ø"/>
              <a:tabLst>
                <a:tab pos="412277" algn="l"/>
                <a:tab pos="412977" algn="l"/>
              </a:tabLst>
            </a:pPr>
            <a:r>
              <a:rPr sz="3200" spc="-6" dirty="0">
                <a:latin typeface="Times New Roman" panose="02020603050405020304" pitchFamily="18" charset="0"/>
                <a:cs typeface="Times New Roman" panose="02020603050405020304" pitchFamily="18" charset="0"/>
              </a:rPr>
              <a:t>Example on </a:t>
            </a:r>
            <a:r>
              <a:rPr sz="3200" dirty="0">
                <a:latin typeface="Times New Roman" panose="02020603050405020304" pitchFamily="18" charset="0"/>
                <a:cs typeface="Times New Roman" panose="02020603050405020304" pitchFamily="18" charset="0"/>
              </a:rPr>
              <a:t>the </a:t>
            </a:r>
            <a:r>
              <a:rPr sz="3200" spc="-6" dirty="0">
                <a:latin typeface="Times New Roman" panose="02020603050405020304" pitchFamily="18" charset="0"/>
                <a:cs typeface="Times New Roman" panose="02020603050405020304" pitchFamily="18" charset="0"/>
              </a:rPr>
              <a:t>next </a:t>
            </a:r>
            <a:r>
              <a:rPr sz="3200" dirty="0">
                <a:latin typeface="Times New Roman" panose="02020603050405020304" pitchFamily="18" charset="0"/>
                <a:cs typeface="Times New Roman" panose="02020603050405020304" pitchFamily="18" charset="0"/>
              </a:rPr>
              <a:t>slide </a:t>
            </a:r>
            <a:r>
              <a:rPr sz="3200" spc="-6" dirty="0">
                <a:latin typeface="Times New Roman" panose="02020603050405020304" pitchFamily="18" charset="0"/>
                <a:cs typeface="Times New Roman" panose="02020603050405020304" pitchFamily="18" charset="0"/>
              </a:rPr>
              <a:t>shows sample </a:t>
            </a:r>
            <a:r>
              <a:rPr sz="3200" b="1" spc="-11" dirty="0">
                <a:solidFill>
                  <a:srgbClr val="FF0000"/>
                </a:solidFill>
                <a:latin typeface="Times New Roman" panose="02020603050405020304" pitchFamily="18" charset="0"/>
                <a:cs typeface="Times New Roman" panose="02020603050405020304" pitchFamily="18" charset="0"/>
              </a:rPr>
              <a:t>traceroute</a:t>
            </a:r>
            <a:r>
              <a:rPr sz="3200" b="1" spc="-11" dirty="0">
                <a:latin typeface="Times New Roman" panose="02020603050405020304" pitchFamily="18" charset="0"/>
                <a:cs typeface="Times New Roman" panose="02020603050405020304" pitchFamily="18" charset="0"/>
              </a:rPr>
              <a:t> </a:t>
            </a:r>
            <a:r>
              <a:rPr sz="3200" b="1" spc="-6"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command</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output,</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with</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the</a:t>
            </a:r>
            <a:r>
              <a:rPr sz="3200" spc="6" dirty="0">
                <a:latin typeface="Times New Roman" panose="02020603050405020304" pitchFamily="18" charset="0"/>
                <a:cs typeface="Times New Roman" panose="02020603050405020304" pitchFamily="18" charset="0"/>
              </a:rPr>
              <a:t> </a:t>
            </a:r>
            <a:r>
              <a:rPr sz="3200" b="1" spc="-11" dirty="0">
                <a:solidFill>
                  <a:srgbClr val="FF0000"/>
                </a:solidFill>
                <a:latin typeface="Times New Roman" panose="02020603050405020304" pitchFamily="18" charset="0"/>
                <a:cs typeface="Times New Roman" panose="02020603050405020304" pitchFamily="18" charset="0"/>
              </a:rPr>
              <a:t>traceroute</a:t>
            </a:r>
            <a:r>
              <a:rPr sz="3200" b="1" spc="11"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command</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never </a:t>
            </a:r>
            <a:r>
              <a:rPr sz="3200" spc="-755"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completing, which requires </a:t>
            </a:r>
            <a:r>
              <a:rPr sz="3200" dirty="0">
                <a:latin typeface="Times New Roman" panose="02020603050405020304" pitchFamily="18" charset="0"/>
                <a:cs typeface="Times New Roman" panose="02020603050405020304" pitchFamily="18" charset="0"/>
              </a:rPr>
              <a:t>the </a:t>
            </a:r>
            <a:r>
              <a:rPr sz="3200" spc="-6" dirty="0">
                <a:latin typeface="Times New Roman" panose="02020603050405020304" pitchFamily="18" charset="0"/>
                <a:cs typeface="Times New Roman" panose="02020603050405020304" pitchFamily="18" charset="0"/>
              </a:rPr>
              <a:t>user to </a:t>
            </a:r>
            <a:r>
              <a:rPr sz="3200" dirty="0">
                <a:latin typeface="Times New Roman" panose="02020603050405020304" pitchFamily="18" charset="0"/>
                <a:cs typeface="Times New Roman" panose="02020603050405020304" pitchFamily="18" charset="0"/>
              </a:rPr>
              <a:t>stop the </a:t>
            </a:r>
            <a:r>
              <a:rPr sz="3200" spc="6"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command</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by</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using</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break sequence.</a:t>
            </a:r>
            <a:endParaRPr sz="3200"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56</a:t>
            </a:fld>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4" y="332851"/>
            <a:ext cx="9398198" cy="1245242"/>
          </a:xfrm>
          <a:prstGeom prst="rect">
            <a:avLst/>
          </a:prstGeom>
        </p:spPr>
        <p:txBody>
          <a:bodyPr vert="horz" wrap="square" lIns="0" tIns="13999" rIns="0" bIns="0" rtlCol="0" anchor="ctr">
            <a:spAutoFit/>
          </a:bodyPr>
          <a:lstStyle/>
          <a:p>
            <a:pPr algn="ctr">
              <a:lnSpc>
                <a:spcPts val="4756"/>
              </a:lnSpc>
              <a:spcBef>
                <a:spcPts val="110"/>
              </a:spcBef>
            </a:pPr>
            <a:r>
              <a:rPr b="1" spc="-143" dirty="0">
                <a:solidFill>
                  <a:schemeClr val="bg1"/>
                </a:solidFill>
                <a:latin typeface="Times New Roman" panose="02020603050405020304" pitchFamily="18" charset="0"/>
                <a:cs typeface="Times New Roman" panose="02020603050405020304" pitchFamily="18" charset="0"/>
              </a:rPr>
              <a:t>Testing</a:t>
            </a:r>
            <a:r>
              <a:rPr b="1" spc="55" dirty="0">
                <a:solidFill>
                  <a:schemeClr val="bg1"/>
                </a:solidFill>
                <a:latin typeface="Times New Roman" panose="02020603050405020304" pitchFamily="18" charset="0"/>
                <a:cs typeface="Times New Roman" panose="02020603050405020304" pitchFamily="18" charset="0"/>
              </a:rPr>
              <a:t> </a:t>
            </a:r>
            <a:r>
              <a:rPr b="1" spc="-99" dirty="0">
                <a:solidFill>
                  <a:schemeClr val="bg1"/>
                </a:solidFill>
                <a:latin typeface="Times New Roman" panose="02020603050405020304" pitchFamily="18" charset="0"/>
                <a:cs typeface="Times New Roman" panose="02020603050405020304" pitchFamily="18" charset="0"/>
              </a:rPr>
              <a:t>Rout</a:t>
            </a:r>
            <a:r>
              <a:rPr lang="en-US" b="1" spc="-99" dirty="0">
                <a:solidFill>
                  <a:schemeClr val="bg1"/>
                </a:solidFill>
                <a:latin typeface="Times New Roman" panose="02020603050405020304" pitchFamily="18" charset="0"/>
                <a:cs typeface="Times New Roman" panose="02020603050405020304" pitchFamily="18" charset="0"/>
              </a:rPr>
              <a:t>e</a:t>
            </a:r>
            <a:r>
              <a:rPr b="1" spc="-99" dirty="0">
                <a:solidFill>
                  <a:schemeClr val="bg1"/>
                </a:solidFill>
                <a:latin typeface="Times New Roman" panose="02020603050405020304" pitchFamily="18" charset="0"/>
                <a:cs typeface="Times New Roman" panose="02020603050405020304" pitchFamily="18" charset="0"/>
              </a:rPr>
              <a:t>s</a:t>
            </a:r>
            <a:r>
              <a:rPr b="1" spc="39"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with</a:t>
            </a:r>
            <a:r>
              <a:rPr b="1" spc="28" dirty="0">
                <a:solidFill>
                  <a:schemeClr val="bg1"/>
                </a:solidFill>
                <a:latin typeface="Times New Roman" panose="02020603050405020304" pitchFamily="18" charset="0"/>
                <a:cs typeface="Times New Roman" panose="02020603050405020304" pitchFamily="18" charset="0"/>
              </a:rPr>
              <a:t> </a:t>
            </a:r>
            <a:r>
              <a:rPr b="1" spc="132" dirty="0">
                <a:solidFill>
                  <a:schemeClr val="bg1"/>
                </a:solidFill>
                <a:latin typeface="Times New Roman" panose="02020603050405020304" pitchFamily="18" charset="0"/>
                <a:cs typeface="Times New Roman" panose="02020603050405020304" pitchFamily="18" charset="0"/>
              </a:rPr>
              <a:t>ping</a:t>
            </a:r>
            <a:r>
              <a:rPr b="1" spc="88" dirty="0">
                <a:solidFill>
                  <a:schemeClr val="bg1"/>
                </a:solidFill>
                <a:latin typeface="Times New Roman" panose="02020603050405020304" pitchFamily="18" charset="0"/>
                <a:cs typeface="Times New Roman" panose="02020603050405020304" pitchFamily="18" charset="0"/>
              </a:rPr>
              <a:t> </a:t>
            </a:r>
            <a:r>
              <a:rPr b="1" spc="-116" dirty="0">
                <a:solidFill>
                  <a:schemeClr val="bg1"/>
                </a:solidFill>
                <a:latin typeface="Times New Roman" panose="02020603050405020304" pitchFamily="18" charset="0"/>
                <a:cs typeface="Times New Roman" panose="02020603050405020304" pitchFamily="18" charset="0"/>
              </a:rPr>
              <a:t>and</a:t>
            </a:r>
            <a:r>
              <a:rPr b="1" spc="50"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traceroute</a:t>
            </a:r>
          </a:p>
          <a:p>
            <a:pPr marL="2100" algn="ctr">
              <a:lnSpc>
                <a:spcPts val="4756"/>
              </a:lnSpc>
            </a:pPr>
            <a:r>
              <a:rPr b="1" spc="-110" dirty="0">
                <a:solidFill>
                  <a:schemeClr val="bg1"/>
                </a:solidFill>
                <a:latin typeface="Times New Roman" panose="02020603050405020304" pitchFamily="18" charset="0"/>
                <a:cs typeface="Times New Roman" panose="02020603050405020304" pitchFamily="18" charset="0"/>
              </a:rPr>
              <a:t>commands</a:t>
            </a:r>
            <a:endParaRPr sz="3197"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128088" y="1706525"/>
            <a:ext cx="4673699" cy="4581346"/>
          </a:xfrm>
          <a:prstGeom prst="rect">
            <a:avLst/>
          </a:prstGeom>
        </p:spPr>
        <p:txBody>
          <a:bodyPr vert="horz" wrap="square" lIns="0" tIns="13299" rIns="0" bIns="0" rtlCol="0">
            <a:spAutoFit/>
          </a:bodyPr>
          <a:lstStyle/>
          <a:p>
            <a:pPr marL="356899" marR="5600" indent="-342900">
              <a:spcBef>
                <a:spcPts val="105"/>
              </a:spcBef>
              <a:buClr>
                <a:srgbClr val="D24717"/>
              </a:buClr>
              <a:buSzPct val="84090"/>
              <a:buFont typeface="Wingdings" panose="05000000000000000000" pitchFamily="2" charset="2"/>
              <a:buChar char="Ø"/>
              <a:tabLst>
                <a:tab pos="315682" algn="l"/>
                <a:tab pos="316382" algn="l"/>
              </a:tabLst>
            </a:pPr>
            <a:r>
              <a:rPr sz="2425" spc="-6" dirty="0">
                <a:latin typeface="Times New Roman"/>
                <a:cs typeface="Times New Roman"/>
              </a:rPr>
              <a:t>The</a:t>
            </a:r>
            <a:r>
              <a:rPr sz="2425" spc="-22" dirty="0">
                <a:latin typeface="Times New Roman"/>
                <a:cs typeface="Times New Roman"/>
              </a:rPr>
              <a:t> </a:t>
            </a:r>
            <a:r>
              <a:rPr sz="2425" spc="-11" dirty="0">
                <a:latin typeface="Times New Roman"/>
                <a:cs typeface="Times New Roman"/>
              </a:rPr>
              <a:t>command</a:t>
            </a:r>
            <a:r>
              <a:rPr sz="2425" spc="39" dirty="0">
                <a:latin typeface="Times New Roman"/>
                <a:cs typeface="Times New Roman"/>
              </a:rPr>
              <a:t> </a:t>
            </a:r>
            <a:r>
              <a:rPr sz="2425" spc="-6" dirty="0">
                <a:latin typeface="Times New Roman"/>
                <a:cs typeface="Times New Roman"/>
              </a:rPr>
              <a:t>output</a:t>
            </a:r>
            <a:r>
              <a:rPr sz="2425" spc="-11" dirty="0">
                <a:latin typeface="Times New Roman"/>
                <a:cs typeface="Times New Roman"/>
              </a:rPr>
              <a:t> </a:t>
            </a:r>
            <a:r>
              <a:rPr sz="2425" spc="-6" dirty="0">
                <a:latin typeface="Times New Roman"/>
                <a:cs typeface="Times New Roman"/>
              </a:rPr>
              <a:t>confirms</a:t>
            </a:r>
            <a:r>
              <a:rPr sz="2425" spc="17" dirty="0">
                <a:latin typeface="Times New Roman"/>
                <a:cs typeface="Times New Roman"/>
              </a:rPr>
              <a:t> </a:t>
            </a:r>
            <a:r>
              <a:rPr sz="2425" spc="-6" dirty="0">
                <a:latin typeface="Times New Roman"/>
                <a:cs typeface="Times New Roman"/>
              </a:rPr>
              <a:t>that </a:t>
            </a:r>
            <a:r>
              <a:rPr sz="2425" spc="-590" dirty="0">
                <a:latin typeface="Times New Roman"/>
                <a:cs typeface="Times New Roman"/>
              </a:rPr>
              <a:t> </a:t>
            </a:r>
            <a:r>
              <a:rPr sz="2425" spc="-6" dirty="0">
                <a:latin typeface="Times New Roman"/>
                <a:cs typeface="Times New Roman"/>
              </a:rPr>
              <a:t>the</a:t>
            </a:r>
            <a:r>
              <a:rPr sz="2425" spc="-17" dirty="0">
                <a:latin typeface="Times New Roman"/>
                <a:cs typeface="Times New Roman"/>
              </a:rPr>
              <a:t> </a:t>
            </a:r>
            <a:r>
              <a:rPr sz="2425" b="1" spc="-11" dirty="0">
                <a:solidFill>
                  <a:srgbClr val="FF0000"/>
                </a:solidFill>
                <a:latin typeface="Times New Roman"/>
                <a:cs typeface="Times New Roman"/>
              </a:rPr>
              <a:t>traceroute</a:t>
            </a:r>
            <a:r>
              <a:rPr sz="2425" b="1" spc="17" dirty="0">
                <a:latin typeface="Times New Roman"/>
                <a:cs typeface="Times New Roman"/>
              </a:rPr>
              <a:t> </a:t>
            </a:r>
            <a:r>
              <a:rPr sz="2425" spc="-22" dirty="0">
                <a:latin typeface="Times New Roman"/>
                <a:cs typeface="Times New Roman"/>
              </a:rPr>
              <a:t>command‘s</a:t>
            </a:r>
            <a:r>
              <a:rPr sz="2425" spc="22" dirty="0">
                <a:latin typeface="Times New Roman"/>
                <a:cs typeface="Times New Roman"/>
              </a:rPr>
              <a:t> </a:t>
            </a:r>
            <a:r>
              <a:rPr sz="2425" spc="-6" dirty="0">
                <a:latin typeface="Times New Roman"/>
                <a:cs typeface="Times New Roman"/>
              </a:rPr>
              <a:t>packets </a:t>
            </a:r>
            <a:r>
              <a:rPr sz="2425" spc="-590" dirty="0">
                <a:latin typeface="Times New Roman"/>
                <a:cs typeface="Times New Roman"/>
              </a:rPr>
              <a:t> </a:t>
            </a:r>
            <a:r>
              <a:rPr sz="2425" spc="-6" dirty="0">
                <a:latin typeface="Times New Roman"/>
                <a:cs typeface="Times New Roman"/>
              </a:rPr>
              <a:t>successfully </a:t>
            </a:r>
            <a:r>
              <a:rPr sz="2425" dirty="0">
                <a:latin typeface="Times New Roman"/>
                <a:cs typeface="Times New Roman"/>
              </a:rPr>
              <a:t>got </a:t>
            </a:r>
            <a:r>
              <a:rPr sz="2425" spc="-6" dirty="0">
                <a:latin typeface="Times New Roman"/>
                <a:cs typeface="Times New Roman"/>
              </a:rPr>
              <a:t>to a router whose </a:t>
            </a:r>
            <a:r>
              <a:rPr sz="2425" dirty="0">
                <a:latin typeface="Times New Roman"/>
                <a:cs typeface="Times New Roman"/>
              </a:rPr>
              <a:t> </a:t>
            </a:r>
            <a:r>
              <a:rPr sz="2425" spc="-6" dirty="0">
                <a:latin typeface="Times New Roman"/>
                <a:cs typeface="Times New Roman"/>
              </a:rPr>
              <a:t>IP address is </a:t>
            </a:r>
            <a:r>
              <a:rPr sz="2425" dirty="0">
                <a:latin typeface="Times New Roman"/>
                <a:cs typeface="Times New Roman"/>
              </a:rPr>
              <a:t>172.16.33.1, </a:t>
            </a:r>
            <a:r>
              <a:rPr sz="2425" spc="-6" dirty="0">
                <a:latin typeface="Times New Roman"/>
                <a:cs typeface="Times New Roman"/>
              </a:rPr>
              <a:t>and to a </a:t>
            </a:r>
            <a:r>
              <a:rPr sz="2425" dirty="0">
                <a:latin typeface="Times New Roman"/>
                <a:cs typeface="Times New Roman"/>
              </a:rPr>
              <a:t> router</a:t>
            </a:r>
            <a:r>
              <a:rPr sz="2425" spc="33" dirty="0">
                <a:latin typeface="Times New Roman"/>
                <a:cs typeface="Times New Roman"/>
              </a:rPr>
              <a:t> </a:t>
            </a:r>
            <a:r>
              <a:rPr sz="2425" spc="-6" dirty="0">
                <a:latin typeface="Times New Roman"/>
                <a:cs typeface="Times New Roman"/>
              </a:rPr>
              <a:t>whose</a:t>
            </a:r>
            <a:r>
              <a:rPr sz="2425" spc="50" dirty="0">
                <a:latin typeface="Times New Roman"/>
                <a:cs typeface="Times New Roman"/>
              </a:rPr>
              <a:t> </a:t>
            </a:r>
            <a:r>
              <a:rPr sz="2425" spc="-6" dirty="0">
                <a:latin typeface="Times New Roman"/>
                <a:cs typeface="Times New Roman"/>
              </a:rPr>
              <a:t>address </a:t>
            </a:r>
            <a:r>
              <a:rPr sz="2425" dirty="0">
                <a:latin typeface="Times New Roman"/>
                <a:cs typeface="Times New Roman"/>
              </a:rPr>
              <a:t> is172.16.44.2,</a:t>
            </a:r>
            <a:r>
              <a:rPr sz="2425" spc="-66" dirty="0">
                <a:latin typeface="Times New Roman"/>
                <a:cs typeface="Times New Roman"/>
              </a:rPr>
              <a:t> </a:t>
            </a:r>
            <a:r>
              <a:rPr sz="2425" dirty="0">
                <a:latin typeface="Times New Roman"/>
                <a:cs typeface="Times New Roman"/>
              </a:rPr>
              <a:t>but</a:t>
            </a:r>
            <a:r>
              <a:rPr sz="2425" spc="-17" dirty="0">
                <a:latin typeface="Times New Roman"/>
                <a:cs typeface="Times New Roman"/>
              </a:rPr>
              <a:t> </a:t>
            </a:r>
            <a:r>
              <a:rPr sz="2425" dirty="0">
                <a:latin typeface="Times New Roman"/>
                <a:cs typeface="Times New Roman"/>
              </a:rPr>
              <a:t>no</a:t>
            </a:r>
            <a:r>
              <a:rPr sz="2425" spc="-11" dirty="0">
                <a:latin typeface="Times New Roman"/>
                <a:cs typeface="Times New Roman"/>
              </a:rPr>
              <a:t> </a:t>
            </a:r>
            <a:r>
              <a:rPr sz="2425" spc="-22" dirty="0">
                <a:latin typeface="Times New Roman"/>
                <a:cs typeface="Times New Roman"/>
              </a:rPr>
              <a:t>further.</a:t>
            </a:r>
            <a:endParaRPr sz="2425" dirty="0">
              <a:latin typeface="Times New Roman"/>
              <a:cs typeface="Times New Roman"/>
            </a:endParaRPr>
          </a:p>
          <a:p>
            <a:pPr marL="356899" marR="15399" indent="-342900">
              <a:spcBef>
                <a:spcPts val="667"/>
              </a:spcBef>
              <a:buClr>
                <a:srgbClr val="D24717"/>
              </a:buClr>
              <a:buSzPct val="84090"/>
              <a:buFont typeface="Wingdings" panose="05000000000000000000" pitchFamily="2" charset="2"/>
              <a:buChar char="Ø"/>
              <a:tabLst>
                <a:tab pos="315682" algn="l"/>
                <a:tab pos="316382" algn="l"/>
              </a:tabLst>
            </a:pPr>
            <a:r>
              <a:rPr sz="2425" spc="-44" dirty="0">
                <a:latin typeface="Times New Roman"/>
                <a:cs typeface="Times New Roman"/>
              </a:rPr>
              <a:t>Now,</a:t>
            </a:r>
            <a:r>
              <a:rPr sz="2425" spc="-11" dirty="0">
                <a:latin typeface="Times New Roman"/>
                <a:cs typeface="Times New Roman"/>
              </a:rPr>
              <a:t> </a:t>
            </a:r>
            <a:r>
              <a:rPr sz="2425" spc="-6" dirty="0">
                <a:latin typeface="Times New Roman"/>
                <a:cs typeface="Times New Roman"/>
              </a:rPr>
              <a:t>the engineer</a:t>
            </a:r>
            <a:r>
              <a:rPr sz="2425" spc="-11" dirty="0">
                <a:latin typeface="Times New Roman"/>
                <a:cs typeface="Times New Roman"/>
              </a:rPr>
              <a:t> can</a:t>
            </a:r>
            <a:r>
              <a:rPr sz="2425" spc="17" dirty="0">
                <a:latin typeface="Times New Roman"/>
                <a:cs typeface="Times New Roman"/>
              </a:rPr>
              <a:t> </a:t>
            </a:r>
            <a:r>
              <a:rPr sz="2425" b="1" spc="-6" dirty="0">
                <a:solidFill>
                  <a:srgbClr val="FF0000"/>
                </a:solidFill>
                <a:latin typeface="Times New Roman"/>
                <a:cs typeface="Times New Roman"/>
              </a:rPr>
              <a:t>telnet</a:t>
            </a:r>
            <a:r>
              <a:rPr sz="2425" b="1" spc="17" dirty="0">
                <a:latin typeface="Times New Roman"/>
                <a:cs typeface="Times New Roman"/>
              </a:rPr>
              <a:t> </a:t>
            </a:r>
            <a:r>
              <a:rPr sz="2425" spc="-6" dirty="0">
                <a:latin typeface="Times New Roman"/>
                <a:cs typeface="Times New Roman"/>
              </a:rPr>
              <a:t>to </a:t>
            </a:r>
            <a:r>
              <a:rPr sz="2425" dirty="0">
                <a:latin typeface="Times New Roman"/>
                <a:cs typeface="Times New Roman"/>
              </a:rPr>
              <a:t>the </a:t>
            </a:r>
            <a:r>
              <a:rPr sz="2425" spc="-590" dirty="0">
                <a:latin typeface="Times New Roman"/>
                <a:cs typeface="Times New Roman"/>
              </a:rPr>
              <a:t> </a:t>
            </a:r>
            <a:r>
              <a:rPr sz="2425" spc="-6" dirty="0">
                <a:latin typeface="Times New Roman"/>
                <a:cs typeface="Times New Roman"/>
              </a:rPr>
              <a:t>last</a:t>
            </a:r>
            <a:r>
              <a:rPr sz="2425" spc="-22" dirty="0">
                <a:latin typeface="Times New Roman"/>
                <a:cs typeface="Times New Roman"/>
              </a:rPr>
              <a:t> </a:t>
            </a:r>
            <a:r>
              <a:rPr sz="2425" spc="-6" dirty="0">
                <a:latin typeface="Times New Roman"/>
                <a:cs typeface="Times New Roman"/>
              </a:rPr>
              <a:t>router in</a:t>
            </a:r>
            <a:r>
              <a:rPr sz="2425" spc="6" dirty="0">
                <a:latin typeface="Times New Roman"/>
                <a:cs typeface="Times New Roman"/>
              </a:rPr>
              <a:t> </a:t>
            </a:r>
            <a:r>
              <a:rPr sz="2425" dirty="0">
                <a:latin typeface="Times New Roman"/>
                <a:cs typeface="Times New Roman"/>
              </a:rPr>
              <a:t>the</a:t>
            </a:r>
            <a:r>
              <a:rPr sz="2425" spc="11" dirty="0">
                <a:latin typeface="Times New Roman"/>
                <a:cs typeface="Times New Roman"/>
              </a:rPr>
              <a:t> </a:t>
            </a:r>
            <a:r>
              <a:rPr sz="2425" b="1" spc="-11" dirty="0">
                <a:solidFill>
                  <a:srgbClr val="FF0000"/>
                </a:solidFill>
                <a:latin typeface="Times New Roman"/>
                <a:cs typeface="Times New Roman"/>
              </a:rPr>
              <a:t>traceroute</a:t>
            </a:r>
            <a:r>
              <a:rPr lang="en-US" sz="2425" b="1" dirty="0">
                <a:latin typeface="Times New Roman"/>
                <a:cs typeface="Times New Roman"/>
              </a:rPr>
              <a:t> </a:t>
            </a:r>
            <a:r>
              <a:rPr sz="2425" spc="-22" dirty="0">
                <a:latin typeface="Times New Roman"/>
                <a:cs typeface="Times New Roman"/>
              </a:rPr>
              <a:t>command‘s </a:t>
            </a:r>
            <a:r>
              <a:rPr sz="2425" spc="-6" dirty="0">
                <a:latin typeface="Times New Roman"/>
                <a:cs typeface="Times New Roman"/>
              </a:rPr>
              <a:t>output </a:t>
            </a:r>
            <a:r>
              <a:rPr sz="2425" dirty="0">
                <a:latin typeface="Times New Roman"/>
                <a:cs typeface="Times New Roman"/>
              </a:rPr>
              <a:t>(172.16.44.2) </a:t>
            </a:r>
            <a:r>
              <a:rPr sz="2425" spc="-590" dirty="0">
                <a:latin typeface="Times New Roman"/>
                <a:cs typeface="Times New Roman"/>
              </a:rPr>
              <a:t> </a:t>
            </a:r>
            <a:r>
              <a:rPr sz="2425" spc="-6" dirty="0">
                <a:latin typeface="Times New Roman"/>
                <a:cs typeface="Times New Roman"/>
              </a:rPr>
              <a:t>and continue troubleshooting, </a:t>
            </a:r>
            <a:r>
              <a:rPr sz="2425" dirty="0">
                <a:latin typeface="Times New Roman"/>
                <a:cs typeface="Times New Roman"/>
              </a:rPr>
              <a:t> </a:t>
            </a:r>
            <a:r>
              <a:rPr sz="2425" spc="-6" dirty="0">
                <a:latin typeface="Times New Roman"/>
                <a:cs typeface="Times New Roman"/>
              </a:rPr>
              <a:t>getting closer to the cause of the </a:t>
            </a:r>
            <a:r>
              <a:rPr sz="2425" spc="-590" dirty="0">
                <a:latin typeface="Times New Roman"/>
                <a:cs typeface="Times New Roman"/>
              </a:rPr>
              <a:t> </a:t>
            </a:r>
            <a:r>
              <a:rPr sz="2425" spc="-6" dirty="0">
                <a:latin typeface="Times New Roman"/>
                <a:cs typeface="Times New Roman"/>
              </a:rPr>
              <a:t>problem.</a:t>
            </a:r>
            <a:endParaRPr sz="2425" dirty="0">
              <a:latin typeface="Times New Roman"/>
              <a:cs typeface="Times New Roman"/>
            </a:endParaRPr>
          </a:p>
        </p:txBody>
      </p:sp>
      <p:pic>
        <p:nvPicPr>
          <p:cNvPr id="5" name="object 5"/>
          <p:cNvPicPr/>
          <p:nvPr/>
        </p:nvPicPr>
        <p:blipFill>
          <a:blip r:embed="rId2" cstate="print"/>
          <a:stretch>
            <a:fillRect/>
          </a:stretch>
        </p:blipFill>
        <p:spPr>
          <a:xfrm>
            <a:off x="161803" y="1706525"/>
            <a:ext cx="4966285" cy="501624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5780" y="535928"/>
            <a:ext cx="6611916"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Dynamic</a:t>
            </a:r>
            <a:r>
              <a:rPr sz="4409" b="1" spc="-33"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Routing</a:t>
            </a:r>
            <a:r>
              <a:rPr sz="4409" b="1"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675299" y="1551356"/>
            <a:ext cx="9009613" cy="4937165"/>
          </a:xfrm>
          <a:prstGeom prst="rect">
            <a:avLst/>
          </a:prstGeom>
        </p:spPr>
        <p:txBody>
          <a:bodyPr vert="horz" wrap="square" lIns="0" tIns="81197" rIns="0" bIns="0" rtlCol="0">
            <a:spAutoFit/>
          </a:bodyPr>
          <a:lstStyle/>
          <a:p>
            <a:pPr marL="470499" indent="-457200">
              <a:spcBef>
                <a:spcPts val="639"/>
              </a:spcBef>
              <a:buClr>
                <a:srgbClr val="D24717"/>
              </a:buClr>
              <a:buSzPct val="83928"/>
              <a:buFont typeface="Wingdings" panose="05000000000000000000" pitchFamily="2" charset="2"/>
              <a:buChar char="Ø"/>
              <a:tabLst>
                <a:tab pos="317082" algn="l"/>
              </a:tabLst>
            </a:pPr>
            <a:r>
              <a:rPr sz="3200" b="1" spc="-6" dirty="0">
                <a:solidFill>
                  <a:srgbClr val="FF0000"/>
                </a:solidFill>
                <a:latin typeface="Times New Roman"/>
                <a:cs typeface="Times New Roman"/>
              </a:rPr>
              <a:t>Advantages</a:t>
            </a:r>
            <a:r>
              <a:rPr sz="3200" spc="-44" dirty="0">
                <a:solidFill>
                  <a:srgbClr val="0000FF"/>
                </a:solidFill>
                <a:latin typeface="Times New Roman"/>
                <a:cs typeface="Times New Roman"/>
              </a:rPr>
              <a:t> </a:t>
            </a:r>
            <a:r>
              <a:rPr sz="3200" spc="-6" dirty="0">
                <a:latin typeface="Times New Roman"/>
                <a:cs typeface="Times New Roman"/>
              </a:rPr>
              <a:t>of </a:t>
            </a:r>
            <a:r>
              <a:rPr sz="3200" b="1" dirty="0">
                <a:solidFill>
                  <a:srgbClr val="FF0000"/>
                </a:solidFill>
                <a:latin typeface="Times New Roman"/>
                <a:cs typeface="Times New Roman"/>
              </a:rPr>
              <a:t>static</a:t>
            </a:r>
            <a:r>
              <a:rPr sz="3200" b="1" spc="-17" dirty="0">
                <a:latin typeface="Times New Roman"/>
                <a:cs typeface="Times New Roman"/>
              </a:rPr>
              <a:t> </a:t>
            </a:r>
            <a:r>
              <a:rPr sz="3200" b="1" spc="-11" dirty="0">
                <a:solidFill>
                  <a:srgbClr val="FF0000"/>
                </a:solidFill>
                <a:latin typeface="Times New Roman"/>
                <a:cs typeface="Times New Roman"/>
              </a:rPr>
              <a:t>routing</a:t>
            </a:r>
            <a:endParaRPr sz="3200" dirty="0">
              <a:solidFill>
                <a:srgbClr val="FF0000"/>
              </a:solidFill>
              <a:latin typeface="Times New Roman"/>
              <a:cs typeface="Times New Roman"/>
            </a:endParaRPr>
          </a:p>
          <a:p>
            <a:pPr marL="823279" lvl="1" indent="-457200">
              <a:spcBef>
                <a:spcPts val="457"/>
              </a:spcBef>
              <a:buClr>
                <a:srgbClr val="9B2C1F"/>
              </a:buClr>
              <a:buSzPct val="85416"/>
              <a:buFont typeface="Wingdings" panose="05000000000000000000" pitchFamily="2" charset="2"/>
              <a:buChar char="ü"/>
              <a:tabLst>
                <a:tab pos="619465" algn="l"/>
              </a:tabLst>
            </a:pPr>
            <a:r>
              <a:rPr sz="3200" dirty="0">
                <a:latin typeface="Times New Roman"/>
                <a:cs typeface="Times New Roman"/>
              </a:rPr>
              <a:t>It</a:t>
            </a:r>
            <a:r>
              <a:rPr sz="3200" spc="-33" dirty="0">
                <a:latin typeface="Times New Roman"/>
                <a:cs typeface="Times New Roman"/>
              </a:rPr>
              <a:t> </a:t>
            </a:r>
            <a:r>
              <a:rPr sz="3200" dirty="0">
                <a:latin typeface="Times New Roman"/>
                <a:cs typeface="Times New Roman"/>
              </a:rPr>
              <a:t>can</a:t>
            </a:r>
            <a:r>
              <a:rPr sz="3200" spc="-11" dirty="0">
                <a:latin typeface="Times New Roman"/>
                <a:cs typeface="Times New Roman"/>
              </a:rPr>
              <a:t> </a:t>
            </a:r>
            <a:r>
              <a:rPr sz="3200" dirty="0">
                <a:latin typeface="Times New Roman"/>
                <a:cs typeface="Times New Roman"/>
              </a:rPr>
              <a:t>backup</a:t>
            </a:r>
            <a:r>
              <a:rPr sz="3200" spc="-28" dirty="0">
                <a:latin typeface="Times New Roman"/>
                <a:cs typeface="Times New Roman"/>
              </a:rPr>
              <a:t> </a:t>
            </a:r>
            <a:r>
              <a:rPr sz="3200" spc="-6" dirty="0">
                <a:latin typeface="Times New Roman"/>
                <a:cs typeface="Times New Roman"/>
              </a:rPr>
              <a:t>multiple</a:t>
            </a:r>
            <a:r>
              <a:rPr sz="3200" spc="-39" dirty="0">
                <a:latin typeface="Times New Roman"/>
                <a:cs typeface="Times New Roman"/>
              </a:rPr>
              <a:t> </a:t>
            </a:r>
            <a:r>
              <a:rPr sz="3200" dirty="0">
                <a:latin typeface="Times New Roman"/>
                <a:cs typeface="Times New Roman"/>
              </a:rPr>
              <a:t>interfaces/networks</a:t>
            </a:r>
            <a:r>
              <a:rPr sz="3200" spc="-61" dirty="0">
                <a:latin typeface="Times New Roman"/>
                <a:cs typeface="Times New Roman"/>
              </a:rPr>
              <a:t> </a:t>
            </a:r>
            <a:r>
              <a:rPr sz="3200" dirty="0">
                <a:latin typeface="Times New Roman"/>
                <a:cs typeface="Times New Roman"/>
              </a:rPr>
              <a:t>on</a:t>
            </a:r>
            <a:r>
              <a:rPr sz="3200" spc="-11" dirty="0">
                <a:latin typeface="Times New Roman"/>
                <a:cs typeface="Times New Roman"/>
              </a:rPr>
              <a:t> </a:t>
            </a:r>
            <a:r>
              <a:rPr sz="3200" dirty="0">
                <a:latin typeface="Times New Roman"/>
                <a:cs typeface="Times New Roman"/>
              </a:rPr>
              <a:t>a</a:t>
            </a:r>
            <a:r>
              <a:rPr sz="3200" spc="-11" dirty="0">
                <a:latin typeface="Times New Roman"/>
                <a:cs typeface="Times New Roman"/>
              </a:rPr>
              <a:t> </a:t>
            </a:r>
            <a:r>
              <a:rPr sz="3200" dirty="0">
                <a:latin typeface="Times New Roman"/>
                <a:cs typeface="Times New Roman"/>
              </a:rPr>
              <a:t>router</a:t>
            </a:r>
          </a:p>
          <a:p>
            <a:pPr marL="823280" lvl="1" indent="-457200">
              <a:spcBef>
                <a:spcPts val="430"/>
              </a:spcBef>
              <a:buClr>
                <a:srgbClr val="9B2C1F"/>
              </a:buClr>
              <a:buSzPct val="80357"/>
              <a:buFont typeface="Wingdings" panose="05000000000000000000" pitchFamily="2" charset="2"/>
              <a:buChar char="ü"/>
              <a:tabLst>
                <a:tab pos="629264" algn="l"/>
              </a:tabLst>
            </a:pPr>
            <a:r>
              <a:rPr sz="3200" spc="-6" dirty="0">
                <a:latin typeface="Times New Roman"/>
                <a:cs typeface="Times New Roman"/>
              </a:rPr>
              <a:t>Easy</a:t>
            </a:r>
            <a:r>
              <a:rPr sz="3200" spc="-33" dirty="0">
                <a:latin typeface="Times New Roman"/>
                <a:cs typeface="Times New Roman"/>
              </a:rPr>
              <a:t> </a:t>
            </a:r>
            <a:r>
              <a:rPr sz="3200" spc="-6" dirty="0">
                <a:latin typeface="Times New Roman"/>
                <a:cs typeface="Times New Roman"/>
              </a:rPr>
              <a:t>to</a:t>
            </a:r>
            <a:r>
              <a:rPr sz="3200" spc="-17" dirty="0">
                <a:latin typeface="Times New Roman"/>
                <a:cs typeface="Times New Roman"/>
              </a:rPr>
              <a:t> </a:t>
            </a:r>
            <a:r>
              <a:rPr sz="3200" spc="-6" dirty="0">
                <a:latin typeface="Times New Roman"/>
                <a:cs typeface="Times New Roman"/>
              </a:rPr>
              <a:t>configure</a:t>
            </a:r>
            <a:endParaRPr sz="3200" dirty="0">
              <a:latin typeface="Times New Roman"/>
              <a:cs typeface="Times New Roman"/>
            </a:endParaRPr>
          </a:p>
          <a:p>
            <a:pPr marL="823280" lvl="1" indent="-457200">
              <a:spcBef>
                <a:spcPts val="441"/>
              </a:spcBef>
              <a:buClr>
                <a:srgbClr val="9B2C1F"/>
              </a:buClr>
              <a:buSzPct val="80357"/>
              <a:buFont typeface="Wingdings" panose="05000000000000000000" pitchFamily="2" charset="2"/>
              <a:buChar char="ü"/>
              <a:tabLst>
                <a:tab pos="629264" algn="l"/>
              </a:tabLst>
            </a:pPr>
            <a:r>
              <a:rPr sz="3200" spc="-6" dirty="0">
                <a:latin typeface="Times New Roman"/>
                <a:cs typeface="Times New Roman"/>
              </a:rPr>
              <a:t>No</a:t>
            </a:r>
            <a:r>
              <a:rPr sz="3200" spc="-11" dirty="0">
                <a:latin typeface="Times New Roman"/>
                <a:cs typeface="Times New Roman"/>
              </a:rPr>
              <a:t> </a:t>
            </a:r>
            <a:r>
              <a:rPr sz="3200" spc="-6" dirty="0">
                <a:latin typeface="Times New Roman"/>
                <a:cs typeface="Times New Roman"/>
              </a:rPr>
              <a:t>extra resources</a:t>
            </a:r>
            <a:r>
              <a:rPr sz="3200" spc="-22" dirty="0">
                <a:latin typeface="Times New Roman"/>
                <a:cs typeface="Times New Roman"/>
              </a:rPr>
              <a:t> </a:t>
            </a:r>
            <a:r>
              <a:rPr sz="3200" spc="-6" dirty="0">
                <a:latin typeface="Times New Roman"/>
                <a:cs typeface="Times New Roman"/>
              </a:rPr>
              <a:t>are needed</a:t>
            </a:r>
            <a:endParaRPr sz="3200" dirty="0">
              <a:latin typeface="Times New Roman"/>
              <a:cs typeface="Times New Roman"/>
            </a:endParaRPr>
          </a:p>
          <a:p>
            <a:pPr marL="823280" lvl="1" indent="-457200">
              <a:spcBef>
                <a:spcPts val="446"/>
              </a:spcBef>
              <a:buClr>
                <a:srgbClr val="9B2C1F"/>
              </a:buClr>
              <a:buSzPct val="80357"/>
              <a:buFont typeface="Wingdings" panose="05000000000000000000" pitchFamily="2" charset="2"/>
              <a:buChar char="ü"/>
              <a:tabLst>
                <a:tab pos="629264" algn="l"/>
              </a:tabLst>
            </a:pPr>
            <a:r>
              <a:rPr sz="3200" spc="-6" dirty="0">
                <a:latin typeface="Times New Roman"/>
                <a:cs typeface="Times New Roman"/>
              </a:rPr>
              <a:t>More</a:t>
            </a:r>
            <a:r>
              <a:rPr sz="3200" spc="-44" dirty="0">
                <a:latin typeface="Times New Roman"/>
                <a:cs typeface="Times New Roman"/>
              </a:rPr>
              <a:t> </a:t>
            </a:r>
            <a:r>
              <a:rPr sz="3200" spc="-6" dirty="0">
                <a:latin typeface="Times New Roman"/>
                <a:cs typeface="Times New Roman"/>
              </a:rPr>
              <a:t>secure</a:t>
            </a:r>
            <a:endParaRPr sz="3200" dirty="0">
              <a:latin typeface="Times New Roman"/>
              <a:cs typeface="Times New Roman"/>
            </a:endParaRPr>
          </a:p>
          <a:p>
            <a:pPr marL="470499" indent="-457200">
              <a:spcBef>
                <a:spcPts val="661"/>
              </a:spcBef>
              <a:buClr>
                <a:srgbClr val="D24717"/>
              </a:buClr>
              <a:buSzPct val="83928"/>
              <a:buFont typeface="Wingdings" panose="05000000000000000000" pitchFamily="2" charset="2"/>
              <a:buChar char="Ø"/>
              <a:tabLst>
                <a:tab pos="317082" algn="l"/>
              </a:tabLst>
            </a:pPr>
            <a:r>
              <a:rPr sz="3200" b="1" spc="-6" dirty="0">
                <a:solidFill>
                  <a:srgbClr val="FF0000"/>
                </a:solidFill>
                <a:latin typeface="Times New Roman"/>
                <a:cs typeface="Times New Roman"/>
              </a:rPr>
              <a:t>Disadvantages</a:t>
            </a:r>
            <a:r>
              <a:rPr sz="3200" spc="-39" dirty="0">
                <a:solidFill>
                  <a:srgbClr val="0000FF"/>
                </a:solidFill>
                <a:latin typeface="Times New Roman"/>
                <a:cs typeface="Times New Roman"/>
              </a:rPr>
              <a:t> </a:t>
            </a:r>
            <a:r>
              <a:rPr sz="3200" spc="-6" dirty="0">
                <a:latin typeface="Times New Roman"/>
                <a:cs typeface="Times New Roman"/>
              </a:rPr>
              <a:t>of</a:t>
            </a:r>
            <a:r>
              <a:rPr sz="3200" dirty="0">
                <a:latin typeface="Times New Roman"/>
                <a:cs typeface="Times New Roman"/>
              </a:rPr>
              <a:t> </a:t>
            </a:r>
            <a:r>
              <a:rPr sz="3200" b="1" dirty="0">
                <a:solidFill>
                  <a:srgbClr val="FF0000"/>
                </a:solidFill>
                <a:latin typeface="Times New Roman"/>
                <a:cs typeface="Times New Roman"/>
              </a:rPr>
              <a:t>static</a:t>
            </a:r>
            <a:r>
              <a:rPr sz="3200" b="1" spc="-28" dirty="0">
                <a:latin typeface="Times New Roman"/>
                <a:cs typeface="Times New Roman"/>
              </a:rPr>
              <a:t> </a:t>
            </a:r>
            <a:r>
              <a:rPr sz="3200" b="1" spc="-11" dirty="0">
                <a:solidFill>
                  <a:srgbClr val="FF0000"/>
                </a:solidFill>
                <a:latin typeface="Times New Roman"/>
                <a:cs typeface="Times New Roman"/>
              </a:rPr>
              <a:t>routing</a:t>
            </a:r>
            <a:endParaRPr sz="3200" dirty="0">
              <a:solidFill>
                <a:srgbClr val="FF0000"/>
              </a:solidFill>
              <a:latin typeface="Times New Roman"/>
              <a:cs typeface="Times New Roman"/>
            </a:endParaRPr>
          </a:p>
          <a:p>
            <a:pPr marL="823279" lvl="1" indent="-457200">
              <a:spcBef>
                <a:spcPts val="457"/>
              </a:spcBef>
              <a:buClr>
                <a:srgbClr val="9B2C1F"/>
              </a:buClr>
              <a:buSzPct val="85416"/>
              <a:buFont typeface="Wingdings" panose="05000000000000000000" pitchFamily="2" charset="2"/>
              <a:buChar char="ü"/>
              <a:tabLst>
                <a:tab pos="619465" algn="l"/>
              </a:tabLst>
            </a:pPr>
            <a:r>
              <a:rPr sz="3200" spc="-6" dirty="0">
                <a:latin typeface="Times New Roman"/>
                <a:cs typeface="Times New Roman"/>
              </a:rPr>
              <a:t>Network</a:t>
            </a:r>
            <a:r>
              <a:rPr sz="3200" spc="-22" dirty="0">
                <a:latin typeface="Times New Roman"/>
                <a:cs typeface="Times New Roman"/>
              </a:rPr>
              <a:t> </a:t>
            </a:r>
            <a:r>
              <a:rPr sz="3200" dirty="0">
                <a:latin typeface="Times New Roman"/>
                <a:cs typeface="Times New Roman"/>
              </a:rPr>
              <a:t>changes</a:t>
            </a:r>
            <a:r>
              <a:rPr sz="3200" spc="-17" dirty="0">
                <a:latin typeface="Times New Roman"/>
                <a:cs typeface="Times New Roman"/>
              </a:rPr>
              <a:t> </a:t>
            </a:r>
            <a:r>
              <a:rPr sz="3200" dirty="0">
                <a:latin typeface="Times New Roman"/>
                <a:cs typeface="Times New Roman"/>
              </a:rPr>
              <a:t>require</a:t>
            </a:r>
            <a:r>
              <a:rPr sz="3200" spc="-50" dirty="0">
                <a:latin typeface="Times New Roman"/>
                <a:cs typeface="Times New Roman"/>
              </a:rPr>
              <a:t> </a:t>
            </a:r>
            <a:r>
              <a:rPr sz="3200" spc="-6" dirty="0">
                <a:latin typeface="Times New Roman"/>
                <a:cs typeface="Times New Roman"/>
              </a:rPr>
              <a:t>manual </a:t>
            </a:r>
            <a:r>
              <a:rPr sz="3200" dirty="0">
                <a:latin typeface="Times New Roman"/>
                <a:cs typeface="Times New Roman"/>
              </a:rPr>
              <a:t>reconfiguration</a:t>
            </a:r>
          </a:p>
          <a:p>
            <a:pPr marL="823280" lvl="1" indent="-457200">
              <a:spcBef>
                <a:spcPts val="419"/>
              </a:spcBef>
              <a:buClr>
                <a:srgbClr val="9B2C1F"/>
              </a:buClr>
              <a:buSzPct val="80357"/>
              <a:buFont typeface="Wingdings" panose="05000000000000000000" pitchFamily="2" charset="2"/>
              <a:buChar char="ü"/>
              <a:tabLst>
                <a:tab pos="629264" algn="l"/>
              </a:tabLst>
            </a:pPr>
            <a:r>
              <a:rPr sz="3200" spc="-6" dirty="0">
                <a:latin typeface="Times New Roman"/>
                <a:cs typeface="Times New Roman"/>
              </a:rPr>
              <a:t>Does</a:t>
            </a:r>
            <a:r>
              <a:rPr sz="3200" spc="-28" dirty="0">
                <a:latin typeface="Times New Roman"/>
                <a:cs typeface="Times New Roman"/>
              </a:rPr>
              <a:t> </a:t>
            </a:r>
            <a:r>
              <a:rPr sz="3200" dirty="0">
                <a:latin typeface="Times New Roman"/>
                <a:cs typeface="Times New Roman"/>
              </a:rPr>
              <a:t>not</a:t>
            </a:r>
            <a:r>
              <a:rPr sz="3200" spc="-11" dirty="0">
                <a:latin typeface="Times New Roman"/>
                <a:cs typeface="Times New Roman"/>
              </a:rPr>
              <a:t> </a:t>
            </a:r>
            <a:r>
              <a:rPr sz="3200" spc="-6" dirty="0">
                <a:latin typeface="Times New Roman"/>
                <a:cs typeface="Times New Roman"/>
              </a:rPr>
              <a:t>scale</a:t>
            </a:r>
            <a:r>
              <a:rPr sz="3200" spc="-17" dirty="0">
                <a:latin typeface="Times New Roman"/>
                <a:cs typeface="Times New Roman"/>
              </a:rPr>
              <a:t> </a:t>
            </a:r>
            <a:r>
              <a:rPr sz="3200" spc="-6" dirty="0">
                <a:latin typeface="Times New Roman"/>
                <a:cs typeface="Times New Roman"/>
              </a:rPr>
              <a:t>well</a:t>
            </a:r>
            <a:r>
              <a:rPr sz="3200" spc="-11" dirty="0">
                <a:latin typeface="Times New Roman"/>
                <a:cs typeface="Times New Roman"/>
              </a:rPr>
              <a:t> </a:t>
            </a:r>
            <a:r>
              <a:rPr sz="3200" spc="-6" dirty="0">
                <a:latin typeface="Times New Roman"/>
                <a:cs typeface="Times New Roman"/>
              </a:rPr>
              <a:t>in</a:t>
            </a:r>
            <a:r>
              <a:rPr sz="3200" dirty="0">
                <a:latin typeface="Times New Roman"/>
                <a:cs typeface="Times New Roman"/>
              </a:rPr>
              <a:t> </a:t>
            </a:r>
            <a:r>
              <a:rPr sz="3200" spc="-17" dirty="0">
                <a:latin typeface="Times New Roman"/>
                <a:cs typeface="Times New Roman"/>
              </a:rPr>
              <a:t>large</a:t>
            </a:r>
            <a:r>
              <a:rPr sz="3200" spc="-28" dirty="0">
                <a:latin typeface="Times New Roman"/>
                <a:cs typeface="Times New Roman"/>
              </a:rPr>
              <a:t> </a:t>
            </a:r>
            <a:r>
              <a:rPr sz="3200" dirty="0">
                <a:latin typeface="Times New Roman"/>
                <a:cs typeface="Times New Roman"/>
              </a:rPr>
              <a:t>topologies</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58</a:t>
            </a:fld>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4" y="488659"/>
            <a:ext cx="7255872"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Routers</a:t>
            </a:r>
            <a:r>
              <a:rPr sz="4409" b="1" spc="-17"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Route</a:t>
            </a:r>
            <a:r>
              <a:rPr sz="4409" b="1" spc="-33" dirty="0">
                <a:solidFill>
                  <a:schemeClr val="bg1"/>
                </a:solidFill>
                <a:latin typeface="Times New Roman" panose="02020603050405020304" pitchFamily="18" charset="0"/>
                <a:cs typeface="Times New Roman" panose="02020603050405020304" pitchFamily="18" charset="0"/>
              </a:rPr>
              <a:t> </a:t>
            </a:r>
            <a:r>
              <a:rPr sz="4409" b="1" dirty="0">
                <a:solidFill>
                  <a:schemeClr val="bg1"/>
                </a:solidFill>
                <a:latin typeface="Times New Roman" panose="02020603050405020304" pitchFamily="18" charset="0"/>
                <a:cs typeface="Times New Roman" panose="02020603050405020304" pitchFamily="18" charset="0"/>
              </a:rPr>
              <a:t>Packets</a:t>
            </a:r>
          </a:p>
        </p:txBody>
      </p:sp>
      <p:sp>
        <p:nvSpPr>
          <p:cNvPr id="3" name="object 3"/>
          <p:cNvSpPr txBox="1"/>
          <p:nvPr/>
        </p:nvSpPr>
        <p:spPr>
          <a:xfrm>
            <a:off x="230428" y="1777285"/>
            <a:ext cx="9712061" cy="5240373"/>
          </a:xfrm>
          <a:prstGeom prst="rect">
            <a:avLst/>
          </a:prstGeom>
        </p:spPr>
        <p:txBody>
          <a:bodyPr vert="horz" wrap="square" lIns="0" tIns="103596" rIns="0" bIns="0" rtlCol="0">
            <a:spAutoFit/>
          </a:bodyPr>
          <a:lstStyle/>
          <a:p>
            <a:pPr marL="470499" marR="300283" indent="-457200">
              <a:lnSpc>
                <a:spcPts val="2965"/>
              </a:lnSpc>
              <a:spcBef>
                <a:spcPts val="816"/>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Routers</a:t>
            </a:r>
            <a:r>
              <a:rPr sz="3200" spc="-22" dirty="0">
                <a:latin typeface="Times New Roman"/>
                <a:cs typeface="Times New Roman"/>
              </a:rPr>
              <a:t> </a:t>
            </a:r>
            <a:r>
              <a:rPr sz="3200" spc="-6" dirty="0">
                <a:latin typeface="Times New Roman"/>
                <a:cs typeface="Times New Roman"/>
              </a:rPr>
              <a:t>are</a:t>
            </a:r>
            <a:r>
              <a:rPr sz="3200" spc="6" dirty="0">
                <a:latin typeface="Times New Roman"/>
                <a:cs typeface="Times New Roman"/>
              </a:rPr>
              <a:t> </a:t>
            </a:r>
            <a:r>
              <a:rPr sz="3200" spc="-6" dirty="0">
                <a:latin typeface="Times New Roman"/>
                <a:cs typeface="Times New Roman"/>
              </a:rPr>
              <a:t>network</a:t>
            </a:r>
            <a:r>
              <a:rPr sz="3200" spc="11" dirty="0">
                <a:latin typeface="Times New Roman"/>
                <a:cs typeface="Times New Roman"/>
              </a:rPr>
              <a:t> </a:t>
            </a:r>
            <a:r>
              <a:rPr sz="3200" spc="-6" dirty="0">
                <a:latin typeface="Times New Roman"/>
                <a:cs typeface="Times New Roman"/>
              </a:rPr>
              <a:t>devices that</a:t>
            </a:r>
            <a:r>
              <a:rPr sz="3200" spc="6" dirty="0">
                <a:latin typeface="Times New Roman"/>
                <a:cs typeface="Times New Roman"/>
              </a:rPr>
              <a:t> </a:t>
            </a:r>
            <a:r>
              <a:rPr sz="3200" b="1" spc="-6" dirty="0">
                <a:solidFill>
                  <a:srgbClr val="FF0000"/>
                </a:solidFill>
                <a:latin typeface="Times New Roman"/>
                <a:cs typeface="Times New Roman"/>
              </a:rPr>
              <a:t>deliver packets </a:t>
            </a:r>
            <a:r>
              <a:rPr sz="3200" spc="-6" dirty="0">
                <a:latin typeface="Times New Roman"/>
                <a:cs typeface="Times New Roman"/>
              </a:rPr>
              <a:t>(more </a:t>
            </a:r>
            <a:r>
              <a:rPr sz="3200" spc="-755" dirty="0">
                <a:latin typeface="Times New Roman"/>
                <a:cs typeface="Times New Roman"/>
              </a:rPr>
              <a:t> </a:t>
            </a:r>
            <a:r>
              <a:rPr sz="3200" spc="-6" dirty="0">
                <a:latin typeface="Times New Roman"/>
                <a:cs typeface="Times New Roman"/>
              </a:rPr>
              <a:t>precisely</a:t>
            </a:r>
            <a:r>
              <a:rPr lang="en-US" sz="3200" spc="-22" dirty="0">
                <a:latin typeface="Times New Roman"/>
                <a:cs typeface="Times New Roman"/>
              </a:rPr>
              <a:t> </a:t>
            </a:r>
            <a:r>
              <a:rPr sz="3200" spc="-6" dirty="0">
                <a:latin typeface="Times New Roman"/>
                <a:cs typeface="Times New Roman"/>
              </a:rPr>
              <a:t>–</a:t>
            </a:r>
            <a:r>
              <a:rPr sz="3200" spc="-331" dirty="0">
                <a:latin typeface="Times New Roman"/>
                <a:cs typeface="Times New Roman"/>
              </a:rPr>
              <a:t> </a:t>
            </a:r>
            <a:r>
              <a:rPr sz="3200" spc="-6" dirty="0">
                <a:latin typeface="Times New Roman"/>
                <a:cs typeface="Times New Roman"/>
              </a:rPr>
              <a:t>frames)</a:t>
            </a:r>
            <a:r>
              <a:rPr sz="3200" spc="22" dirty="0">
                <a:latin typeface="Times New Roman"/>
                <a:cs typeface="Times New Roman"/>
              </a:rPr>
              <a:t> </a:t>
            </a:r>
            <a:r>
              <a:rPr sz="3200" dirty="0">
                <a:latin typeface="Times New Roman"/>
                <a:cs typeface="Times New Roman"/>
              </a:rPr>
              <a:t>from</a:t>
            </a:r>
            <a:r>
              <a:rPr sz="3200" spc="-17" dirty="0">
                <a:latin typeface="Times New Roman"/>
                <a:cs typeface="Times New Roman"/>
              </a:rPr>
              <a:t> </a:t>
            </a:r>
            <a:r>
              <a:rPr sz="3200" spc="-6" dirty="0">
                <a:latin typeface="Times New Roman"/>
                <a:cs typeface="Times New Roman"/>
              </a:rPr>
              <a:t>the</a:t>
            </a:r>
            <a:r>
              <a:rPr sz="3200" spc="6" dirty="0">
                <a:latin typeface="Times New Roman"/>
                <a:cs typeface="Times New Roman"/>
              </a:rPr>
              <a:t> </a:t>
            </a:r>
            <a:r>
              <a:rPr sz="3200" dirty="0">
                <a:latin typeface="Times New Roman"/>
                <a:cs typeface="Times New Roman"/>
              </a:rPr>
              <a:t>source</a:t>
            </a:r>
            <a:r>
              <a:rPr sz="3200" spc="-11" dirty="0">
                <a:latin typeface="Times New Roman"/>
                <a:cs typeface="Times New Roman"/>
              </a:rPr>
              <a:t> </a:t>
            </a:r>
            <a:r>
              <a:rPr sz="3200" spc="-6" dirty="0">
                <a:latin typeface="Times New Roman"/>
                <a:cs typeface="Times New Roman"/>
              </a:rPr>
              <a:t>to</a:t>
            </a:r>
            <a:r>
              <a:rPr sz="3200" spc="-11" dirty="0">
                <a:latin typeface="Times New Roman"/>
                <a:cs typeface="Times New Roman"/>
              </a:rPr>
              <a:t> </a:t>
            </a:r>
            <a:r>
              <a:rPr sz="3200" spc="-6" dirty="0">
                <a:latin typeface="Times New Roman"/>
                <a:cs typeface="Times New Roman"/>
              </a:rPr>
              <a:t>destination.</a:t>
            </a:r>
            <a:endParaRPr sz="3200" dirty="0">
              <a:latin typeface="Times New Roman"/>
              <a:cs typeface="Times New Roman"/>
            </a:endParaRPr>
          </a:p>
          <a:p>
            <a:pPr marL="470499" marR="5600" indent="-457200">
              <a:lnSpc>
                <a:spcPct val="80000"/>
              </a:lnSpc>
              <a:spcBef>
                <a:spcPts val="689"/>
              </a:spcBef>
              <a:buClr>
                <a:srgbClr val="D24717"/>
              </a:buClr>
              <a:buSzPct val="83928"/>
              <a:buFont typeface="Wingdings" panose="05000000000000000000" pitchFamily="2" charset="2"/>
              <a:buChar char="Ø"/>
              <a:tabLst>
                <a:tab pos="316382" algn="l"/>
              </a:tabLst>
            </a:pPr>
            <a:r>
              <a:rPr sz="3200" spc="-6" dirty="0">
                <a:latin typeface="Times New Roman"/>
                <a:cs typeface="Times New Roman"/>
              </a:rPr>
              <a:t>Routers</a:t>
            </a:r>
            <a:r>
              <a:rPr sz="3200" spc="-28" dirty="0">
                <a:latin typeface="Times New Roman"/>
                <a:cs typeface="Times New Roman"/>
              </a:rPr>
              <a:t> </a:t>
            </a:r>
            <a:r>
              <a:rPr sz="3200" spc="-6" dirty="0">
                <a:latin typeface="Times New Roman"/>
                <a:cs typeface="Times New Roman"/>
              </a:rPr>
              <a:t>have</a:t>
            </a:r>
            <a:r>
              <a:rPr sz="3200" dirty="0">
                <a:latin typeface="Times New Roman"/>
                <a:cs typeface="Times New Roman"/>
              </a:rPr>
              <a:t> </a:t>
            </a:r>
            <a:r>
              <a:rPr sz="3200" spc="-6" dirty="0">
                <a:latin typeface="Times New Roman"/>
                <a:cs typeface="Times New Roman"/>
              </a:rPr>
              <a:t>two</a:t>
            </a:r>
            <a:r>
              <a:rPr sz="3200" spc="17" dirty="0">
                <a:latin typeface="Times New Roman"/>
                <a:cs typeface="Times New Roman"/>
              </a:rPr>
              <a:t> </a:t>
            </a:r>
            <a:r>
              <a:rPr sz="3200" spc="-6" dirty="0">
                <a:latin typeface="Times New Roman"/>
                <a:cs typeface="Times New Roman"/>
              </a:rPr>
              <a:t>major</a:t>
            </a:r>
            <a:r>
              <a:rPr sz="3200" spc="17" dirty="0">
                <a:latin typeface="Times New Roman"/>
                <a:cs typeface="Times New Roman"/>
              </a:rPr>
              <a:t> </a:t>
            </a:r>
            <a:r>
              <a:rPr sz="3200" spc="-11" dirty="0">
                <a:latin typeface="Times New Roman"/>
                <a:cs typeface="Times New Roman"/>
              </a:rPr>
              <a:t>mechanisms</a:t>
            </a:r>
            <a:r>
              <a:rPr sz="3200" spc="17" dirty="0">
                <a:latin typeface="Times New Roman"/>
                <a:cs typeface="Times New Roman"/>
              </a:rPr>
              <a:t> </a:t>
            </a:r>
            <a:r>
              <a:rPr sz="3200" spc="-6" dirty="0">
                <a:latin typeface="Times New Roman"/>
                <a:cs typeface="Times New Roman"/>
              </a:rPr>
              <a:t>that</a:t>
            </a:r>
            <a:r>
              <a:rPr sz="3200" spc="-17" dirty="0">
                <a:latin typeface="Times New Roman"/>
                <a:cs typeface="Times New Roman"/>
              </a:rPr>
              <a:t> </a:t>
            </a:r>
            <a:r>
              <a:rPr sz="3200" spc="-6" dirty="0">
                <a:latin typeface="Times New Roman"/>
                <a:cs typeface="Times New Roman"/>
              </a:rPr>
              <a:t>allow</a:t>
            </a:r>
            <a:r>
              <a:rPr sz="3200" dirty="0">
                <a:latin typeface="Times New Roman"/>
                <a:cs typeface="Times New Roman"/>
              </a:rPr>
              <a:t> </a:t>
            </a:r>
            <a:r>
              <a:rPr sz="3200" spc="-6" dirty="0">
                <a:latin typeface="Times New Roman"/>
                <a:cs typeface="Times New Roman"/>
              </a:rPr>
              <a:t>them</a:t>
            </a:r>
            <a:r>
              <a:rPr sz="3200" spc="-11" dirty="0">
                <a:latin typeface="Times New Roman"/>
                <a:cs typeface="Times New Roman"/>
              </a:rPr>
              <a:t> </a:t>
            </a:r>
            <a:r>
              <a:rPr sz="3200" dirty="0">
                <a:latin typeface="Times New Roman"/>
                <a:cs typeface="Times New Roman"/>
              </a:rPr>
              <a:t>not </a:t>
            </a:r>
            <a:r>
              <a:rPr sz="3200" spc="-755" dirty="0">
                <a:latin typeface="Times New Roman"/>
                <a:cs typeface="Times New Roman"/>
              </a:rPr>
              <a:t> </a:t>
            </a:r>
            <a:r>
              <a:rPr sz="3200" spc="-6" dirty="0">
                <a:latin typeface="Times New Roman"/>
                <a:cs typeface="Times New Roman"/>
              </a:rPr>
              <a:t>only to deliver packets with a required reliability and </a:t>
            </a:r>
            <a:r>
              <a:rPr sz="3200" dirty="0">
                <a:latin typeface="Times New Roman"/>
                <a:cs typeface="Times New Roman"/>
              </a:rPr>
              <a:t> </a:t>
            </a:r>
            <a:r>
              <a:rPr sz="3200" spc="-28" dirty="0">
                <a:latin typeface="Times New Roman"/>
                <a:cs typeface="Times New Roman"/>
              </a:rPr>
              <a:t>quality, </a:t>
            </a:r>
            <a:r>
              <a:rPr sz="3200" dirty="0">
                <a:latin typeface="Times New Roman"/>
                <a:cs typeface="Times New Roman"/>
              </a:rPr>
              <a:t>but </a:t>
            </a:r>
            <a:r>
              <a:rPr sz="3200" spc="-6" dirty="0">
                <a:latin typeface="Times New Roman"/>
                <a:cs typeface="Times New Roman"/>
              </a:rPr>
              <a:t>also to find </a:t>
            </a:r>
            <a:r>
              <a:rPr sz="3200" dirty="0">
                <a:latin typeface="Times New Roman"/>
                <a:cs typeface="Times New Roman"/>
              </a:rPr>
              <a:t>the </a:t>
            </a:r>
            <a:r>
              <a:rPr sz="3200" spc="-6" dirty="0">
                <a:latin typeface="Times New Roman"/>
                <a:cs typeface="Times New Roman"/>
              </a:rPr>
              <a:t>best available path </a:t>
            </a:r>
            <a:r>
              <a:rPr sz="3200" dirty="0">
                <a:latin typeface="Times New Roman"/>
                <a:cs typeface="Times New Roman"/>
              </a:rPr>
              <a:t>for </a:t>
            </a:r>
            <a:r>
              <a:rPr sz="3200" spc="6" dirty="0">
                <a:latin typeface="Times New Roman"/>
                <a:cs typeface="Times New Roman"/>
              </a:rPr>
              <a:t> </a:t>
            </a:r>
            <a:r>
              <a:rPr sz="3200" spc="-6" dirty="0">
                <a:latin typeface="Times New Roman"/>
                <a:cs typeface="Times New Roman"/>
              </a:rPr>
              <a:t>delivery along entire network. These mechanism are </a:t>
            </a:r>
            <a:r>
              <a:rPr sz="3200" dirty="0">
                <a:latin typeface="Times New Roman"/>
                <a:cs typeface="Times New Roman"/>
              </a:rPr>
              <a:t> </a:t>
            </a:r>
            <a:r>
              <a:rPr sz="3200" b="1" spc="-6" dirty="0">
                <a:solidFill>
                  <a:srgbClr val="FF0000"/>
                </a:solidFill>
                <a:latin typeface="Times New Roman"/>
                <a:cs typeface="Times New Roman"/>
              </a:rPr>
              <a:t>routed</a:t>
            </a:r>
            <a:r>
              <a:rPr sz="3200" b="1" spc="-33" dirty="0">
                <a:solidFill>
                  <a:srgbClr val="FF0000"/>
                </a:solidFill>
                <a:latin typeface="Times New Roman"/>
                <a:cs typeface="Times New Roman"/>
              </a:rPr>
              <a:t> </a:t>
            </a:r>
            <a:r>
              <a:rPr sz="3200" b="1" spc="-6" dirty="0">
                <a:solidFill>
                  <a:srgbClr val="FF0000"/>
                </a:solidFill>
                <a:latin typeface="Times New Roman"/>
                <a:cs typeface="Times New Roman"/>
              </a:rPr>
              <a:t>(or </a:t>
            </a:r>
            <a:r>
              <a:rPr sz="3200" b="1" dirty="0">
                <a:solidFill>
                  <a:srgbClr val="FF0000"/>
                </a:solidFill>
                <a:latin typeface="Times New Roman"/>
                <a:cs typeface="Times New Roman"/>
              </a:rPr>
              <a:t>routable)</a:t>
            </a:r>
            <a:r>
              <a:rPr sz="3200" b="1" spc="-22" dirty="0">
                <a:solidFill>
                  <a:srgbClr val="FF0000"/>
                </a:solidFill>
                <a:latin typeface="Times New Roman"/>
                <a:cs typeface="Times New Roman"/>
              </a:rPr>
              <a:t> </a:t>
            </a:r>
            <a:r>
              <a:rPr sz="3200" b="1" spc="-6" dirty="0">
                <a:solidFill>
                  <a:srgbClr val="FF0000"/>
                </a:solidFill>
                <a:latin typeface="Times New Roman"/>
                <a:cs typeface="Times New Roman"/>
              </a:rPr>
              <a:t>and</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routing</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protocols</a:t>
            </a:r>
            <a:r>
              <a:rPr sz="3200" spc="6" dirty="0">
                <a:latin typeface="Times New Roman"/>
                <a:cs typeface="Times New Roman"/>
              </a:rPr>
              <a:t>.</a:t>
            </a:r>
            <a:endParaRPr sz="3200" dirty="0">
              <a:latin typeface="Times New Roman"/>
              <a:cs typeface="Times New Roman"/>
            </a:endParaRPr>
          </a:p>
          <a:p>
            <a:pPr marL="470499" marR="776256" indent="-457200">
              <a:lnSpc>
                <a:spcPct val="80000"/>
              </a:lnSpc>
              <a:spcBef>
                <a:spcPts val="2662"/>
              </a:spcBef>
              <a:buClr>
                <a:srgbClr val="D24717"/>
              </a:buClr>
              <a:buSzPct val="83928"/>
              <a:buFont typeface="Wingdings" panose="05000000000000000000" pitchFamily="2" charset="2"/>
              <a:buChar char="Ø"/>
              <a:tabLst>
                <a:tab pos="316382" algn="l"/>
                <a:tab pos="3282815" algn="l"/>
              </a:tabLst>
            </a:pPr>
            <a:r>
              <a:rPr sz="3200" spc="-6" dirty="0">
                <a:latin typeface="Times New Roman"/>
                <a:cs typeface="Times New Roman"/>
              </a:rPr>
              <a:t>Routed</a:t>
            </a:r>
            <a:r>
              <a:rPr sz="3200" spc="-11" dirty="0">
                <a:latin typeface="Times New Roman"/>
                <a:cs typeface="Times New Roman"/>
              </a:rPr>
              <a:t> </a:t>
            </a:r>
            <a:r>
              <a:rPr sz="3200" spc="-6" dirty="0">
                <a:latin typeface="Times New Roman"/>
                <a:cs typeface="Times New Roman"/>
              </a:rPr>
              <a:t>(routable)</a:t>
            </a:r>
            <a:r>
              <a:rPr lang="en-US" sz="3200" spc="-6" dirty="0">
                <a:latin typeface="Times New Roman"/>
                <a:cs typeface="Times New Roman"/>
              </a:rPr>
              <a:t> </a:t>
            </a:r>
            <a:r>
              <a:rPr sz="3200" spc="-6" dirty="0">
                <a:latin typeface="Times New Roman"/>
                <a:cs typeface="Times New Roman"/>
              </a:rPr>
              <a:t>and </a:t>
            </a:r>
            <a:r>
              <a:rPr sz="3200" dirty="0">
                <a:latin typeface="Times New Roman"/>
                <a:cs typeface="Times New Roman"/>
              </a:rPr>
              <a:t>routing protocols </a:t>
            </a:r>
            <a:r>
              <a:rPr sz="3200" spc="-6" dirty="0">
                <a:latin typeface="Times New Roman"/>
                <a:cs typeface="Times New Roman"/>
              </a:rPr>
              <a:t>are totally </a:t>
            </a:r>
            <a:r>
              <a:rPr sz="3200" dirty="0">
                <a:latin typeface="Times New Roman"/>
                <a:cs typeface="Times New Roman"/>
              </a:rPr>
              <a:t> </a:t>
            </a:r>
            <a:r>
              <a:rPr sz="3200" spc="-11" dirty="0">
                <a:latin typeface="Times New Roman"/>
                <a:cs typeface="Times New Roman"/>
              </a:rPr>
              <a:t>different</a:t>
            </a:r>
            <a:r>
              <a:rPr sz="3200" spc="-22" dirty="0">
                <a:latin typeface="Times New Roman"/>
                <a:cs typeface="Times New Roman"/>
              </a:rPr>
              <a:t> </a:t>
            </a:r>
            <a:r>
              <a:rPr sz="3200" spc="-6" dirty="0">
                <a:latin typeface="Times New Roman"/>
                <a:cs typeface="Times New Roman"/>
              </a:rPr>
              <a:t>groups</a:t>
            </a:r>
            <a:r>
              <a:rPr sz="3200" dirty="0">
                <a:latin typeface="Times New Roman"/>
                <a:cs typeface="Times New Roman"/>
              </a:rPr>
              <a:t> </a:t>
            </a:r>
            <a:r>
              <a:rPr sz="3200" spc="-6" dirty="0">
                <a:latin typeface="Times New Roman"/>
                <a:cs typeface="Times New Roman"/>
              </a:rPr>
              <a:t>of</a:t>
            </a:r>
            <a:r>
              <a:rPr sz="3200" spc="17" dirty="0">
                <a:latin typeface="Times New Roman"/>
                <a:cs typeface="Times New Roman"/>
              </a:rPr>
              <a:t> </a:t>
            </a:r>
            <a:r>
              <a:rPr sz="3200" spc="-6" dirty="0">
                <a:latin typeface="Times New Roman"/>
                <a:cs typeface="Times New Roman"/>
              </a:rPr>
              <a:t>protocols,</a:t>
            </a:r>
            <a:r>
              <a:rPr sz="3200" spc="-11" dirty="0">
                <a:latin typeface="Times New Roman"/>
                <a:cs typeface="Times New Roman"/>
              </a:rPr>
              <a:t> </a:t>
            </a:r>
            <a:r>
              <a:rPr sz="3200" dirty="0">
                <a:latin typeface="Times New Roman"/>
                <a:cs typeface="Times New Roman"/>
              </a:rPr>
              <a:t>but</a:t>
            </a:r>
            <a:r>
              <a:rPr sz="3200" spc="-6" dirty="0">
                <a:latin typeface="Times New Roman"/>
                <a:cs typeface="Times New Roman"/>
              </a:rPr>
              <a:t> they do</a:t>
            </a:r>
            <a:r>
              <a:rPr sz="3200" spc="11" dirty="0">
                <a:latin typeface="Times New Roman"/>
                <a:cs typeface="Times New Roman"/>
              </a:rPr>
              <a:t> </a:t>
            </a:r>
            <a:r>
              <a:rPr sz="3200" spc="-6" dirty="0">
                <a:latin typeface="Times New Roman"/>
                <a:cs typeface="Times New Roman"/>
              </a:rPr>
              <a:t>work</a:t>
            </a:r>
            <a:r>
              <a:rPr sz="3200" spc="17" dirty="0">
                <a:latin typeface="Times New Roman"/>
                <a:cs typeface="Times New Roman"/>
              </a:rPr>
              <a:t> </a:t>
            </a:r>
            <a:r>
              <a:rPr sz="3200" spc="-6" dirty="0">
                <a:latin typeface="Times New Roman"/>
                <a:cs typeface="Times New Roman"/>
              </a:rPr>
              <a:t>very </a:t>
            </a:r>
            <a:r>
              <a:rPr sz="3200" spc="-755" dirty="0">
                <a:latin typeface="Times New Roman"/>
                <a:cs typeface="Times New Roman"/>
              </a:rPr>
              <a:t> </a:t>
            </a:r>
            <a:r>
              <a:rPr sz="3200" spc="-6" dirty="0">
                <a:latin typeface="Times New Roman"/>
                <a:cs typeface="Times New Roman"/>
              </a:rPr>
              <a:t>closely</a:t>
            </a:r>
            <a:r>
              <a:rPr sz="3200" spc="-28" dirty="0">
                <a:latin typeface="Times New Roman"/>
                <a:cs typeface="Times New Roman"/>
              </a:rPr>
              <a:t> </a:t>
            </a:r>
            <a:r>
              <a:rPr sz="3200" dirty="0">
                <a:latin typeface="Times New Roman"/>
                <a:cs typeface="Times New Roman"/>
              </a:rPr>
              <a:t>for the</a:t>
            </a:r>
            <a:r>
              <a:rPr sz="3200" spc="-6" dirty="0">
                <a:latin typeface="Times New Roman"/>
                <a:cs typeface="Times New Roman"/>
              </a:rPr>
              <a:t> </a:t>
            </a:r>
            <a:r>
              <a:rPr sz="3200" spc="-11" dirty="0">
                <a:latin typeface="Times New Roman"/>
                <a:cs typeface="Times New Roman"/>
              </a:rPr>
              <a:t>common</a:t>
            </a:r>
            <a:r>
              <a:rPr sz="3200" spc="28" dirty="0">
                <a:latin typeface="Times New Roman"/>
                <a:cs typeface="Times New Roman"/>
              </a:rPr>
              <a:t> </a:t>
            </a:r>
            <a:r>
              <a:rPr sz="3200" spc="-6" dirty="0">
                <a:latin typeface="Times New Roman"/>
                <a:cs typeface="Times New Roman"/>
              </a:rPr>
              <a:t>goal</a:t>
            </a:r>
            <a:r>
              <a:rPr sz="3200" spc="6" dirty="0">
                <a:latin typeface="Times New Roman"/>
                <a:cs typeface="Times New Roman"/>
              </a:rPr>
              <a:t> </a:t>
            </a:r>
            <a:r>
              <a:rPr sz="3200" spc="-11" dirty="0">
                <a:latin typeface="Times New Roman"/>
                <a:cs typeface="Times New Roman"/>
              </a:rPr>
              <a:t>–</a:t>
            </a:r>
            <a:r>
              <a:rPr lang="en-US" sz="3200" spc="-11" dirty="0">
                <a:latin typeface="Times New Roman"/>
                <a:cs typeface="Times New Roman"/>
              </a:rPr>
              <a:t> </a:t>
            </a:r>
            <a:r>
              <a:rPr sz="3200" spc="-11" dirty="0">
                <a:latin typeface="Times New Roman"/>
                <a:cs typeface="Times New Roman"/>
              </a:rPr>
              <a:t>efficient</a:t>
            </a:r>
            <a:r>
              <a:rPr sz="3200" dirty="0">
                <a:latin typeface="Times New Roman"/>
                <a:cs typeface="Times New Roman"/>
              </a:rPr>
              <a:t> </a:t>
            </a:r>
            <a:r>
              <a:rPr sz="3200" spc="-6" dirty="0">
                <a:latin typeface="Times New Roman"/>
                <a:cs typeface="Times New Roman"/>
              </a:rPr>
              <a:t>transfer of </a:t>
            </a:r>
            <a:r>
              <a:rPr sz="3200" dirty="0">
                <a:latin typeface="Times New Roman"/>
                <a:cs typeface="Times New Roman"/>
              </a:rPr>
              <a:t> </a:t>
            </a:r>
            <a:r>
              <a:rPr sz="3200" spc="-6" dirty="0">
                <a:latin typeface="Times New Roman"/>
                <a:cs typeface="Times New Roman"/>
              </a:rPr>
              <a:t>information.</a:t>
            </a:r>
            <a:endParaRPr sz="3200"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59</a:t>
            </a:fld>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4791" y="324962"/>
            <a:ext cx="7830032" cy="691244"/>
          </a:xfrm>
          <a:prstGeom prst="rect">
            <a:avLst/>
          </a:prstGeom>
        </p:spPr>
        <p:txBody>
          <a:bodyPr vert="horz" wrap="square" lIns="0" tIns="13999" rIns="0" bIns="0" rtlCol="0" anchor="ctr">
            <a:spAutoFit/>
          </a:bodyPr>
          <a:lstStyle/>
          <a:p>
            <a:pPr marL="13999">
              <a:lnSpc>
                <a:spcPct val="100000"/>
              </a:lnSpc>
              <a:spcBef>
                <a:spcPts val="110"/>
              </a:spcBef>
            </a:pPr>
            <a:r>
              <a:rPr b="1" spc="88" dirty="0">
                <a:solidFill>
                  <a:schemeClr val="bg1"/>
                </a:solidFill>
                <a:latin typeface="Times New Roman" panose="02020603050405020304" pitchFamily="18" charset="0"/>
                <a:cs typeface="Times New Roman" panose="02020603050405020304" pitchFamily="18" charset="0"/>
              </a:rPr>
              <a:t>Routed</a:t>
            </a:r>
            <a:r>
              <a:rPr b="1" spc="72" dirty="0">
                <a:solidFill>
                  <a:schemeClr val="bg1"/>
                </a:solidFill>
                <a:latin typeface="Times New Roman" panose="02020603050405020304" pitchFamily="18" charset="0"/>
                <a:cs typeface="Times New Roman" panose="02020603050405020304" pitchFamily="18" charset="0"/>
              </a:rPr>
              <a:t> </a:t>
            </a:r>
            <a:r>
              <a:rPr b="1" spc="50" dirty="0">
                <a:solidFill>
                  <a:schemeClr val="bg1"/>
                </a:solidFill>
                <a:latin typeface="Times New Roman" panose="02020603050405020304" pitchFamily="18" charset="0"/>
                <a:cs typeface="Times New Roman" panose="02020603050405020304" pitchFamily="18" charset="0"/>
              </a:rPr>
              <a:t>and</a:t>
            </a:r>
            <a:r>
              <a:rPr b="1" spc="83" dirty="0">
                <a:solidFill>
                  <a:schemeClr val="bg1"/>
                </a:solidFill>
                <a:latin typeface="Times New Roman" panose="02020603050405020304" pitchFamily="18" charset="0"/>
                <a:cs typeface="Times New Roman" panose="02020603050405020304" pitchFamily="18" charset="0"/>
              </a:rPr>
              <a:t> </a:t>
            </a:r>
            <a:r>
              <a:rPr b="1" spc="165" dirty="0">
                <a:solidFill>
                  <a:schemeClr val="bg1"/>
                </a:solidFill>
                <a:latin typeface="Times New Roman" panose="02020603050405020304" pitchFamily="18" charset="0"/>
                <a:cs typeface="Times New Roman" panose="02020603050405020304" pitchFamily="18" charset="0"/>
              </a:rPr>
              <a:t>Routing</a:t>
            </a:r>
            <a:r>
              <a:rPr b="1" spc="88" dirty="0">
                <a:solidFill>
                  <a:schemeClr val="bg1"/>
                </a:solidFill>
                <a:latin typeface="Times New Roman" panose="02020603050405020304" pitchFamily="18" charset="0"/>
                <a:cs typeface="Times New Roman" panose="02020603050405020304" pitchFamily="18" charset="0"/>
              </a:rPr>
              <a:t> </a:t>
            </a:r>
            <a:r>
              <a:rPr b="1" spc="110"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230428" y="1625217"/>
            <a:ext cx="9165406" cy="4510945"/>
          </a:xfrm>
          <a:prstGeom prst="rect">
            <a:avLst/>
          </a:prstGeom>
        </p:spPr>
        <p:txBody>
          <a:bodyPr vert="horz" wrap="square" lIns="0" tIns="14699" rIns="0" bIns="0" rtlCol="0">
            <a:spAutoFit/>
          </a:bodyPr>
          <a:lstStyle/>
          <a:p>
            <a:pPr marL="471199" indent="-457200">
              <a:spcBef>
                <a:spcPts val="116"/>
              </a:spcBef>
              <a:buClr>
                <a:srgbClr val="D24717"/>
              </a:buClr>
              <a:buSzPct val="84615"/>
              <a:buFont typeface="Wingdings" panose="05000000000000000000" pitchFamily="2" charset="2"/>
              <a:buChar char="Ø"/>
              <a:tabLst>
                <a:tab pos="316382" algn="l"/>
              </a:tabLst>
            </a:pPr>
            <a:r>
              <a:rPr sz="3200" b="1" dirty="0">
                <a:solidFill>
                  <a:srgbClr val="FF0000"/>
                </a:solidFill>
                <a:latin typeface="Times New Roman"/>
                <a:cs typeface="Times New Roman"/>
              </a:rPr>
              <a:t>Routing</a:t>
            </a:r>
            <a:r>
              <a:rPr sz="3200" b="1" spc="-77" dirty="0">
                <a:solidFill>
                  <a:srgbClr val="FF0000"/>
                </a:solidFill>
                <a:latin typeface="Times New Roman"/>
                <a:cs typeface="Times New Roman"/>
              </a:rPr>
              <a:t> </a:t>
            </a:r>
            <a:r>
              <a:rPr sz="3200" b="1" spc="-6" dirty="0">
                <a:solidFill>
                  <a:srgbClr val="FF0000"/>
                </a:solidFill>
                <a:latin typeface="Times New Roman"/>
                <a:cs typeface="Times New Roman"/>
              </a:rPr>
              <a:t>protocol</a:t>
            </a:r>
            <a:endParaRPr sz="3200" dirty="0">
              <a:solidFill>
                <a:srgbClr val="FF0000"/>
              </a:solidFill>
              <a:latin typeface="Times New Roman"/>
              <a:cs typeface="Times New Roman"/>
            </a:endParaRPr>
          </a:p>
          <a:p>
            <a:pPr marL="618765" lvl="1" indent="-253386">
              <a:buClr>
                <a:srgbClr val="9B2C1F"/>
              </a:buClr>
              <a:buSzPct val="84090"/>
              <a:buFont typeface="Wingdings"/>
              <a:buChar char=""/>
              <a:tabLst>
                <a:tab pos="619465" algn="l"/>
              </a:tabLst>
            </a:pPr>
            <a:r>
              <a:rPr sz="3200" spc="-6" dirty="0">
                <a:latin typeface="Times New Roman"/>
                <a:cs typeface="Times New Roman"/>
              </a:rPr>
              <a:t>A</a:t>
            </a:r>
            <a:r>
              <a:rPr sz="3200" spc="-149" dirty="0">
                <a:latin typeface="Times New Roman"/>
                <a:cs typeface="Times New Roman"/>
              </a:rPr>
              <a:t> </a:t>
            </a:r>
            <a:r>
              <a:rPr sz="3200" spc="-6" dirty="0">
                <a:latin typeface="Times New Roman"/>
                <a:cs typeface="Times New Roman"/>
              </a:rPr>
              <a:t>set</a:t>
            </a:r>
            <a:r>
              <a:rPr sz="3200" spc="6" dirty="0">
                <a:latin typeface="Times New Roman"/>
                <a:cs typeface="Times New Roman"/>
              </a:rPr>
              <a:t> </a:t>
            </a:r>
            <a:r>
              <a:rPr sz="3200" spc="-6" dirty="0">
                <a:latin typeface="Times New Roman"/>
                <a:cs typeface="Times New Roman"/>
              </a:rPr>
              <a:t>of</a:t>
            </a:r>
            <a:r>
              <a:rPr sz="3200" spc="11" dirty="0">
                <a:latin typeface="Times New Roman"/>
                <a:cs typeface="Times New Roman"/>
              </a:rPr>
              <a:t> </a:t>
            </a:r>
            <a:r>
              <a:rPr sz="3200" spc="-11" dirty="0">
                <a:latin typeface="Times New Roman"/>
                <a:cs typeface="Times New Roman"/>
              </a:rPr>
              <a:t>messages,</a:t>
            </a:r>
            <a:r>
              <a:rPr sz="3200" spc="17" dirty="0">
                <a:latin typeface="Times New Roman"/>
                <a:cs typeface="Times New Roman"/>
              </a:rPr>
              <a:t> </a:t>
            </a:r>
            <a:r>
              <a:rPr sz="3200" spc="-6" dirty="0">
                <a:latin typeface="Times New Roman"/>
                <a:cs typeface="Times New Roman"/>
              </a:rPr>
              <a:t>rules,</a:t>
            </a:r>
            <a:r>
              <a:rPr sz="3200" dirty="0">
                <a:latin typeface="Times New Roman"/>
                <a:cs typeface="Times New Roman"/>
              </a:rPr>
              <a:t> </a:t>
            </a:r>
            <a:r>
              <a:rPr sz="3200" spc="-6" dirty="0">
                <a:latin typeface="Times New Roman"/>
                <a:cs typeface="Times New Roman"/>
              </a:rPr>
              <a:t>and</a:t>
            </a:r>
            <a:r>
              <a:rPr sz="3200" spc="11" dirty="0">
                <a:latin typeface="Times New Roman"/>
                <a:cs typeface="Times New Roman"/>
              </a:rPr>
              <a:t> </a:t>
            </a:r>
            <a:r>
              <a:rPr sz="3200" spc="-6" dirty="0">
                <a:latin typeface="Times New Roman"/>
                <a:cs typeface="Times New Roman"/>
              </a:rPr>
              <a:t>algorithms</a:t>
            </a:r>
            <a:r>
              <a:rPr sz="3200" spc="17" dirty="0">
                <a:latin typeface="Times New Roman"/>
                <a:cs typeface="Times New Roman"/>
              </a:rPr>
              <a:t> </a:t>
            </a:r>
            <a:r>
              <a:rPr sz="3200" spc="-6" dirty="0">
                <a:latin typeface="Times New Roman"/>
                <a:cs typeface="Times New Roman"/>
              </a:rPr>
              <a:t>used</a:t>
            </a:r>
            <a:r>
              <a:rPr sz="3200" dirty="0">
                <a:latin typeface="Times New Roman"/>
                <a:cs typeface="Times New Roman"/>
              </a:rPr>
              <a:t> </a:t>
            </a:r>
            <a:r>
              <a:rPr sz="3200" spc="-6" dirty="0">
                <a:latin typeface="Times New Roman"/>
                <a:cs typeface="Times New Roman"/>
              </a:rPr>
              <a:t>by</a:t>
            </a:r>
            <a:r>
              <a:rPr sz="3200" dirty="0">
                <a:latin typeface="Times New Roman"/>
                <a:cs typeface="Times New Roman"/>
              </a:rPr>
              <a:t> </a:t>
            </a:r>
            <a:r>
              <a:rPr sz="3200" spc="-6" dirty="0">
                <a:latin typeface="Times New Roman"/>
                <a:cs typeface="Times New Roman"/>
              </a:rPr>
              <a:t>routers</a:t>
            </a:r>
            <a:r>
              <a:rPr sz="3200" dirty="0">
                <a:latin typeface="Times New Roman"/>
                <a:cs typeface="Times New Roman"/>
              </a:rPr>
              <a:t> </a:t>
            </a:r>
            <a:r>
              <a:rPr sz="3200" spc="-6" dirty="0">
                <a:latin typeface="Times New Roman"/>
                <a:cs typeface="Times New Roman"/>
              </a:rPr>
              <a:t>for</a:t>
            </a:r>
            <a:r>
              <a:rPr sz="3200" spc="22" dirty="0">
                <a:latin typeface="Times New Roman"/>
                <a:cs typeface="Times New Roman"/>
              </a:rPr>
              <a:t> </a:t>
            </a:r>
            <a:r>
              <a:rPr sz="3200" spc="-6" dirty="0">
                <a:latin typeface="Times New Roman"/>
                <a:cs typeface="Times New Roman"/>
              </a:rPr>
              <a:t>the</a:t>
            </a:r>
            <a:r>
              <a:rPr lang="en-US" sz="3200" dirty="0">
                <a:latin typeface="Times New Roman"/>
                <a:cs typeface="Times New Roman"/>
              </a:rPr>
              <a:t> </a:t>
            </a:r>
            <a:r>
              <a:rPr sz="3200" spc="-6" dirty="0">
                <a:latin typeface="Times New Roman"/>
                <a:cs typeface="Times New Roman"/>
              </a:rPr>
              <a:t>overall</a:t>
            </a:r>
            <a:r>
              <a:rPr sz="3200" spc="-22" dirty="0">
                <a:latin typeface="Times New Roman"/>
                <a:cs typeface="Times New Roman"/>
              </a:rPr>
              <a:t> </a:t>
            </a:r>
            <a:r>
              <a:rPr sz="3200" dirty="0">
                <a:latin typeface="Times New Roman"/>
                <a:cs typeface="Times New Roman"/>
              </a:rPr>
              <a:t>purpose</a:t>
            </a:r>
            <a:r>
              <a:rPr sz="3200" spc="-28" dirty="0">
                <a:latin typeface="Times New Roman"/>
                <a:cs typeface="Times New Roman"/>
              </a:rPr>
              <a:t> </a:t>
            </a:r>
            <a:r>
              <a:rPr sz="3200" spc="-6" dirty="0">
                <a:latin typeface="Times New Roman"/>
                <a:cs typeface="Times New Roman"/>
              </a:rPr>
              <a:t>of learning </a:t>
            </a:r>
            <a:r>
              <a:rPr sz="3200" dirty="0">
                <a:latin typeface="Times New Roman"/>
                <a:cs typeface="Times New Roman"/>
              </a:rPr>
              <a:t>routes.</a:t>
            </a:r>
          </a:p>
          <a:p>
            <a:pPr marL="618765" marR="1310326" lvl="1" indent="-252686">
              <a:spcBef>
                <a:spcPts val="513"/>
              </a:spcBef>
              <a:buClr>
                <a:srgbClr val="9B2C1F"/>
              </a:buClr>
              <a:buSzPct val="84090"/>
              <a:buFont typeface="Wingdings"/>
              <a:buChar char=""/>
              <a:tabLst>
                <a:tab pos="619465" algn="l"/>
              </a:tabLst>
            </a:pPr>
            <a:r>
              <a:rPr sz="3200" spc="-6" dirty="0">
                <a:latin typeface="Times New Roman"/>
                <a:cs typeface="Times New Roman"/>
              </a:rPr>
              <a:t>This process</a:t>
            </a:r>
            <a:r>
              <a:rPr sz="3200" spc="6" dirty="0">
                <a:latin typeface="Times New Roman"/>
                <a:cs typeface="Times New Roman"/>
              </a:rPr>
              <a:t> </a:t>
            </a:r>
            <a:r>
              <a:rPr sz="3200" spc="-6" dirty="0">
                <a:latin typeface="Times New Roman"/>
                <a:cs typeface="Times New Roman"/>
              </a:rPr>
              <a:t>includes the</a:t>
            </a:r>
            <a:r>
              <a:rPr sz="3200" spc="6" dirty="0">
                <a:latin typeface="Times New Roman"/>
                <a:cs typeface="Times New Roman"/>
              </a:rPr>
              <a:t> </a:t>
            </a:r>
            <a:r>
              <a:rPr sz="3200" spc="-6" dirty="0">
                <a:latin typeface="Times New Roman"/>
                <a:cs typeface="Times New Roman"/>
              </a:rPr>
              <a:t>exchange</a:t>
            </a:r>
            <a:r>
              <a:rPr sz="3200" dirty="0">
                <a:latin typeface="Times New Roman"/>
                <a:cs typeface="Times New Roman"/>
              </a:rPr>
              <a:t> </a:t>
            </a:r>
            <a:r>
              <a:rPr sz="3200" spc="-11" dirty="0">
                <a:latin typeface="Times New Roman"/>
                <a:cs typeface="Times New Roman"/>
              </a:rPr>
              <a:t>and</a:t>
            </a:r>
            <a:r>
              <a:rPr sz="3200" spc="17" dirty="0">
                <a:latin typeface="Times New Roman"/>
                <a:cs typeface="Times New Roman"/>
              </a:rPr>
              <a:t> </a:t>
            </a:r>
            <a:r>
              <a:rPr sz="3200" dirty="0">
                <a:latin typeface="Times New Roman"/>
                <a:cs typeface="Times New Roman"/>
              </a:rPr>
              <a:t>analysis</a:t>
            </a:r>
            <a:r>
              <a:rPr sz="3200" spc="-28" dirty="0">
                <a:latin typeface="Times New Roman"/>
                <a:cs typeface="Times New Roman"/>
              </a:rPr>
              <a:t> </a:t>
            </a:r>
            <a:r>
              <a:rPr sz="3200" spc="-6" dirty="0">
                <a:latin typeface="Times New Roman"/>
                <a:cs typeface="Times New Roman"/>
              </a:rPr>
              <a:t>of</a:t>
            </a:r>
            <a:r>
              <a:rPr sz="3200" spc="11" dirty="0">
                <a:latin typeface="Times New Roman"/>
                <a:cs typeface="Times New Roman"/>
              </a:rPr>
              <a:t> </a:t>
            </a:r>
            <a:r>
              <a:rPr sz="3200" spc="-6" dirty="0">
                <a:latin typeface="Times New Roman"/>
                <a:cs typeface="Times New Roman"/>
              </a:rPr>
              <a:t>routing </a:t>
            </a:r>
            <a:r>
              <a:rPr sz="3200" spc="-590" dirty="0">
                <a:latin typeface="Times New Roman"/>
                <a:cs typeface="Times New Roman"/>
              </a:rPr>
              <a:t> </a:t>
            </a:r>
            <a:r>
              <a:rPr sz="3200" spc="-6" dirty="0">
                <a:latin typeface="Times New Roman"/>
                <a:cs typeface="Times New Roman"/>
              </a:rPr>
              <a:t>information.</a:t>
            </a:r>
            <a:endParaRPr sz="3200" dirty="0">
              <a:latin typeface="Times New Roman"/>
              <a:cs typeface="Times New Roman"/>
            </a:endParaRPr>
          </a:p>
          <a:p>
            <a:pPr marL="921148" lvl="2" indent="-252686">
              <a:buClr>
                <a:srgbClr val="C00000"/>
              </a:buClr>
              <a:buSzPct val="85000"/>
              <a:buFont typeface="Wingdings"/>
              <a:buChar char=""/>
              <a:tabLst>
                <a:tab pos="921148" algn="l"/>
                <a:tab pos="921847" algn="l"/>
              </a:tabLst>
            </a:pPr>
            <a:r>
              <a:rPr sz="3200" dirty="0">
                <a:latin typeface="Times New Roman"/>
                <a:cs typeface="Times New Roman"/>
              </a:rPr>
              <a:t>Each</a:t>
            </a:r>
            <a:r>
              <a:rPr sz="3200" spc="-22" dirty="0">
                <a:latin typeface="Times New Roman"/>
                <a:cs typeface="Times New Roman"/>
              </a:rPr>
              <a:t> </a:t>
            </a:r>
            <a:r>
              <a:rPr sz="3200" dirty="0">
                <a:latin typeface="Times New Roman"/>
                <a:cs typeface="Times New Roman"/>
              </a:rPr>
              <a:t>router</a:t>
            </a:r>
            <a:r>
              <a:rPr sz="3200" spc="-28" dirty="0">
                <a:latin typeface="Times New Roman"/>
                <a:cs typeface="Times New Roman"/>
              </a:rPr>
              <a:t> </a:t>
            </a:r>
            <a:r>
              <a:rPr sz="3200" dirty="0">
                <a:latin typeface="Times New Roman"/>
                <a:cs typeface="Times New Roman"/>
              </a:rPr>
              <a:t>chooses</a:t>
            </a:r>
            <a:r>
              <a:rPr sz="3200" spc="-44"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dirty="0">
                <a:latin typeface="Times New Roman"/>
                <a:cs typeface="Times New Roman"/>
              </a:rPr>
              <a:t>best</a:t>
            </a:r>
            <a:r>
              <a:rPr sz="3200" spc="-28" dirty="0">
                <a:latin typeface="Times New Roman"/>
                <a:cs typeface="Times New Roman"/>
              </a:rPr>
              <a:t> </a:t>
            </a:r>
            <a:r>
              <a:rPr sz="3200" dirty="0">
                <a:latin typeface="Times New Roman"/>
                <a:cs typeface="Times New Roman"/>
              </a:rPr>
              <a:t>route</a:t>
            </a:r>
            <a:r>
              <a:rPr sz="3200" spc="-22" dirty="0">
                <a:latin typeface="Times New Roman"/>
                <a:cs typeface="Times New Roman"/>
              </a:rPr>
              <a:t> </a:t>
            </a:r>
            <a:r>
              <a:rPr sz="3200" dirty="0">
                <a:latin typeface="Times New Roman"/>
                <a:cs typeface="Times New Roman"/>
              </a:rPr>
              <a:t>to</a:t>
            </a:r>
            <a:r>
              <a:rPr sz="3200" spc="-6" dirty="0">
                <a:latin typeface="Times New Roman"/>
                <a:cs typeface="Times New Roman"/>
              </a:rPr>
              <a:t> </a:t>
            </a:r>
            <a:r>
              <a:rPr sz="3200" dirty="0">
                <a:latin typeface="Times New Roman"/>
                <a:cs typeface="Times New Roman"/>
              </a:rPr>
              <a:t>each</a:t>
            </a:r>
            <a:r>
              <a:rPr sz="3200" spc="-6" dirty="0">
                <a:latin typeface="Times New Roman"/>
                <a:cs typeface="Times New Roman"/>
              </a:rPr>
              <a:t> </a:t>
            </a:r>
            <a:r>
              <a:rPr sz="3200" dirty="0">
                <a:latin typeface="Times New Roman"/>
                <a:cs typeface="Times New Roman"/>
              </a:rPr>
              <a:t>subnet</a:t>
            </a:r>
            <a:r>
              <a:rPr sz="3200" spc="-39" dirty="0">
                <a:latin typeface="Times New Roman"/>
                <a:cs typeface="Times New Roman"/>
              </a:rPr>
              <a:t> </a:t>
            </a:r>
            <a:r>
              <a:rPr sz="3200" dirty="0">
                <a:latin typeface="Times New Roman"/>
                <a:cs typeface="Times New Roman"/>
              </a:rPr>
              <a:t>(path</a:t>
            </a:r>
            <a:r>
              <a:rPr sz="3200" spc="-33" dirty="0">
                <a:latin typeface="Times New Roman"/>
                <a:cs typeface="Times New Roman"/>
              </a:rPr>
              <a:t> </a:t>
            </a:r>
            <a:r>
              <a:rPr sz="3200" spc="-6" dirty="0">
                <a:latin typeface="Times New Roman"/>
                <a:cs typeface="Times New Roman"/>
              </a:rPr>
              <a:t>selection)</a:t>
            </a:r>
            <a:r>
              <a:rPr sz="3200" spc="-39" dirty="0">
                <a:latin typeface="Times New Roman"/>
                <a:cs typeface="Times New Roman"/>
              </a:rPr>
              <a:t> </a:t>
            </a:r>
            <a:r>
              <a:rPr sz="3200" dirty="0">
                <a:latin typeface="Times New Roman"/>
                <a:cs typeface="Times New Roman"/>
              </a:rPr>
              <a:t>and</a:t>
            </a:r>
            <a:endParaRPr lang="en-US" sz="3200" dirty="0">
              <a:latin typeface="Times New Roman"/>
              <a:cs typeface="Times New Roman"/>
            </a:endParaRPr>
          </a:p>
          <a:p>
            <a:pPr marL="921148" lvl="2" indent="-252686">
              <a:buClr>
                <a:srgbClr val="C00000"/>
              </a:buClr>
              <a:buSzPct val="85000"/>
              <a:buFont typeface="Wingdings"/>
              <a:buChar char=""/>
              <a:tabLst>
                <a:tab pos="921148" algn="l"/>
                <a:tab pos="921847" algn="l"/>
              </a:tabLst>
            </a:pPr>
            <a:r>
              <a:rPr sz="3200" dirty="0">
                <a:latin typeface="Times New Roman"/>
                <a:cs typeface="Times New Roman"/>
              </a:rPr>
              <a:t>Places</a:t>
            </a:r>
            <a:r>
              <a:rPr sz="3200" spc="-39" dirty="0">
                <a:latin typeface="Times New Roman"/>
                <a:cs typeface="Times New Roman"/>
              </a:rPr>
              <a:t> </a:t>
            </a:r>
            <a:r>
              <a:rPr sz="3200" dirty="0">
                <a:latin typeface="Times New Roman"/>
                <a:cs typeface="Times New Roman"/>
              </a:rPr>
              <a:t>those</a:t>
            </a:r>
            <a:r>
              <a:rPr sz="3200" spc="-39" dirty="0">
                <a:latin typeface="Times New Roman"/>
                <a:cs typeface="Times New Roman"/>
              </a:rPr>
              <a:t> </a:t>
            </a:r>
            <a:r>
              <a:rPr sz="3200" dirty="0">
                <a:latin typeface="Times New Roman"/>
                <a:cs typeface="Times New Roman"/>
              </a:rPr>
              <a:t>best</a:t>
            </a:r>
            <a:r>
              <a:rPr sz="3200" spc="-17" dirty="0">
                <a:latin typeface="Times New Roman"/>
                <a:cs typeface="Times New Roman"/>
              </a:rPr>
              <a:t> </a:t>
            </a:r>
            <a:r>
              <a:rPr sz="3200" dirty="0">
                <a:latin typeface="Times New Roman"/>
                <a:cs typeface="Times New Roman"/>
              </a:rPr>
              <a:t>routes</a:t>
            </a:r>
            <a:r>
              <a:rPr sz="3200" spc="-44" dirty="0">
                <a:latin typeface="Times New Roman"/>
                <a:cs typeface="Times New Roman"/>
              </a:rPr>
              <a:t> </a:t>
            </a:r>
            <a:r>
              <a:rPr sz="3200" dirty="0">
                <a:latin typeface="Times New Roman"/>
                <a:cs typeface="Times New Roman"/>
              </a:rPr>
              <a:t>into</a:t>
            </a:r>
            <a:r>
              <a:rPr sz="3200" spc="-17" dirty="0">
                <a:latin typeface="Times New Roman"/>
                <a:cs typeface="Times New Roman"/>
              </a:rPr>
              <a:t> </a:t>
            </a:r>
            <a:r>
              <a:rPr sz="3200" spc="-6" dirty="0">
                <a:latin typeface="Times New Roman"/>
                <a:cs typeface="Times New Roman"/>
              </a:rPr>
              <a:t>its</a:t>
            </a:r>
            <a:r>
              <a:rPr sz="3200" spc="-11" dirty="0">
                <a:latin typeface="Times New Roman"/>
                <a:cs typeface="Times New Roman"/>
              </a:rPr>
              <a:t> </a:t>
            </a:r>
            <a:r>
              <a:rPr sz="3200" dirty="0">
                <a:latin typeface="Times New Roman"/>
                <a:cs typeface="Times New Roman"/>
              </a:rPr>
              <a:t>IP</a:t>
            </a:r>
            <a:r>
              <a:rPr sz="3200" spc="-99" dirty="0">
                <a:latin typeface="Times New Roman"/>
                <a:cs typeface="Times New Roman"/>
              </a:rPr>
              <a:t> </a:t>
            </a:r>
            <a:r>
              <a:rPr sz="3200" dirty="0">
                <a:latin typeface="Times New Roman"/>
                <a:cs typeface="Times New Roman"/>
              </a:rPr>
              <a:t>routing</a:t>
            </a:r>
            <a:r>
              <a:rPr sz="3200" spc="-44" dirty="0">
                <a:latin typeface="Times New Roman"/>
                <a:cs typeface="Times New Roman"/>
              </a:rPr>
              <a:t> </a:t>
            </a:r>
            <a:r>
              <a:rPr sz="3200" dirty="0">
                <a:latin typeface="Times New Roman"/>
                <a:cs typeface="Times New Roman"/>
              </a:rPr>
              <a:t>table.</a:t>
            </a:r>
            <a:r>
              <a:rPr sz="3200" spc="-28" dirty="0">
                <a:latin typeface="Times New Roman"/>
                <a:cs typeface="Times New Roman"/>
              </a:rPr>
              <a:t> </a:t>
            </a:r>
            <a:r>
              <a:rPr sz="3200" dirty="0">
                <a:latin typeface="Times New Roman"/>
                <a:cs typeface="Times New Roman"/>
              </a:rPr>
              <a:t>Examples</a:t>
            </a:r>
            <a:r>
              <a:rPr sz="3200" spc="-17" dirty="0">
                <a:latin typeface="Times New Roman"/>
                <a:cs typeface="Times New Roman"/>
              </a:rPr>
              <a:t> </a:t>
            </a:r>
            <a:r>
              <a:rPr sz="3200" dirty="0">
                <a:latin typeface="Times New Roman"/>
                <a:cs typeface="Times New Roman"/>
              </a:rPr>
              <a:t>include</a:t>
            </a:r>
            <a:r>
              <a:rPr sz="3200" spc="-39" dirty="0">
                <a:latin typeface="Times New Roman"/>
                <a:cs typeface="Times New Roman"/>
              </a:rPr>
              <a:t> </a:t>
            </a:r>
            <a:r>
              <a:rPr sz="3200" spc="-61" dirty="0">
                <a:latin typeface="Times New Roman"/>
                <a:cs typeface="Times New Roman"/>
              </a:rPr>
              <a:t>RIP,</a:t>
            </a:r>
            <a:r>
              <a:rPr lang="en-US" sz="3200" dirty="0">
                <a:latin typeface="Times New Roman"/>
                <a:cs typeface="Times New Roman"/>
              </a:rPr>
              <a:t> </a:t>
            </a:r>
            <a:r>
              <a:rPr sz="3200" spc="-39" dirty="0">
                <a:latin typeface="Times New Roman"/>
                <a:cs typeface="Times New Roman"/>
              </a:rPr>
              <a:t>EIGRP,</a:t>
            </a:r>
            <a:r>
              <a:rPr sz="3200" spc="-55" dirty="0">
                <a:latin typeface="Times New Roman"/>
                <a:cs typeface="Times New Roman"/>
              </a:rPr>
              <a:t> </a:t>
            </a:r>
            <a:r>
              <a:rPr sz="3200" spc="-33" dirty="0">
                <a:latin typeface="Times New Roman"/>
                <a:cs typeface="Times New Roman"/>
              </a:rPr>
              <a:t>OSPF,</a:t>
            </a:r>
            <a:r>
              <a:rPr sz="3200" spc="-39" dirty="0">
                <a:latin typeface="Times New Roman"/>
                <a:cs typeface="Times New Roman"/>
              </a:rPr>
              <a:t> </a:t>
            </a:r>
            <a:r>
              <a:rPr sz="3200" dirty="0">
                <a:latin typeface="Times New Roman"/>
                <a:cs typeface="Times New Roman"/>
              </a:rPr>
              <a:t>and</a:t>
            </a:r>
            <a:r>
              <a:rPr sz="3200" spc="-33" dirty="0">
                <a:latin typeface="Times New Roman"/>
                <a:cs typeface="Times New Roman"/>
              </a:rPr>
              <a:t> </a:t>
            </a:r>
            <a:r>
              <a:rPr sz="3200" spc="-61" dirty="0">
                <a:latin typeface="Times New Roman"/>
                <a:cs typeface="Times New Roman"/>
              </a:rPr>
              <a:t>BGP.</a:t>
            </a:r>
            <a:endParaRPr sz="3200"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60</a:t>
            </a:fld>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3" y="309926"/>
            <a:ext cx="6609816"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Routing</a:t>
            </a:r>
            <a:r>
              <a:rPr sz="4409" b="1" spc="-33"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a:t>
            </a:r>
            <a:r>
              <a:rPr sz="4409" b="1" spc="-28"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Functions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0" y="1505405"/>
            <a:ext cx="10080625" cy="5407126"/>
          </a:xfrm>
          <a:prstGeom prst="rect">
            <a:avLst/>
          </a:prstGeom>
        </p:spPr>
        <p:txBody>
          <a:bodyPr vert="horz" wrap="square" lIns="0" tIns="93096" rIns="0" bIns="0" rtlCol="0">
            <a:spAutoFit/>
          </a:bodyPr>
          <a:lstStyle/>
          <a:p>
            <a:pPr marL="471199" indent="-457200">
              <a:spcBef>
                <a:spcPts val="733"/>
              </a:spcBef>
              <a:buClr>
                <a:srgbClr val="D24717"/>
              </a:buClr>
              <a:buSzPct val="84000"/>
              <a:buFont typeface="Wingdings" panose="05000000000000000000" pitchFamily="2" charset="2"/>
              <a:buChar char="Ø"/>
              <a:tabLst>
                <a:tab pos="316382" algn="l"/>
              </a:tabLst>
            </a:pPr>
            <a:r>
              <a:rPr sz="3200" spc="-6" dirty="0">
                <a:latin typeface="Times New Roman"/>
                <a:cs typeface="Times New Roman"/>
              </a:rPr>
              <a:t>All IP</a:t>
            </a:r>
            <a:r>
              <a:rPr sz="3200" spc="-149" dirty="0">
                <a:latin typeface="Times New Roman"/>
                <a:cs typeface="Times New Roman"/>
              </a:rPr>
              <a:t> </a:t>
            </a:r>
            <a:r>
              <a:rPr sz="3200" spc="-11" dirty="0">
                <a:latin typeface="Times New Roman"/>
                <a:cs typeface="Times New Roman"/>
              </a:rPr>
              <a:t>routing</a:t>
            </a:r>
            <a:r>
              <a:rPr sz="3200" spc="17" dirty="0">
                <a:latin typeface="Times New Roman"/>
                <a:cs typeface="Times New Roman"/>
              </a:rPr>
              <a:t> </a:t>
            </a:r>
            <a:r>
              <a:rPr sz="3200" spc="-11" dirty="0">
                <a:latin typeface="Times New Roman"/>
                <a:cs typeface="Times New Roman"/>
              </a:rPr>
              <a:t>protocols</a:t>
            </a:r>
            <a:r>
              <a:rPr sz="3200" spc="44" dirty="0">
                <a:latin typeface="Times New Roman"/>
                <a:cs typeface="Times New Roman"/>
              </a:rPr>
              <a:t> </a:t>
            </a:r>
            <a:r>
              <a:rPr sz="3200" spc="-6" dirty="0">
                <a:latin typeface="Times New Roman"/>
                <a:cs typeface="Times New Roman"/>
              </a:rPr>
              <a:t>perform</a:t>
            </a:r>
            <a:r>
              <a:rPr sz="3200" spc="28" dirty="0">
                <a:latin typeface="Times New Roman"/>
                <a:cs typeface="Times New Roman"/>
              </a:rPr>
              <a:t> </a:t>
            </a:r>
            <a:r>
              <a:rPr sz="3200" b="1" spc="-6" dirty="0">
                <a:solidFill>
                  <a:srgbClr val="FF0000"/>
                </a:solidFill>
                <a:latin typeface="Times New Roman"/>
                <a:cs typeface="Times New Roman"/>
              </a:rPr>
              <a:t>the</a:t>
            </a:r>
            <a:r>
              <a:rPr sz="3200" b="1" spc="22" dirty="0">
                <a:solidFill>
                  <a:srgbClr val="FF0000"/>
                </a:solidFill>
                <a:latin typeface="Times New Roman"/>
                <a:cs typeface="Times New Roman"/>
              </a:rPr>
              <a:t> </a:t>
            </a:r>
            <a:r>
              <a:rPr sz="3200" b="1" spc="-6" dirty="0">
                <a:solidFill>
                  <a:srgbClr val="FF0000"/>
                </a:solidFill>
                <a:latin typeface="Times New Roman"/>
                <a:cs typeface="Times New Roman"/>
              </a:rPr>
              <a:t>same</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general</a:t>
            </a:r>
            <a:r>
              <a:rPr sz="3200" b="1" spc="22" dirty="0">
                <a:solidFill>
                  <a:srgbClr val="FF0000"/>
                </a:solidFill>
                <a:latin typeface="Times New Roman"/>
                <a:cs typeface="Times New Roman"/>
              </a:rPr>
              <a:t> </a:t>
            </a:r>
            <a:r>
              <a:rPr sz="3200" b="1" spc="-6" dirty="0">
                <a:solidFill>
                  <a:srgbClr val="FF0000"/>
                </a:solidFill>
                <a:latin typeface="Times New Roman"/>
                <a:cs typeface="Times New Roman"/>
              </a:rPr>
              <a:t>functions</a:t>
            </a:r>
            <a:r>
              <a:rPr sz="3200" spc="-6" dirty="0">
                <a:latin typeface="Times New Roman"/>
                <a:cs typeface="Times New Roman"/>
              </a:rPr>
              <a:t>:</a:t>
            </a:r>
            <a:endParaRPr sz="3200" dirty="0">
              <a:latin typeface="Times New Roman"/>
              <a:cs typeface="Times New Roman"/>
            </a:endParaRPr>
          </a:p>
          <a:p>
            <a:pPr marL="772882" marR="1257829" lvl="1" indent="-302383">
              <a:spcBef>
                <a:spcPts val="656"/>
              </a:spcBef>
              <a:buClr>
                <a:srgbClr val="D24717"/>
              </a:buClr>
              <a:buSzPct val="84615"/>
              <a:buFont typeface="Wingdings"/>
              <a:buChar char=""/>
              <a:tabLst>
                <a:tab pos="316382" algn="l"/>
              </a:tabLst>
            </a:pPr>
            <a:r>
              <a:rPr sz="2866" dirty="0">
                <a:latin typeface="Times New Roman"/>
                <a:cs typeface="Times New Roman"/>
              </a:rPr>
              <a:t>Learn</a:t>
            </a:r>
            <a:r>
              <a:rPr sz="2866" spc="-39" dirty="0">
                <a:latin typeface="Times New Roman"/>
                <a:cs typeface="Times New Roman"/>
              </a:rPr>
              <a:t> </a:t>
            </a:r>
            <a:r>
              <a:rPr sz="2866" dirty="0">
                <a:latin typeface="Times New Roman"/>
                <a:cs typeface="Times New Roman"/>
              </a:rPr>
              <a:t>routing</a:t>
            </a:r>
            <a:r>
              <a:rPr sz="2866" spc="-6" dirty="0">
                <a:latin typeface="Times New Roman"/>
                <a:cs typeface="Times New Roman"/>
              </a:rPr>
              <a:t> information</a:t>
            </a:r>
            <a:r>
              <a:rPr sz="2866" spc="-11" dirty="0">
                <a:latin typeface="Times New Roman"/>
                <a:cs typeface="Times New Roman"/>
              </a:rPr>
              <a:t> </a:t>
            </a:r>
            <a:r>
              <a:rPr sz="2866" dirty="0">
                <a:latin typeface="Times New Roman"/>
                <a:cs typeface="Times New Roman"/>
              </a:rPr>
              <a:t>about</a:t>
            </a:r>
            <a:r>
              <a:rPr sz="2866" spc="-33" dirty="0">
                <a:latin typeface="Times New Roman"/>
                <a:cs typeface="Times New Roman"/>
              </a:rPr>
              <a:t> </a:t>
            </a:r>
            <a:r>
              <a:rPr sz="2866" dirty="0">
                <a:latin typeface="Times New Roman"/>
                <a:cs typeface="Times New Roman"/>
              </a:rPr>
              <a:t>IP</a:t>
            </a:r>
            <a:r>
              <a:rPr sz="2866" spc="-99" dirty="0">
                <a:latin typeface="Times New Roman"/>
                <a:cs typeface="Times New Roman"/>
              </a:rPr>
              <a:t> </a:t>
            </a:r>
            <a:r>
              <a:rPr sz="2866" dirty="0">
                <a:latin typeface="Times New Roman"/>
                <a:cs typeface="Times New Roman"/>
              </a:rPr>
              <a:t>subnets</a:t>
            </a:r>
            <a:r>
              <a:rPr sz="2866" spc="-28" dirty="0">
                <a:latin typeface="Times New Roman"/>
                <a:cs typeface="Times New Roman"/>
              </a:rPr>
              <a:t> </a:t>
            </a:r>
            <a:r>
              <a:rPr sz="2866" dirty="0">
                <a:latin typeface="Times New Roman"/>
                <a:cs typeface="Times New Roman"/>
              </a:rPr>
              <a:t>from</a:t>
            </a:r>
            <a:r>
              <a:rPr sz="2866" spc="-6" dirty="0">
                <a:latin typeface="Times New Roman"/>
                <a:cs typeface="Times New Roman"/>
              </a:rPr>
              <a:t> </a:t>
            </a:r>
            <a:r>
              <a:rPr sz="2866" dirty="0">
                <a:latin typeface="Times New Roman"/>
                <a:cs typeface="Times New Roman"/>
              </a:rPr>
              <a:t>other </a:t>
            </a:r>
            <a:r>
              <a:rPr sz="2866" spc="-700" dirty="0">
                <a:latin typeface="Times New Roman"/>
                <a:cs typeface="Times New Roman"/>
              </a:rPr>
              <a:t> </a:t>
            </a:r>
            <a:r>
              <a:rPr sz="2866" dirty="0">
                <a:latin typeface="Times New Roman"/>
                <a:cs typeface="Times New Roman"/>
              </a:rPr>
              <a:t>neighboring</a:t>
            </a:r>
            <a:r>
              <a:rPr sz="2866" spc="-72" dirty="0">
                <a:latin typeface="Times New Roman"/>
                <a:cs typeface="Times New Roman"/>
              </a:rPr>
              <a:t> </a:t>
            </a:r>
            <a:r>
              <a:rPr sz="2866" spc="-6" dirty="0">
                <a:latin typeface="Times New Roman"/>
                <a:cs typeface="Times New Roman"/>
              </a:rPr>
              <a:t>routers.</a:t>
            </a:r>
            <a:endParaRPr sz="2866" dirty="0">
              <a:latin typeface="Times New Roman"/>
              <a:cs typeface="Times New Roman"/>
            </a:endParaRPr>
          </a:p>
          <a:p>
            <a:pPr marL="772882" marR="1116437" lvl="1" indent="-302383">
              <a:spcBef>
                <a:spcPts val="661"/>
              </a:spcBef>
              <a:buClr>
                <a:srgbClr val="D24717"/>
              </a:buClr>
              <a:buSzPct val="84615"/>
              <a:buFont typeface="Wingdings"/>
              <a:buChar char=""/>
              <a:tabLst>
                <a:tab pos="316382" algn="l"/>
              </a:tabLst>
            </a:pPr>
            <a:r>
              <a:rPr sz="2866" dirty="0">
                <a:latin typeface="Times New Roman"/>
                <a:cs typeface="Times New Roman"/>
              </a:rPr>
              <a:t>Advertise</a:t>
            </a:r>
            <a:r>
              <a:rPr sz="2866" spc="-44" dirty="0">
                <a:latin typeface="Times New Roman"/>
                <a:cs typeface="Times New Roman"/>
              </a:rPr>
              <a:t> </a:t>
            </a:r>
            <a:r>
              <a:rPr sz="2866" dirty="0">
                <a:latin typeface="Times New Roman"/>
                <a:cs typeface="Times New Roman"/>
              </a:rPr>
              <a:t>routing</a:t>
            </a:r>
            <a:r>
              <a:rPr sz="2866" spc="-17" dirty="0">
                <a:latin typeface="Times New Roman"/>
                <a:cs typeface="Times New Roman"/>
              </a:rPr>
              <a:t> </a:t>
            </a:r>
            <a:r>
              <a:rPr sz="2866" spc="-6" dirty="0">
                <a:latin typeface="Times New Roman"/>
                <a:cs typeface="Times New Roman"/>
              </a:rPr>
              <a:t>information</a:t>
            </a:r>
            <a:r>
              <a:rPr sz="2866" spc="-11" dirty="0">
                <a:latin typeface="Times New Roman"/>
                <a:cs typeface="Times New Roman"/>
              </a:rPr>
              <a:t> </a:t>
            </a:r>
            <a:r>
              <a:rPr sz="2866" dirty="0">
                <a:latin typeface="Times New Roman"/>
                <a:cs typeface="Times New Roman"/>
              </a:rPr>
              <a:t>about</a:t>
            </a:r>
            <a:r>
              <a:rPr sz="2866" spc="-11" dirty="0">
                <a:latin typeface="Times New Roman"/>
                <a:cs typeface="Times New Roman"/>
              </a:rPr>
              <a:t> </a:t>
            </a:r>
            <a:r>
              <a:rPr sz="2866" dirty="0">
                <a:latin typeface="Times New Roman"/>
                <a:cs typeface="Times New Roman"/>
              </a:rPr>
              <a:t>IP</a:t>
            </a:r>
            <a:r>
              <a:rPr sz="2866" spc="-121" dirty="0">
                <a:latin typeface="Times New Roman"/>
                <a:cs typeface="Times New Roman"/>
              </a:rPr>
              <a:t> </a:t>
            </a:r>
            <a:r>
              <a:rPr sz="2866" dirty="0">
                <a:latin typeface="Times New Roman"/>
                <a:cs typeface="Times New Roman"/>
              </a:rPr>
              <a:t>subnets</a:t>
            </a:r>
            <a:r>
              <a:rPr sz="2866" spc="-11" dirty="0">
                <a:latin typeface="Times New Roman"/>
                <a:cs typeface="Times New Roman"/>
              </a:rPr>
              <a:t> </a:t>
            </a:r>
            <a:r>
              <a:rPr sz="2866" dirty="0">
                <a:latin typeface="Times New Roman"/>
                <a:cs typeface="Times New Roman"/>
              </a:rPr>
              <a:t>to</a:t>
            </a:r>
            <a:r>
              <a:rPr lang="en-US" sz="2866" spc="-17" dirty="0">
                <a:latin typeface="Times New Roman"/>
                <a:cs typeface="Times New Roman"/>
              </a:rPr>
              <a:t> </a:t>
            </a:r>
            <a:r>
              <a:rPr sz="2866" dirty="0">
                <a:latin typeface="Times New Roman"/>
                <a:cs typeface="Times New Roman"/>
              </a:rPr>
              <a:t>other </a:t>
            </a:r>
            <a:r>
              <a:rPr sz="2866" spc="-700" dirty="0">
                <a:latin typeface="Times New Roman"/>
                <a:cs typeface="Times New Roman"/>
              </a:rPr>
              <a:t> </a:t>
            </a:r>
            <a:r>
              <a:rPr sz="2866" dirty="0">
                <a:latin typeface="Times New Roman"/>
                <a:cs typeface="Times New Roman"/>
              </a:rPr>
              <a:t>neighboring</a:t>
            </a:r>
            <a:r>
              <a:rPr sz="2866" spc="-72" dirty="0">
                <a:latin typeface="Times New Roman"/>
                <a:cs typeface="Times New Roman"/>
              </a:rPr>
              <a:t> </a:t>
            </a:r>
            <a:r>
              <a:rPr sz="2866" spc="-6" dirty="0">
                <a:latin typeface="Times New Roman"/>
                <a:cs typeface="Times New Roman"/>
              </a:rPr>
              <a:t>routers.</a:t>
            </a:r>
            <a:endParaRPr sz="2866" dirty="0">
              <a:latin typeface="Times New Roman"/>
              <a:cs typeface="Times New Roman"/>
            </a:endParaRPr>
          </a:p>
          <a:p>
            <a:pPr marL="772882" marR="5600" lvl="1" indent="-302383">
              <a:spcBef>
                <a:spcPts val="667"/>
              </a:spcBef>
              <a:buClr>
                <a:srgbClr val="D24717"/>
              </a:buClr>
              <a:buSzPct val="84615"/>
              <a:buFont typeface="Wingdings"/>
              <a:buChar char=""/>
              <a:tabLst>
                <a:tab pos="316382" algn="l"/>
              </a:tabLst>
            </a:pPr>
            <a:r>
              <a:rPr sz="2866" dirty="0">
                <a:latin typeface="Times New Roman"/>
                <a:cs typeface="Times New Roman"/>
              </a:rPr>
              <a:t>If</a:t>
            </a:r>
            <a:r>
              <a:rPr sz="2866" spc="-22" dirty="0">
                <a:latin typeface="Times New Roman"/>
                <a:cs typeface="Times New Roman"/>
              </a:rPr>
              <a:t> </a:t>
            </a:r>
            <a:r>
              <a:rPr sz="2866" spc="-6" dirty="0">
                <a:latin typeface="Times New Roman"/>
                <a:cs typeface="Times New Roman"/>
              </a:rPr>
              <a:t>more</a:t>
            </a:r>
            <a:r>
              <a:rPr sz="2866" dirty="0">
                <a:latin typeface="Times New Roman"/>
                <a:cs typeface="Times New Roman"/>
              </a:rPr>
              <a:t> </a:t>
            </a:r>
            <a:r>
              <a:rPr sz="2866" spc="-6" dirty="0">
                <a:latin typeface="Times New Roman"/>
                <a:cs typeface="Times New Roman"/>
              </a:rPr>
              <a:t>than </a:t>
            </a:r>
            <a:r>
              <a:rPr sz="2866" spc="6" dirty="0">
                <a:latin typeface="Times New Roman"/>
                <a:cs typeface="Times New Roman"/>
              </a:rPr>
              <a:t>one</a:t>
            </a:r>
            <a:r>
              <a:rPr sz="2866" spc="-22" dirty="0">
                <a:latin typeface="Times New Roman"/>
                <a:cs typeface="Times New Roman"/>
              </a:rPr>
              <a:t> </a:t>
            </a:r>
            <a:r>
              <a:rPr sz="2866" dirty="0">
                <a:latin typeface="Times New Roman"/>
                <a:cs typeface="Times New Roman"/>
              </a:rPr>
              <a:t>possible</a:t>
            </a:r>
            <a:r>
              <a:rPr sz="2866" spc="-17" dirty="0">
                <a:latin typeface="Times New Roman"/>
                <a:cs typeface="Times New Roman"/>
              </a:rPr>
              <a:t> </a:t>
            </a:r>
            <a:r>
              <a:rPr sz="2866" dirty="0">
                <a:latin typeface="Times New Roman"/>
                <a:cs typeface="Times New Roman"/>
              </a:rPr>
              <a:t>route</a:t>
            </a:r>
            <a:r>
              <a:rPr sz="2866" spc="-28" dirty="0">
                <a:latin typeface="Times New Roman"/>
                <a:cs typeface="Times New Roman"/>
              </a:rPr>
              <a:t> </a:t>
            </a:r>
            <a:r>
              <a:rPr sz="2866" spc="-6" dirty="0">
                <a:latin typeface="Times New Roman"/>
                <a:cs typeface="Times New Roman"/>
              </a:rPr>
              <a:t>exists</a:t>
            </a:r>
            <a:r>
              <a:rPr sz="2866" dirty="0">
                <a:latin typeface="Times New Roman"/>
                <a:cs typeface="Times New Roman"/>
              </a:rPr>
              <a:t> to</a:t>
            </a:r>
            <a:r>
              <a:rPr sz="2866" spc="6" dirty="0">
                <a:latin typeface="Times New Roman"/>
                <a:cs typeface="Times New Roman"/>
              </a:rPr>
              <a:t> </a:t>
            </a:r>
            <a:r>
              <a:rPr sz="2866" spc="-6" dirty="0">
                <a:latin typeface="Times New Roman"/>
                <a:cs typeface="Times New Roman"/>
              </a:rPr>
              <a:t>reach</a:t>
            </a:r>
            <a:r>
              <a:rPr sz="2866" spc="-17" dirty="0">
                <a:latin typeface="Times New Roman"/>
                <a:cs typeface="Times New Roman"/>
              </a:rPr>
              <a:t> </a:t>
            </a:r>
            <a:r>
              <a:rPr sz="2866" spc="6" dirty="0">
                <a:latin typeface="Times New Roman"/>
                <a:cs typeface="Times New Roman"/>
              </a:rPr>
              <a:t>one</a:t>
            </a:r>
            <a:r>
              <a:rPr sz="2866" spc="-17" dirty="0">
                <a:latin typeface="Times New Roman"/>
                <a:cs typeface="Times New Roman"/>
              </a:rPr>
              <a:t> </a:t>
            </a:r>
            <a:r>
              <a:rPr sz="2866" dirty="0">
                <a:latin typeface="Times New Roman"/>
                <a:cs typeface="Times New Roman"/>
              </a:rPr>
              <a:t>subnet,</a:t>
            </a:r>
            <a:r>
              <a:rPr sz="2866" spc="-22" dirty="0">
                <a:latin typeface="Times New Roman"/>
                <a:cs typeface="Times New Roman"/>
              </a:rPr>
              <a:t> </a:t>
            </a:r>
            <a:r>
              <a:rPr sz="2866" dirty="0">
                <a:latin typeface="Times New Roman"/>
                <a:cs typeface="Times New Roman"/>
              </a:rPr>
              <a:t>pick </a:t>
            </a:r>
            <a:r>
              <a:rPr sz="2866" spc="-700" dirty="0">
                <a:latin typeface="Times New Roman"/>
                <a:cs typeface="Times New Roman"/>
              </a:rPr>
              <a:t> </a:t>
            </a:r>
            <a:r>
              <a:rPr sz="2866" dirty="0">
                <a:latin typeface="Times New Roman"/>
                <a:cs typeface="Times New Roman"/>
              </a:rPr>
              <a:t>the</a:t>
            </a:r>
            <a:r>
              <a:rPr sz="2866" spc="-28" dirty="0">
                <a:latin typeface="Times New Roman"/>
                <a:cs typeface="Times New Roman"/>
              </a:rPr>
              <a:t> </a:t>
            </a:r>
            <a:r>
              <a:rPr sz="2866" dirty="0">
                <a:latin typeface="Times New Roman"/>
                <a:cs typeface="Times New Roman"/>
              </a:rPr>
              <a:t>best</a:t>
            </a:r>
            <a:r>
              <a:rPr sz="2866" spc="-11" dirty="0">
                <a:latin typeface="Times New Roman"/>
                <a:cs typeface="Times New Roman"/>
              </a:rPr>
              <a:t> </a:t>
            </a:r>
            <a:r>
              <a:rPr sz="2866" dirty="0">
                <a:latin typeface="Times New Roman"/>
                <a:cs typeface="Times New Roman"/>
              </a:rPr>
              <a:t>route</a:t>
            </a:r>
            <a:r>
              <a:rPr sz="2866" spc="-28" dirty="0">
                <a:latin typeface="Times New Roman"/>
                <a:cs typeface="Times New Roman"/>
              </a:rPr>
              <a:t> </a:t>
            </a:r>
            <a:r>
              <a:rPr sz="2866" dirty="0">
                <a:latin typeface="Times New Roman"/>
                <a:cs typeface="Times New Roman"/>
              </a:rPr>
              <a:t>based</a:t>
            </a:r>
            <a:r>
              <a:rPr sz="2866" spc="-17" dirty="0">
                <a:latin typeface="Times New Roman"/>
                <a:cs typeface="Times New Roman"/>
              </a:rPr>
              <a:t> </a:t>
            </a:r>
            <a:r>
              <a:rPr sz="2866" dirty="0">
                <a:latin typeface="Times New Roman"/>
                <a:cs typeface="Times New Roman"/>
              </a:rPr>
              <a:t>on</a:t>
            </a:r>
            <a:r>
              <a:rPr sz="2866" spc="-11" dirty="0">
                <a:latin typeface="Times New Roman"/>
                <a:cs typeface="Times New Roman"/>
              </a:rPr>
              <a:t> </a:t>
            </a:r>
            <a:r>
              <a:rPr sz="2866" dirty="0">
                <a:latin typeface="Times New Roman"/>
                <a:cs typeface="Times New Roman"/>
              </a:rPr>
              <a:t>a </a:t>
            </a:r>
            <a:r>
              <a:rPr sz="2866" spc="-6" dirty="0">
                <a:latin typeface="Times New Roman"/>
                <a:cs typeface="Times New Roman"/>
              </a:rPr>
              <a:t>metric.</a:t>
            </a:r>
            <a:endParaRPr sz="2866" dirty="0">
              <a:latin typeface="Times New Roman"/>
              <a:cs typeface="Times New Roman"/>
            </a:endParaRPr>
          </a:p>
          <a:p>
            <a:pPr marL="772882" marR="42698" lvl="1" indent="-302383">
              <a:spcBef>
                <a:spcPts val="661"/>
              </a:spcBef>
              <a:buClr>
                <a:srgbClr val="D24717"/>
              </a:buClr>
              <a:buSzPct val="84615"/>
              <a:buFont typeface="Wingdings"/>
              <a:buChar char=""/>
              <a:tabLst>
                <a:tab pos="316382" algn="l"/>
              </a:tabLst>
            </a:pPr>
            <a:r>
              <a:rPr sz="2866" dirty="0">
                <a:latin typeface="Times New Roman"/>
                <a:cs typeface="Times New Roman"/>
              </a:rPr>
              <a:t>If the network topology changes—for </a:t>
            </a:r>
            <a:r>
              <a:rPr sz="2866" spc="-6" dirty="0">
                <a:latin typeface="Times New Roman"/>
                <a:cs typeface="Times New Roman"/>
              </a:rPr>
              <a:t>example, </a:t>
            </a:r>
            <a:r>
              <a:rPr sz="2866" dirty="0">
                <a:latin typeface="Times New Roman"/>
                <a:cs typeface="Times New Roman"/>
              </a:rPr>
              <a:t>a </a:t>
            </a:r>
            <a:r>
              <a:rPr sz="2866" spc="-6" dirty="0">
                <a:latin typeface="Times New Roman"/>
                <a:cs typeface="Times New Roman"/>
              </a:rPr>
              <a:t>link fails— </a:t>
            </a:r>
            <a:r>
              <a:rPr sz="2866" dirty="0">
                <a:latin typeface="Times New Roman"/>
                <a:cs typeface="Times New Roman"/>
              </a:rPr>
              <a:t> </a:t>
            </a:r>
            <a:r>
              <a:rPr sz="2866" spc="-6" dirty="0">
                <a:latin typeface="Times New Roman"/>
                <a:cs typeface="Times New Roman"/>
              </a:rPr>
              <a:t>react </a:t>
            </a:r>
            <a:r>
              <a:rPr sz="2866" dirty="0">
                <a:latin typeface="Times New Roman"/>
                <a:cs typeface="Times New Roman"/>
              </a:rPr>
              <a:t>by </a:t>
            </a:r>
            <a:r>
              <a:rPr sz="2866" spc="-6" dirty="0">
                <a:latin typeface="Times New Roman"/>
                <a:cs typeface="Times New Roman"/>
              </a:rPr>
              <a:t>advertising </a:t>
            </a:r>
            <a:r>
              <a:rPr sz="2866" dirty="0">
                <a:latin typeface="Times New Roman"/>
                <a:cs typeface="Times New Roman"/>
              </a:rPr>
              <a:t>that some routes have </a:t>
            </a:r>
            <a:r>
              <a:rPr sz="2866" spc="-6" dirty="0">
                <a:latin typeface="Times New Roman"/>
                <a:cs typeface="Times New Roman"/>
              </a:rPr>
              <a:t>failed, </a:t>
            </a:r>
            <a:r>
              <a:rPr sz="2866" dirty="0">
                <a:latin typeface="Times New Roman"/>
                <a:cs typeface="Times New Roman"/>
              </a:rPr>
              <a:t>and pick a </a:t>
            </a:r>
            <a:r>
              <a:rPr sz="2866" spc="6" dirty="0">
                <a:latin typeface="Times New Roman"/>
                <a:cs typeface="Times New Roman"/>
              </a:rPr>
              <a:t> </a:t>
            </a:r>
            <a:r>
              <a:rPr sz="2866" dirty="0">
                <a:latin typeface="Times New Roman"/>
                <a:cs typeface="Times New Roman"/>
              </a:rPr>
              <a:t>new</a:t>
            </a:r>
            <a:r>
              <a:rPr sz="2866" spc="-28" dirty="0">
                <a:latin typeface="Times New Roman"/>
                <a:cs typeface="Times New Roman"/>
              </a:rPr>
              <a:t> </a:t>
            </a:r>
            <a:r>
              <a:rPr sz="2866" dirty="0">
                <a:latin typeface="Times New Roman"/>
                <a:cs typeface="Times New Roman"/>
              </a:rPr>
              <a:t>currently</a:t>
            </a:r>
            <a:r>
              <a:rPr sz="2866" spc="-33" dirty="0">
                <a:latin typeface="Times New Roman"/>
                <a:cs typeface="Times New Roman"/>
              </a:rPr>
              <a:t> </a:t>
            </a:r>
            <a:r>
              <a:rPr sz="2866" dirty="0">
                <a:latin typeface="Times New Roman"/>
                <a:cs typeface="Times New Roman"/>
              </a:rPr>
              <a:t>best</a:t>
            </a:r>
            <a:r>
              <a:rPr sz="2866" spc="-17" dirty="0">
                <a:latin typeface="Times New Roman"/>
                <a:cs typeface="Times New Roman"/>
              </a:rPr>
              <a:t> </a:t>
            </a:r>
            <a:r>
              <a:rPr sz="2866" dirty="0">
                <a:latin typeface="Times New Roman"/>
                <a:cs typeface="Times New Roman"/>
              </a:rPr>
              <a:t>route.</a:t>
            </a:r>
            <a:r>
              <a:rPr sz="2866" spc="-28" dirty="0">
                <a:latin typeface="Times New Roman"/>
                <a:cs typeface="Times New Roman"/>
              </a:rPr>
              <a:t> </a:t>
            </a:r>
            <a:r>
              <a:rPr sz="2866" dirty="0">
                <a:latin typeface="Times New Roman"/>
                <a:cs typeface="Times New Roman"/>
              </a:rPr>
              <a:t>(This</a:t>
            </a:r>
            <a:r>
              <a:rPr sz="2866" spc="-11" dirty="0">
                <a:latin typeface="Times New Roman"/>
                <a:cs typeface="Times New Roman"/>
              </a:rPr>
              <a:t> </a:t>
            </a:r>
            <a:r>
              <a:rPr sz="2866" dirty="0">
                <a:latin typeface="Times New Roman"/>
                <a:cs typeface="Times New Roman"/>
              </a:rPr>
              <a:t>process</a:t>
            </a:r>
            <a:r>
              <a:rPr sz="2866" spc="-39" dirty="0">
                <a:latin typeface="Times New Roman"/>
                <a:cs typeface="Times New Roman"/>
              </a:rPr>
              <a:t> </a:t>
            </a:r>
            <a:r>
              <a:rPr sz="2866" dirty="0">
                <a:latin typeface="Times New Roman"/>
                <a:cs typeface="Times New Roman"/>
              </a:rPr>
              <a:t>is</a:t>
            </a:r>
            <a:r>
              <a:rPr sz="2866" spc="-11" dirty="0">
                <a:latin typeface="Times New Roman"/>
                <a:cs typeface="Times New Roman"/>
              </a:rPr>
              <a:t> </a:t>
            </a:r>
            <a:r>
              <a:rPr sz="2866" spc="-6" dirty="0">
                <a:latin typeface="Times New Roman"/>
                <a:cs typeface="Times New Roman"/>
              </a:rPr>
              <a:t>called</a:t>
            </a:r>
            <a:r>
              <a:rPr lang="en-US" sz="2866" spc="-6" dirty="0">
                <a:latin typeface="Times New Roman"/>
                <a:cs typeface="Times New Roman"/>
              </a:rPr>
              <a:t> </a:t>
            </a:r>
            <a:r>
              <a:rPr sz="2866" b="1" dirty="0">
                <a:solidFill>
                  <a:srgbClr val="FF0000"/>
                </a:solidFill>
                <a:latin typeface="Times New Roman"/>
                <a:cs typeface="Times New Roman"/>
              </a:rPr>
              <a:t>convergence</a:t>
            </a:r>
            <a:r>
              <a:rPr sz="2866" dirty="0">
                <a:latin typeface="Times New Roman"/>
                <a:cs typeface="Times New Roman"/>
              </a:rPr>
              <a:t>.)</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61</a:t>
            </a:fld>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4791" y="324962"/>
            <a:ext cx="7830032" cy="691244"/>
          </a:xfrm>
          <a:prstGeom prst="rect">
            <a:avLst/>
          </a:prstGeom>
        </p:spPr>
        <p:txBody>
          <a:bodyPr vert="horz" wrap="square" lIns="0" tIns="13999" rIns="0" bIns="0" rtlCol="0" anchor="ctr">
            <a:spAutoFit/>
          </a:bodyPr>
          <a:lstStyle/>
          <a:p>
            <a:pPr marL="13999">
              <a:lnSpc>
                <a:spcPct val="100000"/>
              </a:lnSpc>
              <a:spcBef>
                <a:spcPts val="110"/>
              </a:spcBef>
            </a:pPr>
            <a:r>
              <a:rPr b="1" spc="88" dirty="0">
                <a:solidFill>
                  <a:schemeClr val="bg1"/>
                </a:solidFill>
                <a:latin typeface="Times New Roman" panose="02020603050405020304" pitchFamily="18" charset="0"/>
                <a:cs typeface="Times New Roman" panose="02020603050405020304" pitchFamily="18" charset="0"/>
              </a:rPr>
              <a:t>Routed</a:t>
            </a:r>
            <a:r>
              <a:rPr b="1" spc="72" dirty="0">
                <a:solidFill>
                  <a:schemeClr val="bg1"/>
                </a:solidFill>
                <a:latin typeface="Times New Roman" panose="02020603050405020304" pitchFamily="18" charset="0"/>
                <a:cs typeface="Times New Roman" panose="02020603050405020304" pitchFamily="18" charset="0"/>
              </a:rPr>
              <a:t> </a:t>
            </a:r>
            <a:r>
              <a:rPr b="1" spc="50" dirty="0">
                <a:solidFill>
                  <a:schemeClr val="bg1"/>
                </a:solidFill>
                <a:latin typeface="Times New Roman" panose="02020603050405020304" pitchFamily="18" charset="0"/>
                <a:cs typeface="Times New Roman" panose="02020603050405020304" pitchFamily="18" charset="0"/>
              </a:rPr>
              <a:t>and</a:t>
            </a:r>
            <a:r>
              <a:rPr b="1" spc="83" dirty="0">
                <a:solidFill>
                  <a:schemeClr val="bg1"/>
                </a:solidFill>
                <a:latin typeface="Times New Roman" panose="02020603050405020304" pitchFamily="18" charset="0"/>
                <a:cs typeface="Times New Roman" panose="02020603050405020304" pitchFamily="18" charset="0"/>
              </a:rPr>
              <a:t> </a:t>
            </a:r>
            <a:r>
              <a:rPr b="1" spc="165" dirty="0">
                <a:solidFill>
                  <a:schemeClr val="bg1"/>
                </a:solidFill>
                <a:latin typeface="Times New Roman" panose="02020603050405020304" pitchFamily="18" charset="0"/>
                <a:cs typeface="Times New Roman" panose="02020603050405020304" pitchFamily="18" charset="0"/>
              </a:rPr>
              <a:t>Routing</a:t>
            </a:r>
            <a:r>
              <a:rPr b="1" spc="88" dirty="0">
                <a:solidFill>
                  <a:schemeClr val="bg1"/>
                </a:solidFill>
                <a:latin typeface="Times New Roman" panose="02020603050405020304" pitchFamily="18" charset="0"/>
                <a:cs typeface="Times New Roman" panose="02020603050405020304" pitchFamily="18" charset="0"/>
              </a:rPr>
              <a:t> </a:t>
            </a:r>
            <a:r>
              <a:rPr b="1" spc="110"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230428" y="1573704"/>
            <a:ext cx="9165406" cy="5003388"/>
          </a:xfrm>
          <a:prstGeom prst="rect">
            <a:avLst/>
          </a:prstGeom>
        </p:spPr>
        <p:txBody>
          <a:bodyPr vert="horz" wrap="square" lIns="0" tIns="14699" rIns="0" bIns="0" rtlCol="0">
            <a:spAutoFit/>
          </a:bodyPr>
          <a:lstStyle/>
          <a:p>
            <a:pPr marL="471199" indent="-457200">
              <a:buClr>
                <a:srgbClr val="D24717"/>
              </a:buClr>
              <a:buSzPct val="84615"/>
              <a:buFont typeface="Wingdings" panose="05000000000000000000" pitchFamily="2" charset="2"/>
              <a:buChar char="Ø"/>
              <a:tabLst>
                <a:tab pos="316382" algn="l"/>
              </a:tabLst>
            </a:pPr>
            <a:r>
              <a:rPr sz="3200" b="1" dirty="0">
                <a:solidFill>
                  <a:srgbClr val="FF0000"/>
                </a:solidFill>
                <a:latin typeface="Times New Roman"/>
                <a:cs typeface="Times New Roman"/>
              </a:rPr>
              <a:t>Routed</a:t>
            </a:r>
            <a:r>
              <a:rPr sz="3200" b="1" spc="-61" dirty="0">
                <a:solidFill>
                  <a:srgbClr val="FF0000"/>
                </a:solidFill>
                <a:latin typeface="Times New Roman"/>
                <a:cs typeface="Times New Roman"/>
              </a:rPr>
              <a:t> </a:t>
            </a:r>
            <a:r>
              <a:rPr sz="3200" b="1" spc="-6" dirty="0">
                <a:solidFill>
                  <a:srgbClr val="FF0000"/>
                </a:solidFill>
                <a:latin typeface="Times New Roman"/>
                <a:cs typeface="Times New Roman"/>
              </a:rPr>
              <a:t>protocol</a:t>
            </a:r>
            <a:r>
              <a:rPr sz="3200" b="1" spc="-44" dirty="0">
                <a:solidFill>
                  <a:srgbClr val="FF0000"/>
                </a:solidFill>
                <a:latin typeface="Times New Roman"/>
                <a:cs typeface="Times New Roman"/>
              </a:rPr>
              <a:t> </a:t>
            </a:r>
            <a:r>
              <a:rPr sz="3200" b="1" spc="-6" dirty="0">
                <a:solidFill>
                  <a:srgbClr val="FF0000"/>
                </a:solidFill>
                <a:latin typeface="Times New Roman"/>
                <a:cs typeface="Times New Roman"/>
              </a:rPr>
              <a:t>(routable</a:t>
            </a:r>
            <a:r>
              <a:rPr sz="3200" b="1" spc="-28" dirty="0">
                <a:solidFill>
                  <a:srgbClr val="FF0000"/>
                </a:solidFill>
                <a:latin typeface="Times New Roman"/>
                <a:cs typeface="Times New Roman"/>
              </a:rPr>
              <a:t> </a:t>
            </a:r>
            <a:r>
              <a:rPr sz="3200" b="1" spc="-6" dirty="0">
                <a:solidFill>
                  <a:srgbClr val="FF0000"/>
                </a:solidFill>
                <a:latin typeface="Times New Roman"/>
                <a:cs typeface="Times New Roman"/>
              </a:rPr>
              <a:t>protocol)</a:t>
            </a:r>
            <a:endParaRPr sz="3200" dirty="0">
              <a:solidFill>
                <a:srgbClr val="FF0000"/>
              </a:solidFill>
              <a:latin typeface="Times New Roman"/>
              <a:cs typeface="Times New Roman"/>
            </a:endParaRPr>
          </a:p>
          <a:p>
            <a:pPr marL="822579" lvl="1" indent="-457200">
              <a:buClr>
                <a:srgbClr val="9B2C1F"/>
              </a:buClr>
              <a:buSzPct val="84090"/>
              <a:buFont typeface="Wingdings" panose="05000000000000000000" pitchFamily="2" charset="2"/>
              <a:buChar char="ü"/>
              <a:tabLst>
                <a:tab pos="619465" algn="l"/>
              </a:tabLst>
            </a:pPr>
            <a:r>
              <a:rPr sz="3200" spc="-6" dirty="0">
                <a:latin typeface="Times New Roman"/>
                <a:cs typeface="Times New Roman"/>
              </a:rPr>
              <a:t>Refer</a:t>
            </a:r>
            <a:r>
              <a:rPr sz="3200" spc="-11"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spc="-6" dirty="0">
                <a:latin typeface="Times New Roman"/>
                <a:cs typeface="Times New Roman"/>
              </a:rPr>
              <a:t>a protocol</a:t>
            </a:r>
            <a:r>
              <a:rPr sz="3200" spc="-11" dirty="0">
                <a:latin typeface="Times New Roman"/>
                <a:cs typeface="Times New Roman"/>
              </a:rPr>
              <a:t> </a:t>
            </a:r>
            <a:r>
              <a:rPr sz="3200" spc="-6" dirty="0">
                <a:latin typeface="Times New Roman"/>
                <a:cs typeface="Times New Roman"/>
              </a:rPr>
              <a:t>that defines</a:t>
            </a:r>
            <a:endParaRPr sz="3200" dirty="0">
              <a:latin typeface="Times New Roman"/>
              <a:cs typeface="Times New Roman"/>
            </a:endParaRPr>
          </a:p>
          <a:p>
            <a:pPr marL="921148" lvl="2" indent="-252686">
              <a:buClr>
                <a:srgbClr val="C00000"/>
              </a:buClr>
              <a:buSzPct val="85000"/>
              <a:buFont typeface="Wingdings"/>
              <a:buChar char=""/>
              <a:tabLst>
                <a:tab pos="921148" algn="l"/>
                <a:tab pos="921847" algn="l"/>
              </a:tabLst>
            </a:pPr>
            <a:r>
              <a:rPr sz="3200" dirty="0">
                <a:latin typeface="Times New Roman"/>
                <a:cs typeface="Times New Roman"/>
              </a:rPr>
              <a:t>A</a:t>
            </a:r>
            <a:r>
              <a:rPr sz="3200" spc="-138" dirty="0">
                <a:latin typeface="Times New Roman"/>
                <a:cs typeface="Times New Roman"/>
              </a:rPr>
              <a:t> </a:t>
            </a:r>
            <a:r>
              <a:rPr sz="3200" dirty="0">
                <a:latin typeface="Times New Roman"/>
                <a:cs typeface="Times New Roman"/>
              </a:rPr>
              <a:t>packet</a:t>
            </a:r>
            <a:r>
              <a:rPr sz="3200" spc="-28" dirty="0">
                <a:latin typeface="Times New Roman"/>
                <a:cs typeface="Times New Roman"/>
              </a:rPr>
              <a:t> </a:t>
            </a:r>
            <a:r>
              <a:rPr sz="3200" dirty="0">
                <a:latin typeface="Times New Roman"/>
                <a:cs typeface="Times New Roman"/>
              </a:rPr>
              <a:t>s</a:t>
            </a:r>
            <a:r>
              <a:rPr sz="3200" spc="-11" dirty="0">
                <a:latin typeface="Times New Roman"/>
                <a:cs typeface="Times New Roman"/>
              </a:rPr>
              <a:t>t</a:t>
            </a:r>
            <a:r>
              <a:rPr sz="3200" dirty="0">
                <a:latin typeface="Times New Roman"/>
                <a:cs typeface="Times New Roman"/>
              </a:rPr>
              <a:t>r</a:t>
            </a:r>
            <a:r>
              <a:rPr sz="3200" spc="6" dirty="0">
                <a:latin typeface="Times New Roman"/>
                <a:cs typeface="Times New Roman"/>
              </a:rPr>
              <a:t>u</a:t>
            </a:r>
            <a:r>
              <a:rPr sz="3200" dirty="0">
                <a:latin typeface="Times New Roman"/>
                <a:cs typeface="Times New Roman"/>
              </a:rPr>
              <a:t>c</a:t>
            </a:r>
            <a:r>
              <a:rPr sz="3200" spc="-11" dirty="0">
                <a:latin typeface="Times New Roman"/>
                <a:cs typeface="Times New Roman"/>
              </a:rPr>
              <a:t>t</a:t>
            </a:r>
            <a:r>
              <a:rPr sz="3200" dirty="0">
                <a:latin typeface="Times New Roman"/>
                <a:cs typeface="Times New Roman"/>
              </a:rPr>
              <a:t>u</a:t>
            </a:r>
            <a:r>
              <a:rPr sz="3200" spc="6" dirty="0">
                <a:latin typeface="Times New Roman"/>
                <a:cs typeface="Times New Roman"/>
              </a:rPr>
              <a:t>r</a:t>
            </a:r>
            <a:r>
              <a:rPr sz="3200" dirty="0">
                <a:latin typeface="Times New Roman"/>
                <a:cs typeface="Times New Roman"/>
              </a:rPr>
              <a:t>e</a:t>
            </a:r>
            <a:r>
              <a:rPr sz="3200" spc="-55" dirty="0">
                <a:latin typeface="Times New Roman"/>
                <a:cs typeface="Times New Roman"/>
              </a:rPr>
              <a:t> </a:t>
            </a:r>
            <a:r>
              <a:rPr sz="3200" dirty="0">
                <a:latin typeface="Times New Roman"/>
                <a:cs typeface="Times New Roman"/>
              </a:rPr>
              <a:t>and</a:t>
            </a:r>
          </a:p>
          <a:p>
            <a:pPr marL="921148" lvl="2" indent="-252686">
              <a:buClr>
                <a:srgbClr val="C00000"/>
              </a:buClr>
              <a:buSzPct val="85000"/>
              <a:buFont typeface="Wingdings"/>
              <a:buChar char=""/>
              <a:tabLst>
                <a:tab pos="921148" algn="l"/>
                <a:tab pos="921847" algn="l"/>
              </a:tabLst>
            </a:pPr>
            <a:r>
              <a:rPr sz="3200" dirty="0">
                <a:latin typeface="Times New Roman"/>
                <a:cs typeface="Times New Roman"/>
              </a:rPr>
              <a:t>Logical</a:t>
            </a:r>
            <a:r>
              <a:rPr sz="3200" spc="-77" dirty="0">
                <a:latin typeface="Times New Roman"/>
                <a:cs typeface="Times New Roman"/>
              </a:rPr>
              <a:t> </a:t>
            </a:r>
            <a:r>
              <a:rPr sz="3200" dirty="0">
                <a:latin typeface="Times New Roman"/>
                <a:cs typeface="Times New Roman"/>
              </a:rPr>
              <a:t>addressing,</a:t>
            </a:r>
          </a:p>
          <a:p>
            <a:pPr marL="921148" lvl="2" indent="-252686">
              <a:buClr>
                <a:srgbClr val="C00000"/>
              </a:buClr>
              <a:buSzPct val="85000"/>
              <a:buFont typeface="Wingdings"/>
              <a:buChar char=""/>
              <a:tabLst>
                <a:tab pos="921148" algn="l"/>
                <a:tab pos="921847" algn="l"/>
              </a:tabLst>
            </a:pPr>
            <a:r>
              <a:rPr sz="3200" dirty="0">
                <a:latin typeface="Times New Roman"/>
                <a:cs typeface="Times New Roman"/>
              </a:rPr>
              <a:t>Allowing</a:t>
            </a:r>
            <a:r>
              <a:rPr sz="3200" spc="-44" dirty="0">
                <a:latin typeface="Times New Roman"/>
                <a:cs typeface="Times New Roman"/>
              </a:rPr>
              <a:t> </a:t>
            </a:r>
            <a:r>
              <a:rPr sz="3200" dirty="0">
                <a:latin typeface="Times New Roman"/>
                <a:cs typeface="Times New Roman"/>
              </a:rPr>
              <a:t>routers</a:t>
            </a:r>
            <a:r>
              <a:rPr sz="3200" spc="-39" dirty="0">
                <a:latin typeface="Times New Roman"/>
                <a:cs typeface="Times New Roman"/>
              </a:rPr>
              <a:t> </a:t>
            </a:r>
            <a:r>
              <a:rPr sz="3200" dirty="0">
                <a:latin typeface="Times New Roman"/>
                <a:cs typeface="Times New Roman"/>
              </a:rPr>
              <a:t>to</a:t>
            </a:r>
            <a:r>
              <a:rPr sz="3200" spc="-11" dirty="0">
                <a:latin typeface="Times New Roman"/>
                <a:cs typeface="Times New Roman"/>
              </a:rPr>
              <a:t> </a:t>
            </a:r>
            <a:r>
              <a:rPr sz="3200" dirty="0">
                <a:latin typeface="Times New Roman"/>
                <a:cs typeface="Times New Roman"/>
              </a:rPr>
              <a:t>forward</a:t>
            </a:r>
            <a:r>
              <a:rPr sz="3200" spc="-39" dirty="0">
                <a:latin typeface="Times New Roman"/>
                <a:cs typeface="Times New Roman"/>
              </a:rPr>
              <a:t> </a:t>
            </a:r>
            <a:r>
              <a:rPr sz="3200" dirty="0">
                <a:latin typeface="Times New Roman"/>
                <a:cs typeface="Times New Roman"/>
              </a:rPr>
              <a:t>or</a:t>
            </a:r>
            <a:r>
              <a:rPr sz="3200" spc="-17" dirty="0">
                <a:latin typeface="Times New Roman"/>
                <a:cs typeface="Times New Roman"/>
              </a:rPr>
              <a:t> </a:t>
            </a:r>
            <a:r>
              <a:rPr sz="3200" dirty="0">
                <a:latin typeface="Times New Roman"/>
                <a:cs typeface="Times New Roman"/>
              </a:rPr>
              <a:t>route</a:t>
            </a:r>
            <a:r>
              <a:rPr sz="3200" spc="-33"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packets</a:t>
            </a:r>
            <a:r>
              <a:rPr sz="3200" spc="-17" dirty="0">
                <a:latin typeface="Times New Roman"/>
                <a:cs typeface="Times New Roman"/>
              </a:rPr>
              <a:t> </a:t>
            </a:r>
            <a:r>
              <a:rPr sz="3200" dirty="0">
                <a:latin typeface="Times New Roman"/>
                <a:cs typeface="Times New Roman"/>
              </a:rPr>
              <a:t>defined</a:t>
            </a:r>
            <a:r>
              <a:rPr sz="3200" spc="-44" dirty="0">
                <a:latin typeface="Times New Roman"/>
                <a:cs typeface="Times New Roman"/>
              </a:rPr>
              <a:t> </a:t>
            </a:r>
            <a:r>
              <a:rPr sz="3200" dirty="0">
                <a:latin typeface="Times New Roman"/>
                <a:cs typeface="Times New Roman"/>
              </a:rPr>
              <a:t>by</a:t>
            </a:r>
            <a:r>
              <a:rPr sz="3200" spc="-6" dirty="0">
                <a:latin typeface="Times New Roman"/>
                <a:cs typeface="Times New Roman"/>
              </a:rPr>
              <a:t> </a:t>
            </a:r>
            <a:r>
              <a:rPr sz="3200" dirty="0">
                <a:latin typeface="Times New Roman"/>
                <a:cs typeface="Times New Roman"/>
              </a:rPr>
              <a:t>that</a:t>
            </a:r>
            <a:r>
              <a:rPr sz="3200" spc="-17" dirty="0">
                <a:latin typeface="Times New Roman"/>
                <a:cs typeface="Times New Roman"/>
              </a:rPr>
              <a:t> </a:t>
            </a:r>
            <a:r>
              <a:rPr sz="3200" dirty="0">
                <a:latin typeface="Times New Roman"/>
                <a:cs typeface="Times New Roman"/>
              </a:rPr>
              <a:t>protocol.</a:t>
            </a:r>
          </a:p>
          <a:p>
            <a:pPr marL="822579" lvl="1" indent="-457200">
              <a:buClr>
                <a:srgbClr val="9B2C1F"/>
              </a:buClr>
              <a:buSzPct val="84090"/>
              <a:buFont typeface="Wingdings" panose="05000000000000000000" pitchFamily="2" charset="2"/>
              <a:buChar char="ü"/>
              <a:tabLst>
                <a:tab pos="619465" algn="l"/>
              </a:tabLst>
            </a:pPr>
            <a:r>
              <a:rPr sz="3200" spc="-6" dirty="0">
                <a:latin typeface="Times New Roman"/>
                <a:cs typeface="Times New Roman"/>
              </a:rPr>
              <a:t>Routers</a:t>
            </a:r>
            <a:r>
              <a:rPr sz="3200" spc="-11" dirty="0">
                <a:latin typeface="Times New Roman"/>
                <a:cs typeface="Times New Roman"/>
              </a:rPr>
              <a:t> </a:t>
            </a:r>
            <a:r>
              <a:rPr sz="3200" spc="-6" dirty="0">
                <a:latin typeface="Times New Roman"/>
                <a:cs typeface="Times New Roman"/>
              </a:rPr>
              <a:t>forward,</a:t>
            </a:r>
            <a:r>
              <a:rPr sz="3200" spc="33" dirty="0">
                <a:latin typeface="Times New Roman"/>
                <a:cs typeface="Times New Roman"/>
              </a:rPr>
              <a:t> </a:t>
            </a:r>
            <a:r>
              <a:rPr sz="3200" spc="-6" dirty="0">
                <a:latin typeface="Times New Roman"/>
                <a:cs typeface="Times New Roman"/>
              </a:rPr>
              <a:t>or</a:t>
            </a:r>
            <a:r>
              <a:rPr sz="3200" spc="11"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packets</a:t>
            </a:r>
            <a:r>
              <a:rPr sz="3200" spc="6" dirty="0">
                <a:latin typeface="Times New Roman"/>
                <a:cs typeface="Times New Roman"/>
              </a:rPr>
              <a:t> </a:t>
            </a:r>
            <a:r>
              <a:rPr sz="3200" spc="-6" dirty="0">
                <a:latin typeface="Times New Roman"/>
                <a:cs typeface="Times New Roman"/>
              </a:rPr>
              <a:t>defined</a:t>
            </a:r>
            <a:r>
              <a:rPr sz="3200" spc="17" dirty="0">
                <a:latin typeface="Times New Roman"/>
                <a:cs typeface="Times New Roman"/>
              </a:rPr>
              <a:t> </a:t>
            </a:r>
            <a:r>
              <a:rPr sz="3200" dirty="0">
                <a:latin typeface="Times New Roman"/>
                <a:cs typeface="Times New Roman"/>
              </a:rPr>
              <a:t>by </a:t>
            </a:r>
            <a:r>
              <a:rPr sz="3200" spc="-6" dirty="0">
                <a:latin typeface="Times New Roman"/>
                <a:cs typeface="Times New Roman"/>
              </a:rPr>
              <a:t>routed</a:t>
            </a:r>
            <a:r>
              <a:rPr sz="3200" dirty="0">
                <a:latin typeface="Times New Roman"/>
                <a:cs typeface="Times New Roman"/>
              </a:rPr>
              <a:t> </a:t>
            </a:r>
            <a:r>
              <a:rPr sz="3200" spc="-6" dirty="0">
                <a:latin typeface="Times New Roman"/>
                <a:cs typeface="Times New Roman"/>
              </a:rPr>
              <a:t>and</a:t>
            </a:r>
            <a:r>
              <a:rPr sz="3200" spc="6" dirty="0">
                <a:latin typeface="Times New Roman"/>
                <a:cs typeface="Times New Roman"/>
              </a:rPr>
              <a:t> </a:t>
            </a:r>
            <a:r>
              <a:rPr sz="3200" spc="-6" dirty="0">
                <a:latin typeface="Times New Roman"/>
                <a:cs typeface="Times New Roman"/>
              </a:rPr>
              <a:t>routable</a:t>
            </a:r>
            <a:r>
              <a:rPr lang="en-US" sz="3200" dirty="0">
                <a:latin typeface="Times New Roman"/>
                <a:cs typeface="Times New Roman"/>
              </a:rPr>
              <a:t> </a:t>
            </a:r>
            <a:r>
              <a:rPr sz="3200" spc="-6" dirty="0">
                <a:latin typeface="Times New Roman"/>
                <a:cs typeface="Times New Roman"/>
              </a:rPr>
              <a:t>protocols.</a:t>
            </a:r>
            <a:endParaRPr lang="en-US" sz="3200" dirty="0">
              <a:latin typeface="Times New Roman"/>
              <a:cs typeface="Times New Roman"/>
            </a:endParaRPr>
          </a:p>
          <a:p>
            <a:pPr marL="822579" lvl="1" indent="-457200">
              <a:buClr>
                <a:srgbClr val="9B2C1F"/>
              </a:buClr>
              <a:buSzPct val="84090"/>
              <a:buFont typeface="Wingdings" panose="05000000000000000000" pitchFamily="2" charset="2"/>
              <a:buChar char="ü"/>
              <a:tabLst>
                <a:tab pos="619465" algn="l"/>
              </a:tabLst>
            </a:pPr>
            <a:r>
              <a:rPr sz="3200" spc="-6" dirty="0">
                <a:latin typeface="Times New Roman"/>
                <a:cs typeface="Times New Roman"/>
              </a:rPr>
              <a:t>Examples</a:t>
            </a:r>
            <a:r>
              <a:rPr sz="3200" spc="11" dirty="0">
                <a:latin typeface="Times New Roman"/>
                <a:cs typeface="Times New Roman"/>
              </a:rPr>
              <a:t> </a:t>
            </a:r>
            <a:r>
              <a:rPr sz="3200" spc="-6" dirty="0">
                <a:latin typeface="Times New Roman"/>
                <a:cs typeface="Times New Roman"/>
              </a:rPr>
              <a:t>include</a:t>
            </a:r>
            <a:r>
              <a:rPr sz="3200" spc="-11" dirty="0">
                <a:latin typeface="Times New Roman"/>
                <a:cs typeface="Times New Roman"/>
              </a:rPr>
              <a:t> </a:t>
            </a:r>
            <a:r>
              <a:rPr sz="3200" spc="-6" dirty="0">
                <a:latin typeface="Times New Roman"/>
                <a:cs typeface="Times New Roman"/>
              </a:rPr>
              <a:t>IP</a:t>
            </a:r>
            <a:r>
              <a:rPr sz="3200" spc="-72" dirty="0">
                <a:latin typeface="Times New Roman"/>
                <a:cs typeface="Times New Roman"/>
              </a:rPr>
              <a:t> </a:t>
            </a:r>
            <a:r>
              <a:rPr sz="3200" spc="-6" dirty="0">
                <a:latin typeface="Times New Roman"/>
                <a:cs typeface="Times New Roman"/>
              </a:rPr>
              <a:t>and</a:t>
            </a:r>
            <a:r>
              <a:rPr sz="3200" dirty="0">
                <a:latin typeface="Times New Roman"/>
                <a:cs typeface="Times New Roman"/>
              </a:rPr>
              <a:t> </a:t>
            </a:r>
            <a:r>
              <a:rPr sz="3200" spc="-6" dirty="0">
                <a:latin typeface="Times New Roman"/>
                <a:cs typeface="Times New Roman"/>
              </a:rPr>
              <a:t>IPX</a:t>
            </a:r>
            <a:r>
              <a:rPr sz="3200" spc="17"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6" dirty="0">
                <a:latin typeface="Times New Roman"/>
                <a:cs typeface="Times New Roman"/>
              </a:rPr>
              <a:t>part</a:t>
            </a:r>
            <a:r>
              <a:rPr sz="3200" spc="17" dirty="0">
                <a:latin typeface="Times New Roman"/>
                <a:cs typeface="Times New Roman"/>
              </a:rPr>
              <a:t> </a:t>
            </a:r>
            <a:r>
              <a:rPr sz="3200" spc="-6" dirty="0">
                <a:latin typeface="Times New Roman"/>
                <a:cs typeface="Times New Roman"/>
              </a:rPr>
              <a:t>of</a:t>
            </a:r>
            <a:r>
              <a:rPr sz="3200" spc="6"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Novell</a:t>
            </a:r>
            <a:r>
              <a:rPr sz="3200" dirty="0">
                <a:latin typeface="Times New Roman"/>
                <a:cs typeface="Times New Roman"/>
              </a:rPr>
              <a:t> </a:t>
            </a:r>
            <a:r>
              <a:rPr sz="3200" spc="-33" dirty="0">
                <a:latin typeface="Times New Roman"/>
                <a:cs typeface="Times New Roman"/>
              </a:rPr>
              <a:t>NetWare</a:t>
            </a:r>
            <a:r>
              <a:rPr sz="3200" spc="22" dirty="0">
                <a:latin typeface="Times New Roman"/>
                <a:cs typeface="Times New Roman"/>
              </a:rPr>
              <a:t> </a:t>
            </a:r>
            <a:r>
              <a:rPr sz="3200" spc="-6" dirty="0">
                <a:latin typeface="Times New Roman"/>
                <a:cs typeface="Times New Roman"/>
              </a:rPr>
              <a:t>protocol </a:t>
            </a:r>
            <a:r>
              <a:rPr sz="3200" spc="-590" dirty="0">
                <a:latin typeface="Times New Roman"/>
                <a:cs typeface="Times New Roman"/>
              </a:rPr>
              <a:t> </a:t>
            </a:r>
            <a:r>
              <a:rPr sz="3200" spc="-6" dirty="0">
                <a:latin typeface="Times New Roman"/>
                <a:cs typeface="Times New Roman"/>
              </a:rPr>
              <a:t>model).</a:t>
            </a:r>
            <a:endParaRPr sz="3200"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62</a:t>
            </a:fld>
            <a:endParaRPr dirty="0"/>
          </a:p>
        </p:txBody>
      </p:sp>
    </p:spTree>
    <p:extLst>
      <p:ext uri="{BB962C8B-B14F-4D97-AF65-F5344CB8AC3E}">
        <p14:creationId xmlns:p14="http://schemas.microsoft.com/office/powerpoint/2010/main" val="19148703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134" y="458655"/>
            <a:ext cx="8858119" cy="691948"/>
          </a:xfrm>
          <a:prstGeom prst="rect">
            <a:avLst/>
          </a:prstGeom>
        </p:spPr>
        <p:txBody>
          <a:bodyPr vert="horz" wrap="square" lIns="0" tIns="13299" rIns="0" bIns="0" rtlCol="0" anchor="ctr">
            <a:spAutoFit/>
          </a:bodyPr>
          <a:lstStyle/>
          <a:p>
            <a:pPr marL="13999">
              <a:lnSpc>
                <a:spcPct val="100000"/>
              </a:lnSpc>
              <a:spcBef>
                <a:spcPts val="105"/>
              </a:spcBef>
            </a:pPr>
            <a:r>
              <a:rPr sz="4409" b="1" dirty="0">
                <a:solidFill>
                  <a:schemeClr val="bg1"/>
                </a:solidFill>
                <a:latin typeface="Times New Roman" panose="02020603050405020304" pitchFamily="18" charset="0"/>
                <a:cs typeface="Times New Roman" panose="02020603050405020304" pitchFamily="18" charset="0"/>
              </a:rPr>
              <a:t>Basic</a:t>
            </a:r>
            <a:r>
              <a:rPr sz="4409" b="1" spc="-22"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Functions</a:t>
            </a:r>
            <a:r>
              <a:rPr sz="4409" b="1" spc="17"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of</a:t>
            </a:r>
            <a:r>
              <a:rPr sz="4409" b="1" spc="11"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Routing</a:t>
            </a:r>
            <a:r>
              <a:rPr sz="4409" b="1" spc="11"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675299" y="1606837"/>
            <a:ext cx="9010013" cy="5137974"/>
          </a:xfrm>
          <a:prstGeom prst="rect">
            <a:avLst/>
          </a:prstGeom>
        </p:spPr>
        <p:txBody>
          <a:bodyPr vert="horz" wrap="square" lIns="0" tIns="13999" rIns="0" bIns="0" rtlCol="0">
            <a:spAutoFit/>
          </a:bodyPr>
          <a:lstStyle/>
          <a:p>
            <a:pPr marL="13999">
              <a:spcBef>
                <a:spcPts val="110"/>
              </a:spcBef>
            </a:pPr>
            <a:r>
              <a:rPr sz="2646" b="1" spc="-6" dirty="0">
                <a:solidFill>
                  <a:srgbClr val="FF0000"/>
                </a:solidFill>
                <a:latin typeface="Times New Roman"/>
                <a:cs typeface="Times New Roman"/>
              </a:rPr>
              <a:t>Routing</a:t>
            </a:r>
            <a:r>
              <a:rPr sz="2646" b="1" spc="-28" dirty="0">
                <a:solidFill>
                  <a:srgbClr val="FF0000"/>
                </a:solidFill>
                <a:latin typeface="Times New Roman"/>
                <a:cs typeface="Times New Roman"/>
              </a:rPr>
              <a:t> </a:t>
            </a:r>
            <a:r>
              <a:rPr sz="2646" b="1" dirty="0">
                <a:solidFill>
                  <a:srgbClr val="FF0000"/>
                </a:solidFill>
                <a:latin typeface="Times New Roman"/>
                <a:cs typeface="Times New Roman"/>
              </a:rPr>
              <a:t>Information</a:t>
            </a:r>
            <a:r>
              <a:rPr sz="2646" b="1" spc="-33" dirty="0">
                <a:solidFill>
                  <a:srgbClr val="FF0000"/>
                </a:solidFill>
                <a:latin typeface="Times New Roman"/>
                <a:cs typeface="Times New Roman"/>
              </a:rPr>
              <a:t> </a:t>
            </a:r>
            <a:r>
              <a:rPr sz="2646" b="1" dirty="0">
                <a:solidFill>
                  <a:srgbClr val="FF0000"/>
                </a:solidFill>
                <a:latin typeface="Times New Roman"/>
                <a:cs typeface="Times New Roman"/>
              </a:rPr>
              <a:t>Protocol</a:t>
            </a:r>
            <a:r>
              <a:rPr sz="2646" b="1" spc="-28" dirty="0">
                <a:solidFill>
                  <a:srgbClr val="FF0000"/>
                </a:solidFill>
                <a:latin typeface="Times New Roman"/>
                <a:cs typeface="Times New Roman"/>
              </a:rPr>
              <a:t> </a:t>
            </a:r>
            <a:r>
              <a:rPr sz="2646" b="1" dirty="0">
                <a:solidFill>
                  <a:srgbClr val="FF0000"/>
                </a:solidFill>
                <a:latin typeface="Times New Roman"/>
                <a:cs typeface="Times New Roman"/>
              </a:rPr>
              <a:t>(RIP)</a:t>
            </a:r>
            <a:r>
              <a:rPr sz="2646" b="1" spc="11" dirty="0">
                <a:solidFill>
                  <a:srgbClr val="FF0000"/>
                </a:solidFill>
                <a:latin typeface="Times New Roman"/>
                <a:cs typeface="Times New Roman"/>
              </a:rPr>
              <a:t> </a:t>
            </a:r>
            <a:r>
              <a:rPr sz="2646" spc="-6" dirty="0">
                <a:latin typeface="Times New Roman"/>
                <a:cs typeface="Times New Roman"/>
              </a:rPr>
              <a:t>as </a:t>
            </a:r>
            <a:r>
              <a:rPr sz="2646" dirty="0">
                <a:latin typeface="Times New Roman"/>
                <a:cs typeface="Times New Roman"/>
              </a:rPr>
              <a:t>the</a:t>
            </a:r>
            <a:r>
              <a:rPr sz="2646" spc="-22" dirty="0">
                <a:latin typeface="Times New Roman"/>
                <a:cs typeface="Times New Roman"/>
              </a:rPr>
              <a:t> </a:t>
            </a:r>
            <a:r>
              <a:rPr sz="2646" dirty="0">
                <a:latin typeface="Times New Roman"/>
                <a:cs typeface="Times New Roman"/>
              </a:rPr>
              <a:t>routing</a:t>
            </a:r>
            <a:r>
              <a:rPr sz="2646" spc="-28" dirty="0">
                <a:latin typeface="Times New Roman"/>
                <a:cs typeface="Times New Roman"/>
              </a:rPr>
              <a:t> </a:t>
            </a:r>
            <a:r>
              <a:rPr sz="2646" dirty="0">
                <a:latin typeface="Times New Roman"/>
                <a:cs typeface="Times New Roman"/>
              </a:rPr>
              <a:t>protocol</a:t>
            </a:r>
            <a:endParaRPr sz="2976" dirty="0">
              <a:latin typeface="Times New Roman"/>
              <a:cs typeface="Times New Roman"/>
            </a:endParaRPr>
          </a:p>
          <a:p>
            <a:pPr marL="5642382" marR="333881" indent="-419976">
              <a:lnSpc>
                <a:spcPts val="2326"/>
              </a:lnSpc>
              <a:buClr>
                <a:srgbClr val="D24717"/>
              </a:buClr>
              <a:buSzPct val="84090"/>
              <a:buAutoNum type="arabicPeriod"/>
              <a:tabLst>
                <a:tab pos="5642382" algn="l"/>
                <a:tab pos="5643082" algn="l"/>
              </a:tabLst>
            </a:pPr>
            <a:r>
              <a:rPr sz="2425" spc="-6" dirty="0">
                <a:latin typeface="Times New Roman"/>
                <a:cs typeface="Times New Roman"/>
              </a:rPr>
              <a:t>R2 advertises a route for </a:t>
            </a:r>
            <a:r>
              <a:rPr sz="2425" spc="-590" dirty="0">
                <a:latin typeface="Times New Roman"/>
                <a:cs typeface="Times New Roman"/>
              </a:rPr>
              <a:t> </a:t>
            </a:r>
            <a:r>
              <a:rPr sz="2425" spc="-6" dirty="0">
                <a:latin typeface="Times New Roman"/>
                <a:cs typeface="Times New Roman"/>
              </a:rPr>
              <a:t>subnet </a:t>
            </a:r>
            <a:r>
              <a:rPr sz="2425" dirty="0">
                <a:latin typeface="Times New Roman"/>
                <a:cs typeface="Times New Roman"/>
              </a:rPr>
              <a:t>172.16.3.0/24 </a:t>
            </a:r>
            <a:r>
              <a:rPr sz="2425" spc="-6" dirty="0">
                <a:latin typeface="Times New Roman"/>
                <a:cs typeface="Times New Roman"/>
              </a:rPr>
              <a:t>to </a:t>
            </a:r>
            <a:r>
              <a:rPr sz="2425" dirty="0">
                <a:latin typeface="Times New Roman"/>
                <a:cs typeface="Times New Roman"/>
              </a:rPr>
              <a:t> </a:t>
            </a:r>
            <a:r>
              <a:rPr sz="2425" spc="-6" dirty="0">
                <a:latin typeface="Times New Roman"/>
                <a:cs typeface="Times New Roman"/>
              </a:rPr>
              <a:t>both</a:t>
            </a:r>
            <a:r>
              <a:rPr sz="2425" spc="-28" dirty="0">
                <a:latin typeface="Times New Roman"/>
                <a:cs typeface="Times New Roman"/>
              </a:rPr>
              <a:t> </a:t>
            </a:r>
            <a:r>
              <a:rPr sz="2425" spc="-6" dirty="0">
                <a:latin typeface="Times New Roman"/>
                <a:cs typeface="Times New Roman"/>
              </a:rPr>
              <a:t>R1</a:t>
            </a:r>
            <a:r>
              <a:rPr sz="2425" spc="-11" dirty="0">
                <a:latin typeface="Times New Roman"/>
                <a:cs typeface="Times New Roman"/>
              </a:rPr>
              <a:t> and</a:t>
            </a:r>
            <a:r>
              <a:rPr sz="2425" spc="6" dirty="0">
                <a:latin typeface="Times New Roman"/>
                <a:cs typeface="Times New Roman"/>
              </a:rPr>
              <a:t> </a:t>
            </a:r>
            <a:r>
              <a:rPr sz="2425" spc="-6" dirty="0">
                <a:latin typeface="Times New Roman"/>
                <a:cs typeface="Times New Roman"/>
              </a:rPr>
              <a:t>R3</a:t>
            </a:r>
            <a:endParaRPr sz="2425" dirty="0">
              <a:latin typeface="Times New Roman"/>
              <a:cs typeface="Times New Roman"/>
            </a:endParaRPr>
          </a:p>
          <a:p>
            <a:pPr marL="5642382" marR="53197" indent="-419976">
              <a:lnSpc>
                <a:spcPct val="80000"/>
              </a:lnSpc>
              <a:spcBef>
                <a:spcPts val="683"/>
              </a:spcBef>
              <a:buClr>
                <a:srgbClr val="D24717"/>
              </a:buClr>
              <a:buSzPct val="84090"/>
              <a:buAutoNum type="arabicPeriod"/>
              <a:tabLst>
                <a:tab pos="5642382" algn="l"/>
                <a:tab pos="5643082" algn="l"/>
              </a:tabLst>
            </a:pPr>
            <a:r>
              <a:rPr sz="2425" spc="-6" dirty="0">
                <a:latin typeface="Times New Roman"/>
                <a:cs typeface="Times New Roman"/>
              </a:rPr>
              <a:t>R3 learns the route to </a:t>
            </a:r>
            <a:r>
              <a:rPr sz="2425" dirty="0">
                <a:latin typeface="Times New Roman"/>
                <a:cs typeface="Times New Roman"/>
              </a:rPr>
              <a:t> 172.16.3.0/24 </a:t>
            </a:r>
            <a:r>
              <a:rPr sz="2425" spc="-6" dirty="0">
                <a:latin typeface="Times New Roman"/>
                <a:cs typeface="Times New Roman"/>
              </a:rPr>
              <a:t>and then </a:t>
            </a:r>
            <a:r>
              <a:rPr sz="2425" dirty="0">
                <a:latin typeface="Times New Roman"/>
                <a:cs typeface="Times New Roman"/>
              </a:rPr>
              <a:t> </a:t>
            </a:r>
            <a:r>
              <a:rPr sz="2425" spc="-6" dirty="0">
                <a:latin typeface="Times New Roman"/>
                <a:cs typeface="Times New Roman"/>
              </a:rPr>
              <a:t>advertises that route to R1, </a:t>
            </a:r>
            <a:r>
              <a:rPr sz="2425" spc="-590" dirty="0">
                <a:latin typeface="Times New Roman"/>
                <a:cs typeface="Times New Roman"/>
              </a:rPr>
              <a:t> </a:t>
            </a:r>
            <a:r>
              <a:rPr sz="2425" spc="-6" dirty="0">
                <a:latin typeface="Times New Roman"/>
                <a:cs typeface="Times New Roman"/>
              </a:rPr>
              <a:t>which is the second </a:t>
            </a:r>
            <a:r>
              <a:rPr sz="2425" dirty="0">
                <a:latin typeface="Times New Roman"/>
                <a:cs typeface="Times New Roman"/>
              </a:rPr>
              <a:t> </a:t>
            </a:r>
            <a:r>
              <a:rPr sz="2425" spc="-6" dirty="0">
                <a:latin typeface="Times New Roman"/>
                <a:cs typeface="Times New Roman"/>
              </a:rPr>
              <a:t>function in </a:t>
            </a:r>
            <a:r>
              <a:rPr sz="2425" dirty="0">
                <a:latin typeface="Times New Roman"/>
                <a:cs typeface="Times New Roman"/>
              </a:rPr>
              <a:t>the </a:t>
            </a:r>
            <a:r>
              <a:rPr sz="2425" spc="-6" dirty="0">
                <a:latin typeface="Times New Roman"/>
                <a:cs typeface="Times New Roman"/>
              </a:rPr>
              <a:t>preceding </a:t>
            </a:r>
            <a:r>
              <a:rPr sz="2425" dirty="0">
                <a:latin typeface="Times New Roman"/>
                <a:cs typeface="Times New Roman"/>
              </a:rPr>
              <a:t> </a:t>
            </a:r>
            <a:r>
              <a:rPr sz="2425" spc="-6" dirty="0">
                <a:latin typeface="Times New Roman"/>
                <a:cs typeface="Times New Roman"/>
              </a:rPr>
              <a:t>list.</a:t>
            </a:r>
            <a:endParaRPr sz="2425" dirty="0">
              <a:latin typeface="Times New Roman"/>
              <a:cs typeface="Times New Roman"/>
            </a:endParaRPr>
          </a:p>
          <a:p>
            <a:pPr marL="5642382" marR="5600" indent="-419976">
              <a:lnSpc>
                <a:spcPct val="80000"/>
              </a:lnSpc>
              <a:spcBef>
                <a:spcPts val="661"/>
              </a:spcBef>
              <a:buClr>
                <a:srgbClr val="D24717"/>
              </a:buClr>
              <a:buSzPct val="84090"/>
              <a:buAutoNum type="arabicPeriod"/>
              <a:tabLst>
                <a:tab pos="5642382" algn="l"/>
                <a:tab pos="5643082" algn="l"/>
              </a:tabLst>
            </a:pPr>
            <a:r>
              <a:rPr sz="2425" spc="-6" dirty="0">
                <a:latin typeface="Times New Roman"/>
                <a:cs typeface="Times New Roman"/>
              </a:rPr>
              <a:t>R1 hears of two routes to </a:t>
            </a:r>
            <a:r>
              <a:rPr sz="2425" dirty="0">
                <a:latin typeface="Times New Roman"/>
                <a:cs typeface="Times New Roman"/>
              </a:rPr>
              <a:t> </a:t>
            </a:r>
            <a:r>
              <a:rPr sz="2425" spc="-6" dirty="0">
                <a:latin typeface="Times New Roman"/>
                <a:cs typeface="Times New Roman"/>
              </a:rPr>
              <a:t>reach </a:t>
            </a:r>
            <a:r>
              <a:rPr sz="2425" dirty="0">
                <a:latin typeface="Times New Roman"/>
                <a:cs typeface="Times New Roman"/>
              </a:rPr>
              <a:t>172.16.3.0/24: </a:t>
            </a:r>
            <a:r>
              <a:rPr sz="2425" spc="-6" dirty="0">
                <a:latin typeface="Times New Roman"/>
                <a:cs typeface="Times New Roman"/>
              </a:rPr>
              <a:t>one </a:t>
            </a:r>
            <a:r>
              <a:rPr sz="2425" dirty="0">
                <a:latin typeface="Times New Roman"/>
                <a:cs typeface="Times New Roman"/>
              </a:rPr>
              <a:t> </a:t>
            </a:r>
            <a:r>
              <a:rPr sz="2425" spc="-6" dirty="0">
                <a:latin typeface="Times New Roman"/>
                <a:cs typeface="Times New Roman"/>
              </a:rPr>
              <a:t>with metric 1 from R2, and </a:t>
            </a:r>
            <a:r>
              <a:rPr sz="2425" spc="-590" dirty="0">
                <a:latin typeface="Times New Roman"/>
                <a:cs typeface="Times New Roman"/>
              </a:rPr>
              <a:t> </a:t>
            </a:r>
            <a:r>
              <a:rPr sz="2425" dirty="0">
                <a:latin typeface="Times New Roman"/>
                <a:cs typeface="Times New Roman"/>
              </a:rPr>
              <a:t>one</a:t>
            </a:r>
            <a:r>
              <a:rPr sz="2425" spc="-44" dirty="0">
                <a:latin typeface="Times New Roman"/>
                <a:cs typeface="Times New Roman"/>
              </a:rPr>
              <a:t> </a:t>
            </a:r>
            <a:r>
              <a:rPr sz="2425" spc="-6" dirty="0">
                <a:latin typeface="Times New Roman"/>
                <a:cs typeface="Times New Roman"/>
              </a:rPr>
              <a:t>with</a:t>
            </a:r>
            <a:r>
              <a:rPr sz="2425" spc="-11" dirty="0">
                <a:latin typeface="Times New Roman"/>
                <a:cs typeface="Times New Roman"/>
              </a:rPr>
              <a:t> </a:t>
            </a:r>
            <a:r>
              <a:rPr sz="2425" spc="-6" dirty="0">
                <a:latin typeface="Times New Roman"/>
                <a:cs typeface="Times New Roman"/>
              </a:rPr>
              <a:t>metric</a:t>
            </a:r>
            <a:r>
              <a:rPr sz="2425" spc="17" dirty="0">
                <a:latin typeface="Times New Roman"/>
                <a:cs typeface="Times New Roman"/>
              </a:rPr>
              <a:t> </a:t>
            </a:r>
            <a:r>
              <a:rPr sz="2425" spc="-6" dirty="0">
                <a:latin typeface="Times New Roman"/>
                <a:cs typeface="Times New Roman"/>
              </a:rPr>
              <a:t>2</a:t>
            </a:r>
            <a:r>
              <a:rPr sz="2425" spc="-11" dirty="0">
                <a:latin typeface="Times New Roman"/>
                <a:cs typeface="Times New Roman"/>
              </a:rPr>
              <a:t> </a:t>
            </a:r>
            <a:r>
              <a:rPr sz="2425" spc="-6" dirty="0">
                <a:latin typeface="Times New Roman"/>
                <a:cs typeface="Times New Roman"/>
              </a:rPr>
              <a:t>from</a:t>
            </a:r>
            <a:r>
              <a:rPr sz="2425" spc="6" dirty="0">
                <a:latin typeface="Times New Roman"/>
                <a:cs typeface="Times New Roman"/>
              </a:rPr>
              <a:t> </a:t>
            </a:r>
            <a:r>
              <a:rPr sz="2425" spc="-6" dirty="0">
                <a:latin typeface="Times New Roman"/>
                <a:cs typeface="Times New Roman"/>
              </a:rPr>
              <a:t>R3.</a:t>
            </a:r>
            <a:endParaRPr sz="2425" dirty="0">
              <a:latin typeface="Times New Roman"/>
              <a:cs typeface="Times New Roman"/>
            </a:endParaRPr>
          </a:p>
          <a:p>
            <a:pPr marL="5642382" marR="314982" indent="-419976">
              <a:lnSpc>
                <a:spcPts val="2326"/>
              </a:lnSpc>
              <a:spcBef>
                <a:spcPts val="645"/>
              </a:spcBef>
              <a:buClr>
                <a:srgbClr val="D24717"/>
              </a:buClr>
              <a:buSzPct val="84090"/>
              <a:buAutoNum type="arabicPeriod"/>
              <a:tabLst>
                <a:tab pos="5642382" algn="l"/>
                <a:tab pos="5643082" algn="l"/>
              </a:tabLst>
            </a:pPr>
            <a:r>
              <a:rPr sz="2425" spc="-6" dirty="0">
                <a:latin typeface="Times New Roman"/>
                <a:cs typeface="Times New Roman"/>
              </a:rPr>
              <a:t>R1 chooses the </a:t>
            </a:r>
            <a:r>
              <a:rPr sz="2425" spc="-11" dirty="0">
                <a:latin typeface="Times New Roman"/>
                <a:cs typeface="Times New Roman"/>
              </a:rPr>
              <a:t>lower- </a:t>
            </a:r>
            <a:r>
              <a:rPr sz="2425" spc="-6" dirty="0">
                <a:latin typeface="Times New Roman"/>
                <a:cs typeface="Times New Roman"/>
              </a:rPr>
              <a:t> metric</a:t>
            </a:r>
            <a:r>
              <a:rPr sz="2425" dirty="0">
                <a:latin typeface="Times New Roman"/>
                <a:cs typeface="Times New Roman"/>
              </a:rPr>
              <a:t> </a:t>
            </a:r>
            <a:r>
              <a:rPr sz="2425" spc="-6" dirty="0">
                <a:latin typeface="Times New Roman"/>
                <a:cs typeface="Times New Roman"/>
              </a:rPr>
              <a:t>route</a:t>
            </a:r>
            <a:r>
              <a:rPr sz="2425" spc="-33" dirty="0">
                <a:latin typeface="Times New Roman"/>
                <a:cs typeface="Times New Roman"/>
              </a:rPr>
              <a:t> </a:t>
            </a:r>
            <a:r>
              <a:rPr sz="2425" spc="-6" dirty="0">
                <a:latin typeface="Times New Roman"/>
                <a:cs typeface="Times New Roman"/>
              </a:rPr>
              <a:t>through</a:t>
            </a:r>
            <a:r>
              <a:rPr sz="2425" spc="-22" dirty="0">
                <a:latin typeface="Times New Roman"/>
                <a:cs typeface="Times New Roman"/>
              </a:rPr>
              <a:t> </a:t>
            </a:r>
            <a:r>
              <a:rPr sz="2425" spc="-6" dirty="0">
                <a:latin typeface="Times New Roman"/>
                <a:cs typeface="Times New Roman"/>
              </a:rPr>
              <a:t>R2.</a:t>
            </a:r>
            <a:endParaRPr sz="2425" dirty="0">
              <a:latin typeface="Times New Roman"/>
              <a:cs typeface="Times New Roman"/>
            </a:endParaRPr>
          </a:p>
        </p:txBody>
      </p:sp>
      <p:pic>
        <p:nvPicPr>
          <p:cNvPr id="5" name="object 5"/>
          <p:cNvPicPr/>
          <p:nvPr/>
        </p:nvPicPr>
        <p:blipFill>
          <a:blip r:embed="rId2" cstate="print"/>
          <a:stretch>
            <a:fillRect/>
          </a:stretch>
        </p:blipFill>
        <p:spPr>
          <a:xfrm>
            <a:off x="168522" y="2031737"/>
            <a:ext cx="5711754" cy="493593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3" y="436846"/>
            <a:ext cx="7200013"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Network</a:t>
            </a:r>
            <a:r>
              <a:rPr sz="4409" b="1" spc="-28"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Convergence</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75525" y="1775382"/>
            <a:ext cx="9474672" cy="5574570"/>
          </a:xfrm>
          <a:prstGeom prst="rect">
            <a:avLst/>
          </a:prstGeom>
        </p:spPr>
        <p:txBody>
          <a:bodyPr vert="horz" wrap="square" lIns="0" tIns="74897" rIns="0" bIns="0" rtlCol="0">
            <a:spAutoFit/>
          </a:bodyPr>
          <a:lstStyle/>
          <a:p>
            <a:pPr marL="584799" marR="595666" indent="-571500">
              <a:lnSpc>
                <a:spcPts val="3814"/>
              </a:lnSpc>
              <a:spcBef>
                <a:spcPts val="590"/>
              </a:spcBef>
              <a:buClr>
                <a:srgbClr val="D24717"/>
              </a:buClr>
              <a:buSzPct val="84375"/>
              <a:buFont typeface="Wingdings" panose="05000000000000000000" pitchFamily="2" charset="2"/>
              <a:buChar char="Ø"/>
              <a:tabLst>
                <a:tab pos="316382" algn="l"/>
              </a:tabLst>
            </a:pPr>
            <a:r>
              <a:rPr sz="3527" dirty="0">
                <a:latin typeface="Times New Roman"/>
                <a:cs typeface="Times New Roman"/>
              </a:rPr>
              <a:t>When</a:t>
            </a:r>
            <a:r>
              <a:rPr sz="3527" spc="-33" dirty="0">
                <a:latin typeface="Times New Roman"/>
                <a:cs typeface="Times New Roman"/>
              </a:rPr>
              <a:t> </a:t>
            </a:r>
            <a:r>
              <a:rPr sz="3527" dirty="0">
                <a:latin typeface="Times New Roman"/>
                <a:cs typeface="Times New Roman"/>
              </a:rPr>
              <a:t>something</a:t>
            </a:r>
            <a:r>
              <a:rPr sz="3527" spc="-44" dirty="0">
                <a:latin typeface="Times New Roman"/>
                <a:cs typeface="Times New Roman"/>
              </a:rPr>
              <a:t> </a:t>
            </a:r>
            <a:r>
              <a:rPr sz="3527" dirty="0">
                <a:latin typeface="Times New Roman"/>
                <a:cs typeface="Times New Roman"/>
              </a:rPr>
              <a:t>in the network</a:t>
            </a:r>
            <a:r>
              <a:rPr sz="3527" spc="-28" dirty="0">
                <a:latin typeface="Times New Roman"/>
                <a:cs typeface="Times New Roman"/>
              </a:rPr>
              <a:t> </a:t>
            </a:r>
            <a:r>
              <a:rPr sz="3527" dirty="0">
                <a:latin typeface="Times New Roman"/>
                <a:cs typeface="Times New Roman"/>
              </a:rPr>
              <a:t>changes,</a:t>
            </a:r>
            <a:r>
              <a:rPr sz="3527" spc="-50" dirty="0">
                <a:latin typeface="Times New Roman"/>
                <a:cs typeface="Times New Roman"/>
              </a:rPr>
              <a:t> </a:t>
            </a:r>
            <a:r>
              <a:rPr sz="3527" dirty="0">
                <a:latin typeface="Times New Roman"/>
                <a:cs typeface="Times New Roman"/>
              </a:rPr>
              <a:t>the </a:t>
            </a:r>
            <a:r>
              <a:rPr sz="3527" spc="-865" dirty="0">
                <a:latin typeface="Times New Roman"/>
                <a:cs typeface="Times New Roman"/>
              </a:rPr>
              <a:t> </a:t>
            </a:r>
            <a:r>
              <a:rPr sz="3527" dirty="0">
                <a:latin typeface="Times New Roman"/>
                <a:cs typeface="Times New Roman"/>
              </a:rPr>
              <a:t>best</a:t>
            </a:r>
            <a:r>
              <a:rPr sz="3527" spc="-28" dirty="0">
                <a:latin typeface="Times New Roman"/>
                <a:cs typeface="Times New Roman"/>
              </a:rPr>
              <a:t> </a:t>
            </a:r>
            <a:r>
              <a:rPr sz="3527" dirty="0">
                <a:latin typeface="Times New Roman"/>
                <a:cs typeface="Times New Roman"/>
              </a:rPr>
              <a:t>routes</a:t>
            </a:r>
            <a:r>
              <a:rPr sz="3527" spc="-22" dirty="0">
                <a:latin typeface="Times New Roman"/>
                <a:cs typeface="Times New Roman"/>
              </a:rPr>
              <a:t> </a:t>
            </a:r>
            <a:r>
              <a:rPr sz="3527" dirty="0">
                <a:latin typeface="Times New Roman"/>
                <a:cs typeface="Times New Roman"/>
              </a:rPr>
              <a:t>available</a:t>
            </a:r>
            <a:r>
              <a:rPr sz="3527" spc="-33" dirty="0">
                <a:latin typeface="Times New Roman"/>
                <a:cs typeface="Times New Roman"/>
              </a:rPr>
              <a:t> </a:t>
            </a:r>
            <a:r>
              <a:rPr sz="3527" dirty="0">
                <a:latin typeface="Times New Roman"/>
                <a:cs typeface="Times New Roman"/>
              </a:rPr>
              <a:t>may</a:t>
            </a:r>
            <a:r>
              <a:rPr sz="3527" spc="-17" dirty="0">
                <a:latin typeface="Times New Roman"/>
                <a:cs typeface="Times New Roman"/>
              </a:rPr>
              <a:t> </a:t>
            </a:r>
            <a:r>
              <a:rPr sz="3527" dirty="0">
                <a:latin typeface="Times New Roman"/>
                <a:cs typeface="Times New Roman"/>
              </a:rPr>
              <a:t>change.</a:t>
            </a:r>
            <a:endParaRPr lang="en-US" sz="3527" dirty="0">
              <a:latin typeface="Times New Roman"/>
              <a:cs typeface="Times New Roman"/>
            </a:endParaRPr>
          </a:p>
          <a:p>
            <a:pPr marL="584799" marR="595666" indent="-571500">
              <a:lnSpc>
                <a:spcPts val="3814"/>
              </a:lnSpc>
              <a:spcBef>
                <a:spcPts val="590"/>
              </a:spcBef>
              <a:buClr>
                <a:srgbClr val="D24717"/>
              </a:buClr>
              <a:buSzPct val="84375"/>
              <a:buFont typeface="Wingdings" panose="05000000000000000000" pitchFamily="2" charset="2"/>
              <a:buChar char="Ø"/>
              <a:tabLst>
                <a:tab pos="316382" algn="l"/>
              </a:tabLst>
            </a:pPr>
            <a:r>
              <a:rPr sz="3527" dirty="0">
                <a:latin typeface="Times New Roman"/>
                <a:cs typeface="Times New Roman"/>
              </a:rPr>
              <a:t>The</a:t>
            </a:r>
            <a:r>
              <a:rPr sz="3527" spc="-33" dirty="0">
                <a:latin typeface="Times New Roman"/>
                <a:cs typeface="Times New Roman"/>
              </a:rPr>
              <a:t> </a:t>
            </a:r>
            <a:r>
              <a:rPr sz="3527" dirty="0">
                <a:latin typeface="Times New Roman"/>
                <a:cs typeface="Times New Roman"/>
              </a:rPr>
              <a:t>term</a:t>
            </a:r>
            <a:r>
              <a:rPr sz="3527" spc="-11" dirty="0">
                <a:latin typeface="Times New Roman"/>
                <a:cs typeface="Times New Roman"/>
              </a:rPr>
              <a:t> </a:t>
            </a:r>
            <a:r>
              <a:rPr sz="3527" b="1" dirty="0">
                <a:solidFill>
                  <a:srgbClr val="FF0000"/>
                </a:solidFill>
                <a:latin typeface="Times New Roman"/>
                <a:cs typeface="Times New Roman"/>
              </a:rPr>
              <a:t>convergence</a:t>
            </a:r>
            <a:r>
              <a:rPr sz="3527" b="1" i="1" spc="-17" dirty="0">
                <a:solidFill>
                  <a:srgbClr val="0066CC"/>
                </a:solidFill>
                <a:latin typeface="Times New Roman"/>
                <a:cs typeface="Times New Roman"/>
              </a:rPr>
              <a:t> </a:t>
            </a:r>
            <a:r>
              <a:rPr sz="3527" dirty="0">
                <a:latin typeface="Times New Roman"/>
                <a:cs typeface="Times New Roman"/>
              </a:rPr>
              <a:t>refers</a:t>
            </a:r>
            <a:r>
              <a:rPr sz="3527" spc="-22" dirty="0">
                <a:latin typeface="Times New Roman"/>
                <a:cs typeface="Times New Roman"/>
              </a:rPr>
              <a:t> </a:t>
            </a:r>
            <a:r>
              <a:rPr sz="3527" dirty="0">
                <a:latin typeface="Times New Roman"/>
                <a:cs typeface="Times New Roman"/>
              </a:rPr>
              <a:t>to a</a:t>
            </a:r>
            <a:r>
              <a:rPr sz="3527" spc="-6" dirty="0">
                <a:latin typeface="Times New Roman"/>
                <a:cs typeface="Times New Roman"/>
              </a:rPr>
              <a:t> </a:t>
            </a:r>
            <a:r>
              <a:rPr sz="3527" dirty="0">
                <a:latin typeface="Times New Roman"/>
                <a:cs typeface="Times New Roman"/>
              </a:rPr>
              <a:t>process</a:t>
            </a:r>
            <a:r>
              <a:rPr sz="3527" spc="-28" dirty="0">
                <a:latin typeface="Times New Roman"/>
                <a:cs typeface="Times New Roman"/>
              </a:rPr>
              <a:t> </a:t>
            </a:r>
            <a:r>
              <a:rPr sz="3527" dirty="0">
                <a:latin typeface="Times New Roman"/>
                <a:cs typeface="Times New Roman"/>
              </a:rPr>
              <a:t>that </a:t>
            </a:r>
            <a:r>
              <a:rPr sz="3527" spc="-865" dirty="0">
                <a:latin typeface="Times New Roman"/>
                <a:cs typeface="Times New Roman"/>
              </a:rPr>
              <a:t> </a:t>
            </a:r>
            <a:r>
              <a:rPr sz="3527" dirty="0">
                <a:latin typeface="Times New Roman"/>
                <a:cs typeface="Times New Roman"/>
              </a:rPr>
              <a:t>occurs</a:t>
            </a:r>
            <a:r>
              <a:rPr sz="3527" spc="-39" dirty="0">
                <a:latin typeface="Times New Roman"/>
                <a:cs typeface="Times New Roman"/>
              </a:rPr>
              <a:t> </a:t>
            </a:r>
            <a:r>
              <a:rPr sz="3527" dirty="0">
                <a:latin typeface="Times New Roman"/>
                <a:cs typeface="Times New Roman"/>
              </a:rPr>
              <a:t>when</a:t>
            </a:r>
            <a:r>
              <a:rPr sz="3527" spc="-28" dirty="0">
                <a:latin typeface="Times New Roman"/>
                <a:cs typeface="Times New Roman"/>
              </a:rPr>
              <a:t> </a:t>
            </a:r>
            <a:r>
              <a:rPr sz="3527" dirty="0">
                <a:latin typeface="Times New Roman"/>
                <a:cs typeface="Times New Roman"/>
              </a:rPr>
              <a:t>the topology</a:t>
            </a:r>
            <a:r>
              <a:rPr sz="3527" spc="-39" dirty="0">
                <a:latin typeface="Times New Roman"/>
                <a:cs typeface="Times New Roman"/>
              </a:rPr>
              <a:t> </a:t>
            </a:r>
            <a:r>
              <a:rPr sz="3527" dirty="0">
                <a:latin typeface="Times New Roman"/>
                <a:cs typeface="Times New Roman"/>
              </a:rPr>
              <a:t>changes</a:t>
            </a:r>
          </a:p>
          <a:p>
            <a:pPr marL="1085765" lvl="2" indent="-262485">
              <a:spcBef>
                <a:spcPts val="22"/>
              </a:spcBef>
              <a:buClr>
                <a:srgbClr val="9B2C1F"/>
              </a:buClr>
              <a:buSzPct val="80357"/>
              <a:buFont typeface="Wingdings"/>
              <a:buChar char=""/>
              <a:tabLst>
                <a:tab pos="629264" algn="l"/>
              </a:tabLst>
            </a:pPr>
            <a:r>
              <a:rPr sz="3200" spc="-6" dirty="0">
                <a:latin typeface="Times New Roman"/>
                <a:cs typeface="Times New Roman"/>
              </a:rPr>
              <a:t>A</a:t>
            </a:r>
            <a:r>
              <a:rPr sz="3200" spc="-182" dirty="0">
                <a:latin typeface="Times New Roman"/>
                <a:cs typeface="Times New Roman"/>
              </a:rPr>
              <a:t> </a:t>
            </a:r>
            <a:r>
              <a:rPr sz="3200" spc="-6" dirty="0">
                <a:latin typeface="Times New Roman"/>
                <a:cs typeface="Times New Roman"/>
              </a:rPr>
              <a:t>ro</a:t>
            </a:r>
            <a:r>
              <a:rPr sz="3200" spc="6" dirty="0">
                <a:latin typeface="Times New Roman"/>
                <a:cs typeface="Times New Roman"/>
              </a:rPr>
              <a:t>u</a:t>
            </a:r>
            <a:r>
              <a:rPr sz="3200" spc="-6" dirty="0">
                <a:latin typeface="Times New Roman"/>
                <a:cs typeface="Times New Roman"/>
              </a:rPr>
              <a:t>ter or</a:t>
            </a:r>
            <a:r>
              <a:rPr sz="3200" spc="6" dirty="0">
                <a:latin typeface="Times New Roman"/>
                <a:cs typeface="Times New Roman"/>
              </a:rPr>
              <a:t> </a:t>
            </a:r>
            <a:r>
              <a:rPr sz="3200" spc="-6" dirty="0">
                <a:latin typeface="Times New Roman"/>
                <a:cs typeface="Times New Roman"/>
              </a:rPr>
              <a:t>li</a:t>
            </a:r>
            <a:r>
              <a:rPr sz="3200" dirty="0">
                <a:latin typeface="Times New Roman"/>
                <a:cs typeface="Times New Roman"/>
              </a:rPr>
              <a:t>n</a:t>
            </a:r>
            <a:r>
              <a:rPr sz="3200" spc="-6" dirty="0">
                <a:latin typeface="Times New Roman"/>
                <a:cs typeface="Times New Roman"/>
              </a:rPr>
              <a:t>k</a:t>
            </a:r>
            <a:r>
              <a:rPr sz="3200" spc="-11" dirty="0">
                <a:latin typeface="Times New Roman"/>
                <a:cs typeface="Times New Roman"/>
              </a:rPr>
              <a:t> </a:t>
            </a:r>
            <a:r>
              <a:rPr sz="3200" spc="-6" dirty="0">
                <a:latin typeface="Times New Roman"/>
                <a:cs typeface="Times New Roman"/>
              </a:rPr>
              <a:t>fails</a:t>
            </a:r>
            <a:r>
              <a:rPr sz="3200" spc="-11" dirty="0">
                <a:latin typeface="Times New Roman"/>
                <a:cs typeface="Times New Roman"/>
              </a:rPr>
              <a:t> </a:t>
            </a:r>
            <a:r>
              <a:rPr sz="3200" spc="-6" dirty="0">
                <a:latin typeface="Times New Roman"/>
                <a:cs typeface="Times New Roman"/>
              </a:rPr>
              <a:t>or</a:t>
            </a:r>
            <a:endParaRPr sz="3200" dirty="0">
              <a:latin typeface="Times New Roman"/>
              <a:cs typeface="Times New Roman"/>
            </a:endParaRPr>
          </a:p>
          <a:p>
            <a:pPr marL="1085765" lvl="2" indent="-262485">
              <a:spcBef>
                <a:spcPts val="66"/>
              </a:spcBef>
              <a:buClr>
                <a:srgbClr val="9B2C1F"/>
              </a:buClr>
              <a:buSzPct val="80357"/>
              <a:buFont typeface="Wingdings"/>
              <a:buChar char=""/>
              <a:tabLst>
                <a:tab pos="629264" algn="l"/>
              </a:tabLst>
            </a:pPr>
            <a:r>
              <a:rPr sz="3200" spc="-11">
                <a:latin typeface="Times New Roman"/>
                <a:cs typeface="Times New Roman"/>
              </a:rPr>
              <a:t>Comes</a:t>
            </a:r>
            <a:r>
              <a:rPr sz="3200" spc="-44">
                <a:latin typeface="Times New Roman"/>
                <a:cs typeface="Times New Roman"/>
              </a:rPr>
              <a:t> </a:t>
            </a:r>
            <a:r>
              <a:rPr sz="3200" spc="-6">
                <a:latin typeface="Times New Roman"/>
                <a:cs typeface="Times New Roman"/>
              </a:rPr>
              <a:t>up</a:t>
            </a:r>
            <a:endParaRPr lang="en-US" sz="3200" dirty="0">
              <a:latin typeface="Times New Roman"/>
              <a:cs typeface="Times New Roman"/>
            </a:endParaRPr>
          </a:p>
          <a:p>
            <a:pPr marL="366080" indent="-457200">
              <a:spcBef>
                <a:spcPts val="66"/>
              </a:spcBef>
              <a:buClr>
                <a:srgbClr val="9B2C1F"/>
              </a:buClr>
              <a:buSzPct val="80357"/>
              <a:buFont typeface="Wingdings" panose="05000000000000000000" pitchFamily="2" charset="2"/>
              <a:buChar char="Ø"/>
              <a:tabLst>
                <a:tab pos="629264" algn="l"/>
              </a:tabLst>
            </a:pPr>
            <a:r>
              <a:rPr sz="3200" spc="-17">
                <a:latin typeface="Times New Roman"/>
                <a:cs typeface="Times New Roman"/>
              </a:rPr>
              <a:t>Convergence </a:t>
            </a:r>
            <a:r>
              <a:rPr sz="3200" spc="-6" dirty="0">
                <a:latin typeface="Times New Roman"/>
                <a:cs typeface="Times New Roman"/>
              </a:rPr>
              <a:t>is the </a:t>
            </a:r>
            <a:r>
              <a:rPr sz="3200" spc="-22" dirty="0">
                <a:latin typeface="Times New Roman"/>
                <a:cs typeface="Times New Roman"/>
              </a:rPr>
              <a:t>process </a:t>
            </a:r>
            <a:r>
              <a:rPr sz="3200" spc="-6" dirty="0">
                <a:latin typeface="Times New Roman"/>
                <a:cs typeface="Times New Roman"/>
              </a:rPr>
              <a:t>by which all </a:t>
            </a:r>
            <a:r>
              <a:rPr sz="3200" dirty="0">
                <a:latin typeface="Times New Roman"/>
                <a:cs typeface="Times New Roman"/>
              </a:rPr>
              <a:t>the </a:t>
            </a:r>
            <a:r>
              <a:rPr sz="3200" spc="-22" dirty="0">
                <a:latin typeface="Times New Roman"/>
                <a:cs typeface="Times New Roman"/>
              </a:rPr>
              <a:t>routers </a:t>
            </a:r>
            <a:r>
              <a:rPr sz="3200" spc="-17" dirty="0">
                <a:latin typeface="Times New Roman"/>
                <a:cs typeface="Times New Roman"/>
              </a:rPr>
              <a:t> </a:t>
            </a:r>
            <a:r>
              <a:rPr sz="3200" spc="-6" dirty="0">
                <a:latin typeface="Times New Roman"/>
                <a:cs typeface="Times New Roman"/>
              </a:rPr>
              <a:t>collectively </a:t>
            </a:r>
            <a:r>
              <a:rPr sz="3200" spc="-22" dirty="0">
                <a:latin typeface="Times New Roman"/>
                <a:cs typeface="Times New Roman"/>
              </a:rPr>
              <a:t>realize </a:t>
            </a:r>
            <a:r>
              <a:rPr sz="3200" spc="-6" dirty="0">
                <a:latin typeface="Times New Roman"/>
                <a:cs typeface="Times New Roman"/>
              </a:rPr>
              <a:t>something has changed, advertise </a:t>
            </a:r>
            <a:r>
              <a:rPr sz="3200" spc="-755" dirty="0">
                <a:latin typeface="Times New Roman"/>
                <a:cs typeface="Times New Roman"/>
              </a:rPr>
              <a:t> </a:t>
            </a:r>
            <a:r>
              <a:rPr sz="3200" dirty="0">
                <a:latin typeface="Times New Roman"/>
                <a:cs typeface="Times New Roman"/>
              </a:rPr>
              <a:t>the</a:t>
            </a:r>
            <a:r>
              <a:rPr sz="3200" spc="-28" dirty="0">
                <a:latin typeface="Times New Roman"/>
                <a:cs typeface="Times New Roman"/>
              </a:rPr>
              <a:t> </a:t>
            </a:r>
            <a:r>
              <a:rPr sz="3200" dirty="0">
                <a:latin typeface="Times New Roman"/>
                <a:cs typeface="Times New Roman"/>
              </a:rPr>
              <a:t>information</a:t>
            </a:r>
            <a:r>
              <a:rPr sz="3200" spc="-33" dirty="0">
                <a:latin typeface="Times New Roman"/>
                <a:cs typeface="Times New Roman"/>
              </a:rPr>
              <a:t> </a:t>
            </a:r>
            <a:r>
              <a:rPr sz="3200" dirty="0">
                <a:latin typeface="Times New Roman"/>
                <a:cs typeface="Times New Roman"/>
              </a:rPr>
              <a:t>about</a:t>
            </a:r>
            <a:r>
              <a:rPr sz="3200" spc="-11"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spc="-6" dirty="0">
                <a:latin typeface="Times New Roman"/>
                <a:cs typeface="Times New Roman"/>
              </a:rPr>
              <a:t>change</a:t>
            </a:r>
            <a:r>
              <a:rPr sz="3200" dirty="0">
                <a:latin typeface="Times New Roman"/>
                <a:cs typeface="Times New Roman"/>
              </a:rPr>
              <a:t> </a:t>
            </a:r>
            <a:r>
              <a:rPr sz="3200" spc="-6" dirty="0">
                <a:latin typeface="Times New Roman"/>
                <a:cs typeface="Times New Roman"/>
              </a:rPr>
              <a:t>to</a:t>
            </a:r>
            <a:r>
              <a:rPr lang="en-US" sz="3200" spc="-6" dirty="0">
                <a:latin typeface="Times New Roman"/>
                <a:cs typeface="Times New Roman"/>
              </a:rPr>
              <a:t> </a:t>
            </a:r>
            <a:r>
              <a:rPr sz="3200" dirty="0">
                <a:latin typeface="Times New Roman"/>
                <a:cs typeface="Times New Roman"/>
              </a:rPr>
              <a:t>all</a:t>
            </a:r>
            <a:r>
              <a:rPr sz="3200" spc="-77" dirty="0">
                <a:latin typeface="Times New Roman"/>
                <a:cs typeface="Times New Roman"/>
              </a:rPr>
              <a:t> </a:t>
            </a:r>
            <a:r>
              <a:rPr sz="3200" dirty="0">
                <a:latin typeface="Times New Roman"/>
                <a:cs typeface="Times New Roman"/>
              </a:rPr>
              <a:t>the</a:t>
            </a:r>
            <a:r>
              <a:rPr sz="3200" spc="-55" dirty="0">
                <a:latin typeface="Times New Roman"/>
                <a:cs typeface="Times New Roman"/>
              </a:rPr>
              <a:t> </a:t>
            </a:r>
            <a:r>
              <a:rPr sz="3200" spc="-6" dirty="0">
                <a:latin typeface="Times New Roman"/>
                <a:cs typeface="Times New Roman"/>
              </a:rPr>
              <a:t>other </a:t>
            </a:r>
            <a:r>
              <a:rPr sz="3200" spc="-755" dirty="0">
                <a:latin typeface="Times New Roman"/>
                <a:cs typeface="Times New Roman"/>
              </a:rPr>
              <a:t> </a:t>
            </a:r>
            <a:r>
              <a:rPr sz="3200" spc="-17" dirty="0">
                <a:latin typeface="Times New Roman"/>
                <a:cs typeface="Times New Roman"/>
              </a:rPr>
              <a:t>routers, </a:t>
            </a:r>
            <a:r>
              <a:rPr sz="3200" spc="-6" dirty="0">
                <a:latin typeface="Times New Roman"/>
                <a:cs typeface="Times New Roman"/>
              </a:rPr>
              <a:t>and then choose </a:t>
            </a:r>
            <a:r>
              <a:rPr sz="3200" dirty="0">
                <a:latin typeface="Times New Roman"/>
                <a:cs typeface="Times New Roman"/>
              </a:rPr>
              <a:t>the </a:t>
            </a:r>
            <a:r>
              <a:rPr sz="3200" spc="-17" dirty="0">
                <a:latin typeface="Times New Roman"/>
                <a:cs typeface="Times New Roman"/>
              </a:rPr>
              <a:t>currently </a:t>
            </a:r>
            <a:r>
              <a:rPr sz="3200" spc="-6" dirty="0">
                <a:latin typeface="Times New Roman"/>
                <a:cs typeface="Times New Roman"/>
              </a:rPr>
              <a:t>best </a:t>
            </a:r>
            <a:r>
              <a:rPr sz="3200" spc="-22" dirty="0">
                <a:latin typeface="Times New Roman"/>
                <a:cs typeface="Times New Roman"/>
              </a:rPr>
              <a:t>routes </a:t>
            </a:r>
            <a:r>
              <a:rPr sz="3200" dirty="0">
                <a:latin typeface="Times New Roman"/>
                <a:cs typeface="Times New Roman"/>
              </a:rPr>
              <a:t>for </a:t>
            </a:r>
            <a:r>
              <a:rPr sz="3200" spc="-755" dirty="0">
                <a:latin typeface="Times New Roman"/>
                <a:cs typeface="Times New Roman"/>
              </a:rPr>
              <a:t> </a:t>
            </a:r>
            <a:r>
              <a:rPr sz="3200" spc="-6" dirty="0">
                <a:latin typeface="Times New Roman"/>
                <a:cs typeface="Times New Roman"/>
              </a:rPr>
              <a:t>each</a:t>
            </a:r>
            <a:r>
              <a:rPr sz="3200" spc="-22" dirty="0">
                <a:latin typeface="Times New Roman"/>
                <a:cs typeface="Times New Roman"/>
              </a:rPr>
              <a:t> </a:t>
            </a:r>
            <a:r>
              <a:rPr sz="3200" spc="-6" dirty="0">
                <a:latin typeface="Times New Roman"/>
                <a:cs typeface="Times New Roman"/>
              </a:rPr>
              <a:t>subnet.</a:t>
            </a:r>
            <a:endParaRPr sz="3200"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64</a:t>
            </a:fld>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623" y="609125"/>
            <a:ext cx="5363169"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Network</a:t>
            </a:r>
            <a:r>
              <a:rPr sz="4409" b="1" spc="-11"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Convergence</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30427" y="1756347"/>
            <a:ext cx="9724941" cy="5116929"/>
          </a:xfrm>
          <a:prstGeom prst="rect">
            <a:avLst/>
          </a:prstGeom>
        </p:spPr>
        <p:txBody>
          <a:bodyPr vert="horz" wrap="square" lIns="0" tIns="67896" rIns="0" bIns="0" rtlCol="0">
            <a:spAutoFit/>
          </a:bodyPr>
          <a:lstStyle/>
          <a:p>
            <a:pPr marL="584799" marR="79795" indent="-571500">
              <a:lnSpc>
                <a:spcPct val="90000"/>
              </a:lnSpc>
              <a:spcBef>
                <a:spcPts val="534"/>
              </a:spcBef>
              <a:buClr>
                <a:srgbClr val="D24717"/>
              </a:buClr>
              <a:buSzPct val="84375"/>
              <a:buFont typeface="Wingdings" panose="05000000000000000000" pitchFamily="2" charset="2"/>
              <a:buChar char="Ø"/>
              <a:tabLst>
                <a:tab pos="316382" algn="l"/>
              </a:tabLst>
            </a:pPr>
            <a:r>
              <a:rPr sz="3527" dirty="0">
                <a:latin typeface="Times New Roman"/>
                <a:cs typeface="Times New Roman"/>
              </a:rPr>
              <a:t>The</a:t>
            </a:r>
            <a:r>
              <a:rPr sz="3527" spc="-33" dirty="0">
                <a:latin typeface="Times New Roman"/>
                <a:cs typeface="Times New Roman"/>
              </a:rPr>
              <a:t> </a:t>
            </a:r>
            <a:r>
              <a:rPr sz="3527" dirty="0">
                <a:latin typeface="Times New Roman"/>
                <a:cs typeface="Times New Roman"/>
              </a:rPr>
              <a:t>ability</a:t>
            </a:r>
            <a:r>
              <a:rPr sz="3527" spc="-17" dirty="0">
                <a:latin typeface="Times New Roman"/>
                <a:cs typeface="Times New Roman"/>
              </a:rPr>
              <a:t> </a:t>
            </a:r>
            <a:r>
              <a:rPr sz="3527" dirty="0">
                <a:latin typeface="Times New Roman"/>
                <a:cs typeface="Times New Roman"/>
              </a:rPr>
              <a:t>to</a:t>
            </a:r>
            <a:r>
              <a:rPr sz="3527" spc="-6" dirty="0">
                <a:latin typeface="Times New Roman"/>
                <a:cs typeface="Times New Roman"/>
              </a:rPr>
              <a:t> converge</a:t>
            </a:r>
            <a:r>
              <a:rPr sz="3527" spc="-39" dirty="0">
                <a:latin typeface="Times New Roman"/>
                <a:cs typeface="Times New Roman"/>
              </a:rPr>
              <a:t> </a:t>
            </a:r>
            <a:r>
              <a:rPr sz="3527" spc="-28" dirty="0">
                <a:latin typeface="Times New Roman"/>
                <a:cs typeface="Times New Roman"/>
              </a:rPr>
              <a:t>quickly,</a:t>
            </a:r>
            <a:r>
              <a:rPr sz="3527" spc="-55" dirty="0">
                <a:latin typeface="Times New Roman"/>
                <a:cs typeface="Times New Roman"/>
              </a:rPr>
              <a:t> </a:t>
            </a:r>
            <a:r>
              <a:rPr sz="3527" dirty="0">
                <a:latin typeface="Times New Roman"/>
                <a:cs typeface="Times New Roman"/>
              </a:rPr>
              <a:t>without</a:t>
            </a:r>
            <a:r>
              <a:rPr sz="3527" spc="-39" dirty="0">
                <a:latin typeface="Times New Roman"/>
                <a:cs typeface="Times New Roman"/>
              </a:rPr>
              <a:t> </a:t>
            </a:r>
            <a:r>
              <a:rPr sz="3527" dirty="0">
                <a:latin typeface="Times New Roman"/>
                <a:cs typeface="Times New Roman"/>
              </a:rPr>
              <a:t>causing </a:t>
            </a:r>
            <a:r>
              <a:rPr sz="3527" spc="-865" dirty="0">
                <a:latin typeface="Times New Roman"/>
                <a:cs typeface="Times New Roman"/>
              </a:rPr>
              <a:t> </a:t>
            </a:r>
            <a:r>
              <a:rPr sz="3527" dirty="0">
                <a:latin typeface="Times New Roman"/>
                <a:cs typeface="Times New Roman"/>
              </a:rPr>
              <a:t>loops, is one of the most important features of </a:t>
            </a:r>
            <a:r>
              <a:rPr sz="3527" spc="6" dirty="0">
                <a:latin typeface="Times New Roman"/>
                <a:cs typeface="Times New Roman"/>
              </a:rPr>
              <a:t> </a:t>
            </a:r>
            <a:r>
              <a:rPr sz="3527" dirty="0">
                <a:latin typeface="Times New Roman"/>
                <a:cs typeface="Times New Roman"/>
              </a:rPr>
              <a:t>every</a:t>
            </a:r>
            <a:r>
              <a:rPr sz="3527" spc="-44" dirty="0">
                <a:latin typeface="Times New Roman"/>
                <a:cs typeface="Times New Roman"/>
              </a:rPr>
              <a:t> </a:t>
            </a:r>
            <a:r>
              <a:rPr sz="3527" dirty="0">
                <a:latin typeface="Times New Roman"/>
                <a:cs typeface="Times New Roman"/>
              </a:rPr>
              <a:t>routing</a:t>
            </a:r>
            <a:r>
              <a:rPr sz="3527" spc="-28" dirty="0">
                <a:latin typeface="Times New Roman"/>
                <a:cs typeface="Times New Roman"/>
              </a:rPr>
              <a:t> </a:t>
            </a:r>
            <a:r>
              <a:rPr sz="3527" dirty="0">
                <a:latin typeface="Times New Roman"/>
                <a:cs typeface="Times New Roman"/>
              </a:rPr>
              <a:t>protocol.</a:t>
            </a:r>
          </a:p>
          <a:p>
            <a:pPr marL="584799" marR="18199" indent="-571500">
              <a:lnSpc>
                <a:spcPts val="3814"/>
              </a:lnSpc>
              <a:spcBef>
                <a:spcPts val="716"/>
              </a:spcBef>
              <a:buClr>
                <a:srgbClr val="D24717"/>
              </a:buClr>
              <a:buSzPct val="84375"/>
              <a:buFont typeface="Wingdings" panose="05000000000000000000" pitchFamily="2" charset="2"/>
              <a:buChar char="Ø"/>
              <a:tabLst>
                <a:tab pos="316382" algn="l"/>
              </a:tabLst>
            </a:pPr>
            <a:r>
              <a:rPr sz="3527" dirty="0">
                <a:latin typeface="Times New Roman"/>
                <a:cs typeface="Times New Roman"/>
              </a:rPr>
              <a:t>When</a:t>
            </a:r>
            <a:r>
              <a:rPr sz="3527" spc="-28" dirty="0">
                <a:latin typeface="Times New Roman"/>
                <a:cs typeface="Times New Roman"/>
              </a:rPr>
              <a:t> </a:t>
            </a:r>
            <a:r>
              <a:rPr sz="3527" dirty="0">
                <a:latin typeface="Times New Roman"/>
                <a:cs typeface="Times New Roman"/>
              </a:rPr>
              <a:t>all routers</a:t>
            </a:r>
            <a:r>
              <a:rPr sz="3527" spc="-39" dirty="0">
                <a:latin typeface="Times New Roman"/>
                <a:cs typeface="Times New Roman"/>
              </a:rPr>
              <a:t> </a:t>
            </a:r>
            <a:r>
              <a:rPr sz="3527" dirty="0">
                <a:latin typeface="Times New Roman"/>
                <a:cs typeface="Times New Roman"/>
              </a:rPr>
              <a:t>in an internetwork</a:t>
            </a:r>
            <a:r>
              <a:rPr sz="3527" spc="-61" dirty="0">
                <a:latin typeface="Times New Roman"/>
                <a:cs typeface="Times New Roman"/>
              </a:rPr>
              <a:t> </a:t>
            </a:r>
            <a:r>
              <a:rPr sz="3527" dirty="0">
                <a:latin typeface="Times New Roman"/>
                <a:cs typeface="Times New Roman"/>
              </a:rPr>
              <a:t>operate</a:t>
            </a:r>
            <a:r>
              <a:rPr sz="3527" spc="-33" dirty="0">
                <a:latin typeface="Times New Roman"/>
                <a:cs typeface="Times New Roman"/>
              </a:rPr>
              <a:t> </a:t>
            </a:r>
            <a:r>
              <a:rPr sz="3527" dirty="0">
                <a:latin typeface="Times New Roman"/>
                <a:cs typeface="Times New Roman"/>
              </a:rPr>
              <a:t>with </a:t>
            </a:r>
            <a:r>
              <a:rPr sz="3527" spc="-865" dirty="0">
                <a:latin typeface="Times New Roman"/>
                <a:cs typeface="Times New Roman"/>
              </a:rPr>
              <a:t> </a:t>
            </a:r>
            <a:r>
              <a:rPr sz="3527" dirty="0">
                <a:latin typeface="Times New Roman"/>
                <a:cs typeface="Times New Roman"/>
              </a:rPr>
              <a:t>the same knowledge, the internetwork is said </a:t>
            </a:r>
            <a:r>
              <a:rPr sz="3527" spc="-11" dirty="0">
                <a:latin typeface="Times New Roman"/>
                <a:cs typeface="Times New Roman"/>
              </a:rPr>
              <a:t>to </a:t>
            </a:r>
            <a:r>
              <a:rPr sz="3527" spc="-6" dirty="0">
                <a:latin typeface="Times New Roman"/>
                <a:cs typeface="Times New Roman"/>
              </a:rPr>
              <a:t> </a:t>
            </a:r>
            <a:r>
              <a:rPr sz="3527" dirty="0">
                <a:latin typeface="Times New Roman"/>
                <a:cs typeface="Times New Roman"/>
              </a:rPr>
              <a:t>have</a:t>
            </a:r>
            <a:r>
              <a:rPr sz="3527" spc="-33" dirty="0">
                <a:latin typeface="Times New Roman"/>
                <a:cs typeface="Times New Roman"/>
              </a:rPr>
              <a:t> </a:t>
            </a:r>
            <a:r>
              <a:rPr sz="3527" spc="-6" dirty="0">
                <a:latin typeface="Times New Roman"/>
                <a:cs typeface="Times New Roman"/>
              </a:rPr>
              <a:t>converged.</a:t>
            </a:r>
            <a:endParaRPr sz="3527" dirty="0">
              <a:latin typeface="Times New Roman"/>
              <a:cs typeface="Times New Roman"/>
            </a:endParaRPr>
          </a:p>
          <a:p>
            <a:pPr marL="584799" marR="5600" indent="-571500">
              <a:lnSpc>
                <a:spcPct val="90000"/>
              </a:lnSpc>
              <a:spcBef>
                <a:spcPts val="601"/>
              </a:spcBef>
              <a:buClr>
                <a:srgbClr val="D24717"/>
              </a:buClr>
              <a:buSzPct val="84375"/>
              <a:buFont typeface="Wingdings" panose="05000000000000000000" pitchFamily="2" charset="2"/>
              <a:buChar char="Ø"/>
              <a:tabLst>
                <a:tab pos="316382" algn="l"/>
              </a:tabLst>
            </a:pPr>
            <a:r>
              <a:rPr sz="3527" dirty="0">
                <a:latin typeface="Times New Roman"/>
                <a:cs typeface="Times New Roman"/>
              </a:rPr>
              <a:t>The</a:t>
            </a:r>
            <a:r>
              <a:rPr sz="3527" spc="-28" dirty="0">
                <a:latin typeface="Times New Roman"/>
                <a:cs typeface="Times New Roman"/>
              </a:rPr>
              <a:t> </a:t>
            </a:r>
            <a:r>
              <a:rPr sz="3527" dirty="0">
                <a:latin typeface="Times New Roman"/>
                <a:cs typeface="Times New Roman"/>
              </a:rPr>
              <a:t>routing</a:t>
            </a:r>
            <a:r>
              <a:rPr sz="3527" spc="-28" dirty="0">
                <a:latin typeface="Times New Roman"/>
                <a:cs typeface="Times New Roman"/>
              </a:rPr>
              <a:t> </a:t>
            </a:r>
            <a:r>
              <a:rPr sz="3527" dirty="0">
                <a:latin typeface="Times New Roman"/>
                <a:cs typeface="Times New Roman"/>
              </a:rPr>
              <a:t>protocols</a:t>
            </a:r>
            <a:r>
              <a:rPr sz="3527" spc="-44" dirty="0">
                <a:latin typeface="Times New Roman"/>
                <a:cs typeface="Times New Roman"/>
              </a:rPr>
              <a:t> </a:t>
            </a:r>
            <a:r>
              <a:rPr sz="3527" dirty="0">
                <a:latin typeface="Times New Roman"/>
                <a:cs typeface="Times New Roman"/>
              </a:rPr>
              <a:t>must</a:t>
            </a:r>
            <a:r>
              <a:rPr sz="3527" spc="6" dirty="0">
                <a:latin typeface="Times New Roman"/>
                <a:cs typeface="Times New Roman"/>
              </a:rPr>
              <a:t> </a:t>
            </a:r>
            <a:r>
              <a:rPr sz="3527" dirty="0">
                <a:latin typeface="Times New Roman"/>
                <a:cs typeface="Times New Roman"/>
              </a:rPr>
              <a:t>recognize</a:t>
            </a:r>
            <a:r>
              <a:rPr sz="3527" spc="-33" dirty="0">
                <a:latin typeface="Times New Roman"/>
                <a:cs typeface="Times New Roman"/>
              </a:rPr>
              <a:t> </a:t>
            </a:r>
            <a:r>
              <a:rPr sz="3527" dirty="0">
                <a:latin typeface="Times New Roman"/>
                <a:cs typeface="Times New Roman"/>
              </a:rPr>
              <a:t>changes</a:t>
            </a:r>
            <a:r>
              <a:rPr sz="3527" spc="-33" dirty="0">
                <a:latin typeface="Times New Roman"/>
                <a:cs typeface="Times New Roman"/>
              </a:rPr>
              <a:t> </a:t>
            </a:r>
            <a:r>
              <a:rPr sz="3527" dirty="0">
                <a:latin typeface="Times New Roman"/>
                <a:cs typeface="Times New Roman"/>
              </a:rPr>
              <a:t>in </a:t>
            </a:r>
            <a:r>
              <a:rPr sz="3527" spc="-865" dirty="0">
                <a:latin typeface="Times New Roman"/>
                <a:cs typeface="Times New Roman"/>
              </a:rPr>
              <a:t> </a:t>
            </a:r>
            <a:r>
              <a:rPr sz="3527" dirty="0">
                <a:latin typeface="Times New Roman"/>
                <a:cs typeface="Times New Roman"/>
              </a:rPr>
              <a:t>the network topology and ensure that all routers </a:t>
            </a:r>
            <a:r>
              <a:rPr sz="3527" spc="6" dirty="0">
                <a:latin typeface="Times New Roman"/>
                <a:cs typeface="Times New Roman"/>
              </a:rPr>
              <a:t> </a:t>
            </a:r>
            <a:r>
              <a:rPr sz="3527" dirty="0">
                <a:latin typeface="Times New Roman"/>
                <a:cs typeface="Times New Roman"/>
              </a:rPr>
              <a:t>know about the changes for the internetwork to </a:t>
            </a:r>
            <a:r>
              <a:rPr sz="3527" spc="6" dirty="0">
                <a:latin typeface="Times New Roman"/>
                <a:cs typeface="Times New Roman"/>
              </a:rPr>
              <a:t> </a:t>
            </a:r>
            <a:r>
              <a:rPr sz="3527" spc="-6" dirty="0">
                <a:latin typeface="Times New Roman"/>
                <a:cs typeface="Times New Roman"/>
              </a:rPr>
              <a:t>converge.</a:t>
            </a:r>
            <a:endParaRPr sz="3527" dirty="0">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65</a:t>
            </a:fld>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428" y="419995"/>
            <a:ext cx="7892131"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Autonomous</a:t>
            </a:r>
            <a:r>
              <a:rPr sz="4409" b="1" spc="6"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System</a:t>
            </a:r>
            <a:r>
              <a:rPr sz="4409" b="1" spc="6"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(AS)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15910" y="1736745"/>
            <a:ext cx="9964715" cy="3995788"/>
          </a:xfrm>
          <a:prstGeom prst="rect">
            <a:avLst/>
          </a:prstGeom>
        </p:spPr>
        <p:txBody>
          <a:bodyPr vert="horz" wrap="square" lIns="0" tIns="67896" rIns="0" bIns="0" rtlCol="0">
            <a:spAutoFit/>
          </a:bodyPr>
          <a:lstStyle/>
          <a:p>
            <a:pPr marL="584799" marR="251286" indent="-571500">
              <a:lnSpc>
                <a:spcPct val="90000"/>
              </a:lnSpc>
              <a:spcBef>
                <a:spcPts val="534"/>
              </a:spcBef>
              <a:buClr>
                <a:srgbClr val="D24717"/>
              </a:buClr>
              <a:buSzPct val="84375"/>
              <a:buFont typeface="Wingdings" panose="05000000000000000000" pitchFamily="2" charset="2"/>
              <a:buChar char="Ø"/>
              <a:tabLst>
                <a:tab pos="317082" algn="l"/>
              </a:tabLst>
            </a:pPr>
            <a:r>
              <a:rPr sz="3200" b="1" dirty="0">
                <a:solidFill>
                  <a:srgbClr val="FF0000"/>
                </a:solidFill>
                <a:latin typeface="Times New Roman"/>
                <a:cs typeface="Times New Roman"/>
              </a:rPr>
              <a:t>Autonomous system (AS) </a:t>
            </a:r>
            <a:r>
              <a:rPr sz="3200" dirty="0">
                <a:latin typeface="Times New Roman"/>
                <a:cs typeface="Times New Roman"/>
              </a:rPr>
              <a:t>is an internetwork under</a:t>
            </a:r>
            <a:r>
              <a:rPr lang="en-US" sz="3200" dirty="0">
                <a:latin typeface="Times New Roman"/>
                <a:cs typeface="Times New Roman"/>
              </a:rPr>
              <a:t> </a:t>
            </a:r>
            <a:r>
              <a:rPr sz="3200" dirty="0">
                <a:latin typeface="Times New Roman"/>
                <a:cs typeface="Times New Roman"/>
              </a:rPr>
              <a:t>the administrative control of a single  organization:</a:t>
            </a:r>
          </a:p>
          <a:p>
            <a:pPr marL="1395479" marR="482973" lvl="2" indent="-571500">
              <a:lnSpc>
                <a:spcPts val="3814"/>
              </a:lnSpc>
              <a:spcBef>
                <a:spcPts val="491"/>
              </a:spcBef>
              <a:buClr>
                <a:srgbClr val="9B2C1F"/>
              </a:buClr>
              <a:buSzPct val="81250"/>
              <a:buFont typeface="Wingdings" panose="05000000000000000000" pitchFamily="2" charset="2"/>
              <a:buChar char="ü"/>
              <a:tabLst>
                <a:tab pos="667762" algn="l"/>
              </a:tabLst>
            </a:pPr>
            <a:r>
              <a:rPr sz="3200" dirty="0">
                <a:latin typeface="Times New Roman"/>
                <a:cs typeface="Times New Roman"/>
              </a:rPr>
              <a:t>An internetwork administered by a single  organization is probably a single AS</a:t>
            </a:r>
          </a:p>
          <a:p>
            <a:pPr marL="1395479" marR="5600" lvl="2" indent="-571500">
              <a:lnSpc>
                <a:spcPct val="90000"/>
              </a:lnSpc>
              <a:spcBef>
                <a:spcPts val="375"/>
              </a:spcBef>
              <a:buClr>
                <a:srgbClr val="9B2C1F"/>
              </a:buClr>
              <a:buSzPct val="81250"/>
              <a:buFont typeface="Wingdings" panose="05000000000000000000" pitchFamily="2" charset="2"/>
              <a:buChar char="ü"/>
              <a:tabLst>
                <a:tab pos="667762" algn="l"/>
              </a:tabLst>
            </a:pPr>
            <a:r>
              <a:rPr sz="3200" dirty="0">
                <a:latin typeface="Times New Roman"/>
                <a:cs typeface="Times New Roman"/>
              </a:rPr>
              <a:t>All of the routers in an autonomous systems  communicate using and </a:t>
            </a:r>
            <a:r>
              <a:rPr lang="en-US" sz="3200" dirty="0">
                <a:latin typeface="Times New Roman"/>
                <a:cs typeface="Times New Roman"/>
              </a:rPr>
              <a:t>"</a:t>
            </a:r>
            <a:r>
              <a:rPr sz="3200" dirty="0">
                <a:latin typeface="Times New Roman"/>
                <a:cs typeface="Times New Roman"/>
              </a:rPr>
              <a:t>interior gateway  protocol</a:t>
            </a:r>
            <a:r>
              <a:rPr lang="en-US" sz="3200" dirty="0">
                <a:latin typeface="Times New Roman"/>
                <a:cs typeface="Times New Roman"/>
              </a:rPr>
              <a:t>"</a:t>
            </a:r>
            <a:endParaRPr sz="3200" dirty="0">
              <a:latin typeface="Times New Roman"/>
              <a:cs typeface="Times New Roman"/>
            </a:endParaRPr>
          </a:p>
          <a:p>
            <a:pPr marL="584799" marR="18199" indent="-571500">
              <a:lnSpc>
                <a:spcPts val="3814"/>
              </a:lnSpc>
              <a:spcBef>
                <a:spcPts val="716"/>
              </a:spcBef>
              <a:buClr>
                <a:srgbClr val="D24717"/>
              </a:buClr>
              <a:buSzPct val="84375"/>
              <a:buFont typeface="Wingdings" panose="05000000000000000000" pitchFamily="2" charset="2"/>
              <a:buChar char="Ø"/>
              <a:tabLst>
                <a:tab pos="317082" algn="l"/>
              </a:tabLst>
            </a:pPr>
            <a:r>
              <a:rPr sz="3200" b="1" dirty="0">
                <a:solidFill>
                  <a:srgbClr val="FF0000"/>
                </a:solidFill>
                <a:latin typeface="Times New Roman"/>
                <a:cs typeface="Times New Roman"/>
              </a:rPr>
              <a:t>Autonomous systems (AS) are identified by an Autonomous systems number ASN</a:t>
            </a:r>
            <a:endParaRPr sz="3200" dirty="0">
              <a:solidFill>
                <a:srgbClr val="FF0000"/>
              </a:solidFill>
              <a:latin typeface="Times New Roman"/>
              <a:cs typeface="Times New Roman"/>
            </a:endParaRP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66</a:t>
            </a:fld>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525" y="517098"/>
            <a:ext cx="7056397"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Autonomous</a:t>
            </a:r>
            <a:r>
              <a:rPr sz="4409" b="1" spc="11"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System</a:t>
            </a:r>
            <a:r>
              <a:rPr sz="4409" b="1"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Number</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07306" y="1899800"/>
            <a:ext cx="9757155" cy="4099294"/>
          </a:xfrm>
          <a:prstGeom prst="rect">
            <a:avLst/>
          </a:prstGeom>
        </p:spPr>
        <p:txBody>
          <a:bodyPr vert="horz" wrap="square" lIns="0" tIns="14699" rIns="0" bIns="0" rtlCol="0">
            <a:spAutoFit/>
          </a:bodyPr>
          <a:lstStyle/>
          <a:p>
            <a:pPr marL="471199" indent="-457200">
              <a:lnSpc>
                <a:spcPts val="4023"/>
              </a:lnSpc>
              <a:spcBef>
                <a:spcPts val="116"/>
              </a:spcBef>
              <a:buClr>
                <a:srgbClr val="D24717"/>
              </a:buClr>
              <a:buSzPct val="84375"/>
              <a:buFont typeface="Wingdings" panose="05000000000000000000" pitchFamily="2" charset="2"/>
              <a:buChar char="Ø"/>
              <a:tabLst>
                <a:tab pos="316382" algn="l"/>
              </a:tabLst>
            </a:pPr>
            <a:r>
              <a:rPr sz="3200" dirty="0">
                <a:latin typeface="Times New Roman"/>
                <a:cs typeface="Times New Roman"/>
              </a:rPr>
              <a:t>Each</a:t>
            </a:r>
            <a:r>
              <a:rPr sz="3200" spc="-231" dirty="0">
                <a:latin typeface="Times New Roman"/>
                <a:cs typeface="Times New Roman"/>
              </a:rPr>
              <a:t> </a:t>
            </a:r>
            <a:r>
              <a:rPr sz="3200" dirty="0">
                <a:latin typeface="Times New Roman"/>
                <a:cs typeface="Times New Roman"/>
              </a:rPr>
              <a:t>AS can</a:t>
            </a:r>
            <a:r>
              <a:rPr sz="3200" spc="-17" dirty="0">
                <a:latin typeface="Times New Roman"/>
                <a:cs typeface="Times New Roman"/>
              </a:rPr>
              <a:t> </a:t>
            </a:r>
            <a:r>
              <a:rPr sz="3200" dirty="0">
                <a:latin typeface="Times New Roman"/>
                <a:cs typeface="Times New Roman"/>
              </a:rPr>
              <a:t>be assig</a:t>
            </a:r>
            <a:r>
              <a:rPr sz="3200" spc="6" dirty="0">
                <a:latin typeface="Times New Roman"/>
                <a:cs typeface="Times New Roman"/>
              </a:rPr>
              <a:t>n</a:t>
            </a:r>
            <a:r>
              <a:rPr sz="3200" dirty="0">
                <a:latin typeface="Times New Roman"/>
                <a:cs typeface="Times New Roman"/>
              </a:rPr>
              <a:t>ed</a:t>
            </a:r>
            <a:r>
              <a:rPr sz="3200" spc="-28" dirty="0">
                <a:latin typeface="Times New Roman"/>
                <a:cs typeface="Times New Roman"/>
              </a:rPr>
              <a:t> </a:t>
            </a:r>
            <a:r>
              <a:rPr sz="3200" dirty="0">
                <a:latin typeface="Times New Roman"/>
                <a:cs typeface="Times New Roman"/>
              </a:rPr>
              <a:t>a </a:t>
            </a:r>
            <a:r>
              <a:rPr sz="3200" spc="6" dirty="0">
                <a:latin typeface="Times New Roman"/>
                <a:cs typeface="Times New Roman"/>
              </a:rPr>
              <a:t>n</a:t>
            </a:r>
            <a:r>
              <a:rPr sz="3200" dirty="0">
                <a:latin typeface="Times New Roman"/>
                <a:cs typeface="Times New Roman"/>
              </a:rPr>
              <a:t>um</a:t>
            </a:r>
            <a:r>
              <a:rPr sz="3200" spc="6" dirty="0">
                <a:latin typeface="Times New Roman"/>
                <a:cs typeface="Times New Roman"/>
              </a:rPr>
              <a:t>b</a:t>
            </a:r>
            <a:r>
              <a:rPr sz="3200" dirty="0">
                <a:latin typeface="Times New Roman"/>
                <a:cs typeface="Times New Roman"/>
              </a:rPr>
              <a:t>e</a:t>
            </a:r>
            <a:r>
              <a:rPr sz="3200" spc="-143" dirty="0">
                <a:latin typeface="Times New Roman"/>
                <a:cs typeface="Times New Roman"/>
              </a:rPr>
              <a:t>r</a:t>
            </a:r>
            <a:r>
              <a:rPr sz="3200" dirty="0">
                <a:latin typeface="Times New Roman"/>
                <a:cs typeface="Times New Roman"/>
              </a:rPr>
              <a:t>,</a:t>
            </a:r>
            <a:r>
              <a:rPr sz="3200" spc="-50" dirty="0">
                <a:latin typeface="Times New Roman"/>
                <a:cs typeface="Times New Roman"/>
              </a:rPr>
              <a:t> </a:t>
            </a:r>
            <a:r>
              <a:rPr sz="3200" dirty="0">
                <a:latin typeface="Times New Roman"/>
                <a:cs typeface="Times New Roman"/>
              </a:rPr>
              <a:t>called</a:t>
            </a:r>
            <a:r>
              <a:rPr sz="3200" spc="-17" dirty="0">
                <a:latin typeface="Times New Roman"/>
                <a:cs typeface="Times New Roman"/>
              </a:rPr>
              <a:t> </a:t>
            </a:r>
            <a:r>
              <a:rPr sz="3200" dirty="0">
                <a:latin typeface="Times New Roman"/>
                <a:cs typeface="Times New Roman"/>
              </a:rPr>
              <a:t>an</a:t>
            </a:r>
            <a:r>
              <a:rPr lang="en-US" sz="3200" dirty="0">
                <a:latin typeface="Times New Roman"/>
                <a:cs typeface="Times New Roman"/>
              </a:rPr>
              <a:t> </a:t>
            </a:r>
            <a:r>
              <a:rPr sz="3200" b="1" dirty="0">
                <a:solidFill>
                  <a:srgbClr val="FF0000"/>
                </a:solidFill>
                <a:latin typeface="Times New Roman"/>
                <a:cs typeface="Times New Roman"/>
              </a:rPr>
              <a:t>autonomous</a:t>
            </a:r>
            <a:r>
              <a:rPr sz="3200" b="1" spc="-66" dirty="0">
                <a:solidFill>
                  <a:srgbClr val="FF0000"/>
                </a:solidFill>
                <a:latin typeface="Times New Roman"/>
                <a:cs typeface="Times New Roman"/>
              </a:rPr>
              <a:t> </a:t>
            </a:r>
            <a:r>
              <a:rPr sz="3200" b="1" dirty="0">
                <a:solidFill>
                  <a:srgbClr val="FF0000"/>
                </a:solidFill>
                <a:latin typeface="Times New Roman"/>
                <a:cs typeface="Times New Roman"/>
              </a:rPr>
              <a:t>system</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number</a:t>
            </a:r>
            <a:r>
              <a:rPr sz="3200" b="1" spc="-28" dirty="0">
                <a:solidFill>
                  <a:srgbClr val="FF0000"/>
                </a:solidFill>
                <a:latin typeface="Times New Roman"/>
                <a:cs typeface="Times New Roman"/>
              </a:rPr>
              <a:t> </a:t>
            </a:r>
            <a:r>
              <a:rPr sz="3200" b="1" dirty="0">
                <a:solidFill>
                  <a:srgbClr val="FF0000"/>
                </a:solidFill>
                <a:latin typeface="Times New Roman"/>
                <a:cs typeface="Times New Roman"/>
              </a:rPr>
              <a:t>(ASN)</a:t>
            </a:r>
            <a:r>
              <a:rPr sz="3200" dirty="0">
                <a:solidFill>
                  <a:srgbClr val="FF0000"/>
                </a:solidFill>
                <a:latin typeface="Times New Roman"/>
                <a:cs typeface="Times New Roman"/>
              </a:rPr>
              <a:t>.</a:t>
            </a:r>
            <a:endParaRPr lang="en-US" sz="3200" dirty="0">
              <a:solidFill>
                <a:srgbClr val="FF0000"/>
              </a:solidFill>
              <a:latin typeface="Times New Roman"/>
              <a:cs typeface="Times New Roman"/>
            </a:endParaRPr>
          </a:p>
          <a:p>
            <a:pPr marL="471199" indent="-457200">
              <a:lnSpc>
                <a:spcPts val="4023"/>
              </a:lnSpc>
              <a:spcBef>
                <a:spcPts val="116"/>
              </a:spcBef>
              <a:buClr>
                <a:srgbClr val="D24717"/>
              </a:buClr>
              <a:buSzPct val="84375"/>
              <a:buFont typeface="Wingdings" panose="05000000000000000000" pitchFamily="2" charset="2"/>
              <a:buChar char="Ø"/>
              <a:tabLst>
                <a:tab pos="316382" algn="l"/>
              </a:tabLst>
            </a:pPr>
            <a:r>
              <a:rPr sz="3200" dirty="0">
                <a:latin typeface="Times New Roman"/>
                <a:cs typeface="Times New Roman"/>
              </a:rPr>
              <a:t>Like public IP addresses, the Internet Assigned </a:t>
            </a:r>
            <a:r>
              <a:rPr sz="3200" spc="6" dirty="0">
                <a:latin typeface="Times New Roman"/>
                <a:cs typeface="Times New Roman"/>
              </a:rPr>
              <a:t> </a:t>
            </a:r>
            <a:r>
              <a:rPr sz="3200" dirty="0">
                <a:latin typeface="Times New Roman"/>
                <a:cs typeface="Times New Roman"/>
              </a:rPr>
              <a:t>Nu</a:t>
            </a:r>
            <a:r>
              <a:rPr sz="3200" spc="6" dirty="0">
                <a:latin typeface="Times New Roman"/>
                <a:cs typeface="Times New Roman"/>
              </a:rPr>
              <a:t>m</a:t>
            </a:r>
            <a:r>
              <a:rPr sz="3200" dirty="0">
                <a:latin typeface="Times New Roman"/>
                <a:cs typeface="Times New Roman"/>
              </a:rPr>
              <a:t>b</a:t>
            </a:r>
            <a:r>
              <a:rPr sz="3200" spc="6" dirty="0">
                <a:latin typeface="Times New Roman"/>
                <a:cs typeface="Times New Roman"/>
              </a:rPr>
              <a:t>e</a:t>
            </a:r>
            <a:r>
              <a:rPr sz="3200" dirty="0">
                <a:latin typeface="Times New Roman"/>
                <a:cs typeface="Times New Roman"/>
              </a:rPr>
              <a:t>rs</a:t>
            </a:r>
            <a:r>
              <a:rPr sz="3200" spc="-248" dirty="0">
                <a:latin typeface="Times New Roman"/>
                <a:cs typeface="Times New Roman"/>
              </a:rPr>
              <a:t> </a:t>
            </a:r>
            <a:r>
              <a:rPr sz="3200" dirty="0">
                <a:latin typeface="Times New Roman"/>
                <a:cs typeface="Times New Roman"/>
              </a:rPr>
              <a:t>Aut</a:t>
            </a:r>
            <a:r>
              <a:rPr sz="3200" spc="6" dirty="0">
                <a:latin typeface="Times New Roman"/>
                <a:cs typeface="Times New Roman"/>
              </a:rPr>
              <a:t>h</a:t>
            </a:r>
            <a:r>
              <a:rPr sz="3200" dirty="0">
                <a:latin typeface="Times New Roman"/>
                <a:cs typeface="Times New Roman"/>
              </a:rPr>
              <a:t>ority</a:t>
            </a:r>
            <a:r>
              <a:rPr sz="3200" spc="-44" dirty="0">
                <a:latin typeface="Times New Roman"/>
                <a:cs typeface="Times New Roman"/>
              </a:rPr>
              <a:t> </a:t>
            </a:r>
            <a:r>
              <a:rPr sz="3200" spc="17" dirty="0">
                <a:latin typeface="Times New Roman"/>
                <a:cs typeface="Times New Roman"/>
              </a:rPr>
              <a:t>(</a:t>
            </a:r>
            <a:r>
              <a:rPr sz="3200" dirty="0">
                <a:latin typeface="Times New Roman"/>
                <a:cs typeface="Times New Roman"/>
              </a:rPr>
              <a:t>IANA</a:t>
            </a:r>
            <a:r>
              <a:rPr sz="3200" spc="6" dirty="0">
                <a:latin typeface="Times New Roman"/>
                <a:cs typeface="Times New Roman"/>
              </a:rPr>
              <a:t>,</a:t>
            </a:r>
            <a:r>
              <a:rPr sz="3200" dirty="0">
                <a:latin typeface="Times New Roman"/>
                <a:cs typeface="Times New Roman"/>
              </a:rPr>
              <a:t>htt</a:t>
            </a:r>
            <a:r>
              <a:rPr sz="3200" spc="11" dirty="0">
                <a:latin typeface="Times New Roman"/>
                <a:cs typeface="Times New Roman"/>
              </a:rPr>
              <a:t>p</a:t>
            </a:r>
            <a:r>
              <a:rPr sz="3200" spc="-6" dirty="0">
                <a:latin typeface="Times New Roman"/>
                <a:cs typeface="Times New Roman"/>
              </a:rPr>
              <a:t>://</a:t>
            </a:r>
            <a:r>
              <a:rPr sz="3200" dirty="0">
                <a:latin typeface="Times New Roman"/>
                <a:cs typeface="Times New Roman"/>
              </a:rPr>
              <a:t>ww</a:t>
            </a:r>
            <a:r>
              <a:rPr sz="3200" spc="-231" dirty="0">
                <a:latin typeface="Times New Roman"/>
                <a:cs typeface="Times New Roman"/>
              </a:rPr>
              <a:t>w</a:t>
            </a:r>
            <a:r>
              <a:rPr sz="3200" dirty="0">
                <a:latin typeface="Times New Roman"/>
                <a:cs typeface="Times New Roman"/>
              </a:rPr>
              <a:t>.iana.o</a:t>
            </a:r>
            <a:r>
              <a:rPr sz="3200" spc="-66" dirty="0">
                <a:latin typeface="Times New Roman"/>
                <a:cs typeface="Times New Roman"/>
              </a:rPr>
              <a:t>r</a:t>
            </a:r>
            <a:r>
              <a:rPr sz="3200" dirty="0">
                <a:latin typeface="Times New Roman"/>
                <a:cs typeface="Times New Roman"/>
              </a:rPr>
              <a:t>g)  controls the worldwide rights to assign ASNs, </a:t>
            </a:r>
            <a:r>
              <a:rPr sz="3200" spc="6" dirty="0">
                <a:latin typeface="Times New Roman"/>
                <a:cs typeface="Times New Roman"/>
              </a:rPr>
              <a:t> </a:t>
            </a:r>
            <a:r>
              <a:rPr sz="3200" dirty="0">
                <a:latin typeface="Times New Roman"/>
                <a:cs typeface="Times New Roman"/>
              </a:rPr>
              <a:t>delegating that authority to other </a:t>
            </a:r>
            <a:r>
              <a:rPr sz="3200" spc="-6" dirty="0">
                <a:latin typeface="Times New Roman"/>
                <a:cs typeface="Times New Roman"/>
              </a:rPr>
              <a:t>organizations </a:t>
            </a:r>
            <a:r>
              <a:rPr sz="3200" dirty="0">
                <a:latin typeface="Times New Roman"/>
                <a:cs typeface="Times New Roman"/>
              </a:rPr>
              <a:t> around the planet, typically to the same </a:t>
            </a:r>
            <a:r>
              <a:rPr sz="3200" spc="6" dirty="0">
                <a:latin typeface="Times New Roman"/>
                <a:cs typeface="Times New Roman"/>
              </a:rPr>
              <a:t> </a:t>
            </a:r>
            <a:r>
              <a:rPr sz="3200" spc="-6" dirty="0">
                <a:latin typeface="Times New Roman"/>
                <a:cs typeface="Times New Roman"/>
              </a:rPr>
              <a:t>organizations</a:t>
            </a:r>
            <a:r>
              <a:rPr sz="3200" spc="-61" dirty="0">
                <a:latin typeface="Times New Roman"/>
                <a:cs typeface="Times New Roman"/>
              </a:rPr>
              <a:t> </a:t>
            </a:r>
            <a:r>
              <a:rPr sz="3200" dirty="0">
                <a:latin typeface="Times New Roman"/>
                <a:cs typeface="Times New Roman"/>
              </a:rPr>
              <a:t>that assign</a:t>
            </a:r>
            <a:r>
              <a:rPr sz="3200" spc="-11" dirty="0">
                <a:latin typeface="Times New Roman"/>
                <a:cs typeface="Times New Roman"/>
              </a:rPr>
              <a:t> </a:t>
            </a:r>
            <a:r>
              <a:rPr sz="3200" dirty="0">
                <a:latin typeface="Times New Roman"/>
                <a:cs typeface="Times New Roman"/>
              </a:rPr>
              <a:t>public</a:t>
            </a:r>
            <a:r>
              <a:rPr sz="3200" spc="-17" dirty="0">
                <a:latin typeface="Times New Roman"/>
                <a:cs typeface="Times New Roman"/>
              </a:rPr>
              <a:t> </a:t>
            </a:r>
            <a:r>
              <a:rPr sz="3200" dirty="0">
                <a:latin typeface="Times New Roman"/>
                <a:cs typeface="Times New Roman"/>
              </a:rPr>
              <a:t>IP</a:t>
            </a:r>
            <a:r>
              <a:rPr sz="3200" spc="-143" dirty="0">
                <a:latin typeface="Times New Roman"/>
                <a:cs typeface="Times New Roman"/>
              </a:rPr>
              <a:t> </a:t>
            </a:r>
            <a:r>
              <a:rPr sz="3200" dirty="0">
                <a:latin typeface="Times New Roman"/>
                <a:cs typeface="Times New Roman"/>
              </a:rPr>
              <a:t>addresses.</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67</a:t>
            </a:fld>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762" y="539995"/>
            <a:ext cx="9705099"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Interior</a:t>
            </a:r>
            <a:r>
              <a:rPr b="1" spc="-105"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and</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Exterior</a:t>
            </a:r>
            <a:r>
              <a:rPr b="1" spc="-7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22"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pic>
        <p:nvPicPr>
          <p:cNvPr id="4" name="object 4"/>
          <p:cNvPicPr/>
          <p:nvPr/>
        </p:nvPicPr>
        <p:blipFill>
          <a:blip r:embed="rId2" cstate="print"/>
          <a:stretch>
            <a:fillRect/>
          </a:stretch>
        </p:blipFill>
        <p:spPr>
          <a:xfrm>
            <a:off x="375526" y="1661375"/>
            <a:ext cx="8871506" cy="5478755"/>
          </a:xfrm>
          <a:prstGeom prst="rect">
            <a:avLst/>
          </a:prstGeom>
        </p:spPr>
      </p:pic>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68</a:t>
            </a:fld>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802" y="584601"/>
            <a:ext cx="10183655"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Interior</a:t>
            </a:r>
            <a:r>
              <a:rPr b="1" spc="-105"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and</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Exterior</a:t>
            </a:r>
            <a:r>
              <a:rPr b="1" spc="-7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22"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161802" y="1634160"/>
            <a:ext cx="9757021" cy="5461193"/>
          </a:xfrm>
          <a:prstGeom prst="rect">
            <a:avLst/>
          </a:prstGeom>
        </p:spPr>
        <p:txBody>
          <a:bodyPr vert="horz" wrap="square" lIns="0" tIns="69297" rIns="0" bIns="0" rtlCol="0">
            <a:spAutoFit/>
          </a:bodyPr>
          <a:lstStyle/>
          <a:p>
            <a:pPr marL="471199" indent="-457200">
              <a:spcBef>
                <a:spcPts val="546"/>
              </a:spcBef>
              <a:buClr>
                <a:srgbClr val="D24717"/>
              </a:buClr>
              <a:buSzPct val="85185"/>
              <a:buFont typeface="Wingdings" panose="05000000000000000000" pitchFamily="2" charset="2"/>
              <a:buChar char="Ø"/>
              <a:tabLst>
                <a:tab pos="316382" algn="l"/>
              </a:tabLst>
            </a:pPr>
            <a:r>
              <a:rPr sz="3200" spc="-6" dirty="0">
                <a:latin typeface="Times New Roman"/>
                <a:cs typeface="Times New Roman"/>
              </a:rPr>
              <a:t>IP</a:t>
            </a:r>
            <a:r>
              <a:rPr sz="3200" spc="-126" dirty="0">
                <a:latin typeface="Times New Roman"/>
                <a:cs typeface="Times New Roman"/>
              </a:rPr>
              <a:t> </a:t>
            </a:r>
            <a:r>
              <a:rPr sz="3200" dirty="0">
                <a:latin typeface="Times New Roman"/>
                <a:cs typeface="Times New Roman"/>
              </a:rPr>
              <a:t>routing</a:t>
            </a:r>
            <a:r>
              <a:rPr sz="3200" spc="-33" dirty="0">
                <a:latin typeface="Times New Roman"/>
                <a:cs typeface="Times New Roman"/>
              </a:rPr>
              <a:t> </a:t>
            </a:r>
            <a:r>
              <a:rPr sz="3200" dirty="0">
                <a:latin typeface="Times New Roman"/>
                <a:cs typeface="Times New Roman"/>
              </a:rPr>
              <a:t>protocols</a:t>
            </a:r>
            <a:r>
              <a:rPr sz="3200" spc="-33" dirty="0">
                <a:latin typeface="Times New Roman"/>
                <a:cs typeface="Times New Roman"/>
              </a:rPr>
              <a:t> </a:t>
            </a:r>
            <a:r>
              <a:rPr sz="3200" spc="-6" dirty="0">
                <a:latin typeface="Times New Roman"/>
                <a:cs typeface="Times New Roman"/>
              </a:rPr>
              <a:t>fall</a:t>
            </a:r>
            <a:r>
              <a:rPr sz="3200" spc="6" dirty="0">
                <a:latin typeface="Times New Roman"/>
                <a:cs typeface="Times New Roman"/>
              </a:rPr>
              <a:t> </a:t>
            </a:r>
            <a:r>
              <a:rPr sz="3200" dirty="0">
                <a:latin typeface="Times New Roman"/>
                <a:cs typeface="Times New Roman"/>
              </a:rPr>
              <a:t>into</a:t>
            </a:r>
            <a:r>
              <a:rPr sz="3200" spc="-22" dirty="0">
                <a:latin typeface="Times New Roman"/>
                <a:cs typeface="Times New Roman"/>
              </a:rPr>
              <a:t> </a:t>
            </a:r>
            <a:r>
              <a:rPr sz="3200" dirty="0">
                <a:latin typeface="Times New Roman"/>
                <a:cs typeface="Times New Roman"/>
              </a:rPr>
              <a:t>one</a:t>
            </a:r>
            <a:r>
              <a:rPr sz="3200" spc="6" dirty="0">
                <a:latin typeface="Times New Roman"/>
                <a:cs typeface="Times New Roman"/>
              </a:rPr>
              <a:t> </a:t>
            </a:r>
            <a:r>
              <a:rPr sz="3200" dirty="0">
                <a:latin typeface="Times New Roman"/>
                <a:cs typeface="Times New Roman"/>
              </a:rPr>
              <a:t>of</a:t>
            </a:r>
            <a:r>
              <a:rPr sz="3200" spc="-17" dirty="0">
                <a:latin typeface="Times New Roman"/>
                <a:cs typeface="Times New Roman"/>
              </a:rPr>
              <a:t> </a:t>
            </a:r>
            <a:r>
              <a:rPr sz="3200" spc="-6" dirty="0">
                <a:latin typeface="Times New Roman"/>
                <a:cs typeface="Times New Roman"/>
              </a:rPr>
              <a:t>two</a:t>
            </a:r>
            <a:r>
              <a:rPr sz="3200" dirty="0">
                <a:latin typeface="Times New Roman"/>
                <a:cs typeface="Times New Roman"/>
              </a:rPr>
              <a:t> </a:t>
            </a:r>
            <a:r>
              <a:rPr sz="3200" spc="-6" dirty="0">
                <a:latin typeface="Times New Roman"/>
                <a:cs typeface="Times New Roman"/>
              </a:rPr>
              <a:t>major</a:t>
            </a:r>
            <a:r>
              <a:rPr sz="3200" spc="6" dirty="0">
                <a:latin typeface="Times New Roman"/>
                <a:cs typeface="Times New Roman"/>
              </a:rPr>
              <a:t> </a:t>
            </a:r>
            <a:r>
              <a:rPr sz="3200" dirty="0">
                <a:latin typeface="Times New Roman"/>
                <a:cs typeface="Times New Roman"/>
              </a:rPr>
              <a:t>categories:</a:t>
            </a:r>
          </a:p>
          <a:p>
            <a:pPr marL="870751" lvl="1" indent="-505371">
              <a:spcBef>
                <a:spcPts val="446"/>
              </a:spcBef>
              <a:buClr>
                <a:srgbClr val="C00000"/>
              </a:buClr>
              <a:buSzPct val="83928"/>
              <a:buAutoNum type="arabicPeriod"/>
              <a:tabLst>
                <a:tab pos="870751" algn="l"/>
                <a:tab pos="871451" algn="l"/>
              </a:tabLst>
            </a:pPr>
            <a:r>
              <a:rPr sz="3200" b="1" spc="-6" dirty="0">
                <a:solidFill>
                  <a:srgbClr val="FF0000"/>
                </a:solidFill>
                <a:latin typeface="Times New Roman"/>
                <a:cs typeface="Times New Roman"/>
              </a:rPr>
              <a:t>Interior</a:t>
            </a:r>
            <a:r>
              <a:rPr sz="3200" b="1" spc="-39" dirty="0">
                <a:solidFill>
                  <a:srgbClr val="FF0000"/>
                </a:solidFill>
                <a:latin typeface="Times New Roman"/>
                <a:cs typeface="Times New Roman"/>
              </a:rPr>
              <a:t> </a:t>
            </a:r>
            <a:r>
              <a:rPr sz="3200" b="1" spc="-6" dirty="0">
                <a:solidFill>
                  <a:srgbClr val="FF0000"/>
                </a:solidFill>
                <a:latin typeface="Times New Roman"/>
                <a:cs typeface="Times New Roman"/>
              </a:rPr>
              <a:t>Gateway</a:t>
            </a:r>
            <a:r>
              <a:rPr sz="3200" b="1" dirty="0">
                <a:solidFill>
                  <a:srgbClr val="FF0000"/>
                </a:solidFill>
                <a:latin typeface="Times New Roman"/>
                <a:cs typeface="Times New Roman"/>
              </a:rPr>
              <a:t> </a:t>
            </a:r>
            <a:r>
              <a:rPr sz="3200" b="1" spc="-6" dirty="0">
                <a:solidFill>
                  <a:srgbClr val="FF0000"/>
                </a:solidFill>
                <a:latin typeface="Times New Roman"/>
                <a:cs typeface="Times New Roman"/>
              </a:rPr>
              <a:t>Protocols</a:t>
            </a:r>
            <a:r>
              <a:rPr sz="3200" b="1" spc="-22" dirty="0">
                <a:solidFill>
                  <a:srgbClr val="FF0000"/>
                </a:solidFill>
                <a:latin typeface="Times New Roman"/>
                <a:cs typeface="Times New Roman"/>
              </a:rPr>
              <a:t> </a:t>
            </a:r>
            <a:r>
              <a:rPr sz="3200" b="1" spc="-6" dirty="0">
                <a:solidFill>
                  <a:srgbClr val="FF0000"/>
                </a:solidFill>
                <a:latin typeface="Times New Roman"/>
                <a:cs typeface="Times New Roman"/>
              </a:rPr>
              <a:t>(IGPs)</a:t>
            </a:r>
            <a:r>
              <a:rPr sz="3200" b="1" spc="55" dirty="0">
                <a:solidFill>
                  <a:srgbClr val="FF0000"/>
                </a:solidFill>
                <a:latin typeface="Times New Roman"/>
                <a:cs typeface="Times New Roman"/>
              </a:rPr>
              <a:t> </a:t>
            </a:r>
            <a:r>
              <a:rPr sz="3200" spc="-6" dirty="0">
                <a:latin typeface="Times New Roman"/>
                <a:cs typeface="Times New Roman"/>
              </a:rPr>
              <a:t>and</a:t>
            </a:r>
            <a:endParaRPr sz="3200" dirty="0">
              <a:latin typeface="Times New Roman"/>
              <a:cs typeface="Times New Roman"/>
            </a:endParaRPr>
          </a:p>
          <a:p>
            <a:pPr marL="870751" lvl="1" indent="-505371">
              <a:spcBef>
                <a:spcPts val="441"/>
              </a:spcBef>
              <a:buClr>
                <a:srgbClr val="9B2C1F"/>
              </a:buClr>
              <a:buSzPct val="83928"/>
              <a:buAutoNum type="arabicPeriod"/>
              <a:tabLst>
                <a:tab pos="870751" algn="l"/>
                <a:tab pos="871451" algn="l"/>
              </a:tabLst>
            </a:pPr>
            <a:r>
              <a:rPr sz="3200" b="1" spc="-6" dirty="0">
                <a:solidFill>
                  <a:srgbClr val="FF0000"/>
                </a:solidFill>
                <a:latin typeface="Times New Roman"/>
                <a:cs typeface="Times New Roman"/>
              </a:rPr>
              <a:t>Exterior</a:t>
            </a:r>
            <a:r>
              <a:rPr sz="3200" b="1" spc="-44" dirty="0">
                <a:solidFill>
                  <a:srgbClr val="FF0000"/>
                </a:solidFill>
                <a:latin typeface="Times New Roman"/>
                <a:cs typeface="Times New Roman"/>
              </a:rPr>
              <a:t> </a:t>
            </a:r>
            <a:r>
              <a:rPr sz="3200" b="1" spc="-6" dirty="0">
                <a:solidFill>
                  <a:srgbClr val="FF0000"/>
                </a:solidFill>
                <a:latin typeface="Times New Roman"/>
                <a:cs typeface="Times New Roman"/>
              </a:rPr>
              <a:t>Gateway Protocols</a:t>
            </a:r>
            <a:r>
              <a:rPr sz="3200" b="1" spc="-28" dirty="0">
                <a:solidFill>
                  <a:srgbClr val="FF0000"/>
                </a:solidFill>
                <a:latin typeface="Times New Roman"/>
                <a:cs typeface="Times New Roman"/>
              </a:rPr>
              <a:t> </a:t>
            </a:r>
            <a:r>
              <a:rPr sz="3200" b="1" dirty="0">
                <a:solidFill>
                  <a:srgbClr val="FF0000"/>
                </a:solidFill>
                <a:latin typeface="Times New Roman"/>
                <a:cs typeface="Times New Roman"/>
              </a:rPr>
              <a:t>(EGPs)</a:t>
            </a:r>
            <a:r>
              <a:rPr sz="3200" dirty="0">
                <a:solidFill>
                  <a:srgbClr val="FF0000"/>
                </a:solidFill>
                <a:latin typeface="Times New Roman"/>
                <a:cs typeface="Times New Roman"/>
              </a:rPr>
              <a:t>.</a:t>
            </a:r>
          </a:p>
          <a:p>
            <a:pPr lvl="1">
              <a:spcBef>
                <a:spcPts val="17"/>
              </a:spcBef>
              <a:buClr>
                <a:srgbClr val="9B2C1F"/>
              </a:buClr>
              <a:buFont typeface="Times New Roman"/>
              <a:buAutoNum type="arabicPeriod"/>
            </a:pPr>
            <a:endParaRPr sz="4400" dirty="0">
              <a:latin typeface="Times New Roman"/>
              <a:cs typeface="Times New Roman"/>
            </a:endParaRPr>
          </a:p>
          <a:p>
            <a:pPr marL="13999">
              <a:spcBef>
                <a:spcPts val="6"/>
              </a:spcBef>
            </a:pPr>
            <a:r>
              <a:rPr sz="3200" b="1" spc="-6" dirty="0">
                <a:solidFill>
                  <a:srgbClr val="FF0000"/>
                </a:solidFill>
                <a:latin typeface="Times New Roman"/>
                <a:cs typeface="Times New Roman"/>
              </a:rPr>
              <a:t>The</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definitions</a:t>
            </a:r>
            <a:r>
              <a:rPr sz="3200" b="1" spc="-17" dirty="0">
                <a:solidFill>
                  <a:srgbClr val="FF0000"/>
                </a:solidFill>
                <a:latin typeface="Times New Roman"/>
                <a:cs typeface="Times New Roman"/>
              </a:rPr>
              <a:t> </a:t>
            </a:r>
            <a:r>
              <a:rPr sz="3200" b="1" dirty="0">
                <a:solidFill>
                  <a:srgbClr val="FF0000"/>
                </a:solidFill>
                <a:latin typeface="Times New Roman"/>
                <a:cs typeface="Times New Roman"/>
              </a:rPr>
              <a:t>for</a:t>
            </a:r>
            <a:r>
              <a:rPr sz="3200" b="1" spc="-61" dirty="0">
                <a:solidFill>
                  <a:srgbClr val="FF0000"/>
                </a:solidFill>
                <a:latin typeface="Times New Roman"/>
                <a:cs typeface="Times New Roman"/>
              </a:rPr>
              <a:t> </a:t>
            </a:r>
            <a:r>
              <a:rPr sz="3200" b="1" spc="-6" dirty="0">
                <a:solidFill>
                  <a:srgbClr val="FF0000"/>
                </a:solidFill>
                <a:latin typeface="Times New Roman"/>
                <a:cs typeface="Times New Roman"/>
              </a:rPr>
              <a:t>each</a:t>
            </a:r>
            <a:r>
              <a:rPr sz="3200" b="1" spc="6" dirty="0">
                <a:solidFill>
                  <a:srgbClr val="FF0000"/>
                </a:solidFill>
                <a:latin typeface="Times New Roman"/>
                <a:cs typeface="Times New Roman"/>
              </a:rPr>
              <a:t> </a:t>
            </a:r>
            <a:r>
              <a:rPr sz="3200" b="1" spc="-22" dirty="0">
                <a:solidFill>
                  <a:srgbClr val="FF0000"/>
                </a:solidFill>
                <a:latin typeface="Times New Roman"/>
                <a:cs typeface="Times New Roman"/>
              </a:rPr>
              <a:t>are</a:t>
            </a:r>
            <a:r>
              <a:rPr sz="3200" b="1" spc="-17" dirty="0">
                <a:solidFill>
                  <a:srgbClr val="FF0000"/>
                </a:solidFill>
                <a:latin typeface="Times New Roman"/>
                <a:cs typeface="Times New Roman"/>
              </a:rPr>
              <a:t> </a:t>
            </a:r>
            <a:r>
              <a:rPr sz="3200" b="1" spc="-6" dirty="0">
                <a:solidFill>
                  <a:srgbClr val="FF0000"/>
                </a:solidFill>
                <a:latin typeface="Times New Roman"/>
                <a:cs typeface="Times New Roman"/>
              </a:rPr>
              <a:t>as</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follows</a:t>
            </a:r>
            <a:r>
              <a:rPr sz="3200" b="1" spc="-6" dirty="0">
                <a:solidFill>
                  <a:srgbClr val="C00000"/>
                </a:solidFill>
                <a:latin typeface="Times New Roman"/>
                <a:cs typeface="Times New Roman"/>
              </a:rPr>
              <a:t>:</a:t>
            </a:r>
            <a:endParaRPr sz="3200" dirty="0">
              <a:latin typeface="Times New Roman"/>
              <a:cs typeface="Times New Roman"/>
            </a:endParaRPr>
          </a:p>
          <a:p>
            <a:pPr marL="470499" marR="5600" indent="-457200">
              <a:spcBef>
                <a:spcPts val="661"/>
              </a:spcBef>
              <a:buClr>
                <a:srgbClr val="D24717"/>
              </a:buClr>
              <a:buSzPct val="83928"/>
              <a:buFont typeface="Wingdings" panose="05000000000000000000" pitchFamily="2" charset="2"/>
              <a:buChar char="Ø"/>
              <a:tabLst>
                <a:tab pos="316382" algn="l"/>
              </a:tabLst>
            </a:pPr>
            <a:r>
              <a:rPr sz="3200" b="1" spc="-6" dirty="0">
                <a:solidFill>
                  <a:srgbClr val="FF0000"/>
                </a:solidFill>
                <a:latin typeface="Times New Roman"/>
                <a:cs typeface="Times New Roman"/>
              </a:rPr>
              <a:t>IGP</a:t>
            </a:r>
            <a:r>
              <a:rPr sz="3200" b="1" spc="-6" dirty="0">
                <a:latin typeface="Times New Roman"/>
                <a:cs typeface="Times New Roman"/>
              </a:rPr>
              <a:t>:</a:t>
            </a:r>
            <a:r>
              <a:rPr sz="3200" b="1" dirty="0">
                <a:latin typeface="Times New Roman"/>
                <a:cs typeface="Times New Roman"/>
              </a:rPr>
              <a:t> </a:t>
            </a:r>
            <a:r>
              <a:rPr sz="3200" spc="-6" dirty="0">
                <a:latin typeface="Times New Roman"/>
                <a:cs typeface="Times New Roman"/>
              </a:rPr>
              <a:t>A</a:t>
            </a:r>
            <a:r>
              <a:rPr sz="3200" spc="-165" dirty="0">
                <a:latin typeface="Times New Roman"/>
                <a:cs typeface="Times New Roman"/>
              </a:rPr>
              <a:t> </a:t>
            </a:r>
            <a:r>
              <a:rPr sz="3200" dirty="0">
                <a:latin typeface="Times New Roman"/>
                <a:cs typeface="Times New Roman"/>
              </a:rPr>
              <a:t>routing</a:t>
            </a:r>
            <a:r>
              <a:rPr sz="3200" spc="-11" dirty="0">
                <a:latin typeface="Times New Roman"/>
                <a:cs typeface="Times New Roman"/>
              </a:rPr>
              <a:t> </a:t>
            </a:r>
            <a:r>
              <a:rPr sz="3200" spc="-6" dirty="0">
                <a:latin typeface="Times New Roman"/>
                <a:cs typeface="Times New Roman"/>
              </a:rPr>
              <a:t>protocol</a:t>
            </a:r>
            <a:r>
              <a:rPr sz="3200" spc="-22" dirty="0">
                <a:latin typeface="Times New Roman"/>
                <a:cs typeface="Times New Roman"/>
              </a:rPr>
              <a:t> </a:t>
            </a:r>
            <a:r>
              <a:rPr sz="3200" spc="-6" dirty="0">
                <a:latin typeface="Times New Roman"/>
                <a:cs typeface="Times New Roman"/>
              </a:rPr>
              <a:t>that</a:t>
            </a:r>
            <a:r>
              <a:rPr sz="3200" spc="-17" dirty="0">
                <a:latin typeface="Times New Roman"/>
                <a:cs typeface="Times New Roman"/>
              </a:rPr>
              <a:t> </a:t>
            </a:r>
            <a:r>
              <a:rPr sz="3200" spc="-6" dirty="0">
                <a:latin typeface="Times New Roman"/>
                <a:cs typeface="Times New Roman"/>
              </a:rPr>
              <a:t>was </a:t>
            </a:r>
            <a:r>
              <a:rPr sz="3200" dirty="0">
                <a:latin typeface="Times New Roman"/>
                <a:cs typeface="Times New Roman"/>
              </a:rPr>
              <a:t>designed</a:t>
            </a:r>
            <a:r>
              <a:rPr sz="3200" spc="-11" dirty="0">
                <a:latin typeface="Times New Roman"/>
                <a:cs typeface="Times New Roman"/>
              </a:rPr>
              <a:t> </a:t>
            </a:r>
            <a:r>
              <a:rPr sz="3200" spc="-6" dirty="0">
                <a:latin typeface="Times New Roman"/>
                <a:cs typeface="Times New Roman"/>
              </a:rPr>
              <a:t>and intended </a:t>
            </a:r>
            <a:r>
              <a:rPr sz="3200" spc="-755" dirty="0">
                <a:latin typeface="Times New Roman"/>
                <a:cs typeface="Times New Roman"/>
              </a:rPr>
              <a:t> </a:t>
            </a:r>
            <a:r>
              <a:rPr sz="3200" dirty="0">
                <a:latin typeface="Times New Roman"/>
                <a:cs typeface="Times New Roman"/>
              </a:rPr>
              <a:t>for</a:t>
            </a:r>
            <a:r>
              <a:rPr sz="3200" spc="-22" dirty="0">
                <a:latin typeface="Times New Roman"/>
                <a:cs typeface="Times New Roman"/>
              </a:rPr>
              <a:t> </a:t>
            </a:r>
            <a:r>
              <a:rPr sz="3200" spc="-6" dirty="0">
                <a:latin typeface="Times New Roman"/>
                <a:cs typeface="Times New Roman"/>
              </a:rPr>
              <a:t>use </a:t>
            </a:r>
            <a:r>
              <a:rPr sz="3200" dirty="0">
                <a:latin typeface="Times New Roman"/>
                <a:cs typeface="Times New Roman"/>
              </a:rPr>
              <a:t>inside</a:t>
            </a:r>
            <a:r>
              <a:rPr sz="3200" spc="-17" dirty="0">
                <a:latin typeface="Times New Roman"/>
                <a:cs typeface="Times New Roman"/>
              </a:rPr>
              <a:t> </a:t>
            </a:r>
            <a:r>
              <a:rPr sz="3200" spc="-6" dirty="0">
                <a:latin typeface="Times New Roman"/>
                <a:cs typeface="Times New Roman"/>
              </a:rPr>
              <a:t>a</a:t>
            </a:r>
            <a:r>
              <a:rPr sz="3200" spc="-22" dirty="0">
                <a:latin typeface="Times New Roman"/>
                <a:cs typeface="Times New Roman"/>
              </a:rPr>
              <a:t> </a:t>
            </a:r>
            <a:r>
              <a:rPr sz="3200" dirty="0">
                <a:latin typeface="Times New Roman"/>
                <a:cs typeface="Times New Roman"/>
              </a:rPr>
              <a:t>single</a:t>
            </a:r>
            <a:r>
              <a:rPr sz="3200" spc="-6" dirty="0">
                <a:latin typeface="Times New Roman"/>
                <a:cs typeface="Times New Roman"/>
              </a:rPr>
              <a:t> </a:t>
            </a:r>
            <a:r>
              <a:rPr sz="3200" b="1" dirty="0">
                <a:solidFill>
                  <a:srgbClr val="FF0000"/>
                </a:solidFill>
                <a:latin typeface="Times New Roman"/>
                <a:cs typeface="Times New Roman"/>
              </a:rPr>
              <a:t>autonomous</a:t>
            </a:r>
            <a:r>
              <a:rPr sz="3200" b="1" spc="-17" dirty="0">
                <a:solidFill>
                  <a:srgbClr val="FF0000"/>
                </a:solidFill>
                <a:latin typeface="Times New Roman"/>
                <a:cs typeface="Times New Roman"/>
              </a:rPr>
              <a:t> </a:t>
            </a:r>
            <a:r>
              <a:rPr sz="3200" b="1" spc="-6" dirty="0">
                <a:solidFill>
                  <a:srgbClr val="FF0000"/>
                </a:solidFill>
                <a:latin typeface="Times New Roman"/>
                <a:cs typeface="Times New Roman"/>
              </a:rPr>
              <a:t>system</a:t>
            </a:r>
            <a:r>
              <a:rPr sz="3200" b="1" spc="-39" dirty="0">
                <a:solidFill>
                  <a:srgbClr val="FF0000"/>
                </a:solidFill>
                <a:latin typeface="Times New Roman"/>
                <a:cs typeface="Times New Roman"/>
              </a:rPr>
              <a:t> </a:t>
            </a:r>
            <a:r>
              <a:rPr sz="3200" b="1" spc="-6" dirty="0">
                <a:solidFill>
                  <a:srgbClr val="FF0000"/>
                </a:solidFill>
                <a:latin typeface="Times New Roman"/>
                <a:cs typeface="Times New Roman"/>
              </a:rPr>
              <a:t>(AS)</a:t>
            </a:r>
            <a:r>
              <a:rPr lang="en-US" sz="3200" b="1" spc="-6" dirty="0">
                <a:solidFill>
                  <a:srgbClr val="FF0000"/>
                </a:solidFill>
                <a:latin typeface="Times New Roman"/>
                <a:cs typeface="Times New Roman"/>
              </a:rPr>
              <a:t>.</a:t>
            </a:r>
            <a:endParaRPr lang="en-US" sz="3200" dirty="0">
              <a:solidFill>
                <a:srgbClr val="FF0000"/>
              </a:solidFill>
              <a:latin typeface="Times New Roman"/>
              <a:cs typeface="Times New Roman"/>
            </a:endParaRPr>
          </a:p>
          <a:p>
            <a:pPr marL="470499" marR="5600" indent="-457200">
              <a:spcBef>
                <a:spcPts val="661"/>
              </a:spcBef>
              <a:buClr>
                <a:srgbClr val="D24717"/>
              </a:buClr>
              <a:buSzPct val="83928"/>
              <a:buFont typeface="Wingdings" panose="05000000000000000000" pitchFamily="2" charset="2"/>
              <a:buChar char="Ø"/>
              <a:tabLst>
                <a:tab pos="316382" algn="l"/>
              </a:tabLst>
            </a:pPr>
            <a:r>
              <a:rPr sz="3200" b="1" spc="-11" dirty="0">
                <a:solidFill>
                  <a:srgbClr val="FF0000"/>
                </a:solidFill>
                <a:latin typeface="Times New Roman"/>
                <a:cs typeface="Times New Roman"/>
              </a:rPr>
              <a:t>EGP</a:t>
            </a:r>
            <a:r>
              <a:rPr sz="3200" b="1" spc="-11" dirty="0">
                <a:latin typeface="Times New Roman"/>
                <a:cs typeface="Times New Roman"/>
              </a:rPr>
              <a:t>: </a:t>
            </a:r>
            <a:r>
              <a:rPr sz="3200" spc="-6" dirty="0">
                <a:latin typeface="Times New Roman"/>
                <a:cs typeface="Times New Roman"/>
              </a:rPr>
              <a:t>A </a:t>
            </a:r>
            <a:r>
              <a:rPr sz="3200" dirty="0">
                <a:latin typeface="Times New Roman"/>
                <a:cs typeface="Times New Roman"/>
              </a:rPr>
              <a:t>routing </a:t>
            </a:r>
            <a:r>
              <a:rPr sz="3200" spc="-6" dirty="0">
                <a:latin typeface="Times New Roman"/>
                <a:cs typeface="Times New Roman"/>
              </a:rPr>
              <a:t>protocol that was </a:t>
            </a:r>
            <a:r>
              <a:rPr sz="3200" dirty="0">
                <a:latin typeface="Times New Roman"/>
                <a:cs typeface="Times New Roman"/>
              </a:rPr>
              <a:t>designed </a:t>
            </a:r>
            <a:r>
              <a:rPr sz="3200" spc="-6" dirty="0">
                <a:latin typeface="Times New Roman"/>
                <a:cs typeface="Times New Roman"/>
              </a:rPr>
              <a:t>and </a:t>
            </a:r>
            <a:r>
              <a:rPr sz="3200" dirty="0">
                <a:latin typeface="Times New Roman"/>
                <a:cs typeface="Times New Roman"/>
              </a:rPr>
              <a:t> </a:t>
            </a:r>
            <a:r>
              <a:rPr sz="3200" spc="-6" dirty="0">
                <a:latin typeface="Times New Roman"/>
                <a:cs typeface="Times New Roman"/>
              </a:rPr>
              <a:t>intended</a:t>
            </a:r>
            <a:r>
              <a:rPr sz="3200" spc="-44" dirty="0">
                <a:latin typeface="Times New Roman"/>
                <a:cs typeface="Times New Roman"/>
              </a:rPr>
              <a:t> </a:t>
            </a:r>
            <a:r>
              <a:rPr sz="3200" dirty="0">
                <a:latin typeface="Times New Roman"/>
                <a:cs typeface="Times New Roman"/>
              </a:rPr>
              <a:t>for</a:t>
            </a:r>
            <a:r>
              <a:rPr sz="3200" spc="17" dirty="0">
                <a:latin typeface="Times New Roman"/>
                <a:cs typeface="Times New Roman"/>
              </a:rPr>
              <a:t> </a:t>
            </a:r>
            <a:r>
              <a:rPr sz="3200" spc="-6" dirty="0">
                <a:latin typeface="Times New Roman"/>
                <a:cs typeface="Times New Roman"/>
              </a:rPr>
              <a:t>use</a:t>
            </a:r>
            <a:r>
              <a:rPr sz="3200" spc="-22" dirty="0">
                <a:latin typeface="Times New Roman"/>
                <a:cs typeface="Times New Roman"/>
              </a:rPr>
              <a:t> </a:t>
            </a:r>
            <a:r>
              <a:rPr sz="3200" spc="-6" dirty="0">
                <a:latin typeface="Times New Roman"/>
                <a:cs typeface="Times New Roman"/>
              </a:rPr>
              <a:t>between</a:t>
            </a:r>
            <a:r>
              <a:rPr sz="3200" spc="17" dirty="0">
                <a:latin typeface="Times New Roman"/>
                <a:cs typeface="Times New Roman"/>
              </a:rPr>
              <a:t> </a:t>
            </a:r>
            <a:r>
              <a:rPr sz="3200" spc="-11" dirty="0">
                <a:latin typeface="Times New Roman"/>
                <a:cs typeface="Times New Roman"/>
              </a:rPr>
              <a:t>different</a:t>
            </a:r>
            <a:r>
              <a:rPr sz="3200" dirty="0">
                <a:latin typeface="Times New Roman"/>
                <a:cs typeface="Times New Roman"/>
              </a:rPr>
              <a:t> </a:t>
            </a:r>
            <a:r>
              <a:rPr sz="3200" spc="-6" dirty="0">
                <a:latin typeface="Times New Roman"/>
                <a:cs typeface="Times New Roman"/>
              </a:rPr>
              <a:t>autonomous</a:t>
            </a:r>
            <a:r>
              <a:rPr sz="3200" spc="-17" dirty="0">
                <a:latin typeface="Times New Roman"/>
                <a:cs typeface="Times New Roman"/>
              </a:rPr>
              <a:t> </a:t>
            </a:r>
            <a:r>
              <a:rPr sz="3200" spc="-6" dirty="0">
                <a:latin typeface="Times New Roman"/>
                <a:cs typeface="Times New Roman"/>
              </a:rPr>
              <a:t>system.</a:t>
            </a:r>
            <a:endParaRPr sz="3200" dirty="0">
              <a:latin typeface="Times New Roman"/>
              <a:cs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0" y="547018"/>
            <a:ext cx="9108154" cy="624752"/>
          </a:xfrm>
          <a:prstGeom prst="rect">
            <a:avLst/>
          </a:prstGeom>
        </p:spPr>
        <p:txBody>
          <a:bodyPr vert="horz" wrap="square" lIns="0" tIns="13999" rIns="0" bIns="0" rtlCol="0" anchor="ctr">
            <a:spAutoFit/>
          </a:bodyPr>
          <a:lstStyle/>
          <a:p>
            <a:pPr marL="516571">
              <a:lnSpc>
                <a:spcPct val="100000"/>
              </a:lnSpc>
              <a:spcBef>
                <a:spcPts val="110"/>
              </a:spcBef>
            </a:pPr>
            <a:r>
              <a:rPr spc="-6" dirty="0">
                <a:solidFill>
                  <a:schemeClr val="bg1"/>
                </a:solidFill>
              </a:rPr>
              <a:t>Locations</a:t>
            </a:r>
            <a:r>
              <a:rPr spc="-11" dirty="0">
                <a:solidFill>
                  <a:schemeClr val="bg1"/>
                </a:solidFill>
              </a:rPr>
              <a:t> </a:t>
            </a:r>
            <a:r>
              <a:rPr spc="-6" dirty="0">
                <a:solidFill>
                  <a:schemeClr val="bg1"/>
                </a:solidFill>
              </a:rPr>
              <a:t>for</a:t>
            </a:r>
            <a:r>
              <a:rPr spc="-77" dirty="0">
                <a:solidFill>
                  <a:schemeClr val="bg1"/>
                </a:solidFill>
              </a:rPr>
              <a:t> </a:t>
            </a:r>
            <a:r>
              <a:rPr dirty="0">
                <a:solidFill>
                  <a:schemeClr val="bg1"/>
                </a:solidFill>
              </a:rPr>
              <a:t>Using</a:t>
            </a:r>
            <a:r>
              <a:rPr spc="-28" dirty="0">
                <a:solidFill>
                  <a:schemeClr val="bg1"/>
                </a:solidFill>
              </a:rPr>
              <a:t> </a:t>
            </a:r>
            <a:r>
              <a:rPr dirty="0">
                <a:solidFill>
                  <a:schemeClr val="bg1"/>
                </a:solidFill>
              </a:rPr>
              <a:t>IGPs</a:t>
            </a:r>
            <a:r>
              <a:rPr spc="-6" dirty="0">
                <a:solidFill>
                  <a:schemeClr val="bg1"/>
                </a:solidFill>
              </a:rPr>
              <a:t> </a:t>
            </a:r>
            <a:r>
              <a:rPr dirty="0">
                <a:solidFill>
                  <a:schemeClr val="bg1"/>
                </a:solidFill>
              </a:rPr>
              <a:t>and</a:t>
            </a:r>
            <a:r>
              <a:rPr spc="-11" dirty="0">
                <a:solidFill>
                  <a:schemeClr val="bg1"/>
                </a:solidFill>
              </a:rPr>
              <a:t> </a:t>
            </a:r>
            <a:r>
              <a:rPr spc="-6" dirty="0">
                <a:solidFill>
                  <a:schemeClr val="bg1"/>
                </a:solidFill>
              </a:rPr>
              <a:t>EGPs</a:t>
            </a:r>
          </a:p>
        </p:txBody>
      </p:sp>
      <p:pic>
        <p:nvPicPr>
          <p:cNvPr id="4" name="object 4"/>
          <p:cNvPicPr/>
          <p:nvPr/>
        </p:nvPicPr>
        <p:blipFill>
          <a:blip r:embed="rId2" cstate="print"/>
          <a:stretch>
            <a:fillRect/>
          </a:stretch>
        </p:blipFill>
        <p:spPr>
          <a:xfrm>
            <a:off x="2157544" y="1623137"/>
            <a:ext cx="7869636" cy="5527504"/>
          </a:xfrm>
          <a:prstGeom prst="rect">
            <a:avLst/>
          </a:prstGeom>
        </p:spPr>
      </p:pic>
      <p:sp>
        <p:nvSpPr>
          <p:cNvPr id="5" name="object 5"/>
          <p:cNvSpPr txBox="1"/>
          <p:nvPr/>
        </p:nvSpPr>
        <p:spPr>
          <a:xfrm>
            <a:off x="262041" y="5013739"/>
            <a:ext cx="6795581" cy="1938345"/>
          </a:xfrm>
          <a:prstGeom prst="rect">
            <a:avLst/>
          </a:prstGeom>
        </p:spPr>
        <p:txBody>
          <a:bodyPr vert="horz" wrap="square" lIns="0" tIns="27299" rIns="0" bIns="0" rtlCol="0">
            <a:spAutoFit/>
          </a:bodyPr>
          <a:lstStyle/>
          <a:p>
            <a:pPr marL="13999" marR="5600">
              <a:lnSpc>
                <a:spcPct val="96700"/>
              </a:lnSpc>
              <a:spcBef>
                <a:spcPts val="215"/>
              </a:spcBef>
            </a:pPr>
            <a:r>
              <a:rPr sz="3200" spc="-66" dirty="0">
                <a:latin typeface="Times New Roman"/>
                <a:cs typeface="Times New Roman"/>
              </a:rPr>
              <a:t>Two</a:t>
            </a:r>
            <a:r>
              <a:rPr sz="3200" dirty="0">
                <a:latin typeface="Times New Roman"/>
                <a:cs typeface="Times New Roman"/>
              </a:rPr>
              <a:t> </a:t>
            </a:r>
            <a:r>
              <a:rPr sz="3200" spc="-6" dirty="0">
                <a:latin typeface="Times New Roman"/>
                <a:cs typeface="Times New Roman"/>
              </a:rPr>
              <a:t>companies</a:t>
            </a:r>
            <a:r>
              <a:rPr sz="3200" spc="-11" dirty="0">
                <a:latin typeface="Times New Roman"/>
                <a:cs typeface="Times New Roman"/>
              </a:rPr>
              <a:t> </a:t>
            </a:r>
            <a:r>
              <a:rPr sz="3200" dirty="0">
                <a:latin typeface="Times New Roman"/>
                <a:cs typeface="Times New Roman"/>
              </a:rPr>
              <a:t>and</a:t>
            </a:r>
            <a:r>
              <a:rPr sz="3200" spc="-11" dirty="0">
                <a:latin typeface="Times New Roman"/>
                <a:cs typeface="Times New Roman"/>
              </a:rPr>
              <a:t> </a:t>
            </a:r>
            <a:r>
              <a:rPr sz="3200" dirty="0">
                <a:latin typeface="Times New Roman"/>
                <a:cs typeface="Times New Roman"/>
              </a:rPr>
              <a:t>three</a:t>
            </a:r>
            <a:r>
              <a:rPr sz="3200" spc="-22" dirty="0">
                <a:latin typeface="Times New Roman"/>
                <a:cs typeface="Times New Roman"/>
              </a:rPr>
              <a:t> </a:t>
            </a:r>
            <a:r>
              <a:rPr sz="3200" b="1" spc="-6" dirty="0">
                <a:solidFill>
                  <a:srgbClr val="FF0000"/>
                </a:solidFill>
                <a:latin typeface="Times New Roman"/>
                <a:cs typeface="Times New Roman"/>
              </a:rPr>
              <a:t>ISPs</a:t>
            </a:r>
            <a:r>
              <a:rPr sz="3200" spc="11" dirty="0">
                <a:latin typeface="Times New Roman"/>
                <a:cs typeface="Times New Roman"/>
              </a:rPr>
              <a:t> </a:t>
            </a:r>
            <a:r>
              <a:rPr sz="3200" spc="-6" dirty="0">
                <a:latin typeface="Times New Roman"/>
                <a:cs typeface="Times New Roman"/>
              </a:rPr>
              <a:t>use</a:t>
            </a:r>
            <a:r>
              <a:rPr sz="3200" dirty="0">
                <a:latin typeface="Times New Roman"/>
                <a:cs typeface="Times New Roman"/>
              </a:rPr>
              <a:t> </a:t>
            </a:r>
            <a:r>
              <a:rPr sz="3200" b="1" spc="-6" dirty="0">
                <a:solidFill>
                  <a:srgbClr val="FF0000"/>
                </a:solidFill>
                <a:latin typeface="Times New Roman"/>
                <a:cs typeface="Times New Roman"/>
              </a:rPr>
              <a:t>IGPs</a:t>
            </a:r>
            <a:r>
              <a:rPr sz="3200" spc="17" dirty="0">
                <a:latin typeface="Times New Roman"/>
                <a:cs typeface="Times New Roman"/>
              </a:rPr>
              <a:t> </a:t>
            </a:r>
            <a:r>
              <a:rPr sz="3200" spc="-6" dirty="0">
                <a:latin typeface="Times New Roman"/>
                <a:cs typeface="Times New Roman"/>
              </a:rPr>
              <a:t>(</a:t>
            </a:r>
            <a:r>
              <a:rPr sz="3200" b="1" spc="-6" dirty="0">
                <a:solidFill>
                  <a:srgbClr val="FF0000"/>
                </a:solidFill>
                <a:latin typeface="Times New Roman"/>
                <a:cs typeface="Times New Roman"/>
              </a:rPr>
              <a:t>OSPF</a:t>
            </a:r>
            <a:r>
              <a:rPr sz="3200" spc="-6" dirty="0">
                <a:latin typeface="Times New Roman"/>
                <a:cs typeface="Times New Roman"/>
              </a:rPr>
              <a:t> </a:t>
            </a:r>
            <a:r>
              <a:rPr sz="3200" spc="-645" dirty="0">
                <a:latin typeface="Times New Roman"/>
                <a:cs typeface="Times New Roman"/>
              </a:rPr>
              <a:t> </a:t>
            </a:r>
            <a:r>
              <a:rPr sz="3200" dirty="0">
                <a:latin typeface="Times New Roman"/>
                <a:cs typeface="Times New Roman"/>
              </a:rPr>
              <a:t>and </a:t>
            </a:r>
            <a:r>
              <a:rPr sz="3200" b="1" spc="-6" dirty="0">
                <a:solidFill>
                  <a:srgbClr val="FF0000"/>
                </a:solidFill>
                <a:latin typeface="Times New Roman"/>
                <a:cs typeface="Times New Roman"/>
              </a:rPr>
              <a:t>EIGRP</a:t>
            </a:r>
            <a:r>
              <a:rPr sz="3200" spc="-6" dirty="0">
                <a:latin typeface="Times New Roman"/>
                <a:cs typeface="Times New Roman"/>
              </a:rPr>
              <a:t>) </a:t>
            </a:r>
            <a:r>
              <a:rPr sz="3200" dirty="0">
                <a:latin typeface="Times New Roman"/>
                <a:cs typeface="Times New Roman"/>
              </a:rPr>
              <a:t>inside their own </a:t>
            </a:r>
            <a:r>
              <a:rPr sz="3200" spc="-6" dirty="0">
                <a:latin typeface="Times New Roman"/>
                <a:cs typeface="Times New Roman"/>
              </a:rPr>
              <a:t>networks, </a:t>
            </a:r>
            <a:r>
              <a:rPr sz="3200" dirty="0">
                <a:latin typeface="Times New Roman"/>
                <a:cs typeface="Times New Roman"/>
              </a:rPr>
              <a:t>with </a:t>
            </a:r>
            <a:r>
              <a:rPr sz="3200" spc="6" dirty="0">
                <a:latin typeface="Times New Roman"/>
                <a:cs typeface="Times New Roman"/>
              </a:rPr>
              <a:t> </a:t>
            </a:r>
            <a:r>
              <a:rPr sz="3200" b="1" spc="-6" dirty="0">
                <a:solidFill>
                  <a:srgbClr val="FF0000"/>
                </a:solidFill>
                <a:latin typeface="Times New Roman"/>
                <a:cs typeface="Times New Roman"/>
              </a:rPr>
              <a:t>BGP</a:t>
            </a:r>
            <a:r>
              <a:rPr sz="3200" spc="-105" dirty="0">
                <a:latin typeface="Times New Roman"/>
                <a:cs typeface="Times New Roman"/>
              </a:rPr>
              <a:t> </a:t>
            </a:r>
            <a:r>
              <a:rPr sz="3200" dirty="0">
                <a:latin typeface="Times New Roman"/>
                <a:cs typeface="Times New Roman"/>
              </a:rPr>
              <a:t>being</a:t>
            </a:r>
            <a:r>
              <a:rPr sz="3200" spc="-22" dirty="0">
                <a:latin typeface="Times New Roman"/>
                <a:cs typeface="Times New Roman"/>
              </a:rPr>
              <a:t> </a:t>
            </a:r>
            <a:r>
              <a:rPr sz="3200" dirty="0">
                <a:latin typeface="Times New Roman"/>
                <a:cs typeface="Times New Roman"/>
              </a:rPr>
              <a:t>used between</a:t>
            </a:r>
            <a:r>
              <a:rPr sz="3200" spc="-28" dirty="0">
                <a:latin typeface="Times New Roman"/>
                <a:cs typeface="Times New Roman"/>
              </a:rPr>
              <a:t> </a:t>
            </a:r>
            <a:r>
              <a:rPr sz="3200" dirty="0">
                <a:latin typeface="Times New Roman"/>
                <a:cs typeface="Times New Roman"/>
              </a:rPr>
              <a:t>the</a:t>
            </a:r>
            <a:r>
              <a:rPr sz="3200" spc="-160" dirty="0">
                <a:latin typeface="Times New Roman"/>
                <a:cs typeface="Times New Roman"/>
              </a:rPr>
              <a:t> </a:t>
            </a:r>
            <a:r>
              <a:rPr sz="3200" spc="-6" dirty="0">
                <a:latin typeface="Times New Roman"/>
                <a:cs typeface="Times New Roman"/>
              </a:rPr>
              <a:t>ASNs.</a:t>
            </a:r>
            <a:endParaRPr sz="3200" dirty="0">
              <a:latin typeface="Times New Roman"/>
              <a:cs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486" y="408789"/>
            <a:ext cx="8474299"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50"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a:t>
            </a:r>
            <a:r>
              <a:rPr b="1" spc="-225"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Algorithms</a:t>
            </a:r>
          </a:p>
        </p:txBody>
      </p:sp>
      <p:sp>
        <p:nvSpPr>
          <p:cNvPr id="3" name="object 3"/>
          <p:cNvSpPr txBox="1"/>
          <p:nvPr/>
        </p:nvSpPr>
        <p:spPr>
          <a:xfrm>
            <a:off x="0" y="1590595"/>
            <a:ext cx="10200067" cy="5389966"/>
          </a:xfrm>
          <a:prstGeom prst="rect">
            <a:avLst/>
          </a:prstGeom>
        </p:spPr>
        <p:txBody>
          <a:bodyPr vert="horz" wrap="square" lIns="0" tIns="13999" rIns="0" bIns="0" rtlCol="0">
            <a:spAutoFit/>
          </a:bodyPr>
          <a:lstStyle/>
          <a:p>
            <a:pPr marL="470499" marR="167291" indent="-457200">
              <a:spcBef>
                <a:spcPts val="110"/>
              </a:spcBef>
              <a:buClr>
                <a:srgbClr val="C00000"/>
              </a:buClr>
              <a:buSzPct val="85000"/>
              <a:buFont typeface="Wingdings" panose="05000000000000000000" pitchFamily="2" charset="2"/>
              <a:buChar char="Ø"/>
              <a:tabLst>
                <a:tab pos="316382" algn="l"/>
              </a:tabLst>
            </a:pPr>
            <a:r>
              <a:rPr sz="3150" dirty="0">
                <a:latin typeface="Times New Roman"/>
                <a:cs typeface="Times New Roman"/>
              </a:rPr>
              <a:t>The</a:t>
            </a:r>
            <a:r>
              <a:rPr sz="3150" spc="-6" dirty="0">
                <a:latin typeface="Times New Roman"/>
                <a:cs typeface="Times New Roman"/>
              </a:rPr>
              <a:t> term</a:t>
            </a:r>
            <a:r>
              <a:rPr sz="3150" spc="22" dirty="0">
                <a:latin typeface="Times New Roman"/>
                <a:cs typeface="Times New Roman"/>
              </a:rPr>
              <a:t> </a:t>
            </a:r>
            <a:r>
              <a:rPr sz="3150" b="1" spc="-6" dirty="0">
                <a:solidFill>
                  <a:srgbClr val="FF0000"/>
                </a:solidFill>
                <a:latin typeface="Times New Roman"/>
                <a:cs typeface="Times New Roman"/>
              </a:rPr>
              <a:t>routing </a:t>
            </a:r>
            <a:r>
              <a:rPr sz="3150" b="1" dirty="0">
                <a:solidFill>
                  <a:srgbClr val="FF0000"/>
                </a:solidFill>
                <a:latin typeface="Times New Roman"/>
                <a:cs typeface="Times New Roman"/>
              </a:rPr>
              <a:t>protocol</a:t>
            </a:r>
            <a:r>
              <a:rPr sz="3150" b="1" spc="6" dirty="0">
                <a:solidFill>
                  <a:srgbClr val="FF0000"/>
                </a:solidFill>
                <a:latin typeface="Times New Roman"/>
                <a:cs typeface="Times New Roman"/>
              </a:rPr>
              <a:t> </a:t>
            </a:r>
            <a:r>
              <a:rPr sz="3150" b="1" spc="-6" dirty="0">
                <a:solidFill>
                  <a:srgbClr val="FF0000"/>
                </a:solidFill>
                <a:latin typeface="Times New Roman"/>
                <a:cs typeface="Times New Roman"/>
              </a:rPr>
              <a:t>algorithm</a:t>
            </a:r>
            <a:r>
              <a:rPr sz="3150" b="1" spc="50" dirty="0">
                <a:solidFill>
                  <a:srgbClr val="FF0000"/>
                </a:solidFill>
                <a:latin typeface="Times New Roman"/>
                <a:cs typeface="Times New Roman"/>
              </a:rPr>
              <a:t> </a:t>
            </a:r>
            <a:r>
              <a:rPr sz="3150" spc="-6" dirty="0">
                <a:latin typeface="Times New Roman"/>
                <a:cs typeface="Times New Roman"/>
              </a:rPr>
              <a:t>refers</a:t>
            </a:r>
            <a:r>
              <a:rPr sz="3150" spc="6" dirty="0">
                <a:latin typeface="Times New Roman"/>
                <a:cs typeface="Times New Roman"/>
              </a:rPr>
              <a:t> </a:t>
            </a:r>
            <a:r>
              <a:rPr sz="3150" dirty="0">
                <a:latin typeface="Times New Roman"/>
                <a:cs typeface="Times New Roman"/>
              </a:rPr>
              <a:t>to the </a:t>
            </a:r>
            <a:r>
              <a:rPr sz="3150" spc="6" dirty="0">
                <a:latin typeface="Times New Roman"/>
                <a:cs typeface="Times New Roman"/>
              </a:rPr>
              <a:t> </a:t>
            </a:r>
            <a:r>
              <a:rPr sz="3150" spc="-6" dirty="0">
                <a:latin typeface="Times New Roman"/>
                <a:cs typeface="Times New Roman"/>
              </a:rPr>
              <a:t>algorithm</a:t>
            </a:r>
            <a:r>
              <a:rPr sz="3150" spc="17" dirty="0">
                <a:latin typeface="Times New Roman"/>
                <a:cs typeface="Times New Roman"/>
              </a:rPr>
              <a:t> </a:t>
            </a:r>
            <a:r>
              <a:rPr sz="3150" dirty="0">
                <a:latin typeface="Times New Roman"/>
                <a:cs typeface="Times New Roman"/>
              </a:rPr>
              <a:t>used</a:t>
            </a:r>
            <a:r>
              <a:rPr sz="3150" spc="6" dirty="0">
                <a:latin typeface="Times New Roman"/>
                <a:cs typeface="Times New Roman"/>
              </a:rPr>
              <a:t> </a:t>
            </a:r>
            <a:r>
              <a:rPr sz="3150" dirty="0">
                <a:latin typeface="Times New Roman"/>
                <a:cs typeface="Times New Roman"/>
              </a:rPr>
              <a:t>by</a:t>
            </a:r>
            <a:r>
              <a:rPr sz="3150" spc="6" dirty="0">
                <a:latin typeface="Times New Roman"/>
                <a:cs typeface="Times New Roman"/>
              </a:rPr>
              <a:t> </a:t>
            </a:r>
            <a:r>
              <a:rPr sz="3150" spc="-11" dirty="0">
                <a:latin typeface="Times New Roman"/>
                <a:cs typeface="Times New Roman"/>
              </a:rPr>
              <a:t>different</a:t>
            </a:r>
            <a:r>
              <a:rPr sz="3150" spc="22" dirty="0">
                <a:latin typeface="Times New Roman"/>
                <a:cs typeface="Times New Roman"/>
              </a:rPr>
              <a:t> </a:t>
            </a:r>
            <a:r>
              <a:rPr sz="3150" spc="-6" dirty="0">
                <a:latin typeface="Times New Roman"/>
                <a:cs typeface="Times New Roman"/>
              </a:rPr>
              <a:t>routing</a:t>
            </a:r>
            <a:r>
              <a:rPr sz="3150" spc="22" dirty="0">
                <a:latin typeface="Times New Roman"/>
                <a:cs typeface="Times New Roman"/>
              </a:rPr>
              <a:t> </a:t>
            </a:r>
            <a:r>
              <a:rPr sz="3150" spc="-6" dirty="0">
                <a:latin typeface="Times New Roman"/>
                <a:cs typeface="Times New Roman"/>
              </a:rPr>
              <a:t>protocols</a:t>
            </a:r>
            <a:r>
              <a:rPr sz="3150" spc="11" dirty="0">
                <a:latin typeface="Times New Roman"/>
                <a:cs typeface="Times New Roman"/>
              </a:rPr>
              <a:t> </a:t>
            </a:r>
            <a:r>
              <a:rPr sz="3150" dirty="0">
                <a:latin typeface="Times New Roman"/>
                <a:cs typeface="Times New Roman"/>
              </a:rPr>
              <a:t>to</a:t>
            </a:r>
            <a:r>
              <a:rPr sz="3150" spc="17" dirty="0">
                <a:latin typeface="Times New Roman"/>
                <a:cs typeface="Times New Roman"/>
              </a:rPr>
              <a:t> </a:t>
            </a:r>
            <a:r>
              <a:rPr sz="3150" spc="-6" dirty="0">
                <a:latin typeface="Times New Roman"/>
                <a:cs typeface="Times New Roman"/>
              </a:rPr>
              <a:t>solve </a:t>
            </a:r>
            <a:r>
              <a:rPr sz="3150" spc="-810" dirty="0">
                <a:latin typeface="Times New Roman"/>
                <a:cs typeface="Times New Roman"/>
              </a:rPr>
              <a:t> </a:t>
            </a:r>
            <a:r>
              <a:rPr sz="3150" dirty="0">
                <a:latin typeface="Times New Roman"/>
                <a:cs typeface="Times New Roman"/>
              </a:rPr>
              <a:t>the</a:t>
            </a:r>
            <a:r>
              <a:rPr sz="3150" spc="-6" dirty="0">
                <a:latin typeface="Times New Roman"/>
                <a:cs typeface="Times New Roman"/>
              </a:rPr>
              <a:t> problem</a:t>
            </a:r>
            <a:r>
              <a:rPr sz="3150" spc="22" dirty="0">
                <a:latin typeface="Times New Roman"/>
                <a:cs typeface="Times New Roman"/>
              </a:rPr>
              <a:t> </a:t>
            </a:r>
            <a:r>
              <a:rPr sz="3150" dirty="0">
                <a:latin typeface="Times New Roman"/>
                <a:cs typeface="Times New Roman"/>
              </a:rPr>
              <a:t>of </a:t>
            </a:r>
            <a:r>
              <a:rPr sz="3150" spc="-6" dirty="0">
                <a:latin typeface="Times New Roman"/>
                <a:cs typeface="Times New Roman"/>
              </a:rPr>
              <a:t>learning</a:t>
            </a:r>
            <a:r>
              <a:rPr sz="3150" spc="39" dirty="0">
                <a:latin typeface="Times New Roman"/>
                <a:cs typeface="Times New Roman"/>
              </a:rPr>
              <a:t> </a:t>
            </a:r>
            <a:r>
              <a:rPr sz="3150" dirty="0">
                <a:latin typeface="Times New Roman"/>
                <a:cs typeface="Times New Roman"/>
              </a:rPr>
              <a:t>all </a:t>
            </a:r>
            <a:r>
              <a:rPr sz="3150" spc="-6" dirty="0">
                <a:latin typeface="Times New Roman"/>
                <a:cs typeface="Times New Roman"/>
              </a:rPr>
              <a:t>routes,</a:t>
            </a:r>
            <a:r>
              <a:rPr sz="3150" spc="17" dirty="0">
                <a:latin typeface="Times New Roman"/>
                <a:cs typeface="Times New Roman"/>
              </a:rPr>
              <a:t> </a:t>
            </a:r>
            <a:r>
              <a:rPr sz="3150" spc="-6" dirty="0">
                <a:latin typeface="Times New Roman"/>
                <a:cs typeface="Times New Roman"/>
              </a:rPr>
              <a:t>choosing</a:t>
            </a:r>
            <a:r>
              <a:rPr sz="3150" dirty="0">
                <a:latin typeface="Times New Roman"/>
                <a:cs typeface="Times New Roman"/>
              </a:rPr>
              <a:t> the</a:t>
            </a:r>
            <a:r>
              <a:rPr sz="3150" spc="17" dirty="0">
                <a:latin typeface="Times New Roman"/>
                <a:cs typeface="Times New Roman"/>
              </a:rPr>
              <a:t> </a:t>
            </a:r>
            <a:r>
              <a:rPr sz="3150" dirty="0">
                <a:latin typeface="Times New Roman"/>
                <a:cs typeface="Times New Roman"/>
              </a:rPr>
              <a:t>best </a:t>
            </a:r>
            <a:r>
              <a:rPr sz="3150" spc="6" dirty="0">
                <a:latin typeface="Times New Roman"/>
                <a:cs typeface="Times New Roman"/>
              </a:rPr>
              <a:t> </a:t>
            </a:r>
            <a:r>
              <a:rPr sz="3150" dirty="0">
                <a:latin typeface="Times New Roman"/>
                <a:cs typeface="Times New Roman"/>
              </a:rPr>
              <a:t>route</a:t>
            </a:r>
            <a:r>
              <a:rPr sz="3150" spc="-6" dirty="0">
                <a:latin typeface="Times New Roman"/>
                <a:cs typeface="Times New Roman"/>
              </a:rPr>
              <a:t> </a:t>
            </a:r>
            <a:r>
              <a:rPr sz="3150" dirty="0">
                <a:latin typeface="Times New Roman"/>
                <a:cs typeface="Times New Roman"/>
              </a:rPr>
              <a:t>to</a:t>
            </a:r>
            <a:r>
              <a:rPr sz="3150" spc="-6" dirty="0">
                <a:latin typeface="Times New Roman"/>
                <a:cs typeface="Times New Roman"/>
              </a:rPr>
              <a:t> </a:t>
            </a:r>
            <a:r>
              <a:rPr sz="3150" dirty="0">
                <a:latin typeface="Times New Roman"/>
                <a:cs typeface="Times New Roman"/>
              </a:rPr>
              <a:t>each</a:t>
            </a:r>
            <a:r>
              <a:rPr sz="3150" spc="11" dirty="0">
                <a:latin typeface="Times New Roman"/>
                <a:cs typeface="Times New Roman"/>
              </a:rPr>
              <a:t> </a:t>
            </a:r>
            <a:r>
              <a:rPr sz="3150" spc="-6" dirty="0">
                <a:latin typeface="Times New Roman"/>
                <a:cs typeface="Times New Roman"/>
              </a:rPr>
              <a:t>subnet,</a:t>
            </a:r>
            <a:r>
              <a:rPr sz="3150" dirty="0">
                <a:latin typeface="Times New Roman"/>
                <a:cs typeface="Times New Roman"/>
              </a:rPr>
              <a:t> and</a:t>
            </a:r>
            <a:r>
              <a:rPr sz="3150" spc="-6" dirty="0">
                <a:latin typeface="Times New Roman"/>
                <a:cs typeface="Times New Roman"/>
              </a:rPr>
              <a:t> converging</a:t>
            </a:r>
            <a:r>
              <a:rPr sz="3150" spc="6" dirty="0">
                <a:latin typeface="Times New Roman"/>
                <a:cs typeface="Times New Roman"/>
              </a:rPr>
              <a:t> </a:t>
            </a:r>
            <a:r>
              <a:rPr sz="3150" dirty="0">
                <a:latin typeface="Times New Roman"/>
                <a:cs typeface="Times New Roman"/>
              </a:rPr>
              <a:t>in </a:t>
            </a:r>
            <a:r>
              <a:rPr sz="3150" spc="-6" dirty="0">
                <a:latin typeface="Times New Roman"/>
                <a:cs typeface="Times New Roman"/>
              </a:rPr>
              <a:t>reaction</a:t>
            </a:r>
            <a:r>
              <a:rPr sz="3150" spc="17" dirty="0">
                <a:latin typeface="Times New Roman"/>
                <a:cs typeface="Times New Roman"/>
              </a:rPr>
              <a:t> </a:t>
            </a:r>
            <a:r>
              <a:rPr sz="3150" dirty="0">
                <a:latin typeface="Times New Roman"/>
                <a:cs typeface="Times New Roman"/>
              </a:rPr>
              <a:t>to </a:t>
            </a:r>
            <a:r>
              <a:rPr sz="3150" spc="6" dirty="0">
                <a:latin typeface="Times New Roman"/>
                <a:cs typeface="Times New Roman"/>
              </a:rPr>
              <a:t> </a:t>
            </a:r>
            <a:r>
              <a:rPr sz="3150" dirty="0">
                <a:latin typeface="Times New Roman"/>
                <a:cs typeface="Times New Roman"/>
              </a:rPr>
              <a:t>changes</a:t>
            </a:r>
            <a:r>
              <a:rPr sz="3150" spc="-22" dirty="0">
                <a:latin typeface="Times New Roman"/>
                <a:cs typeface="Times New Roman"/>
              </a:rPr>
              <a:t> </a:t>
            </a:r>
            <a:r>
              <a:rPr sz="3150" dirty="0">
                <a:latin typeface="Times New Roman"/>
                <a:cs typeface="Times New Roman"/>
              </a:rPr>
              <a:t>in the</a:t>
            </a:r>
            <a:r>
              <a:rPr sz="3150" spc="11" dirty="0">
                <a:latin typeface="Times New Roman"/>
                <a:cs typeface="Times New Roman"/>
              </a:rPr>
              <a:t> </a:t>
            </a:r>
            <a:r>
              <a:rPr sz="3150" spc="-6" dirty="0">
                <a:latin typeface="Times New Roman"/>
                <a:cs typeface="Times New Roman"/>
              </a:rPr>
              <a:t>internetwork.</a:t>
            </a:r>
            <a:endParaRPr lang="en-US" sz="3150" spc="-6" dirty="0">
              <a:latin typeface="Times New Roman"/>
              <a:cs typeface="Times New Roman"/>
            </a:endParaRPr>
          </a:p>
          <a:p>
            <a:pPr marL="470499" marR="167291" indent="-457200">
              <a:spcBef>
                <a:spcPts val="110"/>
              </a:spcBef>
              <a:buClr>
                <a:srgbClr val="C00000"/>
              </a:buClr>
              <a:buSzPct val="85000"/>
              <a:buFont typeface="Wingdings" panose="05000000000000000000" pitchFamily="2" charset="2"/>
              <a:buChar char="Ø"/>
              <a:tabLst>
                <a:tab pos="316382" algn="l"/>
              </a:tabLst>
            </a:pPr>
            <a:r>
              <a:rPr sz="3150" dirty="0">
                <a:latin typeface="Times New Roman"/>
                <a:cs typeface="Times New Roman"/>
              </a:rPr>
              <a:t>Three</a:t>
            </a:r>
            <a:r>
              <a:rPr sz="3150" spc="-11" dirty="0">
                <a:latin typeface="Times New Roman"/>
                <a:cs typeface="Times New Roman"/>
              </a:rPr>
              <a:t> </a:t>
            </a:r>
            <a:r>
              <a:rPr sz="3150" dirty="0">
                <a:latin typeface="Times New Roman"/>
                <a:cs typeface="Times New Roman"/>
              </a:rPr>
              <a:t>main branches</a:t>
            </a:r>
            <a:r>
              <a:rPr sz="3150" spc="17" dirty="0">
                <a:latin typeface="Times New Roman"/>
                <a:cs typeface="Times New Roman"/>
              </a:rPr>
              <a:t> </a:t>
            </a:r>
            <a:r>
              <a:rPr sz="3150" dirty="0">
                <a:latin typeface="Times New Roman"/>
                <a:cs typeface="Times New Roman"/>
              </a:rPr>
              <a:t>of</a:t>
            </a:r>
            <a:r>
              <a:rPr sz="3150" spc="-11" dirty="0">
                <a:latin typeface="Times New Roman"/>
                <a:cs typeface="Times New Roman"/>
              </a:rPr>
              <a:t> </a:t>
            </a:r>
            <a:r>
              <a:rPr sz="3150" spc="-6" dirty="0">
                <a:latin typeface="Times New Roman"/>
                <a:cs typeface="Times New Roman"/>
              </a:rPr>
              <a:t>routing</a:t>
            </a:r>
            <a:r>
              <a:rPr sz="3150" spc="22" dirty="0">
                <a:latin typeface="Times New Roman"/>
                <a:cs typeface="Times New Roman"/>
              </a:rPr>
              <a:t> </a:t>
            </a:r>
            <a:r>
              <a:rPr sz="3150" spc="-6" dirty="0">
                <a:latin typeface="Times New Roman"/>
                <a:cs typeface="Times New Roman"/>
              </a:rPr>
              <a:t>protocol</a:t>
            </a:r>
            <a:r>
              <a:rPr sz="3150" spc="17" dirty="0">
                <a:latin typeface="Times New Roman"/>
                <a:cs typeface="Times New Roman"/>
              </a:rPr>
              <a:t> </a:t>
            </a:r>
            <a:r>
              <a:rPr sz="3150" spc="-6" dirty="0">
                <a:latin typeface="Times New Roman"/>
                <a:cs typeface="Times New Roman"/>
              </a:rPr>
              <a:t>algorithms </a:t>
            </a:r>
            <a:r>
              <a:rPr sz="3150" spc="-810" dirty="0">
                <a:latin typeface="Times New Roman"/>
                <a:cs typeface="Times New Roman"/>
              </a:rPr>
              <a:t> </a:t>
            </a:r>
            <a:r>
              <a:rPr sz="3150" spc="-6" dirty="0">
                <a:latin typeface="Times New Roman"/>
                <a:cs typeface="Times New Roman"/>
              </a:rPr>
              <a:t>exists</a:t>
            </a:r>
            <a:r>
              <a:rPr sz="3150" spc="-11" dirty="0">
                <a:latin typeface="Times New Roman"/>
                <a:cs typeface="Times New Roman"/>
              </a:rPr>
              <a:t> </a:t>
            </a:r>
            <a:r>
              <a:rPr sz="3150" dirty="0">
                <a:latin typeface="Times New Roman"/>
                <a:cs typeface="Times New Roman"/>
              </a:rPr>
              <a:t>for</a:t>
            </a:r>
            <a:r>
              <a:rPr sz="3150" spc="11" dirty="0">
                <a:latin typeface="Times New Roman"/>
                <a:cs typeface="Times New Roman"/>
              </a:rPr>
              <a:t> </a:t>
            </a:r>
            <a:r>
              <a:rPr sz="3150" dirty="0">
                <a:latin typeface="Times New Roman"/>
                <a:cs typeface="Times New Roman"/>
              </a:rPr>
              <a:t>IGP	</a:t>
            </a:r>
            <a:r>
              <a:rPr sz="3150" spc="-6" dirty="0">
                <a:latin typeface="Times New Roman"/>
                <a:cs typeface="Times New Roman"/>
              </a:rPr>
              <a:t>routing</a:t>
            </a:r>
            <a:r>
              <a:rPr sz="3150" spc="6" dirty="0">
                <a:latin typeface="Times New Roman"/>
                <a:cs typeface="Times New Roman"/>
              </a:rPr>
              <a:t> </a:t>
            </a:r>
            <a:r>
              <a:rPr sz="3150" spc="-6" dirty="0">
                <a:latin typeface="Times New Roman"/>
                <a:cs typeface="Times New Roman"/>
              </a:rPr>
              <a:t>protocols:</a:t>
            </a:r>
            <a:endParaRPr sz="3150" dirty="0">
              <a:latin typeface="Times New Roman"/>
              <a:cs typeface="Times New Roman"/>
            </a:endParaRPr>
          </a:p>
          <a:p>
            <a:pPr marL="1327951" lvl="2" indent="-504670">
              <a:spcBef>
                <a:spcPts val="468"/>
              </a:spcBef>
              <a:buClr>
                <a:srgbClr val="C00000"/>
              </a:buClr>
              <a:buSzPct val="84615"/>
              <a:buAutoNum type="arabicPeriod"/>
              <a:tabLst>
                <a:tab pos="870751" algn="l"/>
                <a:tab pos="871451" algn="l"/>
              </a:tabLst>
            </a:pPr>
            <a:r>
              <a:rPr sz="2750" dirty="0">
                <a:latin typeface="Times New Roman"/>
                <a:cs typeface="Times New Roman"/>
              </a:rPr>
              <a:t>Distance</a:t>
            </a:r>
            <a:r>
              <a:rPr sz="2750" spc="-28" dirty="0">
                <a:latin typeface="Times New Roman"/>
                <a:cs typeface="Times New Roman"/>
              </a:rPr>
              <a:t> </a:t>
            </a:r>
            <a:r>
              <a:rPr sz="2750" dirty="0">
                <a:latin typeface="Times New Roman"/>
                <a:cs typeface="Times New Roman"/>
              </a:rPr>
              <a:t>vector</a:t>
            </a:r>
            <a:r>
              <a:rPr sz="2750" spc="-6" dirty="0">
                <a:latin typeface="Times New Roman"/>
                <a:cs typeface="Times New Roman"/>
              </a:rPr>
              <a:t> </a:t>
            </a:r>
            <a:r>
              <a:rPr sz="2750" spc="-11" dirty="0">
                <a:latin typeface="Times New Roman"/>
                <a:cs typeface="Times New Roman"/>
              </a:rPr>
              <a:t>(sometimes</a:t>
            </a:r>
            <a:r>
              <a:rPr sz="2750" spc="44" dirty="0">
                <a:latin typeface="Times New Roman"/>
                <a:cs typeface="Times New Roman"/>
              </a:rPr>
              <a:t> </a:t>
            </a:r>
            <a:r>
              <a:rPr sz="2750" spc="-6" dirty="0">
                <a:latin typeface="Times New Roman"/>
                <a:cs typeface="Times New Roman"/>
              </a:rPr>
              <a:t>called</a:t>
            </a:r>
            <a:r>
              <a:rPr sz="2750" spc="22" dirty="0">
                <a:latin typeface="Times New Roman"/>
                <a:cs typeface="Times New Roman"/>
              </a:rPr>
              <a:t> </a:t>
            </a:r>
            <a:r>
              <a:rPr sz="2750" spc="-6" dirty="0">
                <a:latin typeface="Times New Roman"/>
                <a:cs typeface="Times New Roman"/>
              </a:rPr>
              <a:t>Bellman-Ford</a:t>
            </a:r>
            <a:r>
              <a:rPr sz="2750" spc="44" dirty="0">
                <a:latin typeface="Times New Roman"/>
                <a:cs typeface="Times New Roman"/>
              </a:rPr>
              <a:t> </a:t>
            </a:r>
            <a:r>
              <a:rPr sz="2750" spc="-6" dirty="0">
                <a:latin typeface="Times New Roman"/>
                <a:cs typeface="Times New Roman"/>
              </a:rPr>
              <a:t>after</a:t>
            </a:r>
            <a:r>
              <a:rPr sz="2750" spc="17" dirty="0">
                <a:latin typeface="Times New Roman"/>
                <a:cs typeface="Times New Roman"/>
              </a:rPr>
              <a:t> </a:t>
            </a:r>
            <a:r>
              <a:rPr sz="2750" spc="-6" dirty="0">
                <a:latin typeface="Times New Roman"/>
                <a:cs typeface="Times New Roman"/>
              </a:rPr>
              <a:t>its</a:t>
            </a:r>
            <a:r>
              <a:rPr sz="2750" spc="6" dirty="0">
                <a:latin typeface="Times New Roman"/>
                <a:cs typeface="Times New Roman"/>
              </a:rPr>
              <a:t> </a:t>
            </a:r>
            <a:r>
              <a:rPr sz="2750" spc="-6" dirty="0">
                <a:latin typeface="Times New Roman"/>
                <a:cs typeface="Times New Roman"/>
              </a:rPr>
              <a:t>creators)</a:t>
            </a:r>
            <a:endParaRPr lang="en-US" sz="2750" spc="-6" dirty="0">
              <a:latin typeface="Times New Roman"/>
              <a:cs typeface="Times New Roman"/>
            </a:endParaRPr>
          </a:p>
          <a:p>
            <a:pPr marL="1327951" lvl="2" indent="-504670">
              <a:spcBef>
                <a:spcPts val="468"/>
              </a:spcBef>
              <a:buClr>
                <a:srgbClr val="C00000"/>
              </a:buClr>
              <a:buSzPct val="84615"/>
              <a:buAutoNum type="arabicPeriod"/>
              <a:tabLst>
                <a:tab pos="870751" algn="l"/>
                <a:tab pos="871451" algn="l"/>
              </a:tabLst>
            </a:pPr>
            <a:r>
              <a:rPr sz="2750" dirty="0">
                <a:latin typeface="Times New Roman"/>
                <a:cs typeface="Times New Roman"/>
              </a:rPr>
              <a:t>Link</a:t>
            </a:r>
            <a:r>
              <a:rPr sz="2750" spc="-55" dirty="0">
                <a:latin typeface="Times New Roman"/>
                <a:cs typeface="Times New Roman"/>
              </a:rPr>
              <a:t> </a:t>
            </a:r>
            <a:r>
              <a:rPr sz="2750" spc="-6" dirty="0">
                <a:latin typeface="Times New Roman"/>
                <a:cs typeface="Times New Roman"/>
              </a:rPr>
              <a:t>state</a:t>
            </a:r>
            <a:endParaRPr lang="en-US" sz="2750" dirty="0">
              <a:latin typeface="Times New Roman"/>
              <a:cs typeface="Times New Roman"/>
            </a:endParaRPr>
          </a:p>
          <a:p>
            <a:pPr marL="1327951" lvl="2" indent="-504670">
              <a:spcBef>
                <a:spcPts val="468"/>
              </a:spcBef>
              <a:buClr>
                <a:srgbClr val="C00000"/>
              </a:buClr>
              <a:buSzPct val="84615"/>
              <a:buAutoNum type="arabicPeriod"/>
              <a:tabLst>
                <a:tab pos="870751" algn="l"/>
                <a:tab pos="871451" algn="l"/>
              </a:tabLst>
            </a:pPr>
            <a:r>
              <a:rPr sz="2750" spc="-6" dirty="0">
                <a:latin typeface="Times New Roman"/>
                <a:cs typeface="Times New Roman"/>
              </a:rPr>
              <a:t>Balanced</a:t>
            </a:r>
            <a:r>
              <a:rPr sz="2750" spc="-39" dirty="0">
                <a:latin typeface="Times New Roman"/>
                <a:cs typeface="Times New Roman"/>
              </a:rPr>
              <a:t> </a:t>
            </a:r>
            <a:r>
              <a:rPr sz="2750" dirty="0">
                <a:latin typeface="Times New Roman"/>
                <a:cs typeface="Times New Roman"/>
              </a:rPr>
              <a:t>hybrid</a:t>
            </a:r>
            <a:r>
              <a:rPr sz="2750" spc="-22" dirty="0">
                <a:latin typeface="Times New Roman"/>
                <a:cs typeface="Times New Roman"/>
              </a:rPr>
              <a:t> </a:t>
            </a:r>
            <a:r>
              <a:rPr sz="2750" spc="-6" dirty="0">
                <a:latin typeface="Times New Roman"/>
                <a:cs typeface="Times New Roman"/>
              </a:rPr>
              <a:t>(sometimes</a:t>
            </a:r>
            <a:r>
              <a:rPr sz="2750" spc="6" dirty="0">
                <a:latin typeface="Times New Roman"/>
                <a:cs typeface="Times New Roman"/>
              </a:rPr>
              <a:t> </a:t>
            </a:r>
            <a:r>
              <a:rPr sz="2750" dirty="0">
                <a:latin typeface="Times New Roman"/>
                <a:cs typeface="Times New Roman"/>
              </a:rPr>
              <a:t>called</a:t>
            </a:r>
            <a:r>
              <a:rPr sz="2750" spc="-33" dirty="0">
                <a:latin typeface="Times New Roman"/>
                <a:cs typeface="Times New Roman"/>
              </a:rPr>
              <a:t> </a:t>
            </a:r>
            <a:r>
              <a:rPr sz="2750" dirty="0">
                <a:latin typeface="Times New Roman"/>
                <a:cs typeface="Times New Roman"/>
              </a:rPr>
              <a:t>enhanced</a:t>
            </a:r>
            <a:r>
              <a:rPr sz="2750" spc="-28" dirty="0">
                <a:latin typeface="Times New Roman"/>
                <a:cs typeface="Times New Roman"/>
              </a:rPr>
              <a:t> </a:t>
            </a:r>
            <a:r>
              <a:rPr sz="2750" dirty="0">
                <a:latin typeface="Times New Roman"/>
                <a:cs typeface="Times New Roman"/>
              </a:rPr>
              <a:t>distance</a:t>
            </a:r>
            <a:r>
              <a:rPr sz="2750" spc="-22" dirty="0">
                <a:latin typeface="Times New Roman"/>
                <a:cs typeface="Times New Roman"/>
              </a:rPr>
              <a:t> </a:t>
            </a:r>
            <a:r>
              <a:rPr sz="2750" dirty="0">
                <a:latin typeface="Times New Roman"/>
                <a:cs typeface="Times New Roman"/>
              </a:rPr>
              <a:t>vector).</a:t>
            </a:r>
          </a:p>
        </p:txBody>
      </p:sp>
      <p:sp>
        <p:nvSpPr>
          <p:cNvPr id="5" name="object 5"/>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71</a:t>
            </a:fld>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525" y="386140"/>
            <a:ext cx="6922002"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Routing</a:t>
            </a:r>
            <a:r>
              <a:rPr sz="4409" b="1" spc="-22"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a:t>
            </a:r>
            <a:r>
              <a:rPr sz="4409" b="1" spc="-265"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Algorithms</a:t>
            </a:r>
            <a:endParaRPr sz="4409" b="1" dirty="0">
              <a:solidFill>
                <a:schemeClr val="bg1"/>
              </a:solidFill>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631065" y="1596981"/>
            <a:ext cx="9219132" cy="5576554"/>
          </a:xfrm>
          <a:prstGeom prst="rect">
            <a:avLst/>
          </a:prstGeom>
        </p:spPr>
      </p:pic>
      <p:sp>
        <p:nvSpPr>
          <p:cNvPr id="6" name="object 6"/>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72</a:t>
            </a:fld>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9251" y="324963"/>
            <a:ext cx="6905647" cy="691244"/>
          </a:xfrm>
          <a:prstGeom prst="rect">
            <a:avLst/>
          </a:prstGeom>
        </p:spPr>
        <p:txBody>
          <a:bodyPr vert="horz" wrap="square" lIns="0" tIns="13999" rIns="0" bIns="0" rtlCol="0" anchor="ctr">
            <a:spAutoFit/>
          </a:bodyPr>
          <a:lstStyle/>
          <a:p>
            <a:pPr marL="13999">
              <a:lnSpc>
                <a:spcPct val="100000"/>
              </a:lnSpc>
              <a:spcBef>
                <a:spcPts val="110"/>
              </a:spcBef>
            </a:pPr>
            <a:r>
              <a:rPr sz="4400" spc="126" dirty="0">
                <a:solidFill>
                  <a:schemeClr val="bg1"/>
                </a:solidFill>
                <a:latin typeface="Times New Roman" panose="02020603050405020304" pitchFamily="18" charset="0"/>
                <a:cs typeface="Times New Roman" panose="02020603050405020304" pitchFamily="18" charset="0"/>
              </a:rPr>
              <a:t>Metric</a:t>
            </a:r>
            <a:r>
              <a:rPr sz="4400" spc="61" dirty="0">
                <a:solidFill>
                  <a:schemeClr val="bg1"/>
                </a:solidFill>
                <a:latin typeface="Times New Roman" panose="02020603050405020304" pitchFamily="18" charset="0"/>
                <a:cs typeface="Times New Roman" panose="02020603050405020304" pitchFamily="18" charset="0"/>
              </a:rPr>
              <a:t> </a:t>
            </a:r>
            <a:r>
              <a:rPr sz="4400" spc="17" dirty="0">
                <a:solidFill>
                  <a:schemeClr val="bg1"/>
                </a:solidFill>
                <a:latin typeface="Times New Roman" panose="02020603050405020304" pitchFamily="18" charset="0"/>
                <a:cs typeface="Times New Roman" panose="02020603050405020304" pitchFamily="18" charset="0"/>
              </a:rPr>
              <a:t>to</a:t>
            </a:r>
            <a:r>
              <a:rPr sz="4400" spc="88" dirty="0">
                <a:solidFill>
                  <a:schemeClr val="bg1"/>
                </a:solidFill>
                <a:latin typeface="Times New Roman" panose="02020603050405020304" pitchFamily="18" charset="0"/>
                <a:cs typeface="Times New Roman" panose="02020603050405020304" pitchFamily="18" charset="0"/>
              </a:rPr>
              <a:t> </a:t>
            </a:r>
            <a:r>
              <a:rPr lang="en-US" sz="4400" spc="28" dirty="0">
                <a:solidFill>
                  <a:schemeClr val="bg1"/>
                </a:solidFill>
                <a:latin typeface="Times New Roman" panose="02020603050405020304" pitchFamily="18" charset="0"/>
                <a:cs typeface="Times New Roman" panose="02020603050405020304" pitchFamily="18" charset="0"/>
              </a:rPr>
              <a:t>D</a:t>
            </a:r>
            <a:r>
              <a:rPr sz="4400" spc="28" dirty="0">
                <a:solidFill>
                  <a:schemeClr val="bg1"/>
                </a:solidFill>
                <a:latin typeface="Times New Roman" panose="02020603050405020304" pitchFamily="18" charset="0"/>
                <a:cs typeface="Times New Roman" panose="02020603050405020304" pitchFamily="18" charset="0"/>
              </a:rPr>
              <a:t>etermine</a:t>
            </a:r>
            <a:r>
              <a:rPr sz="4400" spc="77" dirty="0">
                <a:solidFill>
                  <a:schemeClr val="bg1"/>
                </a:solidFill>
                <a:latin typeface="Times New Roman" panose="02020603050405020304" pitchFamily="18" charset="0"/>
                <a:cs typeface="Times New Roman" panose="02020603050405020304" pitchFamily="18" charset="0"/>
              </a:rPr>
              <a:t> </a:t>
            </a:r>
            <a:r>
              <a:rPr lang="en-US" sz="4400" spc="17" dirty="0">
                <a:solidFill>
                  <a:schemeClr val="bg1"/>
                </a:solidFill>
                <a:latin typeface="Times New Roman" panose="02020603050405020304" pitchFamily="18" charset="0"/>
                <a:cs typeface="Times New Roman" panose="02020603050405020304" pitchFamily="18" charset="0"/>
              </a:rPr>
              <a:t>R</a:t>
            </a:r>
            <a:r>
              <a:rPr sz="4400" spc="17" dirty="0">
                <a:solidFill>
                  <a:schemeClr val="bg1"/>
                </a:solidFill>
                <a:latin typeface="Times New Roman" panose="02020603050405020304" pitchFamily="18" charset="0"/>
                <a:cs typeface="Times New Roman" panose="02020603050405020304" pitchFamily="18" charset="0"/>
              </a:rPr>
              <a:t>oute</a:t>
            </a:r>
          </a:p>
        </p:txBody>
      </p:sp>
      <p:sp>
        <p:nvSpPr>
          <p:cNvPr id="5" name="object 5"/>
          <p:cNvSpPr txBox="1">
            <a:spLocks noGrp="1"/>
          </p:cNvSpPr>
          <p:nvPr>
            <p:ph sz="half" idx="2"/>
          </p:nvPr>
        </p:nvSpPr>
        <p:spPr>
          <a:xfrm>
            <a:off x="102829" y="1613901"/>
            <a:ext cx="5071607" cy="5164970"/>
          </a:xfrm>
          <a:prstGeom prst="rect">
            <a:avLst/>
          </a:prstGeom>
        </p:spPr>
        <p:txBody>
          <a:bodyPr vert="horz" wrap="square" lIns="0" tIns="14699" rIns="0" bIns="0" rtlCol="0" anchor="t">
            <a:spAutoFit/>
          </a:bodyPr>
          <a:lstStyle/>
          <a:p>
            <a:pPr marL="356199" marR="5600" indent="-342900">
              <a:lnSpc>
                <a:spcPct val="100000"/>
              </a:lnSpc>
              <a:spcBef>
                <a:spcPts val="116"/>
              </a:spcBef>
              <a:buClr>
                <a:srgbClr val="D24717"/>
              </a:buClr>
              <a:buSzPct val="85000"/>
              <a:buFont typeface="Wingdings" panose="05000000000000000000" pitchFamily="2" charset="2"/>
              <a:buChar char="Ø"/>
              <a:tabLst>
                <a:tab pos="315682" algn="l"/>
                <a:tab pos="316382" algn="l"/>
              </a:tabLst>
            </a:pPr>
            <a:r>
              <a:rPr sz="2800" spc="-39" dirty="0">
                <a:latin typeface="Times New Roman" panose="02020603050405020304" pitchFamily="18" charset="0"/>
                <a:cs typeface="Times New Roman" panose="02020603050405020304" pitchFamily="18" charset="0"/>
              </a:rPr>
              <a:t>Metric</a:t>
            </a:r>
            <a:r>
              <a:rPr sz="2800"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is</a:t>
            </a:r>
            <a:r>
              <a:rPr sz="2800" spc="33" dirty="0">
                <a:latin typeface="Times New Roman" panose="02020603050405020304" pitchFamily="18" charset="0"/>
                <a:cs typeface="Times New Roman" panose="02020603050405020304" pitchFamily="18" charset="0"/>
              </a:rPr>
              <a:t> </a:t>
            </a:r>
            <a:r>
              <a:rPr sz="2800" spc="-33" dirty="0">
                <a:latin typeface="Times New Roman" panose="02020603050405020304" pitchFamily="18" charset="0"/>
                <a:cs typeface="Times New Roman" panose="02020603050405020304" pitchFamily="18" charset="0"/>
              </a:rPr>
              <a:t>a</a:t>
            </a:r>
            <a:r>
              <a:rPr sz="2800" spc="22" dirty="0">
                <a:latin typeface="Times New Roman" panose="02020603050405020304" pitchFamily="18" charset="0"/>
                <a:cs typeface="Times New Roman" panose="02020603050405020304" pitchFamily="18" charset="0"/>
              </a:rPr>
              <a:t> </a:t>
            </a:r>
            <a:r>
              <a:rPr sz="2800" spc="-61" dirty="0">
                <a:latin typeface="Times New Roman" panose="02020603050405020304" pitchFamily="18" charset="0"/>
                <a:cs typeface="Times New Roman" panose="02020603050405020304" pitchFamily="18" charset="0"/>
              </a:rPr>
              <a:t>numerical</a:t>
            </a:r>
            <a:r>
              <a:rPr sz="2800" spc="-17" dirty="0">
                <a:latin typeface="Times New Roman" panose="02020603050405020304" pitchFamily="18" charset="0"/>
                <a:cs typeface="Times New Roman" panose="02020603050405020304" pitchFamily="18" charset="0"/>
              </a:rPr>
              <a:t> </a:t>
            </a:r>
            <a:r>
              <a:rPr sz="2800" spc="-50" dirty="0">
                <a:latin typeface="Times New Roman" panose="02020603050405020304" pitchFamily="18" charset="0"/>
                <a:cs typeface="Times New Roman" panose="02020603050405020304" pitchFamily="18" charset="0"/>
              </a:rPr>
              <a:t>value</a:t>
            </a:r>
            <a:r>
              <a:rPr sz="2800" spc="-6"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used</a:t>
            </a:r>
            <a:r>
              <a:rPr sz="2800" spc="28" dirty="0">
                <a:latin typeface="Times New Roman" panose="02020603050405020304" pitchFamily="18" charset="0"/>
                <a:cs typeface="Times New Roman" panose="02020603050405020304" pitchFamily="18" charset="0"/>
              </a:rPr>
              <a:t> </a:t>
            </a:r>
            <a:r>
              <a:rPr sz="2800" spc="-39" dirty="0">
                <a:latin typeface="Times New Roman" panose="02020603050405020304" pitchFamily="18" charset="0"/>
                <a:cs typeface="Times New Roman" panose="02020603050405020304" pitchFamily="18" charset="0"/>
              </a:rPr>
              <a:t>by </a:t>
            </a:r>
            <a:r>
              <a:rPr sz="2800" spc="-518"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the</a:t>
            </a:r>
            <a:r>
              <a:rPr sz="2800" dirty="0">
                <a:latin typeface="Times New Roman" panose="02020603050405020304" pitchFamily="18" charset="0"/>
                <a:cs typeface="Times New Roman" panose="02020603050405020304" pitchFamily="18" charset="0"/>
              </a:rPr>
              <a:t> </a:t>
            </a:r>
            <a:r>
              <a:rPr sz="2800" spc="-61" dirty="0">
                <a:latin typeface="Times New Roman" panose="02020603050405020304" pitchFamily="18" charset="0"/>
                <a:cs typeface="Times New Roman" panose="02020603050405020304" pitchFamily="18" charset="0"/>
              </a:rPr>
              <a:t>routing</a:t>
            </a:r>
            <a:r>
              <a:rPr sz="2800" spc="17" dirty="0">
                <a:latin typeface="Times New Roman" panose="02020603050405020304" pitchFamily="18" charset="0"/>
                <a:cs typeface="Times New Roman" panose="02020603050405020304" pitchFamily="18" charset="0"/>
              </a:rPr>
              <a:t> </a:t>
            </a:r>
            <a:r>
              <a:rPr sz="2800" spc="-50" dirty="0">
                <a:latin typeface="Times New Roman" panose="02020603050405020304" pitchFamily="18" charset="0"/>
                <a:cs typeface="Times New Roman" panose="02020603050405020304" pitchFamily="18" charset="0"/>
              </a:rPr>
              <a:t>protocols</a:t>
            </a:r>
            <a:r>
              <a:rPr sz="2800" dirty="0">
                <a:latin typeface="Times New Roman" panose="02020603050405020304" pitchFamily="18" charset="0"/>
                <a:cs typeface="Times New Roman" panose="02020603050405020304" pitchFamily="18" charset="0"/>
              </a:rPr>
              <a:t> </a:t>
            </a:r>
            <a:r>
              <a:rPr sz="2800" spc="-44" dirty="0">
                <a:latin typeface="Times New Roman" panose="02020603050405020304" pitchFamily="18" charset="0"/>
                <a:cs typeface="Times New Roman" panose="02020603050405020304" pitchFamily="18" charset="0"/>
              </a:rPr>
              <a:t>to</a:t>
            </a:r>
            <a:r>
              <a:rPr sz="2800" spc="28"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determine </a:t>
            </a:r>
            <a:r>
              <a:rPr sz="2800" spc="-72" dirty="0">
                <a:latin typeface="Times New Roman" panose="02020603050405020304" pitchFamily="18" charset="0"/>
                <a:cs typeface="Times New Roman" panose="02020603050405020304" pitchFamily="18" charset="0"/>
              </a:rPr>
              <a:t> </a:t>
            </a:r>
            <a:r>
              <a:rPr sz="2800" spc="-22" dirty="0">
                <a:latin typeface="Times New Roman" panose="02020603050405020304" pitchFamily="18" charset="0"/>
                <a:cs typeface="Times New Roman" panose="02020603050405020304" pitchFamily="18" charset="0"/>
              </a:rPr>
              <a:t>which</a:t>
            </a:r>
            <a:r>
              <a:rPr sz="2800" spc="-6"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is</a:t>
            </a:r>
            <a:r>
              <a:rPr sz="2800" spc="33"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the</a:t>
            </a:r>
            <a:r>
              <a:rPr sz="2800" spc="17" dirty="0">
                <a:latin typeface="Times New Roman" panose="02020603050405020304" pitchFamily="18" charset="0"/>
                <a:cs typeface="Times New Roman" panose="02020603050405020304" pitchFamily="18" charset="0"/>
              </a:rPr>
              <a:t> </a:t>
            </a:r>
            <a:r>
              <a:rPr sz="2800" spc="-94" dirty="0">
                <a:latin typeface="Times New Roman" panose="02020603050405020304" pitchFamily="18" charset="0"/>
                <a:cs typeface="Times New Roman" panose="02020603050405020304" pitchFamily="18" charset="0"/>
              </a:rPr>
              <a:t>best</a:t>
            </a:r>
            <a:r>
              <a:rPr sz="2800" spc="33" dirty="0">
                <a:latin typeface="Times New Roman" panose="02020603050405020304" pitchFamily="18" charset="0"/>
                <a:cs typeface="Times New Roman" panose="02020603050405020304" pitchFamily="18" charset="0"/>
              </a:rPr>
              <a:t> </a:t>
            </a:r>
            <a:r>
              <a:rPr sz="2800" spc="-72" dirty="0">
                <a:latin typeface="Times New Roman" panose="02020603050405020304" pitchFamily="18" charset="0"/>
                <a:cs typeface="Times New Roman" panose="02020603050405020304" pitchFamily="18" charset="0"/>
              </a:rPr>
              <a:t>path</a:t>
            </a:r>
            <a:r>
              <a:rPr sz="2800" spc="6" dirty="0">
                <a:latin typeface="Times New Roman" panose="02020603050405020304" pitchFamily="18" charset="0"/>
                <a:cs typeface="Times New Roman" panose="02020603050405020304" pitchFamily="18" charset="0"/>
              </a:rPr>
              <a:t> </a:t>
            </a:r>
            <a:r>
              <a:rPr sz="2800" spc="-44" dirty="0">
                <a:latin typeface="Times New Roman" panose="02020603050405020304" pitchFamily="18" charset="0"/>
                <a:cs typeface="Times New Roman" panose="02020603050405020304" pitchFamily="18" charset="0"/>
              </a:rPr>
              <a:t>to</a:t>
            </a:r>
            <a:r>
              <a:rPr sz="2800" spc="22" dirty="0">
                <a:latin typeface="Times New Roman" panose="02020603050405020304" pitchFamily="18" charset="0"/>
                <a:cs typeface="Times New Roman" panose="02020603050405020304" pitchFamily="18" charset="0"/>
              </a:rPr>
              <a:t> </a:t>
            </a:r>
            <a:r>
              <a:rPr sz="2800" spc="-28" dirty="0">
                <a:latin typeface="Times New Roman" panose="02020603050405020304" pitchFamily="18" charset="0"/>
                <a:cs typeface="Times New Roman" panose="02020603050405020304" pitchFamily="18" charset="0"/>
              </a:rPr>
              <a:t>a </a:t>
            </a:r>
            <a:r>
              <a:rPr sz="2800" spc="-22" dirty="0">
                <a:latin typeface="Times New Roman" panose="02020603050405020304" pitchFamily="18" charset="0"/>
                <a:cs typeface="Times New Roman" panose="02020603050405020304" pitchFamily="18" charset="0"/>
              </a:rPr>
              <a:t> </a:t>
            </a:r>
            <a:r>
              <a:rPr sz="2800" spc="-61" dirty="0">
                <a:latin typeface="Times New Roman" panose="02020603050405020304" pitchFamily="18" charset="0"/>
                <a:cs typeface="Times New Roman" panose="02020603050405020304" pitchFamily="18" charset="0"/>
              </a:rPr>
              <a:t>destination</a:t>
            </a:r>
          </a:p>
          <a:p>
            <a:pPr marL="618765" marR="150492" lvl="1" indent="-302383">
              <a:lnSpc>
                <a:spcPct val="100000"/>
              </a:lnSpc>
              <a:spcBef>
                <a:spcPts val="672"/>
              </a:spcBef>
              <a:buClr>
                <a:srgbClr val="D24717"/>
              </a:buClr>
              <a:buSzPct val="85000"/>
              <a:buFont typeface="Wingdings"/>
              <a:buChar char=""/>
              <a:tabLst>
                <a:tab pos="618765" algn="l"/>
              </a:tabLst>
            </a:pPr>
            <a:r>
              <a:rPr sz="2800" b="1" dirty="0">
                <a:solidFill>
                  <a:srgbClr val="FF0000"/>
                </a:solidFill>
                <a:latin typeface="Times New Roman" panose="02020603050405020304" pitchFamily="18" charset="0"/>
                <a:cs typeface="Times New Roman" panose="02020603050405020304" pitchFamily="18" charset="0"/>
              </a:rPr>
              <a:t>The</a:t>
            </a:r>
            <a:r>
              <a:rPr sz="2800" b="1" spc="-33"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smaller</a:t>
            </a:r>
            <a:r>
              <a:rPr sz="2800" b="1" spc="-83"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28" dirty="0">
                <a:latin typeface="Times New Roman" panose="02020603050405020304" pitchFamily="18" charset="0"/>
                <a:cs typeface="Times New Roman" panose="02020603050405020304" pitchFamily="18" charset="0"/>
              </a:rPr>
              <a:t> </a:t>
            </a:r>
            <a:r>
              <a:rPr sz="2800" spc="-6" dirty="0">
                <a:latin typeface="Times New Roman" panose="02020603050405020304" pitchFamily="18" charset="0"/>
                <a:cs typeface="Times New Roman" panose="02020603050405020304" pitchFamily="18" charset="0"/>
              </a:rPr>
              <a:t>metric</a:t>
            </a:r>
            <a:r>
              <a:rPr sz="2800" spc="-11" dirty="0">
                <a:latin typeface="Times New Roman" panose="02020603050405020304" pitchFamily="18" charset="0"/>
                <a:cs typeface="Times New Roman" panose="02020603050405020304" pitchFamily="18" charset="0"/>
              </a:rPr>
              <a:t> </a:t>
            </a:r>
            <a:r>
              <a:rPr sz="2800" spc="-6" dirty="0">
                <a:latin typeface="Times New Roman" panose="02020603050405020304" pitchFamily="18" charset="0"/>
                <a:cs typeface="Times New Roman" panose="02020603050405020304" pitchFamily="18" charset="0"/>
              </a:rPr>
              <a:t>value</a:t>
            </a:r>
            <a:r>
              <a:rPr sz="2800" spc="-22" dirty="0">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the</a:t>
            </a:r>
            <a:r>
              <a:rPr sz="2800" b="1" dirty="0">
                <a:latin typeface="Times New Roman" panose="02020603050405020304" pitchFamily="18" charset="0"/>
                <a:cs typeface="Times New Roman" panose="02020603050405020304" pitchFamily="18" charset="0"/>
              </a:rPr>
              <a:t> </a:t>
            </a:r>
            <a:r>
              <a:rPr sz="2800" b="1" spc="-534" dirty="0">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better</a:t>
            </a:r>
            <a:r>
              <a:rPr sz="2800" b="1" spc="-4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path</a:t>
            </a:r>
          </a:p>
          <a:p>
            <a:pPr marL="356899" indent="-342900">
              <a:lnSpc>
                <a:spcPct val="100000"/>
              </a:lnSpc>
              <a:spcBef>
                <a:spcPts val="650"/>
              </a:spcBef>
              <a:buClr>
                <a:srgbClr val="D24717"/>
              </a:buClr>
              <a:buSzPct val="85000"/>
              <a:buFont typeface="Wingdings" panose="05000000000000000000" pitchFamily="2" charset="2"/>
              <a:buChar char="Ø"/>
              <a:tabLst>
                <a:tab pos="315682" algn="l"/>
                <a:tab pos="316382" algn="l"/>
              </a:tabLst>
            </a:pPr>
            <a:r>
              <a:rPr sz="2800" spc="-17" dirty="0">
                <a:latin typeface="Times New Roman" panose="02020603050405020304" pitchFamily="18" charset="0"/>
                <a:cs typeface="Times New Roman" panose="02020603050405020304" pitchFamily="18" charset="0"/>
              </a:rPr>
              <a:t>Typically</a:t>
            </a:r>
            <a:r>
              <a:rPr sz="2800" spc="-28" dirty="0">
                <a:latin typeface="Times New Roman" panose="02020603050405020304" pitchFamily="18" charset="0"/>
                <a:cs typeface="Times New Roman" panose="02020603050405020304" pitchFamily="18" charset="0"/>
              </a:rPr>
              <a:t> </a:t>
            </a:r>
            <a:r>
              <a:rPr sz="2800" spc="-55" dirty="0">
                <a:latin typeface="Times New Roman" panose="02020603050405020304" pitchFamily="18" charset="0"/>
                <a:cs typeface="Times New Roman" panose="02020603050405020304" pitchFamily="18" charset="0"/>
              </a:rPr>
              <a:t>four</a:t>
            </a:r>
            <a:r>
              <a:rPr sz="2800" spc="22" dirty="0">
                <a:latin typeface="Times New Roman" panose="02020603050405020304" pitchFamily="18" charset="0"/>
                <a:cs typeface="Times New Roman" panose="02020603050405020304" pitchFamily="18" charset="0"/>
              </a:rPr>
              <a:t> </a:t>
            </a:r>
            <a:r>
              <a:rPr sz="2800" spc="-61" dirty="0">
                <a:latin typeface="Times New Roman" panose="02020603050405020304" pitchFamily="18" charset="0"/>
                <a:cs typeface="Times New Roman" panose="02020603050405020304" pitchFamily="18" charset="0"/>
              </a:rPr>
              <a:t>factors</a:t>
            </a:r>
            <a:r>
              <a:rPr sz="2800" spc="6" dirty="0">
                <a:latin typeface="Times New Roman" panose="02020603050405020304" pitchFamily="18" charset="0"/>
                <a:cs typeface="Times New Roman" panose="02020603050405020304" pitchFamily="18" charset="0"/>
              </a:rPr>
              <a:t> </a:t>
            </a:r>
            <a:r>
              <a:rPr sz="2800" spc="-72" dirty="0">
                <a:latin typeface="Times New Roman" panose="02020603050405020304" pitchFamily="18" charset="0"/>
                <a:cs typeface="Times New Roman" panose="02020603050405020304" pitchFamily="18" charset="0"/>
              </a:rPr>
              <a:t>are</a:t>
            </a:r>
            <a:r>
              <a:rPr sz="2800" spc="17" dirty="0">
                <a:latin typeface="Times New Roman" panose="02020603050405020304" pitchFamily="18" charset="0"/>
                <a:cs typeface="Times New Roman" panose="02020603050405020304" pitchFamily="18" charset="0"/>
              </a:rPr>
              <a:t> </a:t>
            </a:r>
            <a:r>
              <a:rPr sz="2800" spc="-72" dirty="0">
                <a:latin typeface="Times New Roman" panose="02020603050405020304" pitchFamily="18" charset="0"/>
                <a:cs typeface="Times New Roman" panose="02020603050405020304" pitchFamily="18" charset="0"/>
              </a:rPr>
              <a:t>used</a:t>
            </a:r>
          </a:p>
          <a:p>
            <a:pPr marL="618765" lvl="1" indent="-251986">
              <a:lnSpc>
                <a:spcPct val="100000"/>
              </a:lnSpc>
              <a:spcBef>
                <a:spcPts val="463"/>
              </a:spcBef>
              <a:buClr>
                <a:srgbClr val="9B2C1F"/>
              </a:buClr>
              <a:buSzPct val="83333"/>
              <a:buFont typeface="Wingdings"/>
              <a:buChar char=""/>
              <a:tabLst>
                <a:tab pos="618765" algn="l"/>
              </a:tabLst>
            </a:pPr>
            <a:r>
              <a:rPr sz="2800" b="1" spc="94" dirty="0">
                <a:solidFill>
                  <a:srgbClr val="FF0000"/>
                </a:solidFill>
                <a:latin typeface="Times New Roman" panose="02020603050405020304" pitchFamily="18" charset="0"/>
                <a:cs typeface="Times New Roman" panose="02020603050405020304" pitchFamily="18" charset="0"/>
              </a:rPr>
              <a:t>Delay</a:t>
            </a:r>
            <a:endParaRPr sz="2800" dirty="0">
              <a:solidFill>
                <a:srgbClr val="FF0000"/>
              </a:solidFill>
              <a:latin typeface="Times New Roman" panose="02020603050405020304" pitchFamily="18" charset="0"/>
              <a:cs typeface="Times New Roman" panose="02020603050405020304" pitchFamily="18" charset="0"/>
            </a:endParaRPr>
          </a:p>
          <a:p>
            <a:pPr marL="618765" lvl="1" indent="-251986">
              <a:lnSpc>
                <a:spcPct val="100000"/>
              </a:lnSpc>
              <a:spcBef>
                <a:spcPts val="435"/>
              </a:spcBef>
              <a:buClr>
                <a:srgbClr val="9B2C1F"/>
              </a:buClr>
              <a:buSzPct val="83333"/>
              <a:buFont typeface="Wingdings"/>
              <a:buChar char=""/>
              <a:tabLst>
                <a:tab pos="618765" algn="l"/>
              </a:tabLst>
            </a:pPr>
            <a:r>
              <a:rPr sz="2800" b="1" spc="55" dirty="0">
                <a:solidFill>
                  <a:srgbClr val="FF0000"/>
                </a:solidFill>
                <a:latin typeface="Times New Roman" panose="02020603050405020304" pitchFamily="18" charset="0"/>
                <a:cs typeface="Times New Roman" panose="02020603050405020304" pitchFamily="18" charset="0"/>
              </a:rPr>
              <a:t>Bandwidth</a:t>
            </a:r>
            <a:endParaRPr sz="2800" dirty="0">
              <a:solidFill>
                <a:srgbClr val="FF0000"/>
              </a:solidFill>
              <a:latin typeface="Times New Roman" panose="02020603050405020304" pitchFamily="18" charset="0"/>
              <a:cs typeface="Times New Roman" panose="02020603050405020304" pitchFamily="18" charset="0"/>
            </a:endParaRPr>
          </a:p>
          <a:p>
            <a:pPr marL="618765" lvl="1" indent="-251986">
              <a:lnSpc>
                <a:spcPct val="100000"/>
              </a:lnSpc>
              <a:spcBef>
                <a:spcPts val="435"/>
              </a:spcBef>
              <a:buClr>
                <a:srgbClr val="9B2C1F"/>
              </a:buClr>
              <a:buSzPct val="83333"/>
              <a:buFont typeface="Wingdings"/>
              <a:buChar char=""/>
              <a:tabLst>
                <a:tab pos="618765" algn="l"/>
              </a:tabLst>
            </a:pPr>
            <a:r>
              <a:rPr sz="2800" b="1" spc="77" dirty="0">
                <a:solidFill>
                  <a:srgbClr val="FF0000"/>
                </a:solidFill>
                <a:latin typeface="Times New Roman" panose="02020603050405020304" pitchFamily="18" charset="0"/>
                <a:cs typeface="Times New Roman" panose="02020603050405020304" pitchFamily="18" charset="0"/>
              </a:rPr>
              <a:t>Reliability</a:t>
            </a:r>
            <a:endParaRPr sz="2800" dirty="0">
              <a:solidFill>
                <a:srgbClr val="FF0000"/>
              </a:solidFill>
              <a:latin typeface="Times New Roman" panose="02020603050405020304" pitchFamily="18" charset="0"/>
              <a:cs typeface="Times New Roman" panose="02020603050405020304" pitchFamily="18" charset="0"/>
            </a:endParaRPr>
          </a:p>
          <a:p>
            <a:pPr marL="618765" lvl="1" indent="-251986">
              <a:lnSpc>
                <a:spcPct val="100000"/>
              </a:lnSpc>
              <a:spcBef>
                <a:spcPts val="451"/>
              </a:spcBef>
              <a:buClr>
                <a:srgbClr val="9B2C1F"/>
              </a:buClr>
              <a:buSzPct val="83333"/>
              <a:buFont typeface="Wingdings"/>
              <a:buChar char=""/>
              <a:tabLst>
                <a:tab pos="618765" algn="l"/>
              </a:tabLst>
            </a:pPr>
            <a:r>
              <a:rPr sz="2800" b="1" spc="110" dirty="0">
                <a:solidFill>
                  <a:srgbClr val="FF0000"/>
                </a:solidFill>
                <a:latin typeface="Times New Roman" panose="02020603050405020304" pitchFamily="18" charset="0"/>
                <a:cs typeface="Times New Roman" panose="02020603050405020304" pitchFamily="18" charset="0"/>
              </a:rPr>
              <a:t>Loading</a:t>
            </a:r>
            <a:endParaRPr sz="2800" dirty="0">
              <a:solidFill>
                <a:srgbClr val="FF0000"/>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5331533" y="1645708"/>
            <a:ext cx="4599502" cy="3692772"/>
          </a:xfrm>
          <a:prstGeom prst="rect">
            <a:avLst/>
          </a:prstGeom>
        </p:spPr>
        <p:txBody>
          <a:bodyPr vert="horz" wrap="square" lIns="0" tIns="14699" rIns="0" bIns="0" rtlCol="0">
            <a:spAutoFit/>
          </a:bodyPr>
          <a:lstStyle/>
          <a:p>
            <a:pPr marL="471199" marR="5600" indent="-457200">
              <a:spcBef>
                <a:spcPts val="116"/>
              </a:spcBef>
              <a:buClr>
                <a:srgbClr val="D24717"/>
              </a:buClr>
              <a:buSzPct val="85000"/>
              <a:buFont typeface="Wingdings" panose="05000000000000000000" pitchFamily="2" charset="2"/>
              <a:buChar char="Ø"/>
              <a:tabLst>
                <a:tab pos="315682" algn="l"/>
                <a:tab pos="316382" algn="l"/>
              </a:tabLst>
            </a:pPr>
            <a:r>
              <a:rPr sz="2800" spc="-17" dirty="0">
                <a:latin typeface="Times New Roman" panose="02020603050405020304" pitchFamily="18" charset="0"/>
                <a:cs typeface="Times New Roman" panose="02020603050405020304" pitchFamily="18" charset="0"/>
              </a:rPr>
              <a:t>The</a:t>
            </a:r>
            <a:r>
              <a:rPr sz="2800"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more</a:t>
            </a:r>
            <a:r>
              <a:rPr sz="2800" spc="11"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the</a:t>
            </a:r>
            <a:r>
              <a:rPr sz="2800" spc="22"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factors</a:t>
            </a:r>
            <a:r>
              <a:rPr sz="2800" spc="17"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the</a:t>
            </a:r>
            <a:r>
              <a:rPr sz="2800" spc="28" dirty="0">
                <a:latin typeface="Times New Roman" panose="02020603050405020304" pitchFamily="18" charset="0"/>
                <a:cs typeface="Times New Roman" panose="02020603050405020304" pitchFamily="18" charset="0"/>
              </a:rPr>
              <a:t> </a:t>
            </a:r>
            <a:r>
              <a:rPr sz="2800" spc="-61" dirty="0">
                <a:latin typeface="Times New Roman" panose="02020603050405020304" pitchFamily="18" charset="0"/>
                <a:cs typeface="Times New Roman" panose="02020603050405020304" pitchFamily="18" charset="0"/>
              </a:rPr>
              <a:t>algorithm </a:t>
            </a:r>
            <a:r>
              <a:rPr sz="2800" spc="-55" dirty="0">
                <a:latin typeface="Times New Roman" panose="02020603050405020304" pitchFamily="18" charset="0"/>
                <a:cs typeface="Times New Roman" panose="02020603050405020304" pitchFamily="18" charset="0"/>
              </a:rPr>
              <a:t> used,</a:t>
            </a:r>
            <a:r>
              <a:rPr sz="2800" spc="6"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the</a:t>
            </a:r>
            <a:r>
              <a:rPr sz="2800" spc="28"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higher</a:t>
            </a:r>
            <a:r>
              <a:rPr sz="2800" spc="17"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the</a:t>
            </a:r>
            <a:r>
              <a:rPr sz="2800" spc="17" dirty="0">
                <a:latin typeface="Times New Roman" panose="02020603050405020304" pitchFamily="18" charset="0"/>
                <a:cs typeface="Times New Roman" panose="02020603050405020304" pitchFamily="18" charset="0"/>
              </a:rPr>
              <a:t> </a:t>
            </a:r>
            <a:r>
              <a:rPr sz="2800" spc="-55" dirty="0">
                <a:latin typeface="Times New Roman" panose="02020603050405020304" pitchFamily="18" charset="0"/>
                <a:cs typeface="Times New Roman" panose="02020603050405020304" pitchFamily="18" charset="0"/>
              </a:rPr>
              <a:t>complexity,</a:t>
            </a:r>
            <a:r>
              <a:rPr sz="2800" spc="6"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and </a:t>
            </a:r>
            <a:r>
              <a:rPr sz="2800" spc="-513" dirty="0">
                <a:latin typeface="Times New Roman" panose="02020603050405020304" pitchFamily="18" charset="0"/>
                <a:cs typeface="Times New Roman" panose="02020603050405020304" pitchFamily="18" charset="0"/>
              </a:rPr>
              <a:t> </a:t>
            </a:r>
            <a:r>
              <a:rPr sz="2800" spc="-83" dirty="0">
                <a:latin typeface="Times New Roman" panose="02020603050405020304" pitchFamily="18" charset="0"/>
                <a:cs typeface="Times New Roman" panose="02020603050405020304" pitchFamily="18" charset="0"/>
              </a:rPr>
              <a:t>thus</a:t>
            </a:r>
            <a:r>
              <a:rPr sz="2800" spc="6" dirty="0">
                <a:latin typeface="Times New Roman" panose="02020603050405020304" pitchFamily="18" charset="0"/>
                <a:cs typeface="Times New Roman" panose="02020603050405020304" pitchFamily="18" charset="0"/>
              </a:rPr>
              <a:t> </a:t>
            </a:r>
            <a:r>
              <a:rPr sz="2800" spc="-66" dirty="0">
                <a:latin typeface="Times New Roman" panose="02020603050405020304" pitchFamily="18" charset="0"/>
                <a:cs typeface="Times New Roman" panose="02020603050405020304" pitchFamily="18" charset="0"/>
              </a:rPr>
              <a:t>higher</a:t>
            </a:r>
            <a:r>
              <a:rPr sz="2800" dirty="0">
                <a:latin typeface="Times New Roman" panose="02020603050405020304" pitchFamily="18" charset="0"/>
                <a:cs typeface="Times New Roman" panose="02020603050405020304" pitchFamily="18" charset="0"/>
              </a:rPr>
              <a:t> </a:t>
            </a:r>
            <a:r>
              <a:rPr sz="2800" spc="-72" dirty="0">
                <a:latin typeface="Times New Roman" panose="02020603050405020304" pitchFamily="18" charset="0"/>
                <a:cs typeface="Times New Roman" panose="02020603050405020304" pitchFamily="18" charset="0"/>
              </a:rPr>
              <a:t>resources</a:t>
            </a:r>
            <a:r>
              <a:rPr sz="2800" spc="39" dirty="0">
                <a:latin typeface="Times New Roman" panose="02020603050405020304" pitchFamily="18" charset="0"/>
                <a:cs typeface="Times New Roman" panose="02020603050405020304" pitchFamily="18" charset="0"/>
              </a:rPr>
              <a:t> </a:t>
            </a:r>
            <a:r>
              <a:rPr sz="2800" spc="-72" dirty="0">
                <a:latin typeface="Times New Roman" panose="02020603050405020304" pitchFamily="18" charset="0"/>
                <a:cs typeface="Times New Roman" panose="02020603050405020304" pitchFamily="18" charset="0"/>
              </a:rPr>
              <a:t>are</a:t>
            </a:r>
            <a:r>
              <a:rPr sz="2800" spc="22" dirty="0">
                <a:latin typeface="Times New Roman" panose="02020603050405020304" pitchFamily="18" charset="0"/>
                <a:cs typeface="Times New Roman" panose="02020603050405020304" pitchFamily="18" charset="0"/>
              </a:rPr>
              <a:t> </a:t>
            </a:r>
            <a:r>
              <a:rPr sz="2800" spc="-77" dirty="0">
                <a:latin typeface="Times New Roman" panose="02020603050405020304" pitchFamily="18" charset="0"/>
                <a:cs typeface="Times New Roman" panose="02020603050405020304" pitchFamily="18" charset="0"/>
              </a:rPr>
              <a:t>required</a:t>
            </a:r>
            <a:endParaRPr sz="2800" dirty="0">
              <a:latin typeface="Times New Roman" panose="02020603050405020304" pitchFamily="18" charset="0"/>
              <a:cs typeface="Times New Roman" panose="02020603050405020304" pitchFamily="18" charset="0"/>
            </a:endParaRPr>
          </a:p>
          <a:p>
            <a:pPr marL="618765" lvl="1" indent="-251986">
              <a:spcBef>
                <a:spcPts val="457"/>
              </a:spcBef>
              <a:buClr>
                <a:srgbClr val="9B2C1F"/>
              </a:buClr>
              <a:buSzPct val="83333"/>
              <a:buFont typeface="Wingdings"/>
              <a:buChar char=""/>
              <a:tabLst>
                <a:tab pos="618765" algn="l"/>
              </a:tabLst>
            </a:pPr>
            <a:r>
              <a:rPr sz="2800" b="1" spc="55" dirty="0">
                <a:solidFill>
                  <a:srgbClr val="FF0000"/>
                </a:solidFill>
                <a:latin typeface="Times New Roman" panose="02020603050405020304" pitchFamily="18" charset="0"/>
                <a:cs typeface="Times New Roman" panose="02020603050405020304" pitchFamily="18" charset="0"/>
              </a:rPr>
              <a:t>Bandwidth</a:t>
            </a:r>
            <a:endParaRPr sz="2800" dirty="0">
              <a:solidFill>
                <a:srgbClr val="FF0000"/>
              </a:solidFill>
              <a:latin typeface="Times New Roman" panose="02020603050405020304" pitchFamily="18" charset="0"/>
              <a:cs typeface="Times New Roman" panose="02020603050405020304" pitchFamily="18" charset="0"/>
            </a:endParaRPr>
          </a:p>
          <a:p>
            <a:pPr marL="618765" lvl="1" indent="-251986">
              <a:spcBef>
                <a:spcPts val="441"/>
              </a:spcBef>
              <a:buClr>
                <a:srgbClr val="9B2C1F"/>
              </a:buClr>
              <a:buSzPct val="83333"/>
              <a:buFont typeface="Wingdings"/>
              <a:buChar char=""/>
              <a:tabLst>
                <a:tab pos="618765" algn="l"/>
              </a:tabLst>
            </a:pPr>
            <a:r>
              <a:rPr sz="2800" b="1" spc="303" dirty="0">
                <a:solidFill>
                  <a:srgbClr val="FF0000"/>
                </a:solidFill>
                <a:latin typeface="Times New Roman" panose="02020603050405020304" pitchFamily="18" charset="0"/>
                <a:cs typeface="Times New Roman" panose="02020603050405020304" pitchFamily="18" charset="0"/>
              </a:rPr>
              <a:t>CPU</a:t>
            </a:r>
            <a:endParaRPr sz="2800" dirty="0">
              <a:solidFill>
                <a:srgbClr val="FF0000"/>
              </a:solidFill>
              <a:latin typeface="Times New Roman" panose="02020603050405020304" pitchFamily="18" charset="0"/>
              <a:cs typeface="Times New Roman" panose="02020603050405020304" pitchFamily="18" charset="0"/>
            </a:endParaRPr>
          </a:p>
          <a:p>
            <a:pPr marL="618765" lvl="1" indent="-251986">
              <a:spcBef>
                <a:spcPts val="435"/>
              </a:spcBef>
              <a:buClr>
                <a:srgbClr val="9B2C1F"/>
              </a:buClr>
              <a:buSzPct val="83333"/>
              <a:buFont typeface="Wingdings"/>
              <a:buChar char=""/>
              <a:tabLst>
                <a:tab pos="618765" algn="l"/>
              </a:tabLst>
            </a:pPr>
            <a:r>
              <a:rPr sz="2800" b="1" spc="116" dirty="0">
                <a:solidFill>
                  <a:srgbClr val="FF0000"/>
                </a:solidFill>
                <a:latin typeface="Times New Roman" panose="02020603050405020304" pitchFamily="18" charset="0"/>
                <a:cs typeface="Times New Roman" panose="02020603050405020304" pitchFamily="18" charset="0"/>
              </a:rPr>
              <a:t>Time</a:t>
            </a:r>
            <a:r>
              <a:rPr sz="2800" b="1" spc="11" dirty="0">
                <a:solidFill>
                  <a:srgbClr val="FF0000"/>
                </a:solidFill>
                <a:latin typeface="Times New Roman" panose="02020603050405020304" pitchFamily="18" charset="0"/>
                <a:cs typeface="Times New Roman" panose="02020603050405020304" pitchFamily="18" charset="0"/>
              </a:rPr>
              <a:t> </a:t>
            </a:r>
            <a:r>
              <a:rPr sz="2800" b="1" spc="6" dirty="0">
                <a:solidFill>
                  <a:srgbClr val="FF0000"/>
                </a:solidFill>
                <a:latin typeface="Times New Roman" panose="02020603050405020304" pitchFamily="18" charset="0"/>
                <a:cs typeface="Times New Roman" panose="02020603050405020304" pitchFamily="18" charset="0"/>
              </a:rPr>
              <a:t>(convergence)</a:t>
            </a:r>
            <a:endParaRPr sz="2800" dirty="0">
              <a:solidFill>
                <a:srgbClr val="FF0000"/>
              </a:solidFill>
              <a:latin typeface="Times New Roman" panose="02020603050405020304" pitchFamily="18" charset="0"/>
              <a:cs typeface="Times New Roman" panose="02020603050405020304" pitchFamily="18" charset="0"/>
            </a:endParaRPr>
          </a:p>
          <a:p>
            <a:pPr marL="618765" lvl="1" indent="-251986">
              <a:spcBef>
                <a:spcPts val="451"/>
              </a:spcBef>
              <a:buClr>
                <a:srgbClr val="9B2C1F"/>
              </a:buClr>
              <a:buSzPct val="83333"/>
              <a:buFont typeface="Wingdings"/>
              <a:buChar char=""/>
              <a:tabLst>
                <a:tab pos="618765" algn="l"/>
              </a:tabLst>
            </a:pPr>
            <a:r>
              <a:rPr sz="2800" b="1" spc="55" dirty="0">
                <a:solidFill>
                  <a:srgbClr val="FF0000"/>
                </a:solidFill>
                <a:latin typeface="Times New Roman" panose="02020603050405020304" pitchFamily="18" charset="0"/>
                <a:cs typeface="Times New Roman" panose="02020603050405020304" pitchFamily="18" charset="0"/>
              </a:rPr>
              <a:t>Memory</a:t>
            </a:r>
            <a:endParaRPr sz="2800" dirty="0">
              <a:solidFill>
                <a:srgbClr val="FF0000"/>
              </a:solidFill>
              <a:latin typeface="Times New Roman" panose="02020603050405020304" pitchFamily="18" charset="0"/>
              <a:cs typeface="Times New Roman" panose="02020603050405020304" pitchFamily="18" charset="0"/>
            </a:endParaRPr>
          </a:p>
        </p:txBody>
      </p:sp>
      <p:grpSp>
        <p:nvGrpSpPr>
          <p:cNvPr id="9" name="object 9"/>
          <p:cNvGrpSpPr/>
          <p:nvPr/>
        </p:nvGrpSpPr>
        <p:grpSpPr>
          <a:xfrm>
            <a:off x="4470605" y="2969842"/>
            <a:ext cx="1092653" cy="548776"/>
            <a:chOff x="3879850" y="2051050"/>
            <a:chExt cx="991235" cy="497840"/>
          </a:xfrm>
        </p:grpSpPr>
        <p:sp>
          <p:nvSpPr>
            <p:cNvPr id="10" name="object 10"/>
            <p:cNvSpPr/>
            <p:nvPr/>
          </p:nvSpPr>
          <p:spPr>
            <a:xfrm>
              <a:off x="3886200" y="2057400"/>
              <a:ext cx="978535" cy="485140"/>
            </a:xfrm>
            <a:custGeom>
              <a:avLst/>
              <a:gdLst/>
              <a:ahLst/>
              <a:cxnLst/>
              <a:rect l="l" t="t" r="r" b="b"/>
              <a:pathLst>
                <a:path w="978535" h="485139">
                  <a:moveTo>
                    <a:pt x="736091" y="0"/>
                  </a:moveTo>
                  <a:lnTo>
                    <a:pt x="736091" y="121158"/>
                  </a:lnTo>
                  <a:lnTo>
                    <a:pt x="0" y="121158"/>
                  </a:lnTo>
                  <a:lnTo>
                    <a:pt x="0" y="363474"/>
                  </a:lnTo>
                  <a:lnTo>
                    <a:pt x="736091" y="363474"/>
                  </a:lnTo>
                  <a:lnTo>
                    <a:pt x="736091" y="484632"/>
                  </a:lnTo>
                  <a:lnTo>
                    <a:pt x="978408" y="242315"/>
                  </a:lnTo>
                  <a:lnTo>
                    <a:pt x="736091" y="0"/>
                  </a:lnTo>
                  <a:close/>
                </a:path>
              </a:pathLst>
            </a:custGeom>
            <a:solidFill>
              <a:srgbClr val="D24717"/>
            </a:solidFill>
          </p:spPr>
          <p:txBody>
            <a:bodyPr wrap="square" lIns="0" tIns="0" rIns="0" bIns="0" rtlCol="0"/>
            <a:lstStyle/>
            <a:p>
              <a:endParaRPr sz="1984" dirty="0"/>
            </a:p>
          </p:txBody>
        </p:sp>
        <p:sp>
          <p:nvSpPr>
            <p:cNvPr id="11" name="object 11"/>
            <p:cNvSpPr/>
            <p:nvPr/>
          </p:nvSpPr>
          <p:spPr>
            <a:xfrm>
              <a:off x="3886200" y="2057400"/>
              <a:ext cx="978535" cy="485140"/>
            </a:xfrm>
            <a:custGeom>
              <a:avLst/>
              <a:gdLst/>
              <a:ahLst/>
              <a:cxnLst/>
              <a:rect l="l" t="t" r="r" b="b"/>
              <a:pathLst>
                <a:path w="978535" h="485139">
                  <a:moveTo>
                    <a:pt x="0" y="121158"/>
                  </a:moveTo>
                  <a:lnTo>
                    <a:pt x="736091" y="121158"/>
                  </a:lnTo>
                  <a:lnTo>
                    <a:pt x="736091" y="0"/>
                  </a:lnTo>
                  <a:lnTo>
                    <a:pt x="978408" y="242315"/>
                  </a:lnTo>
                  <a:lnTo>
                    <a:pt x="736091" y="484632"/>
                  </a:lnTo>
                  <a:lnTo>
                    <a:pt x="736091" y="363474"/>
                  </a:lnTo>
                  <a:lnTo>
                    <a:pt x="0" y="363474"/>
                  </a:lnTo>
                  <a:lnTo>
                    <a:pt x="0" y="121158"/>
                  </a:lnTo>
                  <a:close/>
                </a:path>
              </a:pathLst>
            </a:custGeom>
            <a:ln w="12700">
              <a:solidFill>
                <a:srgbClr val="9B310D"/>
              </a:solidFill>
            </a:ln>
          </p:spPr>
          <p:txBody>
            <a:bodyPr wrap="square" lIns="0" tIns="0" rIns="0" bIns="0" rtlCol="0"/>
            <a:lstStyle/>
            <a:p>
              <a:endParaRPr sz="1984"/>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9251" y="324963"/>
            <a:ext cx="6905647" cy="691244"/>
          </a:xfrm>
          <a:prstGeom prst="rect">
            <a:avLst/>
          </a:prstGeom>
        </p:spPr>
        <p:txBody>
          <a:bodyPr vert="horz" wrap="square" lIns="0" tIns="13999" rIns="0" bIns="0" rtlCol="0" anchor="ctr">
            <a:spAutoFit/>
          </a:bodyPr>
          <a:lstStyle/>
          <a:p>
            <a:pPr marL="13999">
              <a:lnSpc>
                <a:spcPct val="100000"/>
              </a:lnSpc>
              <a:spcBef>
                <a:spcPts val="110"/>
              </a:spcBef>
            </a:pPr>
            <a:r>
              <a:rPr sz="4400" spc="126" dirty="0">
                <a:solidFill>
                  <a:schemeClr val="bg1"/>
                </a:solidFill>
                <a:latin typeface="Times New Roman" panose="02020603050405020304" pitchFamily="18" charset="0"/>
                <a:cs typeface="Times New Roman" panose="02020603050405020304" pitchFamily="18" charset="0"/>
              </a:rPr>
              <a:t>Metric</a:t>
            </a:r>
            <a:r>
              <a:rPr sz="4400" spc="61" dirty="0">
                <a:solidFill>
                  <a:schemeClr val="bg1"/>
                </a:solidFill>
                <a:latin typeface="Times New Roman" panose="02020603050405020304" pitchFamily="18" charset="0"/>
                <a:cs typeface="Times New Roman" panose="02020603050405020304" pitchFamily="18" charset="0"/>
              </a:rPr>
              <a:t> </a:t>
            </a:r>
            <a:r>
              <a:rPr sz="4400" spc="17" dirty="0">
                <a:solidFill>
                  <a:schemeClr val="bg1"/>
                </a:solidFill>
                <a:latin typeface="Times New Roman" panose="02020603050405020304" pitchFamily="18" charset="0"/>
                <a:cs typeface="Times New Roman" panose="02020603050405020304" pitchFamily="18" charset="0"/>
              </a:rPr>
              <a:t>to</a:t>
            </a:r>
            <a:r>
              <a:rPr sz="4400" spc="88" dirty="0">
                <a:solidFill>
                  <a:schemeClr val="bg1"/>
                </a:solidFill>
                <a:latin typeface="Times New Roman" panose="02020603050405020304" pitchFamily="18" charset="0"/>
                <a:cs typeface="Times New Roman" panose="02020603050405020304" pitchFamily="18" charset="0"/>
              </a:rPr>
              <a:t> </a:t>
            </a:r>
            <a:r>
              <a:rPr lang="en-US" sz="4400" spc="28" dirty="0">
                <a:solidFill>
                  <a:schemeClr val="bg1"/>
                </a:solidFill>
                <a:latin typeface="Times New Roman" panose="02020603050405020304" pitchFamily="18" charset="0"/>
                <a:cs typeface="Times New Roman" panose="02020603050405020304" pitchFamily="18" charset="0"/>
              </a:rPr>
              <a:t>D</a:t>
            </a:r>
            <a:r>
              <a:rPr sz="4400" spc="28" dirty="0">
                <a:solidFill>
                  <a:schemeClr val="bg1"/>
                </a:solidFill>
                <a:latin typeface="Times New Roman" panose="02020603050405020304" pitchFamily="18" charset="0"/>
                <a:cs typeface="Times New Roman" panose="02020603050405020304" pitchFamily="18" charset="0"/>
              </a:rPr>
              <a:t>etermine</a:t>
            </a:r>
            <a:r>
              <a:rPr sz="4400" spc="77" dirty="0">
                <a:solidFill>
                  <a:schemeClr val="bg1"/>
                </a:solidFill>
                <a:latin typeface="Times New Roman" panose="02020603050405020304" pitchFamily="18" charset="0"/>
                <a:cs typeface="Times New Roman" panose="02020603050405020304" pitchFamily="18" charset="0"/>
              </a:rPr>
              <a:t> </a:t>
            </a:r>
            <a:r>
              <a:rPr lang="en-US" sz="4400" spc="17" dirty="0">
                <a:solidFill>
                  <a:schemeClr val="bg1"/>
                </a:solidFill>
                <a:latin typeface="Times New Roman" panose="02020603050405020304" pitchFamily="18" charset="0"/>
                <a:cs typeface="Times New Roman" panose="02020603050405020304" pitchFamily="18" charset="0"/>
              </a:rPr>
              <a:t>R</a:t>
            </a:r>
            <a:r>
              <a:rPr sz="4400" spc="17" dirty="0">
                <a:solidFill>
                  <a:schemeClr val="bg1"/>
                </a:solidFill>
                <a:latin typeface="Times New Roman" panose="02020603050405020304" pitchFamily="18" charset="0"/>
                <a:cs typeface="Times New Roman" panose="02020603050405020304" pitchFamily="18" charset="0"/>
              </a:rPr>
              <a:t>oute</a:t>
            </a:r>
          </a:p>
        </p:txBody>
      </p:sp>
      <p:pic>
        <p:nvPicPr>
          <p:cNvPr id="8" name="object 8"/>
          <p:cNvPicPr/>
          <p:nvPr/>
        </p:nvPicPr>
        <p:blipFill>
          <a:blip r:embed="rId2" cstate="print"/>
          <a:stretch>
            <a:fillRect/>
          </a:stretch>
        </p:blipFill>
        <p:spPr>
          <a:xfrm>
            <a:off x="489397" y="1803042"/>
            <a:ext cx="9105364" cy="5190186"/>
          </a:xfrm>
          <a:prstGeom prst="rect">
            <a:avLst/>
          </a:prstGeom>
        </p:spPr>
      </p:pic>
    </p:spTree>
    <p:extLst>
      <p:ext uri="{BB962C8B-B14F-4D97-AF65-F5344CB8AC3E}">
        <p14:creationId xmlns:p14="http://schemas.microsoft.com/office/powerpoint/2010/main" val="22941933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7280" y="458655"/>
            <a:ext cx="7474848"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Metric to </a:t>
            </a:r>
            <a:r>
              <a:rPr lang="en-US" sz="4409" b="1" spc="-6" dirty="0">
                <a:solidFill>
                  <a:schemeClr val="bg1"/>
                </a:solidFill>
                <a:latin typeface="Times New Roman" panose="02020603050405020304" pitchFamily="18" charset="0"/>
                <a:cs typeface="Times New Roman" panose="02020603050405020304" pitchFamily="18" charset="0"/>
              </a:rPr>
              <a:t>D</a:t>
            </a:r>
            <a:r>
              <a:rPr sz="4409" b="1" spc="-6" dirty="0">
                <a:solidFill>
                  <a:schemeClr val="bg1"/>
                </a:solidFill>
                <a:latin typeface="Times New Roman" panose="02020603050405020304" pitchFamily="18" charset="0"/>
                <a:cs typeface="Times New Roman" panose="02020603050405020304" pitchFamily="18" charset="0"/>
              </a:rPr>
              <a:t>etermine</a:t>
            </a:r>
            <a:r>
              <a:rPr sz="4409" b="1" spc="6" dirty="0">
                <a:solidFill>
                  <a:schemeClr val="bg1"/>
                </a:solidFill>
                <a:latin typeface="Times New Roman" panose="02020603050405020304" pitchFamily="18" charset="0"/>
                <a:cs typeface="Times New Roman" panose="02020603050405020304" pitchFamily="18" charset="0"/>
              </a:rPr>
              <a:t> </a:t>
            </a:r>
            <a:r>
              <a:rPr lang="en-US" sz="4409" b="1" spc="-22" dirty="0">
                <a:solidFill>
                  <a:schemeClr val="bg1"/>
                </a:solidFill>
                <a:latin typeface="Times New Roman" panose="02020603050405020304" pitchFamily="18" charset="0"/>
                <a:cs typeface="Times New Roman" panose="02020603050405020304" pitchFamily="18" charset="0"/>
              </a:rPr>
              <a:t>R</a:t>
            </a:r>
            <a:r>
              <a:rPr sz="4409" b="1" spc="-22" dirty="0">
                <a:solidFill>
                  <a:schemeClr val="bg1"/>
                </a:solidFill>
                <a:latin typeface="Times New Roman" panose="02020603050405020304" pitchFamily="18" charset="0"/>
                <a:cs typeface="Times New Roman" panose="02020603050405020304" pitchFamily="18" charset="0"/>
              </a:rPr>
              <a:t>oute</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03031" y="1792185"/>
            <a:ext cx="9977594" cy="3551708"/>
          </a:xfrm>
          <a:prstGeom prst="rect">
            <a:avLst/>
          </a:prstGeom>
        </p:spPr>
        <p:txBody>
          <a:bodyPr vert="horz" wrap="square" lIns="0" tIns="14699" rIns="0" bIns="0" rtlCol="0">
            <a:spAutoFit/>
          </a:bodyPr>
          <a:lstStyle/>
          <a:p>
            <a:pPr marL="470499" marR="5600" indent="-457200">
              <a:spcBef>
                <a:spcPts val="116"/>
              </a:spcBef>
              <a:buClr>
                <a:srgbClr val="D24717"/>
              </a:buClr>
              <a:buSzPct val="84615"/>
              <a:buFont typeface="Wingdings" panose="05000000000000000000" pitchFamily="2" charset="2"/>
              <a:buChar char="Ø"/>
              <a:tabLst>
                <a:tab pos="316382" algn="l"/>
              </a:tabLst>
            </a:pPr>
            <a:r>
              <a:rPr sz="3200" b="1" dirty="0">
                <a:solidFill>
                  <a:srgbClr val="FF0000"/>
                </a:solidFill>
                <a:latin typeface="Times New Roman"/>
                <a:cs typeface="Times New Roman"/>
              </a:rPr>
              <a:t>Equal</a:t>
            </a:r>
            <a:r>
              <a:rPr sz="3200" b="1" spc="-28" dirty="0">
                <a:solidFill>
                  <a:srgbClr val="FF0000"/>
                </a:solidFill>
                <a:latin typeface="Times New Roman"/>
                <a:cs typeface="Times New Roman"/>
              </a:rPr>
              <a:t> </a:t>
            </a:r>
            <a:r>
              <a:rPr sz="3200" b="1" dirty="0">
                <a:solidFill>
                  <a:srgbClr val="FF0000"/>
                </a:solidFill>
                <a:latin typeface="Times New Roman"/>
                <a:cs typeface="Times New Roman"/>
              </a:rPr>
              <a:t>cost</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metric</a:t>
            </a:r>
            <a:r>
              <a:rPr sz="3200" b="1" spc="-17" dirty="0">
                <a:solidFill>
                  <a:srgbClr val="FF0000"/>
                </a:solidFill>
                <a:latin typeface="Times New Roman"/>
                <a:cs typeface="Times New Roman"/>
              </a:rPr>
              <a:t> </a:t>
            </a:r>
            <a:r>
              <a:rPr sz="3200" dirty="0">
                <a:latin typeface="Times New Roman"/>
                <a:cs typeface="Times New Roman"/>
              </a:rPr>
              <a:t>is a condition</a:t>
            </a:r>
            <a:r>
              <a:rPr sz="3200" spc="-22" dirty="0">
                <a:latin typeface="Times New Roman"/>
                <a:cs typeface="Times New Roman"/>
              </a:rPr>
              <a:t> </a:t>
            </a:r>
            <a:r>
              <a:rPr sz="3200" dirty="0">
                <a:latin typeface="Times New Roman"/>
                <a:cs typeface="Times New Roman"/>
              </a:rPr>
              <a:t>where</a:t>
            </a:r>
            <a:r>
              <a:rPr sz="3200" spc="-39" dirty="0">
                <a:latin typeface="Times New Roman"/>
                <a:cs typeface="Times New Roman"/>
              </a:rPr>
              <a:t> </a:t>
            </a:r>
            <a:r>
              <a:rPr sz="3200" dirty="0">
                <a:latin typeface="Times New Roman"/>
                <a:cs typeface="Times New Roman"/>
              </a:rPr>
              <a:t>a </a:t>
            </a:r>
            <a:r>
              <a:rPr sz="3200" spc="-6" dirty="0">
                <a:latin typeface="Times New Roman"/>
                <a:cs typeface="Times New Roman"/>
              </a:rPr>
              <a:t>router</a:t>
            </a:r>
            <a:r>
              <a:rPr sz="3200" spc="-22" dirty="0">
                <a:latin typeface="Times New Roman"/>
                <a:cs typeface="Times New Roman"/>
              </a:rPr>
              <a:t> </a:t>
            </a:r>
            <a:r>
              <a:rPr sz="3200" dirty="0">
                <a:latin typeface="Times New Roman"/>
                <a:cs typeface="Times New Roman"/>
              </a:rPr>
              <a:t>has </a:t>
            </a:r>
            <a:r>
              <a:rPr sz="3200" spc="-6" dirty="0">
                <a:latin typeface="Times New Roman"/>
                <a:cs typeface="Times New Roman"/>
              </a:rPr>
              <a:t>multiple </a:t>
            </a:r>
            <a:r>
              <a:rPr sz="3200" spc="-700" dirty="0">
                <a:latin typeface="Times New Roman"/>
                <a:cs typeface="Times New Roman"/>
              </a:rPr>
              <a:t> </a:t>
            </a:r>
            <a:r>
              <a:rPr sz="3200" dirty="0">
                <a:latin typeface="Times New Roman"/>
                <a:cs typeface="Times New Roman"/>
              </a:rPr>
              <a:t>paths</a:t>
            </a:r>
            <a:r>
              <a:rPr sz="3200" spc="-39" dirty="0">
                <a:latin typeface="Times New Roman"/>
                <a:cs typeface="Times New Roman"/>
              </a:rPr>
              <a:t> </a:t>
            </a:r>
            <a:r>
              <a:rPr sz="3200" dirty="0">
                <a:latin typeface="Times New Roman"/>
                <a:cs typeface="Times New Roman"/>
              </a:rPr>
              <a:t>to</a:t>
            </a:r>
            <a:r>
              <a:rPr sz="3200" spc="6"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11" dirty="0">
                <a:latin typeface="Times New Roman"/>
                <a:cs typeface="Times New Roman"/>
              </a:rPr>
              <a:t>same</a:t>
            </a:r>
            <a:r>
              <a:rPr sz="3200" spc="6" dirty="0">
                <a:latin typeface="Times New Roman"/>
                <a:cs typeface="Times New Roman"/>
              </a:rPr>
              <a:t> </a:t>
            </a:r>
            <a:r>
              <a:rPr sz="3200" spc="-6" dirty="0">
                <a:latin typeface="Times New Roman"/>
                <a:cs typeface="Times New Roman"/>
              </a:rPr>
              <a:t>destination </a:t>
            </a:r>
            <a:r>
              <a:rPr sz="3200" dirty="0">
                <a:latin typeface="Times New Roman"/>
                <a:cs typeface="Times New Roman"/>
              </a:rPr>
              <a:t>that</a:t>
            </a:r>
            <a:r>
              <a:rPr sz="3200" spc="-11" dirty="0">
                <a:latin typeface="Times New Roman"/>
                <a:cs typeface="Times New Roman"/>
              </a:rPr>
              <a:t> </a:t>
            </a:r>
            <a:r>
              <a:rPr sz="3200" spc="-6" dirty="0">
                <a:latin typeface="Times New Roman"/>
                <a:cs typeface="Times New Roman"/>
              </a:rPr>
              <a:t>all</a:t>
            </a:r>
            <a:r>
              <a:rPr sz="3200" dirty="0">
                <a:latin typeface="Times New Roman"/>
                <a:cs typeface="Times New Roman"/>
              </a:rPr>
              <a:t> have</a:t>
            </a:r>
            <a:r>
              <a:rPr sz="3200" spc="-11"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same</a:t>
            </a:r>
            <a:r>
              <a:rPr sz="3200" spc="6" dirty="0">
                <a:latin typeface="Times New Roman"/>
                <a:cs typeface="Times New Roman"/>
              </a:rPr>
              <a:t> </a:t>
            </a:r>
            <a:r>
              <a:rPr sz="3200" spc="-6" dirty="0">
                <a:latin typeface="Times New Roman"/>
                <a:cs typeface="Times New Roman"/>
              </a:rPr>
              <a:t>metric</a:t>
            </a:r>
            <a:endParaRPr sz="3200" dirty="0">
              <a:latin typeface="Times New Roman"/>
              <a:cs typeface="Times New Roman"/>
            </a:endParaRPr>
          </a:p>
          <a:p>
            <a:pPr marL="470499" marR="240786" indent="-457200">
              <a:spcBef>
                <a:spcPts val="661"/>
              </a:spcBef>
              <a:buClr>
                <a:srgbClr val="D24717"/>
              </a:buClr>
              <a:buSzPct val="84615"/>
              <a:buFont typeface="Wingdings" panose="05000000000000000000" pitchFamily="2" charset="2"/>
              <a:buChar char="Ø"/>
              <a:tabLst>
                <a:tab pos="316382" algn="l"/>
              </a:tabLst>
            </a:pPr>
            <a:r>
              <a:rPr sz="3200" b="1" spc="-132" dirty="0">
                <a:solidFill>
                  <a:srgbClr val="FF0000"/>
                </a:solidFill>
                <a:latin typeface="Times New Roman"/>
                <a:cs typeface="Times New Roman"/>
              </a:rPr>
              <a:t>To</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solve this</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dilemma</a:t>
            </a:r>
            <a:r>
              <a:rPr sz="3200" dirty="0">
                <a:latin typeface="Times New Roman"/>
                <a:cs typeface="Times New Roman"/>
              </a:rPr>
              <a:t>,</a:t>
            </a:r>
            <a:r>
              <a:rPr sz="3200" spc="-39" dirty="0">
                <a:latin typeface="Times New Roman"/>
                <a:cs typeface="Times New Roman"/>
              </a:rPr>
              <a:t> </a:t>
            </a:r>
            <a:r>
              <a:rPr sz="3200" dirty="0">
                <a:latin typeface="Times New Roman"/>
                <a:cs typeface="Times New Roman"/>
              </a:rPr>
              <a:t>a </a:t>
            </a:r>
            <a:r>
              <a:rPr sz="3200" spc="-6" dirty="0">
                <a:latin typeface="Times New Roman"/>
                <a:cs typeface="Times New Roman"/>
              </a:rPr>
              <a:t>router</a:t>
            </a:r>
            <a:r>
              <a:rPr sz="3200" spc="-17" dirty="0">
                <a:latin typeface="Times New Roman"/>
                <a:cs typeface="Times New Roman"/>
              </a:rPr>
              <a:t> </a:t>
            </a:r>
            <a:r>
              <a:rPr sz="3200" dirty="0">
                <a:latin typeface="Times New Roman"/>
                <a:cs typeface="Times New Roman"/>
              </a:rPr>
              <a:t>will</a:t>
            </a:r>
            <a:r>
              <a:rPr sz="3200" spc="-6" dirty="0">
                <a:latin typeface="Times New Roman"/>
                <a:cs typeface="Times New Roman"/>
              </a:rPr>
              <a:t> </a:t>
            </a:r>
            <a:r>
              <a:rPr sz="3200" dirty="0">
                <a:latin typeface="Times New Roman"/>
                <a:cs typeface="Times New Roman"/>
              </a:rPr>
              <a:t>use</a:t>
            </a:r>
            <a:r>
              <a:rPr sz="3200" spc="-6" dirty="0">
                <a:latin typeface="Times New Roman"/>
                <a:cs typeface="Times New Roman"/>
              </a:rPr>
              <a:t> </a:t>
            </a:r>
            <a:r>
              <a:rPr sz="3200" b="1" dirty="0">
                <a:solidFill>
                  <a:srgbClr val="FF0000"/>
                </a:solidFill>
                <a:latin typeface="Times New Roman"/>
                <a:cs typeface="Times New Roman"/>
              </a:rPr>
              <a:t>Equal Cost</a:t>
            </a:r>
            <a:r>
              <a:rPr sz="3200" b="1" spc="-28" dirty="0">
                <a:solidFill>
                  <a:srgbClr val="FF0000"/>
                </a:solidFill>
                <a:latin typeface="Times New Roman"/>
                <a:cs typeface="Times New Roman"/>
              </a:rPr>
              <a:t> </a:t>
            </a:r>
            <a:r>
              <a:rPr sz="3200" b="1" dirty="0">
                <a:solidFill>
                  <a:srgbClr val="FF0000"/>
                </a:solidFill>
                <a:latin typeface="Times New Roman"/>
                <a:cs typeface="Times New Roman"/>
              </a:rPr>
              <a:t>Load </a:t>
            </a:r>
            <a:r>
              <a:rPr sz="3200" b="1" spc="-700" dirty="0">
                <a:solidFill>
                  <a:srgbClr val="FF0000"/>
                </a:solidFill>
                <a:latin typeface="Times New Roman"/>
                <a:cs typeface="Times New Roman"/>
              </a:rPr>
              <a:t> </a:t>
            </a:r>
            <a:r>
              <a:rPr sz="3200" b="1" dirty="0">
                <a:solidFill>
                  <a:srgbClr val="FF0000"/>
                </a:solidFill>
                <a:latin typeface="Times New Roman"/>
                <a:cs typeface="Times New Roman"/>
              </a:rPr>
              <a:t>Balancing</a:t>
            </a:r>
            <a:r>
              <a:rPr sz="3200" b="1" dirty="0">
                <a:solidFill>
                  <a:srgbClr val="9B2C1F"/>
                </a:solidFill>
                <a:latin typeface="Times New Roman"/>
                <a:cs typeface="Times New Roman"/>
              </a:rPr>
              <a:t> </a:t>
            </a:r>
            <a:r>
              <a:rPr sz="3200" dirty="0">
                <a:latin typeface="Times New Roman"/>
                <a:cs typeface="Times New Roman"/>
              </a:rPr>
              <a:t>- this </a:t>
            </a:r>
            <a:r>
              <a:rPr sz="3200" spc="-6" dirty="0">
                <a:latin typeface="Times New Roman"/>
                <a:cs typeface="Times New Roman"/>
              </a:rPr>
              <a:t>means the </a:t>
            </a:r>
            <a:r>
              <a:rPr sz="3200" dirty="0">
                <a:latin typeface="Times New Roman"/>
                <a:cs typeface="Times New Roman"/>
              </a:rPr>
              <a:t>router sends packets over the </a:t>
            </a:r>
            <a:r>
              <a:rPr sz="3200" spc="6" dirty="0">
                <a:latin typeface="Times New Roman"/>
                <a:cs typeface="Times New Roman"/>
              </a:rPr>
              <a:t> </a:t>
            </a:r>
            <a:r>
              <a:rPr sz="3200" spc="-6" dirty="0">
                <a:latin typeface="Times New Roman"/>
                <a:cs typeface="Times New Roman"/>
              </a:rPr>
              <a:t>multiple</a:t>
            </a:r>
            <a:r>
              <a:rPr sz="3200" spc="-11" dirty="0">
                <a:latin typeface="Times New Roman"/>
                <a:cs typeface="Times New Roman"/>
              </a:rPr>
              <a:t> </a:t>
            </a:r>
            <a:r>
              <a:rPr sz="3200" dirty="0">
                <a:latin typeface="Times New Roman"/>
                <a:cs typeface="Times New Roman"/>
              </a:rPr>
              <a:t>exit</a:t>
            </a:r>
            <a:r>
              <a:rPr sz="3200" spc="-6" dirty="0">
                <a:latin typeface="Times New Roman"/>
                <a:cs typeface="Times New Roman"/>
              </a:rPr>
              <a:t> interfaces</a:t>
            </a:r>
            <a:r>
              <a:rPr sz="3200" spc="-11" dirty="0">
                <a:latin typeface="Times New Roman"/>
                <a:cs typeface="Times New Roman"/>
              </a:rPr>
              <a:t> </a:t>
            </a:r>
            <a:r>
              <a:rPr sz="3200" spc="-6" dirty="0">
                <a:latin typeface="Times New Roman"/>
                <a:cs typeface="Times New Roman"/>
              </a:rPr>
              <a:t>listed</a:t>
            </a:r>
            <a:r>
              <a:rPr sz="3200" spc="11" dirty="0">
                <a:latin typeface="Times New Roman"/>
                <a:cs typeface="Times New Roman"/>
              </a:rPr>
              <a:t> </a:t>
            </a:r>
            <a:r>
              <a:rPr sz="3200" dirty="0">
                <a:latin typeface="Times New Roman"/>
                <a:cs typeface="Times New Roman"/>
              </a:rPr>
              <a:t>in </a:t>
            </a:r>
            <a:r>
              <a:rPr sz="3200" spc="-6" dirty="0">
                <a:latin typeface="Times New Roman"/>
                <a:cs typeface="Times New Roman"/>
              </a:rPr>
              <a:t>the</a:t>
            </a:r>
            <a:r>
              <a:rPr sz="3200" spc="6" dirty="0">
                <a:latin typeface="Times New Roman"/>
                <a:cs typeface="Times New Roman"/>
              </a:rPr>
              <a:t> </a:t>
            </a:r>
            <a:r>
              <a:rPr sz="3200" spc="-6" dirty="0">
                <a:latin typeface="Times New Roman"/>
                <a:cs typeface="Times New Roman"/>
              </a:rPr>
              <a:t>routing</a:t>
            </a:r>
            <a:r>
              <a:rPr sz="3200" spc="-22" dirty="0">
                <a:latin typeface="Times New Roman"/>
                <a:cs typeface="Times New Roman"/>
              </a:rPr>
              <a:t> </a:t>
            </a:r>
            <a:r>
              <a:rPr sz="3200" spc="-6" dirty="0">
                <a:latin typeface="Times New Roman"/>
                <a:cs typeface="Times New Roman"/>
              </a:rPr>
              <a:t>table.</a:t>
            </a:r>
            <a:endParaRPr sz="3200" dirty="0">
              <a:latin typeface="Times New Roman"/>
              <a:cs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67425" y="4806594"/>
            <a:ext cx="9913200" cy="2418454"/>
          </a:xfrm>
          <a:prstGeom prst="rect">
            <a:avLst/>
          </a:prstGeom>
        </p:spPr>
      </p:pic>
      <p:sp>
        <p:nvSpPr>
          <p:cNvPr id="2" name="object 2"/>
          <p:cNvSpPr txBox="1">
            <a:spLocks noGrp="1"/>
          </p:cNvSpPr>
          <p:nvPr>
            <p:ph type="title"/>
          </p:nvPr>
        </p:nvSpPr>
        <p:spPr>
          <a:xfrm>
            <a:off x="489398" y="458655"/>
            <a:ext cx="7912730"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Metric to </a:t>
            </a:r>
            <a:r>
              <a:rPr lang="en-US" sz="4409" b="1" spc="-6" dirty="0">
                <a:solidFill>
                  <a:schemeClr val="bg1"/>
                </a:solidFill>
                <a:latin typeface="Times New Roman" panose="02020603050405020304" pitchFamily="18" charset="0"/>
                <a:cs typeface="Times New Roman" panose="02020603050405020304" pitchFamily="18" charset="0"/>
              </a:rPr>
              <a:t>D</a:t>
            </a:r>
            <a:r>
              <a:rPr sz="4409" b="1" spc="-6" dirty="0">
                <a:solidFill>
                  <a:schemeClr val="bg1"/>
                </a:solidFill>
                <a:latin typeface="Times New Roman" panose="02020603050405020304" pitchFamily="18" charset="0"/>
                <a:cs typeface="Times New Roman" panose="02020603050405020304" pitchFamily="18" charset="0"/>
              </a:rPr>
              <a:t>etermine</a:t>
            </a:r>
            <a:r>
              <a:rPr sz="4409" b="1" spc="6" dirty="0">
                <a:solidFill>
                  <a:schemeClr val="bg1"/>
                </a:solidFill>
                <a:latin typeface="Times New Roman" panose="02020603050405020304" pitchFamily="18" charset="0"/>
                <a:cs typeface="Times New Roman" panose="02020603050405020304" pitchFamily="18" charset="0"/>
              </a:rPr>
              <a:t> </a:t>
            </a:r>
            <a:r>
              <a:rPr lang="en-US" sz="4409" b="1" spc="-22" dirty="0">
                <a:solidFill>
                  <a:schemeClr val="bg1"/>
                </a:solidFill>
                <a:latin typeface="Times New Roman" panose="02020603050405020304" pitchFamily="18" charset="0"/>
                <a:cs typeface="Times New Roman" panose="02020603050405020304" pitchFamily="18" charset="0"/>
              </a:rPr>
              <a:t>R</a:t>
            </a:r>
            <a:r>
              <a:rPr sz="4409" b="1" spc="-22" dirty="0">
                <a:solidFill>
                  <a:schemeClr val="bg1"/>
                </a:solidFill>
                <a:latin typeface="Times New Roman" panose="02020603050405020304" pitchFamily="18" charset="0"/>
                <a:cs typeface="Times New Roman" panose="02020603050405020304" pitchFamily="18" charset="0"/>
              </a:rPr>
              <a:t>oute</a:t>
            </a:r>
            <a:endParaRPr sz="4409" b="1" dirty="0">
              <a:solidFill>
                <a:schemeClr val="bg1"/>
              </a:solidFill>
              <a:latin typeface="Times New Roman" panose="02020603050405020304" pitchFamily="18" charset="0"/>
              <a:cs typeface="Times New Roman" panose="02020603050405020304" pitchFamily="18" charset="0"/>
            </a:endParaRPr>
          </a:p>
        </p:txBody>
      </p:sp>
      <p:pic>
        <p:nvPicPr>
          <p:cNvPr id="5" name="object 5"/>
          <p:cNvPicPr/>
          <p:nvPr/>
        </p:nvPicPr>
        <p:blipFill>
          <a:blip r:embed="rId3" cstate="print"/>
          <a:stretch>
            <a:fillRect/>
          </a:stretch>
        </p:blipFill>
        <p:spPr>
          <a:xfrm>
            <a:off x="748786" y="1726209"/>
            <a:ext cx="8034606" cy="3386704"/>
          </a:xfrm>
          <a:prstGeom prst="rect">
            <a:avLst/>
          </a:prstGeom>
        </p:spPr>
      </p:pic>
    </p:spTree>
    <p:extLst>
      <p:ext uri="{BB962C8B-B14F-4D97-AF65-F5344CB8AC3E}">
        <p14:creationId xmlns:p14="http://schemas.microsoft.com/office/powerpoint/2010/main" val="42933460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3861" y="502040"/>
            <a:ext cx="9252902" cy="691244"/>
          </a:xfrm>
          <a:prstGeom prst="rect">
            <a:avLst/>
          </a:prstGeom>
        </p:spPr>
        <p:txBody>
          <a:bodyPr vert="horz" wrap="square" lIns="0" tIns="13999" rIns="0" bIns="0" rtlCol="0" anchor="ctr">
            <a:spAutoFit/>
          </a:bodyPr>
          <a:lstStyle/>
          <a:p>
            <a:pPr marL="13999">
              <a:lnSpc>
                <a:spcPct val="100000"/>
              </a:lnSpc>
              <a:spcBef>
                <a:spcPts val="110"/>
              </a:spcBef>
            </a:pPr>
            <a:r>
              <a:rPr b="1" spc="138" dirty="0">
                <a:solidFill>
                  <a:schemeClr val="bg1"/>
                </a:solidFill>
                <a:latin typeface="Times New Roman" panose="02020603050405020304" pitchFamily="18" charset="0"/>
                <a:cs typeface="Times New Roman" panose="02020603050405020304" pitchFamily="18" charset="0"/>
              </a:rPr>
              <a:t>Distance</a:t>
            </a:r>
            <a:r>
              <a:rPr b="1" spc="66" dirty="0">
                <a:solidFill>
                  <a:schemeClr val="bg1"/>
                </a:solidFill>
                <a:latin typeface="Times New Roman" panose="02020603050405020304" pitchFamily="18" charset="0"/>
                <a:cs typeface="Times New Roman" panose="02020603050405020304" pitchFamily="18" charset="0"/>
              </a:rPr>
              <a:t> </a:t>
            </a:r>
            <a:r>
              <a:rPr b="1" spc="61" dirty="0">
                <a:solidFill>
                  <a:schemeClr val="bg1"/>
                </a:solidFill>
                <a:latin typeface="Times New Roman" panose="02020603050405020304" pitchFamily="18" charset="0"/>
                <a:cs typeface="Times New Roman" panose="02020603050405020304" pitchFamily="18" charset="0"/>
              </a:rPr>
              <a:t>Vector</a:t>
            </a:r>
            <a:r>
              <a:rPr b="1" spc="88" dirty="0">
                <a:solidFill>
                  <a:schemeClr val="bg1"/>
                </a:solidFill>
                <a:latin typeface="Times New Roman" panose="02020603050405020304" pitchFamily="18" charset="0"/>
                <a:cs typeface="Times New Roman" panose="02020603050405020304" pitchFamily="18" charset="0"/>
              </a:rPr>
              <a:t> </a:t>
            </a:r>
            <a:r>
              <a:rPr b="1" spc="165" dirty="0">
                <a:solidFill>
                  <a:schemeClr val="bg1"/>
                </a:solidFill>
                <a:latin typeface="Times New Roman" panose="02020603050405020304" pitchFamily="18" charset="0"/>
                <a:cs typeface="Times New Roman" panose="02020603050405020304" pitchFamily="18" charset="0"/>
              </a:rPr>
              <a:t>Routing</a:t>
            </a:r>
            <a:r>
              <a:rPr b="1" spc="99" dirty="0">
                <a:solidFill>
                  <a:schemeClr val="bg1"/>
                </a:solidFill>
                <a:latin typeface="Times New Roman" panose="02020603050405020304" pitchFamily="18" charset="0"/>
                <a:cs typeface="Times New Roman" panose="02020603050405020304" pitchFamily="18" charset="0"/>
              </a:rPr>
              <a:t> </a:t>
            </a:r>
            <a:r>
              <a:rPr b="1" spc="110"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115910" y="1712655"/>
            <a:ext cx="9964715" cy="5255725"/>
          </a:xfrm>
          <a:prstGeom prst="rect">
            <a:avLst/>
          </a:prstGeom>
        </p:spPr>
        <p:txBody>
          <a:bodyPr vert="horz" wrap="square" lIns="0" tIns="86796" rIns="0" bIns="0" rtlCol="0">
            <a:spAutoFit/>
          </a:bodyPr>
          <a:lstStyle/>
          <a:p>
            <a:pPr marL="470499" marR="867251" indent="-457200">
              <a:spcBef>
                <a:spcPts val="683"/>
              </a:spcBef>
              <a:buClr>
                <a:srgbClr val="D24717"/>
              </a:buClr>
              <a:buSzPct val="84090"/>
              <a:buFont typeface="Wingdings" panose="05000000000000000000" pitchFamily="2" charset="2"/>
              <a:buChar char="Ø"/>
              <a:tabLst>
                <a:tab pos="315682" algn="l"/>
                <a:tab pos="316382" algn="l"/>
              </a:tabLst>
            </a:pPr>
            <a:r>
              <a:rPr sz="3200" spc="-22" dirty="0">
                <a:latin typeface="Times New Roman" panose="02020603050405020304" pitchFamily="18" charset="0"/>
                <a:cs typeface="Times New Roman" panose="02020603050405020304" pitchFamily="18" charset="0"/>
              </a:rPr>
              <a:t>The</a:t>
            </a:r>
            <a:r>
              <a:rPr sz="3200" spc="44"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distance</a:t>
            </a:r>
            <a:r>
              <a:rPr sz="3200" spc="66"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vector</a:t>
            </a:r>
            <a:r>
              <a:rPr sz="3200" spc="39"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routing</a:t>
            </a:r>
            <a:r>
              <a:rPr sz="3200" spc="39"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approach</a:t>
            </a:r>
            <a:r>
              <a:rPr sz="3200" spc="39"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determines</a:t>
            </a:r>
            <a:r>
              <a:rPr sz="3200" spc="55"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the</a:t>
            </a:r>
            <a:r>
              <a:rPr sz="3200" spc="55"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direction </a:t>
            </a:r>
            <a:r>
              <a:rPr sz="3200" spc="-568"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(vector)</a:t>
            </a:r>
            <a:r>
              <a:rPr sz="3200" spc="22"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and</a:t>
            </a:r>
            <a:r>
              <a:rPr sz="3200" spc="2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distance</a:t>
            </a:r>
            <a:r>
              <a:rPr sz="3200" spc="50"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to</a:t>
            </a:r>
            <a:r>
              <a:rPr sz="3200" spc="33"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any</a:t>
            </a:r>
            <a:r>
              <a:rPr sz="3200" spc="28"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link</a:t>
            </a:r>
            <a:r>
              <a:rPr sz="3200" spc="39"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in</a:t>
            </a:r>
            <a:r>
              <a:rPr sz="3200" spc="33"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the</a:t>
            </a:r>
            <a:r>
              <a:rPr sz="3200" spc="44"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internetwork.</a:t>
            </a:r>
            <a:endParaRPr sz="3200" dirty="0">
              <a:latin typeface="Times New Roman" panose="02020603050405020304" pitchFamily="18" charset="0"/>
              <a:cs typeface="Times New Roman" panose="02020603050405020304" pitchFamily="18" charset="0"/>
            </a:endParaRPr>
          </a:p>
          <a:p>
            <a:pPr marL="470499" marR="145592" indent="-457200">
              <a:spcBef>
                <a:spcPts val="645"/>
              </a:spcBef>
              <a:buClr>
                <a:srgbClr val="D24717"/>
              </a:buClr>
              <a:buSzPct val="84090"/>
              <a:buFont typeface="Wingdings" panose="05000000000000000000" pitchFamily="2" charset="2"/>
              <a:buChar char="Ø"/>
              <a:tabLst>
                <a:tab pos="315682" algn="l"/>
                <a:tab pos="316382" algn="l"/>
              </a:tabLst>
            </a:pPr>
            <a:r>
              <a:rPr sz="3200" spc="-44" dirty="0">
                <a:latin typeface="Times New Roman" panose="02020603050405020304" pitchFamily="18" charset="0"/>
                <a:cs typeface="Times New Roman" panose="02020603050405020304" pitchFamily="18" charset="0"/>
              </a:rPr>
              <a:t>Distance</a:t>
            </a:r>
            <a:r>
              <a:rPr sz="3200" spc="33"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vector</a:t>
            </a:r>
            <a:r>
              <a:rPr sz="3200" spc="2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routing</a:t>
            </a:r>
            <a:r>
              <a:rPr sz="3200" spc="2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algorithms</a:t>
            </a:r>
            <a:r>
              <a:rPr sz="3200" spc="28" dirty="0">
                <a:latin typeface="Times New Roman" panose="02020603050405020304" pitchFamily="18" charset="0"/>
                <a:cs typeface="Times New Roman" panose="02020603050405020304" pitchFamily="18" charset="0"/>
              </a:rPr>
              <a:t> </a:t>
            </a:r>
            <a:r>
              <a:rPr sz="3200" spc="-94" dirty="0">
                <a:latin typeface="Times New Roman" panose="02020603050405020304" pitchFamily="18" charset="0"/>
                <a:cs typeface="Times New Roman" panose="02020603050405020304" pitchFamily="18" charset="0"/>
              </a:rPr>
              <a:t>pass</a:t>
            </a:r>
            <a:r>
              <a:rPr sz="3200" spc="33"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periodic</a:t>
            </a:r>
            <a:r>
              <a:rPr sz="3200" spc="39"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copies</a:t>
            </a:r>
            <a:r>
              <a:rPr sz="3200" spc="44" dirty="0">
                <a:latin typeface="Times New Roman" panose="02020603050405020304" pitchFamily="18" charset="0"/>
                <a:cs typeface="Times New Roman" panose="02020603050405020304" pitchFamily="18" charset="0"/>
              </a:rPr>
              <a:t> </a:t>
            </a:r>
            <a:r>
              <a:rPr sz="3200" spc="-28" dirty="0">
                <a:latin typeface="Times New Roman" panose="02020603050405020304" pitchFamily="18" charset="0"/>
                <a:cs typeface="Times New Roman" panose="02020603050405020304" pitchFamily="18" charset="0"/>
              </a:rPr>
              <a:t>of</a:t>
            </a:r>
            <a:r>
              <a:rPr sz="3200" spc="287"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a</a:t>
            </a:r>
            <a:r>
              <a:rPr sz="3200" spc="44"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routing </a:t>
            </a:r>
            <a:r>
              <a:rPr sz="3200" spc="-568"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table</a:t>
            </a:r>
            <a:r>
              <a:rPr sz="3200" spc="33"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from</a:t>
            </a:r>
            <a:r>
              <a:rPr sz="3200" spc="39"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a:t>
            </a:r>
            <a:r>
              <a:rPr sz="3200" spc="28"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to</a:t>
            </a:r>
            <a:r>
              <a:rPr sz="3200" spc="28"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a:t>
            </a:r>
            <a:endParaRPr sz="3200" dirty="0">
              <a:latin typeface="Times New Roman" panose="02020603050405020304" pitchFamily="18" charset="0"/>
              <a:cs typeface="Times New Roman" panose="02020603050405020304" pitchFamily="18" charset="0"/>
            </a:endParaRPr>
          </a:p>
          <a:p>
            <a:pPr marL="470499" marR="818254" indent="-457200">
              <a:spcBef>
                <a:spcPts val="689"/>
              </a:spcBef>
              <a:buClr>
                <a:srgbClr val="D24717"/>
              </a:buClr>
              <a:buSzPct val="84090"/>
              <a:buFont typeface="Wingdings" panose="05000000000000000000" pitchFamily="2" charset="2"/>
              <a:buChar char="Ø"/>
              <a:tabLst>
                <a:tab pos="315682" algn="l"/>
                <a:tab pos="316382" algn="l"/>
              </a:tabLst>
            </a:pPr>
            <a:r>
              <a:rPr sz="3200" spc="-28" dirty="0">
                <a:latin typeface="Times New Roman" panose="02020603050405020304" pitchFamily="18" charset="0"/>
                <a:cs typeface="Times New Roman" panose="02020603050405020304" pitchFamily="18" charset="0"/>
              </a:rPr>
              <a:t>Each</a:t>
            </a:r>
            <a:r>
              <a:rPr sz="3200" spc="33"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receives</a:t>
            </a:r>
            <a:r>
              <a:rPr sz="3200" spc="61"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a</a:t>
            </a:r>
            <a:r>
              <a:rPr sz="3200" spc="33"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routing</a:t>
            </a:r>
            <a:r>
              <a:rPr sz="3200" spc="28"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table</a:t>
            </a:r>
            <a:r>
              <a:rPr sz="3200" spc="55"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from</a:t>
            </a:r>
            <a:r>
              <a:rPr sz="3200" spc="44" dirty="0">
                <a:latin typeface="Times New Roman" panose="02020603050405020304" pitchFamily="18" charset="0"/>
                <a:cs typeface="Times New Roman" panose="02020603050405020304" pitchFamily="18" charset="0"/>
              </a:rPr>
              <a:t> </a:t>
            </a:r>
            <a:r>
              <a:rPr sz="3200" spc="-94" dirty="0">
                <a:latin typeface="Times New Roman" panose="02020603050405020304" pitchFamily="18" charset="0"/>
                <a:cs typeface="Times New Roman" panose="02020603050405020304" pitchFamily="18" charset="0"/>
              </a:rPr>
              <a:t>its</a:t>
            </a:r>
            <a:r>
              <a:rPr sz="3200" spc="44"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directly</a:t>
            </a:r>
            <a:r>
              <a:rPr sz="3200" spc="44"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connected </a:t>
            </a:r>
            <a:r>
              <a:rPr sz="3200" spc="-56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neighbor</a:t>
            </a:r>
            <a:r>
              <a:rPr sz="3200" spc="11"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routers</a:t>
            </a:r>
            <a:endParaRPr sz="3200" dirty="0">
              <a:latin typeface="Times New Roman" panose="02020603050405020304" pitchFamily="18" charset="0"/>
              <a:cs typeface="Times New Roman" panose="02020603050405020304" pitchFamily="18" charset="0"/>
            </a:endParaRPr>
          </a:p>
          <a:p>
            <a:pPr marL="470499" marR="366779" indent="-457200">
              <a:spcBef>
                <a:spcPts val="645"/>
              </a:spcBef>
              <a:buClr>
                <a:srgbClr val="D24717"/>
              </a:buClr>
              <a:buSzPct val="84090"/>
              <a:buFont typeface="Wingdings" panose="05000000000000000000" pitchFamily="2" charset="2"/>
              <a:buChar char="Ø"/>
              <a:tabLst>
                <a:tab pos="315682" algn="l"/>
                <a:tab pos="316382" algn="l"/>
              </a:tabLst>
            </a:pPr>
            <a:r>
              <a:rPr sz="3200" spc="-22" dirty="0">
                <a:latin typeface="Times New Roman" panose="02020603050405020304" pitchFamily="18" charset="0"/>
                <a:cs typeface="Times New Roman" panose="02020603050405020304" pitchFamily="18" charset="0"/>
              </a:rPr>
              <a:t>The</a:t>
            </a:r>
            <a:r>
              <a:rPr sz="3200" spc="39"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algorithm</a:t>
            </a:r>
            <a:r>
              <a:rPr sz="3200" spc="39"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eventually</a:t>
            </a:r>
            <a:r>
              <a:rPr sz="3200" spc="44" dirty="0">
                <a:latin typeface="Times New Roman" panose="02020603050405020304" pitchFamily="18" charset="0"/>
                <a:cs typeface="Times New Roman" panose="02020603050405020304" pitchFamily="18" charset="0"/>
              </a:rPr>
              <a:t> </a:t>
            </a:r>
            <a:r>
              <a:rPr sz="3200" b="1" spc="-66" dirty="0">
                <a:solidFill>
                  <a:srgbClr val="FF0000"/>
                </a:solidFill>
                <a:latin typeface="Times New Roman" panose="02020603050405020304" pitchFamily="18" charset="0"/>
                <a:cs typeface="Times New Roman" panose="02020603050405020304" pitchFamily="18" charset="0"/>
              </a:rPr>
              <a:t>accumulates</a:t>
            </a:r>
            <a:r>
              <a:rPr sz="3200" b="1" spc="61" dirty="0">
                <a:solidFill>
                  <a:srgbClr val="FF0000"/>
                </a:solidFill>
                <a:latin typeface="Times New Roman" panose="02020603050405020304" pitchFamily="18" charset="0"/>
                <a:cs typeface="Times New Roman" panose="02020603050405020304" pitchFamily="18" charset="0"/>
              </a:rPr>
              <a:t> </a:t>
            </a:r>
            <a:r>
              <a:rPr sz="3200" b="1" spc="-66" dirty="0">
                <a:solidFill>
                  <a:srgbClr val="FF0000"/>
                </a:solidFill>
                <a:latin typeface="Times New Roman" panose="02020603050405020304" pitchFamily="18" charset="0"/>
                <a:cs typeface="Times New Roman" panose="02020603050405020304" pitchFamily="18" charset="0"/>
              </a:rPr>
              <a:t>network</a:t>
            </a:r>
            <a:r>
              <a:rPr sz="3200" b="1" spc="50" dirty="0">
                <a:solidFill>
                  <a:srgbClr val="FF0000"/>
                </a:solidFill>
                <a:latin typeface="Times New Roman" panose="02020603050405020304" pitchFamily="18" charset="0"/>
                <a:cs typeface="Times New Roman" panose="02020603050405020304" pitchFamily="18" charset="0"/>
              </a:rPr>
              <a:t> </a:t>
            </a:r>
            <a:r>
              <a:rPr sz="3200" b="1" spc="-83" dirty="0">
                <a:solidFill>
                  <a:srgbClr val="FF0000"/>
                </a:solidFill>
                <a:latin typeface="Times New Roman" panose="02020603050405020304" pitchFamily="18" charset="0"/>
                <a:cs typeface="Times New Roman" panose="02020603050405020304" pitchFamily="18" charset="0"/>
              </a:rPr>
              <a:t>distances</a:t>
            </a:r>
            <a:r>
              <a:rPr sz="3200" b="1" spc="61" dirty="0">
                <a:solidFill>
                  <a:srgbClr val="FF0000"/>
                </a:solidFill>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so</a:t>
            </a:r>
            <a:r>
              <a:rPr sz="3200" spc="39"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that</a:t>
            </a:r>
            <a:r>
              <a:rPr sz="3200" spc="39"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it </a:t>
            </a:r>
            <a:r>
              <a:rPr sz="3200" spc="-568"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can</a:t>
            </a:r>
            <a:r>
              <a:rPr sz="3200" spc="22"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maintain</a:t>
            </a:r>
            <a:r>
              <a:rPr sz="3200" spc="17"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a</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database</a:t>
            </a:r>
            <a:r>
              <a:rPr sz="3200" spc="39" dirty="0">
                <a:latin typeface="Times New Roman" panose="02020603050405020304" pitchFamily="18" charset="0"/>
                <a:cs typeface="Times New Roman" panose="02020603050405020304" pitchFamily="18" charset="0"/>
              </a:rPr>
              <a:t> </a:t>
            </a:r>
            <a:r>
              <a:rPr sz="3200" spc="-28" dirty="0">
                <a:latin typeface="Times New Roman" panose="02020603050405020304" pitchFamily="18" charset="0"/>
                <a:cs typeface="Times New Roman" panose="02020603050405020304" pitchFamily="18" charset="0"/>
              </a:rPr>
              <a:t>of</a:t>
            </a:r>
            <a:r>
              <a:rPr sz="3200" spc="276"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network</a:t>
            </a:r>
            <a:r>
              <a:rPr sz="3200" spc="55" dirty="0">
                <a:latin typeface="Times New Roman" panose="02020603050405020304" pitchFamily="18" charset="0"/>
                <a:cs typeface="Times New Roman" panose="02020603050405020304" pitchFamily="18" charset="0"/>
              </a:rPr>
              <a:t> </a:t>
            </a:r>
            <a:r>
              <a:rPr sz="3200" spc="-28" dirty="0">
                <a:latin typeface="Times New Roman" panose="02020603050405020304" pitchFamily="18" charset="0"/>
                <a:cs typeface="Times New Roman" panose="02020603050405020304" pitchFamily="18" charset="0"/>
              </a:rPr>
              <a:t>topology</a:t>
            </a:r>
            <a:r>
              <a:rPr sz="3200" spc="33"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information.</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3861" y="502040"/>
            <a:ext cx="9252902" cy="691244"/>
          </a:xfrm>
          <a:prstGeom prst="rect">
            <a:avLst/>
          </a:prstGeom>
        </p:spPr>
        <p:txBody>
          <a:bodyPr vert="horz" wrap="square" lIns="0" tIns="13999" rIns="0" bIns="0" rtlCol="0" anchor="ctr">
            <a:spAutoFit/>
          </a:bodyPr>
          <a:lstStyle/>
          <a:p>
            <a:pPr marL="13999">
              <a:lnSpc>
                <a:spcPct val="100000"/>
              </a:lnSpc>
              <a:spcBef>
                <a:spcPts val="110"/>
              </a:spcBef>
            </a:pPr>
            <a:r>
              <a:rPr b="1" spc="138" dirty="0">
                <a:solidFill>
                  <a:schemeClr val="bg1"/>
                </a:solidFill>
                <a:latin typeface="Times New Roman" panose="02020603050405020304" pitchFamily="18" charset="0"/>
                <a:cs typeface="Times New Roman" panose="02020603050405020304" pitchFamily="18" charset="0"/>
              </a:rPr>
              <a:t>Distance</a:t>
            </a:r>
            <a:r>
              <a:rPr b="1" spc="66" dirty="0">
                <a:solidFill>
                  <a:schemeClr val="bg1"/>
                </a:solidFill>
                <a:latin typeface="Times New Roman" panose="02020603050405020304" pitchFamily="18" charset="0"/>
                <a:cs typeface="Times New Roman" panose="02020603050405020304" pitchFamily="18" charset="0"/>
              </a:rPr>
              <a:t> </a:t>
            </a:r>
            <a:r>
              <a:rPr b="1" spc="61" dirty="0">
                <a:solidFill>
                  <a:schemeClr val="bg1"/>
                </a:solidFill>
                <a:latin typeface="Times New Roman" panose="02020603050405020304" pitchFamily="18" charset="0"/>
                <a:cs typeface="Times New Roman" panose="02020603050405020304" pitchFamily="18" charset="0"/>
              </a:rPr>
              <a:t>Vector</a:t>
            </a:r>
            <a:r>
              <a:rPr b="1" spc="88" dirty="0">
                <a:solidFill>
                  <a:schemeClr val="bg1"/>
                </a:solidFill>
                <a:latin typeface="Times New Roman" panose="02020603050405020304" pitchFamily="18" charset="0"/>
                <a:cs typeface="Times New Roman" panose="02020603050405020304" pitchFamily="18" charset="0"/>
              </a:rPr>
              <a:t> </a:t>
            </a:r>
            <a:r>
              <a:rPr b="1" spc="165" dirty="0">
                <a:solidFill>
                  <a:schemeClr val="bg1"/>
                </a:solidFill>
                <a:latin typeface="Times New Roman" panose="02020603050405020304" pitchFamily="18" charset="0"/>
                <a:cs typeface="Times New Roman" panose="02020603050405020304" pitchFamily="18" charset="0"/>
              </a:rPr>
              <a:t>Routing</a:t>
            </a:r>
            <a:r>
              <a:rPr b="1" spc="99" dirty="0">
                <a:solidFill>
                  <a:schemeClr val="bg1"/>
                </a:solidFill>
                <a:latin typeface="Times New Roman" panose="02020603050405020304" pitchFamily="18" charset="0"/>
                <a:cs typeface="Times New Roman" panose="02020603050405020304" pitchFamily="18" charset="0"/>
              </a:rPr>
              <a:t> </a:t>
            </a:r>
            <a:r>
              <a:rPr b="1" spc="110"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306751" y="1712655"/>
            <a:ext cx="9252902" cy="5114661"/>
          </a:xfrm>
          <a:prstGeom prst="rect">
            <a:avLst/>
          </a:prstGeom>
        </p:spPr>
        <p:txBody>
          <a:bodyPr vert="horz" wrap="square" lIns="0" tIns="86796" rIns="0" bIns="0" rtlCol="0">
            <a:spAutoFit/>
          </a:bodyPr>
          <a:lstStyle/>
          <a:p>
            <a:pPr marL="527649" marR="276484" indent="-514350">
              <a:spcBef>
                <a:spcPts val="667"/>
              </a:spcBef>
              <a:buClr>
                <a:srgbClr val="D24717"/>
              </a:buClr>
              <a:buSzPct val="84090"/>
              <a:buFont typeface="Wingdings" panose="05000000000000000000" pitchFamily="2" charset="2"/>
              <a:buChar char="Ø"/>
              <a:tabLst>
                <a:tab pos="315682" algn="l"/>
                <a:tab pos="316382" algn="l"/>
              </a:tabLst>
            </a:pPr>
            <a:r>
              <a:rPr sz="3200" spc="-77" dirty="0">
                <a:latin typeface="Times New Roman" panose="02020603050405020304" pitchFamily="18" charset="0"/>
                <a:cs typeface="Times New Roman" panose="02020603050405020304" pitchFamily="18" charset="0"/>
              </a:rPr>
              <a:t>However,</a:t>
            </a:r>
            <a:r>
              <a:rPr sz="3200" spc="39"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distance</a:t>
            </a:r>
            <a:r>
              <a:rPr sz="3200" spc="61"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vector</a:t>
            </a:r>
            <a:r>
              <a:rPr sz="3200" spc="39"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algorithms</a:t>
            </a:r>
            <a:r>
              <a:rPr sz="3200" spc="44" dirty="0">
                <a:latin typeface="Times New Roman" panose="02020603050405020304" pitchFamily="18" charset="0"/>
                <a:cs typeface="Times New Roman" panose="02020603050405020304" pitchFamily="18" charset="0"/>
              </a:rPr>
              <a:t> </a:t>
            </a:r>
            <a:r>
              <a:rPr sz="3200" b="1" spc="-39" dirty="0">
                <a:solidFill>
                  <a:srgbClr val="FF0000"/>
                </a:solidFill>
                <a:latin typeface="Times New Roman" panose="02020603050405020304" pitchFamily="18" charset="0"/>
                <a:cs typeface="Times New Roman" panose="02020603050405020304" pitchFamily="18" charset="0"/>
              </a:rPr>
              <a:t>do</a:t>
            </a:r>
            <a:r>
              <a:rPr sz="3200" b="1" spc="28" dirty="0">
                <a:solidFill>
                  <a:srgbClr val="FF0000"/>
                </a:solidFill>
                <a:latin typeface="Times New Roman" panose="02020603050405020304" pitchFamily="18" charset="0"/>
                <a:cs typeface="Times New Roman" panose="02020603050405020304" pitchFamily="18" charset="0"/>
              </a:rPr>
              <a:t> </a:t>
            </a:r>
            <a:r>
              <a:rPr sz="3200" b="1" spc="-72" dirty="0">
                <a:solidFill>
                  <a:srgbClr val="FF0000"/>
                </a:solidFill>
                <a:latin typeface="Times New Roman" panose="02020603050405020304" pitchFamily="18" charset="0"/>
                <a:cs typeface="Times New Roman" panose="02020603050405020304" pitchFamily="18" charset="0"/>
              </a:rPr>
              <a:t>not</a:t>
            </a:r>
            <a:r>
              <a:rPr sz="3200" b="1" spc="50" dirty="0">
                <a:solidFill>
                  <a:srgbClr val="FF0000"/>
                </a:solidFill>
                <a:latin typeface="Times New Roman" panose="02020603050405020304" pitchFamily="18" charset="0"/>
                <a:cs typeface="Times New Roman" panose="02020603050405020304" pitchFamily="18" charset="0"/>
              </a:rPr>
              <a:t> </a:t>
            </a:r>
            <a:r>
              <a:rPr sz="3200" b="1" spc="-22" dirty="0">
                <a:solidFill>
                  <a:srgbClr val="FF0000"/>
                </a:solidFill>
                <a:latin typeface="Times New Roman" panose="02020603050405020304" pitchFamily="18" charset="0"/>
                <a:cs typeface="Times New Roman" panose="02020603050405020304" pitchFamily="18" charset="0"/>
              </a:rPr>
              <a:t>allow</a:t>
            </a:r>
            <a:r>
              <a:rPr sz="3200" b="1" spc="44" dirty="0">
                <a:solidFill>
                  <a:srgbClr val="FF0000"/>
                </a:solidFill>
                <a:latin typeface="Times New Roman" panose="02020603050405020304" pitchFamily="18" charset="0"/>
                <a:cs typeface="Times New Roman" panose="02020603050405020304" pitchFamily="18" charset="0"/>
              </a:rPr>
              <a:t> </a:t>
            </a:r>
            <a:r>
              <a:rPr sz="3200" b="1" spc="-39" dirty="0">
                <a:solidFill>
                  <a:srgbClr val="FF0000"/>
                </a:solidFill>
                <a:latin typeface="Times New Roman" panose="02020603050405020304" pitchFamily="18" charset="0"/>
                <a:cs typeface="Times New Roman" panose="02020603050405020304" pitchFamily="18" charset="0"/>
              </a:rPr>
              <a:t>a</a:t>
            </a:r>
            <a:r>
              <a:rPr sz="3200" b="1" spc="28" dirty="0">
                <a:solidFill>
                  <a:srgbClr val="FF0000"/>
                </a:solidFill>
                <a:latin typeface="Times New Roman" panose="02020603050405020304" pitchFamily="18" charset="0"/>
                <a:cs typeface="Times New Roman" panose="02020603050405020304" pitchFamily="18" charset="0"/>
              </a:rPr>
              <a:t> </a:t>
            </a:r>
            <a:r>
              <a:rPr sz="3200" b="1" spc="-88" dirty="0">
                <a:solidFill>
                  <a:srgbClr val="FF0000"/>
                </a:solidFill>
                <a:latin typeface="Times New Roman" panose="02020603050405020304" pitchFamily="18" charset="0"/>
                <a:cs typeface="Times New Roman" panose="02020603050405020304" pitchFamily="18" charset="0"/>
              </a:rPr>
              <a:t>router</a:t>
            </a:r>
            <a:r>
              <a:rPr sz="3200" b="1" spc="39" dirty="0">
                <a:solidFill>
                  <a:srgbClr val="FF0000"/>
                </a:solidFill>
                <a:latin typeface="Times New Roman" panose="02020603050405020304" pitchFamily="18" charset="0"/>
                <a:cs typeface="Times New Roman" panose="02020603050405020304" pitchFamily="18" charset="0"/>
              </a:rPr>
              <a:t> </a:t>
            </a:r>
            <a:r>
              <a:rPr sz="3200" b="1" spc="-55" dirty="0">
                <a:solidFill>
                  <a:srgbClr val="FF0000"/>
                </a:solidFill>
                <a:latin typeface="Times New Roman" panose="02020603050405020304" pitchFamily="18" charset="0"/>
                <a:cs typeface="Times New Roman" panose="02020603050405020304" pitchFamily="18" charset="0"/>
              </a:rPr>
              <a:t>to</a:t>
            </a:r>
            <a:r>
              <a:rPr sz="3200" b="1" spc="44" dirty="0">
                <a:solidFill>
                  <a:srgbClr val="FF0000"/>
                </a:solidFill>
                <a:latin typeface="Times New Roman" panose="02020603050405020304" pitchFamily="18" charset="0"/>
                <a:cs typeface="Times New Roman" panose="02020603050405020304" pitchFamily="18" charset="0"/>
              </a:rPr>
              <a:t> </a:t>
            </a:r>
            <a:r>
              <a:rPr sz="3200" b="1" spc="-44" dirty="0">
                <a:solidFill>
                  <a:srgbClr val="FF0000"/>
                </a:solidFill>
                <a:latin typeface="Times New Roman" panose="02020603050405020304" pitchFamily="18" charset="0"/>
                <a:cs typeface="Times New Roman" panose="02020603050405020304" pitchFamily="18" charset="0"/>
              </a:rPr>
              <a:t>know </a:t>
            </a:r>
            <a:r>
              <a:rPr sz="3200" b="1" spc="-568" dirty="0">
                <a:solidFill>
                  <a:srgbClr val="FF0000"/>
                </a:solidFill>
                <a:latin typeface="Times New Roman" panose="02020603050405020304" pitchFamily="18" charset="0"/>
                <a:cs typeface="Times New Roman" panose="02020603050405020304" pitchFamily="18" charset="0"/>
              </a:rPr>
              <a:t> </a:t>
            </a:r>
            <a:r>
              <a:rPr sz="3200" b="1" spc="-83" dirty="0">
                <a:solidFill>
                  <a:srgbClr val="FF0000"/>
                </a:solidFill>
                <a:latin typeface="Times New Roman" panose="02020603050405020304" pitchFamily="18" charset="0"/>
                <a:cs typeface="Times New Roman" panose="02020603050405020304" pitchFamily="18" charset="0"/>
              </a:rPr>
              <a:t>the</a:t>
            </a:r>
            <a:r>
              <a:rPr sz="3200" b="1" spc="22" dirty="0">
                <a:solidFill>
                  <a:srgbClr val="FF0000"/>
                </a:solidFill>
                <a:latin typeface="Times New Roman" panose="02020603050405020304" pitchFamily="18" charset="0"/>
                <a:cs typeface="Times New Roman" panose="02020603050405020304" pitchFamily="18" charset="0"/>
              </a:rPr>
              <a:t> </a:t>
            </a:r>
            <a:r>
              <a:rPr sz="3200" b="1" spc="-50" dirty="0">
                <a:solidFill>
                  <a:srgbClr val="FF0000"/>
                </a:solidFill>
                <a:latin typeface="Times New Roman" panose="02020603050405020304" pitchFamily="18" charset="0"/>
                <a:cs typeface="Times New Roman" panose="02020603050405020304" pitchFamily="18" charset="0"/>
              </a:rPr>
              <a:t>exact</a:t>
            </a:r>
            <a:r>
              <a:rPr sz="3200" b="1" spc="55" dirty="0">
                <a:solidFill>
                  <a:srgbClr val="FF0000"/>
                </a:solidFill>
                <a:latin typeface="Times New Roman" panose="02020603050405020304" pitchFamily="18" charset="0"/>
                <a:cs typeface="Times New Roman" panose="02020603050405020304" pitchFamily="18" charset="0"/>
              </a:rPr>
              <a:t> </a:t>
            </a:r>
            <a:r>
              <a:rPr sz="3200" b="1" spc="-28" dirty="0">
                <a:solidFill>
                  <a:srgbClr val="FF0000"/>
                </a:solidFill>
                <a:latin typeface="Times New Roman" panose="02020603050405020304" pitchFamily="18" charset="0"/>
                <a:cs typeface="Times New Roman" panose="02020603050405020304" pitchFamily="18" charset="0"/>
              </a:rPr>
              <a:t>topology</a:t>
            </a:r>
            <a:r>
              <a:rPr sz="3200" b="1" spc="39" dirty="0">
                <a:solidFill>
                  <a:srgbClr val="FF0000"/>
                </a:solidFill>
                <a:latin typeface="Times New Roman" panose="02020603050405020304" pitchFamily="18" charset="0"/>
                <a:cs typeface="Times New Roman" panose="02020603050405020304" pitchFamily="18" charset="0"/>
              </a:rPr>
              <a:t> </a:t>
            </a:r>
            <a:r>
              <a:rPr sz="3200" spc="-28" dirty="0">
                <a:latin typeface="Times New Roman" panose="02020603050405020304" pitchFamily="18" charset="0"/>
                <a:cs typeface="Times New Roman" panose="02020603050405020304" pitchFamily="18" charset="0"/>
              </a:rPr>
              <a:t>of</a:t>
            </a:r>
            <a:r>
              <a:rPr sz="3200" spc="287"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an</a:t>
            </a:r>
            <a:r>
              <a:rPr sz="3200" spc="2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internetwork</a:t>
            </a:r>
            <a:r>
              <a:rPr sz="3200" spc="55"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as</a:t>
            </a:r>
            <a:r>
              <a:rPr sz="3200" spc="33"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each</a:t>
            </a:r>
            <a:r>
              <a:rPr sz="3200" spc="44"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a:t>
            </a:r>
            <a:r>
              <a:rPr sz="3200" spc="33" dirty="0">
                <a:latin typeface="Times New Roman" panose="02020603050405020304" pitchFamily="18" charset="0"/>
                <a:cs typeface="Times New Roman" panose="02020603050405020304" pitchFamily="18" charset="0"/>
              </a:rPr>
              <a:t> </a:t>
            </a:r>
            <a:r>
              <a:rPr sz="3200" b="1" spc="-39" dirty="0">
                <a:solidFill>
                  <a:srgbClr val="FF0000"/>
                </a:solidFill>
                <a:latin typeface="Times New Roman" panose="02020603050405020304" pitchFamily="18" charset="0"/>
                <a:cs typeface="Times New Roman" panose="02020603050405020304" pitchFamily="18" charset="0"/>
              </a:rPr>
              <a:t>only</a:t>
            </a:r>
            <a:r>
              <a:rPr sz="3200" b="1" spc="39" dirty="0">
                <a:solidFill>
                  <a:srgbClr val="FF0000"/>
                </a:solidFill>
                <a:latin typeface="Times New Roman" panose="02020603050405020304" pitchFamily="18" charset="0"/>
                <a:cs typeface="Times New Roman" panose="02020603050405020304" pitchFamily="18" charset="0"/>
              </a:rPr>
              <a:t> </a:t>
            </a:r>
            <a:r>
              <a:rPr sz="3200" b="1" spc="-94" dirty="0">
                <a:solidFill>
                  <a:srgbClr val="FF0000"/>
                </a:solidFill>
                <a:latin typeface="Times New Roman" panose="02020603050405020304" pitchFamily="18" charset="0"/>
                <a:cs typeface="Times New Roman" panose="02020603050405020304" pitchFamily="18" charset="0"/>
              </a:rPr>
              <a:t>sees</a:t>
            </a:r>
            <a:r>
              <a:rPr sz="3200" b="1" spc="61" dirty="0">
                <a:solidFill>
                  <a:srgbClr val="FF0000"/>
                </a:solidFill>
                <a:latin typeface="Times New Roman" panose="02020603050405020304" pitchFamily="18" charset="0"/>
                <a:cs typeface="Times New Roman" panose="02020603050405020304" pitchFamily="18" charset="0"/>
              </a:rPr>
              <a:t> </a:t>
            </a:r>
            <a:r>
              <a:rPr sz="3200" b="1" spc="-94" dirty="0">
                <a:solidFill>
                  <a:srgbClr val="FF0000"/>
                </a:solidFill>
                <a:latin typeface="Times New Roman" panose="02020603050405020304" pitchFamily="18" charset="0"/>
                <a:cs typeface="Times New Roman" panose="02020603050405020304" pitchFamily="18" charset="0"/>
              </a:rPr>
              <a:t>its </a:t>
            </a:r>
            <a:r>
              <a:rPr sz="3200" b="1" spc="-88" dirty="0">
                <a:solidFill>
                  <a:srgbClr val="FF0000"/>
                </a:solidFill>
                <a:latin typeface="Times New Roman" panose="02020603050405020304" pitchFamily="18" charset="0"/>
                <a:cs typeface="Times New Roman" panose="02020603050405020304" pitchFamily="18" charset="0"/>
              </a:rPr>
              <a:t> </a:t>
            </a:r>
            <a:r>
              <a:rPr sz="3200" b="1" spc="-72" dirty="0">
                <a:solidFill>
                  <a:srgbClr val="FF0000"/>
                </a:solidFill>
                <a:latin typeface="Times New Roman" panose="02020603050405020304" pitchFamily="18" charset="0"/>
                <a:cs typeface="Times New Roman" panose="02020603050405020304" pitchFamily="18" charset="0"/>
              </a:rPr>
              <a:t>neighbor</a:t>
            </a:r>
            <a:r>
              <a:rPr sz="3200" b="1" spc="11" dirty="0">
                <a:solidFill>
                  <a:srgbClr val="FF0000"/>
                </a:solidFill>
                <a:latin typeface="Times New Roman" panose="02020603050405020304" pitchFamily="18" charset="0"/>
                <a:cs typeface="Times New Roman" panose="02020603050405020304" pitchFamily="18" charset="0"/>
              </a:rPr>
              <a:t> </a:t>
            </a:r>
            <a:r>
              <a:rPr sz="3200" b="1" spc="-88" dirty="0">
                <a:solidFill>
                  <a:srgbClr val="FF0000"/>
                </a:solidFill>
                <a:latin typeface="Times New Roman" panose="02020603050405020304" pitchFamily="18" charset="0"/>
                <a:cs typeface="Times New Roman" panose="02020603050405020304" pitchFamily="18" charset="0"/>
              </a:rPr>
              <a:t>routers</a:t>
            </a:r>
            <a:r>
              <a:rPr lang="en-US" sz="3200" spc="-88"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a:p>
            <a:pPr marL="528349" indent="-514350">
              <a:spcBef>
                <a:spcPts val="105"/>
              </a:spcBef>
              <a:buClr>
                <a:srgbClr val="D24717"/>
              </a:buClr>
              <a:buSzPct val="84090"/>
              <a:buFont typeface="Wingdings" panose="05000000000000000000" pitchFamily="2" charset="2"/>
              <a:buChar char="Ø"/>
              <a:tabLst>
                <a:tab pos="315682" algn="l"/>
                <a:tab pos="316382" algn="l"/>
              </a:tabLst>
            </a:pPr>
            <a:r>
              <a:rPr sz="3200" spc="-28" dirty="0">
                <a:latin typeface="Times New Roman" panose="02020603050405020304" pitchFamily="18" charset="0"/>
                <a:cs typeface="Times New Roman" panose="02020603050405020304" pitchFamily="18" charset="0"/>
              </a:rPr>
              <a:t>Each</a:t>
            </a:r>
            <a:r>
              <a:rPr sz="3200" spc="22"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a:t>
            </a:r>
            <a:r>
              <a:rPr sz="3200" spc="33"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that</a:t>
            </a:r>
            <a:r>
              <a:rPr sz="3200" spc="44" dirty="0">
                <a:latin typeface="Times New Roman" panose="02020603050405020304" pitchFamily="18" charset="0"/>
                <a:cs typeface="Times New Roman" panose="02020603050405020304" pitchFamily="18" charset="0"/>
              </a:rPr>
              <a:t> </a:t>
            </a:r>
            <a:r>
              <a:rPr sz="3200" spc="-94" dirty="0">
                <a:latin typeface="Times New Roman" panose="02020603050405020304" pitchFamily="18" charset="0"/>
                <a:cs typeface="Times New Roman" panose="02020603050405020304" pitchFamily="18" charset="0"/>
              </a:rPr>
              <a:t>uses</a:t>
            </a:r>
            <a:r>
              <a:rPr sz="3200" spc="55"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distance</a:t>
            </a:r>
            <a:r>
              <a:rPr sz="3200" spc="50"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vector</a:t>
            </a:r>
            <a:r>
              <a:rPr sz="3200" spc="39"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routing</a:t>
            </a:r>
            <a:r>
              <a:rPr sz="3200" spc="33"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begins</a:t>
            </a:r>
            <a:r>
              <a:rPr sz="3200" spc="61" dirty="0">
                <a:latin typeface="Times New Roman" panose="02020603050405020304" pitchFamily="18" charset="0"/>
                <a:cs typeface="Times New Roman" panose="02020603050405020304" pitchFamily="18" charset="0"/>
              </a:rPr>
              <a:t> </a:t>
            </a:r>
            <a:r>
              <a:rPr sz="3200" spc="-44" dirty="0">
                <a:latin typeface="Times New Roman" panose="02020603050405020304" pitchFamily="18" charset="0"/>
                <a:cs typeface="Times New Roman" panose="02020603050405020304" pitchFamily="18" charset="0"/>
              </a:rPr>
              <a:t>by</a:t>
            </a:r>
            <a:r>
              <a:rPr sz="3200" spc="39"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identifying</a:t>
            </a:r>
            <a:r>
              <a:rPr sz="3200" spc="50"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its</a:t>
            </a:r>
            <a:r>
              <a:rPr lang="en-US" sz="3200"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own</a:t>
            </a:r>
            <a:r>
              <a:rPr sz="3200" spc="-22"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neighbor</a:t>
            </a:r>
            <a:r>
              <a:rPr lang="en-US" sz="3200" spc="-77"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a:p>
            <a:pPr marL="527649" marR="305183" indent="-514350">
              <a:spcBef>
                <a:spcPts val="661"/>
              </a:spcBef>
              <a:buClr>
                <a:srgbClr val="D24717"/>
              </a:buClr>
              <a:buSzPct val="84090"/>
              <a:buFont typeface="Wingdings" panose="05000000000000000000" pitchFamily="2" charset="2"/>
              <a:buChar char="Ø"/>
              <a:tabLst>
                <a:tab pos="315682" algn="l"/>
                <a:tab pos="316382" algn="l"/>
              </a:tabLst>
            </a:pPr>
            <a:r>
              <a:rPr sz="3200" spc="61" dirty="0">
                <a:latin typeface="Times New Roman" panose="02020603050405020304" pitchFamily="18" charset="0"/>
                <a:cs typeface="Times New Roman" panose="02020603050405020304" pitchFamily="18" charset="0"/>
              </a:rPr>
              <a:t>As</a:t>
            </a:r>
            <a:r>
              <a:rPr sz="3200" spc="33"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the</a:t>
            </a:r>
            <a:r>
              <a:rPr sz="3200" spc="55"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distance</a:t>
            </a:r>
            <a:r>
              <a:rPr sz="3200" spc="61"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vector</a:t>
            </a:r>
            <a:r>
              <a:rPr sz="3200" spc="39"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network</a:t>
            </a:r>
            <a:r>
              <a:rPr sz="3200" spc="55"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discovery</a:t>
            </a:r>
            <a:r>
              <a:rPr sz="3200" spc="44"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process</a:t>
            </a:r>
            <a:r>
              <a:rPr sz="3200" spc="61"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proceeds,</a:t>
            </a:r>
            <a:r>
              <a:rPr sz="3200" spc="66"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routers </a:t>
            </a:r>
            <a:r>
              <a:rPr sz="3200" spc="-56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discover</a:t>
            </a:r>
            <a:r>
              <a:rPr sz="3200" spc="28"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the</a:t>
            </a:r>
            <a:r>
              <a:rPr sz="3200" spc="44" dirty="0">
                <a:latin typeface="Times New Roman" panose="02020603050405020304" pitchFamily="18" charset="0"/>
                <a:cs typeface="Times New Roman" panose="02020603050405020304" pitchFamily="18" charset="0"/>
              </a:rPr>
              <a:t> </a:t>
            </a:r>
            <a:r>
              <a:rPr sz="3200" spc="-110" dirty="0">
                <a:latin typeface="Times New Roman" panose="02020603050405020304" pitchFamily="18" charset="0"/>
                <a:cs typeface="Times New Roman" panose="02020603050405020304" pitchFamily="18" charset="0"/>
              </a:rPr>
              <a:t>best</a:t>
            </a:r>
            <a:r>
              <a:rPr sz="3200" spc="55"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path</a:t>
            </a:r>
            <a:r>
              <a:rPr sz="3200" spc="28"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to</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destination</a:t>
            </a:r>
            <a:r>
              <a:rPr sz="3200" spc="66"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networks</a:t>
            </a:r>
            <a:r>
              <a:rPr sz="3200" spc="50" dirty="0">
                <a:latin typeface="Times New Roman" panose="02020603050405020304" pitchFamily="18" charset="0"/>
                <a:cs typeface="Times New Roman" panose="02020603050405020304" pitchFamily="18" charset="0"/>
              </a:rPr>
              <a:t> </a:t>
            </a:r>
            <a:r>
              <a:rPr sz="3200" spc="-88" dirty="0">
                <a:latin typeface="Times New Roman" panose="02020603050405020304" pitchFamily="18" charset="0"/>
                <a:cs typeface="Times New Roman" panose="02020603050405020304" pitchFamily="18" charset="0"/>
              </a:rPr>
              <a:t>based</a:t>
            </a:r>
            <a:r>
              <a:rPr sz="3200" spc="44"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on</a:t>
            </a:r>
            <a:r>
              <a:rPr sz="3200" spc="28"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the </a:t>
            </a:r>
            <a:r>
              <a:rPr sz="3200" spc="-77"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information</a:t>
            </a:r>
            <a:r>
              <a:rPr sz="3200" spc="-6"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they</a:t>
            </a:r>
            <a:r>
              <a:rPr sz="3200" spc="50"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receive</a:t>
            </a:r>
            <a:r>
              <a:rPr sz="3200" spc="2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from</a:t>
            </a:r>
            <a:r>
              <a:rPr sz="3200" spc="39"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each</a:t>
            </a:r>
            <a:r>
              <a:rPr sz="3200" spc="28"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neighbor</a:t>
            </a:r>
            <a:r>
              <a:rPr lang="en-US" sz="3200" spc="-72"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4930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0456" y="563927"/>
            <a:ext cx="9090509" cy="691244"/>
          </a:xfrm>
          <a:prstGeom prst="rect">
            <a:avLst/>
          </a:prstGeom>
        </p:spPr>
        <p:txBody>
          <a:bodyPr vert="horz" wrap="square" lIns="0" tIns="13999" rIns="0" bIns="0" rtlCol="0" anchor="ctr">
            <a:spAutoFit/>
          </a:bodyPr>
          <a:lstStyle/>
          <a:p>
            <a:pPr marL="13999">
              <a:lnSpc>
                <a:spcPct val="100000"/>
              </a:lnSpc>
              <a:spcBef>
                <a:spcPts val="110"/>
              </a:spcBef>
            </a:pPr>
            <a:r>
              <a:rPr b="1" spc="138" dirty="0">
                <a:solidFill>
                  <a:schemeClr val="bg1"/>
                </a:solidFill>
                <a:latin typeface="Times New Roman" panose="02020603050405020304" pitchFamily="18" charset="0"/>
                <a:cs typeface="Times New Roman" panose="02020603050405020304" pitchFamily="18" charset="0"/>
              </a:rPr>
              <a:t>Distance</a:t>
            </a:r>
            <a:r>
              <a:rPr b="1" spc="66" dirty="0">
                <a:solidFill>
                  <a:schemeClr val="bg1"/>
                </a:solidFill>
                <a:latin typeface="Times New Roman" panose="02020603050405020304" pitchFamily="18" charset="0"/>
                <a:cs typeface="Times New Roman" panose="02020603050405020304" pitchFamily="18" charset="0"/>
              </a:rPr>
              <a:t> </a:t>
            </a:r>
            <a:r>
              <a:rPr b="1" spc="61" dirty="0">
                <a:solidFill>
                  <a:schemeClr val="bg1"/>
                </a:solidFill>
                <a:latin typeface="Times New Roman" panose="02020603050405020304" pitchFamily="18" charset="0"/>
                <a:cs typeface="Times New Roman" panose="02020603050405020304" pitchFamily="18" charset="0"/>
              </a:rPr>
              <a:t>Vector</a:t>
            </a:r>
            <a:r>
              <a:rPr b="1" spc="88" dirty="0">
                <a:solidFill>
                  <a:schemeClr val="bg1"/>
                </a:solidFill>
                <a:latin typeface="Times New Roman" panose="02020603050405020304" pitchFamily="18" charset="0"/>
                <a:cs typeface="Times New Roman" panose="02020603050405020304" pitchFamily="18" charset="0"/>
              </a:rPr>
              <a:t> </a:t>
            </a:r>
            <a:r>
              <a:rPr b="1" spc="165" dirty="0">
                <a:solidFill>
                  <a:schemeClr val="bg1"/>
                </a:solidFill>
                <a:latin typeface="Times New Roman" panose="02020603050405020304" pitchFamily="18" charset="0"/>
                <a:cs typeface="Times New Roman" panose="02020603050405020304" pitchFamily="18" charset="0"/>
              </a:rPr>
              <a:t>Routing</a:t>
            </a:r>
            <a:r>
              <a:rPr b="1" spc="83" dirty="0">
                <a:solidFill>
                  <a:schemeClr val="bg1"/>
                </a:solidFill>
                <a:latin typeface="Times New Roman" panose="02020603050405020304" pitchFamily="18" charset="0"/>
                <a:cs typeface="Times New Roman" panose="02020603050405020304" pitchFamily="18" charset="0"/>
              </a:rPr>
              <a:t> </a:t>
            </a:r>
            <a:r>
              <a:rPr b="1" spc="110"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423311" y="1869563"/>
            <a:ext cx="9090509" cy="3059266"/>
          </a:xfrm>
          <a:prstGeom prst="rect">
            <a:avLst/>
          </a:prstGeom>
        </p:spPr>
        <p:txBody>
          <a:bodyPr vert="horz" wrap="square" lIns="0" tIns="14699" rIns="0" bIns="0" rtlCol="0">
            <a:spAutoFit/>
          </a:bodyPr>
          <a:lstStyle/>
          <a:p>
            <a:pPr marL="470499" marR="281384" indent="-457200">
              <a:spcBef>
                <a:spcPts val="116"/>
              </a:spcBef>
              <a:buClr>
                <a:srgbClr val="D24717"/>
              </a:buClr>
              <a:buSzPct val="84375"/>
              <a:buFont typeface="Wingdings" panose="05000000000000000000" pitchFamily="2" charset="2"/>
              <a:buChar char="Ø"/>
              <a:tabLst>
                <a:tab pos="316382" algn="l"/>
              </a:tabLst>
            </a:pPr>
            <a:r>
              <a:rPr sz="3200" b="1" dirty="0">
                <a:solidFill>
                  <a:srgbClr val="FF0000"/>
                </a:solidFill>
                <a:latin typeface="Times New Roman" panose="02020603050405020304" pitchFamily="18" charset="0"/>
                <a:cs typeface="Times New Roman" panose="02020603050405020304" pitchFamily="18" charset="0"/>
              </a:rPr>
              <a:t>Distance vector </a:t>
            </a:r>
            <a:r>
              <a:rPr sz="3200" b="1" spc="-6" dirty="0">
                <a:solidFill>
                  <a:srgbClr val="FF0000"/>
                </a:solidFill>
                <a:latin typeface="Times New Roman" panose="02020603050405020304" pitchFamily="18" charset="0"/>
                <a:cs typeface="Times New Roman" panose="02020603050405020304" pitchFamily="18" charset="0"/>
              </a:rPr>
              <a:t>routing </a:t>
            </a:r>
            <a:r>
              <a:rPr sz="3200" b="1" dirty="0">
                <a:solidFill>
                  <a:srgbClr val="FF0000"/>
                </a:solidFill>
                <a:latin typeface="Times New Roman" panose="02020603050405020304" pitchFamily="18" charset="0"/>
                <a:cs typeface="Times New Roman" panose="02020603050405020304" pitchFamily="18" charset="0"/>
              </a:rPr>
              <a:t>protocols </a:t>
            </a:r>
            <a:r>
              <a:rPr sz="3200" dirty="0">
                <a:latin typeface="Times New Roman" panose="02020603050405020304" pitchFamily="18" charset="0"/>
                <a:cs typeface="Times New Roman" panose="02020603050405020304" pitchFamily="18" charset="0"/>
              </a:rPr>
              <a:t>advertise a </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small</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amount</a:t>
            </a:r>
            <a:r>
              <a:rPr sz="3200" spc="-5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of</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simple</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information</a:t>
            </a:r>
            <a:r>
              <a:rPr sz="3200" spc="-5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about</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each </a:t>
            </a:r>
            <a:r>
              <a:rPr sz="3200" spc="-8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subnet</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to </a:t>
            </a:r>
            <a:r>
              <a:rPr sz="3200" spc="-6" dirty="0">
                <a:latin typeface="Times New Roman" panose="02020603050405020304" pitchFamily="18" charset="0"/>
                <a:cs typeface="Times New Roman" panose="02020603050405020304" pitchFamily="18" charset="0"/>
              </a:rPr>
              <a:t>their</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neighbors.</a:t>
            </a:r>
          </a:p>
          <a:p>
            <a:pPr marL="470499" marR="5600" indent="-457200">
              <a:spcBef>
                <a:spcPts val="661"/>
              </a:spcBef>
              <a:buClr>
                <a:srgbClr val="D24717"/>
              </a:buClr>
              <a:buSzPct val="84375"/>
              <a:buFont typeface="Wingdings" panose="05000000000000000000" pitchFamily="2" charset="2"/>
              <a:buChar char="Ø"/>
              <a:tabLst>
                <a:tab pos="316382" algn="l"/>
              </a:tabLst>
            </a:pPr>
            <a:r>
              <a:rPr sz="3200" dirty="0">
                <a:latin typeface="Times New Roman" panose="02020603050405020304" pitchFamily="18" charset="0"/>
                <a:cs typeface="Times New Roman" panose="02020603050405020304" pitchFamily="18" charset="0"/>
              </a:rPr>
              <a:t>Their</a:t>
            </a:r>
            <a:r>
              <a:rPr sz="3200" spc="-39" dirty="0">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neighbors</a:t>
            </a:r>
            <a:r>
              <a:rPr sz="3200" b="1" spc="-39"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in</a:t>
            </a:r>
            <a:r>
              <a:rPr sz="3200" b="1" spc="-17"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turn</a:t>
            </a:r>
            <a:r>
              <a:rPr sz="3200" b="1" spc="-17"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advertise</a:t>
            </a:r>
            <a:r>
              <a:rPr sz="3200" b="1" spc="-22"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the</a:t>
            </a:r>
            <a:r>
              <a:rPr sz="3200" b="1" spc="-11"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information </a:t>
            </a:r>
            <a:r>
              <a:rPr sz="3200" b="1" spc="-865"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to their neighbors</a:t>
            </a:r>
            <a:r>
              <a:rPr sz="3200" dirty="0">
                <a:latin typeface="Times New Roman" panose="02020603050405020304" pitchFamily="18" charset="0"/>
                <a:cs typeface="Times New Roman" panose="02020603050405020304" pitchFamily="18" charset="0"/>
              </a:rPr>
              <a:t>, and so on, until all routers </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have</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learned</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 information.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5780" y="370819"/>
            <a:ext cx="7365923"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How RIP</a:t>
            </a:r>
            <a:r>
              <a:rPr b="1" spc="-44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Advertises Routes</a:t>
            </a:r>
          </a:p>
        </p:txBody>
      </p:sp>
      <p:sp>
        <p:nvSpPr>
          <p:cNvPr id="3" name="object 3"/>
          <p:cNvSpPr txBox="1"/>
          <p:nvPr/>
        </p:nvSpPr>
        <p:spPr>
          <a:xfrm>
            <a:off x="5040313" y="1647125"/>
            <a:ext cx="5040312" cy="4546536"/>
          </a:xfrm>
          <a:prstGeom prst="rect">
            <a:avLst/>
          </a:prstGeom>
        </p:spPr>
        <p:txBody>
          <a:bodyPr vert="horz" wrap="square" lIns="0" tIns="76997" rIns="0" bIns="0" rtlCol="0">
            <a:spAutoFit/>
          </a:bodyPr>
          <a:lstStyle/>
          <a:p>
            <a:pPr marL="356899" marR="544569" indent="-342900">
              <a:lnSpc>
                <a:spcPct val="80000"/>
              </a:lnSpc>
              <a:spcBef>
                <a:spcPts val="606"/>
              </a:spcBef>
              <a:buClr>
                <a:srgbClr val="D24717"/>
              </a:buClr>
              <a:buSzPct val="84210"/>
              <a:buFont typeface="Wingdings" panose="05000000000000000000" pitchFamily="2" charset="2"/>
              <a:buChar char="Ø"/>
              <a:tabLst>
                <a:tab pos="315682" algn="l"/>
                <a:tab pos="316382" algn="l"/>
              </a:tabLst>
            </a:pPr>
            <a:r>
              <a:rPr sz="2094" spc="-6" dirty="0">
                <a:latin typeface="Times New Roman"/>
                <a:cs typeface="Times New Roman"/>
              </a:rPr>
              <a:t>Router</a:t>
            </a:r>
            <a:r>
              <a:rPr sz="2094" spc="-22" dirty="0">
                <a:latin typeface="Times New Roman"/>
                <a:cs typeface="Times New Roman"/>
              </a:rPr>
              <a:t> </a:t>
            </a:r>
            <a:r>
              <a:rPr sz="2094" spc="-6" dirty="0">
                <a:latin typeface="Times New Roman"/>
                <a:cs typeface="Times New Roman"/>
              </a:rPr>
              <a:t>R2</a:t>
            </a:r>
            <a:r>
              <a:rPr sz="2094" spc="-11" dirty="0">
                <a:latin typeface="Times New Roman"/>
                <a:cs typeface="Times New Roman"/>
              </a:rPr>
              <a:t> </a:t>
            </a:r>
            <a:r>
              <a:rPr sz="2094" spc="-6" dirty="0">
                <a:latin typeface="Times New Roman"/>
                <a:cs typeface="Times New Roman"/>
              </a:rPr>
              <a:t>learns</a:t>
            </a:r>
            <a:r>
              <a:rPr sz="2094" spc="-17" dirty="0">
                <a:latin typeface="Times New Roman"/>
                <a:cs typeface="Times New Roman"/>
              </a:rPr>
              <a:t> </a:t>
            </a:r>
            <a:r>
              <a:rPr sz="2094" spc="-6" dirty="0">
                <a:latin typeface="Times New Roman"/>
                <a:cs typeface="Times New Roman"/>
              </a:rPr>
              <a:t>a</a:t>
            </a:r>
            <a:r>
              <a:rPr sz="2094" spc="-11" dirty="0">
                <a:latin typeface="Times New Roman"/>
                <a:cs typeface="Times New Roman"/>
              </a:rPr>
              <a:t> </a:t>
            </a:r>
            <a:r>
              <a:rPr sz="2094" spc="-6" dirty="0">
                <a:latin typeface="Times New Roman"/>
                <a:cs typeface="Times New Roman"/>
              </a:rPr>
              <a:t>connected </a:t>
            </a:r>
            <a:r>
              <a:rPr sz="2094" spc="-506" dirty="0">
                <a:latin typeface="Times New Roman"/>
                <a:cs typeface="Times New Roman"/>
              </a:rPr>
              <a:t> </a:t>
            </a:r>
            <a:r>
              <a:rPr sz="2094" spc="-6" dirty="0">
                <a:latin typeface="Times New Roman"/>
                <a:cs typeface="Times New Roman"/>
              </a:rPr>
              <a:t>route</a:t>
            </a:r>
            <a:r>
              <a:rPr sz="2094" spc="-11" dirty="0">
                <a:latin typeface="Times New Roman"/>
                <a:cs typeface="Times New Roman"/>
              </a:rPr>
              <a:t> </a:t>
            </a:r>
            <a:r>
              <a:rPr sz="2094" spc="-6" dirty="0">
                <a:latin typeface="Times New Roman"/>
                <a:cs typeface="Times New Roman"/>
              </a:rPr>
              <a:t>for</a:t>
            </a:r>
            <a:r>
              <a:rPr sz="2094" dirty="0">
                <a:latin typeface="Times New Roman"/>
                <a:cs typeface="Times New Roman"/>
              </a:rPr>
              <a:t> </a:t>
            </a:r>
            <a:r>
              <a:rPr sz="2094" spc="-6" dirty="0">
                <a:latin typeface="Times New Roman"/>
                <a:cs typeface="Times New Roman"/>
              </a:rPr>
              <a:t>subnet</a:t>
            </a:r>
            <a:r>
              <a:rPr sz="2094" dirty="0">
                <a:latin typeface="Times New Roman"/>
                <a:cs typeface="Times New Roman"/>
              </a:rPr>
              <a:t> </a:t>
            </a:r>
            <a:r>
              <a:rPr sz="2094" spc="-6" dirty="0">
                <a:latin typeface="Times New Roman"/>
                <a:cs typeface="Times New Roman"/>
              </a:rPr>
              <a:t>172.16.3.0.</a:t>
            </a:r>
            <a:endParaRPr sz="2094" dirty="0">
              <a:latin typeface="Times New Roman"/>
              <a:cs typeface="Times New Roman"/>
            </a:endParaRPr>
          </a:p>
          <a:p>
            <a:pPr marL="356899" marR="243585" indent="-342900">
              <a:lnSpc>
                <a:spcPct val="80000"/>
              </a:lnSpc>
              <a:spcBef>
                <a:spcPts val="661"/>
              </a:spcBef>
              <a:buClr>
                <a:srgbClr val="D24717"/>
              </a:buClr>
              <a:buSzPct val="84210"/>
              <a:buFont typeface="Wingdings" panose="05000000000000000000" pitchFamily="2" charset="2"/>
              <a:buChar char="Ø"/>
              <a:tabLst>
                <a:tab pos="315682" algn="l"/>
                <a:tab pos="316382" algn="l"/>
              </a:tabLst>
            </a:pPr>
            <a:r>
              <a:rPr sz="2094" spc="-6" dirty="0">
                <a:latin typeface="Times New Roman"/>
                <a:cs typeface="Times New Roman"/>
              </a:rPr>
              <a:t>R2</a:t>
            </a:r>
            <a:r>
              <a:rPr sz="2094" spc="-22" dirty="0">
                <a:latin typeface="Times New Roman"/>
                <a:cs typeface="Times New Roman"/>
              </a:rPr>
              <a:t> </a:t>
            </a:r>
            <a:r>
              <a:rPr sz="2094" spc="-6" dirty="0">
                <a:latin typeface="Times New Roman"/>
                <a:cs typeface="Times New Roman"/>
              </a:rPr>
              <a:t>sends</a:t>
            </a:r>
            <a:r>
              <a:rPr sz="2094" spc="6" dirty="0">
                <a:latin typeface="Times New Roman"/>
                <a:cs typeface="Times New Roman"/>
              </a:rPr>
              <a:t> </a:t>
            </a:r>
            <a:r>
              <a:rPr sz="2094" spc="-6" dirty="0">
                <a:latin typeface="Times New Roman"/>
                <a:cs typeface="Times New Roman"/>
              </a:rPr>
              <a:t>a</a:t>
            </a:r>
            <a:r>
              <a:rPr sz="2094" spc="-11" dirty="0">
                <a:latin typeface="Times New Roman"/>
                <a:cs typeface="Times New Roman"/>
              </a:rPr>
              <a:t> </a:t>
            </a:r>
            <a:r>
              <a:rPr sz="2094" b="1" i="1" spc="-6" dirty="0">
                <a:solidFill>
                  <a:srgbClr val="0066CC"/>
                </a:solidFill>
                <a:latin typeface="Times New Roman"/>
                <a:cs typeface="Times New Roman"/>
              </a:rPr>
              <a:t>routing</a:t>
            </a:r>
            <a:r>
              <a:rPr sz="2094" b="1" i="1" spc="6" dirty="0">
                <a:solidFill>
                  <a:srgbClr val="0066CC"/>
                </a:solidFill>
                <a:latin typeface="Times New Roman"/>
                <a:cs typeface="Times New Roman"/>
              </a:rPr>
              <a:t> </a:t>
            </a:r>
            <a:r>
              <a:rPr sz="2094" b="1" i="1" spc="-6" dirty="0">
                <a:solidFill>
                  <a:srgbClr val="0066CC"/>
                </a:solidFill>
                <a:latin typeface="Times New Roman"/>
                <a:cs typeface="Times New Roman"/>
              </a:rPr>
              <a:t>update</a:t>
            </a:r>
            <a:r>
              <a:rPr sz="2094" b="1" i="1" spc="6" dirty="0">
                <a:solidFill>
                  <a:srgbClr val="0066CC"/>
                </a:solidFill>
                <a:latin typeface="Times New Roman"/>
                <a:cs typeface="Times New Roman"/>
              </a:rPr>
              <a:t> </a:t>
            </a:r>
            <a:r>
              <a:rPr sz="2094" spc="-6" dirty="0">
                <a:latin typeface="Times New Roman"/>
                <a:cs typeface="Times New Roman"/>
              </a:rPr>
              <a:t>to</a:t>
            </a:r>
            <a:r>
              <a:rPr sz="2094" dirty="0">
                <a:latin typeface="Times New Roman"/>
                <a:cs typeface="Times New Roman"/>
              </a:rPr>
              <a:t> </a:t>
            </a:r>
            <a:r>
              <a:rPr sz="2094" spc="-6" dirty="0">
                <a:latin typeface="Times New Roman"/>
                <a:cs typeface="Times New Roman"/>
              </a:rPr>
              <a:t>its </a:t>
            </a:r>
            <a:r>
              <a:rPr sz="2094" spc="-506" dirty="0">
                <a:latin typeface="Times New Roman"/>
                <a:cs typeface="Times New Roman"/>
              </a:rPr>
              <a:t> </a:t>
            </a:r>
            <a:r>
              <a:rPr sz="2094" spc="-6" dirty="0">
                <a:latin typeface="Times New Roman"/>
                <a:cs typeface="Times New Roman"/>
              </a:rPr>
              <a:t>neighbors, listing a subnet </a:t>
            </a:r>
            <a:r>
              <a:rPr sz="2094" dirty="0">
                <a:latin typeface="Times New Roman"/>
                <a:cs typeface="Times New Roman"/>
              </a:rPr>
              <a:t> </a:t>
            </a:r>
            <a:r>
              <a:rPr sz="2094" spc="-6" dirty="0">
                <a:latin typeface="Times New Roman"/>
                <a:cs typeface="Times New Roman"/>
              </a:rPr>
              <a:t>(172.16.3.0) and a distance, or </a:t>
            </a:r>
            <a:r>
              <a:rPr sz="2094" dirty="0">
                <a:latin typeface="Times New Roman"/>
                <a:cs typeface="Times New Roman"/>
              </a:rPr>
              <a:t> </a:t>
            </a:r>
            <a:r>
              <a:rPr sz="2094" b="1" i="1" spc="-6" dirty="0">
                <a:solidFill>
                  <a:srgbClr val="0066CC"/>
                </a:solidFill>
                <a:latin typeface="Times New Roman"/>
                <a:cs typeface="Times New Roman"/>
              </a:rPr>
              <a:t>metric</a:t>
            </a:r>
            <a:r>
              <a:rPr sz="2094" b="1" i="1" spc="-33" dirty="0">
                <a:solidFill>
                  <a:srgbClr val="0066CC"/>
                </a:solidFill>
                <a:latin typeface="Times New Roman"/>
                <a:cs typeface="Times New Roman"/>
              </a:rPr>
              <a:t> </a:t>
            </a:r>
            <a:r>
              <a:rPr sz="2094" spc="-6" dirty="0">
                <a:latin typeface="Times New Roman"/>
                <a:cs typeface="Times New Roman"/>
              </a:rPr>
              <a:t>(1</a:t>
            </a:r>
            <a:r>
              <a:rPr sz="2094" spc="6" dirty="0">
                <a:latin typeface="Times New Roman"/>
                <a:cs typeface="Times New Roman"/>
              </a:rPr>
              <a:t> </a:t>
            </a:r>
            <a:r>
              <a:rPr sz="2094" spc="-6" dirty="0">
                <a:latin typeface="Times New Roman"/>
                <a:cs typeface="Times New Roman"/>
              </a:rPr>
              <a:t>in</a:t>
            </a:r>
            <a:r>
              <a:rPr sz="2094" spc="-11" dirty="0">
                <a:latin typeface="Times New Roman"/>
                <a:cs typeface="Times New Roman"/>
              </a:rPr>
              <a:t> </a:t>
            </a:r>
            <a:r>
              <a:rPr sz="2094" spc="-6" dirty="0">
                <a:latin typeface="Times New Roman"/>
                <a:cs typeface="Times New Roman"/>
              </a:rPr>
              <a:t>this</a:t>
            </a:r>
            <a:r>
              <a:rPr sz="2094" spc="-11" dirty="0">
                <a:latin typeface="Times New Roman"/>
                <a:cs typeface="Times New Roman"/>
              </a:rPr>
              <a:t> </a:t>
            </a:r>
            <a:r>
              <a:rPr sz="2094" spc="-6" dirty="0">
                <a:latin typeface="Times New Roman"/>
                <a:cs typeface="Times New Roman"/>
              </a:rPr>
              <a:t>case).</a:t>
            </a:r>
            <a:endParaRPr sz="2094" dirty="0">
              <a:latin typeface="Times New Roman"/>
              <a:cs typeface="Times New Roman"/>
            </a:endParaRPr>
          </a:p>
          <a:p>
            <a:pPr marL="356899" marR="7000" indent="-342900">
              <a:lnSpc>
                <a:spcPct val="80000"/>
              </a:lnSpc>
              <a:spcBef>
                <a:spcPts val="661"/>
              </a:spcBef>
              <a:buClr>
                <a:srgbClr val="D24717"/>
              </a:buClr>
              <a:buSzPct val="84210"/>
              <a:buFont typeface="Wingdings" panose="05000000000000000000" pitchFamily="2" charset="2"/>
              <a:buChar char="Ø"/>
              <a:tabLst>
                <a:tab pos="315682" algn="l"/>
                <a:tab pos="316382" algn="l"/>
              </a:tabLst>
            </a:pPr>
            <a:r>
              <a:rPr sz="2094" spc="-6" dirty="0">
                <a:latin typeface="Times New Roman"/>
                <a:cs typeface="Times New Roman"/>
              </a:rPr>
              <a:t>R3 hears the routing update and </a:t>
            </a:r>
            <a:r>
              <a:rPr sz="2094" dirty="0">
                <a:latin typeface="Times New Roman"/>
                <a:cs typeface="Times New Roman"/>
              </a:rPr>
              <a:t> </a:t>
            </a:r>
            <a:r>
              <a:rPr sz="2094" spc="-6" dirty="0">
                <a:latin typeface="Times New Roman"/>
                <a:cs typeface="Times New Roman"/>
              </a:rPr>
              <a:t>adds a route to its routing table for </a:t>
            </a:r>
            <a:r>
              <a:rPr sz="2094" spc="-506" dirty="0">
                <a:latin typeface="Times New Roman"/>
                <a:cs typeface="Times New Roman"/>
              </a:rPr>
              <a:t> </a:t>
            </a:r>
            <a:r>
              <a:rPr sz="2094" spc="-6" dirty="0">
                <a:latin typeface="Times New Roman"/>
                <a:cs typeface="Times New Roman"/>
              </a:rPr>
              <a:t>subnet</a:t>
            </a:r>
            <a:r>
              <a:rPr sz="2094" spc="-11" dirty="0">
                <a:latin typeface="Times New Roman"/>
                <a:cs typeface="Times New Roman"/>
              </a:rPr>
              <a:t> </a:t>
            </a:r>
            <a:r>
              <a:rPr sz="2094" spc="-6" dirty="0">
                <a:latin typeface="Times New Roman"/>
                <a:cs typeface="Times New Roman"/>
              </a:rPr>
              <a:t>172.16.3.0,</a:t>
            </a:r>
            <a:r>
              <a:rPr sz="2094" dirty="0">
                <a:latin typeface="Times New Roman"/>
                <a:cs typeface="Times New Roman"/>
              </a:rPr>
              <a:t> </a:t>
            </a:r>
            <a:r>
              <a:rPr sz="2094" spc="-6" dirty="0">
                <a:latin typeface="Times New Roman"/>
                <a:cs typeface="Times New Roman"/>
              </a:rPr>
              <a:t>referring to</a:t>
            </a:r>
            <a:r>
              <a:rPr sz="2094" dirty="0">
                <a:latin typeface="Times New Roman"/>
                <a:cs typeface="Times New Roman"/>
              </a:rPr>
              <a:t> </a:t>
            </a:r>
            <a:r>
              <a:rPr sz="2094" spc="-11" dirty="0">
                <a:latin typeface="Times New Roman"/>
                <a:cs typeface="Times New Roman"/>
              </a:rPr>
              <a:t>R2 </a:t>
            </a:r>
            <a:r>
              <a:rPr sz="2094" spc="-6" dirty="0">
                <a:latin typeface="Times New Roman"/>
                <a:cs typeface="Times New Roman"/>
              </a:rPr>
              <a:t> as</a:t>
            </a:r>
            <a:r>
              <a:rPr sz="2094" spc="-22" dirty="0">
                <a:latin typeface="Times New Roman"/>
                <a:cs typeface="Times New Roman"/>
              </a:rPr>
              <a:t> </a:t>
            </a:r>
            <a:r>
              <a:rPr sz="2094" spc="-6" dirty="0">
                <a:latin typeface="Times New Roman"/>
                <a:cs typeface="Times New Roman"/>
              </a:rPr>
              <a:t>the</a:t>
            </a:r>
            <a:r>
              <a:rPr sz="2094" spc="-11" dirty="0">
                <a:latin typeface="Times New Roman"/>
                <a:cs typeface="Times New Roman"/>
              </a:rPr>
              <a:t> </a:t>
            </a:r>
            <a:r>
              <a:rPr sz="2094" spc="-6" dirty="0">
                <a:latin typeface="Times New Roman"/>
                <a:cs typeface="Times New Roman"/>
              </a:rPr>
              <a:t>next-hop</a:t>
            </a:r>
            <a:r>
              <a:rPr sz="2094" dirty="0">
                <a:latin typeface="Times New Roman"/>
                <a:cs typeface="Times New Roman"/>
              </a:rPr>
              <a:t> </a:t>
            </a:r>
            <a:r>
              <a:rPr sz="2094" spc="-22" dirty="0">
                <a:latin typeface="Times New Roman"/>
                <a:cs typeface="Times New Roman"/>
              </a:rPr>
              <a:t>router.</a:t>
            </a:r>
            <a:endParaRPr sz="2094" dirty="0">
              <a:latin typeface="Times New Roman"/>
              <a:cs typeface="Times New Roman"/>
            </a:endParaRPr>
          </a:p>
          <a:p>
            <a:pPr marL="356899" marR="5600" indent="-342900">
              <a:lnSpc>
                <a:spcPct val="80000"/>
              </a:lnSpc>
              <a:spcBef>
                <a:spcPts val="661"/>
              </a:spcBef>
              <a:buClr>
                <a:srgbClr val="D24717"/>
              </a:buClr>
              <a:buSzPct val="84210"/>
              <a:buFont typeface="Wingdings" panose="05000000000000000000" pitchFamily="2" charset="2"/>
              <a:buChar char="Ø"/>
              <a:tabLst>
                <a:tab pos="315682" algn="l"/>
                <a:tab pos="316382" algn="l"/>
              </a:tabLst>
            </a:pPr>
            <a:r>
              <a:rPr sz="2094" spc="-6" dirty="0">
                <a:latin typeface="Times New Roman"/>
                <a:cs typeface="Times New Roman"/>
              </a:rPr>
              <a:t>Around</a:t>
            </a:r>
            <a:r>
              <a:rPr sz="2094" dirty="0">
                <a:latin typeface="Times New Roman"/>
                <a:cs typeface="Times New Roman"/>
              </a:rPr>
              <a:t> </a:t>
            </a:r>
            <a:r>
              <a:rPr sz="2094" spc="-6" dirty="0">
                <a:latin typeface="Times New Roman"/>
                <a:cs typeface="Times New Roman"/>
              </a:rPr>
              <a:t>the</a:t>
            </a:r>
            <a:r>
              <a:rPr sz="2094" spc="-11" dirty="0">
                <a:latin typeface="Times New Roman"/>
                <a:cs typeface="Times New Roman"/>
              </a:rPr>
              <a:t> </a:t>
            </a:r>
            <a:r>
              <a:rPr sz="2094" spc="-17" dirty="0">
                <a:latin typeface="Times New Roman"/>
                <a:cs typeface="Times New Roman"/>
              </a:rPr>
              <a:t>same</a:t>
            </a:r>
            <a:r>
              <a:rPr sz="2094" spc="22" dirty="0">
                <a:latin typeface="Times New Roman"/>
                <a:cs typeface="Times New Roman"/>
              </a:rPr>
              <a:t> </a:t>
            </a:r>
            <a:r>
              <a:rPr sz="2094" spc="-11" dirty="0">
                <a:latin typeface="Times New Roman"/>
                <a:cs typeface="Times New Roman"/>
              </a:rPr>
              <a:t>time,</a:t>
            </a:r>
            <a:r>
              <a:rPr sz="2094" spc="6" dirty="0">
                <a:latin typeface="Times New Roman"/>
                <a:cs typeface="Times New Roman"/>
              </a:rPr>
              <a:t> </a:t>
            </a:r>
            <a:r>
              <a:rPr sz="2094" spc="-6" dirty="0">
                <a:latin typeface="Times New Roman"/>
                <a:cs typeface="Times New Roman"/>
              </a:rPr>
              <a:t>R1 also </a:t>
            </a:r>
            <a:r>
              <a:rPr sz="2094" dirty="0">
                <a:latin typeface="Times New Roman"/>
                <a:cs typeface="Times New Roman"/>
              </a:rPr>
              <a:t> </a:t>
            </a:r>
            <a:r>
              <a:rPr sz="2094" spc="-6" dirty="0">
                <a:latin typeface="Times New Roman"/>
                <a:cs typeface="Times New Roman"/>
              </a:rPr>
              <a:t>hears the routing update sent </a:t>
            </a:r>
            <a:r>
              <a:rPr sz="2094" dirty="0">
                <a:latin typeface="Times New Roman"/>
                <a:cs typeface="Times New Roman"/>
              </a:rPr>
              <a:t> </a:t>
            </a:r>
            <a:r>
              <a:rPr sz="2094" spc="-6" dirty="0">
                <a:latin typeface="Times New Roman"/>
                <a:cs typeface="Times New Roman"/>
              </a:rPr>
              <a:t>directly to </a:t>
            </a:r>
            <a:r>
              <a:rPr sz="2094" spc="-11" dirty="0">
                <a:latin typeface="Times New Roman"/>
                <a:cs typeface="Times New Roman"/>
              </a:rPr>
              <a:t>R1 </a:t>
            </a:r>
            <a:r>
              <a:rPr sz="2094" spc="-6" dirty="0">
                <a:latin typeface="Times New Roman"/>
                <a:cs typeface="Times New Roman"/>
              </a:rPr>
              <a:t>from R2. R1 then </a:t>
            </a:r>
            <a:r>
              <a:rPr sz="2094" dirty="0">
                <a:latin typeface="Times New Roman"/>
                <a:cs typeface="Times New Roman"/>
              </a:rPr>
              <a:t> </a:t>
            </a:r>
            <a:r>
              <a:rPr sz="2094" spc="-6" dirty="0">
                <a:latin typeface="Times New Roman"/>
                <a:cs typeface="Times New Roman"/>
              </a:rPr>
              <a:t>adds a route to its routing table for </a:t>
            </a:r>
            <a:r>
              <a:rPr sz="2094" spc="-506" dirty="0">
                <a:latin typeface="Times New Roman"/>
                <a:cs typeface="Times New Roman"/>
              </a:rPr>
              <a:t> </a:t>
            </a:r>
            <a:r>
              <a:rPr sz="2094" spc="-6" dirty="0">
                <a:latin typeface="Times New Roman"/>
                <a:cs typeface="Times New Roman"/>
              </a:rPr>
              <a:t>subnet 172.16.3.0, referring</a:t>
            </a:r>
            <a:r>
              <a:rPr sz="2094" spc="6" dirty="0">
                <a:latin typeface="Times New Roman"/>
                <a:cs typeface="Times New Roman"/>
              </a:rPr>
              <a:t> </a:t>
            </a:r>
            <a:r>
              <a:rPr sz="2094" spc="-6" dirty="0">
                <a:latin typeface="Times New Roman"/>
                <a:cs typeface="Times New Roman"/>
              </a:rPr>
              <a:t>to </a:t>
            </a:r>
            <a:r>
              <a:rPr sz="2094" spc="-11" dirty="0">
                <a:latin typeface="Times New Roman"/>
                <a:cs typeface="Times New Roman"/>
              </a:rPr>
              <a:t>R2 </a:t>
            </a:r>
            <a:r>
              <a:rPr sz="2094" spc="-6" dirty="0">
                <a:latin typeface="Times New Roman"/>
                <a:cs typeface="Times New Roman"/>
              </a:rPr>
              <a:t> as</a:t>
            </a:r>
            <a:r>
              <a:rPr sz="2094" spc="-22" dirty="0">
                <a:latin typeface="Times New Roman"/>
                <a:cs typeface="Times New Roman"/>
              </a:rPr>
              <a:t> </a:t>
            </a:r>
            <a:r>
              <a:rPr sz="2094" spc="-6" dirty="0">
                <a:latin typeface="Times New Roman"/>
                <a:cs typeface="Times New Roman"/>
              </a:rPr>
              <a:t>the</a:t>
            </a:r>
            <a:r>
              <a:rPr sz="2094" spc="-11" dirty="0">
                <a:latin typeface="Times New Roman"/>
                <a:cs typeface="Times New Roman"/>
              </a:rPr>
              <a:t> </a:t>
            </a:r>
            <a:r>
              <a:rPr sz="2094" spc="-6" dirty="0">
                <a:latin typeface="Times New Roman"/>
                <a:cs typeface="Times New Roman"/>
              </a:rPr>
              <a:t>next-hop</a:t>
            </a:r>
            <a:r>
              <a:rPr sz="2094" dirty="0">
                <a:latin typeface="Times New Roman"/>
                <a:cs typeface="Times New Roman"/>
              </a:rPr>
              <a:t> </a:t>
            </a:r>
            <a:r>
              <a:rPr sz="2094" spc="-22" dirty="0">
                <a:latin typeface="Times New Roman"/>
                <a:cs typeface="Times New Roman"/>
              </a:rPr>
              <a:t>router.</a:t>
            </a:r>
            <a:endParaRPr sz="2094" dirty="0">
              <a:latin typeface="Times New Roman"/>
              <a:cs typeface="Times New Roman"/>
            </a:endParaRPr>
          </a:p>
          <a:p>
            <a:pPr marL="356899" marR="188989" indent="-342900">
              <a:lnSpc>
                <a:spcPts val="2017"/>
              </a:lnSpc>
              <a:spcBef>
                <a:spcPts val="639"/>
              </a:spcBef>
              <a:buClr>
                <a:srgbClr val="D24717"/>
              </a:buClr>
              <a:buSzPct val="84210"/>
              <a:buFont typeface="Wingdings" panose="05000000000000000000" pitchFamily="2" charset="2"/>
              <a:buChar char="Ø"/>
              <a:tabLst>
                <a:tab pos="315682" algn="l"/>
                <a:tab pos="316382" algn="l"/>
              </a:tabLst>
            </a:pPr>
            <a:r>
              <a:rPr sz="2094" spc="-6" dirty="0">
                <a:latin typeface="Times New Roman"/>
                <a:cs typeface="Times New Roman"/>
              </a:rPr>
              <a:t>R1 and R3 send a routing update </a:t>
            </a:r>
            <a:r>
              <a:rPr sz="2094" spc="-506" dirty="0">
                <a:latin typeface="Times New Roman"/>
                <a:cs typeface="Times New Roman"/>
              </a:rPr>
              <a:t> </a:t>
            </a:r>
            <a:r>
              <a:rPr sz="2094" spc="-6" dirty="0">
                <a:latin typeface="Times New Roman"/>
                <a:cs typeface="Times New Roman"/>
              </a:rPr>
              <a:t>to each </a:t>
            </a:r>
            <a:r>
              <a:rPr sz="2094" spc="-17" dirty="0">
                <a:latin typeface="Times New Roman"/>
                <a:cs typeface="Times New Roman"/>
              </a:rPr>
              <a:t>other, </a:t>
            </a:r>
            <a:r>
              <a:rPr sz="2094" spc="-6" dirty="0">
                <a:latin typeface="Times New Roman"/>
                <a:cs typeface="Times New Roman"/>
              </a:rPr>
              <a:t>for subnet </a:t>
            </a:r>
            <a:r>
              <a:rPr sz="2094" dirty="0">
                <a:latin typeface="Times New Roman"/>
                <a:cs typeface="Times New Roman"/>
              </a:rPr>
              <a:t> </a:t>
            </a:r>
            <a:r>
              <a:rPr sz="2094" spc="-6" dirty="0">
                <a:latin typeface="Times New Roman"/>
                <a:cs typeface="Times New Roman"/>
              </a:rPr>
              <a:t>172.16.3.0,</a:t>
            </a:r>
            <a:r>
              <a:rPr sz="2094" spc="-28" dirty="0">
                <a:latin typeface="Times New Roman"/>
                <a:cs typeface="Times New Roman"/>
              </a:rPr>
              <a:t> </a:t>
            </a:r>
            <a:r>
              <a:rPr sz="2094" spc="-6" dirty="0">
                <a:latin typeface="Times New Roman"/>
                <a:cs typeface="Times New Roman"/>
              </a:rPr>
              <a:t>metric</a:t>
            </a:r>
            <a:r>
              <a:rPr sz="2094" spc="11" dirty="0">
                <a:latin typeface="Times New Roman"/>
                <a:cs typeface="Times New Roman"/>
              </a:rPr>
              <a:t> </a:t>
            </a:r>
            <a:r>
              <a:rPr sz="2094" spc="-6" dirty="0">
                <a:latin typeface="Times New Roman"/>
                <a:cs typeface="Times New Roman"/>
              </a:rPr>
              <a:t>2.</a:t>
            </a:r>
            <a:endParaRPr sz="2094" dirty="0">
              <a:latin typeface="Times New Roman"/>
              <a:cs typeface="Times New Roman"/>
            </a:endParaRPr>
          </a:p>
        </p:txBody>
      </p:sp>
      <p:pic>
        <p:nvPicPr>
          <p:cNvPr id="6" name="object 6"/>
          <p:cNvPicPr/>
          <p:nvPr/>
        </p:nvPicPr>
        <p:blipFill>
          <a:blip r:embed="rId2" cstate="print"/>
          <a:stretch>
            <a:fillRect/>
          </a:stretch>
        </p:blipFill>
        <p:spPr>
          <a:xfrm>
            <a:off x="99784" y="1647125"/>
            <a:ext cx="4781309" cy="4019579"/>
          </a:xfrm>
          <a:prstGeom prst="rect">
            <a:avLst/>
          </a:prstGeom>
        </p:spPr>
      </p:pic>
      <p:sp>
        <p:nvSpPr>
          <p:cNvPr id="7" name="object 7"/>
          <p:cNvSpPr txBox="1"/>
          <p:nvPr/>
        </p:nvSpPr>
        <p:spPr>
          <a:xfrm>
            <a:off x="759297" y="6458761"/>
            <a:ext cx="8321942" cy="654630"/>
          </a:xfrm>
          <a:prstGeom prst="rect">
            <a:avLst/>
          </a:prstGeom>
        </p:spPr>
        <p:txBody>
          <a:bodyPr vert="horz" wrap="square" lIns="0" tIns="13299" rIns="0" bIns="0" rtlCol="0">
            <a:spAutoFit/>
          </a:bodyPr>
          <a:lstStyle/>
          <a:p>
            <a:pPr marL="391978" indent="-378679">
              <a:lnSpc>
                <a:spcPts val="2541"/>
              </a:lnSpc>
              <a:spcBef>
                <a:spcPts val="105"/>
              </a:spcBef>
              <a:buSzPct val="79545"/>
              <a:buFont typeface="Wingdings"/>
              <a:buChar char=""/>
              <a:tabLst>
                <a:tab pos="391978" algn="l"/>
                <a:tab pos="392678" algn="l"/>
              </a:tabLst>
            </a:pPr>
            <a:r>
              <a:rPr sz="2425" spc="-6" dirty="0">
                <a:latin typeface="Times New Roman"/>
                <a:cs typeface="Times New Roman"/>
              </a:rPr>
              <a:t>RIP</a:t>
            </a:r>
            <a:r>
              <a:rPr sz="2425" spc="-33" dirty="0">
                <a:latin typeface="Times New Roman"/>
                <a:cs typeface="Times New Roman"/>
              </a:rPr>
              <a:t> </a:t>
            </a:r>
            <a:r>
              <a:rPr sz="2425" spc="-6" dirty="0">
                <a:latin typeface="Times New Roman"/>
                <a:cs typeface="Times New Roman"/>
              </a:rPr>
              <a:t>sends periodic</a:t>
            </a:r>
            <a:r>
              <a:rPr sz="2425" spc="-11" dirty="0">
                <a:latin typeface="Times New Roman"/>
                <a:cs typeface="Times New Roman"/>
              </a:rPr>
              <a:t> </a:t>
            </a:r>
            <a:r>
              <a:rPr sz="2425" spc="-17" dirty="0">
                <a:latin typeface="Times New Roman"/>
                <a:cs typeface="Times New Roman"/>
              </a:rPr>
              <a:t>routing</a:t>
            </a:r>
            <a:r>
              <a:rPr sz="2425" spc="6" dirty="0">
                <a:latin typeface="Times New Roman"/>
                <a:cs typeface="Times New Roman"/>
              </a:rPr>
              <a:t> </a:t>
            </a:r>
            <a:r>
              <a:rPr sz="2425" spc="-6" dirty="0">
                <a:latin typeface="Times New Roman"/>
                <a:cs typeface="Times New Roman"/>
              </a:rPr>
              <a:t>updates every</a:t>
            </a:r>
            <a:r>
              <a:rPr sz="2425" spc="28" dirty="0">
                <a:latin typeface="Times New Roman"/>
                <a:cs typeface="Times New Roman"/>
              </a:rPr>
              <a:t> </a:t>
            </a:r>
            <a:r>
              <a:rPr sz="2425" b="1" spc="-6" dirty="0">
                <a:solidFill>
                  <a:srgbClr val="FF0000"/>
                </a:solidFill>
                <a:latin typeface="Times New Roman"/>
                <a:cs typeface="Times New Roman"/>
              </a:rPr>
              <a:t>30</a:t>
            </a:r>
            <a:r>
              <a:rPr sz="2425" b="1" spc="6" dirty="0">
                <a:solidFill>
                  <a:srgbClr val="FF0000"/>
                </a:solidFill>
                <a:latin typeface="Times New Roman"/>
                <a:cs typeface="Times New Roman"/>
              </a:rPr>
              <a:t> </a:t>
            </a:r>
            <a:r>
              <a:rPr sz="2425" b="1" spc="-6" dirty="0">
                <a:solidFill>
                  <a:srgbClr val="FF0000"/>
                </a:solidFill>
                <a:latin typeface="Times New Roman"/>
                <a:cs typeface="Times New Roman"/>
              </a:rPr>
              <a:t>seconds</a:t>
            </a:r>
            <a:r>
              <a:rPr sz="2425" b="1" spc="28" dirty="0">
                <a:solidFill>
                  <a:srgbClr val="FF0000"/>
                </a:solidFill>
                <a:latin typeface="Times New Roman"/>
                <a:cs typeface="Times New Roman"/>
              </a:rPr>
              <a:t> </a:t>
            </a:r>
            <a:r>
              <a:rPr sz="2425" spc="-6" dirty="0">
                <a:latin typeface="Times New Roman"/>
                <a:cs typeface="Times New Roman"/>
              </a:rPr>
              <a:t>by</a:t>
            </a:r>
            <a:r>
              <a:rPr sz="2425" spc="6" dirty="0">
                <a:latin typeface="Times New Roman"/>
                <a:cs typeface="Times New Roman"/>
              </a:rPr>
              <a:t> </a:t>
            </a:r>
            <a:r>
              <a:rPr sz="2425" spc="-6" dirty="0">
                <a:latin typeface="Times New Roman"/>
                <a:cs typeface="Times New Roman"/>
              </a:rPr>
              <a:t>default.</a:t>
            </a:r>
            <a:endParaRPr sz="2425" dirty="0">
              <a:latin typeface="Times New Roman"/>
              <a:cs typeface="Times New Roman"/>
            </a:endParaRPr>
          </a:p>
          <a:p>
            <a:pPr marL="391978" indent="-378679">
              <a:lnSpc>
                <a:spcPts val="2541"/>
              </a:lnSpc>
              <a:buClr>
                <a:srgbClr val="000000"/>
              </a:buClr>
              <a:buSzPct val="79545"/>
              <a:buFont typeface="Wingdings"/>
              <a:buChar char=""/>
              <a:tabLst>
                <a:tab pos="391978" algn="l"/>
                <a:tab pos="392678" algn="l"/>
              </a:tabLst>
            </a:pPr>
            <a:r>
              <a:rPr sz="2425" b="1" spc="-6" dirty="0">
                <a:solidFill>
                  <a:srgbClr val="FF0000"/>
                </a:solidFill>
                <a:latin typeface="Times New Roman"/>
                <a:cs typeface="Times New Roman"/>
              </a:rPr>
              <a:t>metric</a:t>
            </a:r>
            <a:r>
              <a:rPr sz="2425" b="1" spc="-6" dirty="0">
                <a:solidFill>
                  <a:srgbClr val="0066CC"/>
                </a:solidFill>
                <a:latin typeface="Times New Roman"/>
                <a:cs typeface="Times New Roman"/>
              </a:rPr>
              <a:t> </a:t>
            </a:r>
            <a:r>
              <a:rPr sz="2425" spc="-6" dirty="0">
                <a:latin typeface="Times New Roman"/>
                <a:cs typeface="Times New Roman"/>
              </a:rPr>
              <a:t>determines how good</a:t>
            </a:r>
            <a:r>
              <a:rPr sz="2425" spc="-17" dirty="0">
                <a:latin typeface="Times New Roman"/>
                <a:cs typeface="Times New Roman"/>
              </a:rPr>
              <a:t> </a:t>
            </a:r>
            <a:r>
              <a:rPr sz="2425" spc="-6" dirty="0">
                <a:latin typeface="Times New Roman"/>
                <a:cs typeface="Times New Roman"/>
              </a:rPr>
              <a:t>each</a:t>
            </a:r>
            <a:r>
              <a:rPr sz="2425" spc="6" dirty="0">
                <a:latin typeface="Times New Roman"/>
                <a:cs typeface="Times New Roman"/>
              </a:rPr>
              <a:t> </a:t>
            </a:r>
            <a:r>
              <a:rPr sz="2425" spc="-22" dirty="0">
                <a:latin typeface="Times New Roman"/>
                <a:cs typeface="Times New Roman"/>
              </a:rPr>
              <a:t>route</a:t>
            </a:r>
            <a:r>
              <a:rPr sz="2425" spc="-6" dirty="0">
                <a:latin typeface="Times New Roman"/>
                <a:cs typeface="Times New Roman"/>
              </a:rPr>
              <a:t> is.</a:t>
            </a:r>
            <a:endParaRPr sz="2425" dirty="0">
              <a:latin typeface="Times New Roman"/>
              <a:cs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273" y="152154"/>
            <a:ext cx="9955369" cy="1369059"/>
          </a:xfrm>
          <a:prstGeom prst="rect">
            <a:avLst/>
          </a:prstGeom>
        </p:spPr>
        <p:txBody>
          <a:bodyPr vert="horz" wrap="square" lIns="0" tIns="14699" rIns="0" bIns="0" rtlCol="0" anchor="ctr">
            <a:spAutoFit/>
          </a:bodyPr>
          <a:lstStyle/>
          <a:p>
            <a:pPr marL="13999">
              <a:lnSpc>
                <a:spcPct val="100000"/>
              </a:lnSpc>
              <a:spcBef>
                <a:spcPts val="116"/>
              </a:spcBef>
            </a:pPr>
            <a:r>
              <a:rPr b="1" dirty="0">
                <a:solidFill>
                  <a:schemeClr val="bg1"/>
                </a:solidFill>
                <a:latin typeface="Times New Roman" panose="02020603050405020304" pitchFamily="18" charset="0"/>
                <a:cs typeface="Times New Roman" panose="02020603050405020304" pitchFamily="18" charset="0"/>
              </a:rPr>
              <a:t>Using</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 Hop</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Count</a:t>
            </a:r>
            <a:r>
              <a:rPr b="1" spc="-2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Metric to</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Choose</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 Route</a:t>
            </a:r>
          </a:p>
        </p:txBody>
      </p:sp>
      <p:sp>
        <p:nvSpPr>
          <p:cNvPr id="3" name="object 3"/>
          <p:cNvSpPr txBox="1"/>
          <p:nvPr/>
        </p:nvSpPr>
        <p:spPr>
          <a:xfrm>
            <a:off x="0" y="4741596"/>
            <a:ext cx="10080625" cy="2373049"/>
          </a:xfrm>
          <a:prstGeom prst="rect">
            <a:avLst/>
          </a:prstGeom>
        </p:spPr>
        <p:txBody>
          <a:bodyPr vert="horz" wrap="square" lIns="0" tIns="13299" rIns="0" bIns="0" rtlCol="0">
            <a:spAutoFit/>
          </a:bodyPr>
          <a:lstStyle/>
          <a:p>
            <a:pPr marL="471199" indent="-457200">
              <a:lnSpc>
                <a:spcPts val="2883"/>
              </a:lnSpc>
              <a:spcBef>
                <a:spcPts val="105"/>
              </a:spcBef>
              <a:buClr>
                <a:srgbClr val="D24717"/>
              </a:buClr>
              <a:buSzPct val="84090"/>
              <a:buFont typeface="Wingdings" panose="05000000000000000000" pitchFamily="2" charset="2"/>
              <a:buChar char="Ø"/>
              <a:tabLst>
                <a:tab pos="315682" algn="l"/>
                <a:tab pos="316382" algn="l"/>
              </a:tabLst>
            </a:pPr>
            <a:r>
              <a:rPr sz="3200" spc="-6" dirty="0">
                <a:latin typeface="Times New Roman"/>
                <a:cs typeface="Times New Roman"/>
              </a:rPr>
              <a:t>R1</a:t>
            </a:r>
            <a:r>
              <a:rPr sz="3200" spc="-22"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three</a:t>
            </a:r>
            <a:r>
              <a:rPr sz="3200" dirty="0">
                <a:latin typeface="Times New Roman"/>
                <a:cs typeface="Times New Roman"/>
              </a:rPr>
              <a:t> </a:t>
            </a:r>
            <a:r>
              <a:rPr sz="3200" spc="-6" dirty="0">
                <a:latin typeface="Times New Roman"/>
                <a:cs typeface="Times New Roman"/>
              </a:rPr>
              <a:t>routes</a:t>
            </a:r>
            <a:r>
              <a:rPr sz="3200" dirty="0">
                <a:latin typeface="Times New Roman"/>
                <a:cs typeface="Times New Roman"/>
              </a:rPr>
              <a:t> </a:t>
            </a:r>
            <a:r>
              <a:rPr sz="3200" spc="-6" dirty="0">
                <a:latin typeface="Times New Roman"/>
                <a:cs typeface="Times New Roman"/>
              </a:rPr>
              <a:t>to</a:t>
            </a:r>
            <a:r>
              <a:rPr sz="3200" dirty="0">
                <a:latin typeface="Times New Roman"/>
                <a:cs typeface="Times New Roman"/>
              </a:rPr>
              <a:t> </a:t>
            </a:r>
            <a:r>
              <a:rPr sz="3200" spc="-6" dirty="0">
                <a:latin typeface="Times New Roman"/>
                <a:cs typeface="Times New Roman"/>
              </a:rPr>
              <a:t>subnet</a:t>
            </a:r>
            <a:r>
              <a:rPr sz="3200" spc="-11" dirty="0">
                <a:latin typeface="Times New Roman"/>
                <a:cs typeface="Times New Roman"/>
              </a:rPr>
              <a:t> </a:t>
            </a:r>
            <a:r>
              <a:rPr sz="3200" spc="-6" dirty="0">
                <a:latin typeface="Times New Roman"/>
                <a:cs typeface="Times New Roman"/>
              </a:rPr>
              <a:t>X</a:t>
            </a:r>
            <a:r>
              <a:rPr sz="3200" dirty="0">
                <a:latin typeface="Times New Roman"/>
                <a:cs typeface="Times New Roman"/>
              </a:rPr>
              <a:t> </a:t>
            </a:r>
            <a:r>
              <a:rPr sz="3200" spc="-6" dirty="0">
                <a:latin typeface="Times New Roman"/>
                <a:cs typeface="Times New Roman"/>
              </a:rPr>
              <a:t>to</a:t>
            </a:r>
            <a:r>
              <a:rPr sz="3200" dirty="0">
                <a:latin typeface="Times New Roman"/>
                <a:cs typeface="Times New Roman"/>
              </a:rPr>
              <a:t> </a:t>
            </a:r>
            <a:r>
              <a:rPr sz="3200" spc="-6" dirty="0">
                <a:latin typeface="Times New Roman"/>
                <a:cs typeface="Times New Roman"/>
              </a:rPr>
              <a:t>consider:</a:t>
            </a:r>
            <a:endParaRPr sz="3200" dirty="0">
              <a:latin typeface="Times New Roman"/>
              <a:cs typeface="Times New Roman"/>
            </a:endParaRPr>
          </a:p>
          <a:p>
            <a:pPr marL="1327951" lvl="2" indent="-505371">
              <a:lnSpc>
                <a:spcPts val="2458"/>
              </a:lnSpc>
              <a:buClr>
                <a:srgbClr val="9B2C1F"/>
              </a:buClr>
              <a:buSzPct val="84210"/>
              <a:buAutoNum type="arabicPeriod"/>
              <a:tabLst>
                <a:tab pos="870751" algn="l"/>
                <a:tab pos="871451" algn="l"/>
              </a:tabLst>
            </a:pPr>
            <a:r>
              <a:rPr sz="3200" spc="-6" dirty="0">
                <a:latin typeface="Times New Roman"/>
                <a:cs typeface="Times New Roman"/>
              </a:rPr>
              <a:t>The</a:t>
            </a:r>
            <a:r>
              <a:rPr sz="3200" spc="-28" dirty="0">
                <a:latin typeface="Times New Roman"/>
                <a:cs typeface="Times New Roman"/>
              </a:rPr>
              <a:t> </a:t>
            </a:r>
            <a:r>
              <a:rPr sz="3200" spc="-11" dirty="0">
                <a:latin typeface="Times New Roman"/>
                <a:cs typeface="Times New Roman"/>
              </a:rPr>
              <a:t>four-hop</a:t>
            </a:r>
            <a:r>
              <a:rPr sz="3200" spc="11"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through</a:t>
            </a:r>
            <a:r>
              <a:rPr sz="3200" spc="6" dirty="0">
                <a:latin typeface="Times New Roman"/>
                <a:cs typeface="Times New Roman"/>
              </a:rPr>
              <a:t> </a:t>
            </a:r>
            <a:r>
              <a:rPr sz="3200" spc="-6" dirty="0">
                <a:latin typeface="Times New Roman"/>
                <a:cs typeface="Times New Roman"/>
              </a:rPr>
              <a:t>R2</a:t>
            </a:r>
            <a:endParaRPr sz="3200" dirty="0">
              <a:latin typeface="Times New Roman"/>
              <a:cs typeface="Times New Roman"/>
            </a:endParaRPr>
          </a:p>
          <a:p>
            <a:pPr marL="1327951" lvl="2" indent="-505371">
              <a:lnSpc>
                <a:spcPts val="2453"/>
              </a:lnSpc>
              <a:buClr>
                <a:srgbClr val="9B2C1F"/>
              </a:buClr>
              <a:buSzPct val="84210"/>
              <a:buAutoNum type="arabicPeriod"/>
              <a:tabLst>
                <a:tab pos="870751" algn="l"/>
                <a:tab pos="871451" algn="l"/>
              </a:tabLst>
            </a:pPr>
            <a:r>
              <a:rPr sz="3200" spc="-6" dirty="0">
                <a:latin typeface="Times New Roman"/>
                <a:cs typeface="Times New Roman"/>
              </a:rPr>
              <a:t>The</a:t>
            </a:r>
            <a:r>
              <a:rPr sz="3200" spc="-28" dirty="0">
                <a:latin typeface="Times New Roman"/>
                <a:cs typeface="Times New Roman"/>
              </a:rPr>
              <a:t> </a:t>
            </a:r>
            <a:r>
              <a:rPr sz="3200" spc="-6" dirty="0">
                <a:latin typeface="Times New Roman"/>
                <a:cs typeface="Times New Roman"/>
              </a:rPr>
              <a:t>three-hop route</a:t>
            </a:r>
            <a:r>
              <a:rPr sz="3200" spc="6" dirty="0">
                <a:latin typeface="Times New Roman"/>
                <a:cs typeface="Times New Roman"/>
              </a:rPr>
              <a:t> </a:t>
            </a:r>
            <a:r>
              <a:rPr sz="3200" spc="-6" dirty="0">
                <a:latin typeface="Times New Roman"/>
                <a:cs typeface="Times New Roman"/>
              </a:rPr>
              <a:t>through</a:t>
            </a:r>
            <a:r>
              <a:rPr sz="3200" dirty="0">
                <a:latin typeface="Times New Roman"/>
                <a:cs typeface="Times New Roman"/>
              </a:rPr>
              <a:t> </a:t>
            </a:r>
            <a:r>
              <a:rPr sz="3200" spc="-6" dirty="0">
                <a:latin typeface="Times New Roman"/>
                <a:cs typeface="Times New Roman"/>
              </a:rPr>
              <a:t>R5</a:t>
            </a:r>
            <a:endParaRPr sz="3200" dirty="0">
              <a:latin typeface="Times New Roman"/>
              <a:cs typeface="Times New Roman"/>
            </a:endParaRPr>
          </a:p>
          <a:p>
            <a:pPr marL="1327951" lvl="2" indent="-505371">
              <a:lnSpc>
                <a:spcPts val="2480"/>
              </a:lnSpc>
              <a:buClr>
                <a:srgbClr val="9B2C1F"/>
              </a:buClr>
              <a:buSzPct val="84210"/>
              <a:buAutoNum type="arabicPeriod"/>
              <a:tabLst>
                <a:tab pos="870751" algn="l"/>
                <a:tab pos="871451" algn="l"/>
              </a:tabLst>
            </a:pPr>
            <a:r>
              <a:rPr sz="3200" spc="-6" dirty="0">
                <a:latin typeface="Times New Roman"/>
                <a:cs typeface="Times New Roman"/>
              </a:rPr>
              <a:t>The</a:t>
            </a:r>
            <a:r>
              <a:rPr sz="3200" spc="-28" dirty="0">
                <a:latin typeface="Times New Roman"/>
                <a:cs typeface="Times New Roman"/>
              </a:rPr>
              <a:t> </a:t>
            </a:r>
            <a:r>
              <a:rPr sz="3200" spc="-6" dirty="0">
                <a:latin typeface="Times New Roman"/>
                <a:cs typeface="Times New Roman"/>
              </a:rPr>
              <a:t>two-hop</a:t>
            </a:r>
            <a:r>
              <a:rPr sz="3200" spc="6"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through</a:t>
            </a:r>
            <a:r>
              <a:rPr sz="3200" dirty="0">
                <a:latin typeface="Times New Roman"/>
                <a:cs typeface="Times New Roman"/>
              </a:rPr>
              <a:t> </a:t>
            </a:r>
            <a:r>
              <a:rPr sz="3200" spc="-6" dirty="0">
                <a:latin typeface="Times New Roman"/>
                <a:cs typeface="Times New Roman"/>
              </a:rPr>
              <a:t>R7</a:t>
            </a:r>
            <a:endParaRPr sz="3200" dirty="0">
              <a:latin typeface="Times New Roman"/>
              <a:cs typeface="Times New Roman"/>
            </a:endParaRPr>
          </a:p>
          <a:p>
            <a:pPr marL="457200" indent="-457200">
              <a:lnSpc>
                <a:spcPts val="2618"/>
              </a:lnSpc>
              <a:spcBef>
                <a:spcPts val="66"/>
              </a:spcBef>
              <a:buClr>
                <a:srgbClr val="D24717"/>
              </a:buClr>
              <a:buSzPct val="84090"/>
              <a:buFont typeface="Wingdings" panose="05000000000000000000" pitchFamily="2" charset="2"/>
              <a:buChar char="Ø"/>
              <a:tabLst>
                <a:tab pos="301683" algn="l"/>
                <a:tab pos="316382" algn="l"/>
              </a:tabLst>
            </a:pPr>
            <a:r>
              <a:rPr sz="3200" spc="-6" dirty="0">
                <a:latin typeface="Times New Roman"/>
                <a:cs typeface="Times New Roman"/>
              </a:rPr>
              <a:t>R1</a:t>
            </a:r>
            <a:r>
              <a:rPr sz="3200" spc="-28" dirty="0">
                <a:latin typeface="Times New Roman"/>
                <a:cs typeface="Times New Roman"/>
              </a:rPr>
              <a:t> </a:t>
            </a:r>
            <a:r>
              <a:rPr sz="3200" spc="-6" dirty="0">
                <a:latin typeface="Times New Roman"/>
                <a:cs typeface="Times New Roman"/>
              </a:rPr>
              <a:t>picks</a:t>
            </a:r>
            <a:r>
              <a:rPr sz="3200" dirty="0">
                <a:latin typeface="Times New Roman"/>
                <a:cs typeface="Times New Roman"/>
              </a:rPr>
              <a:t> the</a:t>
            </a:r>
            <a:r>
              <a:rPr sz="3200" spc="-11" dirty="0">
                <a:latin typeface="Times New Roman"/>
                <a:cs typeface="Times New Roman"/>
              </a:rPr>
              <a:t> </a:t>
            </a:r>
            <a:r>
              <a:rPr sz="3200" spc="-6" dirty="0">
                <a:latin typeface="Times New Roman"/>
                <a:cs typeface="Times New Roman"/>
              </a:rPr>
              <a:t>best</a:t>
            </a:r>
            <a:r>
              <a:rPr sz="3200" dirty="0">
                <a:latin typeface="Times New Roman"/>
                <a:cs typeface="Times New Roman"/>
              </a:rPr>
              <a:t> route</a:t>
            </a:r>
            <a:r>
              <a:rPr sz="3200" spc="6"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spc="-6" dirty="0">
                <a:latin typeface="Times New Roman"/>
                <a:cs typeface="Times New Roman"/>
              </a:rPr>
              <a:t>reach</a:t>
            </a:r>
            <a:r>
              <a:rPr sz="3200" dirty="0">
                <a:latin typeface="Times New Roman"/>
                <a:cs typeface="Times New Roman"/>
              </a:rPr>
              <a:t> subnet</a:t>
            </a:r>
            <a:r>
              <a:rPr sz="3200" spc="-6" dirty="0">
                <a:latin typeface="Times New Roman"/>
                <a:cs typeface="Times New Roman"/>
              </a:rPr>
              <a:t> X,</a:t>
            </a:r>
            <a:r>
              <a:rPr sz="3200" dirty="0">
                <a:latin typeface="Times New Roman"/>
                <a:cs typeface="Times New Roman"/>
              </a:rPr>
              <a:t> </a:t>
            </a:r>
            <a:r>
              <a:rPr sz="3200" spc="-6" dirty="0">
                <a:latin typeface="Times New Roman"/>
                <a:cs typeface="Times New Roman"/>
              </a:rPr>
              <a:t>and</a:t>
            </a:r>
            <a:r>
              <a:rPr sz="3200" spc="6" dirty="0">
                <a:latin typeface="Times New Roman"/>
                <a:cs typeface="Times New Roman"/>
              </a:rPr>
              <a:t> </a:t>
            </a:r>
            <a:r>
              <a:rPr sz="3200" spc="-6" dirty="0">
                <a:latin typeface="Times New Roman"/>
                <a:cs typeface="Times New Roman"/>
              </a:rPr>
              <a:t>in</a:t>
            </a:r>
            <a:r>
              <a:rPr sz="3200" dirty="0">
                <a:latin typeface="Times New Roman"/>
                <a:cs typeface="Times New Roman"/>
              </a:rPr>
              <a:t> </a:t>
            </a:r>
            <a:r>
              <a:rPr sz="3200" spc="-6" dirty="0">
                <a:latin typeface="Times New Roman"/>
                <a:cs typeface="Times New Roman"/>
              </a:rPr>
              <a:t>this</a:t>
            </a:r>
            <a:r>
              <a:rPr sz="3200" spc="6" dirty="0">
                <a:latin typeface="Times New Roman"/>
                <a:cs typeface="Times New Roman"/>
              </a:rPr>
              <a:t> </a:t>
            </a:r>
            <a:r>
              <a:rPr sz="3200" spc="-6" dirty="0">
                <a:latin typeface="Times New Roman"/>
                <a:cs typeface="Times New Roman"/>
              </a:rPr>
              <a:t>case,</a:t>
            </a:r>
            <a:r>
              <a:rPr sz="3200" dirty="0">
                <a:latin typeface="Times New Roman"/>
                <a:cs typeface="Times New Roman"/>
              </a:rPr>
              <a:t> </a:t>
            </a:r>
            <a:r>
              <a:rPr sz="3200" spc="-6" dirty="0">
                <a:latin typeface="Times New Roman"/>
                <a:cs typeface="Times New Roman"/>
              </a:rPr>
              <a:t>it</a:t>
            </a:r>
            <a:r>
              <a:rPr sz="3200" spc="11" dirty="0">
                <a:latin typeface="Times New Roman"/>
                <a:cs typeface="Times New Roman"/>
              </a:rPr>
              <a:t> </a:t>
            </a:r>
            <a:r>
              <a:rPr sz="3200" spc="-6" dirty="0">
                <a:latin typeface="Times New Roman"/>
                <a:cs typeface="Times New Roman"/>
              </a:rPr>
              <a:t>picks</a:t>
            </a:r>
            <a:r>
              <a:rPr sz="3200" dirty="0">
                <a:latin typeface="Times New Roman"/>
                <a:cs typeface="Times New Roman"/>
              </a:rPr>
              <a:t> </a:t>
            </a:r>
            <a:r>
              <a:rPr sz="3200" spc="-6" dirty="0">
                <a:latin typeface="Times New Roman"/>
                <a:cs typeface="Times New Roman"/>
              </a:rPr>
              <a:t>the</a:t>
            </a:r>
            <a:r>
              <a:rPr lang="en-US" sz="3200" dirty="0">
                <a:latin typeface="Times New Roman"/>
                <a:cs typeface="Times New Roman"/>
              </a:rPr>
              <a:t> </a:t>
            </a:r>
            <a:r>
              <a:rPr sz="3200" spc="-6" dirty="0">
                <a:latin typeface="Times New Roman"/>
                <a:cs typeface="Times New Roman"/>
              </a:rPr>
              <a:t>two-hop</a:t>
            </a:r>
            <a:r>
              <a:rPr sz="3200" spc="-17"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through</a:t>
            </a:r>
            <a:r>
              <a:rPr sz="3200" dirty="0">
                <a:latin typeface="Times New Roman"/>
                <a:cs typeface="Times New Roman"/>
              </a:rPr>
              <a:t> </a:t>
            </a:r>
            <a:r>
              <a:rPr sz="3200" spc="-6" dirty="0">
                <a:latin typeface="Times New Roman"/>
                <a:cs typeface="Times New Roman"/>
              </a:rPr>
              <a:t>R7 because</a:t>
            </a:r>
            <a:r>
              <a:rPr sz="3200" spc="6" dirty="0">
                <a:latin typeface="Times New Roman"/>
                <a:cs typeface="Times New Roman"/>
              </a:rPr>
              <a:t> </a:t>
            </a:r>
            <a:r>
              <a:rPr sz="3200" spc="-6" dirty="0">
                <a:latin typeface="Times New Roman"/>
                <a:cs typeface="Times New Roman"/>
              </a:rPr>
              <a:t>that</a:t>
            </a:r>
            <a:r>
              <a:rPr sz="3200" dirty="0">
                <a:latin typeface="Times New Roman"/>
                <a:cs typeface="Times New Roman"/>
              </a:rPr>
              <a:t> </a:t>
            </a:r>
            <a:r>
              <a:rPr sz="3200" spc="-6" dirty="0">
                <a:latin typeface="Times New Roman"/>
                <a:cs typeface="Times New Roman"/>
              </a:rPr>
              <a:t>route</a:t>
            </a:r>
            <a:r>
              <a:rPr sz="3200" dirty="0">
                <a:latin typeface="Times New Roman"/>
                <a:cs typeface="Times New Roman"/>
              </a:rPr>
              <a:t> </a:t>
            </a:r>
            <a:r>
              <a:rPr sz="3200" spc="-6" dirty="0">
                <a:latin typeface="Times New Roman"/>
                <a:cs typeface="Times New Roman"/>
              </a:rPr>
              <a:t>has</a:t>
            </a:r>
            <a:r>
              <a:rPr sz="3200" dirty="0">
                <a:latin typeface="Times New Roman"/>
                <a:cs typeface="Times New Roman"/>
              </a:rPr>
              <a:t> the</a:t>
            </a:r>
            <a:r>
              <a:rPr sz="3200" spc="-6" dirty="0">
                <a:latin typeface="Times New Roman"/>
                <a:cs typeface="Times New Roman"/>
              </a:rPr>
              <a:t> lowest</a:t>
            </a:r>
            <a:r>
              <a:rPr sz="3200" dirty="0">
                <a:latin typeface="Times New Roman"/>
                <a:cs typeface="Times New Roman"/>
              </a:rPr>
              <a:t> </a:t>
            </a:r>
            <a:r>
              <a:rPr sz="3200" spc="-6" dirty="0">
                <a:latin typeface="Times New Roman"/>
                <a:cs typeface="Times New Roman"/>
              </a:rPr>
              <a:t>metric.</a:t>
            </a:r>
            <a:endParaRPr sz="3200" dirty="0">
              <a:latin typeface="Times New Roman"/>
              <a:cs typeface="Times New Roman"/>
            </a:endParaRPr>
          </a:p>
        </p:txBody>
      </p:sp>
      <p:pic>
        <p:nvPicPr>
          <p:cNvPr id="5" name="object 5"/>
          <p:cNvPicPr/>
          <p:nvPr/>
        </p:nvPicPr>
        <p:blipFill>
          <a:blip r:embed="rId2" cstate="print"/>
          <a:stretch>
            <a:fillRect/>
          </a:stretch>
        </p:blipFill>
        <p:spPr>
          <a:xfrm>
            <a:off x="1247595" y="1739349"/>
            <a:ext cx="6518365" cy="3002247"/>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313048" y="1711578"/>
            <a:ext cx="7055697" cy="3023870"/>
          </a:xfrm>
          <a:prstGeom prst="rect">
            <a:avLst/>
          </a:prstGeom>
        </p:spPr>
      </p:pic>
      <p:sp>
        <p:nvSpPr>
          <p:cNvPr id="2" name="object 2"/>
          <p:cNvSpPr txBox="1">
            <a:spLocks noGrp="1"/>
          </p:cNvSpPr>
          <p:nvPr>
            <p:ph type="title"/>
          </p:nvPr>
        </p:nvSpPr>
        <p:spPr>
          <a:xfrm>
            <a:off x="53820" y="137161"/>
            <a:ext cx="9999803" cy="1368353"/>
          </a:xfrm>
          <a:prstGeom prst="rect">
            <a:avLst/>
          </a:prstGeom>
        </p:spPr>
        <p:txBody>
          <a:bodyPr vert="horz" wrap="square" lIns="0" tIns="13999" rIns="0" bIns="0" rtlCol="0" anchor="ctr">
            <a:spAutoFit/>
          </a:bodyPr>
          <a:lstStyle/>
          <a:p>
            <a:pPr marL="1623908" marR="5600" indent="-1049941">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A</a:t>
            </a:r>
            <a:r>
              <a:rPr b="1" spc="-24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Graphical</a:t>
            </a:r>
            <a:r>
              <a:rPr b="1" spc="-28"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Representation</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of</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 </a:t>
            </a:r>
            <a:r>
              <a:rPr b="1" spc="-97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a:t>
            </a:r>
            <a:r>
              <a:rPr b="1" spc="-94"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Vector</a:t>
            </a:r>
            <a:r>
              <a:rPr b="1" spc="-7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Concept</a:t>
            </a:r>
          </a:p>
        </p:txBody>
      </p:sp>
      <p:sp>
        <p:nvSpPr>
          <p:cNvPr id="3" name="object 3"/>
          <p:cNvSpPr txBox="1"/>
          <p:nvPr/>
        </p:nvSpPr>
        <p:spPr>
          <a:xfrm>
            <a:off x="197645" y="4735448"/>
            <a:ext cx="9286501" cy="1983906"/>
          </a:xfrm>
          <a:prstGeom prst="rect">
            <a:avLst/>
          </a:prstGeom>
        </p:spPr>
        <p:txBody>
          <a:bodyPr vert="horz" wrap="square" lIns="0" tIns="13999" rIns="0" bIns="0" rtlCol="0">
            <a:spAutoFit/>
          </a:bodyPr>
          <a:lstStyle/>
          <a:p>
            <a:pPr marL="470499" marR="5600" indent="-457200">
              <a:spcBef>
                <a:spcPts val="110"/>
              </a:spcBef>
              <a:buClr>
                <a:srgbClr val="D24717"/>
              </a:buClr>
              <a:buSzPct val="85416"/>
              <a:buFont typeface="Wingdings" panose="05000000000000000000" pitchFamily="2" charset="2"/>
              <a:buChar char="Ø"/>
              <a:tabLst>
                <a:tab pos="315682" algn="l"/>
                <a:tab pos="316382" algn="l"/>
              </a:tabLst>
            </a:pPr>
            <a:r>
              <a:rPr sz="3200" dirty="0">
                <a:latin typeface="Times New Roman"/>
                <a:cs typeface="Times New Roman"/>
              </a:rPr>
              <a:t>All the routing protocols know is </a:t>
            </a:r>
            <a:r>
              <a:rPr sz="3200" spc="-11" dirty="0">
                <a:latin typeface="Times New Roman"/>
                <a:cs typeface="Times New Roman"/>
              </a:rPr>
              <a:t>some </a:t>
            </a:r>
            <a:r>
              <a:rPr sz="3200" dirty="0">
                <a:latin typeface="Times New Roman"/>
                <a:cs typeface="Times New Roman"/>
              </a:rPr>
              <a:t>concept of a vector: </a:t>
            </a:r>
            <a:r>
              <a:rPr sz="3200" b="1" dirty="0">
                <a:solidFill>
                  <a:srgbClr val="FF0000"/>
                </a:solidFill>
                <a:latin typeface="Times New Roman"/>
                <a:cs typeface="Times New Roman"/>
              </a:rPr>
              <a:t>a </a:t>
            </a:r>
            <a:r>
              <a:rPr sz="3200" b="1" spc="6" dirty="0">
                <a:solidFill>
                  <a:srgbClr val="FF0000"/>
                </a:solidFill>
                <a:latin typeface="Times New Roman"/>
                <a:cs typeface="Times New Roman"/>
              </a:rPr>
              <a:t> </a:t>
            </a:r>
            <a:r>
              <a:rPr sz="3200" b="1" spc="-6" dirty="0">
                <a:solidFill>
                  <a:srgbClr val="FF0000"/>
                </a:solidFill>
                <a:latin typeface="Times New Roman"/>
                <a:cs typeface="Times New Roman"/>
              </a:rPr>
              <a:t>vector‘s </a:t>
            </a:r>
            <a:r>
              <a:rPr sz="3200" b="1" dirty="0">
                <a:solidFill>
                  <a:srgbClr val="FF0000"/>
                </a:solidFill>
                <a:latin typeface="Times New Roman"/>
                <a:cs typeface="Times New Roman"/>
              </a:rPr>
              <a:t>length is the distance </a:t>
            </a:r>
            <a:r>
              <a:rPr sz="3200" b="1" spc="-6" dirty="0">
                <a:solidFill>
                  <a:srgbClr val="FF0000"/>
                </a:solidFill>
                <a:latin typeface="Times New Roman"/>
                <a:cs typeface="Times New Roman"/>
              </a:rPr>
              <a:t>(metric) </a:t>
            </a:r>
            <a:r>
              <a:rPr sz="3200" b="1" dirty="0">
                <a:solidFill>
                  <a:srgbClr val="FF0000"/>
                </a:solidFill>
                <a:latin typeface="Times New Roman"/>
                <a:cs typeface="Times New Roman"/>
              </a:rPr>
              <a:t>to reach a </a:t>
            </a:r>
            <a:r>
              <a:rPr sz="3200" b="1" spc="-6" dirty="0">
                <a:solidFill>
                  <a:srgbClr val="FF0000"/>
                </a:solidFill>
                <a:latin typeface="Times New Roman"/>
                <a:cs typeface="Times New Roman"/>
              </a:rPr>
              <a:t>subnet</a:t>
            </a:r>
            <a:r>
              <a:rPr sz="3200" spc="-6" dirty="0">
                <a:latin typeface="Times New Roman"/>
                <a:cs typeface="Times New Roman"/>
              </a:rPr>
              <a:t>, </a:t>
            </a:r>
            <a:r>
              <a:rPr sz="3200" dirty="0">
                <a:latin typeface="Times New Roman"/>
                <a:cs typeface="Times New Roman"/>
              </a:rPr>
              <a:t>and a </a:t>
            </a:r>
            <a:r>
              <a:rPr sz="3200" spc="6" dirty="0">
                <a:latin typeface="Times New Roman"/>
                <a:cs typeface="Times New Roman"/>
              </a:rPr>
              <a:t> </a:t>
            </a:r>
            <a:r>
              <a:rPr sz="3200" spc="-6" dirty="0">
                <a:latin typeface="Times New Roman"/>
                <a:cs typeface="Times New Roman"/>
              </a:rPr>
              <a:t>vector‘s</a:t>
            </a:r>
            <a:r>
              <a:rPr sz="3200" spc="-50" dirty="0">
                <a:latin typeface="Times New Roman"/>
                <a:cs typeface="Times New Roman"/>
              </a:rPr>
              <a:t> </a:t>
            </a:r>
            <a:r>
              <a:rPr sz="3200" dirty="0">
                <a:latin typeface="Times New Roman"/>
                <a:cs typeface="Times New Roman"/>
              </a:rPr>
              <a:t>direction</a:t>
            </a:r>
            <a:r>
              <a:rPr sz="3200" spc="-50" dirty="0">
                <a:latin typeface="Times New Roman"/>
                <a:cs typeface="Times New Roman"/>
              </a:rPr>
              <a:t> </a:t>
            </a:r>
            <a:r>
              <a:rPr sz="3200" dirty="0">
                <a:latin typeface="Times New Roman"/>
                <a:cs typeface="Times New Roman"/>
              </a:rPr>
              <a:t>is</a:t>
            </a:r>
            <a:r>
              <a:rPr sz="3200" spc="-11" dirty="0">
                <a:latin typeface="Times New Roman"/>
                <a:cs typeface="Times New Roman"/>
              </a:rPr>
              <a:t> </a:t>
            </a:r>
            <a:r>
              <a:rPr sz="3200" dirty="0">
                <a:latin typeface="Times New Roman"/>
                <a:cs typeface="Times New Roman"/>
              </a:rPr>
              <a:t>through</a:t>
            </a:r>
            <a:r>
              <a:rPr sz="3200" spc="-17" dirty="0">
                <a:latin typeface="Times New Roman"/>
                <a:cs typeface="Times New Roman"/>
              </a:rPr>
              <a:t> </a:t>
            </a:r>
            <a:r>
              <a:rPr sz="3200" dirty="0">
                <a:latin typeface="Times New Roman"/>
                <a:cs typeface="Times New Roman"/>
              </a:rPr>
              <a:t>the</a:t>
            </a:r>
            <a:r>
              <a:rPr sz="3200" spc="-33" dirty="0">
                <a:latin typeface="Times New Roman"/>
                <a:cs typeface="Times New Roman"/>
              </a:rPr>
              <a:t> </a:t>
            </a:r>
            <a:r>
              <a:rPr sz="3200" dirty="0">
                <a:latin typeface="Times New Roman"/>
                <a:cs typeface="Times New Roman"/>
              </a:rPr>
              <a:t>neighbor</a:t>
            </a:r>
            <a:r>
              <a:rPr sz="3200" spc="-22" dirty="0">
                <a:latin typeface="Times New Roman"/>
                <a:cs typeface="Times New Roman"/>
              </a:rPr>
              <a:t> </a:t>
            </a:r>
            <a:r>
              <a:rPr sz="3200" dirty="0">
                <a:latin typeface="Times New Roman"/>
                <a:cs typeface="Times New Roman"/>
              </a:rPr>
              <a:t>that</a:t>
            </a:r>
            <a:r>
              <a:rPr sz="3200" spc="-33" dirty="0">
                <a:latin typeface="Times New Roman"/>
                <a:cs typeface="Times New Roman"/>
              </a:rPr>
              <a:t> </a:t>
            </a:r>
            <a:r>
              <a:rPr sz="3200" dirty="0">
                <a:latin typeface="Times New Roman"/>
                <a:cs typeface="Times New Roman"/>
              </a:rPr>
              <a:t>advertised</a:t>
            </a:r>
            <a:r>
              <a:rPr sz="3200" spc="-44" dirty="0">
                <a:latin typeface="Times New Roman"/>
                <a:cs typeface="Times New Roman"/>
              </a:rPr>
              <a:t> </a:t>
            </a:r>
            <a:r>
              <a:rPr sz="3200" dirty="0">
                <a:latin typeface="Times New Roman"/>
                <a:cs typeface="Times New Roman"/>
              </a:rPr>
              <a:t>the</a:t>
            </a:r>
            <a:r>
              <a:rPr sz="3200" spc="-33" dirty="0">
                <a:latin typeface="Times New Roman"/>
                <a:cs typeface="Times New Roman"/>
              </a:rPr>
              <a:t> </a:t>
            </a:r>
            <a:r>
              <a:rPr sz="3200" dirty="0">
                <a:latin typeface="Times New Roman"/>
                <a:cs typeface="Times New Roman"/>
              </a:rPr>
              <a:t>route.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313048" y="1711578"/>
            <a:ext cx="7055697" cy="3023870"/>
          </a:xfrm>
          <a:prstGeom prst="rect">
            <a:avLst/>
          </a:prstGeom>
        </p:spPr>
      </p:pic>
      <p:sp>
        <p:nvSpPr>
          <p:cNvPr id="2" name="object 2"/>
          <p:cNvSpPr txBox="1">
            <a:spLocks noGrp="1"/>
          </p:cNvSpPr>
          <p:nvPr>
            <p:ph type="title"/>
          </p:nvPr>
        </p:nvSpPr>
        <p:spPr>
          <a:xfrm>
            <a:off x="28060" y="188677"/>
            <a:ext cx="9999803" cy="1368353"/>
          </a:xfrm>
          <a:prstGeom prst="rect">
            <a:avLst/>
          </a:prstGeom>
        </p:spPr>
        <p:txBody>
          <a:bodyPr vert="horz" wrap="square" lIns="0" tIns="13999" rIns="0" bIns="0" rtlCol="0" anchor="ctr">
            <a:spAutoFit/>
          </a:bodyPr>
          <a:lstStyle/>
          <a:p>
            <a:pPr marL="1623908" marR="5600" indent="-1049941">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A</a:t>
            </a:r>
            <a:r>
              <a:rPr b="1" spc="-248"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Graphical</a:t>
            </a:r>
            <a:r>
              <a:rPr b="1" spc="-28"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Representation</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of</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 </a:t>
            </a:r>
            <a:r>
              <a:rPr b="1" spc="-97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Distance</a:t>
            </a:r>
            <a:r>
              <a:rPr b="1" spc="-94" dirty="0">
                <a:solidFill>
                  <a:schemeClr val="bg1"/>
                </a:solidFill>
                <a:latin typeface="Times New Roman" panose="02020603050405020304" pitchFamily="18" charset="0"/>
                <a:cs typeface="Times New Roman" panose="02020603050405020304" pitchFamily="18" charset="0"/>
              </a:rPr>
              <a:t> </a:t>
            </a:r>
            <a:r>
              <a:rPr b="1" spc="-66" dirty="0">
                <a:solidFill>
                  <a:schemeClr val="bg1"/>
                </a:solidFill>
                <a:latin typeface="Times New Roman" panose="02020603050405020304" pitchFamily="18" charset="0"/>
                <a:cs typeface="Times New Roman" panose="02020603050405020304" pitchFamily="18" charset="0"/>
              </a:rPr>
              <a:t>Vector</a:t>
            </a:r>
            <a:r>
              <a:rPr b="1" spc="-7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Concept</a:t>
            </a:r>
          </a:p>
        </p:txBody>
      </p:sp>
      <p:sp>
        <p:nvSpPr>
          <p:cNvPr id="3" name="object 3"/>
          <p:cNvSpPr txBox="1"/>
          <p:nvPr/>
        </p:nvSpPr>
        <p:spPr>
          <a:xfrm>
            <a:off x="197645" y="4856144"/>
            <a:ext cx="9286501" cy="1983906"/>
          </a:xfrm>
          <a:prstGeom prst="rect">
            <a:avLst/>
          </a:prstGeom>
        </p:spPr>
        <p:txBody>
          <a:bodyPr vert="horz" wrap="square" lIns="0" tIns="13999" rIns="0" bIns="0" rtlCol="0">
            <a:spAutoFit/>
          </a:bodyPr>
          <a:lstStyle/>
          <a:p>
            <a:pPr marL="470499" marR="276484" indent="-457200">
              <a:spcBef>
                <a:spcPts val="672"/>
              </a:spcBef>
              <a:buClr>
                <a:srgbClr val="D24717"/>
              </a:buClr>
              <a:buSzPct val="84090"/>
              <a:buFont typeface="Wingdings" panose="05000000000000000000" pitchFamily="2" charset="2"/>
              <a:buChar char="Ø"/>
              <a:tabLst>
                <a:tab pos="315682" algn="l"/>
                <a:tab pos="316382" algn="l"/>
              </a:tabLst>
            </a:pPr>
            <a:r>
              <a:rPr sz="3200" spc="-6" dirty="0">
                <a:latin typeface="Times New Roman"/>
                <a:cs typeface="Times New Roman"/>
              </a:rPr>
              <a:t>All R1</a:t>
            </a:r>
            <a:r>
              <a:rPr sz="3200" spc="6" dirty="0">
                <a:latin typeface="Times New Roman"/>
                <a:cs typeface="Times New Roman"/>
              </a:rPr>
              <a:t> </a:t>
            </a:r>
            <a:r>
              <a:rPr sz="3200" spc="-6" dirty="0">
                <a:latin typeface="Times New Roman"/>
                <a:cs typeface="Times New Roman"/>
              </a:rPr>
              <a:t>knows</a:t>
            </a:r>
            <a:r>
              <a:rPr sz="3200" dirty="0">
                <a:latin typeface="Times New Roman"/>
                <a:cs typeface="Times New Roman"/>
              </a:rPr>
              <a:t> about</a:t>
            </a:r>
            <a:r>
              <a:rPr sz="3200" spc="-22" dirty="0">
                <a:latin typeface="Times New Roman"/>
                <a:cs typeface="Times New Roman"/>
              </a:rPr>
              <a:t> </a:t>
            </a:r>
            <a:r>
              <a:rPr sz="3200" spc="-6" dirty="0">
                <a:latin typeface="Times New Roman"/>
                <a:cs typeface="Times New Roman"/>
              </a:rPr>
              <a:t>subnet X</a:t>
            </a:r>
            <a:r>
              <a:rPr sz="3200" dirty="0">
                <a:latin typeface="Times New Roman"/>
                <a:cs typeface="Times New Roman"/>
              </a:rPr>
              <a:t> </a:t>
            </a:r>
            <a:r>
              <a:rPr sz="3200" spc="-6" dirty="0">
                <a:latin typeface="Times New Roman"/>
                <a:cs typeface="Times New Roman"/>
              </a:rPr>
              <a:t>is</a:t>
            </a:r>
            <a:r>
              <a:rPr sz="3200" dirty="0">
                <a:latin typeface="Times New Roman"/>
                <a:cs typeface="Times New Roman"/>
              </a:rPr>
              <a:t> </a:t>
            </a:r>
            <a:r>
              <a:rPr sz="3200" spc="-22" dirty="0">
                <a:latin typeface="Times New Roman"/>
                <a:cs typeface="Times New Roman"/>
              </a:rPr>
              <a:t>three</a:t>
            </a:r>
            <a:r>
              <a:rPr sz="3200" dirty="0">
                <a:latin typeface="Times New Roman"/>
                <a:cs typeface="Times New Roman"/>
              </a:rPr>
              <a:t> </a:t>
            </a:r>
            <a:r>
              <a:rPr sz="3200" spc="-6" dirty="0">
                <a:latin typeface="Times New Roman"/>
                <a:cs typeface="Times New Roman"/>
              </a:rPr>
              <a:t>vectors.</a:t>
            </a:r>
            <a:r>
              <a:rPr sz="3200" dirty="0">
                <a:latin typeface="Times New Roman"/>
                <a:cs typeface="Times New Roman"/>
              </a:rPr>
              <a:t> </a:t>
            </a:r>
            <a:r>
              <a:rPr sz="3200" spc="-6" dirty="0">
                <a:latin typeface="Times New Roman"/>
                <a:cs typeface="Times New Roman"/>
              </a:rPr>
              <a:t>The length of</a:t>
            </a:r>
            <a:r>
              <a:rPr sz="3200" spc="6"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vectors </a:t>
            </a:r>
            <a:r>
              <a:rPr sz="3200" spc="-590" dirty="0">
                <a:latin typeface="Times New Roman"/>
                <a:cs typeface="Times New Roman"/>
              </a:rPr>
              <a:t> </a:t>
            </a:r>
            <a:r>
              <a:rPr sz="3200" spc="-28" dirty="0">
                <a:latin typeface="Times New Roman"/>
                <a:cs typeface="Times New Roman"/>
              </a:rPr>
              <a:t>represents</a:t>
            </a:r>
            <a:r>
              <a:rPr sz="3200" spc="-11" dirty="0">
                <a:latin typeface="Times New Roman"/>
                <a:cs typeface="Times New Roman"/>
              </a:rPr>
              <a:t> </a:t>
            </a:r>
            <a:r>
              <a:rPr sz="3200" spc="-6" dirty="0">
                <a:latin typeface="Times New Roman"/>
                <a:cs typeface="Times New Roman"/>
              </a:rPr>
              <a:t>how</a:t>
            </a:r>
            <a:r>
              <a:rPr sz="3200" dirty="0">
                <a:latin typeface="Times New Roman"/>
                <a:cs typeface="Times New Roman"/>
              </a:rPr>
              <a:t> </a:t>
            </a:r>
            <a:r>
              <a:rPr sz="3200" spc="-6" dirty="0">
                <a:latin typeface="Times New Roman"/>
                <a:cs typeface="Times New Roman"/>
              </a:rPr>
              <a:t>far away the</a:t>
            </a:r>
            <a:r>
              <a:rPr sz="3200" spc="6" dirty="0">
                <a:latin typeface="Times New Roman"/>
                <a:cs typeface="Times New Roman"/>
              </a:rPr>
              <a:t> </a:t>
            </a:r>
            <a:r>
              <a:rPr sz="3200" spc="-6" dirty="0">
                <a:latin typeface="Times New Roman"/>
                <a:cs typeface="Times New Roman"/>
              </a:rPr>
              <a:t>subnet</a:t>
            </a:r>
            <a:r>
              <a:rPr sz="3200" spc="6" dirty="0">
                <a:latin typeface="Times New Roman"/>
                <a:cs typeface="Times New Roman"/>
              </a:rPr>
              <a:t> </a:t>
            </a:r>
            <a:r>
              <a:rPr sz="3200" spc="-6" dirty="0">
                <a:latin typeface="Times New Roman"/>
                <a:cs typeface="Times New Roman"/>
              </a:rPr>
              <a:t>is</a:t>
            </a:r>
            <a:r>
              <a:rPr sz="3200" spc="6" dirty="0">
                <a:latin typeface="Times New Roman"/>
                <a:cs typeface="Times New Roman"/>
              </a:rPr>
              <a:t> </a:t>
            </a:r>
            <a:r>
              <a:rPr sz="3200" spc="-6" dirty="0">
                <a:latin typeface="Times New Roman"/>
                <a:cs typeface="Times New Roman"/>
              </a:rPr>
              <a:t>over</a:t>
            </a:r>
            <a:r>
              <a:rPr sz="3200" spc="6" dirty="0">
                <a:latin typeface="Times New Roman"/>
                <a:cs typeface="Times New Roman"/>
              </a:rPr>
              <a:t> </a:t>
            </a:r>
            <a:r>
              <a:rPr sz="3200" spc="-6" dirty="0">
                <a:latin typeface="Times New Roman"/>
                <a:cs typeface="Times New Roman"/>
              </a:rPr>
              <a:t>a</a:t>
            </a:r>
            <a:r>
              <a:rPr sz="3200" spc="6" dirty="0">
                <a:latin typeface="Times New Roman"/>
                <a:cs typeface="Times New Roman"/>
              </a:rPr>
              <a:t> </a:t>
            </a:r>
            <a:r>
              <a:rPr sz="3200" spc="-6" dirty="0">
                <a:latin typeface="Times New Roman"/>
                <a:cs typeface="Times New Roman"/>
              </a:rPr>
              <a:t>particular </a:t>
            </a:r>
            <a:r>
              <a:rPr sz="3200" spc="-22" dirty="0">
                <a:latin typeface="Times New Roman"/>
                <a:cs typeface="Times New Roman"/>
              </a:rPr>
              <a:t>route,</a:t>
            </a:r>
            <a:r>
              <a:rPr sz="3200" dirty="0">
                <a:latin typeface="Times New Roman"/>
                <a:cs typeface="Times New Roman"/>
              </a:rPr>
              <a:t> </a:t>
            </a:r>
            <a:r>
              <a:rPr sz="3200" spc="-6" dirty="0">
                <a:latin typeface="Times New Roman"/>
                <a:cs typeface="Times New Roman"/>
              </a:rPr>
              <a:t>and</a:t>
            </a:r>
            <a:r>
              <a:rPr sz="3200" spc="6" dirty="0">
                <a:latin typeface="Times New Roman"/>
                <a:cs typeface="Times New Roman"/>
              </a:rPr>
              <a:t> </a:t>
            </a:r>
            <a:r>
              <a:rPr sz="3200" spc="-6" dirty="0">
                <a:latin typeface="Times New Roman"/>
                <a:cs typeface="Times New Roman"/>
              </a:rPr>
              <a:t>the </a:t>
            </a:r>
            <a:r>
              <a:rPr sz="3200" dirty="0">
                <a:latin typeface="Times New Roman"/>
                <a:cs typeface="Times New Roman"/>
              </a:rPr>
              <a:t> </a:t>
            </a:r>
            <a:r>
              <a:rPr sz="3200" spc="-17" dirty="0">
                <a:latin typeface="Times New Roman"/>
                <a:cs typeface="Times New Roman"/>
              </a:rPr>
              <a:t>direction</a:t>
            </a:r>
            <a:r>
              <a:rPr sz="3200" spc="-22" dirty="0">
                <a:latin typeface="Times New Roman"/>
                <a:cs typeface="Times New Roman"/>
              </a:rPr>
              <a:t> </a:t>
            </a:r>
            <a:r>
              <a:rPr sz="3200" spc="-6" dirty="0">
                <a:latin typeface="Times New Roman"/>
                <a:cs typeface="Times New Roman"/>
              </a:rPr>
              <a:t>of</a:t>
            </a:r>
            <a:r>
              <a:rPr sz="3200" dirty="0">
                <a:latin typeface="Times New Roman"/>
                <a:cs typeface="Times New Roman"/>
              </a:rPr>
              <a:t> the</a:t>
            </a:r>
            <a:r>
              <a:rPr sz="3200" spc="-6" dirty="0">
                <a:latin typeface="Times New Roman"/>
                <a:cs typeface="Times New Roman"/>
              </a:rPr>
              <a:t> vector </a:t>
            </a:r>
            <a:r>
              <a:rPr sz="3200" spc="-28" dirty="0">
                <a:latin typeface="Times New Roman"/>
                <a:cs typeface="Times New Roman"/>
              </a:rPr>
              <a:t>represents</a:t>
            </a:r>
            <a:r>
              <a:rPr sz="3200" spc="-6" dirty="0">
                <a:latin typeface="Times New Roman"/>
                <a:cs typeface="Times New Roman"/>
              </a:rPr>
              <a:t> </a:t>
            </a:r>
            <a:r>
              <a:rPr sz="3200" dirty="0">
                <a:latin typeface="Times New Roman"/>
                <a:cs typeface="Times New Roman"/>
              </a:rPr>
              <a:t>the</a:t>
            </a:r>
            <a:r>
              <a:rPr sz="3200" spc="-17" dirty="0">
                <a:latin typeface="Times New Roman"/>
                <a:cs typeface="Times New Roman"/>
              </a:rPr>
              <a:t> </a:t>
            </a:r>
            <a:r>
              <a:rPr sz="3200" dirty="0">
                <a:latin typeface="Times New Roman"/>
                <a:cs typeface="Times New Roman"/>
              </a:rPr>
              <a:t>next-hop</a:t>
            </a:r>
            <a:r>
              <a:rPr sz="3200" spc="6" dirty="0">
                <a:latin typeface="Times New Roman"/>
                <a:cs typeface="Times New Roman"/>
              </a:rPr>
              <a:t> </a:t>
            </a:r>
            <a:r>
              <a:rPr sz="3200" spc="-55" dirty="0">
                <a:latin typeface="Times New Roman"/>
                <a:cs typeface="Times New Roman"/>
              </a:rPr>
              <a:t>router.</a:t>
            </a:r>
            <a:endParaRPr sz="3200" dirty="0">
              <a:latin typeface="Times New Roman"/>
              <a:cs typeface="Times New Roman"/>
            </a:endParaRPr>
          </a:p>
        </p:txBody>
      </p:sp>
    </p:spTree>
    <p:extLst>
      <p:ext uri="{BB962C8B-B14F-4D97-AF65-F5344CB8AC3E}">
        <p14:creationId xmlns:p14="http://schemas.microsoft.com/office/powerpoint/2010/main" val="13900487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1666" y="458655"/>
            <a:ext cx="8635529"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Distance</a:t>
            </a:r>
            <a:r>
              <a:rPr sz="4409" b="1" spc="-94" dirty="0">
                <a:solidFill>
                  <a:schemeClr val="bg1"/>
                </a:solidFill>
                <a:latin typeface="Times New Roman" panose="02020603050405020304" pitchFamily="18" charset="0"/>
                <a:cs typeface="Times New Roman" panose="02020603050405020304" pitchFamily="18" charset="0"/>
              </a:rPr>
              <a:t> </a:t>
            </a:r>
            <a:r>
              <a:rPr sz="4409" b="1" spc="-72" dirty="0">
                <a:solidFill>
                  <a:schemeClr val="bg1"/>
                </a:solidFill>
                <a:latin typeface="Times New Roman" panose="02020603050405020304" pitchFamily="18" charset="0"/>
                <a:cs typeface="Times New Roman" panose="02020603050405020304" pitchFamily="18" charset="0"/>
              </a:rPr>
              <a:t>Vector</a:t>
            </a:r>
            <a:r>
              <a:rPr sz="4409" b="1" spc="-83"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Protocols </a:t>
            </a:r>
            <a:r>
              <a:rPr sz="4409" b="1" spc="-6" dirty="0">
                <a:solidFill>
                  <a:schemeClr val="bg1"/>
                </a:solidFill>
                <a:latin typeface="Times New Roman" panose="02020603050405020304" pitchFamily="18" charset="0"/>
                <a:cs typeface="Times New Roman" panose="02020603050405020304" pitchFamily="18" charset="0"/>
              </a:rPr>
              <a:t>Summary</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15910" y="1619170"/>
            <a:ext cx="9852338" cy="5298340"/>
          </a:xfrm>
          <a:prstGeom prst="rect">
            <a:avLst/>
          </a:prstGeom>
        </p:spPr>
        <p:txBody>
          <a:bodyPr vert="horz" wrap="square" lIns="0" tIns="14699" rIns="0" bIns="0" rtlCol="0">
            <a:spAutoFit/>
          </a:bodyPr>
          <a:lstStyle/>
          <a:p>
            <a:pPr marL="470499" marR="5600" indent="-457200">
              <a:spcBef>
                <a:spcPts val="116"/>
              </a:spcBef>
              <a:buClr>
                <a:srgbClr val="D24717"/>
              </a:buClr>
              <a:buSzPct val="84615"/>
              <a:buFont typeface="Wingdings" panose="05000000000000000000" pitchFamily="2" charset="2"/>
              <a:buChar char="Ø"/>
              <a:tabLst>
                <a:tab pos="316382" algn="l"/>
              </a:tabLst>
            </a:pPr>
            <a:r>
              <a:rPr sz="3200" spc="-99" dirty="0">
                <a:latin typeface="Times New Roman"/>
                <a:cs typeface="Times New Roman"/>
              </a:rPr>
              <a:t>To</a:t>
            </a:r>
            <a:r>
              <a:rPr sz="3200" spc="-28" dirty="0">
                <a:latin typeface="Times New Roman"/>
                <a:cs typeface="Times New Roman"/>
              </a:rPr>
              <a:t> </a:t>
            </a:r>
            <a:r>
              <a:rPr sz="3200" spc="-6" dirty="0">
                <a:latin typeface="Times New Roman"/>
                <a:cs typeface="Times New Roman"/>
              </a:rPr>
              <a:t>summarize,</a:t>
            </a:r>
            <a:r>
              <a:rPr sz="3200" dirty="0">
                <a:latin typeface="Times New Roman"/>
                <a:cs typeface="Times New Roman"/>
              </a:rPr>
              <a:t> distance </a:t>
            </a:r>
            <a:r>
              <a:rPr sz="3200" spc="-6" dirty="0">
                <a:latin typeface="Times New Roman"/>
                <a:cs typeface="Times New Roman"/>
              </a:rPr>
              <a:t>vector</a:t>
            </a:r>
            <a:r>
              <a:rPr sz="3200" spc="-28" dirty="0">
                <a:latin typeface="Times New Roman"/>
                <a:cs typeface="Times New Roman"/>
              </a:rPr>
              <a:t> </a:t>
            </a:r>
            <a:r>
              <a:rPr sz="3200" dirty="0">
                <a:latin typeface="Times New Roman"/>
                <a:cs typeface="Times New Roman"/>
              </a:rPr>
              <a:t>protocols</a:t>
            </a:r>
            <a:r>
              <a:rPr sz="3200" spc="-22" dirty="0">
                <a:latin typeface="Times New Roman"/>
                <a:cs typeface="Times New Roman"/>
              </a:rPr>
              <a:t> </a:t>
            </a:r>
            <a:r>
              <a:rPr sz="3200" dirty="0">
                <a:latin typeface="Times New Roman"/>
                <a:cs typeface="Times New Roman"/>
              </a:rPr>
              <a:t>use</a:t>
            </a:r>
            <a:r>
              <a:rPr sz="3200" spc="-22"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dirty="0">
                <a:latin typeface="Times New Roman"/>
                <a:cs typeface="Times New Roman"/>
              </a:rPr>
              <a:t>following </a:t>
            </a:r>
            <a:r>
              <a:rPr sz="3200" spc="-700" dirty="0">
                <a:latin typeface="Times New Roman"/>
                <a:cs typeface="Times New Roman"/>
              </a:rPr>
              <a:t> </a:t>
            </a:r>
            <a:r>
              <a:rPr sz="3200" dirty="0">
                <a:latin typeface="Times New Roman"/>
                <a:cs typeface="Times New Roman"/>
              </a:rPr>
              <a:t>concepts:</a:t>
            </a:r>
          </a:p>
          <a:p>
            <a:pPr marL="773582" lvl="1" indent="-302383">
              <a:spcBef>
                <a:spcPts val="661"/>
              </a:spcBef>
              <a:buClr>
                <a:srgbClr val="D24717"/>
              </a:buClr>
              <a:buSzPct val="84615"/>
              <a:buFont typeface="Wingdings"/>
              <a:buChar char=""/>
              <a:tabLst>
                <a:tab pos="316382" algn="l"/>
              </a:tabLst>
            </a:pPr>
            <a:r>
              <a:rPr sz="3200" dirty="0">
                <a:latin typeface="Times New Roman"/>
                <a:cs typeface="Times New Roman"/>
              </a:rPr>
              <a:t>They</a:t>
            </a:r>
            <a:r>
              <a:rPr sz="3200" spc="-55" dirty="0">
                <a:latin typeface="Times New Roman"/>
                <a:cs typeface="Times New Roman"/>
              </a:rPr>
              <a:t> </a:t>
            </a:r>
            <a:r>
              <a:rPr sz="3200" spc="-6" dirty="0">
                <a:latin typeface="Times New Roman"/>
                <a:cs typeface="Times New Roman"/>
              </a:rPr>
              <a:t>send</a:t>
            </a:r>
            <a:r>
              <a:rPr sz="3200" spc="-11" dirty="0">
                <a:latin typeface="Times New Roman"/>
                <a:cs typeface="Times New Roman"/>
              </a:rPr>
              <a:t> </a:t>
            </a:r>
            <a:r>
              <a:rPr sz="3200" dirty="0">
                <a:latin typeface="Times New Roman"/>
                <a:cs typeface="Times New Roman"/>
              </a:rPr>
              <a:t>full</a:t>
            </a:r>
            <a:r>
              <a:rPr sz="3200" spc="-17" dirty="0">
                <a:latin typeface="Times New Roman"/>
                <a:cs typeface="Times New Roman"/>
              </a:rPr>
              <a:t> </a:t>
            </a:r>
            <a:r>
              <a:rPr sz="3200" b="1" dirty="0">
                <a:solidFill>
                  <a:srgbClr val="FF0000"/>
                </a:solidFill>
                <a:latin typeface="Times New Roman"/>
                <a:cs typeface="Times New Roman"/>
              </a:rPr>
              <a:t>periodic</a:t>
            </a:r>
            <a:r>
              <a:rPr sz="3200" b="1" spc="-28" dirty="0">
                <a:solidFill>
                  <a:srgbClr val="FF0000"/>
                </a:solidFill>
                <a:latin typeface="Times New Roman"/>
                <a:cs typeface="Times New Roman"/>
              </a:rPr>
              <a:t> </a:t>
            </a:r>
            <a:r>
              <a:rPr sz="3200" b="1" dirty="0">
                <a:solidFill>
                  <a:srgbClr val="FF0000"/>
                </a:solidFill>
                <a:latin typeface="Times New Roman"/>
                <a:cs typeface="Times New Roman"/>
              </a:rPr>
              <a:t>routing</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updates</a:t>
            </a:r>
            <a:r>
              <a:rPr sz="3200" dirty="0">
                <a:latin typeface="Times New Roman"/>
                <a:cs typeface="Times New Roman"/>
              </a:rPr>
              <a:t>.</a:t>
            </a:r>
          </a:p>
          <a:p>
            <a:pPr marL="772882" marR="191089" lvl="1" indent="-302383">
              <a:spcBef>
                <a:spcPts val="661"/>
              </a:spcBef>
              <a:buClr>
                <a:srgbClr val="D24717"/>
              </a:buClr>
              <a:buSzPct val="84615"/>
              <a:buFont typeface="Wingdings"/>
              <a:buChar char=""/>
              <a:tabLst>
                <a:tab pos="398278" algn="l"/>
                <a:tab pos="399677" algn="l"/>
              </a:tabLst>
            </a:pPr>
            <a:r>
              <a:rPr lang="en-US" sz="3200" spc="6" dirty="0">
                <a:latin typeface="Times New Roman"/>
                <a:cs typeface="Times New Roman"/>
              </a:rPr>
              <a:t>T</a:t>
            </a:r>
            <a:r>
              <a:rPr sz="3200" spc="6" dirty="0">
                <a:latin typeface="Times New Roman"/>
                <a:cs typeface="Times New Roman"/>
              </a:rPr>
              <a:t>he</a:t>
            </a:r>
            <a:r>
              <a:rPr sz="3200" spc="-22" dirty="0">
                <a:latin typeface="Times New Roman"/>
                <a:cs typeface="Times New Roman"/>
              </a:rPr>
              <a:t> </a:t>
            </a:r>
            <a:r>
              <a:rPr sz="3200" dirty="0">
                <a:latin typeface="Times New Roman"/>
                <a:cs typeface="Times New Roman"/>
              </a:rPr>
              <a:t>updates</a:t>
            </a:r>
            <a:r>
              <a:rPr sz="3200" spc="-22" dirty="0">
                <a:latin typeface="Times New Roman"/>
                <a:cs typeface="Times New Roman"/>
              </a:rPr>
              <a:t> </a:t>
            </a:r>
            <a:r>
              <a:rPr sz="3200" dirty="0">
                <a:latin typeface="Times New Roman"/>
                <a:cs typeface="Times New Roman"/>
              </a:rPr>
              <a:t>include</a:t>
            </a:r>
            <a:r>
              <a:rPr sz="3200" spc="-39" dirty="0">
                <a:latin typeface="Times New Roman"/>
                <a:cs typeface="Times New Roman"/>
              </a:rPr>
              <a:t> </a:t>
            </a:r>
            <a:r>
              <a:rPr sz="3200" dirty="0">
                <a:latin typeface="Times New Roman"/>
                <a:cs typeface="Times New Roman"/>
              </a:rPr>
              <a:t>a</a:t>
            </a:r>
            <a:r>
              <a:rPr sz="3200" spc="-11" dirty="0">
                <a:latin typeface="Times New Roman"/>
                <a:cs typeface="Times New Roman"/>
              </a:rPr>
              <a:t> </a:t>
            </a:r>
            <a:r>
              <a:rPr sz="3200" spc="-6" dirty="0">
                <a:latin typeface="Times New Roman"/>
                <a:cs typeface="Times New Roman"/>
              </a:rPr>
              <a:t>list</a:t>
            </a:r>
            <a:r>
              <a:rPr sz="3200" spc="6" dirty="0">
                <a:latin typeface="Times New Roman"/>
                <a:cs typeface="Times New Roman"/>
              </a:rPr>
              <a:t> </a:t>
            </a:r>
            <a:r>
              <a:rPr sz="3200" dirty="0">
                <a:latin typeface="Times New Roman"/>
                <a:cs typeface="Times New Roman"/>
              </a:rPr>
              <a:t>of</a:t>
            </a:r>
            <a:r>
              <a:rPr sz="3200" spc="-11" dirty="0">
                <a:latin typeface="Times New Roman"/>
                <a:cs typeface="Times New Roman"/>
              </a:rPr>
              <a:t> </a:t>
            </a:r>
            <a:r>
              <a:rPr sz="3200" dirty="0">
                <a:latin typeface="Times New Roman"/>
                <a:cs typeface="Times New Roman"/>
              </a:rPr>
              <a:t>subnets</a:t>
            </a:r>
            <a:r>
              <a:rPr sz="3200" spc="-11" dirty="0">
                <a:latin typeface="Times New Roman"/>
                <a:cs typeface="Times New Roman"/>
              </a:rPr>
              <a:t> </a:t>
            </a:r>
            <a:r>
              <a:rPr sz="3200" dirty="0">
                <a:latin typeface="Times New Roman"/>
                <a:cs typeface="Times New Roman"/>
              </a:rPr>
              <a:t>and</a:t>
            </a:r>
            <a:r>
              <a:rPr sz="3200" spc="-28" dirty="0">
                <a:latin typeface="Times New Roman"/>
                <a:cs typeface="Times New Roman"/>
              </a:rPr>
              <a:t> </a:t>
            </a:r>
            <a:r>
              <a:rPr sz="3200" spc="-6" dirty="0">
                <a:latin typeface="Times New Roman"/>
                <a:cs typeface="Times New Roman"/>
              </a:rPr>
              <a:t>their</a:t>
            </a:r>
            <a:r>
              <a:rPr sz="3200" dirty="0">
                <a:latin typeface="Times New Roman"/>
                <a:cs typeface="Times New Roman"/>
              </a:rPr>
              <a:t> </a:t>
            </a:r>
            <a:r>
              <a:rPr sz="3200" spc="-6" dirty="0">
                <a:latin typeface="Times New Roman"/>
                <a:cs typeface="Times New Roman"/>
              </a:rPr>
              <a:t>respective </a:t>
            </a:r>
            <a:r>
              <a:rPr sz="3200" spc="-700" dirty="0">
                <a:latin typeface="Times New Roman"/>
                <a:cs typeface="Times New Roman"/>
              </a:rPr>
              <a:t> </a:t>
            </a:r>
            <a:r>
              <a:rPr sz="3200" spc="-6" dirty="0">
                <a:latin typeface="Times New Roman"/>
                <a:cs typeface="Times New Roman"/>
              </a:rPr>
              <a:t>distances</a:t>
            </a:r>
            <a:r>
              <a:rPr sz="3200" spc="-33" dirty="0">
                <a:latin typeface="Times New Roman"/>
                <a:cs typeface="Times New Roman"/>
              </a:rPr>
              <a:t> </a:t>
            </a:r>
            <a:r>
              <a:rPr sz="3200" spc="-6" dirty="0">
                <a:latin typeface="Times New Roman"/>
                <a:cs typeface="Times New Roman"/>
              </a:rPr>
              <a:t>(metrics),</a:t>
            </a:r>
            <a:r>
              <a:rPr sz="3200" spc="17" dirty="0">
                <a:latin typeface="Times New Roman"/>
                <a:cs typeface="Times New Roman"/>
              </a:rPr>
              <a:t> </a:t>
            </a:r>
            <a:r>
              <a:rPr sz="3200" spc="6" dirty="0">
                <a:latin typeface="Times New Roman"/>
                <a:cs typeface="Times New Roman"/>
              </a:rPr>
              <a:t>but</a:t>
            </a:r>
            <a:r>
              <a:rPr sz="3200" spc="-22" dirty="0">
                <a:latin typeface="Times New Roman"/>
                <a:cs typeface="Times New Roman"/>
              </a:rPr>
              <a:t> </a:t>
            </a:r>
            <a:r>
              <a:rPr sz="3200" dirty="0">
                <a:latin typeface="Times New Roman"/>
                <a:cs typeface="Times New Roman"/>
              </a:rPr>
              <a:t>nothing</a:t>
            </a:r>
            <a:r>
              <a:rPr sz="3200" spc="-33" dirty="0">
                <a:latin typeface="Times New Roman"/>
                <a:cs typeface="Times New Roman"/>
              </a:rPr>
              <a:t> </a:t>
            </a:r>
            <a:r>
              <a:rPr sz="3200" spc="-6" dirty="0">
                <a:latin typeface="Times New Roman"/>
                <a:cs typeface="Times New Roman"/>
              </a:rPr>
              <a:t>else.</a:t>
            </a:r>
            <a:endParaRPr sz="3200" dirty="0">
              <a:latin typeface="Times New Roman"/>
              <a:cs typeface="Times New Roman"/>
            </a:endParaRPr>
          </a:p>
          <a:p>
            <a:pPr marL="772882" marR="926748" lvl="1" indent="-302383">
              <a:spcBef>
                <a:spcPts val="661"/>
              </a:spcBef>
              <a:buClr>
                <a:srgbClr val="D24717"/>
              </a:buClr>
              <a:buSzPct val="84615"/>
              <a:buFont typeface="Wingdings"/>
              <a:buChar char=""/>
              <a:tabLst>
                <a:tab pos="316382" algn="l"/>
              </a:tabLst>
            </a:pPr>
            <a:r>
              <a:rPr sz="3200" dirty="0">
                <a:latin typeface="Times New Roman"/>
                <a:cs typeface="Times New Roman"/>
              </a:rPr>
              <a:t>Routers</a:t>
            </a:r>
            <a:r>
              <a:rPr sz="3200" spc="-44" dirty="0">
                <a:latin typeface="Times New Roman"/>
                <a:cs typeface="Times New Roman"/>
              </a:rPr>
              <a:t> </a:t>
            </a:r>
            <a:r>
              <a:rPr sz="3200" dirty="0">
                <a:latin typeface="Times New Roman"/>
                <a:cs typeface="Times New Roman"/>
              </a:rPr>
              <a:t>do</a:t>
            </a:r>
            <a:r>
              <a:rPr sz="3200" spc="-6" dirty="0">
                <a:latin typeface="Times New Roman"/>
                <a:cs typeface="Times New Roman"/>
              </a:rPr>
              <a:t> </a:t>
            </a:r>
            <a:r>
              <a:rPr sz="3200" spc="6" dirty="0">
                <a:latin typeface="Times New Roman"/>
                <a:cs typeface="Times New Roman"/>
              </a:rPr>
              <a:t>not</a:t>
            </a:r>
            <a:r>
              <a:rPr sz="3200" spc="-22" dirty="0">
                <a:latin typeface="Times New Roman"/>
                <a:cs typeface="Times New Roman"/>
              </a:rPr>
              <a:t> </a:t>
            </a:r>
            <a:r>
              <a:rPr sz="3200" dirty="0">
                <a:latin typeface="Times New Roman"/>
                <a:cs typeface="Times New Roman"/>
              </a:rPr>
              <a:t>know</a:t>
            </a:r>
            <a:r>
              <a:rPr sz="3200" spc="-22"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spc="-6" dirty="0">
                <a:latin typeface="Times New Roman"/>
                <a:cs typeface="Times New Roman"/>
              </a:rPr>
              <a:t>details </a:t>
            </a:r>
            <a:r>
              <a:rPr sz="3200" dirty="0">
                <a:latin typeface="Times New Roman"/>
                <a:cs typeface="Times New Roman"/>
              </a:rPr>
              <a:t>about</a:t>
            </a:r>
            <a:r>
              <a:rPr sz="3200" spc="-17" dirty="0">
                <a:latin typeface="Times New Roman"/>
                <a:cs typeface="Times New Roman"/>
              </a:rPr>
              <a:t> </a:t>
            </a:r>
            <a:r>
              <a:rPr sz="3200" dirty="0">
                <a:latin typeface="Times New Roman"/>
                <a:cs typeface="Times New Roman"/>
              </a:rPr>
              <a:t>the</a:t>
            </a:r>
            <a:r>
              <a:rPr sz="3200" spc="-17" dirty="0">
                <a:latin typeface="Times New Roman"/>
                <a:cs typeface="Times New Roman"/>
              </a:rPr>
              <a:t> network‘s </a:t>
            </a:r>
            <a:r>
              <a:rPr sz="3200" spc="-700" dirty="0">
                <a:latin typeface="Times New Roman"/>
                <a:cs typeface="Times New Roman"/>
              </a:rPr>
              <a:t> </a:t>
            </a:r>
            <a:r>
              <a:rPr sz="3200" dirty="0">
                <a:latin typeface="Times New Roman"/>
                <a:cs typeface="Times New Roman"/>
              </a:rPr>
              <a:t>topology</a:t>
            </a:r>
            <a:r>
              <a:rPr sz="3200" spc="-55" dirty="0">
                <a:latin typeface="Times New Roman"/>
                <a:cs typeface="Times New Roman"/>
              </a:rPr>
              <a:t> </a:t>
            </a:r>
            <a:r>
              <a:rPr sz="3200" dirty="0">
                <a:latin typeface="Times New Roman"/>
                <a:cs typeface="Times New Roman"/>
              </a:rPr>
              <a:t>beyond</a:t>
            </a:r>
            <a:r>
              <a:rPr sz="3200" spc="-33" dirty="0">
                <a:latin typeface="Times New Roman"/>
                <a:cs typeface="Times New Roman"/>
              </a:rPr>
              <a:t> </a:t>
            </a:r>
            <a:r>
              <a:rPr sz="3200" dirty="0">
                <a:latin typeface="Times New Roman"/>
                <a:cs typeface="Times New Roman"/>
              </a:rPr>
              <a:t>a</a:t>
            </a:r>
            <a:r>
              <a:rPr sz="3200" spc="-11" dirty="0">
                <a:latin typeface="Times New Roman"/>
                <a:cs typeface="Times New Roman"/>
              </a:rPr>
              <a:t> </a:t>
            </a:r>
            <a:r>
              <a:rPr sz="3200" dirty="0">
                <a:latin typeface="Times New Roman"/>
                <a:cs typeface="Times New Roman"/>
              </a:rPr>
              <a:t>neighboring</a:t>
            </a:r>
            <a:r>
              <a:rPr sz="3200" spc="-55" dirty="0">
                <a:latin typeface="Times New Roman"/>
                <a:cs typeface="Times New Roman"/>
              </a:rPr>
              <a:t> </a:t>
            </a:r>
            <a:r>
              <a:rPr sz="3200" spc="-22" dirty="0">
                <a:latin typeface="Times New Roman"/>
                <a:cs typeface="Times New Roman"/>
              </a:rPr>
              <a:t>router.</a:t>
            </a:r>
            <a:endParaRPr sz="3200" dirty="0">
              <a:latin typeface="Times New Roman"/>
              <a:cs typeface="Times New Roman"/>
            </a:endParaRPr>
          </a:p>
          <a:p>
            <a:pPr marL="772882" marR="264584" lvl="1" indent="-302383" algn="just">
              <a:spcBef>
                <a:spcPts val="667"/>
              </a:spcBef>
              <a:buClr>
                <a:srgbClr val="D24717"/>
              </a:buClr>
              <a:buSzPct val="84615"/>
              <a:buFont typeface="Wingdings"/>
              <a:buChar char=""/>
              <a:tabLst>
                <a:tab pos="316382" algn="l"/>
              </a:tabLst>
            </a:pPr>
            <a:r>
              <a:rPr sz="3200" dirty="0">
                <a:latin typeface="Times New Roman"/>
                <a:cs typeface="Times New Roman"/>
              </a:rPr>
              <a:t>Like </a:t>
            </a:r>
            <a:r>
              <a:rPr sz="3200" spc="-6" dirty="0">
                <a:latin typeface="Times New Roman"/>
                <a:cs typeface="Times New Roman"/>
              </a:rPr>
              <a:t>all </a:t>
            </a:r>
            <a:r>
              <a:rPr sz="3200" dirty="0">
                <a:latin typeface="Times New Roman"/>
                <a:cs typeface="Times New Roman"/>
              </a:rPr>
              <a:t>routing protocols, if </a:t>
            </a:r>
            <a:r>
              <a:rPr sz="3200" spc="-6" dirty="0">
                <a:latin typeface="Times New Roman"/>
                <a:cs typeface="Times New Roman"/>
              </a:rPr>
              <a:t>multiple </a:t>
            </a:r>
            <a:r>
              <a:rPr sz="3200" dirty="0">
                <a:latin typeface="Times New Roman"/>
                <a:cs typeface="Times New Roman"/>
              </a:rPr>
              <a:t>routes to the </a:t>
            </a:r>
            <a:r>
              <a:rPr sz="3200" spc="-11" dirty="0">
                <a:latin typeface="Times New Roman"/>
                <a:cs typeface="Times New Roman"/>
              </a:rPr>
              <a:t>same </a:t>
            </a:r>
            <a:r>
              <a:rPr sz="3200" spc="-6" dirty="0">
                <a:latin typeface="Times New Roman"/>
                <a:cs typeface="Times New Roman"/>
              </a:rPr>
              <a:t> </a:t>
            </a:r>
            <a:r>
              <a:rPr sz="3200" dirty="0">
                <a:latin typeface="Times New Roman"/>
                <a:cs typeface="Times New Roman"/>
              </a:rPr>
              <a:t>subnet</a:t>
            </a:r>
            <a:r>
              <a:rPr sz="3200" spc="-39" dirty="0">
                <a:latin typeface="Times New Roman"/>
                <a:cs typeface="Times New Roman"/>
              </a:rPr>
              <a:t> </a:t>
            </a:r>
            <a:r>
              <a:rPr sz="3200" spc="-6" dirty="0">
                <a:latin typeface="Times New Roman"/>
                <a:cs typeface="Times New Roman"/>
              </a:rPr>
              <a:t>exist,</a:t>
            </a:r>
            <a:r>
              <a:rPr sz="3200" dirty="0">
                <a:latin typeface="Times New Roman"/>
                <a:cs typeface="Times New Roman"/>
              </a:rPr>
              <a:t> the</a:t>
            </a:r>
            <a:r>
              <a:rPr sz="3200" spc="-17" dirty="0">
                <a:latin typeface="Times New Roman"/>
                <a:cs typeface="Times New Roman"/>
              </a:rPr>
              <a:t> </a:t>
            </a:r>
            <a:r>
              <a:rPr sz="3200" dirty="0">
                <a:latin typeface="Times New Roman"/>
                <a:cs typeface="Times New Roman"/>
              </a:rPr>
              <a:t>router</a:t>
            </a:r>
            <a:r>
              <a:rPr sz="3200" spc="-22" dirty="0">
                <a:latin typeface="Times New Roman"/>
                <a:cs typeface="Times New Roman"/>
              </a:rPr>
              <a:t> </a:t>
            </a:r>
            <a:r>
              <a:rPr sz="3200" dirty="0">
                <a:latin typeface="Times New Roman"/>
                <a:cs typeface="Times New Roman"/>
              </a:rPr>
              <a:t>chooses</a:t>
            </a:r>
            <a:r>
              <a:rPr sz="3200" spc="-22"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dirty="0">
                <a:latin typeface="Times New Roman"/>
                <a:cs typeface="Times New Roman"/>
              </a:rPr>
              <a:t>route</a:t>
            </a:r>
            <a:r>
              <a:rPr sz="3200" spc="-28" dirty="0">
                <a:latin typeface="Times New Roman"/>
                <a:cs typeface="Times New Roman"/>
              </a:rPr>
              <a:t> </a:t>
            </a:r>
            <a:r>
              <a:rPr sz="3200" dirty="0">
                <a:latin typeface="Times New Roman"/>
                <a:cs typeface="Times New Roman"/>
              </a:rPr>
              <a:t>with</a:t>
            </a:r>
            <a:r>
              <a:rPr sz="3200" spc="6" dirty="0">
                <a:latin typeface="Times New Roman"/>
                <a:cs typeface="Times New Roman"/>
              </a:rPr>
              <a:t> </a:t>
            </a:r>
            <a:r>
              <a:rPr sz="3200" dirty="0">
                <a:latin typeface="Times New Roman"/>
                <a:cs typeface="Times New Roman"/>
              </a:rPr>
              <a:t>the </a:t>
            </a:r>
            <a:r>
              <a:rPr sz="3200" spc="-6" dirty="0">
                <a:latin typeface="Times New Roman"/>
                <a:cs typeface="Times New Roman"/>
              </a:rPr>
              <a:t>lowest </a:t>
            </a:r>
            <a:r>
              <a:rPr sz="3200" spc="-700" dirty="0">
                <a:latin typeface="Times New Roman"/>
                <a:cs typeface="Times New Roman"/>
              </a:rPr>
              <a:t> </a:t>
            </a:r>
            <a:r>
              <a:rPr sz="3200" spc="-6" dirty="0">
                <a:latin typeface="Times New Roman"/>
                <a:cs typeface="Times New Roman"/>
              </a:rPr>
              <a:t>metric.</a:t>
            </a:r>
            <a:endParaRPr sz="3200" dirty="0">
              <a:latin typeface="Times New Roman"/>
              <a:cs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7433" y="497291"/>
            <a:ext cx="7017898"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Link-State</a:t>
            </a:r>
            <a:r>
              <a:rPr sz="4409" b="1" spc="-17"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Routing</a:t>
            </a:r>
            <a:r>
              <a:rPr sz="4409" b="1"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41668" y="1753547"/>
            <a:ext cx="9938957" cy="4850651"/>
          </a:xfrm>
          <a:prstGeom prst="rect">
            <a:avLst/>
          </a:prstGeom>
        </p:spPr>
        <p:txBody>
          <a:bodyPr vert="horz" wrap="square" lIns="0" tIns="13299" rIns="0" bIns="0" rtlCol="0">
            <a:spAutoFit/>
          </a:bodyPr>
          <a:lstStyle/>
          <a:p>
            <a:pPr marL="470499" marR="768557" indent="-457200">
              <a:spcBef>
                <a:spcPts val="105"/>
              </a:spcBef>
              <a:buClr>
                <a:srgbClr val="D24717"/>
              </a:buClr>
              <a:buSzPct val="83928"/>
              <a:buFont typeface="Wingdings" panose="05000000000000000000" pitchFamily="2" charset="2"/>
              <a:buChar char="Ø"/>
              <a:tabLst>
                <a:tab pos="316382" algn="l"/>
              </a:tabLst>
            </a:pPr>
            <a:r>
              <a:rPr sz="3200" b="1" spc="-6" dirty="0">
                <a:solidFill>
                  <a:srgbClr val="FF0000"/>
                </a:solidFill>
                <a:latin typeface="Times New Roman" panose="02020603050405020304" pitchFamily="18" charset="0"/>
                <a:cs typeface="Times New Roman" panose="02020603050405020304" pitchFamily="18" charset="0"/>
              </a:rPr>
              <a:t>Link-state</a:t>
            </a:r>
            <a:r>
              <a:rPr sz="3200" b="1" spc="-28" dirty="0">
                <a:solidFill>
                  <a:srgbClr val="FF0000"/>
                </a:solidFill>
                <a:latin typeface="Times New Roman" panose="02020603050405020304" pitchFamily="18" charset="0"/>
                <a:cs typeface="Times New Roman" panose="02020603050405020304" pitchFamily="18" charset="0"/>
              </a:rPr>
              <a:t> </a:t>
            </a:r>
            <a:r>
              <a:rPr sz="3200" b="1" spc="-6" dirty="0">
                <a:solidFill>
                  <a:srgbClr val="FF0000"/>
                </a:solidFill>
                <a:latin typeface="Times New Roman" panose="02020603050405020304" pitchFamily="18" charset="0"/>
                <a:cs typeface="Times New Roman" panose="02020603050405020304" pitchFamily="18" charset="0"/>
              </a:rPr>
              <a:t>algorithms</a:t>
            </a:r>
            <a:r>
              <a:rPr sz="3200" b="1" spc="-11" dirty="0">
                <a:solidFill>
                  <a:srgbClr val="FF0000"/>
                </a:solidFill>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are</a:t>
            </a:r>
            <a:r>
              <a:rPr sz="3200" spc="6"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also known</a:t>
            </a:r>
            <a:r>
              <a:rPr sz="3200" spc="6"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as</a:t>
            </a:r>
            <a:r>
              <a:rPr sz="3200" spc="39"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Dijkstras </a:t>
            </a:r>
            <a:r>
              <a:rPr sz="3200" dirty="0">
                <a:latin typeface="Times New Roman" panose="02020603050405020304" pitchFamily="18" charset="0"/>
                <a:cs typeface="Times New Roman" panose="02020603050405020304" pitchFamily="18" charset="0"/>
              </a:rPr>
              <a:t> algorithm</a:t>
            </a:r>
            <a:r>
              <a:rPr sz="3200" spc="-44"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or</a:t>
            </a:r>
            <a:r>
              <a:rPr sz="3200" spc="6"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as </a:t>
            </a:r>
            <a:r>
              <a:rPr sz="3200" spc="-6" dirty="0">
                <a:latin typeface="Times New Roman" panose="02020603050405020304" pitchFamily="18" charset="0"/>
                <a:cs typeface="Times New Roman" panose="02020603050405020304" pitchFamily="18" charset="0"/>
              </a:rPr>
              <a:t>SPF</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(shortest</a:t>
            </a:r>
            <a:r>
              <a:rPr sz="3200" spc="-33"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path</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first)</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algorithms.</a:t>
            </a:r>
            <a:endParaRPr lang="en-US" sz="3200" spc="-6" dirty="0">
              <a:latin typeface="Times New Roman" panose="02020603050405020304" pitchFamily="18" charset="0"/>
              <a:cs typeface="Times New Roman" panose="02020603050405020304" pitchFamily="18" charset="0"/>
            </a:endParaRPr>
          </a:p>
          <a:p>
            <a:pPr marL="470499" marR="768557" indent="-457200">
              <a:spcBef>
                <a:spcPts val="105"/>
              </a:spcBef>
              <a:buClr>
                <a:srgbClr val="D24717"/>
              </a:buClr>
              <a:buSzPct val="83928"/>
              <a:buFont typeface="Wingdings" panose="05000000000000000000" pitchFamily="2" charset="2"/>
              <a:buChar char="Ø"/>
              <a:tabLst>
                <a:tab pos="316382" algn="l"/>
              </a:tabLst>
            </a:pPr>
            <a:r>
              <a:rPr sz="3200" dirty="0">
                <a:latin typeface="Times New Roman" panose="02020603050405020304" pitchFamily="18" charset="0"/>
                <a:cs typeface="Times New Roman" panose="02020603050405020304" pitchFamily="18" charset="0"/>
              </a:rPr>
              <a:t>Link-state </a:t>
            </a:r>
            <a:r>
              <a:rPr sz="3200" spc="-6" dirty="0">
                <a:latin typeface="Times New Roman" panose="02020603050405020304" pitchFamily="18" charset="0"/>
                <a:cs typeface="Times New Roman" panose="02020603050405020304" pitchFamily="18" charset="0"/>
              </a:rPr>
              <a:t>protocols were first </a:t>
            </a:r>
            <a:r>
              <a:rPr sz="3200" dirty="0">
                <a:latin typeface="Times New Roman" panose="02020603050405020304" pitchFamily="18" charset="0"/>
                <a:cs typeface="Times New Roman" panose="02020603050405020304" pitchFamily="18" charset="0"/>
              </a:rPr>
              <a:t>introduce </a:t>
            </a:r>
            <a:r>
              <a:rPr sz="3200" spc="-6" dirty="0">
                <a:latin typeface="Times New Roman" panose="02020603050405020304" pitchFamily="18" charset="0"/>
                <a:cs typeface="Times New Roman" panose="02020603050405020304" pitchFamily="18" charset="0"/>
              </a:rPr>
              <a:t>to IP </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internetworking in the early 1990s, </a:t>
            </a:r>
            <a:r>
              <a:rPr sz="3200" dirty="0">
                <a:latin typeface="Times New Roman" panose="02020603050405020304" pitchFamily="18" charset="0"/>
                <a:cs typeface="Times New Roman" panose="02020603050405020304" pitchFamily="18" charset="0"/>
              </a:rPr>
              <a:t>roughly </a:t>
            </a:r>
            <a:r>
              <a:rPr sz="3200" spc="-6" dirty="0">
                <a:latin typeface="Times New Roman" panose="02020603050405020304" pitchFamily="18" charset="0"/>
                <a:cs typeface="Times New Roman" panose="02020603050405020304" pitchFamily="18" charset="0"/>
              </a:rPr>
              <a:t>ten years </a:t>
            </a:r>
            <a:r>
              <a:rPr sz="3200" spc="-755"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after</a:t>
            </a:r>
            <a:r>
              <a:rPr sz="3200" spc="-2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the</a:t>
            </a:r>
            <a:r>
              <a:rPr sz="3200" dirty="0">
                <a:latin typeface="Times New Roman" panose="02020603050405020304" pitchFamily="18" charset="0"/>
                <a:cs typeface="Times New Roman" panose="02020603050405020304" pitchFamily="18" charset="0"/>
              </a:rPr>
              <a:t> original</a:t>
            </a:r>
            <a:r>
              <a:rPr sz="3200" spc="-33"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distance</a:t>
            </a:r>
            <a:r>
              <a:rPr sz="3200" spc="-39"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vector </a:t>
            </a:r>
            <a:r>
              <a:rPr sz="3200" dirty="0">
                <a:latin typeface="Times New Roman" panose="02020603050405020304" pitchFamily="18" charset="0"/>
                <a:cs typeface="Times New Roman" panose="02020603050405020304" pitchFamily="18" charset="0"/>
              </a:rPr>
              <a:t>protocols.</a:t>
            </a:r>
            <a:endParaRPr lang="en-US" sz="3200" dirty="0">
              <a:latin typeface="Times New Roman" panose="02020603050405020304" pitchFamily="18" charset="0"/>
              <a:cs typeface="Times New Roman" panose="02020603050405020304" pitchFamily="18" charset="0"/>
            </a:endParaRPr>
          </a:p>
          <a:p>
            <a:pPr marL="470499" marR="768557" indent="-457200">
              <a:spcBef>
                <a:spcPts val="105"/>
              </a:spcBef>
              <a:buClr>
                <a:srgbClr val="D24717"/>
              </a:buClr>
              <a:buSzPct val="83928"/>
              <a:buFont typeface="Wingdings" panose="05000000000000000000" pitchFamily="2" charset="2"/>
              <a:buChar char="Ø"/>
              <a:tabLst>
                <a:tab pos="316382" algn="l"/>
              </a:tabLst>
            </a:pPr>
            <a:r>
              <a:rPr sz="3200" spc="-6" dirty="0">
                <a:latin typeface="Times New Roman" panose="02020603050405020304" pitchFamily="18" charset="0"/>
                <a:cs typeface="Times New Roman" panose="02020603050405020304" pitchFamily="18" charset="0"/>
              </a:rPr>
              <a:t>The</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designers</a:t>
            </a:r>
            <a:r>
              <a:rPr sz="3200" spc="-33"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of</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link-state</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routing</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protocols</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created </a:t>
            </a:r>
            <a:r>
              <a:rPr sz="3200" spc="-755"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algorithms</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that</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solved</a:t>
            </a:r>
            <a:r>
              <a:rPr sz="3200" spc="-28"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many</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of</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the</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problems</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with</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the </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earlier</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distance</a:t>
            </a:r>
            <a:r>
              <a:rPr sz="3200" spc="-28"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vector</a:t>
            </a:r>
            <a:r>
              <a:rPr sz="3200" dirty="0">
                <a:latin typeface="Times New Roman" panose="02020603050405020304" pitchFamily="18" charset="0"/>
                <a:cs typeface="Times New Roman" panose="02020603050405020304" pitchFamily="18" charset="0"/>
              </a:rPr>
              <a:t> protocols</a:t>
            </a:r>
          </a:p>
          <a:p>
            <a:pPr marL="1085765" lvl="2" indent="-262485">
              <a:lnSpc>
                <a:spcPts val="3263"/>
              </a:lnSpc>
              <a:buClr>
                <a:srgbClr val="9B2C1F"/>
              </a:buClr>
              <a:buSzPct val="80357"/>
              <a:buFont typeface="Wingdings"/>
              <a:buChar char=""/>
              <a:tabLst>
                <a:tab pos="629264" algn="l"/>
              </a:tabLst>
            </a:pPr>
            <a:r>
              <a:rPr sz="3200" dirty="0">
                <a:latin typeface="Times New Roman" panose="02020603050405020304" pitchFamily="18" charset="0"/>
                <a:cs typeface="Times New Roman" panose="02020603050405020304" pitchFamily="18" charset="0"/>
              </a:rPr>
              <a:t>Slow</a:t>
            </a:r>
            <a:r>
              <a:rPr sz="3200" spc="-39"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convergence</a:t>
            </a:r>
            <a:endParaRPr sz="3200" dirty="0">
              <a:latin typeface="Times New Roman" panose="02020603050405020304" pitchFamily="18" charset="0"/>
              <a:cs typeface="Times New Roman" panose="02020603050405020304" pitchFamily="18" charset="0"/>
            </a:endParaRPr>
          </a:p>
          <a:p>
            <a:pPr marL="1085765" lvl="2" indent="-262485">
              <a:lnSpc>
                <a:spcPts val="3549"/>
              </a:lnSpc>
              <a:buClr>
                <a:srgbClr val="9B2C1F"/>
              </a:buClr>
              <a:buSzPct val="80357"/>
              <a:buFont typeface="Wingdings"/>
              <a:buChar char=""/>
              <a:tabLst>
                <a:tab pos="629264" algn="l"/>
              </a:tabLst>
            </a:pPr>
            <a:r>
              <a:rPr sz="3200" spc="-6" dirty="0">
                <a:latin typeface="Times New Roman" panose="02020603050405020304" pitchFamily="18" charset="0"/>
                <a:cs typeface="Times New Roman" panose="02020603050405020304" pitchFamily="18" charset="0"/>
              </a:rPr>
              <a:t>High</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bandwidth</a:t>
            </a:r>
            <a:r>
              <a:rPr sz="3200" spc="-11" dirty="0">
                <a:latin typeface="Times New Roman" panose="02020603050405020304" pitchFamily="18" charset="0"/>
                <a:cs typeface="Times New Roman" panose="02020603050405020304" pitchFamily="18" charset="0"/>
              </a:rPr>
              <a:t> </a:t>
            </a:r>
            <a:r>
              <a:rPr sz="3200" spc="-6">
                <a:latin typeface="Times New Roman" panose="02020603050405020304" pitchFamily="18" charset="0"/>
                <a:cs typeface="Times New Roman" panose="02020603050405020304" pitchFamily="18" charset="0"/>
              </a:rPr>
              <a:t>utilizatio</a:t>
            </a:r>
            <a:r>
              <a:rPr lang="en-US" sz="3200" spc="-6">
                <a:latin typeface="Times New Roman" panose="02020603050405020304" pitchFamily="18" charset="0"/>
                <a:cs typeface="Times New Roman" panose="02020603050405020304" pitchFamily="18" charset="0"/>
              </a:rPr>
              <a:t>n</a:t>
            </a:r>
            <a:endParaRPr lang="en-US" sz="3200" spc="-6"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7433" y="497291"/>
            <a:ext cx="7017898"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Link-State</a:t>
            </a:r>
            <a:r>
              <a:rPr sz="4409" b="1" spc="-17"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Routing</a:t>
            </a:r>
            <a:r>
              <a:rPr sz="4409" b="1"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41668" y="1753547"/>
            <a:ext cx="9938957" cy="998314"/>
          </a:xfrm>
          <a:prstGeom prst="rect">
            <a:avLst/>
          </a:prstGeom>
        </p:spPr>
        <p:txBody>
          <a:bodyPr vert="horz" wrap="square" lIns="0" tIns="13299" rIns="0" bIns="0" rtlCol="0">
            <a:spAutoFit/>
          </a:bodyPr>
          <a:lstStyle/>
          <a:p>
            <a:pPr marL="470499" marR="5600" indent="-457200">
              <a:spcBef>
                <a:spcPts val="678"/>
              </a:spcBef>
              <a:buClr>
                <a:srgbClr val="D24717"/>
              </a:buClr>
              <a:buSzPct val="85416"/>
              <a:buFont typeface="Wingdings" panose="05000000000000000000" pitchFamily="2" charset="2"/>
              <a:buChar char="Ø"/>
              <a:tabLst>
                <a:tab pos="315682" algn="l"/>
                <a:tab pos="316382" algn="l"/>
              </a:tabLst>
            </a:pPr>
            <a:r>
              <a:rPr sz="3200" spc="-6" dirty="0">
                <a:latin typeface="Times New Roman" panose="02020603050405020304" pitchFamily="18" charset="0"/>
                <a:cs typeface="Times New Roman" panose="02020603050405020304" pitchFamily="18" charset="0"/>
              </a:rPr>
              <a:t>A</a:t>
            </a:r>
            <a:r>
              <a:rPr sz="3200" spc="-16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link-state</a:t>
            </a:r>
            <a:r>
              <a:rPr sz="3200" spc="-6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routing</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algorithm</a:t>
            </a:r>
            <a:r>
              <a:rPr sz="3200" spc="-5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maintains</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full</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knowledge</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of</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distant </a:t>
            </a:r>
            <a:r>
              <a:rPr sz="3200" spc="-6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routers</a:t>
            </a:r>
            <a:r>
              <a:rPr sz="3200" spc="-44"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and how</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they</a:t>
            </a:r>
            <a:r>
              <a:rPr sz="3200" spc="-33"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interconnect.</a:t>
            </a:r>
          </a:p>
        </p:txBody>
      </p:sp>
    </p:spTree>
    <p:extLst>
      <p:ext uri="{BB962C8B-B14F-4D97-AF65-F5344CB8AC3E}">
        <p14:creationId xmlns:p14="http://schemas.microsoft.com/office/powerpoint/2010/main" val="31497871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488" y="545583"/>
            <a:ext cx="8547876"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Flooding</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and</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Link-State</a:t>
            </a:r>
            <a:r>
              <a:rPr b="1" spc="-3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Database</a:t>
            </a:r>
          </a:p>
        </p:txBody>
      </p:sp>
      <p:sp>
        <p:nvSpPr>
          <p:cNvPr id="3" name="object 3"/>
          <p:cNvSpPr txBox="1"/>
          <p:nvPr/>
        </p:nvSpPr>
        <p:spPr>
          <a:xfrm>
            <a:off x="128789" y="1618035"/>
            <a:ext cx="9951836" cy="5118804"/>
          </a:xfrm>
          <a:prstGeom prst="rect">
            <a:avLst/>
          </a:prstGeom>
        </p:spPr>
        <p:txBody>
          <a:bodyPr vert="horz" wrap="square" lIns="0" tIns="14699" rIns="0" bIns="0" rtlCol="0">
            <a:spAutoFit/>
          </a:bodyPr>
          <a:lstStyle/>
          <a:p>
            <a:pPr marL="470499" marR="928148" indent="-457200">
              <a:spcBef>
                <a:spcPts val="116"/>
              </a:spcBef>
              <a:buClr>
                <a:srgbClr val="C00000"/>
              </a:buClr>
              <a:buSzPct val="84615"/>
              <a:buFont typeface="Wingdings" panose="05000000000000000000" pitchFamily="2" charset="2"/>
              <a:buChar char="Ø"/>
              <a:tabLst>
                <a:tab pos="316382" algn="l"/>
              </a:tabLst>
            </a:pPr>
            <a:r>
              <a:rPr sz="3200" dirty="0">
                <a:latin typeface="Times New Roman"/>
                <a:cs typeface="Times New Roman"/>
              </a:rPr>
              <a:t>Routers using </a:t>
            </a:r>
            <a:r>
              <a:rPr sz="3200" spc="-6" dirty="0">
                <a:latin typeface="Times New Roman"/>
                <a:cs typeface="Times New Roman"/>
              </a:rPr>
              <a:t>link-state </a:t>
            </a:r>
            <a:r>
              <a:rPr sz="3200" dirty="0">
                <a:latin typeface="Times New Roman"/>
                <a:cs typeface="Times New Roman"/>
              </a:rPr>
              <a:t>routing protocols need to </a:t>
            </a:r>
            <a:r>
              <a:rPr sz="3200" spc="6" dirty="0">
                <a:latin typeface="Times New Roman"/>
                <a:cs typeface="Times New Roman"/>
              </a:rPr>
              <a:t> </a:t>
            </a:r>
            <a:r>
              <a:rPr sz="3200" spc="-6" dirty="0">
                <a:latin typeface="Times New Roman"/>
                <a:cs typeface="Times New Roman"/>
              </a:rPr>
              <a:t>collectively advertise practically </a:t>
            </a:r>
            <a:r>
              <a:rPr sz="3200" dirty="0">
                <a:latin typeface="Times New Roman"/>
                <a:cs typeface="Times New Roman"/>
              </a:rPr>
              <a:t>every </a:t>
            </a:r>
            <a:r>
              <a:rPr sz="3200" spc="-6" dirty="0">
                <a:latin typeface="Times New Roman"/>
                <a:cs typeface="Times New Roman"/>
              </a:rPr>
              <a:t>detail </a:t>
            </a:r>
            <a:r>
              <a:rPr sz="3200" dirty="0">
                <a:latin typeface="Times New Roman"/>
                <a:cs typeface="Times New Roman"/>
              </a:rPr>
              <a:t>about the </a:t>
            </a:r>
            <a:r>
              <a:rPr sz="3200" spc="-700" dirty="0">
                <a:latin typeface="Times New Roman"/>
                <a:cs typeface="Times New Roman"/>
              </a:rPr>
              <a:t> </a:t>
            </a:r>
            <a:r>
              <a:rPr sz="3200" dirty="0">
                <a:latin typeface="Times New Roman"/>
                <a:cs typeface="Times New Roman"/>
              </a:rPr>
              <a:t>internetwork</a:t>
            </a:r>
            <a:r>
              <a:rPr sz="3200" spc="-61" dirty="0">
                <a:latin typeface="Times New Roman"/>
                <a:cs typeface="Times New Roman"/>
              </a:rPr>
              <a:t> </a:t>
            </a:r>
            <a:r>
              <a:rPr sz="3200" dirty="0">
                <a:latin typeface="Times New Roman"/>
                <a:cs typeface="Times New Roman"/>
              </a:rPr>
              <a:t>to </a:t>
            </a:r>
            <a:r>
              <a:rPr sz="3200" spc="-6" dirty="0">
                <a:latin typeface="Times New Roman"/>
                <a:cs typeface="Times New Roman"/>
              </a:rPr>
              <a:t>all</a:t>
            </a:r>
            <a:r>
              <a:rPr sz="3200" dirty="0">
                <a:latin typeface="Times New Roman"/>
                <a:cs typeface="Times New Roman"/>
              </a:rPr>
              <a:t> the other</a:t>
            </a:r>
            <a:r>
              <a:rPr sz="3200" spc="-28" dirty="0">
                <a:latin typeface="Times New Roman"/>
                <a:cs typeface="Times New Roman"/>
              </a:rPr>
              <a:t> </a:t>
            </a:r>
            <a:r>
              <a:rPr sz="3200" spc="-6" dirty="0">
                <a:latin typeface="Times New Roman"/>
                <a:cs typeface="Times New Roman"/>
              </a:rPr>
              <a:t>routers.</a:t>
            </a:r>
            <a:endParaRPr sz="3200" dirty="0">
              <a:latin typeface="Times New Roman"/>
              <a:cs typeface="Times New Roman"/>
            </a:endParaRPr>
          </a:p>
          <a:p>
            <a:pPr marL="470499" marR="5600" indent="-457200">
              <a:spcBef>
                <a:spcPts val="661"/>
              </a:spcBef>
              <a:buClr>
                <a:srgbClr val="C00000"/>
              </a:buClr>
              <a:buSzPct val="84615"/>
              <a:buFont typeface="Wingdings" panose="05000000000000000000" pitchFamily="2" charset="2"/>
              <a:buChar char="Ø"/>
              <a:tabLst>
                <a:tab pos="316382" algn="l"/>
              </a:tabLst>
            </a:pPr>
            <a:r>
              <a:rPr sz="3200" dirty="0">
                <a:latin typeface="Times New Roman"/>
                <a:cs typeface="Times New Roman"/>
              </a:rPr>
              <a:t>At</a:t>
            </a:r>
            <a:r>
              <a:rPr sz="3200" spc="-17" dirty="0">
                <a:latin typeface="Times New Roman"/>
                <a:cs typeface="Times New Roman"/>
              </a:rPr>
              <a:t> </a:t>
            </a:r>
            <a:r>
              <a:rPr sz="3200" dirty="0">
                <a:latin typeface="Times New Roman"/>
                <a:cs typeface="Times New Roman"/>
              </a:rPr>
              <a:t>the </a:t>
            </a:r>
            <a:r>
              <a:rPr sz="3200" spc="-6" dirty="0">
                <a:latin typeface="Times New Roman"/>
                <a:cs typeface="Times New Roman"/>
              </a:rPr>
              <a:t>end</a:t>
            </a:r>
            <a:r>
              <a:rPr sz="3200" spc="-17" dirty="0">
                <a:latin typeface="Times New Roman"/>
                <a:cs typeface="Times New Roman"/>
              </a:rPr>
              <a:t> </a:t>
            </a:r>
            <a:r>
              <a:rPr sz="3200" dirty="0">
                <a:latin typeface="Times New Roman"/>
                <a:cs typeface="Times New Roman"/>
              </a:rPr>
              <a:t>of the</a:t>
            </a:r>
            <a:r>
              <a:rPr sz="3200" spc="-22" dirty="0">
                <a:latin typeface="Times New Roman"/>
                <a:cs typeface="Times New Roman"/>
              </a:rPr>
              <a:t> </a:t>
            </a:r>
            <a:r>
              <a:rPr sz="3200" spc="-6" dirty="0">
                <a:latin typeface="Times New Roman"/>
                <a:cs typeface="Times New Roman"/>
              </a:rPr>
              <a:t>process,</a:t>
            </a:r>
            <a:r>
              <a:rPr sz="3200" dirty="0">
                <a:latin typeface="Times New Roman"/>
                <a:cs typeface="Times New Roman"/>
              </a:rPr>
              <a:t> </a:t>
            </a:r>
            <a:r>
              <a:rPr sz="3200" spc="-6" dirty="0">
                <a:latin typeface="Times New Roman"/>
                <a:cs typeface="Times New Roman"/>
              </a:rPr>
              <a:t>called</a:t>
            </a:r>
            <a:r>
              <a:rPr sz="3200" spc="17" dirty="0">
                <a:latin typeface="Times New Roman"/>
                <a:cs typeface="Times New Roman"/>
              </a:rPr>
              <a:t> </a:t>
            </a:r>
            <a:r>
              <a:rPr sz="3200" b="1" dirty="0">
                <a:solidFill>
                  <a:srgbClr val="FF0000"/>
                </a:solidFill>
                <a:latin typeface="Times New Roman"/>
                <a:cs typeface="Times New Roman"/>
              </a:rPr>
              <a:t>flooding</a:t>
            </a:r>
            <a:r>
              <a:rPr sz="3200" dirty="0">
                <a:latin typeface="Times New Roman"/>
                <a:cs typeface="Times New Roman"/>
              </a:rPr>
              <a:t>,</a:t>
            </a:r>
            <a:r>
              <a:rPr sz="3200" spc="-39" dirty="0">
                <a:latin typeface="Times New Roman"/>
                <a:cs typeface="Times New Roman"/>
              </a:rPr>
              <a:t> </a:t>
            </a:r>
            <a:r>
              <a:rPr sz="3200" dirty="0">
                <a:latin typeface="Times New Roman"/>
                <a:cs typeface="Times New Roman"/>
              </a:rPr>
              <a:t>every</a:t>
            </a:r>
            <a:r>
              <a:rPr sz="3200" spc="-28" dirty="0">
                <a:latin typeface="Times New Roman"/>
                <a:cs typeface="Times New Roman"/>
              </a:rPr>
              <a:t> </a:t>
            </a:r>
            <a:r>
              <a:rPr sz="3200" dirty="0">
                <a:latin typeface="Times New Roman"/>
                <a:cs typeface="Times New Roman"/>
              </a:rPr>
              <a:t>router</a:t>
            </a:r>
            <a:r>
              <a:rPr sz="3200" spc="-22" dirty="0">
                <a:latin typeface="Times New Roman"/>
                <a:cs typeface="Times New Roman"/>
              </a:rPr>
              <a:t> </a:t>
            </a:r>
            <a:r>
              <a:rPr sz="3200" dirty="0">
                <a:latin typeface="Times New Roman"/>
                <a:cs typeface="Times New Roman"/>
              </a:rPr>
              <a:t>in the </a:t>
            </a:r>
            <a:r>
              <a:rPr sz="3200" spc="-700" dirty="0">
                <a:latin typeface="Times New Roman"/>
                <a:cs typeface="Times New Roman"/>
              </a:rPr>
              <a:t> </a:t>
            </a:r>
            <a:r>
              <a:rPr sz="3200" dirty="0">
                <a:latin typeface="Times New Roman"/>
                <a:cs typeface="Times New Roman"/>
              </a:rPr>
              <a:t>internetwork has the </a:t>
            </a:r>
            <a:r>
              <a:rPr sz="3200" spc="-6" dirty="0">
                <a:latin typeface="Times New Roman"/>
                <a:cs typeface="Times New Roman"/>
              </a:rPr>
              <a:t>exact same </a:t>
            </a:r>
            <a:r>
              <a:rPr sz="3200" dirty="0">
                <a:latin typeface="Times New Roman"/>
                <a:cs typeface="Times New Roman"/>
              </a:rPr>
              <a:t>information about the </a:t>
            </a:r>
            <a:r>
              <a:rPr sz="3200" spc="6" dirty="0">
                <a:latin typeface="Times New Roman"/>
                <a:cs typeface="Times New Roman"/>
              </a:rPr>
              <a:t> </a:t>
            </a:r>
            <a:r>
              <a:rPr sz="3200" dirty="0">
                <a:latin typeface="Times New Roman"/>
                <a:cs typeface="Times New Roman"/>
              </a:rPr>
              <a:t>internetwork</a:t>
            </a:r>
            <a:r>
              <a:rPr sz="3200" spc="-61" dirty="0">
                <a:latin typeface="Times New Roman"/>
                <a:cs typeface="Times New Roman"/>
              </a:rPr>
              <a:t> </a:t>
            </a:r>
            <a:r>
              <a:rPr sz="3200" dirty="0">
                <a:latin typeface="Times New Roman"/>
                <a:cs typeface="Times New Roman"/>
              </a:rPr>
              <a:t>as</a:t>
            </a:r>
            <a:r>
              <a:rPr sz="3200" spc="-6" dirty="0">
                <a:latin typeface="Times New Roman"/>
                <a:cs typeface="Times New Roman"/>
              </a:rPr>
              <a:t> all</a:t>
            </a:r>
            <a:r>
              <a:rPr sz="3200" dirty="0">
                <a:latin typeface="Times New Roman"/>
                <a:cs typeface="Times New Roman"/>
              </a:rPr>
              <a:t> the</a:t>
            </a:r>
            <a:r>
              <a:rPr sz="3200" spc="-17" dirty="0">
                <a:latin typeface="Times New Roman"/>
                <a:cs typeface="Times New Roman"/>
              </a:rPr>
              <a:t> </a:t>
            </a:r>
            <a:r>
              <a:rPr sz="3200" dirty="0">
                <a:latin typeface="Times New Roman"/>
                <a:cs typeface="Times New Roman"/>
              </a:rPr>
              <a:t>other</a:t>
            </a:r>
            <a:r>
              <a:rPr sz="3200" spc="-28" dirty="0">
                <a:latin typeface="Times New Roman"/>
                <a:cs typeface="Times New Roman"/>
              </a:rPr>
              <a:t> </a:t>
            </a:r>
            <a:r>
              <a:rPr sz="3200" spc="-6" dirty="0">
                <a:latin typeface="Times New Roman"/>
                <a:cs typeface="Times New Roman"/>
              </a:rPr>
              <a:t>routers.</a:t>
            </a:r>
            <a:endParaRPr sz="3200" dirty="0">
              <a:latin typeface="Times New Roman"/>
              <a:cs typeface="Times New Roman"/>
            </a:endParaRPr>
          </a:p>
          <a:p>
            <a:pPr marL="470499" marR="419276" indent="-457200">
              <a:spcBef>
                <a:spcPts val="661"/>
              </a:spcBef>
              <a:buClr>
                <a:srgbClr val="C00000"/>
              </a:buClr>
              <a:buSzPct val="84615"/>
              <a:buFont typeface="Wingdings" panose="05000000000000000000" pitchFamily="2" charset="2"/>
              <a:buChar char="Ø"/>
              <a:tabLst>
                <a:tab pos="316382" algn="l"/>
              </a:tabLst>
            </a:pPr>
            <a:r>
              <a:rPr sz="3200" dirty="0">
                <a:latin typeface="Times New Roman"/>
                <a:cs typeface="Times New Roman"/>
              </a:rPr>
              <a:t>This</a:t>
            </a:r>
            <a:r>
              <a:rPr sz="3200" spc="-33" dirty="0">
                <a:latin typeface="Times New Roman"/>
                <a:cs typeface="Times New Roman"/>
              </a:rPr>
              <a:t> </a:t>
            </a:r>
            <a:r>
              <a:rPr sz="3200" dirty="0">
                <a:latin typeface="Times New Roman"/>
                <a:cs typeface="Times New Roman"/>
              </a:rPr>
              <a:t>information,</a:t>
            </a:r>
            <a:r>
              <a:rPr sz="3200" spc="-22" dirty="0">
                <a:latin typeface="Times New Roman"/>
                <a:cs typeface="Times New Roman"/>
              </a:rPr>
              <a:t> </a:t>
            </a:r>
            <a:r>
              <a:rPr sz="3200" spc="-6" dirty="0">
                <a:latin typeface="Times New Roman"/>
                <a:cs typeface="Times New Roman"/>
              </a:rPr>
              <a:t>stored</a:t>
            </a:r>
            <a:r>
              <a:rPr sz="3200" spc="-11" dirty="0">
                <a:latin typeface="Times New Roman"/>
                <a:cs typeface="Times New Roman"/>
              </a:rPr>
              <a:t> </a:t>
            </a:r>
            <a:r>
              <a:rPr sz="3200" dirty="0">
                <a:latin typeface="Times New Roman"/>
                <a:cs typeface="Times New Roman"/>
              </a:rPr>
              <a:t>in RAM</a:t>
            </a:r>
            <a:r>
              <a:rPr sz="3200" spc="-11" dirty="0">
                <a:latin typeface="Times New Roman"/>
                <a:cs typeface="Times New Roman"/>
              </a:rPr>
              <a:t> </a:t>
            </a:r>
            <a:r>
              <a:rPr sz="3200" dirty="0">
                <a:latin typeface="Times New Roman"/>
                <a:cs typeface="Times New Roman"/>
              </a:rPr>
              <a:t>in</a:t>
            </a:r>
            <a:r>
              <a:rPr sz="3200" spc="-6" dirty="0">
                <a:latin typeface="Times New Roman"/>
                <a:cs typeface="Times New Roman"/>
              </a:rPr>
              <a:t> </a:t>
            </a:r>
            <a:r>
              <a:rPr sz="3200" dirty="0">
                <a:latin typeface="Times New Roman"/>
                <a:cs typeface="Times New Roman"/>
              </a:rPr>
              <a:t>a</a:t>
            </a:r>
            <a:r>
              <a:rPr sz="3200" spc="-11" dirty="0">
                <a:latin typeface="Times New Roman"/>
                <a:cs typeface="Times New Roman"/>
              </a:rPr>
              <a:t> </a:t>
            </a:r>
            <a:r>
              <a:rPr sz="3200" dirty="0">
                <a:latin typeface="Times New Roman"/>
                <a:cs typeface="Times New Roman"/>
              </a:rPr>
              <a:t>data</a:t>
            </a:r>
            <a:r>
              <a:rPr sz="3200" spc="-11" dirty="0">
                <a:latin typeface="Times New Roman"/>
                <a:cs typeface="Times New Roman"/>
              </a:rPr>
              <a:t> </a:t>
            </a:r>
            <a:r>
              <a:rPr sz="3200" dirty="0">
                <a:latin typeface="Times New Roman"/>
                <a:cs typeface="Times New Roman"/>
              </a:rPr>
              <a:t>structure</a:t>
            </a:r>
            <a:r>
              <a:rPr sz="3200" spc="-22" dirty="0">
                <a:latin typeface="Times New Roman"/>
                <a:cs typeface="Times New Roman"/>
              </a:rPr>
              <a:t> </a:t>
            </a:r>
            <a:r>
              <a:rPr sz="3200" spc="-6" dirty="0">
                <a:latin typeface="Times New Roman"/>
                <a:cs typeface="Times New Roman"/>
              </a:rPr>
              <a:t>called </a:t>
            </a:r>
            <a:r>
              <a:rPr sz="3200" spc="-700" dirty="0">
                <a:latin typeface="Times New Roman"/>
                <a:cs typeface="Times New Roman"/>
              </a:rPr>
              <a:t> </a:t>
            </a:r>
            <a:r>
              <a:rPr sz="3200" dirty="0">
                <a:latin typeface="Times New Roman"/>
                <a:cs typeface="Times New Roman"/>
              </a:rPr>
              <a:t>the </a:t>
            </a:r>
            <a:r>
              <a:rPr sz="3200" b="1" spc="-6" dirty="0">
                <a:solidFill>
                  <a:srgbClr val="FF0000"/>
                </a:solidFill>
                <a:latin typeface="Times New Roman"/>
                <a:cs typeface="Times New Roman"/>
              </a:rPr>
              <a:t>link-state </a:t>
            </a:r>
            <a:r>
              <a:rPr sz="3200" b="1" dirty="0">
                <a:solidFill>
                  <a:srgbClr val="FF0000"/>
                </a:solidFill>
                <a:latin typeface="Times New Roman"/>
                <a:cs typeface="Times New Roman"/>
              </a:rPr>
              <a:t>database (LSDB), </a:t>
            </a:r>
            <a:r>
              <a:rPr sz="3200" dirty="0">
                <a:latin typeface="Times New Roman"/>
                <a:cs typeface="Times New Roman"/>
              </a:rPr>
              <a:t>is then used in </a:t>
            </a:r>
            <a:r>
              <a:rPr sz="3200" spc="-6" dirty="0">
                <a:latin typeface="Times New Roman"/>
                <a:cs typeface="Times New Roman"/>
              </a:rPr>
              <a:t>the </a:t>
            </a:r>
            <a:r>
              <a:rPr sz="3200" dirty="0">
                <a:latin typeface="Times New Roman"/>
                <a:cs typeface="Times New Roman"/>
              </a:rPr>
              <a:t>other </a:t>
            </a:r>
            <a:r>
              <a:rPr sz="3200" spc="6" dirty="0">
                <a:latin typeface="Times New Roman"/>
                <a:cs typeface="Times New Roman"/>
              </a:rPr>
              <a:t> </a:t>
            </a:r>
            <a:r>
              <a:rPr sz="3200" spc="-6" dirty="0">
                <a:latin typeface="Times New Roman"/>
                <a:cs typeface="Times New Roman"/>
              </a:rPr>
              <a:t>major</a:t>
            </a:r>
            <a:r>
              <a:rPr sz="3200" spc="-22" dirty="0">
                <a:latin typeface="Times New Roman"/>
                <a:cs typeface="Times New Roman"/>
              </a:rPr>
              <a:t> </a:t>
            </a:r>
            <a:r>
              <a:rPr sz="3200" spc="-6" dirty="0">
                <a:latin typeface="Times New Roman"/>
                <a:cs typeface="Times New Roman"/>
              </a:rPr>
              <a:t>step</a:t>
            </a:r>
            <a:r>
              <a:rPr sz="3200" dirty="0">
                <a:latin typeface="Times New Roman"/>
                <a:cs typeface="Times New Roman"/>
              </a:rPr>
              <a:t> to </a:t>
            </a:r>
            <a:r>
              <a:rPr sz="3200" spc="-6" dirty="0">
                <a:latin typeface="Times New Roman"/>
                <a:cs typeface="Times New Roman"/>
              </a:rPr>
              <a:t>find</a:t>
            </a:r>
            <a:r>
              <a:rPr sz="3200" spc="6"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dirty="0">
                <a:latin typeface="Times New Roman"/>
                <a:cs typeface="Times New Roman"/>
              </a:rPr>
              <a:t>currently</a:t>
            </a:r>
            <a:r>
              <a:rPr sz="3200" spc="-11" dirty="0">
                <a:latin typeface="Times New Roman"/>
                <a:cs typeface="Times New Roman"/>
              </a:rPr>
              <a:t> </a:t>
            </a:r>
            <a:r>
              <a:rPr sz="3200" dirty="0">
                <a:latin typeface="Times New Roman"/>
                <a:cs typeface="Times New Roman"/>
              </a:rPr>
              <a:t>best</a:t>
            </a:r>
            <a:r>
              <a:rPr sz="3200" spc="-11" dirty="0">
                <a:latin typeface="Times New Roman"/>
                <a:cs typeface="Times New Roman"/>
              </a:rPr>
              <a:t> </a:t>
            </a:r>
            <a:r>
              <a:rPr sz="3200" dirty="0">
                <a:latin typeface="Times New Roman"/>
                <a:cs typeface="Times New Roman"/>
              </a:rPr>
              <a:t>routes</a:t>
            </a:r>
            <a:r>
              <a:rPr sz="3200" spc="-28" dirty="0">
                <a:latin typeface="Times New Roman"/>
                <a:cs typeface="Times New Roman"/>
              </a:rPr>
              <a:t> </a:t>
            </a:r>
            <a:r>
              <a:rPr sz="3200" dirty="0">
                <a:latin typeface="Times New Roman"/>
                <a:cs typeface="Times New Roman"/>
              </a:rPr>
              <a:t>to </a:t>
            </a:r>
            <a:r>
              <a:rPr sz="3200" spc="-6" dirty="0">
                <a:latin typeface="Times New Roman"/>
                <a:cs typeface="Times New Roman"/>
              </a:rPr>
              <a:t>each</a:t>
            </a:r>
            <a:r>
              <a:rPr sz="3200" spc="-17" dirty="0">
                <a:latin typeface="Times New Roman"/>
                <a:cs typeface="Times New Roman"/>
              </a:rPr>
              <a:t> </a:t>
            </a:r>
            <a:r>
              <a:rPr sz="3200" dirty="0">
                <a:latin typeface="Times New Roman"/>
                <a:cs typeface="Times New Roman"/>
              </a:rPr>
              <a:t>subnet.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580" y="326642"/>
            <a:ext cx="8187268"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Flooding</a:t>
            </a:r>
            <a:r>
              <a:rPr b="1" spc="-44"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and</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Link-State</a:t>
            </a:r>
            <a:r>
              <a:rPr b="1" spc="-33"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Database</a:t>
            </a:r>
          </a:p>
        </p:txBody>
      </p:sp>
      <p:sp>
        <p:nvSpPr>
          <p:cNvPr id="3" name="object 3"/>
          <p:cNvSpPr txBox="1"/>
          <p:nvPr/>
        </p:nvSpPr>
        <p:spPr>
          <a:xfrm>
            <a:off x="128789" y="1618035"/>
            <a:ext cx="9951836" cy="1492170"/>
          </a:xfrm>
          <a:prstGeom prst="rect">
            <a:avLst/>
          </a:prstGeom>
        </p:spPr>
        <p:txBody>
          <a:bodyPr vert="horz" wrap="square" lIns="0" tIns="14699" rIns="0" bIns="0" rtlCol="0">
            <a:spAutoFit/>
          </a:bodyPr>
          <a:lstStyle/>
          <a:p>
            <a:pPr marL="470499" marR="63696" indent="-457200">
              <a:spcBef>
                <a:spcPts val="667"/>
              </a:spcBef>
              <a:buClr>
                <a:srgbClr val="C00000"/>
              </a:buClr>
              <a:buSzPct val="84615"/>
              <a:buFont typeface="Wingdings" panose="05000000000000000000" pitchFamily="2" charset="2"/>
              <a:buChar char="Ø"/>
              <a:tabLst>
                <a:tab pos="316382" algn="l"/>
              </a:tabLst>
            </a:pPr>
            <a:r>
              <a:rPr sz="3200" dirty="0">
                <a:latin typeface="Times New Roman"/>
                <a:cs typeface="Times New Roman"/>
              </a:rPr>
              <a:t>Flooding a </a:t>
            </a:r>
            <a:r>
              <a:rPr sz="3200" spc="-6" dirty="0">
                <a:latin typeface="Times New Roman"/>
                <a:cs typeface="Times New Roman"/>
              </a:rPr>
              <a:t>lot </a:t>
            </a:r>
            <a:r>
              <a:rPr sz="3200" dirty="0">
                <a:latin typeface="Times New Roman"/>
                <a:cs typeface="Times New Roman"/>
              </a:rPr>
              <a:t>of </a:t>
            </a:r>
            <a:r>
              <a:rPr sz="3200" spc="-6" dirty="0">
                <a:latin typeface="Times New Roman"/>
                <a:cs typeface="Times New Roman"/>
              </a:rPr>
              <a:t>detailed information </a:t>
            </a:r>
            <a:r>
              <a:rPr sz="3200" dirty="0">
                <a:latin typeface="Times New Roman"/>
                <a:cs typeface="Times New Roman"/>
              </a:rPr>
              <a:t>to every router sounds </a:t>
            </a:r>
            <a:r>
              <a:rPr sz="3200" spc="-705" dirty="0">
                <a:latin typeface="Times New Roman"/>
                <a:cs typeface="Times New Roman"/>
              </a:rPr>
              <a:t> </a:t>
            </a:r>
            <a:r>
              <a:rPr sz="3200" spc="-6" dirty="0">
                <a:latin typeface="Times New Roman"/>
                <a:cs typeface="Times New Roman"/>
              </a:rPr>
              <a:t>like </a:t>
            </a:r>
            <a:r>
              <a:rPr sz="3200" dirty="0">
                <a:latin typeface="Times New Roman"/>
                <a:cs typeface="Times New Roman"/>
              </a:rPr>
              <a:t>a lot of work, and </a:t>
            </a:r>
            <a:r>
              <a:rPr sz="3200" spc="-6" dirty="0">
                <a:latin typeface="Times New Roman"/>
                <a:cs typeface="Times New Roman"/>
              </a:rPr>
              <a:t>relative to </a:t>
            </a:r>
            <a:r>
              <a:rPr sz="3200" dirty="0">
                <a:latin typeface="Times New Roman"/>
                <a:cs typeface="Times New Roman"/>
              </a:rPr>
              <a:t>distance vector routing </a:t>
            </a:r>
            <a:r>
              <a:rPr sz="3200" spc="6" dirty="0">
                <a:latin typeface="Times New Roman"/>
                <a:cs typeface="Times New Roman"/>
              </a:rPr>
              <a:t> </a:t>
            </a:r>
            <a:r>
              <a:rPr sz="3200" dirty="0">
                <a:latin typeface="Times New Roman"/>
                <a:cs typeface="Times New Roman"/>
              </a:rPr>
              <a:t>protocols,</a:t>
            </a:r>
            <a:r>
              <a:rPr sz="3200" spc="-44" dirty="0">
                <a:latin typeface="Times New Roman"/>
                <a:cs typeface="Times New Roman"/>
              </a:rPr>
              <a:t> </a:t>
            </a:r>
            <a:r>
              <a:rPr sz="3200" dirty="0">
                <a:latin typeface="Times New Roman"/>
                <a:cs typeface="Times New Roman"/>
              </a:rPr>
              <a:t>it</a:t>
            </a:r>
            <a:r>
              <a:rPr sz="3200" spc="-6" dirty="0">
                <a:latin typeface="Times New Roman"/>
                <a:cs typeface="Times New Roman"/>
              </a:rPr>
              <a:t> is.</a:t>
            </a:r>
            <a:endParaRPr sz="3200" dirty="0">
              <a:latin typeface="Times New Roman"/>
              <a:cs typeface="Times New Roman"/>
            </a:endParaRPr>
          </a:p>
        </p:txBody>
      </p:sp>
    </p:spTree>
    <p:extLst>
      <p:ext uri="{BB962C8B-B14F-4D97-AF65-F5344CB8AC3E}">
        <p14:creationId xmlns:p14="http://schemas.microsoft.com/office/powerpoint/2010/main" val="39117498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062" y="430684"/>
            <a:ext cx="10317669" cy="675855"/>
          </a:xfrm>
          <a:prstGeom prst="rect">
            <a:avLst/>
          </a:prstGeom>
        </p:spPr>
        <p:txBody>
          <a:bodyPr vert="horz" wrap="square" lIns="0" tIns="13999" rIns="0" bIns="0" rtlCol="0" anchor="ctr">
            <a:spAutoFit/>
          </a:bodyPr>
          <a:lstStyle/>
          <a:p>
            <a:pPr marL="13999">
              <a:lnSpc>
                <a:spcPct val="100000"/>
              </a:lnSpc>
              <a:spcBef>
                <a:spcPts val="110"/>
              </a:spcBef>
            </a:pPr>
            <a:r>
              <a:rPr sz="4300" b="1" dirty="0">
                <a:solidFill>
                  <a:schemeClr val="bg1"/>
                </a:solidFill>
                <a:latin typeface="Times New Roman" panose="02020603050405020304" pitchFamily="18" charset="0"/>
                <a:cs typeface="Times New Roman" panose="02020603050405020304" pitchFamily="18" charset="0"/>
              </a:rPr>
              <a:t>Open</a:t>
            </a:r>
            <a:r>
              <a:rPr sz="4300" b="1" spc="-33" dirty="0">
                <a:solidFill>
                  <a:schemeClr val="bg1"/>
                </a:solidFill>
                <a:latin typeface="Times New Roman" panose="02020603050405020304" pitchFamily="18" charset="0"/>
                <a:cs typeface="Times New Roman" panose="02020603050405020304" pitchFamily="18" charset="0"/>
              </a:rPr>
              <a:t> </a:t>
            </a:r>
            <a:r>
              <a:rPr sz="4300" b="1" dirty="0">
                <a:solidFill>
                  <a:schemeClr val="bg1"/>
                </a:solidFill>
                <a:latin typeface="Times New Roman" panose="02020603050405020304" pitchFamily="18" charset="0"/>
                <a:cs typeface="Times New Roman" panose="02020603050405020304" pitchFamily="18" charset="0"/>
              </a:rPr>
              <a:t>Shortest</a:t>
            </a:r>
            <a:r>
              <a:rPr sz="4300" b="1" spc="-6" dirty="0">
                <a:solidFill>
                  <a:schemeClr val="bg1"/>
                </a:solidFill>
                <a:latin typeface="Times New Roman" panose="02020603050405020304" pitchFamily="18" charset="0"/>
                <a:cs typeface="Times New Roman" panose="02020603050405020304" pitchFamily="18" charset="0"/>
              </a:rPr>
              <a:t> </a:t>
            </a:r>
            <a:r>
              <a:rPr sz="4300" b="1" dirty="0">
                <a:solidFill>
                  <a:schemeClr val="bg1"/>
                </a:solidFill>
                <a:latin typeface="Times New Roman" panose="02020603050405020304" pitchFamily="18" charset="0"/>
                <a:cs typeface="Times New Roman" panose="02020603050405020304" pitchFamily="18" charset="0"/>
              </a:rPr>
              <a:t>Path</a:t>
            </a:r>
            <a:r>
              <a:rPr sz="4300" b="1" spc="-6" dirty="0">
                <a:solidFill>
                  <a:schemeClr val="bg1"/>
                </a:solidFill>
                <a:latin typeface="Times New Roman" panose="02020603050405020304" pitchFamily="18" charset="0"/>
                <a:cs typeface="Times New Roman" panose="02020603050405020304" pitchFamily="18" charset="0"/>
              </a:rPr>
              <a:t> First (OSPF) </a:t>
            </a:r>
            <a:r>
              <a:rPr sz="4300" b="1" spc="-11" dirty="0">
                <a:solidFill>
                  <a:schemeClr val="bg1"/>
                </a:solidFill>
                <a:latin typeface="Times New Roman" panose="02020603050405020304" pitchFamily="18" charset="0"/>
                <a:cs typeface="Times New Roman" panose="02020603050405020304" pitchFamily="18" charset="0"/>
              </a:rPr>
              <a:t>Protocol</a:t>
            </a:r>
          </a:p>
        </p:txBody>
      </p:sp>
      <p:sp>
        <p:nvSpPr>
          <p:cNvPr id="3" name="object 3"/>
          <p:cNvSpPr txBox="1"/>
          <p:nvPr/>
        </p:nvSpPr>
        <p:spPr>
          <a:xfrm>
            <a:off x="-1" y="1742068"/>
            <a:ext cx="9981127" cy="5083827"/>
          </a:xfrm>
          <a:prstGeom prst="rect">
            <a:avLst/>
          </a:prstGeom>
        </p:spPr>
        <p:txBody>
          <a:bodyPr vert="horz" wrap="square" lIns="0" tIns="60197" rIns="0" bIns="0" rtlCol="0">
            <a:spAutoFit/>
          </a:bodyPr>
          <a:lstStyle/>
          <a:p>
            <a:pPr marL="527649" marR="479473" indent="-514350" algn="just">
              <a:lnSpc>
                <a:spcPct val="90000"/>
              </a:lnSpc>
              <a:spcBef>
                <a:spcPts val="474"/>
              </a:spcBef>
              <a:buClr>
                <a:srgbClr val="C00000"/>
              </a:buClr>
              <a:buSzPct val="83928"/>
              <a:buFont typeface="Wingdings" panose="05000000000000000000" pitchFamily="2" charset="2"/>
              <a:buChar char="Ø"/>
              <a:tabLst>
                <a:tab pos="316382" algn="l"/>
              </a:tabLst>
            </a:pPr>
            <a:r>
              <a:rPr sz="3200" b="1" spc="-6" dirty="0">
                <a:solidFill>
                  <a:srgbClr val="FF0000"/>
                </a:solidFill>
                <a:latin typeface="Times New Roman"/>
                <a:cs typeface="Times New Roman"/>
              </a:rPr>
              <a:t>Open Shortest Path First (OSPF), </a:t>
            </a:r>
            <a:r>
              <a:rPr sz="3200" dirty="0">
                <a:latin typeface="Times New Roman"/>
                <a:cs typeface="Times New Roman"/>
              </a:rPr>
              <a:t>the </a:t>
            </a:r>
            <a:r>
              <a:rPr sz="3200" spc="-6" dirty="0">
                <a:latin typeface="Times New Roman"/>
                <a:cs typeface="Times New Roman"/>
              </a:rPr>
              <a:t>most popular </a:t>
            </a:r>
            <a:r>
              <a:rPr sz="3200" dirty="0">
                <a:latin typeface="Times New Roman"/>
                <a:cs typeface="Times New Roman"/>
              </a:rPr>
              <a:t> link-state routing</a:t>
            </a:r>
            <a:r>
              <a:rPr sz="3200" spc="6" dirty="0">
                <a:latin typeface="Times New Roman"/>
                <a:cs typeface="Times New Roman"/>
              </a:rPr>
              <a:t> </a:t>
            </a:r>
            <a:r>
              <a:rPr sz="3200" dirty="0">
                <a:latin typeface="Times New Roman"/>
                <a:cs typeface="Times New Roman"/>
              </a:rPr>
              <a:t>protocol, </a:t>
            </a:r>
            <a:r>
              <a:rPr sz="3200" spc="-6" dirty="0">
                <a:latin typeface="Times New Roman"/>
                <a:cs typeface="Times New Roman"/>
              </a:rPr>
              <a:t>advertises information in </a:t>
            </a:r>
            <a:r>
              <a:rPr sz="3200" spc="-755" dirty="0">
                <a:latin typeface="Times New Roman"/>
                <a:cs typeface="Times New Roman"/>
              </a:rPr>
              <a:t> </a:t>
            </a:r>
            <a:r>
              <a:rPr sz="3200" dirty="0">
                <a:latin typeface="Times New Roman"/>
                <a:cs typeface="Times New Roman"/>
              </a:rPr>
              <a:t>routing </a:t>
            </a:r>
            <a:r>
              <a:rPr sz="3200" spc="-6" dirty="0">
                <a:latin typeface="Times New Roman"/>
                <a:cs typeface="Times New Roman"/>
              </a:rPr>
              <a:t>update messages, with the updates containing </a:t>
            </a:r>
            <a:r>
              <a:rPr sz="3200" spc="-755" dirty="0">
                <a:latin typeface="Times New Roman"/>
                <a:cs typeface="Times New Roman"/>
              </a:rPr>
              <a:t> </a:t>
            </a:r>
            <a:r>
              <a:rPr sz="3200" spc="-6" dirty="0">
                <a:latin typeface="Times New Roman"/>
                <a:cs typeface="Times New Roman"/>
              </a:rPr>
              <a:t>information</a:t>
            </a:r>
            <a:r>
              <a:rPr sz="3200" spc="-33" dirty="0">
                <a:latin typeface="Times New Roman"/>
                <a:cs typeface="Times New Roman"/>
              </a:rPr>
              <a:t> </a:t>
            </a:r>
            <a:r>
              <a:rPr sz="3200" spc="-6" dirty="0">
                <a:latin typeface="Times New Roman"/>
                <a:cs typeface="Times New Roman"/>
              </a:rPr>
              <a:t>called</a:t>
            </a:r>
            <a:r>
              <a:rPr sz="3200" spc="17" dirty="0">
                <a:latin typeface="Times New Roman"/>
                <a:cs typeface="Times New Roman"/>
              </a:rPr>
              <a:t> </a:t>
            </a:r>
            <a:r>
              <a:rPr sz="3200" b="1" dirty="0">
                <a:solidFill>
                  <a:srgbClr val="FF0000"/>
                </a:solidFill>
                <a:latin typeface="Times New Roman"/>
                <a:cs typeface="Times New Roman"/>
              </a:rPr>
              <a:t>link-state</a:t>
            </a:r>
            <a:r>
              <a:rPr sz="3200" b="1" spc="-39" dirty="0">
                <a:solidFill>
                  <a:srgbClr val="FF0000"/>
                </a:solidFill>
                <a:latin typeface="Times New Roman"/>
                <a:cs typeface="Times New Roman"/>
              </a:rPr>
              <a:t> </a:t>
            </a:r>
            <a:r>
              <a:rPr sz="3200" b="1" spc="-6" dirty="0">
                <a:solidFill>
                  <a:srgbClr val="FF0000"/>
                </a:solidFill>
                <a:latin typeface="Times New Roman"/>
                <a:cs typeface="Times New Roman"/>
              </a:rPr>
              <a:t>advertisements</a:t>
            </a:r>
            <a:r>
              <a:rPr sz="3200" b="1" spc="-28" dirty="0">
                <a:solidFill>
                  <a:srgbClr val="FF0000"/>
                </a:solidFill>
                <a:latin typeface="Times New Roman"/>
                <a:cs typeface="Times New Roman"/>
              </a:rPr>
              <a:t> </a:t>
            </a:r>
            <a:r>
              <a:rPr sz="3200" b="1" spc="-6" dirty="0">
                <a:solidFill>
                  <a:srgbClr val="FF0000"/>
                </a:solidFill>
                <a:latin typeface="Times New Roman"/>
                <a:cs typeface="Times New Roman"/>
              </a:rPr>
              <a:t>(LSAs).</a:t>
            </a:r>
            <a:endParaRPr sz="3200" dirty="0">
              <a:solidFill>
                <a:srgbClr val="FF0000"/>
              </a:solidFill>
              <a:latin typeface="Times New Roman"/>
              <a:cs typeface="Times New Roman"/>
            </a:endParaRPr>
          </a:p>
          <a:p>
            <a:pPr marL="527649" marR="60895" indent="-514350" algn="just">
              <a:lnSpc>
                <a:spcPts val="3329"/>
              </a:lnSpc>
              <a:spcBef>
                <a:spcPts val="716"/>
              </a:spcBef>
              <a:buClr>
                <a:srgbClr val="C00000"/>
              </a:buClr>
              <a:buSzPct val="83928"/>
              <a:buFont typeface="Wingdings" panose="05000000000000000000" pitchFamily="2" charset="2"/>
              <a:buChar char="Ø"/>
              <a:tabLst>
                <a:tab pos="316382" algn="l"/>
              </a:tabLst>
            </a:pPr>
            <a:r>
              <a:rPr sz="3200" spc="-6" dirty="0">
                <a:latin typeface="Times New Roman"/>
                <a:cs typeface="Times New Roman"/>
              </a:rPr>
              <a:t>LSAs come in </a:t>
            </a:r>
            <a:r>
              <a:rPr sz="3200" spc="-11" dirty="0">
                <a:latin typeface="Times New Roman"/>
                <a:cs typeface="Times New Roman"/>
              </a:rPr>
              <a:t>many </a:t>
            </a:r>
            <a:r>
              <a:rPr sz="3200" spc="-6" dirty="0">
                <a:latin typeface="Times New Roman"/>
                <a:cs typeface="Times New Roman"/>
              </a:rPr>
              <a:t>forms, </a:t>
            </a:r>
            <a:r>
              <a:rPr sz="3200" dirty="0">
                <a:latin typeface="Times New Roman"/>
                <a:cs typeface="Times New Roman"/>
              </a:rPr>
              <a:t>including </a:t>
            </a:r>
            <a:r>
              <a:rPr sz="3200" spc="-6" dirty="0">
                <a:latin typeface="Times New Roman"/>
                <a:cs typeface="Times New Roman"/>
              </a:rPr>
              <a:t>the </a:t>
            </a:r>
            <a:r>
              <a:rPr sz="3200" dirty="0">
                <a:latin typeface="Times New Roman"/>
                <a:cs typeface="Times New Roman"/>
              </a:rPr>
              <a:t>following </a:t>
            </a:r>
            <a:r>
              <a:rPr sz="3200" spc="-6" dirty="0">
                <a:latin typeface="Times New Roman"/>
                <a:cs typeface="Times New Roman"/>
              </a:rPr>
              <a:t>two </a:t>
            </a:r>
            <a:r>
              <a:rPr sz="3200" spc="-755" dirty="0">
                <a:latin typeface="Times New Roman"/>
                <a:cs typeface="Times New Roman"/>
              </a:rPr>
              <a:t> </a:t>
            </a:r>
            <a:r>
              <a:rPr sz="3200" spc="-11" dirty="0">
                <a:latin typeface="Times New Roman"/>
                <a:cs typeface="Times New Roman"/>
              </a:rPr>
              <a:t>main </a:t>
            </a:r>
            <a:r>
              <a:rPr sz="3200" spc="-6" dirty="0">
                <a:latin typeface="Times New Roman"/>
                <a:cs typeface="Times New Roman"/>
              </a:rPr>
              <a:t>types:</a:t>
            </a:r>
            <a:endParaRPr sz="3200" dirty="0">
              <a:latin typeface="Times New Roman"/>
              <a:cs typeface="Times New Roman"/>
            </a:endParaRPr>
          </a:p>
          <a:p>
            <a:pPr marL="870751" marR="5600" lvl="1" indent="-504670">
              <a:lnSpc>
                <a:spcPct val="90000"/>
              </a:lnSpc>
              <a:spcBef>
                <a:spcPts val="408"/>
              </a:spcBef>
              <a:buClr>
                <a:srgbClr val="C00000"/>
              </a:buClr>
              <a:buSzPct val="85416"/>
              <a:buAutoNum type="arabicPeriod"/>
              <a:tabLst>
                <a:tab pos="870751" algn="l"/>
                <a:tab pos="871451" algn="l"/>
              </a:tabLst>
            </a:pPr>
            <a:r>
              <a:rPr sz="2646" b="1" spc="-6" dirty="0">
                <a:solidFill>
                  <a:srgbClr val="FF0000"/>
                </a:solidFill>
                <a:latin typeface="Times New Roman"/>
                <a:cs typeface="Times New Roman"/>
              </a:rPr>
              <a:t>Router LSA</a:t>
            </a:r>
            <a:r>
              <a:rPr sz="2646" b="1" spc="-6" dirty="0">
                <a:solidFill>
                  <a:srgbClr val="C00000"/>
                </a:solidFill>
                <a:latin typeface="Times New Roman"/>
                <a:cs typeface="Times New Roman"/>
              </a:rPr>
              <a:t>: </a:t>
            </a:r>
            <a:r>
              <a:rPr sz="2646" dirty="0">
                <a:latin typeface="Times New Roman"/>
                <a:cs typeface="Times New Roman"/>
              </a:rPr>
              <a:t>Includes a </a:t>
            </a:r>
            <a:r>
              <a:rPr sz="2646" spc="-6" dirty="0">
                <a:latin typeface="Times New Roman"/>
                <a:cs typeface="Times New Roman"/>
              </a:rPr>
              <a:t>number </a:t>
            </a:r>
            <a:r>
              <a:rPr sz="2646" dirty="0">
                <a:latin typeface="Times New Roman"/>
                <a:cs typeface="Times New Roman"/>
              </a:rPr>
              <a:t>to identify the router (router </a:t>
            </a:r>
            <a:r>
              <a:rPr sz="2646" spc="-645" dirty="0">
                <a:latin typeface="Times New Roman"/>
                <a:cs typeface="Times New Roman"/>
              </a:rPr>
              <a:t> </a:t>
            </a:r>
            <a:r>
              <a:rPr sz="2646" dirty="0">
                <a:latin typeface="Times New Roman"/>
                <a:cs typeface="Times New Roman"/>
              </a:rPr>
              <a:t>ID),</a:t>
            </a:r>
            <a:r>
              <a:rPr sz="2646" spc="-22" dirty="0">
                <a:latin typeface="Times New Roman"/>
                <a:cs typeface="Times New Roman"/>
              </a:rPr>
              <a:t> </a:t>
            </a:r>
            <a:r>
              <a:rPr sz="2646" dirty="0">
                <a:latin typeface="Times New Roman"/>
                <a:cs typeface="Times New Roman"/>
              </a:rPr>
              <a:t>the</a:t>
            </a:r>
            <a:r>
              <a:rPr sz="2646" spc="-11" dirty="0">
                <a:latin typeface="Times New Roman"/>
                <a:cs typeface="Times New Roman"/>
              </a:rPr>
              <a:t> </a:t>
            </a:r>
            <a:r>
              <a:rPr sz="2646" spc="-6" dirty="0">
                <a:latin typeface="Times New Roman"/>
                <a:cs typeface="Times New Roman"/>
              </a:rPr>
              <a:t>router‘s</a:t>
            </a:r>
            <a:r>
              <a:rPr sz="2646" spc="-28" dirty="0">
                <a:latin typeface="Times New Roman"/>
                <a:cs typeface="Times New Roman"/>
              </a:rPr>
              <a:t> </a:t>
            </a:r>
            <a:r>
              <a:rPr sz="2646" dirty="0">
                <a:latin typeface="Times New Roman"/>
                <a:cs typeface="Times New Roman"/>
              </a:rPr>
              <a:t>interface</a:t>
            </a:r>
            <a:r>
              <a:rPr sz="2646" spc="-44" dirty="0">
                <a:latin typeface="Times New Roman"/>
                <a:cs typeface="Times New Roman"/>
              </a:rPr>
              <a:t> </a:t>
            </a:r>
            <a:r>
              <a:rPr sz="2646" dirty="0">
                <a:latin typeface="Times New Roman"/>
                <a:cs typeface="Times New Roman"/>
              </a:rPr>
              <a:t>IP</a:t>
            </a:r>
            <a:r>
              <a:rPr sz="2646" spc="-99" dirty="0">
                <a:latin typeface="Times New Roman"/>
                <a:cs typeface="Times New Roman"/>
              </a:rPr>
              <a:t> </a:t>
            </a:r>
            <a:r>
              <a:rPr sz="2646" dirty="0">
                <a:latin typeface="Times New Roman"/>
                <a:cs typeface="Times New Roman"/>
              </a:rPr>
              <a:t>addresses,</a:t>
            </a:r>
            <a:r>
              <a:rPr sz="2646" spc="-28" dirty="0">
                <a:latin typeface="Times New Roman"/>
                <a:cs typeface="Times New Roman"/>
              </a:rPr>
              <a:t> </a:t>
            </a:r>
            <a:r>
              <a:rPr sz="2646" dirty="0">
                <a:latin typeface="Times New Roman"/>
                <a:cs typeface="Times New Roman"/>
              </a:rPr>
              <a:t>the</a:t>
            </a:r>
            <a:r>
              <a:rPr sz="2646" spc="-11" dirty="0">
                <a:latin typeface="Times New Roman"/>
                <a:cs typeface="Times New Roman"/>
              </a:rPr>
              <a:t> </a:t>
            </a:r>
            <a:r>
              <a:rPr sz="2646" spc="-6" dirty="0">
                <a:latin typeface="Times New Roman"/>
                <a:cs typeface="Times New Roman"/>
              </a:rPr>
              <a:t>state</a:t>
            </a:r>
            <a:r>
              <a:rPr sz="2646" spc="-28" dirty="0">
                <a:latin typeface="Times New Roman"/>
                <a:cs typeface="Times New Roman"/>
              </a:rPr>
              <a:t> </a:t>
            </a:r>
            <a:r>
              <a:rPr sz="2646" dirty="0">
                <a:latin typeface="Times New Roman"/>
                <a:cs typeface="Times New Roman"/>
              </a:rPr>
              <a:t>(up</a:t>
            </a:r>
            <a:r>
              <a:rPr sz="2646" spc="-22" dirty="0">
                <a:latin typeface="Times New Roman"/>
                <a:cs typeface="Times New Roman"/>
              </a:rPr>
              <a:t> </a:t>
            </a:r>
            <a:r>
              <a:rPr sz="2646" dirty="0">
                <a:latin typeface="Times New Roman"/>
                <a:cs typeface="Times New Roman"/>
              </a:rPr>
              <a:t>or </a:t>
            </a:r>
            <a:r>
              <a:rPr sz="2646" spc="-6" dirty="0">
                <a:latin typeface="Times New Roman"/>
                <a:cs typeface="Times New Roman"/>
              </a:rPr>
              <a:t>down) </a:t>
            </a:r>
            <a:r>
              <a:rPr sz="2646" spc="-645" dirty="0">
                <a:latin typeface="Times New Roman"/>
                <a:cs typeface="Times New Roman"/>
              </a:rPr>
              <a:t> </a:t>
            </a:r>
            <a:r>
              <a:rPr sz="2646" dirty="0">
                <a:latin typeface="Times New Roman"/>
                <a:cs typeface="Times New Roman"/>
              </a:rPr>
              <a:t>of each interface, and the cost </a:t>
            </a:r>
            <a:r>
              <a:rPr sz="2646" spc="-6" dirty="0">
                <a:latin typeface="Times New Roman"/>
                <a:cs typeface="Times New Roman"/>
              </a:rPr>
              <a:t>(metric) </a:t>
            </a:r>
            <a:r>
              <a:rPr sz="2646" dirty="0">
                <a:latin typeface="Times New Roman"/>
                <a:cs typeface="Times New Roman"/>
              </a:rPr>
              <a:t>associated with the </a:t>
            </a:r>
            <a:r>
              <a:rPr sz="2646" spc="6" dirty="0">
                <a:latin typeface="Times New Roman"/>
                <a:cs typeface="Times New Roman"/>
              </a:rPr>
              <a:t> </a:t>
            </a:r>
            <a:r>
              <a:rPr sz="2646" dirty="0">
                <a:latin typeface="Times New Roman"/>
                <a:cs typeface="Times New Roman"/>
              </a:rPr>
              <a:t>interface.</a:t>
            </a:r>
          </a:p>
          <a:p>
            <a:pPr marL="870751" marR="136492" lvl="1" indent="-504670">
              <a:lnSpc>
                <a:spcPct val="90000"/>
              </a:lnSpc>
              <a:spcBef>
                <a:spcPts val="451"/>
              </a:spcBef>
              <a:buClr>
                <a:srgbClr val="C00000"/>
              </a:buClr>
              <a:buSzPct val="85416"/>
              <a:buAutoNum type="arabicPeriod"/>
              <a:tabLst>
                <a:tab pos="870751" algn="l"/>
                <a:tab pos="871451" algn="l"/>
              </a:tabLst>
            </a:pPr>
            <a:r>
              <a:rPr sz="2646" b="1" spc="-6" dirty="0">
                <a:solidFill>
                  <a:srgbClr val="FF0000"/>
                </a:solidFill>
                <a:latin typeface="Times New Roman"/>
                <a:cs typeface="Times New Roman"/>
              </a:rPr>
              <a:t>Network LSA</a:t>
            </a:r>
            <a:r>
              <a:rPr sz="2646" b="1" spc="-6" dirty="0">
                <a:solidFill>
                  <a:srgbClr val="C00000"/>
                </a:solidFill>
                <a:latin typeface="Times New Roman"/>
                <a:cs typeface="Times New Roman"/>
              </a:rPr>
              <a:t>: </a:t>
            </a:r>
            <a:r>
              <a:rPr sz="2646" dirty="0">
                <a:latin typeface="Times New Roman"/>
                <a:cs typeface="Times New Roman"/>
              </a:rPr>
              <a:t>Identifies each link (subnet) and the routers </a:t>
            </a:r>
            <a:r>
              <a:rPr sz="2646" spc="6" dirty="0">
                <a:latin typeface="Times New Roman"/>
                <a:cs typeface="Times New Roman"/>
              </a:rPr>
              <a:t> </a:t>
            </a:r>
            <a:r>
              <a:rPr sz="2646" dirty="0">
                <a:latin typeface="Times New Roman"/>
                <a:cs typeface="Times New Roman"/>
              </a:rPr>
              <a:t>that</a:t>
            </a:r>
            <a:r>
              <a:rPr sz="2646" spc="-44" dirty="0">
                <a:latin typeface="Times New Roman"/>
                <a:cs typeface="Times New Roman"/>
              </a:rPr>
              <a:t> </a:t>
            </a:r>
            <a:r>
              <a:rPr sz="2646" dirty="0">
                <a:latin typeface="Times New Roman"/>
                <a:cs typeface="Times New Roman"/>
              </a:rPr>
              <a:t>are</a:t>
            </a:r>
            <a:r>
              <a:rPr sz="2646" spc="-6" dirty="0">
                <a:latin typeface="Times New Roman"/>
                <a:cs typeface="Times New Roman"/>
              </a:rPr>
              <a:t> </a:t>
            </a:r>
            <a:r>
              <a:rPr sz="2646" dirty="0">
                <a:latin typeface="Times New Roman"/>
                <a:cs typeface="Times New Roman"/>
              </a:rPr>
              <a:t>attached</a:t>
            </a:r>
            <a:r>
              <a:rPr sz="2646" spc="-50" dirty="0">
                <a:latin typeface="Times New Roman"/>
                <a:cs typeface="Times New Roman"/>
              </a:rPr>
              <a:t> </a:t>
            </a:r>
            <a:r>
              <a:rPr sz="2646" dirty="0">
                <a:latin typeface="Times New Roman"/>
                <a:cs typeface="Times New Roman"/>
              </a:rPr>
              <a:t>to</a:t>
            </a:r>
            <a:r>
              <a:rPr sz="2646" spc="-6" dirty="0">
                <a:latin typeface="Times New Roman"/>
                <a:cs typeface="Times New Roman"/>
              </a:rPr>
              <a:t> </a:t>
            </a:r>
            <a:r>
              <a:rPr sz="2646" dirty="0">
                <a:latin typeface="Times New Roman"/>
                <a:cs typeface="Times New Roman"/>
              </a:rPr>
              <a:t>that</a:t>
            </a:r>
            <a:r>
              <a:rPr sz="2646" spc="-39" dirty="0">
                <a:latin typeface="Times New Roman"/>
                <a:cs typeface="Times New Roman"/>
              </a:rPr>
              <a:t> </a:t>
            </a:r>
            <a:r>
              <a:rPr sz="2646" dirty="0">
                <a:latin typeface="Times New Roman"/>
                <a:cs typeface="Times New Roman"/>
              </a:rPr>
              <a:t>link.</a:t>
            </a:r>
            <a:r>
              <a:rPr sz="2646" spc="-17" dirty="0">
                <a:latin typeface="Times New Roman"/>
                <a:cs typeface="Times New Roman"/>
              </a:rPr>
              <a:t> </a:t>
            </a:r>
            <a:r>
              <a:rPr sz="2646" dirty="0">
                <a:latin typeface="Times New Roman"/>
                <a:cs typeface="Times New Roman"/>
              </a:rPr>
              <a:t>It</a:t>
            </a:r>
            <a:r>
              <a:rPr sz="2646" spc="-17" dirty="0">
                <a:latin typeface="Times New Roman"/>
                <a:cs typeface="Times New Roman"/>
              </a:rPr>
              <a:t> </a:t>
            </a:r>
            <a:r>
              <a:rPr sz="2646" dirty="0">
                <a:latin typeface="Times New Roman"/>
                <a:cs typeface="Times New Roman"/>
              </a:rPr>
              <a:t>also</a:t>
            </a:r>
            <a:r>
              <a:rPr sz="2646" spc="-6" dirty="0">
                <a:latin typeface="Times New Roman"/>
                <a:cs typeface="Times New Roman"/>
              </a:rPr>
              <a:t> </a:t>
            </a:r>
            <a:r>
              <a:rPr sz="2646" dirty="0">
                <a:latin typeface="Times New Roman"/>
                <a:cs typeface="Times New Roman"/>
              </a:rPr>
              <a:t>identifies</a:t>
            </a:r>
            <a:r>
              <a:rPr sz="2646" spc="-50" dirty="0">
                <a:latin typeface="Times New Roman"/>
                <a:cs typeface="Times New Roman"/>
              </a:rPr>
              <a:t> </a:t>
            </a:r>
            <a:r>
              <a:rPr sz="2646" dirty="0">
                <a:latin typeface="Times New Roman"/>
                <a:cs typeface="Times New Roman"/>
              </a:rPr>
              <a:t>the</a:t>
            </a:r>
            <a:r>
              <a:rPr sz="2646" spc="-17" dirty="0">
                <a:latin typeface="Times New Roman"/>
                <a:cs typeface="Times New Roman"/>
              </a:rPr>
              <a:t> </a:t>
            </a:r>
            <a:r>
              <a:rPr sz="2646" dirty="0">
                <a:latin typeface="Times New Roman"/>
                <a:cs typeface="Times New Roman"/>
              </a:rPr>
              <a:t>state</a:t>
            </a:r>
            <a:r>
              <a:rPr sz="2646" spc="-33" dirty="0">
                <a:latin typeface="Times New Roman"/>
                <a:cs typeface="Times New Roman"/>
              </a:rPr>
              <a:t> </a:t>
            </a:r>
            <a:r>
              <a:rPr sz="2646" dirty="0">
                <a:latin typeface="Times New Roman"/>
                <a:cs typeface="Times New Roman"/>
              </a:rPr>
              <a:t>(up</a:t>
            </a:r>
            <a:r>
              <a:rPr sz="2646" spc="-17" dirty="0">
                <a:latin typeface="Times New Roman"/>
                <a:cs typeface="Times New Roman"/>
              </a:rPr>
              <a:t> </a:t>
            </a:r>
            <a:r>
              <a:rPr sz="2646" dirty="0">
                <a:latin typeface="Times New Roman"/>
                <a:cs typeface="Times New Roman"/>
              </a:rPr>
              <a:t>or </a:t>
            </a:r>
            <a:r>
              <a:rPr sz="2646" spc="-645" dirty="0">
                <a:latin typeface="Times New Roman"/>
                <a:cs typeface="Times New Roman"/>
              </a:rPr>
              <a:t> </a:t>
            </a:r>
            <a:r>
              <a:rPr sz="2646" spc="-6" dirty="0">
                <a:latin typeface="Times New Roman"/>
                <a:cs typeface="Times New Roman"/>
              </a:rPr>
              <a:t>down)</a:t>
            </a:r>
            <a:r>
              <a:rPr sz="2646" spc="-22" dirty="0">
                <a:latin typeface="Times New Roman"/>
                <a:cs typeface="Times New Roman"/>
              </a:rPr>
              <a:t> </a:t>
            </a:r>
            <a:r>
              <a:rPr sz="2646" spc="-6" dirty="0">
                <a:latin typeface="Times New Roman"/>
                <a:cs typeface="Times New Roman"/>
              </a:rPr>
              <a:t>of</a:t>
            </a:r>
            <a:r>
              <a:rPr sz="2646" dirty="0">
                <a:latin typeface="Times New Roman"/>
                <a:cs typeface="Times New Roman"/>
              </a:rPr>
              <a:t> </a:t>
            </a:r>
            <a:r>
              <a:rPr sz="2646" spc="-6" dirty="0">
                <a:latin typeface="Times New Roman"/>
                <a:cs typeface="Times New Roman"/>
              </a:rPr>
              <a:t>the</a:t>
            </a:r>
            <a:r>
              <a:rPr sz="2646" spc="-11" dirty="0">
                <a:latin typeface="Times New Roman"/>
                <a:cs typeface="Times New Roman"/>
              </a:rPr>
              <a:t> </a:t>
            </a:r>
            <a:r>
              <a:rPr sz="2646" dirty="0">
                <a:latin typeface="Times New Roman"/>
                <a:cs typeface="Times New Roman"/>
              </a:rPr>
              <a:t>link.</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7307" y="578484"/>
            <a:ext cx="9306394"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Discover</a:t>
            </a:r>
            <a:r>
              <a:rPr b="1" spc="-83"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the</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topology</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of</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the</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network</a:t>
            </a:r>
          </a:p>
        </p:txBody>
      </p:sp>
      <p:sp>
        <p:nvSpPr>
          <p:cNvPr id="4" name="object 4"/>
          <p:cNvSpPr txBox="1"/>
          <p:nvPr/>
        </p:nvSpPr>
        <p:spPr>
          <a:xfrm>
            <a:off x="141669" y="1738529"/>
            <a:ext cx="9762186" cy="5184639"/>
          </a:xfrm>
          <a:prstGeom prst="rect">
            <a:avLst/>
          </a:prstGeom>
        </p:spPr>
        <p:txBody>
          <a:bodyPr vert="horz" wrap="square" lIns="0" tIns="67197" rIns="0" bIns="0" rtlCol="0">
            <a:spAutoFit/>
          </a:bodyPr>
          <a:lstStyle/>
          <a:p>
            <a:pPr marL="581667" marR="135092" indent="-568368" algn="just">
              <a:spcBef>
                <a:spcPts val="529"/>
              </a:spcBef>
              <a:buClr>
                <a:srgbClr val="C00000"/>
              </a:buClr>
              <a:buSzPct val="83928"/>
              <a:buAutoNum type="arabicPeriod"/>
              <a:tabLst>
                <a:tab pos="582367" algn="l"/>
              </a:tabLst>
            </a:pPr>
            <a:r>
              <a:rPr sz="3200" b="1" dirty="0">
                <a:solidFill>
                  <a:srgbClr val="FF0000"/>
                </a:solidFill>
                <a:latin typeface="Times New Roman" panose="02020603050405020304" pitchFamily="18" charset="0"/>
                <a:cs typeface="Times New Roman" panose="02020603050405020304" pitchFamily="18" charset="0"/>
              </a:rPr>
              <a:t>Link-state advertisements (LSAs) </a:t>
            </a:r>
            <a:r>
              <a:rPr sz="3200" b="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 link-state  advertisement (LSA) is a small packet of routing  information that is sent between routers.</a:t>
            </a:r>
            <a:endParaRPr lang="en-US" sz="3200" dirty="0">
              <a:latin typeface="Times New Roman" panose="02020603050405020304" pitchFamily="18" charset="0"/>
              <a:cs typeface="Times New Roman" panose="02020603050405020304" pitchFamily="18" charset="0"/>
            </a:endParaRPr>
          </a:p>
          <a:p>
            <a:pPr marL="581667" marR="135092" indent="-568368" algn="just">
              <a:spcBef>
                <a:spcPts val="529"/>
              </a:spcBef>
              <a:buClr>
                <a:srgbClr val="C00000"/>
              </a:buClr>
              <a:buSzPct val="83928"/>
              <a:buAutoNum type="arabicPeriod"/>
              <a:tabLst>
                <a:tab pos="582367" algn="l"/>
              </a:tabLst>
            </a:pPr>
            <a:r>
              <a:rPr sz="3200" b="1" dirty="0">
                <a:solidFill>
                  <a:srgbClr val="FF0000"/>
                </a:solidFill>
                <a:latin typeface="Times New Roman" panose="02020603050405020304" pitchFamily="18" charset="0"/>
                <a:cs typeface="Times New Roman" panose="02020603050405020304" pitchFamily="18" charset="0"/>
              </a:rPr>
              <a:t>Topological database </a:t>
            </a:r>
            <a:r>
              <a:rPr sz="3200" b="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 topological database is  a collection of information gathered from LSAs.</a:t>
            </a:r>
            <a:endParaRPr lang="en-US" sz="3200" dirty="0">
              <a:latin typeface="Times New Roman" panose="02020603050405020304" pitchFamily="18" charset="0"/>
              <a:cs typeface="Times New Roman" panose="02020603050405020304" pitchFamily="18" charset="0"/>
            </a:endParaRPr>
          </a:p>
          <a:p>
            <a:pPr marL="581667" marR="135092" indent="-568368" algn="just">
              <a:spcBef>
                <a:spcPts val="529"/>
              </a:spcBef>
              <a:buClr>
                <a:srgbClr val="C00000"/>
              </a:buClr>
              <a:buSzPct val="83928"/>
              <a:buAutoNum type="arabicPeriod"/>
              <a:tabLst>
                <a:tab pos="582367" algn="l"/>
              </a:tabLst>
            </a:pPr>
            <a:r>
              <a:rPr sz="3200" b="1" dirty="0">
                <a:solidFill>
                  <a:srgbClr val="FF0000"/>
                </a:solidFill>
                <a:latin typeface="Times New Roman" panose="02020603050405020304" pitchFamily="18" charset="0"/>
                <a:cs typeface="Times New Roman" panose="02020603050405020304" pitchFamily="18" charset="0"/>
              </a:rPr>
              <a:t>SPF algorithm </a:t>
            </a:r>
            <a:r>
              <a:rPr sz="3200" b="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 shortest path first (SPF)  algorithm is a calculation performed on the  database resulting in the SPF tree.</a:t>
            </a:r>
            <a:endParaRPr lang="en-US" sz="3200" dirty="0">
              <a:latin typeface="Times New Roman" panose="02020603050405020304" pitchFamily="18" charset="0"/>
              <a:cs typeface="Times New Roman" panose="02020603050405020304" pitchFamily="18" charset="0"/>
            </a:endParaRPr>
          </a:p>
          <a:p>
            <a:pPr marL="581667" marR="135092" indent="-568368" algn="just">
              <a:spcBef>
                <a:spcPts val="529"/>
              </a:spcBef>
              <a:buClr>
                <a:srgbClr val="C00000"/>
              </a:buClr>
              <a:buSzPct val="83928"/>
              <a:buAutoNum type="arabicPeriod"/>
              <a:tabLst>
                <a:tab pos="582367" algn="l"/>
              </a:tabLst>
            </a:pPr>
            <a:r>
              <a:rPr sz="3200" b="1" dirty="0">
                <a:solidFill>
                  <a:srgbClr val="FF0000"/>
                </a:solidFill>
                <a:latin typeface="Times New Roman" panose="02020603050405020304" pitchFamily="18" charset="0"/>
                <a:cs typeface="Times New Roman" panose="02020603050405020304" pitchFamily="18" charset="0"/>
              </a:rPr>
              <a:t>Routing tables </a:t>
            </a:r>
            <a:r>
              <a:rPr sz="3200" b="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 list of the known paths and  interfaces.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307" y="416565"/>
            <a:ext cx="8565545"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Link-State</a:t>
            </a:r>
            <a:r>
              <a:rPr b="1" spc="-6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55"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sp>
        <p:nvSpPr>
          <p:cNvPr id="4" name="object 4"/>
          <p:cNvSpPr txBox="1"/>
          <p:nvPr/>
        </p:nvSpPr>
        <p:spPr>
          <a:xfrm>
            <a:off x="288933" y="1714336"/>
            <a:ext cx="9791691" cy="4609394"/>
          </a:xfrm>
          <a:prstGeom prst="rect">
            <a:avLst/>
          </a:prstGeom>
        </p:spPr>
        <p:txBody>
          <a:bodyPr vert="horz" wrap="square" lIns="0" tIns="86796" rIns="0" bIns="0" rtlCol="0">
            <a:spAutoFit/>
          </a:bodyPr>
          <a:lstStyle/>
          <a:p>
            <a:pPr marL="470499" marR="5600" indent="-457200">
              <a:spcBef>
                <a:spcPts val="683"/>
              </a:spcBef>
              <a:buClr>
                <a:srgbClr val="C00000"/>
              </a:buClr>
              <a:buSzPct val="84090"/>
              <a:buFont typeface="Wingdings" panose="05000000000000000000" pitchFamily="2" charset="2"/>
              <a:buChar char="Ø"/>
              <a:tabLst>
                <a:tab pos="316382" algn="l"/>
                <a:tab pos="317082" algn="l"/>
              </a:tabLst>
            </a:pPr>
            <a:r>
              <a:rPr sz="3200" spc="-6" dirty="0">
                <a:latin typeface="Times New Roman"/>
                <a:cs typeface="Times New Roman"/>
              </a:rPr>
              <a:t>Using </a:t>
            </a:r>
            <a:r>
              <a:rPr sz="3200" dirty="0">
                <a:latin typeface="Times New Roman"/>
                <a:cs typeface="Times New Roman"/>
              </a:rPr>
              <a:t>link-state </a:t>
            </a:r>
            <a:r>
              <a:rPr sz="3200" spc="-6" dirty="0">
                <a:latin typeface="Times New Roman"/>
                <a:cs typeface="Times New Roman"/>
              </a:rPr>
              <a:t>protocols, each router creates a router LSA </a:t>
            </a:r>
            <a:r>
              <a:rPr sz="3200" dirty="0">
                <a:latin typeface="Times New Roman"/>
                <a:cs typeface="Times New Roman"/>
              </a:rPr>
              <a:t>for </a:t>
            </a:r>
            <a:r>
              <a:rPr sz="3200" spc="-6" dirty="0">
                <a:latin typeface="Times New Roman"/>
                <a:cs typeface="Times New Roman"/>
              </a:rPr>
              <a:t>itself </a:t>
            </a:r>
            <a:r>
              <a:rPr sz="3200" dirty="0">
                <a:latin typeface="Times New Roman"/>
                <a:cs typeface="Times New Roman"/>
              </a:rPr>
              <a:t> </a:t>
            </a:r>
            <a:r>
              <a:rPr sz="3200" spc="-6" dirty="0">
                <a:latin typeface="Times New Roman"/>
                <a:cs typeface="Times New Roman"/>
              </a:rPr>
              <a:t>and floods that LSA to other routers in routing update messages. </a:t>
            </a:r>
            <a:r>
              <a:rPr sz="3200" spc="-88" dirty="0">
                <a:latin typeface="Times New Roman"/>
                <a:cs typeface="Times New Roman"/>
              </a:rPr>
              <a:t>To </a:t>
            </a:r>
            <a:r>
              <a:rPr sz="3200" spc="-83" dirty="0">
                <a:latin typeface="Times New Roman"/>
                <a:cs typeface="Times New Roman"/>
              </a:rPr>
              <a:t> </a:t>
            </a:r>
            <a:r>
              <a:rPr sz="3200" spc="-6" dirty="0">
                <a:latin typeface="Times New Roman"/>
                <a:cs typeface="Times New Roman"/>
              </a:rPr>
              <a:t>flood an LSA, a router sends the LSA to its neighbors; those </a:t>
            </a:r>
            <a:r>
              <a:rPr sz="3200" dirty="0">
                <a:latin typeface="Times New Roman"/>
                <a:cs typeface="Times New Roman"/>
              </a:rPr>
              <a:t> </a:t>
            </a:r>
            <a:r>
              <a:rPr sz="3200" spc="-6" dirty="0">
                <a:latin typeface="Times New Roman"/>
                <a:cs typeface="Times New Roman"/>
              </a:rPr>
              <a:t>neighbors in turn forward the LSA to their neighbors, and so </a:t>
            </a:r>
            <a:r>
              <a:rPr sz="3200" dirty="0">
                <a:latin typeface="Times New Roman"/>
                <a:cs typeface="Times New Roman"/>
              </a:rPr>
              <a:t>on, </a:t>
            </a:r>
            <a:r>
              <a:rPr sz="3200" spc="-6" dirty="0">
                <a:latin typeface="Times New Roman"/>
                <a:cs typeface="Times New Roman"/>
              </a:rPr>
              <a:t>until </a:t>
            </a:r>
            <a:r>
              <a:rPr sz="3200" spc="-590" dirty="0">
                <a:latin typeface="Times New Roman"/>
                <a:cs typeface="Times New Roman"/>
              </a:rPr>
              <a:t> </a:t>
            </a:r>
            <a:r>
              <a:rPr sz="3200" spc="-6" dirty="0">
                <a:latin typeface="Times New Roman"/>
                <a:cs typeface="Times New Roman"/>
              </a:rPr>
              <a:t>all</a:t>
            </a:r>
            <a:r>
              <a:rPr sz="3200" spc="-11" dirty="0">
                <a:latin typeface="Times New Roman"/>
                <a:cs typeface="Times New Roman"/>
              </a:rPr>
              <a:t> </a:t>
            </a:r>
            <a:r>
              <a:rPr sz="3200" spc="-6" dirty="0">
                <a:latin typeface="Times New Roman"/>
                <a:cs typeface="Times New Roman"/>
              </a:rPr>
              <a:t>the routers have learned</a:t>
            </a:r>
            <a:r>
              <a:rPr sz="3200" spc="6" dirty="0">
                <a:latin typeface="Times New Roman"/>
                <a:cs typeface="Times New Roman"/>
              </a:rPr>
              <a:t> </a:t>
            </a:r>
            <a:r>
              <a:rPr sz="3200" spc="-6" dirty="0">
                <a:latin typeface="Times New Roman"/>
                <a:cs typeface="Times New Roman"/>
              </a:rPr>
              <a:t>about</a:t>
            </a:r>
            <a:r>
              <a:rPr sz="3200" spc="-11" dirty="0">
                <a:latin typeface="Times New Roman"/>
                <a:cs typeface="Times New Roman"/>
              </a:rPr>
              <a:t> </a:t>
            </a:r>
            <a:r>
              <a:rPr sz="3200" spc="-6" dirty="0">
                <a:latin typeface="Times New Roman"/>
                <a:cs typeface="Times New Roman"/>
              </a:rPr>
              <a:t>the LSA.</a:t>
            </a:r>
            <a:endParaRPr sz="3200" dirty="0">
              <a:latin typeface="Times New Roman"/>
              <a:cs typeface="Times New Roman"/>
            </a:endParaRPr>
          </a:p>
          <a:p>
            <a:pPr marL="470499" marR="905749" indent="-457200">
              <a:spcBef>
                <a:spcPts val="661"/>
              </a:spcBef>
              <a:buClr>
                <a:srgbClr val="C00000"/>
              </a:buClr>
              <a:buSzPct val="84090"/>
              <a:buFont typeface="Wingdings" panose="05000000000000000000" pitchFamily="2" charset="2"/>
              <a:buChar char="Ø"/>
              <a:tabLst>
                <a:tab pos="316382" algn="l"/>
                <a:tab pos="317082" algn="l"/>
              </a:tabLst>
            </a:pPr>
            <a:r>
              <a:rPr sz="3200" spc="-6" dirty="0">
                <a:latin typeface="Times New Roman"/>
                <a:cs typeface="Times New Roman"/>
              </a:rPr>
              <a:t>Each router</a:t>
            </a:r>
            <a:r>
              <a:rPr sz="3200" spc="22" dirty="0">
                <a:latin typeface="Times New Roman"/>
                <a:cs typeface="Times New Roman"/>
              </a:rPr>
              <a:t> </a:t>
            </a:r>
            <a:r>
              <a:rPr sz="3200" spc="-6" dirty="0">
                <a:latin typeface="Times New Roman"/>
                <a:cs typeface="Times New Roman"/>
              </a:rPr>
              <a:t>in</a:t>
            </a:r>
            <a:r>
              <a:rPr sz="3200" dirty="0">
                <a:latin typeface="Times New Roman"/>
                <a:cs typeface="Times New Roman"/>
              </a:rPr>
              <a:t> </a:t>
            </a:r>
            <a:r>
              <a:rPr sz="3200" spc="-6" dirty="0">
                <a:latin typeface="Times New Roman"/>
                <a:cs typeface="Times New Roman"/>
              </a:rPr>
              <a:t>parallel</a:t>
            </a:r>
            <a:r>
              <a:rPr sz="3200" spc="22" dirty="0">
                <a:latin typeface="Times New Roman"/>
                <a:cs typeface="Times New Roman"/>
              </a:rPr>
              <a:t> </a:t>
            </a:r>
            <a:r>
              <a:rPr sz="3200" spc="-6" dirty="0">
                <a:latin typeface="Times New Roman"/>
                <a:cs typeface="Times New Roman"/>
              </a:rPr>
              <a:t>with</a:t>
            </a:r>
            <a:r>
              <a:rPr sz="3200" spc="11"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spc="-6" dirty="0">
                <a:latin typeface="Times New Roman"/>
                <a:cs typeface="Times New Roman"/>
              </a:rPr>
              <a:t>others</a:t>
            </a:r>
            <a:r>
              <a:rPr sz="3200" dirty="0">
                <a:latin typeface="Times New Roman"/>
                <a:cs typeface="Times New Roman"/>
              </a:rPr>
              <a:t> </a:t>
            </a:r>
            <a:r>
              <a:rPr sz="3200" spc="-6" dirty="0">
                <a:latin typeface="Times New Roman"/>
                <a:cs typeface="Times New Roman"/>
              </a:rPr>
              <a:t>constructs a</a:t>
            </a:r>
            <a:r>
              <a:rPr sz="3200" spc="6" dirty="0">
                <a:latin typeface="Times New Roman"/>
                <a:cs typeface="Times New Roman"/>
              </a:rPr>
              <a:t> </a:t>
            </a:r>
            <a:r>
              <a:rPr sz="3200" spc="-6" dirty="0">
                <a:latin typeface="Times New Roman"/>
                <a:cs typeface="Times New Roman"/>
              </a:rPr>
              <a:t>topological </a:t>
            </a:r>
            <a:r>
              <a:rPr sz="3200" spc="-590" dirty="0">
                <a:latin typeface="Times New Roman"/>
                <a:cs typeface="Times New Roman"/>
              </a:rPr>
              <a:t> </a:t>
            </a:r>
            <a:r>
              <a:rPr sz="3200" spc="-6" dirty="0">
                <a:latin typeface="Times New Roman"/>
                <a:cs typeface="Times New Roman"/>
              </a:rPr>
              <a:t>database</a:t>
            </a:r>
            <a:r>
              <a:rPr sz="3200" spc="-22" dirty="0">
                <a:latin typeface="Times New Roman"/>
                <a:cs typeface="Times New Roman"/>
              </a:rPr>
              <a:t> </a:t>
            </a:r>
            <a:r>
              <a:rPr sz="3200" spc="-6" dirty="0">
                <a:latin typeface="Times New Roman"/>
                <a:cs typeface="Times New Roman"/>
              </a:rPr>
              <a:t>consisting of</a:t>
            </a:r>
            <a:r>
              <a:rPr sz="3200" dirty="0">
                <a:latin typeface="Times New Roman"/>
                <a:cs typeface="Times New Roman"/>
              </a:rPr>
              <a:t> </a:t>
            </a:r>
            <a:r>
              <a:rPr sz="3200" spc="-6" dirty="0">
                <a:latin typeface="Times New Roman"/>
                <a:cs typeface="Times New Roman"/>
              </a:rPr>
              <a:t>all</a:t>
            </a:r>
            <a:r>
              <a:rPr sz="3200" dirty="0">
                <a:latin typeface="Times New Roman"/>
                <a:cs typeface="Times New Roman"/>
              </a:rPr>
              <a:t> </a:t>
            </a:r>
            <a:r>
              <a:rPr sz="3200" spc="-6" dirty="0">
                <a:latin typeface="Times New Roman"/>
                <a:cs typeface="Times New Roman"/>
              </a:rPr>
              <a:t>the exchanged LSAs.</a:t>
            </a:r>
            <a:endParaRPr sz="3200" dirty="0">
              <a:latin typeface="Times New Roman"/>
              <a:cs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307" y="416565"/>
            <a:ext cx="8565545"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Link-State</a:t>
            </a:r>
            <a:r>
              <a:rPr b="1" spc="-6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55"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sp>
        <p:nvSpPr>
          <p:cNvPr id="4" name="object 4"/>
          <p:cNvSpPr txBox="1"/>
          <p:nvPr/>
        </p:nvSpPr>
        <p:spPr>
          <a:xfrm>
            <a:off x="288933" y="1714336"/>
            <a:ext cx="9791691" cy="5101837"/>
          </a:xfrm>
          <a:prstGeom prst="rect">
            <a:avLst/>
          </a:prstGeom>
        </p:spPr>
        <p:txBody>
          <a:bodyPr vert="horz" wrap="square" lIns="0" tIns="86796" rIns="0" bIns="0" rtlCol="0">
            <a:spAutoFit/>
          </a:bodyPr>
          <a:lstStyle/>
          <a:p>
            <a:pPr marL="470499" marR="741258" indent="-457200">
              <a:spcBef>
                <a:spcPts val="650"/>
              </a:spcBef>
              <a:buClr>
                <a:srgbClr val="C00000"/>
              </a:buClr>
              <a:buSzPct val="84090"/>
              <a:buFont typeface="Wingdings" panose="05000000000000000000" pitchFamily="2" charset="2"/>
              <a:buChar char="Ø"/>
              <a:tabLst>
                <a:tab pos="316382" algn="l"/>
                <a:tab pos="317082" algn="l"/>
              </a:tabLst>
            </a:pPr>
            <a:r>
              <a:rPr sz="3200" spc="-6" dirty="0">
                <a:latin typeface="Times New Roman"/>
                <a:cs typeface="Times New Roman"/>
              </a:rPr>
              <a:t>The SPF</a:t>
            </a:r>
            <a:r>
              <a:rPr sz="3200" spc="11" dirty="0">
                <a:latin typeface="Times New Roman"/>
                <a:cs typeface="Times New Roman"/>
              </a:rPr>
              <a:t> </a:t>
            </a:r>
            <a:r>
              <a:rPr sz="3200" spc="-6" dirty="0">
                <a:latin typeface="Times New Roman"/>
                <a:cs typeface="Times New Roman"/>
              </a:rPr>
              <a:t>algorithm</a:t>
            </a:r>
            <a:r>
              <a:rPr sz="3200" spc="22" dirty="0">
                <a:latin typeface="Times New Roman"/>
                <a:cs typeface="Times New Roman"/>
              </a:rPr>
              <a:t> </a:t>
            </a:r>
            <a:r>
              <a:rPr sz="3200" spc="-6" dirty="0">
                <a:latin typeface="Times New Roman"/>
                <a:cs typeface="Times New Roman"/>
              </a:rPr>
              <a:t>computes</a:t>
            </a:r>
            <a:r>
              <a:rPr sz="3200" spc="11" dirty="0">
                <a:latin typeface="Times New Roman"/>
                <a:cs typeface="Times New Roman"/>
              </a:rPr>
              <a:t> </a:t>
            </a:r>
            <a:r>
              <a:rPr sz="3200" spc="-6" dirty="0">
                <a:latin typeface="Times New Roman"/>
                <a:cs typeface="Times New Roman"/>
              </a:rPr>
              <a:t>network</a:t>
            </a:r>
            <a:r>
              <a:rPr sz="3200" spc="39" dirty="0">
                <a:latin typeface="Times New Roman"/>
                <a:cs typeface="Times New Roman"/>
              </a:rPr>
              <a:t> </a:t>
            </a:r>
            <a:r>
              <a:rPr sz="3200" spc="-17" dirty="0">
                <a:latin typeface="Times New Roman"/>
                <a:cs typeface="Times New Roman"/>
              </a:rPr>
              <a:t>reachability.</a:t>
            </a:r>
            <a:r>
              <a:rPr sz="3200" spc="-39" dirty="0">
                <a:latin typeface="Times New Roman"/>
                <a:cs typeface="Times New Roman"/>
              </a:rPr>
              <a:t> </a:t>
            </a:r>
            <a:r>
              <a:rPr sz="3200" spc="-6" dirty="0">
                <a:latin typeface="Times New Roman"/>
                <a:cs typeface="Times New Roman"/>
              </a:rPr>
              <a:t>The</a:t>
            </a:r>
            <a:r>
              <a:rPr sz="3200" spc="11" dirty="0">
                <a:latin typeface="Times New Roman"/>
                <a:cs typeface="Times New Roman"/>
              </a:rPr>
              <a:t> </a:t>
            </a:r>
            <a:r>
              <a:rPr sz="3200" dirty="0">
                <a:latin typeface="Times New Roman"/>
                <a:cs typeface="Times New Roman"/>
              </a:rPr>
              <a:t>router </a:t>
            </a:r>
            <a:r>
              <a:rPr sz="3200" spc="6" dirty="0">
                <a:latin typeface="Times New Roman"/>
                <a:cs typeface="Times New Roman"/>
              </a:rPr>
              <a:t> </a:t>
            </a:r>
            <a:r>
              <a:rPr sz="3200" spc="-6" dirty="0">
                <a:latin typeface="Times New Roman"/>
                <a:cs typeface="Times New Roman"/>
              </a:rPr>
              <a:t>constructs this</a:t>
            </a:r>
            <a:r>
              <a:rPr sz="3200" dirty="0">
                <a:latin typeface="Times New Roman"/>
                <a:cs typeface="Times New Roman"/>
              </a:rPr>
              <a:t> </a:t>
            </a:r>
            <a:r>
              <a:rPr sz="3200" spc="-6" dirty="0">
                <a:latin typeface="Times New Roman"/>
                <a:cs typeface="Times New Roman"/>
              </a:rPr>
              <a:t>logical</a:t>
            </a:r>
            <a:r>
              <a:rPr sz="3200" spc="6" dirty="0">
                <a:latin typeface="Times New Roman"/>
                <a:cs typeface="Times New Roman"/>
              </a:rPr>
              <a:t> </a:t>
            </a:r>
            <a:r>
              <a:rPr sz="3200" spc="-6" dirty="0">
                <a:latin typeface="Times New Roman"/>
                <a:cs typeface="Times New Roman"/>
              </a:rPr>
              <a:t>topology</a:t>
            </a:r>
            <a:r>
              <a:rPr sz="3200" spc="-11" dirty="0">
                <a:latin typeface="Times New Roman"/>
                <a:cs typeface="Times New Roman"/>
              </a:rPr>
              <a:t> </a:t>
            </a:r>
            <a:r>
              <a:rPr sz="3200" spc="-6" dirty="0">
                <a:latin typeface="Times New Roman"/>
                <a:cs typeface="Times New Roman"/>
              </a:rPr>
              <a:t>as</a:t>
            </a:r>
            <a:r>
              <a:rPr sz="3200" spc="6"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6" dirty="0">
                <a:latin typeface="Times New Roman"/>
                <a:cs typeface="Times New Roman"/>
              </a:rPr>
              <a:t>tree,</a:t>
            </a:r>
            <a:r>
              <a:rPr sz="3200" spc="6" dirty="0">
                <a:latin typeface="Times New Roman"/>
                <a:cs typeface="Times New Roman"/>
              </a:rPr>
              <a:t> </a:t>
            </a:r>
            <a:r>
              <a:rPr sz="3200" spc="-6" dirty="0">
                <a:latin typeface="Times New Roman"/>
                <a:cs typeface="Times New Roman"/>
              </a:rPr>
              <a:t>with</a:t>
            </a:r>
            <a:r>
              <a:rPr sz="3200" spc="11" dirty="0">
                <a:latin typeface="Times New Roman"/>
                <a:cs typeface="Times New Roman"/>
              </a:rPr>
              <a:t> </a:t>
            </a:r>
            <a:r>
              <a:rPr sz="3200" spc="-6" dirty="0">
                <a:latin typeface="Times New Roman"/>
                <a:cs typeface="Times New Roman"/>
              </a:rPr>
              <a:t>itself</a:t>
            </a:r>
            <a:r>
              <a:rPr sz="3200" spc="22" dirty="0">
                <a:latin typeface="Times New Roman"/>
                <a:cs typeface="Times New Roman"/>
              </a:rPr>
              <a:t> </a:t>
            </a:r>
            <a:r>
              <a:rPr sz="3200" spc="-6" dirty="0">
                <a:latin typeface="Times New Roman"/>
                <a:cs typeface="Times New Roman"/>
              </a:rPr>
              <a:t>as</a:t>
            </a:r>
            <a:r>
              <a:rPr sz="3200" spc="6"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root, </a:t>
            </a:r>
            <a:r>
              <a:rPr sz="3200" spc="-590" dirty="0">
                <a:latin typeface="Times New Roman"/>
                <a:cs typeface="Times New Roman"/>
              </a:rPr>
              <a:t> </a:t>
            </a:r>
            <a:r>
              <a:rPr sz="3200" spc="-6" dirty="0">
                <a:latin typeface="Times New Roman"/>
                <a:cs typeface="Times New Roman"/>
              </a:rPr>
              <a:t>consisting</a:t>
            </a:r>
            <a:r>
              <a:rPr sz="3200" spc="-11" dirty="0">
                <a:latin typeface="Times New Roman"/>
                <a:cs typeface="Times New Roman"/>
              </a:rPr>
              <a:t> </a:t>
            </a:r>
            <a:r>
              <a:rPr sz="3200" spc="-6" dirty="0">
                <a:latin typeface="Times New Roman"/>
                <a:cs typeface="Times New Roman"/>
              </a:rPr>
              <a:t>of</a:t>
            </a:r>
            <a:r>
              <a:rPr sz="3200" dirty="0">
                <a:latin typeface="Times New Roman"/>
                <a:cs typeface="Times New Roman"/>
              </a:rPr>
              <a:t> </a:t>
            </a:r>
            <a:r>
              <a:rPr sz="3200" spc="-6" dirty="0">
                <a:latin typeface="Times New Roman"/>
                <a:cs typeface="Times New Roman"/>
              </a:rPr>
              <a:t>all</a:t>
            </a:r>
            <a:r>
              <a:rPr sz="3200" spc="22" dirty="0">
                <a:latin typeface="Times New Roman"/>
                <a:cs typeface="Times New Roman"/>
              </a:rPr>
              <a:t> </a:t>
            </a:r>
            <a:r>
              <a:rPr sz="3200" spc="-6" dirty="0">
                <a:latin typeface="Times New Roman"/>
                <a:cs typeface="Times New Roman"/>
              </a:rPr>
              <a:t>possible paths to</a:t>
            </a:r>
            <a:r>
              <a:rPr sz="3200" dirty="0">
                <a:latin typeface="Times New Roman"/>
                <a:cs typeface="Times New Roman"/>
              </a:rPr>
              <a:t> </a:t>
            </a:r>
            <a:r>
              <a:rPr sz="3200" spc="-6" dirty="0">
                <a:latin typeface="Times New Roman"/>
                <a:cs typeface="Times New Roman"/>
              </a:rPr>
              <a:t>each</a:t>
            </a:r>
            <a:r>
              <a:rPr sz="3200" spc="22" dirty="0">
                <a:latin typeface="Times New Roman"/>
                <a:cs typeface="Times New Roman"/>
              </a:rPr>
              <a:t> </a:t>
            </a:r>
            <a:r>
              <a:rPr sz="3200" spc="-6" dirty="0">
                <a:latin typeface="Times New Roman"/>
                <a:cs typeface="Times New Roman"/>
              </a:rPr>
              <a:t>network</a:t>
            </a:r>
            <a:r>
              <a:rPr sz="3200" dirty="0">
                <a:latin typeface="Times New Roman"/>
                <a:cs typeface="Times New Roman"/>
              </a:rPr>
              <a:t> </a:t>
            </a:r>
            <a:r>
              <a:rPr sz="3200" spc="-6" dirty="0">
                <a:latin typeface="Times New Roman"/>
                <a:cs typeface="Times New Roman"/>
              </a:rPr>
              <a:t>in</a:t>
            </a:r>
            <a:r>
              <a:rPr sz="3200" spc="11" dirty="0">
                <a:latin typeface="Times New Roman"/>
                <a:cs typeface="Times New Roman"/>
              </a:rPr>
              <a:t> </a:t>
            </a:r>
            <a:r>
              <a:rPr sz="3200" dirty="0">
                <a:latin typeface="Times New Roman"/>
                <a:cs typeface="Times New Roman"/>
              </a:rPr>
              <a:t>the link-state </a:t>
            </a:r>
            <a:r>
              <a:rPr sz="3200" spc="-590" dirty="0">
                <a:latin typeface="Times New Roman"/>
                <a:cs typeface="Times New Roman"/>
              </a:rPr>
              <a:t> </a:t>
            </a:r>
            <a:r>
              <a:rPr sz="3200" spc="-6" dirty="0">
                <a:latin typeface="Times New Roman"/>
                <a:cs typeface="Times New Roman"/>
              </a:rPr>
              <a:t>protocol</a:t>
            </a:r>
            <a:r>
              <a:rPr sz="3200" spc="-33" dirty="0">
                <a:latin typeface="Times New Roman"/>
                <a:cs typeface="Times New Roman"/>
              </a:rPr>
              <a:t> </a:t>
            </a:r>
            <a:r>
              <a:rPr sz="3200" spc="-6" dirty="0">
                <a:latin typeface="Times New Roman"/>
                <a:cs typeface="Times New Roman"/>
              </a:rPr>
              <a:t>internetwork</a:t>
            </a:r>
            <a:endParaRPr sz="3200" dirty="0">
              <a:latin typeface="Times New Roman"/>
              <a:cs typeface="Times New Roman"/>
            </a:endParaRPr>
          </a:p>
          <a:p>
            <a:pPr marL="470499" marR="286984" indent="-457200">
              <a:spcBef>
                <a:spcPts val="672"/>
              </a:spcBef>
              <a:buClr>
                <a:srgbClr val="C00000"/>
              </a:buClr>
              <a:buSzPct val="84090"/>
              <a:buFont typeface="Wingdings" panose="05000000000000000000" pitchFamily="2" charset="2"/>
              <a:buChar char="Ø"/>
              <a:tabLst>
                <a:tab pos="316382" algn="l"/>
                <a:tab pos="317082" algn="l"/>
              </a:tabLst>
            </a:pPr>
            <a:r>
              <a:rPr sz="3200" dirty="0">
                <a:latin typeface="Times New Roman"/>
                <a:cs typeface="Times New Roman"/>
              </a:rPr>
              <a:t>When</a:t>
            </a:r>
            <a:r>
              <a:rPr sz="3200" spc="-22" dirty="0">
                <a:latin typeface="Times New Roman"/>
                <a:cs typeface="Times New Roman"/>
              </a:rPr>
              <a:t> </a:t>
            </a:r>
            <a:r>
              <a:rPr sz="3200" spc="-6" dirty="0">
                <a:latin typeface="Times New Roman"/>
                <a:cs typeface="Times New Roman"/>
              </a:rPr>
              <a:t>the</a:t>
            </a:r>
            <a:r>
              <a:rPr sz="3200" spc="6" dirty="0">
                <a:latin typeface="Times New Roman"/>
                <a:cs typeface="Times New Roman"/>
              </a:rPr>
              <a:t> </a:t>
            </a:r>
            <a:r>
              <a:rPr sz="3200" dirty="0">
                <a:latin typeface="Times New Roman"/>
                <a:cs typeface="Times New Roman"/>
              </a:rPr>
              <a:t>router</a:t>
            </a:r>
            <a:r>
              <a:rPr sz="3200" spc="17" dirty="0">
                <a:latin typeface="Times New Roman"/>
                <a:cs typeface="Times New Roman"/>
              </a:rPr>
              <a:t> </a:t>
            </a:r>
            <a:r>
              <a:rPr sz="3200" spc="-6" dirty="0">
                <a:latin typeface="Times New Roman"/>
                <a:cs typeface="Times New Roman"/>
              </a:rPr>
              <a:t>receives</a:t>
            </a:r>
            <a:r>
              <a:rPr sz="3200" dirty="0">
                <a:latin typeface="Times New Roman"/>
                <a:cs typeface="Times New Roman"/>
              </a:rPr>
              <a:t> </a:t>
            </a:r>
            <a:r>
              <a:rPr sz="3200" spc="-11" dirty="0">
                <a:latin typeface="Times New Roman"/>
                <a:cs typeface="Times New Roman"/>
              </a:rPr>
              <a:t>an</a:t>
            </a:r>
            <a:r>
              <a:rPr sz="3200" spc="6" dirty="0">
                <a:latin typeface="Times New Roman"/>
                <a:cs typeface="Times New Roman"/>
              </a:rPr>
              <a:t> </a:t>
            </a:r>
            <a:r>
              <a:rPr sz="3200" spc="-6" dirty="0">
                <a:latin typeface="Times New Roman"/>
                <a:cs typeface="Times New Roman"/>
              </a:rPr>
              <a:t>LSA,</a:t>
            </a:r>
            <a:r>
              <a:rPr sz="3200" spc="17" dirty="0">
                <a:latin typeface="Times New Roman"/>
                <a:cs typeface="Times New Roman"/>
              </a:rPr>
              <a:t> </a:t>
            </a:r>
            <a:r>
              <a:rPr sz="3200" spc="-6" dirty="0">
                <a:latin typeface="Times New Roman"/>
                <a:cs typeface="Times New Roman"/>
              </a:rPr>
              <a:t>the database is</a:t>
            </a:r>
            <a:r>
              <a:rPr sz="3200" spc="6" dirty="0">
                <a:latin typeface="Times New Roman"/>
                <a:cs typeface="Times New Roman"/>
              </a:rPr>
              <a:t> </a:t>
            </a:r>
            <a:r>
              <a:rPr sz="3200" spc="-6" dirty="0">
                <a:latin typeface="Times New Roman"/>
                <a:cs typeface="Times New Roman"/>
              </a:rPr>
              <a:t>updated</a:t>
            </a:r>
            <a:r>
              <a:rPr sz="3200" dirty="0">
                <a:latin typeface="Times New Roman"/>
                <a:cs typeface="Times New Roman"/>
              </a:rPr>
              <a:t> </a:t>
            </a:r>
            <a:r>
              <a:rPr sz="3200" spc="-6" dirty="0">
                <a:latin typeface="Times New Roman"/>
                <a:cs typeface="Times New Roman"/>
              </a:rPr>
              <a:t>with</a:t>
            </a:r>
            <a:r>
              <a:rPr sz="3200" spc="11" dirty="0">
                <a:latin typeface="Times New Roman"/>
                <a:cs typeface="Times New Roman"/>
              </a:rPr>
              <a:t> </a:t>
            </a:r>
            <a:r>
              <a:rPr sz="3200" spc="-6" dirty="0">
                <a:latin typeface="Times New Roman"/>
                <a:cs typeface="Times New Roman"/>
              </a:rPr>
              <a:t>the </a:t>
            </a:r>
            <a:r>
              <a:rPr sz="3200" dirty="0">
                <a:latin typeface="Times New Roman"/>
                <a:cs typeface="Times New Roman"/>
              </a:rPr>
              <a:t> </a:t>
            </a:r>
            <a:r>
              <a:rPr sz="3200" spc="-11" dirty="0">
                <a:latin typeface="Times New Roman"/>
                <a:cs typeface="Times New Roman"/>
              </a:rPr>
              <a:t>most</a:t>
            </a:r>
            <a:r>
              <a:rPr sz="3200" spc="6" dirty="0">
                <a:latin typeface="Times New Roman"/>
                <a:cs typeface="Times New Roman"/>
              </a:rPr>
              <a:t> </a:t>
            </a:r>
            <a:r>
              <a:rPr sz="3200" spc="-6" dirty="0">
                <a:latin typeface="Times New Roman"/>
                <a:cs typeface="Times New Roman"/>
              </a:rPr>
              <a:t>recent</a:t>
            </a:r>
            <a:r>
              <a:rPr sz="3200" spc="17" dirty="0">
                <a:latin typeface="Times New Roman"/>
                <a:cs typeface="Times New Roman"/>
              </a:rPr>
              <a:t> </a:t>
            </a:r>
            <a:r>
              <a:rPr sz="3200" spc="-6" dirty="0">
                <a:latin typeface="Times New Roman"/>
                <a:cs typeface="Times New Roman"/>
              </a:rPr>
              <a:t>information</a:t>
            </a:r>
            <a:r>
              <a:rPr sz="3200" spc="22" dirty="0">
                <a:latin typeface="Times New Roman"/>
                <a:cs typeface="Times New Roman"/>
              </a:rPr>
              <a:t> </a:t>
            </a:r>
            <a:r>
              <a:rPr sz="3200" spc="-6" dirty="0">
                <a:latin typeface="Times New Roman"/>
                <a:cs typeface="Times New Roman"/>
              </a:rPr>
              <a:t>and</a:t>
            </a:r>
            <a:r>
              <a:rPr sz="3200" spc="11" dirty="0">
                <a:latin typeface="Times New Roman"/>
                <a:cs typeface="Times New Roman"/>
              </a:rPr>
              <a:t> </a:t>
            </a:r>
            <a:r>
              <a:rPr sz="3200" spc="-6" dirty="0">
                <a:latin typeface="Times New Roman"/>
                <a:cs typeface="Times New Roman"/>
              </a:rPr>
              <a:t>computes</a:t>
            </a:r>
            <a:r>
              <a:rPr sz="3200" spc="6" dirty="0">
                <a:latin typeface="Times New Roman"/>
                <a:cs typeface="Times New Roman"/>
              </a:rPr>
              <a:t> </a:t>
            </a:r>
            <a:r>
              <a:rPr sz="3200" spc="-6" dirty="0">
                <a:latin typeface="Times New Roman"/>
                <a:cs typeface="Times New Roman"/>
              </a:rPr>
              <a:t>a </a:t>
            </a:r>
            <a:r>
              <a:rPr sz="3200" spc="-11" dirty="0">
                <a:latin typeface="Times New Roman"/>
                <a:cs typeface="Times New Roman"/>
              </a:rPr>
              <a:t>map</a:t>
            </a:r>
            <a:r>
              <a:rPr sz="3200" spc="17" dirty="0">
                <a:latin typeface="Times New Roman"/>
                <a:cs typeface="Times New Roman"/>
              </a:rPr>
              <a:t> </a:t>
            </a:r>
            <a:r>
              <a:rPr sz="3200" spc="-6" dirty="0">
                <a:latin typeface="Times New Roman"/>
                <a:cs typeface="Times New Roman"/>
              </a:rPr>
              <a:t>of</a:t>
            </a:r>
            <a:r>
              <a:rPr sz="3200" dirty="0">
                <a:latin typeface="Times New Roman"/>
                <a:cs typeface="Times New Roman"/>
              </a:rPr>
              <a:t> the</a:t>
            </a:r>
            <a:r>
              <a:rPr sz="3200" spc="-6" dirty="0">
                <a:latin typeface="Times New Roman"/>
                <a:cs typeface="Times New Roman"/>
              </a:rPr>
              <a:t> internetwork </a:t>
            </a:r>
            <a:r>
              <a:rPr sz="3200" dirty="0">
                <a:latin typeface="Times New Roman"/>
                <a:cs typeface="Times New Roman"/>
              </a:rPr>
              <a:t> </a:t>
            </a:r>
            <a:r>
              <a:rPr sz="3200" spc="-6" dirty="0">
                <a:latin typeface="Times New Roman"/>
                <a:cs typeface="Times New Roman"/>
              </a:rPr>
              <a:t>using</a:t>
            </a:r>
            <a:r>
              <a:rPr sz="3200" spc="-17" dirty="0">
                <a:latin typeface="Times New Roman"/>
                <a:cs typeface="Times New Roman"/>
              </a:rPr>
              <a:t> </a:t>
            </a:r>
            <a:r>
              <a:rPr sz="3200" spc="-6" dirty="0">
                <a:latin typeface="Times New Roman"/>
                <a:cs typeface="Times New Roman"/>
              </a:rPr>
              <a:t>the</a:t>
            </a:r>
            <a:r>
              <a:rPr sz="3200" spc="-11" dirty="0">
                <a:latin typeface="Times New Roman"/>
                <a:cs typeface="Times New Roman"/>
              </a:rPr>
              <a:t> </a:t>
            </a:r>
            <a:r>
              <a:rPr sz="3200" spc="-6" dirty="0">
                <a:latin typeface="Times New Roman"/>
                <a:cs typeface="Times New Roman"/>
              </a:rPr>
              <a:t>accumulated</a:t>
            </a:r>
            <a:r>
              <a:rPr sz="3200" spc="39" dirty="0">
                <a:latin typeface="Times New Roman"/>
                <a:cs typeface="Times New Roman"/>
              </a:rPr>
              <a:t> </a:t>
            </a:r>
            <a:r>
              <a:rPr sz="3200" spc="-6" dirty="0">
                <a:latin typeface="Times New Roman"/>
                <a:cs typeface="Times New Roman"/>
              </a:rPr>
              <a:t>data</a:t>
            </a:r>
            <a:r>
              <a:rPr sz="3200" dirty="0">
                <a:latin typeface="Times New Roman"/>
                <a:cs typeface="Times New Roman"/>
              </a:rPr>
              <a:t> </a:t>
            </a:r>
            <a:r>
              <a:rPr sz="3200" spc="-6" dirty="0">
                <a:latin typeface="Times New Roman"/>
                <a:cs typeface="Times New Roman"/>
              </a:rPr>
              <a:t>and</a:t>
            </a:r>
            <a:r>
              <a:rPr sz="3200" spc="17" dirty="0">
                <a:latin typeface="Times New Roman"/>
                <a:cs typeface="Times New Roman"/>
              </a:rPr>
              <a:t> </a:t>
            </a:r>
            <a:r>
              <a:rPr sz="3200" spc="-6" dirty="0">
                <a:latin typeface="Times New Roman"/>
                <a:cs typeface="Times New Roman"/>
              </a:rPr>
              <a:t>calculates</a:t>
            </a:r>
            <a:r>
              <a:rPr sz="3200" spc="11" dirty="0">
                <a:latin typeface="Times New Roman"/>
                <a:cs typeface="Times New Roman"/>
              </a:rPr>
              <a:t> </a:t>
            </a:r>
            <a:r>
              <a:rPr sz="3200" spc="-6" dirty="0">
                <a:latin typeface="Times New Roman"/>
                <a:cs typeface="Times New Roman"/>
              </a:rPr>
              <a:t>the</a:t>
            </a:r>
            <a:r>
              <a:rPr sz="3200" spc="-11" dirty="0">
                <a:latin typeface="Times New Roman"/>
                <a:cs typeface="Times New Roman"/>
              </a:rPr>
              <a:t> </a:t>
            </a:r>
            <a:r>
              <a:rPr sz="3200" spc="-6" dirty="0">
                <a:latin typeface="Times New Roman"/>
                <a:cs typeface="Times New Roman"/>
              </a:rPr>
              <a:t>shortest</a:t>
            </a:r>
            <a:r>
              <a:rPr sz="3200" spc="6" dirty="0">
                <a:latin typeface="Times New Roman"/>
                <a:cs typeface="Times New Roman"/>
              </a:rPr>
              <a:t> </a:t>
            </a:r>
            <a:r>
              <a:rPr sz="3200" spc="-6" dirty="0">
                <a:latin typeface="Times New Roman"/>
                <a:cs typeface="Times New Roman"/>
              </a:rPr>
              <a:t>path</a:t>
            </a:r>
            <a:r>
              <a:rPr sz="3200"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spc="-6" dirty="0">
                <a:latin typeface="Times New Roman"/>
                <a:cs typeface="Times New Roman"/>
              </a:rPr>
              <a:t>other </a:t>
            </a:r>
            <a:r>
              <a:rPr sz="3200" spc="-590" dirty="0">
                <a:latin typeface="Times New Roman"/>
                <a:cs typeface="Times New Roman"/>
              </a:rPr>
              <a:t> </a:t>
            </a:r>
            <a:r>
              <a:rPr sz="3200" spc="-6" dirty="0">
                <a:latin typeface="Times New Roman"/>
                <a:cs typeface="Times New Roman"/>
              </a:rPr>
              <a:t>networks</a:t>
            </a:r>
            <a:r>
              <a:rPr sz="3200" spc="-22" dirty="0">
                <a:latin typeface="Times New Roman"/>
                <a:cs typeface="Times New Roman"/>
              </a:rPr>
              <a:t> </a:t>
            </a:r>
            <a:r>
              <a:rPr sz="3200" spc="-6" dirty="0">
                <a:latin typeface="Times New Roman"/>
                <a:cs typeface="Times New Roman"/>
              </a:rPr>
              <a:t>using</a:t>
            </a:r>
            <a:r>
              <a:rPr sz="3200" spc="-22" dirty="0">
                <a:latin typeface="Times New Roman"/>
                <a:cs typeface="Times New Roman"/>
              </a:rPr>
              <a:t> </a:t>
            </a:r>
            <a:r>
              <a:rPr sz="3200" spc="-6" dirty="0">
                <a:latin typeface="Times New Roman"/>
                <a:cs typeface="Times New Roman"/>
              </a:rPr>
              <a:t>the SPF</a:t>
            </a:r>
            <a:r>
              <a:rPr sz="3200" spc="6" dirty="0">
                <a:latin typeface="Times New Roman"/>
                <a:cs typeface="Times New Roman"/>
              </a:rPr>
              <a:t> </a:t>
            </a:r>
            <a:r>
              <a:rPr sz="3200" spc="-6" dirty="0">
                <a:latin typeface="Times New Roman"/>
                <a:cs typeface="Times New Roman"/>
              </a:rPr>
              <a:t>algorithm.</a:t>
            </a:r>
            <a:endParaRPr sz="3200" dirty="0">
              <a:latin typeface="Times New Roman"/>
              <a:cs typeface="Times New Roman"/>
            </a:endParaRPr>
          </a:p>
        </p:txBody>
      </p:sp>
    </p:spTree>
    <p:extLst>
      <p:ext uri="{BB962C8B-B14F-4D97-AF65-F5344CB8AC3E}">
        <p14:creationId xmlns:p14="http://schemas.microsoft.com/office/powerpoint/2010/main" val="36679805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307" y="416565"/>
            <a:ext cx="8565545"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Link-State</a:t>
            </a:r>
            <a:r>
              <a:rPr b="1" spc="-6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55"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sp>
        <p:nvSpPr>
          <p:cNvPr id="4" name="object 4"/>
          <p:cNvSpPr txBox="1"/>
          <p:nvPr/>
        </p:nvSpPr>
        <p:spPr>
          <a:xfrm>
            <a:off x="288933" y="1714336"/>
            <a:ext cx="9791691" cy="1564971"/>
          </a:xfrm>
          <a:prstGeom prst="rect">
            <a:avLst/>
          </a:prstGeom>
        </p:spPr>
        <p:txBody>
          <a:bodyPr vert="horz" wrap="square" lIns="0" tIns="86796" rIns="0" bIns="0" rtlCol="0">
            <a:spAutoFit/>
          </a:bodyPr>
          <a:lstStyle/>
          <a:p>
            <a:pPr marL="470499" marR="40598" indent="-457200">
              <a:spcBef>
                <a:spcPts val="672"/>
              </a:spcBef>
              <a:buClr>
                <a:srgbClr val="C00000"/>
              </a:buClr>
              <a:buSzPct val="84090"/>
              <a:buFont typeface="Wingdings" panose="05000000000000000000" pitchFamily="2" charset="2"/>
              <a:buChar char="Ø"/>
              <a:tabLst>
                <a:tab pos="316382" algn="l"/>
                <a:tab pos="317082" algn="l"/>
              </a:tabLst>
            </a:pPr>
            <a:r>
              <a:rPr sz="3200" spc="-6" dirty="0">
                <a:latin typeface="Times New Roman"/>
                <a:cs typeface="Times New Roman"/>
              </a:rPr>
              <a:t>At</a:t>
            </a:r>
            <a:r>
              <a:rPr sz="3200" spc="-11"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end</a:t>
            </a:r>
            <a:r>
              <a:rPr sz="3200" spc="6" dirty="0">
                <a:latin typeface="Times New Roman"/>
                <a:cs typeface="Times New Roman"/>
              </a:rPr>
              <a:t> </a:t>
            </a:r>
            <a:r>
              <a:rPr sz="3200" spc="-6" dirty="0">
                <a:latin typeface="Times New Roman"/>
                <a:cs typeface="Times New Roman"/>
              </a:rPr>
              <a:t>of</a:t>
            </a:r>
            <a:r>
              <a:rPr sz="3200" spc="6"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spc="-6" dirty="0">
                <a:latin typeface="Times New Roman"/>
                <a:cs typeface="Times New Roman"/>
              </a:rPr>
              <a:t>process,</a:t>
            </a:r>
            <a:r>
              <a:rPr sz="3200" dirty="0">
                <a:latin typeface="Times New Roman"/>
                <a:cs typeface="Times New Roman"/>
              </a:rPr>
              <a:t> </a:t>
            </a:r>
            <a:r>
              <a:rPr sz="3200" spc="-6" dirty="0">
                <a:latin typeface="Times New Roman"/>
                <a:cs typeface="Times New Roman"/>
              </a:rPr>
              <a:t>every</a:t>
            </a:r>
            <a:r>
              <a:rPr sz="3200" spc="11" dirty="0">
                <a:latin typeface="Times New Roman"/>
                <a:cs typeface="Times New Roman"/>
              </a:rPr>
              <a:t> </a:t>
            </a:r>
            <a:r>
              <a:rPr sz="3200" spc="-6" dirty="0">
                <a:latin typeface="Times New Roman"/>
                <a:cs typeface="Times New Roman"/>
              </a:rPr>
              <a:t>router</a:t>
            </a:r>
            <a:r>
              <a:rPr sz="3200" spc="6" dirty="0">
                <a:latin typeface="Times New Roman"/>
                <a:cs typeface="Times New Roman"/>
              </a:rPr>
              <a:t> </a:t>
            </a:r>
            <a:r>
              <a:rPr sz="3200" spc="-6" dirty="0">
                <a:latin typeface="Times New Roman"/>
                <a:cs typeface="Times New Roman"/>
              </a:rPr>
              <a:t>has</a:t>
            </a:r>
            <a:r>
              <a:rPr sz="3200" dirty="0">
                <a:latin typeface="Times New Roman"/>
                <a:cs typeface="Times New Roman"/>
              </a:rPr>
              <a:t> </a:t>
            </a:r>
            <a:r>
              <a:rPr sz="3200" spc="-6" dirty="0">
                <a:latin typeface="Times New Roman"/>
                <a:cs typeface="Times New Roman"/>
              </a:rPr>
              <a:t>every</a:t>
            </a:r>
            <a:r>
              <a:rPr sz="3200" spc="11" dirty="0">
                <a:latin typeface="Times New Roman"/>
                <a:cs typeface="Times New Roman"/>
              </a:rPr>
              <a:t> </a:t>
            </a:r>
            <a:r>
              <a:rPr sz="3200" spc="-6" dirty="0">
                <a:latin typeface="Times New Roman"/>
                <a:cs typeface="Times New Roman"/>
              </a:rPr>
              <a:t>other</a:t>
            </a:r>
            <a:r>
              <a:rPr sz="3200" spc="6" dirty="0">
                <a:latin typeface="Times New Roman"/>
                <a:cs typeface="Times New Roman"/>
              </a:rPr>
              <a:t> </a:t>
            </a:r>
            <a:r>
              <a:rPr sz="3200" spc="-11" dirty="0">
                <a:latin typeface="Times New Roman"/>
                <a:cs typeface="Times New Roman"/>
              </a:rPr>
              <a:t>router‘s </a:t>
            </a:r>
            <a:r>
              <a:rPr sz="3200" spc="-6" dirty="0">
                <a:latin typeface="Times New Roman"/>
                <a:cs typeface="Times New Roman"/>
              </a:rPr>
              <a:t>router </a:t>
            </a:r>
            <a:r>
              <a:rPr sz="3200" spc="-590" dirty="0">
                <a:latin typeface="Times New Roman"/>
                <a:cs typeface="Times New Roman"/>
              </a:rPr>
              <a:t> </a:t>
            </a:r>
            <a:r>
              <a:rPr sz="3200" spc="-6" dirty="0">
                <a:latin typeface="Times New Roman"/>
                <a:cs typeface="Times New Roman"/>
              </a:rPr>
              <a:t>LSA</a:t>
            </a:r>
            <a:r>
              <a:rPr sz="3200" spc="-132" dirty="0">
                <a:latin typeface="Times New Roman"/>
                <a:cs typeface="Times New Roman"/>
              </a:rPr>
              <a:t> </a:t>
            </a:r>
            <a:r>
              <a:rPr sz="3200" spc="-6" dirty="0">
                <a:latin typeface="Times New Roman"/>
                <a:cs typeface="Times New Roman"/>
              </a:rPr>
              <a:t>and a copy</a:t>
            </a:r>
            <a:r>
              <a:rPr sz="3200" spc="-11" dirty="0">
                <a:latin typeface="Times New Roman"/>
                <a:cs typeface="Times New Roman"/>
              </a:rPr>
              <a:t> </a:t>
            </a:r>
            <a:r>
              <a:rPr sz="3200" spc="-6" dirty="0">
                <a:latin typeface="Times New Roman"/>
                <a:cs typeface="Times New Roman"/>
              </a:rPr>
              <a:t>of</a:t>
            </a:r>
            <a:r>
              <a:rPr sz="3200" dirty="0">
                <a:latin typeface="Times New Roman"/>
                <a:cs typeface="Times New Roman"/>
              </a:rPr>
              <a:t> </a:t>
            </a:r>
            <a:r>
              <a:rPr sz="3200" spc="-6" dirty="0">
                <a:latin typeface="Times New Roman"/>
                <a:cs typeface="Times New Roman"/>
              </a:rPr>
              <a:t>all the link LSAs</a:t>
            </a:r>
            <a:r>
              <a:rPr sz="3200" spc="11" dirty="0">
                <a:latin typeface="Times New Roman"/>
                <a:cs typeface="Times New Roman"/>
              </a:rPr>
              <a:t> </a:t>
            </a:r>
            <a:r>
              <a:rPr sz="3200" spc="-6" dirty="0">
                <a:latin typeface="Times New Roman"/>
                <a:cs typeface="Times New Roman"/>
              </a:rPr>
              <a:t>as well.</a:t>
            </a:r>
            <a:endParaRPr sz="3200" dirty="0">
              <a:latin typeface="Times New Roman"/>
              <a:cs typeface="Times New Roman"/>
            </a:endParaRPr>
          </a:p>
        </p:txBody>
      </p:sp>
    </p:spTree>
    <p:extLst>
      <p:ext uri="{BB962C8B-B14F-4D97-AF65-F5344CB8AC3E}">
        <p14:creationId xmlns:p14="http://schemas.microsoft.com/office/powerpoint/2010/main" val="28373954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3189" y="89623"/>
            <a:ext cx="7701566" cy="1356296"/>
          </a:xfrm>
          <a:prstGeom prst="rect">
            <a:avLst/>
          </a:prstGeom>
        </p:spPr>
        <p:txBody>
          <a:bodyPr vert="horz" wrap="square" lIns="0" tIns="13999" rIns="0" bIns="0" rtlCol="0" anchor="ctr">
            <a:spAutoFit/>
          </a:bodyPr>
          <a:lstStyle/>
          <a:p>
            <a:pPr marL="1860495" marR="5600" indent="-1847195">
              <a:lnSpc>
                <a:spcPct val="100000"/>
              </a:lnSpc>
              <a:spcBef>
                <a:spcPts val="110"/>
              </a:spcBef>
            </a:pPr>
            <a:r>
              <a:rPr b="1" spc="-6" dirty="0">
                <a:solidFill>
                  <a:schemeClr val="bg1"/>
                </a:solidFill>
              </a:rPr>
              <a:t>Flooding</a:t>
            </a:r>
            <a:r>
              <a:rPr b="1" spc="-17" dirty="0">
                <a:solidFill>
                  <a:schemeClr val="bg1"/>
                </a:solidFill>
              </a:rPr>
              <a:t> </a:t>
            </a:r>
            <a:r>
              <a:rPr b="1" spc="-6" dirty="0">
                <a:solidFill>
                  <a:schemeClr val="bg1"/>
                </a:solidFill>
              </a:rPr>
              <a:t>LSAs</a:t>
            </a:r>
            <a:r>
              <a:rPr b="1" spc="-11" dirty="0">
                <a:solidFill>
                  <a:schemeClr val="bg1"/>
                </a:solidFill>
              </a:rPr>
              <a:t> </a:t>
            </a:r>
            <a:r>
              <a:rPr b="1" spc="-6" dirty="0">
                <a:solidFill>
                  <a:schemeClr val="bg1"/>
                </a:solidFill>
              </a:rPr>
              <a:t>Using</a:t>
            </a:r>
            <a:r>
              <a:rPr b="1" spc="-11" dirty="0">
                <a:solidFill>
                  <a:schemeClr val="bg1"/>
                </a:solidFill>
              </a:rPr>
              <a:t> </a:t>
            </a:r>
            <a:r>
              <a:rPr b="1" dirty="0">
                <a:solidFill>
                  <a:schemeClr val="bg1"/>
                </a:solidFill>
              </a:rPr>
              <a:t>a</a:t>
            </a:r>
            <a:r>
              <a:rPr b="1" spc="-11" dirty="0">
                <a:solidFill>
                  <a:schemeClr val="bg1"/>
                </a:solidFill>
              </a:rPr>
              <a:t> </a:t>
            </a:r>
            <a:r>
              <a:rPr b="1" dirty="0">
                <a:solidFill>
                  <a:schemeClr val="bg1"/>
                </a:solidFill>
              </a:rPr>
              <a:t>Link-State </a:t>
            </a:r>
            <a:r>
              <a:rPr b="1" spc="-976" dirty="0">
                <a:solidFill>
                  <a:schemeClr val="bg1"/>
                </a:solidFill>
              </a:rPr>
              <a:t> </a:t>
            </a:r>
            <a:r>
              <a:rPr b="1" spc="-6" dirty="0">
                <a:solidFill>
                  <a:schemeClr val="bg1"/>
                </a:solidFill>
              </a:rPr>
              <a:t>Routing</a:t>
            </a:r>
            <a:r>
              <a:rPr lang="en-US" b="1" spc="-28" dirty="0">
                <a:solidFill>
                  <a:schemeClr val="bg1"/>
                </a:solidFill>
              </a:rPr>
              <a:t> </a:t>
            </a:r>
            <a:r>
              <a:rPr b="1" spc="-11" dirty="0">
                <a:solidFill>
                  <a:schemeClr val="bg1"/>
                </a:solidFill>
              </a:rPr>
              <a:t>Protocol</a:t>
            </a:r>
          </a:p>
        </p:txBody>
      </p:sp>
      <p:sp>
        <p:nvSpPr>
          <p:cNvPr id="3" name="object 3"/>
          <p:cNvSpPr txBox="1"/>
          <p:nvPr/>
        </p:nvSpPr>
        <p:spPr>
          <a:xfrm>
            <a:off x="5464073" y="1540212"/>
            <a:ext cx="4392311" cy="5177892"/>
          </a:xfrm>
          <a:prstGeom prst="rect">
            <a:avLst/>
          </a:prstGeom>
        </p:spPr>
        <p:txBody>
          <a:bodyPr vert="horz" wrap="square" lIns="0" tIns="90996" rIns="0" bIns="0" rtlCol="0">
            <a:spAutoFit/>
          </a:bodyPr>
          <a:lstStyle/>
          <a:p>
            <a:pPr marL="471199" marR="320582" indent="-457200" algn="just">
              <a:lnSpc>
                <a:spcPts val="2546"/>
              </a:lnSpc>
              <a:spcBef>
                <a:spcPts val="716"/>
              </a:spcBef>
              <a:buClr>
                <a:srgbClr val="C00000"/>
              </a:buClr>
              <a:buSzPct val="85416"/>
              <a:buFont typeface="Wingdings" panose="05000000000000000000" pitchFamily="2" charset="2"/>
              <a:buChar char="Ø"/>
              <a:tabLst>
                <a:tab pos="316382" algn="l"/>
              </a:tabLst>
            </a:pPr>
            <a:r>
              <a:rPr sz="2646" dirty="0">
                <a:latin typeface="Times New Roman"/>
                <a:cs typeface="Times New Roman"/>
              </a:rPr>
              <a:t>R8</a:t>
            </a:r>
            <a:r>
              <a:rPr sz="2646" spc="-44" dirty="0">
                <a:latin typeface="Times New Roman"/>
                <a:cs typeface="Times New Roman"/>
              </a:rPr>
              <a:t> </a:t>
            </a:r>
            <a:r>
              <a:rPr sz="2646" dirty="0">
                <a:latin typeface="Times New Roman"/>
                <a:cs typeface="Times New Roman"/>
              </a:rPr>
              <a:t>creating</a:t>
            </a:r>
            <a:r>
              <a:rPr sz="2646" spc="-61" dirty="0">
                <a:latin typeface="Times New Roman"/>
                <a:cs typeface="Times New Roman"/>
              </a:rPr>
              <a:t> </a:t>
            </a:r>
            <a:r>
              <a:rPr sz="2646" dirty="0">
                <a:latin typeface="Times New Roman"/>
                <a:cs typeface="Times New Roman"/>
              </a:rPr>
              <a:t>and</a:t>
            </a:r>
            <a:r>
              <a:rPr sz="2646" spc="-22" dirty="0">
                <a:latin typeface="Times New Roman"/>
                <a:cs typeface="Times New Roman"/>
              </a:rPr>
              <a:t> </a:t>
            </a:r>
            <a:r>
              <a:rPr sz="2646" dirty="0">
                <a:latin typeface="Times New Roman"/>
                <a:cs typeface="Times New Roman"/>
              </a:rPr>
              <a:t>flooding</a:t>
            </a:r>
            <a:r>
              <a:rPr sz="2646" spc="-17" dirty="0">
                <a:latin typeface="Times New Roman"/>
                <a:cs typeface="Times New Roman"/>
              </a:rPr>
              <a:t> </a:t>
            </a:r>
            <a:r>
              <a:rPr sz="2646" spc="-6" dirty="0">
                <a:latin typeface="Times New Roman"/>
                <a:cs typeface="Times New Roman"/>
              </a:rPr>
              <a:t>its </a:t>
            </a:r>
            <a:r>
              <a:rPr sz="2646" spc="-650" dirty="0">
                <a:latin typeface="Times New Roman"/>
                <a:cs typeface="Times New Roman"/>
              </a:rPr>
              <a:t> </a:t>
            </a:r>
            <a:r>
              <a:rPr sz="2646" dirty="0">
                <a:latin typeface="Times New Roman"/>
                <a:cs typeface="Times New Roman"/>
              </a:rPr>
              <a:t>router</a:t>
            </a:r>
            <a:r>
              <a:rPr sz="2646" spc="-39" dirty="0">
                <a:latin typeface="Times New Roman"/>
                <a:cs typeface="Times New Roman"/>
              </a:rPr>
              <a:t> </a:t>
            </a:r>
            <a:r>
              <a:rPr sz="2646" spc="-6" dirty="0">
                <a:latin typeface="Times New Roman"/>
                <a:cs typeface="Times New Roman"/>
              </a:rPr>
              <a:t>LSA.</a:t>
            </a:r>
            <a:endParaRPr sz="2646" dirty="0">
              <a:latin typeface="Times New Roman"/>
              <a:cs typeface="Times New Roman"/>
            </a:endParaRPr>
          </a:p>
          <a:p>
            <a:pPr marL="823979" marR="132992" lvl="1" indent="-457200">
              <a:lnSpc>
                <a:spcPts val="2535"/>
              </a:lnSpc>
              <a:spcBef>
                <a:spcPts val="435"/>
              </a:spcBef>
              <a:buClr>
                <a:srgbClr val="C00000"/>
              </a:buClr>
              <a:buSzPct val="85416"/>
              <a:buFont typeface="Wingdings" panose="05000000000000000000" pitchFamily="2" charset="2"/>
              <a:buChar char="ü"/>
              <a:tabLst>
                <a:tab pos="618765" algn="l"/>
              </a:tabLst>
            </a:pPr>
            <a:r>
              <a:rPr sz="2646" spc="-17" dirty="0">
                <a:latin typeface="Times New Roman"/>
                <a:cs typeface="Times New Roman"/>
              </a:rPr>
              <a:t>Figure</a:t>
            </a:r>
            <a:r>
              <a:rPr lang="en-US" sz="2646" spc="-61" dirty="0">
                <a:latin typeface="Times New Roman"/>
                <a:cs typeface="Times New Roman"/>
              </a:rPr>
              <a:t> </a:t>
            </a:r>
            <a:r>
              <a:rPr sz="2646" dirty="0">
                <a:latin typeface="Times New Roman"/>
                <a:cs typeface="Times New Roman"/>
              </a:rPr>
              <a:t>actually</a:t>
            </a:r>
            <a:r>
              <a:rPr sz="2646" spc="-61" dirty="0">
                <a:latin typeface="Times New Roman"/>
                <a:cs typeface="Times New Roman"/>
              </a:rPr>
              <a:t> </a:t>
            </a:r>
            <a:r>
              <a:rPr sz="2646" spc="-6" dirty="0">
                <a:latin typeface="Times New Roman"/>
                <a:cs typeface="Times New Roman"/>
              </a:rPr>
              <a:t>shows</a:t>
            </a:r>
            <a:r>
              <a:rPr sz="2646" spc="-17" dirty="0">
                <a:latin typeface="Times New Roman"/>
                <a:cs typeface="Times New Roman"/>
              </a:rPr>
              <a:t> </a:t>
            </a:r>
            <a:r>
              <a:rPr sz="2646" dirty="0">
                <a:latin typeface="Times New Roman"/>
                <a:cs typeface="Times New Roman"/>
              </a:rPr>
              <a:t>only </a:t>
            </a:r>
            <a:r>
              <a:rPr sz="2646" spc="-650" dirty="0">
                <a:latin typeface="Times New Roman"/>
                <a:cs typeface="Times New Roman"/>
              </a:rPr>
              <a:t> </a:t>
            </a:r>
            <a:r>
              <a:rPr sz="2646" dirty="0">
                <a:latin typeface="Times New Roman"/>
                <a:cs typeface="Times New Roman"/>
              </a:rPr>
              <a:t>a </a:t>
            </a:r>
            <a:r>
              <a:rPr sz="2646" spc="-6" dirty="0">
                <a:latin typeface="Times New Roman"/>
                <a:cs typeface="Times New Roman"/>
              </a:rPr>
              <a:t>subset </a:t>
            </a:r>
            <a:r>
              <a:rPr sz="2646" dirty="0">
                <a:latin typeface="Times New Roman"/>
                <a:cs typeface="Times New Roman"/>
              </a:rPr>
              <a:t>of the information </a:t>
            </a:r>
            <a:r>
              <a:rPr sz="2646" spc="-645" dirty="0">
                <a:latin typeface="Times New Roman"/>
                <a:cs typeface="Times New Roman"/>
              </a:rPr>
              <a:t> </a:t>
            </a:r>
            <a:r>
              <a:rPr sz="2646" dirty="0">
                <a:latin typeface="Times New Roman"/>
                <a:cs typeface="Times New Roman"/>
              </a:rPr>
              <a:t>in</a:t>
            </a:r>
            <a:r>
              <a:rPr sz="2646" spc="-28" dirty="0">
                <a:latin typeface="Times New Roman"/>
                <a:cs typeface="Times New Roman"/>
              </a:rPr>
              <a:t> </a:t>
            </a:r>
            <a:r>
              <a:rPr sz="2646" spc="-88" dirty="0">
                <a:latin typeface="Times New Roman"/>
                <a:cs typeface="Times New Roman"/>
              </a:rPr>
              <a:t>R8’s</a:t>
            </a:r>
            <a:r>
              <a:rPr sz="2646" spc="-11" dirty="0">
                <a:latin typeface="Times New Roman"/>
                <a:cs typeface="Times New Roman"/>
              </a:rPr>
              <a:t> </a:t>
            </a:r>
            <a:r>
              <a:rPr sz="2646" spc="-17" dirty="0">
                <a:latin typeface="Times New Roman"/>
                <a:cs typeface="Times New Roman"/>
              </a:rPr>
              <a:t>router</a:t>
            </a:r>
            <a:r>
              <a:rPr sz="2646" spc="-22" dirty="0">
                <a:latin typeface="Times New Roman"/>
                <a:cs typeface="Times New Roman"/>
              </a:rPr>
              <a:t> </a:t>
            </a:r>
            <a:r>
              <a:rPr sz="2646" spc="-6" dirty="0">
                <a:latin typeface="Times New Roman"/>
                <a:cs typeface="Times New Roman"/>
              </a:rPr>
              <a:t>LSA.</a:t>
            </a:r>
            <a:endParaRPr sz="2646" dirty="0">
              <a:latin typeface="Times New Roman"/>
              <a:cs typeface="Times New Roman"/>
            </a:endParaRPr>
          </a:p>
          <a:p>
            <a:pPr marL="471199" marR="5600" indent="-457200">
              <a:lnSpc>
                <a:spcPct val="80000"/>
              </a:lnSpc>
              <a:spcBef>
                <a:spcPts val="694"/>
              </a:spcBef>
              <a:buClr>
                <a:srgbClr val="C00000"/>
              </a:buClr>
              <a:buSzPct val="85416"/>
              <a:buFont typeface="Wingdings" panose="05000000000000000000" pitchFamily="2" charset="2"/>
              <a:buChar char="Ø"/>
              <a:tabLst>
                <a:tab pos="315682" algn="l"/>
                <a:tab pos="316382" algn="l"/>
              </a:tabLst>
            </a:pPr>
            <a:r>
              <a:rPr sz="2646" dirty="0">
                <a:latin typeface="Times New Roman"/>
                <a:cs typeface="Times New Roman"/>
              </a:rPr>
              <a:t>Every</a:t>
            </a:r>
            <a:r>
              <a:rPr sz="2646" spc="-50" dirty="0">
                <a:latin typeface="Times New Roman"/>
                <a:cs typeface="Times New Roman"/>
              </a:rPr>
              <a:t> </a:t>
            </a:r>
            <a:r>
              <a:rPr sz="2646" dirty="0">
                <a:latin typeface="Times New Roman"/>
                <a:cs typeface="Times New Roman"/>
              </a:rPr>
              <a:t>router</a:t>
            </a:r>
            <a:r>
              <a:rPr sz="2646" spc="-33" dirty="0">
                <a:latin typeface="Times New Roman"/>
                <a:cs typeface="Times New Roman"/>
              </a:rPr>
              <a:t> </a:t>
            </a:r>
            <a:r>
              <a:rPr sz="2646" spc="-6" dirty="0">
                <a:latin typeface="Times New Roman"/>
                <a:cs typeface="Times New Roman"/>
              </a:rPr>
              <a:t>would</a:t>
            </a:r>
            <a:r>
              <a:rPr sz="2646" spc="-17" dirty="0">
                <a:latin typeface="Times New Roman"/>
                <a:cs typeface="Times New Roman"/>
              </a:rPr>
              <a:t> </a:t>
            </a:r>
            <a:r>
              <a:rPr sz="2646" dirty="0">
                <a:latin typeface="Times New Roman"/>
                <a:cs typeface="Times New Roman"/>
              </a:rPr>
              <a:t>create</a:t>
            </a:r>
            <a:r>
              <a:rPr sz="2646" spc="-44" dirty="0">
                <a:latin typeface="Times New Roman"/>
                <a:cs typeface="Times New Roman"/>
              </a:rPr>
              <a:t> </a:t>
            </a:r>
            <a:r>
              <a:rPr sz="2646" dirty="0">
                <a:latin typeface="Times New Roman"/>
                <a:cs typeface="Times New Roman"/>
              </a:rPr>
              <a:t>and </a:t>
            </a:r>
            <a:r>
              <a:rPr sz="2646" spc="-645" dirty="0">
                <a:latin typeface="Times New Roman"/>
                <a:cs typeface="Times New Roman"/>
              </a:rPr>
              <a:t> </a:t>
            </a:r>
            <a:r>
              <a:rPr sz="2646" dirty="0">
                <a:latin typeface="Times New Roman"/>
                <a:cs typeface="Times New Roman"/>
              </a:rPr>
              <a:t>flood a router </a:t>
            </a:r>
            <a:r>
              <a:rPr sz="2646" spc="-6" dirty="0">
                <a:latin typeface="Times New Roman"/>
                <a:cs typeface="Times New Roman"/>
              </a:rPr>
              <a:t>LSA </a:t>
            </a:r>
            <a:r>
              <a:rPr sz="2646" dirty="0">
                <a:latin typeface="Times New Roman"/>
                <a:cs typeface="Times New Roman"/>
              </a:rPr>
              <a:t>for itself, </a:t>
            </a:r>
            <a:r>
              <a:rPr sz="2646" spc="6" dirty="0">
                <a:latin typeface="Times New Roman"/>
                <a:cs typeface="Times New Roman"/>
              </a:rPr>
              <a:t> </a:t>
            </a:r>
            <a:r>
              <a:rPr sz="2646" dirty="0">
                <a:latin typeface="Times New Roman"/>
                <a:cs typeface="Times New Roman"/>
              </a:rPr>
              <a:t>using the </a:t>
            </a:r>
            <a:r>
              <a:rPr sz="2646" spc="-6" dirty="0">
                <a:latin typeface="Times New Roman"/>
                <a:cs typeface="Times New Roman"/>
              </a:rPr>
              <a:t>same </a:t>
            </a:r>
            <a:r>
              <a:rPr sz="2646" dirty="0">
                <a:latin typeface="Times New Roman"/>
                <a:cs typeface="Times New Roman"/>
              </a:rPr>
              <a:t>general </a:t>
            </a:r>
            <a:r>
              <a:rPr sz="2646" spc="6" dirty="0">
                <a:latin typeface="Times New Roman"/>
                <a:cs typeface="Times New Roman"/>
              </a:rPr>
              <a:t> </a:t>
            </a:r>
            <a:r>
              <a:rPr sz="2646" spc="-6" dirty="0">
                <a:latin typeface="Times New Roman"/>
                <a:cs typeface="Times New Roman"/>
              </a:rPr>
              <a:t>process</a:t>
            </a:r>
            <a:r>
              <a:rPr sz="2646" spc="-28" dirty="0">
                <a:latin typeface="Times New Roman"/>
                <a:cs typeface="Times New Roman"/>
              </a:rPr>
              <a:t> </a:t>
            </a:r>
            <a:r>
              <a:rPr sz="2646" dirty="0">
                <a:latin typeface="Times New Roman"/>
                <a:cs typeface="Times New Roman"/>
              </a:rPr>
              <a:t>used</a:t>
            </a:r>
            <a:r>
              <a:rPr sz="2646" spc="-6" dirty="0">
                <a:latin typeface="Times New Roman"/>
                <a:cs typeface="Times New Roman"/>
              </a:rPr>
              <a:t> </a:t>
            </a:r>
            <a:r>
              <a:rPr sz="2646" dirty="0">
                <a:latin typeface="Times New Roman"/>
                <a:cs typeface="Times New Roman"/>
              </a:rPr>
              <a:t>by</a:t>
            </a:r>
            <a:r>
              <a:rPr sz="2646" spc="-6" dirty="0">
                <a:latin typeface="Times New Roman"/>
                <a:cs typeface="Times New Roman"/>
              </a:rPr>
              <a:t> </a:t>
            </a:r>
            <a:r>
              <a:rPr sz="2646" dirty="0">
                <a:latin typeface="Times New Roman"/>
                <a:cs typeface="Times New Roman"/>
              </a:rPr>
              <a:t>R8.</a:t>
            </a:r>
          </a:p>
          <a:p>
            <a:pPr marL="471199" marR="370979" indent="-457200">
              <a:lnSpc>
                <a:spcPct val="80000"/>
              </a:lnSpc>
              <a:spcBef>
                <a:spcPts val="667"/>
              </a:spcBef>
              <a:buClr>
                <a:srgbClr val="C00000"/>
              </a:buClr>
              <a:buSzPct val="85416"/>
              <a:buFont typeface="Wingdings" panose="05000000000000000000" pitchFamily="2" charset="2"/>
              <a:buChar char="Ø"/>
              <a:tabLst>
                <a:tab pos="315682" algn="l"/>
                <a:tab pos="316382" algn="l"/>
              </a:tabLst>
            </a:pPr>
            <a:r>
              <a:rPr sz="2646" spc="-11" dirty="0">
                <a:latin typeface="Times New Roman"/>
                <a:cs typeface="Times New Roman"/>
              </a:rPr>
              <a:t>Some </a:t>
            </a:r>
            <a:r>
              <a:rPr sz="2646" dirty="0">
                <a:latin typeface="Times New Roman"/>
                <a:cs typeface="Times New Roman"/>
              </a:rPr>
              <a:t>routers </a:t>
            </a:r>
            <a:r>
              <a:rPr sz="2646" spc="-6" dirty="0">
                <a:latin typeface="Times New Roman"/>
                <a:cs typeface="Times New Roman"/>
              </a:rPr>
              <a:t>would </a:t>
            </a:r>
            <a:r>
              <a:rPr sz="2646" dirty="0">
                <a:latin typeface="Times New Roman"/>
                <a:cs typeface="Times New Roman"/>
              </a:rPr>
              <a:t>also </a:t>
            </a:r>
            <a:r>
              <a:rPr sz="2646" spc="6" dirty="0">
                <a:latin typeface="Times New Roman"/>
                <a:cs typeface="Times New Roman"/>
              </a:rPr>
              <a:t> </a:t>
            </a:r>
            <a:r>
              <a:rPr sz="2646" dirty="0">
                <a:latin typeface="Times New Roman"/>
                <a:cs typeface="Times New Roman"/>
              </a:rPr>
              <a:t>create</a:t>
            </a:r>
            <a:r>
              <a:rPr sz="2646" spc="-77" dirty="0">
                <a:latin typeface="Times New Roman"/>
                <a:cs typeface="Times New Roman"/>
              </a:rPr>
              <a:t> </a:t>
            </a:r>
            <a:r>
              <a:rPr sz="2646" dirty="0">
                <a:latin typeface="Times New Roman"/>
                <a:cs typeface="Times New Roman"/>
              </a:rPr>
              <a:t>and</a:t>
            </a:r>
            <a:r>
              <a:rPr sz="2646" spc="-17" dirty="0">
                <a:latin typeface="Times New Roman"/>
                <a:cs typeface="Times New Roman"/>
              </a:rPr>
              <a:t> </a:t>
            </a:r>
            <a:r>
              <a:rPr sz="2646" dirty="0">
                <a:latin typeface="Times New Roman"/>
                <a:cs typeface="Times New Roman"/>
              </a:rPr>
              <a:t>flood</a:t>
            </a:r>
            <a:r>
              <a:rPr sz="2646" spc="-39" dirty="0">
                <a:latin typeface="Times New Roman"/>
                <a:cs typeface="Times New Roman"/>
              </a:rPr>
              <a:t> </a:t>
            </a:r>
            <a:r>
              <a:rPr sz="2646" dirty="0">
                <a:latin typeface="Times New Roman"/>
                <a:cs typeface="Times New Roman"/>
              </a:rPr>
              <a:t>link</a:t>
            </a:r>
            <a:r>
              <a:rPr sz="2646" spc="-39" dirty="0">
                <a:latin typeface="Times New Roman"/>
                <a:cs typeface="Times New Roman"/>
              </a:rPr>
              <a:t> </a:t>
            </a:r>
            <a:r>
              <a:rPr sz="2646" spc="-6" dirty="0">
                <a:latin typeface="Times New Roman"/>
                <a:cs typeface="Times New Roman"/>
              </a:rPr>
              <a:t>LSAs, </a:t>
            </a:r>
            <a:r>
              <a:rPr sz="2646" spc="-645" dirty="0">
                <a:latin typeface="Times New Roman"/>
                <a:cs typeface="Times New Roman"/>
              </a:rPr>
              <a:t> </a:t>
            </a:r>
            <a:r>
              <a:rPr sz="2646" spc="-6" dirty="0">
                <a:latin typeface="Times New Roman"/>
                <a:cs typeface="Times New Roman"/>
              </a:rPr>
              <a:t>which </a:t>
            </a:r>
            <a:r>
              <a:rPr sz="2646" dirty="0">
                <a:latin typeface="Times New Roman"/>
                <a:cs typeface="Times New Roman"/>
              </a:rPr>
              <a:t>describe </a:t>
            </a:r>
            <a:r>
              <a:rPr sz="2646" spc="-6" dirty="0">
                <a:latin typeface="Times New Roman"/>
                <a:cs typeface="Times New Roman"/>
              </a:rPr>
              <a:t>a </a:t>
            </a:r>
            <a:r>
              <a:rPr sz="2646" dirty="0">
                <a:latin typeface="Times New Roman"/>
                <a:cs typeface="Times New Roman"/>
              </a:rPr>
              <a:t>link </a:t>
            </a:r>
            <a:r>
              <a:rPr sz="2646" spc="-6" dirty="0">
                <a:latin typeface="Times New Roman"/>
                <a:cs typeface="Times New Roman"/>
              </a:rPr>
              <a:t>or </a:t>
            </a:r>
            <a:r>
              <a:rPr sz="2646" dirty="0">
                <a:latin typeface="Times New Roman"/>
                <a:cs typeface="Times New Roman"/>
              </a:rPr>
              <a:t> </a:t>
            </a:r>
            <a:r>
              <a:rPr sz="2646" spc="-6" dirty="0">
                <a:latin typeface="Times New Roman"/>
                <a:cs typeface="Times New Roman"/>
              </a:rPr>
              <a:t>subnet to which multiple </a:t>
            </a:r>
            <a:r>
              <a:rPr sz="2646" dirty="0">
                <a:latin typeface="Times New Roman"/>
                <a:cs typeface="Times New Roman"/>
              </a:rPr>
              <a:t> routers</a:t>
            </a:r>
            <a:r>
              <a:rPr sz="2646" spc="-50" dirty="0">
                <a:latin typeface="Times New Roman"/>
                <a:cs typeface="Times New Roman"/>
              </a:rPr>
              <a:t> </a:t>
            </a:r>
            <a:r>
              <a:rPr sz="2646" dirty="0">
                <a:latin typeface="Times New Roman"/>
                <a:cs typeface="Times New Roman"/>
              </a:rPr>
              <a:t>connect.</a:t>
            </a:r>
          </a:p>
        </p:txBody>
      </p:sp>
      <p:pic>
        <p:nvPicPr>
          <p:cNvPr id="5" name="object 5"/>
          <p:cNvPicPr/>
          <p:nvPr/>
        </p:nvPicPr>
        <p:blipFill>
          <a:blip r:embed="rId2" cstate="print"/>
          <a:stretch>
            <a:fillRect/>
          </a:stretch>
        </p:blipFill>
        <p:spPr>
          <a:xfrm>
            <a:off x="168521" y="1728798"/>
            <a:ext cx="5291773" cy="4935933"/>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519" y="120097"/>
            <a:ext cx="10002106" cy="1368353"/>
          </a:xfrm>
          <a:prstGeom prst="rect">
            <a:avLst/>
          </a:prstGeom>
        </p:spPr>
        <p:txBody>
          <a:bodyPr vert="horz" wrap="square" lIns="0" tIns="13999" rIns="0" bIns="0" rtlCol="0" anchor="ctr">
            <a:spAutoFit/>
          </a:bodyPr>
          <a:lstStyle/>
          <a:p>
            <a:pPr marL="1350924" marR="5600" indent="-766457">
              <a:lnSpc>
                <a:spcPct val="100000"/>
              </a:lnSpc>
              <a:spcBef>
                <a:spcPts val="110"/>
              </a:spcBef>
            </a:pPr>
            <a:r>
              <a:rPr spc="-6" dirty="0">
                <a:solidFill>
                  <a:schemeClr val="bg1"/>
                </a:solidFill>
                <a:latin typeface="Times New Roman" panose="02020603050405020304" pitchFamily="18" charset="0"/>
                <a:cs typeface="Times New Roman" panose="02020603050405020304" pitchFamily="18" charset="0"/>
              </a:rPr>
              <a:t>Flooding</a:t>
            </a:r>
            <a:r>
              <a:rPr spc="-39"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LSAs</a:t>
            </a:r>
            <a:r>
              <a:rPr spc="-11"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Using</a:t>
            </a:r>
            <a:r>
              <a:rPr spc="-17"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a</a:t>
            </a:r>
            <a:r>
              <a:rPr spc="-28"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Link-State </a:t>
            </a:r>
            <a:r>
              <a:rPr spc="-976" dirty="0">
                <a:solidFill>
                  <a:schemeClr val="bg1"/>
                </a:solidFill>
                <a:latin typeface="Times New Roman" panose="02020603050405020304" pitchFamily="18" charset="0"/>
                <a:cs typeface="Times New Roman" panose="02020603050405020304" pitchFamily="18" charset="0"/>
              </a:rPr>
              <a:t> </a:t>
            </a:r>
            <a:r>
              <a:rPr spc="-6" dirty="0">
                <a:solidFill>
                  <a:schemeClr val="bg1"/>
                </a:solidFill>
                <a:latin typeface="Times New Roman" panose="02020603050405020304" pitchFamily="18" charset="0"/>
                <a:cs typeface="Times New Roman" panose="02020603050405020304" pitchFamily="18" charset="0"/>
              </a:rPr>
              <a:t>Routing</a:t>
            </a:r>
            <a:r>
              <a:rPr spc="-28" dirty="0">
                <a:solidFill>
                  <a:schemeClr val="bg1"/>
                </a:solidFill>
                <a:latin typeface="Times New Roman" panose="02020603050405020304" pitchFamily="18" charset="0"/>
                <a:cs typeface="Times New Roman" panose="02020603050405020304" pitchFamily="18" charset="0"/>
              </a:rPr>
              <a:t> </a:t>
            </a:r>
            <a:r>
              <a:rPr spc="-11" dirty="0">
                <a:solidFill>
                  <a:schemeClr val="bg1"/>
                </a:solidFill>
                <a:latin typeface="Times New Roman" panose="02020603050405020304" pitchFamily="18" charset="0"/>
                <a:cs typeface="Times New Roman" panose="02020603050405020304" pitchFamily="18" charset="0"/>
              </a:rPr>
              <a:t>Protocol</a:t>
            </a:r>
            <a:r>
              <a:rPr spc="6" dirty="0">
                <a:solidFill>
                  <a:schemeClr val="bg1"/>
                </a:solidFill>
                <a:latin typeface="Times New Roman" panose="02020603050405020304" pitchFamily="18" charset="0"/>
                <a:cs typeface="Times New Roman" panose="02020603050405020304" pitchFamily="18" charset="0"/>
              </a:rPr>
              <a:t> </a:t>
            </a:r>
            <a:r>
              <a:rPr i="1" dirty="0">
                <a:solidFill>
                  <a:schemeClr val="bg1"/>
                </a:solidFill>
                <a:latin typeface="Times New Roman" panose="02020603050405020304" pitchFamily="18" charset="0"/>
                <a:cs typeface="Times New Roman" panose="02020603050405020304" pitchFamily="18" charset="0"/>
              </a:rPr>
              <a:t>(Continued)</a:t>
            </a:r>
            <a:endParaRPr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23311" y="1874603"/>
            <a:ext cx="9657314" cy="4989150"/>
          </a:xfrm>
          <a:prstGeom prst="rect">
            <a:avLst/>
          </a:prstGeom>
        </p:spPr>
        <p:txBody>
          <a:bodyPr vert="horz" wrap="square" lIns="0" tIns="13299" rIns="0" bIns="0" rtlCol="0">
            <a:spAutoFit/>
          </a:bodyPr>
          <a:lstStyle/>
          <a:p>
            <a:pPr marL="471199" indent="-457200">
              <a:spcBef>
                <a:spcPts val="105"/>
              </a:spcBef>
              <a:buClr>
                <a:srgbClr val="C00000"/>
              </a:buClr>
              <a:buSzPct val="84090"/>
              <a:buFont typeface="Wingdings" panose="05000000000000000000" pitchFamily="2" charset="2"/>
              <a:buChar char="Ø"/>
              <a:tabLst>
                <a:tab pos="315682" algn="l"/>
                <a:tab pos="316382" algn="l"/>
              </a:tabLst>
            </a:pPr>
            <a:r>
              <a:rPr sz="3200" spc="-6" dirty="0">
                <a:latin typeface="Times New Roman"/>
                <a:cs typeface="Times New Roman"/>
              </a:rPr>
              <a:t>After</a:t>
            </a:r>
            <a:r>
              <a:rPr sz="3200" spc="-11" dirty="0">
                <a:latin typeface="Times New Roman"/>
                <a:cs typeface="Times New Roman"/>
              </a:rPr>
              <a:t> </a:t>
            </a:r>
            <a:r>
              <a:rPr sz="3200" dirty="0">
                <a:latin typeface="Times New Roman"/>
                <a:cs typeface="Times New Roman"/>
              </a:rPr>
              <a:t>the </a:t>
            </a:r>
            <a:r>
              <a:rPr sz="3200" spc="-6" dirty="0">
                <a:latin typeface="Times New Roman"/>
                <a:cs typeface="Times New Roman"/>
              </a:rPr>
              <a:t>LSA</a:t>
            </a:r>
            <a:r>
              <a:rPr sz="3200" spc="-126" dirty="0">
                <a:latin typeface="Times New Roman"/>
                <a:cs typeface="Times New Roman"/>
              </a:rPr>
              <a:t> </a:t>
            </a:r>
            <a:r>
              <a:rPr sz="3200" spc="-6" dirty="0">
                <a:latin typeface="Times New Roman"/>
                <a:cs typeface="Times New Roman"/>
              </a:rPr>
              <a:t>has</a:t>
            </a:r>
            <a:r>
              <a:rPr sz="3200" spc="-11" dirty="0">
                <a:latin typeface="Times New Roman"/>
                <a:cs typeface="Times New Roman"/>
              </a:rPr>
              <a:t> </a:t>
            </a:r>
            <a:r>
              <a:rPr sz="3200" spc="-6" dirty="0">
                <a:latin typeface="Times New Roman"/>
                <a:cs typeface="Times New Roman"/>
              </a:rPr>
              <a:t>been </a:t>
            </a:r>
            <a:r>
              <a:rPr sz="3200" dirty="0">
                <a:latin typeface="Times New Roman"/>
                <a:cs typeface="Times New Roman"/>
              </a:rPr>
              <a:t>flooded, </a:t>
            </a:r>
            <a:r>
              <a:rPr sz="3200" spc="-6" dirty="0">
                <a:latin typeface="Times New Roman"/>
                <a:cs typeface="Times New Roman"/>
              </a:rPr>
              <a:t>even</a:t>
            </a:r>
            <a:r>
              <a:rPr sz="3200" spc="11" dirty="0">
                <a:latin typeface="Times New Roman"/>
                <a:cs typeface="Times New Roman"/>
              </a:rPr>
              <a:t> </a:t>
            </a:r>
            <a:r>
              <a:rPr sz="3200" spc="-6" dirty="0">
                <a:latin typeface="Times New Roman"/>
                <a:cs typeface="Times New Roman"/>
              </a:rPr>
              <a:t>if</a:t>
            </a:r>
            <a:r>
              <a:rPr sz="3200" dirty="0">
                <a:latin typeface="Times New Roman"/>
                <a:cs typeface="Times New Roman"/>
              </a:rPr>
              <a:t> the </a:t>
            </a:r>
            <a:r>
              <a:rPr sz="3200" spc="-6" dirty="0">
                <a:latin typeface="Times New Roman"/>
                <a:cs typeface="Times New Roman"/>
              </a:rPr>
              <a:t>LSAs</a:t>
            </a:r>
            <a:r>
              <a:rPr sz="3200" spc="6" dirty="0">
                <a:latin typeface="Times New Roman"/>
                <a:cs typeface="Times New Roman"/>
              </a:rPr>
              <a:t> </a:t>
            </a:r>
            <a:r>
              <a:rPr sz="3200" spc="-6" dirty="0">
                <a:latin typeface="Times New Roman"/>
                <a:cs typeface="Times New Roman"/>
              </a:rPr>
              <a:t>do</a:t>
            </a:r>
            <a:r>
              <a:rPr sz="3200" spc="6" dirty="0">
                <a:latin typeface="Times New Roman"/>
                <a:cs typeface="Times New Roman"/>
              </a:rPr>
              <a:t> </a:t>
            </a:r>
            <a:r>
              <a:rPr sz="3200" dirty="0">
                <a:latin typeface="Times New Roman"/>
                <a:cs typeface="Times New Roman"/>
              </a:rPr>
              <a:t>not</a:t>
            </a:r>
            <a:r>
              <a:rPr sz="3200" spc="-6" dirty="0">
                <a:latin typeface="Times New Roman"/>
                <a:cs typeface="Times New Roman"/>
              </a:rPr>
              <a:t> change,</a:t>
            </a:r>
            <a:r>
              <a:rPr sz="3200" dirty="0">
                <a:latin typeface="Times New Roman"/>
                <a:cs typeface="Times New Roman"/>
              </a:rPr>
              <a:t> </a:t>
            </a:r>
            <a:r>
              <a:rPr sz="3200" spc="6" dirty="0">
                <a:latin typeface="Times New Roman"/>
                <a:cs typeface="Times New Roman"/>
              </a:rPr>
              <a:t>link-</a:t>
            </a:r>
            <a:r>
              <a:rPr sz="3200" spc="-6" dirty="0">
                <a:latin typeface="Times New Roman"/>
                <a:cs typeface="Times New Roman"/>
              </a:rPr>
              <a:t>state</a:t>
            </a:r>
            <a:r>
              <a:rPr sz="3200" spc="-11" dirty="0">
                <a:latin typeface="Times New Roman"/>
                <a:cs typeface="Times New Roman"/>
              </a:rPr>
              <a:t> </a:t>
            </a:r>
            <a:r>
              <a:rPr sz="3200" spc="-6" dirty="0">
                <a:latin typeface="Times New Roman"/>
                <a:cs typeface="Times New Roman"/>
              </a:rPr>
              <a:t>protocols</a:t>
            </a:r>
            <a:r>
              <a:rPr sz="3200" dirty="0">
                <a:latin typeface="Times New Roman"/>
                <a:cs typeface="Times New Roman"/>
              </a:rPr>
              <a:t> </a:t>
            </a:r>
            <a:r>
              <a:rPr sz="3200" spc="-6" dirty="0">
                <a:latin typeface="Times New Roman"/>
                <a:cs typeface="Times New Roman"/>
              </a:rPr>
              <a:t>require</a:t>
            </a:r>
            <a:r>
              <a:rPr sz="3200" spc="22" dirty="0">
                <a:latin typeface="Times New Roman"/>
                <a:cs typeface="Times New Roman"/>
              </a:rPr>
              <a:t> </a:t>
            </a:r>
            <a:r>
              <a:rPr sz="3200" spc="-6" dirty="0">
                <a:latin typeface="Times New Roman"/>
                <a:cs typeface="Times New Roman"/>
              </a:rPr>
              <a:t>periodic</a:t>
            </a:r>
            <a:r>
              <a:rPr sz="3200" spc="28" dirty="0">
                <a:latin typeface="Times New Roman"/>
                <a:cs typeface="Times New Roman"/>
              </a:rPr>
              <a:t> </a:t>
            </a:r>
            <a:r>
              <a:rPr sz="3200" spc="-6" dirty="0">
                <a:latin typeface="Times New Roman"/>
                <a:cs typeface="Times New Roman"/>
              </a:rPr>
              <a:t>reflooding</a:t>
            </a:r>
            <a:r>
              <a:rPr sz="3200" spc="22" dirty="0">
                <a:latin typeface="Times New Roman"/>
                <a:cs typeface="Times New Roman"/>
              </a:rPr>
              <a:t> </a:t>
            </a:r>
            <a:r>
              <a:rPr sz="3200" spc="-6" dirty="0">
                <a:latin typeface="Times New Roman"/>
                <a:cs typeface="Times New Roman"/>
              </a:rPr>
              <a:t>of</a:t>
            </a:r>
            <a:r>
              <a:rPr sz="3200" spc="11" dirty="0">
                <a:latin typeface="Times New Roman"/>
                <a:cs typeface="Times New Roman"/>
              </a:rPr>
              <a:t> </a:t>
            </a:r>
            <a:r>
              <a:rPr sz="3200" dirty="0">
                <a:latin typeface="Times New Roman"/>
                <a:cs typeface="Times New Roman"/>
              </a:rPr>
              <a:t>the</a:t>
            </a:r>
            <a:r>
              <a:rPr sz="3200" spc="6" dirty="0">
                <a:latin typeface="Times New Roman"/>
                <a:cs typeface="Times New Roman"/>
              </a:rPr>
              <a:t> </a:t>
            </a:r>
            <a:r>
              <a:rPr sz="3200" spc="-6" dirty="0">
                <a:latin typeface="Times New Roman"/>
                <a:cs typeface="Times New Roman"/>
              </a:rPr>
              <a:t>LSAs.</a:t>
            </a:r>
            <a:endParaRPr sz="3200" dirty="0">
              <a:latin typeface="Times New Roman"/>
              <a:cs typeface="Times New Roman"/>
            </a:endParaRPr>
          </a:p>
          <a:p>
            <a:pPr marL="823279" marR="233787" lvl="1" indent="-457200">
              <a:spcBef>
                <a:spcPts val="441"/>
              </a:spcBef>
              <a:buClr>
                <a:srgbClr val="9B2C1F"/>
              </a:buClr>
              <a:buSzPct val="84090"/>
              <a:buFont typeface="Wingdings" panose="05000000000000000000" pitchFamily="2" charset="2"/>
              <a:buChar char="ü"/>
              <a:tabLst>
                <a:tab pos="619465" algn="l"/>
              </a:tabLst>
            </a:pPr>
            <a:r>
              <a:rPr sz="3200" spc="-6" dirty="0">
                <a:latin typeface="Times New Roman"/>
                <a:cs typeface="Times New Roman"/>
              </a:rPr>
              <a:t>OSPF sends</a:t>
            </a:r>
            <a:r>
              <a:rPr sz="3200" spc="-11" dirty="0">
                <a:latin typeface="Times New Roman"/>
                <a:cs typeface="Times New Roman"/>
              </a:rPr>
              <a:t> </a:t>
            </a:r>
            <a:r>
              <a:rPr sz="3200" spc="-6" dirty="0">
                <a:latin typeface="Times New Roman"/>
                <a:cs typeface="Times New Roman"/>
              </a:rPr>
              <a:t>updates</a:t>
            </a:r>
            <a:r>
              <a:rPr sz="3200" dirty="0">
                <a:latin typeface="Times New Roman"/>
                <a:cs typeface="Times New Roman"/>
              </a:rPr>
              <a:t> </a:t>
            </a:r>
            <a:r>
              <a:rPr sz="3200" spc="-6" dirty="0">
                <a:latin typeface="Times New Roman"/>
                <a:cs typeface="Times New Roman"/>
              </a:rPr>
              <a:t>(LSAs)</a:t>
            </a:r>
            <a:r>
              <a:rPr sz="3200" spc="11" dirty="0">
                <a:latin typeface="Times New Roman"/>
                <a:cs typeface="Times New Roman"/>
              </a:rPr>
              <a:t> </a:t>
            </a:r>
            <a:r>
              <a:rPr sz="3200" spc="-6" dirty="0">
                <a:latin typeface="Times New Roman"/>
                <a:cs typeface="Times New Roman"/>
              </a:rPr>
              <a:t>when</a:t>
            </a:r>
            <a:r>
              <a:rPr sz="3200" spc="6" dirty="0">
                <a:latin typeface="Times New Roman"/>
                <a:cs typeface="Times New Roman"/>
              </a:rPr>
              <a:t> </a:t>
            </a:r>
            <a:r>
              <a:rPr sz="3200" spc="-6" dirty="0">
                <a:latin typeface="Times New Roman"/>
                <a:cs typeface="Times New Roman"/>
              </a:rPr>
              <a:t>there</a:t>
            </a:r>
            <a:r>
              <a:rPr sz="3200" dirty="0">
                <a:latin typeface="Times New Roman"/>
                <a:cs typeface="Times New Roman"/>
              </a:rPr>
              <a:t> </a:t>
            </a:r>
            <a:r>
              <a:rPr sz="3200" spc="-6" dirty="0">
                <a:latin typeface="Times New Roman"/>
                <a:cs typeface="Times New Roman"/>
              </a:rPr>
              <a:t>is</a:t>
            </a:r>
            <a:r>
              <a:rPr sz="3200"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6" dirty="0">
                <a:latin typeface="Times New Roman"/>
                <a:cs typeface="Times New Roman"/>
              </a:rPr>
              <a:t>change</a:t>
            </a:r>
            <a:r>
              <a:rPr sz="3200" dirty="0">
                <a:latin typeface="Times New Roman"/>
                <a:cs typeface="Times New Roman"/>
              </a:rPr>
              <a:t> </a:t>
            </a:r>
            <a:r>
              <a:rPr sz="3200" spc="-6" dirty="0">
                <a:latin typeface="Times New Roman"/>
                <a:cs typeface="Times New Roman"/>
              </a:rPr>
              <a:t>to one</a:t>
            </a:r>
            <a:r>
              <a:rPr sz="3200" dirty="0">
                <a:latin typeface="Times New Roman"/>
                <a:cs typeface="Times New Roman"/>
              </a:rPr>
              <a:t> </a:t>
            </a:r>
            <a:r>
              <a:rPr sz="3200" spc="-6" dirty="0">
                <a:latin typeface="Times New Roman"/>
                <a:cs typeface="Times New Roman"/>
              </a:rPr>
              <a:t>of</a:t>
            </a:r>
            <a:r>
              <a:rPr sz="3200" spc="6" dirty="0">
                <a:latin typeface="Times New Roman"/>
                <a:cs typeface="Times New Roman"/>
              </a:rPr>
              <a:t> </a:t>
            </a:r>
            <a:r>
              <a:rPr sz="3200" spc="-6" dirty="0">
                <a:latin typeface="Times New Roman"/>
                <a:cs typeface="Times New Roman"/>
              </a:rPr>
              <a:t>its </a:t>
            </a:r>
            <a:r>
              <a:rPr sz="3200" dirty="0">
                <a:latin typeface="Times New Roman"/>
                <a:cs typeface="Times New Roman"/>
              </a:rPr>
              <a:t> </a:t>
            </a:r>
            <a:r>
              <a:rPr sz="3200" spc="-6" dirty="0">
                <a:latin typeface="Times New Roman"/>
                <a:cs typeface="Times New Roman"/>
              </a:rPr>
              <a:t>links,</a:t>
            </a:r>
            <a:r>
              <a:rPr sz="3200" spc="-22" dirty="0">
                <a:latin typeface="Times New Roman"/>
                <a:cs typeface="Times New Roman"/>
              </a:rPr>
              <a:t> </a:t>
            </a:r>
            <a:r>
              <a:rPr sz="3200" spc="-6" dirty="0">
                <a:latin typeface="Times New Roman"/>
                <a:cs typeface="Times New Roman"/>
              </a:rPr>
              <a:t>and</a:t>
            </a:r>
            <a:r>
              <a:rPr sz="3200" dirty="0">
                <a:latin typeface="Times New Roman"/>
                <a:cs typeface="Times New Roman"/>
              </a:rPr>
              <a:t> </a:t>
            </a:r>
            <a:r>
              <a:rPr sz="3200" spc="-6" dirty="0">
                <a:latin typeface="Times New Roman"/>
                <a:cs typeface="Times New Roman"/>
              </a:rPr>
              <a:t>will</a:t>
            </a:r>
            <a:r>
              <a:rPr sz="3200" spc="33" dirty="0">
                <a:latin typeface="Times New Roman"/>
                <a:cs typeface="Times New Roman"/>
              </a:rPr>
              <a:t> </a:t>
            </a:r>
            <a:r>
              <a:rPr sz="3200" b="1" spc="-6" dirty="0">
                <a:solidFill>
                  <a:srgbClr val="FF0000"/>
                </a:solidFill>
                <a:latin typeface="Times New Roman"/>
                <a:cs typeface="Times New Roman"/>
              </a:rPr>
              <a:t>only</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send the change</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in</a:t>
            </a:r>
            <a:r>
              <a:rPr sz="3200" b="1" spc="6" dirty="0">
                <a:solidFill>
                  <a:srgbClr val="FF0000"/>
                </a:solidFill>
                <a:latin typeface="Times New Roman"/>
                <a:cs typeface="Times New Roman"/>
              </a:rPr>
              <a:t> </a:t>
            </a:r>
            <a:r>
              <a:rPr sz="3200" b="1" dirty="0">
                <a:solidFill>
                  <a:srgbClr val="FF0000"/>
                </a:solidFill>
                <a:latin typeface="Times New Roman"/>
                <a:cs typeface="Times New Roman"/>
              </a:rPr>
              <a:t>the</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update. LSAs </a:t>
            </a:r>
            <a:r>
              <a:rPr sz="3200" b="1" spc="-39" dirty="0">
                <a:solidFill>
                  <a:srgbClr val="FF0000"/>
                </a:solidFill>
                <a:latin typeface="Times New Roman"/>
                <a:cs typeface="Times New Roman"/>
              </a:rPr>
              <a:t>are </a:t>
            </a:r>
            <a:r>
              <a:rPr sz="3200" b="1" spc="-33" dirty="0">
                <a:solidFill>
                  <a:srgbClr val="FF0000"/>
                </a:solidFill>
                <a:latin typeface="Times New Roman"/>
                <a:cs typeface="Times New Roman"/>
              </a:rPr>
              <a:t> </a:t>
            </a:r>
            <a:r>
              <a:rPr sz="3200" b="1" spc="-6" dirty="0">
                <a:solidFill>
                  <a:srgbClr val="FF0000"/>
                </a:solidFill>
                <a:latin typeface="Times New Roman"/>
                <a:cs typeface="Times New Roman"/>
              </a:rPr>
              <a:t>additionally</a:t>
            </a:r>
            <a:r>
              <a:rPr sz="3200" b="1" spc="-22" dirty="0">
                <a:solidFill>
                  <a:srgbClr val="FF0000"/>
                </a:solidFill>
                <a:latin typeface="Times New Roman"/>
                <a:cs typeface="Times New Roman"/>
              </a:rPr>
              <a:t> </a:t>
            </a:r>
            <a:r>
              <a:rPr sz="3200" spc="-6" dirty="0">
                <a:latin typeface="Times New Roman"/>
                <a:cs typeface="Times New Roman"/>
              </a:rPr>
              <a:t>refreshed</a:t>
            </a:r>
            <a:r>
              <a:rPr sz="3200" spc="17" dirty="0">
                <a:latin typeface="Times New Roman"/>
                <a:cs typeface="Times New Roman"/>
              </a:rPr>
              <a:t> </a:t>
            </a:r>
            <a:r>
              <a:rPr sz="3200" spc="-6" dirty="0">
                <a:latin typeface="Times New Roman"/>
                <a:cs typeface="Times New Roman"/>
              </a:rPr>
              <a:t>every</a:t>
            </a:r>
            <a:r>
              <a:rPr sz="3200" spc="33" dirty="0">
                <a:latin typeface="Times New Roman"/>
                <a:cs typeface="Times New Roman"/>
              </a:rPr>
              <a:t> </a:t>
            </a:r>
            <a:r>
              <a:rPr sz="3200" b="1" spc="-6" dirty="0">
                <a:solidFill>
                  <a:srgbClr val="FF0000"/>
                </a:solidFill>
                <a:latin typeface="Times New Roman"/>
                <a:cs typeface="Times New Roman"/>
              </a:rPr>
              <a:t>30</a:t>
            </a:r>
            <a:r>
              <a:rPr sz="3200" b="1" spc="6" dirty="0">
                <a:solidFill>
                  <a:srgbClr val="FF0000"/>
                </a:solidFill>
                <a:latin typeface="Times New Roman"/>
                <a:cs typeface="Times New Roman"/>
              </a:rPr>
              <a:t> </a:t>
            </a:r>
            <a:r>
              <a:rPr sz="3200" b="1" spc="-6" dirty="0">
                <a:solidFill>
                  <a:srgbClr val="FF0000"/>
                </a:solidFill>
                <a:latin typeface="Times New Roman"/>
                <a:cs typeface="Times New Roman"/>
              </a:rPr>
              <a:t>minutes</a:t>
            </a:r>
            <a:r>
              <a:rPr sz="3200" b="1" spc="-6" dirty="0">
                <a:latin typeface="Times New Roman"/>
                <a:cs typeface="Times New Roman"/>
              </a:rPr>
              <a:t>.</a:t>
            </a:r>
            <a:r>
              <a:rPr sz="3200" b="1" spc="28" dirty="0">
                <a:latin typeface="Times New Roman"/>
                <a:cs typeface="Times New Roman"/>
              </a:rPr>
              <a:t> </a:t>
            </a:r>
            <a:r>
              <a:rPr sz="3200" spc="-6" dirty="0">
                <a:latin typeface="Times New Roman"/>
                <a:cs typeface="Times New Roman"/>
              </a:rPr>
              <a:t>As</a:t>
            </a:r>
            <a:r>
              <a:rPr sz="3200" dirty="0">
                <a:latin typeface="Times New Roman"/>
                <a:cs typeface="Times New Roman"/>
              </a:rPr>
              <a:t> </a:t>
            </a:r>
            <a:r>
              <a:rPr sz="3200" spc="-6" dirty="0">
                <a:latin typeface="Times New Roman"/>
                <a:cs typeface="Times New Roman"/>
              </a:rPr>
              <a:t>a</a:t>
            </a:r>
            <a:r>
              <a:rPr sz="3200" spc="6" dirty="0">
                <a:latin typeface="Times New Roman"/>
                <a:cs typeface="Times New Roman"/>
              </a:rPr>
              <a:t> </a:t>
            </a:r>
            <a:r>
              <a:rPr sz="3200" spc="-6" dirty="0">
                <a:latin typeface="Times New Roman"/>
                <a:cs typeface="Times New Roman"/>
              </a:rPr>
              <a:t>result,</a:t>
            </a:r>
            <a:r>
              <a:rPr sz="3200" spc="6" dirty="0">
                <a:latin typeface="Times New Roman"/>
                <a:cs typeface="Times New Roman"/>
              </a:rPr>
              <a:t> </a:t>
            </a:r>
            <a:r>
              <a:rPr sz="3200" spc="-6" dirty="0">
                <a:latin typeface="Times New Roman"/>
                <a:cs typeface="Times New Roman"/>
              </a:rPr>
              <a:t>in</a:t>
            </a:r>
            <a:r>
              <a:rPr sz="3200" spc="11" dirty="0">
                <a:latin typeface="Times New Roman"/>
                <a:cs typeface="Times New Roman"/>
              </a:rPr>
              <a:t> </a:t>
            </a:r>
            <a:r>
              <a:rPr sz="3200" spc="-6" dirty="0">
                <a:latin typeface="Times New Roman"/>
                <a:cs typeface="Times New Roman"/>
              </a:rPr>
              <a:t>a</a:t>
            </a:r>
            <a:r>
              <a:rPr sz="3200" spc="6" dirty="0">
                <a:latin typeface="Times New Roman"/>
                <a:cs typeface="Times New Roman"/>
              </a:rPr>
              <a:t> </a:t>
            </a:r>
            <a:r>
              <a:rPr sz="3200" spc="-6" dirty="0">
                <a:latin typeface="Times New Roman"/>
                <a:cs typeface="Times New Roman"/>
              </a:rPr>
              <a:t>stable </a:t>
            </a:r>
            <a:r>
              <a:rPr sz="3200" dirty="0">
                <a:latin typeface="Times New Roman"/>
                <a:cs typeface="Times New Roman"/>
              </a:rPr>
              <a:t> </a:t>
            </a:r>
            <a:r>
              <a:rPr sz="3200" spc="-6" dirty="0">
                <a:latin typeface="Times New Roman"/>
                <a:cs typeface="Times New Roman"/>
              </a:rPr>
              <a:t>internetwork, </a:t>
            </a:r>
            <a:r>
              <a:rPr sz="3200" dirty="0">
                <a:latin typeface="Times New Roman"/>
                <a:cs typeface="Times New Roman"/>
              </a:rPr>
              <a:t>link-state </a:t>
            </a:r>
            <a:r>
              <a:rPr sz="3200" spc="-6" dirty="0">
                <a:latin typeface="Times New Roman"/>
                <a:cs typeface="Times New Roman"/>
              </a:rPr>
              <a:t>protocols</a:t>
            </a:r>
            <a:r>
              <a:rPr sz="3200" spc="-11" dirty="0">
                <a:latin typeface="Times New Roman"/>
                <a:cs typeface="Times New Roman"/>
              </a:rPr>
              <a:t> </a:t>
            </a:r>
            <a:r>
              <a:rPr sz="3200" spc="-6" dirty="0">
                <a:latin typeface="Times New Roman"/>
                <a:cs typeface="Times New Roman"/>
              </a:rPr>
              <a:t>actually</a:t>
            </a:r>
            <a:r>
              <a:rPr sz="3200" spc="11" dirty="0">
                <a:latin typeface="Times New Roman"/>
                <a:cs typeface="Times New Roman"/>
              </a:rPr>
              <a:t> </a:t>
            </a:r>
            <a:r>
              <a:rPr sz="3200" spc="-6" dirty="0">
                <a:latin typeface="Times New Roman"/>
                <a:cs typeface="Times New Roman"/>
              </a:rPr>
              <a:t>use less</a:t>
            </a:r>
            <a:r>
              <a:rPr sz="3200" dirty="0">
                <a:latin typeface="Times New Roman"/>
                <a:cs typeface="Times New Roman"/>
              </a:rPr>
              <a:t> </a:t>
            </a:r>
            <a:r>
              <a:rPr sz="3200" spc="-6" dirty="0">
                <a:latin typeface="Times New Roman"/>
                <a:cs typeface="Times New Roman"/>
              </a:rPr>
              <a:t>network </a:t>
            </a:r>
            <a:r>
              <a:rPr sz="3200" dirty="0">
                <a:latin typeface="Times New Roman"/>
                <a:cs typeface="Times New Roman"/>
              </a:rPr>
              <a:t> </a:t>
            </a:r>
            <a:r>
              <a:rPr sz="3200" spc="-6" dirty="0">
                <a:latin typeface="Times New Roman"/>
                <a:cs typeface="Times New Roman"/>
              </a:rPr>
              <a:t>bandwidth</a:t>
            </a:r>
            <a:r>
              <a:rPr sz="3200" spc="-11" dirty="0">
                <a:latin typeface="Times New Roman"/>
                <a:cs typeface="Times New Roman"/>
              </a:rPr>
              <a:t> </a:t>
            </a:r>
            <a:r>
              <a:rPr sz="3200" spc="-6" dirty="0">
                <a:latin typeface="Times New Roman"/>
                <a:cs typeface="Times New Roman"/>
              </a:rPr>
              <a:t>for</a:t>
            </a:r>
            <a:r>
              <a:rPr sz="3200" spc="6" dirty="0">
                <a:latin typeface="Times New Roman"/>
                <a:cs typeface="Times New Roman"/>
              </a:rPr>
              <a:t> </a:t>
            </a:r>
            <a:r>
              <a:rPr sz="3200" spc="-6" dirty="0">
                <a:latin typeface="Times New Roman"/>
                <a:cs typeface="Times New Roman"/>
              </a:rPr>
              <a:t>sending</a:t>
            </a:r>
            <a:r>
              <a:rPr sz="3200" spc="6" dirty="0">
                <a:latin typeface="Times New Roman"/>
                <a:cs typeface="Times New Roman"/>
              </a:rPr>
              <a:t> </a:t>
            </a:r>
            <a:r>
              <a:rPr sz="3200" spc="-6" dirty="0">
                <a:latin typeface="Times New Roman"/>
                <a:cs typeface="Times New Roman"/>
              </a:rPr>
              <a:t>routing</a:t>
            </a:r>
            <a:r>
              <a:rPr sz="3200" spc="6" dirty="0">
                <a:latin typeface="Times New Roman"/>
                <a:cs typeface="Times New Roman"/>
              </a:rPr>
              <a:t> </a:t>
            </a:r>
            <a:r>
              <a:rPr sz="3200" spc="-6" dirty="0">
                <a:latin typeface="Times New Roman"/>
                <a:cs typeface="Times New Roman"/>
              </a:rPr>
              <a:t>information</a:t>
            </a:r>
            <a:r>
              <a:rPr sz="3200" spc="39" dirty="0">
                <a:latin typeface="Times New Roman"/>
                <a:cs typeface="Times New Roman"/>
              </a:rPr>
              <a:t> </a:t>
            </a:r>
            <a:r>
              <a:rPr sz="3200" spc="-6" dirty="0">
                <a:latin typeface="Times New Roman"/>
                <a:cs typeface="Times New Roman"/>
              </a:rPr>
              <a:t>than</a:t>
            </a:r>
            <a:r>
              <a:rPr sz="3200" spc="6" dirty="0">
                <a:latin typeface="Times New Roman"/>
                <a:cs typeface="Times New Roman"/>
              </a:rPr>
              <a:t> </a:t>
            </a:r>
            <a:r>
              <a:rPr sz="3200" dirty="0">
                <a:latin typeface="Times New Roman"/>
                <a:cs typeface="Times New Roman"/>
              </a:rPr>
              <a:t>do</a:t>
            </a:r>
            <a:r>
              <a:rPr sz="3200" spc="6" dirty="0">
                <a:latin typeface="Times New Roman"/>
                <a:cs typeface="Times New Roman"/>
              </a:rPr>
              <a:t> </a:t>
            </a:r>
            <a:r>
              <a:rPr sz="3200" spc="-6" dirty="0">
                <a:latin typeface="Times New Roman"/>
                <a:cs typeface="Times New Roman"/>
              </a:rPr>
              <a:t>distance</a:t>
            </a:r>
            <a:r>
              <a:rPr sz="3200" spc="6" dirty="0">
                <a:latin typeface="Times New Roman"/>
                <a:cs typeface="Times New Roman"/>
              </a:rPr>
              <a:t> </a:t>
            </a:r>
            <a:r>
              <a:rPr sz="3200" spc="-6" dirty="0">
                <a:latin typeface="Times New Roman"/>
                <a:cs typeface="Times New Roman"/>
              </a:rPr>
              <a:t>vector </a:t>
            </a:r>
            <a:r>
              <a:rPr sz="3200" spc="-590" dirty="0">
                <a:latin typeface="Times New Roman"/>
                <a:cs typeface="Times New Roman"/>
              </a:rPr>
              <a:t> </a:t>
            </a:r>
            <a:r>
              <a:rPr sz="3200" spc="-6" dirty="0">
                <a:latin typeface="Times New Roman"/>
                <a:cs typeface="Times New Roman"/>
              </a:rPr>
              <a:t>protocols.</a:t>
            </a:r>
            <a:endParaRPr sz="3200" dirty="0">
              <a:latin typeface="Times New Roman"/>
              <a:cs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519" y="120097"/>
            <a:ext cx="10002106" cy="1368353"/>
          </a:xfrm>
          <a:prstGeom prst="rect">
            <a:avLst/>
          </a:prstGeom>
        </p:spPr>
        <p:txBody>
          <a:bodyPr vert="horz" wrap="square" lIns="0" tIns="13999" rIns="0" bIns="0" rtlCol="0" anchor="ctr">
            <a:spAutoFit/>
          </a:bodyPr>
          <a:lstStyle/>
          <a:p>
            <a:pPr marL="1350924" marR="5600" indent="-766457">
              <a:lnSpc>
                <a:spcPct val="100000"/>
              </a:lnSpc>
              <a:spcBef>
                <a:spcPts val="110"/>
              </a:spcBef>
            </a:pPr>
            <a:r>
              <a:rPr spc="-6" dirty="0">
                <a:solidFill>
                  <a:schemeClr val="bg1"/>
                </a:solidFill>
                <a:latin typeface="Times New Roman" panose="02020603050405020304" pitchFamily="18" charset="0"/>
                <a:cs typeface="Times New Roman" panose="02020603050405020304" pitchFamily="18" charset="0"/>
              </a:rPr>
              <a:t>Flooding</a:t>
            </a:r>
            <a:r>
              <a:rPr spc="-39"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LSAs</a:t>
            </a:r>
            <a:r>
              <a:rPr spc="-11"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Using</a:t>
            </a:r>
            <a:r>
              <a:rPr spc="-17"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a</a:t>
            </a:r>
            <a:r>
              <a:rPr spc="-28" dirty="0">
                <a:solidFill>
                  <a:schemeClr val="bg1"/>
                </a:solidFill>
                <a:latin typeface="Times New Roman" panose="02020603050405020304" pitchFamily="18" charset="0"/>
                <a:cs typeface="Times New Roman" panose="02020603050405020304" pitchFamily="18" charset="0"/>
              </a:rPr>
              <a:t> </a:t>
            </a:r>
            <a:r>
              <a:rPr dirty="0">
                <a:solidFill>
                  <a:schemeClr val="bg1"/>
                </a:solidFill>
                <a:latin typeface="Times New Roman" panose="02020603050405020304" pitchFamily="18" charset="0"/>
                <a:cs typeface="Times New Roman" panose="02020603050405020304" pitchFamily="18" charset="0"/>
              </a:rPr>
              <a:t>Link-State </a:t>
            </a:r>
            <a:r>
              <a:rPr spc="-976" dirty="0">
                <a:solidFill>
                  <a:schemeClr val="bg1"/>
                </a:solidFill>
                <a:latin typeface="Times New Roman" panose="02020603050405020304" pitchFamily="18" charset="0"/>
                <a:cs typeface="Times New Roman" panose="02020603050405020304" pitchFamily="18" charset="0"/>
              </a:rPr>
              <a:t> </a:t>
            </a:r>
            <a:r>
              <a:rPr spc="-6" dirty="0">
                <a:solidFill>
                  <a:schemeClr val="bg1"/>
                </a:solidFill>
                <a:latin typeface="Times New Roman" panose="02020603050405020304" pitchFamily="18" charset="0"/>
                <a:cs typeface="Times New Roman" panose="02020603050405020304" pitchFamily="18" charset="0"/>
              </a:rPr>
              <a:t>Routing</a:t>
            </a:r>
            <a:r>
              <a:rPr spc="-28" dirty="0">
                <a:solidFill>
                  <a:schemeClr val="bg1"/>
                </a:solidFill>
                <a:latin typeface="Times New Roman" panose="02020603050405020304" pitchFamily="18" charset="0"/>
                <a:cs typeface="Times New Roman" panose="02020603050405020304" pitchFamily="18" charset="0"/>
              </a:rPr>
              <a:t> </a:t>
            </a:r>
            <a:r>
              <a:rPr spc="-11" dirty="0">
                <a:solidFill>
                  <a:schemeClr val="bg1"/>
                </a:solidFill>
                <a:latin typeface="Times New Roman" panose="02020603050405020304" pitchFamily="18" charset="0"/>
                <a:cs typeface="Times New Roman" panose="02020603050405020304" pitchFamily="18" charset="0"/>
              </a:rPr>
              <a:t>Protocol</a:t>
            </a:r>
            <a:r>
              <a:rPr spc="6" dirty="0">
                <a:solidFill>
                  <a:schemeClr val="bg1"/>
                </a:solidFill>
                <a:latin typeface="Times New Roman" panose="02020603050405020304" pitchFamily="18" charset="0"/>
                <a:cs typeface="Times New Roman" panose="02020603050405020304" pitchFamily="18" charset="0"/>
              </a:rPr>
              <a:t> </a:t>
            </a:r>
            <a:r>
              <a:rPr i="1" dirty="0">
                <a:solidFill>
                  <a:schemeClr val="bg1"/>
                </a:solidFill>
                <a:latin typeface="Times New Roman" panose="02020603050405020304" pitchFamily="18" charset="0"/>
                <a:cs typeface="Times New Roman" panose="02020603050405020304" pitchFamily="18" charset="0"/>
              </a:rPr>
              <a:t>(Continued)</a:t>
            </a:r>
            <a:endParaRPr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23311" y="1874603"/>
            <a:ext cx="9657314" cy="2526937"/>
          </a:xfrm>
          <a:prstGeom prst="rect">
            <a:avLst/>
          </a:prstGeom>
        </p:spPr>
        <p:txBody>
          <a:bodyPr vert="horz" wrap="square" lIns="0" tIns="13299" rIns="0" bIns="0" rtlCol="0">
            <a:spAutoFit/>
          </a:bodyPr>
          <a:lstStyle/>
          <a:p>
            <a:pPr marL="471199" indent="-457200">
              <a:spcBef>
                <a:spcPts val="667"/>
              </a:spcBef>
              <a:buClr>
                <a:srgbClr val="C00000"/>
              </a:buClr>
              <a:buSzPct val="84090"/>
              <a:buFont typeface="Wingdings" panose="05000000000000000000" pitchFamily="2" charset="2"/>
              <a:buChar char="Ø"/>
              <a:tabLst>
                <a:tab pos="315682" algn="l"/>
                <a:tab pos="316382" algn="l"/>
              </a:tabLst>
            </a:pPr>
            <a:r>
              <a:rPr sz="3200" spc="-6" dirty="0">
                <a:latin typeface="Times New Roman"/>
                <a:cs typeface="Times New Roman"/>
              </a:rPr>
              <a:t>If</a:t>
            </a:r>
            <a:r>
              <a:rPr sz="3200" dirty="0">
                <a:latin typeface="Times New Roman"/>
                <a:cs typeface="Times New Roman"/>
              </a:rPr>
              <a:t> </a:t>
            </a:r>
            <a:r>
              <a:rPr sz="3200" spc="-6" dirty="0">
                <a:latin typeface="Times New Roman"/>
                <a:cs typeface="Times New Roman"/>
              </a:rPr>
              <a:t>an</a:t>
            </a:r>
            <a:r>
              <a:rPr sz="3200" dirty="0">
                <a:latin typeface="Times New Roman"/>
                <a:cs typeface="Times New Roman"/>
              </a:rPr>
              <a:t> </a:t>
            </a:r>
            <a:r>
              <a:rPr sz="3200" spc="-6" dirty="0">
                <a:latin typeface="Times New Roman"/>
                <a:cs typeface="Times New Roman"/>
              </a:rPr>
              <a:t>LSA</a:t>
            </a:r>
            <a:r>
              <a:rPr sz="3200" spc="-105" dirty="0">
                <a:latin typeface="Times New Roman"/>
                <a:cs typeface="Times New Roman"/>
              </a:rPr>
              <a:t> </a:t>
            </a:r>
            <a:r>
              <a:rPr sz="3200" spc="-6" dirty="0">
                <a:latin typeface="Times New Roman"/>
                <a:cs typeface="Times New Roman"/>
              </a:rPr>
              <a:t>changes, the</a:t>
            </a:r>
            <a:r>
              <a:rPr sz="3200" spc="6" dirty="0">
                <a:latin typeface="Times New Roman"/>
                <a:cs typeface="Times New Roman"/>
              </a:rPr>
              <a:t> </a:t>
            </a:r>
            <a:r>
              <a:rPr sz="3200" spc="-6" dirty="0">
                <a:latin typeface="Times New Roman"/>
                <a:cs typeface="Times New Roman"/>
              </a:rPr>
              <a:t>router</a:t>
            </a:r>
            <a:r>
              <a:rPr sz="3200" spc="22" dirty="0">
                <a:latin typeface="Times New Roman"/>
                <a:cs typeface="Times New Roman"/>
              </a:rPr>
              <a:t> </a:t>
            </a:r>
            <a:r>
              <a:rPr sz="3200" spc="-11" dirty="0">
                <a:latin typeface="Times New Roman"/>
                <a:cs typeface="Times New Roman"/>
              </a:rPr>
              <a:t>immediately</a:t>
            </a:r>
            <a:r>
              <a:rPr sz="3200" spc="55" dirty="0">
                <a:latin typeface="Times New Roman"/>
                <a:cs typeface="Times New Roman"/>
              </a:rPr>
              <a:t> </a:t>
            </a:r>
            <a:r>
              <a:rPr sz="3200" spc="-6" dirty="0">
                <a:latin typeface="Times New Roman"/>
                <a:cs typeface="Times New Roman"/>
              </a:rPr>
              <a:t>floods the</a:t>
            </a:r>
            <a:r>
              <a:rPr sz="3200" spc="6" dirty="0">
                <a:latin typeface="Times New Roman"/>
                <a:cs typeface="Times New Roman"/>
              </a:rPr>
              <a:t> </a:t>
            </a:r>
            <a:r>
              <a:rPr sz="3200" spc="-6" dirty="0">
                <a:latin typeface="Times New Roman"/>
                <a:cs typeface="Times New Roman"/>
              </a:rPr>
              <a:t>changed</a:t>
            </a:r>
            <a:r>
              <a:rPr sz="3200" spc="6" dirty="0">
                <a:latin typeface="Times New Roman"/>
                <a:cs typeface="Times New Roman"/>
              </a:rPr>
              <a:t> </a:t>
            </a:r>
            <a:r>
              <a:rPr sz="3200" spc="-6" dirty="0">
                <a:latin typeface="Times New Roman"/>
                <a:cs typeface="Times New Roman"/>
              </a:rPr>
              <a:t>LSA.</a:t>
            </a:r>
            <a:endParaRPr sz="3200" dirty="0">
              <a:latin typeface="Times New Roman"/>
              <a:cs typeface="Times New Roman"/>
            </a:endParaRPr>
          </a:p>
          <a:p>
            <a:pPr marL="823279" marR="5600" lvl="1" indent="-457200">
              <a:spcBef>
                <a:spcPts val="446"/>
              </a:spcBef>
              <a:buClr>
                <a:srgbClr val="C00000"/>
              </a:buClr>
              <a:buSzPct val="84090"/>
              <a:buFont typeface="Wingdings" panose="05000000000000000000" pitchFamily="2" charset="2"/>
              <a:buChar char="ü"/>
              <a:tabLst>
                <a:tab pos="619465" algn="l"/>
              </a:tabLst>
            </a:pPr>
            <a:r>
              <a:rPr sz="3200" spc="-6" dirty="0">
                <a:latin typeface="Times New Roman"/>
                <a:cs typeface="Times New Roman"/>
              </a:rPr>
              <a:t>For</a:t>
            </a:r>
            <a:r>
              <a:rPr sz="3200" spc="-11" dirty="0">
                <a:latin typeface="Times New Roman"/>
                <a:cs typeface="Times New Roman"/>
              </a:rPr>
              <a:t> </a:t>
            </a:r>
            <a:r>
              <a:rPr sz="3200" spc="-6" dirty="0">
                <a:latin typeface="Times New Roman"/>
                <a:cs typeface="Times New Roman"/>
              </a:rPr>
              <a:t>example,</a:t>
            </a:r>
            <a:r>
              <a:rPr sz="3200" spc="11" dirty="0">
                <a:latin typeface="Times New Roman"/>
                <a:cs typeface="Times New Roman"/>
              </a:rPr>
              <a:t> </a:t>
            </a:r>
            <a:r>
              <a:rPr sz="3200" spc="-6" dirty="0">
                <a:latin typeface="Times New Roman"/>
                <a:cs typeface="Times New Roman"/>
              </a:rPr>
              <a:t>if</a:t>
            </a:r>
            <a:r>
              <a:rPr sz="3200" dirty="0">
                <a:latin typeface="Times New Roman"/>
                <a:cs typeface="Times New Roman"/>
              </a:rPr>
              <a:t> </a:t>
            </a:r>
            <a:r>
              <a:rPr sz="3200" spc="-6" dirty="0">
                <a:latin typeface="Times New Roman"/>
                <a:cs typeface="Times New Roman"/>
              </a:rPr>
              <a:t>a</a:t>
            </a:r>
            <a:r>
              <a:rPr sz="3200" dirty="0">
                <a:latin typeface="Times New Roman"/>
                <a:cs typeface="Times New Roman"/>
              </a:rPr>
              <a:t> </a:t>
            </a:r>
            <a:r>
              <a:rPr sz="3200" spc="-22" dirty="0">
                <a:latin typeface="Times New Roman"/>
                <a:cs typeface="Times New Roman"/>
              </a:rPr>
              <a:t>router</a:t>
            </a:r>
            <a:r>
              <a:rPr sz="3200" spc="6" dirty="0">
                <a:latin typeface="Times New Roman"/>
                <a:cs typeface="Times New Roman"/>
              </a:rPr>
              <a:t> </a:t>
            </a:r>
            <a:r>
              <a:rPr sz="3200" spc="-6" dirty="0">
                <a:latin typeface="Times New Roman"/>
                <a:cs typeface="Times New Roman"/>
              </a:rPr>
              <a:t>interface</a:t>
            </a:r>
            <a:r>
              <a:rPr sz="3200" dirty="0">
                <a:latin typeface="Times New Roman"/>
                <a:cs typeface="Times New Roman"/>
              </a:rPr>
              <a:t> </a:t>
            </a:r>
            <a:r>
              <a:rPr sz="3200" spc="-6" dirty="0">
                <a:latin typeface="Times New Roman"/>
                <a:cs typeface="Times New Roman"/>
              </a:rPr>
              <a:t>changes</a:t>
            </a:r>
            <a:r>
              <a:rPr sz="3200" spc="-28" dirty="0">
                <a:latin typeface="Times New Roman"/>
                <a:cs typeface="Times New Roman"/>
              </a:rPr>
              <a:t> from</a:t>
            </a:r>
            <a:r>
              <a:rPr sz="3200" spc="6" dirty="0">
                <a:latin typeface="Times New Roman"/>
                <a:cs typeface="Times New Roman"/>
              </a:rPr>
              <a:t> </a:t>
            </a:r>
            <a:r>
              <a:rPr sz="3200" spc="-6" dirty="0">
                <a:latin typeface="Times New Roman"/>
                <a:cs typeface="Times New Roman"/>
              </a:rPr>
              <a:t>up</a:t>
            </a:r>
            <a:r>
              <a:rPr sz="3200" spc="6"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dirty="0">
                <a:latin typeface="Times New Roman"/>
                <a:cs typeface="Times New Roman"/>
              </a:rPr>
              <a:t>down, </a:t>
            </a:r>
            <a:r>
              <a:rPr sz="3200" spc="-6" dirty="0">
                <a:latin typeface="Times New Roman"/>
                <a:cs typeface="Times New Roman"/>
              </a:rPr>
              <a:t>the</a:t>
            </a:r>
            <a:r>
              <a:rPr sz="3200" spc="-11" dirty="0">
                <a:latin typeface="Times New Roman"/>
                <a:cs typeface="Times New Roman"/>
              </a:rPr>
              <a:t> </a:t>
            </a:r>
            <a:r>
              <a:rPr sz="3200" spc="-6" dirty="0">
                <a:latin typeface="Times New Roman"/>
                <a:cs typeface="Times New Roman"/>
              </a:rPr>
              <a:t>LSA </a:t>
            </a:r>
            <a:r>
              <a:rPr sz="3200" spc="-590" dirty="0">
                <a:latin typeface="Times New Roman"/>
                <a:cs typeface="Times New Roman"/>
              </a:rPr>
              <a:t> </a:t>
            </a:r>
            <a:r>
              <a:rPr sz="3200" spc="-6" dirty="0">
                <a:latin typeface="Times New Roman"/>
                <a:cs typeface="Times New Roman"/>
              </a:rPr>
              <a:t>needs</a:t>
            </a:r>
            <a:r>
              <a:rPr sz="3200" spc="-22" dirty="0">
                <a:latin typeface="Times New Roman"/>
                <a:cs typeface="Times New Roman"/>
              </a:rPr>
              <a:t> </a:t>
            </a:r>
            <a:r>
              <a:rPr sz="3200" spc="-6" dirty="0">
                <a:latin typeface="Times New Roman"/>
                <a:cs typeface="Times New Roman"/>
              </a:rPr>
              <a:t>to</a:t>
            </a:r>
            <a:r>
              <a:rPr sz="3200" spc="6" dirty="0">
                <a:latin typeface="Times New Roman"/>
                <a:cs typeface="Times New Roman"/>
              </a:rPr>
              <a:t> </a:t>
            </a:r>
            <a:r>
              <a:rPr sz="3200" dirty="0">
                <a:latin typeface="Times New Roman"/>
                <a:cs typeface="Times New Roman"/>
              </a:rPr>
              <a:t>be</a:t>
            </a:r>
            <a:r>
              <a:rPr sz="3200" spc="11" dirty="0">
                <a:latin typeface="Times New Roman"/>
                <a:cs typeface="Times New Roman"/>
              </a:rPr>
              <a:t> </a:t>
            </a:r>
            <a:r>
              <a:rPr sz="3200" spc="-11" dirty="0">
                <a:latin typeface="Times New Roman"/>
                <a:cs typeface="Times New Roman"/>
              </a:rPr>
              <a:t>reflooded,</a:t>
            </a:r>
            <a:r>
              <a:rPr sz="3200" spc="-6" dirty="0">
                <a:latin typeface="Times New Roman"/>
                <a:cs typeface="Times New Roman"/>
              </a:rPr>
              <a:t> because some</a:t>
            </a:r>
            <a:r>
              <a:rPr sz="3200" dirty="0">
                <a:latin typeface="Times New Roman"/>
                <a:cs typeface="Times New Roman"/>
              </a:rPr>
              <a:t> </a:t>
            </a:r>
            <a:r>
              <a:rPr sz="3200" spc="-22" dirty="0">
                <a:latin typeface="Times New Roman"/>
                <a:cs typeface="Times New Roman"/>
              </a:rPr>
              <a:t>routes</a:t>
            </a:r>
            <a:r>
              <a:rPr sz="3200" spc="-17" dirty="0">
                <a:latin typeface="Times New Roman"/>
                <a:cs typeface="Times New Roman"/>
              </a:rPr>
              <a:t> </a:t>
            </a:r>
            <a:r>
              <a:rPr sz="3200" spc="-6" dirty="0">
                <a:latin typeface="Times New Roman"/>
                <a:cs typeface="Times New Roman"/>
              </a:rPr>
              <a:t>may</a:t>
            </a:r>
            <a:r>
              <a:rPr sz="3200" dirty="0">
                <a:latin typeface="Times New Roman"/>
                <a:cs typeface="Times New Roman"/>
              </a:rPr>
              <a:t> </a:t>
            </a:r>
            <a:r>
              <a:rPr sz="3200" spc="-6" dirty="0">
                <a:latin typeface="Times New Roman"/>
                <a:cs typeface="Times New Roman"/>
              </a:rPr>
              <a:t>change</a:t>
            </a:r>
            <a:r>
              <a:rPr sz="3200" dirty="0">
                <a:latin typeface="Times New Roman"/>
                <a:cs typeface="Times New Roman"/>
              </a:rPr>
              <a:t> </a:t>
            </a:r>
            <a:r>
              <a:rPr sz="3200" spc="-6" dirty="0">
                <a:latin typeface="Times New Roman"/>
                <a:cs typeface="Times New Roman"/>
              </a:rPr>
              <a:t>as a </a:t>
            </a:r>
            <a:r>
              <a:rPr sz="3200" spc="-17" dirty="0">
                <a:latin typeface="Times New Roman"/>
                <a:cs typeface="Times New Roman"/>
              </a:rPr>
              <a:t>result.</a:t>
            </a:r>
            <a:endParaRPr sz="3200" dirty="0">
              <a:latin typeface="Times New Roman"/>
              <a:cs typeface="Times New Roman"/>
            </a:endParaRPr>
          </a:p>
        </p:txBody>
      </p:sp>
    </p:spTree>
    <p:extLst>
      <p:ext uri="{BB962C8B-B14F-4D97-AF65-F5344CB8AC3E}">
        <p14:creationId xmlns:p14="http://schemas.microsoft.com/office/powerpoint/2010/main" val="2461599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6155"/>
            <a:ext cx="9999803" cy="1368353"/>
          </a:xfrm>
          <a:prstGeom prst="rect">
            <a:avLst/>
          </a:prstGeom>
        </p:spPr>
        <p:txBody>
          <a:bodyPr vert="horz" wrap="square" lIns="0" tIns="13999" rIns="0" bIns="0" rtlCol="0" anchor="ctr">
            <a:spAutoFit/>
          </a:bodyPr>
          <a:lstStyle/>
          <a:p>
            <a:pPr marL="3189020" marR="5600" indent="-2562555">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Dijkstra</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Shortest</a:t>
            </a:r>
            <a:r>
              <a:rPr b="1" spc="-17"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Path</a:t>
            </a:r>
            <a:r>
              <a:rPr b="1" spc="-17"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First</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(SPF) </a:t>
            </a:r>
            <a:r>
              <a:rPr b="1" spc="-976"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Algorithm</a:t>
            </a:r>
          </a:p>
        </p:txBody>
      </p:sp>
      <p:sp>
        <p:nvSpPr>
          <p:cNvPr id="3" name="object 3"/>
          <p:cNvSpPr txBox="1"/>
          <p:nvPr/>
        </p:nvSpPr>
        <p:spPr>
          <a:xfrm>
            <a:off x="0" y="1703249"/>
            <a:ext cx="9999803" cy="5066094"/>
          </a:xfrm>
          <a:prstGeom prst="rect">
            <a:avLst/>
          </a:prstGeom>
        </p:spPr>
        <p:txBody>
          <a:bodyPr vert="horz" wrap="square" lIns="0" tIns="13299" rIns="0" bIns="0" rtlCol="0">
            <a:spAutoFit/>
          </a:bodyPr>
          <a:lstStyle/>
          <a:p>
            <a:pPr marL="470499" marR="76996" indent="-457200" algn="just">
              <a:spcBef>
                <a:spcPts val="105"/>
              </a:spcBef>
              <a:buClr>
                <a:srgbClr val="C00000"/>
              </a:buClr>
              <a:buSzPct val="83928"/>
              <a:buFont typeface="Wingdings" panose="05000000000000000000" pitchFamily="2" charset="2"/>
              <a:buChar char="Ø"/>
              <a:tabLst>
                <a:tab pos="317082" algn="l"/>
              </a:tabLst>
            </a:pPr>
            <a:r>
              <a:rPr sz="3200" spc="-6" dirty="0">
                <a:latin typeface="Times New Roman"/>
                <a:cs typeface="Times New Roman"/>
              </a:rPr>
              <a:t>Link-state </a:t>
            </a:r>
            <a:r>
              <a:rPr sz="3200" dirty="0">
                <a:latin typeface="Times New Roman"/>
                <a:cs typeface="Times New Roman"/>
              </a:rPr>
              <a:t>protocols </a:t>
            </a:r>
            <a:r>
              <a:rPr sz="3200" spc="-6" dirty="0">
                <a:latin typeface="Times New Roman"/>
                <a:cs typeface="Times New Roman"/>
              </a:rPr>
              <a:t>use </a:t>
            </a:r>
            <a:r>
              <a:rPr sz="3200" b="1" spc="-6" dirty="0">
                <a:solidFill>
                  <a:srgbClr val="FF0000"/>
                </a:solidFill>
                <a:latin typeface="Times New Roman"/>
                <a:cs typeface="Times New Roman"/>
              </a:rPr>
              <a:t>Dijkstra </a:t>
            </a:r>
            <a:r>
              <a:rPr sz="3200" b="1" dirty="0">
                <a:solidFill>
                  <a:srgbClr val="FF0000"/>
                </a:solidFill>
                <a:latin typeface="Times New Roman"/>
                <a:cs typeface="Times New Roman"/>
              </a:rPr>
              <a:t>Shortest </a:t>
            </a:r>
            <a:r>
              <a:rPr sz="3200" b="1" spc="-6" dirty="0">
                <a:solidFill>
                  <a:srgbClr val="FF0000"/>
                </a:solidFill>
                <a:latin typeface="Times New Roman"/>
                <a:cs typeface="Times New Roman"/>
              </a:rPr>
              <a:t>Path First </a:t>
            </a:r>
            <a:r>
              <a:rPr sz="3200" b="1" spc="-755" dirty="0">
                <a:solidFill>
                  <a:srgbClr val="FF0000"/>
                </a:solidFill>
                <a:latin typeface="Times New Roman"/>
                <a:cs typeface="Times New Roman"/>
              </a:rPr>
              <a:t> </a:t>
            </a:r>
            <a:r>
              <a:rPr sz="3200" b="1" spc="-6" dirty="0">
                <a:solidFill>
                  <a:srgbClr val="FF0000"/>
                </a:solidFill>
                <a:latin typeface="Times New Roman"/>
                <a:cs typeface="Times New Roman"/>
              </a:rPr>
              <a:t>(SPF) </a:t>
            </a:r>
            <a:r>
              <a:rPr sz="3200" b="1" dirty="0">
                <a:solidFill>
                  <a:srgbClr val="FF0000"/>
                </a:solidFill>
                <a:latin typeface="Times New Roman"/>
                <a:cs typeface="Times New Roman"/>
              </a:rPr>
              <a:t>algorithm</a:t>
            </a:r>
            <a:r>
              <a:rPr sz="3200" b="1" i="1" dirty="0">
                <a:latin typeface="Times New Roman"/>
                <a:cs typeface="Times New Roman"/>
              </a:rPr>
              <a:t> </a:t>
            </a:r>
            <a:r>
              <a:rPr sz="3200" spc="-6" dirty="0">
                <a:latin typeface="Times New Roman"/>
                <a:cs typeface="Times New Roman"/>
              </a:rPr>
              <a:t>to calculate </a:t>
            </a:r>
            <a:r>
              <a:rPr sz="3200" spc="-11" dirty="0">
                <a:latin typeface="Times New Roman"/>
                <a:cs typeface="Times New Roman"/>
              </a:rPr>
              <a:t>and add </a:t>
            </a:r>
            <a:r>
              <a:rPr sz="3200" dirty="0">
                <a:latin typeface="Times New Roman"/>
                <a:cs typeface="Times New Roman"/>
              </a:rPr>
              <a:t>routes </a:t>
            </a:r>
            <a:r>
              <a:rPr sz="3200" spc="-6" dirty="0">
                <a:latin typeface="Times New Roman"/>
                <a:cs typeface="Times New Roman"/>
              </a:rPr>
              <a:t>to </a:t>
            </a:r>
            <a:r>
              <a:rPr sz="3200" dirty="0">
                <a:latin typeface="Times New Roman"/>
                <a:cs typeface="Times New Roman"/>
              </a:rPr>
              <a:t>the </a:t>
            </a:r>
            <a:r>
              <a:rPr sz="3200" spc="-6" dirty="0">
                <a:latin typeface="Times New Roman"/>
                <a:cs typeface="Times New Roman"/>
              </a:rPr>
              <a:t>IP </a:t>
            </a:r>
            <a:r>
              <a:rPr sz="3200" spc="-755" dirty="0">
                <a:latin typeface="Times New Roman"/>
                <a:cs typeface="Times New Roman"/>
              </a:rPr>
              <a:t> </a:t>
            </a:r>
            <a:r>
              <a:rPr sz="3200" dirty="0">
                <a:latin typeface="Times New Roman"/>
                <a:cs typeface="Times New Roman"/>
              </a:rPr>
              <a:t>routing</a:t>
            </a:r>
            <a:r>
              <a:rPr sz="3200" spc="-44" dirty="0">
                <a:latin typeface="Times New Roman"/>
                <a:cs typeface="Times New Roman"/>
              </a:rPr>
              <a:t> </a:t>
            </a:r>
            <a:r>
              <a:rPr sz="3200" spc="-6" dirty="0">
                <a:latin typeface="Times New Roman"/>
                <a:cs typeface="Times New Roman"/>
              </a:rPr>
              <a:t>table.</a:t>
            </a:r>
            <a:endParaRPr sz="3200" dirty="0">
              <a:latin typeface="Times New Roman"/>
              <a:cs typeface="Times New Roman"/>
            </a:endParaRPr>
          </a:p>
          <a:p>
            <a:pPr marL="823979" marR="5600" lvl="1" indent="-457200">
              <a:spcBef>
                <a:spcPts val="451"/>
              </a:spcBef>
              <a:buClr>
                <a:srgbClr val="9B2C1F"/>
              </a:buClr>
              <a:buSzPct val="80357"/>
              <a:buFont typeface="Wingdings" panose="05000000000000000000" pitchFamily="2" charset="2"/>
              <a:buChar char="ü"/>
              <a:tabLst>
                <a:tab pos="629964" algn="l"/>
              </a:tabLst>
            </a:pPr>
            <a:r>
              <a:rPr sz="3200" spc="-6" dirty="0">
                <a:latin typeface="Times New Roman"/>
                <a:cs typeface="Times New Roman"/>
              </a:rPr>
              <a:t>The</a:t>
            </a:r>
            <a:r>
              <a:rPr sz="3200" spc="-22" dirty="0">
                <a:latin typeface="Times New Roman"/>
                <a:cs typeface="Times New Roman"/>
              </a:rPr>
              <a:t> </a:t>
            </a:r>
            <a:r>
              <a:rPr sz="3200" spc="-6" dirty="0">
                <a:latin typeface="Times New Roman"/>
                <a:cs typeface="Times New Roman"/>
              </a:rPr>
              <a:t>SPF</a:t>
            </a:r>
            <a:r>
              <a:rPr sz="3200" spc="6" dirty="0">
                <a:latin typeface="Times New Roman"/>
                <a:cs typeface="Times New Roman"/>
              </a:rPr>
              <a:t> </a:t>
            </a:r>
            <a:r>
              <a:rPr sz="3200" dirty="0">
                <a:latin typeface="Times New Roman"/>
                <a:cs typeface="Times New Roman"/>
              </a:rPr>
              <a:t>algorithm</a:t>
            </a:r>
            <a:r>
              <a:rPr sz="3200" spc="-39" dirty="0">
                <a:latin typeface="Times New Roman"/>
                <a:cs typeface="Times New Roman"/>
              </a:rPr>
              <a:t> </a:t>
            </a:r>
            <a:r>
              <a:rPr sz="3200" spc="-6" dirty="0">
                <a:latin typeface="Times New Roman"/>
                <a:cs typeface="Times New Roman"/>
              </a:rPr>
              <a:t>calculates</a:t>
            </a:r>
            <a:r>
              <a:rPr sz="3200" spc="-22" dirty="0">
                <a:latin typeface="Times New Roman"/>
                <a:cs typeface="Times New Roman"/>
              </a:rPr>
              <a:t> </a:t>
            </a:r>
            <a:r>
              <a:rPr sz="3200" spc="-6" dirty="0">
                <a:latin typeface="Times New Roman"/>
                <a:cs typeface="Times New Roman"/>
              </a:rPr>
              <a:t>all the</a:t>
            </a:r>
            <a:r>
              <a:rPr sz="3200" spc="-11" dirty="0">
                <a:latin typeface="Times New Roman"/>
                <a:cs typeface="Times New Roman"/>
              </a:rPr>
              <a:t> </a:t>
            </a:r>
            <a:r>
              <a:rPr sz="3200" dirty="0">
                <a:latin typeface="Times New Roman"/>
                <a:cs typeface="Times New Roman"/>
              </a:rPr>
              <a:t>possible</a:t>
            </a:r>
            <a:r>
              <a:rPr sz="3200" spc="-39" dirty="0">
                <a:latin typeface="Times New Roman"/>
                <a:cs typeface="Times New Roman"/>
              </a:rPr>
              <a:t> </a:t>
            </a:r>
            <a:r>
              <a:rPr sz="3200" dirty="0">
                <a:latin typeface="Times New Roman"/>
                <a:cs typeface="Times New Roman"/>
              </a:rPr>
              <a:t>routes </a:t>
            </a:r>
            <a:r>
              <a:rPr sz="3200" spc="-755" dirty="0">
                <a:latin typeface="Times New Roman"/>
                <a:cs typeface="Times New Roman"/>
              </a:rPr>
              <a:t> </a:t>
            </a:r>
            <a:r>
              <a:rPr sz="3200" spc="-6" dirty="0">
                <a:latin typeface="Times New Roman"/>
                <a:cs typeface="Times New Roman"/>
              </a:rPr>
              <a:t>to</a:t>
            </a:r>
            <a:r>
              <a:rPr sz="3200" spc="-11" dirty="0">
                <a:latin typeface="Times New Roman"/>
                <a:cs typeface="Times New Roman"/>
              </a:rPr>
              <a:t> each</a:t>
            </a:r>
            <a:r>
              <a:rPr sz="3200" dirty="0">
                <a:latin typeface="Times New Roman"/>
                <a:cs typeface="Times New Roman"/>
              </a:rPr>
              <a:t> </a:t>
            </a:r>
            <a:r>
              <a:rPr sz="3200" spc="-6" dirty="0">
                <a:latin typeface="Times New Roman"/>
                <a:cs typeface="Times New Roman"/>
              </a:rPr>
              <a:t>destination</a:t>
            </a:r>
            <a:r>
              <a:rPr sz="3200" spc="-33" dirty="0">
                <a:latin typeface="Times New Roman"/>
                <a:cs typeface="Times New Roman"/>
              </a:rPr>
              <a:t> </a:t>
            </a:r>
            <a:r>
              <a:rPr sz="3200" spc="-6" dirty="0">
                <a:latin typeface="Times New Roman"/>
                <a:cs typeface="Times New Roman"/>
              </a:rPr>
              <a:t>network, </a:t>
            </a:r>
            <a:r>
              <a:rPr sz="3200" spc="-11" dirty="0">
                <a:latin typeface="Times New Roman"/>
                <a:cs typeface="Times New Roman"/>
              </a:rPr>
              <a:t>and</a:t>
            </a:r>
            <a:r>
              <a:rPr sz="3200" spc="11"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cumulative </a:t>
            </a:r>
            <a:r>
              <a:rPr sz="3200" dirty="0">
                <a:latin typeface="Times New Roman"/>
                <a:cs typeface="Times New Roman"/>
              </a:rPr>
              <a:t> </a:t>
            </a:r>
            <a:r>
              <a:rPr sz="3200" spc="-6" dirty="0">
                <a:latin typeface="Times New Roman"/>
                <a:cs typeface="Times New Roman"/>
              </a:rPr>
              <a:t>metric</a:t>
            </a:r>
            <a:r>
              <a:rPr sz="3200" spc="-11" dirty="0">
                <a:latin typeface="Times New Roman"/>
                <a:cs typeface="Times New Roman"/>
              </a:rPr>
              <a:t> </a:t>
            </a:r>
            <a:r>
              <a:rPr sz="3200" spc="-6" dirty="0">
                <a:latin typeface="Times New Roman"/>
                <a:cs typeface="Times New Roman"/>
              </a:rPr>
              <a:t>for</a:t>
            </a:r>
            <a:r>
              <a:rPr sz="3200" spc="6" dirty="0">
                <a:latin typeface="Times New Roman"/>
                <a:cs typeface="Times New Roman"/>
              </a:rPr>
              <a:t> </a:t>
            </a:r>
            <a:r>
              <a:rPr sz="3200" spc="-6" dirty="0">
                <a:latin typeface="Times New Roman"/>
                <a:cs typeface="Times New Roman"/>
              </a:rPr>
              <a:t>the entire path</a:t>
            </a:r>
            <a:endParaRPr lang="en-US" sz="3200" spc="-6" dirty="0">
              <a:latin typeface="Times New Roman"/>
              <a:cs typeface="Times New Roman"/>
            </a:endParaRPr>
          </a:p>
          <a:p>
            <a:pPr marL="823979" marR="5600" lvl="1" indent="-457200">
              <a:spcBef>
                <a:spcPts val="451"/>
              </a:spcBef>
              <a:buClr>
                <a:srgbClr val="9B2C1F"/>
              </a:buClr>
              <a:buSzPct val="80357"/>
              <a:buFont typeface="Wingdings" panose="05000000000000000000" pitchFamily="2" charset="2"/>
              <a:buChar char="ü"/>
              <a:tabLst>
                <a:tab pos="629964" algn="l"/>
              </a:tabLst>
            </a:pPr>
            <a:r>
              <a:rPr sz="3200" dirty="0">
                <a:latin typeface="Times New Roman"/>
                <a:cs typeface="Times New Roman"/>
              </a:rPr>
              <a:t>Each </a:t>
            </a:r>
            <a:r>
              <a:rPr sz="3200" spc="-17" dirty="0">
                <a:latin typeface="Times New Roman"/>
                <a:cs typeface="Times New Roman"/>
              </a:rPr>
              <a:t>router </a:t>
            </a:r>
            <a:r>
              <a:rPr sz="3200" dirty="0">
                <a:latin typeface="Times New Roman"/>
                <a:cs typeface="Times New Roman"/>
              </a:rPr>
              <a:t>views itself as the starting point, and each </a:t>
            </a:r>
            <a:r>
              <a:rPr sz="3200" spc="6" dirty="0">
                <a:latin typeface="Times New Roman"/>
                <a:cs typeface="Times New Roman"/>
              </a:rPr>
              <a:t> </a:t>
            </a:r>
            <a:r>
              <a:rPr sz="3200" spc="-6" dirty="0">
                <a:latin typeface="Times New Roman"/>
                <a:cs typeface="Times New Roman"/>
              </a:rPr>
              <a:t>subnet</a:t>
            </a:r>
            <a:r>
              <a:rPr sz="3200" spc="-28" dirty="0">
                <a:latin typeface="Times New Roman"/>
                <a:cs typeface="Times New Roman"/>
              </a:rPr>
              <a:t> </a:t>
            </a:r>
            <a:r>
              <a:rPr sz="3200" spc="-6" dirty="0">
                <a:latin typeface="Times New Roman"/>
                <a:cs typeface="Times New Roman"/>
              </a:rPr>
              <a:t>as</a:t>
            </a:r>
            <a:r>
              <a:rPr sz="3200" dirty="0">
                <a:latin typeface="Times New Roman"/>
                <a:cs typeface="Times New Roman"/>
              </a:rPr>
              <a:t> the</a:t>
            </a:r>
            <a:r>
              <a:rPr sz="3200" spc="-17" dirty="0">
                <a:latin typeface="Times New Roman"/>
                <a:cs typeface="Times New Roman"/>
              </a:rPr>
              <a:t> </a:t>
            </a:r>
            <a:r>
              <a:rPr sz="3200" dirty="0">
                <a:latin typeface="Times New Roman"/>
                <a:cs typeface="Times New Roman"/>
              </a:rPr>
              <a:t>destination,</a:t>
            </a:r>
            <a:r>
              <a:rPr sz="3200" spc="-50" dirty="0">
                <a:latin typeface="Times New Roman"/>
                <a:cs typeface="Times New Roman"/>
              </a:rPr>
              <a:t> </a:t>
            </a:r>
            <a:r>
              <a:rPr sz="3200" dirty="0">
                <a:latin typeface="Times New Roman"/>
                <a:cs typeface="Times New Roman"/>
              </a:rPr>
              <a:t>and</a:t>
            </a:r>
            <a:r>
              <a:rPr sz="3200" spc="-6" dirty="0">
                <a:latin typeface="Times New Roman"/>
                <a:cs typeface="Times New Roman"/>
              </a:rPr>
              <a:t> use</a:t>
            </a:r>
            <a:r>
              <a:rPr sz="3200" dirty="0">
                <a:latin typeface="Times New Roman"/>
                <a:cs typeface="Times New Roman"/>
              </a:rPr>
              <a:t> the</a:t>
            </a:r>
            <a:r>
              <a:rPr sz="3200" spc="-11" dirty="0">
                <a:latin typeface="Times New Roman"/>
                <a:cs typeface="Times New Roman"/>
              </a:rPr>
              <a:t> </a:t>
            </a:r>
            <a:r>
              <a:rPr sz="3200" dirty="0">
                <a:latin typeface="Times New Roman"/>
                <a:cs typeface="Times New Roman"/>
              </a:rPr>
              <a:t>SPF</a:t>
            </a:r>
            <a:r>
              <a:rPr sz="3200" spc="-28" dirty="0">
                <a:latin typeface="Times New Roman"/>
                <a:cs typeface="Times New Roman"/>
              </a:rPr>
              <a:t> </a:t>
            </a:r>
            <a:r>
              <a:rPr sz="3200" dirty="0">
                <a:latin typeface="Times New Roman"/>
                <a:cs typeface="Times New Roman"/>
              </a:rPr>
              <a:t>algorithm</a:t>
            </a:r>
            <a:r>
              <a:rPr sz="3200" spc="-22" dirty="0">
                <a:latin typeface="Times New Roman"/>
                <a:cs typeface="Times New Roman"/>
              </a:rPr>
              <a:t> </a:t>
            </a:r>
            <a:r>
              <a:rPr sz="3200" dirty="0">
                <a:latin typeface="Times New Roman"/>
                <a:cs typeface="Times New Roman"/>
              </a:rPr>
              <a:t>to</a:t>
            </a:r>
            <a:r>
              <a:rPr sz="3200" spc="-17" dirty="0">
                <a:latin typeface="Times New Roman"/>
                <a:cs typeface="Times New Roman"/>
              </a:rPr>
              <a:t> </a:t>
            </a:r>
            <a:r>
              <a:rPr sz="3200" dirty="0">
                <a:latin typeface="Times New Roman"/>
                <a:cs typeface="Times New Roman"/>
              </a:rPr>
              <a:t>look </a:t>
            </a:r>
            <a:r>
              <a:rPr sz="3200" spc="-645" dirty="0">
                <a:latin typeface="Times New Roman"/>
                <a:cs typeface="Times New Roman"/>
              </a:rPr>
              <a:t> </a:t>
            </a:r>
            <a:r>
              <a:rPr sz="3200" dirty="0">
                <a:latin typeface="Times New Roman"/>
                <a:cs typeface="Times New Roman"/>
              </a:rPr>
              <a:t>at the </a:t>
            </a:r>
            <a:r>
              <a:rPr sz="3200" spc="-6" dirty="0">
                <a:latin typeface="Times New Roman"/>
                <a:cs typeface="Times New Roman"/>
              </a:rPr>
              <a:t>LSDB </a:t>
            </a:r>
            <a:r>
              <a:rPr sz="3200" dirty="0">
                <a:latin typeface="Times New Roman"/>
                <a:cs typeface="Times New Roman"/>
              </a:rPr>
              <a:t>to </a:t>
            </a:r>
            <a:r>
              <a:rPr sz="3200" spc="-17" dirty="0">
                <a:latin typeface="Times New Roman"/>
                <a:cs typeface="Times New Roman"/>
              </a:rPr>
              <a:t>create </a:t>
            </a:r>
            <a:r>
              <a:rPr sz="3200" dirty="0">
                <a:latin typeface="Times New Roman"/>
                <a:cs typeface="Times New Roman"/>
              </a:rPr>
              <a:t>a </a:t>
            </a:r>
            <a:r>
              <a:rPr sz="3200" spc="-17" dirty="0">
                <a:latin typeface="Times New Roman"/>
                <a:cs typeface="Times New Roman"/>
              </a:rPr>
              <a:t>roadmap </a:t>
            </a:r>
            <a:r>
              <a:rPr sz="3200" spc="-6" dirty="0">
                <a:latin typeface="Times New Roman"/>
                <a:cs typeface="Times New Roman"/>
              </a:rPr>
              <a:t>and </a:t>
            </a:r>
            <a:r>
              <a:rPr sz="3200" dirty="0">
                <a:latin typeface="Times New Roman"/>
                <a:cs typeface="Times New Roman"/>
              </a:rPr>
              <a:t>pick the best </a:t>
            </a:r>
            <a:r>
              <a:rPr sz="3200" spc="-22" dirty="0">
                <a:latin typeface="Times New Roman"/>
                <a:cs typeface="Times New Roman"/>
              </a:rPr>
              <a:t>route </a:t>
            </a:r>
            <a:r>
              <a:rPr sz="3200" dirty="0">
                <a:latin typeface="Times New Roman"/>
                <a:cs typeface="Times New Roman"/>
              </a:rPr>
              <a:t>to </a:t>
            </a:r>
            <a:r>
              <a:rPr sz="3200" spc="6" dirty="0">
                <a:latin typeface="Times New Roman"/>
                <a:cs typeface="Times New Roman"/>
              </a:rPr>
              <a:t> </a:t>
            </a:r>
            <a:r>
              <a:rPr sz="3200" dirty="0">
                <a:latin typeface="Times New Roman"/>
                <a:cs typeface="Times New Roman"/>
              </a:rPr>
              <a:t>each</a:t>
            </a:r>
            <a:r>
              <a:rPr sz="3200" spc="-33" dirty="0">
                <a:latin typeface="Times New Roman"/>
                <a:cs typeface="Times New Roman"/>
              </a:rPr>
              <a:t> </a:t>
            </a:r>
            <a:r>
              <a:rPr sz="3200" dirty="0">
                <a:latin typeface="Times New Roman"/>
                <a:cs typeface="Times New Roman"/>
              </a:rPr>
              <a:t>subnet</a:t>
            </a:r>
            <a:r>
              <a:rPr sz="3200" i="1" dirty="0">
                <a:latin typeface="Times New Roman"/>
                <a:cs typeface="Times New Roman"/>
              </a:rPr>
              <a:t>.</a:t>
            </a:r>
            <a:endParaRPr sz="3200" dirty="0">
              <a:latin typeface="Times New Roman"/>
              <a:cs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912" y="406361"/>
            <a:ext cx="9745956" cy="691244"/>
          </a:xfrm>
          <a:prstGeom prst="rect">
            <a:avLst/>
          </a:prstGeom>
        </p:spPr>
        <p:txBody>
          <a:bodyPr vert="horz" wrap="square" lIns="0" tIns="13999" rIns="0" bIns="0" rtlCol="0" anchor="ctr">
            <a:spAutoFit/>
          </a:bodyPr>
          <a:lstStyle/>
          <a:p>
            <a:pPr marL="13999">
              <a:lnSpc>
                <a:spcPct val="100000"/>
              </a:lnSpc>
              <a:spcBef>
                <a:spcPts val="110"/>
              </a:spcBef>
            </a:pPr>
            <a:r>
              <a:rPr b="1" spc="-259" dirty="0">
                <a:solidFill>
                  <a:schemeClr val="bg1"/>
                </a:solidFill>
                <a:latin typeface="Times New Roman" panose="02020603050405020304" pitchFamily="18" charset="0"/>
                <a:cs typeface="Times New Roman" panose="02020603050405020304" pitchFamily="18" charset="0"/>
              </a:rPr>
              <a:t>SPF</a:t>
            </a:r>
            <a:r>
              <a:rPr b="1" spc="-22" dirty="0">
                <a:solidFill>
                  <a:schemeClr val="bg1"/>
                </a:solidFill>
                <a:latin typeface="Times New Roman" panose="02020603050405020304" pitchFamily="18" charset="0"/>
                <a:cs typeface="Times New Roman" panose="02020603050405020304" pitchFamily="18" charset="0"/>
              </a:rPr>
              <a:t> </a:t>
            </a:r>
            <a:r>
              <a:rPr b="1" spc="-336" dirty="0">
                <a:solidFill>
                  <a:schemeClr val="bg1"/>
                </a:solidFill>
                <a:latin typeface="Times New Roman" panose="02020603050405020304" pitchFamily="18" charset="0"/>
                <a:cs typeface="Times New Roman" panose="02020603050405020304" pitchFamily="18" charset="0"/>
              </a:rPr>
              <a:t>Tree</a:t>
            </a:r>
            <a:r>
              <a:rPr b="1" spc="-6" dirty="0">
                <a:solidFill>
                  <a:schemeClr val="bg1"/>
                </a:solidFill>
                <a:latin typeface="Times New Roman" panose="02020603050405020304" pitchFamily="18" charset="0"/>
                <a:cs typeface="Times New Roman" panose="02020603050405020304" pitchFamily="18" charset="0"/>
              </a:rPr>
              <a:t> </a:t>
            </a:r>
            <a:r>
              <a:rPr b="1" spc="-248" dirty="0">
                <a:solidFill>
                  <a:schemeClr val="bg1"/>
                </a:solidFill>
                <a:latin typeface="Times New Roman" panose="02020603050405020304" pitchFamily="18" charset="0"/>
                <a:cs typeface="Times New Roman" panose="02020603050405020304" pitchFamily="18" charset="0"/>
              </a:rPr>
              <a:t>to</a:t>
            </a:r>
            <a:r>
              <a:rPr b="1" spc="6" dirty="0">
                <a:solidFill>
                  <a:schemeClr val="bg1"/>
                </a:solidFill>
                <a:latin typeface="Times New Roman" panose="02020603050405020304" pitchFamily="18" charset="0"/>
                <a:cs typeface="Times New Roman" panose="02020603050405020304" pitchFamily="18" charset="0"/>
              </a:rPr>
              <a:t> </a:t>
            </a:r>
            <a:r>
              <a:rPr b="1" spc="-298" dirty="0">
                <a:solidFill>
                  <a:schemeClr val="bg1"/>
                </a:solidFill>
                <a:latin typeface="Times New Roman" panose="02020603050405020304" pitchFamily="18" charset="0"/>
                <a:cs typeface="Times New Roman" panose="02020603050405020304" pitchFamily="18" charset="0"/>
              </a:rPr>
              <a:t>Find</a:t>
            </a:r>
            <a:r>
              <a:rPr b="1" spc="-17" dirty="0">
                <a:solidFill>
                  <a:schemeClr val="bg1"/>
                </a:solidFill>
                <a:latin typeface="Times New Roman" panose="02020603050405020304" pitchFamily="18" charset="0"/>
                <a:cs typeface="Times New Roman" panose="02020603050405020304" pitchFamily="18" charset="0"/>
              </a:rPr>
              <a:t> </a:t>
            </a:r>
            <a:r>
              <a:rPr b="1" spc="-116" dirty="0">
                <a:solidFill>
                  <a:schemeClr val="bg1"/>
                </a:solidFill>
                <a:latin typeface="Times New Roman" panose="02020603050405020304" pitchFamily="18" charset="0"/>
                <a:cs typeface="Times New Roman" panose="02020603050405020304" pitchFamily="18" charset="0"/>
              </a:rPr>
              <a:t>R1’s</a:t>
            </a:r>
            <a:r>
              <a:rPr b="1" spc="11" dirty="0">
                <a:solidFill>
                  <a:schemeClr val="bg1"/>
                </a:solidFill>
                <a:latin typeface="Times New Roman" panose="02020603050405020304" pitchFamily="18" charset="0"/>
                <a:cs typeface="Times New Roman" panose="02020603050405020304" pitchFamily="18" charset="0"/>
              </a:rPr>
              <a:t> </a:t>
            </a:r>
            <a:r>
              <a:rPr b="1" spc="-331" dirty="0">
                <a:solidFill>
                  <a:schemeClr val="bg1"/>
                </a:solidFill>
                <a:latin typeface="Times New Roman" panose="02020603050405020304" pitchFamily="18" charset="0"/>
                <a:cs typeface="Times New Roman" panose="02020603050405020304" pitchFamily="18" charset="0"/>
              </a:rPr>
              <a:t>Route</a:t>
            </a:r>
            <a:r>
              <a:rPr b="1" spc="-17" dirty="0">
                <a:solidFill>
                  <a:schemeClr val="bg1"/>
                </a:solidFill>
                <a:latin typeface="Times New Roman" panose="02020603050405020304" pitchFamily="18" charset="0"/>
                <a:cs typeface="Times New Roman" panose="02020603050405020304" pitchFamily="18" charset="0"/>
              </a:rPr>
              <a:t> </a:t>
            </a:r>
            <a:r>
              <a:rPr b="1" spc="-248" dirty="0">
                <a:solidFill>
                  <a:schemeClr val="bg1"/>
                </a:solidFill>
                <a:latin typeface="Times New Roman" panose="02020603050405020304" pitchFamily="18" charset="0"/>
                <a:cs typeface="Times New Roman" panose="02020603050405020304" pitchFamily="18" charset="0"/>
              </a:rPr>
              <a:t>to</a:t>
            </a:r>
            <a:r>
              <a:rPr b="1" spc="-11" dirty="0">
                <a:solidFill>
                  <a:schemeClr val="bg1"/>
                </a:solidFill>
                <a:latin typeface="Times New Roman" panose="02020603050405020304" pitchFamily="18" charset="0"/>
                <a:cs typeface="Times New Roman" panose="02020603050405020304" pitchFamily="18" charset="0"/>
              </a:rPr>
              <a:t> </a:t>
            </a:r>
            <a:r>
              <a:rPr b="1" spc="-187" dirty="0">
                <a:solidFill>
                  <a:schemeClr val="bg1"/>
                </a:solidFill>
                <a:latin typeface="Times New Roman" panose="02020603050405020304" pitchFamily="18" charset="0"/>
                <a:cs typeface="Times New Roman" panose="02020603050405020304" pitchFamily="18" charset="0"/>
              </a:rPr>
              <a:t>172.16.3.0/24</a:t>
            </a:r>
            <a:endParaRPr b="1" dirty="0">
              <a:solidFill>
                <a:schemeClr val="bg1"/>
              </a:solidFill>
              <a:latin typeface="Times New Roman" panose="02020603050405020304" pitchFamily="18" charset="0"/>
              <a:cs typeface="Times New Roman" panose="02020603050405020304" pitchFamily="18" charset="0"/>
            </a:endParaRPr>
          </a:p>
        </p:txBody>
      </p:sp>
      <p:grpSp>
        <p:nvGrpSpPr>
          <p:cNvPr id="4" name="object 4"/>
          <p:cNvGrpSpPr/>
          <p:nvPr/>
        </p:nvGrpSpPr>
        <p:grpSpPr>
          <a:xfrm>
            <a:off x="178912" y="1699486"/>
            <a:ext cx="9575588" cy="4960687"/>
            <a:chOff x="228600" y="1136566"/>
            <a:chExt cx="8686800" cy="4500245"/>
          </a:xfrm>
        </p:grpSpPr>
        <p:pic>
          <p:nvPicPr>
            <p:cNvPr id="5" name="object 5"/>
            <p:cNvPicPr/>
            <p:nvPr/>
          </p:nvPicPr>
          <p:blipFill>
            <a:blip r:embed="rId2" cstate="print"/>
            <a:stretch>
              <a:fillRect/>
            </a:stretch>
          </p:blipFill>
          <p:spPr>
            <a:xfrm>
              <a:off x="228600" y="1136566"/>
              <a:ext cx="3886200" cy="4499945"/>
            </a:xfrm>
            <a:prstGeom prst="rect">
              <a:avLst/>
            </a:prstGeom>
          </p:spPr>
        </p:pic>
        <p:pic>
          <p:nvPicPr>
            <p:cNvPr id="6" name="object 6"/>
            <p:cNvPicPr/>
            <p:nvPr/>
          </p:nvPicPr>
          <p:blipFill>
            <a:blip r:embed="rId3" cstate="print"/>
            <a:stretch>
              <a:fillRect/>
            </a:stretch>
          </p:blipFill>
          <p:spPr>
            <a:xfrm>
              <a:off x="4143603" y="2963196"/>
              <a:ext cx="4771796" cy="1514167"/>
            </a:xfrm>
            <a:prstGeom prst="rect">
              <a:avLst/>
            </a:prstGeom>
          </p:spPr>
        </p:pic>
      </p:grpSp>
      <p:sp>
        <p:nvSpPr>
          <p:cNvPr id="7" name="object 7"/>
          <p:cNvSpPr txBox="1"/>
          <p:nvPr/>
        </p:nvSpPr>
        <p:spPr>
          <a:xfrm>
            <a:off x="3309870" y="5627611"/>
            <a:ext cx="6770755" cy="1525703"/>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0" tIns="44098" rIns="0" bIns="0" rtlCol="0">
            <a:spAutoFit/>
          </a:bodyPr>
          <a:lstStyle/>
          <a:p>
            <a:pPr marL="101494" marR="372379">
              <a:lnSpc>
                <a:spcPct val="74700"/>
              </a:lnSpc>
              <a:spcBef>
                <a:spcPts val="347"/>
              </a:spcBef>
            </a:pPr>
            <a:r>
              <a:rPr sz="3200" spc="-6" dirty="0">
                <a:latin typeface="Times New Roman"/>
                <a:cs typeface="Times New Roman"/>
              </a:rPr>
              <a:t>As </a:t>
            </a:r>
            <a:r>
              <a:rPr sz="3200" dirty="0">
                <a:latin typeface="Times New Roman"/>
                <a:cs typeface="Times New Roman"/>
              </a:rPr>
              <a:t>a result of the </a:t>
            </a:r>
            <a:r>
              <a:rPr sz="3200" spc="-6" dirty="0">
                <a:latin typeface="Times New Roman"/>
                <a:cs typeface="Times New Roman"/>
              </a:rPr>
              <a:t>SPF </a:t>
            </a:r>
            <a:r>
              <a:rPr sz="3200" spc="-17" dirty="0">
                <a:latin typeface="Times New Roman"/>
                <a:cs typeface="Times New Roman"/>
              </a:rPr>
              <a:t>algorithm‘s </a:t>
            </a:r>
            <a:r>
              <a:rPr sz="3200" spc="-6" dirty="0">
                <a:latin typeface="Times New Roman"/>
                <a:cs typeface="Times New Roman"/>
              </a:rPr>
              <a:t>analysis </a:t>
            </a:r>
            <a:r>
              <a:rPr sz="3200" spc="-617" dirty="0">
                <a:latin typeface="Times New Roman"/>
                <a:cs typeface="Times New Roman"/>
              </a:rPr>
              <a:t> </a:t>
            </a:r>
            <a:r>
              <a:rPr sz="3200" dirty="0">
                <a:latin typeface="Times New Roman"/>
                <a:cs typeface="Times New Roman"/>
              </a:rPr>
              <a:t>of the LSDB, R1 adds a route to subnet </a:t>
            </a:r>
            <a:r>
              <a:rPr sz="3200" spc="6" dirty="0">
                <a:latin typeface="Times New Roman"/>
                <a:cs typeface="Times New Roman"/>
              </a:rPr>
              <a:t> </a:t>
            </a:r>
            <a:r>
              <a:rPr sz="3200" spc="-6" dirty="0">
                <a:latin typeface="Times New Roman"/>
                <a:cs typeface="Times New Roman"/>
              </a:rPr>
              <a:t>172.16.3.0/24 </a:t>
            </a:r>
            <a:r>
              <a:rPr sz="3200" dirty="0">
                <a:latin typeface="Times New Roman"/>
                <a:cs typeface="Times New Roman"/>
              </a:rPr>
              <a:t>to </a:t>
            </a:r>
            <a:r>
              <a:rPr sz="3200" spc="-6" dirty="0">
                <a:latin typeface="Times New Roman"/>
                <a:cs typeface="Times New Roman"/>
              </a:rPr>
              <a:t>its routing table, with the </a:t>
            </a:r>
            <a:r>
              <a:rPr sz="3200" spc="-617" dirty="0">
                <a:latin typeface="Times New Roman"/>
                <a:cs typeface="Times New Roman"/>
              </a:rPr>
              <a:t> </a:t>
            </a:r>
            <a:r>
              <a:rPr sz="3200" dirty="0">
                <a:latin typeface="Times New Roman"/>
                <a:cs typeface="Times New Roman"/>
              </a:rPr>
              <a:t>next-hop</a:t>
            </a:r>
            <a:r>
              <a:rPr sz="3200" spc="-33" dirty="0">
                <a:latin typeface="Times New Roman"/>
                <a:cs typeface="Times New Roman"/>
              </a:rPr>
              <a:t> </a:t>
            </a:r>
            <a:r>
              <a:rPr sz="3200" dirty="0">
                <a:latin typeface="Times New Roman"/>
                <a:cs typeface="Times New Roman"/>
              </a:rPr>
              <a:t>router</a:t>
            </a:r>
            <a:r>
              <a:rPr sz="3200" spc="-22" dirty="0">
                <a:latin typeface="Times New Roman"/>
                <a:cs typeface="Times New Roman"/>
              </a:rPr>
              <a:t> </a:t>
            </a:r>
            <a:r>
              <a:rPr sz="3200" dirty="0">
                <a:latin typeface="Times New Roman"/>
                <a:cs typeface="Times New Roman"/>
              </a:rPr>
              <a:t>of</a:t>
            </a:r>
            <a:r>
              <a:rPr sz="3200" spc="-6" dirty="0">
                <a:latin typeface="Times New Roman"/>
                <a:cs typeface="Times New Roman"/>
              </a:rPr>
              <a:t> </a:t>
            </a:r>
            <a:r>
              <a:rPr sz="3200" dirty="0">
                <a:latin typeface="Times New Roman"/>
                <a:cs typeface="Times New Roman"/>
              </a:rPr>
              <a:t>R5.</a:t>
            </a:r>
          </a:p>
        </p:txBody>
      </p:sp>
      <p:sp>
        <p:nvSpPr>
          <p:cNvPr id="8" name="object 8"/>
          <p:cNvSpPr txBox="1"/>
          <p:nvPr/>
        </p:nvSpPr>
        <p:spPr>
          <a:xfrm>
            <a:off x="4462727" y="1763881"/>
            <a:ext cx="5438985" cy="1516908"/>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0" tIns="39198" rIns="0" bIns="0" rtlCol="0">
            <a:spAutoFit/>
          </a:bodyPr>
          <a:lstStyle/>
          <a:p>
            <a:pPr marL="101494">
              <a:spcBef>
                <a:spcPts val="309"/>
              </a:spcBef>
            </a:pPr>
            <a:r>
              <a:rPr sz="3200" dirty="0">
                <a:latin typeface="Times New Roman"/>
                <a:cs typeface="Times New Roman"/>
              </a:rPr>
              <a:t>Co</a:t>
            </a:r>
            <a:r>
              <a:rPr sz="3200" spc="-28" dirty="0">
                <a:latin typeface="Times New Roman"/>
                <a:cs typeface="Times New Roman"/>
              </a:rPr>
              <a:t>m</a:t>
            </a:r>
            <a:r>
              <a:rPr sz="3200" dirty="0">
                <a:latin typeface="Times New Roman"/>
                <a:cs typeface="Times New Roman"/>
              </a:rPr>
              <a:t>pa</a:t>
            </a:r>
            <a:r>
              <a:rPr sz="3200" spc="6" dirty="0">
                <a:latin typeface="Times New Roman"/>
                <a:cs typeface="Times New Roman"/>
              </a:rPr>
              <a:t>r</a:t>
            </a:r>
            <a:r>
              <a:rPr sz="3200" dirty="0">
                <a:latin typeface="Times New Roman"/>
                <a:cs typeface="Times New Roman"/>
              </a:rPr>
              <a:t>ing </a:t>
            </a:r>
            <a:r>
              <a:rPr sz="3200" spc="-11" dirty="0">
                <a:latin typeface="Times New Roman"/>
                <a:cs typeface="Times New Roman"/>
              </a:rPr>
              <a:t>R</a:t>
            </a:r>
            <a:r>
              <a:rPr sz="3200" dirty="0">
                <a:latin typeface="Times New Roman"/>
                <a:cs typeface="Times New Roman"/>
              </a:rPr>
              <a:t>1</a:t>
            </a:r>
            <a:r>
              <a:rPr sz="3200" spc="-143" dirty="0">
                <a:latin typeface="Times New Roman"/>
                <a:cs typeface="Times New Roman"/>
              </a:rPr>
              <a:t>‘</a:t>
            </a:r>
            <a:r>
              <a:rPr sz="3200" dirty="0">
                <a:latin typeface="Times New Roman"/>
                <a:cs typeface="Times New Roman"/>
              </a:rPr>
              <a:t>s</a:t>
            </a:r>
            <a:r>
              <a:rPr sz="3200" spc="-55" dirty="0">
                <a:latin typeface="Times New Roman"/>
                <a:cs typeface="Times New Roman"/>
              </a:rPr>
              <a:t> </a:t>
            </a:r>
            <a:r>
              <a:rPr sz="3200" dirty="0">
                <a:latin typeface="Times New Roman"/>
                <a:cs typeface="Times New Roman"/>
              </a:rPr>
              <a:t>Thr</a:t>
            </a:r>
            <a:r>
              <a:rPr sz="3200" spc="6" dirty="0">
                <a:latin typeface="Times New Roman"/>
                <a:cs typeface="Times New Roman"/>
              </a:rPr>
              <a:t>e</a:t>
            </a:r>
            <a:r>
              <a:rPr sz="3200" dirty="0">
                <a:latin typeface="Times New Roman"/>
                <a:cs typeface="Times New Roman"/>
              </a:rPr>
              <a:t>e</a:t>
            </a:r>
            <a:r>
              <a:rPr sz="3200" spc="-160" dirty="0">
                <a:latin typeface="Times New Roman"/>
                <a:cs typeface="Times New Roman"/>
              </a:rPr>
              <a:t> </a:t>
            </a:r>
            <a:r>
              <a:rPr sz="3200" spc="-6" dirty="0">
                <a:latin typeface="Times New Roman"/>
                <a:cs typeface="Times New Roman"/>
              </a:rPr>
              <a:t>Alt</a:t>
            </a:r>
            <a:r>
              <a:rPr sz="3200" dirty="0">
                <a:latin typeface="Times New Roman"/>
                <a:cs typeface="Times New Roman"/>
              </a:rPr>
              <a:t>ern</a:t>
            </a:r>
            <a:r>
              <a:rPr sz="3200" spc="6" dirty="0">
                <a:latin typeface="Times New Roman"/>
                <a:cs typeface="Times New Roman"/>
              </a:rPr>
              <a:t>a</a:t>
            </a:r>
            <a:r>
              <a:rPr sz="3200" dirty="0">
                <a:latin typeface="Times New Roman"/>
                <a:cs typeface="Times New Roman"/>
              </a:rPr>
              <a:t>t</a:t>
            </a:r>
            <a:r>
              <a:rPr sz="3200" spc="6" dirty="0">
                <a:latin typeface="Times New Roman"/>
                <a:cs typeface="Times New Roman"/>
              </a:rPr>
              <a:t>i</a:t>
            </a:r>
            <a:r>
              <a:rPr sz="3200" dirty="0">
                <a:latin typeface="Times New Roman"/>
                <a:cs typeface="Times New Roman"/>
              </a:rPr>
              <a:t>ves</a:t>
            </a:r>
            <a:r>
              <a:rPr lang="en-US" sz="3200" dirty="0">
                <a:latin typeface="Times New Roman"/>
                <a:cs typeface="Times New Roman"/>
              </a:rPr>
              <a:t> </a:t>
            </a:r>
            <a:r>
              <a:rPr sz="3200" dirty="0">
                <a:latin typeface="Times New Roman"/>
                <a:cs typeface="Times New Roman"/>
              </a:rPr>
              <a:t>for	the</a:t>
            </a:r>
            <a:r>
              <a:rPr sz="3200" spc="-39" dirty="0">
                <a:latin typeface="Times New Roman"/>
                <a:cs typeface="Times New Roman"/>
              </a:rPr>
              <a:t> </a:t>
            </a:r>
            <a:r>
              <a:rPr sz="3200" dirty="0">
                <a:latin typeface="Times New Roman"/>
                <a:cs typeface="Times New Roman"/>
              </a:rPr>
              <a:t>Route</a:t>
            </a:r>
            <a:r>
              <a:rPr sz="3200" spc="-33" dirty="0">
                <a:latin typeface="Times New Roman"/>
                <a:cs typeface="Times New Roman"/>
              </a:rPr>
              <a:t> </a:t>
            </a:r>
            <a:r>
              <a:rPr sz="3200" dirty="0">
                <a:latin typeface="Times New Roman"/>
                <a:cs typeface="Times New Roman"/>
              </a:rPr>
              <a:t>to</a:t>
            </a:r>
            <a:r>
              <a:rPr sz="3200" spc="-39" dirty="0">
                <a:latin typeface="Times New Roman"/>
                <a:cs typeface="Times New Roman"/>
              </a:rPr>
              <a:t> </a:t>
            </a:r>
            <a:r>
              <a:rPr sz="3200" dirty="0">
                <a:latin typeface="Times New Roman"/>
                <a:cs typeface="Times New Roman"/>
              </a:rPr>
              <a:t>172.16.3.0/24</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932" y="138532"/>
            <a:ext cx="9594760" cy="1369059"/>
          </a:xfrm>
          <a:prstGeom prst="rect">
            <a:avLst/>
          </a:prstGeom>
        </p:spPr>
        <p:txBody>
          <a:bodyPr vert="horz" wrap="square" lIns="0" tIns="14699" rIns="0" bIns="0" rtlCol="0" anchor="ctr">
            <a:spAutoFit/>
          </a:bodyPr>
          <a:lstStyle/>
          <a:p>
            <a:pPr marL="13999">
              <a:lnSpc>
                <a:spcPct val="100000"/>
              </a:lnSpc>
              <a:spcBef>
                <a:spcPts val="116"/>
              </a:spcBef>
            </a:pPr>
            <a:r>
              <a:rPr b="1" dirty="0">
                <a:solidFill>
                  <a:schemeClr val="bg1"/>
                </a:solidFill>
                <a:latin typeface="Times New Roman" panose="02020603050405020304" pitchFamily="18" charset="0"/>
                <a:cs typeface="Times New Roman" panose="02020603050405020304" pitchFamily="18" charset="0"/>
              </a:rPr>
              <a:t>Reacting</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to</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Changes</a:t>
            </a:r>
            <a:r>
              <a:rPr b="1" spc="-33"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with</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Link-State</a:t>
            </a:r>
            <a:r>
              <a:rPr b="1" spc="-50"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Protocols</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0" y="1533349"/>
            <a:ext cx="10212946" cy="5776310"/>
          </a:xfrm>
          <a:prstGeom prst="rect">
            <a:avLst/>
          </a:prstGeom>
        </p:spPr>
        <p:txBody>
          <a:bodyPr vert="horz" wrap="square" lIns="0" tIns="53198" rIns="0" bIns="0" rtlCol="0">
            <a:spAutoFit/>
          </a:bodyPr>
          <a:lstStyle/>
          <a:p>
            <a:pPr marL="470499" marR="328281" indent="-457200">
              <a:lnSpc>
                <a:spcPct val="90300"/>
              </a:lnSpc>
              <a:spcBef>
                <a:spcPts val="419"/>
              </a:spcBef>
              <a:buClr>
                <a:srgbClr val="C00000"/>
              </a:buClr>
              <a:buSzPct val="85416"/>
              <a:buFont typeface="Wingdings" panose="05000000000000000000" pitchFamily="2" charset="2"/>
              <a:buChar char="Ø"/>
              <a:tabLst>
                <a:tab pos="315682" algn="l"/>
                <a:tab pos="316382" algn="l"/>
                <a:tab pos="7131198" algn="l"/>
              </a:tabLst>
            </a:pPr>
            <a:r>
              <a:rPr sz="3200" dirty="0">
                <a:latin typeface="Times New Roman"/>
                <a:cs typeface="Times New Roman"/>
              </a:rPr>
              <a:t>If</a:t>
            </a:r>
            <a:r>
              <a:rPr sz="3200" spc="-28" dirty="0">
                <a:latin typeface="Times New Roman"/>
                <a:cs typeface="Times New Roman"/>
              </a:rPr>
              <a:t> </a:t>
            </a:r>
            <a:r>
              <a:rPr sz="3200" dirty="0">
                <a:latin typeface="Times New Roman"/>
                <a:cs typeface="Times New Roman"/>
              </a:rPr>
              <a:t>the</a:t>
            </a:r>
            <a:r>
              <a:rPr sz="3200" spc="-17" dirty="0">
                <a:latin typeface="Times New Roman"/>
                <a:cs typeface="Times New Roman"/>
              </a:rPr>
              <a:t> </a:t>
            </a:r>
            <a:r>
              <a:rPr sz="3200" dirty="0">
                <a:latin typeface="Times New Roman"/>
                <a:cs typeface="Times New Roman"/>
              </a:rPr>
              <a:t>link</a:t>
            </a:r>
            <a:r>
              <a:rPr sz="3200" spc="-33" dirty="0">
                <a:latin typeface="Times New Roman"/>
                <a:cs typeface="Times New Roman"/>
              </a:rPr>
              <a:t> </a:t>
            </a:r>
            <a:r>
              <a:rPr sz="3200" dirty="0">
                <a:latin typeface="Times New Roman"/>
                <a:cs typeface="Times New Roman"/>
              </a:rPr>
              <a:t>between</a:t>
            </a:r>
            <a:r>
              <a:rPr sz="3200" spc="-22" dirty="0">
                <a:latin typeface="Times New Roman"/>
                <a:cs typeface="Times New Roman"/>
              </a:rPr>
              <a:t> </a:t>
            </a:r>
            <a:r>
              <a:rPr sz="3200" dirty="0">
                <a:latin typeface="Times New Roman"/>
                <a:cs typeface="Times New Roman"/>
              </a:rPr>
              <a:t>R5</a:t>
            </a:r>
            <a:r>
              <a:rPr sz="3200" spc="-6" dirty="0">
                <a:latin typeface="Times New Roman"/>
                <a:cs typeface="Times New Roman"/>
              </a:rPr>
              <a:t> </a:t>
            </a:r>
            <a:r>
              <a:rPr sz="3200" dirty="0">
                <a:latin typeface="Times New Roman"/>
                <a:cs typeface="Times New Roman"/>
              </a:rPr>
              <a:t>and</a:t>
            </a:r>
            <a:r>
              <a:rPr sz="3200" spc="-6" dirty="0">
                <a:latin typeface="Times New Roman"/>
                <a:cs typeface="Times New Roman"/>
              </a:rPr>
              <a:t> R6 (see</a:t>
            </a:r>
            <a:r>
              <a:rPr sz="3200" spc="-17" dirty="0">
                <a:latin typeface="Times New Roman"/>
                <a:cs typeface="Times New Roman"/>
              </a:rPr>
              <a:t> </a:t>
            </a:r>
            <a:r>
              <a:rPr sz="3200" dirty="0">
                <a:latin typeface="Times New Roman"/>
                <a:cs typeface="Times New Roman"/>
              </a:rPr>
              <a:t>previous</a:t>
            </a:r>
            <a:r>
              <a:rPr sz="3200" spc="-17" dirty="0">
                <a:latin typeface="Times New Roman"/>
                <a:cs typeface="Times New Roman"/>
              </a:rPr>
              <a:t> </a:t>
            </a:r>
            <a:r>
              <a:rPr sz="3200" dirty="0">
                <a:latin typeface="Times New Roman"/>
                <a:cs typeface="Times New Roman"/>
              </a:rPr>
              <a:t>slide)</a:t>
            </a:r>
            <a:r>
              <a:rPr sz="3200" spc="-28" dirty="0">
                <a:latin typeface="Times New Roman"/>
                <a:cs typeface="Times New Roman"/>
              </a:rPr>
              <a:t> </a:t>
            </a:r>
            <a:r>
              <a:rPr sz="3200" dirty="0">
                <a:latin typeface="Times New Roman"/>
                <a:cs typeface="Times New Roman"/>
              </a:rPr>
              <a:t>fails,</a:t>
            </a:r>
            <a:r>
              <a:rPr sz="3200" spc="-33" dirty="0">
                <a:latin typeface="Times New Roman"/>
                <a:cs typeface="Times New Roman"/>
              </a:rPr>
              <a:t> </a:t>
            </a:r>
            <a:r>
              <a:rPr sz="3200" dirty="0">
                <a:latin typeface="Times New Roman"/>
                <a:cs typeface="Times New Roman"/>
              </a:rPr>
              <a:t>R1</a:t>
            </a:r>
            <a:r>
              <a:rPr sz="3200" spc="-6" dirty="0">
                <a:latin typeface="Times New Roman"/>
                <a:cs typeface="Times New Roman"/>
              </a:rPr>
              <a:t> </a:t>
            </a:r>
            <a:r>
              <a:rPr sz="3200" dirty="0">
                <a:latin typeface="Times New Roman"/>
                <a:cs typeface="Times New Roman"/>
              </a:rPr>
              <a:t>uses </a:t>
            </a:r>
            <a:r>
              <a:rPr sz="3200" spc="-645"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following</a:t>
            </a:r>
            <a:r>
              <a:rPr sz="3200" spc="6" dirty="0">
                <a:latin typeface="Times New Roman"/>
                <a:cs typeface="Times New Roman"/>
              </a:rPr>
              <a:t> </a:t>
            </a:r>
            <a:r>
              <a:rPr sz="3200" spc="-6" dirty="0">
                <a:latin typeface="Times New Roman"/>
                <a:cs typeface="Times New Roman"/>
              </a:rPr>
              <a:t>process</a:t>
            </a:r>
            <a:r>
              <a:rPr sz="3200" spc="6" dirty="0">
                <a:latin typeface="Times New Roman"/>
                <a:cs typeface="Times New Roman"/>
              </a:rPr>
              <a:t> </a:t>
            </a:r>
            <a:r>
              <a:rPr sz="3200" spc="-6" dirty="0">
                <a:latin typeface="Times New Roman"/>
                <a:cs typeface="Times New Roman"/>
              </a:rPr>
              <a:t>determine </a:t>
            </a:r>
            <a:r>
              <a:rPr sz="3200" dirty="0">
                <a:latin typeface="Times New Roman"/>
                <a:cs typeface="Times New Roman"/>
              </a:rPr>
              <a:t>a</a:t>
            </a:r>
            <a:r>
              <a:rPr sz="3200" spc="6" dirty="0">
                <a:latin typeface="Times New Roman"/>
                <a:cs typeface="Times New Roman"/>
              </a:rPr>
              <a:t> </a:t>
            </a:r>
            <a:r>
              <a:rPr sz="3200" spc="-11" dirty="0">
                <a:latin typeface="Times New Roman"/>
                <a:cs typeface="Times New Roman"/>
              </a:rPr>
              <a:t>different</a:t>
            </a:r>
            <a:r>
              <a:rPr sz="3200" spc="6" dirty="0">
                <a:latin typeface="Times New Roman"/>
                <a:cs typeface="Times New Roman"/>
              </a:rPr>
              <a:t> </a:t>
            </a:r>
            <a:r>
              <a:rPr sz="3200" dirty="0">
                <a:latin typeface="Times New Roman"/>
                <a:cs typeface="Times New Roman"/>
              </a:rPr>
              <a:t>route:</a:t>
            </a:r>
            <a:r>
              <a:rPr sz="3200" i="1" spc="-6" dirty="0">
                <a:latin typeface="Times New Roman"/>
                <a:cs typeface="Times New Roman"/>
              </a:rPr>
              <a:t>(Similar steps </a:t>
            </a:r>
            <a:r>
              <a:rPr sz="3200" i="1" dirty="0">
                <a:latin typeface="Times New Roman"/>
                <a:cs typeface="Times New Roman"/>
              </a:rPr>
              <a:t> </a:t>
            </a:r>
            <a:r>
              <a:rPr sz="3200" i="1" spc="-6" dirty="0">
                <a:latin typeface="Times New Roman"/>
                <a:cs typeface="Times New Roman"/>
              </a:rPr>
              <a:t>would</a:t>
            </a:r>
            <a:r>
              <a:rPr sz="3200" i="1" spc="-22" dirty="0">
                <a:latin typeface="Times New Roman"/>
                <a:cs typeface="Times New Roman"/>
              </a:rPr>
              <a:t> </a:t>
            </a:r>
            <a:r>
              <a:rPr sz="3200" i="1" spc="-6" dirty="0">
                <a:latin typeface="Times New Roman"/>
                <a:cs typeface="Times New Roman"/>
              </a:rPr>
              <a:t>occur</a:t>
            </a:r>
            <a:r>
              <a:rPr sz="3200" i="1" spc="-17" dirty="0">
                <a:latin typeface="Times New Roman"/>
                <a:cs typeface="Times New Roman"/>
              </a:rPr>
              <a:t> </a:t>
            </a:r>
            <a:r>
              <a:rPr sz="3200" i="1" spc="-6" dirty="0">
                <a:latin typeface="Times New Roman"/>
                <a:cs typeface="Times New Roman"/>
              </a:rPr>
              <a:t>for</a:t>
            </a:r>
            <a:r>
              <a:rPr sz="3200" i="1" dirty="0">
                <a:latin typeface="Times New Roman"/>
                <a:cs typeface="Times New Roman"/>
              </a:rPr>
              <a:t> changes</a:t>
            </a:r>
            <a:r>
              <a:rPr sz="3200" i="1" spc="-33" dirty="0">
                <a:latin typeface="Times New Roman"/>
                <a:cs typeface="Times New Roman"/>
              </a:rPr>
              <a:t> </a:t>
            </a:r>
            <a:r>
              <a:rPr sz="3200" i="1" spc="-6" dirty="0">
                <a:latin typeface="Times New Roman"/>
                <a:cs typeface="Times New Roman"/>
              </a:rPr>
              <a:t>to</a:t>
            </a:r>
            <a:r>
              <a:rPr sz="3200" i="1" spc="6" dirty="0">
                <a:latin typeface="Times New Roman"/>
                <a:cs typeface="Times New Roman"/>
              </a:rPr>
              <a:t> </a:t>
            </a:r>
            <a:r>
              <a:rPr sz="3200" i="1" dirty="0">
                <a:latin typeface="Times New Roman"/>
                <a:cs typeface="Times New Roman"/>
              </a:rPr>
              <a:t>other</a:t>
            </a:r>
            <a:r>
              <a:rPr sz="3200" i="1" spc="-22" dirty="0">
                <a:latin typeface="Times New Roman"/>
                <a:cs typeface="Times New Roman"/>
              </a:rPr>
              <a:t> </a:t>
            </a:r>
            <a:r>
              <a:rPr sz="3200" i="1" spc="-17" dirty="0">
                <a:latin typeface="Times New Roman"/>
                <a:cs typeface="Times New Roman"/>
              </a:rPr>
              <a:t>routers</a:t>
            </a:r>
            <a:r>
              <a:rPr sz="3200" i="1" spc="-22" dirty="0">
                <a:latin typeface="Times New Roman"/>
                <a:cs typeface="Times New Roman"/>
              </a:rPr>
              <a:t> </a:t>
            </a:r>
            <a:r>
              <a:rPr sz="3200" i="1" dirty="0">
                <a:latin typeface="Times New Roman"/>
                <a:cs typeface="Times New Roman"/>
              </a:rPr>
              <a:t>and</a:t>
            </a:r>
            <a:r>
              <a:rPr sz="3200" i="1" spc="-6" dirty="0">
                <a:latin typeface="Times New Roman"/>
                <a:cs typeface="Times New Roman"/>
              </a:rPr>
              <a:t> </a:t>
            </a:r>
            <a:r>
              <a:rPr sz="3200" i="1" spc="-17" dirty="0">
                <a:latin typeface="Times New Roman"/>
                <a:cs typeface="Times New Roman"/>
              </a:rPr>
              <a:t>routes.)</a:t>
            </a:r>
            <a:endParaRPr sz="3200" dirty="0">
              <a:latin typeface="Times New Roman"/>
              <a:cs typeface="Times New Roman"/>
            </a:endParaRPr>
          </a:p>
          <a:p>
            <a:pPr marL="880431" marR="5600" lvl="1" indent="-514350">
              <a:lnSpc>
                <a:spcPts val="2623"/>
              </a:lnSpc>
              <a:spcBef>
                <a:spcPts val="468"/>
              </a:spcBef>
              <a:buClr>
                <a:srgbClr val="C00000"/>
              </a:buClr>
              <a:buSzPct val="84090"/>
              <a:buFont typeface="+mj-lt"/>
              <a:buAutoNum type="arabicPeriod"/>
              <a:tabLst>
                <a:tab pos="870751" algn="l"/>
                <a:tab pos="871451" algn="l"/>
              </a:tabLst>
            </a:pPr>
            <a:r>
              <a:rPr sz="2900" spc="-6" dirty="0">
                <a:latin typeface="Times New Roman"/>
                <a:cs typeface="Times New Roman"/>
              </a:rPr>
              <a:t>R5</a:t>
            </a:r>
            <a:r>
              <a:rPr sz="2900" spc="-17" dirty="0">
                <a:latin typeface="Times New Roman"/>
                <a:cs typeface="Times New Roman"/>
              </a:rPr>
              <a:t> </a:t>
            </a:r>
            <a:r>
              <a:rPr sz="2900" spc="-6" dirty="0">
                <a:latin typeface="Times New Roman"/>
                <a:cs typeface="Times New Roman"/>
              </a:rPr>
              <a:t>and</a:t>
            </a:r>
            <a:r>
              <a:rPr sz="2900" spc="11" dirty="0">
                <a:latin typeface="Times New Roman"/>
                <a:cs typeface="Times New Roman"/>
              </a:rPr>
              <a:t> </a:t>
            </a:r>
            <a:r>
              <a:rPr sz="2900" spc="-6" dirty="0">
                <a:latin typeface="Times New Roman"/>
                <a:cs typeface="Times New Roman"/>
              </a:rPr>
              <a:t>R6</a:t>
            </a:r>
            <a:r>
              <a:rPr sz="2900" dirty="0">
                <a:latin typeface="Times New Roman"/>
                <a:cs typeface="Times New Roman"/>
              </a:rPr>
              <a:t> </a:t>
            </a:r>
            <a:r>
              <a:rPr sz="2900" spc="-6" dirty="0">
                <a:latin typeface="Times New Roman"/>
                <a:cs typeface="Times New Roman"/>
              </a:rPr>
              <a:t>flood</a:t>
            </a:r>
            <a:r>
              <a:rPr sz="2900" spc="11" dirty="0">
                <a:latin typeface="Times New Roman"/>
                <a:cs typeface="Times New Roman"/>
              </a:rPr>
              <a:t> </a:t>
            </a:r>
            <a:r>
              <a:rPr sz="2900" spc="-6" dirty="0">
                <a:latin typeface="Times New Roman"/>
                <a:cs typeface="Times New Roman"/>
              </a:rPr>
              <a:t>LSAs</a:t>
            </a:r>
            <a:r>
              <a:rPr sz="2900" dirty="0">
                <a:latin typeface="Times New Roman"/>
                <a:cs typeface="Times New Roman"/>
              </a:rPr>
              <a:t> </a:t>
            </a:r>
            <a:r>
              <a:rPr sz="2900" spc="-6" dirty="0">
                <a:latin typeface="Times New Roman"/>
                <a:cs typeface="Times New Roman"/>
              </a:rPr>
              <a:t>that</a:t>
            </a:r>
            <a:r>
              <a:rPr sz="2900" dirty="0">
                <a:latin typeface="Times New Roman"/>
                <a:cs typeface="Times New Roman"/>
              </a:rPr>
              <a:t> </a:t>
            </a:r>
            <a:r>
              <a:rPr sz="2900" spc="-11" dirty="0">
                <a:latin typeface="Times New Roman"/>
                <a:cs typeface="Times New Roman"/>
              </a:rPr>
              <a:t>state</a:t>
            </a:r>
            <a:r>
              <a:rPr sz="2900" dirty="0">
                <a:latin typeface="Times New Roman"/>
                <a:cs typeface="Times New Roman"/>
              </a:rPr>
              <a:t> </a:t>
            </a:r>
            <a:r>
              <a:rPr sz="2900" spc="-6" dirty="0">
                <a:latin typeface="Times New Roman"/>
                <a:cs typeface="Times New Roman"/>
              </a:rPr>
              <a:t>that</a:t>
            </a:r>
            <a:r>
              <a:rPr sz="2900" dirty="0">
                <a:latin typeface="Times New Roman"/>
                <a:cs typeface="Times New Roman"/>
              </a:rPr>
              <a:t> </a:t>
            </a:r>
            <a:r>
              <a:rPr sz="2900" spc="-6" dirty="0">
                <a:latin typeface="Times New Roman"/>
                <a:cs typeface="Times New Roman"/>
              </a:rPr>
              <a:t>their</a:t>
            </a:r>
            <a:r>
              <a:rPr sz="2900" dirty="0">
                <a:latin typeface="Times New Roman"/>
                <a:cs typeface="Times New Roman"/>
              </a:rPr>
              <a:t> </a:t>
            </a:r>
            <a:r>
              <a:rPr sz="2900" spc="-6" dirty="0">
                <a:latin typeface="Times New Roman"/>
                <a:cs typeface="Times New Roman"/>
              </a:rPr>
              <a:t>link</a:t>
            </a:r>
            <a:r>
              <a:rPr sz="2900" spc="11" dirty="0">
                <a:latin typeface="Times New Roman"/>
                <a:cs typeface="Times New Roman"/>
              </a:rPr>
              <a:t> </a:t>
            </a:r>
            <a:r>
              <a:rPr sz="2900" spc="-6" dirty="0">
                <a:latin typeface="Times New Roman"/>
                <a:cs typeface="Times New Roman"/>
              </a:rPr>
              <a:t>is now</a:t>
            </a:r>
            <a:r>
              <a:rPr sz="2900" dirty="0">
                <a:latin typeface="Times New Roman"/>
                <a:cs typeface="Times New Roman"/>
              </a:rPr>
              <a:t> </a:t>
            </a:r>
            <a:r>
              <a:rPr sz="2900" spc="-6" dirty="0">
                <a:latin typeface="Times New Roman"/>
                <a:cs typeface="Times New Roman"/>
              </a:rPr>
              <a:t>in</a:t>
            </a:r>
            <a:r>
              <a:rPr sz="2900" dirty="0">
                <a:latin typeface="Times New Roman"/>
                <a:cs typeface="Times New Roman"/>
              </a:rPr>
              <a:t> </a:t>
            </a:r>
            <a:r>
              <a:rPr sz="2900" spc="-6" dirty="0">
                <a:latin typeface="Times New Roman"/>
                <a:cs typeface="Times New Roman"/>
              </a:rPr>
              <a:t>a</a:t>
            </a:r>
            <a:r>
              <a:rPr sz="2900" dirty="0">
                <a:latin typeface="Times New Roman"/>
                <a:cs typeface="Times New Roman"/>
              </a:rPr>
              <a:t> </a:t>
            </a:r>
            <a:r>
              <a:rPr sz="2900" spc="-165" dirty="0">
                <a:latin typeface="Times New Roman"/>
                <a:cs typeface="Times New Roman"/>
              </a:rPr>
              <a:t>down</a:t>
            </a:r>
            <a:r>
              <a:rPr sz="2900" spc="-160" dirty="0">
                <a:latin typeface="Times New Roman"/>
                <a:cs typeface="Times New Roman"/>
              </a:rPr>
              <a:t> </a:t>
            </a:r>
            <a:r>
              <a:rPr sz="2900" spc="-6" dirty="0">
                <a:latin typeface="Times New Roman"/>
                <a:cs typeface="Times New Roman"/>
              </a:rPr>
              <a:t>state. </a:t>
            </a:r>
            <a:r>
              <a:rPr sz="2900" i="1" spc="-6" dirty="0">
                <a:latin typeface="Times New Roman"/>
                <a:cs typeface="Times New Roman"/>
              </a:rPr>
              <a:t>(In</a:t>
            </a:r>
            <a:r>
              <a:rPr sz="2900" i="1" spc="11" dirty="0">
                <a:latin typeface="Times New Roman"/>
                <a:cs typeface="Times New Roman"/>
              </a:rPr>
              <a:t> </a:t>
            </a:r>
            <a:r>
              <a:rPr sz="2900" i="1" spc="-6" dirty="0">
                <a:latin typeface="Times New Roman"/>
                <a:cs typeface="Times New Roman"/>
              </a:rPr>
              <a:t>a</a:t>
            </a:r>
            <a:r>
              <a:rPr sz="2900" i="1" spc="17" dirty="0">
                <a:latin typeface="Times New Roman"/>
                <a:cs typeface="Times New Roman"/>
              </a:rPr>
              <a:t> </a:t>
            </a:r>
            <a:r>
              <a:rPr sz="2900" i="1" spc="-6" dirty="0">
                <a:latin typeface="Times New Roman"/>
                <a:cs typeface="Times New Roman"/>
              </a:rPr>
              <a:t>network of</a:t>
            </a:r>
            <a:r>
              <a:rPr sz="2900" i="1" spc="11" dirty="0">
                <a:latin typeface="Times New Roman"/>
                <a:cs typeface="Times New Roman"/>
              </a:rPr>
              <a:t> </a:t>
            </a:r>
            <a:r>
              <a:rPr sz="2900" i="1" spc="-6" dirty="0">
                <a:latin typeface="Times New Roman"/>
                <a:cs typeface="Times New Roman"/>
              </a:rPr>
              <a:t>this</a:t>
            </a:r>
            <a:r>
              <a:rPr sz="2900" i="1" dirty="0">
                <a:latin typeface="Times New Roman"/>
                <a:cs typeface="Times New Roman"/>
              </a:rPr>
              <a:t> </a:t>
            </a:r>
            <a:r>
              <a:rPr sz="2900" i="1" spc="-6" dirty="0">
                <a:latin typeface="Times New Roman"/>
                <a:cs typeface="Times New Roman"/>
              </a:rPr>
              <a:t>size,</a:t>
            </a:r>
            <a:r>
              <a:rPr sz="2900" i="1" spc="11" dirty="0">
                <a:latin typeface="Times New Roman"/>
                <a:cs typeface="Times New Roman"/>
              </a:rPr>
              <a:t> </a:t>
            </a:r>
            <a:r>
              <a:rPr sz="2900" i="1" spc="-6" dirty="0">
                <a:latin typeface="Times New Roman"/>
                <a:cs typeface="Times New Roman"/>
              </a:rPr>
              <a:t>the</a:t>
            </a:r>
            <a:r>
              <a:rPr sz="2900" i="1" spc="6" dirty="0">
                <a:latin typeface="Times New Roman"/>
                <a:cs typeface="Times New Roman"/>
              </a:rPr>
              <a:t> </a:t>
            </a:r>
            <a:r>
              <a:rPr sz="2900" i="1" spc="-6" dirty="0">
                <a:latin typeface="Times New Roman"/>
                <a:cs typeface="Times New Roman"/>
              </a:rPr>
              <a:t>flooding</a:t>
            </a:r>
            <a:r>
              <a:rPr sz="2900" i="1" spc="-11" dirty="0">
                <a:latin typeface="Times New Roman"/>
                <a:cs typeface="Times New Roman"/>
              </a:rPr>
              <a:t> </a:t>
            </a:r>
            <a:r>
              <a:rPr sz="2900" i="1" spc="-6" dirty="0">
                <a:latin typeface="Times New Roman"/>
                <a:cs typeface="Times New Roman"/>
              </a:rPr>
              <a:t>typically</a:t>
            </a:r>
            <a:r>
              <a:rPr sz="2900" i="1" spc="6" dirty="0">
                <a:latin typeface="Times New Roman"/>
                <a:cs typeface="Times New Roman"/>
              </a:rPr>
              <a:t> </a:t>
            </a:r>
            <a:r>
              <a:rPr sz="2900" i="1" spc="-6" dirty="0">
                <a:latin typeface="Times New Roman"/>
                <a:cs typeface="Times New Roman"/>
              </a:rPr>
              <a:t>takes</a:t>
            </a:r>
            <a:r>
              <a:rPr sz="2900" i="1" dirty="0">
                <a:latin typeface="Times New Roman"/>
                <a:cs typeface="Times New Roman"/>
              </a:rPr>
              <a:t> </a:t>
            </a:r>
            <a:r>
              <a:rPr sz="2900" i="1" spc="-6" dirty="0">
                <a:latin typeface="Times New Roman"/>
                <a:cs typeface="Times New Roman"/>
              </a:rPr>
              <a:t>a</a:t>
            </a:r>
            <a:r>
              <a:rPr sz="2900" i="1" spc="17" dirty="0">
                <a:latin typeface="Times New Roman"/>
                <a:cs typeface="Times New Roman"/>
              </a:rPr>
              <a:t> </a:t>
            </a:r>
            <a:r>
              <a:rPr sz="2900" i="1" spc="-6" dirty="0">
                <a:latin typeface="Times New Roman"/>
                <a:cs typeface="Times New Roman"/>
              </a:rPr>
              <a:t>second </a:t>
            </a:r>
            <a:r>
              <a:rPr sz="2900" i="1" spc="-590" dirty="0">
                <a:latin typeface="Times New Roman"/>
                <a:cs typeface="Times New Roman"/>
              </a:rPr>
              <a:t> </a:t>
            </a:r>
            <a:r>
              <a:rPr sz="2900" i="1" spc="-6" dirty="0">
                <a:latin typeface="Times New Roman"/>
                <a:cs typeface="Times New Roman"/>
              </a:rPr>
              <a:t>or</a:t>
            </a:r>
            <a:r>
              <a:rPr sz="2900" i="1" spc="-28" dirty="0">
                <a:latin typeface="Times New Roman"/>
                <a:cs typeface="Times New Roman"/>
              </a:rPr>
              <a:t> </a:t>
            </a:r>
            <a:r>
              <a:rPr sz="2900" i="1" spc="-6" dirty="0">
                <a:latin typeface="Times New Roman"/>
                <a:cs typeface="Times New Roman"/>
              </a:rPr>
              <a:t>two.)</a:t>
            </a:r>
            <a:endParaRPr sz="2900" dirty="0">
              <a:latin typeface="Times New Roman"/>
              <a:cs typeface="Times New Roman"/>
            </a:endParaRPr>
          </a:p>
          <a:p>
            <a:pPr marL="880431" marR="300283" lvl="1" indent="-514350">
              <a:lnSpc>
                <a:spcPts val="2623"/>
              </a:lnSpc>
              <a:spcBef>
                <a:spcPts val="441"/>
              </a:spcBef>
              <a:buClr>
                <a:srgbClr val="C00000"/>
              </a:buClr>
              <a:buSzPct val="84090"/>
              <a:buFont typeface="+mj-lt"/>
              <a:buAutoNum type="arabicPeriod"/>
              <a:tabLst>
                <a:tab pos="870751" algn="l"/>
                <a:tab pos="871451" algn="l"/>
              </a:tabLst>
            </a:pPr>
            <a:r>
              <a:rPr sz="2900" spc="-6" dirty="0">
                <a:latin typeface="Times New Roman"/>
                <a:cs typeface="Times New Roman"/>
              </a:rPr>
              <a:t>All</a:t>
            </a:r>
            <a:r>
              <a:rPr sz="2900" spc="-11" dirty="0">
                <a:latin typeface="Times New Roman"/>
                <a:cs typeface="Times New Roman"/>
              </a:rPr>
              <a:t> </a:t>
            </a:r>
            <a:r>
              <a:rPr sz="2900" dirty="0">
                <a:latin typeface="Times New Roman"/>
                <a:cs typeface="Times New Roman"/>
              </a:rPr>
              <a:t>routers</a:t>
            </a:r>
            <a:r>
              <a:rPr sz="2900" spc="6" dirty="0">
                <a:latin typeface="Times New Roman"/>
                <a:cs typeface="Times New Roman"/>
              </a:rPr>
              <a:t> </a:t>
            </a:r>
            <a:r>
              <a:rPr sz="2900" spc="-6" dirty="0">
                <a:latin typeface="Times New Roman"/>
                <a:cs typeface="Times New Roman"/>
              </a:rPr>
              <a:t>run</a:t>
            </a:r>
            <a:r>
              <a:rPr sz="2900" spc="11" dirty="0">
                <a:latin typeface="Times New Roman"/>
                <a:cs typeface="Times New Roman"/>
              </a:rPr>
              <a:t> </a:t>
            </a:r>
            <a:r>
              <a:rPr sz="2900" spc="-6" dirty="0">
                <a:latin typeface="Times New Roman"/>
                <a:cs typeface="Times New Roman"/>
              </a:rPr>
              <a:t>the</a:t>
            </a:r>
            <a:r>
              <a:rPr sz="2900" spc="6" dirty="0">
                <a:latin typeface="Times New Roman"/>
                <a:cs typeface="Times New Roman"/>
              </a:rPr>
              <a:t> </a:t>
            </a:r>
            <a:r>
              <a:rPr sz="2900" spc="-6" dirty="0">
                <a:latin typeface="Times New Roman"/>
                <a:cs typeface="Times New Roman"/>
              </a:rPr>
              <a:t>SPF</a:t>
            </a:r>
            <a:r>
              <a:rPr sz="2900" dirty="0">
                <a:latin typeface="Times New Roman"/>
                <a:cs typeface="Times New Roman"/>
              </a:rPr>
              <a:t> </a:t>
            </a:r>
            <a:r>
              <a:rPr sz="2900" spc="-6" dirty="0">
                <a:latin typeface="Times New Roman"/>
                <a:cs typeface="Times New Roman"/>
              </a:rPr>
              <a:t>algorithm</a:t>
            </a:r>
            <a:r>
              <a:rPr sz="2900" spc="6" dirty="0">
                <a:latin typeface="Times New Roman"/>
                <a:cs typeface="Times New Roman"/>
              </a:rPr>
              <a:t> </a:t>
            </a:r>
            <a:r>
              <a:rPr sz="2900" spc="-6" dirty="0">
                <a:latin typeface="Times New Roman"/>
                <a:cs typeface="Times New Roman"/>
              </a:rPr>
              <a:t>again</a:t>
            </a:r>
            <a:r>
              <a:rPr sz="2900" dirty="0">
                <a:latin typeface="Times New Roman"/>
                <a:cs typeface="Times New Roman"/>
              </a:rPr>
              <a:t> </a:t>
            </a:r>
            <a:r>
              <a:rPr sz="2900" spc="-6" dirty="0">
                <a:latin typeface="Times New Roman"/>
                <a:cs typeface="Times New Roman"/>
              </a:rPr>
              <a:t>to</a:t>
            </a:r>
            <a:r>
              <a:rPr sz="2900" spc="11" dirty="0">
                <a:latin typeface="Times New Roman"/>
                <a:cs typeface="Times New Roman"/>
              </a:rPr>
              <a:t> </a:t>
            </a:r>
            <a:r>
              <a:rPr sz="2900" spc="-6" dirty="0">
                <a:latin typeface="Times New Roman"/>
                <a:cs typeface="Times New Roman"/>
              </a:rPr>
              <a:t>see if</a:t>
            </a:r>
            <a:r>
              <a:rPr sz="2900" spc="6" dirty="0">
                <a:latin typeface="Times New Roman"/>
                <a:cs typeface="Times New Roman"/>
              </a:rPr>
              <a:t> </a:t>
            </a:r>
            <a:r>
              <a:rPr sz="2900" spc="-6" dirty="0">
                <a:latin typeface="Times New Roman"/>
                <a:cs typeface="Times New Roman"/>
              </a:rPr>
              <a:t>any</a:t>
            </a:r>
            <a:r>
              <a:rPr sz="2900" dirty="0">
                <a:latin typeface="Times New Roman"/>
                <a:cs typeface="Times New Roman"/>
              </a:rPr>
              <a:t> routes</a:t>
            </a:r>
            <a:r>
              <a:rPr sz="2900" spc="6" dirty="0">
                <a:latin typeface="Times New Roman"/>
                <a:cs typeface="Times New Roman"/>
              </a:rPr>
              <a:t> </a:t>
            </a:r>
            <a:r>
              <a:rPr sz="2900" spc="-6" dirty="0">
                <a:latin typeface="Times New Roman"/>
                <a:cs typeface="Times New Roman"/>
              </a:rPr>
              <a:t>have </a:t>
            </a:r>
            <a:r>
              <a:rPr sz="2900" dirty="0">
                <a:latin typeface="Times New Roman"/>
                <a:cs typeface="Times New Roman"/>
              </a:rPr>
              <a:t> </a:t>
            </a:r>
            <a:r>
              <a:rPr sz="2900" spc="-6" dirty="0">
                <a:latin typeface="Times New Roman"/>
                <a:cs typeface="Times New Roman"/>
              </a:rPr>
              <a:t>changed.</a:t>
            </a:r>
            <a:r>
              <a:rPr sz="2900" spc="-11" dirty="0">
                <a:latin typeface="Times New Roman"/>
                <a:cs typeface="Times New Roman"/>
              </a:rPr>
              <a:t> </a:t>
            </a:r>
            <a:r>
              <a:rPr sz="2900" i="1" spc="-6" dirty="0">
                <a:latin typeface="Times New Roman"/>
                <a:cs typeface="Times New Roman"/>
              </a:rPr>
              <a:t>(This</a:t>
            </a:r>
            <a:r>
              <a:rPr sz="2900" i="1" dirty="0">
                <a:latin typeface="Times New Roman"/>
                <a:cs typeface="Times New Roman"/>
              </a:rPr>
              <a:t> </a:t>
            </a:r>
            <a:r>
              <a:rPr sz="2900" i="1" spc="-17" dirty="0">
                <a:latin typeface="Times New Roman"/>
                <a:cs typeface="Times New Roman"/>
              </a:rPr>
              <a:t>process</a:t>
            </a:r>
            <a:r>
              <a:rPr sz="2900" i="1" spc="-6" dirty="0">
                <a:latin typeface="Times New Roman"/>
                <a:cs typeface="Times New Roman"/>
              </a:rPr>
              <a:t> may</a:t>
            </a:r>
            <a:r>
              <a:rPr sz="2900" i="1" dirty="0">
                <a:latin typeface="Times New Roman"/>
                <a:cs typeface="Times New Roman"/>
              </a:rPr>
              <a:t> </a:t>
            </a:r>
            <a:r>
              <a:rPr sz="2900" i="1" spc="-6" dirty="0">
                <a:latin typeface="Times New Roman"/>
                <a:cs typeface="Times New Roman"/>
              </a:rPr>
              <a:t>take</a:t>
            </a:r>
            <a:r>
              <a:rPr sz="2900" i="1" dirty="0">
                <a:latin typeface="Times New Roman"/>
                <a:cs typeface="Times New Roman"/>
              </a:rPr>
              <a:t> </a:t>
            </a:r>
            <a:r>
              <a:rPr sz="2900" i="1" spc="-6" dirty="0">
                <a:latin typeface="Times New Roman"/>
                <a:cs typeface="Times New Roman"/>
              </a:rPr>
              <a:t>another</a:t>
            </a:r>
            <a:r>
              <a:rPr sz="2900" i="1" dirty="0">
                <a:latin typeface="Times New Roman"/>
                <a:cs typeface="Times New Roman"/>
              </a:rPr>
              <a:t> </a:t>
            </a:r>
            <a:r>
              <a:rPr sz="2900" i="1" spc="-6" dirty="0">
                <a:latin typeface="Times New Roman"/>
                <a:cs typeface="Times New Roman"/>
              </a:rPr>
              <a:t>second</a:t>
            </a:r>
            <a:r>
              <a:rPr sz="2900" i="1" dirty="0">
                <a:latin typeface="Times New Roman"/>
                <a:cs typeface="Times New Roman"/>
              </a:rPr>
              <a:t> </a:t>
            </a:r>
            <a:r>
              <a:rPr sz="2900" i="1" spc="-6" dirty="0">
                <a:latin typeface="Times New Roman"/>
                <a:cs typeface="Times New Roman"/>
              </a:rPr>
              <a:t>in</a:t>
            </a:r>
            <a:r>
              <a:rPr sz="2900" i="1" spc="11" dirty="0">
                <a:latin typeface="Times New Roman"/>
                <a:cs typeface="Times New Roman"/>
              </a:rPr>
              <a:t> </a:t>
            </a:r>
            <a:r>
              <a:rPr sz="2900" i="1" spc="-6" dirty="0">
                <a:latin typeface="Times New Roman"/>
                <a:cs typeface="Times New Roman"/>
              </a:rPr>
              <a:t>a</a:t>
            </a:r>
            <a:r>
              <a:rPr sz="2900" i="1" dirty="0">
                <a:latin typeface="Times New Roman"/>
                <a:cs typeface="Times New Roman"/>
              </a:rPr>
              <a:t> </a:t>
            </a:r>
            <a:r>
              <a:rPr sz="2900" i="1" spc="-6" dirty="0">
                <a:latin typeface="Times New Roman"/>
                <a:cs typeface="Times New Roman"/>
              </a:rPr>
              <a:t>network</a:t>
            </a:r>
            <a:r>
              <a:rPr sz="2900" i="1" dirty="0">
                <a:latin typeface="Times New Roman"/>
                <a:cs typeface="Times New Roman"/>
              </a:rPr>
              <a:t> </a:t>
            </a:r>
            <a:r>
              <a:rPr sz="2900" i="1" spc="-6" dirty="0">
                <a:latin typeface="Times New Roman"/>
                <a:cs typeface="Times New Roman"/>
              </a:rPr>
              <a:t>this </a:t>
            </a:r>
            <a:r>
              <a:rPr sz="2900" i="1" spc="-590" dirty="0">
                <a:latin typeface="Times New Roman"/>
                <a:cs typeface="Times New Roman"/>
              </a:rPr>
              <a:t> </a:t>
            </a:r>
            <a:r>
              <a:rPr sz="2900" i="1" spc="-6" dirty="0">
                <a:latin typeface="Times New Roman"/>
                <a:cs typeface="Times New Roman"/>
              </a:rPr>
              <a:t>size.)</a:t>
            </a:r>
            <a:endParaRPr sz="2900" dirty="0">
              <a:latin typeface="Times New Roman"/>
              <a:cs typeface="Times New Roman"/>
            </a:endParaRPr>
          </a:p>
          <a:p>
            <a:pPr marL="880431" lvl="1" indent="-514350">
              <a:lnSpc>
                <a:spcPts val="2767"/>
              </a:lnSpc>
              <a:spcBef>
                <a:spcPts val="94"/>
              </a:spcBef>
              <a:buClr>
                <a:srgbClr val="C00000"/>
              </a:buClr>
              <a:buSzPct val="84090"/>
              <a:buFont typeface="+mj-lt"/>
              <a:buAutoNum type="arabicPeriod"/>
              <a:tabLst>
                <a:tab pos="870751" algn="l"/>
                <a:tab pos="871451" algn="l"/>
              </a:tabLst>
            </a:pPr>
            <a:r>
              <a:rPr sz="2900" spc="-6" dirty="0">
                <a:latin typeface="Times New Roman"/>
                <a:cs typeface="Times New Roman"/>
              </a:rPr>
              <a:t>All routers</a:t>
            </a:r>
            <a:r>
              <a:rPr sz="2900" dirty="0">
                <a:latin typeface="Times New Roman"/>
                <a:cs typeface="Times New Roman"/>
              </a:rPr>
              <a:t> </a:t>
            </a:r>
            <a:r>
              <a:rPr sz="2900" spc="-6" dirty="0">
                <a:latin typeface="Times New Roman"/>
                <a:cs typeface="Times New Roman"/>
              </a:rPr>
              <a:t>replace</a:t>
            </a:r>
            <a:r>
              <a:rPr sz="2900" spc="11" dirty="0">
                <a:latin typeface="Times New Roman"/>
                <a:cs typeface="Times New Roman"/>
              </a:rPr>
              <a:t> </a:t>
            </a:r>
            <a:r>
              <a:rPr sz="2900" spc="-6" dirty="0">
                <a:latin typeface="Times New Roman"/>
                <a:cs typeface="Times New Roman"/>
              </a:rPr>
              <a:t>routes,</a:t>
            </a:r>
            <a:r>
              <a:rPr sz="2900" dirty="0">
                <a:latin typeface="Times New Roman"/>
                <a:cs typeface="Times New Roman"/>
              </a:rPr>
              <a:t> </a:t>
            </a:r>
            <a:r>
              <a:rPr sz="2900" spc="-6" dirty="0">
                <a:latin typeface="Times New Roman"/>
                <a:cs typeface="Times New Roman"/>
              </a:rPr>
              <a:t>as</a:t>
            </a:r>
            <a:r>
              <a:rPr sz="2900" dirty="0">
                <a:latin typeface="Times New Roman"/>
                <a:cs typeface="Times New Roman"/>
              </a:rPr>
              <a:t> </a:t>
            </a:r>
            <a:r>
              <a:rPr sz="2900" spc="-6" dirty="0">
                <a:latin typeface="Times New Roman"/>
                <a:cs typeface="Times New Roman"/>
              </a:rPr>
              <a:t>needed,</a:t>
            </a:r>
            <a:r>
              <a:rPr sz="2900" spc="6" dirty="0">
                <a:latin typeface="Times New Roman"/>
                <a:cs typeface="Times New Roman"/>
              </a:rPr>
              <a:t> </a:t>
            </a:r>
            <a:r>
              <a:rPr sz="2900" spc="-6" dirty="0">
                <a:latin typeface="Times New Roman"/>
                <a:cs typeface="Times New Roman"/>
              </a:rPr>
              <a:t>based</a:t>
            </a:r>
            <a:r>
              <a:rPr sz="2900" spc="11" dirty="0">
                <a:latin typeface="Times New Roman"/>
                <a:cs typeface="Times New Roman"/>
              </a:rPr>
              <a:t> </a:t>
            </a:r>
            <a:r>
              <a:rPr sz="2900" spc="-6" dirty="0">
                <a:latin typeface="Times New Roman"/>
                <a:cs typeface="Times New Roman"/>
              </a:rPr>
              <a:t>on</a:t>
            </a:r>
            <a:r>
              <a:rPr sz="2900" dirty="0">
                <a:latin typeface="Times New Roman"/>
                <a:cs typeface="Times New Roman"/>
              </a:rPr>
              <a:t> </a:t>
            </a:r>
            <a:r>
              <a:rPr sz="2900" spc="-6" dirty="0">
                <a:latin typeface="Times New Roman"/>
                <a:cs typeface="Times New Roman"/>
              </a:rPr>
              <a:t>the</a:t>
            </a:r>
            <a:r>
              <a:rPr sz="2900" dirty="0">
                <a:latin typeface="Times New Roman"/>
                <a:cs typeface="Times New Roman"/>
              </a:rPr>
              <a:t> </a:t>
            </a:r>
            <a:r>
              <a:rPr sz="2900" spc="-6" dirty="0">
                <a:latin typeface="Times New Roman"/>
                <a:cs typeface="Times New Roman"/>
              </a:rPr>
              <a:t>results</a:t>
            </a:r>
            <a:r>
              <a:rPr sz="2900" dirty="0">
                <a:latin typeface="Times New Roman"/>
                <a:cs typeface="Times New Roman"/>
              </a:rPr>
              <a:t> of </a:t>
            </a:r>
            <a:r>
              <a:rPr sz="2900" spc="-55" dirty="0">
                <a:latin typeface="Times New Roman"/>
                <a:cs typeface="Times New Roman"/>
              </a:rPr>
              <a:t>SPF.</a:t>
            </a:r>
            <a:r>
              <a:rPr sz="2900" spc="-6" dirty="0">
                <a:latin typeface="Times New Roman"/>
                <a:cs typeface="Times New Roman"/>
              </a:rPr>
              <a:t>(This</a:t>
            </a:r>
            <a:r>
              <a:rPr sz="2900" dirty="0">
                <a:latin typeface="Times New Roman"/>
                <a:cs typeface="Times New Roman"/>
              </a:rPr>
              <a:t> </a:t>
            </a:r>
            <a:r>
              <a:rPr sz="2900" spc="-6" dirty="0">
                <a:latin typeface="Times New Roman"/>
                <a:cs typeface="Times New Roman"/>
              </a:rPr>
              <a:t>takes</a:t>
            </a:r>
            <a:r>
              <a:rPr sz="2900" spc="6" dirty="0">
                <a:latin typeface="Times New Roman"/>
                <a:cs typeface="Times New Roman"/>
              </a:rPr>
              <a:t> </a:t>
            </a:r>
            <a:r>
              <a:rPr sz="2900" spc="-6" dirty="0">
                <a:latin typeface="Times New Roman"/>
                <a:cs typeface="Times New Roman"/>
              </a:rPr>
              <a:t>practically</a:t>
            </a:r>
            <a:r>
              <a:rPr sz="2900" spc="28" dirty="0">
                <a:latin typeface="Times New Roman"/>
                <a:cs typeface="Times New Roman"/>
              </a:rPr>
              <a:t> </a:t>
            </a:r>
            <a:r>
              <a:rPr sz="2900" spc="-6" dirty="0">
                <a:latin typeface="Times New Roman"/>
                <a:cs typeface="Times New Roman"/>
              </a:rPr>
              <a:t>no</a:t>
            </a:r>
            <a:r>
              <a:rPr sz="2900" spc="6" dirty="0">
                <a:latin typeface="Times New Roman"/>
                <a:cs typeface="Times New Roman"/>
              </a:rPr>
              <a:t> </a:t>
            </a:r>
            <a:r>
              <a:rPr sz="2900" spc="-6" dirty="0">
                <a:latin typeface="Times New Roman"/>
                <a:cs typeface="Times New Roman"/>
              </a:rPr>
              <a:t>additional </a:t>
            </a:r>
            <a:r>
              <a:rPr sz="2900" spc="-11" dirty="0">
                <a:latin typeface="Times New Roman"/>
                <a:cs typeface="Times New Roman"/>
              </a:rPr>
              <a:t>time</a:t>
            </a:r>
            <a:r>
              <a:rPr sz="2900" spc="28" dirty="0">
                <a:latin typeface="Times New Roman"/>
                <a:cs typeface="Times New Roman"/>
              </a:rPr>
              <a:t> </a:t>
            </a:r>
            <a:r>
              <a:rPr sz="2900" spc="-6" dirty="0">
                <a:latin typeface="Times New Roman"/>
                <a:cs typeface="Times New Roman"/>
              </a:rPr>
              <a:t>after</a:t>
            </a:r>
            <a:r>
              <a:rPr sz="2900" spc="33" dirty="0">
                <a:latin typeface="Times New Roman"/>
                <a:cs typeface="Times New Roman"/>
              </a:rPr>
              <a:t> </a:t>
            </a:r>
            <a:r>
              <a:rPr sz="2900" spc="-6" dirty="0">
                <a:latin typeface="Times New Roman"/>
                <a:cs typeface="Times New Roman"/>
              </a:rPr>
              <a:t>SPF</a:t>
            </a:r>
            <a:r>
              <a:rPr sz="2900" spc="11" dirty="0">
                <a:latin typeface="Times New Roman"/>
                <a:cs typeface="Times New Roman"/>
              </a:rPr>
              <a:t> </a:t>
            </a:r>
            <a:r>
              <a:rPr sz="2900" spc="-6" dirty="0">
                <a:latin typeface="Times New Roman"/>
                <a:cs typeface="Times New Roman"/>
              </a:rPr>
              <a:t>has completed.)</a:t>
            </a:r>
            <a:endParaRPr sz="2900" dirty="0">
              <a:latin typeface="Times New Roman"/>
              <a:cs typeface="Times New Roman"/>
            </a:endParaRPr>
          </a:p>
          <a:p>
            <a:pPr marL="880431" marR="268785" lvl="1" indent="-514350">
              <a:lnSpc>
                <a:spcPts val="2623"/>
              </a:lnSpc>
              <a:spcBef>
                <a:spcPts val="474"/>
              </a:spcBef>
              <a:buClr>
                <a:srgbClr val="C00000"/>
              </a:buClr>
              <a:buSzPct val="84090"/>
              <a:buFont typeface="+mj-lt"/>
              <a:buAutoNum type="arabicPeriod"/>
              <a:tabLst>
                <a:tab pos="870751" algn="l"/>
                <a:tab pos="871451" algn="l"/>
              </a:tabLst>
            </a:pPr>
            <a:r>
              <a:rPr sz="2900" spc="-6" dirty="0">
                <a:latin typeface="Times New Roman"/>
                <a:cs typeface="Times New Roman"/>
              </a:rPr>
              <a:t>R1</a:t>
            </a:r>
            <a:r>
              <a:rPr sz="2900" spc="-22" dirty="0">
                <a:latin typeface="Times New Roman"/>
                <a:cs typeface="Times New Roman"/>
              </a:rPr>
              <a:t> </a:t>
            </a:r>
            <a:r>
              <a:rPr sz="2900" spc="-6" dirty="0">
                <a:latin typeface="Times New Roman"/>
                <a:cs typeface="Times New Roman"/>
              </a:rPr>
              <a:t>changes</a:t>
            </a:r>
            <a:r>
              <a:rPr sz="2900" dirty="0">
                <a:latin typeface="Times New Roman"/>
                <a:cs typeface="Times New Roman"/>
              </a:rPr>
              <a:t> </a:t>
            </a:r>
            <a:r>
              <a:rPr sz="2900" spc="-6" dirty="0">
                <a:latin typeface="Times New Roman"/>
                <a:cs typeface="Times New Roman"/>
              </a:rPr>
              <a:t>its</a:t>
            </a:r>
            <a:r>
              <a:rPr sz="2900" dirty="0">
                <a:latin typeface="Times New Roman"/>
                <a:cs typeface="Times New Roman"/>
              </a:rPr>
              <a:t> </a:t>
            </a:r>
            <a:r>
              <a:rPr sz="2900" spc="-6" dirty="0">
                <a:latin typeface="Times New Roman"/>
                <a:cs typeface="Times New Roman"/>
              </a:rPr>
              <a:t>route</a:t>
            </a:r>
            <a:r>
              <a:rPr sz="2900" spc="-17" dirty="0">
                <a:latin typeface="Times New Roman"/>
                <a:cs typeface="Times New Roman"/>
              </a:rPr>
              <a:t> </a:t>
            </a:r>
            <a:r>
              <a:rPr sz="2900" spc="-6" dirty="0">
                <a:latin typeface="Times New Roman"/>
                <a:cs typeface="Times New Roman"/>
              </a:rPr>
              <a:t>for</a:t>
            </a:r>
            <a:r>
              <a:rPr sz="2900" spc="17" dirty="0">
                <a:latin typeface="Times New Roman"/>
                <a:cs typeface="Times New Roman"/>
              </a:rPr>
              <a:t> </a:t>
            </a:r>
            <a:r>
              <a:rPr sz="2900" spc="-6" dirty="0">
                <a:latin typeface="Times New Roman"/>
                <a:cs typeface="Times New Roman"/>
              </a:rPr>
              <a:t>subnet</a:t>
            </a:r>
            <a:r>
              <a:rPr sz="2900" dirty="0">
                <a:latin typeface="Times New Roman"/>
                <a:cs typeface="Times New Roman"/>
              </a:rPr>
              <a:t> </a:t>
            </a:r>
            <a:r>
              <a:rPr sz="2900" spc="-6" dirty="0">
                <a:latin typeface="Times New Roman"/>
                <a:cs typeface="Times New Roman"/>
              </a:rPr>
              <a:t>X</a:t>
            </a:r>
            <a:r>
              <a:rPr sz="2900" dirty="0">
                <a:latin typeface="Times New Roman"/>
                <a:cs typeface="Times New Roman"/>
              </a:rPr>
              <a:t> (172.16.3.0/24)</a:t>
            </a:r>
            <a:r>
              <a:rPr sz="2900" spc="-33" dirty="0">
                <a:latin typeface="Times New Roman"/>
                <a:cs typeface="Times New Roman"/>
              </a:rPr>
              <a:t> </a:t>
            </a:r>
            <a:r>
              <a:rPr sz="2900" spc="-6" dirty="0">
                <a:latin typeface="Times New Roman"/>
                <a:cs typeface="Times New Roman"/>
              </a:rPr>
              <a:t>to</a:t>
            </a:r>
            <a:r>
              <a:rPr sz="2900" spc="6" dirty="0">
                <a:latin typeface="Times New Roman"/>
                <a:cs typeface="Times New Roman"/>
              </a:rPr>
              <a:t> </a:t>
            </a:r>
            <a:r>
              <a:rPr sz="2900" spc="-6" dirty="0">
                <a:latin typeface="Times New Roman"/>
                <a:cs typeface="Times New Roman"/>
              </a:rPr>
              <a:t>use</a:t>
            </a:r>
            <a:r>
              <a:rPr sz="2900" spc="-11" dirty="0">
                <a:latin typeface="Times New Roman"/>
                <a:cs typeface="Times New Roman"/>
              </a:rPr>
              <a:t> </a:t>
            </a:r>
            <a:r>
              <a:rPr sz="2900" spc="-6" dirty="0">
                <a:latin typeface="Times New Roman"/>
                <a:cs typeface="Times New Roman"/>
              </a:rPr>
              <a:t>R2</a:t>
            </a:r>
            <a:r>
              <a:rPr sz="2900" spc="6" dirty="0">
                <a:latin typeface="Times New Roman"/>
                <a:cs typeface="Times New Roman"/>
              </a:rPr>
              <a:t> </a:t>
            </a:r>
            <a:r>
              <a:rPr sz="2900" spc="-6" dirty="0">
                <a:latin typeface="Times New Roman"/>
                <a:cs typeface="Times New Roman"/>
              </a:rPr>
              <a:t>as</a:t>
            </a:r>
            <a:r>
              <a:rPr sz="2900" dirty="0">
                <a:latin typeface="Times New Roman"/>
                <a:cs typeface="Times New Roman"/>
              </a:rPr>
              <a:t> </a:t>
            </a:r>
            <a:r>
              <a:rPr sz="2900" spc="-6" dirty="0">
                <a:latin typeface="Times New Roman"/>
                <a:cs typeface="Times New Roman"/>
              </a:rPr>
              <a:t>the </a:t>
            </a:r>
            <a:r>
              <a:rPr sz="2900" spc="-590" dirty="0">
                <a:latin typeface="Times New Roman"/>
                <a:cs typeface="Times New Roman"/>
              </a:rPr>
              <a:t> </a:t>
            </a:r>
            <a:r>
              <a:rPr sz="2900" spc="-6" dirty="0">
                <a:latin typeface="Times New Roman"/>
                <a:cs typeface="Times New Roman"/>
              </a:rPr>
              <a:t>next-hop</a:t>
            </a:r>
            <a:r>
              <a:rPr sz="2900" spc="-28" dirty="0">
                <a:latin typeface="Times New Roman"/>
                <a:cs typeface="Times New Roman"/>
              </a:rPr>
              <a:t> </a:t>
            </a:r>
            <a:r>
              <a:rPr sz="2900" spc="-22" dirty="0">
                <a:latin typeface="Times New Roman"/>
                <a:cs typeface="Times New Roman"/>
              </a:rPr>
              <a:t>router.</a:t>
            </a:r>
            <a:endParaRPr sz="2900" dirty="0">
              <a:latin typeface="Times New Roman"/>
              <a:cs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932" y="138532"/>
            <a:ext cx="9594760" cy="1369059"/>
          </a:xfrm>
          <a:prstGeom prst="rect">
            <a:avLst/>
          </a:prstGeom>
        </p:spPr>
        <p:txBody>
          <a:bodyPr vert="horz" wrap="square" lIns="0" tIns="14699" rIns="0" bIns="0" rtlCol="0" anchor="ctr">
            <a:spAutoFit/>
          </a:bodyPr>
          <a:lstStyle/>
          <a:p>
            <a:pPr marL="13999">
              <a:lnSpc>
                <a:spcPct val="100000"/>
              </a:lnSpc>
              <a:spcBef>
                <a:spcPts val="116"/>
              </a:spcBef>
            </a:pPr>
            <a:r>
              <a:rPr b="1" dirty="0">
                <a:solidFill>
                  <a:schemeClr val="bg1"/>
                </a:solidFill>
                <a:latin typeface="Times New Roman" panose="02020603050405020304" pitchFamily="18" charset="0"/>
                <a:cs typeface="Times New Roman" panose="02020603050405020304" pitchFamily="18" charset="0"/>
              </a:rPr>
              <a:t>Reacting</a:t>
            </a:r>
            <a:r>
              <a:rPr b="1" spc="-39"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to</a:t>
            </a:r>
            <a:r>
              <a:rPr b="1" spc="-22"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Changes</a:t>
            </a:r>
            <a:r>
              <a:rPr b="1" spc="-33"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with</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Link-State</a:t>
            </a:r>
            <a:r>
              <a:rPr b="1" spc="-50"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Protocols</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42932" y="1765168"/>
            <a:ext cx="9274601" cy="1102081"/>
          </a:xfrm>
          <a:prstGeom prst="rect">
            <a:avLst/>
          </a:prstGeom>
        </p:spPr>
        <p:txBody>
          <a:bodyPr vert="horz" wrap="square" lIns="0" tIns="53198" rIns="0" bIns="0" rtlCol="0">
            <a:spAutoFit/>
          </a:bodyPr>
          <a:lstStyle/>
          <a:p>
            <a:pPr marL="471199" indent="-457200">
              <a:lnSpc>
                <a:spcPts val="2701"/>
              </a:lnSpc>
              <a:spcBef>
                <a:spcPts val="424"/>
              </a:spcBef>
              <a:buClr>
                <a:srgbClr val="C00000"/>
              </a:buClr>
              <a:buSzPct val="85416"/>
              <a:buFont typeface="Wingdings" panose="05000000000000000000" pitchFamily="2" charset="2"/>
              <a:buChar char="Ø"/>
              <a:tabLst>
                <a:tab pos="315682" algn="l"/>
                <a:tab pos="316382" algn="l"/>
              </a:tabLst>
            </a:pPr>
            <a:r>
              <a:rPr sz="3200" dirty="0">
                <a:latin typeface="Times New Roman"/>
                <a:cs typeface="Times New Roman"/>
              </a:rPr>
              <a:t>These</a:t>
            </a:r>
            <a:r>
              <a:rPr sz="3200" spc="-33" dirty="0">
                <a:latin typeface="Times New Roman"/>
                <a:cs typeface="Times New Roman"/>
              </a:rPr>
              <a:t> </a:t>
            </a:r>
            <a:r>
              <a:rPr sz="3200" dirty="0">
                <a:latin typeface="Times New Roman"/>
                <a:cs typeface="Times New Roman"/>
              </a:rPr>
              <a:t>steps</a:t>
            </a:r>
            <a:r>
              <a:rPr sz="3200" spc="-17" dirty="0">
                <a:latin typeface="Times New Roman"/>
                <a:cs typeface="Times New Roman"/>
              </a:rPr>
              <a:t> </a:t>
            </a:r>
            <a:r>
              <a:rPr sz="3200" dirty="0">
                <a:latin typeface="Times New Roman"/>
                <a:cs typeface="Times New Roman"/>
              </a:rPr>
              <a:t>allow</a:t>
            </a:r>
            <a:r>
              <a:rPr sz="3200" spc="-22" dirty="0">
                <a:latin typeface="Times New Roman"/>
                <a:cs typeface="Times New Roman"/>
              </a:rPr>
              <a:t> </a:t>
            </a:r>
            <a:r>
              <a:rPr sz="3200" dirty="0">
                <a:latin typeface="Times New Roman"/>
                <a:cs typeface="Times New Roman"/>
              </a:rPr>
              <a:t>the</a:t>
            </a:r>
            <a:r>
              <a:rPr sz="3200" spc="-22" dirty="0">
                <a:latin typeface="Times New Roman"/>
                <a:cs typeface="Times New Roman"/>
              </a:rPr>
              <a:t> </a:t>
            </a:r>
            <a:r>
              <a:rPr sz="3200" dirty="0">
                <a:latin typeface="Times New Roman"/>
                <a:cs typeface="Times New Roman"/>
              </a:rPr>
              <a:t>link-state</a:t>
            </a:r>
            <a:r>
              <a:rPr sz="3200" spc="-66" dirty="0">
                <a:latin typeface="Times New Roman"/>
                <a:cs typeface="Times New Roman"/>
              </a:rPr>
              <a:t> </a:t>
            </a:r>
            <a:r>
              <a:rPr sz="3200" dirty="0">
                <a:latin typeface="Times New Roman"/>
                <a:cs typeface="Times New Roman"/>
              </a:rPr>
              <a:t>routing</a:t>
            </a:r>
            <a:r>
              <a:rPr sz="3200" spc="-28" dirty="0">
                <a:latin typeface="Times New Roman"/>
                <a:cs typeface="Times New Roman"/>
              </a:rPr>
              <a:t> </a:t>
            </a:r>
            <a:r>
              <a:rPr sz="3200" dirty="0">
                <a:latin typeface="Times New Roman"/>
                <a:cs typeface="Times New Roman"/>
              </a:rPr>
              <a:t>protocol</a:t>
            </a:r>
            <a:r>
              <a:rPr sz="3200" spc="-33" dirty="0">
                <a:latin typeface="Times New Roman"/>
                <a:cs typeface="Times New Roman"/>
              </a:rPr>
              <a:t> </a:t>
            </a:r>
            <a:r>
              <a:rPr sz="3200" dirty="0">
                <a:latin typeface="Times New Roman"/>
                <a:cs typeface="Times New Roman"/>
              </a:rPr>
              <a:t>to</a:t>
            </a:r>
            <a:r>
              <a:rPr sz="3200" spc="-17" dirty="0">
                <a:latin typeface="Times New Roman"/>
                <a:cs typeface="Times New Roman"/>
              </a:rPr>
              <a:t> </a:t>
            </a:r>
            <a:r>
              <a:rPr sz="3200" spc="-6" dirty="0">
                <a:latin typeface="Times New Roman"/>
                <a:cs typeface="Times New Roman"/>
              </a:rPr>
              <a:t>converge</a:t>
            </a:r>
            <a:r>
              <a:rPr lang="en-US" sz="3200" spc="-6" dirty="0">
                <a:latin typeface="Times New Roman"/>
                <a:cs typeface="Times New Roman"/>
              </a:rPr>
              <a:t> </a:t>
            </a:r>
            <a:r>
              <a:rPr sz="3200" dirty="0">
                <a:latin typeface="Times New Roman"/>
                <a:cs typeface="Times New Roman"/>
              </a:rPr>
              <a:t>quickly</a:t>
            </a:r>
            <a:r>
              <a:rPr sz="3200" spc="-44" dirty="0">
                <a:latin typeface="Times New Roman"/>
                <a:cs typeface="Times New Roman"/>
              </a:rPr>
              <a:t> </a:t>
            </a:r>
            <a:r>
              <a:rPr sz="3200" dirty="0">
                <a:latin typeface="Times New Roman"/>
                <a:cs typeface="Times New Roman"/>
              </a:rPr>
              <a:t>–</a:t>
            </a:r>
            <a:r>
              <a:rPr sz="3200" spc="-11" dirty="0">
                <a:latin typeface="Times New Roman"/>
                <a:cs typeface="Times New Roman"/>
              </a:rPr>
              <a:t> </a:t>
            </a:r>
            <a:r>
              <a:rPr sz="3200" spc="-6" dirty="0">
                <a:latin typeface="Times New Roman"/>
                <a:cs typeface="Times New Roman"/>
              </a:rPr>
              <a:t>much more</a:t>
            </a:r>
            <a:r>
              <a:rPr sz="3200" spc="-11" dirty="0">
                <a:latin typeface="Times New Roman"/>
                <a:cs typeface="Times New Roman"/>
              </a:rPr>
              <a:t> </a:t>
            </a:r>
            <a:r>
              <a:rPr sz="3200" dirty="0">
                <a:latin typeface="Times New Roman"/>
                <a:cs typeface="Times New Roman"/>
              </a:rPr>
              <a:t>quickly</a:t>
            </a:r>
            <a:r>
              <a:rPr sz="3200" spc="-28" dirty="0">
                <a:latin typeface="Times New Roman"/>
                <a:cs typeface="Times New Roman"/>
              </a:rPr>
              <a:t> </a:t>
            </a:r>
            <a:r>
              <a:rPr sz="3200" dirty="0">
                <a:latin typeface="Times New Roman"/>
                <a:cs typeface="Times New Roman"/>
              </a:rPr>
              <a:t>than</a:t>
            </a:r>
            <a:r>
              <a:rPr sz="3200" spc="-28" dirty="0">
                <a:latin typeface="Times New Roman"/>
                <a:cs typeface="Times New Roman"/>
              </a:rPr>
              <a:t> </a:t>
            </a:r>
            <a:r>
              <a:rPr sz="3200" dirty="0">
                <a:latin typeface="Times New Roman"/>
                <a:cs typeface="Times New Roman"/>
              </a:rPr>
              <a:t>distance</a:t>
            </a:r>
            <a:r>
              <a:rPr sz="3200" spc="-50" dirty="0">
                <a:latin typeface="Times New Roman"/>
                <a:cs typeface="Times New Roman"/>
              </a:rPr>
              <a:t> </a:t>
            </a:r>
            <a:r>
              <a:rPr sz="3200" dirty="0">
                <a:latin typeface="Times New Roman"/>
                <a:cs typeface="Times New Roman"/>
              </a:rPr>
              <a:t>vector</a:t>
            </a:r>
            <a:r>
              <a:rPr sz="3200" spc="-33" dirty="0">
                <a:latin typeface="Times New Roman"/>
                <a:cs typeface="Times New Roman"/>
              </a:rPr>
              <a:t> </a:t>
            </a:r>
            <a:r>
              <a:rPr sz="3200" dirty="0">
                <a:latin typeface="Times New Roman"/>
                <a:cs typeface="Times New Roman"/>
              </a:rPr>
              <a:t>routing </a:t>
            </a:r>
            <a:r>
              <a:rPr sz="3200" spc="-645" dirty="0">
                <a:latin typeface="Times New Roman"/>
                <a:cs typeface="Times New Roman"/>
              </a:rPr>
              <a:t> </a:t>
            </a:r>
            <a:r>
              <a:rPr sz="3200" dirty="0">
                <a:latin typeface="Times New Roman"/>
                <a:cs typeface="Times New Roman"/>
              </a:rPr>
              <a:t>protocols.</a:t>
            </a:r>
          </a:p>
        </p:txBody>
      </p:sp>
    </p:spTree>
    <p:extLst>
      <p:ext uri="{BB962C8B-B14F-4D97-AF65-F5344CB8AC3E}">
        <p14:creationId xmlns:p14="http://schemas.microsoft.com/office/powerpoint/2010/main" val="427871692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0761" y="464610"/>
            <a:ext cx="8348110"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Link-State</a:t>
            </a:r>
            <a:r>
              <a:rPr sz="4409" b="1" spc="-17"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Routing </a:t>
            </a:r>
            <a:r>
              <a:rPr sz="4409" b="1" spc="-11" dirty="0">
                <a:solidFill>
                  <a:schemeClr val="bg1"/>
                </a:solidFill>
                <a:latin typeface="Times New Roman" panose="02020603050405020304" pitchFamily="18" charset="0"/>
                <a:cs typeface="Times New Roman" panose="02020603050405020304" pitchFamily="18" charset="0"/>
              </a:rPr>
              <a:t>Protocols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360609" y="1700011"/>
            <a:ext cx="8806926" cy="2757656"/>
          </a:xfrm>
          <a:prstGeom prst="rect">
            <a:avLst/>
          </a:prstGeom>
        </p:spPr>
        <p:txBody>
          <a:bodyPr vert="horz" wrap="square" lIns="0" tIns="79797" rIns="0" bIns="0" rtlCol="0">
            <a:spAutoFit/>
          </a:bodyPr>
          <a:lstStyle/>
          <a:p>
            <a:pPr marL="699099" indent="-685800">
              <a:spcBef>
                <a:spcPts val="628"/>
              </a:spcBef>
              <a:buClr>
                <a:srgbClr val="C00000"/>
              </a:buClr>
              <a:buSzPct val="85000"/>
              <a:buFont typeface="Wingdings" panose="05000000000000000000" pitchFamily="2" charset="2"/>
              <a:buChar char="Ø"/>
              <a:tabLst>
                <a:tab pos="316382" algn="l"/>
              </a:tabLst>
            </a:pPr>
            <a:r>
              <a:rPr sz="4409" spc="-132" dirty="0">
                <a:latin typeface="Georgia"/>
                <a:cs typeface="Georgia"/>
              </a:rPr>
              <a:t>Link-state</a:t>
            </a:r>
            <a:r>
              <a:rPr sz="4409" spc="77" dirty="0">
                <a:latin typeface="Georgia"/>
                <a:cs typeface="Georgia"/>
              </a:rPr>
              <a:t> </a:t>
            </a:r>
            <a:r>
              <a:rPr sz="4409" spc="-116" dirty="0">
                <a:latin typeface="Georgia"/>
                <a:cs typeface="Georgia"/>
              </a:rPr>
              <a:t>concerns:</a:t>
            </a:r>
            <a:endParaRPr sz="4409" dirty="0">
              <a:latin typeface="Georgia"/>
              <a:cs typeface="Georgia"/>
            </a:endParaRPr>
          </a:p>
          <a:p>
            <a:pPr marL="1394079" lvl="2" indent="-571500">
              <a:spcBef>
                <a:spcPts val="463"/>
              </a:spcBef>
              <a:buClr>
                <a:srgbClr val="9B2C1F"/>
              </a:buClr>
              <a:buSzPct val="81944"/>
              <a:buFont typeface="Wingdings" panose="05000000000000000000" pitchFamily="2" charset="2"/>
              <a:buChar char="ü"/>
              <a:tabLst>
                <a:tab pos="704160" algn="l"/>
              </a:tabLst>
            </a:pPr>
            <a:r>
              <a:rPr sz="3968" spc="-110" dirty="0">
                <a:latin typeface="Georgia"/>
                <a:cs typeface="Georgia"/>
              </a:rPr>
              <a:t>Processor</a:t>
            </a:r>
            <a:r>
              <a:rPr sz="3968" spc="28" dirty="0">
                <a:latin typeface="Georgia"/>
                <a:cs typeface="Georgia"/>
              </a:rPr>
              <a:t> </a:t>
            </a:r>
            <a:r>
              <a:rPr sz="3968" spc="-121" dirty="0">
                <a:latin typeface="Georgia"/>
                <a:cs typeface="Georgia"/>
              </a:rPr>
              <a:t>overhead</a:t>
            </a:r>
            <a:endParaRPr sz="3968" dirty="0">
              <a:latin typeface="Georgia"/>
              <a:cs typeface="Georgia"/>
            </a:endParaRPr>
          </a:p>
          <a:p>
            <a:pPr marL="1394079" lvl="2" indent="-571500">
              <a:spcBef>
                <a:spcPts val="441"/>
              </a:spcBef>
              <a:buClr>
                <a:srgbClr val="9B2C1F"/>
              </a:buClr>
              <a:buSzPct val="81944"/>
              <a:buFont typeface="Wingdings" panose="05000000000000000000" pitchFamily="2" charset="2"/>
              <a:buChar char="ü"/>
              <a:tabLst>
                <a:tab pos="704860" algn="l"/>
              </a:tabLst>
            </a:pPr>
            <a:r>
              <a:rPr sz="3968" spc="-28" dirty="0">
                <a:latin typeface="Georgia"/>
                <a:cs typeface="Georgia"/>
              </a:rPr>
              <a:t>Memory</a:t>
            </a:r>
            <a:r>
              <a:rPr sz="3968" spc="28" dirty="0">
                <a:latin typeface="Georgia"/>
                <a:cs typeface="Georgia"/>
              </a:rPr>
              <a:t> </a:t>
            </a:r>
            <a:r>
              <a:rPr sz="3968" spc="-149" dirty="0">
                <a:latin typeface="Georgia"/>
                <a:cs typeface="Georgia"/>
              </a:rPr>
              <a:t>requirements</a:t>
            </a:r>
            <a:endParaRPr sz="3968" dirty="0">
              <a:latin typeface="Georgia"/>
              <a:cs typeface="Georgia"/>
            </a:endParaRPr>
          </a:p>
          <a:p>
            <a:pPr marL="1394079" lvl="2" indent="-571500">
              <a:spcBef>
                <a:spcPts val="435"/>
              </a:spcBef>
              <a:buClr>
                <a:srgbClr val="9B2C1F"/>
              </a:buClr>
              <a:buSzPct val="81944"/>
              <a:buFont typeface="Wingdings" panose="05000000000000000000" pitchFamily="2" charset="2"/>
              <a:buChar char="ü"/>
              <a:tabLst>
                <a:tab pos="704160" algn="l"/>
              </a:tabLst>
            </a:pPr>
            <a:r>
              <a:rPr sz="3968" spc="-94" dirty="0">
                <a:latin typeface="Georgia"/>
                <a:cs typeface="Georgia"/>
              </a:rPr>
              <a:t>Bandwidth</a:t>
            </a:r>
            <a:r>
              <a:rPr sz="3968" spc="-17" dirty="0">
                <a:latin typeface="Georgia"/>
                <a:cs typeface="Georgia"/>
              </a:rPr>
              <a:t> </a:t>
            </a:r>
            <a:r>
              <a:rPr sz="3968" spc="-77" dirty="0">
                <a:latin typeface="Georgia"/>
                <a:cs typeface="Georgia"/>
              </a:rPr>
              <a:t>Consumption</a:t>
            </a:r>
            <a:endParaRPr sz="3968" dirty="0">
              <a:latin typeface="Georgia"/>
              <a:cs typeface="Georgi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61" y="162919"/>
            <a:ext cx="9999803" cy="1368353"/>
          </a:xfrm>
          <a:prstGeom prst="rect">
            <a:avLst/>
          </a:prstGeom>
        </p:spPr>
        <p:txBody>
          <a:bodyPr vert="horz" wrap="square" lIns="0" tIns="13999" rIns="0" bIns="0" rtlCol="0" anchor="ctr">
            <a:spAutoFit/>
          </a:bodyPr>
          <a:lstStyle/>
          <a:p>
            <a:pPr marL="2418364" marR="5600" indent="-2403664">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Summarizing</a:t>
            </a:r>
            <a:r>
              <a:rPr b="1" spc="-28"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Features</a:t>
            </a:r>
            <a:r>
              <a:rPr b="1" spc="-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of</a:t>
            </a:r>
            <a:r>
              <a:rPr b="1" spc="-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Link-State </a:t>
            </a:r>
            <a:r>
              <a:rPr b="1" spc="-97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33"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187386" y="1619115"/>
            <a:ext cx="9999803" cy="5540735"/>
          </a:xfrm>
          <a:prstGeom prst="rect">
            <a:avLst/>
          </a:prstGeom>
        </p:spPr>
        <p:txBody>
          <a:bodyPr vert="horz" wrap="square" lIns="0" tIns="54598" rIns="0" bIns="0" rtlCol="0">
            <a:spAutoFit/>
          </a:bodyPr>
          <a:lstStyle/>
          <a:p>
            <a:pPr marL="471199" indent="-457200">
              <a:spcBef>
                <a:spcPts val="430"/>
              </a:spcBef>
              <a:buClr>
                <a:srgbClr val="C00000"/>
              </a:buClr>
              <a:buSzPct val="84615"/>
              <a:buFont typeface="Wingdings" panose="05000000000000000000" pitchFamily="2" charset="2"/>
              <a:buChar char="Ø"/>
              <a:tabLst>
                <a:tab pos="316382" algn="l"/>
              </a:tabLst>
            </a:pPr>
            <a:r>
              <a:rPr sz="3200" b="1" dirty="0">
                <a:solidFill>
                  <a:srgbClr val="FF0000"/>
                </a:solidFill>
                <a:latin typeface="Times New Roman"/>
                <a:cs typeface="Times New Roman"/>
              </a:rPr>
              <a:t>The</a:t>
            </a:r>
            <a:r>
              <a:rPr sz="3200" b="1" spc="-17" dirty="0">
                <a:solidFill>
                  <a:srgbClr val="FF0000"/>
                </a:solidFill>
                <a:latin typeface="Times New Roman"/>
                <a:cs typeface="Times New Roman"/>
              </a:rPr>
              <a:t> </a:t>
            </a:r>
            <a:r>
              <a:rPr sz="3200" b="1" dirty="0">
                <a:solidFill>
                  <a:srgbClr val="FF0000"/>
                </a:solidFill>
                <a:latin typeface="Times New Roman"/>
                <a:cs typeface="Times New Roman"/>
              </a:rPr>
              <a:t>main</a:t>
            </a:r>
            <a:r>
              <a:rPr sz="3200" b="1" spc="-6" dirty="0">
                <a:solidFill>
                  <a:srgbClr val="FF0000"/>
                </a:solidFill>
                <a:latin typeface="Times New Roman"/>
                <a:cs typeface="Times New Roman"/>
              </a:rPr>
              <a:t> </a:t>
            </a:r>
            <a:r>
              <a:rPr sz="3200" b="1" spc="-11" dirty="0">
                <a:solidFill>
                  <a:srgbClr val="FF0000"/>
                </a:solidFill>
                <a:latin typeface="Times New Roman"/>
                <a:cs typeface="Times New Roman"/>
              </a:rPr>
              <a:t>features</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of</a:t>
            </a:r>
            <a:r>
              <a:rPr sz="3200" b="1" spc="-11" dirty="0">
                <a:solidFill>
                  <a:srgbClr val="FF0000"/>
                </a:solidFill>
                <a:latin typeface="Times New Roman"/>
                <a:cs typeface="Times New Roman"/>
              </a:rPr>
              <a:t> </a:t>
            </a:r>
            <a:r>
              <a:rPr sz="3200" b="1" spc="-6" dirty="0">
                <a:solidFill>
                  <a:srgbClr val="FF0000"/>
                </a:solidFill>
                <a:latin typeface="Times New Roman"/>
                <a:cs typeface="Times New Roman"/>
              </a:rPr>
              <a:t>link-state</a:t>
            </a:r>
            <a:r>
              <a:rPr sz="3200" b="1" spc="6" dirty="0">
                <a:solidFill>
                  <a:srgbClr val="FF0000"/>
                </a:solidFill>
                <a:latin typeface="Times New Roman"/>
                <a:cs typeface="Times New Roman"/>
              </a:rPr>
              <a:t> </a:t>
            </a:r>
            <a:r>
              <a:rPr sz="3200" b="1" spc="-6" dirty="0">
                <a:solidFill>
                  <a:srgbClr val="FF0000"/>
                </a:solidFill>
                <a:latin typeface="Times New Roman"/>
                <a:cs typeface="Times New Roman"/>
              </a:rPr>
              <a:t>routing protocols</a:t>
            </a:r>
            <a:r>
              <a:rPr sz="3200" b="1" spc="-6" dirty="0">
                <a:latin typeface="Times New Roman"/>
                <a:cs typeface="Times New Roman"/>
              </a:rPr>
              <a:t>:</a:t>
            </a:r>
            <a:endParaRPr sz="3200" dirty="0">
              <a:latin typeface="Times New Roman"/>
              <a:cs typeface="Times New Roman"/>
            </a:endParaRPr>
          </a:p>
          <a:p>
            <a:pPr marL="470499" marR="368879" indent="-457200">
              <a:lnSpc>
                <a:spcPts val="3097"/>
              </a:lnSpc>
              <a:spcBef>
                <a:spcPts val="711"/>
              </a:spcBef>
              <a:buClr>
                <a:srgbClr val="C00000"/>
              </a:buClr>
              <a:buSzPct val="84615"/>
              <a:buFont typeface="Wingdings" panose="05000000000000000000" pitchFamily="2" charset="2"/>
              <a:buChar char=""/>
              <a:tabLst>
                <a:tab pos="316382" algn="l"/>
              </a:tabLst>
            </a:pPr>
            <a:r>
              <a:rPr sz="3200" dirty="0">
                <a:latin typeface="Times New Roman"/>
                <a:cs typeface="Times New Roman"/>
              </a:rPr>
              <a:t>All</a:t>
            </a:r>
            <a:r>
              <a:rPr sz="3200" spc="-17" dirty="0">
                <a:latin typeface="Times New Roman"/>
                <a:cs typeface="Times New Roman"/>
              </a:rPr>
              <a:t> </a:t>
            </a:r>
            <a:r>
              <a:rPr sz="3200" dirty="0">
                <a:latin typeface="Times New Roman"/>
                <a:cs typeface="Times New Roman"/>
              </a:rPr>
              <a:t>routers</a:t>
            </a:r>
            <a:r>
              <a:rPr sz="3200" spc="-22" dirty="0">
                <a:latin typeface="Times New Roman"/>
                <a:cs typeface="Times New Roman"/>
              </a:rPr>
              <a:t> </a:t>
            </a:r>
            <a:r>
              <a:rPr sz="3200" spc="-6" dirty="0">
                <a:latin typeface="Times New Roman"/>
                <a:cs typeface="Times New Roman"/>
              </a:rPr>
              <a:t>learn</a:t>
            </a:r>
            <a:r>
              <a:rPr sz="3200" spc="11" dirty="0">
                <a:latin typeface="Times New Roman"/>
                <a:cs typeface="Times New Roman"/>
              </a:rPr>
              <a:t> </a:t>
            </a:r>
            <a:r>
              <a:rPr sz="3200" spc="-6" dirty="0">
                <a:latin typeface="Times New Roman"/>
                <a:cs typeface="Times New Roman"/>
              </a:rPr>
              <a:t>the</a:t>
            </a:r>
            <a:r>
              <a:rPr sz="3200" spc="11" dirty="0">
                <a:latin typeface="Times New Roman"/>
                <a:cs typeface="Times New Roman"/>
              </a:rPr>
              <a:t> </a:t>
            </a:r>
            <a:r>
              <a:rPr sz="3200" spc="-11" dirty="0">
                <a:latin typeface="Times New Roman"/>
                <a:cs typeface="Times New Roman"/>
              </a:rPr>
              <a:t>same</a:t>
            </a:r>
            <a:r>
              <a:rPr sz="3200" spc="6" dirty="0">
                <a:latin typeface="Times New Roman"/>
                <a:cs typeface="Times New Roman"/>
              </a:rPr>
              <a:t> </a:t>
            </a:r>
            <a:r>
              <a:rPr sz="3200" spc="-6" dirty="0">
                <a:latin typeface="Times New Roman"/>
                <a:cs typeface="Times New Roman"/>
              </a:rPr>
              <a:t>detailed</a:t>
            </a:r>
            <a:r>
              <a:rPr sz="3200" dirty="0">
                <a:latin typeface="Times New Roman"/>
                <a:cs typeface="Times New Roman"/>
              </a:rPr>
              <a:t> </a:t>
            </a:r>
            <a:r>
              <a:rPr sz="3200" spc="-6" dirty="0">
                <a:latin typeface="Times New Roman"/>
                <a:cs typeface="Times New Roman"/>
              </a:rPr>
              <a:t>information </a:t>
            </a:r>
            <a:r>
              <a:rPr sz="3200" dirty="0">
                <a:latin typeface="Times New Roman"/>
                <a:cs typeface="Times New Roman"/>
              </a:rPr>
              <a:t>about</a:t>
            </a:r>
            <a:r>
              <a:rPr sz="3200" spc="-6" dirty="0">
                <a:latin typeface="Times New Roman"/>
                <a:cs typeface="Times New Roman"/>
              </a:rPr>
              <a:t> </a:t>
            </a:r>
            <a:r>
              <a:rPr sz="3200" dirty="0">
                <a:latin typeface="Times New Roman"/>
                <a:cs typeface="Times New Roman"/>
              </a:rPr>
              <a:t>the </a:t>
            </a:r>
            <a:r>
              <a:rPr sz="3200" spc="-700" dirty="0">
                <a:latin typeface="Times New Roman"/>
                <a:cs typeface="Times New Roman"/>
              </a:rPr>
              <a:t> </a:t>
            </a:r>
            <a:r>
              <a:rPr sz="3200" spc="-6" dirty="0">
                <a:latin typeface="Times New Roman"/>
                <a:cs typeface="Times New Roman"/>
              </a:rPr>
              <a:t>states</a:t>
            </a:r>
            <a:r>
              <a:rPr sz="3200" spc="-17" dirty="0">
                <a:latin typeface="Times New Roman"/>
                <a:cs typeface="Times New Roman"/>
              </a:rPr>
              <a:t> </a:t>
            </a:r>
            <a:r>
              <a:rPr sz="3200" dirty="0">
                <a:latin typeface="Times New Roman"/>
                <a:cs typeface="Times New Roman"/>
              </a:rPr>
              <a:t>of </a:t>
            </a:r>
            <a:r>
              <a:rPr sz="3200" spc="-6" dirty="0">
                <a:latin typeface="Times New Roman"/>
                <a:cs typeface="Times New Roman"/>
              </a:rPr>
              <a:t>all </a:t>
            </a:r>
            <a:r>
              <a:rPr sz="3200" dirty="0">
                <a:latin typeface="Times New Roman"/>
                <a:cs typeface="Times New Roman"/>
              </a:rPr>
              <a:t>the</a:t>
            </a:r>
            <a:r>
              <a:rPr sz="3200" spc="-17" dirty="0">
                <a:latin typeface="Times New Roman"/>
                <a:cs typeface="Times New Roman"/>
              </a:rPr>
              <a:t> </a:t>
            </a:r>
            <a:r>
              <a:rPr sz="3200" dirty="0">
                <a:latin typeface="Times New Roman"/>
                <a:cs typeface="Times New Roman"/>
              </a:rPr>
              <a:t>router</a:t>
            </a:r>
            <a:r>
              <a:rPr sz="3200" spc="-22" dirty="0">
                <a:latin typeface="Times New Roman"/>
                <a:cs typeface="Times New Roman"/>
              </a:rPr>
              <a:t> </a:t>
            </a:r>
            <a:r>
              <a:rPr sz="3200" dirty="0">
                <a:latin typeface="Times New Roman"/>
                <a:cs typeface="Times New Roman"/>
              </a:rPr>
              <a:t>links</a:t>
            </a:r>
            <a:r>
              <a:rPr sz="3200" spc="-17" dirty="0">
                <a:latin typeface="Times New Roman"/>
                <a:cs typeface="Times New Roman"/>
              </a:rPr>
              <a:t> </a:t>
            </a:r>
            <a:r>
              <a:rPr sz="3200" dirty="0">
                <a:latin typeface="Times New Roman"/>
                <a:cs typeface="Times New Roman"/>
              </a:rPr>
              <a:t>in the</a:t>
            </a:r>
            <a:r>
              <a:rPr sz="3200" spc="-6" dirty="0">
                <a:latin typeface="Times New Roman"/>
                <a:cs typeface="Times New Roman"/>
              </a:rPr>
              <a:t> </a:t>
            </a:r>
            <a:r>
              <a:rPr sz="3200" dirty="0">
                <a:latin typeface="Times New Roman"/>
                <a:cs typeface="Times New Roman"/>
              </a:rPr>
              <a:t>internetwork.</a:t>
            </a:r>
          </a:p>
          <a:p>
            <a:pPr marL="470499" marR="400377" indent="-457200">
              <a:lnSpc>
                <a:spcPts val="3097"/>
              </a:lnSpc>
              <a:spcBef>
                <a:spcPts val="656"/>
              </a:spcBef>
              <a:buClr>
                <a:srgbClr val="C00000"/>
              </a:buClr>
              <a:buSzPct val="84615"/>
              <a:buFont typeface="Wingdings" panose="05000000000000000000" pitchFamily="2" charset="2"/>
              <a:buChar char=""/>
              <a:tabLst>
                <a:tab pos="316382" algn="l"/>
              </a:tabLst>
            </a:pPr>
            <a:r>
              <a:rPr sz="3200" dirty="0">
                <a:latin typeface="Times New Roman"/>
                <a:cs typeface="Times New Roman"/>
              </a:rPr>
              <a:t>The</a:t>
            </a:r>
            <a:r>
              <a:rPr sz="3200" spc="-28" dirty="0">
                <a:latin typeface="Times New Roman"/>
                <a:cs typeface="Times New Roman"/>
              </a:rPr>
              <a:t> </a:t>
            </a:r>
            <a:r>
              <a:rPr sz="3200" dirty="0">
                <a:latin typeface="Times New Roman"/>
                <a:cs typeface="Times New Roman"/>
              </a:rPr>
              <a:t>individual</a:t>
            </a:r>
            <a:r>
              <a:rPr sz="3200" spc="-28" dirty="0">
                <a:latin typeface="Times New Roman"/>
                <a:cs typeface="Times New Roman"/>
              </a:rPr>
              <a:t> </a:t>
            </a:r>
            <a:r>
              <a:rPr sz="3200" spc="-6" dirty="0">
                <a:latin typeface="Times New Roman"/>
                <a:cs typeface="Times New Roman"/>
              </a:rPr>
              <a:t>pieces</a:t>
            </a:r>
            <a:r>
              <a:rPr sz="3200" dirty="0">
                <a:latin typeface="Times New Roman"/>
                <a:cs typeface="Times New Roman"/>
              </a:rPr>
              <a:t> of</a:t>
            </a:r>
            <a:r>
              <a:rPr sz="3200" spc="-6" dirty="0">
                <a:latin typeface="Times New Roman"/>
                <a:cs typeface="Times New Roman"/>
              </a:rPr>
              <a:t> </a:t>
            </a:r>
            <a:r>
              <a:rPr sz="3200" dirty="0">
                <a:latin typeface="Times New Roman"/>
                <a:cs typeface="Times New Roman"/>
              </a:rPr>
              <a:t>topology</a:t>
            </a:r>
            <a:r>
              <a:rPr sz="3200" spc="-28" dirty="0">
                <a:latin typeface="Times New Roman"/>
                <a:cs typeface="Times New Roman"/>
              </a:rPr>
              <a:t> </a:t>
            </a:r>
            <a:r>
              <a:rPr sz="3200" spc="-6" dirty="0">
                <a:latin typeface="Times New Roman"/>
                <a:cs typeface="Times New Roman"/>
              </a:rPr>
              <a:t>information</a:t>
            </a:r>
            <a:r>
              <a:rPr sz="3200" dirty="0">
                <a:latin typeface="Times New Roman"/>
                <a:cs typeface="Times New Roman"/>
              </a:rPr>
              <a:t> are </a:t>
            </a:r>
            <a:r>
              <a:rPr sz="3200" spc="-6" dirty="0">
                <a:latin typeface="Times New Roman"/>
                <a:cs typeface="Times New Roman"/>
              </a:rPr>
              <a:t>called </a:t>
            </a:r>
            <a:r>
              <a:rPr sz="3200" spc="-700" dirty="0">
                <a:latin typeface="Times New Roman"/>
                <a:cs typeface="Times New Roman"/>
              </a:rPr>
              <a:t> </a:t>
            </a:r>
            <a:r>
              <a:rPr sz="3200" dirty="0">
                <a:latin typeface="Times New Roman"/>
                <a:cs typeface="Times New Roman"/>
              </a:rPr>
              <a:t>LSAs,</a:t>
            </a:r>
            <a:r>
              <a:rPr sz="3200" spc="-39" dirty="0">
                <a:latin typeface="Times New Roman"/>
                <a:cs typeface="Times New Roman"/>
              </a:rPr>
              <a:t> </a:t>
            </a:r>
            <a:r>
              <a:rPr sz="3200" dirty="0">
                <a:latin typeface="Times New Roman"/>
                <a:cs typeface="Times New Roman"/>
              </a:rPr>
              <a:t>with </a:t>
            </a:r>
            <a:r>
              <a:rPr sz="3200" spc="-6" dirty="0">
                <a:latin typeface="Times New Roman"/>
                <a:cs typeface="Times New Roman"/>
              </a:rPr>
              <a:t>all</a:t>
            </a:r>
            <a:r>
              <a:rPr sz="3200" dirty="0">
                <a:latin typeface="Times New Roman"/>
                <a:cs typeface="Times New Roman"/>
              </a:rPr>
              <a:t> LSAs</a:t>
            </a:r>
            <a:r>
              <a:rPr sz="3200" spc="-39" dirty="0">
                <a:latin typeface="Times New Roman"/>
                <a:cs typeface="Times New Roman"/>
              </a:rPr>
              <a:t> </a:t>
            </a:r>
            <a:r>
              <a:rPr sz="3200" spc="-6" dirty="0">
                <a:latin typeface="Times New Roman"/>
                <a:cs typeface="Times New Roman"/>
              </a:rPr>
              <a:t>stored</a:t>
            </a:r>
            <a:r>
              <a:rPr sz="3200" dirty="0">
                <a:latin typeface="Times New Roman"/>
                <a:cs typeface="Times New Roman"/>
              </a:rPr>
              <a:t> in</a:t>
            </a:r>
            <a:r>
              <a:rPr sz="3200" spc="6" dirty="0">
                <a:latin typeface="Times New Roman"/>
                <a:cs typeface="Times New Roman"/>
              </a:rPr>
              <a:t> </a:t>
            </a:r>
            <a:r>
              <a:rPr sz="3200" dirty="0">
                <a:latin typeface="Times New Roman"/>
                <a:cs typeface="Times New Roman"/>
              </a:rPr>
              <a:t>RAM</a:t>
            </a:r>
            <a:r>
              <a:rPr sz="3200" spc="-17" dirty="0">
                <a:latin typeface="Times New Roman"/>
                <a:cs typeface="Times New Roman"/>
              </a:rPr>
              <a:t> </a:t>
            </a:r>
            <a:r>
              <a:rPr sz="3200" dirty="0">
                <a:latin typeface="Times New Roman"/>
                <a:cs typeface="Times New Roman"/>
              </a:rPr>
              <a:t>in the</a:t>
            </a:r>
            <a:r>
              <a:rPr sz="3200" spc="-22" dirty="0">
                <a:latin typeface="Times New Roman"/>
                <a:cs typeface="Times New Roman"/>
              </a:rPr>
              <a:t> </a:t>
            </a:r>
            <a:r>
              <a:rPr sz="3200" dirty="0">
                <a:latin typeface="Times New Roman"/>
                <a:cs typeface="Times New Roman"/>
              </a:rPr>
              <a:t>LSDB.</a:t>
            </a:r>
          </a:p>
          <a:p>
            <a:pPr marL="470499" marR="5600" indent="-457200">
              <a:lnSpc>
                <a:spcPct val="90000"/>
              </a:lnSpc>
              <a:spcBef>
                <a:spcPts val="617"/>
              </a:spcBef>
              <a:buClr>
                <a:srgbClr val="C00000"/>
              </a:buClr>
              <a:buSzPct val="84615"/>
              <a:buFont typeface="Wingdings" panose="05000000000000000000" pitchFamily="2" charset="2"/>
              <a:buChar char=""/>
              <a:tabLst>
                <a:tab pos="316382" algn="l"/>
              </a:tabLst>
            </a:pPr>
            <a:r>
              <a:rPr sz="3200" dirty="0">
                <a:latin typeface="Times New Roman"/>
                <a:cs typeface="Times New Roman"/>
              </a:rPr>
              <a:t>Routers</a:t>
            </a:r>
            <a:r>
              <a:rPr sz="3200" spc="11" dirty="0">
                <a:latin typeface="Times New Roman"/>
                <a:cs typeface="Times New Roman"/>
              </a:rPr>
              <a:t> </a:t>
            </a:r>
            <a:r>
              <a:rPr sz="3200" dirty="0">
                <a:latin typeface="Times New Roman"/>
                <a:cs typeface="Times New Roman"/>
              </a:rPr>
              <a:t>flood</a:t>
            </a:r>
            <a:r>
              <a:rPr sz="3200" spc="50" dirty="0">
                <a:latin typeface="Times New Roman"/>
                <a:cs typeface="Times New Roman"/>
              </a:rPr>
              <a:t> </a:t>
            </a:r>
            <a:r>
              <a:rPr sz="3200" dirty="0">
                <a:latin typeface="Times New Roman"/>
                <a:cs typeface="Times New Roman"/>
              </a:rPr>
              <a:t>LSAs</a:t>
            </a:r>
            <a:r>
              <a:rPr sz="3200" spc="44" dirty="0">
                <a:latin typeface="Times New Roman"/>
                <a:cs typeface="Times New Roman"/>
              </a:rPr>
              <a:t> </a:t>
            </a:r>
            <a:r>
              <a:rPr sz="3200" dirty="0">
                <a:latin typeface="Times New Roman"/>
                <a:cs typeface="Times New Roman"/>
              </a:rPr>
              <a:t>when</a:t>
            </a:r>
            <a:r>
              <a:rPr sz="3200" spc="11" dirty="0">
                <a:latin typeface="Times New Roman"/>
                <a:cs typeface="Times New Roman"/>
              </a:rPr>
              <a:t> </a:t>
            </a:r>
            <a:r>
              <a:rPr sz="3200" dirty="0">
                <a:latin typeface="Times New Roman"/>
                <a:cs typeface="Times New Roman"/>
              </a:rPr>
              <a:t>they</a:t>
            </a:r>
            <a:r>
              <a:rPr sz="3200" spc="61" dirty="0">
                <a:latin typeface="Times New Roman"/>
                <a:cs typeface="Times New Roman"/>
              </a:rPr>
              <a:t> </a:t>
            </a:r>
            <a:r>
              <a:rPr sz="3200" dirty="0">
                <a:latin typeface="Times New Roman"/>
                <a:cs typeface="Times New Roman"/>
              </a:rPr>
              <a:t>are</a:t>
            </a:r>
            <a:r>
              <a:rPr sz="3200" spc="33" dirty="0">
                <a:latin typeface="Times New Roman"/>
                <a:cs typeface="Times New Roman"/>
              </a:rPr>
              <a:t> </a:t>
            </a:r>
            <a:r>
              <a:rPr sz="3200" spc="-6" dirty="0">
                <a:latin typeface="Times New Roman"/>
                <a:cs typeface="Times New Roman"/>
              </a:rPr>
              <a:t>created,</a:t>
            </a:r>
            <a:r>
              <a:rPr sz="3200" spc="55" dirty="0">
                <a:latin typeface="Times New Roman"/>
                <a:cs typeface="Times New Roman"/>
              </a:rPr>
              <a:t> </a:t>
            </a:r>
            <a:r>
              <a:rPr sz="3200" dirty="0">
                <a:latin typeface="Times New Roman"/>
                <a:cs typeface="Times New Roman"/>
              </a:rPr>
              <a:t>on</a:t>
            </a:r>
            <a:r>
              <a:rPr sz="3200" spc="39" dirty="0">
                <a:latin typeface="Times New Roman"/>
                <a:cs typeface="Times New Roman"/>
              </a:rPr>
              <a:t> </a:t>
            </a:r>
            <a:r>
              <a:rPr sz="3200" dirty="0">
                <a:latin typeface="Times New Roman"/>
                <a:cs typeface="Times New Roman"/>
              </a:rPr>
              <a:t>a</a:t>
            </a:r>
            <a:r>
              <a:rPr sz="3200" spc="61" dirty="0">
                <a:latin typeface="Times New Roman"/>
                <a:cs typeface="Times New Roman"/>
              </a:rPr>
              <a:t> </a:t>
            </a:r>
            <a:r>
              <a:rPr sz="3200" spc="-6" dirty="0">
                <a:latin typeface="Times New Roman"/>
                <a:cs typeface="Times New Roman"/>
              </a:rPr>
              <a:t>regular </a:t>
            </a:r>
            <a:r>
              <a:rPr sz="3200" dirty="0">
                <a:latin typeface="Times New Roman"/>
                <a:cs typeface="Times New Roman"/>
              </a:rPr>
              <a:t> </a:t>
            </a:r>
            <a:r>
              <a:rPr sz="3200" spc="6" dirty="0">
                <a:latin typeface="Times New Roman"/>
                <a:cs typeface="Times New Roman"/>
              </a:rPr>
              <a:t>but</a:t>
            </a:r>
            <a:r>
              <a:rPr sz="3200" spc="-39" dirty="0">
                <a:latin typeface="Times New Roman"/>
                <a:cs typeface="Times New Roman"/>
              </a:rPr>
              <a:t> </a:t>
            </a:r>
            <a:r>
              <a:rPr sz="3200" dirty="0">
                <a:latin typeface="Times New Roman"/>
                <a:cs typeface="Times New Roman"/>
              </a:rPr>
              <a:t>long</a:t>
            </a:r>
            <a:r>
              <a:rPr sz="3200" spc="-11" dirty="0">
                <a:latin typeface="Times New Roman"/>
                <a:cs typeface="Times New Roman"/>
              </a:rPr>
              <a:t> </a:t>
            </a:r>
            <a:r>
              <a:rPr sz="3200" spc="-6" dirty="0">
                <a:latin typeface="Times New Roman"/>
                <a:cs typeface="Times New Roman"/>
              </a:rPr>
              <a:t>time</a:t>
            </a:r>
            <a:r>
              <a:rPr sz="3200" dirty="0">
                <a:latin typeface="Times New Roman"/>
                <a:cs typeface="Times New Roman"/>
              </a:rPr>
              <a:t> interval</a:t>
            </a:r>
            <a:r>
              <a:rPr sz="3200" spc="-11" dirty="0">
                <a:latin typeface="Times New Roman"/>
                <a:cs typeface="Times New Roman"/>
              </a:rPr>
              <a:t> </a:t>
            </a:r>
            <a:r>
              <a:rPr sz="3200" dirty="0">
                <a:latin typeface="Times New Roman"/>
                <a:cs typeface="Times New Roman"/>
              </a:rPr>
              <a:t>if the</a:t>
            </a:r>
            <a:r>
              <a:rPr sz="3200" spc="-17" dirty="0">
                <a:latin typeface="Times New Roman"/>
                <a:cs typeface="Times New Roman"/>
              </a:rPr>
              <a:t> </a:t>
            </a:r>
            <a:r>
              <a:rPr sz="3200" dirty="0">
                <a:latin typeface="Times New Roman"/>
                <a:cs typeface="Times New Roman"/>
              </a:rPr>
              <a:t>LSAs</a:t>
            </a:r>
            <a:r>
              <a:rPr sz="3200" spc="-17" dirty="0">
                <a:latin typeface="Times New Roman"/>
                <a:cs typeface="Times New Roman"/>
              </a:rPr>
              <a:t> </a:t>
            </a:r>
            <a:r>
              <a:rPr sz="3200" dirty="0">
                <a:latin typeface="Times New Roman"/>
                <a:cs typeface="Times New Roman"/>
              </a:rPr>
              <a:t>do</a:t>
            </a:r>
            <a:r>
              <a:rPr sz="3200" spc="-11" dirty="0">
                <a:latin typeface="Times New Roman"/>
                <a:cs typeface="Times New Roman"/>
              </a:rPr>
              <a:t> </a:t>
            </a:r>
            <a:r>
              <a:rPr sz="3200" spc="6" dirty="0">
                <a:latin typeface="Times New Roman"/>
                <a:cs typeface="Times New Roman"/>
              </a:rPr>
              <a:t>not</a:t>
            </a:r>
            <a:r>
              <a:rPr sz="3200" spc="-22" dirty="0">
                <a:latin typeface="Times New Roman"/>
                <a:cs typeface="Times New Roman"/>
              </a:rPr>
              <a:t> </a:t>
            </a:r>
            <a:r>
              <a:rPr sz="3200" dirty="0">
                <a:latin typeface="Times New Roman"/>
                <a:cs typeface="Times New Roman"/>
              </a:rPr>
              <a:t>change</a:t>
            </a:r>
            <a:r>
              <a:rPr sz="3200" spc="-33" dirty="0">
                <a:latin typeface="Times New Roman"/>
                <a:cs typeface="Times New Roman"/>
              </a:rPr>
              <a:t> </a:t>
            </a:r>
            <a:r>
              <a:rPr sz="3200" dirty="0">
                <a:latin typeface="Times New Roman"/>
                <a:cs typeface="Times New Roman"/>
              </a:rPr>
              <a:t>over</a:t>
            </a:r>
            <a:r>
              <a:rPr sz="3200" spc="-39" dirty="0">
                <a:latin typeface="Times New Roman"/>
                <a:cs typeface="Times New Roman"/>
              </a:rPr>
              <a:t> </a:t>
            </a:r>
            <a:r>
              <a:rPr sz="3200" spc="-6" dirty="0">
                <a:latin typeface="Times New Roman"/>
                <a:cs typeface="Times New Roman"/>
              </a:rPr>
              <a:t>time, </a:t>
            </a:r>
            <a:r>
              <a:rPr sz="3200" spc="-700" dirty="0">
                <a:latin typeface="Times New Roman"/>
                <a:cs typeface="Times New Roman"/>
              </a:rPr>
              <a:t> </a:t>
            </a:r>
            <a:r>
              <a:rPr sz="3200" dirty="0">
                <a:latin typeface="Times New Roman"/>
                <a:cs typeface="Times New Roman"/>
              </a:rPr>
              <a:t>and</a:t>
            </a:r>
            <a:r>
              <a:rPr sz="3200" spc="-33" dirty="0">
                <a:latin typeface="Times New Roman"/>
                <a:cs typeface="Times New Roman"/>
              </a:rPr>
              <a:t> </a:t>
            </a:r>
            <a:r>
              <a:rPr sz="3200" spc="-6" dirty="0">
                <a:latin typeface="Times New Roman"/>
                <a:cs typeface="Times New Roman"/>
              </a:rPr>
              <a:t>immediately</a:t>
            </a:r>
            <a:r>
              <a:rPr sz="3200" spc="6" dirty="0">
                <a:latin typeface="Times New Roman"/>
                <a:cs typeface="Times New Roman"/>
              </a:rPr>
              <a:t> </a:t>
            </a:r>
            <a:r>
              <a:rPr sz="3200" dirty="0">
                <a:latin typeface="Times New Roman"/>
                <a:cs typeface="Times New Roman"/>
              </a:rPr>
              <a:t>when</a:t>
            </a:r>
            <a:r>
              <a:rPr sz="3200" spc="-22" dirty="0">
                <a:latin typeface="Times New Roman"/>
                <a:cs typeface="Times New Roman"/>
              </a:rPr>
              <a:t> </a:t>
            </a:r>
            <a:r>
              <a:rPr sz="3200" dirty="0">
                <a:latin typeface="Times New Roman"/>
                <a:cs typeface="Times New Roman"/>
              </a:rPr>
              <a:t>an</a:t>
            </a:r>
            <a:r>
              <a:rPr sz="3200" spc="-17" dirty="0">
                <a:latin typeface="Times New Roman"/>
                <a:cs typeface="Times New Roman"/>
              </a:rPr>
              <a:t> </a:t>
            </a:r>
            <a:r>
              <a:rPr sz="3200" dirty="0">
                <a:latin typeface="Times New Roman"/>
                <a:cs typeface="Times New Roman"/>
              </a:rPr>
              <a:t>LSA</a:t>
            </a:r>
            <a:r>
              <a:rPr sz="3200" spc="-165" dirty="0">
                <a:latin typeface="Times New Roman"/>
                <a:cs typeface="Times New Roman"/>
              </a:rPr>
              <a:t> </a:t>
            </a:r>
            <a:r>
              <a:rPr sz="3200" dirty="0">
                <a:latin typeface="Times New Roman"/>
                <a:cs typeface="Times New Roman"/>
              </a:rPr>
              <a:t>changes.</a:t>
            </a:r>
          </a:p>
          <a:p>
            <a:pPr marL="470499" marR="709060" indent="-457200" algn="just">
              <a:lnSpc>
                <a:spcPct val="90000"/>
              </a:lnSpc>
              <a:spcBef>
                <a:spcPts val="661"/>
              </a:spcBef>
              <a:buClr>
                <a:srgbClr val="C00000"/>
              </a:buClr>
              <a:buSzPct val="84615"/>
              <a:buFont typeface="Wingdings" panose="05000000000000000000" pitchFamily="2" charset="2"/>
              <a:buChar char=""/>
              <a:tabLst>
                <a:tab pos="316382" algn="l"/>
              </a:tabLst>
            </a:pPr>
            <a:r>
              <a:rPr sz="3200" dirty="0">
                <a:latin typeface="Times New Roman"/>
                <a:cs typeface="Times New Roman"/>
              </a:rPr>
              <a:t>The</a:t>
            </a:r>
            <a:r>
              <a:rPr sz="3200" spc="-39" dirty="0">
                <a:latin typeface="Times New Roman"/>
                <a:cs typeface="Times New Roman"/>
              </a:rPr>
              <a:t> </a:t>
            </a:r>
            <a:r>
              <a:rPr sz="3200" dirty="0">
                <a:latin typeface="Times New Roman"/>
                <a:cs typeface="Times New Roman"/>
              </a:rPr>
              <a:t>LSDB</a:t>
            </a:r>
            <a:r>
              <a:rPr sz="3200" spc="-22" dirty="0">
                <a:latin typeface="Times New Roman"/>
                <a:cs typeface="Times New Roman"/>
              </a:rPr>
              <a:t> </a:t>
            </a:r>
            <a:r>
              <a:rPr sz="3200" dirty="0">
                <a:latin typeface="Times New Roman"/>
                <a:cs typeface="Times New Roman"/>
              </a:rPr>
              <a:t>does</a:t>
            </a:r>
            <a:r>
              <a:rPr sz="3200" spc="-33" dirty="0">
                <a:latin typeface="Times New Roman"/>
                <a:cs typeface="Times New Roman"/>
              </a:rPr>
              <a:t> </a:t>
            </a:r>
            <a:r>
              <a:rPr sz="3200" spc="6" dirty="0">
                <a:latin typeface="Times New Roman"/>
                <a:cs typeface="Times New Roman"/>
              </a:rPr>
              <a:t>not</a:t>
            </a:r>
            <a:r>
              <a:rPr sz="3200" spc="-22" dirty="0">
                <a:latin typeface="Times New Roman"/>
                <a:cs typeface="Times New Roman"/>
              </a:rPr>
              <a:t> </a:t>
            </a:r>
            <a:r>
              <a:rPr sz="3200" dirty="0">
                <a:latin typeface="Times New Roman"/>
                <a:cs typeface="Times New Roman"/>
              </a:rPr>
              <a:t>contain</a:t>
            </a:r>
            <a:r>
              <a:rPr sz="3200" spc="-22" dirty="0">
                <a:latin typeface="Times New Roman"/>
                <a:cs typeface="Times New Roman"/>
              </a:rPr>
              <a:t> </a:t>
            </a:r>
            <a:r>
              <a:rPr sz="3200" dirty="0">
                <a:latin typeface="Times New Roman"/>
                <a:cs typeface="Times New Roman"/>
              </a:rPr>
              <a:t>routes,</a:t>
            </a:r>
            <a:r>
              <a:rPr sz="3200" spc="-28" dirty="0">
                <a:latin typeface="Times New Roman"/>
                <a:cs typeface="Times New Roman"/>
              </a:rPr>
              <a:t> </a:t>
            </a:r>
            <a:r>
              <a:rPr sz="3200" spc="6" dirty="0">
                <a:latin typeface="Times New Roman"/>
                <a:cs typeface="Times New Roman"/>
              </a:rPr>
              <a:t>but</a:t>
            </a:r>
            <a:r>
              <a:rPr sz="3200" dirty="0">
                <a:latin typeface="Times New Roman"/>
                <a:cs typeface="Times New Roman"/>
              </a:rPr>
              <a:t> </a:t>
            </a:r>
            <a:r>
              <a:rPr sz="3200" spc="-11" dirty="0">
                <a:latin typeface="Times New Roman"/>
                <a:cs typeface="Times New Roman"/>
              </a:rPr>
              <a:t>it</a:t>
            </a:r>
            <a:r>
              <a:rPr sz="3200" spc="-6" dirty="0">
                <a:latin typeface="Times New Roman"/>
                <a:cs typeface="Times New Roman"/>
              </a:rPr>
              <a:t> </a:t>
            </a:r>
            <a:r>
              <a:rPr sz="3200" dirty="0">
                <a:latin typeface="Times New Roman"/>
                <a:cs typeface="Times New Roman"/>
              </a:rPr>
              <a:t>does</a:t>
            </a:r>
            <a:r>
              <a:rPr sz="3200" spc="-22" dirty="0">
                <a:latin typeface="Times New Roman"/>
                <a:cs typeface="Times New Roman"/>
              </a:rPr>
              <a:t> </a:t>
            </a:r>
            <a:r>
              <a:rPr sz="3200" dirty="0">
                <a:latin typeface="Times New Roman"/>
                <a:cs typeface="Times New Roman"/>
              </a:rPr>
              <a:t>contain </a:t>
            </a:r>
            <a:r>
              <a:rPr sz="3200" spc="-705" dirty="0">
                <a:latin typeface="Times New Roman"/>
                <a:cs typeface="Times New Roman"/>
              </a:rPr>
              <a:t> </a:t>
            </a:r>
            <a:r>
              <a:rPr sz="3200" spc="-6" dirty="0">
                <a:latin typeface="Times New Roman"/>
                <a:cs typeface="Times New Roman"/>
              </a:rPr>
              <a:t>information </a:t>
            </a:r>
            <a:r>
              <a:rPr sz="3200" dirty="0">
                <a:latin typeface="Times New Roman"/>
                <a:cs typeface="Times New Roman"/>
              </a:rPr>
              <a:t>that </a:t>
            </a:r>
            <a:r>
              <a:rPr sz="3200" spc="-6" dirty="0">
                <a:latin typeface="Times New Roman"/>
                <a:cs typeface="Times New Roman"/>
              </a:rPr>
              <a:t>can </a:t>
            </a:r>
            <a:r>
              <a:rPr sz="3200" dirty="0">
                <a:latin typeface="Times New Roman"/>
                <a:cs typeface="Times New Roman"/>
              </a:rPr>
              <a:t>be processed by the </a:t>
            </a:r>
            <a:r>
              <a:rPr sz="3200" spc="-6" dirty="0">
                <a:latin typeface="Times New Roman"/>
                <a:cs typeface="Times New Roman"/>
              </a:rPr>
              <a:t>Dijkstra </a:t>
            </a:r>
            <a:r>
              <a:rPr sz="3200" dirty="0">
                <a:latin typeface="Times New Roman"/>
                <a:cs typeface="Times New Roman"/>
              </a:rPr>
              <a:t>SPF </a:t>
            </a:r>
            <a:r>
              <a:rPr sz="3200" spc="-700" dirty="0">
                <a:latin typeface="Times New Roman"/>
                <a:cs typeface="Times New Roman"/>
              </a:rPr>
              <a:t> </a:t>
            </a:r>
            <a:r>
              <a:rPr sz="3200" dirty="0">
                <a:latin typeface="Times New Roman"/>
                <a:cs typeface="Times New Roman"/>
              </a:rPr>
              <a:t>algorithm</a:t>
            </a:r>
            <a:r>
              <a:rPr sz="3200" spc="-33" dirty="0">
                <a:latin typeface="Times New Roman"/>
                <a:cs typeface="Times New Roman"/>
              </a:rPr>
              <a:t> </a:t>
            </a:r>
            <a:r>
              <a:rPr sz="3200" dirty="0">
                <a:latin typeface="Times New Roman"/>
                <a:cs typeface="Times New Roman"/>
              </a:rPr>
              <a:t>to </a:t>
            </a:r>
            <a:r>
              <a:rPr sz="3200" spc="-6" dirty="0">
                <a:latin typeface="Times New Roman"/>
                <a:cs typeface="Times New Roman"/>
              </a:rPr>
              <a:t>find</a:t>
            </a:r>
            <a:r>
              <a:rPr sz="3200" spc="-11" dirty="0">
                <a:latin typeface="Times New Roman"/>
                <a:cs typeface="Times New Roman"/>
              </a:rPr>
              <a:t> </a:t>
            </a:r>
            <a:r>
              <a:rPr sz="3200" dirty="0">
                <a:latin typeface="Times New Roman"/>
                <a:cs typeface="Times New Roman"/>
              </a:rPr>
              <a:t>a</a:t>
            </a:r>
            <a:r>
              <a:rPr sz="3200" spc="-11" dirty="0">
                <a:latin typeface="Times New Roman"/>
                <a:cs typeface="Times New Roman"/>
              </a:rPr>
              <a:t> router‘s</a:t>
            </a:r>
            <a:r>
              <a:rPr sz="3200" spc="-28" dirty="0">
                <a:latin typeface="Times New Roman"/>
                <a:cs typeface="Times New Roman"/>
              </a:rPr>
              <a:t> </a:t>
            </a:r>
            <a:r>
              <a:rPr sz="3200" dirty="0">
                <a:latin typeface="Times New Roman"/>
                <a:cs typeface="Times New Roman"/>
              </a:rPr>
              <a:t>best</a:t>
            </a:r>
            <a:r>
              <a:rPr sz="3200" spc="-11" dirty="0">
                <a:latin typeface="Times New Roman"/>
                <a:cs typeface="Times New Roman"/>
              </a:rPr>
              <a:t> </a:t>
            </a:r>
            <a:r>
              <a:rPr sz="3200" dirty="0">
                <a:latin typeface="Times New Roman"/>
                <a:cs typeface="Times New Roman"/>
              </a:rPr>
              <a:t>routes.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6095" y="343225"/>
            <a:ext cx="9999803" cy="1368353"/>
          </a:xfrm>
          <a:prstGeom prst="rect">
            <a:avLst/>
          </a:prstGeom>
        </p:spPr>
        <p:txBody>
          <a:bodyPr vert="horz" wrap="square" lIns="0" tIns="13999" rIns="0" bIns="0" rtlCol="0" anchor="ctr">
            <a:spAutoFit/>
          </a:bodyPr>
          <a:lstStyle/>
          <a:p>
            <a:pPr marL="1335525" marR="5600" indent="-1320825">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Summarizing</a:t>
            </a:r>
            <a:r>
              <a:rPr b="1" spc="-28"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Features</a:t>
            </a:r>
            <a:r>
              <a:rPr b="1" spc="-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of</a:t>
            </a:r>
            <a:r>
              <a:rPr b="1" spc="-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the</a:t>
            </a:r>
            <a:r>
              <a:rPr b="1" spc="-11" dirty="0">
                <a:solidFill>
                  <a:schemeClr val="bg1"/>
                </a:solidFill>
                <a:latin typeface="Times New Roman" panose="02020603050405020304" pitchFamily="18" charset="0"/>
                <a:cs typeface="Times New Roman" panose="02020603050405020304" pitchFamily="18" charset="0"/>
              </a:rPr>
              <a:t> </a:t>
            </a:r>
            <a:r>
              <a:rPr b="1" spc="-6" dirty="0">
                <a:solidFill>
                  <a:schemeClr val="bg1"/>
                </a:solidFill>
                <a:latin typeface="Times New Roman" panose="02020603050405020304" pitchFamily="18" charset="0"/>
                <a:cs typeface="Times New Roman" panose="02020603050405020304" pitchFamily="18" charset="0"/>
              </a:rPr>
              <a:t>Link-State </a:t>
            </a:r>
            <a:r>
              <a:rPr b="1" spc="-976"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Routing</a:t>
            </a:r>
            <a:r>
              <a:rPr b="1" spc="-33"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r>
              <a:rPr b="1" dirty="0">
                <a:solidFill>
                  <a:schemeClr val="bg1"/>
                </a:solidFill>
                <a:latin typeface="Times New Roman" panose="02020603050405020304" pitchFamily="18" charset="0"/>
                <a:cs typeface="Times New Roman" panose="02020603050405020304" pitchFamily="18" charset="0"/>
              </a:rPr>
              <a:t> </a:t>
            </a:r>
            <a:r>
              <a:rPr sz="3197" b="1" i="1" dirty="0">
                <a:solidFill>
                  <a:schemeClr val="bg1"/>
                </a:solidFill>
                <a:latin typeface="Times New Roman" panose="02020603050405020304" pitchFamily="18" charset="0"/>
                <a:cs typeface="Times New Roman" panose="02020603050405020304" pitchFamily="18" charset="0"/>
              </a:rPr>
              <a:t>(Continued)</a:t>
            </a:r>
            <a:endParaRPr sz="3197"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23311" y="1777167"/>
            <a:ext cx="9048511" cy="4956899"/>
          </a:xfrm>
          <a:prstGeom prst="rect">
            <a:avLst/>
          </a:prstGeom>
        </p:spPr>
        <p:txBody>
          <a:bodyPr vert="horz" wrap="square" lIns="0" tIns="104296" rIns="0" bIns="0" rtlCol="0">
            <a:spAutoFit/>
          </a:bodyPr>
          <a:lstStyle/>
          <a:p>
            <a:pPr marL="470499" marR="194589" indent="-457200">
              <a:lnSpc>
                <a:spcPts val="2965"/>
              </a:lnSpc>
              <a:spcBef>
                <a:spcPts val="821"/>
              </a:spcBef>
              <a:buClr>
                <a:srgbClr val="C00000"/>
              </a:buClr>
              <a:buSzPct val="83928"/>
              <a:buFont typeface="Wingdings" panose="05000000000000000000" pitchFamily="2" charset="2"/>
              <a:buChar char="Ø"/>
              <a:tabLst>
                <a:tab pos="316382" algn="l"/>
              </a:tabLst>
            </a:pPr>
            <a:r>
              <a:rPr sz="3200" spc="-6" dirty="0">
                <a:latin typeface="Times New Roman"/>
                <a:cs typeface="Times New Roman"/>
              </a:rPr>
              <a:t>Each </a:t>
            </a:r>
            <a:r>
              <a:rPr sz="3200" dirty="0">
                <a:latin typeface="Times New Roman"/>
                <a:cs typeface="Times New Roman"/>
              </a:rPr>
              <a:t>router runs </a:t>
            </a:r>
            <a:r>
              <a:rPr sz="3200" spc="-6" dirty="0">
                <a:latin typeface="Times New Roman"/>
                <a:cs typeface="Times New Roman"/>
              </a:rPr>
              <a:t>the SPF algorithm, with the LSDB as </a:t>
            </a:r>
            <a:r>
              <a:rPr sz="3200" spc="-755" dirty="0">
                <a:latin typeface="Times New Roman"/>
                <a:cs typeface="Times New Roman"/>
              </a:rPr>
              <a:t> </a:t>
            </a:r>
            <a:r>
              <a:rPr sz="3200" dirty="0">
                <a:latin typeface="Times New Roman"/>
                <a:cs typeface="Times New Roman"/>
              </a:rPr>
              <a:t>input, resulting </a:t>
            </a:r>
            <a:r>
              <a:rPr sz="3200" spc="-6" dirty="0">
                <a:latin typeface="Times New Roman"/>
                <a:cs typeface="Times New Roman"/>
              </a:rPr>
              <a:t>in </a:t>
            </a:r>
            <a:r>
              <a:rPr sz="3200" dirty="0">
                <a:latin typeface="Times New Roman"/>
                <a:cs typeface="Times New Roman"/>
              </a:rPr>
              <a:t>the </a:t>
            </a:r>
            <a:r>
              <a:rPr sz="3200" spc="-6" dirty="0">
                <a:latin typeface="Times New Roman"/>
                <a:cs typeface="Times New Roman"/>
              </a:rPr>
              <a:t>best (lowest cost/lowest-metric) </a:t>
            </a:r>
            <a:r>
              <a:rPr sz="3200" spc="-755" dirty="0">
                <a:latin typeface="Times New Roman"/>
                <a:cs typeface="Times New Roman"/>
              </a:rPr>
              <a:t> </a:t>
            </a:r>
            <a:r>
              <a:rPr sz="3200" spc="-6" dirty="0">
                <a:latin typeface="Times New Roman"/>
                <a:cs typeface="Times New Roman"/>
              </a:rPr>
              <a:t>routes</a:t>
            </a:r>
            <a:r>
              <a:rPr sz="3200" spc="-33" dirty="0">
                <a:latin typeface="Times New Roman"/>
                <a:cs typeface="Times New Roman"/>
              </a:rPr>
              <a:t> </a:t>
            </a:r>
            <a:r>
              <a:rPr sz="3200" spc="-6" dirty="0">
                <a:latin typeface="Times New Roman"/>
                <a:cs typeface="Times New Roman"/>
              </a:rPr>
              <a:t>being</a:t>
            </a:r>
            <a:r>
              <a:rPr sz="3200" spc="-11" dirty="0">
                <a:latin typeface="Times New Roman"/>
                <a:cs typeface="Times New Roman"/>
              </a:rPr>
              <a:t> </a:t>
            </a:r>
            <a:r>
              <a:rPr sz="3200" spc="-6" dirty="0">
                <a:latin typeface="Times New Roman"/>
                <a:cs typeface="Times New Roman"/>
              </a:rPr>
              <a:t>added to </a:t>
            </a:r>
            <a:r>
              <a:rPr sz="3200" dirty="0">
                <a:latin typeface="Times New Roman"/>
                <a:cs typeface="Times New Roman"/>
              </a:rPr>
              <a:t>the</a:t>
            </a:r>
            <a:r>
              <a:rPr sz="3200" spc="-11" dirty="0">
                <a:latin typeface="Times New Roman"/>
                <a:cs typeface="Times New Roman"/>
              </a:rPr>
              <a:t> </a:t>
            </a:r>
            <a:r>
              <a:rPr sz="3200" spc="-6" dirty="0">
                <a:latin typeface="Times New Roman"/>
                <a:cs typeface="Times New Roman"/>
              </a:rPr>
              <a:t>IP</a:t>
            </a:r>
            <a:r>
              <a:rPr sz="3200" spc="-105" dirty="0">
                <a:latin typeface="Times New Roman"/>
                <a:cs typeface="Times New Roman"/>
              </a:rPr>
              <a:t> </a:t>
            </a:r>
            <a:r>
              <a:rPr sz="3200" dirty="0">
                <a:latin typeface="Times New Roman"/>
                <a:cs typeface="Times New Roman"/>
              </a:rPr>
              <a:t>routing</a:t>
            </a:r>
            <a:r>
              <a:rPr sz="3200" spc="-28" dirty="0">
                <a:latin typeface="Times New Roman"/>
                <a:cs typeface="Times New Roman"/>
              </a:rPr>
              <a:t> </a:t>
            </a:r>
            <a:r>
              <a:rPr sz="3200" spc="-6" dirty="0">
                <a:latin typeface="Times New Roman"/>
                <a:cs typeface="Times New Roman"/>
              </a:rPr>
              <a:t>table.</a:t>
            </a:r>
            <a:endParaRPr sz="3200" dirty="0">
              <a:latin typeface="Times New Roman"/>
              <a:cs typeface="Times New Roman"/>
            </a:endParaRPr>
          </a:p>
          <a:p>
            <a:pPr marL="470499" marR="245686" indent="-457200">
              <a:lnSpc>
                <a:spcPts val="2965"/>
              </a:lnSpc>
              <a:spcBef>
                <a:spcPts val="656"/>
              </a:spcBef>
              <a:buClr>
                <a:srgbClr val="C00000"/>
              </a:buClr>
              <a:buSzPct val="83928"/>
              <a:buFont typeface="Wingdings" panose="05000000000000000000" pitchFamily="2" charset="2"/>
              <a:buChar char="Ø"/>
              <a:tabLst>
                <a:tab pos="316382" algn="l"/>
              </a:tabLst>
            </a:pPr>
            <a:r>
              <a:rPr sz="3200" spc="-6" dirty="0">
                <a:latin typeface="Times New Roman"/>
                <a:cs typeface="Times New Roman"/>
              </a:rPr>
              <a:t>Link-state</a:t>
            </a:r>
            <a:r>
              <a:rPr lang="en-US" sz="3200" spc="-33" dirty="0">
                <a:latin typeface="Times New Roman"/>
                <a:cs typeface="Times New Roman"/>
              </a:rPr>
              <a:t> </a:t>
            </a:r>
            <a:r>
              <a:rPr sz="3200" dirty="0">
                <a:latin typeface="Times New Roman"/>
                <a:cs typeface="Times New Roman"/>
              </a:rPr>
              <a:t>protocols</a:t>
            </a:r>
            <a:r>
              <a:rPr sz="3200" spc="-28" dirty="0">
                <a:latin typeface="Times New Roman"/>
                <a:cs typeface="Times New Roman"/>
              </a:rPr>
              <a:t> </a:t>
            </a:r>
            <a:r>
              <a:rPr sz="3200" spc="-11" dirty="0">
                <a:latin typeface="Times New Roman"/>
                <a:cs typeface="Times New Roman"/>
              </a:rPr>
              <a:t>converge</a:t>
            </a:r>
            <a:r>
              <a:rPr sz="3200" spc="-17" dirty="0">
                <a:latin typeface="Times New Roman"/>
                <a:cs typeface="Times New Roman"/>
              </a:rPr>
              <a:t> </a:t>
            </a:r>
            <a:r>
              <a:rPr sz="3200" spc="-6" dirty="0">
                <a:latin typeface="Times New Roman"/>
                <a:cs typeface="Times New Roman"/>
              </a:rPr>
              <a:t>quickly</a:t>
            </a:r>
            <a:r>
              <a:rPr sz="3200" spc="-11" dirty="0">
                <a:latin typeface="Times New Roman"/>
                <a:cs typeface="Times New Roman"/>
              </a:rPr>
              <a:t> </a:t>
            </a:r>
            <a:r>
              <a:rPr sz="3200" spc="-6" dirty="0">
                <a:latin typeface="Times New Roman"/>
                <a:cs typeface="Times New Roman"/>
              </a:rPr>
              <a:t>by</a:t>
            </a:r>
            <a:r>
              <a:rPr sz="3200" spc="-11" dirty="0">
                <a:latin typeface="Times New Roman"/>
                <a:cs typeface="Times New Roman"/>
              </a:rPr>
              <a:t> </a:t>
            </a:r>
            <a:r>
              <a:rPr sz="3200" spc="-6" dirty="0">
                <a:latin typeface="Times New Roman"/>
                <a:cs typeface="Times New Roman"/>
              </a:rPr>
              <a:t>immediately </a:t>
            </a:r>
            <a:r>
              <a:rPr sz="3200" spc="-761" dirty="0">
                <a:latin typeface="Times New Roman"/>
                <a:cs typeface="Times New Roman"/>
              </a:rPr>
              <a:t> </a:t>
            </a:r>
            <a:r>
              <a:rPr sz="3200" dirty="0">
                <a:latin typeface="Times New Roman"/>
                <a:cs typeface="Times New Roman"/>
              </a:rPr>
              <a:t>reflooding</a:t>
            </a:r>
            <a:r>
              <a:rPr sz="3200" spc="-28" dirty="0">
                <a:latin typeface="Times New Roman"/>
                <a:cs typeface="Times New Roman"/>
              </a:rPr>
              <a:t> </a:t>
            </a:r>
            <a:r>
              <a:rPr sz="3200" spc="-6" dirty="0">
                <a:latin typeface="Times New Roman"/>
                <a:cs typeface="Times New Roman"/>
              </a:rPr>
              <a:t>LSAs</a:t>
            </a:r>
            <a:r>
              <a:rPr sz="3200" spc="17" dirty="0">
                <a:latin typeface="Times New Roman"/>
                <a:cs typeface="Times New Roman"/>
              </a:rPr>
              <a:t> </a:t>
            </a:r>
            <a:r>
              <a:rPr sz="3200" spc="-6" dirty="0">
                <a:latin typeface="Times New Roman"/>
                <a:cs typeface="Times New Roman"/>
              </a:rPr>
              <a:t>and rerunning</a:t>
            </a:r>
            <a:r>
              <a:rPr sz="3200" spc="-28" dirty="0">
                <a:latin typeface="Times New Roman"/>
                <a:cs typeface="Times New Roman"/>
              </a:rPr>
              <a:t> </a:t>
            </a:r>
            <a:r>
              <a:rPr sz="3200" dirty="0">
                <a:latin typeface="Times New Roman"/>
                <a:cs typeface="Times New Roman"/>
              </a:rPr>
              <a:t>the</a:t>
            </a:r>
            <a:r>
              <a:rPr sz="3200" spc="-6" dirty="0">
                <a:latin typeface="Times New Roman"/>
                <a:cs typeface="Times New Roman"/>
              </a:rPr>
              <a:t> SPF</a:t>
            </a:r>
            <a:r>
              <a:rPr sz="3200" spc="11" dirty="0">
                <a:latin typeface="Times New Roman"/>
                <a:cs typeface="Times New Roman"/>
              </a:rPr>
              <a:t> </a:t>
            </a:r>
            <a:r>
              <a:rPr sz="3200" spc="-6" dirty="0">
                <a:latin typeface="Times New Roman"/>
                <a:cs typeface="Times New Roman"/>
              </a:rPr>
              <a:t>algorithm.</a:t>
            </a:r>
            <a:endParaRPr sz="3200" dirty="0">
              <a:latin typeface="Times New Roman"/>
              <a:cs typeface="Times New Roman"/>
            </a:endParaRPr>
          </a:p>
          <a:p>
            <a:pPr marL="470499" marR="5600" indent="-457200">
              <a:lnSpc>
                <a:spcPct val="80000"/>
              </a:lnSpc>
              <a:spcBef>
                <a:spcPts val="683"/>
              </a:spcBef>
              <a:buClr>
                <a:srgbClr val="C00000"/>
              </a:buClr>
              <a:buSzPct val="83928"/>
              <a:buFont typeface="Wingdings" panose="05000000000000000000" pitchFamily="2" charset="2"/>
              <a:buChar char="Ø"/>
              <a:tabLst>
                <a:tab pos="315682" algn="l"/>
                <a:tab pos="316382" algn="l"/>
              </a:tabLst>
            </a:pPr>
            <a:r>
              <a:rPr sz="3200" spc="-6" dirty="0">
                <a:latin typeface="Times New Roman"/>
                <a:cs typeface="Times New Roman"/>
              </a:rPr>
              <a:t>Link-state </a:t>
            </a:r>
            <a:r>
              <a:rPr sz="3200" dirty="0">
                <a:latin typeface="Times New Roman"/>
                <a:cs typeface="Times New Roman"/>
              </a:rPr>
              <a:t>protocols </a:t>
            </a:r>
            <a:r>
              <a:rPr sz="3200" spc="-6" dirty="0">
                <a:latin typeface="Times New Roman"/>
                <a:cs typeface="Times New Roman"/>
              </a:rPr>
              <a:t>consume </a:t>
            </a:r>
            <a:r>
              <a:rPr sz="3200" spc="-11" dirty="0">
                <a:latin typeface="Times New Roman"/>
                <a:cs typeface="Times New Roman"/>
              </a:rPr>
              <a:t>much </a:t>
            </a:r>
            <a:r>
              <a:rPr sz="3200" spc="-6" dirty="0">
                <a:latin typeface="Times New Roman"/>
                <a:cs typeface="Times New Roman"/>
              </a:rPr>
              <a:t>more RAM and </a:t>
            </a:r>
            <a:r>
              <a:rPr sz="3200" dirty="0">
                <a:latin typeface="Times New Roman"/>
                <a:cs typeface="Times New Roman"/>
              </a:rPr>
              <a:t> </a:t>
            </a:r>
            <a:r>
              <a:rPr sz="3200" spc="-6" dirty="0">
                <a:latin typeface="Times New Roman"/>
                <a:cs typeface="Times New Roman"/>
              </a:rPr>
              <a:t>CPU than do distance vector </a:t>
            </a:r>
            <a:r>
              <a:rPr sz="3200" dirty="0">
                <a:latin typeface="Times New Roman"/>
                <a:cs typeface="Times New Roman"/>
              </a:rPr>
              <a:t>routing </a:t>
            </a:r>
            <a:r>
              <a:rPr sz="3200" spc="-6" dirty="0">
                <a:latin typeface="Times New Roman"/>
                <a:cs typeface="Times New Roman"/>
              </a:rPr>
              <a:t>protocols. If the </a:t>
            </a:r>
            <a:r>
              <a:rPr sz="3200" dirty="0">
                <a:latin typeface="Times New Roman"/>
                <a:cs typeface="Times New Roman"/>
              </a:rPr>
              <a:t> </a:t>
            </a:r>
            <a:r>
              <a:rPr sz="3200" spc="-6" dirty="0">
                <a:latin typeface="Times New Roman"/>
                <a:cs typeface="Times New Roman"/>
              </a:rPr>
              <a:t>internetwork</a:t>
            </a:r>
            <a:r>
              <a:rPr sz="3200" spc="-17" dirty="0">
                <a:latin typeface="Times New Roman"/>
                <a:cs typeface="Times New Roman"/>
              </a:rPr>
              <a:t> </a:t>
            </a:r>
            <a:r>
              <a:rPr sz="3200" spc="-6" dirty="0">
                <a:latin typeface="Times New Roman"/>
                <a:cs typeface="Times New Roman"/>
              </a:rPr>
              <a:t>changes</a:t>
            </a:r>
            <a:r>
              <a:rPr sz="3200" spc="-17" dirty="0">
                <a:latin typeface="Times New Roman"/>
                <a:cs typeface="Times New Roman"/>
              </a:rPr>
              <a:t> </a:t>
            </a:r>
            <a:r>
              <a:rPr sz="3200" spc="-6" dirty="0">
                <a:latin typeface="Times New Roman"/>
                <a:cs typeface="Times New Roman"/>
              </a:rPr>
              <a:t>a</a:t>
            </a:r>
            <a:r>
              <a:rPr sz="3200" spc="6" dirty="0">
                <a:latin typeface="Times New Roman"/>
                <a:cs typeface="Times New Roman"/>
              </a:rPr>
              <a:t> </a:t>
            </a:r>
            <a:r>
              <a:rPr sz="3200" dirty="0">
                <a:latin typeface="Times New Roman"/>
                <a:cs typeface="Times New Roman"/>
              </a:rPr>
              <a:t>lot,</a:t>
            </a:r>
            <a:r>
              <a:rPr sz="3200" spc="-17" dirty="0">
                <a:latin typeface="Times New Roman"/>
                <a:cs typeface="Times New Roman"/>
              </a:rPr>
              <a:t> </a:t>
            </a:r>
            <a:r>
              <a:rPr sz="3200" dirty="0">
                <a:latin typeface="Times New Roman"/>
                <a:cs typeface="Times New Roman"/>
              </a:rPr>
              <a:t>link-state</a:t>
            </a:r>
            <a:r>
              <a:rPr sz="3200" spc="-33" dirty="0">
                <a:latin typeface="Times New Roman"/>
                <a:cs typeface="Times New Roman"/>
              </a:rPr>
              <a:t> </a:t>
            </a:r>
            <a:r>
              <a:rPr sz="3200" dirty="0">
                <a:latin typeface="Times New Roman"/>
                <a:cs typeface="Times New Roman"/>
              </a:rPr>
              <a:t>protocols</a:t>
            </a:r>
            <a:r>
              <a:rPr sz="3200" spc="-28" dirty="0">
                <a:latin typeface="Times New Roman"/>
                <a:cs typeface="Times New Roman"/>
              </a:rPr>
              <a:t> </a:t>
            </a:r>
            <a:r>
              <a:rPr sz="3200" spc="-11" dirty="0">
                <a:latin typeface="Times New Roman"/>
                <a:cs typeface="Times New Roman"/>
              </a:rPr>
              <a:t>can</a:t>
            </a:r>
            <a:r>
              <a:rPr sz="3200" spc="22" dirty="0">
                <a:latin typeface="Times New Roman"/>
                <a:cs typeface="Times New Roman"/>
              </a:rPr>
              <a:t> </a:t>
            </a:r>
            <a:r>
              <a:rPr sz="3200" spc="-6" dirty="0">
                <a:latin typeface="Times New Roman"/>
                <a:cs typeface="Times New Roman"/>
              </a:rPr>
              <a:t>also </a:t>
            </a:r>
            <a:r>
              <a:rPr sz="3200" spc="-755" dirty="0">
                <a:latin typeface="Times New Roman"/>
                <a:cs typeface="Times New Roman"/>
              </a:rPr>
              <a:t> </a:t>
            </a:r>
            <a:r>
              <a:rPr sz="3200" spc="-6" dirty="0">
                <a:latin typeface="Times New Roman"/>
                <a:cs typeface="Times New Roman"/>
              </a:rPr>
              <a:t>consume </a:t>
            </a:r>
            <a:r>
              <a:rPr sz="3200" spc="-11" dirty="0">
                <a:latin typeface="Times New Roman"/>
                <a:cs typeface="Times New Roman"/>
              </a:rPr>
              <a:t>much </a:t>
            </a:r>
            <a:r>
              <a:rPr sz="3200" spc="-6" dirty="0">
                <a:latin typeface="Times New Roman"/>
                <a:cs typeface="Times New Roman"/>
              </a:rPr>
              <a:t>more bandwidth due to </a:t>
            </a:r>
            <a:r>
              <a:rPr sz="3200" dirty="0">
                <a:latin typeface="Times New Roman"/>
                <a:cs typeface="Times New Roman"/>
              </a:rPr>
              <a:t>the </a:t>
            </a:r>
            <a:r>
              <a:rPr sz="3200" spc="-6" dirty="0">
                <a:latin typeface="Times New Roman"/>
                <a:cs typeface="Times New Roman"/>
              </a:rPr>
              <a:t>(relative to </a:t>
            </a:r>
            <a:r>
              <a:rPr sz="3200" dirty="0">
                <a:latin typeface="Times New Roman"/>
                <a:cs typeface="Times New Roman"/>
              </a:rPr>
              <a:t> </a:t>
            </a:r>
            <a:r>
              <a:rPr sz="3200" spc="-6" dirty="0">
                <a:latin typeface="Times New Roman"/>
                <a:cs typeface="Times New Roman"/>
              </a:rPr>
              <a:t>distance</a:t>
            </a:r>
            <a:r>
              <a:rPr sz="3200" spc="-39" dirty="0">
                <a:latin typeface="Times New Roman"/>
                <a:cs typeface="Times New Roman"/>
              </a:rPr>
              <a:t> </a:t>
            </a:r>
            <a:r>
              <a:rPr sz="3200" spc="-6" dirty="0">
                <a:latin typeface="Times New Roman"/>
                <a:cs typeface="Times New Roman"/>
              </a:rPr>
              <a:t>vector protocols) </a:t>
            </a:r>
            <a:r>
              <a:rPr sz="3200" spc="-17" dirty="0">
                <a:latin typeface="Times New Roman"/>
                <a:cs typeface="Times New Roman"/>
              </a:rPr>
              <a:t>large</a:t>
            </a:r>
            <a:r>
              <a:rPr sz="3200" spc="-11" dirty="0">
                <a:latin typeface="Times New Roman"/>
                <a:cs typeface="Times New Roman"/>
              </a:rPr>
              <a:t> </a:t>
            </a:r>
            <a:r>
              <a:rPr sz="3200" spc="-6" dirty="0">
                <a:latin typeface="Times New Roman"/>
                <a:cs typeface="Times New Roman"/>
              </a:rPr>
              <a:t>number</a:t>
            </a:r>
            <a:r>
              <a:rPr sz="3200" spc="17" dirty="0">
                <a:latin typeface="Times New Roman"/>
                <a:cs typeface="Times New Roman"/>
              </a:rPr>
              <a:t> </a:t>
            </a:r>
            <a:r>
              <a:rPr sz="3200" spc="-6" dirty="0">
                <a:latin typeface="Times New Roman"/>
                <a:cs typeface="Times New Roman"/>
              </a:rPr>
              <a:t>of</a:t>
            </a:r>
            <a:r>
              <a:rPr sz="3200" spc="11" dirty="0">
                <a:latin typeface="Times New Roman"/>
                <a:cs typeface="Times New Roman"/>
              </a:rPr>
              <a:t> </a:t>
            </a:r>
            <a:r>
              <a:rPr sz="3200" spc="-6" dirty="0">
                <a:latin typeface="Times New Roman"/>
                <a:cs typeface="Times New Roman"/>
              </a:rPr>
              <a:t>bytes</a:t>
            </a:r>
            <a:r>
              <a:rPr sz="3200" spc="-11" dirty="0">
                <a:latin typeface="Times New Roman"/>
                <a:cs typeface="Times New Roman"/>
              </a:rPr>
              <a:t> </a:t>
            </a:r>
            <a:r>
              <a:rPr sz="3200" spc="-6" dirty="0">
                <a:latin typeface="Times New Roman"/>
                <a:cs typeface="Times New Roman"/>
              </a:rPr>
              <a:t>of </a:t>
            </a:r>
            <a:r>
              <a:rPr sz="3200" dirty="0">
                <a:latin typeface="Times New Roman"/>
                <a:cs typeface="Times New Roman"/>
              </a:rPr>
              <a:t> </a:t>
            </a:r>
            <a:r>
              <a:rPr sz="3200" spc="-6" dirty="0">
                <a:latin typeface="Times New Roman"/>
                <a:cs typeface="Times New Roman"/>
              </a:rPr>
              <a:t>information</a:t>
            </a:r>
            <a:r>
              <a:rPr sz="3200" spc="-28" dirty="0">
                <a:latin typeface="Times New Roman"/>
                <a:cs typeface="Times New Roman"/>
              </a:rPr>
              <a:t> </a:t>
            </a:r>
            <a:r>
              <a:rPr sz="3200" spc="-6" dirty="0">
                <a:latin typeface="Times New Roman"/>
                <a:cs typeface="Times New Roman"/>
              </a:rPr>
              <a:t>in</a:t>
            </a:r>
            <a:r>
              <a:rPr sz="3200" dirty="0">
                <a:latin typeface="Times New Roman"/>
                <a:cs typeface="Times New Roman"/>
              </a:rPr>
              <a:t> </a:t>
            </a:r>
            <a:r>
              <a:rPr sz="3200" spc="-6" dirty="0">
                <a:latin typeface="Times New Roman"/>
                <a:cs typeface="Times New Roman"/>
              </a:rPr>
              <a:t>each</a:t>
            </a:r>
            <a:r>
              <a:rPr sz="3200" dirty="0">
                <a:latin typeface="Times New Roman"/>
                <a:cs typeface="Times New Roman"/>
              </a:rPr>
              <a:t> </a:t>
            </a:r>
            <a:r>
              <a:rPr sz="3200" spc="-6" dirty="0">
                <a:latin typeface="Times New Roman"/>
                <a:cs typeface="Times New Roman"/>
              </a:rPr>
              <a:t>LSA.</a:t>
            </a:r>
            <a:endParaRPr sz="3200" dirty="0">
              <a:latin typeface="Times New Roman"/>
              <a:cs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0022" y="593599"/>
            <a:ext cx="6977300"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A</a:t>
            </a:r>
            <a:r>
              <a:rPr sz="4409" b="1" spc="-252"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Brief Review of</a:t>
            </a:r>
            <a:r>
              <a:rPr sz="4409" b="1" spc="-11"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IP</a:t>
            </a:r>
            <a:r>
              <a:rPr sz="4409" b="1" spc="-243" dirty="0">
                <a:solidFill>
                  <a:schemeClr val="bg1"/>
                </a:solidFill>
                <a:latin typeface="Times New Roman" panose="02020603050405020304" pitchFamily="18" charset="0"/>
                <a:cs typeface="Times New Roman" panose="02020603050405020304" pitchFamily="18" charset="0"/>
              </a:rPr>
              <a:t> </a:t>
            </a:r>
            <a:r>
              <a:rPr sz="4409" b="1" spc="-6" dirty="0">
                <a:solidFill>
                  <a:schemeClr val="bg1"/>
                </a:solidFill>
                <a:latin typeface="Times New Roman" panose="02020603050405020304" pitchFamily="18" charset="0"/>
                <a:cs typeface="Times New Roman" panose="02020603050405020304" pitchFamily="18" charset="0"/>
              </a:rPr>
              <a:t>Routing</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92059" y="1609633"/>
            <a:ext cx="9888566" cy="5398302"/>
          </a:xfrm>
          <a:prstGeom prst="rect">
            <a:avLst/>
          </a:prstGeom>
        </p:spPr>
        <p:txBody>
          <a:bodyPr vert="horz" wrap="square" lIns="0" tIns="13999" rIns="0" bIns="0" rtlCol="0">
            <a:spAutoFit/>
          </a:bodyPr>
          <a:lstStyle/>
          <a:p>
            <a:pPr marL="470499" marR="178490" indent="-457200">
              <a:spcBef>
                <a:spcPts val="110"/>
              </a:spcBef>
              <a:buClr>
                <a:srgbClr val="C00000"/>
              </a:buClr>
              <a:buSzPct val="85000"/>
              <a:buFont typeface="Wingdings" panose="05000000000000000000" pitchFamily="2" charset="2"/>
              <a:buChar char="Ø"/>
              <a:tabLst>
                <a:tab pos="316382" algn="l"/>
              </a:tabLst>
            </a:pPr>
            <a:r>
              <a:rPr sz="3307" spc="-6" dirty="0">
                <a:latin typeface="Times New Roman"/>
                <a:cs typeface="Times New Roman"/>
              </a:rPr>
              <a:t>A</a:t>
            </a:r>
            <a:r>
              <a:rPr sz="3307" spc="-198" dirty="0">
                <a:latin typeface="Times New Roman"/>
                <a:cs typeface="Times New Roman"/>
              </a:rPr>
              <a:t> </a:t>
            </a:r>
            <a:r>
              <a:rPr sz="3307" dirty="0">
                <a:latin typeface="Times New Roman"/>
                <a:cs typeface="Times New Roman"/>
              </a:rPr>
              <a:t>router dete</a:t>
            </a:r>
            <a:r>
              <a:rPr sz="3307" spc="-11" dirty="0">
                <a:latin typeface="Times New Roman"/>
                <a:cs typeface="Times New Roman"/>
              </a:rPr>
              <a:t>r</a:t>
            </a:r>
            <a:r>
              <a:rPr sz="3307" dirty="0">
                <a:latin typeface="Times New Roman"/>
                <a:cs typeface="Times New Roman"/>
              </a:rPr>
              <a:t>m</a:t>
            </a:r>
            <a:r>
              <a:rPr sz="3307" spc="-17" dirty="0">
                <a:latin typeface="Times New Roman"/>
                <a:cs typeface="Times New Roman"/>
              </a:rPr>
              <a:t>i</a:t>
            </a:r>
            <a:r>
              <a:rPr sz="3307" spc="-6" dirty="0">
                <a:latin typeface="Times New Roman"/>
                <a:cs typeface="Times New Roman"/>
              </a:rPr>
              <a:t>nes</a:t>
            </a:r>
            <a:r>
              <a:rPr sz="3307" spc="50" dirty="0">
                <a:latin typeface="Times New Roman"/>
                <a:cs typeface="Times New Roman"/>
              </a:rPr>
              <a:t> </a:t>
            </a:r>
            <a:r>
              <a:rPr sz="3307" dirty="0">
                <a:latin typeface="Times New Roman"/>
                <a:cs typeface="Times New Roman"/>
              </a:rPr>
              <a:t>the</a:t>
            </a:r>
            <a:r>
              <a:rPr sz="3307" spc="6" dirty="0">
                <a:latin typeface="Times New Roman"/>
                <a:cs typeface="Times New Roman"/>
              </a:rPr>
              <a:t> </a:t>
            </a:r>
            <a:r>
              <a:rPr sz="3307" dirty="0">
                <a:latin typeface="Times New Roman"/>
                <a:cs typeface="Times New Roman"/>
              </a:rPr>
              <a:t>path of a</a:t>
            </a:r>
            <a:r>
              <a:rPr sz="3307" spc="6" dirty="0">
                <a:latin typeface="Times New Roman"/>
                <a:cs typeface="Times New Roman"/>
              </a:rPr>
              <a:t> </a:t>
            </a:r>
            <a:r>
              <a:rPr sz="3307" dirty="0">
                <a:latin typeface="Times New Roman"/>
                <a:cs typeface="Times New Roman"/>
              </a:rPr>
              <a:t>packet</a:t>
            </a:r>
            <a:r>
              <a:rPr sz="3307" spc="22" dirty="0">
                <a:latin typeface="Times New Roman"/>
                <a:cs typeface="Times New Roman"/>
              </a:rPr>
              <a:t> </a:t>
            </a:r>
            <a:r>
              <a:rPr sz="3307" dirty="0">
                <a:latin typeface="Times New Roman"/>
                <a:cs typeface="Times New Roman"/>
              </a:rPr>
              <a:t>from one  data</a:t>
            </a:r>
            <a:r>
              <a:rPr sz="3307" spc="-11" dirty="0">
                <a:latin typeface="Times New Roman"/>
                <a:cs typeface="Times New Roman"/>
              </a:rPr>
              <a:t> </a:t>
            </a:r>
            <a:r>
              <a:rPr sz="3307" spc="-6" dirty="0">
                <a:latin typeface="Times New Roman"/>
                <a:cs typeface="Times New Roman"/>
              </a:rPr>
              <a:t>link</a:t>
            </a:r>
            <a:r>
              <a:rPr sz="3307" spc="11" dirty="0">
                <a:latin typeface="Times New Roman"/>
                <a:cs typeface="Times New Roman"/>
              </a:rPr>
              <a:t> </a:t>
            </a:r>
            <a:r>
              <a:rPr sz="3307" dirty="0">
                <a:latin typeface="Times New Roman"/>
                <a:cs typeface="Times New Roman"/>
              </a:rPr>
              <a:t>to</a:t>
            </a:r>
            <a:r>
              <a:rPr sz="3307" spc="6" dirty="0">
                <a:latin typeface="Times New Roman"/>
                <a:cs typeface="Times New Roman"/>
              </a:rPr>
              <a:t> </a:t>
            </a:r>
            <a:r>
              <a:rPr sz="3307" spc="-22" dirty="0">
                <a:latin typeface="Times New Roman"/>
                <a:cs typeface="Times New Roman"/>
              </a:rPr>
              <a:t>another,</a:t>
            </a:r>
            <a:r>
              <a:rPr sz="3307" spc="22" dirty="0">
                <a:latin typeface="Times New Roman"/>
                <a:cs typeface="Times New Roman"/>
              </a:rPr>
              <a:t> </a:t>
            </a:r>
            <a:r>
              <a:rPr sz="3307" spc="-6" dirty="0">
                <a:latin typeface="Times New Roman"/>
                <a:cs typeface="Times New Roman"/>
              </a:rPr>
              <a:t>using</a:t>
            </a:r>
            <a:r>
              <a:rPr sz="3307" dirty="0">
                <a:latin typeface="Times New Roman"/>
                <a:cs typeface="Times New Roman"/>
              </a:rPr>
              <a:t> two </a:t>
            </a:r>
            <a:r>
              <a:rPr sz="3307" spc="-6" dirty="0">
                <a:latin typeface="Times New Roman"/>
                <a:cs typeface="Times New Roman"/>
              </a:rPr>
              <a:t>basic</a:t>
            </a:r>
            <a:r>
              <a:rPr sz="3307" spc="11" dirty="0">
                <a:latin typeface="Times New Roman"/>
                <a:cs typeface="Times New Roman"/>
              </a:rPr>
              <a:t> </a:t>
            </a:r>
            <a:r>
              <a:rPr sz="3307" spc="-6" dirty="0">
                <a:latin typeface="Times New Roman"/>
                <a:cs typeface="Times New Roman"/>
              </a:rPr>
              <a:t>functions:</a:t>
            </a:r>
            <a:endParaRPr sz="3307" dirty="0">
              <a:latin typeface="Times New Roman"/>
              <a:cs typeface="Times New Roman"/>
            </a:endParaRPr>
          </a:p>
          <a:p>
            <a:pPr marL="647463" lvl="1" indent="-281384">
              <a:spcBef>
                <a:spcPts val="451"/>
              </a:spcBef>
              <a:buClr>
                <a:srgbClr val="9B2C1F"/>
              </a:buClr>
              <a:buSzPct val="81666"/>
              <a:buFont typeface="Wingdings"/>
              <a:buChar char=""/>
              <a:tabLst>
                <a:tab pos="648163" algn="l"/>
              </a:tabLst>
            </a:pPr>
            <a:r>
              <a:rPr sz="3307" spc="-6" dirty="0">
                <a:latin typeface="Times New Roman"/>
                <a:cs typeface="Times New Roman"/>
              </a:rPr>
              <a:t>A</a:t>
            </a:r>
            <a:r>
              <a:rPr sz="3307" spc="-198" dirty="0">
                <a:latin typeface="Times New Roman"/>
                <a:cs typeface="Times New Roman"/>
              </a:rPr>
              <a:t> </a:t>
            </a:r>
            <a:r>
              <a:rPr sz="3307" dirty="0">
                <a:latin typeface="Times New Roman"/>
                <a:cs typeface="Times New Roman"/>
              </a:rPr>
              <a:t>path</a:t>
            </a:r>
            <a:r>
              <a:rPr sz="3307" spc="6" dirty="0">
                <a:latin typeface="Times New Roman"/>
                <a:cs typeface="Times New Roman"/>
              </a:rPr>
              <a:t> </a:t>
            </a:r>
            <a:r>
              <a:rPr sz="3307" dirty="0">
                <a:latin typeface="Times New Roman"/>
                <a:cs typeface="Times New Roman"/>
              </a:rPr>
              <a:t>dete</a:t>
            </a:r>
            <a:r>
              <a:rPr sz="3307" spc="-11" dirty="0">
                <a:latin typeface="Times New Roman"/>
                <a:cs typeface="Times New Roman"/>
              </a:rPr>
              <a:t>r</a:t>
            </a:r>
            <a:r>
              <a:rPr sz="3307" dirty="0">
                <a:latin typeface="Times New Roman"/>
                <a:cs typeface="Times New Roman"/>
              </a:rPr>
              <a:t>m</a:t>
            </a:r>
            <a:r>
              <a:rPr sz="3307" spc="-17" dirty="0">
                <a:latin typeface="Times New Roman"/>
                <a:cs typeface="Times New Roman"/>
              </a:rPr>
              <a:t>i</a:t>
            </a:r>
            <a:r>
              <a:rPr sz="3307" dirty="0">
                <a:latin typeface="Times New Roman"/>
                <a:cs typeface="Times New Roman"/>
              </a:rPr>
              <a:t>n</a:t>
            </a:r>
            <a:r>
              <a:rPr sz="3307" spc="6" dirty="0">
                <a:latin typeface="Times New Roman"/>
                <a:cs typeface="Times New Roman"/>
              </a:rPr>
              <a:t>a</a:t>
            </a:r>
            <a:r>
              <a:rPr sz="3307" dirty="0">
                <a:latin typeface="Times New Roman"/>
                <a:cs typeface="Times New Roman"/>
              </a:rPr>
              <a:t>t</a:t>
            </a:r>
            <a:r>
              <a:rPr sz="3307" spc="-17" dirty="0">
                <a:latin typeface="Times New Roman"/>
                <a:cs typeface="Times New Roman"/>
              </a:rPr>
              <a:t>i</a:t>
            </a:r>
            <a:r>
              <a:rPr sz="3307" dirty="0">
                <a:latin typeface="Times New Roman"/>
                <a:cs typeface="Times New Roman"/>
              </a:rPr>
              <a:t>on</a:t>
            </a:r>
            <a:r>
              <a:rPr sz="3307" spc="55" dirty="0">
                <a:latin typeface="Times New Roman"/>
                <a:cs typeface="Times New Roman"/>
              </a:rPr>
              <a:t> </a:t>
            </a:r>
            <a:r>
              <a:rPr sz="3307" dirty="0">
                <a:latin typeface="Times New Roman"/>
                <a:cs typeface="Times New Roman"/>
              </a:rPr>
              <a:t>funct</a:t>
            </a:r>
            <a:r>
              <a:rPr sz="3307" spc="-17" dirty="0">
                <a:latin typeface="Times New Roman"/>
                <a:cs typeface="Times New Roman"/>
              </a:rPr>
              <a:t>i</a:t>
            </a:r>
            <a:r>
              <a:rPr sz="3307" dirty="0">
                <a:latin typeface="Times New Roman"/>
                <a:cs typeface="Times New Roman"/>
              </a:rPr>
              <a:t>on</a:t>
            </a:r>
          </a:p>
          <a:p>
            <a:pPr marL="647463" lvl="1" indent="-281384">
              <a:spcBef>
                <a:spcPts val="435"/>
              </a:spcBef>
              <a:buClr>
                <a:srgbClr val="9B2C1F"/>
              </a:buClr>
              <a:buSzPct val="81666"/>
              <a:buFont typeface="Wingdings"/>
              <a:buChar char=""/>
              <a:tabLst>
                <a:tab pos="648163" algn="l"/>
              </a:tabLst>
            </a:pPr>
            <a:r>
              <a:rPr sz="3307" spc="-6" dirty="0">
                <a:latin typeface="Times New Roman"/>
                <a:cs typeface="Times New Roman"/>
              </a:rPr>
              <a:t>A</a:t>
            </a:r>
            <a:r>
              <a:rPr sz="3307" spc="-198" dirty="0">
                <a:latin typeface="Times New Roman"/>
                <a:cs typeface="Times New Roman"/>
              </a:rPr>
              <a:t> </a:t>
            </a:r>
            <a:r>
              <a:rPr sz="3307" spc="-6" dirty="0">
                <a:latin typeface="Times New Roman"/>
                <a:cs typeface="Times New Roman"/>
              </a:rPr>
              <a:t>swi</a:t>
            </a:r>
            <a:r>
              <a:rPr sz="3307" spc="-17" dirty="0">
                <a:latin typeface="Times New Roman"/>
                <a:cs typeface="Times New Roman"/>
              </a:rPr>
              <a:t>t</a:t>
            </a:r>
            <a:r>
              <a:rPr sz="3307" dirty="0">
                <a:latin typeface="Times New Roman"/>
                <a:cs typeface="Times New Roman"/>
              </a:rPr>
              <a:t>ching</a:t>
            </a:r>
            <a:r>
              <a:rPr sz="3307" spc="6" dirty="0">
                <a:latin typeface="Times New Roman"/>
                <a:cs typeface="Times New Roman"/>
              </a:rPr>
              <a:t> </a:t>
            </a:r>
            <a:r>
              <a:rPr sz="3307" dirty="0">
                <a:latin typeface="Times New Roman"/>
                <a:cs typeface="Times New Roman"/>
              </a:rPr>
              <a:t>funct</a:t>
            </a:r>
            <a:r>
              <a:rPr sz="3307" spc="-17" dirty="0">
                <a:latin typeface="Times New Roman"/>
                <a:cs typeface="Times New Roman"/>
              </a:rPr>
              <a:t>i</a:t>
            </a:r>
            <a:r>
              <a:rPr sz="3307" dirty="0">
                <a:latin typeface="Times New Roman"/>
                <a:cs typeface="Times New Roman"/>
              </a:rPr>
              <a:t>on</a:t>
            </a:r>
          </a:p>
          <a:p>
            <a:pPr marL="470499" marR="30098" indent="-457200">
              <a:spcBef>
                <a:spcPts val="661"/>
              </a:spcBef>
              <a:buClr>
                <a:srgbClr val="C00000"/>
              </a:buClr>
              <a:buSzPct val="85000"/>
              <a:buFont typeface="Wingdings" panose="05000000000000000000" pitchFamily="2" charset="2"/>
              <a:buChar char="Ø"/>
              <a:tabLst>
                <a:tab pos="316382" algn="l"/>
              </a:tabLst>
            </a:pPr>
            <a:r>
              <a:rPr sz="3307" dirty="0">
                <a:latin typeface="Times New Roman"/>
                <a:cs typeface="Times New Roman"/>
              </a:rPr>
              <a:t>The</a:t>
            </a:r>
            <a:r>
              <a:rPr sz="3307" spc="-6" dirty="0">
                <a:latin typeface="Times New Roman"/>
                <a:cs typeface="Times New Roman"/>
              </a:rPr>
              <a:t> router</a:t>
            </a:r>
            <a:r>
              <a:rPr sz="3307" spc="22" dirty="0">
                <a:latin typeface="Times New Roman"/>
                <a:cs typeface="Times New Roman"/>
              </a:rPr>
              <a:t> </a:t>
            </a:r>
            <a:r>
              <a:rPr sz="3307" dirty="0">
                <a:latin typeface="Times New Roman"/>
                <a:cs typeface="Times New Roman"/>
              </a:rPr>
              <a:t>uses</a:t>
            </a:r>
            <a:r>
              <a:rPr sz="3307" spc="-11" dirty="0">
                <a:latin typeface="Times New Roman"/>
                <a:cs typeface="Times New Roman"/>
              </a:rPr>
              <a:t> </a:t>
            </a:r>
            <a:r>
              <a:rPr sz="3307" spc="-6" dirty="0">
                <a:latin typeface="Times New Roman"/>
                <a:cs typeface="Times New Roman"/>
              </a:rPr>
              <a:t>the</a:t>
            </a:r>
            <a:r>
              <a:rPr sz="3307" spc="11" dirty="0">
                <a:latin typeface="Times New Roman"/>
                <a:cs typeface="Times New Roman"/>
              </a:rPr>
              <a:t> </a:t>
            </a:r>
            <a:r>
              <a:rPr sz="3307" spc="-6" dirty="0">
                <a:latin typeface="Times New Roman"/>
                <a:cs typeface="Times New Roman"/>
              </a:rPr>
              <a:t>routing</a:t>
            </a:r>
            <a:r>
              <a:rPr sz="3307" spc="6" dirty="0">
                <a:latin typeface="Times New Roman"/>
                <a:cs typeface="Times New Roman"/>
              </a:rPr>
              <a:t> </a:t>
            </a:r>
            <a:r>
              <a:rPr sz="3307" spc="-6" dirty="0">
                <a:latin typeface="Times New Roman"/>
                <a:cs typeface="Times New Roman"/>
              </a:rPr>
              <a:t>table</a:t>
            </a:r>
            <a:r>
              <a:rPr sz="3307" spc="28" dirty="0">
                <a:latin typeface="Times New Roman"/>
                <a:cs typeface="Times New Roman"/>
              </a:rPr>
              <a:t> </a:t>
            </a:r>
            <a:r>
              <a:rPr sz="3307" dirty="0">
                <a:latin typeface="Times New Roman"/>
                <a:cs typeface="Times New Roman"/>
              </a:rPr>
              <a:t>to</a:t>
            </a:r>
            <a:r>
              <a:rPr sz="3307" spc="6" dirty="0">
                <a:latin typeface="Times New Roman"/>
                <a:cs typeface="Times New Roman"/>
              </a:rPr>
              <a:t> </a:t>
            </a:r>
            <a:r>
              <a:rPr sz="3307" spc="-6" dirty="0">
                <a:latin typeface="Times New Roman"/>
                <a:cs typeface="Times New Roman"/>
              </a:rPr>
              <a:t>determine</a:t>
            </a:r>
            <a:r>
              <a:rPr sz="3307" spc="33" dirty="0">
                <a:latin typeface="Times New Roman"/>
                <a:cs typeface="Times New Roman"/>
              </a:rPr>
              <a:t> </a:t>
            </a:r>
            <a:r>
              <a:rPr sz="3307" dirty="0">
                <a:latin typeface="Times New Roman"/>
                <a:cs typeface="Times New Roman"/>
              </a:rPr>
              <a:t>the </a:t>
            </a:r>
            <a:r>
              <a:rPr sz="3307" spc="6" dirty="0">
                <a:latin typeface="Times New Roman"/>
                <a:cs typeface="Times New Roman"/>
              </a:rPr>
              <a:t> </a:t>
            </a:r>
            <a:r>
              <a:rPr sz="3307" spc="-6" dirty="0">
                <a:latin typeface="Times New Roman"/>
                <a:cs typeface="Times New Roman"/>
              </a:rPr>
              <a:t>best path </a:t>
            </a:r>
            <a:r>
              <a:rPr sz="3307" dirty="0">
                <a:latin typeface="Times New Roman"/>
                <a:cs typeface="Times New Roman"/>
              </a:rPr>
              <a:t>and proceeds to forward the packet </a:t>
            </a:r>
            <a:r>
              <a:rPr sz="3307" spc="-6" dirty="0">
                <a:latin typeface="Times New Roman"/>
                <a:cs typeface="Times New Roman"/>
              </a:rPr>
              <a:t>using </a:t>
            </a:r>
            <a:r>
              <a:rPr sz="3307" spc="-810" dirty="0">
                <a:latin typeface="Times New Roman"/>
                <a:cs typeface="Times New Roman"/>
              </a:rPr>
              <a:t> </a:t>
            </a:r>
            <a:r>
              <a:rPr sz="3307" dirty="0">
                <a:latin typeface="Times New Roman"/>
                <a:cs typeface="Times New Roman"/>
              </a:rPr>
              <a:t>the</a:t>
            </a:r>
            <a:r>
              <a:rPr sz="3307" spc="-6" dirty="0">
                <a:latin typeface="Times New Roman"/>
                <a:cs typeface="Times New Roman"/>
              </a:rPr>
              <a:t> switching</a:t>
            </a:r>
            <a:r>
              <a:rPr sz="3307" spc="11" dirty="0">
                <a:latin typeface="Times New Roman"/>
                <a:cs typeface="Times New Roman"/>
              </a:rPr>
              <a:t> </a:t>
            </a:r>
            <a:r>
              <a:rPr sz="3307" spc="-6" dirty="0">
                <a:latin typeface="Times New Roman"/>
                <a:cs typeface="Times New Roman"/>
              </a:rPr>
              <a:t>function.</a:t>
            </a:r>
            <a:endParaRPr lang="en-US" sz="3307" spc="-6" dirty="0">
              <a:latin typeface="Times New Roman"/>
              <a:cs typeface="Times New Roman"/>
            </a:endParaRPr>
          </a:p>
          <a:p>
            <a:pPr marL="470499" marR="30098" indent="-457200">
              <a:spcBef>
                <a:spcPts val="661"/>
              </a:spcBef>
              <a:buClr>
                <a:srgbClr val="C00000"/>
              </a:buClr>
              <a:buSzPct val="85000"/>
              <a:buFont typeface="Wingdings" panose="05000000000000000000" pitchFamily="2" charset="2"/>
              <a:buChar char="Ø"/>
              <a:tabLst>
                <a:tab pos="316382" algn="l"/>
              </a:tabLst>
            </a:pPr>
            <a:r>
              <a:rPr sz="3307" dirty="0">
                <a:latin typeface="Times New Roman"/>
                <a:cs typeface="Times New Roman"/>
              </a:rPr>
              <a:t>The </a:t>
            </a:r>
            <a:r>
              <a:rPr sz="3307" spc="-6" dirty="0">
                <a:latin typeface="Times New Roman"/>
                <a:cs typeface="Times New Roman"/>
              </a:rPr>
              <a:t>switching function is </a:t>
            </a:r>
            <a:r>
              <a:rPr sz="3307" dirty="0">
                <a:latin typeface="Times New Roman"/>
                <a:cs typeface="Times New Roman"/>
              </a:rPr>
              <a:t>the </a:t>
            </a:r>
            <a:r>
              <a:rPr sz="3307" spc="-6" dirty="0">
                <a:latin typeface="Times New Roman"/>
                <a:cs typeface="Times New Roman"/>
              </a:rPr>
              <a:t>internal process </a:t>
            </a:r>
            <a:r>
              <a:rPr sz="3307" dirty="0">
                <a:latin typeface="Times New Roman"/>
                <a:cs typeface="Times New Roman"/>
              </a:rPr>
              <a:t>used </a:t>
            </a:r>
            <a:r>
              <a:rPr sz="3307" spc="-810" dirty="0">
                <a:latin typeface="Times New Roman"/>
                <a:cs typeface="Times New Roman"/>
              </a:rPr>
              <a:t> </a:t>
            </a:r>
            <a:r>
              <a:rPr sz="3307" dirty="0">
                <a:latin typeface="Times New Roman"/>
                <a:cs typeface="Times New Roman"/>
              </a:rPr>
              <a:t>by a router to accept a packet on one </a:t>
            </a:r>
            <a:r>
              <a:rPr sz="3307" spc="-6" dirty="0">
                <a:latin typeface="Times New Roman"/>
                <a:cs typeface="Times New Roman"/>
              </a:rPr>
              <a:t>interface </a:t>
            </a:r>
            <a:r>
              <a:rPr sz="3307" dirty="0">
                <a:latin typeface="Times New Roman"/>
                <a:cs typeface="Times New Roman"/>
              </a:rPr>
              <a:t>and </a:t>
            </a:r>
            <a:r>
              <a:rPr sz="3307" spc="-810" dirty="0">
                <a:latin typeface="Times New Roman"/>
                <a:cs typeface="Times New Roman"/>
              </a:rPr>
              <a:t> </a:t>
            </a:r>
            <a:r>
              <a:rPr sz="3307" spc="-6" dirty="0">
                <a:latin typeface="Times New Roman"/>
                <a:cs typeface="Times New Roman"/>
              </a:rPr>
              <a:t>forward</a:t>
            </a:r>
            <a:r>
              <a:rPr sz="3307" dirty="0">
                <a:latin typeface="Times New Roman"/>
                <a:cs typeface="Times New Roman"/>
              </a:rPr>
              <a:t> </a:t>
            </a:r>
            <a:r>
              <a:rPr sz="3307" spc="-11" dirty="0">
                <a:latin typeface="Times New Roman"/>
                <a:cs typeface="Times New Roman"/>
              </a:rPr>
              <a:t>it</a:t>
            </a:r>
            <a:r>
              <a:rPr sz="3307" spc="11" dirty="0">
                <a:latin typeface="Times New Roman"/>
                <a:cs typeface="Times New Roman"/>
              </a:rPr>
              <a:t> </a:t>
            </a:r>
            <a:r>
              <a:rPr sz="3307" dirty="0">
                <a:latin typeface="Times New Roman"/>
                <a:cs typeface="Times New Roman"/>
              </a:rPr>
              <a:t>to</a:t>
            </a:r>
            <a:r>
              <a:rPr sz="3307" spc="11" dirty="0">
                <a:latin typeface="Times New Roman"/>
                <a:cs typeface="Times New Roman"/>
              </a:rPr>
              <a:t> </a:t>
            </a:r>
            <a:r>
              <a:rPr sz="3307" dirty="0">
                <a:latin typeface="Times New Roman"/>
                <a:cs typeface="Times New Roman"/>
              </a:rPr>
              <a:t>a second </a:t>
            </a:r>
            <a:r>
              <a:rPr sz="3307" spc="-6" dirty="0">
                <a:latin typeface="Times New Roman"/>
                <a:cs typeface="Times New Roman"/>
              </a:rPr>
              <a:t>interface</a:t>
            </a:r>
            <a:r>
              <a:rPr sz="3307" spc="44" dirty="0">
                <a:latin typeface="Times New Roman"/>
                <a:cs typeface="Times New Roman"/>
              </a:rPr>
              <a:t> </a:t>
            </a:r>
            <a:r>
              <a:rPr sz="3307" dirty="0">
                <a:latin typeface="Times New Roman"/>
                <a:cs typeface="Times New Roman"/>
              </a:rPr>
              <a:t>on the</a:t>
            </a:r>
            <a:r>
              <a:rPr sz="3307" spc="11" dirty="0">
                <a:latin typeface="Times New Roman"/>
                <a:cs typeface="Times New Roman"/>
              </a:rPr>
              <a:t> </a:t>
            </a:r>
            <a:r>
              <a:rPr sz="3307" spc="-6" dirty="0">
                <a:latin typeface="Times New Roman"/>
                <a:cs typeface="Times New Roman"/>
              </a:rPr>
              <a:t>same</a:t>
            </a:r>
            <a:r>
              <a:rPr sz="3307" spc="17" dirty="0">
                <a:latin typeface="Times New Roman"/>
                <a:cs typeface="Times New Roman"/>
              </a:rPr>
              <a:t> </a:t>
            </a:r>
            <a:r>
              <a:rPr sz="3307" spc="-33" dirty="0">
                <a:latin typeface="Times New Roman"/>
                <a:cs typeface="Times New Roman"/>
              </a:rPr>
              <a:t>router.</a:t>
            </a:r>
            <a:endParaRPr sz="3307" dirty="0">
              <a:latin typeface="Times New Roman"/>
              <a:cs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0913" y="453102"/>
            <a:ext cx="7910213"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Routing</a:t>
            </a:r>
            <a:r>
              <a:rPr sz="4409" b="1" spc="-28"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a:t>
            </a:r>
            <a:r>
              <a:rPr sz="4409" b="1" spc="-17" dirty="0">
                <a:solidFill>
                  <a:schemeClr val="bg1"/>
                </a:solidFill>
                <a:latin typeface="Times New Roman" panose="02020603050405020304" pitchFamily="18" charset="0"/>
                <a:cs typeface="Times New Roman" panose="02020603050405020304" pitchFamily="18" charset="0"/>
              </a:rPr>
              <a:t> Features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67425" y="1622737"/>
            <a:ext cx="9813702" cy="4831864"/>
          </a:xfrm>
          <a:prstGeom prst="rect">
            <a:avLst/>
          </a:prstGeom>
        </p:spPr>
        <p:txBody>
          <a:bodyPr vert="horz" wrap="square" lIns="0" tIns="13299" rIns="0" bIns="0" rtlCol="0">
            <a:spAutoFit/>
          </a:bodyPr>
          <a:lstStyle/>
          <a:p>
            <a:pPr marL="13999" marR="830153">
              <a:lnSpc>
                <a:spcPct val="109300"/>
              </a:lnSpc>
              <a:spcBef>
                <a:spcPts val="105"/>
              </a:spcBef>
            </a:pPr>
            <a:r>
              <a:rPr sz="3200" dirty="0">
                <a:latin typeface="Times New Roman"/>
                <a:cs typeface="Times New Roman"/>
              </a:rPr>
              <a:t>Each</a:t>
            </a:r>
            <a:r>
              <a:rPr sz="3200" spc="-39" dirty="0">
                <a:latin typeface="Times New Roman"/>
                <a:cs typeface="Times New Roman"/>
              </a:rPr>
              <a:t> </a:t>
            </a:r>
            <a:r>
              <a:rPr sz="3200" dirty="0">
                <a:latin typeface="Times New Roman"/>
                <a:cs typeface="Times New Roman"/>
              </a:rPr>
              <a:t>routing</a:t>
            </a:r>
            <a:r>
              <a:rPr sz="3200" spc="-6" dirty="0">
                <a:latin typeface="Times New Roman"/>
                <a:cs typeface="Times New Roman"/>
              </a:rPr>
              <a:t> </a:t>
            </a:r>
            <a:r>
              <a:rPr sz="3200" dirty="0">
                <a:latin typeface="Times New Roman"/>
                <a:cs typeface="Times New Roman"/>
              </a:rPr>
              <a:t>protocol</a:t>
            </a:r>
            <a:r>
              <a:rPr sz="3200" spc="-22" dirty="0">
                <a:latin typeface="Times New Roman"/>
                <a:cs typeface="Times New Roman"/>
              </a:rPr>
              <a:t> </a:t>
            </a:r>
            <a:r>
              <a:rPr sz="3200" dirty="0">
                <a:latin typeface="Times New Roman"/>
                <a:cs typeface="Times New Roman"/>
              </a:rPr>
              <a:t>uses</a:t>
            </a:r>
            <a:r>
              <a:rPr sz="3200" spc="-11" dirty="0">
                <a:latin typeface="Times New Roman"/>
                <a:cs typeface="Times New Roman"/>
              </a:rPr>
              <a:t> </a:t>
            </a:r>
            <a:r>
              <a:rPr sz="3200" dirty="0">
                <a:latin typeface="Times New Roman"/>
                <a:cs typeface="Times New Roman"/>
              </a:rPr>
              <a:t>a</a:t>
            </a:r>
            <a:r>
              <a:rPr sz="3200" spc="-11" dirty="0">
                <a:latin typeface="Times New Roman"/>
                <a:cs typeface="Times New Roman"/>
              </a:rPr>
              <a:t> </a:t>
            </a:r>
            <a:r>
              <a:rPr sz="3200" spc="-6" dirty="0">
                <a:latin typeface="Times New Roman"/>
                <a:cs typeface="Times New Roman"/>
              </a:rPr>
              <a:t>metric</a:t>
            </a:r>
            <a:r>
              <a:rPr sz="3200" dirty="0">
                <a:latin typeface="Times New Roman"/>
                <a:cs typeface="Times New Roman"/>
              </a:rPr>
              <a:t> to </a:t>
            </a:r>
            <a:r>
              <a:rPr sz="3200" spc="-6" dirty="0">
                <a:latin typeface="Times New Roman"/>
                <a:cs typeface="Times New Roman"/>
              </a:rPr>
              <a:t>make</a:t>
            </a:r>
            <a:r>
              <a:rPr sz="3200" spc="6" dirty="0">
                <a:latin typeface="Times New Roman"/>
                <a:cs typeface="Times New Roman"/>
              </a:rPr>
              <a:t> </a:t>
            </a:r>
            <a:r>
              <a:rPr sz="3200" spc="-6" dirty="0">
                <a:latin typeface="Times New Roman"/>
                <a:cs typeface="Times New Roman"/>
              </a:rPr>
              <a:t>choices</a:t>
            </a:r>
            <a:r>
              <a:rPr sz="3200" spc="-28" dirty="0">
                <a:latin typeface="Times New Roman"/>
                <a:cs typeface="Times New Roman"/>
              </a:rPr>
              <a:t> </a:t>
            </a:r>
            <a:r>
              <a:rPr sz="3200" dirty="0">
                <a:latin typeface="Times New Roman"/>
                <a:cs typeface="Times New Roman"/>
              </a:rPr>
              <a:t>about </a:t>
            </a:r>
            <a:r>
              <a:rPr sz="3200" spc="-700" dirty="0">
                <a:latin typeface="Times New Roman"/>
                <a:cs typeface="Times New Roman"/>
              </a:rPr>
              <a:t> </a:t>
            </a:r>
            <a:r>
              <a:rPr sz="3200" dirty="0">
                <a:latin typeface="Times New Roman"/>
                <a:cs typeface="Times New Roman"/>
              </a:rPr>
              <a:t>path</a:t>
            </a:r>
            <a:r>
              <a:rPr sz="3200" spc="-39" dirty="0">
                <a:latin typeface="Times New Roman"/>
                <a:cs typeface="Times New Roman"/>
              </a:rPr>
              <a:t> </a:t>
            </a:r>
            <a:r>
              <a:rPr sz="3200" spc="-6" dirty="0">
                <a:latin typeface="Times New Roman"/>
                <a:cs typeface="Times New Roman"/>
              </a:rPr>
              <a:t>determination:</a:t>
            </a:r>
            <a:endParaRPr lang="en-US" sz="3200" spc="-6" dirty="0">
              <a:latin typeface="Times New Roman"/>
              <a:cs typeface="Times New Roman"/>
            </a:endParaRPr>
          </a:p>
          <a:p>
            <a:pPr marL="471199" marR="830153" indent="-457200">
              <a:lnSpc>
                <a:spcPct val="109300"/>
              </a:lnSpc>
              <a:spcBef>
                <a:spcPts val="105"/>
              </a:spcBef>
              <a:buClr>
                <a:srgbClr val="C00000"/>
              </a:buClr>
              <a:buFont typeface="Wingdings" panose="05000000000000000000" pitchFamily="2" charset="2"/>
              <a:buChar char="ü"/>
            </a:pPr>
            <a:r>
              <a:rPr sz="3200" dirty="0">
                <a:latin typeface="Times New Roman"/>
                <a:cs typeface="Times New Roman"/>
              </a:rPr>
              <a:t>RIP</a:t>
            </a:r>
            <a:r>
              <a:rPr sz="3200" spc="-126" dirty="0">
                <a:latin typeface="Times New Roman"/>
                <a:cs typeface="Times New Roman"/>
              </a:rPr>
              <a:t> </a:t>
            </a:r>
            <a:r>
              <a:rPr sz="3200" dirty="0">
                <a:latin typeface="Times New Roman"/>
                <a:cs typeface="Times New Roman"/>
              </a:rPr>
              <a:t>uses</a:t>
            </a:r>
            <a:r>
              <a:rPr sz="3200" spc="-11" dirty="0">
                <a:latin typeface="Times New Roman"/>
                <a:cs typeface="Times New Roman"/>
              </a:rPr>
              <a:t> </a:t>
            </a:r>
            <a:r>
              <a:rPr sz="3200" dirty="0">
                <a:latin typeface="Times New Roman"/>
                <a:cs typeface="Times New Roman"/>
              </a:rPr>
              <a:t>the</a:t>
            </a:r>
            <a:r>
              <a:rPr sz="3200" spc="-28" dirty="0">
                <a:latin typeface="Times New Roman"/>
                <a:cs typeface="Times New Roman"/>
              </a:rPr>
              <a:t> </a:t>
            </a:r>
            <a:r>
              <a:rPr sz="3200" dirty="0">
                <a:latin typeface="Times New Roman"/>
                <a:cs typeface="Times New Roman"/>
              </a:rPr>
              <a:t>concept</a:t>
            </a:r>
            <a:r>
              <a:rPr sz="3200" spc="-17" dirty="0">
                <a:latin typeface="Times New Roman"/>
                <a:cs typeface="Times New Roman"/>
              </a:rPr>
              <a:t> </a:t>
            </a:r>
            <a:r>
              <a:rPr sz="3200" dirty="0">
                <a:latin typeface="Times New Roman"/>
                <a:cs typeface="Times New Roman"/>
              </a:rPr>
              <a:t>of</a:t>
            </a:r>
            <a:r>
              <a:rPr sz="3200" spc="-11" dirty="0">
                <a:latin typeface="Times New Roman"/>
                <a:cs typeface="Times New Roman"/>
              </a:rPr>
              <a:t> </a:t>
            </a:r>
            <a:r>
              <a:rPr sz="3200" b="1" dirty="0">
                <a:solidFill>
                  <a:srgbClr val="FF0000"/>
                </a:solidFill>
                <a:latin typeface="Times New Roman"/>
                <a:cs typeface="Times New Roman"/>
              </a:rPr>
              <a:t>hop</a:t>
            </a:r>
            <a:r>
              <a:rPr sz="3200" b="1" spc="-11" dirty="0">
                <a:solidFill>
                  <a:srgbClr val="FF0000"/>
                </a:solidFill>
                <a:latin typeface="Times New Roman"/>
                <a:cs typeface="Times New Roman"/>
              </a:rPr>
              <a:t> </a:t>
            </a:r>
            <a:r>
              <a:rPr sz="3200" b="1" dirty="0">
                <a:solidFill>
                  <a:srgbClr val="FF0000"/>
                </a:solidFill>
                <a:latin typeface="Times New Roman"/>
                <a:cs typeface="Times New Roman"/>
              </a:rPr>
              <a:t>count</a:t>
            </a:r>
            <a:r>
              <a:rPr sz="3200" dirty="0">
                <a:latin typeface="Times New Roman"/>
                <a:cs typeface="Times New Roman"/>
              </a:rPr>
              <a:t>,</a:t>
            </a:r>
            <a:r>
              <a:rPr sz="3200" spc="-28" dirty="0">
                <a:latin typeface="Times New Roman"/>
                <a:cs typeface="Times New Roman"/>
              </a:rPr>
              <a:t> </a:t>
            </a:r>
            <a:r>
              <a:rPr sz="3200" dirty="0">
                <a:latin typeface="Times New Roman"/>
                <a:cs typeface="Times New Roman"/>
              </a:rPr>
              <a:t>which</a:t>
            </a:r>
            <a:r>
              <a:rPr sz="3200" spc="-11" dirty="0">
                <a:latin typeface="Times New Roman"/>
                <a:cs typeface="Times New Roman"/>
              </a:rPr>
              <a:t> </a:t>
            </a:r>
            <a:r>
              <a:rPr sz="3200" dirty="0">
                <a:latin typeface="Times New Roman"/>
                <a:cs typeface="Times New Roman"/>
              </a:rPr>
              <a:t>is</a:t>
            </a:r>
            <a:r>
              <a:rPr sz="3200" spc="-17"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dirty="0">
                <a:latin typeface="Times New Roman"/>
                <a:cs typeface="Times New Roman"/>
              </a:rPr>
              <a:t>number</a:t>
            </a:r>
            <a:r>
              <a:rPr sz="3200" spc="-17" dirty="0">
                <a:latin typeface="Times New Roman"/>
                <a:cs typeface="Times New Roman"/>
              </a:rPr>
              <a:t> </a:t>
            </a:r>
            <a:r>
              <a:rPr sz="3200" dirty="0">
                <a:latin typeface="Times New Roman"/>
                <a:cs typeface="Times New Roman"/>
              </a:rPr>
              <a:t>of </a:t>
            </a:r>
            <a:r>
              <a:rPr sz="3200" spc="-700" dirty="0">
                <a:latin typeface="Times New Roman"/>
                <a:cs typeface="Times New Roman"/>
              </a:rPr>
              <a:t> </a:t>
            </a:r>
            <a:r>
              <a:rPr sz="3200" dirty="0">
                <a:latin typeface="Times New Roman"/>
                <a:cs typeface="Times New Roman"/>
              </a:rPr>
              <a:t>routers</a:t>
            </a:r>
            <a:r>
              <a:rPr sz="3200" spc="-44" dirty="0">
                <a:latin typeface="Times New Roman"/>
                <a:cs typeface="Times New Roman"/>
              </a:rPr>
              <a:t> </a:t>
            </a:r>
            <a:r>
              <a:rPr sz="3200" dirty="0">
                <a:latin typeface="Times New Roman"/>
                <a:cs typeface="Times New Roman"/>
              </a:rPr>
              <a:t>between</a:t>
            </a:r>
            <a:r>
              <a:rPr sz="3200" spc="-33" dirty="0">
                <a:latin typeface="Times New Roman"/>
                <a:cs typeface="Times New Roman"/>
              </a:rPr>
              <a:t> </a:t>
            </a:r>
            <a:r>
              <a:rPr sz="3200" dirty="0">
                <a:latin typeface="Times New Roman"/>
                <a:cs typeface="Times New Roman"/>
              </a:rPr>
              <a:t>a </a:t>
            </a:r>
            <a:r>
              <a:rPr sz="3200" spc="-6" dirty="0">
                <a:latin typeface="Times New Roman"/>
                <a:cs typeface="Times New Roman"/>
              </a:rPr>
              <a:t>router</a:t>
            </a:r>
            <a:r>
              <a:rPr sz="3200" spc="-22" dirty="0">
                <a:latin typeface="Times New Roman"/>
                <a:cs typeface="Times New Roman"/>
              </a:rPr>
              <a:t> </a:t>
            </a:r>
            <a:r>
              <a:rPr sz="3200" dirty="0">
                <a:latin typeface="Times New Roman"/>
                <a:cs typeface="Times New Roman"/>
              </a:rPr>
              <a:t>and</a:t>
            </a:r>
            <a:r>
              <a:rPr sz="3200" spc="-11" dirty="0">
                <a:latin typeface="Times New Roman"/>
                <a:cs typeface="Times New Roman"/>
              </a:rPr>
              <a:t> </a:t>
            </a:r>
            <a:r>
              <a:rPr sz="3200" spc="-6" dirty="0">
                <a:latin typeface="Times New Roman"/>
                <a:cs typeface="Times New Roman"/>
              </a:rPr>
              <a:t>some</a:t>
            </a:r>
            <a:r>
              <a:rPr sz="3200" dirty="0">
                <a:latin typeface="Times New Roman"/>
                <a:cs typeface="Times New Roman"/>
              </a:rPr>
              <a:t> subnet.</a:t>
            </a:r>
            <a:endParaRPr lang="en-US" sz="3200" dirty="0">
              <a:latin typeface="Times New Roman"/>
              <a:cs typeface="Times New Roman"/>
            </a:endParaRPr>
          </a:p>
          <a:p>
            <a:pPr marL="471199" marR="830153" indent="-457200">
              <a:lnSpc>
                <a:spcPct val="109300"/>
              </a:lnSpc>
              <a:spcBef>
                <a:spcPts val="105"/>
              </a:spcBef>
              <a:buClr>
                <a:srgbClr val="C00000"/>
              </a:buClr>
              <a:buFont typeface="Wingdings" panose="05000000000000000000" pitchFamily="2" charset="2"/>
              <a:buChar char="ü"/>
            </a:pPr>
            <a:r>
              <a:rPr sz="3200" dirty="0">
                <a:latin typeface="Times New Roman"/>
                <a:cs typeface="Times New Roman"/>
              </a:rPr>
              <a:t>OSPF uses </a:t>
            </a:r>
            <a:r>
              <a:rPr sz="3200" spc="-6" dirty="0">
                <a:latin typeface="Times New Roman"/>
                <a:cs typeface="Times New Roman"/>
              </a:rPr>
              <a:t>the concept </a:t>
            </a:r>
            <a:r>
              <a:rPr sz="3200" dirty="0">
                <a:latin typeface="Times New Roman"/>
                <a:cs typeface="Times New Roman"/>
              </a:rPr>
              <a:t>of </a:t>
            </a:r>
            <a:r>
              <a:rPr sz="3200" b="1" i="1" spc="-6" dirty="0">
                <a:solidFill>
                  <a:srgbClr val="C00000"/>
                </a:solidFill>
                <a:latin typeface="Times New Roman"/>
                <a:cs typeface="Times New Roman"/>
              </a:rPr>
              <a:t>link </a:t>
            </a:r>
            <a:r>
              <a:rPr sz="3200" b="1" i="1" dirty="0">
                <a:solidFill>
                  <a:srgbClr val="C00000"/>
                </a:solidFill>
                <a:latin typeface="Times New Roman"/>
                <a:cs typeface="Times New Roman"/>
              </a:rPr>
              <a:t>cost</a:t>
            </a:r>
            <a:r>
              <a:rPr sz="3200" dirty="0">
                <a:latin typeface="Times New Roman"/>
                <a:cs typeface="Times New Roman"/>
              </a:rPr>
              <a:t>, with the SPF algorithm </a:t>
            </a:r>
            <a:r>
              <a:rPr sz="3200" spc="-700" dirty="0">
                <a:latin typeface="Times New Roman"/>
                <a:cs typeface="Times New Roman"/>
              </a:rPr>
              <a:t> </a:t>
            </a:r>
            <a:r>
              <a:rPr sz="3200" dirty="0">
                <a:latin typeface="Times New Roman"/>
                <a:cs typeface="Times New Roman"/>
              </a:rPr>
              <a:t>adding the cost of </a:t>
            </a:r>
            <a:r>
              <a:rPr sz="3200" spc="-6" dirty="0">
                <a:latin typeface="Times New Roman"/>
                <a:cs typeface="Times New Roman"/>
              </a:rPr>
              <a:t>each link </a:t>
            </a:r>
            <a:r>
              <a:rPr sz="3200" dirty="0">
                <a:latin typeface="Times New Roman"/>
                <a:cs typeface="Times New Roman"/>
              </a:rPr>
              <a:t>to </a:t>
            </a:r>
            <a:r>
              <a:rPr sz="3200" spc="-6" dirty="0">
                <a:latin typeface="Times New Roman"/>
                <a:cs typeface="Times New Roman"/>
              </a:rPr>
              <a:t>determine </a:t>
            </a:r>
            <a:r>
              <a:rPr sz="3200" dirty="0">
                <a:latin typeface="Times New Roman"/>
                <a:cs typeface="Times New Roman"/>
              </a:rPr>
              <a:t>the </a:t>
            </a:r>
            <a:r>
              <a:rPr sz="3200" spc="-6" dirty="0">
                <a:latin typeface="Times New Roman"/>
                <a:cs typeface="Times New Roman"/>
              </a:rPr>
              <a:t>cost from </a:t>
            </a:r>
            <a:r>
              <a:rPr sz="3200" dirty="0">
                <a:latin typeface="Times New Roman"/>
                <a:cs typeface="Times New Roman"/>
              </a:rPr>
              <a:t>a </a:t>
            </a:r>
            <a:r>
              <a:rPr sz="3200" spc="6" dirty="0">
                <a:latin typeface="Times New Roman"/>
                <a:cs typeface="Times New Roman"/>
              </a:rPr>
              <a:t> </a:t>
            </a:r>
            <a:r>
              <a:rPr sz="3200" spc="-22" dirty="0">
                <a:latin typeface="Times New Roman"/>
                <a:cs typeface="Times New Roman"/>
              </a:rPr>
              <a:t>router,</a:t>
            </a:r>
            <a:r>
              <a:rPr sz="3200" spc="-44" dirty="0">
                <a:latin typeface="Times New Roman"/>
                <a:cs typeface="Times New Roman"/>
              </a:rPr>
              <a:t> </a:t>
            </a:r>
            <a:r>
              <a:rPr sz="3200" dirty="0">
                <a:latin typeface="Times New Roman"/>
                <a:cs typeface="Times New Roman"/>
              </a:rPr>
              <a:t>to a</a:t>
            </a:r>
            <a:r>
              <a:rPr sz="3200" spc="-11" dirty="0">
                <a:latin typeface="Times New Roman"/>
                <a:cs typeface="Times New Roman"/>
              </a:rPr>
              <a:t> </a:t>
            </a:r>
            <a:r>
              <a:rPr sz="3200" dirty="0">
                <a:latin typeface="Times New Roman"/>
                <a:cs typeface="Times New Roman"/>
              </a:rPr>
              <a:t>subnet,</a:t>
            </a:r>
            <a:r>
              <a:rPr sz="3200" spc="-22" dirty="0">
                <a:latin typeface="Times New Roman"/>
                <a:cs typeface="Times New Roman"/>
              </a:rPr>
              <a:t> </a:t>
            </a:r>
            <a:r>
              <a:rPr sz="3200" dirty="0">
                <a:latin typeface="Times New Roman"/>
                <a:cs typeface="Times New Roman"/>
              </a:rPr>
              <a:t>over</a:t>
            </a:r>
            <a:r>
              <a:rPr sz="3200" spc="-28" dirty="0">
                <a:latin typeface="Times New Roman"/>
                <a:cs typeface="Times New Roman"/>
              </a:rPr>
              <a:t> </a:t>
            </a:r>
            <a:r>
              <a:rPr sz="3200" spc="-6" dirty="0">
                <a:latin typeface="Times New Roman"/>
                <a:cs typeface="Times New Roman"/>
              </a:rPr>
              <a:t>each</a:t>
            </a:r>
            <a:r>
              <a:rPr sz="3200" spc="-17" dirty="0">
                <a:latin typeface="Times New Roman"/>
                <a:cs typeface="Times New Roman"/>
              </a:rPr>
              <a:t> </a:t>
            </a:r>
            <a:r>
              <a:rPr sz="3200" dirty="0">
                <a:latin typeface="Times New Roman"/>
                <a:cs typeface="Times New Roman"/>
              </a:rPr>
              <a:t>possible</a:t>
            </a:r>
            <a:r>
              <a:rPr sz="3200" spc="-22" dirty="0">
                <a:latin typeface="Times New Roman"/>
                <a:cs typeface="Times New Roman"/>
              </a:rPr>
              <a:t> </a:t>
            </a:r>
            <a:r>
              <a:rPr sz="3200" dirty="0">
                <a:latin typeface="Times New Roman"/>
                <a:cs typeface="Times New Roman"/>
              </a:rPr>
              <a:t>path.</a:t>
            </a:r>
            <a:endParaRPr lang="en-US" sz="3200" dirty="0">
              <a:latin typeface="Times New Roman"/>
              <a:cs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0913" y="453102"/>
            <a:ext cx="7910213"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Routing</a:t>
            </a:r>
            <a:r>
              <a:rPr sz="4409" b="1" spc="-28"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a:t>
            </a:r>
            <a:r>
              <a:rPr sz="4409" b="1" spc="-17" dirty="0">
                <a:solidFill>
                  <a:schemeClr val="bg1"/>
                </a:solidFill>
                <a:latin typeface="Times New Roman" panose="02020603050405020304" pitchFamily="18" charset="0"/>
                <a:cs typeface="Times New Roman" panose="02020603050405020304" pitchFamily="18" charset="0"/>
              </a:rPr>
              <a:t> Features</a:t>
            </a:r>
            <a:endParaRPr sz="4409"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67425" y="1622737"/>
            <a:ext cx="9813702" cy="5512948"/>
          </a:xfrm>
          <a:prstGeom prst="rect">
            <a:avLst/>
          </a:prstGeom>
        </p:spPr>
        <p:txBody>
          <a:bodyPr vert="horz" wrap="square" lIns="0" tIns="13299" rIns="0" bIns="0" rtlCol="0">
            <a:spAutoFit/>
          </a:bodyPr>
          <a:lstStyle/>
          <a:p>
            <a:pPr marL="471199" marR="830153" indent="-457200">
              <a:lnSpc>
                <a:spcPct val="109300"/>
              </a:lnSpc>
              <a:spcBef>
                <a:spcPts val="105"/>
              </a:spcBef>
              <a:buClr>
                <a:srgbClr val="C00000"/>
              </a:buClr>
              <a:buFont typeface="Wingdings" panose="05000000000000000000" pitchFamily="2" charset="2"/>
              <a:buChar char="ü"/>
            </a:pPr>
            <a:r>
              <a:rPr lang="en-US" sz="3200" dirty="0">
                <a:latin typeface="Times New Roman"/>
                <a:cs typeface="Times New Roman"/>
              </a:rPr>
              <a:t>EIGRP</a:t>
            </a:r>
            <a:r>
              <a:rPr lang="en-US" sz="3200" spc="-143" dirty="0">
                <a:latin typeface="Times New Roman"/>
                <a:cs typeface="Times New Roman"/>
              </a:rPr>
              <a:t> </a:t>
            </a:r>
            <a:r>
              <a:rPr lang="en-US" sz="3200" dirty="0">
                <a:latin typeface="Times New Roman"/>
                <a:cs typeface="Times New Roman"/>
              </a:rPr>
              <a:t>uses</a:t>
            </a:r>
            <a:r>
              <a:rPr lang="en-US" sz="3200" spc="-11" dirty="0">
                <a:latin typeface="Times New Roman"/>
                <a:cs typeface="Times New Roman"/>
              </a:rPr>
              <a:t> </a:t>
            </a:r>
            <a:r>
              <a:rPr lang="en-US" sz="3200" dirty="0">
                <a:latin typeface="Times New Roman"/>
                <a:cs typeface="Times New Roman"/>
              </a:rPr>
              <a:t>a</a:t>
            </a:r>
            <a:r>
              <a:rPr lang="en-US" sz="3200" spc="-11" dirty="0">
                <a:latin typeface="Times New Roman"/>
                <a:cs typeface="Times New Roman"/>
              </a:rPr>
              <a:t> </a:t>
            </a:r>
            <a:r>
              <a:rPr lang="en-US" sz="3200" spc="-6" dirty="0">
                <a:latin typeface="Times New Roman"/>
                <a:cs typeface="Times New Roman"/>
              </a:rPr>
              <a:t>metric</a:t>
            </a:r>
            <a:r>
              <a:rPr lang="en-US" sz="3200" spc="22" dirty="0">
                <a:latin typeface="Times New Roman"/>
                <a:cs typeface="Times New Roman"/>
              </a:rPr>
              <a:t> </a:t>
            </a:r>
            <a:r>
              <a:rPr lang="en-US" sz="3200" dirty="0">
                <a:latin typeface="Times New Roman"/>
                <a:cs typeface="Times New Roman"/>
              </a:rPr>
              <a:t>that</a:t>
            </a:r>
            <a:r>
              <a:rPr lang="en-US" sz="3200" spc="-11" dirty="0">
                <a:latin typeface="Times New Roman"/>
                <a:cs typeface="Times New Roman"/>
              </a:rPr>
              <a:t> </a:t>
            </a:r>
            <a:r>
              <a:rPr lang="en-US" sz="3200" spc="-6" dirty="0">
                <a:latin typeface="Times New Roman"/>
                <a:cs typeface="Times New Roman"/>
              </a:rPr>
              <a:t>is</a:t>
            </a:r>
            <a:r>
              <a:rPr lang="en-US" sz="3200" spc="6" dirty="0">
                <a:latin typeface="Times New Roman"/>
                <a:cs typeface="Times New Roman"/>
              </a:rPr>
              <a:t> </a:t>
            </a:r>
            <a:r>
              <a:rPr lang="en-US" sz="3200" dirty="0">
                <a:latin typeface="Times New Roman"/>
                <a:cs typeface="Times New Roman"/>
              </a:rPr>
              <a:t>based</a:t>
            </a:r>
            <a:r>
              <a:rPr lang="en-US" sz="3200" spc="-6" dirty="0">
                <a:latin typeface="Times New Roman"/>
                <a:cs typeface="Times New Roman"/>
              </a:rPr>
              <a:t> </a:t>
            </a:r>
            <a:r>
              <a:rPr lang="en-US" sz="3200" dirty="0">
                <a:latin typeface="Times New Roman"/>
                <a:cs typeface="Times New Roman"/>
              </a:rPr>
              <a:t>on</a:t>
            </a:r>
            <a:r>
              <a:rPr lang="en-US" sz="3200" spc="-11" dirty="0">
                <a:latin typeface="Times New Roman"/>
                <a:cs typeface="Times New Roman"/>
              </a:rPr>
              <a:t> </a:t>
            </a:r>
            <a:r>
              <a:rPr lang="en-US" sz="3200" b="1" i="1" spc="-6" dirty="0">
                <a:solidFill>
                  <a:srgbClr val="C00000"/>
                </a:solidFill>
                <a:latin typeface="Times New Roman"/>
                <a:cs typeface="Times New Roman"/>
              </a:rPr>
              <a:t>link</a:t>
            </a:r>
            <a:r>
              <a:rPr lang="en-US" sz="3200" b="1" i="1" spc="17" dirty="0">
                <a:solidFill>
                  <a:srgbClr val="C00000"/>
                </a:solidFill>
                <a:latin typeface="Times New Roman"/>
                <a:cs typeface="Times New Roman"/>
              </a:rPr>
              <a:t> </a:t>
            </a:r>
            <a:r>
              <a:rPr lang="en-US" sz="3200" b="1" i="1" dirty="0">
                <a:solidFill>
                  <a:srgbClr val="C00000"/>
                </a:solidFill>
                <a:latin typeface="Times New Roman"/>
                <a:cs typeface="Times New Roman"/>
              </a:rPr>
              <a:t>bandwidth</a:t>
            </a:r>
            <a:r>
              <a:rPr lang="en-US" sz="3200" b="1" i="1" spc="-33" dirty="0">
                <a:solidFill>
                  <a:srgbClr val="C00000"/>
                </a:solidFill>
                <a:latin typeface="Times New Roman"/>
                <a:cs typeface="Times New Roman"/>
              </a:rPr>
              <a:t> </a:t>
            </a:r>
            <a:r>
              <a:rPr lang="en-US" sz="3200" dirty="0">
                <a:latin typeface="Times New Roman"/>
                <a:cs typeface="Times New Roman"/>
              </a:rPr>
              <a:t>and</a:t>
            </a:r>
            <a:r>
              <a:rPr lang="en-US" sz="3200" spc="-6" dirty="0">
                <a:latin typeface="Times New Roman"/>
                <a:cs typeface="Times New Roman"/>
              </a:rPr>
              <a:t> </a:t>
            </a:r>
            <a:r>
              <a:rPr lang="en-US" sz="3200" b="1" i="1" spc="-6" dirty="0">
                <a:solidFill>
                  <a:srgbClr val="C00000"/>
                </a:solidFill>
                <a:latin typeface="Times New Roman"/>
                <a:cs typeface="Times New Roman"/>
              </a:rPr>
              <a:t>link </a:t>
            </a:r>
            <a:r>
              <a:rPr lang="en-US" sz="3200" b="1" i="1" spc="-700" dirty="0">
                <a:solidFill>
                  <a:srgbClr val="C00000"/>
                </a:solidFill>
                <a:latin typeface="Times New Roman"/>
                <a:cs typeface="Times New Roman"/>
              </a:rPr>
              <a:t> </a:t>
            </a:r>
            <a:r>
              <a:rPr lang="en-US" sz="3200" b="1" i="1" dirty="0">
                <a:solidFill>
                  <a:srgbClr val="C00000"/>
                </a:solidFill>
                <a:latin typeface="Times New Roman"/>
                <a:cs typeface="Times New Roman"/>
              </a:rPr>
              <a:t>delay</a:t>
            </a:r>
            <a:r>
              <a:rPr lang="en-US" sz="3200" dirty="0">
                <a:latin typeface="Times New Roman"/>
                <a:cs typeface="Times New Roman"/>
              </a:rPr>
              <a:t>, applying a </a:t>
            </a:r>
            <a:r>
              <a:rPr lang="en-US" sz="3200" spc="-6" dirty="0">
                <a:latin typeface="Times New Roman"/>
                <a:cs typeface="Times New Roman"/>
              </a:rPr>
              <a:t>mathematical </a:t>
            </a:r>
            <a:r>
              <a:rPr lang="en-US" sz="3200" dirty="0">
                <a:latin typeface="Times New Roman"/>
                <a:cs typeface="Times New Roman"/>
              </a:rPr>
              <a:t>function to both to </a:t>
            </a:r>
            <a:r>
              <a:rPr lang="en-US" sz="3200" spc="-6" dirty="0">
                <a:latin typeface="Times New Roman"/>
                <a:cs typeface="Times New Roman"/>
              </a:rPr>
              <a:t>come </a:t>
            </a:r>
            <a:r>
              <a:rPr lang="en-US" sz="3200" dirty="0">
                <a:latin typeface="Times New Roman"/>
                <a:cs typeface="Times New Roman"/>
              </a:rPr>
              <a:t>up </a:t>
            </a:r>
            <a:r>
              <a:rPr lang="en-US" sz="3200" spc="6" dirty="0">
                <a:latin typeface="Times New Roman"/>
                <a:cs typeface="Times New Roman"/>
              </a:rPr>
              <a:t> </a:t>
            </a:r>
            <a:r>
              <a:rPr lang="en-US" sz="3200" dirty="0">
                <a:latin typeface="Times New Roman"/>
                <a:cs typeface="Times New Roman"/>
              </a:rPr>
              <a:t>with</a:t>
            </a:r>
            <a:r>
              <a:rPr lang="en-US" sz="3200" spc="-22" dirty="0">
                <a:latin typeface="Times New Roman"/>
                <a:cs typeface="Times New Roman"/>
              </a:rPr>
              <a:t> </a:t>
            </a:r>
            <a:r>
              <a:rPr lang="en-US" sz="3200" dirty="0">
                <a:latin typeface="Times New Roman"/>
                <a:cs typeface="Times New Roman"/>
              </a:rPr>
              <a:t>an</a:t>
            </a:r>
            <a:r>
              <a:rPr lang="en-US" sz="3200" spc="-17" dirty="0">
                <a:latin typeface="Times New Roman"/>
                <a:cs typeface="Times New Roman"/>
              </a:rPr>
              <a:t> </a:t>
            </a:r>
            <a:r>
              <a:rPr lang="en-US" sz="3200" dirty="0">
                <a:latin typeface="Times New Roman"/>
                <a:cs typeface="Times New Roman"/>
              </a:rPr>
              <a:t>integer</a:t>
            </a:r>
            <a:r>
              <a:rPr lang="en-US" sz="3200" spc="-28" dirty="0">
                <a:latin typeface="Times New Roman"/>
                <a:cs typeface="Times New Roman"/>
              </a:rPr>
              <a:t> </a:t>
            </a:r>
            <a:r>
              <a:rPr lang="en-US" sz="3200" dirty="0">
                <a:latin typeface="Times New Roman"/>
                <a:cs typeface="Times New Roman"/>
              </a:rPr>
              <a:t>value</a:t>
            </a:r>
            <a:r>
              <a:rPr lang="en-US" sz="3200" spc="-17" dirty="0">
                <a:latin typeface="Times New Roman"/>
                <a:cs typeface="Times New Roman"/>
              </a:rPr>
              <a:t> </a:t>
            </a:r>
            <a:r>
              <a:rPr lang="en-US" sz="3200" dirty="0">
                <a:latin typeface="Times New Roman"/>
                <a:cs typeface="Times New Roman"/>
              </a:rPr>
              <a:t>for</a:t>
            </a:r>
            <a:r>
              <a:rPr lang="en-US" sz="3200" spc="-22" dirty="0">
                <a:latin typeface="Times New Roman"/>
                <a:cs typeface="Times New Roman"/>
              </a:rPr>
              <a:t> </a:t>
            </a:r>
            <a:r>
              <a:rPr lang="en-US" sz="3200" dirty="0">
                <a:latin typeface="Times New Roman"/>
                <a:cs typeface="Times New Roman"/>
              </a:rPr>
              <a:t>a </a:t>
            </a:r>
            <a:r>
              <a:rPr lang="en-US" sz="3200" spc="-6" dirty="0">
                <a:latin typeface="Times New Roman"/>
                <a:cs typeface="Times New Roman"/>
              </a:rPr>
              <a:t>metric.</a:t>
            </a:r>
          </a:p>
          <a:p>
            <a:pPr marL="471199" marR="830153" indent="-457200">
              <a:lnSpc>
                <a:spcPct val="109300"/>
              </a:lnSpc>
              <a:spcBef>
                <a:spcPts val="105"/>
              </a:spcBef>
              <a:buClr>
                <a:srgbClr val="C00000"/>
              </a:buClr>
              <a:buFont typeface="Wingdings" panose="05000000000000000000" pitchFamily="2" charset="2"/>
              <a:buChar char="Ø"/>
            </a:pPr>
            <a:r>
              <a:rPr lang="en-US" sz="3086" spc="-6" dirty="0">
                <a:latin typeface="Times New Roman"/>
                <a:cs typeface="Times New Roman"/>
              </a:rPr>
              <a:t>Cisco</a:t>
            </a:r>
            <a:r>
              <a:rPr lang="en-US" sz="3086" spc="-11" dirty="0">
                <a:latin typeface="Times New Roman"/>
                <a:cs typeface="Times New Roman"/>
              </a:rPr>
              <a:t> </a:t>
            </a:r>
            <a:r>
              <a:rPr lang="en-US" sz="3086" spc="-6" dirty="0">
                <a:latin typeface="Times New Roman"/>
                <a:cs typeface="Times New Roman"/>
              </a:rPr>
              <a:t>has</a:t>
            </a:r>
            <a:r>
              <a:rPr lang="en-US" sz="3086" spc="-11" dirty="0">
                <a:latin typeface="Times New Roman"/>
                <a:cs typeface="Times New Roman"/>
              </a:rPr>
              <a:t> </a:t>
            </a:r>
            <a:r>
              <a:rPr lang="en-US" sz="3086" spc="-6" dirty="0">
                <a:latin typeface="Times New Roman"/>
                <a:cs typeface="Times New Roman"/>
              </a:rPr>
              <a:t>developed</a:t>
            </a:r>
            <a:r>
              <a:rPr lang="en-US" sz="3086" dirty="0">
                <a:latin typeface="Times New Roman"/>
                <a:cs typeface="Times New Roman"/>
              </a:rPr>
              <a:t> </a:t>
            </a:r>
            <a:r>
              <a:rPr lang="en-US" sz="3086" spc="-6" dirty="0">
                <a:latin typeface="Times New Roman"/>
                <a:cs typeface="Times New Roman"/>
              </a:rPr>
              <a:t>a couple</a:t>
            </a:r>
            <a:r>
              <a:rPr lang="en-US" sz="3086" dirty="0">
                <a:latin typeface="Times New Roman"/>
                <a:cs typeface="Times New Roman"/>
              </a:rPr>
              <a:t> </a:t>
            </a:r>
            <a:r>
              <a:rPr lang="en-US" sz="3086" spc="-6" dirty="0">
                <a:latin typeface="Times New Roman"/>
                <a:cs typeface="Times New Roman"/>
              </a:rPr>
              <a:t>of</a:t>
            </a:r>
            <a:r>
              <a:rPr lang="en-US" sz="3086" spc="6" dirty="0">
                <a:latin typeface="Times New Roman"/>
                <a:cs typeface="Times New Roman"/>
              </a:rPr>
              <a:t> </a:t>
            </a:r>
            <a:r>
              <a:rPr lang="en-US" sz="3086" spc="-6" dirty="0">
                <a:latin typeface="Times New Roman"/>
                <a:cs typeface="Times New Roman"/>
              </a:rPr>
              <a:t>proprietary</a:t>
            </a:r>
            <a:r>
              <a:rPr lang="en-US" sz="3086" spc="-22" dirty="0">
                <a:latin typeface="Times New Roman"/>
                <a:cs typeface="Times New Roman"/>
              </a:rPr>
              <a:t> </a:t>
            </a:r>
            <a:r>
              <a:rPr lang="en-US" sz="3086" spc="-6" dirty="0">
                <a:latin typeface="Times New Roman"/>
                <a:cs typeface="Times New Roman"/>
              </a:rPr>
              <a:t>IP</a:t>
            </a:r>
            <a:r>
              <a:rPr lang="en-US" sz="3086" spc="-99" dirty="0">
                <a:latin typeface="Times New Roman"/>
                <a:cs typeface="Times New Roman"/>
              </a:rPr>
              <a:t> </a:t>
            </a:r>
            <a:r>
              <a:rPr lang="en-US" sz="3086" dirty="0">
                <a:latin typeface="Times New Roman"/>
                <a:cs typeface="Times New Roman"/>
              </a:rPr>
              <a:t>routing </a:t>
            </a:r>
            <a:r>
              <a:rPr lang="en-US" sz="3086" spc="-755" dirty="0">
                <a:latin typeface="Times New Roman"/>
                <a:cs typeface="Times New Roman"/>
              </a:rPr>
              <a:t> </a:t>
            </a:r>
            <a:r>
              <a:rPr lang="en-US" sz="3086" dirty="0">
                <a:latin typeface="Times New Roman"/>
                <a:cs typeface="Times New Roman"/>
              </a:rPr>
              <a:t>protocols:</a:t>
            </a:r>
          </a:p>
          <a:p>
            <a:pPr marL="618765" marR="1188533" lvl="1" indent="-252686">
              <a:lnSpc>
                <a:spcPts val="2855"/>
              </a:lnSpc>
              <a:spcBef>
                <a:spcPts val="446"/>
              </a:spcBef>
              <a:buClr>
                <a:srgbClr val="9B2C1F"/>
              </a:buClr>
              <a:buSzPct val="85416"/>
              <a:buFont typeface="Wingdings"/>
              <a:buChar char=""/>
              <a:tabLst>
                <a:tab pos="702060" algn="l"/>
              </a:tabLst>
            </a:pPr>
            <a:r>
              <a:rPr lang="en-US" sz="3200" b="1" spc="-6" dirty="0">
                <a:solidFill>
                  <a:srgbClr val="C00000"/>
                </a:solidFill>
                <a:latin typeface="Times New Roman"/>
                <a:cs typeface="Times New Roman"/>
              </a:rPr>
              <a:t>Interior</a:t>
            </a:r>
            <a:r>
              <a:rPr lang="en-US" sz="3200" b="1" spc="-11" dirty="0">
                <a:solidFill>
                  <a:srgbClr val="C00000"/>
                </a:solidFill>
                <a:latin typeface="Times New Roman"/>
                <a:cs typeface="Times New Roman"/>
              </a:rPr>
              <a:t> </a:t>
            </a:r>
            <a:r>
              <a:rPr lang="en-US" sz="3200" b="1" dirty="0">
                <a:solidFill>
                  <a:srgbClr val="C00000"/>
                </a:solidFill>
                <a:latin typeface="Times New Roman"/>
                <a:cs typeface="Times New Roman"/>
              </a:rPr>
              <a:t>Gateway</a:t>
            </a:r>
            <a:r>
              <a:rPr lang="en-US" sz="3200" b="1" spc="-22" dirty="0">
                <a:solidFill>
                  <a:srgbClr val="C00000"/>
                </a:solidFill>
                <a:latin typeface="Times New Roman"/>
                <a:cs typeface="Times New Roman"/>
              </a:rPr>
              <a:t> </a:t>
            </a:r>
            <a:r>
              <a:rPr lang="en-US" sz="3200" b="1" spc="-6" dirty="0">
                <a:solidFill>
                  <a:srgbClr val="C00000"/>
                </a:solidFill>
                <a:latin typeface="Times New Roman"/>
                <a:cs typeface="Times New Roman"/>
              </a:rPr>
              <a:t>Routing</a:t>
            </a:r>
            <a:r>
              <a:rPr lang="en-US" sz="3200" b="1" dirty="0">
                <a:solidFill>
                  <a:srgbClr val="C00000"/>
                </a:solidFill>
                <a:latin typeface="Times New Roman"/>
                <a:cs typeface="Times New Roman"/>
              </a:rPr>
              <a:t> Protocol</a:t>
            </a:r>
            <a:r>
              <a:rPr lang="en-US" sz="3200" b="1" spc="-28" dirty="0">
                <a:solidFill>
                  <a:srgbClr val="C00000"/>
                </a:solidFill>
                <a:latin typeface="Times New Roman"/>
                <a:cs typeface="Times New Roman"/>
              </a:rPr>
              <a:t> </a:t>
            </a:r>
            <a:r>
              <a:rPr lang="en-US" sz="3200" b="1" dirty="0">
                <a:solidFill>
                  <a:srgbClr val="C00000"/>
                </a:solidFill>
                <a:latin typeface="Times New Roman"/>
                <a:cs typeface="Times New Roman"/>
              </a:rPr>
              <a:t>(IGRP)</a:t>
            </a:r>
            <a:r>
              <a:rPr lang="en-US" sz="3200" dirty="0">
                <a:solidFill>
                  <a:srgbClr val="C00000"/>
                </a:solidFill>
                <a:latin typeface="Times New Roman"/>
                <a:cs typeface="Times New Roman"/>
              </a:rPr>
              <a:t>, </a:t>
            </a:r>
            <a:r>
              <a:rPr lang="en-US" sz="3200" dirty="0">
                <a:latin typeface="Times New Roman"/>
                <a:cs typeface="Times New Roman"/>
              </a:rPr>
              <a:t>and</a:t>
            </a:r>
            <a:r>
              <a:rPr lang="en-US" sz="3200" spc="-6" dirty="0">
                <a:latin typeface="Times New Roman"/>
                <a:cs typeface="Times New Roman"/>
              </a:rPr>
              <a:t> </a:t>
            </a:r>
            <a:r>
              <a:rPr lang="en-US" sz="3200" dirty="0">
                <a:latin typeface="Times New Roman"/>
                <a:cs typeface="Times New Roman"/>
              </a:rPr>
              <a:t>its </a:t>
            </a:r>
            <a:r>
              <a:rPr lang="en-US" sz="3200" spc="-645" dirty="0">
                <a:latin typeface="Times New Roman"/>
                <a:cs typeface="Times New Roman"/>
              </a:rPr>
              <a:t> </a:t>
            </a:r>
            <a:r>
              <a:rPr lang="en-US" sz="3200" spc="-11" dirty="0">
                <a:latin typeface="Times New Roman"/>
                <a:cs typeface="Times New Roman"/>
              </a:rPr>
              <a:t>successor,</a:t>
            </a:r>
            <a:endParaRPr lang="en-US" sz="3200" dirty="0">
              <a:latin typeface="Times New Roman"/>
              <a:cs typeface="Times New Roman"/>
            </a:endParaRPr>
          </a:p>
          <a:p>
            <a:pPr marL="618765" lvl="1" indent="-252686">
              <a:spcBef>
                <a:spcPts val="88"/>
              </a:spcBef>
              <a:buClr>
                <a:srgbClr val="9B2C1F"/>
              </a:buClr>
              <a:buSzPct val="85416"/>
              <a:buFont typeface="Wingdings"/>
              <a:buChar char=""/>
              <a:tabLst>
                <a:tab pos="619465" algn="l"/>
              </a:tabLst>
            </a:pPr>
            <a:r>
              <a:rPr lang="en-US" sz="3200" b="1" spc="-6" dirty="0">
                <a:solidFill>
                  <a:srgbClr val="C00000"/>
                </a:solidFill>
                <a:latin typeface="Times New Roman"/>
                <a:cs typeface="Times New Roman"/>
              </a:rPr>
              <a:t>Enhanced</a:t>
            </a:r>
            <a:r>
              <a:rPr lang="en-US" sz="3200" b="1" dirty="0">
                <a:solidFill>
                  <a:srgbClr val="C00000"/>
                </a:solidFill>
                <a:latin typeface="Times New Roman"/>
                <a:cs typeface="Times New Roman"/>
              </a:rPr>
              <a:t> </a:t>
            </a:r>
            <a:r>
              <a:rPr lang="en-US" sz="3200" b="1" spc="-6" dirty="0">
                <a:solidFill>
                  <a:srgbClr val="C00000"/>
                </a:solidFill>
                <a:latin typeface="Times New Roman"/>
                <a:cs typeface="Times New Roman"/>
              </a:rPr>
              <a:t>Interior </a:t>
            </a:r>
            <a:r>
              <a:rPr lang="en-US" sz="3200" b="1" dirty="0">
                <a:solidFill>
                  <a:srgbClr val="C00000"/>
                </a:solidFill>
                <a:latin typeface="Times New Roman"/>
                <a:cs typeface="Times New Roman"/>
              </a:rPr>
              <a:t>Gateway</a:t>
            </a:r>
            <a:r>
              <a:rPr lang="en-US" sz="3200" b="1" spc="-17" dirty="0">
                <a:solidFill>
                  <a:srgbClr val="C00000"/>
                </a:solidFill>
                <a:latin typeface="Times New Roman"/>
                <a:cs typeface="Times New Roman"/>
              </a:rPr>
              <a:t> </a:t>
            </a:r>
            <a:r>
              <a:rPr lang="en-US" sz="3200" b="1" spc="-6" dirty="0">
                <a:solidFill>
                  <a:srgbClr val="C00000"/>
                </a:solidFill>
                <a:latin typeface="Times New Roman"/>
                <a:cs typeface="Times New Roman"/>
              </a:rPr>
              <a:t>Routing</a:t>
            </a:r>
            <a:r>
              <a:rPr lang="en-US" sz="3200" b="1" dirty="0">
                <a:solidFill>
                  <a:srgbClr val="C00000"/>
                </a:solidFill>
                <a:latin typeface="Times New Roman"/>
                <a:cs typeface="Times New Roman"/>
              </a:rPr>
              <a:t> Protocol</a:t>
            </a:r>
            <a:r>
              <a:rPr lang="en-US" sz="3200" b="1" spc="-22" dirty="0">
                <a:solidFill>
                  <a:srgbClr val="C00000"/>
                </a:solidFill>
                <a:latin typeface="Times New Roman"/>
                <a:cs typeface="Times New Roman"/>
              </a:rPr>
              <a:t> </a:t>
            </a:r>
            <a:r>
              <a:rPr lang="en-US" sz="3200" b="1" dirty="0">
                <a:solidFill>
                  <a:srgbClr val="C00000"/>
                </a:solidFill>
                <a:latin typeface="Times New Roman"/>
                <a:cs typeface="Times New Roman"/>
              </a:rPr>
              <a:t>(EIGRP).</a:t>
            </a:r>
            <a:endParaRPr lang="en-US" sz="3200" dirty="0">
              <a:latin typeface="Times New Roman"/>
              <a:cs typeface="Times New Roman"/>
            </a:endParaRPr>
          </a:p>
          <a:p>
            <a:pPr marL="471199" marR="830153" indent="-457200">
              <a:lnSpc>
                <a:spcPct val="109300"/>
              </a:lnSpc>
              <a:spcBef>
                <a:spcPts val="105"/>
              </a:spcBef>
              <a:buClr>
                <a:srgbClr val="C00000"/>
              </a:buClr>
              <a:buFont typeface="Wingdings" panose="05000000000000000000" pitchFamily="2" charset="2"/>
              <a:buChar char="ü"/>
            </a:pPr>
            <a:endParaRPr lang="en-US" sz="3200" dirty="0">
              <a:latin typeface="Times New Roman"/>
              <a:cs typeface="Times New Roman"/>
            </a:endParaRPr>
          </a:p>
        </p:txBody>
      </p:sp>
    </p:spTree>
    <p:extLst>
      <p:ext uri="{BB962C8B-B14F-4D97-AF65-F5344CB8AC3E}">
        <p14:creationId xmlns:p14="http://schemas.microsoft.com/office/powerpoint/2010/main" val="3399805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522" y="156082"/>
            <a:ext cx="8888918" cy="1368353"/>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39"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a:t>
            </a:r>
            <a:r>
              <a:rPr b="1" spc="-17"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Features</a:t>
            </a:r>
            <a:r>
              <a:rPr b="1" spc="6" dirty="0">
                <a:solidFill>
                  <a:schemeClr val="bg1"/>
                </a:solidFill>
                <a:latin typeface="Times New Roman" panose="02020603050405020304" pitchFamily="18" charset="0"/>
                <a:cs typeface="Times New Roman" panose="02020603050405020304" pitchFamily="18" charset="0"/>
              </a:rPr>
              <a:t> </a:t>
            </a:r>
            <a:r>
              <a:rPr b="1" i="1" dirty="0">
                <a:solidFill>
                  <a:schemeClr val="bg1"/>
                </a:solidFill>
                <a:latin typeface="Times New Roman" panose="02020603050405020304" pitchFamily="18" charset="0"/>
                <a:cs typeface="Times New Roman" panose="02020603050405020304" pitchFamily="18" charset="0"/>
              </a:rPr>
              <a:t>(Continued)</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30521" y="1879561"/>
            <a:ext cx="9470302" cy="5734658"/>
          </a:xfrm>
          <a:prstGeom prst="rect">
            <a:avLst/>
          </a:prstGeom>
        </p:spPr>
        <p:txBody>
          <a:bodyPr vert="horz" wrap="square" lIns="0" tIns="65797" rIns="0" bIns="0" rtlCol="0">
            <a:spAutoFit/>
          </a:bodyPr>
          <a:lstStyle/>
          <a:p>
            <a:pPr marL="471199" indent="-457200">
              <a:lnSpc>
                <a:spcPts val="3516"/>
              </a:lnSpc>
              <a:spcBef>
                <a:spcPts val="953"/>
              </a:spcBef>
              <a:buClr>
                <a:srgbClr val="C00000"/>
              </a:buClr>
              <a:buSzPct val="83928"/>
              <a:buFont typeface="Wingdings" panose="05000000000000000000" pitchFamily="2" charset="2"/>
              <a:buChar char="Ø"/>
              <a:tabLst>
                <a:tab pos="315682" algn="l"/>
                <a:tab pos="316382" algn="l"/>
              </a:tabLst>
            </a:pPr>
            <a:r>
              <a:rPr lang="en-US" sz="3200" spc="-116" dirty="0">
                <a:latin typeface="Times New Roman"/>
                <a:cs typeface="Times New Roman"/>
              </a:rPr>
              <a:t>To</a:t>
            </a:r>
            <a:r>
              <a:rPr lang="en-US" sz="3200" spc="-17" dirty="0">
                <a:latin typeface="Times New Roman"/>
                <a:cs typeface="Times New Roman"/>
              </a:rPr>
              <a:t> </a:t>
            </a:r>
            <a:r>
              <a:rPr lang="en-US" sz="3200" spc="-6" dirty="0">
                <a:latin typeface="Times New Roman"/>
                <a:cs typeface="Times New Roman"/>
              </a:rPr>
              <a:t>run either </a:t>
            </a:r>
            <a:r>
              <a:rPr lang="en-US" sz="3200" dirty="0">
                <a:latin typeface="Times New Roman"/>
                <a:cs typeface="Times New Roman"/>
              </a:rPr>
              <a:t>routing</a:t>
            </a:r>
            <a:r>
              <a:rPr lang="en-US" sz="3200" spc="-28" dirty="0">
                <a:latin typeface="Times New Roman"/>
                <a:cs typeface="Times New Roman"/>
              </a:rPr>
              <a:t> </a:t>
            </a:r>
            <a:r>
              <a:rPr lang="en-US" sz="3200" dirty="0">
                <a:latin typeface="Times New Roman"/>
                <a:cs typeface="Times New Roman"/>
              </a:rPr>
              <a:t>protocol,</a:t>
            </a:r>
            <a:r>
              <a:rPr lang="en-US" sz="3200" spc="-22" dirty="0">
                <a:latin typeface="Times New Roman"/>
                <a:cs typeface="Times New Roman"/>
              </a:rPr>
              <a:t> </a:t>
            </a:r>
            <a:r>
              <a:rPr lang="en-US" sz="3200" spc="-6" dirty="0">
                <a:latin typeface="Times New Roman"/>
                <a:cs typeface="Times New Roman"/>
              </a:rPr>
              <a:t>you</a:t>
            </a:r>
            <a:r>
              <a:rPr lang="en-US" sz="3200" spc="-11" dirty="0">
                <a:latin typeface="Times New Roman"/>
                <a:cs typeface="Times New Roman"/>
              </a:rPr>
              <a:t> </a:t>
            </a:r>
            <a:r>
              <a:rPr lang="en-US" sz="3200" spc="-6" dirty="0">
                <a:latin typeface="Times New Roman"/>
                <a:cs typeface="Times New Roman"/>
              </a:rPr>
              <a:t>must</a:t>
            </a:r>
            <a:r>
              <a:rPr lang="en-US" sz="3200" spc="6" dirty="0">
                <a:latin typeface="Times New Roman"/>
                <a:cs typeface="Times New Roman"/>
              </a:rPr>
              <a:t> </a:t>
            </a:r>
            <a:r>
              <a:rPr lang="en-US" sz="3200" spc="-6" dirty="0">
                <a:latin typeface="Times New Roman"/>
                <a:cs typeface="Times New Roman"/>
              </a:rPr>
              <a:t>use</a:t>
            </a:r>
            <a:r>
              <a:rPr lang="en-US" sz="3200" spc="-28" dirty="0">
                <a:latin typeface="Times New Roman"/>
                <a:cs typeface="Times New Roman"/>
              </a:rPr>
              <a:t> </a:t>
            </a:r>
            <a:r>
              <a:rPr lang="en-US" sz="3200" spc="-6" dirty="0">
                <a:latin typeface="Times New Roman"/>
                <a:cs typeface="Times New Roman"/>
              </a:rPr>
              <a:t>Cisco </a:t>
            </a:r>
            <a:r>
              <a:rPr lang="en-US" sz="3200" spc="-755" dirty="0">
                <a:latin typeface="Times New Roman"/>
                <a:cs typeface="Times New Roman"/>
              </a:rPr>
              <a:t> </a:t>
            </a:r>
            <a:r>
              <a:rPr lang="en-US" sz="3200" spc="-6" dirty="0">
                <a:latin typeface="Times New Roman"/>
                <a:cs typeface="Times New Roman"/>
              </a:rPr>
              <a:t>routers.</a:t>
            </a:r>
          </a:p>
          <a:p>
            <a:pPr marL="471199" indent="-457200">
              <a:lnSpc>
                <a:spcPts val="3516"/>
              </a:lnSpc>
              <a:spcBef>
                <a:spcPts val="953"/>
              </a:spcBef>
              <a:buClr>
                <a:srgbClr val="C00000"/>
              </a:buClr>
              <a:buSzPct val="83928"/>
              <a:buFont typeface="Wingdings" panose="05000000000000000000" pitchFamily="2" charset="2"/>
              <a:buChar char="Ø"/>
              <a:tabLst>
                <a:tab pos="315682" algn="l"/>
                <a:tab pos="316382" algn="l"/>
              </a:tabLst>
            </a:pPr>
            <a:r>
              <a:rPr sz="3200" spc="-6" dirty="0">
                <a:latin typeface="Times New Roman"/>
                <a:cs typeface="Times New Roman"/>
              </a:rPr>
              <a:t>When</a:t>
            </a:r>
            <a:r>
              <a:rPr sz="3200" spc="-11" dirty="0">
                <a:latin typeface="Times New Roman"/>
                <a:cs typeface="Times New Roman"/>
              </a:rPr>
              <a:t> </a:t>
            </a:r>
            <a:r>
              <a:rPr sz="3200" spc="-6" dirty="0">
                <a:latin typeface="Times New Roman"/>
                <a:cs typeface="Times New Roman"/>
              </a:rPr>
              <a:t>IGRP</a:t>
            </a:r>
            <a:r>
              <a:rPr sz="3200" spc="-99" dirty="0">
                <a:latin typeface="Times New Roman"/>
                <a:cs typeface="Times New Roman"/>
              </a:rPr>
              <a:t> </a:t>
            </a:r>
            <a:r>
              <a:rPr sz="3200" spc="-11" dirty="0">
                <a:latin typeface="Times New Roman"/>
                <a:cs typeface="Times New Roman"/>
              </a:rPr>
              <a:t>was</a:t>
            </a:r>
            <a:r>
              <a:rPr sz="3200" dirty="0">
                <a:latin typeface="Times New Roman"/>
                <a:cs typeface="Times New Roman"/>
              </a:rPr>
              <a:t> </a:t>
            </a:r>
            <a:r>
              <a:rPr sz="3200" spc="-6" dirty="0">
                <a:latin typeface="Times New Roman"/>
                <a:cs typeface="Times New Roman"/>
              </a:rPr>
              <a:t>announced,</a:t>
            </a:r>
            <a:r>
              <a:rPr sz="3200" spc="-17" dirty="0">
                <a:latin typeface="Times New Roman"/>
                <a:cs typeface="Times New Roman"/>
              </a:rPr>
              <a:t> </a:t>
            </a:r>
            <a:r>
              <a:rPr sz="3200" spc="-6" dirty="0">
                <a:latin typeface="Times New Roman"/>
                <a:cs typeface="Times New Roman"/>
              </a:rPr>
              <a:t>it</a:t>
            </a:r>
            <a:r>
              <a:rPr sz="3200" spc="11" dirty="0">
                <a:latin typeface="Times New Roman"/>
                <a:cs typeface="Times New Roman"/>
              </a:rPr>
              <a:t> </a:t>
            </a:r>
            <a:r>
              <a:rPr sz="3200" spc="-6" dirty="0">
                <a:latin typeface="Times New Roman"/>
                <a:cs typeface="Times New Roman"/>
              </a:rPr>
              <a:t>worked</a:t>
            </a:r>
            <a:r>
              <a:rPr sz="3200" spc="6" dirty="0">
                <a:latin typeface="Times New Roman"/>
                <a:cs typeface="Times New Roman"/>
              </a:rPr>
              <a:t> </a:t>
            </a:r>
            <a:r>
              <a:rPr sz="3200" spc="-6" dirty="0">
                <a:latin typeface="Times New Roman"/>
                <a:cs typeface="Times New Roman"/>
              </a:rPr>
              <a:t>better</a:t>
            </a:r>
            <a:r>
              <a:rPr sz="3200" spc="6" dirty="0">
                <a:latin typeface="Times New Roman"/>
                <a:cs typeface="Times New Roman"/>
              </a:rPr>
              <a:t> </a:t>
            </a:r>
            <a:r>
              <a:rPr sz="3200" spc="-6" dirty="0">
                <a:latin typeface="Times New Roman"/>
                <a:cs typeface="Times New Roman"/>
              </a:rPr>
              <a:t>than the</a:t>
            </a:r>
            <a:r>
              <a:rPr lang="en-US" sz="3200" dirty="0">
                <a:latin typeface="Times New Roman"/>
                <a:cs typeface="Times New Roman"/>
              </a:rPr>
              <a:t> </a:t>
            </a:r>
            <a:r>
              <a:rPr sz="3200" b="1" spc="-6" dirty="0">
                <a:solidFill>
                  <a:srgbClr val="C00000"/>
                </a:solidFill>
                <a:latin typeface="Times New Roman"/>
                <a:cs typeface="Times New Roman"/>
              </a:rPr>
              <a:t>only</a:t>
            </a:r>
            <a:r>
              <a:rPr sz="3200" b="1" i="1" spc="-17" dirty="0">
                <a:latin typeface="Times New Roman"/>
                <a:cs typeface="Times New Roman"/>
              </a:rPr>
              <a:t> </a:t>
            </a:r>
            <a:r>
              <a:rPr sz="3200" spc="-6" dirty="0">
                <a:latin typeface="Times New Roman"/>
                <a:cs typeface="Times New Roman"/>
              </a:rPr>
              <a:t>other</a:t>
            </a:r>
            <a:r>
              <a:rPr sz="3200" spc="-11" dirty="0">
                <a:latin typeface="Times New Roman"/>
                <a:cs typeface="Times New Roman"/>
              </a:rPr>
              <a:t> </a:t>
            </a:r>
            <a:r>
              <a:rPr sz="3200" spc="-6" dirty="0">
                <a:latin typeface="Times New Roman"/>
                <a:cs typeface="Times New Roman"/>
              </a:rPr>
              <a:t>alternative</a:t>
            </a:r>
            <a:r>
              <a:rPr sz="3200" spc="-22" dirty="0">
                <a:latin typeface="Times New Roman"/>
                <a:cs typeface="Times New Roman"/>
              </a:rPr>
              <a:t> </a:t>
            </a:r>
            <a:r>
              <a:rPr sz="3200" spc="-6" dirty="0">
                <a:latin typeface="Times New Roman"/>
                <a:cs typeface="Times New Roman"/>
              </a:rPr>
              <a:t>at the</a:t>
            </a:r>
            <a:r>
              <a:rPr sz="3200" dirty="0">
                <a:latin typeface="Times New Roman"/>
                <a:cs typeface="Times New Roman"/>
              </a:rPr>
              <a:t> </a:t>
            </a:r>
            <a:r>
              <a:rPr sz="3200" spc="-11" dirty="0">
                <a:latin typeface="Times New Roman"/>
                <a:cs typeface="Times New Roman"/>
              </a:rPr>
              <a:t>time</a:t>
            </a:r>
            <a:r>
              <a:rPr sz="3200" spc="-6" dirty="0">
                <a:latin typeface="Times New Roman"/>
                <a:cs typeface="Times New Roman"/>
              </a:rPr>
              <a:t> </a:t>
            </a:r>
            <a:r>
              <a:rPr sz="3200" dirty="0">
                <a:latin typeface="Times New Roman"/>
                <a:cs typeface="Times New Roman"/>
              </a:rPr>
              <a:t>(RIP).</a:t>
            </a:r>
          </a:p>
          <a:p>
            <a:pPr marL="470499" marR="5600" indent="-457200">
              <a:lnSpc>
                <a:spcPts val="3340"/>
              </a:lnSpc>
              <a:spcBef>
                <a:spcPts val="705"/>
              </a:spcBef>
              <a:buClr>
                <a:srgbClr val="C00000"/>
              </a:buClr>
              <a:buSzPct val="83928"/>
              <a:buFont typeface="Wingdings" panose="05000000000000000000" pitchFamily="2" charset="2"/>
              <a:buChar char="Ø"/>
              <a:tabLst>
                <a:tab pos="315682" algn="l"/>
                <a:tab pos="316382" algn="l"/>
              </a:tabLst>
            </a:pPr>
            <a:r>
              <a:rPr sz="3200" spc="-72" dirty="0">
                <a:latin typeface="Times New Roman"/>
                <a:cs typeface="Times New Roman"/>
              </a:rPr>
              <a:t>Today, </a:t>
            </a:r>
            <a:r>
              <a:rPr sz="3200" spc="-6" dirty="0">
                <a:latin typeface="Times New Roman"/>
                <a:cs typeface="Times New Roman"/>
              </a:rPr>
              <a:t>EIGRP works very well, competing with OSPF </a:t>
            </a:r>
            <a:r>
              <a:rPr sz="3200" spc="-755" dirty="0">
                <a:latin typeface="Times New Roman"/>
                <a:cs typeface="Times New Roman"/>
              </a:rPr>
              <a:t> </a:t>
            </a:r>
            <a:r>
              <a:rPr sz="3200" spc="-6" dirty="0">
                <a:latin typeface="Times New Roman"/>
                <a:cs typeface="Times New Roman"/>
              </a:rPr>
              <a:t>to</a:t>
            </a:r>
            <a:r>
              <a:rPr sz="3200" spc="-11" dirty="0">
                <a:latin typeface="Times New Roman"/>
                <a:cs typeface="Times New Roman"/>
              </a:rPr>
              <a:t> </a:t>
            </a:r>
            <a:r>
              <a:rPr sz="3200" spc="-6" dirty="0">
                <a:latin typeface="Times New Roman"/>
                <a:cs typeface="Times New Roman"/>
              </a:rPr>
              <a:t>be considered</a:t>
            </a:r>
            <a:r>
              <a:rPr sz="3200" spc="-28" dirty="0">
                <a:latin typeface="Times New Roman"/>
                <a:cs typeface="Times New Roman"/>
              </a:rPr>
              <a:t> </a:t>
            </a:r>
            <a:r>
              <a:rPr sz="3200" spc="-6" dirty="0">
                <a:latin typeface="Times New Roman"/>
                <a:cs typeface="Times New Roman"/>
              </a:rPr>
              <a:t>the</a:t>
            </a:r>
            <a:r>
              <a:rPr sz="3200" dirty="0">
                <a:latin typeface="Times New Roman"/>
                <a:cs typeface="Times New Roman"/>
              </a:rPr>
              <a:t> </a:t>
            </a:r>
            <a:r>
              <a:rPr sz="3200" spc="-6" dirty="0">
                <a:latin typeface="Times New Roman"/>
                <a:cs typeface="Times New Roman"/>
              </a:rPr>
              <a:t>best</a:t>
            </a:r>
            <a:r>
              <a:rPr sz="3200" spc="-17" dirty="0">
                <a:latin typeface="Times New Roman"/>
                <a:cs typeface="Times New Roman"/>
              </a:rPr>
              <a:t> </a:t>
            </a:r>
            <a:r>
              <a:rPr sz="3200" spc="-6" dirty="0">
                <a:latin typeface="Times New Roman"/>
                <a:cs typeface="Times New Roman"/>
              </a:rPr>
              <a:t>IGP</a:t>
            </a:r>
            <a:r>
              <a:rPr sz="3200" spc="-99" dirty="0">
                <a:latin typeface="Times New Roman"/>
                <a:cs typeface="Times New Roman"/>
              </a:rPr>
              <a:t> </a:t>
            </a:r>
            <a:r>
              <a:rPr sz="3200" spc="-6" dirty="0">
                <a:latin typeface="Times New Roman"/>
                <a:cs typeface="Times New Roman"/>
              </a:rPr>
              <a:t>IP</a:t>
            </a:r>
            <a:r>
              <a:rPr sz="3200" spc="-110" dirty="0">
                <a:latin typeface="Times New Roman"/>
                <a:cs typeface="Times New Roman"/>
              </a:rPr>
              <a:t> </a:t>
            </a:r>
            <a:r>
              <a:rPr sz="3200" dirty="0">
                <a:latin typeface="Times New Roman"/>
                <a:cs typeface="Times New Roman"/>
              </a:rPr>
              <a:t>routing</a:t>
            </a:r>
            <a:r>
              <a:rPr sz="3200" spc="-17" dirty="0">
                <a:latin typeface="Times New Roman"/>
                <a:cs typeface="Times New Roman"/>
              </a:rPr>
              <a:t> </a:t>
            </a:r>
            <a:r>
              <a:rPr sz="3200" dirty="0">
                <a:latin typeface="Times New Roman"/>
                <a:cs typeface="Times New Roman"/>
              </a:rPr>
              <a:t>protocol.</a:t>
            </a:r>
            <a:endParaRPr lang="en-US" sz="3200" dirty="0">
              <a:latin typeface="Times New Roman"/>
              <a:cs typeface="Times New Roman"/>
            </a:endParaRPr>
          </a:p>
          <a:p>
            <a:pPr marL="470499" marR="5600" indent="-457200">
              <a:lnSpc>
                <a:spcPts val="3340"/>
              </a:lnSpc>
              <a:spcBef>
                <a:spcPts val="705"/>
              </a:spcBef>
              <a:buClr>
                <a:srgbClr val="C00000"/>
              </a:buClr>
              <a:buSzPct val="83928"/>
              <a:buFont typeface="Wingdings" panose="05000000000000000000" pitchFamily="2" charset="2"/>
              <a:buChar char="Ø"/>
              <a:tabLst>
                <a:tab pos="315682" algn="l"/>
                <a:tab pos="316382" algn="l"/>
              </a:tabLst>
            </a:pPr>
            <a:r>
              <a:rPr lang="en-US" sz="3200" dirty="0">
                <a:latin typeface="Times New Roman"/>
                <a:cs typeface="Times New Roman"/>
              </a:rPr>
              <a:t>Some routing protocols, such as RIP, send periodic full  routing updates. RIP sends updates every 30 seconds by  default, regardless of whether anything has changed</a:t>
            </a:r>
          </a:p>
          <a:p>
            <a:pPr marL="470499" marR="5600" indent="-457200">
              <a:lnSpc>
                <a:spcPts val="3340"/>
              </a:lnSpc>
              <a:spcBef>
                <a:spcPts val="705"/>
              </a:spcBef>
              <a:buClr>
                <a:srgbClr val="C00000"/>
              </a:buClr>
              <a:buSzPct val="83928"/>
              <a:buFont typeface="Wingdings" panose="05000000000000000000" pitchFamily="2" charset="2"/>
              <a:buChar char="Ø"/>
              <a:tabLst>
                <a:tab pos="315682" algn="l"/>
                <a:tab pos="316382" algn="l"/>
              </a:tabLst>
            </a:pPr>
            <a:endParaRPr lang="en-US" sz="3200" dirty="0">
              <a:latin typeface="Times New Roman"/>
              <a:cs typeface="Times New Roman"/>
            </a:endParaRPr>
          </a:p>
          <a:p>
            <a:pPr marL="470499" marR="5600" indent="-457200">
              <a:lnSpc>
                <a:spcPts val="3340"/>
              </a:lnSpc>
              <a:spcBef>
                <a:spcPts val="705"/>
              </a:spcBef>
              <a:buClr>
                <a:srgbClr val="C00000"/>
              </a:buClr>
              <a:buSzPct val="83928"/>
              <a:buFont typeface="Wingdings" panose="05000000000000000000" pitchFamily="2" charset="2"/>
              <a:buChar char="Ø"/>
              <a:tabLst>
                <a:tab pos="315682" algn="l"/>
                <a:tab pos="316382" algn="l"/>
              </a:tabLst>
            </a:pPr>
            <a:endParaRPr sz="3200" dirty="0">
              <a:latin typeface="Times New Roman"/>
              <a:cs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9245" y="188415"/>
            <a:ext cx="9388699" cy="1368353"/>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Routing</a:t>
            </a:r>
            <a:r>
              <a:rPr b="1" spc="-28"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a:t>
            </a:r>
            <a:r>
              <a:rPr b="1" spc="-6"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Features</a:t>
            </a:r>
            <a:r>
              <a:rPr b="1" spc="17" dirty="0">
                <a:solidFill>
                  <a:schemeClr val="bg1"/>
                </a:solidFill>
                <a:latin typeface="Times New Roman" panose="02020603050405020304" pitchFamily="18" charset="0"/>
                <a:cs typeface="Times New Roman" panose="02020603050405020304" pitchFamily="18" charset="0"/>
              </a:rPr>
              <a:t> </a:t>
            </a:r>
            <a:br>
              <a:rPr lang="en-US" b="1" spc="17" dirty="0">
                <a:solidFill>
                  <a:schemeClr val="bg1"/>
                </a:solidFill>
                <a:latin typeface="Times New Roman" panose="02020603050405020304" pitchFamily="18" charset="0"/>
                <a:cs typeface="Times New Roman" panose="02020603050405020304" pitchFamily="18" charset="0"/>
              </a:rPr>
            </a:br>
            <a:r>
              <a:rPr b="1" i="1" dirty="0">
                <a:solidFill>
                  <a:schemeClr val="bg1"/>
                </a:solidFill>
                <a:latin typeface="Times New Roman" panose="02020603050405020304" pitchFamily="18" charset="0"/>
                <a:cs typeface="Times New Roman" panose="02020603050405020304" pitchFamily="18" charset="0"/>
              </a:rPr>
              <a:t>(Continued)</a:t>
            </a:r>
            <a:endParaRPr b="1" dirty="0">
              <a:solidFill>
                <a:schemeClr val="bg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17112" y="1728800"/>
            <a:ext cx="9117807" cy="5261583"/>
          </a:xfrm>
          <a:prstGeom prst="rect">
            <a:avLst/>
          </a:prstGeom>
        </p:spPr>
        <p:txBody>
          <a:bodyPr vert="horz" wrap="square" lIns="0" tIns="67197" rIns="0" bIns="0" rtlCol="0">
            <a:spAutoFit/>
          </a:bodyPr>
          <a:lstStyle/>
          <a:p>
            <a:pPr marL="470499" marR="644664" indent="-457200">
              <a:spcBef>
                <a:spcPts val="672"/>
              </a:spcBef>
              <a:buClr>
                <a:srgbClr val="C00000"/>
              </a:buClr>
              <a:buSzPct val="83928"/>
              <a:buFont typeface="Wingdings" panose="05000000000000000000" pitchFamily="2" charset="2"/>
              <a:buChar char="Ø"/>
              <a:tabLst>
                <a:tab pos="316382" algn="l"/>
              </a:tabLst>
            </a:pPr>
            <a:r>
              <a:rPr sz="3200" spc="-6" dirty="0">
                <a:latin typeface="Times New Roman"/>
                <a:cs typeface="Times New Roman"/>
              </a:rPr>
              <a:t>The updates include all </a:t>
            </a:r>
            <a:r>
              <a:rPr sz="3200" dirty="0">
                <a:latin typeface="Times New Roman"/>
                <a:cs typeface="Times New Roman"/>
              </a:rPr>
              <a:t>routes </a:t>
            </a:r>
            <a:r>
              <a:rPr sz="3200" spc="-6" dirty="0">
                <a:latin typeface="Times New Roman"/>
                <a:cs typeface="Times New Roman"/>
              </a:rPr>
              <a:t>known by that </a:t>
            </a:r>
            <a:r>
              <a:rPr sz="3200" spc="-22" dirty="0">
                <a:latin typeface="Times New Roman"/>
                <a:cs typeface="Times New Roman"/>
              </a:rPr>
              <a:t>router, </a:t>
            </a:r>
            <a:r>
              <a:rPr sz="3200" spc="-755" dirty="0">
                <a:latin typeface="Times New Roman"/>
                <a:cs typeface="Times New Roman"/>
              </a:rPr>
              <a:t> </a:t>
            </a:r>
            <a:r>
              <a:rPr sz="3200" spc="-6" dirty="0">
                <a:latin typeface="Times New Roman"/>
                <a:cs typeface="Times New Roman"/>
              </a:rPr>
              <a:t>with some</a:t>
            </a:r>
            <a:r>
              <a:rPr sz="3200" dirty="0">
                <a:latin typeface="Times New Roman"/>
                <a:cs typeface="Times New Roman"/>
              </a:rPr>
              <a:t> </a:t>
            </a:r>
            <a:r>
              <a:rPr sz="3200" spc="-6" dirty="0">
                <a:latin typeface="Times New Roman"/>
                <a:cs typeface="Times New Roman"/>
              </a:rPr>
              <a:t>restrictions,</a:t>
            </a:r>
            <a:r>
              <a:rPr sz="3200" spc="-28" dirty="0">
                <a:latin typeface="Times New Roman"/>
                <a:cs typeface="Times New Roman"/>
              </a:rPr>
              <a:t> </a:t>
            </a:r>
            <a:r>
              <a:rPr sz="3200" spc="-6" dirty="0">
                <a:latin typeface="Times New Roman"/>
                <a:cs typeface="Times New Roman"/>
              </a:rPr>
              <a:t>which</a:t>
            </a:r>
            <a:r>
              <a:rPr sz="3200" dirty="0">
                <a:latin typeface="Times New Roman"/>
                <a:cs typeface="Times New Roman"/>
              </a:rPr>
              <a:t> </a:t>
            </a:r>
            <a:r>
              <a:rPr sz="3200" spc="-11" dirty="0">
                <a:latin typeface="Times New Roman"/>
                <a:cs typeface="Times New Roman"/>
              </a:rPr>
              <a:t>means</a:t>
            </a:r>
            <a:r>
              <a:rPr sz="3200" spc="17" dirty="0">
                <a:latin typeface="Times New Roman"/>
                <a:cs typeface="Times New Roman"/>
              </a:rPr>
              <a:t> </a:t>
            </a:r>
            <a:r>
              <a:rPr sz="3200" dirty="0">
                <a:latin typeface="Times New Roman"/>
                <a:cs typeface="Times New Roman"/>
              </a:rPr>
              <a:t>the</a:t>
            </a:r>
            <a:r>
              <a:rPr sz="3200" spc="-6" dirty="0">
                <a:latin typeface="Times New Roman"/>
                <a:cs typeface="Times New Roman"/>
              </a:rPr>
              <a:t> updates</a:t>
            </a:r>
            <a:r>
              <a:rPr sz="3200" spc="-11" dirty="0">
                <a:latin typeface="Times New Roman"/>
                <a:cs typeface="Times New Roman"/>
              </a:rPr>
              <a:t> </a:t>
            </a:r>
            <a:r>
              <a:rPr sz="3200" spc="-6" dirty="0">
                <a:latin typeface="Times New Roman"/>
                <a:cs typeface="Times New Roman"/>
              </a:rPr>
              <a:t>are</a:t>
            </a:r>
            <a:r>
              <a:rPr lang="en-US" sz="3200" dirty="0">
                <a:latin typeface="Times New Roman"/>
                <a:cs typeface="Times New Roman"/>
              </a:rPr>
              <a:t> </a:t>
            </a:r>
            <a:r>
              <a:rPr lang="en-US" sz="3200" spc="-176" dirty="0">
                <a:latin typeface="Times New Roman"/>
                <a:cs typeface="Times New Roman"/>
              </a:rPr>
              <a:t>"</a:t>
            </a:r>
            <a:r>
              <a:rPr sz="3200" b="1" spc="-176" dirty="0">
                <a:solidFill>
                  <a:srgbClr val="FF0000"/>
                </a:solidFill>
                <a:latin typeface="Times New Roman"/>
                <a:cs typeface="Times New Roman"/>
              </a:rPr>
              <a:t>full</a:t>
            </a:r>
            <a:r>
              <a:rPr lang="en-US" sz="3200" spc="-176" dirty="0">
                <a:latin typeface="Times New Roman"/>
                <a:cs typeface="Times New Roman"/>
              </a:rPr>
              <a:t>"</a:t>
            </a:r>
            <a:r>
              <a:rPr sz="3200" spc="-176" dirty="0">
                <a:latin typeface="Times New Roman"/>
                <a:cs typeface="Times New Roman"/>
              </a:rPr>
              <a:t>.</a:t>
            </a:r>
            <a:endParaRPr sz="3200" dirty="0">
              <a:latin typeface="Times New Roman"/>
              <a:cs typeface="Times New Roman"/>
            </a:endParaRPr>
          </a:p>
          <a:p>
            <a:pPr marL="470499" marR="372379" indent="-457200">
              <a:spcBef>
                <a:spcPts val="722"/>
              </a:spcBef>
              <a:buClr>
                <a:srgbClr val="C00000"/>
              </a:buClr>
              <a:buSzPct val="83928"/>
              <a:buFont typeface="Wingdings" panose="05000000000000000000" pitchFamily="2" charset="2"/>
              <a:buChar char="Ø"/>
              <a:tabLst>
                <a:tab pos="316382" algn="l"/>
              </a:tabLst>
            </a:pPr>
            <a:r>
              <a:rPr sz="3200" spc="-17" dirty="0">
                <a:latin typeface="Times New Roman"/>
                <a:cs typeface="Times New Roman"/>
              </a:rPr>
              <a:t>Alternatively, </a:t>
            </a:r>
            <a:r>
              <a:rPr sz="3200" spc="-6" dirty="0">
                <a:latin typeface="Times New Roman"/>
                <a:cs typeface="Times New Roman"/>
              </a:rPr>
              <a:t>other </a:t>
            </a:r>
            <a:r>
              <a:rPr sz="3200" dirty="0">
                <a:latin typeface="Times New Roman"/>
                <a:cs typeface="Times New Roman"/>
              </a:rPr>
              <a:t>routing protocols </a:t>
            </a:r>
            <a:r>
              <a:rPr sz="3200" spc="-6" dirty="0">
                <a:latin typeface="Times New Roman"/>
                <a:cs typeface="Times New Roman"/>
              </a:rPr>
              <a:t>(such as OSPF </a:t>
            </a:r>
            <a:r>
              <a:rPr sz="3200" dirty="0">
                <a:latin typeface="Times New Roman"/>
                <a:cs typeface="Times New Roman"/>
              </a:rPr>
              <a:t> </a:t>
            </a:r>
            <a:r>
              <a:rPr sz="3200" spc="-6" dirty="0">
                <a:latin typeface="Times New Roman"/>
                <a:cs typeface="Times New Roman"/>
              </a:rPr>
              <a:t>and EIGRP)</a:t>
            </a:r>
            <a:r>
              <a:rPr sz="3200" spc="33" dirty="0">
                <a:latin typeface="Times New Roman"/>
                <a:cs typeface="Times New Roman"/>
              </a:rPr>
              <a:t> </a:t>
            </a:r>
            <a:r>
              <a:rPr sz="3200" spc="-6" dirty="0">
                <a:latin typeface="Times New Roman"/>
                <a:cs typeface="Times New Roman"/>
              </a:rPr>
              <a:t>send</a:t>
            </a:r>
            <a:r>
              <a:rPr sz="3200" spc="17" dirty="0">
                <a:latin typeface="Times New Roman"/>
                <a:cs typeface="Times New Roman"/>
              </a:rPr>
              <a:t> </a:t>
            </a:r>
            <a:r>
              <a:rPr sz="3200" spc="-6" dirty="0">
                <a:latin typeface="Times New Roman"/>
                <a:cs typeface="Times New Roman"/>
              </a:rPr>
              <a:t>partial</a:t>
            </a:r>
            <a:r>
              <a:rPr sz="3200" spc="-28" dirty="0">
                <a:latin typeface="Times New Roman"/>
                <a:cs typeface="Times New Roman"/>
              </a:rPr>
              <a:t> </a:t>
            </a:r>
            <a:r>
              <a:rPr sz="3200" dirty="0">
                <a:latin typeface="Times New Roman"/>
                <a:cs typeface="Times New Roman"/>
              </a:rPr>
              <a:t>updates,</a:t>
            </a:r>
            <a:r>
              <a:rPr sz="3200" spc="-17" dirty="0">
                <a:latin typeface="Times New Roman"/>
                <a:cs typeface="Times New Roman"/>
              </a:rPr>
              <a:t> </a:t>
            </a:r>
            <a:r>
              <a:rPr sz="3200" spc="-6" dirty="0">
                <a:latin typeface="Times New Roman"/>
                <a:cs typeface="Times New Roman"/>
              </a:rPr>
              <a:t>which</a:t>
            </a:r>
            <a:r>
              <a:rPr sz="3200" spc="6" dirty="0">
                <a:latin typeface="Times New Roman"/>
                <a:cs typeface="Times New Roman"/>
              </a:rPr>
              <a:t> </a:t>
            </a:r>
            <a:r>
              <a:rPr sz="3200" spc="-6" dirty="0">
                <a:latin typeface="Times New Roman"/>
                <a:cs typeface="Times New Roman"/>
              </a:rPr>
              <a:t>include</a:t>
            </a:r>
            <a:r>
              <a:rPr sz="3200" spc="-22" dirty="0">
                <a:latin typeface="Times New Roman"/>
                <a:cs typeface="Times New Roman"/>
              </a:rPr>
              <a:t> </a:t>
            </a:r>
            <a:r>
              <a:rPr sz="3200" spc="-6" dirty="0">
                <a:latin typeface="Times New Roman"/>
                <a:cs typeface="Times New Roman"/>
              </a:rPr>
              <a:t>only </a:t>
            </a:r>
            <a:r>
              <a:rPr sz="3200" spc="-755" dirty="0">
                <a:latin typeface="Times New Roman"/>
                <a:cs typeface="Times New Roman"/>
              </a:rPr>
              <a:t> </a:t>
            </a:r>
            <a:r>
              <a:rPr sz="3200" spc="-6" dirty="0">
                <a:latin typeface="Times New Roman"/>
                <a:cs typeface="Times New Roman"/>
              </a:rPr>
              <a:t>changes</a:t>
            </a:r>
            <a:r>
              <a:rPr sz="3200" spc="-33" dirty="0">
                <a:latin typeface="Times New Roman"/>
                <a:cs typeface="Times New Roman"/>
              </a:rPr>
              <a:t> </a:t>
            </a:r>
            <a:r>
              <a:rPr sz="3200" spc="-6" dirty="0">
                <a:latin typeface="Times New Roman"/>
                <a:cs typeface="Times New Roman"/>
              </a:rPr>
              <a:t>to</a:t>
            </a:r>
            <a:r>
              <a:rPr sz="3200" dirty="0">
                <a:latin typeface="Times New Roman"/>
                <a:cs typeface="Times New Roman"/>
              </a:rPr>
              <a:t> routing</a:t>
            </a:r>
            <a:r>
              <a:rPr sz="3200" spc="-28" dirty="0">
                <a:latin typeface="Times New Roman"/>
                <a:cs typeface="Times New Roman"/>
              </a:rPr>
              <a:t> </a:t>
            </a:r>
            <a:r>
              <a:rPr sz="3200" spc="-6" dirty="0">
                <a:latin typeface="Times New Roman"/>
                <a:cs typeface="Times New Roman"/>
              </a:rPr>
              <a:t>information.</a:t>
            </a:r>
            <a:endParaRPr lang="en-US" sz="3200" spc="-6" dirty="0">
              <a:latin typeface="Times New Roman"/>
              <a:cs typeface="Times New Roman"/>
            </a:endParaRPr>
          </a:p>
          <a:p>
            <a:pPr marL="470499" marR="372379" indent="-457200">
              <a:spcBef>
                <a:spcPts val="722"/>
              </a:spcBef>
              <a:buClr>
                <a:srgbClr val="C00000"/>
              </a:buClr>
              <a:buSzPct val="83928"/>
              <a:buFont typeface="Wingdings" panose="05000000000000000000" pitchFamily="2" charset="2"/>
              <a:buChar char="Ø"/>
              <a:tabLst>
                <a:tab pos="316382" algn="l"/>
              </a:tabLst>
            </a:pPr>
            <a:r>
              <a:rPr lang="en-US" sz="3200" dirty="0">
                <a:latin typeface="Times New Roman"/>
                <a:cs typeface="Times New Roman"/>
              </a:rPr>
              <a:t>When a route fails, routing protocols typically still advertise  the route, at least for a short time, but with a metric that  implies the route has failed.</a:t>
            </a:r>
          </a:p>
          <a:p>
            <a:pPr marL="470499" marR="372379" indent="-457200">
              <a:spcBef>
                <a:spcPts val="722"/>
              </a:spcBef>
              <a:buClr>
                <a:srgbClr val="C00000"/>
              </a:buClr>
              <a:buSzPct val="83928"/>
              <a:buFont typeface="Wingdings" panose="05000000000000000000" pitchFamily="2" charset="2"/>
              <a:buChar char="Ø"/>
              <a:tabLst>
                <a:tab pos="316382" algn="l"/>
              </a:tabLst>
            </a:pPr>
            <a:endParaRPr sz="3200" dirty="0">
              <a:latin typeface="Times New Roman"/>
              <a:cs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7280" y="240078"/>
            <a:ext cx="8292160" cy="1368353"/>
          </a:xfrm>
          <a:prstGeom prst="rect">
            <a:avLst/>
          </a:prstGeom>
        </p:spPr>
        <p:txBody>
          <a:bodyPr vert="horz" wrap="square" lIns="0" tIns="13999" rIns="0" bIns="0" rtlCol="0" anchor="ctr">
            <a:spAutoFit/>
          </a:bodyPr>
          <a:lstStyle/>
          <a:p>
            <a:pPr marL="13999">
              <a:lnSpc>
                <a:spcPct val="100000"/>
              </a:lnSpc>
              <a:spcBef>
                <a:spcPts val="110"/>
              </a:spcBef>
            </a:pPr>
            <a:r>
              <a:rPr lang="en-US" b="1" spc="-6" dirty="0">
                <a:solidFill>
                  <a:schemeClr val="bg1"/>
                </a:solidFill>
                <a:latin typeface="Times New Roman" panose="02020603050405020304" pitchFamily="18" charset="0"/>
                <a:cs typeface="Times New Roman" panose="02020603050405020304" pitchFamily="18" charset="0"/>
              </a:rPr>
              <a:t>Routing</a:t>
            </a:r>
            <a:r>
              <a:rPr lang="en-US" b="1" spc="-28" dirty="0">
                <a:solidFill>
                  <a:schemeClr val="bg1"/>
                </a:solidFill>
                <a:latin typeface="Times New Roman" panose="02020603050405020304" pitchFamily="18" charset="0"/>
                <a:cs typeface="Times New Roman" panose="02020603050405020304" pitchFamily="18" charset="0"/>
              </a:rPr>
              <a:t> </a:t>
            </a:r>
            <a:r>
              <a:rPr lang="en-US" b="1" spc="-11" dirty="0">
                <a:solidFill>
                  <a:schemeClr val="bg1"/>
                </a:solidFill>
                <a:latin typeface="Times New Roman" panose="02020603050405020304" pitchFamily="18" charset="0"/>
                <a:cs typeface="Times New Roman" panose="02020603050405020304" pitchFamily="18" charset="0"/>
              </a:rPr>
              <a:t>Protocol</a:t>
            </a:r>
            <a:r>
              <a:rPr lang="en-US" b="1" spc="-6" dirty="0">
                <a:solidFill>
                  <a:schemeClr val="bg1"/>
                </a:solidFill>
                <a:latin typeface="Times New Roman" panose="02020603050405020304" pitchFamily="18" charset="0"/>
                <a:cs typeface="Times New Roman" panose="02020603050405020304" pitchFamily="18" charset="0"/>
              </a:rPr>
              <a:t> </a:t>
            </a:r>
            <a:r>
              <a:rPr lang="en-US" b="1" spc="-11" dirty="0">
                <a:solidFill>
                  <a:schemeClr val="bg1"/>
                </a:solidFill>
                <a:latin typeface="Times New Roman" panose="02020603050405020304" pitchFamily="18" charset="0"/>
                <a:cs typeface="Times New Roman" panose="02020603050405020304" pitchFamily="18" charset="0"/>
              </a:rPr>
              <a:t>Features</a:t>
            </a:r>
            <a:r>
              <a:rPr lang="en-US" b="1" spc="17" dirty="0">
                <a:solidFill>
                  <a:schemeClr val="bg1"/>
                </a:solidFill>
                <a:latin typeface="Times New Roman" panose="02020603050405020304" pitchFamily="18" charset="0"/>
                <a:cs typeface="Times New Roman" panose="02020603050405020304" pitchFamily="18" charset="0"/>
              </a:rPr>
              <a:t> </a:t>
            </a:r>
            <a:br>
              <a:rPr lang="en-US" b="1" spc="17" dirty="0">
                <a:solidFill>
                  <a:schemeClr val="bg1"/>
                </a:solidFill>
                <a:latin typeface="Times New Roman" panose="02020603050405020304" pitchFamily="18" charset="0"/>
                <a:cs typeface="Times New Roman" panose="02020603050405020304" pitchFamily="18" charset="0"/>
              </a:rPr>
            </a:br>
            <a:r>
              <a:rPr lang="en-US" b="1" i="1" dirty="0">
                <a:solidFill>
                  <a:schemeClr val="bg1"/>
                </a:solidFill>
                <a:latin typeface="Times New Roman" panose="02020603050405020304" pitchFamily="18" charset="0"/>
                <a:cs typeface="Times New Roman" panose="02020603050405020304" pitchFamily="18" charset="0"/>
              </a:rPr>
              <a:t>(Continued)</a:t>
            </a:r>
            <a:endParaRPr sz="3197" dirty="0">
              <a:latin typeface="Times New Roman"/>
              <a:cs typeface="Times New Roman"/>
            </a:endParaRPr>
          </a:p>
        </p:txBody>
      </p:sp>
      <p:sp>
        <p:nvSpPr>
          <p:cNvPr id="3" name="object 3"/>
          <p:cNvSpPr txBox="1"/>
          <p:nvPr/>
        </p:nvSpPr>
        <p:spPr>
          <a:xfrm>
            <a:off x="423310" y="1703250"/>
            <a:ext cx="9480543" cy="3174682"/>
          </a:xfrm>
          <a:prstGeom prst="rect">
            <a:avLst/>
          </a:prstGeom>
        </p:spPr>
        <p:txBody>
          <a:bodyPr vert="horz" wrap="square" lIns="0" tIns="14699" rIns="0" bIns="0" rtlCol="0">
            <a:spAutoFit/>
          </a:bodyPr>
          <a:lstStyle/>
          <a:p>
            <a:pPr marL="470499" marR="142092" indent="-457200">
              <a:spcBef>
                <a:spcPts val="661"/>
              </a:spcBef>
              <a:buClr>
                <a:srgbClr val="C00000"/>
              </a:buClr>
              <a:buSzPct val="84615"/>
              <a:buFont typeface="Wingdings" panose="05000000000000000000" pitchFamily="2" charset="2"/>
              <a:buChar char="Ø"/>
              <a:tabLst>
                <a:tab pos="316382" algn="l"/>
              </a:tabLst>
            </a:pPr>
            <a:r>
              <a:rPr sz="3200" dirty="0">
                <a:latin typeface="Times New Roman"/>
                <a:cs typeface="Times New Roman"/>
              </a:rPr>
              <a:t>Each</a:t>
            </a:r>
            <a:r>
              <a:rPr sz="3200" spc="-44" dirty="0">
                <a:latin typeface="Times New Roman"/>
                <a:cs typeface="Times New Roman"/>
              </a:rPr>
              <a:t> </a:t>
            </a:r>
            <a:r>
              <a:rPr sz="3200" dirty="0">
                <a:latin typeface="Times New Roman"/>
                <a:cs typeface="Times New Roman"/>
              </a:rPr>
              <a:t>routing</a:t>
            </a:r>
            <a:r>
              <a:rPr sz="3200" spc="-11" dirty="0">
                <a:latin typeface="Times New Roman"/>
                <a:cs typeface="Times New Roman"/>
              </a:rPr>
              <a:t> </a:t>
            </a:r>
            <a:r>
              <a:rPr sz="3200" dirty="0">
                <a:latin typeface="Times New Roman"/>
                <a:cs typeface="Times New Roman"/>
              </a:rPr>
              <a:t>protocol</a:t>
            </a:r>
            <a:r>
              <a:rPr sz="3200" spc="-28" dirty="0">
                <a:latin typeface="Times New Roman"/>
                <a:cs typeface="Times New Roman"/>
              </a:rPr>
              <a:t> </a:t>
            </a:r>
            <a:r>
              <a:rPr sz="3200" dirty="0">
                <a:latin typeface="Times New Roman"/>
                <a:cs typeface="Times New Roman"/>
              </a:rPr>
              <a:t>uses</a:t>
            </a:r>
            <a:r>
              <a:rPr sz="3200" spc="-17" dirty="0">
                <a:latin typeface="Times New Roman"/>
                <a:cs typeface="Times New Roman"/>
              </a:rPr>
              <a:t> </a:t>
            </a:r>
            <a:r>
              <a:rPr sz="3200" dirty="0">
                <a:latin typeface="Times New Roman"/>
                <a:cs typeface="Times New Roman"/>
              </a:rPr>
              <a:t>a</a:t>
            </a:r>
            <a:r>
              <a:rPr sz="3200" spc="-6" dirty="0">
                <a:latin typeface="Times New Roman"/>
                <a:cs typeface="Times New Roman"/>
              </a:rPr>
              <a:t> special</a:t>
            </a:r>
            <a:r>
              <a:rPr sz="3200" spc="-11" dirty="0">
                <a:latin typeface="Times New Roman"/>
                <a:cs typeface="Times New Roman"/>
              </a:rPr>
              <a:t> </a:t>
            </a:r>
            <a:r>
              <a:rPr sz="3200" spc="-6" dirty="0">
                <a:latin typeface="Times New Roman"/>
                <a:cs typeface="Times New Roman"/>
              </a:rPr>
              <a:t>metric</a:t>
            </a:r>
            <a:r>
              <a:rPr sz="3200" dirty="0">
                <a:latin typeface="Times New Roman"/>
                <a:cs typeface="Times New Roman"/>
              </a:rPr>
              <a:t> value,</a:t>
            </a:r>
            <a:r>
              <a:rPr sz="3200" spc="-22" dirty="0">
                <a:latin typeface="Times New Roman"/>
                <a:cs typeface="Times New Roman"/>
              </a:rPr>
              <a:t> </a:t>
            </a:r>
            <a:r>
              <a:rPr sz="3200" spc="-6" dirty="0">
                <a:latin typeface="Times New Roman"/>
                <a:cs typeface="Times New Roman"/>
              </a:rPr>
              <a:t>called</a:t>
            </a:r>
            <a:r>
              <a:rPr sz="3200" spc="6" dirty="0">
                <a:latin typeface="Times New Roman"/>
                <a:cs typeface="Times New Roman"/>
              </a:rPr>
              <a:t> </a:t>
            </a:r>
            <a:r>
              <a:rPr sz="3200" spc="-6" dirty="0">
                <a:latin typeface="Times New Roman"/>
                <a:cs typeface="Times New Roman"/>
              </a:rPr>
              <a:t>an </a:t>
            </a:r>
            <a:r>
              <a:rPr sz="3200" spc="-700" dirty="0">
                <a:latin typeface="Times New Roman"/>
                <a:cs typeface="Times New Roman"/>
              </a:rPr>
              <a:t> </a:t>
            </a:r>
            <a:r>
              <a:rPr sz="3200" b="1" dirty="0">
                <a:solidFill>
                  <a:srgbClr val="FF0000"/>
                </a:solidFill>
                <a:latin typeface="Times New Roman"/>
                <a:cs typeface="Times New Roman"/>
              </a:rPr>
              <a:t>infinite </a:t>
            </a:r>
            <a:r>
              <a:rPr sz="3200" b="1" spc="-6" dirty="0">
                <a:solidFill>
                  <a:srgbClr val="FF0000"/>
                </a:solidFill>
                <a:latin typeface="Times New Roman"/>
                <a:cs typeface="Times New Roman"/>
              </a:rPr>
              <a:t>metric</a:t>
            </a:r>
            <a:r>
              <a:rPr sz="3200" spc="-6" dirty="0">
                <a:latin typeface="Times New Roman"/>
                <a:cs typeface="Times New Roman"/>
              </a:rPr>
              <a:t>, </a:t>
            </a:r>
            <a:r>
              <a:rPr sz="3200" dirty="0">
                <a:latin typeface="Times New Roman"/>
                <a:cs typeface="Times New Roman"/>
              </a:rPr>
              <a:t>or </a:t>
            </a:r>
            <a:r>
              <a:rPr sz="3200" spc="-6" dirty="0">
                <a:latin typeface="Times New Roman"/>
                <a:cs typeface="Times New Roman"/>
              </a:rPr>
              <a:t>simply </a:t>
            </a:r>
            <a:r>
              <a:rPr sz="3200" b="1" dirty="0">
                <a:solidFill>
                  <a:srgbClr val="FF0000"/>
                </a:solidFill>
                <a:latin typeface="Times New Roman"/>
                <a:cs typeface="Times New Roman"/>
              </a:rPr>
              <a:t>infinity</a:t>
            </a:r>
            <a:r>
              <a:rPr sz="3200" dirty="0">
                <a:latin typeface="Times New Roman"/>
                <a:cs typeface="Times New Roman"/>
              </a:rPr>
              <a:t>, to </a:t>
            </a:r>
            <a:r>
              <a:rPr sz="3200" spc="-6" dirty="0">
                <a:latin typeface="Times New Roman"/>
                <a:cs typeface="Times New Roman"/>
              </a:rPr>
              <a:t>mean </a:t>
            </a:r>
            <a:r>
              <a:rPr sz="3200" dirty="0">
                <a:latin typeface="Times New Roman"/>
                <a:cs typeface="Times New Roman"/>
              </a:rPr>
              <a:t>that a route has </a:t>
            </a:r>
            <a:r>
              <a:rPr sz="3200" spc="6" dirty="0">
                <a:latin typeface="Times New Roman"/>
                <a:cs typeface="Times New Roman"/>
              </a:rPr>
              <a:t> </a:t>
            </a:r>
            <a:r>
              <a:rPr sz="3200" spc="-6" dirty="0">
                <a:latin typeface="Times New Roman"/>
                <a:cs typeface="Times New Roman"/>
              </a:rPr>
              <a:t>failed.</a:t>
            </a:r>
            <a:endParaRPr sz="3200" dirty="0">
              <a:latin typeface="Times New Roman"/>
              <a:cs typeface="Times New Roman"/>
            </a:endParaRPr>
          </a:p>
          <a:p>
            <a:pPr marL="315682">
              <a:spcBef>
                <a:spcPts val="1587"/>
              </a:spcBef>
            </a:pPr>
            <a:r>
              <a:rPr sz="3200" dirty="0">
                <a:latin typeface="Times New Roman"/>
                <a:cs typeface="Times New Roman"/>
              </a:rPr>
              <a:t>For</a:t>
            </a:r>
            <a:r>
              <a:rPr sz="3200" spc="-28" dirty="0">
                <a:latin typeface="Times New Roman"/>
                <a:cs typeface="Times New Roman"/>
              </a:rPr>
              <a:t> </a:t>
            </a:r>
            <a:r>
              <a:rPr sz="3200" dirty="0">
                <a:latin typeface="Times New Roman"/>
                <a:cs typeface="Times New Roman"/>
              </a:rPr>
              <a:t>example,</a:t>
            </a:r>
            <a:r>
              <a:rPr sz="3200" spc="-22" dirty="0">
                <a:latin typeface="Times New Roman"/>
                <a:cs typeface="Times New Roman"/>
              </a:rPr>
              <a:t> </a:t>
            </a:r>
            <a:r>
              <a:rPr sz="3200" dirty="0">
                <a:latin typeface="Times New Roman"/>
                <a:cs typeface="Times New Roman"/>
              </a:rPr>
              <a:t>RIP</a:t>
            </a:r>
            <a:r>
              <a:rPr sz="3200" spc="-77" dirty="0">
                <a:latin typeface="Times New Roman"/>
                <a:cs typeface="Times New Roman"/>
              </a:rPr>
              <a:t> </a:t>
            </a:r>
            <a:r>
              <a:rPr sz="3200" dirty="0">
                <a:latin typeface="Times New Roman"/>
                <a:cs typeface="Times New Roman"/>
              </a:rPr>
              <a:t>uses</a:t>
            </a:r>
            <a:r>
              <a:rPr sz="3200" spc="-6" dirty="0">
                <a:latin typeface="Times New Roman"/>
                <a:cs typeface="Times New Roman"/>
              </a:rPr>
              <a:t> </a:t>
            </a:r>
            <a:r>
              <a:rPr sz="3200" dirty="0">
                <a:latin typeface="Times New Roman"/>
                <a:cs typeface="Times New Roman"/>
              </a:rPr>
              <a:t>hop count</a:t>
            </a:r>
            <a:r>
              <a:rPr sz="3200" spc="-22" dirty="0">
                <a:latin typeface="Times New Roman"/>
                <a:cs typeface="Times New Roman"/>
              </a:rPr>
              <a:t> </a:t>
            </a:r>
            <a:r>
              <a:rPr sz="3200" dirty="0">
                <a:latin typeface="Times New Roman"/>
                <a:cs typeface="Times New Roman"/>
              </a:rPr>
              <a:t>as</a:t>
            </a:r>
            <a:r>
              <a:rPr sz="3200" spc="-6" dirty="0">
                <a:latin typeface="Times New Roman"/>
                <a:cs typeface="Times New Roman"/>
              </a:rPr>
              <a:t> </a:t>
            </a:r>
            <a:r>
              <a:rPr sz="3200" dirty="0">
                <a:latin typeface="Times New Roman"/>
                <a:cs typeface="Times New Roman"/>
              </a:rPr>
              <a:t>the</a:t>
            </a:r>
            <a:r>
              <a:rPr sz="3200" spc="-17" dirty="0">
                <a:latin typeface="Times New Roman"/>
                <a:cs typeface="Times New Roman"/>
              </a:rPr>
              <a:t> </a:t>
            </a:r>
            <a:r>
              <a:rPr sz="3200" dirty="0">
                <a:latin typeface="Times New Roman"/>
                <a:cs typeface="Times New Roman"/>
              </a:rPr>
              <a:t>metric.</a:t>
            </a:r>
            <a:r>
              <a:rPr sz="3200" spc="-61" dirty="0">
                <a:latin typeface="Times New Roman"/>
                <a:cs typeface="Times New Roman"/>
              </a:rPr>
              <a:t> </a:t>
            </a:r>
            <a:r>
              <a:rPr sz="3200" dirty="0">
                <a:latin typeface="Times New Roman"/>
                <a:cs typeface="Times New Roman"/>
              </a:rPr>
              <a:t>A</a:t>
            </a:r>
            <a:r>
              <a:rPr sz="3200" spc="-66" dirty="0">
                <a:latin typeface="Times New Roman"/>
                <a:cs typeface="Times New Roman"/>
              </a:rPr>
              <a:t> </a:t>
            </a:r>
            <a:r>
              <a:rPr sz="3200" dirty="0">
                <a:latin typeface="Times New Roman"/>
                <a:cs typeface="Times New Roman"/>
              </a:rPr>
              <a:t>metric</a:t>
            </a:r>
            <a:r>
              <a:rPr sz="3200" spc="-28" dirty="0">
                <a:latin typeface="Times New Roman"/>
                <a:cs typeface="Times New Roman"/>
              </a:rPr>
              <a:t> </a:t>
            </a:r>
            <a:r>
              <a:rPr sz="3200" dirty="0">
                <a:latin typeface="Times New Roman"/>
                <a:cs typeface="Times New Roman"/>
              </a:rPr>
              <a:t>of</a:t>
            </a:r>
            <a:r>
              <a:rPr sz="3200" spc="-6" dirty="0">
                <a:latin typeface="Times New Roman"/>
                <a:cs typeface="Times New Roman"/>
              </a:rPr>
              <a:t> </a:t>
            </a:r>
            <a:r>
              <a:rPr sz="3200" dirty="0">
                <a:latin typeface="Times New Roman"/>
                <a:cs typeface="Times New Roman"/>
              </a:rPr>
              <a:t>15</a:t>
            </a:r>
            <a:r>
              <a:rPr lang="en-US" sz="3200" dirty="0">
                <a:latin typeface="Times New Roman"/>
                <a:cs typeface="Times New Roman"/>
              </a:rPr>
              <a:t> </a:t>
            </a:r>
            <a:r>
              <a:rPr sz="3200" spc="-6" dirty="0">
                <a:latin typeface="Times New Roman"/>
                <a:cs typeface="Times New Roman"/>
              </a:rPr>
              <a:t>hops</a:t>
            </a:r>
            <a:r>
              <a:rPr sz="3200" spc="-17" dirty="0">
                <a:latin typeface="Times New Roman"/>
                <a:cs typeface="Times New Roman"/>
              </a:rPr>
              <a:t> </a:t>
            </a:r>
            <a:r>
              <a:rPr sz="3200" spc="-6" dirty="0">
                <a:latin typeface="Times New Roman"/>
                <a:cs typeface="Times New Roman"/>
              </a:rPr>
              <a:t>is </a:t>
            </a:r>
            <a:r>
              <a:rPr sz="3200" dirty="0">
                <a:latin typeface="Times New Roman"/>
                <a:cs typeface="Times New Roman"/>
              </a:rPr>
              <a:t>a valid</a:t>
            </a:r>
            <a:r>
              <a:rPr sz="3200" spc="-33" dirty="0">
                <a:latin typeface="Times New Roman"/>
                <a:cs typeface="Times New Roman"/>
              </a:rPr>
              <a:t> </a:t>
            </a:r>
            <a:r>
              <a:rPr sz="3200" dirty="0">
                <a:latin typeface="Times New Roman"/>
                <a:cs typeface="Times New Roman"/>
              </a:rPr>
              <a:t>usable</a:t>
            </a:r>
            <a:r>
              <a:rPr sz="3200" spc="-11" dirty="0">
                <a:latin typeface="Times New Roman"/>
                <a:cs typeface="Times New Roman"/>
              </a:rPr>
              <a:t> </a:t>
            </a:r>
            <a:r>
              <a:rPr sz="3200" dirty="0">
                <a:latin typeface="Times New Roman"/>
                <a:cs typeface="Times New Roman"/>
              </a:rPr>
              <a:t>metric,</a:t>
            </a:r>
            <a:r>
              <a:rPr sz="3200" spc="-17" dirty="0">
                <a:latin typeface="Times New Roman"/>
                <a:cs typeface="Times New Roman"/>
              </a:rPr>
              <a:t> </a:t>
            </a:r>
            <a:r>
              <a:rPr sz="3200" dirty="0">
                <a:latin typeface="Times New Roman"/>
                <a:cs typeface="Times New Roman"/>
              </a:rPr>
              <a:t>but</a:t>
            </a:r>
            <a:r>
              <a:rPr sz="3200" spc="-17" dirty="0">
                <a:latin typeface="Times New Roman"/>
                <a:cs typeface="Times New Roman"/>
              </a:rPr>
              <a:t> </a:t>
            </a:r>
            <a:r>
              <a:rPr sz="3200" dirty="0">
                <a:latin typeface="Times New Roman"/>
                <a:cs typeface="Times New Roman"/>
              </a:rPr>
              <a:t>a metric</a:t>
            </a:r>
            <a:r>
              <a:rPr sz="3200" spc="-33" dirty="0">
                <a:latin typeface="Times New Roman"/>
                <a:cs typeface="Times New Roman"/>
              </a:rPr>
              <a:t> </a:t>
            </a:r>
            <a:r>
              <a:rPr sz="3200" dirty="0">
                <a:latin typeface="Times New Roman"/>
                <a:cs typeface="Times New Roman"/>
              </a:rPr>
              <a:t>of 16</a:t>
            </a:r>
            <a:r>
              <a:rPr sz="3200" spc="-6" dirty="0">
                <a:latin typeface="Times New Roman"/>
                <a:cs typeface="Times New Roman"/>
              </a:rPr>
              <a:t> means </a:t>
            </a:r>
            <a:r>
              <a:rPr sz="3200" spc="-645" dirty="0">
                <a:latin typeface="Times New Roman"/>
                <a:cs typeface="Times New Roman"/>
              </a:rPr>
              <a:t> </a:t>
            </a:r>
            <a:r>
              <a:rPr sz="3200" spc="-17" dirty="0">
                <a:latin typeface="Times New Roman"/>
                <a:cs typeface="Times New Roman"/>
              </a:rPr>
              <a:t>“infinity,”</a:t>
            </a:r>
            <a:r>
              <a:rPr sz="3200" spc="-66" dirty="0">
                <a:latin typeface="Times New Roman"/>
                <a:cs typeface="Times New Roman"/>
              </a:rPr>
              <a:t> </a:t>
            </a:r>
            <a:r>
              <a:rPr sz="3200" dirty="0">
                <a:latin typeface="Times New Roman"/>
                <a:cs typeface="Times New Roman"/>
              </a:rPr>
              <a:t>and that</a:t>
            </a:r>
            <a:r>
              <a:rPr sz="3200" spc="-11" dirty="0">
                <a:latin typeface="Times New Roman"/>
                <a:cs typeface="Times New Roman"/>
              </a:rPr>
              <a:t> </a:t>
            </a:r>
            <a:r>
              <a:rPr sz="3200" dirty="0">
                <a:latin typeface="Times New Roman"/>
                <a:cs typeface="Times New Roman"/>
              </a:rPr>
              <a:t>the</a:t>
            </a:r>
            <a:r>
              <a:rPr sz="3200" spc="-11" dirty="0">
                <a:latin typeface="Times New Roman"/>
                <a:cs typeface="Times New Roman"/>
              </a:rPr>
              <a:t> </a:t>
            </a:r>
            <a:r>
              <a:rPr sz="3200" spc="-22" dirty="0">
                <a:latin typeface="Times New Roman"/>
                <a:cs typeface="Times New Roman"/>
              </a:rPr>
              <a:t>route </a:t>
            </a:r>
            <a:r>
              <a:rPr sz="3200" dirty="0">
                <a:latin typeface="Times New Roman"/>
                <a:cs typeface="Times New Roman"/>
              </a:rPr>
              <a:t>has</a:t>
            </a:r>
            <a:r>
              <a:rPr sz="3200" spc="-6" dirty="0">
                <a:latin typeface="Times New Roman"/>
                <a:cs typeface="Times New Roman"/>
              </a:rPr>
              <a:t> </a:t>
            </a:r>
            <a:r>
              <a:rPr sz="3200" dirty="0">
                <a:latin typeface="Times New Roman"/>
                <a:cs typeface="Times New Roman"/>
              </a:rPr>
              <a:t>failed.</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7661" y="-25348"/>
            <a:ext cx="9062510" cy="1367646"/>
          </a:xfrm>
          <a:prstGeom prst="rect">
            <a:avLst/>
          </a:prstGeom>
        </p:spPr>
        <p:txBody>
          <a:bodyPr vert="horz" wrap="square" lIns="0" tIns="13299" rIns="0" bIns="0" rtlCol="0" anchor="ctr">
            <a:spAutoFit/>
          </a:bodyPr>
          <a:lstStyle/>
          <a:p>
            <a:pPr marL="13999">
              <a:lnSpc>
                <a:spcPct val="100000"/>
              </a:lnSpc>
              <a:spcBef>
                <a:spcPts val="105"/>
              </a:spcBef>
            </a:pPr>
            <a:r>
              <a:rPr b="1" spc="-6" dirty="0">
                <a:solidFill>
                  <a:schemeClr val="bg1"/>
                </a:solidFill>
                <a:latin typeface="Times New Roman" panose="02020603050405020304" pitchFamily="18" charset="0"/>
                <a:cs typeface="Times New Roman" panose="02020603050405020304" pitchFamily="18" charset="0"/>
              </a:rPr>
              <a:t>Comparing</a:t>
            </a:r>
            <a:r>
              <a:rPr b="1"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Features</a:t>
            </a:r>
            <a:r>
              <a:rPr b="1" dirty="0">
                <a:solidFill>
                  <a:schemeClr val="bg1"/>
                </a:solidFill>
                <a:latin typeface="Times New Roman" panose="02020603050405020304" pitchFamily="18" charset="0"/>
                <a:cs typeface="Times New Roman" panose="02020603050405020304" pitchFamily="18" charset="0"/>
              </a:rPr>
              <a:t> of</a:t>
            </a:r>
            <a:r>
              <a:rPr b="1" spc="-6" dirty="0">
                <a:solidFill>
                  <a:schemeClr val="bg1"/>
                </a:solidFill>
                <a:latin typeface="Times New Roman" panose="02020603050405020304" pitchFamily="18" charset="0"/>
                <a:cs typeface="Times New Roman" panose="02020603050405020304" pitchFamily="18" charset="0"/>
              </a:rPr>
              <a:t> IGPs:</a:t>
            </a:r>
            <a:r>
              <a:rPr b="1" spc="11" dirty="0">
                <a:solidFill>
                  <a:schemeClr val="bg1"/>
                </a:solidFill>
                <a:latin typeface="Times New Roman" panose="02020603050405020304" pitchFamily="18" charset="0"/>
                <a:cs typeface="Times New Roman" panose="02020603050405020304" pitchFamily="18" charset="0"/>
              </a:rPr>
              <a:t> </a:t>
            </a:r>
            <a:r>
              <a:rPr b="1" spc="-77" dirty="0">
                <a:solidFill>
                  <a:schemeClr val="bg1"/>
                </a:solidFill>
                <a:latin typeface="Times New Roman" panose="02020603050405020304" pitchFamily="18" charset="0"/>
                <a:cs typeface="Times New Roman" panose="02020603050405020304" pitchFamily="18" charset="0"/>
              </a:rPr>
              <a:t>RIP,</a:t>
            </a:r>
            <a:r>
              <a:rPr b="1" spc="-6" dirty="0">
                <a:solidFill>
                  <a:schemeClr val="bg1"/>
                </a:solidFill>
                <a:latin typeface="Times New Roman" panose="02020603050405020304" pitchFamily="18" charset="0"/>
                <a:cs typeface="Times New Roman" panose="02020603050405020304" pitchFamily="18" charset="0"/>
              </a:rPr>
              <a:t> </a:t>
            </a:r>
            <a:r>
              <a:rPr b="1" spc="-50" dirty="0">
                <a:solidFill>
                  <a:schemeClr val="bg1"/>
                </a:solidFill>
                <a:latin typeface="Times New Roman" panose="02020603050405020304" pitchFamily="18" charset="0"/>
                <a:cs typeface="Times New Roman" panose="02020603050405020304" pitchFamily="18" charset="0"/>
              </a:rPr>
              <a:t>EIGRP,</a:t>
            </a:r>
            <a:r>
              <a:rPr b="1" spc="11" dirty="0">
                <a:solidFill>
                  <a:schemeClr val="bg1"/>
                </a:solidFill>
                <a:latin typeface="Times New Roman" panose="02020603050405020304" pitchFamily="18" charset="0"/>
                <a:cs typeface="Times New Roman" panose="02020603050405020304" pitchFamily="18" charset="0"/>
              </a:rPr>
              <a:t> </a:t>
            </a:r>
            <a:r>
              <a:rPr b="1" dirty="0">
                <a:solidFill>
                  <a:schemeClr val="bg1"/>
                </a:solidFill>
                <a:latin typeface="Times New Roman" panose="02020603050405020304" pitchFamily="18" charset="0"/>
                <a:cs typeface="Times New Roman" panose="02020603050405020304" pitchFamily="18" charset="0"/>
              </a:rPr>
              <a:t>and</a:t>
            </a:r>
            <a:r>
              <a:rPr b="1" spc="-6" dirty="0">
                <a:solidFill>
                  <a:schemeClr val="bg1"/>
                </a:solidFill>
                <a:latin typeface="Times New Roman" panose="02020603050405020304" pitchFamily="18" charset="0"/>
                <a:cs typeface="Times New Roman" panose="02020603050405020304" pitchFamily="18" charset="0"/>
              </a:rPr>
              <a:t> OSPF</a:t>
            </a:r>
            <a:endParaRPr b="1" dirty="0">
              <a:solidFill>
                <a:schemeClr val="bg1"/>
              </a:solidFill>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230428" y="1661375"/>
            <a:ext cx="9548082" cy="539432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50084" y="506391"/>
            <a:ext cx="2632587" cy="691951"/>
          </a:xfrm>
          <a:prstGeom prst="rect">
            <a:avLst/>
          </a:prstGeom>
        </p:spPr>
        <p:txBody>
          <a:bodyPr vert="horz" wrap="square" lIns="0" tIns="14699" rIns="0" bIns="0" rtlCol="0" anchor="ctr">
            <a:spAutoFit/>
          </a:bodyPr>
          <a:lstStyle/>
          <a:p>
            <a:pPr marL="13999">
              <a:lnSpc>
                <a:spcPct val="100000"/>
              </a:lnSpc>
              <a:spcBef>
                <a:spcPts val="116"/>
              </a:spcBef>
            </a:pPr>
            <a:r>
              <a:rPr b="1" dirty="0">
                <a:solidFill>
                  <a:schemeClr val="bg1"/>
                </a:solidFill>
                <a:latin typeface="Times New Roman" panose="02020603050405020304" pitchFamily="18" charset="0"/>
                <a:cs typeface="Times New Roman" panose="02020603050405020304" pitchFamily="18" charset="0"/>
              </a:rPr>
              <a:t>Summary</a:t>
            </a:r>
          </a:p>
        </p:txBody>
      </p:sp>
      <p:sp>
        <p:nvSpPr>
          <p:cNvPr id="3" name="object 3"/>
          <p:cNvSpPr txBox="1">
            <a:spLocks noGrp="1"/>
          </p:cNvSpPr>
          <p:nvPr>
            <p:ph type="body" idx="1"/>
          </p:nvPr>
        </p:nvSpPr>
        <p:spPr>
          <a:xfrm>
            <a:off x="504000" y="1768680"/>
            <a:ext cx="9071640" cy="4703306"/>
          </a:xfrm>
          <a:prstGeom prst="rect">
            <a:avLst/>
          </a:prstGeom>
        </p:spPr>
        <p:txBody>
          <a:bodyPr vert="horz" wrap="square" lIns="0" tIns="14699" rIns="0" bIns="0" rtlCol="0" anchor="t">
            <a:spAutoFit/>
          </a:bodyPr>
          <a:lstStyle/>
          <a:p>
            <a:pPr marL="498498" marR="160991" indent="-457200">
              <a:lnSpc>
                <a:spcPct val="100000"/>
              </a:lnSpc>
              <a:spcBef>
                <a:spcPts val="116"/>
              </a:spcBef>
              <a:buClr>
                <a:srgbClr val="C00000"/>
              </a:buClr>
              <a:buSzPct val="84375"/>
              <a:buFont typeface="Wingdings" panose="05000000000000000000" pitchFamily="2" charset="2"/>
              <a:buChar char="Ø"/>
              <a:tabLst>
                <a:tab pos="344381" algn="l"/>
              </a:tabLst>
            </a:pPr>
            <a:r>
              <a:rPr sz="3200" dirty="0">
                <a:latin typeface="Times New Roman" panose="02020603050405020304" pitchFamily="18" charset="0"/>
                <a:cs typeface="Times New Roman" panose="02020603050405020304" pitchFamily="18" charset="0"/>
              </a:rPr>
              <a:t>Routers perform many functions, with the two </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most</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important</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being</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to</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route</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(forward)</a:t>
            </a:r>
            <a:r>
              <a:rPr sz="3200" spc="-5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packets </a:t>
            </a:r>
            <a:r>
              <a:rPr sz="3200" spc="-8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and</a:t>
            </a:r>
            <a:r>
              <a:rPr sz="3200" spc="-33"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to learn</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routes.</a:t>
            </a:r>
          </a:p>
          <a:p>
            <a:pPr marL="498498" marR="5600" indent="-457200">
              <a:lnSpc>
                <a:spcPct val="100000"/>
              </a:lnSpc>
              <a:spcBef>
                <a:spcPts val="661"/>
              </a:spcBef>
              <a:buClr>
                <a:srgbClr val="C00000"/>
              </a:buClr>
              <a:buSzPct val="84375"/>
              <a:buFont typeface="Wingdings" panose="05000000000000000000" pitchFamily="2" charset="2"/>
              <a:buChar char="Ø"/>
              <a:tabLst>
                <a:tab pos="344381" algn="l"/>
              </a:tabLst>
            </a:pPr>
            <a:r>
              <a:rPr sz="3200" spc="-126" dirty="0">
                <a:latin typeface="Times New Roman" panose="02020603050405020304" pitchFamily="18" charset="0"/>
                <a:cs typeface="Times New Roman" panose="02020603050405020304" pitchFamily="18" charset="0"/>
              </a:rPr>
              <a:t>To </a:t>
            </a:r>
            <a:r>
              <a:rPr sz="3200" dirty="0">
                <a:latin typeface="Times New Roman" panose="02020603050405020304" pitchFamily="18" charset="0"/>
                <a:cs typeface="Times New Roman" panose="02020603050405020304" pitchFamily="18" charset="0"/>
              </a:rPr>
              <a:t>make routing work well, routers add routes to </a:t>
            </a:r>
            <a:r>
              <a:rPr sz="3200" spc="-8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22"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IP</a:t>
            </a:r>
            <a:r>
              <a:rPr sz="3200" spc="-13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routing</a:t>
            </a:r>
            <a:r>
              <a:rPr sz="3200" spc="-44"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table</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via </a:t>
            </a:r>
            <a:r>
              <a:rPr sz="3200" spc="-6" dirty="0">
                <a:latin typeface="Times New Roman" panose="02020603050405020304" pitchFamily="18" charset="0"/>
                <a:cs typeface="Times New Roman" panose="02020603050405020304" pitchFamily="18" charset="0"/>
              </a:rPr>
              <a:t>three</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main</a:t>
            </a:r>
            <a:r>
              <a:rPr sz="3200" spc="-22"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methods:</a:t>
            </a:r>
          </a:p>
          <a:p>
            <a:pPr marL="898749" marR="986244" lvl="1" indent="-504670">
              <a:lnSpc>
                <a:spcPct val="100000"/>
              </a:lnSpc>
              <a:spcBef>
                <a:spcPts val="457"/>
              </a:spcBef>
              <a:buClr>
                <a:srgbClr val="C00000"/>
              </a:buClr>
              <a:buSzPct val="83928"/>
              <a:buAutoNum type="arabicPeriod"/>
              <a:tabLst>
                <a:tab pos="898749" algn="l"/>
                <a:tab pos="899449" algn="l"/>
              </a:tabLst>
            </a:pPr>
            <a:r>
              <a:rPr sz="3200" spc="-6" dirty="0">
                <a:latin typeface="Times New Roman" panose="02020603050405020304" pitchFamily="18" charset="0"/>
                <a:cs typeface="Times New Roman" panose="02020603050405020304" pitchFamily="18" charset="0"/>
              </a:rPr>
              <a:t>Learning</a:t>
            </a:r>
            <a:r>
              <a:rPr sz="3200" spc="-2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the</a:t>
            </a:r>
            <a:r>
              <a:rPr sz="3200" dirty="0">
                <a:latin typeface="Times New Roman" panose="02020603050405020304" pitchFamily="18" charset="0"/>
                <a:cs typeface="Times New Roman" panose="02020603050405020304" pitchFamily="18" charset="0"/>
              </a:rPr>
              <a:t> routes</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for</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subnets</a:t>
            </a:r>
            <a:r>
              <a:rPr sz="3200" spc="-33"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connected</a:t>
            </a:r>
            <a:r>
              <a:rPr sz="3200" spc="-2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to</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 </a:t>
            </a:r>
            <a:r>
              <a:rPr sz="3200" spc="-755"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router‘s</a:t>
            </a:r>
            <a:r>
              <a:rPr sz="3200" spc="-33"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interfaces</a:t>
            </a:r>
            <a:endParaRPr sz="3200" dirty="0">
              <a:latin typeface="Times New Roman" panose="02020603050405020304" pitchFamily="18" charset="0"/>
              <a:cs typeface="Times New Roman" panose="02020603050405020304" pitchFamily="18" charset="0"/>
            </a:endParaRPr>
          </a:p>
          <a:p>
            <a:pPr marL="898749" lvl="1" indent="-505371">
              <a:lnSpc>
                <a:spcPct val="100000"/>
              </a:lnSpc>
              <a:spcBef>
                <a:spcPts val="441"/>
              </a:spcBef>
              <a:buClr>
                <a:srgbClr val="C00000"/>
              </a:buClr>
              <a:buSzPct val="83928"/>
              <a:buAutoNum type="arabicPeriod"/>
              <a:tabLst>
                <a:tab pos="898749" algn="l"/>
                <a:tab pos="899449" algn="l"/>
              </a:tabLst>
            </a:pPr>
            <a:r>
              <a:rPr sz="3200" b="1" spc="-6" dirty="0">
                <a:solidFill>
                  <a:srgbClr val="FF0000"/>
                </a:solidFill>
                <a:latin typeface="Times New Roman" panose="02020603050405020304" pitchFamily="18" charset="0"/>
                <a:cs typeface="Times New Roman" panose="02020603050405020304" pitchFamily="18" charset="0"/>
              </a:rPr>
              <a:t>Configuring</a:t>
            </a:r>
            <a:r>
              <a:rPr sz="3200" b="1" spc="-17"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static</a:t>
            </a:r>
            <a:r>
              <a:rPr sz="3200" b="1" spc="-17" dirty="0">
                <a:solidFill>
                  <a:srgbClr val="FF0000"/>
                </a:solidFill>
                <a:latin typeface="Times New Roman" panose="02020603050405020304" pitchFamily="18" charset="0"/>
                <a:cs typeface="Times New Roman" panose="02020603050405020304" pitchFamily="18" charset="0"/>
              </a:rPr>
              <a:t> routes</a:t>
            </a:r>
            <a:endParaRPr sz="3200" dirty="0">
              <a:solidFill>
                <a:srgbClr val="FF0000"/>
              </a:solidFill>
              <a:latin typeface="Times New Roman" panose="02020603050405020304" pitchFamily="18" charset="0"/>
              <a:cs typeface="Times New Roman" panose="02020603050405020304" pitchFamily="18" charset="0"/>
            </a:endParaRPr>
          </a:p>
          <a:p>
            <a:pPr marL="898749" lvl="1" indent="-505371">
              <a:lnSpc>
                <a:spcPct val="100000"/>
              </a:lnSpc>
              <a:spcBef>
                <a:spcPts val="435"/>
              </a:spcBef>
              <a:buClr>
                <a:srgbClr val="C00000"/>
              </a:buClr>
              <a:buSzPct val="83928"/>
              <a:buAutoNum type="arabicPeriod"/>
              <a:tabLst>
                <a:tab pos="898749" algn="l"/>
                <a:tab pos="899449" algn="l"/>
              </a:tabLst>
            </a:pPr>
            <a:r>
              <a:rPr sz="3200" b="1" spc="-6" dirty="0">
                <a:solidFill>
                  <a:srgbClr val="FF0000"/>
                </a:solidFill>
                <a:latin typeface="Times New Roman" panose="02020603050405020304" pitchFamily="18" charset="0"/>
                <a:cs typeface="Times New Roman" panose="02020603050405020304" pitchFamily="18" charset="0"/>
              </a:rPr>
              <a:t>Using</a:t>
            </a:r>
            <a:r>
              <a:rPr sz="3200" b="1" spc="-17" dirty="0">
                <a:solidFill>
                  <a:srgbClr val="FF0000"/>
                </a:solidFill>
                <a:latin typeface="Times New Roman" panose="02020603050405020304" pitchFamily="18" charset="0"/>
                <a:cs typeface="Times New Roman" panose="02020603050405020304" pitchFamily="18" charset="0"/>
              </a:rPr>
              <a:t> </a:t>
            </a:r>
            <a:r>
              <a:rPr sz="3200" b="1" spc="-6" dirty="0">
                <a:solidFill>
                  <a:srgbClr val="FF0000"/>
                </a:solidFill>
                <a:latin typeface="Times New Roman" panose="02020603050405020304" pitchFamily="18" charset="0"/>
                <a:cs typeface="Times New Roman" panose="02020603050405020304" pitchFamily="18" charset="0"/>
              </a:rPr>
              <a:t>a</a:t>
            </a:r>
            <a:r>
              <a:rPr sz="3200" b="1" spc="-11" dirty="0">
                <a:solidFill>
                  <a:srgbClr val="FF0000"/>
                </a:solidFill>
                <a:latin typeface="Times New Roman" panose="02020603050405020304" pitchFamily="18" charset="0"/>
                <a:cs typeface="Times New Roman" panose="02020603050405020304" pitchFamily="18" charset="0"/>
              </a:rPr>
              <a:t> </a:t>
            </a:r>
            <a:r>
              <a:rPr sz="3200" b="1" dirty="0">
                <a:solidFill>
                  <a:srgbClr val="FF0000"/>
                </a:solidFill>
                <a:latin typeface="Times New Roman" panose="02020603050405020304" pitchFamily="18" charset="0"/>
                <a:cs typeface="Times New Roman" panose="02020603050405020304" pitchFamily="18" charset="0"/>
              </a:rPr>
              <a:t>dynamic</a:t>
            </a:r>
            <a:r>
              <a:rPr sz="3200" b="1" spc="-11" dirty="0">
                <a:solidFill>
                  <a:srgbClr val="FF0000"/>
                </a:solidFill>
                <a:latin typeface="Times New Roman" panose="02020603050405020304" pitchFamily="18" charset="0"/>
                <a:cs typeface="Times New Roman" panose="02020603050405020304" pitchFamily="18" charset="0"/>
              </a:rPr>
              <a:t> routing</a:t>
            </a:r>
            <a:r>
              <a:rPr sz="3200" b="1" spc="-22" dirty="0">
                <a:solidFill>
                  <a:srgbClr val="FF0000"/>
                </a:solidFill>
                <a:latin typeface="Times New Roman" panose="02020603050405020304" pitchFamily="18" charset="0"/>
                <a:cs typeface="Times New Roman" panose="02020603050405020304" pitchFamily="18" charset="0"/>
              </a:rPr>
              <a:t> </a:t>
            </a:r>
            <a:r>
              <a:rPr sz="3200" b="1" spc="-11" dirty="0">
                <a:solidFill>
                  <a:srgbClr val="FF0000"/>
                </a:solidFill>
                <a:latin typeface="Times New Roman" panose="02020603050405020304" pitchFamily="18" charset="0"/>
                <a:cs typeface="Times New Roman" panose="02020603050405020304" pitchFamily="18" charset="0"/>
              </a:rPr>
              <a:t>protocol</a:t>
            </a:r>
            <a:r>
              <a:rPr sz="3200" b="1" spc="-11" dirty="0">
                <a:solidFill>
                  <a:srgbClr val="C00000"/>
                </a:solidFill>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80304" y="1691093"/>
            <a:ext cx="9900321" cy="5265823"/>
          </a:xfrm>
          <a:prstGeom prst="rect">
            <a:avLst/>
          </a:prstGeom>
        </p:spPr>
        <p:txBody>
          <a:bodyPr vert="horz" wrap="square" lIns="0" tIns="71396" rIns="0" bIns="0" rtlCol="0">
            <a:spAutoFit/>
          </a:bodyPr>
          <a:lstStyle/>
          <a:p>
            <a:pPr marL="471199" indent="-457200">
              <a:spcBef>
                <a:spcPts val="561"/>
              </a:spcBef>
              <a:buClr>
                <a:srgbClr val="C00000"/>
              </a:buClr>
              <a:buSzPct val="84615"/>
              <a:buFont typeface="Wingdings" panose="05000000000000000000" pitchFamily="2" charset="2"/>
              <a:buChar char="Ø"/>
              <a:tabLst>
                <a:tab pos="316382" algn="l"/>
              </a:tabLst>
            </a:pPr>
            <a:r>
              <a:rPr sz="3100" spc="-6" dirty="0">
                <a:latin typeface="Times New Roman"/>
                <a:cs typeface="Times New Roman"/>
              </a:rPr>
              <a:t>Static</a:t>
            </a:r>
            <a:r>
              <a:rPr sz="3100" spc="-11" dirty="0">
                <a:latin typeface="Times New Roman"/>
                <a:cs typeface="Times New Roman"/>
              </a:rPr>
              <a:t> </a:t>
            </a:r>
            <a:r>
              <a:rPr sz="3100" dirty="0">
                <a:latin typeface="Times New Roman"/>
                <a:cs typeface="Times New Roman"/>
              </a:rPr>
              <a:t>route</a:t>
            </a:r>
            <a:r>
              <a:rPr sz="3100" spc="-17" dirty="0">
                <a:latin typeface="Times New Roman"/>
                <a:cs typeface="Times New Roman"/>
              </a:rPr>
              <a:t> </a:t>
            </a:r>
            <a:r>
              <a:rPr sz="3100" dirty="0">
                <a:latin typeface="Times New Roman"/>
                <a:cs typeface="Times New Roman"/>
              </a:rPr>
              <a:t>operations</a:t>
            </a:r>
            <a:r>
              <a:rPr sz="3100" spc="-33" dirty="0">
                <a:latin typeface="Times New Roman"/>
                <a:cs typeface="Times New Roman"/>
              </a:rPr>
              <a:t> </a:t>
            </a:r>
            <a:r>
              <a:rPr sz="3100" spc="-6" dirty="0">
                <a:latin typeface="Times New Roman"/>
                <a:cs typeface="Times New Roman"/>
              </a:rPr>
              <a:t>can</a:t>
            </a:r>
            <a:r>
              <a:rPr sz="3100" spc="-11" dirty="0">
                <a:latin typeface="Times New Roman"/>
                <a:cs typeface="Times New Roman"/>
              </a:rPr>
              <a:t> </a:t>
            </a:r>
            <a:r>
              <a:rPr sz="3100" dirty="0">
                <a:latin typeface="Times New Roman"/>
                <a:cs typeface="Times New Roman"/>
              </a:rPr>
              <a:t>be</a:t>
            </a:r>
            <a:r>
              <a:rPr sz="3100" spc="6" dirty="0">
                <a:latin typeface="Times New Roman"/>
                <a:cs typeface="Times New Roman"/>
              </a:rPr>
              <a:t> </a:t>
            </a:r>
            <a:r>
              <a:rPr sz="3100" dirty="0">
                <a:latin typeface="Times New Roman"/>
                <a:cs typeface="Times New Roman"/>
              </a:rPr>
              <a:t>divided</a:t>
            </a:r>
            <a:r>
              <a:rPr sz="3100" spc="-22" dirty="0">
                <a:latin typeface="Times New Roman"/>
                <a:cs typeface="Times New Roman"/>
              </a:rPr>
              <a:t> </a:t>
            </a:r>
            <a:r>
              <a:rPr sz="3100" dirty="0">
                <a:latin typeface="Times New Roman"/>
                <a:cs typeface="Times New Roman"/>
              </a:rPr>
              <a:t>into</a:t>
            </a:r>
            <a:r>
              <a:rPr sz="3100" spc="-6" dirty="0">
                <a:latin typeface="Times New Roman"/>
                <a:cs typeface="Times New Roman"/>
              </a:rPr>
              <a:t> </a:t>
            </a:r>
            <a:r>
              <a:rPr sz="3100" dirty="0">
                <a:latin typeface="Times New Roman"/>
                <a:cs typeface="Times New Roman"/>
              </a:rPr>
              <a:t>these</a:t>
            </a:r>
            <a:r>
              <a:rPr sz="3100" spc="-11" dirty="0">
                <a:latin typeface="Times New Roman"/>
                <a:cs typeface="Times New Roman"/>
              </a:rPr>
              <a:t> </a:t>
            </a:r>
            <a:r>
              <a:rPr sz="3100" spc="-6" dirty="0">
                <a:latin typeface="Times New Roman"/>
                <a:cs typeface="Times New Roman"/>
              </a:rPr>
              <a:t>three</a:t>
            </a:r>
            <a:r>
              <a:rPr sz="3100" spc="6" dirty="0">
                <a:latin typeface="Times New Roman"/>
                <a:cs typeface="Times New Roman"/>
              </a:rPr>
              <a:t> </a:t>
            </a:r>
            <a:r>
              <a:rPr sz="3100" spc="-6" dirty="0">
                <a:latin typeface="Times New Roman"/>
                <a:cs typeface="Times New Roman"/>
              </a:rPr>
              <a:t>parts.</a:t>
            </a:r>
            <a:endParaRPr sz="3100" dirty="0">
              <a:latin typeface="Times New Roman"/>
              <a:cs typeface="Times New Roman"/>
            </a:endParaRPr>
          </a:p>
          <a:p>
            <a:pPr marL="870751" marR="373779" lvl="1" indent="-504670">
              <a:spcBef>
                <a:spcPts val="451"/>
              </a:spcBef>
              <a:buClr>
                <a:srgbClr val="C00000"/>
              </a:buClr>
              <a:buSzPct val="84615"/>
              <a:buAutoNum type="arabicPeriod"/>
              <a:tabLst>
                <a:tab pos="870751" algn="l"/>
                <a:tab pos="871451" algn="l"/>
              </a:tabLst>
            </a:pPr>
            <a:r>
              <a:rPr sz="3100" dirty="0">
                <a:latin typeface="Times New Roman"/>
                <a:cs typeface="Times New Roman"/>
              </a:rPr>
              <a:t>Network </a:t>
            </a:r>
            <a:r>
              <a:rPr sz="3100" spc="-6" dirty="0">
                <a:latin typeface="Times New Roman"/>
                <a:cs typeface="Times New Roman"/>
              </a:rPr>
              <a:t>administrator </a:t>
            </a:r>
            <a:r>
              <a:rPr sz="3100" dirty="0">
                <a:latin typeface="Times New Roman"/>
                <a:cs typeface="Times New Roman"/>
              </a:rPr>
              <a:t>uses the </a:t>
            </a:r>
            <a:r>
              <a:rPr sz="3100" b="1" spc="-6" dirty="0">
                <a:solidFill>
                  <a:srgbClr val="FF0000"/>
                </a:solidFill>
                <a:latin typeface="Times New Roman"/>
                <a:cs typeface="Times New Roman"/>
              </a:rPr>
              <a:t>ip </a:t>
            </a:r>
            <a:r>
              <a:rPr sz="3100" b="1" spc="-11" dirty="0">
                <a:solidFill>
                  <a:srgbClr val="FF0000"/>
                </a:solidFill>
                <a:latin typeface="Times New Roman"/>
                <a:cs typeface="Times New Roman"/>
              </a:rPr>
              <a:t>route </a:t>
            </a:r>
            <a:r>
              <a:rPr sz="3100" spc="-6" dirty="0">
                <a:latin typeface="Times New Roman"/>
                <a:cs typeface="Times New Roman"/>
              </a:rPr>
              <a:t>command </a:t>
            </a:r>
            <a:r>
              <a:rPr sz="3100" dirty="0">
                <a:latin typeface="Times New Roman"/>
                <a:cs typeface="Times New Roman"/>
              </a:rPr>
              <a:t>to </a:t>
            </a:r>
            <a:r>
              <a:rPr sz="3100" spc="-700" dirty="0">
                <a:latin typeface="Times New Roman"/>
                <a:cs typeface="Times New Roman"/>
              </a:rPr>
              <a:t> </a:t>
            </a:r>
            <a:r>
              <a:rPr sz="3100" dirty="0">
                <a:latin typeface="Times New Roman"/>
                <a:cs typeface="Times New Roman"/>
              </a:rPr>
              <a:t>configure</a:t>
            </a:r>
            <a:r>
              <a:rPr sz="3100" spc="-66" dirty="0">
                <a:latin typeface="Times New Roman"/>
                <a:cs typeface="Times New Roman"/>
              </a:rPr>
              <a:t> </a:t>
            </a:r>
            <a:r>
              <a:rPr sz="3100" dirty="0">
                <a:latin typeface="Times New Roman"/>
                <a:cs typeface="Times New Roman"/>
              </a:rPr>
              <a:t>a </a:t>
            </a:r>
            <a:r>
              <a:rPr sz="3100" spc="-6" dirty="0">
                <a:latin typeface="Times New Roman"/>
                <a:cs typeface="Times New Roman"/>
              </a:rPr>
              <a:t>static</a:t>
            </a:r>
            <a:r>
              <a:rPr sz="3100" spc="11" dirty="0">
                <a:latin typeface="Times New Roman"/>
                <a:cs typeface="Times New Roman"/>
              </a:rPr>
              <a:t> </a:t>
            </a:r>
            <a:r>
              <a:rPr sz="3100" dirty="0">
                <a:latin typeface="Times New Roman"/>
                <a:cs typeface="Times New Roman"/>
              </a:rPr>
              <a:t>route.</a:t>
            </a:r>
          </a:p>
          <a:p>
            <a:pPr marL="870751" lvl="1" indent="-504670">
              <a:spcBef>
                <a:spcPts val="435"/>
              </a:spcBef>
              <a:buClr>
                <a:srgbClr val="C00000"/>
              </a:buClr>
              <a:buSzPct val="84615"/>
              <a:buAutoNum type="arabicPeriod"/>
              <a:tabLst>
                <a:tab pos="870751" algn="l"/>
                <a:tab pos="871451" algn="l"/>
              </a:tabLst>
            </a:pPr>
            <a:r>
              <a:rPr sz="3100" dirty="0">
                <a:latin typeface="Times New Roman"/>
                <a:cs typeface="Times New Roman"/>
              </a:rPr>
              <a:t>The</a:t>
            </a:r>
            <a:r>
              <a:rPr sz="3100" spc="-33" dirty="0">
                <a:latin typeface="Times New Roman"/>
                <a:cs typeface="Times New Roman"/>
              </a:rPr>
              <a:t> </a:t>
            </a:r>
            <a:r>
              <a:rPr sz="3100" dirty="0">
                <a:latin typeface="Times New Roman"/>
                <a:cs typeface="Times New Roman"/>
              </a:rPr>
              <a:t>router</a:t>
            </a:r>
            <a:r>
              <a:rPr sz="3100" spc="-39" dirty="0">
                <a:latin typeface="Times New Roman"/>
                <a:cs typeface="Times New Roman"/>
              </a:rPr>
              <a:t> </a:t>
            </a:r>
            <a:r>
              <a:rPr sz="3100" spc="-6" dirty="0">
                <a:latin typeface="Times New Roman"/>
                <a:cs typeface="Times New Roman"/>
              </a:rPr>
              <a:t>installs</a:t>
            </a:r>
            <a:r>
              <a:rPr sz="3100" spc="17" dirty="0">
                <a:latin typeface="Times New Roman"/>
                <a:cs typeface="Times New Roman"/>
              </a:rPr>
              <a:t> </a:t>
            </a:r>
            <a:r>
              <a:rPr sz="3100" dirty="0">
                <a:latin typeface="Times New Roman"/>
                <a:cs typeface="Times New Roman"/>
              </a:rPr>
              <a:t>the route</a:t>
            </a:r>
            <a:r>
              <a:rPr sz="3100" spc="-22" dirty="0">
                <a:latin typeface="Times New Roman"/>
                <a:cs typeface="Times New Roman"/>
              </a:rPr>
              <a:t> </a:t>
            </a:r>
            <a:r>
              <a:rPr sz="3100" dirty="0">
                <a:latin typeface="Times New Roman"/>
                <a:cs typeface="Times New Roman"/>
              </a:rPr>
              <a:t>in the</a:t>
            </a:r>
            <a:r>
              <a:rPr sz="3100" spc="6" dirty="0">
                <a:latin typeface="Times New Roman"/>
                <a:cs typeface="Times New Roman"/>
              </a:rPr>
              <a:t> </a:t>
            </a:r>
            <a:r>
              <a:rPr sz="3100" spc="-6" dirty="0">
                <a:latin typeface="Times New Roman"/>
                <a:cs typeface="Times New Roman"/>
              </a:rPr>
              <a:t>routing</a:t>
            </a:r>
            <a:r>
              <a:rPr sz="3100" spc="-17" dirty="0">
                <a:latin typeface="Times New Roman"/>
                <a:cs typeface="Times New Roman"/>
              </a:rPr>
              <a:t> </a:t>
            </a:r>
            <a:r>
              <a:rPr sz="3100" spc="-6" dirty="0">
                <a:latin typeface="Times New Roman"/>
                <a:cs typeface="Times New Roman"/>
              </a:rPr>
              <a:t>table.</a:t>
            </a:r>
            <a:endParaRPr sz="3100" dirty="0">
              <a:latin typeface="Times New Roman"/>
              <a:cs typeface="Times New Roman"/>
            </a:endParaRPr>
          </a:p>
          <a:p>
            <a:pPr marL="870751" lvl="1" indent="-504670">
              <a:spcBef>
                <a:spcPts val="441"/>
              </a:spcBef>
              <a:buClr>
                <a:srgbClr val="C00000"/>
              </a:buClr>
              <a:buSzPct val="84615"/>
              <a:buAutoNum type="arabicPeriod"/>
              <a:tabLst>
                <a:tab pos="870751" algn="l"/>
                <a:tab pos="871451" algn="l"/>
              </a:tabLst>
            </a:pPr>
            <a:r>
              <a:rPr sz="3100" dirty="0">
                <a:latin typeface="Times New Roman"/>
                <a:cs typeface="Times New Roman"/>
              </a:rPr>
              <a:t>The</a:t>
            </a:r>
            <a:r>
              <a:rPr sz="3100" spc="-39" dirty="0">
                <a:latin typeface="Times New Roman"/>
                <a:cs typeface="Times New Roman"/>
              </a:rPr>
              <a:t> </a:t>
            </a:r>
            <a:r>
              <a:rPr sz="3100" dirty="0">
                <a:latin typeface="Times New Roman"/>
                <a:cs typeface="Times New Roman"/>
              </a:rPr>
              <a:t>route</a:t>
            </a:r>
            <a:r>
              <a:rPr sz="3100" spc="-28" dirty="0">
                <a:latin typeface="Times New Roman"/>
                <a:cs typeface="Times New Roman"/>
              </a:rPr>
              <a:t> </a:t>
            </a:r>
            <a:r>
              <a:rPr sz="3100" dirty="0">
                <a:latin typeface="Times New Roman"/>
                <a:cs typeface="Times New Roman"/>
              </a:rPr>
              <a:t>is</a:t>
            </a:r>
            <a:r>
              <a:rPr sz="3100" spc="-11" dirty="0">
                <a:latin typeface="Times New Roman"/>
                <a:cs typeface="Times New Roman"/>
              </a:rPr>
              <a:t> </a:t>
            </a:r>
            <a:r>
              <a:rPr sz="3100" dirty="0">
                <a:latin typeface="Times New Roman"/>
                <a:cs typeface="Times New Roman"/>
              </a:rPr>
              <a:t>used</a:t>
            </a:r>
            <a:r>
              <a:rPr sz="3100" spc="-17" dirty="0">
                <a:latin typeface="Times New Roman"/>
                <a:cs typeface="Times New Roman"/>
              </a:rPr>
              <a:t> </a:t>
            </a:r>
            <a:r>
              <a:rPr sz="3100" dirty="0">
                <a:latin typeface="Times New Roman"/>
                <a:cs typeface="Times New Roman"/>
              </a:rPr>
              <a:t>to route</a:t>
            </a:r>
            <a:r>
              <a:rPr sz="3100" spc="-44" dirty="0">
                <a:latin typeface="Times New Roman"/>
                <a:cs typeface="Times New Roman"/>
              </a:rPr>
              <a:t> </a:t>
            </a:r>
            <a:r>
              <a:rPr sz="3100" spc="-6" dirty="0">
                <a:latin typeface="Times New Roman"/>
                <a:cs typeface="Times New Roman"/>
              </a:rPr>
              <a:t>packets.</a:t>
            </a:r>
            <a:endParaRPr sz="3100" dirty="0">
              <a:latin typeface="Times New Roman"/>
              <a:cs typeface="Times New Roman"/>
            </a:endParaRPr>
          </a:p>
          <a:p>
            <a:pPr marL="471199" indent="-457200">
              <a:spcBef>
                <a:spcPts val="661"/>
              </a:spcBef>
              <a:buClr>
                <a:srgbClr val="C00000"/>
              </a:buClr>
              <a:buSzPct val="84615"/>
              <a:buFont typeface="Wingdings" panose="05000000000000000000" pitchFamily="2" charset="2"/>
              <a:buChar char="Ø"/>
              <a:tabLst>
                <a:tab pos="316382" algn="l"/>
              </a:tabLst>
            </a:pPr>
            <a:r>
              <a:rPr sz="3100" spc="-6" dirty="0">
                <a:latin typeface="Times New Roman"/>
                <a:cs typeface="Times New Roman"/>
              </a:rPr>
              <a:t>Static</a:t>
            </a:r>
            <a:r>
              <a:rPr sz="3100" spc="-11" dirty="0">
                <a:latin typeface="Times New Roman"/>
                <a:cs typeface="Times New Roman"/>
              </a:rPr>
              <a:t> </a:t>
            </a:r>
            <a:r>
              <a:rPr sz="3100" dirty="0">
                <a:latin typeface="Times New Roman"/>
                <a:cs typeface="Times New Roman"/>
              </a:rPr>
              <a:t>routes</a:t>
            </a:r>
            <a:r>
              <a:rPr sz="3100" spc="-22" dirty="0">
                <a:latin typeface="Times New Roman"/>
                <a:cs typeface="Times New Roman"/>
              </a:rPr>
              <a:t> </a:t>
            </a:r>
            <a:r>
              <a:rPr sz="3100" spc="-6" dirty="0">
                <a:latin typeface="Times New Roman"/>
                <a:cs typeface="Times New Roman"/>
              </a:rPr>
              <a:t>may</a:t>
            </a:r>
            <a:r>
              <a:rPr sz="3100" dirty="0">
                <a:latin typeface="Times New Roman"/>
                <a:cs typeface="Times New Roman"/>
              </a:rPr>
              <a:t> be</a:t>
            </a:r>
            <a:r>
              <a:rPr sz="3100" spc="6" dirty="0">
                <a:latin typeface="Times New Roman"/>
                <a:cs typeface="Times New Roman"/>
              </a:rPr>
              <a:t> </a:t>
            </a:r>
            <a:r>
              <a:rPr sz="3100" spc="-6" dirty="0">
                <a:latin typeface="Times New Roman"/>
                <a:cs typeface="Times New Roman"/>
              </a:rPr>
              <a:t>beneficial</a:t>
            </a:r>
            <a:r>
              <a:rPr sz="3100" spc="-17" dirty="0">
                <a:latin typeface="Times New Roman"/>
                <a:cs typeface="Times New Roman"/>
              </a:rPr>
              <a:t> </a:t>
            </a:r>
            <a:r>
              <a:rPr sz="3100" dirty="0">
                <a:latin typeface="Times New Roman"/>
                <a:cs typeface="Times New Roman"/>
              </a:rPr>
              <a:t>in </a:t>
            </a:r>
            <a:r>
              <a:rPr sz="3100" spc="-6" dirty="0">
                <a:latin typeface="Times New Roman"/>
                <a:cs typeface="Times New Roman"/>
              </a:rPr>
              <a:t>some</a:t>
            </a:r>
            <a:r>
              <a:rPr sz="3100" spc="6" dirty="0">
                <a:latin typeface="Times New Roman"/>
                <a:cs typeface="Times New Roman"/>
              </a:rPr>
              <a:t> </a:t>
            </a:r>
            <a:r>
              <a:rPr sz="3100" spc="-6" dirty="0">
                <a:latin typeface="Times New Roman"/>
                <a:cs typeface="Times New Roman"/>
              </a:rPr>
              <a:t>cases</a:t>
            </a:r>
            <a:r>
              <a:rPr sz="3100" dirty="0">
                <a:latin typeface="Times New Roman"/>
                <a:cs typeface="Times New Roman"/>
              </a:rPr>
              <a:t> </a:t>
            </a:r>
            <a:r>
              <a:rPr sz="3100" spc="-6" dirty="0">
                <a:latin typeface="Times New Roman"/>
                <a:cs typeface="Times New Roman"/>
              </a:rPr>
              <a:t>like:</a:t>
            </a:r>
            <a:endParaRPr sz="3100" dirty="0">
              <a:latin typeface="Times New Roman"/>
              <a:cs typeface="Times New Roman"/>
            </a:endParaRPr>
          </a:p>
          <a:p>
            <a:pPr marL="870751" lvl="1" indent="-504670">
              <a:spcBef>
                <a:spcPts val="451"/>
              </a:spcBef>
              <a:buClr>
                <a:srgbClr val="C00000"/>
              </a:buClr>
              <a:buSzPct val="84615"/>
              <a:buAutoNum type="arabicPeriod"/>
              <a:tabLst>
                <a:tab pos="870751" algn="l"/>
                <a:tab pos="871451" algn="l"/>
              </a:tabLst>
            </a:pPr>
            <a:r>
              <a:rPr sz="3100" dirty="0">
                <a:latin typeface="Times New Roman"/>
                <a:cs typeface="Times New Roman"/>
              </a:rPr>
              <a:t>Dial</a:t>
            </a:r>
            <a:r>
              <a:rPr sz="3100" spc="-55" dirty="0">
                <a:latin typeface="Times New Roman"/>
                <a:cs typeface="Times New Roman"/>
              </a:rPr>
              <a:t> </a:t>
            </a:r>
            <a:r>
              <a:rPr sz="3100" dirty="0">
                <a:latin typeface="Times New Roman"/>
                <a:cs typeface="Times New Roman"/>
              </a:rPr>
              <a:t>backup</a:t>
            </a:r>
            <a:r>
              <a:rPr sz="3100" spc="-55" dirty="0">
                <a:latin typeface="Times New Roman"/>
                <a:cs typeface="Times New Roman"/>
              </a:rPr>
              <a:t> </a:t>
            </a:r>
            <a:r>
              <a:rPr sz="3100" dirty="0">
                <a:latin typeface="Times New Roman"/>
                <a:cs typeface="Times New Roman"/>
              </a:rPr>
              <a:t>connections;</a:t>
            </a:r>
          </a:p>
          <a:p>
            <a:pPr marL="870751" marR="835753" lvl="1" indent="-504670">
              <a:spcBef>
                <a:spcPts val="435"/>
              </a:spcBef>
              <a:buClr>
                <a:srgbClr val="C00000"/>
              </a:buClr>
              <a:buSzPct val="84615"/>
              <a:buAutoNum type="arabicPeriod"/>
              <a:tabLst>
                <a:tab pos="870751" algn="l"/>
                <a:tab pos="871451" algn="l"/>
              </a:tabLst>
            </a:pPr>
            <a:r>
              <a:rPr sz="3100" dirty="0">
                <a:latin typeface="Times New Roman"/>
                <a:cs typeface="Times New Roman"/>
              </a:rPr>
              <a:t>Routers</a:t>
            </a:r>
            <a:r>
              <a:rPr sz="3100" spc="-50" dirty="0">
                <a:latin typeface="Times New Roman"/>
                <a:cs typeface="Times New Roman"/>
              </a:rPr>
              <a:t> </a:t>
            </a:r>
            <a:r>
              <a:rPr sz="3100" dirty="0">
                <a:latin typeface="Times New Roman"/>
                <a:cs typeface="Times New Roman"/>
              </a:rPr>
              <a:t>have</a:t>
            </a:r>
            <a:r>
              <a:rPr sz="3100" spc="-22" dirty="0">
                <a:latin typeface="Times New Roman"/>
                <a:cs typeface="Times New Roman"/>
              </a:rPr>
              <a:t> </a:t>
            </a:r>
            <a:r>
              <a:rPr sz="3100" dirty="0">
                <a:latin typeface="Times New Roman"/>
                <a:cs typeface="Times New Roman"/>
              </a:rPr>
              <a:t>only</a:t>
            </a:r>
            <a:r>
              <a:rPr sz="3100" spc="-28" dirty="0">
                <a:latin typeface="Times New Roman"/>
                <a:cs typeface="Times New Roman"/>
              </a:rPr>
              <a:t> </a:t>
            </a:r>
            <a:r>
              <a:rPr sz="3100" spc="6" dirty="0">
                <a:latin typeface="Times New Roman"/>
                <a:cs typeface="Times New Roman"/>
              </a:rPr>
              <a:t>one</a:t>
            </a:r>
            <a:r>
              <a:rPr sz="3100" spc="-22" dirty="0">
                <a:latin typeface="Times New Roman"/>
                <a:cs typeface="Times New Roman"/>
              </a:rPr>
              <a:t> </a:t>
            </a:r>
            <a:r>
              <a:rPr sz="3100" dirty="0">
                <a:latin typeface="Times New Roman"/>
                <a:cs typeface="Times New Roman"/>
              </a:rPr>
              <a:t>connection</a:t>
            </a:r>
            <a:r>
              <a:rPr sz="3100" spc="-33" dirty="0">
                <a:latin typeface="Times New Roman"/>
                <a:cs typeface="Times New Roman"/>
              </a:rPr>
              <a:t> </a:t>
            </a:r>
            <a:r>
              <a:rPr sz="3100" dirty="0">
                <a:latin typeface="Times New Roman"/>
                <a:cs typeface="Times New Roman"/>
              </a:rPr>
              <a:t>to</a:t>
            </a:r>
            <a:r>
              <a:rPr sz="3100" spc="-6" dirty="0">
                <a:latin typeface="Times New Roman"/>
                <a:cs typeface="Times New Roman"/>
              </a:rPr>
              <a:t> </a:t>
            </a:r>
            <a:r>
              <a:rPr sz="3100" dirty="0">
                <a:latin typeface="Times New Roman"/>
                <a:cs typeface="Times New Roman"/>
              </a:rPr>
              <a:t>the </a:t>
            </a:r>
            <a:r>
              <a:rPr sz="3100" spc="-11" dirty="0">
                <a:latin typeface="Times New Roman"/>
                <a:cs typeface="Times New Roman"/>
              </a:rPr>
              <a:t>rest</a:t>
            </a:r>
            <a:r>
              <a:rPr sz="3100" dirty="0">
                <a:latin typeface="Times New Roman"/>
                <a:cs typeface="Times New Roman"/>
              </a:rPr>
              <a:t> of </a:t>
            </a:r>
            <a:r>
              <a:rPr sz="3100" spc="-11" dirty="0">
                <a:latin typeface="Times New Roman"/>
                <a:cs typeface="Times New Roman"/>
              </a:rPr>
              <a:t>an </a:t>
            </a:r>
            <a:r>
              <a:rPr sz="3100" spc="-700" dirty="0">
                <a:latin typeface="Times New Roman"/>
                <a:cs typeface="Times New Roman"/>
              </a:rPr>
              <a:t> </a:t>
            </a:r>
            <a:r>
              <a:rPr sz="3100" dirty="0">
                <a:latin typeface="Times New Roman"/>
                <a:cs typeface="Times New Roman"/>
              </a:rPr>
              <a:t>internetwork;</a:t>
            </a:r>
          </a:p>
          <a:p>
            <a:pPr marL="870751" lvl="1" indent="-504670">
              <a:spcBef>
                <a:spcPts val="441"/>
              </a:spcBef>
              <a:buClr>
                <a:srgbClr val="C00000"/>
              </a:buClr>
              <a:buSzPct val="84615"/>
              <a:buAutoNum type="arabicPeriod"/>
              <a:tabLst>
                <a:tab pos="870751" algn="l"/>
                <a:tab pos="871451" algn="l"/>
              </a:tabLst>
            </a:pPr>
            <a:r>
              <a:rPr sz="3100" dirty="0">
                <a:latin typeface="Times New Roman"/>
                <a:cs typeface="Times New Roman"/>
              </a:rPr>
              <a:t>Enterprise</a:t>
            </a:r>
            <a:r>
              <a:rPr sz="3100" spc="-61" dirty="0">
                <a:latin typeface="Times New Roman"/>
                <a:cs typeface="Times New Roman"/>
              </a:rPr>
              <a:t> </a:t>
            </a:r>
            <a:r>
              <a:rPr sz="3100" dirty="0">
                <a:latin typeface="Times New Roman"/>
                <a:cs typeface="Times New Roman"/>
              </a:rPr>
              <a:t>connection</a:t>
            </a:r>
            <a:r>
              <a:rPr sz="3100" spc="-50" dirty="0">
                <a:latin typeface="Times New Roman"/>
                <a:cs typeface="Times New Roman"/>
              </a:rPr>
              <a:t> </a:t>
            </a:r>
            <a:r>
              <a:rPr sz="3100" dirty="0">
                <a:latin typeface="Times New Roman"/>
                <a:cs typeface="Times New Roman"/>
              </a:rPr>
              <a:t>to</a:t>
            </a:r>
            <a:r>
              <a:rPr sz="3100" spc="-17" dirty="0">
                <a:latin typeface="Times New Roman"/>
                <a:cs typeface="Times New Roman"/>
              </a:rPr>
              <a:t> </a:t>
            </a:r>
            <a:r>
              <a:rPr sz="3100" dirty="0">
                <a:latin typeface="Times New Roman"/>
                <a:cs typeface="Times New Roman"/>
              </a:rPr>
              <a:t>internet,</a:t>
            </a:r>
            <a:r>
              <a:rPr sz="3100" spc="-28" dirty="0">
                <a:latin typeface="Times New Roman"/>
                <a:cs typeface="Times New Roman"/>
              </a:rPr>
              <a:t> </a:t>
            </a:r>
            <a:r>
              <a:rPr sz="3100" spc="-6" dirty="0">
                <a:latin typeface="Times New Roman"/>
                <a:cs typeface="Times New Roman"/>
              </a:rPr>
              <a:t>etc.</a:t>
            </a:r>
            <a:endParaRPr sz="3100" dirty="0">
              <a:latin typeface="Times New Roman"/>
              <a:cs typeface="Times New Roman"/>
            </a:endParaRPr>
          </a:p>
        </p:txBody>
      </p:sp>
      <p:sp>
        <p:nvSpPr>
          <p:cNvPr id="8" name="object 2">
            <a:extLst>
              <a:ext uri="{FF2B5EF4-FFF2-40B4-BE49-F238E27FC236}">
                <a16:creationId xmlns:a16="http://schemas.microsoft.com/office/drawing/2014/main" id="{D433ED09-B833-4277-BCCD-0A7249757358}"/>
              </a:ext>
            </a:extLst>
          </p:cNvPr>
          <p:cNvSpPr txBox="1">
            <a:spLocks/>
          </p:cNvSpPr>
          <p:nvPr/>
        </p:nvSpPr>
        <p:spPr>
          <a:xfrm>
            <a:off x="3850084" y="506391"/>
            <a:ext cx="2632587" cy="691951"/>
          </a:xfrm>
          <a:prstGeom prst="rect">
            <a:avLst/>
          </a:prstGeom>
          <a:noFill/>
          <a:ln w="0">
            <a:noFill/>
          </a:ln>
        </p:spPr>
        <p:txBody>
          <a:bodyPr vert="horz" wrap="square" lIns="0" tIns="14699" rIns="0" bIns="0" rtlCol="0" anchor="ctr">
            <a:spAutoFit/>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mj-cs"/>
              </a:defRPr>
            </a:lvl1pPr>
          </a:lstStyle>
          <a:p>
            <a:pPr marL="13999">
              <a:lnSpc>
                <a:spcPct val="100000"/>
              </a:lnSpc>
              <a:spcBef>
                <a:spcPts val="116"/>
              </a:spcBef>
            </a:pPr>
            <a:r>
              <a:rPr lang="en-US" b="1" dirty="0">
                <a:solidFill>
                  <a:schemeClr val="bg1"/>
                </a:solidFill>
                <a:latin typeface="Times New Roman" panose="02020603050405020304" pitchFamily="18" charset="0"/>
                <a:cs typeface="Times New Roman" panose="02020603050405020304" pitchFamily="18" charset="0"/>
              </a:rPr>
              <a:t>Summary</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18941" y="1536853"/>
            <a:ext cx="9861683" cy="4523062"/>
          </a:xfrm>
          <a:prstGeom prst="rect">
            <a:avLst/>
          </a:prstGeom>
        </p:spPr>
        <p:txBody>
          <a:bodyPr vert="horz" wrap="square" lIns="0" tIns="13999" rIns="0" bIns="0" rtlCol="0">
            <a:spAutoFit/>
          </a:bodyPr>
          <a:lstStyle/>
          <a:p>
            <a:pPr marL="470499" marR="25899" indent="-457200">
              <a:spcBef>
                <a:spcPts val="110"/>
              </a:spcBef>
              <a:buClr>
                <a:srgbClr val="C00000"/>
              </a:buClr>
              <a:buSzPct val="85416"/>
              <a:buFont typeface="Wingdings" panose="05000000000000000000" pitchFamily="2" charset="2"/>
              <a:buChar char="Ø"/>
              <a:tabLst>
                <a:tab pos="315682" algn="l"/>
                <a:tab pos="316382" algn="l"/>
              </a:tabLst>
            </a:pPr>
            <a:r>
              <a:rPr sz="3200" spc="-6" dirty="0">
                <a:latin typeface="Times New Roman" panose="02020603050405020304" pitchFamily="18" charset="0"/>
                <a:cs typeface="Times New Roman" panose="02020603050405020304" pitchFamily="18" charset="0"/>
              </a:rPr>
              <a:t>An</a:t>
            </a:r>
            <a:r>
              <a:rPr sz="3200" spc="-154"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AS</a:t>
            </a:r>
            <a:r>
              <a:rPr sz="3200" spc="6"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is</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 collection</a:t>
            </a:r>
            <a:r>
              <a:rPr sz="3200" spc="-5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of</a:t>
            </a:r>
            <a:r>
              <a:rPr sz="3200" spc="6"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networks </a:t>
            </a:r>
            <a:r>
              <a:rPr sz="3200" dirty="0">
                <a:latin typeface="Times New Roman" panose="02020603050405020304" pitchFamily="18" charset="0"/>
                <a:cs typeface="Times New Roman" panose="02020603050405020304" pitchFamily="18" charset="0"/>
              </a:rPr>
              <a:t>under the</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same</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administration </a:t>
            </a:r>
            <a:r>
              <a:rPr sz="3200" spc="-6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that share a </a:t>
            </a:r>
            <a:r>
              <a:rPr sz="3200" spc="-11" dirty="0">
                <a:latin typeface="Times New Roman" panose="02020603050405020304" pitchFamily="18" charset="0"/>
                <a:cs typeface="Times New Roman" panose="02020603050405020304" pitchFamily="18" charset="0"/>
              </a:rPr>
              <a:t>common </a:t>
            </a:r>
            <a:r>
              <a:rPr sz="3200" dirty="0">
                <a:latin typeface="Times New Roman" panose="02020603050405020304" pitchFamily="18" charset="0"/>
                <a:cs typeface="Times New Roman" panose="02020603050405020304" pitchFamily="18" charset="0"/>
              </a:rPr>
              <a:t>routing strategy; </a:t>
            </a:r>
            <a:r>
              <a:rPr sz="3200" spc="-6" dirty="0">
                <a:latin typeface="Times New Roman" panose="02020603050405020304" pitchFamily="18" charset="0"/>
                <a:cs typeface="Times New Roman" panose="02020603050405020304" pitchFamily="18" charset="0"/>
              </a:rPr>
              <a:t>for </a:t>
            </a:r>
            <a:r>
              <a:rPr sz="3200" dirty="0">
                <a:latin typeface="Times New Roman" panose="02020603050405020304" pitchFamily="18" charset="0"/>
                <a:cs typeface="Times New Roman" panose="02020603050405020304" pitchFamily="18" charset="0"/>
              </a:rPr>
              <a:t>instance, the </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internetwork created by one </a:t>
            </a:r>
            <a:r>
              <a:rPr sz="3200" spc="-28" dirty="0">
                <a:latin typeface="Times New Roman" panose="02020603050405020304" pitchFamily="18" charset="0"/>
                <a:cs typeface="Times New Roman" panose="02020603050405020304" pitchFamily="18" charset="0"/>
              </a:rPr>
              <a:t>company, </a:t>
            </a:r>
            <a:r>
              <a:rPr sz="3200" dirty="0">
                <a:latin typeface="Times New Roman" panose="02020603050405020304" pitchFamily="18" charset="0"/>
                <a:cs typeface="Times New Roman" panose="02020603050405020304" pitchFamily="18" charset="0"/>
              </a:rPr>
              <a:t>one school, or one </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a:t>
            </a:r>
            <a:r>
              <a:rPr sz="3200" spc="-50" dirty="0">
                <a:latin typeface="Times New Roman" panose="02020603050405020304" pitchFamily="18" charset="0"/>
                <a:cs typeface="Times New Roman" panose="02020603050405020304" pitchFamily="18" charset="0"/>
              </a:rPr>
              <a:t>r</a:t>
            </a:r>
            <a:r>
              <a:rPr sz="3200" dirty="0">
                <a:latin typeface="Times New Roman" panose="02020603050405020304" pitchFamily="18" charset="0"/>
                <a:cs typeface="Times New Roman" panose="02020603050405020304" pitchFamily="18" charset="0"/>
              </a:rPr>
              <a:t>gani</a:t>
            </a:r>
            <a:r>
              <a:rPr sz="3200" spc="6" dirty="0">
                <a:latin typeface="Times New Roman" panose="02020603050405020304" pitchFamily="18" charset="0"/>
                <a:cs typeface="Times New Roman" panose="02020603050405020304" pitchFamily="18" charset="0"/>
              </a:rPr>
              <a:t>z</a:t>
            </a:r>
            <a:r>
              <a:rPr sz="3200" dirty="0">
                <a:latin typeface="Times New Roman" panose="02020603050405020304" pitchFamily="18" charset="0"/>
                <a:cs typeface="Times New Roman" panose="02020603050405020304" pitchFamily="18" charset="0"/>
              </a:rPr>
              <a:t>a</a:t>
            </a:r>
            <a:r>
              <a:rPr sz="3200" spc="6" dirty="0">
                <a:latin typeface="Times New Roman" panose="02020603050405020304" pitchFamily="18" charset="0"/>
                <a:cs typeface="Times New Roman" panose="02020603050405020304" pitchFamily="18" charset="0"/>
              </a:rPr>
              <a:t>t</a:t>
            </a:r>
            <a:r>
              <a:rPr sz="3200" dirty="0">
                <a:latin typeface="Times New Roman" panose="02020603050405020304" pitchFamily="18" charset="0"/>
                <a:cs typeface="Times New Roman" panose="02020603050405020304" pitchFamily="18" charset="0"/>
              </a:rPr>
              <a:t>i</a:t>
            </a:r>
            <a:r>
              <a:rPr sz="3200" spc="-11" dirty="0">
                <a:latin typeface="Times New Roman" panose="02020603050405020304" pitchFamily="18" charset="0"/>
                <a:cs typeface="Times New Roman" panose="02020603050405020304" pitchFamily="18" charset="0"/>
              </a:rPr>
              <a:t>o</a:t>
            </a:r>
            <a:r>
              <a:rPr sz="3200" dirty="0">
                <a:latin typeface="Times New Roman" panose="02020603050405020304" pitchFamily="18" charset="0"/>
                <a:cs typeface="Times New Roman" panose="02020603050405020304" pitchFamily="18" charset="0"/>
              </a:rPr>
              <a:t>n</a:t>
            </a:r>
            <a:r>
              <a:rPr sz="3200" spc="-55"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is</a:t>
            </a:r>
            <a:r>
              <a:rPr sz="3200"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l</a:t>
            </a:r>
            <a:r>
              <a:rPr sz="3200" dirty="0">
                <a:latin typeface="Times New Roman" panose="02020603050405020304" pitchFamily="18" charset="0"/>
                <a:cs typeface="Times New Roman" panose="02020603050405020304" pitchFamily="18" charset="0"/>
              </a:rPr>
              <a:t>ik</a:t>
            </a:r>
            <a:r>
              <a:rPr sz="3200" spc="6" dirty="0">
                <a:latin typeface="Times New Roman" panose="02020603050405020304" pitchFamily="18" charset="0"/>
                <a:cs typeface="Times New Roman" panose="02020603050405020304" pitchFamily="18" charset="0"/>
              </a:rPr>
              <a:t>e</a:t>
            </a:r>
            <a:r>
              <a:rPr sz="3200" dirty="0">
                <a:latin typeface="Times New Roman" panose="02020603050405020304" pitchFamily="18" charset="0"/>
                <a:cs typeface="Times New Roman" panose="02020603050405020304" pitchFamily="18" charset="0"/>
              </a:rPr>
              <a:t>ly</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to</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be a</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sing</a:t>
            </a:r>
            <a:r>
              <a:rPr sz="3200" spc="6" dirty="0">
                <a:latin typeface="Times New Roman" panose="02020603050405020304" pitchFamily="18" charset="0"/>
                <a:cs typeface="Times New Roman" panose="02020603050405020304" pitchFamily="18" charset="0"/>
              </a:rPr>
              <a:t>l</a:t>
            </a:r>
            <a:r>
              <a:rPr sz="3200" dirty="0">
                <a:latin typeface="Times New Roman" panose="02020603050405020304" pitchFamily="18" charset="0"/>
                <a:cs typeface="Times New Roman" panose="02020603050405020304" pitchFamily="18" charset="0"/>
              </a:rPr>
              <a:t>e</a:t>
            </a:r>
            <a:r>
              <a:rPr sz="3200" spc="-17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a:t>
            </a:r>
            <a:r>
              <a:rPr sz="3200" spc="-17" dirty="0">
                <a:latin typeface="Times New Roman" panose="02020603050405020304" pitchFamily="18" charset="0"/>
                <a:cs typeface="Times New Roman" panose="02020603050405020304" pitchFamily="18" charset="0"/>
              </a:rPr>
              <a:t>S</a:t>
            </a:r>
            <a:r>
              <a:rPr sz="3200" dirty="0">
                <a:latin typeface="Times New Roman" panose="02020603050405020304" pitchFamily="18" charset="0"/>
                <a:cs typeface="Times New Roman" panose="02020603050405020304" pitchFamily="18" charset="0"/>
              </a:rPr>
              <a:t>.</a:t>
            </a:r>
          </a:p>
          <a:p>
            <a:pPr marL="470499" marR="83995" indent="-457200">
              <a:spcBef>
                <a:spcPts val="645"/>
              </a:spcBef>
              <a:buClr>
                <a:srgbClr val="C00000"/>
              </a:buClr>
              <a:buSzPct val="85416"/>
              <a:buFont typeface="Wingdings" panose="05000000000000000000" pitchFamily="2" charset="2"/>
              <a:buChar char="Ø"/>
              <a:tabLst>
                <a:tab pos="315682" algn="l"/>
                <a:tab pos="316382" algn="l"/>
              </a:tabLst>
            </a:pPr>
            <a:r>
              <a:rPr sz="3200" dirty="0">
                <a:latin typeface="Times New Roman" panose="02020603050405020304" pitchFamily="18" charset="0"/>
                <a:cs typeface="Times New Roman" panose="02020603050405020304" pitchFamily="18" charset="0"/>
              </a:rPr>
              <a:t>The</a:t>
            </a:r>
            <a:r>
              <a:rPr sz="3200" spc="-33"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global</a:t>
            </a:r>
            <a:r>
              <a:rPr sz="3200" spc="-22"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Internet</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consis</a:t>
            </a:r>
            <a:r>
              <a:rPr sz="3200" spc="6" dirty="0">
                <a:latin typeface="Times New Roman" panose="02020603050405020304" pitchFamily="18" charset="0"/>
                <a:cs typeface="Times New Roman" panose="02020603050405020304" pitchFamily="18" charset="0"/>
              </a:rPr>
              <a:t>t</a:t>
            </a:r>
            <a:r>
              <a:rPr sz="3200" dirty="0">
                <a:latin typeface="Times New Roman" panose="02020603050405020304" pitchFamily="18" charset="0"/>
                <a:cs typeface="Times New Roman" panose="02020603050405020304" pitchFamily="18" charset="0"/>
              </a:rPr>
              <a:t>s</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of</a:t>
            </a:r>
            <a:r>
              <a:rPr sz="3200" spc="-11" dirty="0">
                <a:latin typeface="Times New Roman" panose="02020603050405020304" pitchFamily="18" charset="0"/>
                <a:cs typeface="Times New Roman" panose="02020603050405020304" pitchFamily="18" charset="0"/>
              </a:rPr>
              <a:t> </a:t>
            </a:r>
            <a:r>
              <a:rPr sz="3200" spc="-28" dirty="0">
                <a:latin typeface="Times New Roman" panose="02020603050405020304" pitchFamily="18" charset="0"/>
                <a:cs typeface="Times New Roman" panose="02020603050405020304" pitchFamily="18" charset="0"/>
              </a:rPr>
              <a:t>m</a:t>
            </a:r>
            <a:r>
              <a:rPr sz="3200" dirty="0">
                <a:latin typeface="Times New Roman" panose="02020603050405020304" pitchFamily="18" charset="0"/>
                <a:cs typeface="Times New Roman" panose="02020603050405020304" pitchFamily="18" charset="0"/>
              </a:rPr>
              <a:t>ost</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every</a:t>
            </a:r>
            <a:r>
              <a:rPr sz="3200" spc="-17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w</a:t>
            </a:r>
            <a:r>
              <a:rPr sz="3200" spc="-11" dirty="0">
                <a:latin typeface="Times New Roman" panose="02020603050405020304" pitchFamily="18" charset="0"/>
                <a:cs typeface="Times New Roman" panose="02020603050405020304" pitchFamily="18" charset="0"/>
              </a:rPr>
              <a:t>o</a:t>
            </a:r>
            <a:r>
              <a:rPr sz="3200" dirty="0">
                <a:latin typeface="Times New Roman" panose="02020603050405020304" pitchFamily="18" charset="0"/>
                <a:cs typeface="Times New Roman" panose="02020603050405020304" pitchFamily="18" charset="0"/>
              </a:rPr>
              <a:t>rld,</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with  ea</a:t>
            </a:r>
            <a:r>
              <a:rPr sz="3200" spc="6" dirty="0">
                <a:latin typeface="Times New Roman" panose="02020603050405020304" pitchFamily="18" charset="0"/>
                <a:cs typeface="Times New Roman" panose="02020603050405020304" pitchFamily="18" charset="0"/>
              </a:rPr>
              <a:t>c</a:t>
            </a:r>
            <a:r>
              <a:rPr sz="3200" dirty="0">
                <a:latin typeface="Times New Roman" panose="02020603050405020304" pitchFamily="18" charset="0"/>
                <a:cs typeface="Times New Roman" panose="02020603050405020304" pitchFamily="18" charset="0"/>
              </a:rPr>
              <a:t>h</a:t>
            </a:r>
            <a:r>
              <a:rPr sz="3200" spc="-176"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AS</a:t>
            </a:r>
            <a:r>
              <a:rPr sz="3200" dirty="0">
                <a:latin typeface="Times New Roman" panose="02020603050405020304" pitchFamily="18" charset="0"/>
                <a:cs typeface="Times New Roman" panose="02020603050405020304" pitchFamily="18" charset="0"/>
              </a:rPr>
              <a:t> having a</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re</a:t>
            </a:r>
            <a:r>
              <a:rPr sz="3200" spc="-6" dirty="0">
                <a:latin typeface="Times New Roman" panose="02020603050405020304" pitchFamily="18" charset="0"/>
                <a:cs typeface="Times New Roman" panose="02020603050405020304" pitchFamily="18" charset="0"/>
              </a:rPr>
              <a:t>gis</a:t>
            </a:r>
            <a:r>
              <a:rPr sz="3200" dirty="0">
                <a:latin typeface="Times New Roman" panose="02020603050405020304" pitchFamily="18" charset="0"/>
                <a:cs typeface="Times New Roman" panose="02020603050405020304" pitchFamily="18" charset="0"/>
              </a:rPr>
              <a:t>te</a:t>
            </a:r>
            <a:r>
              <a:rPr sz="3200" spc="6" dirty="0">
                <a:latin typeface="Times New Roman" panose="02020603050405020304" pitchFamily="18" charset="0"/>
                <a:cs typeface="Times New Roman" panose="02020603050405020304" pitchFamily="18" charset="0"/>
              </a:rPr>
              <a:t>r</a:t>
            </a:r>
            <a:r>
              <a:rPr sz="3200" dirty="0">
                <a:latin typeface="Times New Roman" panose="02020603050405020304" pitchFamily="18" charset="0"/>
                <a:cs typeface="Times New Roman" panose="02020603050405020304" pitchFamily="18" charset="0"/>
              </a:rPr>
              <a:t>ed</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(wi</a:t>
            </a:r>
            <a:r>
              <a:rPr sz="3200" spc="6" dirty="0">
                <a:latin typeface="Times New Roman" panose="02020603050405020304" pitchFamily="18" charset="0"/>
                <a:cs typeface="Times New Roman" panose="02020603050405020304" pitchFamily="18" charset="0"/>
              </a:rPr>
              <a:t>t</a:t>
            </a:r>
            <a:r>
              <a:rPr sz="3200" dirty="0">
                <a:latin typeface="Times New Roman" panose="02020603050405020304" pitchFamily="18" charset="0"/>
                <a:cs typeface="Times New Roman" panose="02020603050405020304" pitchFamily="18" charset="0"/>
              </a:rPr>
              <a:t>h</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IAN</a:t>
            </a:r>
            <a:r>
              <a:rPr sz="3200" spc="-17" dirty="0">
                <a:latin typeface="Times New Roman" panose="02020603050405020304" pitchFamily="18" charset="0"/>
                <a:cs typeface="Times New Roman" panose="02020603050405020304" pitchFamily="18" charset="0"/>
              </a:rPr>
              <a:t>A</a:t>
            </a:r>
            <a:r>
              <a:rPr sz="3200" dirty="0">
                <a:latin typeface="Times New Roman" panose="02020603050405020304" pitchFamily="18" charset="0"/>
                <a:cs typeface="Times New Roman" panose="02020603050405020304" pitchFamily="18" charset="0"/>
              </a:rPr>
              <a:t>)</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unique</a:t>
            </a:r>
            <a:r>
              <a:rPr sz="3200" spc="-154"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AS</a:t>
            </a:r>
            <a:r>
              <a:rPr sz="3200" dirty="0">
                <a:latin typeface="Times New Roman" panose="02020603050405020304" pitchFamily="18" charset="0"/>
                <a:cs typeface="Times New Roman" panose="02020603050405020304" pitchFamily="18" charset="0"/>
              </a:rPr>
              <a:t> nu</a:t>
            </a:r>
            <a:r>
              <a:rPr sz="3200" spc="-22" dirty="0">
                <a:latin typeface="Times New Roman" panose="02020603050405020304" pitchFamily="18" charset="0"/>
                <a:cs typeface="Times New Roman" panose="02020603050405020304" pitchFamily="18" charset="0"/>
              </a:rPr>
              <a:t>m</a:t>
            </a:r>
            <a:r>
              <a:rPr sz="3200" dirty="0">
                <a:latin typeface="Times New Roman" panose="02020603050405020304" pitchFamily="18" charset="0"/>
                <a:cs typeface="Times New Roman" panose="02020603050405020304" pitchFamily="18" charset="0"/>
              </a:rPr>
              <a:t>ber  </a:t>
            </a:r>
            <a:r>
              <a:rPr sz="3200" spc="-6" dirty="0">
                <a:latin typeface="Times New Roman" panose="02020603050405020304" pitchFamily="18" charset="0"/>
                <a:cs typeface="Times New Roman" panose="02020603050405020304" pitchFamily="18" charset="0"/>
              </a:rPr>
              <a:t>(ASN). </a:t>
            </a:r>
            <a:r>
              <a:rPr sz="3200" dirty="0">
                <a:latin typeface="Times New Roman" panose="02020603050405020304" pitchFamily="18" charset="0"/>
                <a:cs typeface="Times New Roman" panose="02020603050405020304" pitchFamily="18" charset="0"/>
              </a:rPr>
              <a:t>Each </a:t>
            </a:r>
            <a:r>
              <a:rPr sz="3200" spc="-6" dirty="0">
                <a:latin typeface="Times New Roman" panose="02020603050405020304" pitchFamily="18" charset="0"/>
                <a:cs typeface="Times New Roman" panose="02020603050405020304" pitchFamily="18" charset="0"/>
              </a:rPr>
              <a:t>AS </a:t>
            </a:r>
            <a:r>
              <a:rPr sz="3200" dirty="0">
                <a:latin typeface="Times New Roman" panose="02020603050405020304" pitchFamily="18" charset="0"/>
                <a:cs typeface="Times New Roman" panose="02020603050405020304" pitchFamily="18" charset="0"/>
              </a:rPr>
              <a:t>connects to at least one </a:t>
            </a:r>
            <a:r>
              <a:rPr sz="3200" spc="-77" dirty="0">
                <a:latin typeface="Times New Roman" panose="02020603050405020304" pitchFamily="18" charset="0"/>
                <a:cs typeface="Times New Roman" panose="02020603050405020304" pitchFamily="18" charset="0"/>
              </a:rPr>
              <a:t>ISP, </a:t>
            </a:r>
            <a:r>
              <a:rPr sz="3200" dirty="0">
                <a:latin typeface="Times New Roman" panose="02020603050405020304" pitchFamily="18" charset="0"/>
                <a:cs typeface="Times New Roman" panose="02020603050405020304" pitchFamily="18" charset="0"/>
              </a:rPr>
              <a:t>and the </a:t>
            </a:r>
            <a:r>
              <a:rPr sz="3200" spc="-28" dirty="0">
                <a:latin typeface="Times New Roman" panose="02020603050405020304" pitchFamily="18" charset="0"/>
                <a:cs typeface="Times New Roman" panose="02020603050405020304" pitchFamily="18" charset="0"/>
              </a:rPr>
              <a:t>world‘s </a:t>
            </a:r>
            <a:r>
              <a:rPr sz="3200" spc="-2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ISPs </a:t>
            </a:r>
            <a:r>
              <a:rPr sz="3200" dirty="0">
                <a:latin typeface="Times New Roman" panose="02020603050405020304" pitchFamily="18" charset="0"/>
                <a:cs typeface="Times New Roman" panose="02020603050405020304" pitchFamily="18" charset="0"/>
              </a:rPr>
              <a:t>have</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at</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least</a:t>
            </a:r>
            <a:r>
              <a:rPr sz="3200" spc="-33"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one path</a:t>
            </a:r>
            <a:r>
              <a:rPr sz="3200" spc="-33"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to reach</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all</a:t>
            </a:r>
            <a:r>
              <a:rPr sz="3200" spc="-22"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other</a:t>
            </a:r>
            <a:r>
              <a:rPr sz="3200" spc="-2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ISPs.</a:t>
            </a:r>
            <a:endParaRPr sz="3200" dirty="0">
              <a:latin typeface="Times New Roman" panose="02020603050405020304" pitchFamily="18" charset="0"/>
              <a:cs typeface="Times New Roman" panose="02020603050405020304" pitchFamily="18" charset="0"/>
            </a:endParaRPr>
          </a:p>
        </p:txBody>
      </p:sp>
      <p:sp>
        <p:nvSpPr>
          <p:cNvPr id="8" name="object 2">
            <a:extLst>
              <a:ext uri="{FF2B5EF4-FFF2-40B4-BE49-F238E27FC236}">
                <a16:creationId xmlns:a16="http://schemas.microsoft.com/office/drawing/2014/main" id="{2A237753-A5BF-447C-AE6D-BD7F4765D02F}"/>
              </a:ext>
            </a:extLst>
          </p:cNvPr>
          <p:cNvSpPr txBox="1">
            <a:spLocks/>
          </p:cNvSpPr>
          <p:nvPr/>
        </p:nvSpPr>
        <p:spPr>
          <a:xfrm>
            <a:off x="3618265" y="467755"/>
            <a:ext cx="2632587" cy="691951"/>
          </a:xfrm>
          <a:prstGeom prst="rect">
            <a:avLst/>
          </a:prstGeom>
          <a:noFill/>
          <a:ln w="0">
            <a:noFill/>
          </a:ln>
        </p:spPr>
        <p:txBody>
          <a:bodyPr vert="horz" wrap="square" lIns="0" tIns="14699" rIns="0" bIns="0" rtlCol="0" anchor="ctr">
            <a:spAutoFit/>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mj-cs"/>
              </a:defRPr>
            </a:lvl1pPr>
          </a:lstStyle>
          <a:p>
            <a:pPr marL="13999">
              <a:lnSpc>
                <a:spcPct val="100000"/>
              </a:lnSpc>
              <a:spcBef>
                <a:spcPts val="116"/>
              </a:spcBef>
            </a:pPr>
            <a:r>
              <a:rPr lang="en-US" b="1" dirty="0">
                <a:solidFill>
                  <a:schemeClr val="bg1"/>
                </a:solidFill>
                <a:latin typeface="Times New Roman" panose="02020603050405020304" pitchFamily="18" charset="0"/>
                <a:cs typeface="Times New Roman" panose="02020603050405020304" pitchFamily="18" charset="0"/>
              </a:rPr>
              <a:t>Summary</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18941" y="1536853"/>
            <a:ext cx="9861683" cy="1983906"/>
          </a:xfrm>
          <a:prstGeom prst="rect">
            <a:avLst/>
          </a:prstGeom>
        </p:spPr>
        <p:txBody>
          <a:bodyPr vert="horz" wrap="square" lIns="0" tIns="13999" rIns="0" bIns="0" rtlCol="0">
            <a:spAutoFit/>
          </a:bodyPr>
          <a:lstStyle/>
          <a:p>
            <a:pPr marL="470499" marR="5600" indent="-457200">
              <a:spcBef>
                <a:spcPts val="705"/>
              </a:spcBef>
              <a:buClr>
                <a:srgbClr val="C00000"/>
              </a:buClr>
              <a:buSzPct val="85416"/>
              <a:buFont typeface="Wingdings" panose="05000000000000000000" pitchFamily="2" charset="2"/>
              <a:buChar char="Ø"/>
              <a:tabLst>
                <a:tab pos="398278" algn="l"/>
                <a:tab pos="399677" algn="l"/>
              </a:tabLst>
            </a:pPr>
            <a:r>
              <a:rPr sz="3200" dirty="0">
                <a:latin typeface="Times New Roman" panose="02020603050405020304" pitchFamily="18" charset="0"/>
                <a:cs typeface="Times New Roman" panose="02020603050405020304" pitchFamily="18" charset="0"/>
              </a:rPr>
              <a:t>Inside</a:t>
            </a:r>
            <a:r>
              <a:rPr sz="3200" spc="-17"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each</a:t>
            </a:r>
            <a:r>
              <a:rPr sz="3200" spc="-17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a:t>
            </a:r>
            <a:r>
              <a:rPr sz="3200" spc="-11" dirty="0">
                <a:latin typeface="Times New Roman" panose="02020603050405020304" pitchFamily="18" charset="0"/>
                <a:cs typeface="Times New Roman" panose="02020603050405020304" pitchFamily="18" charset="0"/>
              </a:rPr>
              <a:t>S</a:t>
            </a:r>
            <a:r>
              <a:rPr sz="3200" dirty="0">
                <a:latin typeface="Times New Roman" panose="02020603050405020304" pitchFamily="18" charset="0"/>
                <a:cs typeface="Times New Roman" panose="02020603050405020304" pitchFamily="18" charset="0"/>
              </a:rPr>
              <a:t>,</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enginee</a:t>
            </a:r>
            <a:r>
              <a:rPr sz="3200" spc="6" dirty="0">
                <a:latin typeface="Times New Roman" panose="02020603050405020304" pitchFamily="18" charset="0"/>
                <a:cs typeface="Times New Roman" panose="02020603050405020304" pitchFamily="18" charset="0"/>
              </a:rPr>
              <a:t>r</a:t>
            </a:r>
            <a:r>
              <a:rPr sz="3200" dirty="0">
                <a:latin typeface="Times New Roman" panose="02020603050405020304" pitchFamily="18" charset="0"/>
                <a:cs typeface="Times New Roman" panose="02020603050405020304" pitchFamily="18" charset="0"/>
              </a:rPr>
              <a:t>s</a:t>
            </a:r>
            <a:r>
              <a:rPr sz="3200" spc="-28"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respons</a:t>
            </a:r>
            <a:r>
              <a:rPr sz="3200" spc="6" dirty="0">
                <a:latin typeface="Times New Roman" panose="02020603050405020304" pitchFamily="18" charset="0"/>
                <a:cs typeface="Times New Roman" panose="02020603050405020304" pitchFamily="18" charset="0"/>
              </a:rPr>
              <a:t>i</a:t>
            </a:r>
            <a:r>
              <a:rPr sz="3200" dirty="0">
                <a:latin typeface="Times New Roman" panose="02020603050405020304" pitchFamily="18" charset="0"/>
                <a:cs typeface="Times New Roman" panose="02020603050405020304" pitchFamily="18" charset="0"/>
              </a:rPr>
              <a:t>ble</a:t>
            </a:r>
            <a:r>
              <a:rPr sz="3200" spc="-39"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f</a:t>
            </a:r>
            <a:r>
              <a:rPr sz="3200" dirty="0">
                <a:latin typeface="Times New Roman" panose="02020603050405020304" pitchFamily="18" charset="0"/>
                <a:cs typeface="Times New Roman" panose="02020603050405020304" pitchFamily="18" charset="0"/>
              </a:rPr>
              <a:t>or</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17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 can choose  the</a:t>
            </a:r>
            <a:r>
              <a:rPr sz="3200" spc="-17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a:t>
            </a:r>
            <a:r>
              <a:rPr sz="3200" spc="-11" dirty="0">
                <a:latin typeface="Times New Roman" panose="02020603050405020304" pitchFamily="18" charset="0"/>
                <a:cs typeface="Times New Roman" panose="02020603050405020304" pitchFamily="18" charset="0"/>
              </a:rPr>
              <a:t>S</a:t>
            </a:r>
            <a:r>
              <a:rPr sz="3200" spc="-143" dirty="0">
                <a:latin typeface="Times New Roman" panose="02020603050405020304" pitchFamily="18" charset="0"/>
                <a:cs typeface="Times New Roman" panose="02020603050405020304" pitchFamily="18" charset="0"/>
              </a:rPr>
              <a:t>‘</a:t>
            </a:r>
            <a:r>
              <a:rPr sz="3200" dirty="0">
                <a:latin typeface="Times New Roman" panose="02020603050405020304" pitchFamily="18" charset="0"/>
                <a:cs typeface="Times New Roman" panose="02020603050405020304" pitchFamily="18" charset="0"/>
              </a:rPr>
              <a:t>s</a:t>
            </a:r>
            <a:r>
              <a:rPr sz="3200" spc="11"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se</a:t>
            </a:r>
            <a:r>
              <a:rPr sz="3200" dirty="0">
                <a:latin typeface="Times New Roman" panose="02020603050405020304" pitchFamily="18" charset="0"/>
                <a:cs typeface="Times New Roman" panose="02020603050405020304" pitchFamily="18" charset="0"/>
              </a:rPr>
              <a:t>t</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of</a:t>
            </a:r>
            <a:r>
              <a:rPr sz="3200" spc="-1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ru</a:t>
            </a:r>
            <a:r>
              <a:rPr sz="3200" spc="6" dirty="0">
                <a:latin typeface="Times New Roman" panose="02020603050405020304" pitchFamily="18" charset="0"/>
                <a:cs typeface="Times New Roman" panose="02020603050405020304" pitchFamily="18" charset="0"/>
              </a:rPr>
              <a:t>l</a:t>
            </a:r>
            <a:r>
              <a:rPr sz="3200" dirty="0">
                <a:latin typeface="Times New Roman" panose="02020603050405020304" pitchFamily="18" charset="0"/>
                <a:cs typeface="Times New Roman" panose="02020603050405020304" pitchFamily="18" charset="0"/>
              </a:rPr>
              <a:t>es and</a:t>
            </a:r>
            <a:r>
              <a:rPr sz="3200" spc="-22"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pol</a:t>
            </a:r>
            <a:r>
              <a:rPr sz="3200" spc="6" dirty="0">
                <a:latin typeface="Times New Roman" panose="02020603050405020304" pitchFamily="18" charset="0"/>
                <a:cs typeface="Times New Roman" panose="02020603050405020304" pitchFamily="18" charset="0"/>
              </a:rPr>
              <a:t>i</a:t>
            </a:r>
            <a:r>
              <a:rPr sz="3200" dirty="0">
                <a:latin typeface="Times New Roman" panose="02020603050405020304" pitchFamily="18" charset="0"/>
                <a:cs typeface="Times New Roman" panose="02020603050405020304" pitchFamily="18" charset="0"/>
              </a:rPr>
              <a:t>c</a:t>
            </a:r>
            <a:r>
              <a:rPr sz="3200" spc="6" dirty="0">
                <a:latin typeface="Times New Roman" panose="02020603050405020304" pitchFamily="18" charset="0"/>
                <a:cs typeface="Times New Roman" panose="02020603050405020304" pitchFamily="18" charset="0"/>
              </a:rPr>
              <a:t>i</a:t>
            </a:r>
            <a:r>
              <a:rPr sz="3200" dirty="0">
                <a:latin typeface="Times New Roman" panose="02020603050405020304" pitchFamily="18" charset="0"/>
                <a:cs typeface="Times New Roman" panose="02020603050405020304" pitchFamily="18" charset="0"/>
              </a:rPr>
              <a:t>es,</a:t>
            </a:r>
            <a:r>
              <a:rPr sz="3200" spc="-39"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a:t>
            </a:r>
            <a:r>
              <a:rPr sz="3200" spc="6" dirty="0">
                <a:latin typeface="Times New Roman" panose="02020603050405020304" pitchFamily="18" charset="0"/>
                <a:cs typeface="Times New Roman" panose="02020603050405020304" pitchFamily="18" charset="0"/>
              </a:rPr>
              <a:t>c</a:t>
            </a:r>
            <a:r>
              <a:rPr sz="3200" dirty="0">
                <a:latin typeface="Times New Roman" panose="02020603050405020304" pitchFamily="18" charset="0"/>
                <a:cs typeface="Times New Roman" panose="02020603050405020304" pitchFamily="18" charset="0"/>
              </a:rPr>
              <a:t>lud</a:t>
            </a:r>
            <a:r>
              <a:rPr sz="3200" spc="6" dirty="0">
                <a:latin typeface="Times New Roman" panose="02020603050405020304" pitchFamily="18" charset="0"/>
                <a:cs typeface="Times New Roman" panose="02020603050405020304" pitchFamily="18" charset="0"/>
              </a:rPr>
              <a:t>i</a:t>
            </a:r>
            <a:r>
              <a:rPr sz="3200" dirty="0">
                <a:latin typeface="Times New Roman" panose="02020603050405020304" pitchFamily="18" charset="0"/>
                <a:cs typeface="Times New Roman" panose="02020603050405020304" pitchFamily="18" charset="0"/>
              </a:rPr>
              <a:t>ng</a:t>
            </a:r>
            <a:r>
              <a:rPr sz="3200" spc="-44"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choos</a:t>
            </a:r>
            <a:r>
              <a:rPr sz="3200" spc="6" dirty="0">
                <a:latin typeface="Times New Roman" panose="02020603050405020304" pitchFamily="18" charset="0"/>
                <a:cs typeface="Times New Roman" panose="02020603050405020304" pitchFamily="18" charset="0"/>
              </a:rPr>
              <a:t>i</a:t>
            </a:r>
            <a:r>
              <a:rPr sz="3200" dirty="0">
                <a:latin typeface="Times New Roman" panose="02020603050405020304" pitchFamily="18" charset="0"/>
                <a:cs typeface="Times New Roman" panose="02020603050405020304" pitchFamily="18" charset="0"/>
              </a:rPr>
              <a:t>ng</a:t>
            </a:r>
            <a:r>
              <a:rPr sz="3200" spc="-17"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which  </a:t>
            </a:r>
            <a:r>
              <a:rPr sz="3200" dirty="0">
                <a:latin typeface="Times New Roman" panose="02020603050405020304" pitchFamily="18" charset="0"/>
                <a:cs typeface="Times New Roman" panose="02020603050405020304" pitchFamily="18" charset="0"/>
              </a:rPr>
              <a:t>Interior Gateway Protocol </a:t>
            </a:r>
            <a:r>
              <a:rPr sz="3200" spc="-6" dirty="0">
                <a:latin typeface="Times New Roman" panose="02020603050405020304" pitchFamily="18" charset="0"/>
                <a:cs typeface="Times New Roman" panose="02020603050405020304" pitchFamily="18" charset="0"/>
              </a:rPr>
              <a:t>(IGP) </a:t>
            </a:r>
            <a:r>
              <a:rPr sz="3200" dirty="0">
                <a:latin typeface="Times New Roman" panose="02020603050405020304" pitchFamily="18" charset="0"/>
                <a:cs typeface="Times New Roman" panose="02020603050405020304" pitchFamily="18" charset="0"/>
              </a:rPr>
              <a:t>to use. </a:t>
            </a:r>
            <a:r>
              <a:rPr sz="3200" spc="-6" dirty="0">
                <a:latin typeface="Times New Roman" panose="02020603050405020304" pitchFamily="18" charset="0"/>
                <a:cs typeface="Times New Roman" panose="02020603050405020304" pitchFamily="18" charset="0"/>
              </a:rPr>
              <a:t>BGP is </a:t>
            </a:r>
            <a:r>
              <a:rPr sz="3200" dirty="0">
                <a:latin typeface="Times New Roman" panose="02020603050405020304" pitchFamily="18" charset="0"/>
                <a:cs typeface="Times New Roman" panose="02020603050405020304" pitchFamily="18" charset="0"/>
              </a:rPr>
              <a:t>typically used </a:t>
            </a:r>
            <a:r>
              <a:rPr sz="3200" spc="6"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between</a:t>
            </a:r>
            <a:r>
              <a:rPr sz="3200" spc="-182" dirty="0">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ASNs.</a:t>
            </a:r>
            <a:endParaRPr sz="3200" dirty="0">
              <a:latin typeface="Times New Roman" panose="02020603050405020304" pitchFamily="18" charset="0"/>
              <a:cs typeface="Times New Roman" panose="02020603050405020304" pitchFamily="18" charset="0"/>
            </a:endParaRPr>
          </a:p>
        </p:txBody>
      </p:sp>
      <p:sp>
        <p:nvSpPr>
          <p:cNvPr id="8" name="object 2">
            <a:extLst>
              <a:ext uri="{FF2B5EF4-FFF2-40B4-BE49-F238E27FC236}">
                <a16:creationId xmlns:a16="http://schemas.microsoft.com/office/drawing/2014/main" id="{2A237753-A5BF-447C-AE6D-BD7F4765D02F}"/>
              </a:ext>
            </a:extLst>
          </p:cNvPr>
          <p:cNvSpPr txBox="1">
            <a:spLocks/>
          </p:cNvSpPr>
          <p:nvPr/>
        </p:nvSpPr>
        <p:spPr>
          <a:xfrm>
            <a:off x="3618265" y="467755"/>
            <a:ext cx="2632587" cy="691951"/>
          </a:xfrm>
          <a:prstGeom prst="rect">
            <a:avLst/>
          </a:prstGeom>
          <a:noFill/>
          <a:ln w="0">
            <a:noFill/>
          </a:ln>
        </p:spPr>
        <p:txBody>
          <a:bodyPr vert="horz" wrap="square" lIns="0" tIns="14699" rIns="0" bIns="0" rtlCol="0" anchor="ctr">
            <a:spAutoFit/>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mj-cs"/>
              </a:defRPr>
            </a:lvl1pPr>
          </a:lstStyle>
          <a:p>
            <a:pPr marL="13999">
              <a:lnSpc>
                <a:spcPct val="100000"/>
              </a:lnSpc>
              <a:spcBef>
                <a:spcPts val="116"/>
              </a:spcBef>
            </a:pPr>
            <a:r>
              <a:rPr lang="en-US" b="1" dirty="0">
                <a:solidFill>
                  <a:schemeClr val="bg1"/>
                </a:solidFill>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23126526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8416" y="505730"/>
            <a:ext cx="8105494" cy="691244"/>
          </a:xfrm>
          <a:prstGeom prst="rect">
            <a:avLst/>
          </a:prstGeom>
        </p:spPr>
        <p:txBody>
          <a:bodyPr vert="horz" wrap="square" lIns="0" tIns="13999" rIns="0" bIns="0" rtlCol="0" anchor="ctr">
            <a:spAutoFit/>
          </a:bodyPr>
          <a:lstStyle/>
          <a:p>
            <a:pPr marL="13999">
              <a:lnSpc>
                <a:spcPct val="100000"/>
              </a:lnSpc>
              <a:spcBef>
                <a:spcPts val="110"/>
              </a:spcBef>
            </a:pPr>
            <a:r>
              <a:rPr b="1" spc="204" dirty="0">
                <a:solidFill>
                  <a:schemeClr val="bg1"/>
                </a:solidFill>
                <a:latin typeface="Times New Roman" panose="02020603050405020304" pitchFamily="18" charset="0"/>
                <a:cs typeface="Times New Roman" panose="02020603050405020304" pitchFamily="18" charset="0"/>
              </a:rPr>
              <a:t>Configuring</a:t>
            </a:r>
            <a:r>
              <a:rPr b="1" spc="61" dirty="0">
                <a:solidFill>
                  <a:schemeClr val="bg1"/>
                </a:solidFill>
                <a:latin typeface="Times New Roman" panose="02020603050405020304" pitchFamily="18" charset="0"/>
                <a:cs typeface="Times New Roman" panose="02020603050405020304" pitchFamily="18" charset="0"/>
              </a:rPr>
              <a:t> </a:t>
            </a:r>
            <a:r>
              <a:rPr b="1" spc="204" dirty="0">
                <a:solidFill>
                  <a:schemeClr val="bg1"/>
                </a:solidFill>
                <a:latin typeface="Times New Roman" panose="02020603050405020304" pitchFamily="18" charset="0"/>
                <a:cs typeface="Times New Roman" panose="02020603050405020304" pitchFamily="18" charset="0"/>
              </a:rPr>
              <a:t>Dynamic</a:t>
            </a:r>
            <a:r>
              <a:rPr b="1" spc="77" dirty="0">
                <a:solidFill>
                  <a:schemeClr val="bg1"/>
                </a:solidFill>
                <a:latin typeface="Times New Roman" panose="02020603050405020304" pitchFamily="18" charset="0"/>
                <a:cs typeface="Times New Roman" panose="02020603050405020304" pitchFamily="18" charset="0"/>
              </a:rPr>
              <a:t> </a:t>
            </a:r>
            <a:r>
              <a:rPr b="1" spc="165" dirty="0">
                <a:solidFill>
                  <a:schemeClr val="bg1"/>
                </a:solidFill>
                <a:latin typeface="Times New Roman" panose="02020603050405020304" pitchFamily="18" charset="0"/>
                <a:cs typeface="Times New Roman" panose="02020603050405020304" pitchFamily="18" charset="0"/>
              </a:rPr>
              <a:t>Routing</a:t>
            </a:r>
          </a:p>
        </p:txBody>
      </p:sp>
      <p:pic>
        <p:nvPicPr>
          <p:cNvPr id="3" name="object 3"/>
          <p:cNvPicPr/>
          <p:nvPr/>
        </p:nvPicPr>
        <p:blipFill rotWithShape="1">
          <a:blip r:embed="rId2" cstate="print"/>
          <a:srcRect b="60524"/>
          <a:stretch/>
        </p:blipFill>
        <p:spPr>
          <a:xfrm>
            <a:off x="1043834" y="1724920"/>
            <a:ext cx="7874661" cy="1458955"/>
          </a:xfrm>
          <a:prstGeom prst="rect">
            <a:avLst/>
          </a:prstGeom>
        </p:spPr>
      </p:pic>
      <p:grpSp>
        <p:nvGrpSpPr>
          <p:cNvPr id="4" name="object 4"/>
          <p:cNvGrpSpPr/>
          <p:nvPr/>
        </p:nvGrpSpPr>
        <p:grpSpPr>
          <a:xfrm>
            <a:off x="504507" y="4931012"/>
            <a:ext cx="9061110" cy="2267902"/>
            <a:chOff x="381000" y="4543425"/>
            <a:chExt cx="8220075" cy="2057400"/>
          </a:xfrm>
        </p:grpSpPr>
        <p:pic>
          <p:nvPicPr>
            <p:cNvPr id="6" name="object 6"/>
            <p:cNvPicPr/>
            <p:nvPr/>
          </p:nvPicPr>
          <p:blipFill>
            <a:blip r:embed="rId3" cstate="print"/>
            <a:stretch>
              <a:fillRect/>
            </a:stretch>
          </p:blipFill>
          <p:spPr>
            <a:xfrm>
              <a:off x="1409700" y="4543425"/>
              <a:ext cx="7134225" cy="1143000"/>
            </a:xfrm>
            <a:prstGeom prst="rect">
              <a:avLst/>
            </a:prstGeom>
          </p:spPr>
        </p:pic>
        <p:pic>
          <p:nvPicPr>
            <p:cNvPr id="7" name="object 7"/>
            <p:cNvPicPr/>
            <p:nvPr/>
          </p:nvPicPr>
          <p:blipFill>
            <a:blip r:embed="rId4" cstate="print"/>
            <a:stretch>
              <a:fillRect/>
            </a:stretch>
          </p:blipFill>
          <p:spPr>
            <a:xfrm>
              <a:off x="1219200" y="5638800"/>
              <a:ext cx="7381875" cy="962025"/>
            </a:xfrm>
            <a:prstGeom prst="rect">
              <a:avLst/>
            </a:prstGeom>
          </p:spPr>
        </p:pic>
        <p:sp>
          <p:nvSpPr>
            <p:cNvPr id="8" name="object 8"/>
            <p:cNvSpPr/>
            <p:nvPr/>
          </p:nvSpPr>
          <p:spPr>
            <a:xfrm>
              <a:off x="381000" y="4953000"/>
              <a:ext cx="978535" cy="485140"/>
            </a:xfrm>
            <a:custGeom>
              <a:avLst/>
              <a:gdLst/>
              <a:ahLst/>
              <a:cxnLst/>
              <a:rect l="l" t="t" r="r" b="b"/>
              <a:pathLst>
                <a:path w="978535" h="485139">
                  <a:moveTo>
                    <a:pt x="736091" y="0"/>
                  </a:moveTo>
                  <a:lnTo>
                    <a:pt x="736091" y="121157"/>
                  </a:lnTo>
                  <a:lnTo>
                    <a:pt x="0" y="121157"/>
                  </a:lnTo>
                  <a:lnTo>
                    <a:pt x="0" y="363474"/>
                  </a:lnTo>
                  <a:lnTo>
                    <a:pt x="736091" y="363474"/>
                  </a:lnTo>
                  <a:lnTo>
                    <a:pt x="736091" y="484631"/>
                  </a:lnTo>
                  <a:lnTo>
                    <a:pt x="978408" y="242316"/>
                  </a:lnTo>
                  <a:lnTo>
                    <a:pt x="736091" y="0"/>
                  </a:lnTo>
                  <a:close/>
                </a:path>
              </a:pathLst>
            </a:custGeom>
            <a:solidFill>
              <a:srgbClr val="D24717"/>
            </a:solidFill>
          </p:spPr>
          <p:txBody>
            <a:bodyPr wrap="square" lIns="0" tIns="0" rIns="0" bIns="0" rtlCol="0"/>
            <a:lstStyle/>
            <a:p>
              <a:endParaRPr sz="1984"/>
            </a:p>
          </p:txBody>
        </p:sp>
        <p:sp>
          <p:nvSpPr>
            <p:cNvPr id="9" name="object 9"/>
            <p:cNvSpPr/>
            <p:nvPr/>
          </p:nvSpPr>
          <p:spPr>
            <a:xfrm>
              <a:off x="381000" y="4953000"/>
              <a:ext cx="978535" cy="485140"/>
            </a:xfrm>
            <a:custGeom>
              <a:avLst/>
              <a:gdLst/>
              <a:ahLst/>
              <a:cxnLst/>
              <a:rect l="l" t="t" r="r" b="b"/>
              <a:pathLst>
                <a:path w="978535" h="485139">
                  <a:moveTo>
                    <a:pt x="0" y="121157"/>
                  </a:moveTo>
                  <a:lnTo>
                    <a:pt x="736091" y="121157"/>
                  </a:lnTo>
                  <a:lnTo>
                    <a:pt x="736091" y="0"/>
                  </a:lnTo>
                  <a:lnTo>
                    <a:pt x="978408" y="242316"/>
                  </a:lnTo>
                  <a:lnTo>
                    <a:pt x="736091" y="484631"/>
                  </a:lnTo>
                  <a:lnTo>
                    <a:pt x="736091" y="363474"/>
                  </a:lnTo>
                  <a:lnTo>
                    <a:pt x="0" y="363474"/>
                  </a:lnTo>
                  <a:lnTo>
                    <a:pt x="0" y="121157"/>
                  </a:lnTo>
                  <a:close/>
                </a:path>
              </a:pathLst>
            </a:custGeom>
            <a:ln w="12700">
              <a:solidFill>
                <a:srgbClr val="9B310D"/>
              </a:solidFill>
            </a:ln>
          </p:spPr>
          <p:txBody>
            <a:bodyPr wrap="square" lIns="0" tIns="0" rIns="0" bIns="0" rtlCol="0"/>
            <a:lstStyle/>
            <a:p>
              <a:endParaRPr sz="1984"/>
            </a:p>
          </p:txBody>
        </p:sp>
        <p:sp>
          <p:nvSpPr>
            <p:cNvPr id="10" name="object 10"/>
            <p:cNvSpPr/>
            <p:nvPr/>
          </p:nvSpPr>
          <p:spPr>
            <a:xfrm>
              <a:off x="381000" y="5867400"/>
              <a:ext cx="978535" cy="485140"/>
            </a:xfrm>
            <a:custGeom>
              <a:avLst/>
              <a:gdLst/>
              <a:ahLst/>
              <a:cxnLst/>
              <a:rect l="l" t="t" r="r" b="b"/>
              <a:pathLst>
                <a:path w="978535" h="485139">
                  <a:moveTo>
                    <a:pt x="736091" y="0"/>
                  </a:moveTo>
                  <a:lnTo>
                    <a:pt x="736091" y="121158"/>
                  </a:lnTo>
                  <a:lnTo>
                    <a:pt x="0" y="121158"/>
                  </a:lnTo>
                  <a:lnTo>
                    <a:pt x="0" y="363473"/>
                  </a:lnTo>
                  <a:lnTo>
                    <a:pt x="736091" y="363473"/>
                  </a:lnTo>
                  <a:lnTo>
                    <a:pt x="736091" y="484631"/>
                  </a:lnTo>
                  <a:lnTo>
                    <a:pt x="978408" y="242315"/>
                  </a:lnTo>
                  <a:lnTo>
                    <a:pt x="736091" y="0"/>
                  </a:lnTo>
                  <a:close/>
                </a:path>
              </a:pathLst>
            </a:custGeom>
            <a:solidFill>
              <a:srgbClr val="D24717"/>
            </a:solidFill>
          </p:spPr>
          <p:txBody>
            <a:bodyPr wrap="square" lIns="0" tIns="0" rIns="0" bIns="0" rtlCol="0"/>
            <a:lstStyle/>
            <a:p>
              <a:endParaRPr sz="1984"/>
            </a:p>
          </p:txBody>
        </p:sp>
        <p:sp>
          <p:nvSpPr>
            <p:cNvPr id="11" name="object 11"/>
            <p:cNvSpPr/>
            <p:nvPr/>
          </p:nvSpPr>
          <p:spPr>
            <a:xfrm>
              <a:off x="381000" y="5867400"/>
              <a:ext cx="978535" cy="485140"/>
            </a:xfrm>
            <a:custGeom>
              <a:avLst/>
              <a:gdLst/>
              <a:ahLst/>
              <a:cxnLst/>
              <a:rect l="l" t="t" r="r" b="b"/>
              <a:pathLst>
                <a:path w="978535" h="485139">
                  <a:moveTo>
                    <a:pt x="0" y="121158"/>
                  </a:moveTo>
                  <a:lnTo>
                    <a:pt x="736091" y="121158"/>
                  </a:lnTo>
                  <a:lnTo>
                    <a:pt x="736091" y="0"/>
                  </a:lnTo>
                  <a:lnTo>
                    <a:pt x="978408" y="242315"/>
                  </a:lnTo>
                  <a:lnTo>
                    <a:pt x="736091" y="484631"/>
                  </a:lnTo>
                  <a:lnTo>
                    <a:pt x="736091" y="363473"/>
                  </a:lnTo>
                  <a:lnTo>
                    <a:pt x="0" y="363473"/>
                  </a:lnTo>
                  <a:lnTo>
                    <a:pt x="0" y="121158"/>
                  </a:lnTo>
                  <a:close/>
                </a:path>
              </a:pathLst>
            </a:custGeom>
            <a:ln w="12700">
              <a:solidFill>
                <a:srgbClr val="9B310D"/>
              </a:solidFill>
            </a:ln>
          </p:spPr>
          <p:txBody>
            <a:bodyPr wrap="square" lIns="0" tIns="0" rIns="0" bIns="0" rtlCol="0"/>
            <a:lstStyle/>
            <a:p>
              <a:endParaRPr sz="1984"/>
            </a:p>
          </p:txBody>
        </p:sp>
      </p:grpSp>
      <p:sp>
        <p:nvSpPr>
          <p:cNvPr id="12" name="object 12"/>
          <p:cNvSpPr txBox="1">
            <a:spLocks noGrp="1"/>
          </p:cNvSpPr>
          <p:nvPr>
            <p:ph type="sldNum" sz="quarter" idx="7"/>
          </p:nvPr>
        </p:nvSpPr>
        <p:spPr>
          <a:xfrm>
            <a:off x="230428" y="6329836"/>
            <a:ext cx="290195" cy="22796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Franklin Gothic Medium"/>
                <a:ea typeface="+mn-ea"/>
                <a:cs typeface="Franklin Gothic Medium"/>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4"/>
              </a:lnSpc>
            </a:pPr>
            <a:fld id="{81D60167-4931-47E6-BA6A-407CBD079E47}" type="slidenum">
              <a:rPr lang="en-US" smtClean="0"/>
              <a:pPr marL="38100">
                <a:lnSpc>
                  <a:spcPts val="1664"/>
                </a:lnSpc>
              </a:pPr>
              <a:t>115</a:t>
            </a:fld>
            <a:endParaRPr dirty="0"/>
          </a:p>
        </p:txBody>
      </p:sp>
      <p:pic>
        <p:nvPicPr>
          <p:cNvPr id="13" name="object 3">
            <a:extLst>
              <a:ext uri="{FF2B5EF4-FFF2-40B4-BE49-F238E27FC236}">
                <a16:creationId xmlns:a16="http://schemas.microsoft.com/office/drawing/2014/main" id="{E42B36E8-8A54-4C02-8126-6FF0B32CC219}"/>
              </a:ext>
            </a:extLst>
          </p:cNvPr>
          <p:cNvPicPr/>
          <p:nvPr/>
        </p:nvPicPr>
        <p:blipFill rotWithShape="1">
          <a:blip r:embed="rId2" cstate="print"/>
          <a:srcRect t="54293"/>
          <a:stretch/>
        </p:blipFill>
        <p:spPr>
          <a:xfrm>
            <a:off x="1043833" y="3131161"/>
            <a:ext cx="7874661" cy="1689255"/>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1071" y="457295"/>
            <a:ext cx="5748879"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110"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pic>
        <p:nvPicPr>
          <p:cNvPr id="4" name="object 4"/>
          <p:cNvPicPr/>
          <p:nvPr/>
        </p:nvPicPr>
        <p:blipFill>
          <a:blip r:embed="rId2" cstate="print"/>
          <a:stretch>
            <a:fillRect/>
          </a:stretch>
        </p:blipFill>
        <p:spPr>
          <a:xfrm>
            <a:off x="413791" y="1995325"/>
            <a:ext cx="3790337" cy="5033685"/>
          </a:xfrm>
          <a:prstGeom prst="rect">
            <a:avLst/>
          </a:prstGeom>
        </p:spPr>
      </p:pic>
      <p:sp>
        <p:nvSpPr>
          <p:cNvPr id="5" name="object 5"/>
          <p:cNvSpPr txBox="1"/>
          <p:nvPr/>
        </p:nvSpPr>
        <p:spPr>
          <a:xfrm>
            <a:off x="3322750" y="2435895"/>
            <a:ext cx="6589354" cy="1064191"/>
          </a:xfrm>
          <a:prstGeom prst="rect">
            <a:avLst/>
          </a:prstGeom>
          <a:ln w="12700">
            <a:solidFill>
              <a:srgbClr val="000000"/>
            </a:solidFill>
          </a:ln>
        </p:spPr>
        <p:txBody>
          <a:bodyPr vert="horz" wrap="square" lIns="0" tIns="25199" rIns="0" bIns="0" rtlCol="0">
            <a:spAutoFit/>
          </a:bodyPr>
          <a:lstStyle/>
          <a:p>
            <a:pPr marL="101494">
              <a:spcBef>
                <a:spcPts val="198"/>
              </a:spcBef>
            </a:pPr>
            <a:r>
              <a:rPr sz="2000" spc="-6" dirty="0">
                <a:latin typeface="Courier New"/>
                <a:cs typeface="Courier New"/>
              </a:rPr>
              <a:t>Router(config)#router</a:t>
            </a:r>
            <a:r>
              <a:rPr sz="2000" spc="11" dirty="0">
                <a:latin typeface="Courier New"/>
                <a:cs typeface="Courier New"/>
              </a:rPr>
              <a:t> </a:t>
            </a:r>
            <a:r>
              <a:rPr sz="2000" spc="-6" dirty="0">
                <a:latin typeface="Courier New"/>
                <a:cs typeface="Courier New"/>
              </a:rPr>
              <a:t>rip</a:t>
            </a:r>
            <a:endParaRPr sz="2000" dirty="0">
              <a:latin typeface="Courier New"/>
              <a:cs typeface="Courier New"/>
            </a:endParaRPr>
          </a:p>
          <a:p>
            <a:pPr marL="101494">
              <a:spcBef>
                <a:spcPts val="424"/>
              </a:spcBef>
            </a:pPr>
            <a:r>
              <a:rPr sz="2000" spc="-6" dirty="0">
                <a:latin typeface="Courier New"/>
                <a:cs typeface="Courier New"/>
              </a:rPr>
              <a:t>Router(config-router)#network</a:t>
            </a:r>
            <a:r>
              <a:rPr sz="2000" spc="77" dirty="0">
                <a:latin typeface="Courier New"/>
                <a:cs typeface="Courier New"/>
              </a:rPr>
              <a:t> </a:t>
            </a:r>
            <a:r>
              <a:rPr sz="2000" spc="-11" dirty="0">
                <a:latin typeface="Courier New"/>
                <a:cs typeface="Courier New"/>
              </a:rPr>
              <a:t>172.16.0.0</a:t>
            </a:r>
            <a:endParaRPr sz="2000" dirty="0">
              <a:latin typeface="Courier New"/>
              <a:cs typeface="Courier New"/>
            </a:endParaRPr>
          </a:p>
          <a:p>
            <a:pPr marL="101494">
              <a:spcBef>
                <a:spcPts val="463"/>
              </a:spcBef>
            </a:pPr>
            <a:r>
              <a:rPr sz="2000" spc="-6" dirty="0">
                <a:latin typeface="Courier New"/>
                <a:cs typeface="Courier New"/>
              </a:rPr>
              <a:t>Router(config-router)#network</a:t>
            </a:r>
            <a:r>
              <a:rPr sz="2000" spc="77" dirty="0">
                <a:latin typeface="Courier New"/>
                <a:cs typeface="Courier New"/>
              </a:rPr>
              <a:t> </a:t>
            </a:r>
            <a:r>
              <a:rPr sz="2000" spc="-11" dirty="0">
                <a:latin typeface="Courier New"/>
                <a:cs typeface="Courier New"/>
              </a:rPr>
              <a:t>160.89.0.0</a:t>
            </a:r>
            <a:endParaRPr sz="2000" dirty="0">
              <a:latin typeface="Courier New"/>
              <a:cs typeface="Courier New"/>
            </a:endParaRPr>
          </a:p>
        </p:txBody>
      </p:sp>
      <p:sp>
        <p:nvSpPr>
          <p:cNvPr id="6" name="object 6"/>
          <p:cNvSpPr txBox="1"/>
          <p:nvPr/>
        </p:nvSpPr>
        <p:spPr>
          <a:xfrm>
            <a:off x="4204127" y="3723140"/>
            <a:ext cx="5707975" cy="3033618"/>
          </a:xfrm>
          <a:prstGeom prst="rect">
            <a:avLst/>
          </a:prstGeom>
        </p:spPr>
        <p:txBody>
          <a:bodyPr vert="horz" wrap="square" lIns="0" tIns="14699" rIns="0" bIns="0" rtlCol="0">
            <a:spAutoFit/>
          </a:bodyPr>
          <a:lstStyle/>
          <a:p>
            <a:pPr marL="470499" marR="224687" indent="-457200">
              <a:spcBef>
                <a:spcPts val="116"/>
              </a:spcBef>
              <a:buClr>
                <a:srgbClr val="C00000"/>
              </a:buClr>
              <a:buSzPct val="125000"/>
              <a:buFont typeface="Wingdings" panose="05000000000000000000" pitchFamily="2" charset="2"/>
              <a:buChar char="Ø"/>
              <a:tabLst>
                <a:tab pos="391978" algn="l"/>
                <a:tab pos="392678" algn="l"/>
              </a:tabLst>
            </a:pPr>
            <a:r>
              <a:rPr sz="3200" dirty="0">
                <a:latin typeface="Times New Roman"/>
                <a:cs typeface="Times New Roman"/>
              </a:rPr>
              <a:t>The</a:t>
            </a:r>
            <a:r>
              <a:rPr sz="3200" spc="-33" dirty="0">
                <a:latin typeface="Times New Roman"/>
                <a:cs typeface="Times New Roman"/>
              </a:rPr>
              <a:t> </a:t>
            </a:r>
            <a:r>
              <a:rPr sz="3200" dirty="0">
                <a:latin typeface="Times New Roman"/>
                <a:cs typeface="Times New Roman"/>
              </a:rPr>
              <a:t>network</a:t>
            </a:r>
            <a:r>
              <a:rPr sz="3200" spc="-33" dirty="0">
                <a:latin typeface="Times New Roman"/>
                <a:cs typeface="Times New Roman"/>
              </a:rPr>
              <a:t> </a:t>
            </a:r>
            <a:r>
              <a:rPr sz="3200" spc="-6" dirty="0">
                <a:latin typeface="Times New Roman"/>
                <a:cs typeface="Times New Roman"/>
              </a:rPr>
              <a:t>command </a:t>
            </a:r>
            <a:r>
              <a:rPr sz="3200" dirty="0">
                <a:latin typeface="Times New Roman"/>
                <a:cs typeface="Times New Roman"/>
              </a:rPr>
              <a:t>is</a:t>
            </a:r>
            <a:r>
              <a:rPr sz="3200" spc="-11" dirty="0">
                <a:latin typeface="Times New Roman"/>
                <a:cs typeface="Times New Roman"/>
              </a:rPr>
              <a:t> </a:t>
            </a:r>
            <a:r>
              <a:rPr sz="3200" dirty="0">
                <a:latin typeface="Times New Roman"/>
                <a:cs typeface="Times New Roman"/>
              </a:rPr>
              <a:t>used</a:t>
            </a:r>
            <a:r>
              <a:rPr sz="3200" spc="-39" dirty="0">
                <a:latin typeface="Times New Roman"/>
                <a:cs typeface="Times New Roman"/>
              </a:rPr>
              <a:t> </a:t>
            </a:r>
            <a:r>
              <a:rPr sz="3200" dirty="0">
                <a:latin typeface="Times New Roman"/>
                <a:cs typeface="Times New Roman"/>
              </a:rPr>
              <a:t>on</a:t>
            </a:r>
            <a:r>
              <a:rPr sz="3200" spc="-6" dirty="0">
                <a:latin typeface="Times New Roman"/>
                <a:cs typeface="Times New Roman"/>
              </a:rPr>
              <a:t> </a:t>
            </a:r>
            <a:r>
              <a:rPr sz="3200" dirty="0">
                <a:latin typeface="Times New Roman"/>
                <a:cs typeface="Times New Roman"/>
              </a:rPr>
              <a:t>only </a:t>
            </a:r>
            <a:r>
              <a:rPr sz="3200" spc="-534" dirty="0">
                <a:latin typeface="Times New Roman"/>
                <a:cs typeface="Times New Roman"/>
              </a:rPr>
              <a:t> </a:t>
            </a:r>
            <a:r>
              <a:rPr sz="3200" dirty="0">
                <a:latin typeface="Times New Roman"/>
                <a:cs typeface="Times New Roman"/>
              </a:rPr>
              <a:t>directly</a:t>
            </a:r>
            <a:r>
              <a:rPr sz="3200" spc="-50" dirty="0">
                <a:latin typeface="Times New Roman"/>
                <a:cs typeface="Times New Roman"/>
              </a:rPr>
              <a:t> </a:t>
            </a:r>
            <a:r>
              <a:rPr sz="3200" dirty="0">
                <a:latin typeface="Times New Roman"/>
                <a:cs typeface="Times New Roman"/>
              </a:rPr>
              <a:t>connected</a:t>
            </a:r>
            <a:r>
              <a:rPr sz="3200" spc="-44" dirty="0">
                <a:latin typeface="Times New Roman"/>
                <a:cs typeface="Times New Roman"/>
              </a:rPr>
              <a:t> </a:t>
            </a:r>
            <a:r>
              <a:rPr sz="3200" dirty="0">
                <a:latin typeface="Times New Roman"/>
                <a:cs typeface="Times New Roman"/>
              </a:rPr>
              <a:t>networks.</a:t>
            </a:r>
          </a:p>
          <a:p>
            <a:pPr marL="470499" marR="5600" indent="-457200">
              <a:spcBef>
                <a:spcPts val="524"/>
              </a:spcBef>
              <a:buClr>
                <a:srgbClr val="C00000"/>
              </a:buClr>
              <a:buSzPct val="125000"/>
              <a:buFont typeface="Wingdings" panose="05000000000000000000" pitchFamily="2" charset="2"/>
              <a:buChar char="Ø"/>
              <a:tabLst>
                <a:tab pos="391978" algn="l"/>
                <a:tab pos="392678" algn="l"/>
              </a:tabLst>
            </a:pPr>
            <a:r>
              <a:rPr sz="3200" spc="-22" dirty="0">
                <a:latin typeface="Times New Roman"/>
                <a:cs typeface="Times New Roman"/>
              </a:rPr>
              <a:t>With</a:t>
            </a:r>
            <a:r>
              <a:rPr sz="3200" spc="-50" dirty="0">
                <a:latin typeface="Times New Roman"/>
                <a:cs typeface="Times New Roman"/>
              </a:rPr>
              <a:t> </a:t>
            </a:r>
            <a:r>
              <a:rPr sz="3200" dirty="0">
                <a:latin typeface="Times New Roman"/>
                <a:cs typeface="Times New Roman"/>
              </a:rPr>
              <a:t>RIP</a:t>
            </a:r>
            <a:r>
              <a:rPr sz="3200" spc="-94" dirty="0">
                <a:latin typeface="Times New Roman"/>
                <a:cs typeface="Times New Roman"/>
              </a:rPr>
              <a:t> </a:t>
            </a:r>
            <a:r>
              <a:rPr sz="3200" dirty="0">
                <a:latin typeface="Times New Roman"/>
                <a:cs typeface="Times New Roman"/>
              </a:rPr>
              <a:t>and</a:t>
            </a:r>
            <a:r>
              <a:rPr sz="3200" spc="-22" dirty="0">
                <a:latin typeface="Times New Roman"/>
                <a:cs typeface="Times New Roman"/>
              </a:rPr>
              <a:t> </a:t>
            </a:r>
            <a:r>
              <a:rPr sz="3200" spc="-50" dirty="0">
                <a:latin typeface="Times New Roman"/>
                <a:cs typeface="Times New Roman"/>
              </a:rPr>
              <a:t>IGRP,</a:t>
            </a:r>
            <a:r>
              <a:rPr sz="3200" spc="-6" dirty="0">
                <a:latin typeface="Times New Roman"/>
                <a:cs typeface="Times New Roman"/>
              </a:rPr>
              <a:t> </a:t>
            </a:r>
            <a:r>
              <a:rPr sz="3200" dirty="0">
                <a:latin typeface="Times New Roman"/>
                <a:cs typeface="Times New Roman"/>
              </a:rPr>
              <a:t>only</a:t>
            </a:r>
            <a:r>
              <a:rPr sz="3200" spc="-39" dirty="0">
                <a:latin typeface="Times New Roman"/>
                <a:cs typeface="Times New Roman"/>
              </a:rPr>
              <a:t> </a:t>
            </a:r>
            <a:r>
              <a:rPr sz="3200" dirty="0">
                <a:latin typeface="Times New Roman"/>
                <a:cs typeface="Times New Roman"/>
              </a:rPr>
              <a:t>need</a:t>
            </a:r>
            <a:r>
              <a:rPr sz="3200" spc="-17" dirty="0">
                <a:latin typeface="Times New Roman"/>
                <a:cs typeface="Times New Roman"/>
              </a:rPr>
              <a:t> </a:t>
            </a:r>
            <a:r>
              <a:rPr sz="3200" dirty="0">
                <a:latin typeface="Times New Roman"/>
                <a:cs typeface="Times New Roman"/>
              </a:rPr>
              <a:t>to</a:t>
            </a:r>
            <a:r>
              <a:rPr sz="3200" spc="-17" dirty="0">
                <a:latin typeface="Times New Roman"/>
                <a:cs typeface="Times New Roman"/>
              </a:rPr>
              <a:t> </a:t>
            </a:r>
            <a:r>
              <a:rPr sz="3200" dirty="0">
                <a:latin typeface="Times New Roman"/>
                <a:cs typeface="Times New Roman"/>
              </a:rPr>
              <a:t>use</a:t>
            </a:r>
            <a:r>
              <a:rPr sz="3200" spc="-17" dirty="0">
                <a:latin typeface="Times New Roman"/>
                <a:cs typeface="Times New Roman"/>
              </a:rPr>
              <a:t> </a:t>
            </a:r>
            <a:r>
              <a:rPr sz="3200" dirty="0">
                <a:latin typeface="Times New Roman"/>
                <a:cs typeface="Times New Roman"/>
              </a:rPr>
              <a:t>the </a:t>
            </a:r>
            <a:r>
              <a:rPr sz="3200" spc="-534" dirty="0">
                <a:latin typeface="Times New Roman"/>
                <a:cs typeface="Times New Roman"/>
              </a:rPr>
              <a:t> </a:t>
            </a:r>
            <a:r>
              <a:rPr sz="3200" dirty="0">
                <a:latin typeface="Times New Roman"/>
                <a:cs typeface="Times New Roman"/>
              </a:rPr>
              <a:t>classful</a:t>
            </a:r>
            <a:r>
              <a:rPr sz="3200" spc="-61" dirty="0">
                <a:latin typeface="Times New Roman"/>
                <a:cs typeface="Times New Roman"/>
              </a:rPr>
              <a:t> </a:t>
            </a:r>
            <a:r>
              <a:rPr sz="3200" dirty="0">
                <a:latin typeface="Times New Roman"/>
                <a:cs typeface="Times New Roman"/>
              </a:rPr>
              <a:t>address</a:t>
            </a:r>
            <a:r>
              <a:rPr sz="3200" spc="-33" dirty="0">
                <a:latin typeface="Times New Roman"/>
                <a:cs typeface="Times New Roman"/>
              </a:rPr>
              <a:t> </a:t>
            </a:r>
            <a:r>
              <a:rPr sz="3200" dirty="0">
                <a:latin typeface="Times New Roman"/>
                <a:cs typeface="Times New Roman"/>
              </a:rPr>
              <a:t>(no</a:t>
            </a:r>
            <a:r>
              <a:rPr sz="3200" spc="-39" dirty="0">
                <a:latin typeface="Times New Roman"/>
                <a:cs typeface="Times New Roman"/>
              </a:rPr>
              <a:t> </a:t>
            </a:r>
            <a:r>
              <a:rPr sz="3200" dirty="0">
                <a:latin typeface="Times New Roman"/>
                <a:cs typeface="Times New Roman"/>
              </a:rPr>
              <a:t>subnets).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3944" y="498194"/>
            <a:ext cx="6750638"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110"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Protocols</a:t>
            </a:r>
          </a:p>
        </p:txBody>
      </p:sp>
      <p:sp>
        <p:nvSpPr>
          <p:cNvPr id="3" name="object 3"/>
          <p:cNvSpPr txBox="1"/>
          <p:nvPr/>
        </p:nvSpPr>
        <p:spPr>
          <a:xfrm>
            <a:off x="25755" y="5037450"/>
            <a:ext cx="10084157" cy="2168572"/>
          </a:xfrm>
          <a:prstGeom prst="rect">
            <a:avLst/>
          </a:prstGeom>
        </p:spPr>
        <p:txBody>
          <a:bodyPr vert="horz" wrap="square" lIns="0" tIns="13999" rIns="0" bIns="0" rtlCol="0">
            <a:spAutoFit/>
          </a:bodyPr>
          <a:lstStyle/>
          <a:p>
            <a:pPr marL="470499" indent="-457200">
              <a:spcBef>
                <a:spcPts val="110"/>
              </a:spcBef>
              <a:buClr>
                <a:srgbClr val="C00000"/>
              </a:buClr>
              <a:buSzPct val="125000"/>
              <a:buFont typeface="Wingdings" panose="05000000000000000000" pitchFamily="2" charset="2"/>
              <a:buChar char="Ø"/>
              <a:tabLst>
                <a:tab pos="391978" algn="l"/>
                <a:tab pos="392678" algn="l"/>
              </a:tabLst>
            </a:pPr>
            <a:r>
              <a:rPr sz="2800" spc="-6" dirty="0">
                <a:latin typeface="Times New Roman"/>
                <a:cs typeface="Times New Roman"/>
              </a:rPr>
              <a:t>RIP</a:t>
            </a:r>
            <a:r>
              <a:rPr sz="2800" spc="-105" dirty="0">
                <a:latin typeface="Times New Roman"/>
                <a:cs typeface="Times New Roman"/>
              </a:rPr>
              <a:t> </a:t>
            </a:r>
            <a:r>
              <a:rPr sz="2800" dirty="0">
                <a:latin typeface="Times New Roman"/>
                <a:cs typeface="Times New Roman"/>
              </a:rPr>
              <a:t>–</a:t>
            </a:r>
            <a:r>
              <a:rPr sz="2800" spc="-121" dirty="0">
                <a:latin typeface="Times New Roman"/>
                <a:cs typeface="Times New Roman"/>
              </a:rPr>
              <a:t> </a:t>
            </a:r>
            <a:r>
              <a:rPr sz="2800" spc="-6" dirty="0">
                <a:latin typeface="Times New Roman"/>
                <a:cs typeface="Times New Roman"/>
              </a:rPr>
              <a:t>A</a:t>
            </a:r>
            <a:r>
              <a:rPr sz="2800" spc="-116" dirty="0">
                <a:latin typeface="Times New Roman"/>
                <a:cs typeface="Times New Roman"/>
              </a:rPr>
              <a:t> </a:t>
            </a:r>
            <a:r>
              <a:rPr sz="2800" dirty="0">
                <a:latin typeface="Times New Roman"/>
                <a:cs typeface="Times New Roman"/>
              </a:rPr>
              <a:t>distance</a:t>
            </a:r>
            <a:r>
              <a:rPr sz="2800" spc="-22" dirty="0">
                <a:latin typeface="Times New Roman"/>
                <a:cs typeface="Times New Roman"/>
              </a:rPr>
              <a:t> </a:t>
            </a:r>
            <a:r>
              <a:rPr sz="2800" dirty="0">
                <a:latin typeface="Times New Roman"/>
                <a:cs typeface="Times New Roman"/>
              </a:rPr>
              <a:t>vector</a:t>
            </a:r>
            <a:r>
              <a:rPr sz="2800" spc="-11" dirty="0">
                <a:latin typeface="Times New Roman"/>
                <a:cs typeface="Times New Roman"/>
              </a:rPr>
              <a:t> </a:t>
            </a:r>
            <a:r>
              <a:rPr sz="2800" dirty="0">
                <a:latin typeface="Times New Roman"/>
                <a:cs typeface="Times New Roman"/>
              </a:rPr>
              <a:t>interior</a:t>
            </a:r>
            <a:r>
              <a:rPr sz="2800" spc="-28" dirty="0">
                <a:latin typeface="Times New Roman"/>
                <a:cs typeface="Times New Roman"/>
              </a:rPr>
              <a:t> </a:t>
            </a:r>
            <a:r>
              <a:rPr sz="2800" dirty="0">
                <a:latin typeface="Times New Roman"/>
                <a:cs typeface="Times New Roman"/>
              </a:rPr>
              <a:t>routing</a:t>
            </a:r>
            <a:r>
              <a:rPr sz="2800" spc="-22" dirty="0">
                <a:latin typeface="Times New Roman"/>
                <a:cs typeface="Times New Roman"/>
              </a:rPr>
              <a:t> </a:t>
            </a:r>
            <a:r>
              <a:rPr sz="2800" dirty="0">
                <a:latin typeface="Times New Roman"/>
                <a:cs typeface="Times New Roman"/>
              </a:rPr>
              <a:t>protocol</a:t>
            </a:r>
          </a:p>
          <a:p>
            <a:pPr marL="470499" indent="-457200">
              <a:buClr>
                <a:srgbClr val="C00000"/>
              </a:buClr>
              <a:buSzPct val="125000"/>
              <a:buFont typeface="Wingdings" panose="05000000000000000000" pitchFamily="2" charset="2"/>
              <a:buChar char="Ø"/>
              <a:tabLst>
                <a:tab pos="391978" algn="l"/>
                <a:tab pos="392678" algn="l"/>
              </a:tabLst>
            </a:pPr>
            <a:r>
              <a:rPr sz="2800" spc="-6" dirty="0">
                <a:latin typeface="Times New Roman"/>
                <a:cs typeface="Times New Roman"/>
              </a:rPr>
              <a:t>IGRP</a:t>
            </a:r>
            <a:r>
              <a:rPr sz="2800" spc="-88" dirty="0">
                <a:latin typeface="Times New Roman"/>
                <a:cs typeface="Times New Roman"/>
              </a:rPr>
              <a:t> </a:t>
            </a:r>
            <a:r>
              <a:rPr sz="2800" dirty="0">
                <a:latin typeface="Times New Roman"/>
                <a:cs typeface="Times New Roman"/>
              </a:rPr>
              <a:t>–</a:t>
            </a:r>
            <a:r>
              <a:rPr sz="2800" spc="-17" dirty="0">
                <a:latin typeface="Times New Roman"/>
                <a:cs typeface="Times New Roman"/>
              </a:rPr>
              <a:t> </a:t>
            </a:r>
            <a:r>
              <a:rPr sz="2800" dirty="0">
                <a:latin typeface="Times New Roman"/>
                <a:cs typeface="Times New Roman"/>
              </a:rPr>
              <a:t>Cisco's</a:t>
            </a:r>
            <a:r>
              <a:rPr sz="2800" spc="-22" dirty="0">
                <a:latin typeface="Times New Roman"/>
                <a:cs typeface="Times New Roman"/>
              </a:rPr>
              <a:t> </a:t>
            </a:r>
            <a:r>
              <a:rPr sz="2800" dirty="0">
                <a:latin typeface="Times New Roman"/>
                <a:cs typeface="Times New Roman"/>
              </a:rPr>
              <a:t>distance</a:t>
            </a:r>
            <a:r>
              <a:rPr sz="2800" spc="-22" dirty="0">
                <a:latin typeface="Times New Roman"/>
                <a:cs typeface="Times New Roman"/>
              </a:rPr>
              <a:t> </a:t>
            </a:r>
            <a:r>
              <a:rPr sz="2800" dirty="0">
                <a:latin typeface="Times New Roman"/>
                <a:cs typeface="Times New Roman"/>
              </a:rPr>
              <a:t>vector</a:t>
            </a:r>
            <a:r>
              <a:rPr sz="2800" spc="-22" dirty="0">
                <a:latin typeface="Times New Roman"/>
                <a:cs typeface="Times New Roman"/>
              </a:rPr>
              <a:t> </a:t>
            </a:r>
            <a:r>
              <a:rPr sz="2800" dirty="0">
                <a:latin typeface="Times New Roman"/>
                <a:cs typeface="Times New Roman"/>
              </a:rPr>
              <a:t>interior</a:t>
            </a:r>
            <a:r>
              <a:rPr sz="2800" spc="-17" dirty="0">
                <a:latin typeface="Times New Roman"/>
                <a:cs typeface="Times New Roman"/>
              </a:rPr>
              <a:t> </a:t>
            </a:r>
            <a:r>
              <a:rPr sz="2800" dirty="0">
                <a:latin typeface="Times New Roman"/>
                <a:cs typeface="Times New Roman"/>
              </a:rPr>
              <a:t>routing</a:t>
            </a:r>
            <a:r>
              <a:rPr sz="2800" spc="-28" dirty="0">
                <a:latin typeface="Times New Roman"/>
                <a:cs typeface="Times New Roman"/>
              </a:rPr>
              <a:t> </a:t>
            </a:r>
            <a:r>
              <a:rPr sz="2800" dirty="0">
                <a:latin typeface="Times New Roman"/>
                <a:cs typeface="Times New Roman"/>
              </a:rPr>
              <a:t>protocol</a:t>
            </a:r>
          </a:p>
          <a:p>
            <a:pPr marL="470499" indent="-457200">
              <a:buClr>
                <a:srgbClr val="C00000"/>
              </a:buClr>
              <a:buSzPct val="125000"/>
              <a:buFont typeface="Wingdings" panose="05000000000000000000" pitchFamily="2" charset="2"/>
              <a:buChar char="Ø"/>
              <a:tabLst>
                <a:tab pos="391978" algn="l"/>
                <a:tab pos="392678" algn="l"/>
              </a:tabLst>
            </a:pPr>
            <a:r>
              <a:rPr sz="2800" spc="-11" dirty="0">
                <a:latin typeface="Times New Roman"/>
                <a:cs typeface="Times New Roman"/>
              </a:rPr>
              <a:t>OSPF </a:t>
            </a:r>
            <a:r>
              <a:rPr sz="2800" dirty="0">
                <a:latin typeface="Times New Roman"/>
                <a:cs typeface="Times New Roman"/>
              </a:rPr>
              <a:t>–</a:t>
            </a:r>
            <a:r>
              <a:rPr sz="2800" spc="-121" dirty="0">
                <a:latin typeface="Times New Roman"/>
                <a:cs typeface="Times New Roman"/>
              </a:rPr>
              <a:t> </a:t>
            </a:r>
            <a:r>
              <a:rPr sz="2800" dirty="0">
                <a:latin typeface="Times New Roman"/>
                <a:cs typeface="Times New Roman"/>
              </a:rPr>
              <a:t>A</a:t>
            </a:r>
            <a:r>
              <a:rPr sz="2800" spc="-116" dirty="0">
                <a:latin typeface="Times New Roman"/>
                <a:cs typeface="Times New Roman"/>
              </a:rPr>
              <a:t> </a:t>
            </a:r>
            <a:r>
              <a:rPr sz="2800" dirty="0">
                <a:latin typeface="Times New Roman"/>
                <a:cs typeface="Times New Roman"/>
              </a:rPr>
              <a:t>link-state</a:t>
            </a:r>
            <a:r>
              <a:rPr sz="2800" spc="-33" dirty="0">
                <a:latin typeface="Times New Roman"/>
                <a:cs typeface="Times New Roman"/>
              </a:rPr>
              <a:t> </a:t>
            </a:r>
            <a:r>
              <a:rPr sz="2800" dirty="0">
                <a:latin typeface="Times New Roman"/>
                <a:cs typeface="Times New Roman"/>
              </a:rPr>
              <a:t>interior </a:t>
            </a:r>
            <a:r>
              <a:rPr sz="2800" spc="-6" dirty="0">
                <a:latin typeface="Times New Roman"/>
                <a:cs typeface="Times New Roman"/>
              </a:rPr>
              <a:t>routing</a:t>
            </a:r>
            <a:r>
              <a:rPr sz="2800" spc="-28" dirty="0">
                <a:latin typeface="Times New Roman"/>
                <a:cs typeface="Times New Roman"/>
              </a:rPr>
              <a:t> </a:t>
            </a:r>
            <a:r>
              <a:rPr sz="2800" dirty="0">
                <a:latin typeface="Times New Roman"/>
                <a:cs typeface="Times New Roman"/>
              </a:rPr>
              <a:t>protocol</a:t>
            </a:r>
          </a:p>
          <a:p>
            <a:pPr marL="470499" indent="-457200">
              <a:buClr>
                <a:srgbClr val="C00000"/>
              </a:buClr>
              <a:buSzPct val="125000"/>
              <a:buFont typeface="Wingdings" panose="05000000000000000000" pitchFamily="2" charset="2"/>
              <a:buChar char="Ø"/>
              <a:tabLst>
                <a:tab pos="391978" algn="l"/>
                <a:tab pos="392678" algn="l"/>
              </a:tabLst>
            </a:pPr>
            <a:r>
              <a:rPr sz="2800" spc="-6" dirty="0">
                <a:latin typeface="Times New Roman"/>
                <a:cs typeface="Times New Roman"/>
              </a:rPr>
              <a:t>EIGRP</a:t>
            </a:r>
            <a:r>
              <a:rPr sz="2800" spc="-99" dirty="0">
                <a:latin typeface="Times New Roman"/>
                <a:cs typeface="Times New Roman"/>
              </a:rPr>
              <a:t> </a:t>
            </a:r>
            <a:r>
              <a:rPr sz="2800" dirty="0">
                <a:latin typeface="Times New Roman"/>
                <a:cs typeface="Times New Roman"/>
              </a:rPr>
              <a:t>– </a:t>
            </a:r>
            <a:r>
              <a:rPr sz="2800" spc="-17" dirty="0">
                <a:latin typeface="Times New Roman"/>
                <a:cs typeface="Times New Roman"/>
              </a:rPr>
              <a:t>Cisco‘s</a:t>
            </a:r>
            <a:r>
              <a:rPr sz="2800" spc="-22" dirty="0">
                <a:latin typeface="Times New Roman"/>
                <a:cs typeface="Times New Roman"/>
              </a:rPr>
              <a:t> </a:t>
            </a:r>
            <a:r>
              <a:rPr sz="2800" dirty="0">
                <a:latin typeface="Times New Roman"/>
                <a:cs typeface="Times New Roman"/>
              </a:rPr>
              <a:t>advanced</a:t>
            </a:r>
            <a:r>
              <a:rPr sz="2800" spc="-22" dirty="0">
                <a:latin typeface="Times New Roman"/>
                <a:cs typeface="Times New Roman"/>
              </a:rPr>
              <a:t> </a:t>
            </a:r>
            <a:r>
              <a:rPr sz="2800" dirty="0">
                <a:latin typeface="Times New Roman"/>
                <a:cs typeface="Times New Roman"/>
              </a:rPr>
              <a:t>distance</a:t>
            </a:r>
            <a:r>
              <a:rPr sz="2800" spc="-22" dirty="0">
                <a:latin typeface="Times New Roman"/>
                <a:cs typeface="Times New Roman"/>
              </a:rPr>
              <a:t> </a:t>
            </a:r>
            <a:r>
              <a:rPr sz="2800" dirty="0">
                <a:latin typeface="Times New Roman"/>
                <a:cs typeface="Times New Roman"/>
              </a:rPr>
              <a:t>vector</a:t>
            </a:r>
            <a:r>
              <a:rPr sz="2800" spc="-6" dirty="0">
                <a:latin typeface="Times New Roman"/>
                <a:cs typeface="Times New Roman"/>
              </a:rPr>
              <a:t> </a:t>
            </a:r>
            <a:r>
              <a:rPr sz="2800" dirty="0">
                <a:latin typeface="Times New Roman"/>
                <a:cs typeface="Times New Roman"/>
              </a:rPr>
              <a:t>interior</a:t>
            </a:r>
            <a:r>
              <a:rPr sz="2800" spc="-28" dirty="0">
                <a:latin typeface="Times New Roman"/>
                <a:cs typeface="Times New Roman"/>
              </a:rPr>
              <a:t> </a:t>
            </a:r>
            <a:r>
              <a:rPr sz="2800" dirty="0">
                <a:latin typeface="Times New Roman"/>
                <a:cs typeface="Times New Roman"/>
              </a:rPr>
              <a:t>routing</a:t>
            </a:r>
            <a:r>
              <a:rPr sz="2800" spc="-11" dirty="0">
                <a:latin typeface="Times New Roman"/>
                <a:cs typeface="Times New Roman"/>
              </a:rPr>
              <a:t> </a:t>
            </a:r>
            <a:r>
              <a:rPr sz="2800" dirty="0">
                <a:latin typeface="Times New Roman"/>
                <a:cs typeface="Times New Roman"/>
              </a:rPr>
              <a:t>protocol</a:t>
            </a:r>
          </a:p>
          <a:p>
            <a:pPr marL="470499" indent="-457200">
              <a:buClr>
                <a:srgbClr val="C00000"/>
              </a:buClr>
              <a:buSzPct val="125000"/>
              <a:buFont typeface="Wingdings" panose="05000000000000000000" pitchFamily="2" charset="2"/>
              <a:buChar char="Ø"/>
              <a:tabLst>
                <a:tab pos="391978" algn="l"/>
                <a:tab pos="392678" algn="l"/>
              </a:tabLst>
            </a:pPr>
            <a:r>
              <a:rPr sz="2800" spc="-6" dirty="0">
                <a:latin typeface="Times New Roman"/>
                <a:cs typeface="Times New Roman"/>
              </a:rPr>
              <a:t>BGP</a:t>
            </a:r>
            <a:r>
              <a:rPr sz="2800" spc="-88" dirty="0">
                <a:latin typeface="Times New Roman"/>
                <a:cs typeface="Times New Roman"/>
              </a:rPr>
              <a:t> </a:t>
            </a:r>
            <a:r>
              <a:rPr sz="2800" dirty="0">
                <a:latin typeface="Times New Roman"/>
                <a:cs typeface="Times New Roman"/>
              </a:rPr>
              <a:t>–</a:t>
            </a:r>
            <a:r>
              <a:rPr sz="2800" spc="-116" dirty="0">
                <a:latin typeface="Times New Roman"/>
                <a:cs typeface="Times New Roman"/>
              </a:rPr>
              <a:t> </a:t>
            </a:r>
            <a:r>
              <a:rPr sz="2800" spc="-6" dirty="0">
                <a:latin typeface="Times New Roman"/>
                <a:cs typeface="Times New Roman"/>
              </a:rPr>
              <a:t>A</a:t>
            </a:r>
            <a:r>
              <a:rPr sz="2800" spc="-116" dirty="0">
                <a:latin typeface="Times New Roman"/>
                <a:cs typeface="Times New Roman"/>
              </a:rPr>
              <a:t> </a:t>
            </a:r>
            <a:r>
              <a:rPr sz="2800" dirty="0">
                <a:latin typeface="Times New Roman"/>
                <a:cs typeface="Times New Roman"/>
              </a:rPr>
              <a:t>dist</a:t>
            </a:r>
            <a:r>
              <a:rPr sz="2800" spc="6" dirty="0">
                <a:latin typeface="Times New Roman"/>
                <a:cs typeface="Times New Roman"/>
              </a:rPr>
              <a:t>a</a:t>
            </a:r>
            <a:r>
              <a:rPr sz="2800" dirty="0">
                <a:latin typeface="Times New Roman"/>
                <a:cs typeface="Times New Roman"/>
              </a:rPr>
              <a:t>nce ve</a:t>
            </a:r>
            <a:r>
              <a:rPr sz="2800" spc="6" dirty="0">
                <a:latin typeface="Times New Roman"/>
                <a:cs typeface="Times New Roman"/>
              </a:rPr>
              <a:t>c</a:t>
            </a:r>
            <a:r>
              <a:rPr sz="2800" dirty="0">
                <a:latin typeface="Times New Roman"/>
                <a:cs typeface="Times New Roman"/>
              </a:rPr>
              <a:t>tor</a:t>
            </a:r>
            <a:r>
              <a:rPr sz="2800" spc="-17" dirty="0">
                <a:latin typeface="Times New Roman"/>
                <a:cs typeface="Times New Roman"/>
              </a:rPr>
              <a:t> </a:t>
            </a:r>
            <a:r>
              <a:rPr sz="2800" dirty="0">
                <a:latin typeface="Times New Roman"/>
                <a:cs typeface="Times New Roman"/>
              </a:rPr>
              <a:t>ex</a:t>
            </a:r>
            <a:r>
              <a:rPr sz="2800" spc="6" dirty="0">
                <a:latin typeface="Times New Roman"/>
                <a:cs typeface="Times New Roman"/>
              </a:rPr>
              <a:t>t</a:t>
            </a:r>
            <a:r>
              <a:rPr sz="2800" dirty="0">
                <a:latin typeface="Times New Roman"/>
                <a:cs typeface="Times New Roman"/>
              </a:rPr>
              <a:t>er</a:t>
            </a:r>
            <a:r>
              <a:rPr sz="2800" spc="6" dirty="0">
                <a:latin typeface="Times New Roman"/>
                <a:cs typeface="Times New Roman"/>
              </a:rPr>
              <a:t>i</a:t>
            </a:r>
            <a:r>
              <a:rPr sz="2800" dirty="0">
                <a:latin typeface="Times New Roman"/>
                <a:cs typeface="Times New Roman"/>
              </a:rPr>
              <a:t>or</a:t>
            </a:r>
            <a:r>
              <a:rPr sz="2800" spc="-22" dirty="0">
                <a:latin typeface="Times New Roman"/>
                <a:cs typeface="Times New Roman"/>
              </a:rPr>
              <a:t> </a:t>
            </a:r>
            <a:r>
              <a:rPr sz="2800" dirty="0">
                <a:latin typeface="Times New Roman"/>
                <a:cs typeface="Times New Roman"/>
              </a:rPr>
              <a:t>rout</a:t>
            </a:r>
            <a:r>
              <a:rPr sz="2800" spc="6" dirty="0">
                <a:latin typeface="Times New Roman"/>
                <a:cs typeface="Times New Roman"/>
              </a:rPr>
              <a:t>i</a:t>
            </a:r>
            <a:r>
              <a:rPr sz="2800" dirty="0">
                <a:latin typeface="Times New Roman"/>
                <a:cs typeface="Times New Roman"/>
              </a:rPr>
              <a:t>ng</a:t>
            </a:r>
            <a:r>
              <a:rPr sz="2800" spc="-11" dirty="0">
                <a:latin typeface="Times New Roman"/>
                <a:cs typeface="Times New Roman"/>
              </a:rPr>
              <a:t> </a:t>
            </a:r>
            <a:r>
              <a:rPr sz="2800" dirty="0">
                <a:latin typeface="Times New Roman"/>
                <a:cs typeface="Times New Roman"/>
              </a:rPr>
              <a:t>proto</a:t>
            </a:r>
            <a:r>
              <a:rPr sz="2800" spc="6" dirty="0">
                <a:latin typeface="Times New Roman"/>
                <a:cs typeface="Times New Roman"/>
              </a:rPr>
              <a:t>c</a:t>
            </a:r>
            <a:r>
              <a:rPr sz="2800" dirty="0">
                <a:latin typeface="Times New Roman"/>
                <a:cs typeface="Times New Roman"/>
              </a:rPr>
              <a:t>ol</a:t>
            </a:r>
          </a:p>
        </p:txBody>
      </p:sp>
      <p:pic>
        <p:nvPicPr>
          <p:cNvPr id="5" name="object 5"/>
          <p:cNvPicPr/>
          <p:nvPr/>
        </p:nvPicPr>
        <p:blipFill>
          <a:blip r:embed="rId2" cstate="print"/>
          <a:stretch>
            <a:fillRect/>
          </a:stretch>
        </p:blipFill>
        <p:spPr>
          <a:xfrm>
            <a:off x="1482947" y="1614813"/>
            <a:ext cx="6875441" cy="3395069"/>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4710" y="485299"/>
            <a:ext cx="5401302" cy="691948"/>
          </a:xfrm>
          <a:prstGeom prst="rect">
            <a:avLst/>
          </a:prstGeom>
        </p:spPr>
        <p:txBody>
          <a:bodyPr vert="horz" wrap="square" lIns="0" tIns="13299" rIns="0" bIns="0" rtlCol="0" anchor="ctr">
            <a:spAutoFit/>
          </a:bodyPr>
          <a:lstStyle/>
          <a:p>
            <a:pPr marL="13999">
              <a:lnSpc>
                <a:spcPct val="100000"/>
              </a:lnSpc>
              <a:spcBef>
                <a:spcPts val="105"/>
              </a:spcBef>
            </a:pPr>
            <a:r>
              <a:rPr sz="4409" b="1" spc="-6" dirty="0">
                <a:solidFill>
                  <a:schemeClr val="bg1"/>
                </a:solidFill>
                <a:latin typeface="Times New Roman" panose="02020603050405020304" pitchFamily="18" charset="0"/>
                <a:cs typeface="Times New Roman" panose="02020603050405020304" pitchFamily="18" charset="0"/>
              </a:rPr>
              <a:t>Routing</a:t>
            </a:r>
            <a:r>
              <a:rPr sz="4409" b="1" spc="-77" dirty="0">
                <a:solidFill>
                  <a:schemeClr val="bg1"/>
                </a:solidFill>
                <a:latin typeface="Times New Roman" panose="02020603050405020304" pitchFamily="18" charset="0"/>
                <a:cs typeface="Times New Roman" panose="02020603050405020304" pitchFamily="18" charset="0"/>
              </a:rPr>
              <a:t> </a:t>
            </a:r>
            <a:r>
              <a:rPr sz="4409" b="1" spc="-11" dirty="0">
                <a:solidFill>
                  <a:schemeClr val="bg1"/>
                </a:solidFill>
                <a:latin typeface="Times New Roman" panose="02020603050405020304" pitchFamily="18" charset="0"/>
                <a:cs typeface="Times New Roman" panose="02020603050405020304" pitchFamily="18" charset="0"/>
              </a:rPr>
              <a:t>Protocol</a:t>
            </a:r>
            <a:endParaRPr sz="4409" b="1" dirty="0">
              <a:solidFill>
                <a:schemeClr val="bg1"/>
              </a:solidFill>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103031" y="1729810"/>
            <a:ext cx="9977594" cy="525054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4862" y="397735"/>
            <a:ext cx="5119498"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Routing</a:t>
            </a:r>
            <a:r>
              <a:rPr b="1" spc="-77"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a:t>
            </a:r>
          </a:p>
        </p:txBody>
      </p:sp>
      <p:sp>
        <p:nvSpPr>
          <p:cNvPr id="3" name="object 3"/>
          <p:cNvSpPr txBox="1"/>
          <p:nvPr/>
        </p:nvSpPr>
        <p:spPr>
          <a:xfrm>
            <a:off x="321972" y="1652608"/>
            <a:ext cx="9620517" cy="5308355"/>
          </a:xfrm>
          <a:prstGeom prst="rect">
            <a:avLst/>
          </a:prstGeom>
        </p:spPr>
        <p:txBody>
          <a:bodyPr vert="horz" wrap="square" lIns="0" tIns="80497" rIns="0" bIns="0" rtlCol="0">
            <a:spAutoFit/>
          </a:bodyPr>
          <a:lstStyle/>
          <a:p>
            <a:pPr marL="471199" indent="-457200">
              <a:spcBef>
                <a:spcPts val="634"/>
              </a:spcBef>
              <a:buClr>
                <a:srgbClr val="C00000"/>
              </a:buClr>
              <a:buSzPct val="83928"/>
              <a:buFont typeface="Wingdings" panose="05000000000000000000" pitchFamily="2" charset="2"/>
              <a:buChar char="Ø"/>
              <a:tabLst>
                <a:tab pos="316382" algn="l"/>
              </a:tabLst>
            </a:pPr>
            <a:r>
              <a:rPr sz="2800" b="1" dirty="0">
                <a:solidFill>
                  <a:srgbClr val="FF0000"/>
                </a:solidFill>
                <a:latin typeface="Times New Roman"/>
                <a:cs typeface="Times New Roman"/>
              </a:rPr>
              <a:t>Routing</a:t>
            </a:r>
            <a:r>
              <a:rPr sz="2800" b="1" spc="-28" dirty="0">
                <a:solidFill>
                  <a:srgbClr val="FF0000"/>
                </a:solidFill>
                <a:latin typeface="Times New Roman"/>
                <a:cs typeface="Times New Roman"/>
              </a:rPr>
              <a:t> </a:t>
            </a:r>
            <a:r>
              <a:rPr sz="2800" b="1" dirty="0">
                <a:solidFill>
                  <a:srgbClr val="FF0000"/>
                </a:solidFill>
                <a:latin typeface="Times New Roman"/>
                <a:cs typeface="Times New Roman"/>
              </a:rPr>
              <a:t>Information</a:t>
            </a:r>
            <a:r>
              <a:rPr sz="2800" b="1" spc="-22" dirty="0">
                <a:solidFill>
                  <a:srgbClr val="FF0000"/>
                </a:solidFill>
                <a:latin typeface="Times New Roman"/>
                <a:cs typeface="Times New Roman"/>
              </a:rPr>
              <a:t> </a:t>
            </a:r>
            <a:r>
              <a:rPr sz="2800" b="1" spc="-11" dirty="0">
                <a:solidFill>
                  <a:srgbClr val="FF0000"/>
                </a:solidFill>
                <a:latin typeface="Times New Roman"/>
                <a:cs typeface="Times New Roman"/>
              </a:rPr>
              <a:t>Protocol</a:t>
            </a:r>
            <a:r>
              <a:rPr sz="2800" b="1" spc="-33" dirty="0">
                <a:solidFill>
                  <a:srgbClr val="FF0000"/>
                </a:solidFill>
                <a:latin typeface="Times New Roman"/>
                <a:cs typeface="Times New Roman"/>
              </a:rPr>
              <a:t> </a:t>
            </a:r>
            <a:r>
              <a:rPr sz="2800" b="1" spc="-6" dirty="0">
                <a:solidFill>
                  <a:srgbClr val="FF0000"/>
                </a:solidFill>
                <a:latin typeface="Times New Roman"/>
                <a:cs typeface="Times New Roman"/>
              </a:rPr>
              <a:t>(RIP)</a:t>
            </a:r>
            <a:endParaRPr sz="2800" dirty="0">
              <a:solidFill>
                <a:srgbClr val="FF0000"/>
              </a:solidFill>
              <a:latin typeface="Times New Roman"/>
              <a:cs typeface="Times New Roman"/>
            </a:endParaRPr>
          </a:p>
          <a:p>
            <a:pPr marL="618765" lvl="1" indent="-253386">
              <a:spcBef>
                <a:spcPts val="451"/>
              </a:spcBef>
              <a:buClr>
                <a:srgbClr val="9B2C1F"/>
              </a:buClr>
              <a:buSzPct val="85416"/>
              <a:buFont typeface="Wingdings"/>
              <a:buChar char=""/>
              <a:tabLst>
                <a:tab pos="619465" algn="l"/>
              </a:tabLst>
            </a:pPr>
            <a:r>
              <a:rPr sz="2800" spc="-6" dirty="0">
                <a:latin typeface="Times New Roman"/>
                <a:cs typeface="Times New Roman"/>
              </a:rPr>
              <a:t>Distance</a:t>
            </a:r>
            <a:r>
              <a:rPr sz="2800" spc="-110" dirty="0">
                <a:latin typeface="Times New Roman"/>
                <a:cs typeface="Times New Roman"/>
              </a:rPr>
              <a:t> </a:t>
            </a:r>
            <a:r>
              <a:rPr sz="2800" spc="-50" dirty="0">
                <a:latin typeface="Times New Roman"/>
                <a:cs typeface="Times New Roman"/>
              </a:rPr>
              <a:t>Vector</a:t>
            </a:r>
            <a:r>
              <a:rPr sz="2800" spc="-28" dirty="0">
                <a:latin typeface="Times New Roman"/>
                <a:cs typeface="Times New Roman"/>
              </a:rPr>
              <a:t> </a:t>
            </a:r>
            <a:r>
              <a:rPr sz="2800" dirty="0">
                <a:latin typeface="Times New Roman"/>
                <a:cs typeface="Times New Roman"/>
              </a:rPr>
              <a:t>Protocol</a:t>
            </a:r>
          </a:p>
          <a:p>
            <a:pPr marL="618765" lvl="1" indent="-253386">
              <a:spcBef>
                <a:spcPts val="456"/>
              </a:spcBef>
              <a:buClr>
                <a:srgbClr val="9B2C1F"/>
              </a:buClr>
              <a:buSzPct val="85416"/>
              <a:buFont typeface="Wingdings"/>
              <a:buChar char=""/>
              <a:tabLst>
                <a:tab pos="619465" algn="l"/>
              </a:tabLst>
            </a:pPr>
            <a:r>
              <a:rPr sz="2800" spc="-6" dirty="0">
                <a:latin typeface="Times New Roman"/>
                <a:cs typeface="Times New Roman"/>
              </a:rPr>
              <a:t>Use</a:t>
            </a:r>
            <a:r>
              <a:rPr sz="2800" spc="-28" dirty="0">
                <a:latin typeface="Times New Roman"/>
                <a:cs typeface="Times New Roman"/>
              </a:rPr>
              <a:t> </a:t>
            </a:r>
            <a:r>
              <a:rPr sz="2800" dirty="0">
                <a:latin typeface="Times New Roman"/>
                <a:cs typeface="Times New Roman"/>
              </a:rPr>
              <a:t>hops</a:t>
            </a:r>
            <a:r>
              <a:rPr sz="2800" spc="6" dirty="0">
                <a:latin typeface="Times New Roman"/>
                <a:cs typeface="Times New Roman"/>
              </a:rPr>
              <a:t> </a:t>
            </a:r>
            <a:r>
              <a:rPr sz="2800" dirty="0">
                <a:latin typeface="Times New Roman"/>
                <a:cs typeface="Times New Roman"/>
              </a:rPr>
              <a:t>count</a:t>
            </a:r>
            <a:r>
              <a:rPr sz="2800" spc="-28" dirty="0">
                <a:latin typeface="Times New Roman"/>
                <a:cs typeface="Times New Roman"/>
              </a:rPr>
              <a:t> </a:t>
            </a:r>
            <a:r>
              <a:rPr sz="2800" dirty="0">
                <a:latin typeface="Times New Roman"/>
                <a:cs typeface="Times New Roman"/>
              </a:rPr>
              <a:t>as </a:t>
            </a:r>
            <a:r>
              <a:rPr sz="2800" spc="-39" dirty="0">
                <a:latin typeface="Times New Roman"/>
                <a:cs typeface="Times New Roman"/>
              </a:rPr>
              <a:t>it‘s</a:t>
            </a:r>
            <a:r>
              <a:rPr sz="2800" spc="-28" dirty="0">
                <a:latin typeface="Times New Roman"/>
                <a:cs typeface="Times New Roman"/>
              </a:rPr>
              <a:t> </a:t>
            </a:r>
            <a:r>
              <a:rPr sz="2800" spc="-6" dirty="0">
                <a:latin typeface="Times New Roman"/>
                <a:cs typeface="Times New Roman"/>
              </a:rPr>
              <a:t>metric.</a:t>
            </a:r>
            <a:r>
              <a:rPr sz="2800" spc="-17" dirty="0">
                <a:latin typeface="Times New Roman"/>
                <a:cs typeface="Times New Roman"/>
              </a:rPr>
              <a:t> </a:t>
            </a:r>
            <a:r>
              <a:rPr sz="2800" dirty="0">
                <a:latin typeface="Times New Roman"/>
                <a:cs typeface="Times New Roman"/>
              </a:rPr>
              <a:t>If hop</a:t>
            </a:r>
            <a:r>
              <a:rPr sz="2800" spc="-11" dirty="0">
                <a:latin typeface="Times New Roman"/>
                <a:cs typeface="Times New Roman"/>
              </a:rPr>
              <a:t> </a:t>
            </a:r>
            <a:r>
              <a:rPr sz="2800" dirty="0">
                <a:latin typeface="Times New Roman"/>
                <a:cs typeface="Times New Roman"/>
              </a:rPr>
              <a:t>count</a:t>
            </a:r>
            <a:r>
              <a:rPr sz="2800" spc="-17" dirty="0">
                <a:latin typeface="Times New Roman"/>
                <a:cs typeface="Times New Roman"/>
              </a:rPr>
              <a:t> </a:t>
            </a:r>
            <a:r>
              <a:rPr sz="2800" dirty="0">
                <a:latin typeface="Times New Roman"/>
                <a:cs typeface="Times New Roman"/>
              </a:rPr>
              <a:t>exceeds</a:t>
            </a:r>
            <a:r>
              <a:rPr sz="2800" spc="-22" dirty="0">
                <a:latin typeface="Times New Roman"/>
                <a:cs typeface="Times New Roman"/>
              </a:rPr>
              <a:t> </a:t>
            </a:r>
            <a:r>
              <a:rPr sz="2800" dirty="0">
                <a:latin typeface="Times New Roman"/>
                <a:cs typeface="Times New Roman"/>
              </a:rPr>
              <a:t>15,</a:t>
            </a:r>
            <a:r>
              <a:rPr sz="2800" spc="-6" dirty="0">
                <a:latin typeface="Times New Roman"/>
                <a:cs typeface="Times New Roman"/>
              </a:rPr>
              <a:t> </a:t>
            </a:r>
            <a:r>
              <a:rPr sz="2800" dirty="0">
                <a:latin typeface="Times New Roman"/>
                <a:cs typeface="Times New Roman"/>
              </a:rPr>
              <a:t>then</a:t>
            </a:r>
            <a:r>
              <a:rPr sz="2800" spc="-17" dirty="0">
                <a:latin typeface="Times New Roman"/>
                <a:cs typeface="Times New Roman"/>
              </a:rPr>
              <a:t> </a:t>
            </a:r>
            <a:r>
              <a:rPr sz="2800" dirty="0">
                <a:latin typeface="Times New Roman"/>
                <a:cs typeface="Times New Roman"/>
              </a:rPr>
              <a:t>the</a:t>
            </a:r>
            <a:r>
              <a:rPr lang="en-US" sz="2800" dirty="0">
                <a:latin typeface="Times New Roman"/>
                <a:cs typeface="Times New Roman"/>
              </a:rPr>
              <a:t> </a:t>
            </a:r>
            <a:r>
              <a:rPr sz="2800" dirty="0">
                <a:latin typeface="Times New Roman"/>
                <a:cs typeface="Times New Roman"/>
              </a:rPr>
              <a:t>packet</a:t>
            </a:r>
            <a:r>
              <a:rPr sz="2800" spc="-66" dirty="0">
                <a:latin typeface="Times New Roman"/>
                <a:cs typeface="Times New Roman"/>
              </a:rPr>
              <a:t> </a:t>
            </a:r>
            <a:r>
              <a:rPr sz="2800" spc="-6" dirty="0">
                <a:latin typeface="Times New Roman"/>
                <a:cs typeface="Times New Roman"/>
              </a:rPr>
              <a:t>is</a:t>
            </a:r>
            <a:r>
              <a:rPr sz="2800" spc="-33" dirty="0">
                <a:latin typeface="Times New Roman"/>
                <a:cs typeface="Times New Roman"/>
              </a:rPr>
              <a:t> </a:t>
            </a:r>
            <a:r>
              <a:rPr sz="2800" dirty="0">
                <a:latin typeface="Times New Roman"/>
                <a:cs typeface="Times New Roman"/>
              </a:rPr>
              <a:t>discarded.</a:t>
            </a:r>
          </a:p>
          <a:p>
            <a:pPr marL="618765" lvl="1" indent="-253386">
              <a:spcBef>
                <a:spcPts val="435"/>
              </a:spcBef>
              <a:buClr>
                <a:srgbClr val="9B2C1F"/>
              </a:buClr>
              <a:buSzPct val="85416"/>
              <a:buFont typeface="Wingdings"/>
              <a:buChar char=""/>
              <a:tabLst>
                <a:tab pos="619465" algn="l"/>
              </a:tabLst>
            </a:pPr>
            <a:r>
              <a:rPr sz="2800" dirty="0">
                <a:latin typeface="Times New Roman"/>
                <a:cs typeface="Times New Roman"/>
              </a:rPr>
              <a:t>By</a:t>
            </a:r>
            <a:r>
              <a:rPr sz="2800" spc="-28" dirty="0">
                <a:latin typeface="Times New Roman"/>
                <a:cs typeface="Times New Roman"/>
              </a:rPr>
              <a:t> </a:t>
            </a:r>
            <a:r>
              <a:rPr sz="2800" dirty="0">
                <a:latin typeface="Times New Roman"/>
                <a:cs typeface="Times New Roman"/>
              </a:rPr>
              <a:t>default,</a:t>
            </a:r>
            <a:r>
              <a:rPr sz="2800" spc="-28" dirty="0">
                <a:latin typeface="Times New Roman"/>
                <a:cs typeface="Times New Roman"/>
              </a:rPr>
              <a:t> </a:t>
            </a:r>
            <a:r>
              <a:rPr sz="2800" spc="-6" dirty="0">
                <a:latin typeface="Times New Roman"/>
                <a:cs typeface="Times New Roman"/>
              </a:rPr>
              <a:t>updates </a:t>
            </a:r>
            <a:r>
              <a:rPr sz="2800" dirty="0">
                <a:latin typeface="Times New Roman"/>
                <a:cs typeface="Times New Roman"/>
              </a:rPr>
              <a:t>are</a:t>
            </a:r>
            <a:r>
              <a:rPr sz="2800" spc="-17" dirty="0">
                <a:latin typeface="Times New Roman"/>
                <a:cs typeface="Times New Roman"/>
              </a:rPr>
              <a:t> </a:t>
            </a:r>
            <a:r>
              <a:rPr sz="2800" dirty="0">
                <a:latin typeface="Times New Roman"/>
                <a:cs typeface="Times New Roman"/>
              </a:rPr>
              <a:t>sent</a:t>
            </a:r>
            <a:r>
              <a:rPr sz="2800" spc="-6" dirty="0">
                <a:latin typeface="Times New Roman"/>
                <a:cs typeface="Times New Roman"/>
              </a:rPr>
              <a:t> </a:t>
            </a:r>
            <a:r>
              <a:rPr sz="2800" dirty="0">
                <a:latin typeface="Times New Roman"/>
                <a:cs typeface="Times New Roman"/>
              </a:rPr>
              <a:t>every</a:t>
            </a:r>
            <a:r>
              <a:rPr sz="2800" spc="-33" dirty="0">
                <a:latin typeface="Times New Roman"/>
                <a:cs typeface="Times New Roman"/>
              </a:rPr>
              <a:t> </a:t>
            </a:r>
            <a:r>
              <a:rPr sz="2800" dirty="0">
                <a:latin typeface="Times New Roman"/>
                <a:cs typeface="Times New Roman"/>
              </a:rPr>
              <a:t>30 </a:t>
            </a:r>
            <a:r>
              <a:rPr sz="2800" spc="-6" dirty="0">
                <a:latin typeface="Times New Roman"/>
                <a:cs typeface="Times New Roman"/>
              </a:rPr>
              <a:t>seconds.</a:t>
            </a:r>
            <a:endParaRPr sz="2800" dirty="0">
              <a:latin typeface="Times New Roman"/>
              <a:cs typeface="Times New Roman"/>
            </a:endParaRPr>
          </a:p>
          <a:p>
            <a:pPr marL="471199" indent="-457200">
              <a:spcBef>
                <a:spcPts val="645"/>
              </a:spcBef>
              <a:buClr>
                <a:srgbClr val="D24717"/>
              </a:buClr>
              <a:buSzPct val="83928"/>
              <a:buFont typeface="Wingdings" panose="05000000000000000000" pitchFamily="2" charset="2"/>
              <a:buChar char="Ø"/>
              <a:tabLst>
                <a:tab pos="316382" algn="l"/>
              </a:tabLst>
            </a:pPr>
            <a:r>
              <a:rPr sz="2800" b="1" spc="-6" dirty="0">
                <a:solidFill>
                  <a:srgbClr val="FF0000"/>
                </a:solidFill>
                <a:latin typeface="Times New Roman"/>
                <a:cs typeface="Times New Roman"/>
              </a:rPr>
              <a:t>Interior</a:t>
            </a:r>
            <a:r>
              <a:rPr sz="2800" b="1" spc="-72" dirty="0">
                <a:solidFill>
                  <a:srgbClr val="FF0000"/>
                </a:solidFill>
                <a:latin typeface="Times New Roman"/>
                <a:cs typeface="Times New Roman"/>
              </a:rPr>
              <a:t> </a:t>
            </a:r>
            <a:r>
              <a:rPr sz="2800" b="1" spc="-11" dirty="0">
                <a:solidFill>
                  <a:srgbClr val="FF0000"/>
                </a:solidFill>
                <a:latin typeface="Times New Roman"/>
                <a:cs typeface="Times New Roman"/>
              </a:rPr>
              <a:t>Gateway</a:t>
            </a:r>
            <a:r>
              <a:rPr sz="2800" b="1" spc="28" dirty="0">
                <a:solidFill>
                  <a:srgbClr val="FF0000"/>
                </a:solidFill>
                <a:latin typeface="Times New Roman"/>
                <a:cs typeface="Times New Roman"/>
              </a:rPr>
              <a:t> </a:t>
            </a:r>
            <a:r>
              <a:rPr sz="2800" b="1" spc="-6" dirty="0">
                <a:solidFill>
                  <a:srgbClr val="FF0000"/>
                </a:solidFill>
                <a:latin typeface="Times New Roman"/>
                <a:cs typeface="Times New Roman"/>
              </a:rPr>
              <a:t>Routing</a:t>
            </a:r>
            <a:r>
              <a:rPr sz="2800" b="1" spc="17" dirty="0">
                <a:solidFill>
                  <a:srgbClr val="FF0000"/>
                </a:solidFill>
                <a:latin typeface="Times New Roman"/>
                <a:cs typeface="Times New Roman"/>
              </a:rPr>
              <a:t> </a:t>
            </a:r>
            <a:r>
              <a:rPr sz="2800" b="1" spc="-11" dirty="0">
                <a:solidFill>
                  <a:srgbClr val="FF0000"/>
                </a:solidFill>
                <a:latin typeface="Times New Roman"/>
                <a:cs typeface="Times New Roman"/>
              </a:rPr>
              <a:t>Protocol</a:t>
            </a:r>
            <a:r>
              <a:rPr sz="2800" b="1" spc="-6" dirty="0">
                <a:solidFill>
                  <a:srgbClr val="FF0000"/>
                </a:solidFill>
                <a:latin typeface="Times New Roman"/>
                <a:cs typeface="Times New Roman"/>
              </a:rPr>
              <a:t> (IGRP)</a:t>
            </a:r>
            <a:endParaRPr sz="2800" dirty="0">
              <a:solidFill>
                <a:srgbClr val="FF0000"/>
              </a:solidFill>
              <a:latin typeface="Times New Roman"/>
              <a:cs typeface="Times New Roman"/>
            </a:endParaRPr>
          </a:p>
          <a:p>
            <a:pPr marL="618765" lvl="1" indent="-253386">
              <a:spcBef>
                <a:spcPts val="451"/>
              </a:spcBef>
              <a:buClr>
                <a:srgbClr val="9B2C1F"/>
              </a:buClr>
              <a:buSzPct val="85416"/>
              <a:buFont typeface="Wingdings"/>
              <a:buChar char=""/>
              <a:tabLst>
                <a:tab pos="619465" algn="l"/>
              </a:tabLst>
            </a:pPr>
            <a:r>
              <a:rPr sz="2800" spc="-6" dirty="0">
                <a:latin typeface="Times New Roman"/>
                <a:cs typeface="Times New Roman"/>
              </a:rPr>
              <a:t>Distance</a:t>
            </a:r>
            <a:r>
              <a:rPr sz="2800" spc="-110" dirty="0">
                <a:latin typeface="Times New Roman"/>
                <a:cs typeface="Times New Roman"/>
              </a:rPr>
              <a:t> </a:t>
            </a:r>
            <a:r>
              <a:rPr sz="2800" spc="-50" dirty="0">
                <a:latin typeface="Times New Roman"/>
                <a:cs typeface="Times New Roman"/>
              </a:rPr>
              <a:t>Vector</a:t>
            </a:r>
            <a:r>
              <a:rPr sz="2800" spc="-28" dirty="0">
                <a:latin typeface="Times New Roman"/>
                <a:cs typeface="Times New Roman"/>
              </a:rPr>
              <a:t> </a:t>
            </a:r>
            <a:r>
              <a:rPr sz="2800" dirty="0">
                <a:latin typeface="Times New Roman"/>
                <a:cs typeface="Times New Roman"/>
              </a:rPr>
              <a:t>Protocol</a:t>
            </a:r>
          </a:p>
          <a:p>
            <a:pPr marL="618765" lvl="1" indent="-253386">
              <a:spcBef>
                <a:spcPts val="451"/>
              </a:spcBef>
              <a:buClr>
                <a:srgbClr val="9B2C1F"/>
              </a:buClr>
              <a:buSzPct val="85416"/>
              <a:buFont typeface="Wingdings"/>
              <a:buChar char=""/>
              <a:tabLst>
                <a:tab pos="619465" algn="l"/>
              </a:tabLst>
            </a:pPr>
            <a:r>
              <a:rPr sz="2800" spc="-6" dirty="0">
                <a:latin typeface="Times New Roman"/>
                <a:cs typeface="Times New Roman"/>
              </a:rPr>
              <a:t>Cisco</a:t>
            </a:r>
            <a:r>
              <a:rPr sz="2800" spc="-44" dirty="0">
                <a:latin typeface="Times New Roman"/>
                <a:cs typeface="Times New Roman"/>
              </a:rPr>
              <a:t> </a:t>
            </a:r>
            <a:r>
              <a:rPr sz="2800" dirty="0">
                <a:latin typeface="Times New Roman"/>
                <a:cs typeface="Times New Roman"/>
              </a:rPr>
              <a:t>Proprietary</a:t>
            </a:r>
            <a:r>
              <a:rPr sz="2800" spc="-61" dirty="0">
                <a:latin typeface="Times New Roman"/>
                <a:cs typeface="Times New Roman"/>
              </a:rPr>
              <a:t> </a:t>
            </a:r>
            <a:r>
              <a:rPr sz="2800" dirty="0">
                <a:latin typeface="Times New Roman"/>
                <a:cs typeface="Times New Roman"/>
              </a:rPr>
              <a:t>protocol.</a:t>
            </a:r>
          </a:p>
          <a:p>
            <a:pPr marL="618765" lvl="1" indent="-253386">
              <a:spcBef>
                <a:spcPts val="441"/>
              </a:spcBef>
              <a:buClr>
                <a:srgbClr val="9B2C1F"/>
              </a:buClr>
              <a:buSzPct val="85416"/>
              <a:buFont typeface="Wingdings"/>
              <a:buChar char=""/>
              <a:tabLst>
                <a:tab pos="619465" algn="l"/>
              </a:tabLst>
            </a:pPr>
            <a:r>
              <a:rPr sz="2800" dirty="0">
                <a:latin typeface="Times New Roman"/>
                <a:cs typeface="Times New Roman"/>
              </a:rPr>
              <a:t>Bandwidth,</a:t>
            </a:r>
            <a:r>
              <a:rPr sz="2800" spc="-39" dirty="0">
                <a:latin typeface="Times New Roman"/>
                <a:cs typeface="Times New Roman"/>
              </a:rPr>
              <a:t> </a:t>
            </a:r>
            <a:r>
              <a:rPr sz="2800" dirty="0">
                <a:latin typeface="Times New Roman"/>
                <a:cs typeface="Times New Roman"/>
              </a:rPr>
              <a:t>load,</a:t>
            </a:r>
            <a:r>
              <a:rPr sz="2800" spc="-11" dirty="0">
                <a:latin typeface="Times New Roman"/>
                <a:cs typeface="Times New Roman"/>
              </a:rPr>
              <a:t> </a:t>
            </a:r>
            <a:r>
              <a:rPr sz="2800" dirty="0">
                <a:latin typeface="Times New Roman"/>
                <a:cs typeface="Times New Roman"/>
              </a:rPr>
              <a:t>delay</a:t>
            </a:r>
            <a:r>
              <a:rPr sz="2800" spc="-22" dirty="0">
                <a:latin typeface="Times New Roman"/>
                <a:cs typeface="Times New Roman"/>
              </a:rPr>
              <a:t> </a:t>
            </a:r>
            <a:r>
              <a:rPr sz="2800" dirty="0">
                <a:latin typeface="Times New Roman"/>
                <a:cs typeface="Times New Roman"/>
              </a:rPr>
              <a:t>and</a:t>
            </a:r>
            <a:r>
              <a:rPr sz="2800" spc="-6" dirty="0">
                <a:latin typeface="Times New Roman"/>
                <a:cs typeface="Times New Roman"/>
              </a:rPr>
              <a:t> reliability</a:t>
            </a:r>
            <a:r>
              <a:rPr sz="2800" spc="-50" dirty="0">
                <a:latin typeface="Times New Roman"/>
                <a:cs typeface="Times New Roman"/>
              </a:rPr>
              <a:t> </a:t>
            </a:r>
            <a:r>
              <a:rPr sz="2800" dirty="0">
                <a:latin typeface="Times New Roman"/>
                <a:cs typeface="Times New Roman"/>
              </a:rPr>
              <a:t>are</a:t>
            </a:r>
            <a:r>
              <a:rPr sz="2800" spc="-22" dirty="0">
                <a:latin typeface="Times New Roman"/>
                <a:cs typeface="Times New Roman"/>
              </a:rPr>
              <a:t> </a:t>
            </a:r>
            <a:r>
              <a:rPr sz="2800" dirty="0">
                <a:latin typeface="Times New Roman"/>
                <a:cs typeface="Times New Roman"/>
              </a:rPr>
              <a:t>used</a:t>
            </a:r>
            <a:r>
              <a:rPr sz="2800" spc="-6" dirty="0">
                <a:latin typeface="Times New Roman"/>
                <a:cs typeface="Times New Roman"/>
              </a:rPr>
              <a:t> </a:t>
            </a:r>
            <a:r>
              <a:rPr sz="2800" dirty="0">
                <a:latin typeface="Times New Roman"/>
                <a:cs typeface="Times New Roman"/>
              </a:rPr>
              <a:t>to</a:t>
            </a:r>
            <a:r>
              <a:rPr sz="2800" spc="-11" dirty="0">
                <a:latin typeface="Times New Roman"/>
                <a:cs typeface="Times New Roman"/>
              </a:rPr>
              <a:t> </a:t>
            </a:r>
            <a:r>
              <a:rPr sz="2800" dirty="0">
                <a:latin typeface="Times New Roman"/>
                <a:cs typeface="Times New Roman"/>
              </a:rPr>
              <a:t>create</a:t>
            </a:r>
            <a:r>
              <a:rPr sz="2800" spc="-39" dirty="0">
                <a:latin typeface="Times New Roman"/>
                <a:cs typeface="Times New Roman"/>
              </a:rPr>
              <a:t> </a:t>
            </a:r>
            <a:r>
              <a:rPr sz="2800" dirty="0">
                <a:latin typeface="Times New Roman"/>
                <a:cs typeface="Times New Roman"/>
              </a:rPr>
              <a:t>a</a:t>
            </a:r>
          </a:p>
          <a:p>
            <a:pPr marL="618765"/>
            <a:r>
              <a:rPr sz="2800" spc="-6" dirty="0">
                <a:latin typeface="Times New Roman"/>
                <a:cs typeface="Times New Roman"/>
              </a:rPr>
              <a:t>composite</a:t>
            </a:r>
            <a:r>
              <a:rPr sz="2800" spc="-50" dirty="0">
                <a:latin typeface="Times New Roman"/>
                <a:cs typeface="Times New Roman"/>
              </a:rPr>
              <a:t> </a:t>
            </a:r>
            <a:r>
              <a:rPr sz="2800" spc="-6" dirty="0">
                <a:latin typeface="Times New Roman"/>
                <a:cs typeface="Times New Roman"/>
              </a:rPr>
              <a:t>metric.</a:t>
            </a:r>
            <a:endParaRPr sz="2800" dirty="0">
              <a:latin typeface="Times New Roman"/>
              <a:cs typeface="Times New Roman"/>
            </a:endParaRPr>
          </a:p>
          <a:p>
            <a:pPr marL="618765" lvl="1" indent="-253386">
              <a:spcBef>
                <a:spcPts val="435"/>
              </a:spcBef>
              <a:buClr>
                <a:srgbClr val="9B2C1F"/>
              </a:buClr>
              <a:buSzPct val="85416"/>
              <a:buFont typeface="Wingdings"/>
              <a:buChar char=""/>
              <a:tabLst>
                <a:tab pos="619465" algn="l"/>
              </a:tabLst>
            </a:pPr>
            <a:r>
              <a:rPr sz="2800" dirty="0">
                <a:latin typeface="Times New Roman"/>
                <a:cs typeface="Times New Roman"/>
              </a:rPr>
              <a:t>Routing</a:t>
            </a:r>
            <a:r>
              <a:rPr sz="2800" spc="-28" dirty="0">
                <a:latin typeface="Times New Roman"/>
                <a:cs typeface="Times New Roman"/>
              </a:rPr>
              <a:t> </a:t>
            </a:r>
            <a:r>
              <a:rPr sz="2800" spc="-6" dirty="0">
                <a:latin typeface="Times New Roman"/>
                <a:cs typeface="Times New Roman"/>
              </a:rPr>
              <a:t>updates</a:t>
            </a:r>
            <a:r>
              <a:rPr sz="2800" spc="-22" dirty="0">
                <a:latin typeface="Times New Roman"/>
                <a:cs typeface="Times New Roman"/>
              </a:rPr>
              <a:t> </a:t>
            </a:r>
            <a:r>
              <a:rPr sz="2800" dirty="0">
                <a:latin typeface="Times New Roman"/>
                <a:cs typeface="Times New Roman"/>
              </a:rPr>
              <a:t>are</a:t>
            </a:r>
            <a:r>
              <a:rPr sz="2800" spc="-11" dirty="0">
                <a:latin typeface="Times New Roman"/>
                <a:cs typeface="Times New Roman"/>
              </a:rPr>
              <a:t> </a:t>
            </a:r>
            <a:r>
              <a:rPr sz="2800" dirty="0">
                <a:latin typeface="Times New Roman"/>
                <a:cs typeface="Times New Roman"/>
              </a:rPr>
              <a:t>broadcast</a:t>
            </a:r>
            <a:r>
              <a:rPr sz="2800" spc="-22" dirty="0">
                <a:latin typeface="Times New Roman"/>
                <a:cs typeface="Times New Roman"/>
              </a:rPr>
              <a:t> </a:t>
            </a:r>
            <a:r>
              <a:rPr sz="2800" dirty="0">
                <a:latin typeface="Times New Roman"/>
                <a:cs typeface="Times New Roman"/>
              </a:rPr>
              <a:t>every</a:t>
            </a:r>
            <a:r>
              <a:rPr sz="2800" spc="-33" dirty="0">
                <a:latin typeface="Times New Roman"/>
                <a:cs typeface="Times New Roman"/>
              </a:rPr>
              <a:t> </a:t>
            </a:r>
            <a:r>
              <a:rPr sz="2800" dirty="0">
                <a:latin typeface="Times New Roman"/>
                <a:cs typeface="Times New Roman"/>
              </a:rPr>
              <a:t>90 </a:t>
            </a:r>
            <a:r>
              <a:rPr sz="2800" spc="-6" dirty="0">
                <a:latin typeface="Times New Roman"/>
                <a:cs typeface="Times New Roman"/>
              </a:rPr>
              <a:t>seconds,</a:t>
            </a:r>
            <a:r>
              <a:rPr sz="2800" dirty="0">
                <a:latin typeface="Times New Roman"/>
                <a:cs typeface="Times New Roman"/>
              </a:rPr>
              <a:t> by default.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9099" y="553210"/>
            <a:ext cx="6600568" cy="691244"/>
          </a:xfrm>
          <a:prstGeom prst="rect">
            <a:avLst/>
          </a:prstGeom>
        </p:spPr>
        <p:txBody>
          <a:bodyPr vert="horz" wrap="square" lIns="0" tIns="13999" rIns="0" bIns="0" rtlCol="0" anchor="ctr">
            <a:spAutoFit/>
          </a:bodyPr>
          <a:lstStyle/>
          <a:p>
            <a:pPr marL="13999">
              <a:lnSpc>
                <a:spcPct val="100000"/>
              </a:lnSpc>
              <a:spcBef>
                <a:spcPts val="110"/>
              </a:spcBef>
            </a:pPr>
            <a:r>
              <a:rPr b="1" spc="-6" dirty="0">
                <a:solidFill>
                  <a:schemeClr val="bg1"/>
                </a:solidFill>
                <a:latin typeface="Times New Roman" panose="02020603050405020304" pitchFamily="18" charset="0"/>
                <a:cs typeface="Times New Roman" panose="02020603050405020304" pitchFamily="18" charset="0"/>
              </a:rPr>
              <a:t>Routing</a:t>
            </a:r>
            <a:r>
              <a:rPr b="1" spc="-77"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a:t>
            </a:r>
          </a:p>
        </p:txBody>
      </p:sp>
      <p:sp>
        <p:nvSpPr>
          <p:cNvPr id="3" name="object 3"/>
          <p:cNvSpPr txBox="1"/>
          <p:nvPr/>
        </p:nvSpPr>
        <p:spPr>
          <a:xfrm>
            <a:off x="313556" y="1697965"/>
            <a:ext cx="9767069" cy="5257059"/>
          </a:xfrm>
          <a:prstGeom prst="rect">
            <a:avLst/>
          </a:prstGeom>
        </p:spPr>
        <p:txBody>
          <a:bodyPr vert="horz" wrap="square" lIns="0" tIns="80497" rIns="0" bIns="0" rtlCol="0">
            <a:spAutoFit/>
          </a:bodyPr>
          <a:lstStyle/>
          <a:p>
            <a:pPr marL="471199" indent="-457200">
              <a:spcBef>
                <a:spcPts val="634"/>
              </a:spcBef>
              <a:buClr>
                <a:srgbClr val="C00000"/>
              </a:buClr>
              <a:buSzPct val="83928"/>
              <a:buFont typeface="Wingdings" panose="05000000000000000000" pitchFamily="2" charset="2"/>
              <a:buChar char="Ø"/>
              <a:tabLst>
                <a:tab pos="316382" algn="l"/>
              </a:tabLst>
            </a:pPr>
            <a:r>
              <a:rPr sz="2800" b="1" spc="-6" dirty="0">
                <a:solidFill>
                  <a:srgbClr val="FF0000"/>
                </a:solidFill>
                <a:latin typeface="Times New Roman"/>
                <a:cs typeface="Times New Roman"/>
              </a:rPr>
              <a:t>Open</a:t>
            </a:r>
            <a:r>
              <a:rPr sz="2800" b="1" spc="-11" dirty="0">
                <a:solidFill>
                  <a:srgbClr val="FF0000"/>
                </a:solidFill>
                <a:latin typeface="Times New Roman"/>
                <a:cs typeface="Times New Roman"/>
              </a:rPr>
              <a:t> </a:t>
            </a:r>
            <a:r>
              <a:rPr sz="2800" b="1" spc="-6" dirty="0">
                <a:solidFill>
                  <a:srgbClr val="FF0000"/>
                </a:solidFill>
                <a:latin typeface="Times New Roman"/>
                <a:cs typeface="Times New Roman"/>
              </a:rPr>
              <a:t>Shortest</a:t>
            </a:r>
            <a:r>
              <a:rPr sz="2800" b="1" spc="6" dirty="0">
                <a:solidFill>
                  <a:srgbClr val="FF0000"/>
                </a:solidFill>
                <a:latin typeface="Times New Roman"/>
                <a:cs typeface="Times New Roman"/>
              </a:rPr>
              <a:t> </a:t>
            </a:r>
            <a:r>
              <a:rPr sz="2800" b="1" spc="-6" dirty="0">
                <a:solidFill>
                  <a:srgbClr val="FF0000"/>
                </a:solidFill>
                <a:latin typeface="Times New Roman"/>
                <a:cs typeface="Times New Roman"/>
              </a:rPr>
              <a:t>Path</a:t>
            </a:r>
            <a:r>
              <a:rPr sz="2800" b="1" spc="11" dirty="0">
                <a:solidFill>
                  <a:srgbClr val="FF0000"/>
                </a:solidFill>
                <a:latin typeface="Times New Roman"/>
                <a:cs typeface="Times New Roman"/>
              </a:rPr>
              <a:t> </a:t>
            </a:r>
            <a:r>
              <a:rPr sz="2800" b="1" spc="-6" dirty="0">
                <a:solidFill>
                  <a:srgbClr val="FF0000"/>
                </a:solidFill>
                <a:latin typeface="Times New Roman"/>
                <a:cs typeface="Times New Roman"/>
              </a:rPr>
              <a:t>First</a:t>
            </a:r>
            <a:r>
              <a:rPr sz="2800" b="1" spc="-11" dirty="0">
                <a:solidFill>
                  <a:srgbClr val="FF0000"/>
                </a:solidFill>
                <a:latin typeface="Times New Roman"/>
                <a:cs typeface="Times New Roman"/>
              </a:rPr>
              <a:t> </a:t>
            </a:r>
            <a:r>
              <a:rPr sz="2800" b="1" spc="-6" dirty="0">
                <a:solidFill>
                  <a:srgbClr val="FF0000"/>
                </a:solidFill>
                <a:latin typeface="Times New Roman"/>
                <a:cs typeface="Times New Roman"/>
              </a:rPr>
              <a:t>(OSPF)</a:t>
            </a:r>
            <a:endParaRPr sz="2800" dirty="0">
              <a:solidFill>
                <a:srgbClr val="FF0000"/>
              </a:solidFill>
              <a:latin typeface="Times New Roman"/>
              <a:cs typeface="Times New Roman"/>
            </a:endParaRPr>
          </a:p>
          <a:p>
            <a:pPr marL="618765" lvl="1" indent="-251986">
              <a:spcBef>
                <a:spcPts val="451"/>
              </a:spcBef>
              <a:buClr>
                <a:srgbClr val="9B2C1F"/>
              </a:buClr>
              <a:buSzPct val="85416"/>
              <a:buFont typeface="Wingdings"/>
              <a:buChar char=""/>
              <a:tabLst>
                <a:tab pos="618765" algn="l"/>
              </a:tabLst>
            </a:pPr>
            <a:r>
              <a:rPr sz="2800" dirty="0">
                <a:latin typeface="Times New Roman"/>
                <a:cs typeface="Times New Roman"/>
              </a:rPr>
              <a:t>Link</a:t>
            </a:r>
            <a:r>
              <a:rPr sz="2800" spc="-55" dirty="0">
                <a:latin typeface="Times New Roman"/>
                <a:cs typeface="Times New Roman"/>
              </a:rPr>
              <a:t> </a:t>
            </a:r>
            <a:r>
              <a:rPr sz="2800" dirty="0">
                <a:latin typeface="Times New Roman"/>
                <a:cs typeface="Times New Roman"/>
              </a:rPr>
              <a:t>State</a:t>
            </a:r>
            <a:r>
              <a:rPr sz="2800" spc="-50" dirty="0">
                <a:latin typeface="Times New Roman"/>
                <a:cs typeface="Times New Roman"/>
              </a:rPr>
              <a:t> </a:t>
            </a:r>
            <a:r>
              <a:rPr sz="2800" dirty="0">
                <a:latin typeface="Times New Roman"/>
                <a:cs typeface="Times New Roman"/>
              </a:rPr>
              <a:t>Routing</a:t>
            </a:r>
            <a:r>
              <a:rPr sz="2800" spc="-39" dirty="0">
                <a:latin typeface="Times New Roman"/>
                <a:cs typeface="Times New Roman"/>
              </a:rPr>
              <a:t> </a:t>
            </a:r>
            <a:r>
              <a:rPr sz="2800" dirty="0">
                <a:latin typeface="Times New Roman"/>
                <a:cs typeface="Times New Roman"/>
              </a:rPr>
              <a:t>Protocol</a:t>
            </a:r>
          </a:p>
          <a:p>
            <a:pPr marL="618765" lvl="1" indent="-251986">
              <a:spcBef>
                <a:spcPts val="456"/>
              </a:spcBef>
              <a:buClr>
                <a:srgbClr val="9B2C1F"/>
              </a:buClr>
              <a:buSzPct val="85416"/>
              <a:buFont typeface="Wingdings"/>
              <a:buChar char=""/>
              <a:tabLst>
                <a:tab pos="618765" algn="l"/>
              </a:tabLst>
            </a:pPr>
            <a:r>
              <a:rPr sz="2800" spc="-6" dirty="0">
                <a:latin typeface="Times New Roman"/>
                <a:cs typeface="Times New Roman"/>
              </a:rPr>
              <a:t>Open</a:t>
            </a:r>
            <a:r>
              <a:rPr sz="2800" spc="-22" dirty="0">
                <a:latin typeface="Times New Roman"/>
                <a:cs typeface="Times New Roman"/>
              </a:rPr>
              <a:t> </a:t>
            </a:r>
            <a:r>
              <a:rPr sz="2800" dirty="0">
                <a:latin typeface="Times New Roman"/>
                <a:cs typeface="Times New Roman"/>
              </a:rPr>
              <a:t>standard</a:t>
            </a:r>
            <a:r>
              <a:rPr sz="2800" spc="-39" dirty="0">
                <a:latin typeface="Times New Roman"/>
                <a:cs typeface="Times New Roman"/>
              </a:rPr>
              <a:t> </a:t>
            </a:r>
            <a:r>
              <a:rPr sz="2800" dirty="0">
                <a:latin typeface="Times New Roman"/>
                <a:cs typeface="Times New Roman"/>
              </a:rPr>
              <a:t>routing</a:t>
            </a:r>
            <a:r>
              <a:rPr sz="2800" spc="-17" dirty="0">
                <a:latin typeface="Times New Roman"/>
                <a:cs typeface="Times New Roman"/>
              </a:rPr>
              <a:t> </a:t>
            </a:r>
            <a:r>
              <a:rPr sz="2800" dirty="0">
                <a:latin typeface="Times New Roman"/>
                <a:cs typeface="Times New Roman"/>
              </a:rPr>
              <a:t>protocol</a:t>
            </a:r>
            <a:r>
              <a:rPr sz="2800" spc="-39" dirty="0">
                <a:latin typeface="Times New Roman"/>
                <a:cs typeface="Times New Roman"/>
              </a:rPr>
              <a:t> </a:t>
            </a:r>
            <a:r>
              <a:rPr sz="2800" dirty="0">
                <a:latin typeface="Times New Roman"/>
                <a:cs typeface="Times New Roman"/>
              </a:rPr>
              <a:t>described</a:t>
            </a:r>
            <a:r>
              <a:rPr sz="2800" spc="-33" dirty="0">
                <a:latin typeface="Times New Roman"/>
                <a:cs typeface="Times New Roman"/>
              </a:rPr>
              <a:t> </a:t>
            </a:r>
            <a:r>
              <a:rPr sz="2800" dirty="0">
                <a:latin typeface="Times New Roman"/>
                <a:cs typeface="Times New Roman"/>
              </a:rPr>
              <a:t>in</a:t>
            </a:r>
            <a:r>
              <a:rPr sz="2800" spc="-17" dirty="0">
                <a:latin typeface="Times New Roman"/>
                <a:cs typeface="Times New Roman"/>
              </a:rPr>
              <a:t> </a:t>
            </a:r>
            <a:r>
              <a:rPr sz="2800" spc="-6" dirty="0">
                <a:latin typeface="Times New Roman"/>
                <a:cs typeface="Times New Roman"/>
              </a:rPr>
              <a:t>RFC</a:t>
            </a:r>
            <a:r>
              <a:rPr sz="2800" dirty="0">
                <a:latin typeface="Times New Roman"/>
                <a:cs typeface="Times New Roman"/>
              </a:rPr>
              <a:t> 2328.</a:t>
            </a:r>
          </a:p>
          <a:p>
            <a:pPr marL="618765" marR="1151435" lvl="1" indent="-251986">
              <a:spcBef>
                <a:spcPts val="435"/>
              </a:spcBef>
              <a:buClr>
                <a:srgbClr val="9B2C1F"/>
              </a:buClr>
              <a:buSzPct val="85416"/>
              <a:buFont typeface="Wingdings"/>
              <a:buChar char=""/>
              <a:tabLst>
                <a:tab pos="618765" algn="l"/>
              </a:tabLst>
            </a:pPr>
            <a:r>
              <a:rPr sz="2800" spc="-6" dirty="0">
                <a:latin typeface="Times New Roman"/>
                <a:cs typeface="Times New Roman"/>
              </a:rPr>
              <a:t>Uses </a:t>
            </a:r>
            <a:r>
              <a:rPr sz="2800" dirty="0">
                <a:latin typeface="Times New Roman"/>
                <a:cs typeface="Times New Roman"/>
              </a:rPr>
              <a:t>the</a:t>
            </a:r>
            <a:r>
              <a:rPr sz="2800" spc="-28" dirty="0">
                <a:latin typeface="Times New Roman"/>
                <a:cs typeface="Times New Roman"/>
              </a:rPr>
              <a:t> </a:t>
            </a:r>
            <a:r>
              <a:rPr sz="2800" spc="-6" dirty="0">
                <a:latin typeface="Times New Roman"/>
                <a:cs typeface="Times New Roman"/>
              </a:rPr>
              <a:t>SPF</a:t>
            </a:r>
            <a:r>
              <a:rPr sz="2800" spc="11" dirty="0">
                <a:latin typeface="Times New Roman"/>
                <a:cs typeface="Times New Roman"/>
              </a:rPr>
              <a:t> </a:t>
            </a:r>
            <a:r>
              <a:rPr sz="2800" dirty="0">
                <a:latin typeface="Times New Roman"/>
                <a:cs typeface="Times New Roman"/>
              </a:rPr>
              <a:t>algorithm</a:t>
            </a:r>
            <a:r>
              <a:rPr sz="2800" spc="-44" dirty="0">
                <a:latin typeface="Times New Roman"/>
                <a:cs typeface="Times New Roman"/>
              </a:rPr>
              <a:t> </a:t>
            </a:r>
            <a:r>
              <a:rPr sz="2800" dirty="0">
                <a:latin typeface="Times New Roman"/>
                <a:cs typeface="Times New Roman"/>
              </a:rPr>
              <a:t>to</a:t>
            </a:r>
            <a:r>
              <a:rPr sz="2800" spc="-11" dirty="0">
                <a:latin typeface="Times New Roman"/>
                <a:cs typeface="Times New Roman"/>
              </a:rPr>
              <a:t> </a:t>
            </a:r>
            <a:r>
              <a:rPr sz="2800" dirty="0">
                <a:latin typeface="Times New Roman"/>
                <a:cs typeface="Times New Roman"/>
              </a:rPr>
              <a:t>calculate</a:t>
            </a:r>
            <a:r>
              <a:rPr sz="2800" spc="-66" dirty="0">
                <a:latin typeface="Times New Roman"/>
                <a:cs typeface="Times New Roman"/>
              </a:rPr>
              <a:t> </a:t>
            </a:r>
            <a:r>
              <a:rPr sz="2800" dirty="0">
                <a:latin typeface="Times New Roman"/>
                <a:cs typeface="Times New Roman"/>
              </a:rPr>
              <a:t>the</a:t>
            </a:r>
            <a:r>
              <a:rPr sz="2800" spc="-17" dirty="0">
                <a:latin typeface="Times New Roman"/>
                <a:cs typeface="Times New Roman"/>
              </a:rPr>
              <a:t> </a:t>
            </a:r>
            <a:r>
              <a:rPr sz="2800" spc="-6" dirty="0">
                <a:latin typeface="Times New Roman"/>
                <a:cs typeface="Times New Roman"/>
              </a:rPr>
              <a:t>lowest </a:t>
            </a:r>
            <a:r>
              <a:rPr sz="2800" dirty="0">
                <a:latin typeface="Times New Roman"/>
                <a:cs typeface="Times New Roman"/>
              </a:rPr>
              <a:t>cost</a:t>
            </a:r>
            <a:r>
              <a:rPr sz="2800" spc="-6" dirty="0">
                <a:latin typeface="Times New Roman"/>
                <a:cs typeface="Times New Roman"/>
              </a:rPr>
              <a:t> </a:t>
            </a:r>
            <a:r>
              <a:rPr sz="2800" dirty="0">
                <a:latin typeface="Times New Roman"/>
                <a:cs typeface="Times New Roman"/>
              </a:rPr>
              <a:t>to</a:t>
            </a:r>
            <a:r>
              <a:rPr sz="2800" spc="-11" dirty="0">
                <a:latin typeface="Times New Roman"/>
                <a:cs typeface="Times New Roman"/>
              </a:rPr>
              <a:t> </a:t>
            </a:r>
            <a:r>
              <a:rPr sz="2800" dirty="0">
                <a:latin typeface="Times New Roman"/>
                <a:cs typeface="Times New Roman"/>
              </a:rPr>
              <a:t>a </a:t>
            </a:r>
            <a:r>
              <a:rPr sz="2800" spc="-645" dirty="0">
                <a:latin typeface="Times New Roman"/>
                <a:cs typeface="Times New Roman"/>
              </a:rPr>
              <a:t> </a:t>
            </a:r>
            <a:r>
              <a:rPr sz="2800" dirty="0">
                <a:latin typeface="Times New Roman"/>
                <a:cs typeface="Times New Roman"/>
              </a:rPr>
              <a:t>destination.</a:t>
            </a:r>
          </a:p>
          <a:p>
            <a:pPr marL="618765" lvl="1" indent="-251986">
              <a:spcBef>
                <a:spcPts val="435"/>
              </a:spcBef>
              <a:buClr>
                <a:srgbClr val="9B2C1F"/>
              </a:buClr>
              <a:buSzPct val="85416"/>
              <a:buFont typeface="Wingdings"/>
              <a:buChar char=""/>
              <a:tabLst>
                <a:tab pos="618765" algn="l"/>
              </a:tabLst>
            </a:pPr>
            <a:r>
              <a:rPr sz="2800" spc="-6" dirty="0">
                <a:latin typeface="Times New Roman"/>
                <a:cs typeface="Times New Roman"/>
              </a:rPr>
              <a:t>Routing</a:t>
            </a:r>
            <a:r>
              <a:rPr sz="2800" spc="-22" dirty="0">
                <a:latin typeface="Times New Roman"/>
                <a:cs typeface="Times New Roman"/>
              </a:rPr>
              <a:t> </a:t>
            </a:r>
            <a:r>
              <a:rPr sz="2800" dirty="0">
                <a:latin typeface="Times New Roman"/>
                <a:cs typeface="Times New Roman"/>
              </a:rPr>
              <a:t>updates</a:t>
            </a:r>
            <a:r>
              <a:rPr sz="2800" spc="-22" dirty="0">
                <a:latin typeface="Times New Roman"/>
                <a:cs typeface="Times New Roman"/>
              </a:rPr>
              <a:t> </a:t>
            </a:r>
            <a:r>
              <a:rPr sz="2800" dirty="0">
                <a:latin typeface="Times New Roman"/>
                <a:cs typeface="Times New Roman"/>
              </a:rPr>
              <a:t>are </a:t>
            </a:r>
            <a:r>
              <a:rPr sz="2800" spc="-6" dirty="0">
                <a:latin typeface="Times New Roman"/>
                <a:cs typeface="Times New Roman"/>
              </a:rPr>
              <a:t>flooded</a:t>
            </a:r>
            <a:r>
              <a:rPr sz="2800" spc="-11" dirty="0">
                <a:latin typeface="Times New Roman"/>
                <a:cs typeface="Times New Roman"/>
              </a:rPr>
              <a:t> </a:t>
            </a:r>
            <a:r>
              <a:rPr sz="2800" dirty="0">
                <a:latin typeface="Times New Roman"/>
                <a:cs typeface="Times New Roman"/>
              </a:rPr>
              <a:t>as topology</a:t>
            </a:r>
            <a:r>
              <a:rPr sz="2800" spc="-28" dirty="0">
                <a:latin typeface="Times New Roman"/>
                <a:cs typeface="Times New Roman"/>
              </a:rPr>
              <a:t> </a:t>
            </a:r>
            <a:r>
              <a:rPr sz="2800" dirty="0">
                <a:latin typeface="Times New Roman"/>
                <a:cs typeface="Times New Roman"/>
              </a:rPr>
              <a:t>changes</a:t>
            </a:r>
            <a:r>
              <a:rPr sz="2800" spc="-6" dirty="0">
                <a:latin typeface="Times New Roman"/>
                <a:cs typeface="Times New Roman"/>
              </a:rPr>
              <a:t> </a:t>
            </a:r>
            <a:r>
              <a:rPr sz="2800" spc="-28" dirty="0">
                <a:latin typeface="Times New Roman"/>
                <a:cs typeface="Times New Roman"/>
              </a:rPr>
              <a:t>occur.</a:t>
            </a:r>
            <a:endParaRPr sz="2800" dirty="0">
              <a:latin typeface="Times New Roman"/>
              <a:cs typeface="Times New Roman"/>
            </a:endParaRPr>
          </a:p>
          <a:p>
            <a:pPr marL="471199" indent="-457200">
              <a:spcBef>
                <a:spcPts val="661"/>
              </a:spcBef>
              <a:buClr>
                <a:srgbClr val="C00000"/>
              </a:buClr>
              <a:buSzPct val="85416"/>
              <a:buFont typeface="Wingdings" panose="05000000000000000000" pitchFamily="2" charset="2"/>
              <a:buChar char="Ø"/>
              <a:tabLst>
                <a:tab pos="315682" algn="l"/>
                <a:tab pos="316382" algn="l"/>
              </a:tabLst>
            </a:pPr>
            <a:r>
              <a:rPr sz="2800" b="1" dirty="0">
                <a:solidFill>
                  <a:srgbClr val="FF0000"/>
                </a:solidFill>
                <a:latin typeface="Times New Roman"/>
                <a:cs typeface="Times New Roman"/>
              </a:rPr>
              <a:t>Intermediate</a:t>
            </a:r>
            <a:r>
              <a:rPr sz="2800" b="1" spc="-55" dirty="0">
                <a:solidFill>
                  <a:srgbClr val="FF0000"/>
                </a:solidFill>
                <a:latin typeface="Times New Roman"/>
                <a:cs typeface="Times New Roman"/>
              </a:rPr>
              <a:t> </a:t>
            </a:r>
            <a:r>
              <a:rPr sz="2800" b="1" spc="-6" dirty="0">
                <a:solidFill>
                  <a:srgbClr val="FF0000"/>
                </a:solidFill>
                <a:latin typeface="Times New Roman"/>
                <a:cs typeface="Times New Roman"/>
              </a:rPr>
              <a:t>System</a:t>
            </a:r>
            <a:r>
              <a:rPr sz="2800" b="1" dirty="0">
                <a:solidFill>
                  <a:srgbClr val="FF0000"/>
                </a:solidFill>
                <a:latin typeface="Times New Roman"/>
                <a:cs typeface="Times New Roman"/>
              </a:rPr>
              <a:t> to Intermediate</a:t>
            </a:r>
            <a:r>
              <a:rPr sz="2800" b="1" spc="-33" dirty="0">
                <a:solidFill>
                  <a:srgbClr val="FF0000"/>
                </a:solidFill>
                <a:latin typeface="Times New Roman"/>
                <a:cs typeface="Times New Roman"/>
              </a:rPr>
              <a:t> </a:t>
            </a:r>
            <a:r>
              <a:rPr sz="2800" b="1" spc="-6" dirty="0">
                <a:solidFill>
                  <a:srgbClr val="FF0000"/>
                </a:solidFill>
                <a:latin typeface="Times New Roman"/>
                <a:cs typeface="Times New Roman"/>
              </a:rPr>
              <a:t>System</a:t>
            </a:r>
            <a:r>
              <a:rPr sz="2800" b="1" dirty="0">
                <a:solidFill>
                  <a:srgbClr val="FF0000"/>
                </a:solidFill>
                <a:latin typeface="Times New Roman"/>
                <a:cs typeface="Times New Roman"/>
              </a:rPr>
              <a:t> (IS-IS)</a:t>
            </a:r>
            <a:endParaRPr sz="2800" dirty="0">
              <a:solidFill>
                <a:srgbClr val="FF0000"/>
              </a:solidFill>
              <a:latin typeface="Times New Roman"/>
              <a:cs typeface="Times New Roman"/>
            </a:endParaRPr>
          </a:p>
          <a:p>
            <a:pPr marL="618765" marR="5600" lvl="1" indent="-251986">
              <a:spcBef>
                <a:spcPts val="451"/>
              </a:spcBef>
              <a:buClr>
                <a:srgbClr val="9B2C1F"/>
              </a:buClr>
              <a:buSzPct val="85416"/>
              <a:buFont typeface="Wingdings"/>
              <a:buChar char=""/>
              <a:tabLst>
                <a:tab pos="618765" algn="l"/>
              </a:tabLst>
            </a:pPr>
            <a:r>
              <a:rPr sz="2800" spc="-6" dirty="0">
                <a:latin typeface="Times New Roman"/>
                <a:cs typeface="Times New Roman"/>
              </a:rPr>
              <a:t>IS-IS</a:t>
            </a:r>
            <a:r>
              <a:rPr sz="2800" spc="-11" dirty="0">
                <a:latin typeface="Times New Roman"/>
                <a:cs typeface="Times New Roman"/>
              </a:rPr>
              <a:t> </a:t>
            </a:r>
            <a:r>
              <a:rPr sz="2800" spc="-6" dirty="0">
                <a:latin typeface="Times New Roman"/>
                <a:cs typeface="Times New Roman"/>
              </a:rPr>
              <a:t>is</a:t>
            </a:r>
            <a:r>
              <a:rPr sz="2800" spc="6" dirty="0">
                <a:latin typeface="Times New Roman"/>
                <a:cs typeface="Times New Roman"/>
              </a:rPr>
              <a:t> </a:t>
            </a:r>
            <a:r>
              <a:rPr sz="2800" dirty="0">
                <a:latin typeface="Times New Roman"/>
                <a:cs typeface="Times New Roman"/>
              </a:rPr>
              <a:t>an </a:t>
            </a:r>
            <a:r>
              <a:rPr sz="2800" spc="-6" dirty="0">
                <a:latin typeface="Times New Roman"/>
                <a:cs typeface="Times New Roman"/>
              </a:rPr>
              <a:t>Open</a:t>
            </a:r>
            <a:r>
              <a:rPr sz="2800" spc="6" dirty="0">
                <a:latin typeface="Times New Roman"/>
                <a:cs typeface="Times New Roman"/>
              </a:rPr>
              <a:t> </a:t>
            </a:r>
            <a:r>
              <a:rPr sz="2800" spc="-6" dirty="0">
                <a:latin typeface="Times New Roman"/>
                <a:cs typeface="Times New Roman"/>
              </a:rPr>
              <a:t>System</a:t>
            </a:r>
            <a:r>
              <a:rPr sz="2800" spc="-11" dirty="0">
                <a:latin typeface="Times New Roman"/>
                <a:cs typeface="Times New Roman"/>
              </a:rPr>
              <a:t> </a:t>
            </a:r>
            <a:r>
              <a:rPr sz="2800" dirty="0">
                <a:latin typeface="Times New Roman"/>
                <a:cs typeface="Times New Roman"/>
              </a:rPr>
              <a:t>Interconnection</a:t>
            </a:r>
            <a:r>
              <a:rPr sz="2800" spc="-50" dirty="0">
                <a:latin typeface="Times New Roman"/>
                <a:cs typeface="Times New Roman"/>
              </a:rPr>
              <a:t> </a:t>
            </a:r>
            <a:r>
              <a:rPr sz="2800" spc="-6" dirty="0">
                <a:latin typeface="Times New Roman"/>
                <a:cs typeface="Times New Roman"/>
              </a:rPr>
              <a:t>(OSI)</a:t>
            </a:r>
            <a:r>
              <a:rPr sz="2800" dirty="0">
                <a:latin typeface="Times New Roman"/>
                <a:cs typeface="Times New Roman"/>
              </a:rPr>
              <a:t> routing</a:t>
            </a:r>
            <a:r>
              <a:rPr sz="2800" spc="-17" dirty="0">
                <a:latin typeface="Times New Roman"/>
                <a:cs typeface="Times New Roman"/>
              </a:rPr>
              <a:t> </a:t>
            </a:r>
            <a:r>
              <a:rPr sz="2800" dirty="0">
                <a:latin typeface="Times New Roman"/>
                <a:cs typeface="Times New Roman"/>
              </a:rPr>
              <a:t>protocol </a:t>
            </a:r>
            <a:r>
              <a:rPr sz="2800" spc="-645" dirty="0">
                <a:latin typeface="Times New Roman"/>
                <a:cs typeface="Times New Roman"/>
              </a:rPr>
              <a:t> </a:t>
            </a:r>
            <a:r>
              <a:rPr sz="2800" dirty="0">
                <a:latin typeface="Times New Roman"/>
                <a:cs typeface="Times New Roman"/>
              </a:rPr>
              <a:t>originally specified by International </a:t>
            </a:r>
            <a:r>
              <a:rPr sz="2800" spc="-6" dirty="0">
                <a:latin typeface="Times New Roman"/>
                <a:cs typeface="Times New Roman"/>
              </a:rPr>
              <a:t>Organization for </a:t>
            </a:r>
            <a:r>
              <a:rPr sz="2800" dirty="0">
                <a:latin typeface="Times New Roman"/>
                <a:cs typeface="Times New Roman"/>
              </a:rPr>
              <a:t> </a:t>
            </a:r>
            <a:r>
              <a:rPr sz="2800" spc="-6" dirty="0">
                <a:latin typeface="Times New Roman"/>
                <a:cs typeface="Times New Roman"/>
              </a:rPr>
              <a:t>Standardization</a:t>
            </a:r>
            <a:r>
              <a:rPr sz="2800" spc="-61" dirty="0">
                <a:latin typeface="Times New Roman"/>
                <a:cs typeface="Times New Roman"/>
              </a:rPr>
              <a:t> </a:t>
            </a:r>
            <a:r>
              <a:rPr sz="2800" dirty="0">
                <a:latin typeface="Times New Roman"/>
                <a:cs typeface="Times New Roman"/>
              </a:rPr>
              <a:t>(ISO) 10589.</a:t>
            </a:r>
          </a:p>
          <a:p>
            <a:pPr marL="618765" lvl="1" indent="-251986">
              <a:spcBef>
                <a:spcPts val="441"/>
              </a:spcBef>
              <a:buClr>
                <a:srgbClr val="9B2C1F"/>
              </a:buClr>
              <a:buSzPct val="85416"/>
              <a:buFont typeface="Wingdings"/>
              <a:buChar char=""/>
              <a:tabLst>
                <a:tab pos="618765" algn="l"/>
              </a:tabLst>
            </a:pPr>
            <a:r>
              <a:rPr sz="2800" dirty="0">
                <a:latin typeface="Times New Roman"/>
                <a:cs typeface="Times New Roman"/>
              </a:rPr>
              <a:t>It</a:t>
            </a:r>
            <a:r>
              <a:rPr sz="2800" spc="-39" dirty="0">
                <a:latin typeface="Times New Roman"/>
                <a:cs typeface="Times New Roman"/>
              </a:rPr>
              <a:t> </a:t>
            </a:r>
            <a:r>
              <a:rPr sz="2800" spc="-6" dirty="0">
                <a:latin typeface="Times New Roman"/>
                <a:cs typeface="Times New Roman"/>
              </a:rPr>
              <a:t>is</a:t>
            </a:r>
            <a:r>
              <a:rPr sz="2800" spc="-11" dirty="0">
                <a:latin typeface="Times New Roman"/>
                <a:cs typeface="Times New Roman"/>
              </a:rPr>
              <a:t> </a:t>
            </a:r>
            <a:r>
              <a:rPr sz="2800" dirty="0">
                <a:latin typeface="Times New Roman"/>
                <a:cs typeface="Times New Roman"/>
              </a:rPr>
              <a:t>a</a:t>
            </a:r>
            <a:r>
              <a:rPr sz="2800" spc="-11" dirty="0">
                <a:latin typeface="Times New Roman"/>
                <a:cs typeface="Times New Roman"/>
              </a:rPr>
              <a:t> </a:t>
            </a:r>
            <a:r>
              <a:rPr sz="2800" dirty="0">
                <a:latin typeface="Times New Roman"/>
                <a:cs typeface="Times New Roman"/>
              </a:rPr>
              <a:t>link-state</a:t>
            </a:r>
            <a:r>
              <a:rPr sz="2800" spc="-72" dirty="0">
                <a:latin typeface="Times New Roman"/>
                <a:cs typeface="Times New Roman"/>
              </a:rPr>
              <a:t> </a:t>
            </a:r>
            <a:r>
              <a:rPr sz="2800" dirty="0">
                <a:latin typeface="Times New Roman"/>
                <a:cs typeface="Times New Roman"/>
              </a:rPr>
              <a:t>routing</a:t>
            </a:r>
            <a:r>
              <a:rPr sz="2800" spc="-22" dirty="0">
                <a:latin typeface="Times New Roman"/>
                <a:cs typeface="Times New Roman"/>
              </a:rPr>
              <a:t> </a:t>
            </a:r>
            <a:r>
              <a:rPr sz="2800" dirty="0">
                <a:latin typeface="Times New Roman"/>
                <a:cs typeface="Times New Roman"/>
              </a:rPr>
              <a:t>protocol.</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522" y="459317"/>
            <a:ext cx="6317934" cy="691244"/>
          </a:xfrm>
          <a:prstGeom prst="rect">
            <a:avLst/>
          </a:prstGeom>
        </p:spPr>
        <p:txBody>
          <a:bodyPr vert="horz" wrap="square" lIns="0" tIns="13999" rIns="0" bIns="0" rtlCol="0" anchor="ctr">
            <a:spAutoFit/>
          </a:bodyPr>
          <a:lstStyle/>
          <a:p>
            <a:pPr marL="13999">
              <a:lnSpc>
                <a:spcPct val="100000"/>
              </a:lnSpc>
              <a:spcBef>
                <a:spcPts val="110"/>
              </a:spcBef>
            </a:pPr>
            <a:r>
              <a:rPr b="1" dirty="0">
                <a:solidFill>
                  <a:schemeClr val="bg1"/>
                </a:solidFill>
                <a:latin typeface="Times New Roman" panose="02020603050405020304" pitchFamily="18" charset="0"/>
                <a:cs typeface="Times New Roman" panose="02020603050405020304" pitchFamily="18" charset="0"/>
              </a:rPr>
              <a:t>Routing</a:t>
            </a:r>
            <a:r>
              <a:rPr b="1" spc="-105" dirty="0">
                <a:solidFill>
                  <a:schemeClr val="bg1"/>
                </a:solidFill>
                <a:latin typeface="Times New Roman" panose="02020603050405020304" pitchFamily="18" charset="0"/>
                <a:cs typeface="Times New Roman" panose="02020603050405020304" pitchFamily="18" charset="0"/>
              </a:rPr>
              <a:t> </a:t>
            </a:r>
            <a:r>
              <a:rPr b="1" spc="-11" dirty="0">
                <a:solidFill>
                  <a:schemeClr val="bg1"/>
                </a:solidFill>
                <a:latin typeface="Times New Roman" panose="02020603050405020304" pitchFamily="18" charset="0"/>
                <a:cs typeface="Times New Roman" panose="02020603050405020304" pitchFamily="18" charset="0"/>
              </a:rPr>
              <a:t>Protocol</a:t>
            </a:r>
          </a:p>
        </p:txBody>
      </p:sp>
      <p:sp>
        <p:nvSpPr>
          <p:cNvPr id="5" name="object 5"/>
          <p:cNvSpPr txBox="1"/>
          <p:nvPr/>
        </p:nvSpPr>
        <p:spPr>
          <a:xfrm>
            <a:off x="0" y="1767552"/>
            <a:ext cx="10187189" cy="5473471"/>
          </a:xfrm>
          <a:prstGeom prst="rect">
            <a:avLst/>
          </a:prstGeom>
        </p:spPr>
        <p:txBody>
          <a:bodyPr vert="horz" wrap="square" lIns="0" tIns="83996" rIns="0" bIns="0" rtlCol="0">
            <a:spAutoFit/>
          </a:bodyPr>
          <a:lstStyle/>
          <a:p>
            <a:pPr marL="470499" indent="-457200">
              <a:spcBef>
                <a:spcPts val="661"/>
              </a:spcBef>
              <a:buClr>
                <a:srgbClr val="C00000"/>
              </a:buClr>
              <a:buSzPct val="84615"/>
              <a:buFont typeface="Wingdings" panose="05000000000000000000" pitchFamily="2" charset="2"/>
              <a:buChar char="Ø"/>
              <a:tabLst>
                <a:tab pos="317082" algn="l"/>
              </a:tabLst>
            </a:pPr>
            <a:r>
              <a:rPr sz="3200" b="1" dirty="0">
                <a:solidFill>
                  <a:srgbClr val="FF0000"/>
                </a:solidFill>
                <a:latin typeface="Times New Roman"/>
                <a:cs typeface="Times New Roman"/>
              </a:rPr>
              <a:t>Enhanced</a:t>
            </a:r>
            <a:r>
              <a:rPr sz="3200" b="1" spc="-39" dirty="0">
                <a:solidFill>
                  <a:srgbClr val="FF0000"/>
                </a:solidFill>
                <a:latin typeface="Times New Roman"/>
                <a:cs typeface="Times New Roman"/>
              </a:rPr>
              <a:t> </a:t>
            </a:r>
            <a:r>
              <a:rPr sz="3200" b="1" spc="-6" dirty="0">
                <a:solidFill>
                  <a:srgbClr val="FF0000"/>
                </a:solidFill>
                <a:latin typeface="Times New Roman"/>
                <a:cs typeface="Times New Roman"/>
              </a:rPr>
              <a:t>Interior</a:t>
            </a:r>
            <a:r>
              <a:rPr sz="3200" b="1" spc="-55" dirty="0">
                <a:solidFill>
                  <a:srgbClr val="FF0000"/>
                </a:solidFill>
                <a:latin typeface="Times New Roman"/>
                <a:cs typeface="Times New Roman"/>
              </a:rPr>
              <a:t> </a:t>
            </a:r>
            <a:r>
              <a:rPr sz="3200" b="1" dirty="0">
                <a:solidFill>
                  <a:srgbClr val="FF0000"/>
                </a:solidFill>
                <a:latin typeface="Times New Roman"/>
                <a:cs typeface="Times New Roman"/>
              </a:rPr>
              <a:t>Gateway</a:t>
            </a:r>
            <a:r>
              <a:rPr sz="3200" b="1" spc="-22" dirty="0">
                <a:solidFill>
                  <a:srgbClr val="FF0000"/>
                </a:solidFill>
                <a:latin typeface="Times New Roman"/>
                <a:cs typeface="Times New Roman"/>
              </a:rPr>
              <a:t> </a:t>
            </a:r>
            <a:r>
              <a:rPr sz="3200" b="1" dirty="0">
                <a:solidFill>
                  <a:srgbClr val="FF0000"/>
                </a:solidFill>
                <a:latin typeface="Times New Roman"/>
                <a:cs typeface="Times New Roman"/>
              </a:rPr>
              <a:t>Routing</a:t>
            </a:r>
            <a:r>
              <a:rPr sz="3200" b="1" spc="-22" dirty="0">
                <a:solidFill>
                  <a:srgbClr val="FF0000"/>
                </a:solidFill>
                <a:latin typeface="Times New Roman"/>
                <a:cs typeface="Times New Roman"/>
              </a:rPr>
              <a:t> </a:t>
            </a:r>
            <a:r>
              <a:rPr sz="3200" b="1" spc="-6" dirty="0">
                <a:solidFill>
                  <a:srgbClr val="FF0000"/>
                </a:solidFill>
                <a:latin typeface="Times New Roman"/>
                <a:cs typeface="Times New Roman"/>
              </a:rPr>
              <a:t>Protocol</a:t>
            </a:r>
            <a:r>
              <a:rPr sz="3200" b="1" spc="-33" dirty="0">
                <a:solidFill>
                  <a:srgbClr val="FF0000"/>
                </a:solidFill>
                <a:latin typeface="Times New Roman"/>
                <a:cs typeface="Times New Roman"/>
              </a:rPr>
              <a:t> </a:t>
            </a:r>
            <a:r>
              <a:rPr sz="2800" b="1" spc="-6" dirty="0">
                <a:solidFill>
                  <a:srgbClr val="FF0000"/>
                </a:solidFill>
                <a:latin typeface="Times New Roman"/>
                <a:cs typeface="Times New Roman"/>
              </a:rPr>
              <a:t>(EIGRP)</a:t>
            </a:r>
            <a:endParaRPr sz="2800" dirty="0">
              <a:solidFill>
                <a:srgbClr val="FF0000"/>
              </a:solidFill>
              <a:latin typeface="Times New Roman"/>
              <a:cs typeface="Times New Roman"/>
            </a:endParaRPr>
          </a:p>
          <a:p>
            <a:pPr marL="618765" marR="312182" lvl="1" indent="-251986">
              <a:spcBef>
                <a:spcPts val="456"/>
              </a:spcBef>
              <a:buClr>
                <a:srgbClr val="9B2C1F"/>
              </a:buClr>
              <a:buSzPct val="84090"/>
              <a:buFont typeface="Wingdings"/>
              <a:buChar char=""/>
              <a:tabLst>
                <a:tab pos="619465" algn="l"/>
              </a:tabLst>
            </a:pPr>
            <a:r>
              <a:rPr sz="2800" dirty="0">
                <a:latin typeface="Times New Roman"/>
                <a:cs typeface="Times New Roman"/>
              </a:rPr>
              <a:t>Hybrid</a:t>
            </a:r>
            <a:r>
              <a:rPr sz="2800" spc="-17" dirty="0">
                <a:latin typeface="Times New Roman"/>
                <a:cs typeface="Times New Roman"/>
              </a:rPr>
              <a:t> </a:t>
            </a:r>
            <a:r>
              <a:rPr sz="2800" spc="-6" dirty="0">
                <a:latin typeface="Times New Roman"/>
                <a:cs typeface="Times New Roman"/>
              </a:rPr>
              <a:t>routing</a:t>
            </a:r>
            <a:r>
              <a:rPr sz="2800" dirty="0">
                <a:latin typeface="Times New Roman"/>
                <a:cs typeface="Times New Roman"/>
              </a:rPr>
              <a:t> </a:t>
            </a:r>
            <a:r>
              <a:rPr sz="2800" spc="-6" dirty="0">
                <a:latin typeface="Times New Roman"/>
                <a:cs typeface="Times New Roman"/>
              </a:rPr>
              <a:t>protocol:</a:t>
            </a:r>
            <a:r>
              <a:rPr sz="2800" spc="6" dirty="0">
                <a:latin typeface="Times New Roman"/>
                <a:cs typeface="Times New Roman"/>
              </a:rPr>
              <a:t> </a:t>
            </a:r>
            <a:r>
              <a:rPr sz="2800" spc="-6" dirty="0">
                <a:latin typeface="Times New Roman"/>
                <a:cs typeface="Times New Roman"/>
              </a:rPr>
              <a:t>combination</a:t>
            </a:r>
            <a:r>
              <a:rPr sz="2800" spc="22" dirty="0">
                <a:latin typeface="Times New Roman"/>
                <a:cs typeface="Times New Roman"/>
              </a:rPr>
              <a:t> </a:t>
            </a:r>
            <a:r>
              <a:rPr sz="2800" spc="-6" dirty="0">
                <a:latin typeface="Times New Roman"/>
                <a:cs typeface="Times New Roman"/>
              </a:rPr>
              <a:t>of</a:t>
            </a:r>
            <a:r>
              <a:rPr sz="2800" dirty="0">
                <a:latin typeface="Times New Roman"/>
                <a:cs typeface="Times New Roman"/>
              </a:rPr>
              <a:t> </a:t>
            </a:r>
            <a:r>
              <a:rPr sz="2800" spc="-6" dirty="0">
                <a:latin typeface="Times New Roman"/>
                <a:cs typeface="Times New Roman"/>
              </a:rPr>
              <a:t>distance</a:t>
            </a:r>
            <a:r>
              <a:rPr sz="2800" dirty="0">
                <a:latin typeface="Times New Roman"/>
                <a:cs typeface="Times New Roman"/>
              </a:rPr>
              <a:t> </a:t>
            </a:r>
            <a:r>
              <a:rPr sz="2800" spc="-6" dirty="0">
                <a:latin typeface="Times New Roman"/>
                <a:cs typeface="Times New Roman"/>
              </a:rPr>
              <a:t>vector</a:t>
            </a:r>
            <a:r>
              <a:rPr sz="2800" dirty="0">
                <a:latin typeface="Times New Roman"/>
                <a:cs typeface="Times New Roman"/>
              </a:rPr>
              <a:t> </a:t>
            </a:r>
            <a:r>
              <a:rPr sz="2800" spc="-6" dirty="0">
                <a:latin typeface="Times New Roman"/>
                <a:cs typeface="Times New Roman"/>
              </a:rPr>
              <a:t>and</a:t>
            </a:r>
            <a:r>
              <a:rPr sz="2800" spc="17" dirty="0">
                <a:latin typeface="Times New Roman"/>
                <a:cs typeface="Times New Roman"/>
              </a:rPr>
              <a:t> </a:t>
            </a:r>
            <a:r>
              <a:rPr sz="2800" spc="11" dirty="0">
                <a:latin typeface="Times New Roman"/>
                <a:cs typeface="Times New Roman"/>
              </a:rPr>
              <a:t>link- </a:t>
            </a:r>
            <a:r>
              <a:rPr sz="2800" spc="-590" dirty="0">
                <a:latin typeface="Times New Roman"/>
                <a:cs typeface="Times New Roman"/>
              </a:rPr>
              <a:t> </a:t>
            </a:r>
            <a:r>
              <a:rPr sz="2800" spc="-6" dirty="0">
                <a:latin typeface="Times New Roman"/>
                <a:cs typeface="Times New Roman"/>
              </a:rPr>
              <a:t>state</a:t>
            </a:r>
            <a:r>
              <a:rPr sz="2800" spc="-22" dirty="0">
                <a:latin typeface="Times New Roman"/>
                <a:cs typeface="Times New Roman"/>
              </a:rPr>
              <a:t> </a:t>
            </a:r>
            <a:r>
              <a:rPr sz="2800" spc="-6" dirty="0">
                <a:latin typeface="Times New Roman"/>
                <a:cs typeface="Times New Roman"/>
              </a:rPr>
              <a:t>features</a:t>
            </a:r>
            <a:endParaRPr sz="2800" dirty="0">
              <a:latin typeface="Times New Roman"/>
              <a:cs typeface="Times New Roman"/>
            </a:endParaRPr>
          </a:p>
          <a:p>
            <a:pPr marL="618765" lvl="1" indent="-252686">
              <a:spcBef>
                <a:spcPts val="446"/>
              </a:spcBef>
              <a:buClr>
                <a:srgbClr val="9B2C1F"/>
              </a:buClr>
              <a:buSzPct val="84090"/>
              <a:buFont typeface="Wingdings"/>
              <a:buChar char=""/>
              <a:tabLst>
                <a:tab pos="619465" algn="l"/>
              </a:tabLst>
            </a:pPr>
            <a:r>
              <a:rPr sz="2800" spc="-6" dirty="0">
                <a:latin typeface="Times New Roman"/>
                <a:cs typeface="Times New Roman"/>
              </a:rPr>
              <a:t>Cisco</a:t>
            </a:r>
            <a:r>
              <a:rPr sz="2800" spc="-33" dirty="0">
                <a:latin typeface="Times New Roman"/>
                <a:cs typeface="Times New Roman"/>
              </a:rPr>
              <a:t> </a:t>
            </a:r>
            <a:r>
              <a:rPr sz="2800" spc="-6" dirty="0">
                <a:latin typeface="Times New Roman"/>
                <a:cs typeface="Times New Roman"/>
              </a:rPr>
              <a:t>proprietary</a:t>
            </a:r>
            <a:r>
              <a:rPr sz="2800" spc="11" dirty="0">
                <a:latin typeface="Times New Roman"/>
                <a:cs typeface="Times New Roman"/>
              </a:rPr>
              <a:t> </a:t>
            </a:r>
            <a:r>
              <a:rPr sz="2800" spc="-6" dirty="0">
                <a:latin typeface="Times New Roman"/>
                <a:cs typeface="Times New Roman"/>
              </a:rPr>
              <a:t>protocol.</a:t>
            </a:r>
            <a:endParaRPr sz="2800" dirty="0">
              <a:latin typeface="Times New Roman"/>
              <a:cs typeface="Times New Roman"/>
            </a:endParaRPr>
          </a:p>
          <a:p>
            <a:pPr marL="618765" lvl="1" indent="-252686">
              <a:spcBef>
                <a:spcPts val="435"/>
              </a:spcBef>
              <a:buClr>
                <a:srgbClr val="9B2C1F"/>
              </a:buClr>
              <a:buSzPct val="84090"/>
              <a:buFont typeface="Wingdings"/>
              <a:buChar char=""/>
              <a:tabLst>
                <a:tab pos="619465" algn="l"/>
              </a:tabLst>
            </a:pPr>
            <a:r>
              <a:rPr sz="2800" spc="-6" dirty="0">
                <a:latin typeface="Times New Roman"/>
                <a:cs typeface="Times New Roman"/>
              </a:rPr>
              <a:t>It is</a:t>
            </a:r>
            <a:r>
              <a:rPr sz="2800" dirty="0">
                <a:latin typeface="Times New Roman"/>
                <a:cs typeface="Times New Roman"/>
              </a:rPr>
              <a:t> </a:t>
            </a:r>
            <a:r>
              <a:rPr sz="2800" spc="-6" dirty="0">
                <a:latin typeface="Times New Roman"/>
                <a:cs typeface="Times New Roman"/>
              </a:rPr>
              <a:t>an</a:t>
            </a:r>
            <a:r>
              <a:rPr sz="2800" spc="17" dirty="0">
                <a:latin typeface="Times New Roman"/>
                <a:cs typeface="Times New Roman"/>
              </a:rPr>
              <a:t> </a:t>
            </a:r>
            <a:r>
              <a:rPr sz="2800" spc="-6" dirty="0">
                <a:latin typeface="Times New Roman"/>
                <a:cs typeface="Times New Roman"/>
              </a:rPr>
              <a:t>enhanced</a:t>
            </a:r>
            <a:r>
              <a:rPr sz="2800" dirty="0">
                <a:latin typeface="Times New Roman"/>
                <a:cs typeface="Times New Roman"/>
              </a:rPr>
              <a:t> </a:t>
            </a:r>
            <a:r>
              <a:rPr sz="2800" spc="-6" dirty="0">
                <a:latin typeface="Times New Roman"/>
                <a:cs typeface="Times New Roman"/>
              </a:rPr>
              <a:t>distance</a:t>
            </a:r>
            <a:r>
              <a:rPr sz="2800" spc="6" dirty="0">
                <a:latin typeface="Times New Roman"/>
                <a:cs typeface="Times New Roman"/>
              </a:rPr>
              <a:t> </a:t>
            </a:r>
            <a:r>
              <a:rPr sz="2800" spc="-6" dirty="0">
                <a:latin typeface="Times New Roman"/>
                <a:cs typeface="Times New Roman"/>
              </a:rPr>
              <a:t>vector</a:t>
            </a:r>
            <a:r>
              <a:rPr sz="2800" dirty="0">
                <a:latin typeface="Times New Roman"/>
                <a:cs typeface="Times New Roman"/>
              </a:rPr>
              <a:t> </a:t>
            </a:r>
            <a:r>
              <a:rPr sz="2800" spc="-6" dirty="0">
                <a:latin typeface="Times New Roman"/>
                <a:cs typeface="Times New Roman"/>
              </a:rPr>
              <a:t>routing</a:t>
            </a:r>
            <a:r>
              <a:rPr sz="2800" spc="6" dirty="0">
                <a:latin typeface="Times New Roman"/>
                <a:cs typeface="Times New Roman"/>
              </a:rPr>
              <a:t> </a:t>
            </a:r>
            <a:r>
              <a:rPr sz="2800" spc="-6" dirty="0">
                <a:latin typeface="Times New Roman"/>
                <a:cs typeface="Times New Roman"/>
              </a:rPr>
              <a:t>protocol.</a:t>
            </a:r>
            <a:endParaRPr sz="2800" dirty="0">
              <a:latin typeface="Times New Roman"/>
              <a:cs typeface="Times New Roman"/>
            </a:endParaRPr>
          </a:p>
          <a:p>
            <a:pPr marL="618765" lvl="1" indent="-252686">
              <a:spcBef>
                <a:spcPts val="441"/>
              </a:spcBef>
              <a:buClr>
                <a:srgbClr val="9B2C1F"/>
              </a:buClr>
              <a:buSzPct val="84090"/>
              <a:buFont typeface="Wingdings"/>
              <a:buChar char=""/>
              <a:tabLst>
                <a:tab pos="619465" algn="l"/>
              </a:tabLst>
            </a:pPr>
            <a:r>
              <a:rPr sz="2800" spc="-6" dirty="0">
                <a:latin typeface="Times New Roman"/>
                <a:cs typeface="Times New Roman"/>
              </a:rPr>
              <a:t>Uses</a:t>
            </a:r>
            <a:r>
              <a:rPr sz="2800" spc="-11" dirty="0">
                <a:latin typeface="Times New Roman"/>
                <a:cs typeface="Times New Roman"/>
              </a:rPr>
              <a:t> </a:t>
            </a:r>
            <a:r>
              <a:rPr sz="2800" spc="-6" dirty="0">
                <a:latin typeface="Times New Roman"/>
                <a:cs typeface="Times New Roman"/>
              </a:rPr>
              <a:t>unequal-cost</a:t>
            </a:r>
            <a:r>
              <a:rPr sz="2800" dirty="0">
                <a:latin typeface="Times New Roman"/>
                <a:cs typeface="Times New Roman"/>
              </a:rPr>
              <a:t> </a:t>
            </a:r>
            <a:r>
              <a:rPr sz="2800" spc="-6" dirty="0">
                <a:latin typeface="Times New Roman"/>
                <a:cs typeface="Times New Roman"/>
              </a:rPr>
              <a:t>and</a:t>
            </a:r>
            <a:r>
              <a:rPr sz="2800" spc="17" dirty="0">
                <a:latin typeface="Times New Roman"/>
                <a:cs typeface="Times New Roman"/>
              </a:rPr>
              <a:t> </a:t>
            </a:r>
            <a:r>
              <a:rPr sz="2800" spc="-6" dirty="0">
                <a:latin typeface="Times New Roman"/>
                <a:cs typeface="Times New Roman"/>
              </a:rPr>
              <a:t>equal-cost</a:t>
            </a:r>
            <a:r>
              <a:rPr sz="2800" dirty="0">
                <a:latin typeface="Times New Roman"/>
                <a:cs typeface="Times New Roman"/>
              </a:rPr>
              <a:t> </a:t>
            </a:r>
            <a:r>
              <a:rPr sz="2800" spc="-6" dirty="0">
                <a:latin typeface="Times New Roman"/>
                <a:cs typeface="Times New Roman"/>
              </a:rPr>
              <a:t>load</a:t>
            </a:r>
            <a:r>
              <a:rPr sz="2800" spc="6" dirty="0">
                <a:latin typeface="Times New Roman"/>
                <a:cs typeface="Times New Roman"/>
              </a:rPr>
              <a:t> </a:t>
            </a:r>
            <a:r>
              <a:rPr sz="2800" spc="-6" dirty="0">
                <a:latin typeface="Times New Roman"/>
                <a:cs typeface="Times New Roman"/>
              </a:rPr>
              <a:t>balancing.</a:t>
            </a:r>
            <a:endParaRPr sz="2800" dirty="0">
              <a:latin typeface="Times New Roman"/>
              <a:cs typeface="Times New Roman"/>
            </a:endParaRPr>
          </a:p>
          <a:p>
            <a:pPr marL="470499" indent="-457200">
              <a:spcBef>
                <a:spcPts val="656"/>
              </a:spcBef>
              <a:buClr>
                <a:srgbClr val="C00000"/>
              </a:buClr>
              <a:buSzPct val="84615"/>
              <a:buFont typeface="Wingdings" panose="05000000000000000000" pitchFamily="2" charset="2"/>
              <a:buChar char="Ø"/>
              <a:tabLst>
                <a:tab pos="317082" algn="l"/>
              </a:tabLst>
            </a:pPr>
            <a:r>
              <a:rPr sz="3200" b="1" dirty="0">
                <a:solidFill>
                  <a:srgbClr val="FF0000"/>
                </a:solidFill>
                <a:latin typeface="Times New Roman"/>
                <a:cs typeface="Times New Roman"/>
              </a:rPr>
              <a:t>Border</a:t>
            </a:r>
            <a:r>
              <a:rPr sz="3200" b="1" spc="-110" dirty="0">
                <a:solidFill>
                  <a:srgbClr val="FF0000"/>
                </a:solidFill>
                <a:latin typeface="Times New Roman"/>
                <a:cs typeface="Times New Roman"/>
              </a:rPr>
              <a:t> </a:t>
            </a:r>
            <a:r>
              <a:rPr sz="3200" b="1" dirty="0">
                <a:solidFill>
                  <a:srgbClr val="FF0000"/>
                </a:solidFill>
                <a:latin typeface="Times New Roman"/>
                <a:cs typeface="Times New Roman"/>
              </a:rPr>
              <a:t>Gateway</a:t>
            </a:r>
            <a:r>
              <a:rPr sz="3200" b="1" spc="-28" dirty="0">
                <a:solidFill>
                  <a:srgbClr val="FF0000"/>
                </a:solidFill>
                <a:latin typeface="Times New Roman"/>
                <a:cs typeface="Times New Roman"/>
              </a:rPr>
              <a:t> </a:t>
            </a:r>
            <a:r>
              <a:rPr sz="3200" b="1" spc="-6" dirty="0">
                <a:solidFill>
                  <a:srgbClr val="FF0000"/>
                </a:solidFill>
                <a:latin typeface="Times New Roman"/>
                <a:cs typeface="Times New Roman"/>
              </a:rPr>
              <a:t>Protocol</a:t>
            </a:r>
            <a:r>
              <a:rPr sz="3200" b="1" spc="-66" dirty="0">
                <a:solidFill>
                  <a:srgbClr val="FF0000"/>
                </a:solidFill>
                <a:latin typeface="Times New Roman"/>
                <a:cs typeface="Times New Roman"/>
              </a:rPr>
              <a:t> </a:t>
            </a:r>
            <a:r>
              <a:rPr sz="3200" b="1" dirty="0">
                <a:solidFill>
                  <a:srgbClr val="FF0000"/>
                </a:solidFill>
                <a:latin typeface="Times New Roman"/>
                <a:cs typeface="Times New Roman"/>
              </a:rPr>
              <a:t>(BGP)</a:t>
            </a:r>
            <a:endParaRPr sz="3200" dirty="0">
              <a:solidFill>
                <a:srgbClr val="FF0000"/>
              </a:solidFill>
              <a:latin typeface="Times New Roman"/>
              <a:cs typeface="Times New Roman"/>
            </a:endParaRPr>
          </a:p>
          <a:p>
            <a:pPr marL="618765" lvl="1" indent="-252686">
              <a:spcBef>
                <a:spcPts val="446"/>
              </a:spcBef>
              <a:buClr>
                <a:srgbClr val="9B2C1F"/>
              </a:buClr>
              <a:buSzPct val="85416"/>
              <a:buFont typeface="Wingdings"/>
              <a:buChar char=""/>
              <a:tabLst>
                <a:tab pos="619465" algn="l"/>
              </a:tabLst>
            </a:pPr>
            <a:r>
              <a:rPr sz="2800" spc="-6" dirty="0">
                <a:latin typeface="Times New Roman"/>
                <a:cs typeface="Times New Roman"/>
              </a:rPr>
              <a:t>An</a:t>
            </a:r>
            <a:r>
              <a:rPr sz="2800" spc="-22" dirty="0">
                <a:latin typeface="Times New Roman"/>
                <a:cs typeface="Times New Roman"/>
              </a:rPr>
              <a:t> </a:t>
            </a:r>
            <a:r>
              <a:rPr sz="2800" dirty="0">
                <a:latin typeface="Times New Roman"/>
                <a:cs typeface="Times New Roman"/>
              </a:rPr>
              <a:t>exterior</a:t>
            </a:r>
            <a:r>
              <a:rPr sz="2800" spc="-50" dirty="0">
                <a:latin typeface="Times New Roman"/>
                <a:cs typeface="Times New Roman"/>
              </a:rPr>
              <a:t> </a:t>
            </a:r>
            <a:r>
              <a:rPr sz="2800" dirty="0">
                <a:latin typeface="Times New Roman"/>
                <a:cs typeface="Times New Roman"/>
              </a:rPr>
              <a:t>routing</a:t>
            </a:r>
            <a:r>
              <a:rPr sz="2800" spc="-44" dirty="0">
                <a:latin typeface="Times New Roman"/>
                <a:cs typeface="Times New Roman"/>
              </a:rPr>
              <a:t> </a:t>
            </a:r>
            <a:r>
              <a:rPr sz="2800" dirty="0">
                <a:latin typeface="Times New Roman"/>
                <a:cs typeface="Times New Roman"/>
              </a:rPr>
              <a:t>protocol.</a:t>
            </a:r>
          </a:p>
          <a:p>
            <a:pPr marL="618765" lvl="1" indent="-252686">
              <a:spcBef>
                <a:spcPts val="441"/>
              </a:spcBef>
              <a:buClr>
                <a:srgbClr val="9B2C1F"/>
              </a:buClr>
              <a:buSzPct val="85416"/>
              <a:buFont typeface="Wingdings"/>
              <a:buChar char=""/>
              <a:tabLst>
                <a:tab pos="619465" algn="l"/>
              </a:tabLst>
            </a:pPr>
            <a:r>
              <a:rPr sz="2800" dirty="0">
                <a:latin typeface="Times New Roman"/>
                <a:cs typeface="Times New Roman"/>
              </a:rPr>
              <a:t>It</a:t>
            </a:r>
            <a:r>
              <a:rPr sz="2800" spc="-33" dirty="0">
                <a:latin typeface="Times New Roman"/>
                <a:cs typeface="Times New Roman"/>
              </a:rPr>
              <a:t> </a:t>
            </a:r>
            <a:r>
              <a:rPr sz="2800" spc="-6" dirty="0">
                <a:latin typeface="Times New Roman"/>
                <a:cs typeface="Times New Roman"/>
              </a:rPr>
              <a:t>is </a:t>
            </a:r>
            <a:r>
              <a:rPr sz="2800" dirty="0">
                <a:latin typeface="Times New Roman"/>
                <a:cs typeface="Times New Roman"/>
              </a:rPr>
              <a:t>a</a:t>
            </a:r>
            <a:r>
              <a:rPr sz="2800" spc="-6" dirty="0">
                <a:latin typeface="Times New Roman"/>
                <a:cs typeface="Times New Roman"/>
              </a:rPr>
              <a:t> </a:t>
            </a:r>
            <a:r>
              <a:rPr sz="2800" dirty="0">
                <a:latin typeface="Times New Roman"/>
                <a:cs typeface="Times New Roman"/>
              </a:rPr>
              <a:t>distance</a:t>
            </a:r>
            <a:r>
              <a:rPr sz="2800" spc="-44" dirty="0">
                <a:latin typeface="Times New Roman"/>
                <a:cs typeface="Times New Roman"/>
              </a:rPr>
              <a:t> </a:t>
            </a:r>
            <a:r>
              <a:rPr sz="2800" dirty="0">
                <a:latin typeface="Times New Roman"/>
                <a:cs typeface="Times New Roman"/>
              </a:rPr>
              <a:t>vector</a:t>
            </a:r>
            <a:r>
              <a:rPr sz="2800" spc="-28" dirty="0">
                <a:latin typeface="Times New Roman"/>
                <a:cs typeface="Times New Roman"/>
              </a:rPr>
              <a:t> </a:t>
            </a:r>
            <a:r>
              <a:rPr sz="2800" dirty="0">
                <a:latin typeface="Times New Roman"/>
                <a:cs typeface="Times New Roman"/>
              </a:rPr>
              <a:t>(or</a:t>
            </a:r>
            <a:r>
              <a:rPr sz="2800" spc="-11" dirty="0">
                <a:latin typeface="Times New Roman"/>
                <a:cs typeface="Times New Roman"/>
              </a:rPr>
              <a:t> </a:t>
            </a:r>
            <a:r>
              <a:rPr sz="2800" dirty="0">
                <a:latin typeface="Times New Roman"/>
                <a:cs typeface="Times New Roman"/>
              </a:rPr>
              <a:t>path</a:t>
            </a:r>
            <a:r>
              <a:rPr sz="2800" spc="-22" dirty="0">
                <a:latin typeface="Times New Roman"/>
                <a:cs typeface="Times New Roman"/>
              </a:rPr>
              <a:t> </a:t>
            </a:r>
            <a:r>
              <a:rPr sz="2800" dirty="0">
                <a:latin typeface="Times New Roman"/>
                <a:cs typeface="Times New Roman"/>
              </a:rPr>
              <a:t>vector)</a:t>
            </a:r>
            <a:r>
              <a:rPr sz="2800" spc="-28" dirty="0">
                <a:latin typeface="Times New Roman"/>
                <a:cs typeface="Times New Roman"/>
              </a:rPr>
              <a:t> </a:t>
            </a:r>
            <a:r>
              <a:rPr sz="2800" dirty="0">
                <a:latin typeface="Times New Roman"/>
                <a:cs typeface="Times New Roman"/>
              </a:rPr>
              <a:t>exterior</a:t>
            </a:r>
            <a:r>
              <a:rPr sz="2800" spc="-55" dirty="0">
                <a:latin typeface="Times New Roman"/>
                <a:cs typeface="Times New Roman"/>
              </a:rPr>
              <a:t> </a:t>
            </a:r>
            <a:r>
              <a:rPr sz="2800" dirty="0">
                <a:latin typeface="Times New Roman"/>
                <a:cs typeface="Times New Roman"/>
              </a:rPr>
              <a:t>routing</a:t>
            </a:r>
            <a:r>
              <a:rPr sz="2800" spc="-17" dirty="0">
                <a:latin typeface="Times New Roman"/>
                <a:cs typeface="Times New Roman"/>
              </a:rPr>
              <a:t> </a:t>
            </a:r>
            <a:r>
              <a:rPr sz="2800" dirty="0">
                <a:latin typeface="Times New Roman"/>
                <a:cs typeface="Times New Roman"/>
              </a:rPr>
              <a:t>protocol</a:t>
            </a:r>
          </a:p>
          <a:p>
            <a:pPr marL="618765" lvl="1" indent="-252686">
              <a:spcBef>
                <a:spcPts val="435"/>
              </a:spcBef>
              <a:buClr>
                <a:srgbClr val="9B2C1F"/>
              </a:buClr>
              <a:buSzPct val="85416"/>
              <a:buFont typeface="Wingdings"/>
              <a:buChar char=""/>
              <a:tabLst>
                <a:tab pos="619465" algn="l"/>
              </a:tabLst>
            </a:pPr>
            <a:r>
              <a:rPr sz="2800" spc="-6" dirty="0">
                <a:latin typeface="Times New Roman"/>
                <a:cs typeface="Times New Roman"/>
              </a:rPr>
              <a:t>Used</a:t>
            </a:r>
            <a:r>
              <a:rPr sz="2800" spc="-22" dirty="0">
                <a:latin typeface="Times New Roman"/>
                <a:cs typeface="Times New Roman"/>
              </a:rPr>
              <a:t> </a:t>
            </a:r>
            <a:r>
              <a:rPr sz="2800" dirty="0">
                <a:latin typeface="Times New Roman"/>
                <a:cs typeface="Times New Roman"/>
              </a:rPr>
              <a:t>between</a:t>
            </a:r>
            <a:r>
              <a:rPr sz="2800" spc="-22" dirty="0">
                <a:latin typeface="Times New Roman"/>
                <a:cs typeface="Times New Roman"/>
              </a:rPr>
              <a:t> </a:t>
            </a:r>
            <a:r>
              <a:rPr sz="2800" spc="-6" dirty="0">
                <a:latin typeface="Times New Roman"/>
                <a:cs typeface="Times New Roman"/>
              </a:rPr>
              <a:t>ISPs</a:t>
            </a:r>
            <a:r>
              <a:rPr sz="2800" spc="6" dirty="0">
                <a:latin typeface="Times New Roman"/>
                <a:cs typeface="Times New Roman"/>
              </a:rPr>
              <a:t> </a:t>
            </a:r>
            <a:r>
              <a:rPr sz="2800" dirty="0">
                <a:latin typeface="Times New Roman"/>
                <a:cs typeface="Times New Roman"/>
              </a:rPr>
              <a:t>or</a:t>
            </a:r>
            <a:r>
              <a:rPr sz="2800" spc="-17" dirty="0">
                <a:latin typeface="Times New Roman"/>
                <a:cs typeface="Times New Roman"/>
              </a:rPr>
              <a:t> </a:t>
            </a:r>
            <a:r>
              <a:rPr sz="2800" spc="-6" dirty="0">
                <a:latin typeface="Times New Roman"/>
                <a:cs typeface="Times New Roman"/>
              </a:rPr>
              <a:t>ISPs</a:t>
            </a:r>
            <a:r>
              <a:rPr sz="2800" spc="6" dirty="0">
                <a:latin typeface="Times New Roman"/>
                <a:cs typeface="Times New Roman"/>
              </a:rPr>
              <a:t> </a:t>
            </a:r>
            <a:r>
              <a:rPr sz="2800" dirty="0">
                <a:latin typeface="Times New Roman"/>
                <a:cs typeface="Times New Roman"/>
              </a:rPr>
              <a:t>and</a:t>
            </a:r>
            <a:r>
              <a:rPr sz="2800" spc="-6" dirty="0">
                <a:latin typeface="Times New Roman"/>
                <a:cs typeface="Times New Roman"/>
              </a:rPr>
              <a:t> </a:t>
            </a:r>
            <a:r>
              <a:rPr sz="2800" dirty="0">
                <a:latin typeface="Times New Roman"/>
                <a:cs typeface="Times New Roman"/>
              </a:rPr>
              <a:t>clients.</a:t>
            </a:r>
          </a:p>
          <a:p>
            <a:pPr marL="618765" lvl="1" indent="-252686">
              <a:spcBef>
                <a:spcPts val="451"/>
              </a:spcBef>
              <a:buClr>
                <a:srgbClr val="9B2C1F"/>
              </a:buClr>
              <a:buSzPct val="85416"/>
              <a:buFont typeface="Wingdings"/>
              <a:buChar char=""/>
              <a:tabLst>
                <a:tab pos="619465" algn="l"/>
              </a:tabLst>
            </a:pPr>
            <a:r>
              <a:rPr sz="2800" spc="-6" dirty="0">
                <a:latin typeface="Times New Roman"/>
                <a:cs typeface="Times New Roman"/>
              </a:rPr>
              <a:t>Used</a:t>
            </a:r>
            <a:r>
              <a:rPr sz="2800" spc="-17" dirty="0">
                <a:latin typeface="Times New Roman"/>
                <a:cs typeface="Times New Roman"/>
              </a:rPr>
              <a:t> </a:t>
            </a:r>
            <a:r>
              <a:rPr sz="2800" dirty="0">
                <a:latin typeface="Times New Roman"/>
                <a:cs typeface="Times New Roman"/>
              </a:rPr>
              <a:t>to route</a:t>
            </a:r>
            <a:r>
              <a:rPr sz="2800" spc="-17" dirty="0">
                <a:latin typeface="Times New Roman"/>
                <a:cs typeface="Times New Roman"/>
              </a:rPr>
              <a:t> </a:t>
            </a:r>
            <a:r>
              <a:rPr sz="2800" dirty="0">
                <a:latin typeface="Times New Roman"/>
                <a:cs typeface="Times New Roman"/>
              </a:rPr>
              <a:t>Internet</a:t>
            </a:r>
            <a:r>
              <a:rPr sz="2800" spc="-39" dirty="0">
                <a:latin typeface="Times New Roman"/>
                <a:cs typeface="Times New Roman"/>
              </a:rPr>
              <a:t> </a:t>
            </a:r>
            <a:r>
              <a:rPr sz="2800" spc="-11" dirty="0">
                <a:latin typeface="Times New Roman"/>
                <a:cs typeface="Times New Roman"/>
              </a:rPr>
              <a:t>traffic </a:t>
            </a:r>
            <a:r>
              <a:rPr sz="2800" dirty="0">
                <a:latin typeface="Times New Roman"/>
                <a:cs typeface="Times New Roman"/>
              </a:rPr>
              <a:t>between</a:t>
            </a:r>
            <a:r>
              <a:rPr sz="2800" spc="-28" dirty="0">
                <a:latin typeface="Times New Roman"/>
                <a:cs typeface="Times New Roman"/>
              </a:rPr>
              <a:t> </a:t>
            </a:r>
            <a:r>
              <a:rPr sz="2800" spc="-6" dirty="0">
                <a:latin typeface="Times New Roman"/>
                <a:cs typeface="Times New Roman"/>
              </a:rPr>
              <a:t>autonomous</a:t>
            </a:r>
            <a:r>
              <a:rPr sz="2800" spc="11" dirty="0">
                <a:latin typeface="Times New Roman"/>
                <a:cs typeface="Times New Roman"/>
              </a:rPr>
              <a:t> </a:t>
            </a:r>
            <a:r>
              <a:rPr sz="2800" spc="-6" dirty="0">
                <a:latin typeface="Times New Roman"/>
                <a:cs typeface="Times New Roman"/>
              </a:rPr>
              <a:t>systems.</a:t>
            </a:r>
            <a:endParaRPr sz="2800" dirty="0">
              <a:latin typeface="Times New Roman"/>
              <a:cs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4590" y="254275"/>
            <a:ext cx="6498849" cy="691244"/>
          </a:xfrm>
          <a:prstGeom prst="rect">
            <a:avLst/>
          </a:prstGeom>
        </p:spPr>
        <p:txBody>
          <a:bodyPr vert="horz" wrap="square" lIns="0" tIns="13999" rIns="0" bIns="0" rtlCol="0" anchor="ctr">
            <a:spAutoFit/>
          </a:bodyPr>
          <a:lstStyle/>
          <a:p>
            <a:pPr marL="13999">
              <a:lnSpc>
                <a:spcPct val="100000"/>
              </a:lnSpc>
              <a:spcBef>
                <a:spcPts val="110"/>
              </a:spcBef>
            </a:pPr>
            <a:r>
              <a:rPr b="1" spc="237" dirty="0">
                <a:solidFill>
                  <a:schemeClr val="bg1"/>
                </a:solidFill>
                <a:latin typeface="Times New Roman" panose="02020603050405020304" pitchFamily="18" charset="0"/>
                <a:cs typeface="Times New Roman" panose="02020603050405020304" pitchFamily="18" charset="0"/>
              </a:rPr>
              <a:t>Which</a:t>
            </a:r>
            <a:r>
              <a:rPr b="1" spc="39" dirty="0">
                <a:solidFill>
                  <a:schemeClr val="bg1"/>
                </a:solidFill>
                <a:latin typeface="Times New Roman" panose="02020603050405020304" pitchFamily="18" charset="0"/>
                <a:cs typeface="Times New Roman" panose="02020603050405020304" pitchFamily="18" charset="0"/>
              </a:rPr>
              <a:t> </a:t>
            </a:r>
            <a:r>
              <a:rPr b="1" spc="105" dirty="0">
                <a:solidFill>
                  <a:schemeClr val="bg1"/>
                </a:solidFill>
                <a:latin typeface="Times New Roman" panose="02020603050405020304" pitchFamily="18" charset="0"/>
                <a:cs typeface="Times New Roman" panose="02020603050405020304" pitchFamily="18" charset="0"/>
              </a:rPr>
              <a:t>routing</a:t>
            </a:r>
            <a:r>
              <a:rPr b="1" spc="72" dirty="0">
                <a:solidFill>
                  <a:schemeClr val="bg1"/>
                </a:solidFill>
                <a:latin typeface="Times New Roman" panose="02020603050405020304" pitchFamily="18" charset="0"/>
                <a:cs typeface="Times New Roman" panose="02020603050405020304" pitchFamily="18" charset="0"/>
              </a:rPr>
              <a:t> </a:t>
            </a:r>
            <a:r>
              <a:rPr b="1" spc="44" dirty="0">
                <a:solidFill>
                  <a:schemeClr val="bg1"/>
                </a:solidFill>
                <a:latin typeface="Times New Roman" panose="02020603050405020304" pitchFamily="18" charset="0"/>
                <a:cs typeface="Times New Roman" panose="02020603050405020304" pitchFamily="18" charset="0"/>
              </a:rPr>
              <a:t>protocol?</a:t>
            </a:r>
          </a:p>
        </p:txBody>
      </p:sp>
      <p:sp>
        <p:nvSpPr>
          <p:cNvPr id="3" name="object 3"/>
          <p:cNvSpPr txBox="1"/>
          <p:nvPr/>
        </p:nvSpPr>
        <p:spPr>
          <a:xfrm>
            <a:off x="193183" y="1563701"/>
            <a:ext cx="9887442" cy="4904246"/>
          </a:xfrm>
          <a:prstGeom prst="rect">
            <a:avLst/>
          </a:prstGeom>
        </p:spPr>
        <p:txBody>
          <a:bodyPr vert="horz" wrap="square" lIns="0" tIns="99396" rIns="0" bIns="0" rtlCol="0">
            <a:spAutoFit/>
          </a:bodyPr>
          <a:lstStyle/>
          <a:p>
            <a:pPr marL="13999">
              <a:spcBef>
                <a:spcPts val="783"/>
              </a:spcBef>
            </a:pPr>
            <a:r>
              <a:rPr sz="3200" spc="-72" dirty="0">
                <a:latin typeface="Times New Roman" panose="02020603050405020304" pitchFamily="18" charset="0"/>
                <a:cs typeface="Times New Roman" panose="02020603050405020304" pitchFamily="18" charset="0"/>
              </a:rPr>
              <a:t>Factors</a:t>
            </a:r>
            <a:r>
              <a:rPr sz="3200" spc="17"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to</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consider</a:t>
            </a:r>
            <a:r>
              <a:rPr sz="3200" spc="50"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in</a:t>
            </a:r>
            <a:r>
              <a:rPr sz="3200" spc="39"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choosing</a:t>
            </a:r>
            <a:r>
              <a:rPr sz="3200" spc="44"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a</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routing</a:t>
            </a:r>
            <a:r>
              <a:rPr sz="3200" spc="44"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protocol</a:t>
            </a:r>
            <a:endParaRPr sz="3200" dirty="0">
              <a:latin typeface="Times New Roman" panose="02020603050405020304" pitchFamily="18" charset="0"/>
              <a:cs typeface="Times New Roman" panose="02020603050405020304" pitchFamily="18" charset="0"/>
            </a:endParaRPr>
          </a:p>
          <a:p>
            <a:pPr marL="471199" indent="-457200">
              <a:spcBef>
                <a:spcPts val="672"/>
              </a:spcBef>
              <a:buClr>
                <a:srgbClr val="C00000"/>
              </a:buClr>
              <a:buSzPct val="85416"/>
              <a:buFont typeface="Wingdings" panose="05000000000000000000" pitchFamily="2" charset="2"/>
              <a:buChar char="Ø"/>
              <a:tabLst>
                <a:tab pos="315682" algn="l"/>
                <a:tab pos="316382" algn="l"/>
              </a:tabLst>
            </a:pPr>
            <a:r>
              <a:rPr sz="3200" b="1" spc="72" dirty="0">
                <a:solidFill>
                  <a:srgbClr val="FF0000"/>
                </a:solidFill>
                <a:latin typeface="Times New Roman" panose="02020603050405020304" pitchFamily="18" charset="0"/>
                <a:cs typeface="Times New Roman" panose="02020603050405020304" pitchFamily="18" charset="0"/>
              </a:rPr>
              <a:t>Bandwidth</a:t>
            </a:r>
            <a:r>
              <a:rPr sz="3200" b="1" spc="88" dirty="0">
                <a:solidFill>
                  <a:srgbClr val="FF0000"/>
                </a:solidFill>
                <a:latin typeface="Times New Roman" panose="02020603050405020304" pitchFamily="18" charset="0"/>
                <a:cs typeface="Times New Roman" panose="02020603050405020304" pitchFamily="18" charset="0"/>
              </a:rPr>
              <a:t> </a:t>
            </a:r>
            <a:r>
              <a:rPr sz="3200" b="1" spc="44" dirty="0">
                <a:solidFill>
                  <a:srgbClr val="FF0000"/>
                </a:solidFill>
                <a:latin typeface="Times New Roman" panose="02020603050405020304" pitchFamily="18" charset="0"/>
                <a:cs typeface="Times New Roman" panose="02020603050405020304" pitchFamily="18" charset="0"/>
              </a:rPr>
              <a:t>consumption</a:t>
            </a:r>
            <a:endParaRPr sz="3200" dirty="0">
              <a:solidFill>
                <a:srgbClr val="FF0000"/>
              </a:solidFill>
              <a:latin typeface="Times New Roman" panose="02020603050405020304" pitchFamily="18" charset="0"/>
              <a:cs typeface="Times New Roman" panose="02020603050405020304" pitchFamily="18" charset="0"/>
            </a:endParaRPr>
          </a:p>
          <a:p>
            <a:pPr marL="618765" marR="87495" lvl="1" indent="-252686">
              <a:spcBef>
                <a:spcPts val="457"/>
              </a:spcBef>
              <a:buClr>
                <a:srgbClr val="9B2C1F"/>
              </a:buClr>
              <a:buSzPct val="85000"/>
              <a:buFont typeface="Wingdings"/>
              <a:buChar char=""/>
              <a:tabLst>
                <a:tab pos="619465" algn="l"/>
              </a:tabLst>
            </a:pPr>
            <a:r>
              <a:rPr sz="3200" spc="-28" dirty="0">
                <a:latin typeface="Times New Roman" panose="02020603050405020304" pitchFamily="18" charset="0"/>
                <a:cs typeface="Times New Roman" panose="02020603050405020304" pitchFamily="18" charset="0"/>
              </a:rPr>
              <a:t>Timed</a:t>
            </a:r>
            <a:r>
              <a:rPr sz="3200" spc="-6"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updates</a:t>
            </a:r>
            <a:r>
              <a:rPr sz="3200" spc="17"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will</a:t>
            </a:r>
            <a:r>
              <a:rPr sz="3200" spc="17"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consume</a:t>
            </a:r>
            <a:r>
              <a:rPr sz="3200" spc="17"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more</a:t>
            </a:r>
            <a:r>
              <a:rPr sz="3200" spc="17"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bandwidth,</a:t>
            </a:r>
            <a:r>
              <a:rPr sz="3200" spc="6"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although</a:t>
            </a:r>
            <a:r>
              <a:rPr sz="3200" spc="-22"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link-state </a:t>
            </a:r>
            <a:r>
              <a:rPr sz="3200" spc="-77"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initial</a:t>
            </a:r>
            <a:r>
              <a:rPr sz="3200" spc="-6" dirty="0">
                <a:latin typeface="Times New Roman" panose="02020603050405020304" pitchFamily="18" charset="0"/>
                <a:cs typeface="Times New Roman" panose="02020603050405020304" pitchFamily="18" charset="0"/>
              </a:rPr>
              <a:t> </a:t>
            </a:r>
            <a:r>
              <a:rPr sz="3200" spc="-33" dirty="0">
                <a:latin typeface="Times New Roman" panose="02020603050405020304" pitchFamily="18" charset="0"/>
                <a:cs typeface="Times New Roman" panose="02020603050405020304" pitchFamily="18" charset="0"/>
              </a:rPr>
              <a:t>flooding</a:t>
            </a:r>
            <a:r>
              <a:rPr sz="3200"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will</a:t>
            </a:r>
            <a:r>
              <a:rPr sz="3200" spc="33"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consume</a:t>
            </a:r>
            <a:r>
              <a:rPr sz="3200" spc="22"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bandwidth,</a:t>
            </a:r>
            <a:r>
              <a:rPr sz="3200"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later</a:t>
            </a:r>
            <a:r>
              <a:rPr sz="3200" spc="17"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updates</a:t>
            </a:r>
            <a:r>
              <a:rPr sz="3200" spc="11" dirty="0">
                <a:latin typeface="Times New Roman" panose="02020603050405020304" pitchFamily="18" charset="0"/>
                <a:cs typeface="Times New Roman" panose="02020603050405020304" pitchFamily="18" charset="0"/>
              </a:rPr>
              <a:t> </a:t>
            </a:r>
            <a:r>
              <a:rPr sz="3200" spc="-11" dirty="0">
                <a:latin typeface="Times New Roman" panose="02020603050405020304" pitchFamily="18" charset="0"/>
                <a:cs typeface="Times New Roman" panose="02020603050405020304" pitchFamily="18" charset="0"/>
              </a:rPr>
              <a:t>will</a:t>
            </a:r>
            <a:r>
              <a:rPr sz="3200" spc="33"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consume </a:t>
            </a:r>
            <a:r>
              <a:rPr sz="3200" spc="-518"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minimal</a:t>
            </a:r>
            <a:r>
              <a:rPr sz="3200" spc="-28"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amounts.</a:t>
            </a:r>
            <a:endParaRPr sz="3200" dirty="0">
              <a:latin typeface="Times New Roman" panose="02020603050405020304" pitchFamily="18" charset="0"/>
              <a:cs typeface="Times New Roman" panose="02020603050405020304" pitchFamily="18" charset="0"/>
            </a:endParaRPr>
          </a:p>
          <a:p>
            <a:pPr marL="471199" indent="-457200">
              <a:spcBef>
                <a:spcPts val="645"/>
              </a:spcBef>
              <a:buClr>
                <a:srgbClr val="C00000"/>
              </a:buClr>
              <a:buSzPct val="85416"/>
              <a:buFont typeface="Wingdings" panose="05000000000000000000" pitchFamily="2" charset="2"/>
              <a:buChar char="Ø"/>
              <a:tabLst>
                <a:tab pos="315682" algn="l"/>
                <a:tab pos="316382" algn="l"/>
              </a:tabLst>
            </a:pPr>
            <a:r>
              <a:rPr sz="3200" b="1" spc="61" dirty="0">
                <a:solidFill>
                  <a:srgbClr val="FF0000"/>
                </a:solidFill>
                <a:latin typeface="Times New Roman" panose="02020603050405020304" pitchFamily="18" charset="0"/>
                <a:cs typeface="Times New Roman" panose="02020603050405020304" pitchFamily="18" charset="0"/>
              </a:rPr>
              <a:t>Router</a:t>
            </a:r>
            <a:r>
              <a:rPr sz="3200" b="1" spc="72" dirty="0">
                <a:solidFill>
                  <a:srgbClr val="FF0000"/>
                </a:solidFill>
                <a:latin typeface="Times New Roman" panose="02020603050405020304" pitchFamily="18" charset="0"/>
                <a:cs typeface="Times New Roman" panose="02020603050405020304" pitchFamily="18" charset="0"/>
              </a:rPr>
              <a:t> </a:t>
            </a:r>
            <a:r>
              <a:rPr sz="3200" b="1" spc="17" dirty="0">
                <a:solidFill>
                  <a:srgbClr val="FF0000"/>
                </a:solidFill>
                <a:latin typeface="Times New Roman" panose="02020603050405020304" pitchFamily="18" charset="0"/>
                <a:cs typeface="Times New Roman" panose="02020603050405020304" pitchFamily="18" charset="0"/>
              </a:rPr>
              <a:t>processors</a:t>
            </a:r>
            <a:r>
              <a:rPr sz="3200" b="1" spc="110" dirty="0">
                <a:solidFill>
                  <a:srgbClr val="FF0000"/>
                </a:solidFill>
                <a:latin typeface="Times New Roman" panose="02020603050405020304" pitchFamily="18" charset="0"/>
                <a:cs typeface="Times New Roman" panose="02020603050405020304" pitchFamily="18" charset="0"/>
              </a:rPr>
              <a:t> </a:t>
            </a:r>
            <a:r>
              <a:rPr sz="3200" b="1" spc="44" dirty="0">
                <a:solidFill>
                  <a:srgbClr val="FF0000"/>
                </a:solidFill>
                <a:latin typeface="Times New Roman" panose="02020603050405020304" pitchFamily="18" charset="0"/>
                <a:cs typeface="Times New Roman" panose="02020603050405020304" pitchFamily="18" charset="0"/>
              </a:rPr>
              <a:t>capacity</a:t>
            </a:r>
            <a:endParaRPr sz="3200" dirty="0">
              <a:solidFill>
                <a:srgbClr val="FF0000"/>
              </a:solidFill>
              <a:latin typeface="Times New Roman" panose="02020603050405020304" pitchFamily="18" charset="0"/>
              <a:cs typeface="Times New Roman" panose="02020603050405020304" pitchFamily="18" charset="0"/>
            </a:endParaRPr>
          </a:p>
          <a:p>
            <a:pPr marL="618765" marR="198089" lvl="1" indent="-252686">
              <a:spcBef>
                <a:spcPts val="457"/>
              </a:spcBef>
              <a:buClr>
                <a:srgbClr val="9B2C1F"/>
              </a:buClr>
              <a:buSzPct val="85000"/>
              <a:buFont typeface="Wingdings"/>
              <a:buChar char=""/>
              <a:tabLst>
                <a:tab pos="619465" algn="l"/>
              </a:tabLst>
            </a:pPr>
            <a:r>
              <a:rPr sz="3200" spc="-17" dirty="0">
                <a:latin typeface="Times New Roman" panose="02020603050405020304" pitchFamily="18" charset="0"/>
                <a:cs typeface="Times New Roman" panose="02020603050405020304" pitchFamily="18" charset="0"/>
              </a:rPr>
              <a:t>Link</a:t>
            </a:r>
            <a:r>
              <a:rPr sz="3200" spc="17"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state</a:t>
            </a:r>
            <a:r>
              <a:rPr sz="3200" spc="33"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protocols</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require</a:t>
            </a:r>
            <a:r>
              <a:rPr sz="3200" spc="22"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more</a:t>
            </a:r>
            <a:r>
              <a:rPr sz="3200" spc="22" dirty="0">
                <a:latin typeface="Times New Roman" panose="02020603050405020304" pitchFamily="18" charset="0"/>
                <a:cs typeface="Times New Roman" panose="02020603050405020304" pitchFamily="18" charset="0"/>
              </a:rPr>
              <a:t> </a:t>
            </a:r>
            <a:r>
              <a:rPr sz="3200" spc="-22" dirty="0">
                <a:latin typeface="Times New Roman" panose="02020603050405020304" pitchFamily="18" charset="0"/>
                <a:cs typeface="Times New Roman" panose="02020603050405020304" pitchFamily="18" charset="0"/>
              </a:rPr>
              <a:t>of</a:t>
            </a:r>
            <a:r>
              <a:rPr sz="3200" spc="280"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both</a:t>
            </a:r>
            <a:r>
              <a:rPr sz="3200" spc="22"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than</a:t>
            </a:r>
            <a:r>
              <a:rPr sz="3200" spc="17"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does</a:t>
            </a:r>
            <a:r>
              <a:rPr sz="3200" spc="28"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distance</a:t>
            </a:r>
            <a:r>
              <a:rPr sz="3200" spc="28"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vector </a:t>
            </a:r>
            <a:r>
              <a:rPr sz="3200" spc="-513"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protocols.</a:t>
            </a:r>
            <a:endParaRPr sz="3200" dirty="0">
              <a:latin typeface="Times New Roman" panose="02020603050405020304" pitchFamily="18" charset="0"/>
              <a:cs typeface="Times New Roman" panose="02020603050405020304" pitchFamily="18" charset="0"/>
            </a:endParaRPr>
          </a:p>
          <a:p>
            <a:pPr marL="471199" indent="-457200">
              <a:spcBef>
                <a:spcPts val="645"/>
              </a:spcBef>
              <a:buClr>
                <a:srgbClr val="C00000"/>
              </a:buClr>
              <a:buSzPct val="85416"/>
              <a:buFont typeface="Wingdings" panose="05000000000000000000" pitchFamily="2" charset="2"/>
              <a:buChar char="Ø"/>
              <a:tabLst>
                <a:tab pos="315682" algn="l"/>
                <a:tab pos="316382" algn="l"/>
              </a:tabLst>
            </a:pPr>
            <a:r>
              <a:rPr sz="3200" b="1" spc="61" dirty="0">
                <a:solidFill>
                  <a:srgbClr val="C00000"/>
                </a:solidFill>
                <a:latin typeface="Times New Roman" panose="02020603050405020304" pitchFamily="18" charset="0"/>
                <a:cs typeface="Times New Roman" panose="02020603050405020304" pitchFamily="18" charset="0"/>
              </a:rPr>
              <a:t>Router</a:t>
            </a:r>
            <a:r>
              <a:rPr sz="3200" b="1" spc="83" dirty="0">
                <a:solidFill>
                  <a:srgbClr val="C00000"/>
                </a:solidFill>
                <a:latin typeface="Times New Roman" panose="02020603050405020304" pitchFamily="18" charset="0"/>
                <a:cs typeface="Times New Roman" panose="02020603050405020304" pitchFamily="18" charset="0"/>
              </a:rPr>
              <a:t> </a:t>
            </a:r>
            <a:r>
              <a:rPr sz="3200" b="1" spc="50" dirty="0">
                <a:solidFill>
                  <a:srgbClr val="C00000"/>
                </a:solidFill>
                <a:latin typeface="Times New Roman" panose="02020603050405020304" pitchFamily="18" charset="0"/>
                <a:cs typeface="Times New Roman" panose="02020603050405020304" pitchFamily="18" charset="0"/>
              </a:rPr>
              <a:t>memory:</a:t>
            </a:r>
            <a:r>
              <a:rPr sz="3200" b="1" spc="116" dirty="0">
                <a:solidFill>
                  <a:srgbClr val="C00000"/>
                </a:solidFill>
                <a:latin typeface="Times New Roman" panose="02020603050405020304" pitchFamily="18" charset="0"/>
                <a:cs typeface="Times New Roman" panose="02020603050405020304" pitchFamily="18" charset="0"/>
              </a:rPr>
              <a:t> </a:t>
            </a:r>
            <a:r>
              <a:rPr sz="3200" spc="-6" dirty="0">
                <a:latin typeface="Times New Roman" panose="02020603050405020304" pitchFamily="18" charset="0"/>
                <a:cs typeface="Times New Roman" panose="02020603050405020304" pitchFamily="18" charset="0"/>
              </a:rPr>
              <a:t>Size</a:t>
            </a:r>
            <a:r>
              <a:rPr sz="3200" spc="17" dirty="0">
                <a:latin typeface="Times New Roman" panose="02020603050405020304" pitchFamily="18" charset="0"/>
                <a:cs typeface="Times New Roman" panose="02020603050405020304" pitchFamily="18" charset="0"/>
              </a:rPr>
              <a:t> </a:t>
            </a:r>
            <a:r>
              <a:rPr sz="3200" spc="-22" dirty="0">
                <a:latin typeface="Times New Roman" panose="02020603050405020304" pitchFamily="18" charset="0"/>
                <a:cs typeface="Times New Roman" panose="02020603050405020304" pitchFamily="18" charset="0"/>
              </a:rPr>
              <a:t>of</a:t>
            </a:r>
            <a:r>
              <a:rPr sz="3200" spc="248"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routing</a:t>
            </a:r>
            <a:r>
              <a:rPr sz="3200"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table</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4590" y="254275"/>
            <a:ext cx="6498849" cy="691244"/>
          </a:xfrm>
          <a:prstGeom prst="rect">
            <a:avLst/>
          </a:prstGeom>
        </p:spPr>
        <p:txBody>
          <a:bodyPr vert="horz" wrap="square" lIns="0" tIns="13999" rIns="0" bIns="0" rtlCol="0" anchor="ctr">
            <a:spAutoFit/>
          </a:bodyPr>
          <a:lstStyle/>
          <a:p>
            <a:pPr marL="13999">
              <a:lnSpc>
                <a:spcPct val="100000"/>
              </a:lnSpc>
              <a:spcBef>
                <a:spcPts val="110"/>
              </a:spcBef>
            </a:pPr>
            <a:r>
              <a:rPr b="1" spc="237" dirty="0">
                <a:solidFill>
                  <a:schemeClr val="bg1"/>
                </a:solidFill>
                <a:latin typeface="Times New Roman" panose="02020603050405020304" pitchFamily="18" charset="0"/>
                <a:cs typeface="Times New Roman" panose="02020603050405020304" pitchFamily="18" charset="0"/>
              </a:rPr>
              <a:t>Which</a:t>
            </a:r>
            <a:r>
              <a:rPr b="1" spc="39" dirty="0">
                <a:solidFill>
                  <a:schemeClr val="bg1"/>
                </a:solidFill>
                <a:latin typeface="Times New Roman" panose="02020603050405020304" pitchFamily="18" charset="0"/>
                <a:cs typeface="Times New Roman" panose="02020603050405020304" pitchFamily="18" charset="0"/>
              </a:rPr>
              <a:t> </a:t>
            </a:r>
            <a:r>
              <a:rPr b="1" spc="105" dirty="0">
                <a:solidFill>
                  <a:schemeClr val="bg1"/>
                </a:solidFill>
                <a:latin typeface="Times New Roman" panose="02020603050405020304" pitchFamily="18" charset="0"/>
                <a:cs typeface="Times New Roman" panose="02020603050405020304" pitchFamily="18" charset="0"/>
              </a:rPr>
              <a:t>routing</a:t>
            </a:r>
            <a:r>
              <a:rPr b="1" spc="72" dirty="0">
                <a:solidFill>
                  <a:schemeClr val="bg1"/>
                </a:solidFill>
                <a:latin typeface="Times New Roman" panose="02020603050405020304" pitchFamily="18" charset="0"/>
                <a:cs typeface="Times New Roman" panose="02020603050405020304" pitchFamily="18" charset="0"/>
              </a:rPr>
              <a:t> </a:t>
            </a:r>
            <a:r>
              <a:rPr b="1" spc="44" dirty="0">
                <a:solidFill>
                  <a:schemeClr val="bg1"/>
                </a:solidFill>
                <a:latin typeface="Times New Roman" panose="02020603050405020304" pitchFamily="18" charset="0"/>
                <a:cs typeface="Times New Roman" panose="02020603050405020304" pitchFamily="18" charset="0"/>
              </a:rPr>
              <a:t>protocol?</a:t>
            </a:r>
          </a:p>
        </p:txBody>
      </p:sp>
      <p:sp>
        <p:nvSpPr>
          <p:cNvPr id="3" name="object 3"/>
          <p:cNvSpPr txBox="1"/>
          <p:nvPr/>
        </p:nvSpPr>
        <p:spPr>
          <a:xfrm>
            <a:off x="193183" y="1563701"/>
            <a:ext cx="9887442" cy="3752649"/>
          </a:xfrm>
          <a:prstGeom prst="rect">
            <a:avLst/>
          </a:prstGeom>
        </p:spPr>
        <p:txBody>
          <a:bodyPr vert="horz" wrap="square" lIns="0" tIns="99396" rIns="0" bIns="0" rtlCol="0">
            <a:spAutoFit/>
          </a:bodyPr>
          <a:lstStyle/>
          <a:p>
            <a:pPr marL="13999">
              <a:spcBef>
                <a:spcPts val="783"/>
              </a:spcBef>
            </a:pPr>
            <a:r>
              <a:rPr sz="3200" spc="-72" dirty="0">
                <a:latin typeface="Times New Roman" panose="02020603050405020304" pitchFamily="18" charset="0"/>
                <a:cs typeface="Times New Roman" panose="02020603050405020304" pitchFamily="18" charset="0"/>
              </a:rPr>
              <a:t>Factors</a:t>
            </a:r>
            <a:r>
              <a:rPr sz="3200" spc="17"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to</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consider</a:t>
            </a:r>
            <a:r>
              <a:rPr sz="3200" spc="50"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in</a:t>
            </a:r>
            <a:r>
              <a:rPr sz="3200" spc="39"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choosing</a:t>
            </a:r>
            <a:r>
              <a:rPr sz="3200" spc="44"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a</a:t>
            </a:r>
            <a:r>
              <a:rPr sz="3200" spc="3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routing</a:t>
            </a:r>
            <a:r>
              <a:rPr sz="3200" spc="44" dirty="0">
                <a:latin typeface="Times New Roman" panose="02020603050405020304" pitchFamily="18" charset="0"/>
                <a:cs typeface="Times New Roman" panose="02020603050405020304" pitchFamily="18" charset="0"/>
              </a:rPr>
              <a:t> </a:t>
            </a:r>
            <a:r>
              <a:rPr sz="3200" spc="-55" dirty="0">
                <a:latin typeface="Times New Roman" panose="02020603050405020304" pitchFamily="18" charset="0"/>
                <a:cs typeface="Times New Roman" panose="02020603050405020304" pitchFamily="18" charset="0"/>
              </a:rPr>
              <a:t>protocol</a:t>
            </a:r>
            <a:endParaRPr sz="3200" dirty="0">
              <a:latin typeface="Times New Roman" panose="02020603050405020304" pitchFamily="18" charset="0"/>
              <a:cs typeface="Times New Roman" panose="02020603050405020304" pitchFamily="18" charset="0"/>
            </a:endParaRPr>
          </a:p>
          <a:p>
            <a:pPr marL="471199" indent="-457200">
              <a:spcBef>
                <a:spcPts val="645"/>
              </a:spcBef>
              <a:buClr>
                <a:srgbClr val="C00000"/>
              </a:buClr>
              <a:buSzPct val="85416"/>
              <a:buFont typeface="Wingdings" panose="05000000000000000000" pitchFamily="2" charset="2"/>
              <a:buChar char="Ø"/>
              <a:tabLst>
                <a:tab pos="315682" algn="l"/>
                <a:tab pos="316382" algn="l"/>
              </a:tabLst>
            </a:pPr>
            <a:r>
              <a:rPr sz="3200" b="1" spc="55" dirty="0">
                <a:solidFill>
                  <a:srgbClr val="C00000"/>
                </a:solidFill>
                <a:latin typeface="Times New Roman" panose="02020603050405020304" pitchFamily="18" charset="0"/>
                <a:cs typeface="Times New Roman" panose="02020603050405020304" pitchFamily="18" charset="0"/>
              </a:rPr>
              <a:t>Convergence</a:t>
            </a:r>
            <a:r>
              <a:rPr sz="3200" b="1" spc="83" dirty="0">
                <a:solidFill>
                  <a:srgbClr val="C00000"/>
                </a:solidFill>
                <a:latin typeface="Times New Roman" panose="02020603050405020304" pitchFamily="18" charset="0"/>
                <a:cs typeface="Times New Roman" panose="02020603050405020304" pitchFamily="18" charset="0"/>
              </a:rPr>
              <a:t> </a:t>
            </a:r>
            <a:r>
              <a:rPr sz="3200" b="1" spc="28" dirty="0">
                <a:solidFill>
                  <a:srgbClr val="C00000"/>
                </a:solidFill>
                <a:latin typeface="Times New Roman" panose="02020603050405020304" pitchFamily="18" charset="0"/>
                <a:cs typeface="Times New Roman" panose="02020603050405020304" pitchFamily="18" charset="0"/>
              </a:rPr>
              <a:t>time</a:t>
            </a:r>
            <a:endParaRPr sz="3200" dirty="0">
              <a:latin typeface="Times New Roman" panose="02020603050405020304" pitchFamily="18" charset="0"/>
              <a:cs typeface="Times New Roman" panose="02020603050405020304" pitchFamily="18" charset="0"/>
            </a:endParaRPr>
          </a:p>
          <a:p>
            <a:pPr marL="618765" marR="5600" lvl="1" indent="-252686">
              <a:spcBef>
                <a:spcPts val="457"/>
              </a:spcBef>
              <a:buClr>
                <a:srgbClr val="9B2C1F"/>
              </a:buClr>
              <a:buSzPct val="85000"/>
              <a:buFont typeface="Wingdings"/>
              <a:buChar char=""/>
              <a:tabLst>
                <a:tab pos="619465" algn="l"/>
              </a:tabLst>
            </a:pPr>
            <a:r>
              <a:rPr sz="3200" spc="-22" dirty="0">
                <a:latin typeface="Times New Roman" panose="02020603050405020304" pitchFamily="18" charset="0"/>
                <a:cs typeface="Times New Roman" panose="02020603050405020304" pitchFamily="18" charset="0"/>
              </a:rPr>
              <a:t>Time</a:t>
            </a:r>
            <a:r>
              <a:rPr sz="3200" spc="6"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require</a:t>
            </a:r>
            <a:r>
              <a:rPr sz="3200" spc="22" dirty="0">
                <a:latin typeface="Times New Roman" panose="02020603050405020304" pitchFamily="18" charset="0"/>
                <a:cs typeface="Times New Roman" panose="02020603050405020304" pitchFamily="18" charset="0"/>
              </a:rPr>
              <a:t> </a:t>
            </a:r>
            <a:r>
              <a:rPr sz="3200" spc="-44" dirty="0">
                <a:latin typeface="Times New Roman" panose="02020603050405020304" pitchFamily="18" charset="0"/>
                <a:cs typeface="Times New Roman" panose="02020603050405020304" pitchFamily="18" charset="0"/>
              </a:rPr>
              <a:t>to</a:t>
            </a:r>
            <a:r>
              <a:rPr sz="3200" spc="39" dirty="0">
                <a:latin typeface="Times New Roman" panose="02020603050405020304" pitchFamily="18" charset="0"/>
                <a:cs typeface="Times New Roman" panose="02020603050405020304" pitchFamily="18" charset="0"/>
              </a:rPr>
              <a:t> </a:t>
            </a:r>
            <a:r>
              <a:rPr sz="3200" spc="-33" dirty="0">
                <a:latin typeface="Times New Roman" panose="02020603050405020304" pitchFamily="18" charset="0"/>
                <a:cs typeface="Times New Roman" panose="02020603050405020304" pitchFamily="18" charset="0"/>
              </a:rPr>
              <a:t>all</a:t>
            </a:r>
            <a:r>
              <a:rPr sz="3200" spc="11"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routers</a:t>
            </a:r>
            <a:r>
              <a:rPr sz="3200" spc="33" dirty="0">
                <a:latin typeface="Times New Roman" panose="02020603050405020304" pitchFamily="18" charset="0"/>
                <a:cs typeface="Times New Roman" panose="02020603050405020304" pitchFamily="18" charset="0"/>
              </a:rPr>
              <a:t> </a:t>
            </a:r>
            <a:r>
              <a:rPr sz="3200" spc="-44" dirty="0">
                <a:latin typeface="Times New Roman" panose="02020603050405020304" pitchFamily="18" charset="0"/>
                <a:cs typeface="Times New Roman" panose="02020603050405020304" pitchFamily="18" charset="0"/>
              </a:rPr>
              <a:t>within</a:t>
            </a:r>
            <a:r>
              <a:rPr sz="3200" spc="28"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an</a:t>
            </a:r>
            <a:r>
              <a:rPr sz="3200" spc="28"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internetwork</a:t>
            </a:r>
            <a:r>
              <a:rPr sz="3200" spc="44"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are</a:t>
            </a:r>
            <a:r>
              <a:rPr sz="3200" spc="22"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operating</a:t>
            </a:r>
            <a:r>
              <a:rPr sz="3200" spc="17" dirty="0">
                <a:latin typeface="Times New Roman" panose="02020603050405020304" pitchFamily="18" charset="0"/>
                <a:cs typeface="Times New Roman" panose="02020603050405020304" pitchFamily="18" charset="0"/>
              </a:rPr>
              <a:t> </a:t>
            </a:r>
            <a:r>
              <a:rPr sz="3200" spc="-33" dirty="0">
                <a:latin typeface="Times New Roman" panose="02020603050405020304" pitchFamily="18" charset="0"/>
                <a:cs typeface="Times New Roman" panose="02020603050405020304" pitchFamily="18" charset="0"/>
              </a:rPr>
              <a:t>with </a:t>
            </a:r>
            <a:r>
              <a:rPr sz="3200" spc="-513" dirty="0">
                <a:latin typeface="Times New Roman" panose="02020603050405020304" pitchFamily="18" charset="0"/>
                <a:cs typeface="Times New Roman" panose="02020603050405020304" pitchFamily="18" charset="0"/>
              </a:rPr>
              <a:t> </a:t>
            </a:r>
            <a:r>
              <a:rPr sz="3200" spc="-77" dirty="0">
                <a:latin typeface="Times New Roman" panose="02020603050405020304" pitchFamily="18" charset="0"/>
                <a:cs typeface="Times New Roman" panose="02020603050405020304" pitchFamily="18" charset="0"/>
              </a:rPr>
              <a:t>the</a:t>
            </a:r>
            <a:r>
              <a:rPr sz="3200" spc="-6"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same</a:t>
            </a:r>
            <a:r>
              <a:rPr sz="3200" spc="22" dirty="0">
                <a:latin typeface="Times New Roman" panose="02020603050405020304" pitchFamily="18" charset="0"/>
                <a:cs typeface="Times New Roman" panose="02020603050405020304" pitchFamily="18" charset="0"/>
              </a:rPr>
              <a:t> </a:t>
            </a:r>
            <a:r>
              <a:rPr sz="3200" spc="-50" dirty="0">
                <a:latin typeface="Times New Roman" panose="02020603050405020304" pitchFamily="18" charset="0"/>
                <a:cs typeface="Times New Roman" panose="02020603050405020304" pitchFamily="18" charset="0"/>
              </a:rPr>
              <a:t>knowledge</a:t>
            </a:r>
            <a:endParaRPr sz="3200" dirty="0">
              <a:latin typeface="Times New Roman" panose="02020603050405020304" pitchFamily="18" charset="0"/>
              <a:cs typeface="Times New Roman" panose="02020603050405020304" pitchFamily="18" charset="0"/>
            </a:endParaRPr>
          </a:p>
          <a:p>
            <a:pPr marL="618765" lvl="1" indent="-252686">
              <a:spcBef>
                <a:spcPts val="451"/>
              </a:spcBef>
              <a:buClr>
                <a:srgbClr val="9B2C1F"/>
              </a:buClr>
              <a:buSzPct val="85000"/>
              <a:buFont typeface="Wingdings"/>
              <a:buChar char=""/>
              <a:tabLst>
                <a:tab pos="619465" algn="l"/>
              </a:tabLst>
            </a:pPr>
            <a:r>
              <a:rPr sz="3200" spc="-39" dirty="0">
                <a:latin typeface="Times New Roman" panose="02020603050405020304" pitchFamily="18" charset="0"/>
                <a:cs typeface="Times New Roman" panose="02020603050405020304" pitchFamily="18" charset="0"/>
              </a:rPr>
              <a:t>Some</a:t>
            </a:r>
            <a:r>
              <a:rPr sz="3200" spc="6" dirty="0">
                <a:latin typeface="Times New Roman" panose="02020603050405020304" pitchFamily="18" charset="0"/>
                <a:cs typeface="Times New Roman" panose="02020603050405020304" pitchFamily="18" charset="0"/>
              </a:rPr>
              <a:t> </a:t>
            </a:r>
            <a:r>
              <a:rPr sz="3200" spc="-39" dirty="0">
                <a:latin typeface="Times New Roman" panose="02020603050405020304" pitchFamily="18" charset="0"/>
                <a:cs typeface="Times New Roman" panose="02020603050405020304" pitchFamily="18" charset="0"/>
              </a:rPr>
              <a:t>protocol</a:t>
            </a:r>
            <a:r>
              <a:rPr sz="3200" spc="11"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has</a:t>
            </a:r>
            <a:r>
              <a:rPr sz="3200" spc="17" dirty="0">
                <a:latin typeface="Times New Roman" panose="02020603050405020304" pitchFamily="18" charset="0"/>
                <a:cs typeface="Times New Roman" panose="02020603050405020304" pitchFamily="18" charset="0"/>
              </a:rPr>
              <a:t> </a:t>
            </a:r>
            <a:r>
              <a:rPr sz="3200" spc="-83" dirty="0">
                <a:latin typeface="Times New Roman" panose="02020603050405020304" pitchFamily="18" charset="0"/>
                <a:cs typeface="Times New Roman" panose="02020603050405020304" pitchFamily="18" charset="0"/>
              </a:rPr>
              <a:t>faster</a:t>
            </a:r>
            <a:r>
              <a:rPr sz="3200" spc="33"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convergence</a:t>
            </a:r>
            <a:r>
              <a:rPr sz="3200"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time</a:t>
            </a:r>
            <a:r>
              <a:rPr sz="3200" spc="22" dirty="0">
                <a:latin typeface="Times New Roman" panose="02020603050405020304" pitchFamily="18" charset="0"/>
                <a:cs typeface="Times New Roman" panose="02020603050405020304" pitchFamily="18" charset="0"/>
              </a:rPr>
              <a:t> </a:t>
            </a:r>
            <a:r>
              <a:rPr sz="3200" spc="-28" dirty="0">
                <a:latin typeface="Times New Roman" panose="02020603050405020304" pitchFamily="18" charset="0"/>
                <a:cs typeface="Times New Roman" panose="02020603050405020304" pitchFamily="18" charset="0"/>
              </a:rPr>
              <a:t>while</a:t>
            </a:r>
            <a:r>
              <a:rPr sz="3200" spc="22"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other</a:t>
            </a:r>
            <a:r>
              <a:rPr sz="3200" spc="33" dirty="0">
                <a:latin typeface="Times New Roman" panose="02020603050405020304" pitchFamily="18" charset="0"/>
                <a:cs typeface="Times New Roman" panose="02020603050405020304" pitchFamily="18" charset="0"/>
              </a:rPr>
              <a:t> </a:t>
            </a:r>
            <a:r>
              <a:rPr sz="3200" spc="-66" dirty="0">
                <a:latin typeface="Times New Roman" panose="02020603050405020304" pitchFamily="18" charset="0"/>
                <a:cs typeface="Times New Roman" panose="02020603050405020304" pitchFamily="18" charset="0"/>
              </a:rPr>
              <a:t>has</a:t>
            </a:r>
            <a:r>
              <a:rPr sz="3200" spc="22"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problem</a:t>
            </a:r>
            <a:endParaRPr sz="3200" dirty="0">
              <a:latin typeface="Times New Roman" panose="02020603050405020304" pitchFamily="18" charset="0"/>
              <a:cs typeface="Times New Roman" panose="02020603050405020304" pitchFamily="18" charset="0"/>
            </a:endParaRPr>
          </a:p>
          <a:p>
            <a:pPr marL="618765"/>
            <a:r>
              <a:rPr sz="3200" spc="-61" dirty="0">
                <a:latin typeface="Times New Roman" panose="02020603050405020304" pitchFamily="18" charset="0"/>
                <a:cs typeface="Times New Roman" panose="02020603050405020304" pitchFamily="18" charset="0"/>
              </a:rPr>
              <a:t>such</a:t>
            </a:r>
            <a:r>
              <a:rPr sz="3200" spc="6" dirty="0">
                <a:latin typeface="Times New Roman" panose="02020603050405020304" pitchFamily="18" charset="0"/>
                <a:cs typeface="Times New Roman" panose="02020603050405020304" pitchFamily="18" charset="0"/>
              </a:rPr>
              <a:t> </a:t>
            </a:r>
            <a:r>
              <a:rPr sz="3200" spc="-72" dirty="0">
                <a:latin typeface="Times New Roman" panose="02020603050405020304" pitchFamily="18" charset="0"/>
                <a:cs typeface="Times New Roman" panose="02020603050405020304" pitchFamily="18" charset="0"/>
              </a:rPr>
              <a:t>as</a:t>
            </a:r>
            <a:r>
              <a:rPr sz="3200" spc="6" dirty="0">
                <a:latin typeface="Times New Roman" panose="02020603050405020304" pitchFamily="18" charset="0"/>
                <a:cs typeface="Times New Roman" panose="02020603050405020304" pitchFamily="18" charset="0"/>
              </a:rPr>
              <a:t> </a:t>
            </a:r>
            <a:r>
              <a:rPr sz="3200" spc="-61" dirty="0">
                <a:latin typeface="Times New Roman" panose="02020603050405020304" pitchFamily="18" charset="0"/>
                <a:cs typeface="Times New Roman" panose="02020603050405020304" pitchFamily="18" charset="0"/>
              </a:rPr>
              <a:t>routing</a:t>
            </a:r>
            <a:r>
              <a:rPr sz="3200" spc="-6" dirty="0">
                <a:latin typeface="Times New Roman" panose="02020603050405020304" pitchFamily="18" charset="0"/>
                <a:cs typeface="Times New Roman" panose="02020603050405020304" pitchFamily="18" charset="0"/>
              </a:rPr>
              <a:t> </a:t>
            </a:r>
            <a:r>
              <a:rPr sz="3200" spc="-44" dirty="0">
                <a:latin typeface="Times New Roman" panose="02020603050405020304" pitchFamily="18" charset="0"/>
                <a:cs typeface="Times New Roman" panose="02020603050405020304" pitchFamily="18" charset="0"/>
              </a:rPr>
              <a:t>loops</a:t>
            </a:r>
            <a:endParaRP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6262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71" name="CustomShape 1"/>
          <p:cNvSpPr/>
          <p:nvPr/>
        </p:nvSpPr>
        <p:spPr>
          <a:xfrm>
            <a:off x="9180000" y="6804000"/>
            <a:ext cx="718920" cy="71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C2198156-94BD-48D4-8A24-50D926417968}" type="slidenum">
              <a:rPr lang="en-US" sz="1800" b="1" strike="noStrike" spc="-1">
                <a:solidFill>
                  <a:srgbClr val="FFFFFF"/>
                </a:solidFill>
                <a:latin typeface="Noto Sans Black"/>
                <a:ea typeface="DejaVu Sans"/>
              </a:rPr>
              <a:t>124</a:t>
            </a:fld>
            <a:endParaRPr lang="en-US" sz="1800" b="0" strike="noStrike" spc="-1">
              <a:solidFill>
                <a:srgbClr val="FFFFFF"/>
              </a:solidFill>
              <a:latin typeface="Arial"/>
            </a:endParaRPr>
          </a:p>
        </p:txBody>
      </p:sp>
      <p:pic>
        <p:nvPicPr>
          <p:cNvPr id="272" name="Picture 4"/>
          <p:cNvPicPr/>
          <p:nvPr/>
        </p:nvPicPr>
        <p:blipFill>
          <a:blip r:embed="rId3"/>
          <a:stretch/>
        </p:blipFill>
        <p:spPr>
          <a:xfrm>
            <a:off x="1255320" y="-214560"/>
            <a:ext cx="7923600" cy="7693560"/>
          </a:xfrm>
          <a:prstGeom prst="rect">
            <a:avLst/>
          </a:prstGeom>
          <a:ln w="0">
            <a:noFill/>
          </a:ln>
        </p:spPr>
      </p:pic>
    </p:spTree>
    <p:extLst>
      <p:ext uri="{BB962C8B-B14F-4D97-AF65-F5344CB8AC3E}">
        <p14:creationId xmlns:p14="http://schemas.microsoft.com/office/powerpoint/2010/main" val="2855250020"/>
      </p:ext>
    </p:extLst>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73" name="CustomShape 1"/>
          <p:cNvSpPr/>
          <p:nvPr/>
        </p:nvSpPr>
        <p:spPr>
          <a:xfrm>
            <a:off x="2451635" y="2155969"/>
            <a:ext cx="5177353" cy="215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chorCtr="1">
            <a:noAutofit/>
          </a:bodyPr>
          <a:lstStyle/>
          <a:p>
            <a:pPr algn="ctr">
              <a:lnSpc>
                <a:spcPct val="100000"/>
              </a:lnSpc>
            </a:pPr>
            <a:r>
              <a:rPr lang="en-US" sz="4800" b="1" strike="noStrike" spc="-1" dirty="0">
                <a:solidFill>
                  <a:srgbClr val="2C3E50"/>
                </a:solidFill>
                <a:latin typeface="Times New Roman" panose="02020603050405020304" pitchFamily="18" charset="0"/>
                <a:ea typeface="DejaVu Sans"/>
                <a:cs typeface="Times New Roman" panose="02020603050405020304" pitchFamily="18" charset="0"/>
              </a:rPr>
              <a:t>NEXT LECTURE </a:t>
            </a:r>
            <a:br>
              <a:rPr sz="2800">
                <a:latin typeface="Times New Roman" panose="02020603050405020304" pitchFamily="18" charset="0"/>
                <a:cs typeface="Times New Roman" panose="02020603050405020304" pitchFamily="18" charset="0"/>
              </a:rPr>
            </a:br>
            <a:r>
              <a:rPr lang="en-US" sz="2800" b="1">
                <a:solidFill>
                  <a:srgbClr val="FF0000"/>
                </a:solidFill>
                <a:latin typeface="Times New Roman" panose="02020603050405020304" pitchFamily="18" charset="0"/>
                <a:cs typeface="Times New Roman" panose="02020603050405020304" pitchFamily="18" charset="0"/>
              </a:rPr>
              <a:t>ROUTING LOOPS</a:t>
            </a:r>
            <a:endParaRPr lang="en-US" sz="28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xmlns:p15="http://schemas.microsoft.com/office/powerpoint/2012/main">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../../../../usr/lib/libreoffice/share/template/common/presnt/Midnightblue.otp</Template>
  <TotalTime>19300</TotalTime>
  <Words>7537</Words>
  <Application>Microsoft Office PowerPoint</Application>
  <PresentationFormat>Custom</PresentationFormat>
  <Paragraphs>601</Paragraphs>
  <Slides>125</Slides>
  <Notes>4</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125</vt:i4>
      </vt:variant>
    </vt:vector>
  </HeadingPairs>
  <TitlesOfParts>
    <vt:vector size="139" baseType="lpstr">
      <vt:lpstr>Arial</vt:lpstr>
      <vt:lpstr>Calibri</vt:lpstr>
      <vt:lpstr>Courier New</vt:lpstr>
      <vt:lpstr>Franklin Gothic Medium</vt:lpstr>
      <vt:lpstr>Georgia</vt:lpstr>
      <vt:lpstr>Noto Sans Black</vt:lpstr>
      <vt:lpstr>Segoe UI Symbol</vt:lpstr>
      <vt:lpstr>Symbol</vt:lpstr>
      <vt:lpstr>Times New Roman</vt:lpstr>
      <vt:lpstr>Wingdings</vt:lpstr>
      <vt:lpstr>Office Theme</vt:lpstr>
      <vt:lpstr>Office Theme</vt:lpstr>
      <vt:lpstr>Office Theme</vt:lpstr>
      <vt:lpstr>Office Theme</vt:lpstr>
      <vt:lpstr>PowerPoint Presentation</vt:lpstr>
      <vt:lpstr>OUTLINE</vt:lpstr>
      <vt:lpstr>Routing Basics</vt:lpstr>
      <vt:lpstr>Routing Basics</vt:lpstr>
      <vt:lpstr>Role of the Router</vt:lpstr>
      <vt:lpstr>Routing Table</vt:lpstr>
      <vt:lpstr>Packet Routing: Basic Concepts</vt:lpstr>
      <vt:lpstr>Packet Routing: Basic Concepts</vt:lpstr>
      <vt:lpstr>Directly Connected Routes</vt:lpstr>
      <vt:lpstr>Connected Routes Only, on R1 and R2</vt:lpstr>
      <vt:lpstr>Routing Table Fields</vt:lpstr>
      <vt:lpstr>Routing Table Fields</vt:lpstr>
      <vt:lpstr>Static Routes</vt:lpstr>
      <vt:lpstr>Static Routes</vt:lpstr>
      <vt:lpstr>Static Routes in a Small, Non-redundant  Network</vt:lpstr>
      <vt:lpstr>Static routing versus dynamic routing</vt:lpstr>
      <vt:lpstr>Configuring static routes</vt:lpstr>
      <vt:lpstr>Configuring static routes</vt:lpstr>
      <vt:lpstr>Configuring static routes</vt:lpstr>
      <vt:lpstr>Configuring a Static Route with an Exit Interface</vt:lpstr>
      <vt:lpstr>Configuring static routes</vt:lpstr>
      <vt:lpstr>PowerPoint Presentation</vt:lpstr>
      <vt:lpstr>Static Routing</vt:lpstr>
      <vt:lpstr>Configuring static routes</vt:lpstr>
      <vt:lpstr>Configuring static routes</vt:lpstr>
      <vt:lpstr>Show ip route command</vt:lpstr>
      <vt:lpstr>Static Route Configurations</vt:lpstr>
      <vt:lpstr>R1: Configuring a Static Route Using the  Outgoing Interface</vt:lpstr>
      <vt:lpstr>R1: Configuring a Static Route Using the  Outgoing Interface</vt:lpstr>
      <vt:lpstr>R1: Configuring a Static Route Using the Outgoing  Interface</vt:lpstr>
      <vt:lpstr>R2: Configuring a Static Route Using the  Next-Hop IP Address</vt:lpstr>
      <vt:lpstr>ISDN Dial Backup</vt:lpstr>
      <vt:lpstr>ISDN Dial Backup</vt:lpstr>
      <vt:lpstr>ISDN Dial Backup</vt:lpstr>
      <vt:lpstr>ISDN Dial Backup</vt:lpstr>
      <vt:lpstr>The Need for Static Routes</vt:lpstr>
      <vt:lpstr>Administrative Distance on Static Routes</vt:lpstr>
      <vt:lpstr>Administrative Distance on Static Routes</vt:lpstr>
      <vt:lpstr>Administrative Distance on Static Routes</vt:lpstr>
      <vt:lpstr>Administrative Distance on Static Routes</vt:lpstr>
      <vt:lpstr>Administrative Distance on Static Routes</vt:lpstr>
      <vt:lpstr>Administrative Distance on Static Routes</vt:lpstr>
      <vt:lpstr>Administrative Distance on Static Routes</vt:lpstr>
      <vt:lpstr>Administrative Distance on Static Routes</vt:lpstr>
      <vt:lpstr>Administrative Distance on Static Routes</vt:lpstr>
      <vt:lpstr>Administrative Distance on Static Routes</vt:lpstr>
      <vt:lpstr>PowerPoint Presentation</vt:lpstr>
      <vt:lpstr>Administrative Distance and Metric</vt:lpstr>
      <vt:lpstr>Statically Defined Default Routes</vt:lpstr>
      <vt:lpstr>Statically Defined Default Routes</vt:lpstr>
      <vt:lpstr>Configuring a Default Static Route</vt:lpstr>
      <vt:lpstr>Configuring a Default Static Route</vt:lpstr>
      <vt:lpstr>Verifying Static Routes</vt:lpstr>
      <vt:lpstr>Verifying Static Routes</vt:lpstr>
      <vt:lpstr>Verifying Static Routes</vt:lpstr>
      <vt:lpstr>Testing Routes with ping and traceroute commands</vt:lpstr>
      <vt:lpstr>Testing Routes with ping and traceroute commands</vt:lpstr>
      <vt:lpstr>Dynamic Routing Protocols</vt:lpstr>
      <vt:lpstr>Routers Route Packets</vt:lpstr>
      <vt:lpstr>Routed and Routing Protocols</vt:lpstr>
      <vt:lpstr>Routing Protocol Functions</vt:lpstr>
      <vt:lpstr>Routed and Routing Protocols</vt:lpstr>
      <vt:lpstr>Basic Functions of Routing Protocols</vt:lpstr>
      <vt:lpstr>Network Convergence</vt:lpstr>
      <vt:lpstr>Network Convergence</vt:lpstr>
      <vt:lpstr>Autonomous System (AS)</vt:lpstr>
      <vt:lpstr>Autonomous System Number</vt:lpstr>
      <vt:lpstr>Interior and Exterior Routing Protocols</vt:lpstr>
      <vt:lpstr>Interior and Exterior Routing Protocols</vt:lpstr>
      <vt:lpstr>Locations for Using IGPs and EGPs</vt:lpstr>
      <vt:lpstr>Routing Protocol Algorithms</vt:lpstr>
      <vt:lpstr>Routing Protocol Algorithms</vt:lpstr>
      <vt:lpstr>Metric to Determine Route</vt:lpstr>
      <vt:lpstr>Metric to Determine Route</vt:lpstr>
      <vt:lpstr>Metric to Determine Route</vt:lpstr>
      <vt:lpstr>Metric to Determine Route</vt:lpstr>
      <vt:lpstr>Distance Vector Routing Protocols</vt:lpstr>
      <vt:lpstr>Distance Vector Routing Protocols</vt:lpstr>
      <vt:lpstr>Distance Vector Routing Protocols</vt:lpstr>
      <vt:lpstr>How RIP Advertises Routes</vt:lpstr>
      <vt:lpstr>Using a Hop Count Metric to Choose a Route</vt:lpstr>
      <vt:lpstr>A Graphical Representation of the  Distance Vector Concept</vt:lpstr>
      <vt:lpstr>A Graphical Representation of the  Distance Vector Concept</vt:lpstr>
      <vt:lpstr>Distance Vector Protocols Summary</vt:lpstr>
      <vt:lpstr>Link-State Routing Protocols</vt:lpstr>
      <vt:lpstr>Link-State Routing Protocols</vt:lpstr>
      <vt:lpstr>Flooding and Link-State Database</vt:lpstr>
      <vt:lpstr>Flooding and Link-State Database</vt:lpstr>
      <vt:lpstr>Open Shortest Path First (OSPF) Protocol</vt:lpstr>
      <vt:lpstr>Discover the topology of the network</vt:lpstr>
      <vt:lpstr>Link-State Routing Protocols</vt:lpstr>
      <vt:lpstr>Link-State Routing Protocols</vt:lpstr>
      <vt:lpstr>Link-State Routing Protocols</vt:lpstr>
      <vt:lpstr>Flooding LSAs Using a Link-State  Routing Protocol</vt:lpstr>
      <vt:lpstr>Flooding LSAs Using a Link-State  Routing Protocol (Continued)</vt:lpstr>
      <vt:lpstr>Flooding LSAs Using a Link-State  Routing Protocol (Continued)</vt:lpstr>
      <vt:lpstr>Dijkstra Shortest Path First (SPF)  Algorithm</vt:lpstr>
      <vt:lpstr>SPF Tree to Find R1’s Route to 172.16.3.0/24</vt:lpstr>
      <vt:lpstr>Reacting to Changes with Link-State Protocols</vt:lpstr>
      <vt:lpstr>Reacting to Changes with Link-State Protocols</vt:lpstr>
      <vt:lpstr>Link-State Routing Protocols</vt:lpstr>
      <vt:lpstr>Summarizing Features of the Link-State  Routing Protocols</vt:lpstr>
      <vt:lpstr>Summarizing Features of the Link-State  Routing Protocols (Continued)</vt:lpstr>
      <vt:lpstr>A Brief Review of IP Routing</vt:lpstr>
      <vt:lpstr>Routing Protocol Features</vt:lpstr>
      <vt:lpstr>Routing Protocol Features</vt:lpstr>
      <vt:lpstr>Routing Protocol Features (Continued)</vt:lpstr>
      <vt:lpstr>Routing Protocol Features  (Continued)</vt:lpstr>
      <vt:lpstr>Routing Protocol Features  (Continued)</vt:lpstr>
      <vt:lpstr>Comparing Features of IGPs: RIP, EIGRP, and OSPF</vt:lpstr>
      <vt:lpstr>Summary</vt:lpstr>
      <vt:lpstr>PowerPoint Presentation</vt:lpstr>
      <vt:lpstr>PowerPoint Presentation</vt:lpstr>
      <vt:lpstr>PowerPoint Presentation</vt:lpstr>
      <vt:lpstr>Configuring Dynamic Routing</vt:lpstr>
      <vt:lpstr>Routing Protocols</vt:lpstr>
      <vt:lpstr>Routing Protocols</vt:lpstr>
      <vt:lpstr>Routing Protocol</vt:lpstr>
      <vt:lpstr>Routing Protocol</vt:lpstr>
      <vt:lpstr>Routing Protocol</vt:lpstr>
      <vt:lpstr>Routing Protocol</vt:lpstr>
      <vt:lpstr>Which routing protocol?</vt:lpstr>
      <vt:lpstr>Which routing protocol?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Midnightblue</dc:title>
  <dc:subject/>
  <dc:creator>CUTHBERT JOHN KARAWA</dc:creator>
  <dc:description/>
  <cp:lastModifiedBy>Cuthbert John karawa</cp:lastModifiedBy>
  <cp:revision>1592</cp:revision>
  <dcterms:created xsi:type="dcterms:W3CDTF">2022-05-01T12:14:38Z</dcterms:created>
  <dcterms:modified xsi:type="dcterms:W3CDTF">2024-05-21T11:47:28Z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false</vt:bool>
  </property>
  <property fmtid="{D5CDD505-2E9C-101B-9397-08002B2CF9AE}" pid="4" name="LinksUpToDate">
    <vt:bool>false</vt:bool>
  </property>
  <property fmtid="{D5CDD505-2E9C-101B-9397-08002B2CF9AE}" pid="5" name="MMClips">
    <vt:i4>0</vt:i4>
  </property>
  <property fmtid="{D5CDD505-2E9C-101B-9397-08002B2CF9AE}" pid="6" name="Notes">
    <vt:i4>7</vt:i4>
  </property>
  <property fmtid="{D5CDD505-2E9C-101B-9397-08002B2CF9AE}" pid="7" name="PresentationFormat">
    <vt:lpwstr>Custom</vt:lpwstr>
  </property>
  <property fmtid="{D5CDD505-2E9C-101B-9397-08002B2CF9AE}" pid="8" name="ScaleCrop">
    <vt:bool>false</vt:bool>
  </property>
  <property fmtid="{D5CDD505-2E9C-101B-9397-08002B2CF9AE}" pid="9" name="ShareDoc">
    <vt:bool>false</vt:bool>
  </property>
  <property fmtid="{D5CDD505-2E9C-101B-9397-08002B2CF9AE}" pid="10" name="Slides">
    <vt:i4>50</vt:i4>
  </property>
</Properties>
</file>