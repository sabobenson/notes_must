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8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6" r:id="rId12"/>
    <p:sldId id="269" r:id="rId13"/>
    <p:sldId id="270" r:id="rId14"/>
    <p:sldId id="272" r:id="rId15"/>
    <p:sldId id="273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6C375-1331-4077-A164-B2698903209D}" type="datetimeFigureOut">
              <a:rPr lang="en-US" smtClean="0"/>
              <a:pPr/>
              <a:t>4/29/2024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D240F-B9A3-49F6-ACAB-4558347DB19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209800"/>
            <a:ext cx="8001000" cy="1472184"/>
          </a:xfrm>
        </p:spPr>
        <p:txBody>
          <a:bodyPr>
            <a:normAutofit fontScale="90000"/>
          </a:bodyPr>
          <a:lstStyle/>
          <a:p>
            <a:pPr lvl="1" algn="ctr" rtl="0">
              <a:spcBef>
                <a:spcPct val="0"/>
              </a:spcBef>
            </a:pPr>
            <a:r>
              <a:rPr lang="en-GB" sz="4000" dirty="0" err="1"/>
              <a:t>Erlang's</a:t>
            </a:r>
            <a:r>
              <a:rPr lang="en-GB" sz="4000" dirty="0"/>
              <a:t> loss system and </a:t>
            </a:r>
            <a:r>
              <a:rPr lang="en-GB" sz="4000" dirty="0" smtClean="0"/>
              <a:t>B -formula</a:t>
            </a:r>
            <a:br>
              <a:rPr lang="en-GB" sz="4000" dirty="0" smtClean="0"/>
            </a:br>
            <a:r>
              <a:rPr lang="en-GB" sz="1200" dirty="0"/>
              <a:t/>
            </a:r>
            <a:br>
              <a:rPr lang="en-GB" sz="1200" dirty="0"/>
            </a:br>
            <a:endParaRPr lang="en-GB" b="1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err="1" smtClean="0"/>
              <a:t>Erlang's</a:t>
            </a:r>
            <a:r>
              <a:rPr lang="en-GB" dirty="0" smtClean="0"/>
              <a:t> B-formula is based on the model, described by the three elements </a:t>
            </a:r>
            <a:r>
              <a:rPr lang="en-GB" dirty="0" smtClean="0">
                <a:solidFill>
                  <a:srgbClr val="FF0000"/>
                </a:solidFill>
              </a:rPr>
              <a:t>structure, strategy, and traffic.</a:t>
            </a:r>
          </a:p>
          <a:p>
            <a:pPr>
              <a:buFont typeface="Wingdings" pitchFamily="2" charset="2"/>
              <a:buChar char="Ø"/>
            </a:pPr>
            <a:r>
              <a:rPr lang="en-GB" dirty="0" smtClean="0">
                <a:solidFill>
                  <a:srgbClr val="FF0000"/>
                </a:solidFill>
              </a:rPr>
              <a:t>Structure</a:t>
            </a:r>
            <a:r>
              <a:rPr lang="en-GB" dirty="0" smtClean="0"/>
              <a:t>: We consider a system of n identical channels (servers, trunks, slots) working in parallel. </a:t>
            </a:r>
          </a:p>
          <a:p>
            <a:r>
              <a:rPr lang="en-GB" dirty="0" smtClean="0"/>
              <a:t>This is called a homogeneous group.</a:t>
            </a:r>
          </a:p>
          <a:p>
            <a:pPr>
              <a:buFont typeface="Wingdings" pitchFamily="2" charset="2"/>
              <a:buChar char="Ø"/>
            </a:pPr>
            <a:r>
              <a:rPr lang="en-GB" dirty="0" smtClean="0">
                <a:solidFill>
                  <a:srgbClr val="FF0000"/>
                </a:solidFill>
              </a:rPr>
              <a:t>Strategy:</a:t>
            </a:r>
            <a:r>
              <a:rPr lang="en-GB" dirty="0" smtClean="0"/>
              <a:t> A call arriving at the system is accepted for service if at least one channel is idle. </a:t>
            </a:r>
          </a:p>
          <a:p>
            <a:pPr>
              <a:buFont typeface="Wingdings" pitchFamily="2" charset="2"/>
              <a:buChar char="Ø"/>
            </a:pPr>
            <a:r>
              <a:rPr lang="en-GB" dirty="0" smtClean="0"/>
              <a:t>Every call needs one and only one channel. We say the group has full accessibility.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If all channels are busy the system</a:t>
            </a:r>
            <a:r>
              <a:rPr lang="en-GB" dirty="0" smtClean="0">
                <a:solidFill>
                  <a:srgbClr val="FF0000"/>
                </a:solidFill>
              </a:rPr>
              <a:t> </a:t>
            </a:r>
            <a:r>
              <a:rPr lang="en-GB" dirty="0" smtClean="0"/>
              <a:t>is congested and call attempts are blocked. </a:t>
            </a:r>
          </a:p>
          <a:p>
            <a:r>
              <a:rPr lang="en-GB" dirty="0" smtClean="0"/>
              <a:t>A blocked (= rejected, lost) call attempt disappears without any after-</a:t>
            </a:r>
            <a:r>
              <a:rPr lang="en-GB" dirty="0" err="1" smtClean="0"/>
              <a:t>efect</a:t>
            </a:r>
            <a:r>
              <a:rPr lang="en-GB" dirty="0" smtClean="0"/>
              <a:t> as it may be accepted by an alternative route. </a:t>
            </a:r>
          </a:p>
          <a:p>
            <a:r>
              <a:rPr lang="en-GB" dirty="0" smtClean="0"/>
              <a:t>This is called </a:t>
            </a:r>
            <a:r>
              <a:rPr lang="en-GB" dirty="0" err="1" smtClean="0"/>
              <a:t>Erlang's</a:t>
            </a:r>
            <a:r>
              <a:rPr lang="en-GB" dirty="0" smtClean="0"/>
              <a:t> loss model or the Blocked Calls Cleared = BCC{model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304800"/>
            <a:ext cx="7866888" cy="6400800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Within a full accessible group we may look for an idle channel in different ways: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Random hunting</a:t>
            </a:r>
            <a:r>
              <a:rPr lang="en-GB" dirty="0" smtClean="0"/>
              <a:t>: we choose a random channel among the idle channels.</a:t>
            </a:r>
          </a:p>
          <a:p>
            <a:r>
              <a:rPr lang="en-GB" dirty="0" smtClean="0"/>
              <a:t>On average every channel will carry the same traffic.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Ordered hunting</a:t>
            </a:r>
            <a:r>
              <a:rPr lang="en-GB" dirty="0" smtClean="0"/>
              <a:t>: the channels are numbered 1; 2; : : : n; and we search for an idle channel in this order, always starting with channel one (ordered hunting with homing). </a:t>
            </a:r>
          </a:p>
          <a:p>
            <a:r>
              <a:rPr lang="en-GB" dirty="0" smtClean="0"/>
              <a:t>This is also called sequential hunting. A channel will on the average</a:t>
            </a:r>
          </a:p>
          <a:p>
            <a:r>
              <a:rPr lang="en-GB" dirty="0" smtClean="0"/>
              <a:t>carry more traffic than the following channels.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Cyclic hunting</a:t>
            </a:r>
            <a:r>
              <a:rPr lang="en-GB" dirty="0" smtClean="0"/>
              <a:t>: this is similar to ordered hunting, but without homing. </a:t>
            </a:r>
          </a:p>
          <a:p>
            <a:r>
              <a:rPr lang="en-GB" dirty="0" smtClean="0"/>
              <a:t>We continue hunting for an idle channel starting from the position where we ended last time. Also in this case every channel will on the average carry the same traffic.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457200"/>
            <a:ext cx="7866888" cy="5791200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Traffic</a:t>
            </a:r>
            <a:r>
              <a:rPr lang="en-GB" dirty="0" smtClean="0"/>
              <a:t>: In the following we assume that:</a:t>
            </a:r>
          </a:p>
          <a:p>
            <a:r>
              <a:rPr lang="en-GB" dirty="0" smtClean="0"/>
              <a:t>The arrival process is a Poisson process with rate </a:t>
            </a:r>
          </a:p>
          <a:p>
            <a:r>
              <a:rPr lang="en-GB" dirty="0" smtClean="0"/>
              <a:t>The service times are exponentially distributed with intensity µ (corresponding to a mean value 1/µ).</a:t>
            </a:r>
          </a:p>
          <a:p>
            <a:r>
              <a:rPr lang="en-GB" dirty="0" smtClean="0"/>
              <a:t>This type of traffic is called Random Traffic (</a:t>
            </a:r>
            <a:r>
              <a:rPr lang="en-GB" dirty="0" err="1" smtClean="0"/>
              <a:t>RT</a:t>
            </a:r>
            <a:r>
              <a:rPr lang="en-GB" dirty="0" smtClean="0"/>
              <a:t>) or Pure Chance Traffic type One (PCT-I).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1676400"/>
            <a:ext cx="304800" cy="320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 smtClean="0"/>
              <a:t>Erlang</a:t>
            </a:r>
            <a:r>
              <a:rPr lang="en-GB" b="1" dirty="0" smtClean="0"/>
              <a:t> B Formula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</a:t>
            </a:r>
            <a:r>
              <a:rPr lang="en-GB" dirty="0" err="1" smtClean="0"/>
              <a:t>Erlang</a:t>
            </a:r>
            <a:r>
              <a:rPr lang="en-GB" dirty="0" smtClean="0"/>
              <a:t> B formula is expressed as </a:t>
            </a:r>
            <a:r>
              <a:rPr lang="en-GB" dirty="0" err="1" smtClean="0"/>
              <a:t>GoS</a:t>
            </a:r>
            <a:r>
              <a:rPr lang="en-GB" dirty="0" smtClean="0"/>
              <a:t> or probability of finding </a:t>
            </a:r>
            <a:r>
              <a:rPr lang="en-GB" i="1" dirty="0" smtClean="0"/>
              <a:t>N channels </a:t>
            </a:r>
            <a:r>
              <a:rPr lang="en-GB" dirty="0" smtClean="0"/>
              <a:t>busy.</a:t>
            </a:r>
          </a:p>
          <a:p>
            <a:r>
              <a:rPr lang="en-GB" dirty="0" smtClean="0"/>
              <a:t>The assumptions in the </a:t>
            </a:r>
            <a:r>
              <a:rPr lang="en-GB" dirty="0" err="1" smtClean="0"/>
              <a:t>Erlang</a:t>
            </a:r>
            <a:r>
              <a:rPr lang="en-GB" dirty="0" smtClean="0"/>
              <a:t> B formula are:</a:t>
            </a:r>
          </a:p>
          <a:p>
            <a:r>
              <a:rPr lang="en-GB" dirty="0" smtClean="0"/>
              <a:t>Traffic originates from an infinite number of traffic sources independently.</a:t>
            </a:r>
          </a:p>
          <a:p>
            <a:r>
              <a:rPr lang="en-GB" dirty="0" smtClean="0"/>
              <a:t>Lost calls are cleared (BCC) assuming a zero holding time.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Number of trunks or service channels is limited.</a:t>
            </a:r>
          </a:p>
          <a:p>
            <a:r>
              <a:rPr lang="en-GB" dirty="0" smtClean="0"/>
              <a:t>Inter-arrival times of call requests are independent of each other.</a:t>
            </a:r>
          </a:p>
          <a:p>
            <a:r>
              <a:rPr lang="en-GB" dirty="0" smtClean="0"/>
              <a:t>The probability of a user occupying a channel (called service time) is based on an exponential distribution.</a:t>
            </a:r>
          </a:p>
          <a:p>
            <a:r>
              <a:rPr lang="en-GB" dirty="0" smtClean="0"/>
              <a:t>Traffic requests are represented by a Poisson distribution implying exponentially distributed call inter-arrival times.</a:t>
            </a:r>
          </a:p>
          <a:p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Erlang</a:t>
            </a:r>
            <a:r>
              <a:rPr lang="en-GB" dirty="0" smtClean="0"/>
              <a:t> B Formula provides an estimate of a call blocking probability used as a measure of grade of service in telephone systems when a mean traffic load of A </a:t>
            </a:r>
            <a:r>
              <a:rPr lang="en-GB" dirty="0" err="1" smtClean="0"/>
              <a:t>Erlangs</a:t>
            </a:r>
            <a:r>
              <a:rPr lang="en-GB" dirty="0" smtClean="0"/>
              <a:t> is applied to a trunked system of N channels.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4953000"/>
            <a:ext cx="3810000" cy="169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5029200"/>
            <a:ext cx="408622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Poisson’s Formula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The Poisson formula is used for designing trunks on a route for a given </a:t>
            </a:r>
            <a:r>
              <a:rPr lang="en-GB" dirty="0" err="1" smtClean="0"/>
              <a:t>GoS</a:t>
            </a:r>
            <a:r>
              <a:rPr lang="en-GB" dirty="0" smtClean="0"/>
              <a:t>.</a:t>
            </a:r>
          </a:p>
          <a:p>
            <a:pPr>
              <a:buNone/>
            </a:pPr>
            <a:r>
              <a:rPr lang="en-GB" dirty="0" smtClean="0"/>
              <a:t>The assumptions in Poisson’s formula are:</a:t>
            </a:r>
          </a:p>
          <a:p>
            <a:r>
              <a:rPr lang="en-GB" dirty="0" smtClean="0"/>
              <a:t>Traffic originates from an infinite number of independent sources</a:t>
            </a:r>
          </a:p>
          <a:p>
            <a:r>
              <a:rPr lang="en-GB" dirty="0" smtClean="0"/>
              <a:t>Traffic density per traffic source is equal</a:t>
            </a:r>
          </a:p>
          <a:p>
            <a:r>
              <a:rPr lang="en-GB" dirty="0" smtClean="0"/>
              <a:t>Lost calls are held (BCH)</a:t>
            </a:r>
          </a:p>
          <a:p>
            <a:r>
              <a:rPr lang="en-GB" dirty="0" smtClean="0"/>
              <a:t>A limited number of trunks or service channels exist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1447800"/>
            <a:ext cx="3031331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3657600"/>
            <a:ext cx="6107906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 smtClean="0"/>
              <a:t>Erlang</a:t>
            </a:r>
            <a:r>
              <a:rPr lang="en-GB" b="1" dirty="0" smtClean="0"/>
              <a:t> C Formula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</a:t>
            </a:r>
            <a:r>
              <a:rPr lang="en-GB" dirty="0" err="1" smtClean="0"/>
              <a:t>Erlang</a:t>
            </a:r>
            <a:r>
              <a:rPr lang="en-GB" dirty="0" smtClean="0"/>
              <a:t> C formula assumes that a queue is formed to hold all requested calls that cannot be served immediately.</a:t>
            </a:r>
          </a:p>
          <a:p>
            <a:r>
              <a:rPr lang="en-GB" dirty="0" smtClean="0"/>
              <a:t>Customers who find all </a:t>
            </a:r>
            <a:r>
              <a:rPr lang="en-GB" i="1" dirty="0" smtClean="0"/>
              <a:t>N servers busy </a:t>
            </a:r>
            <a:r>
              <a:rPr lang="en-GB" dirty="0" smtClean="0"/>
              <a:t>join a queue and wait as long as necessary to receive service. </a:t>
            </a:r>
          </a:p>
          <a:p>
            <a:r>
              <a:rPr lang="en-GB" dirty="0" smtClean="0"/>
              <a:t>This means that the blocked customers are delayed. No server remains idle if a customer is waiting.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dirty="0" smtClean="0"/>
              <a:t>The assumptions in the </a:t>
            </a:r>
            <a:r>
              <a:rPr lang="en-GB" dirty="0" err="1" smtClean="0"/>
              <a:t>Erlang</a:t>
            </a:r>
            <a:r>
              <a:rPr lang="en-GB" dirty="0" smtClean="0"/>
              <a:t> C formula are:</a:t>
            </a:r>
          </a:p>
          <a:p>
            <a:r>
              <a:rPr lang="en-GB" dirty="0" smtClean="0"/>
              <a:t>Traffic originates from an infinite number of traffic sources independently.</a:t>
            </a:r>
          </a:p>
          <a:p>
            <a:r>
              <a:rPr lang="en-GB" dirty="0" smtClean="0"/>
              <a:t>Lost calls are delayed (BCD).</a:t>
            </a:r>
          </a:p>
          <a:p>
            <a:r>
              <a:rPr lang="en-GB" dirty="0" smtClean="0"/>
              <a:t>Number of trunks or service channels is limited.</a:t>
            </a:r>
          </a:p>
          <a:p>
            <a:r>
              <a:rPr lang="en-GB" dirty="0" smtClean="0"/>
              <a:t>The probability of a user occupying a channel (called </a:t>
            </a:r>
            <a:r>
              <a:rPr lang="en-GB" i="1" dirty="0" smtClean="0"/>
              <a:t>service time) is based </a:t>
            </a:r>
            <a:r>
              <a:rPr lang="en-GB" dirty="0" smtClean="0"/>
              <a:t>on an exponential distribution.</a:t>
            </a:r>
          </a:p>
          <a:p>
            <a:r>
              <a:rPr lang="en-GB" dirty="0" smtClean="0"/>
              <a:t>Calls are served in the order of arrival.</a:t>
            </a:r>
          </a:p>
          <a:p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1295400"/>
            <a:ext cx="442303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3505200"/>
            <a:ext cx="4981433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How many mobile subscribers can be supported with 50 service channels at 2% </a:t>
            </a:r>
            <a:r>
              <a:rPr lang="en-GB" dirty="0" err="1" smtClean="0"/>
              <a:t>GoS</a:t>
            </a:r>
            <a:r>
              <a:rPr lang="en-GB" dirty="0" smtClean="0"/>
              <a:t>? Assume the average call holding time equals 120 seconds and the average busy hour call per subscriber is 1.2 calls per hour.</a:t>
            </a:r>
          </a:p>
          <a:p>
            <a:endParaRPr lang="en-GB" dirty="0" smtClean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Solution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From the </a:t>
            </a:r>
            <a:r>
              <a:rPr lang="en-GB" dirty="0" err="1" smtClean="0"/>
              <a:t>Erlang</a:t>
            </a:r>
            <a:r>
              <a:rPr lang="en-GB" dirty="0" smtClean="0"/>
              <a:t> B </a:t>
            </a:r>
            <a:r>
              <a:rPr lang="en-GB" dirty="0" smtClean="0"/>
              <a:t>table, for 50 channels with 2% blocking</a:t>
            </a:r>
          </a:p>
          <a:p>
            <a:r>
              <a:rPr lang="en-GB" dirty="0" smtClean="0"/>
              <a:t>Offered traffic = 40.257E</a:t>
            </a:r>
          </a:p>
          <a:p>
            <a:r>
              <a:rPr lang="en-GB" dirty="0" smtClean="0"/>
              <a:t>Then, carried traffic = 40.257x(1-0.02)=39.45E</a:t>
            </a:r>
          </a:p>
          <a:p>
            <a:r>
              <a:rPr lang="en-GB" dirty="0" smtClean="0"/>
              <a:t>Average traffic per user =1.2x120/3600=0.04E</a:t>
            </a:r>
          </a:p>
          <a:p>
            <a:r>
              <a:rPr lang="en-GB" dirty="0" smtClean="0"/>
              <a:t>No. of users=39.45/0.04=986Users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If there are 60 radio channels in a cell to handle all the calls and the average call holding time is 120 seconds, how many calls are handled in this cell with a </a:t>
            </a:r>
            <a:r>
              <a:rPr lang="en-GB" dirty="0" err="1" smtClean="0"/>
              <a:t>GoS</a:t>
            </a:r>
            <a:r>
              <a:rPr lang="en-GB" dirty="0" smtClean="0"/>
              <a:t> of 2%?</a:t>
            </a:r>
          </a:p>
          <a:p>
            <a:pPr marL="596646" indent="-514350">
              <a:buFont typeface="+mj-lt"/>
              <a:buAutoNum type="alphaLcPeriod"/>
            </a:pPr>
            <a:r>
              <a:rPr lang="en-GB" dirty="0" smtClean="0"/>
              <a:t>BCC</a:t>
            </a:r>
          </a:p>
          <a:p>
            <a:pPr marL="596646" indent="-514350">
              <a:buFont typeface="+mj-lt"/>
              <a:buAutoNum type="alphaLcPeriod"/>
            </a:pPr>
            <a:r>
              <a:rPr lang="en-GB" dirty="0" smtClean="0"/>
              <a:t>BCD</a:t>
            </a:r>
          </a:p>
          <a:p>
            <a:pPr marL="596646" indent="-514350">
              <a:buFont typeface="+mj-lt"/>
              <a:buAutoNum type="alphaLcPeriod"/>
            </a:pPr>
            <a:r>
              <a:rPr lang="en-GB" dirty="0" smtClean="0"/>
              <a:t>BCH</a:t>
            </a:r>
          </a:p>
          <a:p>
            <a:pPr marL="596646" indent="-514350">
              <a:buNone/>
            </a:pPr>
            <a:r>
              <a:rPr lang="en-GB" dirty="0" smtClean="0"/>
              <a:t>Solution: In class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1968</TotalTime>
  <Words>807</Words>
  <Application>Microsoft Office PowerPoint</Application>
  <PresentationFormat>On-screen Show (4:3)</PresentationFormat>
  <Paragraphs>67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Solstice</vt:lpstr>
      <vt:lpstr>Erlang's loss system and B -formula  </vt:lpstr>
      <vt:lpstr>Intro...</vt:lpstr>
      <vt:lpstr>Cont...</vt:lpstr>
      <vt:lpstr>Slide 4</vt:lpstr>
      <vt:lpstr>Slide 5</vt:lpstr>
      <vt:lpstr>Erlang B Formula</vt:lpstr>
      <vt:lpstr>Cont...</vt:lpstr>
      <vt:lpstr>Cont...</vt:lpstr>
      <vt:lpstr>Poisson’s Formula</vt:lpstr>
      <vt:lpstr>Slide 10</vt:lpstr>
      <vt:lpstr>Erlang C Formula</vt:lpstr>
      <vt:lpstr>Cont...</vt:lpstr>
      <vt:lpstr>Slide 13</vt:lpstr>
      <vt:lpstr>Example </vt:lpstr>
      <vt:lpstr>Solution </vt:lpstr>
      <vt:lpstr>Example.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8301 DIGITAL ELECTRONICS</dc:title>
  <dc:creator>user</dc:creator>
  <cp:lastModifiedBy>Windows User</cp:lastModifiedBy>
  <cp:revision>63</cp:revision>
  <dcterms:created xsi:type="dcterms:W3CDTF">2006-08-16T00:00:00Z</dcterms:created>
  <dcterms:modified xsi:type="dcterms:W3CDTF">2024-04-29T12:04:32Z</dcterms:modified>
</cp:coreProperties>
</file>