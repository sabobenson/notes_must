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6"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C6C375-1331-4077-A164-B2698903209D}" type="datetimeFigureOut">
              <a:rPr lang="en-US" smtClean="0"/>
              <a:pPr/>
              <a:t>4/22/2025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AD240F-B9A3-49F6-ACAB-4558347DB19E}"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4/22/2025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2743200"/>
            <a:ext cx="7406640" cy="1752600"/>
          </a:xfrm>
        </p:spPr>
        <p:txBody>
          <a:bodyPr/>
          <a:lstStyle/>
          <a:p>
            <a:pPr algn="ctr"/>
            <a:r>
              <a:rPr lang="en-US" b="1" dirty="0" smtClean="0"/>
              <a:t>CLASSIFICATION OF QUEUING MODELS</a:t>
            </a:r>
            <a:endParaRPr lang="en-GB"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GB" dirty="0" smtClean="0"/>
              <a:t>Intro...</a:t>
            </a:r>
            <a:endParaRPr lang="en-GB" dirty="0"/>
          </a:p>
        </p:txBody>
      </p:sp>
      <p:sp>
        <p:nvSpPr>
          <p:cNvPr id="3" name="Content Placeholder 2"/>
          <p:cNvSpPr>
            <a:spLocks noGrp="1"/>
          </p:cNvSpPr>
          <p:nvPr>
            <p:ph idx="1"/>
          </p:nvPr>
        </p:nvSpPr>
        <p:spPr>
          <a:xfrm>
            <a:off x="1435608" y="1066800"/>
            <a:ext cx="7498080" cy="5181600"/>
          </a:xfrm>
        </p:spPr>
        <p:txBody>
          <a:bodyPr>
            <a:normAutofit fontScale="70000" lnSpcReduction="20000"/>
          </a:bodyPr>
          <a:lstStyle/>
          <a:p>
            <a:pPr algn="just">
              <a:lnSpc>
                <a:spcPct val="170000"/>
              </a:lnSpc>
            </a:pPr>
            <a:r>
              <a:rPr lang="en-GB" dirty="0" smtClean="0"/>
              <a:t>Queues are a part of everyday life. </a:t>
            </a:r>
          </a:p>
          <a:p>
            <a:pPr algn="just">
              <a:lnSpc>
                <a:spcPct val="170000"/>
              </a:lnSpc>
            </a:pPr>
            <a:r>
              <a:rPr lang="en-GB" dirty="0" smtClean="0"/>
              <a:t>We all wait in queues to make bank deposit,  obtain a food in a cafeteria</a:t>
            </a:r>
          </a:p>
          <a:p>
            <a:pPr algn="just">
              <a:lnSpc>
                <a:spcPct val="170000"/>
              </a:lnSpc>
            </a:pPr>
            <a:r>
              <a:rPr lang="en-GB" dirty="0" smtClean="0"/>
              <a:t>The Queuing models are very helpful for determining how to operate a queuing system in the most effective way if too much service capacity to operate the system involves excessive costs.</a:t>
            </a:r>
          </a:p>
          <a:p>
            <a:pPr algn="just">
              <a:lnSpc>
                <a:spcPct val="170000"/>
              </a:lnSpc>
            </a:pPr>
            <a:r>
              <a:rPr lang="en-GB" dirty="0" smtClean="0"/>
              <a:t>The models enable finding an appropriate balance between the cost of service and the amount of waiting.</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lnSpc>
                <a:spcPct val="150000"/>
              </a:lnSpc>
            </a:pPr>
            <a:r>
              <a:rPr lang="en-GB" dirty="0" smtClean="0"/>
              <a:t>Customers waiting in a queue to be served can be selected for service according to many different principles. </a:t>
            </a:r>
          </a:p>
          <a:p>
            <a:pPr algn="just">
              <a:lnSpc>
                <a:spcPct val="150000"/>
              </a:lnSpc>
            </a:pPr>
            <a:r>
              <a:rPr lang="en-GB" dirty="0" smtClean="0"/>
              <a:t>We first consider the three classical queuing disciplines:</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81000"/>
            <a:ext cx="7498080" cy="6248400"/>
          </a:xfrm>
        </p:spPr>
        <p:txBody>
          <a:bodyPr>
            <a:normAutofit fontScale="62500" lnSpcReduction="20000"/>
          </a:bodyPr>
          <a:lstStyle/>
          <a:p>
            <a:pPr algn="just">
              <a:lnSpc>
                <a:spcPct val="170000"/>
              </a:lnSpc>
              <a:buFont typeface="Wingdings" pitchFamily="2" charset="2"/>
              <a:buChar char="Ø"/>
            </a:pPr>
            <a:r>
              <a:rPr lang="en-GB" b="1" i="1" dirty="0" err="1" smtClean="0">
                <a:solidFill>
                  <a:srgbClr val="FF0000"/>
                </a:solidFill>
              </a:rPr>
              <a:t>FCFS</a:t>
            </a:r>
            <a:r>
              <a:rPr lang="en-GB" b="1" i="1" dirty="0" smtClean="0">
                <a:solidFill>
                  <a:srgbClr val="FF0000"/>
                </a:solidFill>
              </a:rPr>
              <a:t> First Come - First Served</a:t>
            </a:r>
            <a:r>
              <a:rPr lang="en-GB" i="1" dirty="0" smtClean="0"/>
              <a:t>. </a:t>
            </a:r>
          </a:p>
          <a:p>
            <a:pPr algn="just">
              <a:lnSpc>
                <a:spcPct val="170000"/>
              </a:lnSpc>
            </a:pPr>
            <a:r>
              <a:rPr lang="en-GB" i="1" dirty="0" smtClean="0"/>
              <a:t>It is often called a fair queue or an ordered queue, and </a:t>
            </a:r>
            <a:r>
              <a:rPr lang="en-GB" dirty="0" smtClean="0"/>
              <a:t>this discipline is often preferred in real-life when customers are human beings. </a:t>
            </a:r>
          </a:p>
          <a:p>
            <a:pPr algn="just">
              <a:lnSpc>
                <a:spcPct val="170000"/>
              </a:lnSpc>
            </a:pPr>
            <a:r>
              <a:rPr lang="en-GB" dirty="0" smtClean="0"/>
              <a:t>It is also denoted as </a:t>
            </a:r>
            <a:r>
              <a:rPr lang="en-GB" i="1" dirty="0" smtClean="0"/>
              <a:t>FIFO: First In - First Out. Note that First In -First Out refers to the </a:t>
            </a:r>
            <a:r>
              <a:rPr lang="en-GB" dirty="0" smtClean="0"/>
              <a:t>queue only, not to the total system.</a:t>
            </a:r>
          </a:p>
          <a:p>
            <a:pPr algn="just">
              <a:lnSpc>
                <a:spcPct val="170000"/>
              </a:lnSpc>
              <a:buFont typeface="Wingdings" pitchFamily="2" charset="2"/>
              <a:buChar char="Ø"/>
            </a:pPr>
            <a:r>
              <a:rPr lang="en-GB" b="1" i="1" dirty="0" err="1" smtClean="0">
                <a:solidFill>
                  <a:srgbClr val="FF0000"/>
                </a:solidFill>
              </a:rPr>
              <a:t>LCFS</a:t>
            </a:r>
            <a:r>
              <a:rPr lang="en-GB" b="1" i="1" dirty="0" smtClean="0">
                <a:solidFill>
                  <a:srgbClr val="FF0000"/>
                </a:solidFill>
              </a:rPr>
              <a:t> Last Come - First Served</a:t>
            </a:r>
            <a:r>
              <a:rPr lang="en-GB" i="1" dirty="0" smtClean="0"/>
              <a:t>. </a:t>
            </a:r>
          </a:p>
          <a:p>
            <a:pPr algn="just">
              <a:lnSpc>
                <a:spcPct val="170000"/>
              </a:lnSpc>
            </a:pPr>
            <a:r>
              <a:rPr lang="en-GB" i="1" dirty="0" smtClean="0"/>
              <a:t>This is the stack principle. It is used e.g. in storages, on </a:t>
            </a:r>
            <a:r>
              <a:rPr lang="en-GB" dirty="0" smtClean="0"/>
              <a:t>shelves of shops etc. This discipline is also denoted as LIFO: Last In - First Out.</a:t>
            </a:r>
          </a:p>
          <a:p>
            <a:pPr algn="just">
              <a:lnSpc>
                <a:spcPct val="170000"/>
              </a:lnSpc>
              <a:buFont typeface="Wingdings" pitchFamily="2" charset="2"/>
              <a:buChar char="Ø"/>
            </a:pPr>
            <a:r>
              <a:rPr lang="en-GB" b="1" dirty="0" err="1" smtClean="0">
                <a:solidFill>
                  <a:srgbClr val="FF0000"/>
                </a:solidFill>
              </a:rPr>
              <a:t>SIRO</a:t>
            </a:r>
            <a:r>
              <a:rPr lang="en-GB" b="1" dirty="0" smtClean="0">
                <a:solidFill>
                  <a:srgbClr val="FF0000"/>
                </a:solidFill>
              </a:rPr>
              <a:t> Service In Random Order</a:t>
            </a:r>
            <a:r>
              <a:rPr lang="en-GB" b="1" dirty="0" smtClean="0"/>
              <a:t>. </a:t>
            </a:r>
          </a:p>
          <a:p>
            <a:pPr algn="just">
              <a:lnSpc>
                <a:spcPct val="170000"/>
              </a:lnSpc>
            </a:pPr>
            <a:r>
              <a:rPr lang="en-GB" dirty="0" smtClean="0"/>
              <a:t>All customers waiting in the queue have the same probability of being chosen for service. </a:t>
            </a:r>
          </a:p>
          <a:p>
            <a:pPr algn="just">
              <a:lnSpc>
                <a:spcPct val="170000"/>
              </a:lnSpc>
            </a:pPr>
            <a:r>
              <a:rPr lang="en-GB" dirty="0" smtClean="0"/>
              <a:t>This is also called </a:t>
            </a:r>
            <a:r>
              <a:rPr lang="en-GB" i="1" dirty="0" smtClean="0"/>
              <a:t>RANDOM or RS (Random </a:t>
            </a:r>
            <a:r>
              <a:rPr lang="en-GB" dirty="0" smtClean="0"/>
              <a:t>Selection).</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81000"/>
            <a:ext cx="7498080" cy="5867400"/>
          </a:xfrm>
        </p:spPr>
        <p:txBody>
          <a:bodyPr>
            <a:normAutofit fontScale="77500" lnSpcReduction="20000"/>
          </a:bodyPr>
          <a:lstStyle/>
          <a:p>
            <a:pPr algn="just">
              <a:lnSpc>
                <a:spcPct val="160000"/>
              </a:lnSpc>
            </a:pPr>
            <a:r>
              <a:rPr lang="en-GB" dirty="0" smtClean="0"/>
              <a:t>The first two disciplines only take the </a:t>
            </a:r>
            <a:r>
              <a:rPr lang="en-GB" i="1" dirty="0" smtClean="0"/>
              <a:t>arrival times into considerations, while the third does </a:t>
            </a:r>
            <a:r>
              <a:rPr lang="en-GB" dirty="0" smtClean="0"/>
              <a:t>not consider any criteria and so does not require any memory.</a:t>
            </a:r>
          </a:p>
          <a:p>
            <a:pPr algn="just">
              <a:lnSpc>
                <a:spcPct val="160000"/>
              </a:lnSpc>
            </a:pPr>
            <a:r>
              <a:rPr lang="en-GB" dirty="0" smtClean="0"/>
              <a:t>For the three above-mentioned cases the total waiting time for all customers is the same.</a:t>
            </a:r>
          </a:p>
          <a:p>
            <a:pPr algn="just">
              <a:lnSpc>
                <a:spcPct val="160000"/>
              </a:lnSpc>
            </a:pPr>
            <a:r>
              <a:rPr lang="en-GB" dirty="0" smtClean="0"/>
              <a:t>In queuing theory we often assume that the total offered traffic is independent of the </a:t>
            </a:r>
            <a:r>
              <a:rPr lang="en-GB" dirty="0" err="1" smtClean="0"/>
              <a:t>queueing</a:t>
            </a:r>
            <a:r>
              <a:rPr lang="en-GB" dirty="0" smtClean="0"/>
              <a:t> discipline.</a:t>
            </a:r>
          </a:p>
          <a:p>
            <a:pPr algn="just">
              <a:lnSpc>
                <a:spcPct val="160000"/>
              </a:lnSpc>
            </a:pPr>
            <a:r>
              <a:rPr lang="en-GB" dirty="0" smtClean="0"/>
              <a:t>For computer systems we often try to reduce the total waiting time.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715000"/>
          </a:xfrm>
        </p:spPr>
        <p:txBody>
          <a:bodyPr>
            <a:normAutofit fontScale="92500" lnSpcReduction="20000"/>
          </a:bodyPr>
          <a:lstStyle/>
          <a:p>
            <a:pPr algn="just">
              <a:lnSpc>
                <a:spcPct val="150000"/>
              </a:lnSpc>
            </a:pPr>
            <a:r>
              <a:rPr lang="en-GB" dirty="0" smtClean="0"/>
              <a:t>It can be done by using the </a:t>
            </a:r>
            <a:r>
              <a:rPr lang="en-GB" i="1" dirty="0" smtClean="0"/>
              <a:t>service time as criterion:</a:t>
            </a:r>
          </a:p>
          <a:p>
            <a:pPr algn="just">
              <a:lnSpc>
                <a:spcPct val="150000"/>
              </a:lnSpc>
            </a:pPr>
            <a:r>
              <a:rPr lang="en-GB" b="1" dirty="0" err="1" smtClean="0">
                <a:solidFill>
                  <a:srgbClr val="FF0000"/>
                </a:solidFill>
              </a:rPr>
              <a:t>SJF</a:t>
            </a:r>
            <a:r>
              <a:rPr lang="en-GB" b="1" dirty="0" smtClean="0">
                <a:solidFill>
                  <a:srgbClr val="FF0000"/>
                </a:solidFill>
              </a:rPr>
              <a:t> Shortest Job First (</a:t>
            </a:r>
            <a:r>
              <a:rPr lang="en-GB" b="1" i="1" dirty="0" err="1" smtClean="0">
                <a:solidFill>
                  <a:srgbClr val="FF0000"/>
                </a:solidFill>
              </a:rPr>
              <a:t>SJN</a:t>
            </a:r>
            <a:r>
              <a:rPr lang="en-GB" b="1" i="1" dirty="0" smtClean="0"/>
              <a:t> </a:t>
            </a:r>
            <a:r>
              <a:rPr lang="en-GB" i="1" dirty="0" smtClean="0"/>
              <a:t>= Shortest Job Next, SPF = Shortest Processing Time First,</a:t>
            </a:r>
            <a:endParaRPr lang="en-GB" b="1" i="1" dirty="0" smtClean="0">
              <a:solidFill>
                <a:srgbClr val="FF0000"/>
              </a:solidFill>
            </a:endParaRPr>
          </a:p>
          <a:p>
            <a:pPr algn="just">
              <a:lnSpc>
                <a:spcPct val="150000"/>
              </a:lnSpc>
            </a:pPr>
            <a:r>
              <a:rPr lang="en-GB" b="1" i="1" dirty="0" smtClean="0">
                <a:solidFill>
                  <a:srgbClr val="FF0000"/>
                </a:solidFill>
              </a:rPr>
              <a:t>RR Round Robin</a:t>
            </a:r>
            <a:r>
              <a:rPr lang="en-GB" i="1" dirty="0" smtClean="0"/>
              <a:t>. A customer served is given at most a fixed service time (time slice). </a:t>
            </a:r>
          </a:p>
          <a:p>
            <a:pPr algn="just">
              <a:lnSpc>
                <a:spcPct val="150000"/>
              </a:lnSpc>
            </a:pPr>
            <a:r>
              <a:rPr lang="en-GB" i="1" dirty="0" smtClean="0"/>
              <a:t>If the </a:t>
            </a:r>
            <a:r>
              <a:rPr lang="en-GB" dirty="0" smtClean="0"/>
              <a:t>service is not completed during this interval, the customer returns to the queue which is </a:t>
            </a:r>
            <a:r>
              <a:rPr lang="en-GB" dirty="0" err="1" smtClean="0"/>
              <a:t>FCFS</a:t>
            </a:r>
            <a:r>
              <a:rPr lang="en-GB" dirty="0" smtClean="0"/>
              <a:t>.</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9762"/>
          </a:xfrm>
        </p:spPr>
        <p:txBody>
          <a:bodyPr>
            <a:normAutofit fontScale="90000"/>
          </a:bodyPr>
          <a:lstStyle/>
          <a:p>
            <a:r>
              <a:rPr lang="en-GB" b="1" dirty="0" smtClean="0"/>
              <a:t>Priority of customers</a:t>
            </a:r>
            <a:endParaRPr lang="en-GB" dirty="0"/>
          </a:p>
        </p:txBody>
      </p:sp>
      <p:sp>
        <p:nvSpPr>
          <p:cNvPr id="3" name="Content Placeholder 2"/>
          <p:cNvSpPr>
            <a:spLocks noGrp="1"/>
          </p:cNvSpPr>
          <p:nvPr>
            <p:ph idx="1"/>
          </p:nvPr>
        </p:nvSpPr>
        <p:spPr>
          <a:xfrm>
            <a:off x="1435608" y="1066800"/>
            <a:ext cx="7498080" cy="5638800"/>
          </a:xfrm>
        </p:spPr>
        <p:txBody>
          <a:bodyPr>
            <a:normAutofit fontScale="55000" lnSpcReduction="20000"/>
          </a:bodyPr>
          <a:lstStyle/>
          <a:p>
            <a:pPr algn="just">
              <a:lnSpc>
                <a:spcPct val="170000"/>
              </a:lnSpc>
            </a:pPr>
            <a:r>
              <a:rPr lang="en-GB" dirty="0" smtClean="0"/>
              <a:t>In real life customers are often divided into </a:t>
            </a:r>
            <a:r>
              <a:rPr lang="en-GB" i="1" dirty="0" smtClean="0"/>
              <a:t>P priority classes, where a customer, who belongs </a:t>
            </a:r>
            <a:r>
              <a:rPr lang="en-GB" dirty="0" smtClean="0"/>
              <a:t>to class </a:t>
            </a:r>
            <a:r>
              <a:rPr lang="en-GB" i="1" dirty="0" smtClean="0"/>
              <a:t>V has higher priority than a customer, who belongs to class  V+ 1.</a:t>
            </a:r>
          </a:p>
          <a:p>
            <a:pPr algn="just">
              <a:lnSpc>
                <a:spcPct val="170000"/>
              </a:lnSpc>
            </a:pPr>
            <a:r>
              <a:rPr lang="en-GB" dirty="0" smtClean="0"/>
              <a:t>We distinguish between two types of priority:</a:t>
            </a:r>
          </a:p>
          <a:p>
            <a:pPr algn="just">
              <a:lnSpc>
                <a:spcPct val="170000"/>
              </a:lnSpc>
              <a:buFont typeface="Wingdings" pitchFamily="2" charset="2"/>
              <a:buChar char="Ø"/>
            </a:pPr>
            <a:r>
              <a:rPr lang="en-GB" b="1" i="1" dirty="0" smtClean="0">
                <a:solidFill>
                  <a:srgbClr val="FF0000"/>
                </a:solidFill>
              </a:rPr>
              <a:t>NON-</a:t>
            </a:r>
            <a:r>
              <a:rPr lang="en-GB" b="1" i="1" dirty="0" err="1" smtClean="0">
                <a:solidFill>
                  <a:srgbClr val="FF0000"/>
                </a:solidFill>
              </a:rPr>
              <a:t>PREEMPTIVE</a:t>
            </a:r>
            <a:r>
              <a:rPr lang="en-GB" b="1" i="1" dirty="0" smtClean="0">
                <a:solidFill>
                  <a:srgbClr val="FF0000"/>
                </a:solidFill>
              </a:rPr>
              <a:t> = </a:t>
            </a:r>
            <a:r>
              <a:rPr lang="en-GB" b="1" i="1" dirty="0" err="1" smtClean="0">
                <a:solidFill>
                  <a:srgbClr val="FF0000"/>
                </a:solidFill>
              </a:rPr>
              <a:t>HOL</a:t>
            </a:r>
            <a:r>
              <a:rPr lang="en-GB" b="1" i="1" dirty="0" smtClean="0">
                <a:solidFill>
                  <a:srgbClr val="FF0000"/>
                </a:solidFill>
              </a:rPr>
              <a:t>:</a:t>
            </a:r>
          </a:p>
          <a:p>
            <a:pPr algn="just">
              <a:lnSpc>
                <a:spcPct val="170000"/>
              </a:lnSpc>
            </a:pPr>
            <a:r>
              <a:rPr lang="en-GB" dirty="0" smtClean="0"/>
              <a:t>A new arriving customer with higher priority than a customer being served waits until a server becomes idle (and all customers with higher priority have been served). </a:t>
            </a:r>
          </a:p>
          <a:p>
            <a:pPr algn="just">
              <a:lnSpc>
                <a:spcPct val="170000"/>
              </a:lnSpc>
            </a:pPr>
            <a:r>
              <a:rPr lang="en-GB" dirty="0" smtClean="0"/>
              <a:t>This discipline is also called </a:t>
            </a:r>
            <a:r>
              <a:rPr lang="en-GB" dirty="0" err="1" smtClean="0"/>
              <a:t>HOL</a:t>
            </a:r>
            <a:r>
              <a:rPr lang="en-GB" dirty="0" smtClean="0"/>
              <a:t>, Head-of-the-Line.</a:t>
            </a:r>
          </a:p>
          <a:p>
            <a:pPr algn="just">
              <a:lnSpc>
                <a:spcPct val="170000"/>
              </a:lnSpc>
              <a:buFont typeface="Wingdings" pitchFamily="2" charset="2"/>
              <a:buChar char="Ø"/>
            </a:pPr>
            <a:r>
              <a:rPr lang="en-GB" b="1" i="1" dirty="0" err="1" smtClean="0">
                <a:solidFill>
                  <a:srgbClr val="FF0000"/>
                </a:solidFill>
              </a:rPr>
              <a:t>PREEMPTIVE</a:t>
            </a:r>
            <a:r>
              <a:rPr lang="en-GB" i="1" dirty="0" smtClean="0"/>
              <a:t>: </a:t>
            </a:r>
          </a:p>
          <a:p>
            <a:pPr algn="just">
              <a:lnSpc>
                <a:spcPct val="170000"/>
              </a:lnSpc>
            </a:pPr>
            <a:r>
              <a:rPr lang="en-GB" i="1" dirty="0" smtClean="0"/>
              <a:t>A customer being served having lower priority than the arriving customer </a:t>
            </a:r>
            <a:r>
              <a:rPr lang="en-GB" dirty="0" smtClean="0"/>
              <a:t>is interrupted.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smtClean="0"/>
              <a:t>Little's theorem</a:t>
            </a:r>
            <a:endParaRPr lang="en-GB" dirty="0"/>
          </a:p>
        </p:txBody>
      </p:sp>
      <p:sp>
        <p:nvSpPr>
          <p:cNvPr id="3" name="Content Placeholder 2"/>
          <p:cNvSpPr>
            <a:spLocks noGrp="1"/>
          </p:cNvSpPr>
          <p:nvPr>
            <p:ph idx="1"/>
          </p:nvPr>
        </p:nvSpPr>
        <p:spPr/>
        <p:txBody>
          <a:bodyPr>
            <a:normAutofit fontScale="70000" lnSpcReduction="20000"/>
          </a:bodyPr>
          <a:lstStyle/>
          <a:p>
            <a:pPr algn="just">
              <a:lnSpc>
                <a:spcPct val="160000"/>
              </a:lnSpc>
            </a:pPr>
            <a:r>
              <a:rPr lang="en-GB" dirty="0" smtClean="0"/>
              <a:t>This is the only general result that is valid for all queuing systems.</a:t>
            </a:r>
          </a:p>
          <a:p>
            <a:pPr algn="just">
              <a:lnSpc>
                <a:spcPct val="160000"/>
              </a:lnSpc>
            </a:pPr>
            <a:r>
              <a:rPr lang="en-GB" dirty="0" smtClean="0"/>
              <a:t>We consider a queuing system, where customers arrive under a stochastic process. </a:t>
            </a:r>
          </a:p>
          <a:p>
            <a:pPr algn="just">
              <a:lnSpc>
                <a:spcPct val="160000"/>
              </a:lnSpc>
            </a:pPr>
            <a:r>
              <a:rPr lang="en-GB" dirty="0" smtClean="0"/>
              <a:t>Customers enter the system at a random time and wait to get service, after being served they leave the system.</a:t>
            </a:r>
          </a:p>
          <a:p>
            <a:pPr algn="just">
              <a:lnSpc>
                <a:spcPct val="160000"/>
              </a:lnSpc>
            </a:pPr>
            <a:r>
              <a:rPr lang="en-GB" dirty="0" smtClean="0"/>
              <a:t>We consider a time space </a:t>
            </a:r>
            <a:r>
              <a:rPr lang="en-GB" i="1" dirty="0" smtClean="0"/>
              <a:t>T and assume that the system is in statistic equilibrium at initial</a:t>
            </a:r>
          </a:p>
          <a:p>
            <a:pPr algn="just">
              <a:lnSpc>
                <a:spcPct val="160000"/>
              </a:lnSpc>
            </a:pPr>
            <a:r>
              <a:rPr lang="en-GB" dirty="0" smtClean="0"/>
              <a:t>time </a:t>
            </a:r>
            <a:r>
              <a:rPr lang="en-GB" i="1" dirty="0" smtClean="0"/>
              <a:t>t = 0.</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6096000"/>
          </a:xfrm>
        </p:spPr>
        <p:txBody>
          <a:bodyPr>
            <a:normAutofit fontScale="70000" lnSpcReduction="20000"/>
          </a:bodyPr>
          <a:lstStyle/>
          <a:p>
            <a:pPr algn="just">
              <a:lnSpc>
                <a:spcPct val="170000"/>
              </a:lnSpc>
            </a:pPr>
            <a:r>
              <a:rPr lang="en-GB" dirty="0" smtClean="0"/>
              <a:t>We have the following notations :</a:t>
            </a:r>
          </a:p>
          <a:p>
            <a:pPr algn="just">
              <a:lnSpc>
                <a:spcPct val="170000"/>
              </a:lnSpc>
            </a:pPr>
            <a:r>
              <a:rPr lang="en-GB" i="1" dirty="0" smtClean="0"/>
              <a:t>N(T) = number of arrivals in the period T.</a:t>
            </a:r>
          </a:p>
          <a:p>
            <a:pPr algn="just">
              <a:lnSpc>
                <a:spcPct val="170000"/>
              </a:lnSpc>
            </a:pPr>
            <a:r>
              <a:rPr lang="en-GB" i="1" dirty="0" smtClean="0"/>
              <a:t>A(T) = the total service times of all customers in the period T</a:t>
            </a:r>
          </a:p>
          <a:p>
            <a:pPr lvl="2" algn="just">
              <a:lnSpc>
                <a:spcPct val="170000"/>
              </a:lnSpc>
            </a:pPr>
            <a:r>
              <a:rPr lang="en-GB" dirty="0" smtClean="0"/>
              <a:t>= the carried traffic volume.</a:t>
            </a:r>
            <a:endParaRPr lang="en-GB" i="1" dirty="0" smtClean="0"/>
          </a:p>
          <a:p>
            <a:pPr algn="just">
              <a:lnSpc>
                <a:spcPct val="170000"/>
              </a:lnSpc>
            </a:pPr>
            <a:r>
              <a:rPr lang="en-GB" i="1" dirty="0" smtClean="0"/>
              <a:t>Y(T) = N(T)/T the average call intensity in the period T.</a:t>
            </a:r>
          </a:p>
          <a:p>
            <a:pPr algn="just">
              <a:lnSpc>
                <a:spcPct val="170000"/>
              </a:lnSpc>
            </a:pPr>
            <a:r>
              <a:rPr lang="en-GB" i="1" dirty="0" smtClean="0"/>
              <a:t>W(T) = A(T)/N(T) mean holding time in system per call in the period T.</a:t>
            </a:r>
          </a:p>
          <a:p>
            <a:pPr algn="just">
              <a:lnSpc>
                <a:spcPct val="170000"/>
              </a:lnSpc>
            </a:pPr>
            <a:r>
              <a:rPr lang="en-GB" i="1" dirty="0" smtClean="0"/>
              <a:t>L(T) = A(T)/T the average number of calls in the system in the period T.</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GB" dirty="0" smtClean="0"/>
          </a:p>
          <a:p>
            <a:pPr>
              <a:buNone/>
            </a:pPr>
            <a:r>
              <a:rPr lang="en-GB" i="1" dirty="0" smtClean="0"/>
              <a:t>If the limits of</a:t>
            </a:r>
            <a:endParaRPr lang="en-GB" dirty="0"/>
          </a:p>
        </p:txBody>
      </p:sp>
      <p:pic>
        <p:nvPicPr>
          <p:cNvPr id="1026" name="Picture 2"/>
          <p:cNvPicPr>
            <a:picLocks noChangeAspect="1" noChangeArrowheads="1"/>
          </p:cNvPicPr>
          <p:nvPr/>
        </p:nvPicPr>
        <p:blipFill>
          <a:blip r:embed="rId2"/>
          <a:srcRect/>
          <a:stretch>
            <a:fillRect/>
          </a:stretch>
        </p:blipFill>
        <p:spPr bwMode="auto">
          <a:xfrm>
            <a:off x="2362200" y="914400"/>
            <a:ext cx="4419600" cy="6953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905000" y="2895600"/>
            <a:ext cx="6019800" cy="384771"/>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2286000" y="3886200"/>
            <a:ext cx="4973053" cy="762000"/>
          </a:xfrm>
          <a:prstGeom prst="rect">
            <a:avLst/>
          </a:prstGeom>
          <a:noFill/>
          <a:ln w="9525">
            <a:noFill/>
            <a:miter lim="800000"/>
            <a:headEnd/>
            <a:tailEnd/>
          </a:ln>
          <a:effectLst/>
        </p:spPr>
      </p:pic>
      <p:sp>
        <p:nvSpPr>
          <p:cNvPr id="7" name="Rectangle 6"/>
          <p:cNvSpPr/>
          <p:nvPr/>
        </p:nvSpPr>
        <p:spPr>
          <a:xfrm>
            <a:off x="2057400" y="4876800"/>
            <a:ext cx="6705600" cy="369332"/>
          </a:xfrm>
          <a:prstGeom prst="rect">
            <a:avLst/>
          </a:prstGeom>
        </p:spPr>
        <p:txBody>
          <a:bodyPr wrap="square">
            <a:spAutoFit/>
          </a:bodyPr>
          <a:lstStyle/>
          <a:p>
            <a:r>
              <a:rPr lang="en-GB" dirty="0" smtClean="0"/>
              <a:t>This simple formula is valid for all general queuing system</a:t>
            </a:r>
            <a:endParaRPr lang="en-GB" dirty="0"/>
          </a:p>
        </p:txBody>
      </p:sp>
      <p:sp>
        <p:nvSpPr>
          <p:cNvPr id="8" name="Rectangle 7"/>
          <p:cNvSpPr/>
          <p:nvPr/>
        </p:nvSpPr>
        <p:spPr>
          <a:xfrm>
            <a:off x="1219200" y="5562600"/>
            <a:ext cx="7543800" cy="646331"/>
          </a:xfrm>
          <a:prstGeom prst="rect">
            <a:avLst/>
          </a:prstGeom>
        </p:spPr>
        <p:txBody>
          <a:bodyPr wrap="square">
            <a:spAutoFit/>
          </a:bodyPr>
          <a:lstStyle/>
          <a:p>
            <a:r>
              <a:rPr lang="en-GB" dirty="0" smtClean="0"/>
              <a:t>Little's theorem tells that the average queue length is equal to the arrival intensity multiplied by the mean waiting time</a:t>
            </a:r>
            <a:endParaRPr lang="en-GB"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algn="just">
              <a:lnSpc>
                <a:spcPct val="150000"/>
              </a:lnSpc>
            </a:pPr>
            <a:r>
              <a:rPr lang="en-GB" dirty="0" smtClean="0"/>
              <a:t>Characteristics of the queuing system:</a:t>
            </a:r>
          </a:p>
          <a:p>
            <a:pPr algn="just">
              <a:lnSpc>
                <a:spcPct val="150000"/>
              </a:lnSpc>
              <a:buFont typeface="Wingdings" pitchFamily="2" charset="2"/>
              <a:buChar char="Ø"/>
            </a:pPr>
            <a:r>
              <a:rPr lang="en-GB" dirty="0" smtClean="0"/>
              <a:t>Input source</a:t>
            </a:r>
          </a:p>
          <a:p>
            <a:pPr algn="just">
              <a:lnSpc>
                <a:spcPct val="150000"/>
              </a:lnSpc>
              <a:buFont typeface="Wingdings" pitchFamily="2" charset="2"/>
              <a:buChar char="Ø"/>
            </a:pPr>
            <a:r>
              <a:rPr lang="en-GB" dirty="0" smtClean="0"/>
              <a:t>Queue discipline</a:t>
            </a:r>
          </a:p>
          <a:p>
            <a:pPr algn="just">
              <a:lnSpc>
                <a:spcPct val="150000"/>
              </a:lnSpc>
              <a:buFont typeface="Wingdings" pitchFamily="2" charset="2"/>
              <a:buChar char="Ø"/>
            </a:pPr>
            <a:r>
              <a:rPr lang="en-GB" dirty="0" smtClean="0"/>
              <a:t>Service mechanism</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Input source</a:t>
            </a:r>
            <a:endParaRPr lang="en-GB" dirty="0"/>
          </a:p>
        </p:txBody>
      </p:sp>
      <p:sp>
        <p:nvSpPr>
          <p:cNvPr id="3" name="Content Placeholder 2"/>
          <p:cNvSpPr>
            <a:spLocks noGrp="1"/>
          </p:cNvSpPr>
          <p:nvPr>
            <p:ph idx="1"/>
          </p:nvPr>
        </p:nvSpPr>
        <p:spPr/>
        <p:txBody>
          <a:bodyPr>
            <a:normAutofit fontScale="62500" lnSpcReduction="20000"/>
          </a:bodyPr>
          <a:lstStyle/>
          <a:p>
            <a:pPr algn="just">
              <a:lnSpc>
                <a:spcPct val="170000"/>
              </a:lnSpc>
            </a:pPr>
            <a:r>
              <a:rPr lang="en-GB" dirty="0" smtClean="0"/>
              <a:t>One characteristic of the input source is the size. </a:t>
            </a:r>
          </a:p>
          <a:p>
            <a:pPr algn="just">
              <a:lnSpc>
                <a:spcPct val="170000"/>
              </a:lnSpc>
            </a:pPr>
            <a:r>
              <a:rPr lang="en-GB" dirty="0" smtClean="0"/>
              <a:t>The size is the total number of units that</a:t>
            </a:r>
          </a:p>
          <a:p>
            <a:pPr algn="just">
              <a:lnSpc>
                <a:spcPct val="170000"/>
              </a:lnSpc>
            </a:pPr>
            <a:r>
              <a:rPr lang="en-GB" dirty="0" smtClean="0"/>
              <a:t>might require service from time to time. </a:t>
            </a:r>
          </a:p>
          <a:p>
            <a:pPr algn="just">
              <a:lnSpc>
                <a:spcPct val="170000"/>
              </a:lnSpc>
            </a:pPr>
            <a:r>
              <a:rPr lang="en-GB" dirty="0" smtClean="0"/>
              <a:t>It may be assumed to be finite or infinite.</a:t>
            </a:r>
          </a:p>
          <a:p>
            <a:pPr algn="just">
              <a:lnSpc>
                <a:spcPct val="170000"/>
              </a:lnSpc>
            </a:pPr>
            <a:r>
              <a:rPr lang="en-GB" dirty="0" smtClean="0"/>
              <a:t>The customer assumption is that they generate according to ‘Poisson Distribution’ at a certain average rate.</a:t>
            </a:r>
          </a:p>
          <a:p>
            <a:pPr algn="just">
              <a:lnSpc>
                <a:spcPct val="170000"/>
              </a:lnSpc>
            </a:pPr>
            <a:r>
              <a:rPr lang="en-GB" dirty="0" smtClean="0"/>
              <a:t>Therefore, the equivalent assumption is that they generate according to exponential distribution between consecutive arrivals. </a:t>
            </a:r>
          </a:p>
          <a:p>
            <a:pPr algn="just">
              <a:lnSpc>
                <a:spcPct val="170000"/>
              </a:lnSpc>
            </a:pPr>
            <a:r>
              <a:rPr lang="en-GB" dirty="0" smtClean="0"/>
              <a:t>To solve the problems use &amp; assume customer population as ∞</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Queue Discipline</a:t>
            </a:r>
            <a:endParaRPr lang="en-GB" dirty="0"/>
          </a:p>
        </p:txBody>
      </p:sp>
      <p:sp>
        <p:nvSpPr>
          <p:cNvPr id="3" name="Content Placeholder 2"/>
          <p:cNvSpPr>
            <a:spLocks noGrp="1"/>
          </p:cNvSpPr>
          <p:nvPr>
            <p:ph idx="1"/>
          </p:nvPr>
        </p:nvSpPr>
        <p:spPr/>
        <p:txBody>
          <a:bodyPr>
            <a:normAutofit fontScale="85000" lnSpcReduction="20000"/>
          </a:bodyPr>
          <a:lstStyle/>
          <a:p>
            <a:pPr algn="just">
              <a:lnSpc>
                <a:spcPct val="150000"/>
              </a:lnSpc>
            </a:pPr>
            <a:r>
              <a:rPr lang="en-GB" dirty="0" smtClean="0"/>
              <a:t>A queue is characterized by maximum permissible number of units that it contains.</a:t>
            </a:r>
          </a:p>
          <a:p>
            <a:pPr algn="just">
              <a:lnSpc>
                <a:spcPct val="150000"/>
              </a:lnSpc>
            </a:pPr>
            <a:r>
              <a:rPr lang="en-GB" dirty="0" smtClean="0"/>
              <a:t>Queues are called finite or infinite, according to whether number is finite or infinite. </a:t>
            </a:r>
          </a:p>
          <a:p>
            <a:pPr algn="just">
              <a:lnSpc>
                <a:spcPct val="150000"/>
              </a:lnSpc>
            </a:pPr>
            <a:r>
              <a:rPr lang="en-GB" dirty="0" smtClean="0"/>
              <a:t>The service discipline refers to the order in which number of queues are selected for service.</a:t>
            </a:r>
          </a:p>
          <a:p>
            <a:pPr algn="just">
              <a:lnSpc>
                <a:spcPct val="150000"/>
              </a:lnSpc>
            </a:pPr>
            <a:r>
              <a:rPr lang="en-GB" dirty="0" smtClean="0"/>
              <a:t>Ex: It may be FIFO, random or priority; FIFO is usually assumed unless stated otherwise.</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lstStyle/>
          <a:p>
            <a:r>
              <a:rPr lang="en-GB" dirty="0" smtClean="0"/>
              <a:t>Service mechanism</a:t>
            </a:r>
            <a:endParaRPr lang="en-GB" dirty="0"/>
          </a:p>
        </p:txBody>
      </p:sp>
      <p:sp>
        <p:nvSpPr>
          <p:cNvPr id="3" name="Content Placeholder 2"/>
          <p:cNvSpPr>
            <a:spLocks noGrp="1"/>
          </p:cNvSpPr>
          <p:nvPr>
            <p:ph idx="1"/>
          </p:nvPr>
        </p:nvSpPr>
        <p:spPr>
          <a:xfrm>
            <a:off x="1435608" y="1066800"/>
            <a:ext cx="7498080" cy="5181600"/>
          </a:xfrm>
        </p:spPr>
        <p:txBody>
          <a:bodyPr>
            <a:normAutofit fontScale="70000" lnSpcReduction="20000"/>
          </a:bodyPr>
          <a:lstStyle/>
          <a:p>
            <a:pPr algn="just">
              <a:lnSpc>
                <a:spcPct val="160000"/>
              </a:lnSpc>
            </a:pPr>
            <a:r>
              <a:rPr lang="en-GB" dirty="0" smtClean="0"/>
              <a:t>This consists of one or more service facilities each of which contains one or more parallel service channel. </a:t>
            </a:r>
          </a:p>
          <a:p>
            <a:pPr algn="just">
              <a:lnSpc>
                <a:spcPct val="160000"/>
              </a:lnSpc>
            </a:pPr>
            <a:r>
              <a:rPr lang="en-GB" dirty="0" smtClean="0"/>
              <a:t>If there is more than one service facility, the arrival unit may receive the service from a sequence of service channels.</a:t>
            </a:r>
          </a:p>
          <a:p>
            <a:pPr algn="just">
              <a:lnSpc>
                <a:spcPct val="160000"/>
              </a:lnSpc>
            </a:pPr>
            <a:r>
              <a:rPr lang="en-GB" dirty="0" smtClean="0"/>
              <a:t>At a given facility, the arrival enters at the service facility and is completely served by that server. </a:t>
            </a:r>
          </a:p>
          <a:p>
            <a:pPr algn="just">
              <a:lnSpc>
                <a:spcPct val="160000"/>
              </a:lnSpc>
            </a:pPr>
            <a:r>
              <a:rPr lang="en-GB" dirty="0" smtClean="0"/>
              <a:t>The time elapsed from the commencement of the service to its completion for an unit at the service facility is known as service time usually, service time follows as exponential distribution.</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kendal</a:t>
            </a:r>
            <a:r>
              <a:rPr lang="en-GB" dirty="0" smtClean="0"/>
              <a:t> &amp; Lee notations</a:t>
            </a:r>
            <a:endParaRPr lang="en-GB" dirty="0"/>
          </a:p>
        </p:txBody>
      </p:sp>
      <p:sp>
        <p:nvSpPr>
          <p:cNvPr id="3" name="Content Placeholder 2"/>
          <p:cNvSpPr>
            <a:spLocks noGrp="1"/>
          </p:cNvSpPr>
          <p:nvPr>
            <p:ph idx="1"/>
          </p:nvPr>
        </p:nvSpPr>
        <p:spPr/>
        <p:txBody>
          <a:bodyPr>
            <a:normAutofit fontScale="92500" lnSpcReduction="20000"/>
          </a:bodyPr>
          <a:lstStyle/>
          <a:p>
            <a:pPr algn="just">
              <a:lnSpc>
                <a:spcPct val="150000"/>
              </a:lnSpc>
            </a:pPr>
            <a:r>
              <a:rPr lang="en-GB" dirty="0" err="1" smtClean="0"/>
              <a:t>D.G.</a:t>
            </a:r>
            <a:r>
              <a:rPr lang="en-GB" dirty="0" smtClean="0"/>
              <a:t> Kendall (1951 [84]) has introduced the following notation for </a:t>
            </a:r>
            <a:r>
              <a:rPr lang="en-GB" dirty="0" err="1" smtClean="0"/>
              <a:t>queueing</a:t>
            </a:r>
            <a:r>
              <a:rPr lang="en-GB" dirty="0" smtClean="0"/>
              <a:t> models:</a:t>
            </a:r>
          </a:p>
          <a:p>
            <a:pPr algn="just">
              <a:lnSpc>
                <a:spcPct val="150000"/>
              </a:lnSpc>
            </a:pPr>
            <a:r>
              <a:rPr lang="en-GB" i="1" dirty="0" smtClean="0"/>
              <a:t>A/B/n</a:t>
            </a:r>
          </a:p>
          <a:p>
            <a:pPr algn="just">
              <a:lnSpc>
                <a:spcPct val="150000"/>
              </a:lnSpc>
            </a:pPr>
            <a:r>
              <a:rPr lang="en-GB" dirty="0" smtClean="0"/>
              <a:t>Where</a:t>
            </a:r>
          </a:p>
          <a:p>
            <a:pPr algn="just">
              <a:lnSpc>
                <a:spcPct val="150000"/>
              </a:lnSpc>
            </a:pPr>
            <a:r>
              <a:rPr lang="en-GB" dirty="0" smtClean="0"/>
              <a:t>A = arrival process</a:t>
            </a:r>
          </a:p>
          <a:p>
            <a:pPr algn="just">
              <a:lnSpc>
                <a:spcPct val="150000"/>
              </a:lnSpc>
            </a:pPr>
            <a:r>
              <a:rPr lang="en-GB" dirty="0" smtClean="0"/>
              <a:t>B = service time distribution</a:t>
            </a:r>
          </a:p>
          <a:p>
            <a:pPr algn="just">
              <a:lnSpc>
                <a:spcPct val="150000"/>
              </a:lnSpc>
            </a:pPr>
            <a:r>
              <a:rPr lang="en-GB" i="1" dirty="0" smtClean="0"/>
              <a:t>n = number of servers</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algn="just">
              <a:lnSpc>
                <a:spcPct val="160000"/>
              </a:lnSpc>
            </a:pPr>
            <a:r>
              <a:rPr lang="en-GB" dirty="0" smtClean="0"/>
              <a:t>For traffic processes we use the following standard notations:</a:t>
            </a:r>
          </a:p>
          <a:p>
            <a:pPr algn="just">
              <a:lnSpc>
                <a:spcPct val="160000"/>
              </a:lnSpc>
            </a:pPr>
            <a:r>
              <a:rPr lang="en-GB" i="1" dirty="0" smtClean="0"/>
              <a:t>M = </a:t>
            </a:r>
            <a:r>
              <a:rPr lang="en-GB" i="1" dirty="0" err="1" smtClean="0"/>
              <a:t>Markovian</a:t>
            </a:r>
            <a:r>
              <a:rPr lang="en-GB" i="1" dirty="0" smtClean="0"/>
              <a:t>. Exponential time intervals (Poisson arrival process, exponentially distributed </a:t>
            </a:r>
            <a:r>
              <a:rPr lang="en-GB" dirty="0" smtClean="0"/>
              <a:t>service times).</a:t>
            </a:r>
          </a:p>
          <a:p>
            <a:pPr algn="just">
              <a:lnSpc>
                <a:spcPct val="160000"/>
              </a:lnSpc>
            </a:pPr>
            <a:r>
              <a:rPr lang="en-GB" i="1" dirty="0" smtClean="0"/>
              <a:t>D = Deterministic. Constant time interval.</a:t>
            </a:r>
          </a:p>
          <a:p>
            <a:pPr algn="just">
              <a:lnSpc>
                <a:spcPct val="160000"/>
              </a:lnSpc>
            </a:pPr>
            <a:r>
              <a:rPr lang="en-GB" i="1" dirty="0" err="1" smtClean="0"/>
              <a:t>Ek</a:t>
            </a:r>
            <a:r>
              <a:rPr lang="en-GB" i="1" dirty="0" smtClean="0"/>
              <a:t> = </a:t>
            </a:r>
            <a:r>
              <a:rPr lang="en-GB" i="1" dirty="0" err="1" smtClean="0"/>
              <a:t>Erlang</a:t>
            </a:r>
            <a:r>
              <a:rPr lang="en-GB" i="1" dirty="0" smtClean="0"/>
              <a:t>-k distributed time interval (E1 = M).</a:t>
            </a:r>
          </a:p>
          <a:p>
            <a:pPr algn="just">
              <a:lnSpc>
                <a:spcPct val="160000"/>
              </a:lnSpc>
            </a:pPr>
            <a:r>
              <a:rPr lang="en-GB" i="1" dirty="0" err="1" smtClean="0"/>
              <a:t>Hn</a:t>
            </a:r>
            <a:r>
              <a:rPr lang="en-GB" i="1" dirty="0" smtClean="0"/>
              <a:t>/=  Hyper-exponential of order n.</a:t>
            </a:r>
          </a:p>
          <a:p>
            <a:pPr algn="just">
              <a:lnSpc>
                <a:spcPct val="160000"/>
              </a:lnSpc>
            </a:pPr>
            <a:r>
              <a:rPr lang="en-GB" i="1" dirty="0" smtClean="0"/>
              <a:t>G = General. Arbitrary time distribution.</a:t>
            </a:r>
          </a:p>
          <a:p>
            <a:pPr algn="just">
              <a:lnSpc>
                <a:spcPct val="160000"/>
              </a:lnSpc>
            </a:pPr>
            <a:r>
              <a:rPr lang="en-GB" i="1" dirty="0" smtClean="0"/>
              <a:t>GI = General Independent, renewal arrival process.</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normAutofit fontScale="92500"/>
          </a:bodyPr>
          <a:lstStyle/>
          <a:p>
            <a:pPr>
              <a:lnSpc>
                <a:spcPct val="200000"/>
              </a:lnSpc>
            </a:pPr>
            <a:r>
              <a:rPr lang="en-GB" dirty="0" smtClean="0"/>
              <a:t>Example of Ordinary queuing models</a:t>
            </a:r>
          </a:p>
          <a:p>
            <a:pPr>
              <a:lnSpc>
                <a:spcPct val="200000"/>
              </a:lnSpc>
            </a:pPr>
            <a:r>
              <a:rPr lang="en-GB" b="1" i="1" dirty="0" smtClean="0">
                <a:solidFill>
                  <a:srgbClr val="FF0000"/>
                </a:solidFill>
              </a:rPr>
              <a:t>M/M/n</a:t>
            </a:r>
            <a:r>
              <a:rPr lang="en-GB" i="1" dirty="0" smtClean="0"/>
              <a:t> is a pure delay system with Poisson arrival process, exponentially distributed service times </a:t>
            </a:r>
            <a:r>
              <a:rPr lang="en-GB" dirty="0" smtClean="0"/>
              <a:t>and </a:t>
            </a:r>
            <a:r>
              <a:rPr lang="en-GB" i="1" dirty="0" smtClean="0"/>
              <a:t>n servers. </a:t>
            </a:r>
          </a:p>
          <a:p>
            <a:pPr>
              <a:lnSpc>
                <a:spcPct val="200000"/>
              </a:lnSpc>
            </a:pPr>
            <a:r>
              <a:rPr lang="en-GB" b="1" i="1" dirty="0" smtClean="0">
                <a:solidFill>
                  <a:srgbClr val="FF0000"/>
                </a:solidFill>
              </a:rPr>
              <a:t>GI/G/1</a:t>
            </a:r>
            <a:r>
              <a:rPr lang="en-GB" i="1" dirty="0" smtClean="0"/>
              <a:t> is a general delay system with only one server.</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715000"/>
          </a:xfrm>
        </p:spPr>
        <p:txBody>
          <a:bodyPr>
            <a:normAutofit fontScale="70000" lnSpcReduction="20000"/>
          </a:bodyPr>
          <a:lstStyle/>
          <a:p>
            <a:pPr algn="just">
              <a:lnSpc>
                <a:spcPct val="160000"/>
              </a:lnSpc>
            </a:pPr>
            <a:r>
              <a:rPr lang="en-GB" dirty="0" smtClean="0"/>
              <a:t>Generally, any queuing models may be completely specified in the following symbolic form</a:t>
            </a:r>
          </a:p>
          <a:p>
            <a:pPr algn="just">
              <a:lnSpc>
                <a:spcPct val="160000"/>
              </a:lnSpc>
            </a:pPr>
            <a:r>
              <a:rPr lang="pt-BR" dirty="0" smtClean="0"/>
              <a:t>a / b/ c : d / e</a:t>
            </a:r>
          </a:p>
          <a:p>
            <a:pPr algn="just">
              <a:lnSpc>
                <a:spcPct val="160000"/>
              </a:lnSpc>
            </a:pPr>
            <a:r>
              <a:rPr lang="en-GB" dirty="0" smtClean="0"/>
              <a:t>a =Type of distribution of inter – arrival time</a:t>
            </a:r>
          </a:p>
          <a:p>
            <a:pPr algn="just">
              <a:lnSpc>
                <a:spcPct val="160000"/>
              </a:lnSpc>
            </a:pPr>
            <a:r>
              <a:rPr lang="en-GB" dirty="0" smtClean="0"/>
              <a:t>b =Type of distribution of inter – service time</a:t>
            </a:r>
          </a:p>
          <a:p>
            <a:pPr algn="just">
              <a:lnSpc>
                <a:spcPct val="160000"/>
              </a:lnSpc>
            </a:pPr>
            <a:r>
              <a:rPr lang="en-GB" dirty="0" smtClean="0"/>
              <a:t>c =Number of servers</a:t>
            </a:r>
          </a:p>
          <a:p>
            <a:pPr algn="just">
              <a:lnSpc>
                <a:spcPct val="160000"/>
              </a:lnSpc>
            </a:pPr>
            <a:r>
              <a:rPr lang="en-GB" dirty="0" smtClean="0"/>
              <a:t>d =Capacity of the system</a:t>
            </a:r>
          </a:p>
          <a:p>
            <a:pPr algn="just">
              <a:lnSpc>
                <a:spcPct val="160000"/>
              </a:lnSpc>
            </a:pPr>
            <a:r>
              <a:rPr lang="en-GB" dirty="0" smtClean="0"/>
              <a:t>e =Queue discipline</a:t>
            </a:r>
          </a:p>
          <a:p>
            <a:pPr algn="just">
              <a:lnSpc>
                <a:spcPct val="160000"/>
              </a:lnSpc>
            </a:pPr>
            <a:r>
              <a:rPr lang="en-GB" dirty="0" smtClean="0"/>
              <a:t>M =Arrival time follows Poisson distribution and</a:t>
            </a:r>
          </a:p>
          <a:p>
            <a:pPr algn="just">
              <a:lnSpc>
                <a:spcPct val="160000"/>
              </a:lnSpc>
            </a:pPr>
            <a:r>
              <a:rPr lang="en-GB" dirty="0" smtClean="0"/>
              <a:t>service time follows an exponential distribution.</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Model I : M / M / 1 : / </a:t>
            </a:r>
            <a:r>
              <a:rPr lang="en-GB" dirty="0" err="1" smtClean="0"/>
              <a:t>FCFS</a:t>
            </a:r>
            <a:endParaRPr lang="en-GB" dirty="0"/>
          </a:p>
        </p:txBody>
      </p:sp>
      <p:sp>
        <p:nvSpPr>
          <p:cNvPr id="3" name="Content Placeholder 2"/>
          <p:cNvSpPr>
            <a:spLocks noGrp="1"/>
          </p:cNvSpPr>
          <p:nvPr>
            <p:ph idx="1"/>
          </p:nvPr>
        </p:nvSpPr>
        <p:spPr/>
        <p:txBody>
          <a:bodyPr>
            <a:normAutofit fontScale="85000" lnSpcReduction="10000"/>
          </a:bodyPr>
          <a:lstStyle/>
          <a:p>
            <a:pPr algn="just">
              <a:lnSpc>
                <a:spcPct val="160000"/>
              </a:lnSpc>
            </a:pPr>
            <a:r>
              <a:rPr lang="en-GB" dirty="0" smtClean="0"/>
              <a:t>Where </a:t>
            </a:r>
          </a:p>
          <a:p>
            <a:pPr algn="just">
              <a:lnSpc>
                <a:spcPct val="160000"/>
              </a:lnSpc>
            </a:pPr>
            <a:r>
              <a:rPr lang="en-GB" dirty="0" smtClean="0"/>
              <a:t>M = Arrival time follows a Poisson distribution</a:t>
            </a:r>
          </a:p>
          <a:p>
            <a:pPr algn="just">
              <a:lnSpc>
                <a:spcPct val="160000"/>
              </a:lnSpc>
            </a:pPr>
            <a:r>
              <a:rPr lang="en-GB" dirty="0" smtClean="0"/>
              <a:t>M = Service time follows a exponential distribution</a:t>
            </a:r>
          </a:p>
          <a:p>
            <a:pPr algn="just">
              <a:lnSpc>
                <a:spcPct val="160000"/>
              </a:lnSpc>
            </a:pPr>
            <a:r>
              <a:rPr lang="en-GB" dirty="0" smtClean="0"/>
              <a:t>1 = Single service model</a:t>
            </a:r>
          </a:p>
          <a:p>
            <a:pPr algn="just">
              <a:lnSpc>
                <a:spcPct val="160000"/>
              </a:lnSpc>
            </a:pPr>
            <a:r>
              <a:rPr lang="en-GB" dirty="0" smtClean="0"/>
              <a:t>Capacity of the system is infinite</a:t>
            </a:r>
          </a:p>
          <a:p>
            <a:pPr algn="just">
              <a:lnSpc>
                <a:spcPct val="160000"/>
              </a:lnSpc>
            </a:pPr>
            <a:r>
              <a:rPr lang="en-GB" dirty="0" err="1" smtClean="0"/>
              <a:t>FCFS</a:t>
            </a:r>
            <a:r>
              <a:rPr lang="en-GB" dirty="0" smtClean="0"/>
              <a:t> Queue discipline is first come first served</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81000"/>
            <a:ext cx="7498080" cy="6172200"/>
          </a:xfrm>
        </p:spPr>
        <p:txBody>
          <a:bodyPr>
            <a:normAutofit fontScale="77500" lnSpcReduction="20000"/>
          </a:bodyPr>
          <a:lstStyle/>
          <a:p>
            <a:r>
              <a:rPr lang="pt-BR" b="1" dirty="0" smtClean="0"/>
              <a:t>Model II : M / M / 1 : N / FCFS</a:t>
            </a:r>
          </a:p>
          <a:p>
            <a:r>
              <a:rPr lang="en-GB" dirty="0" smtClean="0"/>
              <a:t>Where N Capacity of the system is finite</a:t>
            </a:r>
          </a:p>
          <a:p>
            <a:r>
              <a:rPr lang="en-GB" b="1" dirty="0" smtClean="0"/>
              <a:t>Model III : M / M / 1 : / </a:t>
            </a:r>
            <a:r>
              <a:rPr lang="en-GB" b="1" dirty="0" err="1" smtClean="0"/>
              <a:t>SIRO</a:t>
            </a:r>
            <a:endParaRPr lang="en-GB" b="1" dirty="0" smtClean="0"/>
          </a:p>
          <a:p>
            <a:r>
              <a:rPr lang="en-GB" dirty="0" smtClean="0"/>
              <a:t>Where </a:t>
            </a:r>
            <a:r>
              <a:rPr lang="en-GB" dirty="0" err="1" smtClean="0"/>
              <a:t>SIRO</a:t>
            </a:r>
            <a:r>
              <a:rPr lang="en-GB" dirty="0" smtClean="0"/>
              <a:t> Service in random order</a:t>
            </a:r>
          </a:p>
          <a:p>
            <a:r>
              <a:rPr lang="en-GB" b="1" dirty="0" smtClean="0"/>
              <a:t>Model IV : M / D / 1 : / </a:t>
            </a:r>
            <a:r>
              <a:rPr lang="en-GB" b="1" dirty="0" err="1" smtClean="0"/>
              <a:t>FCFS</a:t>
            </a:r>
            <a:endParaRPr lang="en-GB" b="1" dirty="0" smtClean="0"/>
          </a:p>
          <a:p>
            <a:r>
              <a:rPr lang="en-GB" dirty="0" smtClean="0"/>
              <a:t>Where D Service time follows a constant distribution or is deterministic</a:t>
            </a:r>
          </a:p>
          <a:p>
            <a:r>
              <a:rPr lang="en-GB" b="1" dirty="0" smtClean="0"/>
              <a:t>Model V : M / G / 1 : / </a:t>
            </a:r>
            <a:r>
              <a:rPr lang="en-GB" b="1" dirty="0" err="1" smtClean="0"/>
              <a:t>FCFS</a:t>
            </a:r>
            <a:endParaRPr lang="en-GB" b="1" dirty="0" smtClean="0"/>
          </a:p>
          <a:p>
            <a:r>
              <a:rPr lang="en-GB" dirty="0" smtClean="0"/>
              <a:t>Where G Service time follows a general distribution or arbitrary distribution</a:t>
            </a:r>
          </a:p>
          <a:p>
            <a:r>
              <a:rPr lang="en-GB" b="1" dirty="0" smtClean="0"/>
              <a:t>Model VI : M / </a:t>
            </a:r>
            <a:r>
              <a:rPr lang="en-GB" b="1" dirty="0" err="1" smtClean="0"/>
              <a:t>Ek</a:t>
            </a:r>
            <a:r>
              <a:rPr lang="en-GB" b="1" dirty="0" smtClean="0"/>
              <a:t> / 1 : / </a:t>
            </a:r>
            <a:r>
              <a:rPr lang="en-GB" b="1" dirty="0" err="1" smtClean="0"/>
              <a:t>FCFS</a:t>
            </a:r>
            <a:endParaRPr lang="en-GB" b="1" dirty="0" smtClean="0"/>
          </a:p>
          <a:p>
            <a:r>
              <a:rPr lang="en-GB" dirty="0" smtClean="0"/>
              <a:t>Where </a:t>
            </a:r>
            <a:r>
              <a:rPr lang="en-GB" dirty="0" err="1" smtClean="0"/>
              <a:t>Ek</a:t>
            </a:r>
            <a:r>
              <a:rPr lang="en-GB" dirty="0" smtClean="0"/>
              <a:t> Service time follows </a:t>
            </a:r>
            <a:r>
              <a:rPr lang="en-GB" dirty="0" err="1" smtClean="0"/>
              <a:t>Erlang</a:t>
            </a:r>
            <a:r>
              <a:rPr lang="en-GB" dirty="0" smtClean="0"/>
              <a:t> distribution with K phases.</a:t>
            </a:r>
          </a:p>
          <a:p>
            <a:r>
              <a:rPr lang="en-GB" b="1" dirty="0" smtClean="0"/>
              <a:t>Model VII : M / M / K : / </a:t>
            </a:r>
            <a:r>
              <a:rPr lang="en-GB" b="1" dirty="0" err="1" smtClean="0"/>
              <a:t>FCFS</a:t>
            </a:r>
            <a:endParaRPr lang="en-GB" b="1" dirty="0" smtClean="0"/>
          </a:p>
          <a:p>
            <a:r>
              <a:rPr lang="en-GB" dirty="0" smtClean="0"/>
              <a:t>Where K Multiple Server model</a:t>
            </a:r>
          </a:p>
          <a:p>
            <a:r>
              <a:rPr lang="pt-BR" b="1" dirty="0" smtClean="0"/>
              <a:t>Model VIII : M / M / K : N / FCFS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it-IT" dirty="0" smtClean="0"/>
              <a:t>Queue model –I </a:t>
            </a:r>
            <a:endParaRPr lang="en-GB" dirty="0"/>
          </a:p>
        </p:txBody>
      </p:sp>
      <p:sp>
        <p:nvSpPr>
          <p:cNvPr id="3" name="Content Placeholder 2"/>
          <p:cNvSpPr>
            <a:spLocks noGrp="1"/>
          </p:cNvSpPr>
          <p:nvPr>
            <p:ph idx="1"/>
          </p:nvPr>
        </p:nvSpPr>
        <p:spPr/>
        <p:txBody>
          <a:bodyPr>
            <a:normAutofit fontScale="92500"/>
          </a:bodyPr>
          <a:lstStyle/>
          <a:p>
            <a:pPr algn="just">
              <a:lnSpc>
                <a:spcPct val="150000"/>
              </a:lnSpc>
            </a:pPr>
            <a:r>
              <a:rPr lang="en-GB" dirty="0" smtClean="0"/>
              <a:t>Model:   </a:t>
            </a:r>
            <a:r>
              <a:rPr lang="en-GB" i="1" dirty="0" smtClean="0"/>
              <a:t>(M/M/1):( ∞/FIFO)</a:t>
            </a:r>
            <a:endParaRPr lang="en-GB" dirty="0" smtClean="0"/>
          </a:p>
          <a:p>
            <a:pPr algn="just">
              <a:lnSpc>
                <a:spcPct val="150000"/>
              </a:lnSpc>
            </a:pPr>
            <a:r>
              <a:rPr lang="en-GB" dirty="0" smtClean="0"/>
              <a:t>In this model we assume that arrival follows a Poisson distribution and services follows an exponential distribution.</a:t>
            </a:r>
          </a:p>
          <a:p>
            <a:pPr algn="just">
              <a:lnSpc>
                <a:spcPct val="150000"/>
              </a:lnSpc>
            </a:pPr>
            <a:r>
              <a:rPr lang="en-GB" dirty="0" smtClean="0"/>
              <a:t>In this model we assume the arrival rate is </a:t>
            </a:r>
            <a:r>
              <a:rPr lang="el-GR" i="1" dirty="0" smtClean="0"/>
              <a:t>λ</a:t>
            </a:r>
            <a:r>
              <a:rPr lang="en-GB" i="1" dirty="0" smtClean="0"/>
              <a:t> and service rate is </a:t>
            </a:r>
            <a:r>
              <a:rPr lang="el-GR" i="1" dirty="0" smtClean="0"/>
              <a:t>μ.</a:t>
            </a:r>
            <a:endParaRPr lang="en-GB"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09600"/>
            <a:ext cx="7498080" cy="5638800"/>
          </a:xfrm>
        </p:spPr>
        <p:txBody>
          <a:bodyPr>
            <a:normAutofit/>
          </a:bodyPr>
          <a:lstStyle/>
          <a:p>
            <a:r>
              <a:rPr lang="en-GB" dirty="0" smtClean="0"/>
              <a:t>probability of system being idle</a:t>
            </a:r>
          </a:p>
          <a:p>
            <a:endParaRPr lang="en-GB" dirty="0" smtClean="0"/>
          </a:p>
          <a:p>
            <a:endParaRPr lang="en-GB" dirty="0" smtClean="0"/>
          </a:p>
          <a:p>
            <a:r>
              <a:rPr lang="en-GB" dirty="0" smtClean="0"/>
              <a:t>Utilization factor traffic intensity</a:t>
            </a:r>
          </a:p>
          <a:p>
            <a:endParaRPr lang="en-GB" dirty="0" smtClean="0"/>
          </a:p>
          <a:p>
            <a:endParaRPr lang="en-GB" dirty="0" smtClean="0"/>
          </a:p>
          <a:p>
            <a:pPr>
              <a:buNone/>
            </a:pPr>
            <a:endParaRPr lang="en-GB" dirty="0" smtClean="0"/>
          </a:p>
          <a:p>
            <a:r>
              <a:rPr lang="en-GB" dirty="0" smtClean="0"/>
              <a:t>Where λ = Mean arrival rate ; μ= mean service rate</a:t>
            </a:r>
          </a:p>
          <a:p>
            <a:endParaRPr lang="en-GB" dirty="0"/>
          </a:p>
        </p:txBody>
      </p:sp>
      <p:pic>
        <p:nvPicPr>
          <p:cNvPr id="2050" name="Picture 2"/>
          <p:cNvPicPr>
            <a:picLocks noChangeAspect="1" noChangeArrowheads="1"/>
          </p:cNvPicPr>
          <p:nvPr/>
        </p:nvPicPr>
        <p:blipFill>
          <a:blip r:embed="rId2"/>
          <a:srcRect/>
          <a:stretch>
            <a:fillRect/>
          </a:stretch>
        </p:blipFill>
        <p:spPr bwMode="auto">
          <a:xfrm>
            <a:off x="3810000" y="1219200"/>
            <a:ext cx="1771650" cy="9144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3652838" y="2943225"/>
            <a:ext cx="1838325" cy="9715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457200"/>
            <a:ext cx="7498080" cy="5791200"/>
          </a:xfrm>
        </p:spPr>
        <p:txBody>
          <a:bodyPr/>
          <a:lstStyle/>
          <a:p>
            <a:r>
              <a:rPr lang="en-GB" dirty="0" smtClean="0"/>
              <a:t>Average number (</a:t>
            </a:r>
            <a:r>
              <a:rPr lang="en-GB" i="1" dirty="0" smtClean="0"/>
              <a:t>Ls) of customers in the system</a:t>
            </a:r>
          </a:p>
          <a:p>
            <a:endParaRPr lang="en-GB" i="1" dirty="0" smtClean="0"/>
          </a:p>
          <a:p>
            <a:pPr>
              <a:buNone/>
            </a:pPr>
            <a:endParaRPr lang="en-GB" i="1" dirty="0" smtClean="0"/>
          </a:p>
          <a:p>
            <a:r>
              <a:rPr lang="en-GB" dirty="0" smtClean="0"/>
              <a:t>Average number of customers in the Queue(</a:t>
            </a:r>
            <a:r>
              <a:rPr lang="en-GB" i="1" dirty="0" err="1" smtClean="0"/>
              <a:t>Lq</a:t>
            </a:r>
            <a:r>
              <a:rPr lang="en-GB" i="1" dirty="0" smtClean="0"/>
              <a:t>)</a:t>
            </a:r>
            <a:endParaRPr lang="en-GB" dirty="0"/>
          </a:p>
        </p:txBody>
      </p:sp>
      <p:pic>
        <p:nvPicPr>
          <p:cNvPr id="3074" name="Picture 2"/>
          <p:cNvPicPr>
            <a:picLocks noChangeAspect="1" noChangeArrowheads="1"/>
          </p:cNvPicPr>
          <p:nvPr/>
        </p:nvPicPr>
        <p:blipFill>
          <a:blip r:embed="rId2"/>
          <a:srcRect/>
          <a:stretch>
            <a:fillRect/>
          </a:stretch>
        </p:blipFill>
        <p:spPr bwMode="auto">
          <a:xfrm>
            <a:off x="4419600" y="1371600"/>
            <a:ext cx="1609725" cy="790575"/>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038600" y="1371600"/>
            <a:ext cx="571500" cy="523875"/>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4267200" y="3810000"/>
            <a:ext cx="1914525" cy="21336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533400"/>
            <a:ext cx="7498080" cy="5715000"/>
          </a:xfrm>
        </p:spPr>
        <p:txBody>
          <a:bodyPr/>
          <a:lstStyle/>
          <a:p>
            <a:r>
              <a:rPr lang="en-GB" dirty="0" smtClean="0"/>
              <a:t>The value of </a:t>
            </a:r>
            <a:r>
              <a:rPr lang="en-GB" i="1" dirty="0" err="1" smtClean="0"/>
              <a:t>Lq</a:t>
            </a:r>
            <a:r>
              <a:rPr lang="en-GB" i="1" dirty="0" smtClean="0"/>
              <a:t> can also be calculated by</a:t>
            </a:r>
          </a:p>
          <a:p>
            <a:endParaRPr lang="en-GB" i="1" dirty="0" smtClean="0"/>
          </a:p>
          <a:p>
            <a:endParaRPr lang="en-GB" i="1" dirty="0" smtClean="0"/>
          </a:p>
          <a:p>
            <a:r>
              <a:rPr lang="en-GB" dirty="0" smtClean="0"/>
              <a:t>Expected waiting time in the queue</a:t>
            </a:r>
          </a:p>
          <a:p>
            <a:pPr>
              <a:buNone/>
            </a:pPr>
            <a:endParaRPr lang="en-GB" dirty="0" smtClean="0"/>
          </a:p>
          <a:p>
            <a:pPr>
              <a:buNone/>
            </a:pPr>
            <a:endParaRPr lang="en-GB" dirty="0" smtClean="0"/>
          </a:p>
          <a:p>
            <a:r>
              <a:rPr lang="en-GB" dirty="0" smtClean="0"/>
              <a:t>Probability that n or more units in the system</a:t>
            </a:r>
            <a:endParaRPr lang="en-GB" dirty="0"/>
          </a:p>
        </p:txBody>
      </p:sp>
      <p:pic>
        <p:nvPicPr>
          <p:cNvPr id="4098" name="Picture 2"/>
          <p:cNvPicPr>
            <a:picLocks noChangeAspect="1" noChangeArrowheads="1"/>
          </p:cNvPicPr>
          <p:nvPr/>
        </p:nvPicPr>
        <p:blipFill>
          <a:blip r:embed="rId2"/>
          <a:srcRect/>
          <a:stretch>
            <a:fillRect/>
          </a:stretch>
        </p:blipFill>
        <p:spPr bwMode="auto">
          <a:xfrm>
            <a:off x="3581400" y="1219200"/>
            <a:ext cx="2438400" cy="9144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3886200" y="2667000"/>
            <a:ext cx="1847850" cy="1219200"/>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3733800" y="4495800"/>
            <a:ext cx="3752850" cy="183832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smtClean="0"/>
              <a:t>Expected waiting time in the system</a:t>
            </a:r>
            <a:endParaRPr lang="en-GB" dirty="0"/>
          </a:p>
        </p:txBody>
      </p:sp>
      <p:pic>
        <p:nvPicPr>
          <p:cNvPr id="5122" name="Picture 2"/>
          <p:cNvPicPr>
            <a:picLocks noChangeAspect="1" noChangeArrowheads="1"/>
          </p:cNvPicPr>
          <p:nvPr/>
        </p:nvPicPr>
        <p:blipFill>
          <a:blip r:embed="rId2"/>
          <a:srcRect/>
          <a:stretch>
            <a:fillRect/>
          </a:stretch>
        </p:blipFill>
        <p:spPr bwMode="auto">
          <a:xfrm>
            <a:off x="3429000" y="2057400"/>
            <a:ext cx="2657475" cy="12192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411162"/>
          </a:xfrm>
        </p:spPr>
        <p:txBody>
          <a:bodyPr>
            <a:normAutofit fontScale="90000"/>
          </a:bodyPr>
          <a:lstStyle/>
          <a:p>
            <a:r>
              <a:rPr lang="en-GB" dirty="0" smtClean="0"/>
              <a:t>Example</a:t>
            </a:r>
            <a:endParaRPr lang="en-GB" dirty="0"/>
          </a:p>
        </p:txBody>
      </p:sp>
      <p:sp>
        <p:nvSpPr>
          <p:cNvPr id="3" name="Content Placeholder 2"/>
          <p:cNvSpPr>
            <a:spLocks noGrp="1"/>
          </p:cNvSpPr>
          <p:nvPr>
            <p:ph idx="1"/>
          </p:nvPr>
        </p:nvSpPr>
        <p:spPr>
          <a:xfrm>
            <a:off x="1435608" y="838200"/>
            <a:ext cx="7498080" cy="5410200"/>
          </a:xfrm>
        </p:spPr>
        <p:txBody>
          <a:bodyPr>
            <a:normAutofit fontScale="92500" lnSpcReduction="20000"/>
          </a:bodyPr>
          <a:lstStyle/>
          <a:p>
            <a:r>
              <a:rPr lang="en-GB" dirty="0" smtClean="0"/>
              <a:t>Arrivals at a telephone booth are considered to be Poisson at an average time of 8 min between our arrival and the next. The length of the phone call is distributed exponentially, with a mean of 4 min.</a:t>
            </a:r>
          </a:p>
          <a:p>
            <a:r>
              <a:rPr lang="en-GB" dirty="0" smtClean="0"/>
              <a:t>Determine</a:t>
            </a:r>
          </a:p>
          <a:p>
            <a:r>
              <a:rPr lang="en-GB" dirty="0" smtClean="0"/>
              <a:t>(a) Expected fraction of the day that the phone will be in use.</a:t>
            </a:r>
          </a:p>
          <a:p>
            <a:r>
              <a:rPr lang="en-GB" dirty="0" smtClean="0"/>
              <a:t>(b) Expected number of units in the </a:t>
            </a:r>
            <a:r>
              <a:rPr lang="en-GB" dirty="0" smtClean="0"/>
              <a:t>queue</a:t>
            </a:r>
          </a:p>
          <a:p>
            <a:r>
              <a:rPr lang="en-GB" dirty="0" smtClean="0"/>
              <a:t>(c) </a:t>
            </a:r>
            <a:r>
              <a:rPr lang="en-GB" dirty="0" smtClean="0"/>
              <a:t>Expected </a:t>
            </a:r>
            <a:r>
              <a:rPr lang="en-GB" dirty="0" smtClean="0"/>
              <a:t>waiting time in the queue.</a:t>
            </a:r>
          </a:p>
          <a:p>
            <a:r>
              <a:rPr lang="en-GB" dirty="0" smtClean="0"/>
              <a:t>(d) </a:t>
            </a:r>
            <a:r>
              <a:rPr lang="en-GB" dirty="0" smtClean="0"/>
              <a:t>Expected number of units in the system.</a:t>
            </a:r>
          </a:p>
          <a:p>
            <a:r>
              <a:rPr lang="en-GB" dirty="0" smtClean="0"/>
              <a:t>(e) Expected waiting time in the system</a:t>
            </a: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705</TotalTime>
  <Words>1561</Words>
  <Application>Microsoft Office PowerPoint</Application>
  <PresentationFormat>On-screen Show (4:3)</PresentationFormat>
  <Paragraphs>149</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Solstice</vt:lpstr>
      <vt:lpstr>Slide 1</vt:lpstr>
      <vt:lpstr>Intro...</vt:lpstr>
      <vt:lpstr>Slide 3</vt:lpstr>
      <vt:lpstr>Slide 4</vt:lpstr>
      <vt:lpstr>Slide 5</vt:lpstr>
      <vt:lpstr>Slide 6</vt:lpstr>
      <vt:lpstr>Priority of customers</vt:lpstr>
      <vt:lpstr>Little's theorem</vt:lpstr>
      <vt:lpstr>Slide 9</vt:lpstr>
      <vt:lpstr>Slide 10</vt:lpstr>
      <vt:lpstr>Slide 11</vt:lpstr>
      <vt:lpstr>Input source</vt:lpstr>
      <vt:lpstr>Queue Discipline</vt:lpstr>
      <vt:lpstr>Service mechanism</vt:lpstr>
      <vt:lpstr>kendal &amp; Lee notations</vt:lpstr>
      <vt:lpstr>Slide 16</vt:lpstr>
      <vt:lpstr>Slide 17</vt:lpstr>
      <vt:lpstr>Slide 18</vt:lpstr>
      <vt:lpstr>Model I : M / M / 1 : / FCFS</vt:lpstr>
      <vt:lpstr>Slide 20</vt:lpstr>
      <vt:lpstr> Queue model –I </vt:lpstr>
      <vt:lpstr>Slide 22</vt:lpstr>
      <vt:lpstr>Slide 23</vt:lpstr>
      <vt:lpstr>Slide 24</vt:lpstr>
      <vt:lpstr>Slide 25</vt:lpstr>
      <vt:lpstr>Example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 8301 DIGITAL ELECTRONICS</dc:title>
  <dc:creator>user</dc:creator>
  <cp:lastModifiedBy>Windows User</cp:lastModifiedBy>
  <cp:revision>65</cp:revision>
  <dcterms:created xsi:type="dcterms:W3CDTF">2006-08-16T00:00:00Z</dcterms:created>
  <dcterms:modified xsi:type="dcterms:W3CDTF">2025-04-22T06:58:24Z</dcterms:modified>
</cp:coreProperties>
</file>