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C6C375-1331-4077-A164-B2698903209D}" type="datetimeFigureOut">
              <a:rPr lang="en-US" smtClean="0"/>
              <a:pPr/>
              <a:t>4/8/2024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D240F-B9A3-49F6-ACAB-4558347DB19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00200"/>
            <a:ext cx="8001000" cy="1472184"/>
          </a:xfrm>
        </p:spPr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en-US" sz="4000" b="1" dirty="0" smtClean="0"/>
              <a:t>ET 8311</a:t>
            </a:r>
            <a:br>
              <a:rPr lang="en-US" sz="4000" b="1" dirty="0" smtClean="0"/>
            </a:br>
            <a:r>
              <a:rPr lang="en-US" sz="4000" b="1" dirty="0" smtClean="0"/>
              <a:t>TELE TRAFFIC ENGINEERING</a:t>
            </a:r>
            <a:r>
              <a:rPr lang="en-GB" sz="4000" dirty="0" smtClean="0"/>
              <a:t/>
            </a:r>
            <a:br>
              <a:rPr lang="en-GB" sz="4000" dirty="0" smtClean="0"/>
            </a:br>
            <a:r>
              <a:rPr lang="en-GB" sz="1200" dirty="0"/>
              <a:t/>
            </a:r>
            <a:br>
              <a:rPr lang="en-GB" sz="1200" dirty="0"/>
            </a:br>
            <a:endParaRPr lang="en-GB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505200"/>
            <a:ext cx="7406640" cy="1752600"/>
          </a:xfrm>
        </p:spPr>
        <p:txBody>
          <a:bodyPr>
            <a:normAutofit/>
          </a:bodyPr>
          <a:lstStyle/>
          <a:p>
            <a:pPr algn="ctr"/>
            <a:r>
              <a:rPr lang="en-GB" dirty="0" smtClean="0"/>
              <a:t>Name: Joseph Sospeter Salawa</a:t>
            </a:r>
          </a:p>
          <a:p>
            <a:pPr algn="ctr"/>
            <a:r>
              <a:rPr lang="en-GB" dirty="0" smtClean="0"/>
              <a:t>Contacts: 0754556575</a:t>
            </a:r>
          </a:p>
          <a:p>
            <a:pPr algn="ctr"/>
            <a:r>
              <a:rPr lang="en-GB" dirty="0" smtClean="0"/>
              <a:t>Email: yusufujss@gmail.com</a:t>
            </a:r>
          </a:p>
          <a:p>
            <a:endParaRPr lang="en-GB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sz="3800" dirty="0" smtClean="0"/>
              <a:t>Teletraffic</a:t>
            </a:r>
            <a:r>
              <a:rPr lang="en-GB" dirty="0" smtClean="0"/>
              <a:t> theory is defined as </a:t>
            </a:r>
            <a:r>
              <a:rPr lang="en-GB" i="1" dirty="0" smtClean="0"/>
              <a:t>the application of probability theory to the solution of problems concerning planning, performance evaluation, operation and maintenance of telecommunication systems.</a:t>
            </a:r>
          </a:p>
          <a:p>
            <a:r>
              <a:rPr lang="en-GB" dirty="0" smtClean="0"/>
              <a:t>More generally, teletraffic theory can be viewed as a discipline of planning where the tools (stochastic processes, queuing theory and numerical simulation) are taken from operations research.</a:t>
            </a:r>
          </a:p>
          <a:p>
            <a:r>
              <a:rPr lang="en-GB" dirty="0" smtClean="0"/>
              <a:t>The term </a:t>
            </a:r>
            <a:r>
              <a:rPr lang="en-GB" i="1" dirty="0" smtClean="0"/>
              <a:t>teletraffic covers all kinds of data communication traffic and telecommunication traffic.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objective of teletraffic theory can be formulated as follows:</a:t>
            </a:r>
          </a:p>
          <a:p>
            <a:r>
              <a:rPr lang="en-GB" i="1" dirty="0" smtClean="0"/>
              <a:t>to make the traffic measurable in well defined units through mathematical models</a:t>
            </a:r>
          </a:p>
          <a:p>
            <a:r>
              <a:rPr lang="en-GB" i="1" dirty="0" smtClean="0"/>
              <a:t>derive the relationship between grade-of-service and system capacity in such a way that the theory becomes a tool by which investments can be planned".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Telecom Networks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4126992" cy="4800600"/>
          </a:xfrm>
        </p:spPr>
        <p:txBody>
          <a:bodyPr>
            <a:normAutofit fontScale="85000" lnSpcReduction="20000"/>
          </a:bodyPr>
          <a:lstStyle/>
          <a:p>
            <a:r>
              <a:rPr lang="en-GB" dirty="0" smtClean="0"/>
              <a:t>A simple model of a telecommunication network consists of</a:t>
            </a:r>
          </a:p>
          <a:p>
            <a:pPr>
              <a:buNone/>
            </a:pPr>
            <a:r>
              <a:rPr lang="en-GB" dirty="0" smtClean="0"/>
              <a:t>– nodes</a:t>
            </a:r>
          </a:p>
          <a:p>
            <a:pPr lvl="2">
              <a:buNone/>
            </a:pPr>
            <a:r>
              <a:rPr lang="en-GB" dirty="0" smtClean="0"/>
              <a:t>• terminals</a:t>
            </a:r>
          </a:p>
          <a:p>
            <a:pPr lvl="2">
              <a:buNone/>
            </a:pPr>
            <a:r>
              <a:rPr lang="en-GB" dirty="0" smtClean="0"/>
              <a:t>• network nodes</a:t>
            </a:r>
          </a:p>
          <a:p>
            <a:pPr>
              <a:buNone/>
            </a:pPr>
            <a:r>
              <a:rPr lang="en-GB" dirty="0" smtClean="0"/>
              <a:t>– links between nodes</a:t>
            </a:r>
          </a:p>
          <a:p>
            <a:pPr lvl="2">
              <a:buNone/>
            </a:pPr>
            <a:r>
              <a:rPr lang="en-GB" dirty="0" smtClean="0"/>
              <a:t>• Access network</a:t>
            </a:r>
          </a:p>
          <a:p>
            <a:pPr>
              <a:buNone/>
            </a:pPr>
            <a:r>
              <a:rPr lang="en-GB" dirty="0" smtClean="0"/>
              <a:t>– connects the terminals to the network nodes</a:t>
            </a:r>
          </a:p>
          <a:p>
            <a:pPr>
              <a:buNone/>
            </a:pPr>
            <a:r>
              <a:rPr lang="en-GB" dirty="0" smtClean="0"/>
              <a:t>• Trunk network</a:t>
            </a:r>
          </a:p>
          <a:p>
            <a:pPr>
              <a:buNone/>
            </a:pPr>
            <a:r>
              <a:rPr lang="en-GB" dirty="0" smtClean="0"/>
              <a:t>– connects the network nodes to each other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1676400"/>
            <a:ext cx="288607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4507992" cy="4800600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In the previous model,</a:t>
            </a:r>
          </a:p>
          <a:p>
            <a:pPr>
              <a:buNone/>
            </a:pPr>
            <a:r>
              <a:rPr lang="en-GB" dirty="0" smtClean="0"/>
              <a:t>– connections between terminals and network nodes are point-to point type (no resource sharing within the access </a:t>
            </a:r>
            <a:r>
              <a:rPr lang="en-GB" dirty="0" err="1" smtClean="0"/>
              <a:t>netw</a:t>
            </a:r>
            <a:r>
              <a:rPr lang="en-GB" dirty="0" smtClean="0"/>
              <a:t>.)</a:t>
            </a:r>
          </a:p>
          <a:p>
            <a:pPr>
              <a:buNone/>
            </a:pPr>
            <a:r>
              <a:rPr lang="en-GB" dirty="0" smtClean="0"/>
              <a:t>• In some cases, such as</a:t>
            </a:r>
          </a:p>
          <a:p>
            <a:pPr>
              <a:buNone/>
            </a:pPr>
            <a:r>
              <a:rPr lang="en-GB" dirty="0" smtClean="0"/>
              <a:t>– mobile telephone network</a:t>
            </a:r>
          </a:p>
          <a:p>
            <a:pPr>
              <a:buNone/>
            </a:pPr>
            <a:r>
              <a:rPr lang="en-GB" dirty="0" smtClean="0"/>
              <a:t>– local area network (LAN) connecting computers the access network consists of shared medium:</a:t>
            </a:r>
          </a:p>
          <a:p>
            <a:pPr>
              <a:buNone/>
            </a:pPr>
            <a:r>
              <a:rPr lang="en-GB" dirty="0" smtClean="0"/>
              <a:t>– users have to compete for the resources of this shared medium</a:t>
            </a:r>
          </a:p>
          <a:p>
            <a:pPr>
              <a:buNone/>
            </a:pPr>
            <a:r>
              <a:rPr lang="en-GB" dirty="0" smtClean="0"/>
              <a:t>– multiple access (MA) techniques are needed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800" y="1447800"/>
            <a:ext cx="269557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Switching modes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dirty="0" smtClean="0"/>
              <a:t>• Circuit switching</a:t>
            </a:r>
          </a:p>
          <a:p>
            <a:pPr lvl="1">
              <a:buNone/>
            </a:pPr>
            <a:r>
              <a:rPr lang="en-GB" dirty="0" smtClean="0"/>
              <a:t>– telephone networks</a:t>
            </a:r>
          </a:p>
          <a:p>
            <a:pPr lvl="1">
              <a:buNone/>
            </a:pPr>
            <a:r>
              <a:rPr lang="en-GB" dirty="0" smtClean="0"/>
              <a:t>– mobile telephone networks</a:t>
            </a:r>
          </a:p>
          <a:p>
            <a:pPr lvl="1">
              <a:buNone/>
            </a:pPr>
            <a:r>
              <a:rPr lang="en-GB" dirty="0" smtClean="0"/>
              <a:t>– optical networks</a:t>
            </a:r>
          </a:p>
          <a:p>
            <a:pPr>
              <a:buNone/>
            </a:pPr>
            <a:r>
              <a:rPr lang="en-GB" dirty="0" smtClean="0"/>
              <a:t>• Packet switching</a:t>
            </a:r>
          </a:p>
          <a:p>
            <a:pPr lvl="1">
              <a:buNone/>
            </a:pPr>
            <a:r>
              <a:rPr lang="en-GB" dirty="0" smtClean="0"/>
              <a:t>– data networks</a:t>
            </a:r>
          </a:p>
          <a:p>
            <a:pPr lvl="1">
              <a:buNone/>
            </a:pPr>
            <a:r>
              <a:rPr lang="en-GB" dirty="0" smtClean="0"/>
              <a:t>– two possibilities</a:t>
            </a:r>
          </a:p>
          <a:p>
            <a:pPr lvl="2">
              <a:buNone/>
            </a:pPr>
            <a:r>
              <a:rPr lang="en-GB" dirty="0" smtClean="0"/>
              <a:t>• connection oriented: e.g. X.25, Frame Relay</a:t>
            </a:r>
          </a:p>
          <a:p>
            <a:pPr lvl="2">
              <a:buNone/>
            </a:pPr>
            <a:r>
              <a:rPr lang="en-GB" dirty="0" smtClean="0"/>
              <a:t>• connectionless: e.g. Internet (IP), SS7 (</a:t>
            </a:r>
            <a:r>
              <a:rPr lang="en-GB" dirty="0" err="1" smtClean="0"/>
              <a:t>MTP</a:t>
            </a:r>
            <a:r>
              <a:rPr lang="en-GB" dirty="0" smtClean="0"/>
              <a:t>)</a:t>
            </a:r>
          </a:p>
          <a:p>
            <a:pPr>
              <a:buNone/>
            </a:pPr>
            <a:r>
              <a:rPr lang="en-GB" dirty="0" smtClean="0"/>
              <a:t>• Cell switching</a:t>
            </a:r>
          </a:p>
          <a:p>
            <a:pPr lvl="1">
              <a:buNone/>
            </a:pPr>
            <a:r>
              <a:rPr lang="en-GB" dirty="0" smtClean="0"/>
              <a:t>– ATM networks</a:t>
            </a:r>
          </a:p>
          <a:p>
            <a:pPr lvl="1">
              <a:buNone/>
            </a:pPr>
            <a:r>
              <a:rPr lang="en-GB" dirty="0" smtClean="0"/>
              <a:t>– connection oriented</a:t>
            </a:r>
          </a:p>
          <a:p>
            <a:pPr lvl="1">
              <a:buNone/>
            </a:pPr>
            <a:r>
              <a:rPr lang="en-GB" dirty="0" smtClean="0"/>
              <a:t>– fast packet switching with fixed length packets (cells)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Circuit switching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4584192" cy="4800600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Connection oriented:</a:t>
            </a:r>
          </a:p>
          <a:p>
            <a:pPr>
              <a:buNone/>
            </a:pPr>
            <a:r>
              <a:rPr lang="en-GB" dirty="0" smtClean="0"/>
              <a:t>– connections set up end-to-end before information transfer</a:t>
            </a:r>
          </a:p>
          <a:p>
            <a:pPr>
              <a:buNone/>
            </a:pPr>
            <a:r>
              <a:rPr lang="en-GB" dirty="0" smtClean="0"/>
              <a:t>– resources reserved for the whole duration of connection</a:t>
            </a:r>
          </a:p>
          <a:p>
            <a:pPr>
              <a:buNone/>
            </a:pPr>
            <a:r>
              <a:rPr lang="en-GB" dirty="0" smtClean="0"/>
              <a:t>– if resources are not available, the call is blocked and lost</a:t>
            </a:r>
          </a:p>
          <a:p>
            <a:pPr>
              <a:buNone/>
            </a:pPr>
            <a:r>
              <a:rPr lang="en-GB" dirty="0" smtClean="0"/>
              <a:t>• Information transfer as continuous stream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1447800"/>
            <a:ext cx="24288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Before information transfer</a:t>
            </a:r>
          </a:p>
          <a:p>
            <a:pPr>
              <a:buNone/>
            </a:pPr>
            <a:r>
              <a:rPr lang="en-GB" dirty="0" smtClean="0"/>
              <a:t>– Set-up delay</a:t>
            </a:r>
          </a:p>
          <a:p>
            <a:pPr>
              <a:buNone/>
            </a:pPr>
            <a:r>
              <a:rPr lang="en-GB" dirty="0" smtClean="0"/>
              <a:t>• During information transfer</a:t>
            </a:r>
          </a:p>
          <a:p>
            <a:pPr>
              <a:buNone/>
            </a:pPr>
            <a:r>
              <a:rPr lang="en-GB" dirty="0" smtClean="0"/>
              <a:t>– signal propagation delay</a:t>
            </a:r>
          </a:p>
          <a:p>
            <a:pPr>
              <a:buNone/>
            </a:pPr>
            <a:r>
              <a:rPr lang="en-GB" dirty="0" smtClean="0"/>
              <a:t>– no overhead</a:t>
            </a:r>
          </a:p>
          <a:p>
            <a:pPr>
              <a:buNone/>
            </a:pPr>
            <a:r>
              <a:rPr lang="en-GB" dirty="0" smtClean="0"/>
              <a:t>– no extra delays</a:t>
            </a:r>
          </a:p>
          <a:p>
            <a:pPr>
              <a:buNone/>
            </a:pPr>
            <a:r>
              <a:rPr lang="en-GB" dirty="0" smtClean="0"/>
              <a:t>• Example: telephone network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Connectionless packet switching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4507992" cy="4800600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Connectionless:</a:t>
            </a:r>
          </a:p>
          <a:p>
            <a:pPr>
              <a:buNone/>
            </a:pPr>
            <a:r>
              <a:rPr lang="en-GB" dirty="0" smtClean="0"/>
              <a:t>– no connection set-up</a:t>
            </a:r>
          </a:p>
          <a:p>
            <a:pPr>
              <a:buNone/>
            </a:pPr>
            <a:r>
              <a:rPr lang="en-GB" dirty="0" smtClean="0"/>
              <a:t>– no resource reservation</a:t>
            </a:r>
          </a:p>
          <a:p>
            <a:pPr>
              <a:buNone/>
            </a:pPr>
            <a:r>
              <a:rPr lang="en-GB" dirty="0" smtClean="0"/>
              <a:t>– no blocking</a:t>
            </a:r>
          </a:p>
          <a:p>
            <a:pPr>
              <a:buNone/>
            </a:pPr>
            <a:r>
              <a:rPr lang="en-GB" dirty="0" smtClean="0"/>
              <a:t>• Information transfer as discrete packets</a:t>
            </a:r>
          </a:p>
          <a:p>
            <a:pPr>
              <a:buNone/>
            </a:pPr>
            <a:r>
              <a:rPr lang="en-GB" dirty="0" smtClean="0"/>
              <a:t>– varying length</a:t>
            </a:r>
          </a:p>
          <a:p>
            <a:pPr>
              <a:buNone/>
            </a:pPr>
            <a:r>
              <a:rPr lang="en-GB" dirty="0" smtClean="0"/>
              <a:t>– global address (of the destination)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1828800"/>
            <a:ext cx="24955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Before information transfer</a:t>
            </a:r>
          </a:p>
          <a:p>
            <a:pPr>
              <a:buNone/>
            </a:pPr>
            <a:r>
              <a:rPr lang="en-GB" dirty="0" smtClean="0"/>
              <a:t>– no delays</a:t>
            </a:r>
          </a:p>
          <a:p>
            <a:pPr>
              <a:buNone/>
            </a:pPr>
            <a:r>
              <a:rPr lang="en-GB" dirty="0" smtClean="0"/>
              <a:t>• During information transfer</a:t>
            </a:r>
          </a:p>
          <a:p>
            <a:pPr>
              <a:buNone/>
            </a:pPr>
            <a:r>
              <a:rPr lang="en-GB" dirty="0" smtClean="0"/>
              <a:t>– overhead (header bytes)</a:t>
            </a:r>
          </a:p>
          <a:p>
            <a:pPr>
              <a:buNone/>
            </a:pPr>
            <a:r>
              <a:rPr lang="en-GB" dirty="0" smtClean="0"/>
              <a:t>– packet processing delays</a:t>
            </a:r>
          </a:p>
          <a:p>
            <a:pPr>
              <a:buNone/>
            </a:pPr>
            <a:r>
              <a:rPr lang="en-GB" dirty="0" smtClean="0"/>
              <a:t>– queuing delays (since packets compete for joint resources)</a:t>
            </a:r>
          </a:p>
          <a:p>
            <a:pPr>
              <a:buNone/>
            </a:pPr>
            <a:r>
              <a:rPr lang="en-GB" dirty="0" smtClean="0"/>
              <a:t>– transmission delays (due to finite capacity links)</a:t>
            </a:r>
          </a:p>
          <a:p>
            <a:pPr>
              <a:buNone/>
            </a:pPr>
            <a:r>
              <a:rPr lang="en-GB" dirty="0" smtClean="0"/>
              <a:t>– signal propagation delay</a:t>
            </a:r>
          </a:p>
          <a:p>
            <a:pPr>
              <a:buNone/>
            </a:pPr>
            <a:r>
              <a:rPr lang="en-GB" dirty="0" smtClean="0"/>
              <a:t>– packet losses (due to finite buffers)</a:t>
            </a:r>
          </a:p>
          <a:p>
            <a:pPr>
              <a:buNone/>
            </a:pPr>
            <a:r>
              <a:rPr lang="en-GB" dirty="0" smtClean="0"/>
              <a:t>• Example: Internet (IP-layer)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Traffic point of 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Telecommunication system from the traffic point of view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Ideas:</a:t>
            </a:r>
          </a:p>
          <a:p>
            <a:pPr>
              <a:buNone/>
            </a:pPr>
            <a:r>
              <a:rPr lang="en-GB" dirty="0" smtClean="0"/>
              <a:t>– the system serves the incoming traffic</a:t>
            </a:r>
          </a:p>
          <a:p>
            <a:pPr>
              <a:buNone/>
            </a:pPr>
            <a:r>
              <a:rPr lang="en-GB" dirty="0" smtClean="0"/>
              <a:t>– the traffic is generated by the users of the system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2971800"/>
            <a:ext cx="548640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Interesting 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3505200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Given the system and incoming traffic, what is the quality of service experienced by the user?</a:t>
            </a:r>
          </a:p>
          <a:p>
            <a:pPr>
              <a:buNone/>
            </a:pPr>
            <a:r>
              <a:rPr lang="en-GB" dirty="0" smtClean="0"/>
              <a:t>• Given the incoming traffic and required quality of service, how should the system be dimensioned?</a:t>
            </a:r>
          </a:p>
          <a:p>
            <a:pPr>
              <a:buNone/>
            </a:pPr>
            <a:r>
              <a:rPr lang="en-GB" dirty="0" smtClean="0"/>
              <a:t>• Given the system and required quality of service, what is the maximum traffic load?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5029200"/>
            <a:ext cx="4772025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Determine relationships between the following three factors:</a:t>
            </a:r>
          </a:p>
          <a:p>
            <a:pPr>
              <a:buNone/>
            </a:pPr>
            <a:r>
              <a:rPr lang="en-GB" dirty="0" smtClean="0"/>
              <a:t>– quality of service</a:t>
            </a:r>
          </a:p>
          <a:p>
            <a:pPr>
              <a:buNone/>
            </a:pPr>
            <a:r>
              <a:rPr lang="en-GB" dirty="0" smtClean="0"/>
              <a:t>– traffic load</a:t>
            </a:r>
          </a:p>
          <a:p>
            <a:pPr>
              <a:buNone/>
            </a:pPr>
            <a:r>
              <a:rPr lang="en-GB" dirty="0" smtClean="0"/>
              <a:t>– system capacity</a:t>
            </a:r>
            <a:endParaRPr lang="en-GB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4419600"/>
            <a:ext cx="2743200" cy="2027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System can be</a:t>
            </a:r>
          </a:p>
          <a:p>
            <a:pPr>
              <a:buNone/>
            </a:pPr>
            <a:r>
              <a:rPr lang="en-GB" dirty="0" smtClean="0"/>
              <a:t>– a single device (e.g. link between two telephone exchanges, link in an IP network, packet processor in a data network, router’s transmission buffer, or statistical multiplexer in an ATM network)</a:t>
            </a:r>
          </a:p>
          <a:p>
            <a:pPr>
              <a:buNone/>
            </a:pPr>
            <a:r>
              <a:rPr lang="en-GB" dirty="0" smtClean="0"/>
              <a:t>– the whole network (e.g. telephone or data network) or some part of it</a:t>
            </a:r>
          </a:p>
          <a:p>
            <a:pPr>
              <a:buNone/>
            </a:pPr>
            <a:r>
              <a:rPr lang="en-GB" dirty="0" smtClean="0"/>
              <a:t>• Traffic consists of</a:t>
            </a:r>
          </a:p>
          <a:p>
            <a:pPr>
              <a:buNone/>
            </a:pPr>
            <a:r>
              <a:rPr lang="en-GB" dirty="0" smtClean="0"/>
              <a:t>– bits, packets, bursts, flows, connections, calls, …</a:t>
            </a:r>
          </a:p>
          <a:p>
            <a:pPr>
              <a:buNone/>
            </a:pPr>
            <a:r>
              <a:rPr lang="en-GB" dirty="0" smtClean="0"/>
              <a:t>– depending on the system and time scale considered</a:t>
            </a:r>
          </a:p>
          <a:p>
            <a:pPr>
              <a:buNone/>
            </a:pPr>
            <a:r>
              <a:rPr lang="en-GB" dirty="0" smtClean="0"/>
              <a:t>• Quality of service can be described from the point of view of</a:t>
            </a:r>
          </a:p>
          <a:p>
            <a:pPr>
              <a:buNone/>
            </a:pPr>
            <a:r>
              <a:rPr lang="en-GB" dirty="0" smtClean="0"/>
              <a:t>– the customer (e.g. call blocking, packet loss, packet delay, or throughput)</a:t>
            </a:r>
          </a:p>
          <a:p>
            <a:pPr>
              <a:buNone/>
            </a:pPr>
            <a:r>
              <a:rPr lang="en-GB" dirty="0" smtClean="0"/>
              <a:t>– the system, in which case we use the term performance (e.g. processor or link utilization, or maximum network load)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Telephone call</a:t>
            </a:r>
          </a:p>
          <a:p>
            <a:pPr>
              <a:buNone/>
            </a:pPr>
            <a:r>
              <a:rPr lang="en-GB" dirty="0" smtClean="0"/>
              <a:t>– traffic = telephone calls by everybody</a:t>
            </a:r>
          </a:p>
          <a:p>
            <a:pPr>
              <a:buNone/>
            </a:pPr>
            <a:r>
              <a:rPr lang="en-GB" dirty="0" smtClean="0"/>
              <a:t>– system = telephone network</a:t>
            </a:r>
          </a:p>
          <a:p>
            <a:pPr>
              <a:buNone/>
            </a:pPr>
            <a:r>
              <a:rPr lang="en-GB" dirty="0" smtClean="0"/>
              <a:t>– quality of service = probability that the phone rings at the destination</a:t>
            </a:r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4572000"/>
            <a:ext cx="596265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Relationships between the three factors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Qualitatively, the relationships are as follows: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To describe the relationships quantitatively, mathematical models are needed</a:t>
            </a:r>
            <a:endParaRPr lang="en-GB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362200"/>
            <a:ext cx="6276975" cy="2419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Teletraffic models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Teletraffic models are stochastic (= probabilistic)</a:t>
            </a:r>
          </a:p>
          <a:p>
            <a:pPr>
              <a:buNone/>
            </a:pPr>
            <a:r>
              <a:rPr lang="en-GB" dirty="0" smtClean="0"/>
              <a:t>– systems themselves are usually deterministic but traffic is typically stochastic</a:t>
            </a:r>
          </a:p>
          <a:p>
            <a:pPr>
              <a:buNone/>
            </a:pPr>
            <a:r>
              <a:rPr lang="en-GB" dirty="0" smtClean="0"/>
              <a:t>– “you never know, who calls you and when”</a:t>
            </a:r>
          </a:p>
          <a:p>
            <a:pPr>
              <a:buNone/>
            </a:pPr>
            <a:r>
              <a:rPr lang="en-GB" dirty="0" smtClean="0"/>
              <a:t>• It follows that the variables in these models are random variables, e.g.</a:t>
            </a:r>
          </a:p>
          <a:p>
            <a:pPr>
              <a:buNone/>
            </a:pPr>
            <a:r>
              <a:rPr lang="en-GB" dirty="0" smtClean="0"/>
              <a:t>– number of ongoing calls</a:t>
            </a:r>
          </a:p>
          <a:p>
            <a:pPr>
              <a:buNone/>
            </a:pPr>
            <a:r>
              <a:rPr lang="en-GB" dirty="0" smtClean="0"/>
              <a:t>– number of packets in a buffer</a:t>
            </a:r>
          </a:p>
          <a:p>
            <a:pPr>
              <a:buNone/>
            </a:pPr>
            <a:r>
              <a:rPr lang="en-GB" dirty="0" smtClean="0"/>
              <a:t>• Random variable is described by its distribution, e.g.</a:t>
            </a:r>
          </a:p>
          <a:p>
            <a:pPr>
              <a:buNone/>
            </a:pPr>
            <a:r>
              <a:rPr lang="en-GB" dirty="0" smtClean="0"/>
              <a:t>– probability that there are n ongoing calls</a:t>
            </a:r>
          </a:p>
          <a:p>
            <a:pPr>
              <a:buNone/>
            </a:pPr>
            <a:r>
              <a:rPr lang="en-GB" dirty="0" smtClean="0"/>
              <a:t>– probability that there are n packets in the buffer</a:t>
            </a:r>
          </a:p>
          <a:p>
            <a:pPr>
              <a:buNone/>
            </a:pPr>
            <a:r>
              <a:rPr lang="en-GB" dirty="0" smtClean="0"/>
              <a:t>• Stochastic process describes the temporal development of a random variable.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Three types of system models:</a:t>
            </a:r>
          </a:p>
          <a:p>
            <a:pPr>
              <a:buNone/>
            </a:pPr>
            <a:r>
              <a:rPr lang="en-GB" dirty="0" smtClean="0"/>
              <a:t>– loss systems</a:t>
            </a:r>
          </a:p>
          <a:p>
            <a:pPr>
              <a:buNone/>
            </a:pPr>
            <a:r>
              <a:rPr lang="en-GB" dirty="0" smtClean="0"/>
              <a:t>– queuing systems</a:t>
            </a:r>
          </a:p>
          <a:p>
            <a:pPr>
              <a:buNone/>
            </a:pPr>
            <a:r>
              <a:rPr lang="en-GB" dirty="0" smtClean="0"/>
              <a:t>– sharing systems</a:t>
            </a:r>
          </a:p>
          <a:p>
            <a:pPr>
              <a:buNone/>
            </a:pPr>
            <a:r>
              <a:rPr lang="en-GB" dirty="0" smtClean="0"/>
              <a:t>• These models can be combined to create models for whole telecommunication networks</a:t>
            </a:r>
          </a:p>
          <a:p>
            <a:pPr>
              <a:buNone/>
            </a:pPr>
            <a:r>
              <a:rPr lang="en-GB" dirty="0" smtClean="0"/>
              <a:t>– loss networks</a:t>
            </a:r>
          </a:p>
          <a:p>
            <a:pPr>
              <a:buNone/>
            </a:pPr>
            <a:r>
              <a:rPr lang="en-GB" dirty="0" smtClean="0"/>
              <a:t>– queuing networks</a:t>
            </a:r>
          </a:p>
          <a:p>
            <a:pPr>
              <a:buNone/>
            </a:pPr>
            <a:r>
              <a:rPr lang="en-GB" dirty="0" smtClean="0"/>
              <a:t>– sharing networks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Simple teletraffic model</a:t>
            </a:r>
            <a:endParaRPr lang="en-GB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524000"/>
            <a:ext cx="7222409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4648200"/>
            <a:ext cx="5715000" cy="1643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Pure loss 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3581400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Finite number of servers (n &lt; </a:t>
            </a:r>
            <a:r>
              <a:rPr lang="en-GB" dirty="0" smtClean="0">
                <a:latin typeface="Calibri"/>
                <a:cs typeface="Calibri"/>
              </a:rPr>
              <a:t>&amp;</a:t>
            </a:r>
            <a:r>
              <a:rPr lang="en-GB" dirty="0" smtClean="0"/>
              <a:t>), n service places, no waiting places (m = 0)</a:t>
            </a:r>
          </a:p>
          <a:p>
            <a:pPr>
              <a:buNone/>
            </a:pPr>
            <a:r>
              <a:rPr lang="en-GB" dirty="0" smtClean="0"/>
              <a:t>– If the system is full (with all n servers occupied) when a customer arrives, it is not served at all but lost</a:t>
            </a:r>
          </a:p>
          <a:p>
            <a:pPr>
              <a:buNone/>
            </a:pPr>
            <a:r>
              <a:rPr lang="en-GB" dirty="0" smtClean="0"/>
              <a:t>– Some customers may be lost</a:t>
            </a:r>
          </a:p>
          <a:p>
            <a:pPr>
              <a:buNone/>
            </a:pPr>
            <a:r>
              <a:rPr lang="en-GB" dirty="0" smtClean="0"/>
              <a:t>• From the customer’s point of view, it is interesting to know e.g.</a:t>
            </a:r>
          </a:p>
          <a:p>
            <a:pPr>
              <a:buNone/>
            </a:pPr>
            <a:r>
              <a:rPr lang="en-GB" dirty="0" smtClean="0"/>
              <a:t>– What is the probability that the system is full when it arrives?</a:t>
            </a:r>
            <a:endParaRPr lang="en-GB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724400"/>
            <a:ext cx="5638800" cy="171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Infinite system</a:t>
            </a:r>
            <a:endParaRPr lang="en-GB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676400"/>
            <a:ext cx="7100887" cy="2627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4343400"/>
            <a:ext cx="5867400" cy="2030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Pure queuing system</a:t>
            </a:r>
            <a:endParaRPr lang="en-GB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828800"/>
            <a:ext cx="7210425" cy="2081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4267200"/>
            <a:ext cx="5867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Lossy queuing system</a:t>
            </a:r>
            <a:endParaRPr lang="en-GB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905000"/>
            <a:ext cx="7620000" cy="2393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4419600"/>
            <a:ext cx="6553200" cy="2018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Pure sharing system</a:t>
            </a:r>
            <a:endParaRPr lang="en-GB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00200"/>
            <a:ext cx="7281862" cy="265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4495800"/>
            <a:ext cx="6248400" cy="205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Lossy sharing system</a:t>
            </a:r>
            <a:endParaRPr lang="en-GB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905000"/>
            <a:ext cx="7261614" cy="220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4495800"/>
            <a:ext cx="5715000" cy="1742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Little’s formula</a:t>
            </a:r>
            <a:endParaRPr lang="en-GB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3989" y="1771650"/>
            <a:ext cx="7262812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Imagine there is an offline clothes store that wants to optimize its checkout process on both normal and sale periods:</a:t>
            </a:r>
          </a:p>
          <a:p>
            <a:r>
              <a:rPr lang="en-GB" dirty="0" smtClean="0"/>
              <a:t>On an average on day-to-day basis, 24 customers are arriving every hour</a:t>
            </a:r>
          </a:p>
          <a:p>
            <a:r>
              <a:rPr lang="en-GB" dirty="0" smtClean="0"/>
              <a:t>On average, they take 40 minutes (approximately 0.6 hours) to find a dress, pay, and leave</a:t>
            </a:r>
          </a:p>
          <a:p>
            <a:r>
              <a:rPr lang="en-GB" dirty="0" smtClean="0"/>
              <a:t>How many customers are in the shop at all time?</a:t>
            </a:r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971800"/>
            <a:ext cx="7498080" cy="1143000"/>
          </a:xfrm>
        </p:spPr>
        <p:txBody>
          <a:bodyPr/>
          <a:lstStyle/>
          <a:p>
            <a:pPr algn="ctr"/>
            <a:r>
              <a:rPr lang="en-GB" dirty="0" smtClean="0"/>
              <a:t>END</a:t>
            </a:r>
            <a:endParaRPr lang="en-GB" dirty="0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1187</TotalTime>
  <Words>1101</Words>
  <Application>Microsoft Office PowerPoint</Application>
  <PresentationFormat>On-screen Show (4:3)</PresentationFormat>
  <Paragraphs>158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Solstice</vt:lpstr>
      <vt:lpstr>ET 8311 TELE TRAFFIC ENGINEERING  </vt:lpstr>
      <vt:lpstr>Introduction</vt:lpstr>
      <vt:lpstr>Cont...</vt:lpstr>
      <vt:lpstr>Telecom Networks</vt:lpstr>
      <vt:lpstr>Cont...</vt:lpstr>
      <vt:lpstr>Switching modes</vt:lpstr>
      <vt:lpstr>Circuit switching</vt:lpstr>
      <vt:lpstr>Cont...</vt:lpstr>
      <vt:lpstr>Connectionless packet switching</vt:lpstr>
      <vt:lpstr>Cont...</vt:lpstr>
      <vt:lpstr>Traffic point of view</vt:lpstr>
      <vt:lpstr>Interesting questions</vt:lpstr>
      <vt:lpstr>Cont...</vt:lpstr>
      <vt:lpstr>Cont...</vt:lpstr>
      <vt:lpstr>Example</vt:lpstr>
      <vt:lpstr>Relationships between the three factors</vt:lpstr>
      <vt:lpstr>Teletraffic models</vt:lpstr>
      <vt:lpstr>Cont...</vt:lpstr>
      <vt:lpstr>Simple teletraffic model</vt:lpstr>
      <vt:lpstr>Pure loss system</vt:lpstr>
      <vt:lpstr>Infinite system</vt:lpstr>
      <vt:lpstr>Pure queuing system</vt:lpstr>
      <vt:lpstr>Lossy queuing system</vt:lpstr>
      <vt:lpstr>Pure sharing system</vt:lpstr>
      <vt:lpstr>Lossy sharing system</vt:lpstr>
      <vt:lpstr>Little’s formula</vt:lpstr>
      <vt:lpstr>Example </vt:lpstr>
      <vt:lpstr>END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8301 DIGITAL ELECTRONICS</dc:title>
  <dc:creator>user</dc:creator>
  <cp:lastModifiedBy>Windows User</cp:lastModifiedBy>
  <cp:revision>82</cp:revision>
  <dcterms:created xsi:type="dcterms:W3CDTF">2006-08-16T00:00:00Z</dcterms:created>
  <dcterms:modified xsi:type="dcterms:W3CDTF">2024-04-08T11:53:29Z</dcterms:modified>
</cp:coreProperties>
</file>