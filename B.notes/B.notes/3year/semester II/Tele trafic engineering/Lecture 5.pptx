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14"/>
  </p:notesMasterIdLst>
  <p:sldIdLst>
    <p:sldId id="258" r:id="rId2"/>
    <p:sldId id="259" r:id="rId3"/>
    <p:sldId id="269" r:id="rId4"/>
    <p:sldId id="260" r:id="rId5"/>
    <p:sldId id="261" r:id="rId6"/>
    <p:sldId id="262" r:id="rId7"/>
    <p:sldId id="263" r:id="rId8"/>
    <p:sldId id="264" r:id="rId9"/>
    <p:sldId id="265" r:id="rId10"/>
    <p:sldId id="266" r:id="rId11"/>
    <p:sldId id="267" r:id="rId12"/>
    <p:sldId id="26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08" y="-1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C6C375-1331-4077-A164-B2698903209D}" type="datetimeFigureOut">
              <a:rPr lang="en-US" smtClean="0"/>
              <a:pPr/>
              <a:t>5/20/2024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AD240F-B9A3-49F6-ACAB-4558347DB19E}"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5/20/2024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2286000"/>
            <a:ext cx="7620000" cy="1472184"/>
          </a:xfrm>
        </p:spPr>
        <p:txBody>
          <a:bodyPr>
            <a:normAutofit fontScale="90000"/>
          </a:bodyPr>
          <a:lstStyle/>
          <a:p>
            <a:pPr lvl="1" algn="ctr" rtl="0">
              <a:spcBef>
                <a:spcPct val="0"/>
              </a:spcBef>
            </a:pPr>
            <a:r>
              <a:rPr lang="en-GB" sz="4000" dirty="0" smtClean="0"/>
              <a:t/>
            </a:r>
            <a:br>
              <a:rPr lang="en-GB" sz="4000" dirty="0" smtClean="0"/>
            </a:br>
            <a:r>
              <a:rPr lang="en-GB" sz="4000" dirty="0"/>
              <a:t/>
            </a:r>
            <a:br>
              <a:rPr lang="en-GB" sz="4000" dirty="0"/>
            </a:br>
            <a:r>
              <a:rPr lang="en-GB" sz="4000" b="1" dirty="0" smtClean="0"/>
              <a:t>Fundamental concepts of network planning </a:t>
            </a:r>
            <a:r>
              <a:rPr lang="en-GB" sz="4000" dirty="0" smtClean="0"/>
              <a:t/>
            </a:r>
            <a:br>
              <a:rPr lang="en-GB" sz="4000" dirty="0" smtClean="0"/>
            </a:br>
            <a:r>
              <a:rPr lang="en-GB" sz="1200" dirty="0"/>
              <a:t/>
            </a:r>
            <a:br>
              <a:rPr lang="en-GB" sz="1200" dirty="0"/>
            </a:br>
            <a:endParaRPr lang="en-GB" b="1"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GB" dirty="0" smtClean="0"/>
              <a:t>Introduction</a:t>
            </a:r>
            <a:endParaRPr lang="en-GB" dirty="0"/>
          </a:p>
        </p:txBody>
      </p:sp>
      <p:sp>
        <p:nvSpPr>
          <p:cNvPr id="3" name="Content Placeholder 2"/>
          <p:cNvSpPr>
            <a:spLocks noGrp="1"/>
          </p:cNvSpPr>
          <p:nvPr>
            <p:ph idx="1"/>
          </p:nvPr>
        </p:nvSpPr>
        <p:spPr>
          <a:xfrm>
            <a:off x="990600" y="990600"/>
            <a:ext cx="7943088" cy="5638800"/>
          </a:xfrm>
        </p:spPr>
        <p:txBody>
          <a:bodyPr>
            <a:normAutofit fontScale="92500" lnSpcReduction="20000"/>
          </a:bodyPr>
          <a:lstStyle/>
          <a:p>
            <a:pPr algn="just">
              <a:lnSpc>
                <a:spcPct val="150000"/>
              </a:lnSpc>
            </a:pPr>
            <a:r>
              <a:rPr lang="en-GB" dirty="0" smtClean="0"/>
              <a:t>Network planning is a crucial aspect of designing and managing various types of networks, including telecommunications, computer networks, transportation systems, and supply chains. </a:t>
            </a:r>
            <a:endParaRPr lang="en-GB" dirty="0" smtClean="0"/>
          </a:p>
          <a:p>
            <a:pPr algn="just">
              <a:lnSpc>
                <a:spcPct val="150000"/>
              </a:lnSpc>
            </a:pPr>
            <a:r>
              <a:rPr lang="en-GB" dirty="0" smtClean="0"/>
              <a:t>Effective </a:t>
            </a:r>
            <a:r>
              <a:rPr lang="en-GB" dirty="0" smtClean="0"/>
              <a:t>network planning ensures that the network meets current and future demands, operates efficiently, and provides the required quality of service (QoS). </a:t>
            </a:r>
            <a:endParaRPr lang="en-GB"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r>
              <a:rPr lang="en-GB" b="1" dirty="0" smtClean="0"/>
              <a:t>Capacity </a:t>
            </a:r>
            <a:r>
              <a:rPr lang="en-GB" b="1" dirty="0" smtClean="0"/>
              <a:t>Planning</a:t>
            </a:r>
            <a:endParaRPr lang="en-GB" dirty="0"/>
          </a:p>
        </p:txBody>
      </p:sp>
      <p:sp>
        <p:nvSpPr>
          <p:cNvPr id="3" name="Content Placeholder 2"/>
          <p:cNvSpPr>
            <a:spLocks noGrp="1"/>
          </p:cNvSpPr>
          <p:nvPr>
            <p:ph idx="1"/>
          </p:nvPr>
        </p:nvSpPr>
        <p:spPr>
          <a:xfrm>
            <a:off x="1066800" y="1143000"/>
            <a:ext cx="7866888" cy="5486400"/>
          </a:xfrm>
        </p:spPr>
        <p:txBody>
          <a:bodyPr>
            <a:normAutofit fontScale="55000" lnSpcReduction="20000"/>
          </a:bodyPr>
          <a:lstStyle/>
          <a:p>
            <a:pPr algn="just">
              <a:lnSpc>
                <a:spcPct val="170000"/>
              </a:lnSpc>
            </a:pPr>
            <a:r>
              <a:rPr lang="en-GB" b="1" dirty="0" smtClean="0"/>
              <a:t>This </a:t>
            </a:r>
            <a:r>
              <a:rPr lang="en-GB" b="1" dirty="0" smtClean="0"/>
              <a:t>is meant to </a:t>
            </a:r>
            <a:r>
              <a:rPr lang="en-GB" dirty="0" smtClean="0"/>
              <a:t>determine the optimal number and type of resources required to meet expected demand and maintain desired performance levels.</a:t>
            </a:r>
          </a:p>
          <a:p>
            <a:pPr algn="just">
              <a:lnSpc>
                <a:spcPct val="170000"/>
              </a:lnSpc>
            </a:pPr>
            <a:r>
              <a:rPr lang="en-GB" b="1" dirty="0" smtClean="0"/>
              <a:t>Key Concepts</a:t>
            </a:r>
          </a:p>
          <a:p>
            <a:pPr algn="just">
              <a:lnSpc>
                <a:spcPct val="170000"/>
              </a:lnSpc>
            </a:pPr>
            <a:r>
              <a:rPr lang="en-GB" b="1" dirty="0" smtClean="0"/>
              <a:t>Demand Forecasting:</a:t>
            </a:r>
            <a:r>
              <a:rPr lang="en-GB" dirty="0" smtClean="0"/>
              <a:t> Predicting future network usage based on historical data, trends, and user </a:t>
            </a:r>
            <a:r>
              <a:rPr lang="en-GB" dirty="0" err="1" smtClean="0"/>
              <a:t>behavior</a:t>
            </a:r>
            <a:r>
              <a:rPr lang="en-GB" dirty="0" smtClean="0"/>
              <a:t>.</a:t>
            </a:r>
          </a:p>
          <a:p>
            <a:pPr algn="just">
              <a:lnSpc>
                <a:spcPct val="170000"/>
              </a:lnSpc>
            </a:pPr>
            <a:r>
              <a:rPr lang="en-GB" b="1" dirty="0" smtClean="0"/>
              <a:t>Resource Allocation:</a:t>
            </a:r>
            <a:r>
              <a:rPr lang="en-GB" dirty="0" smtClean="0"/>
              <a:t> Determining the quantity and distribution of resources such as bandwidth, servers, and storage.</a:t>
            </a:r>
          </a:p>
          <a:p>
            <a:pPr algn="just">
              <a:lnSpc>
                <a:spcPct val="170000"/>
              </a:lnSpc>
            </a:pPr>
            <a:r>
              <a:rPr lang="en-GB" b="1" dirty="0" smtClean="0"/>
              <a:t>Quality of Service (QoS):</a:t>
            </a:r>
            <a:r>
              <a:rPr lang="en-GB" dirty="0" smtClean="0"/>
              <a:t> Ensuring that the network meets predefined service quality parameters, including latency, jitter, and packet loss.</a:t>
            </a:r>
          </a:p>
          <a:p>
            <a:pPr algn="just">
              <a:lnSpc>
                <a:spcPct val="170000"/>
              </a:lnSpc>
            </a:pPr>
            <a:r>
              <a:rPr lang="en-GB" b="1" dirty="0" smtClean="0"/>
              <a:t>Utilization:</a:t>
            </a:r>
            <a:r>
              <a:rPr lang="en-GB" dirty="0" smtClean="0"/>
              <a:t> Balancing resource utilization to avoid both underutilization (waste) and overutilization (congestion).</a:t>
            </a:r>
          </a:p>
          <a:p>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GB" dirty="0"/>
          </a:p>
        </p:txBody>
      </p:sp>
      <p:sp>
        <p:nvSpPr>
          <p:cNvPr id="3" name="Content Placeholder 2"/>
          <p:cNvSpPr>
            <a:spLocks noGrp="1"/>
          </p:cNvSpPr>
          <p:nvPr>
            <p:ph idx="1"/>
          </p:nvPr>
        </p:nvSpPr>
        <p:spPr>
          <a:xfrm>
            <a:off x="1435608" y="1447800"/>
            <a:ext cx="7498080" cy="1752600"/>
          </a:xfrm>
        </p:spPr>
        <p:txBody>
          <a:bodyPr>
            <a:normAutofit fontScale="62500" lnSpcReduction="20000"/>
          </a:bodyPr>
          <a:lstStyle/>
          <a:p>
            <a:r>
              <a:rPr lang="en-GB" dirty="0" smtClean="0"/>
              <a:t>A company expects its web server to handle an average of 150 requests per second. The server's average service rate is 200 requests per second. Determine if one server is sufficient and calculate the utilization.</a:t>
            </a:r>
          </a:p>
          <a:p>
            <a:r>
              <a:rPr lang="en-GB" b="1" dirty="0" smtClean="0"/>
              <a:t>Solution:</a:t>
            </a:r>
            <a:endParaRPr lang="en-GB" dirty="0" smtClean="0"/>
          </a:p>
          <a:p>
            <a:r>
              <a:rPr lang="en-GB" b="1" dirty="0" smtClean="0"/>
              <a:t>Utilization (ρ)</a:t>
            </a:r>
            <a:r>
              <a:rPr lang="en-GB" dirty="0" smtClean="0"/>
              <a:t> is calculated as:</a:t>
            </a:r>
          </a:p>
          <a:p>
            <a:endParaRPr lang="en-GB" dirty="0" smtClean="0"/>
          </a:p>
          <a:p>
            <a:endParaRPr lang="en-GB" dirty="0"/>
          </a:p>
        </p:txBody>
      </p:sp>
      <p:pic>
        <p:nvPicPr>
          <p:cNvPr id="1026" name="Picture 2"/>
          <p:cNvPicPr>
            <a:picLocks noChangeAspect="1" noChangeArrowheads="1"/>
          </p:cNvPicPr>
          <p:nvPr/>
        </p:nvPicPr>
        <p:blipFill>
          <a:blip r:embed="rId2"/>
          <a:srcRect/>
          <a:stretch>
            <a:fillRect/>
          </a:stretch>
        </p:blipFill>
        <p:spPr bwMode="auto">
          <a:xfrm>
            <a:off x="2286000" y="3962400"/>
            <a:ext cx="4476750" cy="207645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diamond(in)">
                                      <p:cBhvr>
                                        <p:cTn id="25"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GB" b="1" dirty="0" smtClean="0"/>
              <a:t>Traffic </a:t>
            </a:r>
            <a:r>
              <a:rPr lang="en-GB" b="1" dirty="0" smtClean="0"/>
              <a:t>Engineering</a:t>
            </a:r>
            <a:endParaRPr lang="en-GB" dirty="0"/>
          </a:p>
        </p:txBody>
      </p:sp>
      <p:sp>
        <p:nvSpPr>
          <p:cNvPr id="3" name="Content Placeholder 2"/>
          <p:cNvSpPr>
            <a:spLocks noGrp="1"/>
          </p:cNvSpPr>
          <p:nvPr>
            <p:ph idx="1"/>
          </p:nvPr>
        </p:nvSpPr>
        <p:spPr>
          <a:xfrm>
            <a:off x="1066800" y="1143000"/>
            <a:ext cx="7866888" cy="5486400"/>
          </a:xfrm>
        </p:spPr>
        <p:txBody>
          <a:bodyPr>
            <a:normAutofit fontScale="55000" lnSpcReduction="20000"/>
          </a:bodyPr>
          <a:lstStyle/>
          <a:p>
            <a:pPr algn="just">
              <a:lnSpc>
                <a:spcPct val="170000"/>
              </a:lnSpc>
            </a:pPr>
            <a:r>
              <a:rPr lang="en-GB" dirty="0" smtClean="0"/>
              <a:t>To </a:t>
            </a:r>
            <a:r>
              <a:rPr lang="en-GB" dirty="0" smtClean="0"/>
              <a:t>manage and optimize the flow of traffic within the network to enhance performance and avoid congestion.</a:t>
            </a:r>
          </a:p>
          <a:p>
            <a:pPr algn="just">
              <a:lnSpc>
                <a:spcPct val="170000"/>
              </a:lnSpc>
            </a:pPr>
            <a:r>
              <a:rPr lang="en-GB" b="1" dirty="0" smtClean="0"/>
              <a:t>Key Concepts</a:t>
            </a:r>
          </a:p>
          <a:p>
            <a:pPr algn="just">
              <a:lnSpc>
                <a:spcPct val="170000"/>
              </a:lnSpc>
            </a:pPr>
            <a:r>
              <a:rPr lang="en-GB" b="1" dirty="0" smtClean="0"/>
              <a:t>Traffic Patterns:</a:t>
            </a:r>
            <a:r>
              <a:rPr lang="en-GB" dirty="0" smtClean="0"/>
              <a:t> Understanding the typical flow of data through the network, including peak times and high-traffic routes.</a:t>
            </a:r>
          </a:p>
          <a:p>
            <a:pPr algn="just">
              <a:lnSpc>
                <a:spcPct val="170000"/>
              </a:lnSpc>
            </a:pPr>
            <a:r>
              <a:rPr lang="en-GB" b="1" dirty="0" smtClean="0"/>
              <a:t>Routing:</a:t>
            </a:r>
            <a:r>
              <a:rPr lang="en-GB" dirty="0" smtClean="0"/>
              <a:t> Determining the best paths for data to travel through the network to minimize delays and avoid congestion.</a:t>
            </a:r>
          </a:p>
          <a:p>
            <a:pPr algn="just">
              <a:lnSpc>
                <a:spcPct val="170000"/>
              </a:lnSpc>
            </a:pPr>
            <a:r>
              <a:rPr lang="en-GB" b="1" dirty="0" smtClean="0"/>
              <a:t>Load Balancing:</a:t>
            </a:r>
            <a:r>
              <a:rPr lang="en-GB" dirty="0" smtClean="0"/>
              <a:t> Distributing traffic evenly across network resources to ensure no single resource is overwhelmed.</a:t>
            </a:r>
          </a:p>
          <a:p>
            <a:pPr algn="just">
              <a:lnSpc>
                <a:spcPct val="170000"/>
              </a:lnSpc>
            </a:pPr>
            <a:r>
              <a:rPr lang="en-GB" b="1" dirty="0" smtClean="0"/>
              <a:t>Congestion Control:</a:t>
            </a:r>
            <a:r>
              <a:rPr lang="en-GB" dirty="0" smtClean="0"/>
              <a:t> Techniques to prevent and manage congestion in the network, such as traffic shaping and prioritization.</a:t>
            </a:r>
          </a:p>
          <a:p>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a:t>
            </a:r>
            <a:endParaRPr lang="en-GB" dirty="0"/>
          </a:p>
        </p:txBody>
      </p:sp>
      <p:sp>
        <p:nvSpPr>
          <p:cNvPr id="3" name="Content Placeholder 2"/>
          <p:cNvSpPr>
            <a:spLocks noGrp="1"/>
          </p:cNvSpPr>
          <p:nvPr>
            <p:ph idx="1"/>
          </p:nvPr>
        </p:nvSpPr>
        <p:spPr>
          <a:xfrm>
            <a:off x="1066800" y="1447800"/>
            <a:ext cx="7866888" cy="1600200"/>
          </a:xfrm>
        </p:spPr>
        <p:txBody>
          <a:bodyPr>
            <a:normAutofit fontScale="70000" lnSpcReduction="20000"/>
          </a:bodyPr>
          <a:lstStyle/>
          <a:p>
            <a:pPr algn="just"/>
            <a:r>
              <a:rPr lang="en-GB" dirty="0" smtClean="0"/>
              <a:t>A data </a:t>
            </a:r>
            <a:r>
              <a:rPr lang="en-GB" dirty="0" err="1" smtClean="0"/>
              <a:t>center</a:t>
            </a:r>
            <a:r>
              <a:rPr lang="en-GB" dirty="0" smtClean="0"/>
              <a:t> has two servers with equal capacity. During a certain period, the incoming traffic is 300 requests per second. How should the traffic be distributed between the servers</a:t>
            </a:r>
            <a:r>
              <a:rPr lang="en-GB" dirty="0" smtClean="0"/>
              <a:t>?</a:t>
            </a:r>
          </a:p>
          <a:p>
            <a:pPr algn="just"/>
            <a:r>
              <a:rPr lang="en-GB" b="1" dirty="0" smtClean="0"/>
              <a:t>Solution</a:t>
            </a:r>
            <a:endParaRPr lang="en-GB" b="1" dirty="0"/>
          </a:p>
        </p:txBody>
      </p:sp>
      <p:pic>
        <p:nvPicPr>
          <p:cNvPr id="2050" name="Picture 2"/>
          <p:cNvPicPr>
            <a:picLocks noChangeAspect="1" noChangeArrowheads="1"/>
          </p:cNvPicPr>
          <p:nvPr/>
        </p:nvPicPr>
        <p:blipFill>
          <a:blip r:embed="rId2"/>
          <a:srcRect/>
          <a:stretch>
            <a:fillRect/>
          </a:stretch>
        </p:blipFill>
        <p:spPr bwMode="auto">
          <a:xfrm>
            <a:off x="1676400" y="2895600"/>
            <a:ext cx="6629400" cy="17621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447800" y="4572000"/>
            <a:ext cx="6705600" cy="182880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animEffect transition="in" filter="diamond(in)">
                                      <p:cBhvr>
                                        <p:cTn id="19" dur="2000"/>
                                        <p:tgtEl>
                                          <p:spTgt spid="2050"/>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2051"/>
                                        </p:tgtEl>
                                        <p:attrNameLst>
                                          <p:attrName>style.visibility</p:attrName>
                                        </p:attrNameLst>
                                      </p:cBhvr>
                                      <p:to>
                                        <p:strVal val="visible"/>
                                      </p:to>
                                    </p:set>
                                    <p:animEffect transition="in" filter="checkerboard(across)">
                                      <p:cBhvr>
                                        <p:cTn id="24"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rmAutofit fontScale="90000"/>
          </a:bodyPr>
          <a:lstStyle/>
          <a:p>
            <a:r>
              <a:rPr lang="en-GB" dirty="0" smtClean="0"/>
              <a:t>Performance Analysis</a:t>
            </a:r>
            <a:endParaRPr lang="en-GB" dirty="0"/>
          </a:p>
        </p:txBody>
      </p:sp>
      <p:sp>
        <p:nvSpPr>
          <p:cNvPr id="3" name="Content Placeholder 2"/>
          <p:cNvSpPr>
            <a:spLocks noGrp="1"/>
          </p:cNvSpPr>
          <p:nvPr>
            <p:ph idx="1"/>
          </p:nvPr>
        </p:nvSpPr>
        <p:spPr>
          <a:xfrm>
            <a:off x="1066800" y="990600"/>
            <a:ext cx="7866888" cy="5562600"/>
          </a:xfrm>
        </p:spPr>
        <p:txBody>
          <a:bodyPr>
            <a:normAutofit fontScale="85000" lnSpcReduction="10000"/>
          </a:bodyPr>
          <a:lstStyle/>
          <a:p>
            <a:pPr algn="just"/>
            <a:r>
              <a:rPr lang="en-GB" dirty="0" smtClean="0"/>
              <a:t>To </a:t>
            </a:r>
            <a:r>
              <a:rPr lang="en-GB" dirty="0" smtClean="0"/>
              <a:t>evaluate and improve the performance of the network based on key metrics.</a:t>
            </a:r>
          </a:p>
          <a:p>
            <a:pPr algn="just"/>
            <a:r>
              <a:rPr lang="en-GB" b="1" dirty="0" smtClean="0"/>
              <a:t>Key Concepts</a:t>
            </a:r>
          </a:p>
          <a:p>
            <a:pPr algn="just"/>
            <a:r>
              <a:rPr lang="en-GB" b="1" dirty="0" smtClean="0"/>
              <a:t>Throughput:</a:t>
            </a:r>
            <a:r>
              <a:rPr lang="en-GB" dirty="0" smtClean="0"/>
              <a:t> The amount of data successfully transmitted through the network per unit of time.</a:t>
            </a:r>
          </a:p>
          <a:p>
            <a:pPr algn="just"/>
            <a:r>
              <a:rPr lang="en-GB" b="1" dirty="0" smtClean="0"/>
              <a:t>Latency:</a:t>
            </a:r>
            <a:r>
              <a:rPr lang="en-GB" dirty="0" smtClean="0"/>
              <a:t> The time it takes for data to travel from the source to the destination.</a:t>
            </a:r>
          </a:p>
          <a:p>
            <a:pPr algn="just"/>
            <a:r>
              <a:rPr lang="en-GB" b="1" dirty="0" smtClean="0"/>
              <a:t>Jitter:</a:t>
            </a:r>
            <a:r>
              <a:rPr lang="en-GB" dirty="0" smtClean="0"/>
              <a:t> The variability in packet arrival times, which can affect the quality of real-time communications.</a:t>
            </a:r>
          </a:p>
          <a:p>
            <a:pPr algn="just"/>
            <a:r>
              <a:rPr lang="en-GB" b="1" dirty="0" smtClean="0"/>
              <a:t>Packet Loss:</a:t>
            </a:r>
            <a:r>
              <a:rPr lang="en-GB" dirty="0" smtClean="0"/>
              <a:t> The percentage of packets that are lost during transmission, impacting data integrity and quality.</a:t>
            </a:r>
          </a:p>
          <a:p>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rmAutofit fontScale="90000"/>
          </a:bodyPr>
          <a:lstStyle/>
          <a:p>
            <a:r>
              <a:rPr lang="en-GB" dirty="0" smtClean="0"/>
              <a:t>Example</a:t>
            </a:r>
            <a:endParaRPr lang="en-GB" dirty="0"/>
          </a:p>
        </p:txBody>
      </p:sp>
      <p:sp>
        <p:nvSpPr>
          <p:cNvPr id="3" name="Content Placeholder 2"/>
          <p:cNvSpPr>
            <a:spLocks noGrp="1"/>
          </p:cNvSpPr>
          <p:nvPr>
            <p:ph idx="1"/>
          </p:nvPr>
        </p:nvSpPr>
        <p:spPr>
          <a:xfrm>
            <a:off x="1219200" y="990600"/>
            <a:ext cx="7714488" cy="1676400"/>
          </a:xfrm>
        </p:spPr>
        <p:txBody>
          <a:bodyPr>
            <a:normAutofit fontScale="62500" lnSpcReduction="20000"/>
          </a:bodyPr>
          <a:lstStyle/>
          <a:p>
            <a:pPr algn="just"/>
            <a:r>
              <a:rPr lang="en-GB" dirty="0" smtClean="0"/>
              <a:t>Calculate </a:t>
            </a:r>
            <a:r>
              <a:rPr lang="en-GB" dirty="0" smtClean="0"/>
              <a:t>the average latency for a packet </a:t>
            </a:r>
            <a:r>
              <a:rPr lang="en-GB" dirty="0" err="1" smtClean="0"/>
              <a:t>traveling</a:t>
            </a:r>
            <a:r>
              <a:rPr lang="en-GB" dirty="0" smtClean="0"/>
              <a:t> from point A to point B in a network if the distance is 2000 </a:t>
            </a:r>
            <a:r>
              <a:rPr lang="en-GB" dirty="0" err="1" smtClean="0"/>
              <a:t>kilometers</a:t>
            </a:r>
            <a:r>
              <a:rPr lang="en-GB" dirty="0" smtClean="0"/>
              <a:t>, and the signal travels at 200,000 </a:t>
            </a:r>
            <a:r>
              <a:rPr lang="en-GB" dirty="0" err="1" smtClean="0"/>
              <a:t>kilometers</a:t>
            </a:r>
            <a:r>
              <a:rPr lang="en-GB" dirty="0" smtClean="0"/>
              <a:t> per second. Also, consider an additional processing delay of 10 milliseconds at each of two intermediate routers.</a:t>
            </a:r>
          </a:p>
          <a:p>
            <a:pPr algn="just"/>
            <a:r>
              <a:rPr lang="en-GB" b="1" dirty="0" smtClean="0"/>
              <a:t>Solution:</a:t>
            </a:r>
            <a:endParaRPr lang="en-GB" dirty="0"/>
          </a:p>
        </p:txBody>
      </p:sp>
      <p:pic>
        <p:nvPicPr>
          <p:cNvPr id="3074" name="Picture 2"/>
          <p:cNvPicPr>
            <a:picLocks noChangeAspect="1" noChangeArrowheads="1"/>
          </p:cNvPicPr>
          <p:nvPr/>
        </p:nvPicPr>
        <p:blipFill>
          <a:blip r:embed="rId2"/>
          <a:srcRect/>
          <a:stretch>
            <a:fillRect/>
          </a:stretch>
        </p:blipFill>
        <p:spPr bwMode="auto">
          <a:xfrm>
            <a:off x="1524000" y="2819400"/>
            <a:ext cx="5676900" cy="1571625"/>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1600200" y="4572000"/>
            <a:ext cx="5934075" cy="885825"/>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1752600" y="5638800"/>
            <a:ext cx="5981700" cy="121920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animEffect transition="in" filter="diamond(in)">
                                      <p:cBhvr>
                                        <p:cTn id="19" dur="2000"/>
                                        <p:tgtEl>
                                          <p:spTgt spid="3074"/>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3075"/>
                                        </p:tgtEl>
                                        <p:attrNameLst>
                                          <p:attrName>style.visibility</p:attrName>
                                        </p:attrNameLst>
                                      </p:cBhvr>
                                      <p:to>
                                        <p:strVal val="visible"/>
                                      </p:to>
                                    </p:set>
                                    <p:animEffect transition="in" filter="diamond(in)">
                                      <p:cBhvr>
                                        <p:cTn id="24" dur="2000"/>
                                        <p:tgtEl>
                                          <p:spTgt spid="3075"/>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3076"/>
                                        </p:tgtEl>
                                        <p:attrNameLst>
                                          <p:attrName>style.visibility</p:attrName>
                                        </p:attrNameLst>
                                      </p:cBhvr>
                                      <p:to>
                                        <p:strVal val="visible"/>
                                      </p:to>
                                    </p:set>
                                    <p:animEffect transition="in" filter="checkerboard(across)">
                                      <p:cBhvr>
                                        <p:cTn id="29"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GB" b="1" dirty="0" smtClean="0"/>
              <a:t>Reliability and Fault </a:t>
            </a:r>
            <a:r>
              <a:rPr lang="en-GB" b="1" dirty="0" smtClean="0"/>
              <a:t>Tolerance</a:t>
            </a:r>
            <a:endParaRPr lang="en-GB" dirty="0"/>
          </a:p>
        </p:txBody>
      </p:sp>
      <p:sp>
        <p:nvSpPr>
          <p:cNvPr id="3" name="Content Placeholder 2"/>
          <p:cNvSpPr>
            <a:spLocks noGrp="1"/>
          </p:cNvSpPr>
          <p:nvPr>
            <p:ph idx="1"/>
          </p:nvPr>
        </p:nvSpPr>
        <p:spPr>
          <a:xfrm>
            <a:off x="1066800" y="1066800"/>
            <a:ext cx="7866888" cy="5638800"/>
          </a:xfrm>
        </p:spPr>
        <p:txBody>
          <a:bodyPr>
            <a:normAutofit fontScale="47500" lnSpcReduction="20000"/>
          </a:bodyPr>
          <a:lstStyle/>
          <a:p>
            <a:pPr algn="just">
              <a:lnSpc>
                <a:spcPct val="170000"/>
              </a:lnSpc>
            </a:pPr>
            <a:r>
              <a:rPr lang="en-GB" dirty="0" smtClean="0"/>
              <a:t>To </a:t>
            </a:r>
            <a:r>
              <a:rPr lang="en-GB" dirty="0" smtClean="0"/>
              <a:t>ensure the network can continue operating smoothly in the event of failures or unexpected issues.</a:t>
            </a:r>
          </a:p>
          <a:p>
            <a:pPr algn="just">
              <a:lnSpc>
                <a:spcPct val="170000"/>
              </a:lnSpc>
            </a:pPr>
            <a:r>
              <a:rPr lang="en-GB" b="1" dirty="0" smtClean="0"/>
              <a:t>Key Concepts</a:t>
            </a:r>
          </a:p>
          <a:p>
            <a:pPr algn="just">
              <a:lnSpc>
                <a:spcPct val="170000"/>
              </a:lnSpc>
            </a:pPr>
            <a:r>
              <a:rPr lang="en-GB" b="1" dirty="0" smtClean="0"/>
              <a:t>Redundancy:</a:t>
            </a:r>
            <a:r>
              <a:rPr lang="en-GB" dirty="0" smtClean="0"/>
              <a:t> Implementing duplicate components or paths to provide alternatives in case of failure.</a:t>
            </a:r>
          </a:p>
          <a:p>
            <a:pPr algn="just">
              <a:lnSpc>
                <a:spcPct val="170000"/>
              </a:lnSpc>
            </a:pPr>
            <a:r>
              <a:rPr lang="en-GB" b="1" dirty="0" smtClean="0"/>
              <a:t>Failover Mechanisms:</a:t>
            </a:r>
            <a:r>
              <a:rPr lang="en-GB" dirty="0" smtClean="0"/>
              <a:t> Automatic switching to a backup system or component when a failure is detected.</a:t>
            </a:r>
          </a:p>
          <a:p>
            <a:pPr algn="just">
              <a:lnSpc>
                <a:spcPct val="170000"/>
              </a:lnSpc>
            </a:pPr>
            <a:r>
              <a:rPr lang="en-GB" b="1" dirty="0" smtClean="0"/>
              <a:t>Disaster Recovery:</a:t>
            </a:r>
            <a:r>
              <a:rPr lang="en-GB" dirty="0" smtClean="0"/>
              <a:t> Plans and processes to restore network functionality after a major failure or disaster.</a:t>
            </a:r>
          </a:p>
          <a:p>
            <a:pPr algn="just">
              <a:lnSpc>
                <a:spcPct val="170000"/>
              </a:lnSpc>
            </a:pPr>
            <a:r>
              <a:rPr lang="en-GB" b="1" dirty="0" smtClean="0"/>
              <a:t>Mean Time Between Failures (</a:t>
            </a:r>
            <a:r>
              <a:rPr lang="en-GB" b="1" dirty="0" err="1" smtClean="0"/>
              <a:t>MTBF</a:t>
            </a:r>
            <a:r>
              <a:rPr lang="en-GB" b="1" dirty="0" smtClean="0"/>
              <a:t>):</a:t>
            </a:r>
            <a:r>
              <a:rPr lang="en-GB" dirty="0" smtClean="0"/>
              <a:t> The average time between failures of a system or component.</a:t>
            </a:r>
          </a:p>
          <a:p>
            <a:pPr algn="just">
              <a:lnSpc>
                <a:spcPct val="170000"/>
              </a:lnSpc>
            </a:pPr>
            <a:r>
              <a:rPr lang="en-GB" b="1" dirty="0" smtClean="0"/>
              <a:t>Mean Time to Repair (</a:t>
            </a:r>
            <a:r>
              <a:rPr lang="en-GB" b="1" dirty="0" err="1" smtClean="0"/>
              <a:t>MTTR</a:t>
            </a:r>
            <a:r>
              <a:rPr lang="en-GB" b="1" dirty="0" smtClean="0"/>
              <a:t>):</a:t>
            </a:r>
            <a:r>
              <a:rPr lang="en-GB" dirty="0" smtClean="0"/>
              <a:t> The average time required to repair a failed component or system.</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a:t>
            </a:r>
            <a:endParaRPr lang="en-GB" dirty="0"/>
          </a:p>
        </p:txBody>
      </p:sp>
      <p:sp>
        <p:nvSpPr>
          <p:cNvPr id="3" name="Content Placeholder 2"/>
          <p:cNvSpPr>
            <a:spLocks noGrp="1"/>
          </p:cNvSpPr>
          <p:nvPr>
            <p:ph idx="1"/>
          </p:nvPr>
        </p:nvSpPr>
        <p:spPr>
          <a:xfrm>
            <a:off x="1435608" y="1447800"/>
            <a:ext cx="7498080" cy="1371600"/>
          </a:xfrm>
        </p:spPr>
        <p:txBody>
          <a:bodyPr>
            <a:normAutofit fontScale="70000" lnSpcReduction="20000"/>
          </a:bodyPr>
          <a:lstStyle/>
          <a:p>
            <a:r>
              <a:rPr lang="en-GB" dirty="0" smtClean="0"/>
              <a:t>A critical server has an </a:t>
            </a:r>
            <a:r>
              <a:rPr lang="en-GB" dirty="0" err="1" smtClean="0"/>
              <a:t>MTBF</a:t>
            </a:r>
            <a:r>
              <a:rPr lang="en-GB" dirty="0" smtClean="0"/>
              <a:t> of 1000 hours and an </a:t>
            </a:r>
            <a:r>
              <a:rPr lang="en-GB" dirty="0" err="1" smtClean="0"/>
              <a:t>MTTR</a:t>
            </a:r>
            <a:r>
              <a:rPr lang="en-GB" dirty="0" smtClean="0"/>
              <a:t> of 5 hours. To ensure high availability, a backup server is added. Calculate the availability of the system</a:t>
            </a:r>
            <a:r>
              <a:rPr lang="en-GB" dirty="0" smtClean="0"/>
              <a:t>.</a:t>
            </a:r>
          </a:p>
          <a:p>
            <a:r>
              <a:rPr lang="en-GB" b="1" dirty="0" smtClean="0"/>
              <a:t>Solution</a:t>
            </a:r>
            <a:endParaRPr lang="en-GB" b="1" dirty="0"/>
          </a:p>
        </p:txBody>
      </p:sp>
      <p:pic>
        <p:nvPicPr>
          <p:cNvPr id="4098" name="Picture 2"/>
          <p:cNvPicPr>
            <a:picLocks noChangeAspect="1" noChangeArrowheads="1"/>
          </p:cNvPicPr>
          <p:nvPr/>
        </p:nvPicPr>
        <p:blipFill>
          <a:blip r:embed="rId2"/>
          <a:srcRect/>
          <a:stretch>
            <a:fillRect/>
          </a:stretch>
        </p:blipFill>
        <p:spPr bwMode="auto">
          <a:xfrm>
            <a:off x="1752600" y="2895600"/>
            <a:ext cx="6705600" cy="1990725"/>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1752600" y="5029200"/>
            <a:ext cx="6553200" cy="139065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anim calcmode="lin" valueType="num">
                                      <p:cBhvr additive="base">
                                        <p:cTn id="19" dur="500" fill="hold"/>
                                        <p:tgtEl>
                                          <p:spTgt spid="4098"/>
                                        </p:tgtEl>
                                        <p:attrNameLst>
                                          <p:attrName>ppt_x</p:attrName>
                                        </p:attrNameLst>
                                      </p:cBhvr>
                                      <p:tavLst>
                                        <p:tav tm="0">
                                          <p:val>
                                            <p:strVal val="#ppt_x"/>
                                          </p:val>
                                        </p:tav>
                                        <p:tav tm="100000">
                                          <p:val>
                                            <p:strVal val="#ppt_x"/>
                                          </p:val>
                                        </p:tav>
                                      </p:tavLst>
                                    </p:anim>
                                    <p:anim calcmode="lin" valueType="num">
                                      <p:cBhvr additive="base">
                                        <p:cTn id="20"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4099"/>
                                        </p:tgtEl>
                                        <p:attrNameLst>
                                          <p:attrName>style.visibility</p:attrName>
                                        </p:attrNameLst>
                                      </p:cBhvr>
                                      <p:to>
                                        <p:strVal val="visible"/>
                                      </p:to>
                                    </p:set>
                                    <p:animEffect transition="in" filter="checkerboard(across)">
                                      <p:cBhvr>
                                        <p:cTn id="25"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r>
              <a:rPr lang="en-GB" dirty="0" smtClean="0"/>
              <a:t>Scalability</a:t>
            </a:r>
            <a:endParaRPr lang="en-GB" dirty="0"/>
          </a:p>
        </p:txBody>
      </p:sp>
      <p:sp>
        <p:nvSpPr>
          <p:cNvPr id="3" name="Content Placeholder 2"/>
          <p:cNvSpPr>
            <a:spLocks noGrp="1"/>
          </p:cNvSpPr>
          <p:nvPr>
            <p:ph idx="1"/>
          </p:nvPr>
        </p:nvSpPr>
        <p:spPr>
          <a:xfrm>
            <a:off x="1143000" y="1219200"/>
            <a:ext cx="7790688" cy="5410200"/>
          </a:xfrm>
        </p:spPr>
        <p:txBody>
          <a:bodyPr>
            <a:normAutofit fontScale="55000" lnSpcReduction="20000"/>
          </a:bodyPr>
          <a:lstStyle/>
          <a:p>
            <a:pPr algn="just">
              <a:lnSpc>
                <a:spcPct val="170000"/>
              </a:lnSpc>
            </a:pPr>
            <a:r>
              <a:rPr lang="en-GB" dirty="0" smtClean="0"/>
              <a:t>To </a:t>
            </a:r>
            <a:r>
              <a:rPr lang="en-GB" dirty="0" smtClean="0"/>
              <a:t>design the network so it can handle increased demand and grow without a significant loss of performance.</a:t>
            </a:r>
          </a:p>
          <a:p>
            <a:pPr algn="just">
              <a:lnSpc>
                <a:spcPct val="170000"/>
              </a:lnSpc>
            </a:pPr>
            <a:r>
              <a:rPr lang="en-GB" b="1" dirty="0" smtClean="0"/>
              <a:t>Key Concepts</a:t>
            </a:r>
          </a:p>
          <a:p>
            <a:pPr algn="just">
              <a:lnSpc>
                <a:spcPct val="170000"/>
              </a:lnSpc>
            </a:pPr>
            <a:r>
              <a:rPr lang="en-GB" b="1" dirty="0" smtClean="0"/>
              <a:t>Horizontal Scaling:</a:t>
            </a:r>
            <a:r>
              <a:rPr lang="en-GB" dirty="0" smtClean="0"/>
              <a:t> Adding more devices or systems to handle increased load (e.g., adding more servers).</a:t>
            </a:r>
          </a:p>
          <a:p>
            <a:pPr algn="just">
              <a:lnSpc>
                <a:spcPct val="170000"/>
              </a:lnSpc>
            </a:pPr>
            <a:r>
              <a:rPr lang="en-GB" b="1" dirty="0" smtClean="0"/>
              <a:t>Vertical Scaling:</a:t>
            </a:r>
            <a:r>
              <a:rPr lang="en-GB" dirty="0" smtClean="0"/>
              <a:t> Increasing the capacity of existing devices or systems (e.g., upgrading a server's hardware).</a:t>
            </a:r>
          </a:p>
          <a:p>
            <a:pPr algn="just">
              <a:lnSpc>
                <a:spcPct val="170000"/>
              </a:lnSpc>
            </a:pPr>
            <a:r>
              <a:rPr lang="en-GB" b="1" dirty="0" smtClean="0"/>
              <a:t>Elasticity:</a:t>
            </a:r>
            <a:r>
              <a:rPr lang="en-GB" dirty="0" smtClean="0"/>
              <a:t> The ability of the network to dynamically adjust resources based on current demand.</a:t>
            </a:r>
          </a:p>
          <a:p>
            <a:pPr algn="just">
              <a:lnSpc>
                <a:spcPct val="170000"/>
              </a:lnSpc>
            </a:pPr>
            <a:r>
              <a:rPr lang="en-GB" b="1" dirty="0" smtClean="0"/>
              <a:t>Modularity:</a:t>
            </a:r>
            <a:r>
              <a:rPr lang="en-GB" dirty="0" smtClean="0"/>
              <a:t> Designing the network in such a way that new components can be easily added or removed.</a:t>
            </a:r>
          </a:p>
          <a:p>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411162"/>
          </a:xfrm>
        </p:spPr>
        <p:txBody>
          <a:bodyPr>
            <a:normAutofit fontScale="90000"/>
          </a:bodyPr>
          <a:lstStyle/>
          <a:p>
            <a:r>
              <a:rPr lang="en-GB" dirty="0" smtClean="0"/>
              <a:t>Example</a:t>
            </a:r>
            <a:endParaRPr lang="en-GB" dirty="0"/>
          </a:p>
        </p:txBody>
      </p:sp>
      <p:sp>
        <p:nvSpPr>
          <p:cNvPr id="3" name="Content Placeholder 2"/>
          <p:cNvSpPr>
            <a:spLocks noGrp="1"/>
          </p:cNvSpPr>
          <p:nvPr>
            <p:ph idx="1"/>
          </p:nvPr>
        </p:nvSpPr>
        <p:spPr>
          <a:xfrm>
            <a:off x="1066800" y="914400"/>
            <a:ext cx="7866888" cy="5791200"/>
          </a:xfrm>
        </p:spPr>
        <p:txBody>
          <a:bodyPr>
            <a:normAutofit fontScale="47500" lnSpcReduction="20000"/>
          </a:bodyPr>
          <a:lstStyle/>
          <a:p>
            <a:pPr algn="just">
              <a:lnSpc>
                <a:spcPct val="150000"/>
              </a:lnSpc>
            </a:pPr>
            <a:r>
              <a:rPr lang="en-GB" dirty="0" smtClean="0"/>
              <a:t>An e-commerce website experiences varying traffic loads, from 500 users per hour during off-peak times to 5000 users per hour during peak times. The website is hosted on a cloud platform. How can the website be scaled to handle this variability</a:t>
            </a:r>
            <a:r>
              <a:rPr lang="en-GB" dirty="0" smtClean="0"/>
              <a:t>?</a:t>
            </a:r>
          </a:p>
          <a:p>
            <a:pPr algn="just">
              <a:lnSpc>
                <a:spcPct val="170000"/>
              </a:lnSpc>
            </a:pPr>
            <a:r>
              <a:rPr lang="en-GB" b="1" dirty="0" smtClean="0"/>
              <a:t>Solution:</a:t>
            </a:r>
            <a:endParaRPr lang="en-GB" dirty="0" smtClean="0"/>
          </a:p>
          <a:p>
            <a:pPr algn="just">
              <a:lnSpc>
                <a:spcPct val="170000"/>
              </a:lnSpc>
            </a:pPr>
            <a:r>
              <a:rPr lang="en-GB" b="1" dirty="0" smtClean="0"/>
              <a:t>Elastic Cloud Resources:</a:t>
            </a:r>
            <a:r>
              <a:rPr lang="en-GB" dirty="0" smtClean="0"/>
              <a:t> Use a cloud provider that supports auto-scaling to dynamically allocate resources based on traffic.</a:t>
            </a:r>
          </a:p>
          <a:p>
            <a:pPr algn="just">
              <a:lnSpc>
                <a:spcPct val="170000"/>
              </a:lnSpc>
            </a:pPr>
            <a:r>
              <a:rPr lang="en-GB" b="1" dirty="0" smtClean="0"/>
              <a:t>Horizontal Scaling:</a:t>
            </a:r>
            <a:r>
              <a:rPr lang="en-GB" dirty="0" smtClean="0"/>
              <a:t> During peak times, the system can add more instances (servers) to handle increased load. For example, if each instance handles 1000 users, scale from 1 instance during off-peak to 5 instances during peak.</a:t>
            </a:r>
          </a:p>
          <a:p>
            <a:pPr algn="just">
              <a:lnSpc>
                <a:spcPct val="170000"/>
              </a:lnSpc>
            </a:pPr>
            <a:r>
              <a:rPr lang="en-GB" b="1" dirty="0" smtClean="0"/>
              <a:t>Vertical Scaling:</a:t>
            </a:r>
            <a:r>
              <a:rPr lang="en-GB" dirty="0" smtClean="0"/>
              <a:t> Upgrade instance types to more powerful configurations during peak times if horizontal scaling alone is insufficient.</a:t>
            </a:r>
          </a:p>
          <a:p>
            <a:pPr algn="just">
              <a:lnSpc>
                <a:spcPct val="170000"/>
              </a:lnSpc>
            </a:pPr>
            <a:r>
              <a:rPr lang="en-GB" b="1" dirty="0" smtClean="0"/>
              <a:t>Implementation:</a:t>
            </a:r>
            <a:endParaRPr lang="en-GB" dirty="0" smtClean="0"/>
          </a:p>
          <a:p>
            <a:pPr lvl="1" algn="just">
              <a:lnSpc>
                <a:spcPct val="170000"/>
              </a:lnSpc>
            </a:pPr>
            <a:r>
              <a:rPr lang="en-GB" dirty="0" smtClean="0"/>
              <a:t>Configure auto-scaling rules in the cloud platform to automatically add or remove instances based on user load.</a:t>
            </a:r>
          </a:p>
          <a:p>
            <a:pPr lvl="1" algn="just">
              <a:lnSpc>
                <a:spcPct val="170000"/>
              </a:lnSpc>
            </a:pPr>
            <a:r>
              <a:rPr lang="en-GB" dirty="0" smtClean="0"/>
              <a:t>Monitor performance metrics to</a:t>
            </a:r>
          </a:p>
          <a:p>
            <a:pPr algn="just">
              <a:lnSpc>
                <a:spcPct val="150000"/>
              </a:lnSpc>
            </a:pP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542</TotalTime>
  <Words>881</Words>
  <Application>Microsoft Office PowerPoint</Application>
  <PresentationFormat>On-screen Show (4:3)</PresentationFormat>
  <Paragraphs>62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Solstice</vt:lpstr>
      <vt:lpstr>  Fundamental concepts of network planning   </vt:lpstr>
      <vt:lpstr>Introduction</vt:lpstr>
      <vt:lpstr>Capacity Planning</vt:lpstr>
      <vt:lpstr>Example</vt:lpstr>
      <vt:lpstr>Traffic Engineering</vt:lpstr>
      <vt:lpstr>Example </vt:lpstr>
      <vt:lpstr>Performance Analysis</vt:lpstr>
      <vt:lpstr>Example</vt:lpstr>
      <vt:lpstr>Reliability and Fault Tolerance</vt:lpstr>
      <vt:lpstr>Example </vt:lpstr>
      <vt:lpstr>Scalability</vt:lpstr>
      <vt:lpstr>Example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 8301 DIGITAL ELECTRONICS</dc:title>
  <dc:creator>user</dc:creator>
  <cp:lastModifiedBy>Windows User</cp:lastModifiedBy>
  <cp:revision>62</cp:revision>
  <dcterms:created xsi:type="dcterms:W3CDTF">2006-08-16T00:00:00Z</dcterms:created>
  <dcterms:modified xsi:type="dcterms:W3CDTF">2024-05-20T13:31:02Z</dcterms:modified>
</cp:coreProperties>
</file>