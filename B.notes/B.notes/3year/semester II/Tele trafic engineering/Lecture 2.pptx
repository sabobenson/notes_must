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4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83" r:id="rId19"/>
    <p:sldId id="277" r:id="rId20"/>
    <p:sldId id="284" r:id="rId21"/>
    <p:sldId id="280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6C375-1331-4077-A164-B2698903209D}" type="datetimeFigureOut">
              <a:rPr lang="en-US" smtClean="0"/>
              <a:pPr/>
              <a:t>4/14/2023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D240F-B9A3-49F6-ACAB-4558347DB19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4/14/2023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95400" y="2514600"/>
            <a:ext cx="7406640" cy="969336"/>
          </a:xfrm>
        </p:spPr>
        <p:txBody>
          <a:bodyPr>
            <a:normAutofit/>
          </a:bodyPr>
          <a:lstStyle/>
          <a:p>
            <a:pPr algn="ctr"/>
            <a:r>
              <a:rPr lang="en-GB" sz="5400" b="1" dirty="0" smtClean="0"/>
              <a:t>TELETRAFFIC</a:t>
            </a:r>
            <a:endParaRPr lang="en-GB" sz="5400" b="1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There are many telephone customers, much larger than the number of available trunks.</a:t>
            </a:r>
          </a:p>
          <a:p>
            <a:r>
              <a:rPr lang="en-GB" dirty="0" smtClean="0"/>
              <a:t>Not every customer makes or receives a telephone call at the same time.</a:t>
            </a:r>
          </a:p>
          <a:p>
            <a:r>
              <a:rPr lang="en-GB" dirty="0" smtClean="0"/>
              <a:t>The number of trunks connecting the Mobile Switching </a:t>
            </a:r>
            <a:r>
              <a:rPr lang="en-GB" dirty="0" err="1" smtClean="0"/>
              <a:t>Center</a:t>
            </a:r>
            <a:r>
              <a:rPr lang="en-GB" dirty="0" smtClean="0"/>
              <a:t> (MSC) </a:t>
            </a:r>
            <a:r>
              <a:rPr lang="en-GB" i="1" dirty="0" smtClean="0"/>
              <a:t>A with </a:t>
            </a:r>
            <a:r>
              <a:rPr lang="en-GB" dirty="0" smtClean="0"/>
              <a:t>another MSC </a:t>
            </a:r>
            <a:r>
              <a:rPr lang="en-GB" i="1" dirty="0" smtClean="0"/>
              <a:t>B are the number of voice pairs used in the connection (duplex).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One of the most important steps in telecommunication engineering is to determine the number of trunks required on a route or a connection between </a:t>
            </a:r>
            <a:r>
              <a:rPr lang="en-GB" dirty="0" err="1" smtClean="0"/>
              <a:t>MSCs</a:t>
            </a:r>
            <a:r>
              <a:rPr lang="en-GB" dirty="0" smtClean="0"/>
              <a:t>. </a:t>
            </a:r>
          </a:p>
          <a:p>
            <a:r>
              <a:rPr lang="en-GB" dirty="0" smtClean="0"/>
              <a:t>To dimension a route correctly, we must have some idea of its usage, that is, how many subscribers are expected to talk at one time over the route.</a:t>
            </a:r>
          </a:p>
          <a:p>
            <a:r>
              <a:rPr lang="en-GB" dirty="0" smtClean="0"/>
              <a:t>The call capacity of an MSC is expressed as the maximum number of originating plus incoming (O  I) calls that can be handled during a high-traffic hour while meeting the dial-tone delay requirements.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Traffic Usage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A traffic path is a communication channel, time slot, frequency band, line, trunk, switch, or circuit over which individual communications take place in sequence.</a:t>
            </a:r>
          </a:p>
          <a:p>
            <a:r>
              <a:rPr lang="en-GB" dirty="0" smtClean="0"/>
              <a:t>Traffic usage is defined by two parameters, </a:t>
            </a:r>
            <a:r>
              <a:rPr lang="en-GB" i="1" dirty="0" smtClean="0">
                <a:solidFill>
                  <a:srgbClr val="FF0000"/>
                </a:solidFill>
              </a:rPr>
              <a:t>calling rate </a:t>
            </a:r>
            <a:r>
              <a:rPr lang="en-GB" i="1" dirty="0" smtClean="0"/>
              <a:t>and </a:t>
            </a:r>
            <a:r>
              <a:rPr lang="en-GB" i="1" dirty="0" smtClean="0">
                <a:solidFill>
                  <a:srgbClr val="FF0000"/>
                </a:solidFill>
              </a:rPr>
              <a:t>call holding time</a:t>
            </a:r>
          </a:p>
          <a:p>
            <a:r>
              <a:rPr lang="en-GB" dirty="0" smtClean="0"/>
              <a:t>Calling rate, or the number of times a route or traffic path is used per unit time; </a:t>
            </a:r>
          </a:p>
          <a:p>
            <a:r>
              <a:rPr lang="en-GB" dirty="0" smtClean="0"/>
              <a:t>Call holding time, or the average duration of occupancy of a traffic path by a call.</a:t>
            </a:r>
            <a:endParaRPr lang="en-GB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</a:t>
            </a:r>
            <a:r>
              <a:rPr lang="en-GB" i="1" dirty="0" smtClean="0">
                <a:solidFill>
                  <a:srgbClr val="FF0000"/>
                </a:solidFill>
              </a:rPr>
              <a:t>carried traffic </a:t>
            </a:r>
            <a:r>
              <a:rPr lang="en-GB" i="1" dirty="0" smtClean="0"/>
              <a:t>is the volume of traffic actually carried by a switch.</a:t>
            </a:r>
          </a:p>
          <a:p>
            <a:r>
              <a:rPr lang="en-GB" i="1" dirty="0" smtClean="0">
                <a:solidFill>
                  <a:srgbClr val="FF0000"/>
                </a:solidFill>
              </a:rPr>
              <a:t>offered traffic </a:t>
            </a:r>
            <a:r>
              <a:rPr lang="en-GB" i="1" dirty="0" smtClean="0"/>
              <a:t>is the volume of traffic offered to a switch. </a:t>
            </a:r>
          </a:p>
          <a:p>
            <a:r>
              <a:rPr lang="en-GB" i="1" dirty="0" smtClean="0"/>
              <a:t>The offered load is </a:t>
            </a:r>
            <a:r>
              <a:rPr lang="en-GB" dirty="0" smtClean="0"/>
              <a:t>the sum of the carried load and overflow (traffic that cannot be handled by the switch).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5562600"/>
            <a:ext cx="51720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3600" b="1" dirty="0" smtClean="0"/>
              <a:t>Example of voice traffic variation hour by hour.</a:t>
            </a:r>
            <a:endParaRPr lang="en-GB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752600"/>
            <a:ext cx="7567107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The figure shows a typical hour-by-hour voice traffic variation for an MSC. </a:t>
            </a:r>
          </a:p>
          <a:p>
            <a:r>
              <a:rPr lang="en-GB" dirty="0" smtClean="0"/>
              <a:t>We notice that the busiest period — the </a:t>
            </a:r>
            <a:r>
              <a:rPr lang="en-GB" i="1" dirty="0" smtClean="0">
                <a:solidFill>
                  <a:srgbClr val="FF0000"/>
                </a:solidFill>
              </a:rPr>
              <a:t>busy hour (</a:t>
            </a:r>
            <a:r>
              <a:rPr lang="en-GB" i="1" dirty="0" err="1" smtClean="0">
                <a:solidFill>
                  <a:srgbClr val="FF0000"/>
                </a:solidFill>
              </a:rPr>
              <a:t>BH</a:t>
            </a:r>
            <a:r>
              <a:rPr lang="en-GB" i="1" dirty="0" smtClean="0">
                <a:solidFill>
                  <a:srgbClr val="FF0000"/>
                </a:solidFill>
              </a:rPr>
              <a:t>) </a:t>
            </a:r>
            <a:r>
              <a:rPr lang="en-GB" i="1" dirty="0" smtClean="0"/>
              <a:t>is between 10 A.M. and 11 A.M.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Busy hour as the span of time (not necessarily a clock hour) that has the highest average traffic load for the business day throughout the busy season</a:t>
            </a:r>
            <a:r>
              <a:rPr lang="en-GB" dirty="0" smtClean="0"/>
              <a:t>. </a:t>
            </a:r>
          </a:p>
          <a:p>
            <a:r>
              <a:rPr lang="en-GB" dirty="0" smtClean="0"/>
              <a:t>The </a:t>
            </a:r>
            <a:r>
              <a:rPr lang="en-GB" dirty="0" smtClean="0">
                <a:solidFill>
                  <a:srgbClr val="FF0000"/>
                </a:solidFill>
              </a:rPr>
              <a:t>peak hour </a:t>
            </a:r>
            <a:r>
              <a:rPr lang="en-GB" dirty="0" smtClean="0"/>
              <a:t>is defined as the clock hour with highest traffic load for a single day.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Since traffic also varies from month to month, we define the </a:t>
            </a:r>
            <a:r>
              <a:rPr lang="en-GB" dirty="0" smtClean="0">
                <a:solidFill>
                  <a:srgbClr val="FF0000"/>
                </a:solidFill>
              </a:rPr>
              <a:t>average busy season (ABS) </a:t>
            </a:r>
            <a:r>
              <a:rPr lang="en-GB" dirty="0" smtClean="0"/>
              <a:t>as the three months (not necessarily consecutive) with the highest average </a:t>
            </a:r>
            <a:r>
              <a:rPr lang="en-GB" dirty="0" err="1" smtClean="0"/>
              <a:t>BH</a:t>
            </a:r>
            <a:r>
              <a:rPr lang="en-GB" dirty="0" smtClean="0"/>
              <a:t> traffic load per access line. </a:t>
            </a:r>
          </a:p>
          <a:p>
            <a:r>
              <a:rPr lang="en-GB" dirty="0" smtClean="0"/>
              <a:t>Telephone systems are not engineered for maximum peak loads, but for some typical </a:t>
            </a:r>
            <a:r>
              <a:rPr lang="en-GB" dirty="0" err="1" smtClean="0"/>
              <a:t>BH</a:t>
            </a:r>
            <a:r>
              <a:rPr lang="en-GB" dirty="0" smtClean="0"/>
              <a:t> load. </a:t>
            </a:r>
          </a:p>
          <a:p>
            <a:r>
              <a:rPr lang="en-GB" dirty="0" smtClean="0"/>
              <a:t>The blocking probability is defined as the average ratio of blocked calls to total calls and is referred to as the </a:t>
            </a:r>
            <a:r>
              <a:rPr lang="en-GB" i="1" dirty="0" err="1" smtClean="0"/>
              <a:t>GoS</a:t>
            </a:r>
            <a:r>
              <a:rPr lang="en-GB" i="1" dirty="0" smtClean="0"/>
              <a:t>.</a:t>
            </a:r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If there are 380 seizures (lines connected for service) and 10 blocked calls (lost calls) during the </a:t>
            </a:r>
            <a:r>
              <a:rPr lang="en-GB" dirty="0" err="1" smtClean="0"/>
              <a:t>BH</a:t>
            </a:r>
            <a:r>
              <a:rPr lang="en-GB" dirty="0" smtClean="0"/>
              <a:t>, what is the </a:t>
            </a:r>
            <a:r>
              <a:rPr lang="en-GB" dirty="0" err="1" smtClean="0"/>
              <a:t>GoS</a:t>
            </a:r>
            <a:r>
              <a:rPr lang="en-GB" dirty="0" smtClean="0"/>
              <a:t>?</a:t>
            </a:r>
          </a:p>
          <a:p>
            <a:pPr>
              <a:buNone/>
            </a:pPr>
            <a:r>
              <a:rPr lang="en-GB" b="1" dirty="0" smtClean="0"/>
              <a:t>Solution</a:t>
            </a:r>
          </a:p>
          <a:p>
            <a:pPr>
              <a:buNone/>
            </a:pPr>
            <a:r>
              <a:rPr lang="en-GB" dirty="0" smtClean="0"/>
              <a:t>Blocking Probability  = (Number of lost calls)/(Total number of offered calls)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err="1" smtClean="0"/>
              <a:t>GoS</a:t>
            </a:r>
            <a:r>
              <a:rPr lang="en-GB" dirty="0" smtClean="0"/>
              <a:t>=10/(380+10) = 1/39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Traffic Measurement Units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Traffic intensity </a:t>
            </a:r>
            <a:r>
              <a:rPr lang="en-GB" dirty="0" smtClean="0"/>
              <a:t>is the average number of calls simultaneously in progress during a particular period of time. </a:t>
            </a:r>
          </a:p>
          <a:p>
            <a:r>
              <a:rPr lang="en-GB" dirty="0" smtClean="0"/>
              <a:t>It is measured either in units of </a:t>
            </a:r>
            <a:r>
              <a:rPr lang="en-GB" dirty="0" err="1" smtClean="0">
                <a:solidFill>
                  <a:srgbClr val="FF0000"/>
                </a:solidFill>
              </a:rPr>
              <a:t>Erlangs</a:t>
            </a:r>
            <a:r>
              <a:rPr lang="en-GB" dirty="0" smtClean="0">
                <a:solidFill>
                  <a:srgbClr val="FF0000"/>
                </a:solidFill>
              </a:rPr>
              <a:t> or CCS</a:t>
            </a:r>
            <a:r>
              <a:rPr lang="en-GB" dirty="0" smtClean="0"/>
              <a:t>.</a:t>
            </a:r>
          </a:p>
          <a:p>
            <a:r>
              <a:rPr lang="en-GB" dirty="0" smtClean="0"/>
              <a:t>An average of one call in progress during an hour represents a traffic intensity of 1Erlang.</a:t>
            </a:r>
          </a:p>
          <a:p>
            <a:r>
              <a:rPr lang="en-GB" dirty="0" smtClean="0"/>
              <a:t>thus 1 </a:t>
            </a:r>
            <a:r>
              <a:rPr lang="en-GB" dirty="0" err="1" smtClean="0"/>
              <a:t>Erlang</a:t>
            </a:r>
            <a:r>
              <a:rPr lang="en-GB" dirty="0" smtClean="0"/>
              <a:t> equals 1x3600 call seconds (36 CCS). </a:t>
            </a:r>
          </a:p>
          <a:p>
            <a:r>
              <a:rPr lang="en-GB" dirty="0" smtClean="0"/>
              <a:t>The </a:t>
            </a:r>
            <a:r>
              <a:rPr lang="en-GB" dirty="0" err="1" smtClean="0"/>
              <a:t>Erlang</a:t>
            </a:r>
            <a:r>
              <a:rPr lang="en-GB" dirty="0" smtClean="0"/>
              <a:t> is a dimensionless number. 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Traffic intensity can be obtained as: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2667000"/>
            <a:ext cx="5194915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3581400"/>
            <a:ext cx="237172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09800" y="4800600"/>
            <a:ext cx="508635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Percentage of occupancy is the Percentage of time a server is busy.</a:t>
            </a:r>
          </a:p>
          <a:p>
            <a:r>
              <a:rPr lang="en-GB" dirty="0" smtClean="0"/>
              <a:t>Peg count is the number of attempts to use a piece of equipment.</a:t>
            </a:r>
          </a:p>
          <a:p>
            <a:r>
              <a:rPr lang="en-GB" dirty="0" smtClean="0"/>
              <a:t>The usage (</a:t>
            </a:r>
            <a:r>
              <a:rPr lang="en-GB" i="1" dirty="0" smtClean="0"/>
              <a:t>U), peg count (PC) per time period, overflow (O) per period, and </a:t>
            </a:r>
            <a:r>
              <a:rPr lang="en-GB" dirty="0" smtClean="0"/>
              <a:t>average holding time </a:t>
            </a:r>
            <a:r>
              <a:rPr lang="en-GB" i="1" dirty="0" smtClean="0"/>
              <a:t>t are related as: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5638800"/>
            <a:ext cx="3200400" cy="653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a switching office an equipment component with an average holding time of 5 seconds has a peg count of 450 for a one-hour period. Assuming that there was no overflow (i.e., the system handled all calls), how much usage in call-seconds, CCS, and </a:t>
            </a:r>
            <a:r>
              <a:rPr lang="en-GB" dirty="0" err="1" smtClean="0"/>
              <a:t>Erlangs</a:t>
            </a:r>
            <a:r>
              <a:rPr lang="en-GB" dirty="0" smtClean="0"/>
              <a:t> has accumulated on the piece of the equipment?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Soln</a:t>
            </a:r>
            <a:r>
              <a:rPr lang="en-GB" dirty="0" smtClean="0"/>
              <a:t> 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514600"/>
            <a:ext cx="4366395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3733800"/>
            <a:ext cx="56007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a wireless network each subscriber generates two calls per hour on the average and a typical call holding time is 120 seconds. What is the traffic intensity?</a:t>
            </a:r>
          </a:p>
          <a:p>
            <a:endParaRPr lang="en-GB" dirty="0" smtClean="0"/>
          </a:p>
          <a:p>
            <a:r>
              <a:rPr lang="en-GB" dirty="0" smtClean="0"/>
              <a:t>Solution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4953000"/>
            <a:ext cx="4724400" cy="618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56356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90600"/>
            <a:ext cx="7498080" cy="1524000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In order to determine voice traffic on a line, we collected the following data during a period of 90 minutes as shown in the table. Calculate the traffic intensity in </a:t>
            </a:r>
            <a:r>
              <a:rPr lang="en-GB" dirty="0" err="1" smtClean="0"/>
              <a:t>Erlangs</a:t>
            </a:r>
            <a:r>
              <a:rPr lang="en-GB" dirty="0" smtClean="0"/>
              <a:t> and CCS.</a:t>
            </a:r>
            <a:endParaRPr lang="en-GB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2438400"/>
            <a:ext cx="2971800" cy="3977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Soln</a:t>
            </a:r>
            <a:r>
              <a:rPr lang="en-GB" dirty="0" smtClean="0"/>
              <a:t> </a:t>
            </a:r>
            <a:endParaRPr lang="en-GB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057400"/>
            <a:ext cx="5024437" cy="72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3124200"/>
            <a:ext cx="7473750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95600" y="4800600"/>
            <a:ext cx="4800600" cy="786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Grade of Service (</a:t>
            </a:r>
            <a:r>
              <a:rPr lang="en-GB" dirty="0" err="1" smtClean="0"/>
              <a:t>GoS</a:t>
            </a:r>
            <a:r>
              <a:rPr lang="en-GB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524000"/>
            <a:ext cx="7498080" cy="4800600"/>
          </a:xfrm>
        </p:spPr>
        <p:txBody>
          <a:bodyPr/>
          <a:lstStyle/>
          <a:p>
            <a:r>
              <a:rPr lang="en-GB" dirty="0" smtClean="0"/>
              <a:t>Is the measure of probability that a percentage of the offered traffic will be blocked or delayed.</a:t>
            </a:r>
          </a:p>
          <a:p>
            <a:r>
              <a:rPr lang="en-GB" dirty="0" smtClean="0"/>
              <a:t>Commonly expressed as the fraction of calls that fails to receive immediate services.</a:t>
            </a:r>
          </a:p>
          <a:p>
            <a:r>
              <a:rPr lang="en-GB" dirty="0" smtClean="0"/>
              <a:t>For example if </a:t>
            </a:r>
            <a:r>
              <a:rPr lang="en-GB" dirty="0" err="1" smtClean="0"/>
              <a:t>GoS</a:t>
            </a:r>
            <a:r>
              <a:rPr lang="en-GB" dirty="0" smtClean="0"/>
              <a:t> is 0.05, then one call out of 20 will be blocked during busy hour.</a:t>
            </a:r>
          </a:p>
          <a:p>
            <a:endParaRPr lang="en-GB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762000"/>
            <a:ext cx="6603666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981200"/>
            <a:ext cx="7112919" cy="311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295400"/>
            <a:ext cx="6169182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971800"/>
            <a:ext cx="7498080" cy="1143000"/>
          </a:xfrm>
        </p:spPr>
        <p:txBody>
          <a:bodyPr/>
          <a:lstStyle/>
          <a:p>
            <a:pPr algn="ctr"/>
            <a:r>
              <a:rPr lang="en-GB" dirty="0" smtClean="0"/>
              <a:t>END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745</TotalTime>
  <Words>843</Words>
  <Application>Microsoft Office PowerPoint</Application>
  <PresentationFormat>On-screen Show (4:3)</PresentationFormat>
  <Paragraphs>62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Solstice</vt:lpstr>
      <vt:lpstr>Slide 1</vt:lpstr>
      <vt:lpstr>Introduction </vt:lpstr>
      <vt:lpstr>Cont...</vt:lpstr>
      <vt:lpstr>Traffic Usage</vt:lpstr>
      <vt:lpstr>Cont...</vt:lpstr>
      <vt:lpstr>Example of voice traffic variation hour by hour.</vt:lpstr>
      <vt:lpstr>Cont...</vt:lpstr>
      <vt:lpstr>Cont...</vt:lpstr>
      <vt:lpstr>Example </vt:lpstr>
      <vt:lpstr>Traffic Measurement Units</vt:lpstr>
      <vt:lpstr>Cont...</vt:lpstr>
      <vt:lpstr>Cont...</vt:lpstr>
      <vt:lpstr>Example </vt:lpstr>
      <vt:lpstr>Soln </vt:lpstr>
      <vt:lpstr>Example </vt:lpstr>
      <vt:lpstr>Example </vt:lpstr>
      <vt:lpstr>Soln </vt:lpstr>
      <vt:lpstr>Grade of Service (GoS)</vt:lpstr>
      <vt:lpstr>Slide 19</vt:lpstr>
      <vt:lpstr>Example </vt:lpstr>
      <vt:lpstr>Slide 21</vt:lpstr>
      <vt:lpstr>END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8301 DIGITAL ELECTRONICS</dc:title>
  <dc:creator>user</dc:creator>
  <cp:lastModifiedBy>Windows User</cp:lastModifiedBy>
  <cp:revision>66</cp:revision>
  <dcterms:created xsi:type="dcterms:W3CDTF">2006-08-16T00:00:00Z</dcterms:created>
  <dcterms:modified xsi:type="dcterms:W3CDTF">2023-04-14T06:18:22Z</dcterms:modified>
</cp:coreProperties>
</file>