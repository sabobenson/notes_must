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72" r:id="rId2"/>
    <p:sldId id="273" r:id="rId3"/>
    <p:sldId id="274" r:id="rId4"/>
    <p:sldId id="275" r:id="rId5"/>
    <p:sldId id="292" r:id="rId6"/>
    <p:sldId id="277" r:id="rId7"/>
    <p:sldId id="278" r:id="rId8"/>
    <p:sldId id="283" r:id="rId9"/>
    <p:sldId id="284" r:id="rId10"/>
    <p:sldId id="287" r:id="rId11"/>
    <p:sldId id="325" r:id="rId12"/>
    <p:sldId id="288" r:id="rId13"/>
    <p:sldId id="289" r:id="rId14"/>
    <p:sldId id="268" r:id="rId15"/>
    <p:sldId id="269" r:id="rId16"/>
    <p:sldId id="291" r:id="rId17"/>
    <p:sldId id="270" r:id="rId18"/>
    <p:sldId id="316" r:id="rId19"/>
    <p:sldId id="293" r:id="rId20"/>
    <p:sldId id="301" r:id="rId21"/>
    <p:sldId id="302" r:id="rId22"/>
    <p:sldId id="303" r:id="rId23"/>
    <p:sldId id="319" r:id="rId24"/>
    <p:sldId id="317" r:id="rId25"/>
    <p:sldId id="343" r:id="rId26"/>
    <p:sldId id="344" r:id="rId27"/>
    <p:sldId id="294" r:id="rId28"/>
    <p:sldId id="295" r:id="rId29"/>
    <p:sldId id="304" r:id="rId30"/>
    <p:sldId id="296" r:id="rId31"/>
    <p:sldId id="305" r:id="rId32"/>
    <p:sldId id="307" r:id="rId33"/>
    <p:sldId id="308" r:id="rId34"/>
    <p:sldId id="258" r:id="rId35"/>
    <p:sldId id="310" r:id="rId36"/>
    <p:sldId id="309" r:id="rId37"/>
    <p:sldId id="259" r:id="rId38"/>
    <p:sldId id="260" r:id="rId39"/>
    <p:sldId id="327" r:id="rId40"/>
    <p:sldId id="330" r:id="rId41"/>
    <p:sldId id="311" r:id="rId42"/>
    <p:sldId id="326" r:id="rId43"/>
    <p:sldId id="313" r:id="rId44"/>
    <p:sldId id="312" r:id="rId45"/>
    <p:sldId id="261" r:id="rId46"/>
    <p:sldId id="314" r:id="rId47"/>
    <p:sldId id="315" r:id="rId48"/>
    <p:sldId id="262" r:id="rId49"/>
    <p:sldId id="263" r:id="rId50"/>
    <p:sldId id="342" r:id="rId51"/>
    <p:sldId id="264" r:id="rId52"/>
    <p:sldId id="265" r:id="rId53"/>
    <p:sldId id="266" r:id="rId54"/>
    <p:sldId id="332" r:id="rId55"/>
    <p:sldId id="339" r:id="rId56"/>
    <p:sldId id="345" r:id="rId57"/>
    <p:sldId id="346" r:id="rId58"/>
    <p:sldId id="338" r:id="rId59"/>
    <p:sldId id="320" r:id="rId60"/>
    <p:sldId id="322" r:id="rId61"/>
    <p:sldId id="323" r:id="rId62"/>
    <p:sldId id="324" r:id="rId63"/>
    <p:sldId id="337" r:id="rId64"/>
    <p:sldId id="321" r:id="rId65"/>
    <p:sldId id="267" r:id="rId66"/>
    <p:sldId id="328"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5" autoAdjust="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46EB8C-9455-47A7-BDBF-D34E918AE95B}" type="datetimeFigureOut">
              <a:rPr lang="en-US" smtClean="0"/>
              <a:pPr/>
              <a:t>12/16/2024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6B7C70-36D9-46D7-9564-01FFB13E726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06B7C70-36D9-46D7-9564-01FFB13E7269}" type="slidenum">
              <a:rPr lang="en-US" smtClean="0"/>
              <a:pPr/>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06B7C70-36D9-46D7-9564-01FFB13E7269}" type="slidenum">
              <a:rPr lang="en-US" smtClean="0"/>
              <a:pPr/>
              <a:t>37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GMSK=Gaussian Minimum Shift Keying</a:t>
            </a:r>
            <a:endParaRPr lang="en-US" dirty="0"/>
          </a:p>
        </p:txBody>
      </p:sp>
      <p:sp>
        <p:nvSpPr>
          <p:cNvPr id="4" name="Slide Number Placeholder 3"/>
          <p:cNvSpPr>
            <a:spLocks noGrp="1"/>
          </p:cNvSpPr>
          <p:nvPr>
            <p:ph type="sldNum" sz="quarter" idx="10"/>
          </p:nvPr>
        </p:nvSpPr>
        <p:spPr/>
        <p:txBody>
          <a:bodyPr/>
          <a:lstStyle/>
          <a:p>
            <a:fld id="{C06B7C70-36D9-46D7-9564-01FFB13E7269}" type="slidenum">
              <a:rPr lang="en-US" smtClean="0"/>
              <a:pPr/>
              <a:t>39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06B7C70-36D9-46D7-9564-01FFB13E7269}" type="slidenum">
              <a:rPr lang="en-US" smtClean="0"/>
              <a:pPr/>
              <a:t>43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06B7C70-36D9-46D7-9564-01FFB13E7269}" type="slidenum">
              <a:rPr lang="en-US" smtClean="0"/>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33249E5-21C3-4A21-94EF-A5C644777928}" type="datetime1">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0FC8B7-461F-4745-B80C-57805683C4A8}" type="datetime1">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55E8CE-4057-47A9-9842-6C7E87F3A8EE}" type="datetime1">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FF8CE2A-9E49-48C4-81B2-27FE34F91F0C}" type="datetime1">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14B7AD-8493-4B01-A3EF-BD1D74F7E73E}" type="datetime1">
              <a:rPr lang="en-US" smtClean="0"/>
              <a:pPr/>
              <a:t>12/16/2024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5FA118-89A1-4CE4-93B1-47B5B1C9AA97}" type="datetime1">
              <a:rPr lang="en-US" smtClean="0"/>
              <a:pPr/>
              <a:t>12/16/2024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AB1713-CE42-412B-9ADC-534D43EB122F}" type="datetime1">
              <a:rPr lang="en-US" smtClean="0"/>
              <a:pPr/>
              <a:t>12/16/2024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01354A-8FFE-4E79-8D0C-9D76B432F449}" type="datetime1">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7F19520-20A1-49AC-97E4-3F2D8DEA3926}" type="datetime1">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BB14CA-33EA-4738-96B9-41E9527287CA}" type="datetime1">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C592FA-9ED4-4D02-B740-3A0598FE8ABF}" type="datetime1">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63075-33AF-4FC3-B90F-61AFAD45E32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19709-ADAE-495B-AA8A-9BA3AEBE32C6}" type="datetime1">
              <a:rPr lang="en-US" smtClean="0"/>
              <a:pPr/>
              <a:t>12/16/2024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463075-33AF-4FC3-B90F-61AFAD45E32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p:txBody>
          <a:bodyPr/>
          <a:lstStyle/>
          <a:p>
            <a:pPr eaLnBrk="1" hangingPunct="1"/>
            <a:r>
              <a:rPr lang="en-US" dirty="0" smtClean="0">
                <a:latin typeface="Times New Roman" pitchFamily="18" charset="0"/>
                <a:ea typeface="ＭＳ Ｐゴシック" pitchFamily="34" charset="-128"/>
                <a:cs typeface="Times New Roman" pitchFamily="18" charset="0"/>
              </a:rPr>
              <a:t>What is Communication?</a:t>
            </a:r>
          </a:p>
        </p:txBody>
      </p:sp>
      <p:sp>
        <p:nvSpPr>
          <p:cNvPr id="2" name="Content Placeholder 2"/>
          <p:cNvSpPr>
            <a:spLocks noGrp="1"/>
          </p:cNvSpPr>
          <p:nvPr>
            <p:ph idx="1"/>
          </p:nvPr>
        </p:nvSpPr>
        <p:spPr>
          <a:xfrm>
            <a:off x="457200" y="1719263"/>
            <a:ext cx="6705600" cy="4411662"/>
          </a:xfrm>
        </p:spPr>
        <p:txBody>
          <a:bodyPr>
            <a:normAutofit lnSpcReduction="10000"/>
          </a:bodyPr>
          <a:lstStyle/>
          <a:p>
            <a:pPr eaLnBrk="1" hangingPunct="1">
              <a:buNone/>
              <a:defRPr/>
            </a:pPr>
            <a:r>
              <a:rPr lang="en-US" b="1" dirty="0" smtClean="0">
                <a:latin typeface="Times New Roman" pitchFamily="18" charset="0"/>
                <a:cs typeface="Times New Roman" pitchFamily="18" charset="0"/>
              </a:rPr>
              <a:t>	Communication</a:t>
            </a:r>
            <a:endParaRPr lang="en-US" b="1" dirty="0">
              <a:latin typeface="Times New Roman" pitchFamily="18" charset="0"/>
              <a:cs typeface="Times New Roman" pitchFamily="18" charset="0"/>
            </a:endParaRPr>
          </a:p>
          <a:p>
            <a:pPr marL="344487" lvl="1" indent="0" eaLnBrk="1" hangingPunct="1">
              <a:buFont typeface="Wingdings" charset="0"/>
              <a:buNone/>
              <a:defRPr/>
            </a:pPr>
            <a:r>
              <a:rPr lang="en-US" dirty="0">
                <a:latin typeface="Times New Roman" pitchFamily="18" charset="0"/>
                <a:cs typeface="Times New Roman" pitchFamily="18" charset="0"/>
              </a:rPr>
              <a:t>The process of creating and exchanging </a:t>
            </a:r>
            <a:r>
              <a:rPr lang="en-US" dirty="0" smtClean="0">
                <a:latin typeface="Times New Roman" pitchFamily="18" charset="0"/>
                <a:cs typeface="Times New Roman" pitchFamily="18" charset="0"/>
              </a:rPr>
              <a:t>information from one place to another.</a:t>
            </a:r>
            <a:endParaRPr lang="en-US" dirty="0">
              <a:latin typeface="Times New Roman" pitchFamily="18" charset="0"/>
              <a:cs typeface="Times New Roman" pitchFamily="18" charset="0"/>
            </a:endParaRPr>
          </a:p>
          <a:p>
            <a:pPr eaLnBrk="1" hangingPunct="1">
              <a:buNone/>
              <a:defRPr/>
            </a:pPr>
            <a:r>
              <a:rPr lang="en-US" b="1" dirty="0" smtClean="0">
                <a:latin typeface="Times New Roman" pitchFamily="18" charset="0"/>
                <a:cs typeface="Times New Roman" pitchFamily="18" charset="0"/>
              </a:rPr>
              <a:t>	Verbal </a:t>
            </a:r>
            <a:r>
              <a:rPr lang="en-US" b="1" dirty="0">
                <a:latin typeface="Times New Roman" pitchFamily="18" charset="0"/>
                <a:cs typeface="Times New Roman" pitchFamily="18" charset="0"/>
              </a:rPr>
              <a:t>communication</a:t>
            </a:r>
          </a:p>
          <a:p>
            <a:pPr marL="344487" lvl="1" indent="0" eaLnBrk="1" hangingPunct="1">
              <a:buFont typeface="Wingdings" charset="0"/>
              <a:buNone/>
              <a:defRPr/>
            </a:pPr>
            <a:r>
              <a:rPr lang="en-US" dirty="0">
                <a:latin typeface="Times New Roman" pitchFamily="18" charset="0"/>
                <a:cs typeface="Times New Roman" pitchFamily="18" charset="0"/>
              </a:rPr>
              <a:t>Communication in the form of spoken  </a:t>
            </a:r>
            <a:r>
              <a:rPr lang="en-US" dirty="0" smtClean="0">
                <a:latin typeface="Times New Roman" pitchFamily="18" charset="0"/>
                <a:cs typeface="Times New Roman" pitchFamily="18" charset="0"/>
              </a:rPr>
              <a:t>   or </a:t>
            </a:r>
            <a:r>
              <a:rPr lang="en-US" dirty="0">
                <a:latin typeface="Times New Roman" pitchFamily="18" charset="0"/>
                <a:cs typeface="Times New Roman" pitchFamily="18" charset="0"/>
              </a:rPr>
              <a:t>written words.</a:t>
            </a:r>
          </a:p>
          <a:p>
            <a:pPr eaLnBrk="1" hangingPunct="1">
              <a:buNone/>
              <a:defRPr/>
            </a:pPr>
            <a:r>
              <a:rPr lang="en-US" b="1" dirty="0" smtClean="0">
                <a:latin typeface="Times New Roman" pitchFamily="18" charset="0"/>
                <a:cs typeface="Times New Roman" pitchFamily="18" charset="0"/>
              </a:rPr>
              <a:t>	Nonverbal </a:t>
            </a:r>
            <a:r>
              <a:rPr lang="en-US" b="1" dirty="0">
                <a:latin typeface="Times New Roman" pitchFamily="18" charset="0"/>
                <a:cs typeface="Times New Roman" pitchFamily="18" charset="0"/>
              </a:rPr>
              <a:t>communication</a:t>
            </a:r>
          </a:p>
          <a:p>
            <a:pPr marL="344487" lvl="1" indent="0">
              <a:buFont typeface="Wingdings" charset="0"/>
              <a:buNone/>
              <a:defRPr/>
            </a:pPr>
            <a:r>
              <a:rPr lang="en-US" dirty="0">
                <a:latin typeface="Times New Roman" pitchFamily="18" charset="0"/>
                <a:cs typeface="Times New Roman" pitchFamily="18" charset="0"/>
              </a:rPr>
              <a:t>Communication in the form of gestures, eye contact, or tone of voice.</a:t>
            </a:r>
          </a:p>
          <a:p>
            <a:pPr lvl="1" eaLnBrk="1" hangingPunct="1">
              <a:buFont typeface="Wingdings" charset="0"/>
              <a:buChar char="l"/>
              <a:defRPr/>
            </a:pPr>
            <a:endParaRPr lang="en-US" dirty="0">
              <a:latin typeface="Times New Roman" pitchFamily="18" charset="0"/>
              <a:cs typeface="Times New Roman" pitchFamily="18" charset="0"/>
            </a:endParaRPr>
          </a:p>
        </p:txBody>
      </p:sp>
      <p:sp>
        <p:nvSpPr>
          <p:cNvPr id="17414"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C99067C1-2D76-4095-86C9-08496FED85C8}" type="slidenum">
              <a:rPr lang="en-US" sz="1600" smtClean="0">
                <a:solidFill>
                  <a:schemeClr val="tx1"/>
                </a:solidFill>
                <a:latin typeface="Times New Roman" pitchFamily="18" charset="0"/>
                <a:cs typeface="Times New Roman" pitchFamily="18" charset="0"/>
              </a:rPr>
              <a:pPr eaLnBrk="1" hangingPunct="1"/>
              <a:t>1</a:t>
            </a:fld>
            <a:endParaRPr lang="en-US" sz="1600" dirty="0" smtClean="0">
              <a:solidFill>
                <a:schemeClr val="tx1"/>
              </a:solidFill>
              <a:latin typeface="Times New Roman" pitchFamily="18" charset="0"/>
              <a:cs typeface="Times New Roman"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Non Verbal: Sound</a:t>
            </a:r>
          </a:p>
        </p:txBody>
      </p:sp>
      <p:sp>
        <p:nvSpPr>
          <p:cNvPr id="18435" name="Content Placeholder 2"/>
          <p:cNvSpPr>
            <a:spLocks noGrp="1"/>
          </p:cNvSpPr>
          <p:nvPr>
            <p:ph idx="1"/>
          </p:nvPr>
        </p:nvSpPr>
        <p:spPr>
          <a:xfrm>
            <a:off x="457200" y="1719263"/>
            <a:ext cx="5257800" cy="4681537"/>
          </a:xfrm>
        </p:spPr>
        <p:txBody>
          <a:bodyPr/>
          <a:lstStyle/>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Drums were one way to send signals to neighboring tribes and groups. </a:t>
            </a:r>
          </a:p>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Different drumming patterns would tell them of concerns and events they needed to know.</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F7F0BD6B-76F1-443F-BFDC-9A8D52042071}" type="slidenum">
              <a:rPr lang="en-US" smtClean="0">
                <a:solidFill>
                  <a:schemeClr val="tx1"/>
                </a:solidFill>
              </a:rPr>
              <a:pPr eaLnBrk="1" hangingPunct="1"/>
              <a:t>2</a:t>
            </a:fld>
            <a:endParaRPr lang="en-US" smtClean="0">
              <a:solidFill>
                <a:schemeClr val="tx1"/>
              </a:solidFill>
            </a:endParaRPr>
          </a:p>
        </p:txBody>
      </p:sp>
      <p:pic>
        <p:nvPicPr>
          <p:cNvPr id="18438" name="Picture 1" descr="Drum.jpg"/>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86400" y="1905000"/>
            <a:ext cx="3319463" cy="312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Non Verbal:</a:t>
            </a:r>
            <a:br>
              <a:rPr lang="en-US" sz="3200" b="1" dirty="0" smtClean="0">
                <a:latin typeface="Times New Roman" pitchFamily="18" charset="0"/>
                <a:ea typeface="ＭＳ Ｐゴシック" pitchFamily="34" charset="-128"/>
                <a:cs typeface="Times New Roman" pitchFamily="18" charset="0"/>
              </a:rPr>
            </a:br>
            <a:r>
              <a:rPr lang="en-US" sz="3200" b="1" dirty="0" smtClean="0">
                <a:latin typeface="Times New Roman" pitchFamily="18" charset="0"/>
                <a:ea typeface="ＭＳ Ｐゴシック" pitchFamily="34" charset="-128"/>
                <a:cs typeface="Times New Roman" pitchFamily="18" charset="0"/>
              </a:rPr>
              <a:t>Smoke Signals</a:t>
            </a:r>
          </a:p>
        </p:txBody>
      </p:sp>
      <p:sp>
        <p:nvSpPr>
          <p:cNvPr id="19459" name="Content Placeholder 2"/>
          <p:cNvSpPr>
            <a:spLocks noGrp="1"/>
          </p:cNvSpPr>
          <p:nvPr>
            <p:ph idx="1"/>
          </p:nvPr>
        </p:nvSpPr>
        <p:spPr>
          <a:xfrm>
            <a:off x="457200" y="1719263"/>
            <a:ext cx="8229600" cy="1633537"/>
          </a:xfrm>
        </p:spPr>
        <p:txBody>
          <a:bodyPr/>
          <a:lstStyle/>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Smoke signals were another way to send messages to people who were not close enough to use words. </a:t>
            </a: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77F485EF-B4F1-4CCF-900C-D2C119FC66E9}" type="slidenum">
              <a:rPr lang="en-US" smtClean="0">
                <a:solidFill>
                  <a:schemeClr val="tx1"/>
                </a:solidFill>
              </a:rPr>
              <a:pPr eaLnBrk="1" hangingPunct="1"/>
              <a:t>3</a:t>
            </a:fld>
            <a:endParaRPr lang="en-US" smtClean="0">
              <a:solidFill>
                <a:schemeClr val="tx1"/>
              </a:solidFill>
            </a:endParaRPr>
          </a:p>
        </p:txBody>
      </p:sp>
      <p:pic>
        <p:nvPicPr>
          <p:cNvPr id="19462" name="Picture 11" descr="ThoughtBubble.png"/>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rot="732322">
            <a:off x="3653498" y="3176022"/>
            <a:ext cx="2819400" cy="24201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9464" name="Picture 5" descr="Campfire2.jpg"/>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69988" y="4876800"/>
            <a:ext cx="1268412" cy="1268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9465" name="Picture 3" descr="ThoughtBubble.png"/>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rot="812680">
            <a:off x="1927225" y="3424238"/>
            <a:ext cx="1993900" cy="1993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fontScale="90000"/>
          </a:bodyPr>
          <a:lstStyle/>
          <a:p>
            <a:r>
              <a:rPr lang="en-US" dirty="0" smtClean="0">
                <a:latin typeface="Times New Roman" pitchFamily="18" charset="0"/>
                <a:ea typeface="ＭＳ Ｐゴシック" pitchFamily="34" charset="-128"/>
                <a:cs typeface="Times New Roman" pitchFamily="18" charset="0"/>
              </a:rPr>
              <a:t/>
            </a:r>
            <a:br>
              <a:rPr lang="en-US" dirty="0" smtClean="0">
                <a:latin typeface="Times New Roman" pitchFamily="18" charset="0"/>
                <a:ea typeface="ＭＳ Ｐゴシック" pitchFamily="34" charset="-128"/>
                <a:cs typeface="Times New Roman" pitchFamily="18" charset="0"/>
              </a:rPr>
            </a:br>
            <a:r>
              <a:rPr lang="en-US" sz="3600" b="1" dirty="0" smtClean="0">
                <a:latin typeface="Times New Roman" pitchFamily="18" charset="0"/>
                <a:ea typeface="ＭＳ Ｐゴシック" pitchFamily="34" charset="-128"/>
                <a:cs typeface="Times New Roman" pitchFamily="18" charset="0"/>
              </a:rPr>
              <a:t>Verbal Storytelling</a:t>
            </a:r>
          </a:p>
        </p:txBody>
      </p:sp>
      <p:sp>
        <p:nvSpPr>
          <p:cNvPr id="20483" name="Content Placeholder 2"/>
          <p:cNvSpPr>
            <a:spLocks noGrp="1"/>
          </p:cNvSpPr>
          <p:nvPr>
            <p:ph idx="1"/>
          </p:nvPr>
        </p:nvSpPr>
        <p:spPr>
          <a:xfrm>
            <a:off x="381000" y="2446338"/>
            <a:ext cx="3886200" cy="3116262"/>
          </a:xfrm>
        </p:spPr>
        <p:txBody>
          <a:bodyPr/>
          <a:lstStyle/>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Before the written word, storytelling was a way for families and communities to pass on information.</a:t>
            </a: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437C98A9-2D11-44A9-9FEA-E697B82ABCDB}" type="slidenum">
              <a:rPr lang="en-US" smtClean="0">
                <a:solidFill>
                  <a:schemeClr val="tx1"/>
                </a:solidFill>
              </a:rPr>
              <a:pPr eaLnBrk="1" hangingPunct="1"/>
              <a:t>4</a:t>
            </a:fld>
            <a:endParaRPr lang="en-US" smtClean="0">
              <a:solidFill>
                <a:schemeClr val="tx1"/>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72000" y="1905000"/>
            <a:ext cx="4154488" cy="3505200"/>
          </a:xfrm>
          <a:prstGeom prst="rect">
            <a:avLst/>
          </a:prstGeom>
          <a:noFill/>
          <a:ln w="127000" cap="sq">
            <a:solidFill>
              <a:srgbClr val="000000"/>
            </a:solidFill>
            <a:miter lim="800000"/>
            <a:headEnd/>
            <a:tailEnd/>
          </a:ln>
          <a:effectLst>
            <a:outerShdw dist="50800" dir="2700000" algn="tl" rotWithShape="0">
              <a:srgbClr val="808080">
                <a:alpha val="39999"/>
              </a:srgbClr>
            </a:outerShdw>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Carrier pigeons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The homing pigeon is a variety of domestic pigeon (</a:t>
            </a:r>
            <a:r>
              <a:rPr lang="en-US" sz="2400" i="1" dirty="0" smtClean="0">
                <a:latin typeface="Times New Roman" pitchFamily="18" charset="0"/>
                <a:cs typeface="Times New Roman" pitchFamily="18" charset="0"/>
              </a:rPr>
              <a:t>Columba </a:t>
            </a:r>
            <a:r>
              <a:rPr lang="en-US" sz="2400" i="1" dirty="0" err="1" smtClean="0">
                <a:latin typeface="Times New Roman" pitchFamily="18" charset="0"/>
                <a:cs typeface="Times New Roman" pitchFamily="18" charset="0"/>
              </a:rPr>
              <a:t>livia</a:t>
            </a:r>
            <a:r>
              <a:rPr lang="en-US"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domestica</a:t>
            </a:r>
            <a:r>
              <a:rPr lang="en-US" sz="2400" dirty="0" smtClean="0">
                <a:latin typeface="Times New Roman" pitchFamily="18" charset="0"/>
                <a:cs typeface="Times New Roman" pitchFamily="18" charset="0"/>
              </a:rPr>
              <a:t>) derived from the rock pigeon, selectively bred to find its way home over extremely long distances, using magneto reception.</a:t>
            </a:r>
          </a:p>
          <a:p>
            <a:r>
              <a:rPr lang="en-US" sz="2400" dirty="0" smtClean="0">
                <a:latin typeface="Times New Roman" pitchFamily="18" charset="0"/>
                <a:cs typeface="Times New Roman" pitchFamily="18" charset="0"/>
              </a:rPr>
              <a:t>Magneto reception is a sense which allows an organism to detect a magnetic field to perceive direction, altitude or location. </a:t>
            </a:r>
          </a:p>
          <a:p>
            <a:r>
              <a:rPr lang="en-US" sz="2400" dirty="0" smtClean="0">
                <a:latin typeface="Times New Roman" pitchFamily="18" charset="0"/>
                <a:cs typeface="Times New Roman" pitchFamily="18" charset="0"/>
              </a:rPr>
              <a:t>Their skills made them used to carry messages as carrier pigeons or messenger pigeons</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pic>
        <p:nvPicPr>
          <p:cNvPr id="4" name="Picture 3" descr="Carrier-pigeon-flying-with-envelope-letter--Stock-Vector-pigeon.jpg"/>
          <p:cNvPicPr>
            <a:picLocks noChangeAspect="1"/>
          </p:cNvPicPr>
          <p:nvPr/>
        </p:nvPicPr>
        <p:blipFill>
          <a:blip r:embed="rId2" cstate="print"/>
          <a:stretch>
            <a:fillRect/>
          </a:stretch>
        </p:blipFill>
        <p:spPr>
          <a:xfrm>
            <a:off x="6099791" y="4876800"/>
            <a:ext cx="3044209" cy="1981200"/>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04800" y="-152400"/>
            <a:ext cx="6248400" cy="1295400"/>
          </a:xfrm>
        </p:spPr>
        <p:txBody>
          <a:bodyPr>
            <a:normAutofit fontScale="90000"/>
          </a:bodyPr>
          <a:lstStyle/>
          <a:p>
            <a:r>
              <a:rPr lang="en-US" dirty="0" smtClean="0">
                <a:latin typeface="Times New Roman" pitchFamily="18" charset="0"/>
                <a:ea typeface="ＭＳ Ｐゴシック" pitchFamily="34" charset="-128"/>
                <a:cs typeface="Times New Roman" pitchFamily="18" charset="0"/>
              </a:rPr>
              <a:t/>
            </a:r>
            <a:br>
              <a:rPr lang="en-US" dirty="0" smtClean="0">
                <a:latin typeface="Times New Roman" pitchFamily="18" charset="0"/>
                <a:ea typeface="ＭＳ Ｐゴシック" pitchFamily="34" charset="-128"/>
                <a:cs typeface="Times New Roman" pitchFamily="18" charset="0"/>
              </a:rPr>
            </a:br>
            <a:r>
              <a:rPr lang="en-US" sz="3600" b="1" dirty="0" smtClean="0">
                <a:latin typeface="Times New Roman" pitchFamily="18" charset="0"/>
                <a:ea typeface="ＭＳ Ｐゴシック" pitchFamily="34" charset="-128"/>
                <a:cs typeface="Times New Roman" pitchFamily="18" charset="0"/>
              </a:rPr>
              <a:t>Speech</a:t>
            </a:r>
          </a:p>
        </p:txBody>
      </p:sp>
      <p:sp>
        <p:nvSpPr>
          <p:cNvPr id="3" name="Content Placeholder 2"/>
          <p:cNvSpPr>
            <a:spLocks noGrp="1"/>
          </p:cNvSpPr>
          <p:nvPr>
            <p:ph idx="1"/>
          </p:nvPr>
        </p:nvSpPr>
        <p:spPr>
          <a:xfrm>
            <a:off x="4800600" y="1828800"/>
            <a:ext cx="4343400" cy="3962400"/>
          </a:xfrm>
        </p:spPr>
        <p:txBody>
          <a:bodyPr/>
          <a:lstStyle/>
          <a:p>
            <a:pPr marL="0" lvl="1" indent="0">
              <a:buClr>
                <a:schemeClr val="tx2"/>
              </a:buClr>
              <a:buFont typeface="Wingdings" pitchFamily="2" charset="2"/>
              <a:buNone/>
            </a:pPr>
            <a:r>
              <a:rPr lang="en-US" sz="2400" dirty="0" smtClean="0">
                <a:latin typeface="Times New Roman" pitchFamily="18" charset="0"/>
                <a:ea typeface="ＭＳ Ｐゴシック" pitchFamily="34" charset="-128"/>
                <a:cs typeface="Times New Roman" pitchFamily="18" charset="0"/>
              </a:rPr>
              <a:t>Speech is the expression of, or the ability to express thoughts and feelings by articulate sounds.</a:t>
            </a:r>
          </a:p>
          <a:p>
            <a:pPr marL="0" indent="0">
              <a:buFont typeface="Wingdings" pitchFamily="2" charset="2"/>
              <a:buNone/>
            </a:pPr>
            <a:r>
              <a:rPr lang="en-US" sz="2400" dirty="0" smtClean="0">
                <a:latin typeface="Times New Roman" pitchFamily="18" charset="0"/>
                <a:ea typeface="ＭＳ Ｐゴシック" pitchFamily="34" charset="-128"/>
                <a:cs typeface="Times New Roman" pitchFamily="18" charset="0"/>
              </a:rPr>
              <a:t>Human communication was revolutionized by speech.</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9543F43B-598D-405E-A740-7CD434149042}" type="slidenum">
              <a:rPr lang="en-US" smtClean="0">
                <a:solidFill>
                  <a:schemeClr val="tx1"/>
                </a:solidFill>
              </a:rPr>
              <a:pPr eaLnBrk="1" hangingPunct="1"/>
              <a:t>6</a:t>
            </a:fld>
            <a:endParaRPr lang="en-US" smtClean="0">
              <a:solidFill>
                <a:schemeClr val="tx1"/>
              </a:solidFill>
            </a:endParaRPr>
          </a:p>
        </p:txBody>
      </p:sp>
      <p:pic>
        <p:nvPicPr>
          <p:cNvPr id="25606" name="Picture 8" descr="http://borderzine.com/wp-content/uploads/2010/05/Martin_Luther_King_-_March_on_Washington.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flipH="1">
            <a:off x="685800" y="1653643"/>
            <a:ext cx="3581400" cy="3756557"/>
          </a:xfrm>
          <a:prstGeom prst="rect">
            <a:avLst/>
          </a:prstGeom>
          <a:ln w="228600" cap="sq" cmpd="thickThin">
            <a:solidFill>
              <a:srgbClr val="000000"/>
            </a:solidFill>
            <a:prstDash val="solid"/>
            <a:miter lim="800000"/>
          </a:ln>
          <a:effectLst>
            <a:innerShdw blurRad="76200">
              <a:srgbClr val="000000"/>
            </a:innerShdw>
          </a:effectLs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Symbols</a:t>
            </a:r>
          </a:p>
        </p:txBody>
      </p:sp>
      <p:sp>
        <p:nvSpPr>
          <p:cNvPr id="23555" name="Content Placeholder 2"/>
          <p:cNvSpPr>
            <a:spLocks noGrp="1"/>
          </p:cNvSpPr>
          <p:nvPr>
            <p:ph idx="1"/>
          </p:nvPr>
        </p:nvSpPr>
        <p:spPr>
          <a:xfrm>
            <a:off x="457200" y="1447800"/>
            <a:ext cx="5029200" cy="4683125"/>
          </a:xfrm>
        </p:spPr>
        <p:txBody>
          <a:bodyPr/>
          <a:lstStyle/>
          <a:p>
            <a:r>
              <a:rPr lang="en-US" sz="2800" dirty="0" smtClean="0">
                <a:latin typeface="Times New Roman" pitchFamily="18" charset="0"/>
                <a:ea typeface="ＭＳ Ｐゴシック" pitchFamily="34" charset="-128"/>
                <a:cs typeface="Times New Roman" pitchFamily="18" charset="0"/>
              </a:rPr>
              <a:t>Symbol - Something that represents or stands for something else</a:t>
            </a:r>
          </a:p>
          <a:p>
            <a:r>
              <a:rPr lang="en-US" sz="2800" dirty="0" smtClean="0">
                <a:latin typeface="Times New Roman" pitchFamily="18" charset="0"/>
                <a:ea typeface="ＭＳ Ｐゴシック" pitchFamily="34" charset="-128"/>
                <a:cs typeface="Times New Roman" pitchFamily="18" charset="0"/>
              </a:rPr>
              <a:t>The imperfection of speech resulted in the creation of new forms of communication, improving both the range at which people could communicate and the longevity of the information. </a:t>
            </a:r>
          </a:p>
          <a:p>
            <a:endParaRPr lang="en-US" dirty="0" smtClean="0">
              <a:latin typeface="Times New Roman" pitchFamily="18" charset="0"/>
              <a:ea typeface="ＭＳ Ｐゴシック" pitchFamily="34" charset="-128"/>
              <a:cs typeface="Times New Roman" pitchFamily="18" charset="0"/>
            </a:endParaRPr>
          </a:p>
          <a:p>
            <a:endParaRPr lang="en-US" dirty="0" smtClean="0">
              <a:latin typeface="Times New Roman" pitchFamily="18" charset="0"/>
              <a:ea typeface="ＭＳ Ｐゴシック" pitchFamily="34" charset="-128"/>
              <a:cs typeface="Times New Roman" pitchFamily="18" charset="0"/>
            </a:endParaRP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EADD4E4A-21C8-40FA-99BC-E5F40C9569DA}" type="slidenum">
              <a:rPr lang="en-US" smtClean="0">
                <a:solidFill>
                  <a:schemeClr val="tx1"/>
                </a:solidFill>
              </a:rPr>
              <a:pPr eaLnBrk="1" hangingPunct="1"/>
              <a:t>7</a:t>
            </a:fld>
            <a:endParaRPr lang="en-US" smtClean="0">
              <a:solidFill>
                <a:schemeClr val="tx1"/>
              </a:solidFill>
            </a:endParaRPr>
          </a:p>
        </p:txBody>
      </p:sp>
      <p:pic>
        <p:nvPicPr>
          <p:cNvPr id="23558" name="Picture 8" descr="http://www.wpclipart.com/signs_symbol/zodiac/zodiac_symbols.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410200" y="1498600"/>
            <a:ext cx="3516313" cy="430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Writing</a:t>
            </a:r>
          </a:p>
        </p:txBody>
      </p:sp>
      <p:sp>
        <p:nvSpPr>
          <p:cNvPr id="28675" name="Content Placeholder 2"/>
          <p:cNvSpPr>
            <a:spLocks noGrp="1"/>
          </p:cNvSpPr>
          <p:nvPr>
            <p:ph idx="1"/>
          </p:nvPr>
        </p:nvSpPr>
        <p:spPr>
          <a:xfrm>
            <a:off x="457200" y="1719263"/>
            <a:ext cx="4191000" cy="4411662"/>
          </a:xfrm>
        </p:spPr>
        <p:txBody>
          <a:bodyPr/>
          <a:lstStyle/>
          <a:p>
            <a:pPr>
              <a:buFont typeface="Wingdings" pitchFamily="2" charset="2"/>
              <a:buChar char="u"/>
            </a:pPr>
            <a:r>
              <a:rPr lang="en-US" dirty="0" smtClean="0">
                <a:latin typeface="Times New Roman" pitchFamily="18" charset="0"/>
                <a:ea typeface="ＭＳ Ｐゴシック" pitchFamily="34" charset="-128"/>
                <a:cs typeface="Times New Roman" pitchFamily="18" charset="0"/>
              </a:rPr>
              <a:t> a sequence of letters, words, or symbols marked on paper or other surface </a:t>
            </a:r>
          </a:p>
          <a:p>
            <a:pPr>
              <a:buFont typeface="Wingdings" pitchFamily="2" charset="2"/>
              <a:buChar char="u"/>
            </a:pPr>
            <a:r>
              <a:rPr lang="en-US" dirty="0" smtClean="0">
                <a:latin typeface="Times New Roman" pitchFamily="18" charset="0"/>
                <a:ea typeface="ＭＳ Ｐゴシック" pitchFamily="34" charset="-128"/>
                <a:cs typeface="Times New Roman" pitchFamily="18" charset="0"/>
              </a:rPr>
              <a:t> appeared around 2700 BC</a:t>
            </a:r>
          </a:p>
          <a:p>
            <a:pPr lvl="1"/>
            <a:endParaRPr lang="en-US" dirty="0" smtClean="0">
              <a:latin typeface="Times New Roman" pitchFamily="18" charset="0"/>
              <a:ea typeface="ＭＳ Ｐゴシック" pitchFamily="34" charset="-128"/>
              <a:cs typeface="Times New Roman" pitchFamily="18" charset="0"/>
            </a:endParaRPr>
          </a:p>
        </p:txBody>
      </p:sp>
      <p:sp>
        <p:nvSpPr>
          <p:cNvPr id="28677"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D1C42163-1525-4E23-8D3C-0013E3C492B8}" type="slidenum">
              <a:rPr lang="en-US" smtClean="0">
                <a:solidFill>
                  <a:schemeClr val="tx1"/>
                </a:solidFill>
              </a:rPr>
              <a:pPr eaLnBrk="1" hangingPunct="1"/>
              <a:t>8</a:t>
            </a:fld>
            <a:endParaRPr lang="en-US" smtClean="0">
              <a:solidFill>
                <a:schemeClr val="tx1"/>
              </a:solidFill>
            </a:endParaRPr>
          </a:p>
        </p:txBody>
      </p:sp>
      <p:pic>
        <p:nvPicPr>
          <p:cNvPr id="2" name="Picture 1"/>
          <p:cNvPicPr>
            <a:picLocks noChangeAspect="1"/>
          </p:cNvPicPr>
          <p:nvPr/>
        </p:nvPicPr>
        <p:blipFill rotWithShape="1">
          <a:blip r:embed="rId2" cstate="print">
            <a:extLst>
              <a:ext uri="{28A0092B-C50C-407E-A947-70E740481C1C}">
                <a14:useLocalDpi xmlns:a14="http://schemas.microsoft.com/office/drawing/2010/main" xmlns="" val="0"/>
              </a:ext>
            </a:extLst>
          </a:blip>
          <a:srcRect t="16710" b="17099"/>
          <a:stretch/>
        </p:blipFill>
        <p:spPr>
          <a:xfrm>
            <a:off x="4800600" y="1371600"/>
            <a:ext cx="4038600" cy="3186012"/>
          </a:xfrm>
          <a:prstGeom prst="rect">
            <a:avLst/>
          </a:prstGeom>
          <a:effectLst>
            <a:reflection blurRad="6350" stA="50000" endA="300" endPos="55500" dist="101600" dir="5400000" sy="-100000" algn="bl" rotWithShape="0"/>
          </a:effec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Alphabet</a:t>
            </a:r>
          </a:p>
        </p:txBody>
      </p:sp>
      <p:sp>
        <p:nvSpPr>
          <p:cNvPr id="32770" name="Content Placeholder 2"/>
          <p:cNvSpPr>
            <a:spLocks noGrp="1"/>
          </p:cNvSpPr>
          <p:nvPr>
            <p:ph idx="1"/>
          </p:nvPr>
        </p:nvSpPr>
        <p:spPr>
          <a:xfrm>
            <a:off x="457200" y="1447800"/>
            <a:ext cx="4572000" cy="4411663"/>
          </a:xfrm>
        </p:spPr>
        <p:txBody>
          <a:bodyPr/>
          <a:lstStyle/>
          <a:p>
            <a:pPr>
              <a:buClr>
                <a:schemeClr val="accent6"/>
              </a:buClr>
              <a:buNone/>
              <a:defRPr/>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set of letters or </a:t>
            </a:r>
            <a:r>
              <a:rPr lang="en-US" dirty="0" smtClean="0">
                <a:latin typeface="Times New Roman" pitchFamily="18" charset="0"/>
                <a:cs typeface="Times New Roman" pitchFamily="18" charset="0"/>
              </a:rPr>
              <a:t>symbols in </a:t>
            </a:r>
            <a:r>
              <a:rPr lang="en-US" dirty="0">
                <a:latin typeface="Times New Roman" pitchFamily="18" charset="0"/>
                <a:cs typeface="Times New Roman" pitchFamily="18" charset="0"/>
              </a:rPr>
              <a:t>a fixed </a:t>
            </a:r>
            <a:r>
              <a:rPr lang="en-US" dirty="0" smtClean="0">
                <a:latin typeface="Times New Roman" pitchFamily="18" charset="0"/>
                <a:cs typeface="Times New Roman" pitchFamily="18" charset="0"/>
              </a:rPr>
              <a:t>order</a:t>
            </a:r>
          </a:p>
          <a:p>
            <a:pPr>
              <a:buNone/>
              <a:defRPr/>
            </a:pPr>
            <a:r>
              <a:rPr lang="en-US" dirty="0" smtClean="0">
                <a:latin typeface="Times New Roman" pitchFamily="18" charset="0"/>
                <a:cs typeface="Times New Roman" pitchFamily="18" charset="0"/>
              </a:rPr>
              <a:t>Used </a:t>
            </a:r>
            <a:r>
              <a:rPr lang="en-US" dirty="0">
                <a:latin typeface="Times New Roman" pitchFamily="18" charset="0"/>
                <a:cs typeface="Times New Roman" pitchFamily="18" charset="0"/>
              </a:rPr>
              <a:t>to represent the basic sounds of a </a:t>
            </a:r>
            <a:r>
              <a:rPr lang="en-US" dirty="0" smtClean="0">
                <a:latin typeface="Times New Roman" pitchFamily="18" charset="0"/>
                <a:cs typeface="Times New Roman" pitchFamily="18" charset="0"/>
              </a:rPr>
              <a:t>language</a:t>
            </a:r>
          </a:p>
          <a:p>
            <a:pPr>
              <a:buNone/>
              <a:defRPr/>
            </a:pPr>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particular, the set of letters from A to </a:t>
            </a:r>
            <a:r>
              <a:rPr lang="en-US" dirty="0" smtClean="0">
                <a:latin typeface="Times New Roman" pitchFamily="18" charset="0"/>
                <a:cs typeface="Times New Roman" pitchFamily="18" charset="0"/>
              </a:rPr>
              <a:t>Z</a:t>
            </a:r>
          </a:p>
          <a:p>
            <a:pPr>
              <a:buNone/>
              <a:defRPr/>
            </a:pPr>
            <a:r>
              <a:rPr lang="en-US" dirty="0" smtClean="0">
                <a:latin typeface="Times New Roman" pitchFamily="18" charset="0"/>
                <a:cs typeface="Times New Roman" pitchFamily="18" charset="0"/>
              </a:rPr>
              <a:t>1700 BC</a:t>
            </a:r>
            <a:endParaRPr lang="en-US" dirty="0">
              <a:latin typeface="Times New Roman" pitchFamily="18" charset="0"/>
              <a:cs typeface="Times New Roman" pitchFamily="18" charset="0"/>
            </a:endParaRP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E0773EB5-E379-418E-9EFC-805FBD856DA7}" type="slidenum">
              <a:rPr lang="en-US" smtClean="0">
                <a:solidFill>
                  <a:schemeClr val="tx1"/>
                </a:solidFill>
              </a:rPr>
              <a:pPr eaLnBrk="1" hangingPunct="1"/>
              <a:t>9</a:t>
            </a:fld>
            <a:endParaRPr lang="en-US" smtClean="0">
              <a:solidFill>
                <a:schemeClr val="tx1"/>
              </a:solidFill>
            </a:endParaRPr>
          </a:p>
        </p:txBody>
      </p:sp>
      <p:pic>
        <p:nvPicPr>
          <p:cNvPr id="29702" name="Picture 8" descr="http://domaingang.com/wp-content/uploads/2010/09/alphabet.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05400" y="1371600"/>
            <a:ext cx="3810000" cy="4487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Telegraph</a:t>
            </a:r>
          </a:p>
        </p:txBody>
      </p:sp>
      <p:sp>
        <p:nvSpPr>
          <p:cNvPr id="32772" name="Content Placeholder 2"/>
          <p:cNvSpPr>
            <a:spLocks noGrp="1"/>
          </p:cNvSpPr>
          <p:nvPr>
            <p:ph idx="1"/>
          </p:nvPr>
        </p:nvSpPr>
        <p:spPr>
          <a:xfrm>
            <a:off x="457200" y="1719263"/>
            <a:ext cx="8458200" cy="1100137"/>
          </a:xfrm>
        </p:spPr>
        <p:txBody>
          <a:bodyPr/>
          <a:lstStyle/>
          <a:p>
            <a:r>
              <a:rPr lang="en-US" sz="2400" dirty="0" smtClean="0">
                <a:latin typeface="Times New Roman" pitchFamily="18" charset="0"/>
                <a:ea typeface="ＭＳ Ｐゴシック" pitchFamily="34" charset="-128"/>
                <a:cs typeface="Times New Roman" pitchFamily="18" charset="0"/>
              </a:rPr>
              <a:t>1831 Joseph Henry invents the first electric telegraph.</a:t>
            </a:r>
          </a:p>
          <a:p>
            <a:r>
              <a:rPr lang="en-US" sz="2400" dirty="0" smtClean="0">
                <a:latin typeface="Times New Roman" pitchFamily="18" charset="0"/>
                <a:ea typeface="ＭＳ Ｐゴシック" pitchFamily="34" charset="-128"/>
                <a:cs typeface="Times New Roman" pitchFamily="18" charset="0"/>
              </a:rPr>
              <a:t>1832 Samuel Morse invents Morse Code.</a:t>
            </a:r>
          </a:p>
        </p:txBody>
      </p:sp>
      <p:sp>
        <p:nvSpPr>
          <p:cNvPr id="32774"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032ECA29-CCE1-4BED-A47D-C60A67E751BD}" type="slidenum">
              <a:rPr lang="en-US" smtClean="0">
                <a:solidFill>
                  <a:schemeClr val="tx1"/>
                </a:solidFill>
              </a:rPr>
              <a:pPr eaLnBrk="1" hangingPunct="1"/>
              <a:t>10</a:t>
            </a:fld>
            <a:endParaRPr lang="en-US" smtClean="0">
              <a:solidFill>
                <a:schemeClr val="tx1"/>
              </a:solidFill>
            </a:endParaRPr>
          </a:p>
        </p:txBody>
      </p:sp>
      <p:pic>
        <p:nvPicPr>
          <p:cNvPr id="2" name="Picture 1" descr="first telegraph.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667000" y="2895600"/>
            <a:ext cx="4272604" cy="2997200"/>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US" dirty="0"/>
          </a:p>
        </p:txBody>
      </p:sp>
      <p:pic>
        <p:nvPicPr>
          <p:cNvPr id="4" name="Content Placeholder 3" descr="450px-International_Morse_Code.svg.png"/>
          <p:cNvPicPr>
            <a:picLocks noGrp="1" noChangeAspect="1"/>
          </p:cNvPicPr>
          <p:nvPr>
            <p:ph idx="1"/>
          </p:nvPr>
        </p:nvPicPr>
        <p:blipFill>
          <a:blip r:embed="rId2" cstate="print"/>
          <a:stretch>
            <a:fillRect/>
          </a:stretch>
        </p:blipFill>
        <p:spPr>
          <a:xfrm>
            <a:off x="1752600" y="533400"/>
            <a:ext cx="5486400" cy="5791200"/>
          </a:xfrm>
        </p:spPr>
      </p:pic>
      <p:sp>
        <p:nvSpPr>
          <p:cNvPr id="6" name="Slide Number Placeholder 5"/>
          <p:cNvSpPr>
            <a:spLocks noGrp="1"/>
          </p:cNvSpPr>
          <p:nvPr>
            <p:ph type="sldNum" sz="quarter" idx="12"/>
          </p:nvPr>
        </p:nvSpPr>
        <p:spPr/>
        <p:txBody>
          <a:bodyPr/>
          <a:lstStyle/>
          <a:p>
            <a:fld id="{B0463075-33AF-4FC3-B90F-61AFAD45E32E}"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2895600" y="1219200"/>
            <a:ext cx="6096000" cy="4876800"/>
          </a:xfrm>
        </p:spPr>
        <p:txBody>
          <a:bodyPr>
            <a:normAutofit fontScale="92500" lnSpcReduction="10000"/>
          </a:bodyPr>
          <a:lstStyle/>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Alexander Graham Bell invented the telephone in Boston in 1876. </a:t>
            </a:r>
          </a:p>
          <a:p>
            <a:pPr marL="0" indent="0">
              <a:buFont typeface="Wingdings" pitchFamily="2" charset="2"/>
              <a:buNone/>
            </a:pPr>
            <a:r>
              <a:rPr lang="en-US" dirty="0" smtClean="0">
                <a:latin typeface="Times New Roman" pitchFamily="18" charset="0"/>
                <a:cs typeface="Times New Roman" pitchFamily="18" charset="0"/>
              </a:rPr>
              <a:t>A telephone converts sound, typically and most efficiently the human voice, into electronic signals suitable for transmission via cables or other transmission media over long distances, and replays such signals simultaneously in audible form to its user.</a:t>
            </a:r>
            <a:endParaRPr lang="en-US" dirty="0" smtClean="0">
              <a:latin typeface="Times New Roman" pitchFamily="18" charset="0"/>
              <a:ea typeface="ＭＳ Ｐゴシック" pitchFamily="34" charset="-128"/>
              <a:cs typeface="Times New Roman" pitchFamily="18" charset="0"/>
            </a:endParaRPr>
          </a:p>
          <a:p>
            <a:pPr marL="0" indent="0">
              <a:buFont typeface="Wingdings" pitchFamily="2" charset="2"/>
              <a:buNone/>
            </a:pPr>
            <a:r>
              <a:rPr lang="en-US" dirty="0" smtClean="0">
                <a:latin typeface="Times New Roman" pitchFamily="18" charset="0"/>
                <a:ea typeface="ＭＳ Ｐゴシック" pitchFamily="34" charset="-128"/>
                <a:cs typeface="Times New Roman" pitchFamily="18" charset="0"/>
              </a:rPr>
              <a:t>.</a:t>
            </a:r>
          </a:p>
        </p:txBody>
      </p:sp>
      <p:pic>
        <p:nvPicPr>
          <p:cNvPr id="33795" name="Picture 3"/>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1000" y="1905000"/>
            <a:ext cx="3429000" cy="286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3796"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Telephone</a:t>
            </a:r>
          </a:p>
        </p:txBody>
      </p:sp>
      <p:sp>
        <p:nvSpPr>
          <p:cNvPr id="33798"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C11E6DB3-CF5A-424D-A05E-448A32307FCE}" type="slidenum">
              <a:rPr lang="en-US" smtClean="0">
                <a:solidFill>
                  <a:schemeClr val="tx1"/>
                </a:solidFill>
              </a:rPr>
              <a:pPr eaLnBrk="1" hangingPunct="1"/>
              <a:t>12</a:t>
            </a:fld>
            <a:endParaRPr lang="en-US" smtClean="0">
              <a:solidFill>
                <a:schemeClr val="tx1"/>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r>
              <a:rPr lang="en-US" sz="3200" b="1" dirty="0" smtClean="0">
                <a:latin typeface="Times New Roman" pitchFamily="18" charset="0"/>
                <a:ea typeface="ＭＳ Ｐゴシック" pitchFamily="34" charset="-128"/>
                <a:cs typeface="Times New Roman" pitchFamily="18" charset="0"/>
              </a:rPr>
              <a:t>Computer</a:t>
            </a:r>
          </a:p>
        </p:txBody>
      </p:sp>
      <p:sp>
        <p:nvSpPr>
          <p:cNvPr id="34819" name="Content Placeholder 2"/>
          <p:cNvSpPr>
            <a:spLocks noGrp="1"/>
          </p:cNvSpPr>
          <p:nvPr>
            <p:ph idx="1"/>
          </p:nvPr>
        </p:nvSpPr>
        <p:spPr>
          <a:xfrm>
            <a:off x="457200" y="1719263"/>
            <a:ext cx="4419600" cy="4411662"/>
          </a:xfrm>
        </p:spPr>
        <p:txBody>
          <a:bodyPr/>
          <a:lstStyle/>
          <a:p>
            <a:r>
              <a:rPr lang="en-US" sz="2400" dirty="0" smtClean="0">
                <a:latin typeface="Times New Roman" pitchFamily="18" charset="0"/>
                <a:ea typeface="ＭＳ Ｐゴシック" pitchFamily="34" charset="-128"/>
                <a:cs typeface="Times New Roman" pitchFamily="18" charset="0"/>
              </a:rPr>
              <a:t>1951, The first commercially available, </a:t>
            </a:r>
            <a:r>
              <a:rPr lang="ja-JP" altLang="en-US" sz="2400" smtClean="0">
                <a:latin typeface="Times New Roman" pitchFamily="18" charset="0"/>
                <a:ea typeface="ＭＳ Ｐゴシック" pitchFamily="34" charset="-128"/>
                <a:cs typeface="Times New Roman" pitchFamily="18" charset="0"/>
              </a:rPr>
              <a:t>“</a:t>
            </a:r>
            <a:r>
              <a:rPr lang="en-US" altLang="ja-JP" sz="2400" dirty="0" smtClean="0">
                <a:latin typeface="Times New Roman" pitchFamily="18" charset="0"/>
                <a:ea typeface="ＭＳ Ｐゴシック" pitchFamily="34" charset="-128"/>
                <a:cs typeface="Times New Roman" pitchFamily="18" charset="0"/>
              </a:rPr>
              <a:t>mass produced</a:t>
            </a:r>
            <a:r>
              <a:rPr lang="ja-JP" altLang="en-US" sz="2400" smtClean="0">
                <a:latin typeface="Times New Roman" pitchFamily="18" charset="0"/>
                <a:ea typeface="ＭＳ Ｐゴシック" pitchFamily="34" charset="-128"/>
                <a:cs typeface="Times New Roman" pitchFamily="18" charset="0"/>
              </a:rPr>
              <a:t>”</a:t>
            </a:r>
            <a:r>
              <a:rPr lang="en-US" altLang="ja-JP" sz="2400" dirty="0" smtClean="0">
                <a:latin typeface="Times New Roman" pitchFamily="18" charset="0"/>
                <a:ea typeface="ＭＳ Ｐゴシック" pitchFamily="34" charset="-128"/>
                <a:cs typeface="Times New Roman" pitchFamily="18" charset="0"/>
              </a:rPr>
              <a:t> electronic computer entered the market</a:t>
            </a:r>
          </a:p>
          <a:p>
            <a:r>
              <a:rPr lang="en-US" altLang="ja-JP" sz="2400" dirty="0" smtClean="0">
                <a:latin typeface="Times New Roman" pitchFamily="18" charset="0"/>
                <a:ea typeface="ＭＳ Ｐゴシック" pitchFamily="34" charset="-128"/>
                <a:cs typeface="Times New Roman" pitchFamily="18" charset="0"/>
              </a:rPr>
              <a:t>The computer was manufactured in the United States.</a:t>
            </a:r>
          </a:p>
          <a:p>
            <a:pPr>
              <a:buFont typeface="Wingdings" pitchFamily="2" charset="2"/>
              <a:buNone/>
            </a:pPr>
            <a:endParaRPr lang="en-US" sz="2800" dirty="0" smtClean="0">
              <a:latin typeface="Times New Roman" pitchFamily="18" charset="0"/>
              <a:ea typeface="ＭＳ Ｐゴシック" pitchFamily="34" charset="-128"/>
              <a:cs typeface="Times New Roman" pitchFamily="18" charset="0"/>
            </a:endParaRP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rgbClr val="000066"/>
                </a:solidFill>
                <a:latin typeface="Arial" pitchFamily="34" charset="0"/>
                <a:ea typeface="ＭＳ Ｐゴシック" pitchFamily="34" charset="-128"/>
              </a:defRPr>
            </a:lvl1pPr>
            <a:lvl2pPr marL="742950" indent="-285750" eaLnBrk="0" hangingPunct="0">
              <a:defRPr>
                <a:solidFill>
                  <a:srgbClr val="000066"/>
                </a:solidFill>
                <a:latin typeface="Arial" pitchFamily="34" charset="0"/>
                <a:ea typeface="ＭＳ Ｐゴシック" pitchFamily="34" charset="-128"/>
              </a:defRPr>
            </a:lvl2pPr>
            <a:lvl3pPr marL="1143000" indent="-228600" eaLnBrk="0" hangingPunct="0">
              <a:defRPr>
                <a:solidFill>
                  <a:srgbClr val="000066"/>
                </a:solidFill>
                <a:latin typeface="Arial" pitchFamily="34" charset="0"/>
                <a:ea typeface="ＭＳ Ｐゴシック" pitchFamily="34" charset="-128"/>
              </a:defRPr>
            </a:lvl3pPr>
            <a:lvl4pPr marL="1600200" indent="-228600" eaLnBrk="0" hangingPunct="0">
              <a:defRPr>
                <a:solidFill>
                  <a:srgbClr val="000066"/>
                </a:solidFill>
                <a:latin typeface="Arial" pitchFamily="34" charset="0"/>
                <a:ea typeface="ＭＳ Ｐゴシック" pitchFamily="34" charset="-128"/>
              </a:defRPr>
            </a:lvl4pPr>
            <a:lvl5pPr marL="2057400" indent="-228600" eaLnBrk="0" hangingPunct="0">
              <a:defRPr>
                <a:solidFill>
                  <a:srgbClr val="000066"/>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rgbClr val="000066"/>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rgbClr val="000066"/>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rgbClr val="000066"/>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rgbClr val="000066"/>
                </a:solidFill>
                <a:latin typeface="Arial" pitchFamily="34" charset="0"/>
                <a:ea typeface="ＭＳ Ｐゴシック" pitchFamily="34" charset="-128"/>
              </a:defRPr>
            </a:lvl9pPr>
          </a:lstStyle>
          <a:p>
            <a:pPr eaLnBrk="1" hangingPunct="1"/>
            <a:fld id="{3B77C5C3-BAD2-4C70-ABA8-49AC38E916D8}" type="slidenum">
              <a:rPr lang="en-US" smtClean="0">
                <a:solidFill>
                  <a:schemeClr val="tx1"/>
                </a:solidFill>
              </a:rPr>
              <a:pPr eaLnBrk="1" hangingPunct="1"/>
              <a:t>13</a:t>
            </a:fld>
            <a:endParaRPr lang="en-US" smtClean="0">
              <a:solidFill>
                <a:schemeClr val="tx1"/>
              </a:solidFill>
            </a:endParaRP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4876800" y="1752600"/>
            <a:ext cx="3940781" cy="38100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What is wireless?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342900" lvl="1" indent="-342900">
              <a:buFont typeface="Arial" pitchFamily="34" charset="0"/>
              <a:buChar char="•"/>
            </a:pPr>
            <a:r>
              <a:rPr lang="en-US" dirty="0" smtClean="0">
                <a:latin typeface="Times New Roman" pitchFamily="18" charset="0"/>
                <a:cs typeface="Times New Roman" pitchFamily="18" charset="0"/>
              </a:rPr>
              <a:t>Wireless simply means anything without wire</a:t>
            </a:r>
          </a:p>
          <a:p>
            <a:pPr marL="342900" lvl="1" indent="-342900">
              <a:buFont typeface="Arial" pitchFamily="34" charset="0"/>
              <a:buChar char="•"/>
            </a:pPr>
            <a:r>
              <a:rPr lang="en-US" dirty="0" smtClean="0">
                <a:latin typeface="Times New Roman" pitchFamily="18" charset="0"/>
                <a:cs typeface="Times New Roman" pitchFamily="18" charset="0"/>
              </a:rPr>
              <a:t>Wireless is a term used to describe telecommunications in which electromagnetic waves carry the signal over part or all of the communication path.</a:t>
            </a:r>
          </a:p>
          <a:p>
            <a:pPr marL="342900" lvl="1" indent="-342900">
              <a:buFont typeface="Arial" pitchFamily="34" charset="0"/>
              <a:buChar char="•"/>
            </a:pPr>
            <a:endParaRPr lang="en-US" dirty="0" smtClean="0">
              <a:latin typeface="Times New Roman" pitchFamily="18" charset="0"/>
              <a:cs typeface="Times New Roman" pitchFamily="18" charset="0"/>
            </a:endParaRPr>
          </a:p>
          <a:p>
            <a:pPr marL="342900" lvl="1" indent="-342900">
              <a:buFont typeface="Arial" pitchFamily="34" charset="0"/>
              <a:buChar char="•"/>
            </a:pPr>
            <a:r>
              <a:rPr lang="en-US" dirty="0" smtClean="0">
                <a:latin typeface="Times New Roman" pitchFamily="18" charset="0"/>
                <a:cs typeface="Times New Roman" pitchFamily="18" charset="0"/>
              </a:rPr>
              <a:t>1896 Marconi recognized that longer waves propagate over larger distances and demonstrates a communication set-up over 3km</a:t>
            </a: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5105400"/>
          </a:xfrm>
        </p:spPr>
        <p:txBody>
          <a:bodyPr>
            <a:noAutofit/>
          </a:bodyPr>
          <a:lstStyle/>
          <a:p>
            <a:r>
              <a:rPr lang="en-US" sz="2400" dirty="0" smtClean="0">
                <a:latin typeface="Times New Roman" pitchFamily="18" charset="0"/>
                <a:cs typeface="Times New Roman" pitchFamily="18" charset="0"/>
              </a:rPr>
              <a:t>1896 - 1901 - Guglielmo Marconi</a:t>
            </a:r>
          </a:p>
          <a:p>
            <a:pPr lvl="1"/>
            <a:r>
              <a:rPr lang="en-US" sz="2400" dirty="0" smtClean="0">
                <a:latin typeface="Times New Roman" pitchFamily="18" charset="0"/>
                <a:cs typeface="Times New Roman" pitchFamily="18" charset="0"/>
              </a:rPr>
              <a:t>first demonstration of wireless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telegraphy (Morse code - digital)</a:t>
            </a:r>
          </a:p>
          <a:p>
            <a:pPr lvl="1"/>
            <a:r>
              <a:rPr lang="en-US" sz="2400" dirty="0" smtClean="0">
                <a:latin typeface="Times New Roman" pitchFamily="18" charset="0"/>
                <a:cs typeface="Times New Roman" pitchFamily="18" charset="0"/>
              </a:rPr>
              <a:t>long wave transmission over longer distances (transatlantic) at an operating frequency of 1MHz</a:t>
            </a:r>
          </a:p>
          <a:p>
            <a:pPr lvl="1"/>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1906 - 1</a:t>
            </a:r>
            <a:r>
              <a:rPr lang="en-US" sz="2400" baseline="30000" dirty="0" smtClean="0">
                <a:latin typeface="Times New Roman" pitchFamily="18" charset="0"/>
                <a:cs typeface="Times New Roman" pitchFamily="18" charset="0"/>
              </a:rPr>
              <a:t>st</a:t>
            </a:r>
            <a:r>
              <a:rPr lang="en-US" sz="2400" dirty="0" smtClean="0">
                <a:latin typeface="Times New Roman" pitchFamily="18" charset="0"/>
                <a:cs typeface="Times New Roman" pitchFamily="18" charset="0"/>
              </a:rPr>
              <a:t> World Admin. Radio Conf. (WARC -&gt; WRC)</a:t>
            </a:r>
          </a:p>
          <a:p>
            <a:pPr lvl="1"/>
            <a:r>
              <a:rPr lang="en-US" sz="2400" dirty="0" smtClean="0">
                <a:latin typeface="Times New Roman" pitchFamily="18" charset="0"/>
                <a:cs typeface="Times New Roman" pitchFamily="18" charset="0"/>
              </a:rPr>
              <a:t>increasing popularity of radio systems and their extended use</a:t>
            </a:r>
          </a:p>
          <a:p>
            <a:pPr lvl="1"/>
            <a:r>
              <a:rPr lang="en-US" sz="2400" dirty="0" smtClean="0">
                <a:latin typeface="Times New Roman" pitchFamily="18" charset="0"/>
                <a:cs typeface="Times New Roman" pitchFamily="18" charset="0"/>
              </a:rPr>
              <a:t>ability to define BW using filters led to spectrum control</a:t>
            </a:r>
          </a:p>
          <a:p>
            <a:pPr lvl="1"/>
            <a:r>
              <a:rPr lang="en-US" sz="2400" dirty="0" smtClean="0">
                <a:latin typeface="Times New Roman" pitchFamily="18" charset="0"/>
                <a:cs typeface="Times New Roman" pitchFamily="18" charset="0"/>
              </a:rPr>
              <a:t>recommendations for the assignment of RF bands</a:t>
            </a:r>
          </a:p>
          <a:p>
            <a:r>
              <a:rPr lang="en-US" sz="2400" dirty="0" smtClean="0">
                <a:latin typeface="Times New Roman" pitchFamily="18" charset="0"/>
                <a:cs typeface="Times New Roman" pitchFamily="18" charset="0"/>
              </a:rPr>
              <a:t>1933 - Frequency modulation (E. H. Armstrong)</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1907 - Commercial transatlantic connections</a:t>
            </a:r>
          </a:p>
          <a:p>
            <a:pPr lvl="1"/>
            <a:r>
              <a:rPr lang="en-US" sz="2400" dirty="0" smtClean="0">
                <a:latin typeface="Times New Roman" pitchFamily="18" charset="0"/>
                <a:cs typeface="Times New Roman" pitchFamily="18" charset="0"/>
              </a:rPr>
              <a:t>huge base stations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(30 100m high antennas)</a:t>
            </a:r>
          </a:p>
          <a:p>
            <a:pPr lvl="1"/>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1915-Wireless voice transmission N.Y. - San Francisco</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1920- Discovery of short waves by Marconi</a:t>
            </a:r>
          </a:p>
          <a:p>
            <a:pPr lvl="1"/>
            <a:r>
              <a:rPr lang="en-US" sz="2400" dirty="0" smtClean="0">
                <a:latin typeface="Times New Roman" pitchFamily="18" charset="0"/>
                <a:cs typeface="Times New Roman" pitchFamily="18" charset="0"/>
              </a:rPr>
              <a:t>reflection at the ionosphere</a:t>
            </a:r>
          </a:p>
          <a:p>
            <a:pPr lvl="1"/>
            <a:r>
              <a:rPr lang="en-US" sz="2400" dirty="0" smtClean="0">
                <a:latin typeface="Times New Roman" pitchFamily="18" charset="0"/>
                <a:cs typeface="Times New Roman" pitchFamily="18" charset="0"/>
              </a:rPr>
              <a:t>smaller sender and receiver -&gt; due to the invention of the vacuum tube (1906 - Lee </a:t>
            </a:r>
            <a:r>
              <a:rPr lang="en-US" sz="2400" dirty="0" err="1" smtClean="0">
                <a:latin typeface="Times New Roman" pitchFamily="18" charset="0"/>
                <a:cs typeface="Times New Roman" pitchFamily="18" charset="0"/>
              </a:rPr>
              <a:t>DeForest</a:t>
            </a:r>
            <a:r>
              <a:rPr lang="en-US" sz="2400" dirty="0" smtClean="0">
                <a:latin typeface="Times New Roman" pitchFamily="18" charset="0"/>
                <a:cs typeface="Times New Roman" pitchFamily="18" charset="0"/>
              </a:rPr>
              <a:t> and Robert von </a:t>
            </a:r>
            <a:r>
              <a:rPr lang="en-US" sz="2400" dirty="0" err="1" smtClean="0">
                <a:latin typeface="Times New Roman" pitchFamily="18" charset="0"/>
                <a:cs typeface="Times New Roman" pitchFamily="18" charset="0"/>
              </a:rPr>
              <a:t>Lieben</a:t>
            </a:r>
            <a:r>
              <a:rPr lang="en-US" sz="2400"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nSpc>
                <a:spcPct val="90000"/>
              </a:lnSpc>
              <a:spcBef>
                <a:spcPts val="800"/>
              </a:spcBef>
            </a:pPr>
            <a:r>
              <a:rPr lang="en-US" dirty="0" smtClean="0">
                <a:latin typeface="Times New Roman" pitchFamily="18" charset="0"/>
                <a:cs typeface="Times New Roman" pitchFamily="18" charset="0"/>
              </a:rPr>
              <a:t>1946 - Mobile Telephone Service (MTS) in US</a:t>
            </a:r>
            <a:r>
              <a:rPr lang="en-US" dirty="0" smtClean="0">
                <a:solidFill>
                  <a:srgbClr val="000000"/>
                </a:solidFill>
                <a:latin typeface="Times New Roman" pitchFamily="18" charset="0"/>
                <a:cs typeface="Times New Roman" pitchFamily="18" charset="0"/>
              </a:rPr>
              <a:t> </a:t>
            </a:r>
          </a:p>
          <a:p>
            <a:pPr lvl="1">
              <a:lnSpc>
                <a:spcPct val="90000"/>
              </a:lnSpc>
            </a:pPr>
            <a:r>
              <a:rPr lang="en-US" dirty="0" smtClean="0">
                <a:latin typeface="Times New Roman" pitchFamily="18" charset="0"/>
                <a:cs typeface="Times New Roman" pitchFamily="18" charset="0"/>
              </a:rPr>
              <a:t>introduced in 1946, it allowed telephone calls between fixed stations and mobile users through the mobile operator </a:t>
            </a:r>
          </a:p>
          <a:p>
            <a:pPr lvl="1">
              <a:lnSpc>
                <a:spcPct val="90000"/>
              </a:lnSpc>
            </a:pPr>
            <a:r>
              <a:rPr lang="en-US" dirty="0" smtClean="0">
                <a:latin typeface="Times New Roman" pitchFamily="18" charset="0"/>
                <a:cs typeface="Times New Roman" pitchFamily="18" charset="0"/>
              </a:rPr>
              <a:t>one single powerful transmitter/receiver (base station) provided coverage of up to 50km</a:t>
            </a:r>
          </a:p>
          <a:p>
            <a:pPr lvl="1">
              <a:lnSpc>
                <a:spcPct val="90000"/>
              </a:lnSpc>
            </a:pPr>
            <a:r>
              <a:rPr lang="en-US" dirty="0" smtClean="0">
                <a:latin typeface="Times New Roman" pitchFamily="18" charset="0"/>
                <a:cs typeface="Times New Roman" pitchFamily="18" charset="0"/>
              </a:rPr>
              <a:t>based on FM technology, each voice channel of 3kHz used 120KHz of spectrum, and only half duplex service was available </a:t>
            </a:r>
          </a:p>
          <a:p>
            <a:pPr lvl="1">
              <a:lnSpc>
                <a:spcPct val="90000"/>
              </a:lnSpc>
            </a:pPr>
            <a:r>
              <a:rPr lang="en-US" dirty="0" smtClean="0">
                <a:latin typeface="Times New Roman" pitchFamily="18" charset="0"/>
                <a:cs typeface="Times New Roman" pitchFamily="18" charset="0"/>
              </a:rPr>
              <a:t>blocking probabilities were as high as 65% (only 12 simultaneous calls could be handled!)</a:t>
            </a:r>
            <a:r>
              <a:rPr lang="en-US" dirty="0" smtClean="0">
                <a:solidFill>
                  <a:srgbClr val="000000"/>
                </a:solidFill>
                <a:latin typeface="Times New Roman" pitchFamily="18" charset="0"/>
                <a:cs typeface="Times New Roman" pitchFamily="18" charset="0"/>
              </a:rPr>
              <a:t> </a:t>
            </a: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90000"/>
              </a:lnSpc>
            </a:pPr>
            <a:r>
              <a:rPr lang="en-US" dirty="0" smtClean="0">
                <a:latin typeface="Times New Roman" pitchFamily="18" charset="0"/>
                <a:cs typeface="Times New Roman" pitchFamily="18" charset="0"/>
              </a:rPr>
              <a:t>1958	 - A-</a:t>
            </a:r>
            <a:r>
              <a:rPr lang="en-US" dirty="0" err="1" smtClean="0">
                <a:latin typeface="Times New Roman" pitchFamily="18" charset="0"/>
                <a:cs typeface="Times New Roman" pitchFamily="18" charset="0"/>
              </a:rPr>
              <a:t>Netz</a:t>
            </a:r>
            <a:r>
              <a:rPr lang="en-US" dirty="0" smtClean="0">
                <a:latin typeface="Times New Roman" pitchFamily="18" charset="0"/>
                <a:cs typeface="Times New Roman" pitchFamily="18" charset="0"/>
              </a:rPr>
              <a:t> in Germany at 160MHz</a:t>
            </a:r>
          </a:p>
          <a:p>
            <a:pPr lvl="1">
              <a:lnSpc>
                <a:spcPct val="90000"/>
              </a:lnSpc>
            </a:pPr>
            <a:r>
              <a:rPr lang="en-US" dirty="0" smtClean="0">
                <a:latin typeface="Times New Roman" pitchFamily="18" charset="0"/>
                <a:cs typeface="Times New Roman" pitchFamily="18" charset="0"/>
              </a:rPr>
              <a:t>analog cellular, connection setup only from the mobile station, no handover, 80% coverage, 1971 only 11000 customers</a:t>
            </a:r>
          </a:p>
          <a:p>
            <a:pPr>
              <a:lnSpc>
                <a:spcPct val="90000"/>
              </a:lnSpc>
            </a:pPr>
            <a:r>
              <a:rPr lang="en-US" dirty="0" smtClean="0">
                <a:latin typeface="Times New Roman" pitchFamily="18" charset="0"/>
                <a:cs typeface="Times New Roman" pitchFamily="18" charset="0"/>
              </a:rPr>
              <a:t>1972	 - B-</a:t>
            </a:r>
            <a:r>
              <a:rPr lang="en-US" dirty="0" err="1" smtClean="0">
                <a:latin typeface="Times New Roman" pitchFamily="18" charset="0"/>
                <a:cs typeface="Times New Roman" pitchFamily="18" charset="0"/>
              </a:rPr>
              <a:t>Netz</a:t>
            </a:r>
            <a:r>
              <a:rPr lang="en-US" dirty="0" smtClean="0">
                <a:latin typeface="Times New Roman" pitchFamily="18" charset="0"/>
                <a:cs typeface="Times New Roman" pitchFamily="18" charset="0"/>
              </a:rPr>
              <a:t> in Germany at 160MHz</a:t>
            </a:r>
          </a:p>
          <a:p>
            <a:pPr lvl="1">
              <a:lnSpc>
                <a:spcPct val="90000"/>
              </a:lnSpc>
            </a:pPr>
            <a:r>
              <a:rPr lang="en-US" dirty="0" smtClean="0">
                <a:latin typeface="Times New Roman" pitchFamily="18" charset="0"/>
                <a:cs typeface="Times New Roman" pitchFamily="18" charset="0"/>
              </a:rPr>
              <a:t>connection setup from the fixed network (location of the mobile station had to be known)</a:t>
            </a:r>
            <a:endParaRPr lang="en-US" dirty="0" smtClean="0">
              <a:solidFill>
                <a:srgbClr val="000000"/>
              </a:solidFill>
              <a:latin typeface="Times New Roman" pitchFamily="18" charset="0"/>
              <a:cs typeface="Times New Roman" pitchFamily="18" charset="0"/>
            </a:endParaRPr>
          </a:p>
          <a:p>
            <a:endParaRPr lang="en-US" dirty="0"/>
          </a:p>
        </p:txBody>
      </p:sp>
      <p:sp>
        <p:nvSpPr>
          <p:cNvPr id="5" name="Slide Number Placeholder 4"/>
          <p:cNvSpPr>
            <a:spLocks noGrp="1"/>
          </p:cNvSpPr>
          <p:nvPr>
            <p:ph type="sldNum" sz="quarter" idx="12"/>
          </p:nvPr>
        </p:nvSpPr>
        <p:spPr/>
        <p:txBody>
          <a:bodyPr/>
          <a:lstStyle/>
          <a:p>
            <a:fld id="{B0463075-33AF-4FC3-B90F-61AFAD45E32E}"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4" name="Group 32"/>
          <p:cNvGrpSpPr>
            <a:grpSpLocks noGrp="1"/>
          </p:cNvGrpSpPr>
          <p:nvPr/>
        </p:nvGrpSpPr>
        <p:grpSpPr bwMode="auto">
          <a:xfrm>
            <a:off x="457200" y="1600200"/>
            <a:ext cx="8162255" cy="4525963"/>
            <a:chOff x="384" y="816"/>
            <a:chExt cx="4848" cy="2928"/>
          </a:xfrm>
        </p:grpSpPr>
        <p:grpSp>
          <p:nvGrpSpPr>
            <p:cNvPr id="5" name="Group 3"/>
            <p:cNvGrpSpPr>
              <a:grpSpLocks/>
            </p:cNvGrpSpPr>
            <p:nvPr/>
          </p:nvGrpSpPr>
          <p:grpSpPr bwMode="auto">
            <a:xfrm>
              <a:off x="384" y="1248"/>
              <a:ext cx="4848" cy="2496"/>
              <a:chOff x="384" y="1008"/>
              <a:chExt cx="4848" cy="2496"/>
            </a:xfrm>
          </p:grpSpPr>
          <p:sp>
            <p:nvSpPr>
              <p:cNvPr id="32" name="Oval 4"/>
              <p:cNvSpPr>
                <a:spLocks noChangeArrowheads="1"/>
              </p:cNvSpPr>
              <p:nvPr/>
            </p:nvSpPr>
            <p:spPr bwMode="auto">
              <a:xfrm>
                <a:off x="384" y="1008"/>
                <a:ext cx="4848" cy="2496"/>
              </a:xfrm>
              <a:prstGeom prst="ellipse">
                <a:avLst/>
              </a:prstGeom>
              <a:solidFill>
                <a:srgbClr val="CCFFFF"/>
              </a:solidFill>
              <a:ln w="9525">
                <a:solidFill>
                  <a:schemeClr val="tx1"/>
                </a:solidFill>
                <a:round/>
                <a:headEnd/>
                <a:tailEnd/>
              </a:ln>
            </p:spPr>
            <p:txBody>
              <a:bodyPr wrap="none" anchor="ctr"/>
              <a:lstStyle/>
              <a:p>
                <a:endParaRPr lang="en-US">
                  <a:solidFill>
                    <a:srgbClr val="FF0000"/>
                  </a:solidFill>
                </a:endParaRPr>
              </a:p>
            </p:txBody>
          </p:sp>
          <p:sp>
            <p:nvSpPr>
              <p:cNvPr id="33" name="Text Box 5"/>
              <p:cNvSpPr txBox="1">
                <a:spLocks noChangeArrowheads="1"/>
              </p:cNvSpPr>
              <p:nvPr/>
            </p:nvSpPr>
            <p:spPr bwMode="auto">
              <a:xfrm>
                <a:off x="4518" y="1968"/>
                <a:ext cx="507" cy="378"/>
              </a:xfrm>
              <a:prstGeom prst="rect">
                <a:avLst/>
              </a:prstGeom>
              <a:noFill/>
              <a:ln w="9525">
                <a:noFill/>
                <a:miter lim="800000"/>
                <a:headEnd/>
                <a:tailEnd/>
              </a:ln>
            </p:spPr>
            <p:txBody>
              <a:bodyPr wrap="none">
                <a:spAutoFit/>
              </a:bodyPr>
              <a:lstStyle/>
              <a:p>
                <a:r>
                  <a:rPr lang="en-US" sz="1600">
                    <a:solidFill>
                      <a:srgbClr val="FF0000"/>
                    </a:solidFill>
                  </a:rPr>
                  <a:t>Satellite</a:t>
                </a:r>
              </a:p>
              <a:p>
                <a:r>
                  <a:rPr lang="en-US" sz="1600">
                    <a:solidFill>
                      <a:srgbClr val="FF0000"/>
                    </a:solidFill>
                  </a:rPr>
                  <a:t>Links</a:t>
                </a:r>
              </a:p>
            </p:txBody>
          </p:sp>
        </p:grpSp>
        <p:grpSp>
          <p:nvGrpSpPr>
            <p:cNvPr id="6" name="Group 6"/>
            <p:cNvGrpSpPr>
              <a:grpSpLocks/>
            </p:cNvGrpSpPr>
            <p:nvPr/>
          </p:nvGrpSpPr>
          <p:grpSpPr bwMode="auto">
            <a:xfrm>
              <a:off x="384" y="1536"/>
              <a:ext cx="4128" cy="1920"/>
              <a:chOff x="384" y="1296"/>
              <a:chExt cx="4128" cy="1920"/>
            </a:xfrm>
          </p:grpSpPr>
          <p:sp>
            <p:nvSpPr>
              <p:cNvPr id="30" name="Oval 7"/>
              <p:cNvSpPr>
                <a:spLocks noChangeArrowheads="1"/>
              </p:cNvSpPr>
              <p:nvPr/>
            </p:nvSpPr>
            <p:spPr bwMode="auto">
              <a:xfrm>
                <a:off x="384" y="1296"/>
                <a:ext cx="4128" cy="1920"/>
              </a:xfrm>
              <a:prstGeom prst="ellipse">
                <a:avLst/>
              </a:prstGeom>
              <a:solidFill>
                <a:srgbClr val="00CCFF"/>
              </a:solidFill>
              <a:ln w="9525">
                <a:solidFill>
                  <a:schemeClr val="tx1"/>
                </a:solidFill>
                <a:round/>
                <a:headEnd/>
                <a:tailEnd/>
              </a:ln>
            </p:spPr>
            <p:txBody>
              <a:bodyPr wrap="none" anchor="ctr"/>
              <a:lstStyle/>
              <a:p>
                <a:endParaRPr lang="en-US">
                  <a:solidFill>
                    <a:srgbClr val="FF0000"/>
                  </a:solidFill>
                </a:endParaRPr>
              </a:p>
            </p:txBody>
          </p:sp>
          <p:sp>
            <p:nvSpPr>
              <p:cNvPr id="31" name="Text Box 8"/>
              <p:cNvSpPr txBox="1">
                <a:spLocks noChangeArrowheads="1"/>
              </p:cNvSpPr>
              <p:nvPr/>
            </p:nvSpPr>
            <p:spPr bwMode="auto">
              <a:xfrm>
                <a:off x="4111" y="1968"/>
                <a:ext cx="391" cy="378"/>
              </a:xfrm>
              <a:prstGeom prst="rect">
                <a:avLst/>
              </a:prstGeom>
              <a:noFill/>
              <a:ln w="9525">
                <a:noFill/>
                <a:miter lim="800000"/>
                <a:headEnd/>
                <a:tailEnd/>
              </a:ln>
            </p:spPr>
            <p:txBody>
              <a:bodyPr wrap="none">
                <a:spAutoFit/>
              </a:bodyPr>
              <a:lstStyle/>
              <a:p>
                <a:r>
                  <a:rPr lang="en-US" sz="1600">
                    <a:solidFill>
                      <a:srgbClr val="FF0000"/>
                    </a:solidFill>
                  </a:rPr>
                  <a:t>SW</a:t>
                </a:r>
              </a:p>
              <a:p>
                <a:r>
                  <a:rPr lang="en-US" sz="1600">
                    <a:solidFill>
                      <a:srgbClr val="FF0000"/>
                    </a:solidFill>
                  </a:rPr>
                  <a:t>Radio</a:t>
                </a:r>
              </a:p>
            </p:txBody>
          </p:sp>
        </p:grpSp>
        <p:grpSp>
          <p:nvGrpSpPr>
            <p:cNvPr id="7" name="Group 9"/>
            <p:cNvGrpSpPr>
              <a:grpSpLocks/>
            </p:cNvGrpSpPr>
            <p:nvPr/>
          </p:nvGrpSpPr>
          <p:grpSpPr bwMode="auto">
            <a:xfrm>
              <a:off x="384" y="1680"/>
              <a:ext cx="3792" cy="1728"/>
              <a:chOff x="384" y="1440"/>
              <a:chExt cx="3792" cy="1728"/>
            </a:xfrm>
          </p:grpSpPr>
          <p:sp>
            <p:nvSpPr>
              <p:cNvPr id="28" name="Text Box 10"/>
              <p:cNvSpPr txBox="1">
                <a:spLocks noChangeArrowheads="1"/>
              </p:cNvSpPr>
              <p:nvPr/>
            </p:nvSpPr>
            <p:spPr bwMode="auto">
              <a:xfrm>
                <a:off x="3696" y="1968"/>
                <a:ext cx="391" cy="378"/>
              </a:xfrm>
              <a:prstGeom prst="rect">
                <a:avLst/>
              </a:prstGeom>
              <a:noFill/>
              <a:ln w="9525">
                <a:noFill/>
                <a:miter lim="800000"/>
                <a:headEnd/>
                <a:tailEnd/>
              </a:ln>
            </p:spPr>
            <p:txBody>
              <a:bodyPr wrap="none">
                <a:spAutoFit/>
              </a:bodyPr>
              <a:lstStyle/>
              <a:p>
                <a:r>
                  <a:rPr lang="en-US" sz="1600">
                    <a:solidFill>
                      <a:srgbClr val="FF0000"/>
                    </a:solidFill>
                  </a:rPr>
                  <a:t>MW</a:t>
                </a:r>
              </a:p>
              <a:p>
                <a:r>
                  <a:rPr lang="en-US" sz="1600">
                    <a:solidFill>
                      <a:srgbClr val="FF0000"/>
                    </a:solidFill>
                  </a:rPr>
                  <a:t>Radio</a:t>
                </a:r>
              </a:p>
            </p:txBody>
          </p:sp>
          <p:sp>
            <p:nvSpPr>
              <p:cNvPr id="29" name="Oval 11"/>
              <p:cNvSpPr>
                <a:spLocks noChangeArrowheads="1"/>
              </p:cNvSpPr>
              <p:nvPr/>
            </p:nvSpPr>
            <p:spPr bwMode="auto">
              <a:xfrm>
                <a:off x="384" y="1440"/>
                <a:ext cx="3792" cy="1728"/>
              </a:xfrm>
              <a:prstGeom prst="ellipse">
                <a:avLst/>
              </a:prstGeom>
              <a:noFill/>
              <a:ln w="9525">
                <a:solidFill>
                  <a:schemeClr val="tx1"/>
                </a:solidFill>
                <a:round/>
                <a:headEnd/>
                <a:tailEnd/>
              </a:ln>
            </p:spPr>
            <p:txBody>
              <a:bodyPr wrap="none" anchor="ctr"/>
              <a:lstStyle/>
              <a:p>
                <a:endParaRPr lang="en-US">
                  <a:solidFill>
                    <a:srgbClr val="FF0000"/>
                  </a:solidFill>
                </a:endParaRPr>
              </a:p>
            </p:txBody>
          </p:sp>
        </p:grpSp>
        <p:grpSp>
          <p:nvGrpSpPr>
            <p:cNvPr id="8" name="Group 12"/>
            <p:cNvGrpSpPr>
              <a:grpSpLocks/>
            </p:cNvGrpSpPr>
            <p:nvPr/>
          </p:nvGrpSpPr>
          <p:grpSpPr bwMode="auto">
            <a:xfrm>
              <a:off x="384" y="1728"/>
              <a:ext cx="3312" cy="1536"/>
              <a:chOff x="384" y="1488"/>
              <a:chExt cx="3312" cy="1536"/>
            </a:xfrm>
          </p:grpSpPr>
          <p:sp>
            <p:nvSpPr>
              <p:cNvPr id="26" name="Text Box 13"/>
              <p:cNvSpPr txBox="1">
                <a:spLocks noChangeArrowheads="1"/>
              </p:cNvSpPr>
              <p:nvPr/>
            </p:nvSpPr>
            <p:spPr bwMode="auto">
              <a:xfrm>
                <a:off x="3295" y="1986"/>
                <a:ext cx="391" cy="378"/>
              </a:xfrm>
              <a:prstGeom prst="rect">
                <a:avLst/>
              </a:prstGeom>
              <a:noFill/>
              <a:ln w="9525">
                <a:noFill/>
                <a:miter lim="800000"/>
                <a:headEnd/>
                <a:tailEnd/>
              </a:ln>
            </p:spPr>
            <p:txBody>
              <a:bodyPr wrap="none">
                <a:spAutoFit/>
              </a:bodyPr>
              <a:lstStyle/>
              <a:p>
                <a:r>
                  <a:rPr lang="en-US" sz="1600">
                    <a:solidFill>
                      <a:srgbClr val="FF0000"/>
                    </a:solidFill>
                  </a:rPr>
                  <a:t>FM</a:t>
                </a:r>
              </a:p>
              <a:p>
                <a:r>
                  <a:rPr lang="en-US" sz="1600">
                    <a:solidFill>
                      <a:srgbClr val="FF0000"/>
                    </a:solidFill>
                  </a:rPr>
                  <a:t>Radio</a:t>
                </a:r>
              </a:p>
            </p:txBody>
          </p:sp>
          <p:sp>
            <p:nvSpPr>
              <p:cNvPr id="27" name="Oval 14"/>
              <p:cNvSpPr>
                <a:spLocks noChangeArrowheads="1"/>
              </p:cNvSpPr>
              <p:nvPr/>
            </p:nvSpPr>
            <p:spPr bwMode="auto">
              <a:xfrm>
                <a:off x="384" y="1488"/>
                <a:ext cx="3312" cy="1536"/>
              </a:xfrm>
              <a:prstGeom prst="ellipse">
                <a:avLst/>
              </a:prstGeom>
              <a:noFill/>
              <a:ln w="9525">
                <a:solidFill>
                  <a:schemeClr val="tx1"/>
                </a:solidFill>
                <a:round/>
                <a:headEnd/>
                <a:tailEnd/>
              </a:ln>
            </p:spPr>
            <p:txBody>
              <a:bodyPr wrap="none" anchor="ctr"/>
              <a:lstStyle/>
              <a:p>
                <a:endParaRPr lang="en-US">
                  <a:solidFill>
                    <a:srgbClr val="FF0000"/>
                  </a:solidFill>
                </a:endParaRPr>
              </a:p>
            </p:txBody>
          </p:sp>
        </p:grpSp>
        <p:grpSp>
          <p:nvGrpSpPr>
            <p:cNvPr id="9" name="Group 15"/>
            <p:cNvGrpSpPr>
              <a:grpSpLocks/>
            </p:cNvGrpSpPr>
            <p:nvPr/>
          </p:nvGrpSpPr>
          <p:grpSpPr bwMode="auto">
            <a:xfrm>
              <a:off x="384" y="1872"/>
              <a:ext cx="2928" cy="1296"/>
              <a:chOff x="384" y="1632"/>
              <a:chExt cx="2928" cy="1296"/>
            </a:xfrm>
          </p:grpSpPr>
          <p:sp>
            <p:nvSpPr>
              <p:cNvPr id="24" name="Oval 16"/>
              <p:cNvSpPr>
                <a:spLocks noChangeArrowheads="1"/>
              </p:cNvSpPr>
              <p:nvPr/>
            </p:nvSpPr>
            <p:spPr bwMode="auto">
              <a:xfrm>
                <a:off x="384" y="1632"/>
                <a:ext cx="2928" cy="1296"/>
              </a:xfrm>
              <a:prstGeom prst="ellipse">
                <a:avLst/>
              </a:prstGeom>
              <a:solidFill>
                <a:srgbClr val="99CC00"/>
              </a:solidFill>
              <a:ln w="9525">
                <a:solidFill>
                  <a:schemeClr val="tx1"/>
                </a:solidFill>
                <a:round/>
                <a:headEnd/>
                <a:tailEnd/>
              </a:ln>
            </p:spPr>
            <p:txBody>
              <a:bodyPr wrap="none" anchor="ctr"/>
              <a:lstStyle/>
              <a:p>
                <a:endParaRPr lang="en-US">
                  <a:solidFill>
                    <a:srgbClr val="FF0000"/>
                  </a:solidFill>
                </a:endParaRPr>
              </a:p>
            </p:txBody>
          </p:sp>
          <p:sp>
            <p:nvSpPr>
              <p:cNvPr id="25" name="Text Box 17"/>
              <p:cNvSpPr txBox="1">
                <a:spLocks noChangeArrowheads="1"/>
              </p:cNvSpPr>
              <p:nvPr/>
            </p:nvSpPr>
            <p:spPr bwMode="auto">
              <a:xfrm>
                <a:off x="2564" y="1968"/>
                <a:ext cx="616" cy="378"/>
              </a:xfrm>
              <a:prstGeom prst="rect">
                <a:avLst/>
              </a:prstGeom>
              <a:noFill/>
              <a:ln w="9525">
                <a:noFill/>
                <a:miter lim="800000"/>
                <a:headEnd/>
                <a:tailEnd/>
              </a:ln>
            </p:spPr>
            <p:txBody>
              <a:bodyPr wrap="none">
                <a:spAutoFit/>
              </a:bodyPr>
              <a:lstStyle/>
              <a:p>
                <a:r>
                  <a:rPr lang="en-US" sz="1600">
                    <a:solidFill>
                      <a:srgbClr val="FF0000"/>
                    </a:solidFill>
                  </a:rPr>
                  <a:t>Mobile</a:t>
                </a:r>
              </a:p>
              <a:p>
                <a:r>
                  <a:rPr lang="en-US" sz="1600">
                    <a:solidFill>
                      <a:srgbClr val="FF0000"/>
                    </a:solidFill>
                  </a:rPr>
                  <a:t>Telephony</a:t>
                </a:r>
              </a:p>
            </p:txBody>
          </p:sp>
        </p:grpSp>
        <p:grpSp>
          <p:nvGrpSpPr>
            <p:cNvPr id="10" name="Group 18"/>
            <p:cNvGrpSpPr>
              <a:grpSpLocks/>
            </p:cNvGrpSpPr>
            <p:nvPr/>
          </p:nvGrpSpPr>
          <p:grpSpPr bwMode="auto">
            <a:xfrm>
              <a:off x="385" y="2219"/>
              <a:ext cx="1872" cy="624"/>
              <a:chOff x="384" y="1968"/>
              <a:chExt cx="1872" cy="624"/>
            </a:xfrm>
          </p:grpSpPr>
          <p:sp>
            <p:nvSpPr>
              <p:cNvPr id="22" name="Oval 19"/>
              <p:cNvSpPr>
                <a:spLocks noChangeArrowheads="1"/>
              </p:cNvSpPr>
              <p:nvPr/>
            </p:nvSpPr>
            <p:spPr bwMode="auto">
              <a:xfrm>
                <a:off x="384" y="1968"/>
                <a:ext cx="1872" cy="624"/>
              </a:xfrm>
              <a:prstGeom prst="ellipse">
                <a:avLst/>
              </a:prstGeom>
              <a:solidFill>
                <a:srgbClr val="FF9900"/>
              </a:solidFill>
              <a:ln w="9525">
                <a:solidFill>
                  <a:schemeClr val="tx1"/>
                </a:solidFill>
                <a:round/>
                <a:headEnd/>
                <a:tailEnd/>
              </a:ln>
            </p:spPr>
            <p:txBody>
              <a:bodyPr wrap="none" anchor="ctr"/>
              <a:lstStyle/>
              <a:p>
                <a:endParaRPr lang="en-US">
                  <a:solidFill>
                    <a:srgbClr val="FF0000"/>
                  </a:solidFill>
                </a:endParaRPr>
              </a:p>
            </p:txBody>
          </p:sp>
          <p:sp>
            <p:nvSpPr>
              <p:cNvPr id="23" name="Text Box 20"/>
              <p:cNvSpPr txBox="1">
                <a:spLocks noChangeArrowheads="1"/>
              </p:cNvSpPr>
              <p:nvPr/>
            </p:nvSpPr>
            <p:spPr bwMode="auto">
              <a:xfrm>
                <a:off x="1755" y="2160"/>
                <a:ext cx="467" cy="219"/>
              </a:xfrm>
              <a:prstGeom prst="rect">
                <a:avLst/>
              </a:prstGeom>
              <a:noFill/>
              <a:ln w="9525">
                <a:noFill/>
                <a:miter lim="800000"/>
                <a:headEnd/>
                <a:tailEnd/>
              </a:ln>
            </p:spPr>
            <p:txBody>
              <a:bodyPr wrap="none">
                <a:spAutoFit/>
              </a:bodyPr>
              <a:lstStyle/>
              <a:p>
                <a:r>
                  <a:rPr lang="en-US" sz="1600">
                    <a:solidFill>
                      <a:srgbClr val="FF0000"/>
                    </a:solidFill>
                  </a:rPr>
                  <a:t>WLANs</a:t>
                </a:r>
              </a:p>
            </p:txBody>
          </p:sp>
        </p:grpSp>
        <p:grpSp>
          <p:nvGrpSpPr>
            <p:cNvPr id="11" name="Group 21"/>
            <p:cNvGrpSpPr>
              <a:grpSpLocks/>
            </p:cNvGrpSpPr>
            <p:nvPr/>
          </p:nvGrpSpPr>
          <p:grpSpPr bwMode="auto">
            <a:xfrm>
              <a:off x="384" y="2352"/>
              <a:ext cx="1056" cy="384"/>
              <a:chOff x="384" y="2112"/>
              <a:chExt cx="1056" cy="384"/>
            </a:xfrm>
          </p:grpSpPr>
          <p:sp>
            <p:nvSpPr>
              <p:cNvPr id="20" name="Oval 22"/>
              <p:cNvSpPr>
                <a:spLocks noChangeArrowheads="1"/>
              </p:cNvSpPr>
              <p:nvPr/>
            </p:nvSpPr>
            <p:spPr bwMode="auto">
              <a:xfrm>
                <a:off x="384" y="2112"/>
                <a:ext cx="1056" cy="384"/>
              </a:xfrm>
              <a:prstGeom prst="ellipse">
                <a:avLst/>
              </a:prstGeom>
              <a:solidFill>
                <a:srgbClr val="FF99CC"/>
              </a:solidFill>
              <a:ln w="9525">
                <a:solidFill>
                  <a:schemeClr val="tx1"/>
                </a:solidFill>
                <a:round/>
                <a:headEnd/>
                <a:tailEnd/>
              </a:ln>
            </p:spPr>
            <p:txBody>
              <a:bodyPr wrap="none" anchor="ctr"/>
              <a:lstStyle/>
              <a:p>
                <a:endParaRPr lang="en-US">
                  <a:solidFill>
                    <a:srgbClr val="FF0000"/>
                  </a:solidFill>
                </a:endParaRPr>
              </a:p>
            </p:txBody>
          </p:sp>
          <p:sp>
            <p:nvSpPr>
              <p:cNvPr id="21" name="Text Box 23"/>
              <p:cNvSpPr txBox="1">
                <a:spLocks noChangeArrowheads="1"/>
              </p:cNvSpPr>
              <p:nvPr/>
            </p:nvSpPr>
            <p:spPr bwMode="auto">
              <a:xfrm>
                <a:off x="931" y="2205"/>
                <a:ext cx="507" cy="199"/>
              </a:xfrm>
              <a:prstGeom prst="rect">
                <a:avLst/>
              </a:prstGeom>
              <a:noFill/>
              <a:ln w="9525">
                <a:noFill/>
                <a:miter lim="800000"/>
                <a:headEnd/>
                <a:tailEnd/>
              </a:ln>
            </p:spPr>
            <p:txBody>
              <a:bodyPr wrap="none">
                <a:spAutoFit/>
              </a:bodyPr>
              <a:lstStyle/>
              <a:p>
                <a:r>
                  <a:rPr lang="en-US" sz="1400">
                    <a:solidFill>
                      <a:srgbClr val="FF0000"/>
                    </a:solidFill>
                  </a:rPr>
                  <a:t>Blueooth</a:t>
                </a:r>
              </a:p>
            </p:txBody>
          </p:sp>
        </p:grpSp>
        <p:sp>
          <p:nvSpPr>
            <p:cNvPr id="12" name="Line 24"/>
            <p:cNvSpPr>
              <a:spLocks noChangeShapeType="1"/>
            </p:cNvSpPr>
            <p:nvPr/>
          </p:nvSpPr>
          <p:spPr bwMode="auto">
            <a:xfrm>
              <a:off x="431" y="1085"/>
              <a:ext cx="4800" cy="0"/>
            </a:xfrm>
            <a:prstGeom prst="line">
              <a:avLst/>
            </a:prstGeom>
            <a:noFill/>
            <a:ln w="28575">
              <a:solidFill>
                <a:schemeClr val="tx2"/>
              </a:solidFill>
              <a:round/>
              <a:headEnd/>
              <a:tailEnd type="triangle" w="med" len="med"/>
            </a:ln>
          </p:spPr>
          <p:txBody>
            <a:bodyPr/>
            <a:lstStyle/>
            <a:p>
              <a:endParaRPr lang="en-US">
                <a:solidFill>
                  <a:srgbClr val="FF0000"/>
                </a:solidFill>
              </a:endParaRPr>
            </a:p>
          </p:txBody>
        </p:sp>
        <p:sp>
          <p:nvSpPr>
            <p:cNvPr id="13" name="Text Box 25"/>
            <p:cNvSpPr txBox="1">
              <a:spLocks noChangeArrowheads="1"/>
            </p:cNvSpPr>
            <p:nvPr/>
          </p:nvSpPr>
          <p:spPr bwMode="auto">
            <a:xfrm>
              <a:off x="4608" y="816"/>
              <a:ext cx="574" cy="219"/>
            </a:xfrm>
            <a:prstGeom prst="rect">
              <a:avLst/>
            </a:prstGeom>
            <a:noFill/>
            <a:ln w="9525">
              <a:noFill/>
              <a:miter lim="800000"/>
              <a:headEnd/>
              <a:tailEnd/>
            </a:ln>
          </p:spPr>
          <p:txBody>
            <a:bodyPr wrap="none">
              <a:spAutoFit/>
            </a:bodyPr>
            <a:lstStyle/>
            <a:p>
              <a:r>
                <a:rPr lang="en-US" sz="1600">
                  <a:solidFill>
                    <a:srgbClr val="FF0000"/>
                  </a:solidFill>
                </a:rPr>
                <a:t>1,000 Km</a:t>
              </a:r>
            </a:p>
          </p:txBody>
        </p:sp>
        <p:sp>
          <p:nvSpPr>
            <p:cNvPr id="14" name="Text Box 26"/>
            <p:cNvSpPr txBox="1">
              <a:spLocks noChangeArrowheads="1"/>
            </p:cNvSpPr>
            <p:nvPr/>
          </p:nvSpPr>
          <p:spPr bwMode="auto">
            <a:xfrm>
              <a:off x="3360" y="816"/>
              <a:ext cx="482" cy="219"/>
            </a:xfrm>
            <a:prstGeom prst="rect">
              <a:avLst/>
            </a:prstGeom>
            <a:noFill/>
            <a:ln w="9525">
              <a:noFill/>
              <a:miter lim="800000"/>
              <a:headEnd/>
              <a:tailEnd/>
            </a:ln>
          </p:spPr>
          <p:txBody>
            <a:bodyPr wrap="none">
              <a:spAutoFit/>
            </a:bodyPr>
            <a:lstStyle/>
            <a:p>
              <a:r>
                <a:rPr lang="en-US" sz="1600">
                  <a:solidFill>
                    <a:srgbClr val="FF0000"/>
                  </a:solidFill>
                </a:rPr>
                <a:t>100 Km</a:t>
              </a:r>
            </a:p>
          </p:txBody>
        </p:sp>
        <p:sp>
          <p:nvSpPr>
            <p:cNvPr id="15" name="Text Box 27"/>
            <p:cNvSpPr txBox="1">
              <a:spLocks noChangeArrowheads="1"/>
            </p:cNvSpPr>
            <p:nvPr/>
          </p:nvSpPr>
          <p:spPr bwMode="auto">
            <a:xfrm>
              <a:off x="2490" y="816"/>
              <a:ext cx="420" cy="219"/>
            </a:xfrm>
            <a:prstGeom prst="rect">
              <a:avLst/>
            </a:prstGeom>
            <a:noFill/>
            <a:ln w="9525">
              <a:noFill/>
              <a:miter lim="800000"/>
              <a:headEnd/>
              <a:tailEnd/>
            </a:ln>
          </p:spPr>
          <p:txBody>
            <a:bodyPr wrap="none">
              <a:spAutoFit/>
            </a:bodyPr>
            <a:lstStyle/>
            <a:p>
              <a:r>
                <a:rPr lang="en-US" sz="1600">
                  <a:solidFill>
                    <a:srgbClr val="FF0000"/>
                  </a:solidFill>
                </a:rPr>
                <a:t>10 Km</a:t>
              </a:r>
            </a:p>
          </p:txBody>
        </p:sp>
        <p:sp>
          <p:nvSpPr>
            <p:cNvPr id="16" name="Text Box 28"/>
            <p:cNvSpPr txBox="1">
              <a:spLocks noChangeArrowheads="1"/>
            </p:cNvSpPr>
            <p:nvPr/>
          </p:nvSpPr>
          <p:spPr bwMode="auto">
            <a:xfrm>
              <a:off x="1937" y="816"/>
              <a:ext cx="358" cy="219"/>
            </a:xfrm>
            <a:prstGeom prst="rect">
              <a:avLst/>
            </a:prstGeom>
            <a:noFill/>
            <a:ln w="9525">
              <a:noFill/>
              <a:miter lim="800000"/>
              <a:headEnd/>
              <a:tailEnd/>
            </a:ln>
          </p:spPr>
          <p:txBody>
            <a:bodyPr wrap="none">
              <a:spAutoFit/>
            </a:bodyPr>
            <a:lstStyle/>
            <a:p>
              <a:r>
                <a:rPr lang="en-US" sz="1600">
                  <a:solidFill>
                    <a:srgbClr val="FF0000"/>
                  </a:solidFill>
                </a:rPr>
                <a:t>1 Km</a:t>
              </a:r>
            </a:p>
          </p:txBody>
        </p:sp>
        <p:sp>
          <p:nvSpPr>
            <p:cNvPr id="17" name="Text Box 29"/>
            <p:cNvSpPr txBox="1">
              <a:spLocks noChangeArrowheads="1"/>
            </p:cNvSpPr>
            <p:nvPr/>
          </p:nvSpPr>
          <p:spPr bwMode="auto">
            <a:xfrm>
              <a:off x="1304" y="816"/>
              <a:ext cx="420" cy="219"/>
            </a:xfrm>
            <a:prstGeom prst="rect">
              <a:avLst/>
            </a:prstGeom>
            <a:noFill/>
            <a:ln w="9525">
              <a:noFill/>
              <a:miter lim="800000"/>
              <a:headEnd/>
              <a:tailEnd/>
            </a:ln>
          </p:spPr>
          <p:txBody>
            <a:bodyPr wrap="none">
              <a:spAutoFit/>
            </a:bodyPr>
            <a:lstStyle/>
            <a:p>
              <a:r>
                <a:rPr lang="en-US" sz="1600">
                  <a:solidFill>
                    <a:srgbClr val="FF0000"/>
                  </a:solidFill>
                </a:rPr>
                <a:t>100 m</a:t>
              </a:r>
            </a:p>
          </p:txBody>
        </p:sp>
        <p:sp>
          <p:nvSpPr>
            <p:cNvPr id="18" name="Text Box 30"/>
            <p:cNvSpPr txBox="1">
              <a:spLocks noChangeArrowheads="1"/>
            </p:cNvSpPr>
            <p:nvPr/>
          </p:nvSpPr>
          <p:spPr bwMode="auto">
            <a:xfrm>
              <a:off x="832" y="816"/>
              <a:ext cx="358" cy="219"/>
            </a:xfrm>
            <a:prstGeom prst="rect">
              <a:avLst/>
            </a:prstGeom>
            <a:noFill/>
            <a:ln w="9525">
              <a:noFill/>
              <a:miter lim="800000"/>
              <a:headEnd/>
              <a:tailEnd/>
            </a:ln>
          </p:spPr>
          <p:txBody>
            <a:bodyPr wrap="none">
              <a:spAutoFit/>
            </a:bodyPr>
            <a:lstStyle/>
            <a:p>
              <a:r>
                <a:rPr lang="en-US" sz="1600">
                  <a:solidFill>
                    <a:srgbClr val="FF0000"/>
                  </a:solidFill>
                </a:rPr>
                <a:t>10 m</a:t>
              </a:r>
            </a:p>
          </p:txBody>
        </p:sp>
        <p:sp>
          <p:nvSpPr>
            <p:cNvPr id="19" name="Text Box 31"/>
            <p:cNvSpPr txBox="1">
              <a:spLocks noChangeArrowheads="1"/>
            </p:cNvSpPr>
            <p:nvPr/>
          </p:nvSpPr>
          <p:spPr bwMode="auto">
            <a:xfrm>
              <a:off x="488" y="816"/>
              <a:ext cx="296" cy="219"/>
            </a:xfrm>
            <a:prstGeom prst="rect">
              <a:avLst/>
            </a:prstGeom>
            <a:noFill/>
            <a:ln w="9525">
              <a:noFill/>
              <a:miter lim="800000"/>
              <a:headEnd/>
              <a:tailEnd/>
            </a:ln>
          </p:spPr>
          <p:txBody>
            <a:bodyPr wrap="none">
              <a:spAutoFit/>
            </a:bodyPr>
            <a:lstStyle/>
            <a:p>
              <a:r>
                <a:rPr lang="en-US" sz="1600">
                  <a:solidFill>
                    <a:srgbClr val="FF0000"/>
                  </a:solidFill>
                </a:rPr>
                <a:t>1 m</a:t>
              </a:r>
            </a:p>
          </p:txBody>
        </p:sp>
      </p:grpSp>
      <p:sp>
        <p:nvSpPr>
          <p:cNvPr id="35" name="Slide Number Placeholder 34"/>
          <p:cNvSpPr>
            <a:spLocks noGrp="1"/>
          </p:cNvSpPr>
          <p:nvPr>
            <p:ph type="sldNum" sz="quarter" idx="12"/>
          </p:nvPr>
        </p:nvSpPr>
        <p:spPr/>
        <p:txBody>
          <a:bodyPr/>
          <a:lstStyle/>
          <a:p>
            <a:fld id="{B0463075-33AF-4FC3-B90F-61AFAD45E32E}"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smtClean="0">
                <a:latin typeface="Times New Roman" pitchFamily="18" charset="0"/>
                <a:cs typeface="Times New Roman" pitchFamily="18" charset="0"/>
              </a:rPr>
              <a:t>Bluetooth</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sz="2400" b="1" dirty="0" smtClean="0">
                <a:latin typeface="Times New Roman" pitchFamily="18" charset="0"/>
                <a:cs typeface="Times New Roman" pitchFamily="18" charset="0"/>
              </a:rPr>
              <a:t>Bluetooth</a:t>
            </a:r>
            <a:r>
              <a:rPr lang="en-US" sz="2400" dirty="0" smtClean="0">
                <a:latin typeface="Times New Roman" pitchFamily="18" charset="0"/>
                <a:cs typeface="Times New Roman" pitchFamily="18" charset="0"/>
              </a:rPr>
              <a:t> is a wireless technology standard for exchanging data over short distances </a:t>
            </a:r>
          </a:p>
          <a:p>
            <a:r>
              <a:rPr lang="en-US" sz="2400" dirty="0" smtClean="0">
                <a:latin typeface="Times New Roman" pitchFamily="18" charset="0"/>
                <a:cs typeface="Times New Roman" pitchFamily="18" charset="0"/>
              </a:rPr>
              <a:t>It operates between 2.4 and 2.485 GHz</a:t>
            </a:r>
          </a:p>
          <a:p>
            <a:r>
              <a:rPr lang="en-US" sz="2400" dirty="0" smtClean="0">
                <a:latin typeface="Times New Roman" pitchFamily="18" charset="0"/>
                <a:cs typeface="Times New Roman" pitchFamily="18" charset="0"/>
              </a:rPr>
              <a:t>Invented by Ericson in 1994</a:t>
            </a:r>
          </a:p>
          <a:p>
            <a:r>
              <a:rPr lang="en-US" sz="2400" dirty="0" smtClean="0">
                <a:latin typeface="Times New Roman" pitchFamily="18" charset="0"/>
                <a:cs typeface="Times New Roman" pitchFamily="18" charset="0"/>
              </a:rPr>
              <a:t>The IEEE standardized Bluetooth as </a:t>
            </a:r>
            <a:r>
              <a:rPr lang="en-US" sz="2400" b="1" dirty="0" smtClean="0">
                <a:latin typeface="Times New Roman" pitchFamily="18" charset="0"/>
                <a:cs typeface="Times New Roman" pitchFamily="18" charset="0"/>
              </a:rPr>
              <a:t>IEEE 802.15.1</a:t>
            </a:r>
            <a:r>
              <a:rPr lang="en-US" sz="2400" dirty="0" smtClean="0">
                <a:latin typeface="Times New Roman" pitchFamily="18" charset="0"/>
                <a:cs typeface="Times New Roman" pitchFamily="18" charset="0"/>
              </a:rPr>
              <a:t>, but no longer maintains the standard.</a:t>
            </a:r>
          </a:p>
          <a:p>
            <a:r>
              <a:rPr lang="en-US" sz="2400" dirty="0" smtClean="0">
                <a:latin typeface="Times New Roman" pitchFamily="18" charset="0"/>
                <a:cs typeface="Times New Roman" pitchFamily="18" charset="0"/>
              </a:rPr>
              <a:t>It was originally conceived as a wireless alternative to RS-232 data cables (DB 9)</a:t>
            </a:r>
          </a:p>
          <a:p>
            <a:r>
              <a:rPr lang="en-US" sz="2400" dirty="0" smtClean="0">
                <a:latin typeface="Times New Roman" pitchFamily="18" charset="0"/>
                <a:cs typeface="Times New Roman" pitchFamily="18" charset="0"/>
              </a:rPr>
              <a:t>Features: Low  power, easy to use, and low cost</a:t>
            </a:r>
          </a:p>
          <a:p>
            <a:r>
              <a:rPr lang="en-US" sz="2400" dirty="0" smtClean="0">
                <a:latin typeface="Times New Roman" pitchFamily="18" charset="0"/>
                <a:cs typeface="Times New Roman" pitchFamily="18" charset="0"/>
              </a:rPr>
              <a:t>Class 1- 100 </a:t>
            </a:r>
            <a:r>
              <a:rPr lang="en-US" sz="2400" dirty="0" err="1" smtClean="0">
                <a:latin typeface="Times New Roman" pitchFamily="18" charset="0"/>
                <a:cs typeface="Times New Roman" pitchFamily="18" charset="0"/>
              </a:rPr>
              <a:t>mW</a:t>
            </a:r>
            <a:r>
              <a:rPr lang="en-US" sz="2400" dirty="0" smtClean="0">
                <a:latin typeface="Times New Roman" pitchFamily="18" charset="0"/>
                <a:cs typeface="Times New Roman" pitchFamily="18" charset="0"/>
              </a:rPr>
              <a:t> (20 </a:t>
            </a:r>
            <a:r>
              <a:rPr lang="en-US" sz="2400" dirty="0" err="1" smtClean="0">
                <a:latin typeface="Times New Roman" pitchFamily="18" charset="0"/>
                <a:cs typeface="Times New Roman" pitchFamily="18" charset="0"/>
              </a:rPr>
              <a:t>dBm</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100 meters</a:t>
            </a:r>
          </a:p>
          <a:p>
            <a:r>
              <a:rPr lang="en-US" sz="2400" dirty="0" smtClean="0">
                <a:latin typeface="Times New Roman" pitchFamily="18" charset="0"/>
                <a:cs typeface="Times New Roman" pitchFamily="18" charset="0"/>
              </a:rPr>
              <a:t> Class 2 2.5 </a:t>
            </a:r>
            <a:r>
              <a:rPr lang="en-US" sz="2400" dirty="0" err="1" smtClean="0">
                <a:latin typeface="Times New Roman" pitchFamily="18" charset="0"/>
                <a:cs typeface="Times New Roman" pitchFamily="18" charset="0"/>
              </a:rPr>
              <a:t>mW</a:t>
            </a:r>
            <a:r>
              <a:rPr lang="en-US" sz="2400" dirty="0" smtClean="0">
                <a:latin typeface="Times New Roman" pitchFamily="18" charset="0"/>
                <a:cs typeface="Times New Roman" pitchFamily="18" charset="0"/>
              </a:rPr>
              <a:t> (4 </a:t>
            </a:r>
            <a:r>
              <a:rPr lang="en-US" sz="2400" dirty="0" err="1" smtClean="0">
                <a:latin typeface="Times New Roman" pitchFamily="18" charset="0"/>
                <a:cs typeface="Times New Roman" pitchFamily="18" charset="0"/>
              </a:rPr>
              <a:t>dBm</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10 meters</a:t>
            </a:r>
          </a:p>
          <a:p>
            <a:r>
              <a:rPr lang="en-US" sz="2400" dirty="0" smtClean="0">
                <a:latin typeface="Times New Roman" pitchFamily="18" charset="0"/>
                <a:cs typeface="Times New Roman" pitchFamily="18" charset="0"/>
              </a:rPr>
              <a:t>Class 3 1 </a:t>
            </a:r>
            <a:r>
              <a:rPr lang="en-US" sz="2400" dirty="0" err="1" smtClean="0">
                <a:latin typeface="Times New Roman" pitchFamily="18" charset="0"/>
                <a:cs typeface="Times New Roman" pitchFamily="18" charset="0"/>
              </a:rPr>
              <a:t>mW</a:t>
            </a:r>
            <a:r>
              <a:rPr lang="en-US" sz="2400" dirty="0" smtClean="0">
                <a:latin typeface="Times New Roman" pitchFamily="18" charset="0"/>
                <a:cs typeface="Times New Roman" pitchFamily="18" charset="0"/>
              </a:rPr>
              <a:t> (0 </a:t>
            </a:r>
            <a:r>
              <a:rPr lang="en-US" sz="2400" dirty="0" err="1" smtClean="0">
                <a:latin typeface="Times New Roman" pitchFamily="18" charset="0"/>
                <a:cs typeface="Times New Roman" pitchFamily="18" charset="0"/>
              </a:rPr>
              <a:t>dBm</a:t>
            </a: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1 meter</a:t>
            </a:r>
            <a:r>
              <a:rPr lang="en-US" sz="2400" dirty="0" smtClean="0">
                <a:latin typeface="Times New Roman" pitchFamily="18" charset="0"/>
                <a:cs typeface="Times New Roman" pitchFamily="18" charset="0"/>
              </a:rPr>
              <a:t> </a:t>
            </a:r>
          </a:p>
        </p:txBody>
      </p:sp>
      <p:pic>
        <p:nvPicPr>
          <p:cNvPr id="4" name="Picture 3" descr="Bluetooth.jpg"/>
          <p:cNvPicPr>
            <a:picLocks noChangeAspect="1"/>
          </p:cNvPicPr>
          <p:nvPr/>
        </p:nvPicPr>
        <p:blipFill>
          <a:blip r:embed="rId2" cstate="print"/>
          <a:stretch>
            <a:fillRect/>
          </a:stretch>
        </p:blipFill>
        <p:spPr>
          <a:xfrm>
            <a:off x="3733800" y="0"/>
            <a:ext cx="3886200" cy="1638300"/>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WLAN</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A wireless LAN is one in which a mobile user can connect to a local area network (LAN) through a wireless (radio) connection. </a:t>
            </a:r>
          </a:p>
          <a:p>
            <a:r>
              <a:rPr lang="en-US" sz="2400" dirty="0" smtClean="0">
                <a:latin typeface="Times New Roman" pitchFamily="18" charset="0"/>
                <a:cs typeface="Times New Roman" pitchFamily="18" charset="0"/>
              </a:rPr>
              <a:t>The IEEE 802.11 group of standards specify the technologies for wireless LANs.</a:t>
            </a:r>
          </a:p>
          <a:p>
            <a:r>
              <a:rPr lang="en-US" sz="2400" dirty="0" smtClean="0">
                <a:latin typeface="Times New Roman" pitchFamily="18" charset="0"/>
                <a:cs typeface="Times New Roman" pitchFamily="18" charset="0"/>
              </a:rPr>
              <a:t>IEEE published 802.11 in 1997, after seven years of work</a:t>
            </a:r>
          </a:p>
          <a:p>
            <a:r>
              <a:rPr lang="en-US" sz="2400" dirty="0" smtClean="0">
                <a:latin typeface="Times New Roman" pitchFamily="18" charset="0"/>
                <a:cs typeface="Times New Roman" pitchFamily="18" charset="0"/>
              </a:rPr>
              <a:t>802.11 standards use the  </a:t>
            </a:r>
            <a:r>
              <a:rPr lang="en-US" sz="2400" dirty="0" err="1" smtClean="0">
                <a:latin typeface="Times New Roman" pitchFamily="18" charset="0"/>
                <a:cs typeface="Times New Roman" pitchFamily="18" charset="0"/>
              </a:rPr>
              <a:t>ethernet</a:t>
            </a:r>
            <a:r>
              <a:rPr lang="en-US" sz="2400" dirty="0" smtClean="0">
                <a:latin typeface="Times New Roman" pitchFamily="18" charset="0"/>
                <a:cs typeface="Times New Roman" pitchFamily="18" charset="0"/>
              </a:rPr>
              <a:t> protocol and CSMA/CA (carrier sense multiple access with collision avoidance)</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371600"/>
            <a:ext cx="8229600" cy="4525963"/>
          </a:xfrm>
        </p:spPr>
        <p:txBody>
          <a:bodyPr>
            <a:noAutofit/>
          </a:bodyPr>
          <a:lstStyle/>
          <a:p>
            <a:pPr marL="392113" indent="-293688" algn="just" defTabSz="414338">
              <a:spcBef>
                <a:spcPct val="50000"/>
              </a:spcBef>
              <a:buClr>
                <a:srgbClr val="CC0000"/>
              </a:buClr>
            </a:pPr>
            <a:r>
              <a:rPr lang="en-US" sz="2400" dirty="0" smtClean="0">
                <a:latin typeface="Times New Roman" pitchFamily="18" charset="0"/>
                <a:cs typeface="Times New Roman" pitchFamily="18" charset="0"/>
              </a:rPr>
              <a:t>Provides network connectivity over wireless media</a:t>
            </a:r>
          </a:p>
          <a:p>
            <a:pPr marL="555625" indent="-457200" algn="just" defTabSz="414338">
              <a:spcBef>
                <a:spcPct val="50000"/>
              </a:spcBef>
              <a:buClr>
                <a:srgbClr val="CC0000"/>
              </a:buClr>
            </a:pPr>
            <a:r>
              <a:rPr lang="en-US" sz="2400" dirty="0" smtClean="0">
                <a:latin typeface="Times New Roman" pitchFamily="18" charset="0"/>
                <a:cs typeface="Times New Roman" pitchFamily="18" charset="0"/>
              </a:rPr>
              <a:t>An Access Point (AP) is installed to act as Bridge between Wireless and Wired Network</a:t>
            </a:r>
          </a:p>
          <a:p>
            <a:pPr marL="392113" indent="-293688" algn="just" defTabSz="414338">
              <a:spcBef>
                <a:spcPct val="50000"/>
              </a:spcBef>
              <a:buClr>
                <a:srgbClr val="CC0000"/>
              </a:buClr>
            </a:pPr>
            <a:r>
              <a:rPr lang="en-US" sz="2400" dirty="0" smtClean="0">
                <a:latin typeface="Times New Roman" pitchFamily="18" charset="0"/>
                <a:cs typeface="Times New Roman" pitchFamily="18" charset="0"/>
              </a:rPr>
              <a:t>The AP is connected to wired network and is equipped with antennae to provide wireless connectivity</a:t>
            </a:r>
          </a:p>
          <a:p>
            <a:pPr marL="392113" indent="-293688" algn="just" defTabSz="414338">
              <a:spcBef>
                <a:spcPct val="50000"/>
              </a:spcBef>
              <a:buClr>
                <a:srgbClr val="CC0000"/>
              </a:buClr>
            </a:pPr>
            <a:r>
              <a:rPr lang="en-US" sz="2400" dirty="0" smtClean="0">
                <a:latin typeface="Times New Roman" pitchFamily="18" charset="0"/>
                <a:cs typeface="Times New Roman" pitchFamily="18" charset="0"/>
              </a:rPr>
              <a:t>A client is always associated with one AP and when the client moves closer to another AP, it associates with the new AP (Hand-Off)</a:t>
            </a:r>
          </a:p>
          <a:p>
            <a:pPr marL="392113" indent="-293688" defTabSz="414338">
              <a:spcBef>
                <a:spcPct val="50000"/>
              </a:spcBef>
              <a:buClr>
                <a:srgbClr val="CC0000"/>
              </a:buClr>
            </a:pPr>
            <a:r>
              <a:rPr lang="en-US" sz="2400" dirty="0" smtClean="0">
                <a:latin typeface="Times New Roman" pitchFamily="18" charset="0"/>
                <a:cs typeface="Times New Roman" pitchFamily="18" charset="0"/>
              </a:rPr>
              <a:t>Three flavors:</a:t>
            </a:r>
          </a:p>
          <a:p>
            <a:pPr marL="782638" lvl="1" indent="-260350" algn="just" defTabSz="414338">
              <a:buClr>
                <a:srgbClr val="CC0000"/>
              </a:buClr>
              <a:buNone/>
            </a:pPr>
            <a:r>
              <a:rPr lang="en-US" sz="2400" dirty="0" smtClean="0">
                <a:latin typeface="Times New Roman" pitchFamily="18" charset="0"/>
                <a:cs typeface="Times New Roman" pitchFamily="18" charset="0"/>
              </a:rPr>
              <a:t>802.11b</a:t>
            </a:r>
          </a:p>
          <a:p>
            <a:pPr marL="782638" lvl="1" indent="-260350" algn="just" defTabSz="414338">
              <a:buClr>
                <a:srgbClr val="CC0000"/>
              </a:buClr>
              <a:buNone/>
            </a:pPr>
            <a:r>
              <a:rPr lang="en-US" sz="2400" dirty="0" smtClean="0">
                <a:latin typeface="Times New Roman" pitchFamily="18" charset="0"/>
                <a:cs typeface="Times New Roman" pitchFamily="18" charset="0"/>
              </a:rPr>
              <a:t>802.11a</a:t>
            </a:r>
          </a:p>
          <a:p>
            <a:pPr marL="782638" lvl="1" indent="-260350" algn="just" defTabSz="414338">
              <a:buClr>
                <a:srgbClr val="CC0000"/>
              </a:buClr>
              <a:buNone/>
            </a:pPr>
            <a:r>
              <a:rPr lang="en-US" sz="2400" dirty="0" smtClean="0">
                <a:latin typeface="Times New Roman" pitchFamily="18" charset="0"/>
                <a:cs typeface="Times New Roman" pitchFamily="18" charset="0"/>
              </a:rPr>
              <a:t>802.11g </a:t>
            </a:r>
          </a:p>
          <a:p>
            <a:pPr marL="782638" lvl="1"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a:buClr>
                <a:schemeClr val="tx2"/>
              </a:buClr>
              <a:buSzTx/>
              <a:buFont typeface="Wingdings" pitchFamily="2" charset="2"/>
              <a:buChar char="v"/>
            </a:pPr>
            <a:endParaRPr lang="en-US" sz="2400" dirty="0" smtClean="0">
              <a:latin typeface="Times New Roman" pitchFamily="18" charset="0"/>
              <a:cs typeface="Times New Roman" pitchFamily="18" charset="0"/>
            </a:endParaRPr>
          </a:p>
          <a:p>
            <a:pPr marL="782638" lvl="1"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marL="782638" lvl="1" indent="-260350" algn="just" defTabSz="414338">
              <a:buClr>
                <a:srgbClr val="CC0000"/>
              </a:buClr>
              <a:buNone/>
            </a:pPr>
            <a:r>
              <a:rPr lang="en-US" sz="2400" dirty="0" smtClean="0">
                <a:latin typeface="Times New Roman" pitchFamily="18" charset="0"/>
                <a:cs typeface="Times New Roman" pitchFamily="18" charset="0"/>
              </a:rPr>
              <a:t>						</a:t>
            </a:r>
          </a:p>
          <a:p>
            <a:pPr marL="382588"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marL="782638" lvl="1"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marL="782638" lvl="1"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marL="782638" lvl="1" indent="-260350" algn="just" defTabSz="414338">
              <a:buClr>
                <a:srgbClr val="CC0000"/>
              </a:buClr>
              <a:buFont typeface="Wingdings" pitchFamily="2" charset="2"/>
              <a:buBlip>
                <a:blip r:embed="rId2"/>
              </a:buBlip>
            </a:pPr>
            <a:endParaRPr lang="en-US" sz="2400" dirty="0" smtClean="0">
              <a:latin typeface="Times New Roman" pitchFamily="18" charset="0"/>
              <a:cs typeface="Times New Roman" pitchFamily="18" charset="0"/>
            </a:endParaRPr>
          </a:p>
          <a:p>
            <a:pPr marL="782638" lvl="1" indent="-260350" algn="just" defTabSz="414338">
              <a:buClr>
                <a:srgbClr val="CC0000"/>
              </a:buClr>
              <a:buNone/>
            </a:pP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Clr>
                <a:schemeClr val="tx2"/>
              </a:buClr>
              <a:buSzTx/>
              <a:buNone/>
            </a:pPr>
            <a:r>
              <a:rPr lang="en-US" sz="2000" dirty="0" smtClean="0">
                <a:latin typeface="Times New Roman" pitchFamily="18" charset="0"/>
                <a:cs typeface="Times New Roman" pitchFamily="18" charset="0"/>
              </a:rPr>
              <a:t>IEEE </a:t>
            </a:r>
            <a:r>
              <a:rPr lang="en-US" sz="2000" dirty="0" smtClean="0">
                <a:solidFill>
                  <a:srgbClr val="FF0000"/>
                </a:solidFill>
                <a:latin typeface="Times New Roman" pitchFamily="18" charset="0"/>
                <a:cs typeface="Times New Roman" pitchFamily="18" charset="0"/>
              </a:rPr>
              <a:t>802.11a</a:t>
            </a:r>
          </a:p>
          <a:p>
            <a:pPr lvl="1">
              <a:buClr>
                <a:schemeClr val="tx2"/>
              </a:buClr>
              <a:buSzTx/>
              <a:buNone/>
            </a:pPr>
            <a:r>
              <a:rPr lang="en-US" sz="2000" dirty="0" smtClean="0">
                <a:latin typeface="Times New Roman" pitchFamily="18" charset="0"/>
                <a:cs typeface="Times New Roman" pitchFamily="18" charset="0"/>
              </a:rPr>
              <a:t>Makes use of 5-GHz band</a:t>
            </a:r>
          </a:p>
          <a:p>
            <a:pPr lvl="1">
              <a:buClr>
                <a:schemeClr val="tx2"/>
              </a:buClr>
              <a:buSzTx/>
              <a:buNone/>
            </a:pPr>
            <a:r>
              <a:rPr lang="en-US" sz="2000" dirty="0" smtClean="0">
                <a:latin typeface="Times New Roman" pitchFamily="18" charset="0"/>
                <a:cs typeface="Times New Roman" pitchFamily="18" charset="0"/>
              </a:rPr>
              <a:t>Provides rates of 6, 9 , 12, 18, 24, 36, 48, 54 Mbps</a:t>
            </a:r>
          </a:p>
          <a:p>
            <a:pPr lvl="1">
              <a:buClr>
                <a:schemeClr val="tx2"/>
              </a:buClr>
              <a:buSzTx/>
              <a:buNone/>
            </a:pPr>
            <a:r>
              <a:rPr lang="en-US" sz="2000" dirty="0" smtClean="0">
                <a:latin typeface="Times New Roman" pitchFamily="18" charset="0"/>
                <a:cs typeface="Times New Roman" pitchFamily="18" charset="0"/>
              </a:rPr>
              <a:t>Uses orthogonal frequency division multiplexing (OFDM)</a:t>
            </a:r>
          </a:p>
          <a:p>
            <a:pPr>
              <a:buClr>
                <a:schemeClr val="tx2"/>
              </a:buClr>
              <a:buSzTx/>
              <a:buNone/>
            </a:pPr>
            <a:r>
              <a:rPr lang="en-US" sz="2000" dirty="0" smtClean="0">
                <a:latin typeface="Times New Roman" pitchFamily="18" charset="0"/>
                <a:cs typeface="Times New Roman" pitchFamily="18" charset="0"/>
              </a:rPr>
              <a:t>IEEE </a:t>
            </a:r>
            <a:r>
              <a:rPr lang="en-US" sz="2000" dirty="0" smtClean="0">
                <a:solidFill>
                  <a:srgbClr val="FF0000"/>
                </a:solidFill>
                <a:latin typeface="Times New Roman" pitchFamily="18" charset="0"/>
                <a:cs typeface="Times New Roman" pitchFamily="18" charset="0"/>
              </a:rPr>
              <a:t>802.11b</a:t>
            </a:r>
          </a:p>
          <a:p>
            <a:pPr lvl="1">
              <a:buClr>
                <a:schemeClr val="tx2"/>
              </a:buClr>
              <a:buSzTx/>
              <a:buNone/>
            </a:pPr>
            <a:r>
              <a:rPr lang="en-US" sz="2000" dirty="0" smtClean="0">
                <a:latin typeface="Times New Roman" pitchFamily="18" charset="0"/>
                <a:cs typeface="Times New Roman" pitchFamily="18" charset="0"/>
              </a:rPr>
              <a:t>802.11b operates in 2.4 GHz band </a:t>
            </a:r>
          </a:p>
          <a:p>
            <a:pPr lvl="1">
              <a:buClr>
                <a:schemeClr val="tx2"/>
              </a:buClr>
              <a:buSzTx/>
              <a:buNone/>
            </a:pPr>
            <a:r>
              <a:rPr lang="en-US" sz="2000" dirty="0" smtClean="0">
                <a:latin typeface="Times New Roman" pitchFamily="18" charset="0"/>
                <a:cs typeface="Times New Roman" pitchFamily="18" charset="0"/>
              </a:rPr>
              <a:t>Provides data rates of 5.5 and 11 Mbps</a:t>
            </a:r>
          </a:p>
          <a:p>
            <a:pPr lvl="1">
              <a:buClr>
                <a:schemeClr val="tx2"/>
              </a:buClr>
              <a:buSzTx/>
              <a:buNone/>
            </a:pPr>
            <a:r>
              <a:rPr lang="en-US" sz="2000" dirty="0" smtClean="0">
                <a:latin typeface="Times New Roman" pitchFamily="18" charset="0"/>
                <a:cs typeface="Times New Roman" pitchFamily="18" charset="0"/>
              </a:rPr>
              <a:t>Complementary code keying (CCK) modulation scheme</a:t>
            </a:r>
          </a:p>
          <a:p>
            <a:pPr lvl="1">
              <a:buClr>
                <a:schemeClr val="tx2"/>
              </a:buClr>
              <a:buSzTx/>
              <a:buFont typeface="Wingdings" pitchFamily="2" charset="2"/>
              <a:buBlip>
                <a:blip r:embed="rId2"/>
              </a:buBlip>
            </a:pPr>
            <a:endParaRPr lang="en-US" sz="2000" dirty="0" smtClean="0">
              <a:latin typeface="Times New Roman" pitchFamily="18" charset="0"/>
              <a:cs typeface="Times New Roman" pitchFamily="18" charset="0"/>
            </a:endParaRPr>
          </a:p>
          <a:p>
            <a:pPr>
              <a:buClr>
                <a:schemeClr val="tx2"/>
              </a:buClr>
              <a:buNone/>
            </a:pPr>
            <a:r>
              <a:rPr lang="en-US" sz="2000" dirty="0" smtClean="0">
                <a:latin typeface="Times New Roman" pitchFamily="18" charset="0"/>
                <a:cs typeface="Times New Roman" pitchFamily="18" charset="0"/>
              </a:rPr>
              <a:t>IEEE </a:t>
            </a:r>
            <a:r>
              <a:rPr lang="en-US" sz="2000" dirty="0" smtClean="0">
                <a:solidFill>
                  <a:srgbClr val="FF0000"/>
                </a:solidFill>
                <a:latin typeface="Times New Roman" pitchFamily="18" charset="0"/>
                <a:cs typeface="Times New Roman" pitchFamily="18" charset="0"/>
              </a:rPr>
              <a:t>802.11g</a:t>
            </a:r>
          </a:p>
          <a:p>
            <a:pPr marL="792163" lvl="1" indent="-293688" algn="just" defTabSz="414338">
              <a:lnSpc>
                <a:spcPct val="80000"/>
              </a:lnSpc>
              <a:spcBef>
                <a:spcPct val="50000"/>
              </a:spcBef>
              <a:buClr>
                <a:srgbClr val="CC0000"/>
              </a:buClr>
              <a:buNone/>
            </a:pPr>
            <a:r>
              <a:rPr lang="en-US" sz="2000" dirty="0" smtClean="0">
                <a:latin typeface="Times New Roman" pitchFamily="18" charset="0"/>
                <a:cs typeface="Times New Roman" pitchFamily="18" charset="0"/>
              </a:rPr>
              <a:t>Supports data rates as high as 54 Mbps on the 2.4 GHz band</a:t>
            </a:r>
          </a:p>
          <a:p>
            <a:pPr marL="792163" lvl="1" indent="-293688" algn="just" defTabSz="414338">
              <a:lnSpc>
                <a:spcPct val="80000"/>
              </a:lnSpc>
              <a:spcBef>
                <a:spcPct val="50000"/>
              </a:spcBef>
              <a:buClr>
                <a:srgbClr val="CC0000"/>
              </a:buClr>
              <a:buNone/>
            </a:pPr>
            <a:r>
              <a:rPr lang="en-US" sz="2000" dirty="0" smtClean="0">
                <a:latin typeface="Times New Roman" pitchFamily="18" charset="0"/>
                <a:cs typeface="Times New Roman" pitchFamily="18" charset="0"/>
              </a:rPr>
              <a:t>Provides backward compatibility with 802.11b equipment</a:t>
            </a:r>
            <a:endParaRPr lang="en-US"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Clr>
                <a:schemeClr val="tx2"/>
              </a:buClr>
              <a:buNone/>
            </a:pPr>
            <a:r>
              <a:rPr lang="en-US" sz="2800" b="1" dirty="0" smtClean="0">
                <a:latin typeface="Times New Roman" pitchFamily="18" charset="0"/>
                <a:cs typeface="Times New Roman" pitchFamily="18" charset="0"/>
              </a:rPr>
              <a:t>CSMA/CD – CSMA/Collision detection</a:t>
            </a:r>
          </a:p>
          <a:p>
            <a:pPr lvl="1">
              <a:buClr>
                <a:schemeClr val="tx2"/>
              </a:buClr>
            </a:pPr>
            <a:r>
              <a:rPr lang="en-US" sz="2400" dirty="0" smtClean="0">
                <a:latin typeface="Times New Roman" pitchFamily="18" charset="0"/>
                <a:cs typeface="Times New Roman" pitchFamily="18" charset="0"/>
              </a:rPr>
              <a:t>For  wire  communication </a:t>
            </a:r>
          </a:p>
          <a:p>
            <a:pPr lvl="1">
              <a:buClr>
                <a:schemeClr val="tx2"/>
              </a:buClr>
            </a:pPr>
            <a:r>
              <a:rPr lang="en-US" sz="2400" dirty="0" smtClean="0">
                <a:latin typeface="Times New Roman" pitchFamily="18" charset="0"/>
                <a:cs typeface="Times New Roman" pitchFamily="18" charset="0"/>
              </a:rPr>
              <a:t>No  control  BEFORE  transmission </a:t>
            </a:r>
          </a:p>
          <a:p>
            <a:pPr lvl="1">
              <a:buClr>
                <a:schemeClr val="tx2"/>
              </a:buClr>
            </a:pPr>
            <a:r>
              <a:rPr lang="en-US" sz="2400" dirty="0" smtClean="0">
                <a:latin typeface="Times New Roman" pitchFamily="18" charset="0"/>
                <a:cs typeface="Times New Roman" pitchFamily="18" charset="0"/>
              </a:rPr>
              <a:t>Generates  collisions</a:t>
            </a:r>
          </a:p>
          <a:p>
            <a:pPr lvl="1">
              <a:buClr>
                <a:schemeClr val="tx2"/>
              </a:buClr>
            </a:pPr>
            <a:r>
              <a:rPr lang="en-US" sz="2400" dirty="0" smtClean="0">
                <a:latin typeface="Times New Roman" pitchFamily="18" charset="0"/>
                <a:cs typeface="Times New Roman" pitchFamily="18" charset="0"/>
              </a:rPr>
              <a:t>Collision  Detection</a:t>
            </a:r>
          </a:p>
          <a:p>
            <a:pPr>
              <a:buClr>
                <a:schemeClr val="tx2"/>
              </a:buClr>
              <a:buNone/>
            </a:pPr>
            <a:r>
              <a:rPr lang="en-US" sz="2800" b="1" dirty="0" smtClean="0">
                <a:latin typeface="Times New Roman" pitchFamily="18" charset="0"/>
                <a:cs typeface="Times New Roman" pitchFamily="18" charset="0"/>
              </a:rPr>
              <a:t>CSMA/CA – CSMA/Collision Avoidance</a:t>
            </a:r>
          </a:p>
          <a:p>
            <a:pPr lvl="1">
              <a:buClr>
                <a:schemeClr val="tx2"/>
              </a:buClr>
            </a:pPr>
            <a:r>
              <a:rPr lang="en-US" sz="2400" dirty="0" smtClean="0">
                <a:latin typeface="Times New Roman" pitchFamily="18" charset="0"/>
                <a:cs typeface="Times New Roman" pitchFamily="18" charset="0"/>
              </a:rPr>
              <a:t>For  wireless  communication </a:t>
            </a:r>
          </a:p>
          <a:p>
            <a:pPr lvl="1">
              <a:buClr>
                <a:schemeClr val="tx2"/>
              </a:buClr>
            </a:pPr>
            <a:r>
              <a:rPr lang="en-US" sz="2400" dirty="0" smtClean="0">
                <a:latin typeface="Times New Roman" pitchFamily="18" charset="0"/>
                <a:cs typeface="Times New Roman" pitchFamily="18" charset="0"/>
              </a:rPr>
              <a:t>Collision  avoidance  BEFORE  transmission </a:t>
            </a:r>
          </a:p>
          <a:p>
            <a:pPr lvl="1">
              <a:buClr>
                <a:schemeClr val="tx2"/>
              </a:buClr>
            </a:pPr>
            <a:r>
              <a:rPr lang="en-US" sz="2400" dirty="0" smtClean="0">
                <a:latin typeface="Times New Roman" pitchFamily="18" charset="0"/>
                <a:cs typeface="Times New Roman" pitchFamily="18" charset="0"/>
              </a:rPr>
              <a:t>Difference in energy/power for transmit &amp; receive</a:t>
            </a:r>
          </a:p>
          <a:p>
            <a:pPr lvl="1">
              <a:buClr>
                <a:schemeClr val="tx2"/>
              </a:buClr>
            </a:pPr>
            <a:r>
              <a:rPr lang="en-US" sz="2400" dirty="0" smtClean="0">
                <a:latin typeface="Times New Roman" pitchFamily="18" charset="0"/>
                <a:cs typeface="Times New Roman" pitchFamily="18" charset="0"/>
              </a:rPr>
              <a:t>Difficult to distinguish between incoming weak signals, noise, and effects of own transmission</a:t>
            </a: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67000"/>
            <a:ext cx="8229600" cy="1143000"/>
          </a:xfrm>
        </p:spPr>
        <p:txBody>
          <a:bodyPr>
            <a:normAutofit fontScale="90000"/>
          </a:bodyPr>
          <a:lstStyle/>
          <a:p>
            <a:r>
              <a:rPr lang="en-US" dirty="0" smtClean="0">
                <a:latin typeface="Times New Roman" pitchFamily="18" charset="0"/>
                <a:cs typeface="Times New Roman" pitchFamily="18" charset="0"/>
              </a:rPr>
              <a:t>Generations of wireless communication systems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1G</a:t>
            </a:r>
          </a:p>
        </p:txBody>
      </p:sp>
      <p:sp>
        <p:nvSpPr>
          <p:cNvPr id="7171" name="Content Placeholder 2"/>
          <p:cNvSpPr>
            <a:spLocks noGrp="1"/>
          </p:cNvSpPr>
          <p:nvPr>
            <p:ph idx="1"/>
          </p:nvPr>
        </p:nvSpPr>
        <p:spPr/>
        <p:txBody>
          <a:bodyPr>
            <a:normAutofit fontScale="92500"/>
          </a:bodyPr>
          <a:lstStyle/>
          <a:p>
            <a:r>
              <a:rPr lang="en-US" dirty="0" smtClean="0">
                <a:latin typeface="Times New Roman" pitchFamily="18" charset="0"/>
                <a:cs typeface="Times New Roman" pitchFamily="18" charset="0"/>
              </a:rPr>
              <a:t>Nordic Mobile Phone in October 1981</a:t>
            </a:r>
          </a:p>
          <a:p>
            <a:r>
              <a:rPr lang="en-US" dirty="0" smtClean="0">
                <a:latin typeface="Times New Roman" pitchFamily="18" charset="0"/>
                <a:cs typeface="Times New Roman" pitchFamily="18" charset="0"/>
              </a:rPr>
              <a:t>150 MHz in Finland and 450 MHz</a:t>
            </a:r>
          </a:p>
          <a:p>
            <a:r>
              <a:rPr lang="en-US" dirty="0" smtClean="0">
                <a:latin typeface="Times New Roman" pitchFamily="18" charset="0"/>
                <a:cs typeface="Times New Roman" pitchFamily="18" charset="0"/>
              </a:rPr>
              <a:t>Purely analog</a:t>
            </a:r>
          </a:p>
          <a:p>
            <a:r>
              <a:rPr lang="en-US" dirty="0" smtClean="0">
                <a:latin typeface="Times New Roman" pitchFamily="18" charset="0"/>
                <a:cs typeface="Times New Roman" pitchFamily="18" charset="0"/>
              </a:rPr>
              <a:t>Cell size: 2 to 3 km</a:t>
            </a:r>
          </a:p>
          <a:p>
            <a:r>
              <a:rPr lang="en-US" dirty="0" smtClean="0">
                <a:latin typeface="Times New Roman" pitchFamily="18" charset="0"/>
                <a:cs typeface="Times New Roman" pitchFamily="18" charset="0"/>
              </a:rPr>
              <a:t>Voice channel is transmitted with FM modulation</a:t>
            </a:r>
          </a:p>
          <a:p>
            <a:r>
              <a:rPr lang="en-US" dirty="0" smtClean="0">
                <a:latin typeface="Times New Roman" pitchFamily="18" charset="0"/>
                <a:cs typeface="Times New Roman" pitchFamily="18" charset="0"/>
              </a:rPr>
              <a:t>AMPS(Advanced Mobile Phone Service) in  October 1983</a:t>
            </a:r>
          </a:p>
          <a:p>
            <a:r>
              <a:rPr lang="en-US" dirty="0" smtClean="0">
                <a:latin typeface="Times New Roman" pitchFamily="18" charset="0"/>
                <a:cs typeface="Times New Roman" pitchFamily="18" charset="0"/>
              </a:rPr>
              <a:t>FDMA</a:t>
            </a:r>
          </a:p>
        </p:txBody>
      </p:sp>
      <p:sp>
        <p:nvSpPr>
          <p:cNvPr id="5" name="Slide Number Placeholder 4"/>
          <p:cNvSpPr>
            <a:spLocks noGrp="1"/>
          </p:cNvSpPr>
          <p:nvPr>
            <p:ph type="sldNum" sz="quarter" idx="12"/>
          </p:nvPr>
        </p:nvSpPr>
        <p:spPr/>
        <p:txBody>
          <a:bodyPr/>
          <a:lstStyle/>
          <a:p>
            <a:fld id="{B0463075-33AF-4FC3-B90F-61AFAD45E32E}"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Block diagram</a:t>
            </a:r>
            <a:endParaRPr lang="en-US" sz="3600" b="1" dirty="0">
              <a:latin typeface="Times New Roman" pitchFamily="18" charset="0"/>
              <a:cs typeface="Times New Roman" pitchFamily="18" charset="0"/>
            </a:endParaRPr>
          </a:p>
        </p:txBody>
      </p:sp>
      <p:pic>
        <p:nvPicPr>
          <p:cNvPr id="6" name="Content Placeholder 5" descr="block.gif"/>
          <p:cNvPicPr>
            <a:picLocks noGrp="1" noChangeAspect="1"/>
          </p:cNvPicPr>
          <p:nvPr>
            <p:ph idx="1"/>
          </p:nvPr>
        </p:nvPicPr>
        <p:blipFill>
          <a:blip r:embed="rId2" cstate="print"/>
          <a:stretch>
            <a:fillRect/>
          </a:stretch>
        </p:blipFill>
        <p:spPr>
          <a:xfrm>
            <a:off x="1143000" y="1905000"/>
            <a:ext cx="6858000" cy="4038600"/>
          </a:xfrm>
        </p:spPr>
      </p:pic>
      <p:sp>
        <p:nvSpPr>
          <p:cNvPr id="5" name="Slide Number Placeholder 4"/>
          <p:cNvSpPr>
            <a:spLocks noGrp="1"/>
          </p:cNvSpPr>
          <p:nvPr>
            <p:ph type="sldNum" sz="quarter" idx="12"/>
          </p:nvPr>
        </p:nvSpPr>
        <p:spPr/>
        <p:txBody>
          <a:bodyPr/>
          <a:lstStyle/>
          <a:p>
            <a:fld id="{B0463075-33AF-4FC3-B90F-61AFAD45E32E}"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AM</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altLang="en-US" dirty="0" smtClean="0">
                <a:latin typeface="Times New Roman" pitchFamily="18" charset="0"/>
                <a:cs typeface="Times New Roman" pitchFamily="18" charset="0"/>
              </a:rPr>
              <a:t>Amplitude Modulation is the simplest and earliest form of transmitters</a:t>
            </a:r>
          </a:p>
          <a:p>
            <a:r>
              <a:rPr lang="en-US" altLang="en-US" dirty="0" smtClean="0">
                <a:latin typeface="Times New Roman" pitchFamily="18" charset="0"/>
                <a:cs typeface="Times New Roman" pitchFamily="18" charset="0"/>
              </a:rPr>
              <a:t>AM applications include:</a:t>
            </a:r>
          </a:p>
          <a:p>
            <a:pPr lvl="1"/>
            <a:r>
              <a:rPr lang="en-US" altLang="en-US" dirty="0" smtClean="0">
                <a:latin typeface="Times New Roman" pitchFamily="18" charset="0"/>
                <a:cs typeface="Times New Roman" pitchFamily="18" charset="0"/>
              </a:rPr>
              <a:t>broadcasting in medium- and high-frequency applications, </a:t>
            </a:r>
          </a:p>
          <a:p>
            <a:pPr lvl="1"/>
            <a:r>
              <a:rPr lang="en-US" altLang="en-US" dirty="0" smtClean="0">
                <a:latin typeface="Times New Roman" pitchFamily="18" charset="0"/>
                <a:cs typeface="Times New Roman" pitchFamily="18" charset="0"/>
              </a:rPr>
              <a:t>CB radio, and </a:t>
            </a:r>
          </a:p>
          <a:p>
            <a:pPr lvl="1"/>
            <a:r>
              <a:rPr lang="en-US" altLang="en-US" dirty="0" smtClean="0">
                <a:latin typeface="Times New Roman" pitchFamily="18" charset="0"/>
                <a:cs typeface="Times New Roman" pitchFamily="18" charset="0"/>
              </a:rPr>
              <a:t>aircraft communications</a:t>
            </a: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AM </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4906963"/>
          </a:xfrm>
        </p:spPr>
        <p:txBody>
          <a:bodyPr>
            <a:normAutofit/>
          </a:bodyPr>
          <a:lstStyle/>
          <a:p>
            <a:r>
              <a:rPr lang="en-US" sz="2400" dirty="0" smtClean="0">
                <a:latin typeface="Times New Roman" pitchFamily="18" charset="0"/>
                <a:cs typeface="Times New Roman" pitchFamily="18" charset="0"/>
              </a:rPr>
              <a:t>In </a:t>
            </a:r>
            <a:r>
              <a:rPr lang="en-US" sz="2400" b="1" dirty="0" smtClean="0">
                <a:latin typeface="Times New Roman" pitchFamily="18" charset="0"/>
                <a:cs typeface="Times New Roman" pitchFamily="18" charset="0"/>
              </a:rPr>
              <a:t>amplitude modulation</a:t>
            </a:r>
            <a:r>
              <a:rPr lang="en-US" sz="2400" dirty="0" smtClean="0">
                <a:latin typeface="Times New Roman" pitchFamily="18" charset="0"/>
                <a:cs typeface="Times New Roman" pitchFamily="18" charset="0"/>
              </a:rPr>
              <a:t>, the </a:t>
            </a:r>
            <a:r>
              <a:rPr lang="en-US" sz="2400" b="1" dirty="0" smtClean="0">
                <a:latin typeface="Times New Roman" pitchFamily="18" charset="0"/>
                <a:cs typeface="Times New Roman" pitchFamily="18" charset="0"/>
              </a:rPr>
              <a:t>amplitude</a:t>
            </a:r>
            <a:r>
              <a:rPr lang="en-US" sz="2400" dirty="0" smtClean="0">
                <a:latin typeface="Times New Roman" pitchFamily="18" charset="0"/>
                <a:cs typeface="Times New Roman" pitchFamily="18" charset="0"/>
              </a:rPr>
              <a:t> (signal strength) of the carrier wave is varied in proportion to the waveform being transmitted.</a:t>
            </a:r>
            <a:endParaRPr lang="en-US" sz="2400" dirty="0">
              <a:latin typeface="Times New Roman" pitchFamily="18" charset="0"/>
              <a:cs typeface="Times New Roman" pitchFamily="18" charset="0"/>
            </a:endParaRPr>
          </a:p>
        </p:txBody>
      </p:sp>
      <p:sp>
        <p:nvSpPr>
          <p:cNvPr id="4" name="Rectangle 3"/>
          <p:cNvSpPr txBox="1">
            <a:spLocks noChangeArrowheads="1"/>
          </p:cNvSpPr>
          <p:nvPr/>
        </p:nvSpPr>
        <p:spPr>
          <a:xfrm>
            <a:off x="685800" y="2514600"/>
            <a:ext cx="3810000" cy="3581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The information signal varies the instantaneous amplitude of the carrier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en-US" sz="28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pic>
        <p:nvPicPr>
          <p:cNvPr id="5" name="Picture 8" descr="030_001D.jpg                                                   0002436DRuby                           ABA78158:"/>
          <p:cNvPicPr>
            <a:picLocks noChangeAspect="1" noChangeArrowheads="1"/>
          </p:cNvPicPr>
          <p:nvPr/>
        </p:nvPicPr>
        <p:blipFill>
          <a:blip r:embed="rId2" cstate="print">
            <a:clrChange>
              <a:clrFrom>
                <a:srgbClr val="F8F8F8"/>
              </a:clrFrom>
              <a:clrTo>
                <a:srgbClr val="F8F8F8">
                  <a:alpha val="0"/>
                </a:srgbClr>
              </a:clrTo>
            </a:clrChange>
          </a:blip>
          <a:srcRect/>
          <a:stretch>
            <a:fillRect/>
          </a:stretch>
        </p:blipFill>
        <p:spPr bwMode="auto">
          <a:xfrm>
            <a:off x="4648200" y="4800600"/>
            <a:ext cx="2209800" cy="1871663"/>
          </a:xfrm>
          <a:prstGeom prst="rect">
            <a:avLst/>
          </a:prstGeom>
          <a:noFill/>
          <a:ln w="9525">
            <a:noFill/>
            <a:miter lim="800000"/>
            <a:headEnd/>
            <a:tailEnd/>
          </a:ln>
        </p:spPr>
      </p:pic>
      <p:pic>
        <p:nvPicPr>
          <p:cNvPr id="6" name="Picture 9" descr="030_001E.jpg                                                   0002436DRuby                           ABA78158:"/>
          <p:cNvPicPr>
            <a:picLocks noChangeAspect="1" noChangeArrowheads="1"/>
          </p:cNvPicPr>
          <p:nvPr/>
        </p:nvPicPr>
        <p:blipFill>
          <a:blip r:embed="rId3" cstate="print">
            <a:clrChange>
              <a:clrFrom>
                <a:srgbClr val="F8F8F8"/>
              </a:clrFrom>
              <a:clrTo>
                <a:srgbClr val="F8F8F8">
                  <a:alpha val="0"/>
                </a:srgbClr>
              </a:clrTo>
            </a:clrChange>
          </a:blip>
          <a:srcRect/>
          <a:stretch>
            <a:fillRect/>
          </a:stretch>
        </p:blipFill>
        <p:spPr bwMode="auto">
          <a:xfrm>
            <a:off x="1219200" y="4114800"/>
            <a:ext cx="2209800" cy="2508250"/>
          </a:xfrm>
          <a:prstGeom prst="rect">
            <a:avLst/>
          </a:prstGeom>
          <a:noFill/>
          <a:ln w="9525">
            <a:noFill/>
            <a:miter lim="800000"/>
            <a:headEnd/>
            <a:tailEnd/>
          </a:ln>
        </p:spPr>
      </p:pic>
      <p:pic>
        <p:nvPicPr>
          <p:cNvPr id="7" name="Picture 7" descr="030_001C.jpg                                                   0002436DRuby                           ABA78158:"/>
          <p:cNvPicPr>
            <a:picLocks noChangeAspect="1" noChangeArrowheads="1"/>
          </p:cNvPicPr>
          <p:nvPr/>
        </p:nvPicPr>
        <p:blipFill>
          <a:blip r:embed="rId4" cstate="print">
            <a:clrChange>
              <a:clrFrom>
                <a:srgbClr val="FAFAFA"/>
              </a:clrFrom>
              <a:clrTo>
                <a:srgbClr val="FAFAFA">
                  <a:alpha val="0"/>
                </a:srgbClr>
              </a:clrTo>
            </a:clrChange>
          </a:blip>
          <a:srcRect/>
          <a:stretch>
            <a:fillRect/>
          </a:stretch>
        </p:blipFill>
        <p:spPr bwMode="auto">
          <a:xfrm>
            <a:off x="4343400" y="2362200"/>
            <a:ext cx="2667000" cy="2286000"/>
          </a:xfrm>
          <a:prstGeom prst="rect">
            <a:avLst/>
          </a:prstGeom>
          <a:noFill/>
          <a:ln w="9525">
            <a:noFill/>
            <a:miter lim="800000"/>
            <a:headEnd/>
            <a:tailEnd/>
          </a:ln>
        </p:spPr>
      </p:pic>
      <p:sp>
        <p:nvSpPr>
          <p:cNvPr id="9" name="Slide Number Placeholder 8"/>
          <p:cNvSpPr>
            <a:spLocks noGrp="1"/>
          </p:cNvSpPr>
          <p:nvPr>
            <p:ph type="sldNum" sz="quarter" idx="12"/>
          </p:nvPr>
        </p:nvSpPr>
        <p:spPr/>
        <p:txBody>
          <a:bodyPr/>
          <a:lstStyle/>
          <a:p>
            <a:fld id="{B0463075-33AF-4FC3-B90F-61AFAD45E32E}"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FM</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Frequency Modulation (FM) is the encoding of information in a carrier wave by varying the instantaneous frequency of the wave. </a:t>
            </a:r>
          </a:p>
          <a:p>
            <a:r>
              <a:rPr lang="en-US" dirty="0" smtClean="0">
                <a:latin typeface="Times New Roman" pitchFamily="18" charset="0"/>
                <a:cs typeface="Times New Roman" pitchFamily="18" charset="0"/>
              </a:rPr>
              <a:t>This contrasts with amplitude modulation, in which the amplitude of the carrier wave varies, while the frequency remains constant.</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FM</a:t>
            </a:r>
            <a:endParaRPr lang="en-US" sz="3200" b="1" dirty="0">
              <a:latin typeface="Times New Roman" pitchFamily="18" charset="0"/>
              <a:cs typeface="Times New Roman" pitchFamily="18" charset="0"/>
            </a:endParaRPr>
          </a:p>
        </p:txBody>
      </p:sp>
      <p:pic>
        <p:nvPicPr>
          <p:cNvPr id="8" name="Content Placeholder 7" descr="FM.jpg"/>
          <p:cNvPicPr>
            <a:picLocks noGrp="1" noChangeAspect="1"/>
          </p:cNvPicPr>
          <p:nvPr>
            <p:ph idx="1"/>
          </p:nvPr>
        </p:nvPicPr>
        <p:blipFill>
          <a:blip r:embed="rId2" cstate="print"/>
          <a:stretch>
            <a:fillRect/>
          </a:stretch>
        </p:blipFill>
        <p:spPr>
          <a:xfrm>
            <a:off x="914400" y="1828800"/>
            <a:ext cx="6934200" cy="4267199"/>
          </a:xfrm>
        </p:spPr>
      </p:pic>
      <p:sp>
        <p:nvSpPr>
          <p:cNvPr id="5" name="Slide Number Placeholder 4"/>
          <p:cNvSpPr>
            <a:spLocks noGrp="1"/>
          </p:cNvSpPr>
          <p:nvPr>
            <p:ph type="sldNum" sz="quarter" idx="12"/>
          </p:nvPr>
        </p:nvSpPr>
        <p:spPr/>
        <p:txBody>
          <a:bodyPr/>
          <a:lstStyle/>
          <a:p>
            <a:fld id="{B0463075-33AF-4FC3-B90F-61AFAD45E32E}"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a:bodyPr>
          <a:lstStyle/>
          <a:p>
            <a:r>
              <a:rPr lang="en-US" sz="3200" b="1" dirty="0" smtClean="0">
                <a:latin typeface="Times New Roman" pitchFamily="18" charset="0"/>
                <a:cs typeface="Times New Roman" pitchFamily="18" charset="0"/>
              </a:rPr>
              <a:t>FDMA, TDMA, and CDMA</a:t>
            </a:r>
            <a:endParaRPr lang="en-US" sz="3200" b="1" dirty="0">
              <a:latin typeface="Times New Roman" pitchFamily="18" charset="0"/>
              <a:cs typeface="Times New Roman" pitchFamily="18" charset="0"/>
            </a:endParaRPr>
          </a:p>
        </p:txBody>
      </p:sp>
      <p:sp>
        <p:nvSpPr>
          <p:cNvPr id="6" name="Content Placeholder 5"/>
          <p:cNvSpPr>
            <a:spLocks noGrp="1"/>
          </p:cNvSpPr>
          <p:nvPr>
            <p:ph idx="1"/>
          </p:nvPr>
        </p:nvSpPr>
        <p:spPr>
          <a:xfrm>
            <a:off x="609600" y="1143000"/>
            <a:ext cx="8229600" cy="4983163"/>
          </a:xfrm>
        </p:spPr>
        <p:txBody>
          <a:bodyPr>
            <a:normAutofit/>
          </a:bodyPr>
          <a:lstStyle/>
          <a:p>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Frequency Division Multiple Access (FDMA)</a:t>
            </a:r>
            <a:r>
              <a:rPr lang="en-US" sz="2000" dirty="0" smtClean="0">
                <a:latin typeface="Times New Roman" pitchFamily="18" charset="0"/>
                <a:cs typeface="Times New Roman" pitchFamily="18" charset="0"/>
              </a:rPr>
              <a:t> permits individual allocation of single or multiple frequency bands, or channels to the users.</a:t>
            </a:r>
          </a:p>
          <a:p>
            <a:r>
              <a:rPr lang="en-US" sz="2000" b="1" dirty="0" smtClean="0">
                <a:latin typeface="Times New Roman" pitchFamily="18" charset="0"/>
                <a:cs typeface="Times New Roman" pitchFamily="18" charset="0"/>
              </a:rPr>
              <a:t>Time Division Multiple Access (TDMA) </a:t>
            </a:r>
            <a:r>
              <a:rPr lang="en-US" sz="2000" dirty="0" smtClean="0">
                <a:latin typeface="Times New Roman" pitchFamily="18" charset="0"/>
                <a:cs typeface="Times New Roman" pitchFamily="18" charset="0"/>
              </a:rPr>
              <a:t>works by dividing a radio frequency into time slots and then allocating slots to multiple calls. In this way, a single frequency can support multiple, simultaneous data channels</a:t>
            </a:r>
          </a:p>
          <a:p>
            <a:r>
              <a:rPr lang="en-US" sz="2000" b="1" dirty="0" smtClean="0">
                <a:latin typeface="Times New Roman" pitchFamily="18" charset="0"/>
                <a:cs typeface="Times New Roman" pitchFamily="18" charset="0"/>
              </a:rPr>
              <a:t>Code Division Multiple Access (CDMA) </a:t>
            </a:r>
            <a:r>
              <a:rPr lang="en-US" sz="2000" dirty="0" smtClean="0">
                <a:latin typeface="Times New Roman" pitchFamily="18" charset="0"/>
                <a:cs typeface="Times New Roman" pitchFamily="18" charset="0"/>
              </a:rPr>
              <a:t>uses spread spectrum technology with the use of different codes to separate between different stations or users rather than different frequencies of time slots as in the case of FDMA and TDMA technologies. </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pic>
        <p:nvPicPr>
          <p:cNvPr id="7" name="Picture 6" descr="03fig04.gif"/>
          <p:cNvPicPr>
            <a:picLocks noChangeAspect="1"/>
          </p:cNvPicPr>
          <p:nvPr/>
        </p:nvPicPr>
        <p:blipFill>
          <a:blip r:embed="rId2" cstate="print"/>
          <a:stretch>
            <a:fillRect/>
          </a:stretch>
        </p:blipFill>
        <p:spPr>
          <a:xfrm>
            <a:off x="2209800" y="4114800"/>
            <a:ext cx="4752975" cy="2466975"/>
          </a:xfrm>
          <a:prstGeom prst="rect">
            <a:avLst/>
          </a:prstGeom>
        </p:spPr>
      </p:pic>
      <p:sp>
        <p:nvSpPr>
          <p:cNvPr id="8" name="Slide Number Placeholder 7"/>
          <p:cNvSpPr>
            <a:spLocks noGrp="1"/>
          </p:cNvSpPr>
          <p:nvPr>
            <p:ph type="sldNum" sz="quarter" idx="12"/>
          </p:nvPr>
        </p:nvSpPr>
        <p:spPr/>
        <p:txBody>
          <a:bodyPr/>
          <a:lstStyle/>
          <a:p>
            <a:fld id="{B0463075-33AF-4FC3-B90F-61AFAD45E32E}"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dma.jpg"/>
          <p:cNvPicPr>
            <a:picLocks noChangeAspect="1"/>
          </p:cNvPicPr>
          <p:nvPr/>
        </p:nvPicPr>
        <p:blipFill>
          <a:blip r:embed="rId2" cstate="print"/>
          <a:stretch>
            <a:fillRect/>
          </a:stretch>
        </p:blipFill>
        <p:spPr>
          <a:xfrm>
            <a:off x="762000" y="1066800"/>
            <a:ext cx="7315200" cy="4953000"/>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pPr algn="l"/>
            <a:r>
              <a:rPr lang="en-US" sz="3200" dirty="0" smtClean="0">
                <a:latin typeface="Times New Roman" pitchFamily="18" charset="0"/>
                <a:cs typeface="Times New Roman" pitchFamily="18" charset="0"/>
              </a:rPr>
              <a:t>2G</a:t>
            </a:r>
          </a:p>
        </p:txBody>
      </p:sp>
      <p:sp>
        <p:nvSpPr>
          <p:cNvPr id="8195"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GSM (Global System for Mobile communication) in July 1991</a:t>
            </a:r>
          </a:p>
          <a:p>
            <a:r>
              <a:rPr lang="en-US" dirty="0" smtClean="0">
                <a:latin typeface="Times New Roman" pitchFamily="18" charset="0"/>
                <a:cs typeface="Times New Roman" pitchFamily="18" charset="0"/>
              </a:rPr>
              <a:t>900 MHz in 1992</a:t>
            </a:r>
          </a:p>
          <a:p>
            <a:r>
              <a:rPr lang="en-US" dirty="0" smtClean="0">
                <a:latin typeface="Times New Roman" pitchFamily="18" charset="0"/>
                <a:cs typeface="Times New Roman" pitchFamily="18" charset="0"/>
              </a:rPr>
              <a:t>1800 MHz in 1994</a:t>
            </a:r>
          </a:p>
          <a:p>
            <a:r>
              <a:rPr lang="en-US" dirty="0" smtClean="0">
                <a:latin typeface="Times New Roman" pitchFamily="18" charset="0"/>
                <a:cs typeface="Times New Roman" pitchFamily="18" charset="0"/>
              </a:rPr>
              <a:t>Fully digital</a:t>
            </a:r>
          </a:p>
          <a:p>
            <a:r>
              <a:rPr lang="en-US" dirty="0" smtClean="0">
                <a:latin typeface="Times New Roman" pitchFamily="18" charset="0"/>
                <a:cs typeface="Times New Roman" pitchFamily="18" charset="0"/>
              </a:rPr>
              <a:t>TDMA</a:t>
            </a:r>
          </a:p>
          <a:p>
            <a:r>
              <a:rPr lang="en-US" dirty="0" smtClean="0">
                <a:latin typeface="Times New Roman" pitchFamily="18" charset="0"/>
                <a:cs typeface="Times New Roman" pitchFamily="18" charset="0"/>
              </a:rPr>
              <a:t>Voice is encrypted, MMS, and International roaming</a:t>
            </a:r>
          </a:p>
          <a:p>
            <a:r>
              <a:rPr lang="en-US" dirty="0" smtClean="0">
                <a:latin typeface="Times New Roman" pitchFamily="18" charset="0"/>
                <a:cs typeface="Times New Roman" pitchFamily="18" charset="0"/>
              </a:rPr>
              <a:t>D-AMPS in 1993</a:t>
            </a:r>
          </a:p>
          <a:p>
            <a:r>
              <a:rPr lang="en-US" dirty="0" smtClean="0">
                <a:latin typeface="Times New Roman" pitchFamily="18" charset="0"/>
                <a:cs typeface="Times New Roman" pitchFamily="18" charset="0"/>
              </a:rPr>
              <a:t>Circuit switched</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pic>
        <p:nvPicPr>
          <p:cNvPr id="4" name="Picture 3" descr="GSM_Logo_alt.gif"/>
          <p:cNvPicPr>
            <a:picLocks noChangeAspect="1"/>
          </p:cNvPicPr>
          <p:nvPr/>
        </p:nvPicPr>
        <p:blipFill>
          <a:blip r:embed="rId2" cstate="print"/>
          <a:stretch>
            <a:fillRect/>
          </a:stretch>
        </p:blipFill>
        <p:spPr>
          <a:xfrm>
            <a:off x="4572000" y="304800"/>
            <a:ext cx="3657600" cy="838200"/>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81000"/>
            <a:ext cx="7239000" cy="2209800"/>
          </a:xfrm>
        </p:spPr>
        <p:txBody>
          <a:bodyPr>
            <a:normAutofit/>
          </a:bodyPr>
          <a:lstStyle/>
          <a:p>
            <a:r>
              <a:rPr lang="en-US" sz="3200" dirty="0" smtClean="0">
                <a:latin typeface="Times New Roman" pitchFamily="18" charset="0"/>
                <a:cs typeface="Times New Roman" pitchFamily="18" charset="0"/>
              </a:rPr>
              <a:t>Difference between Circuit and packet switching</a:t>
            </a:r>
            <a:endParaRPr lang="en-US" sz="3200" dirty="0">
              <a:latin typeface="Times New Roman" pitchFamily="18" charset="0"/>
              <a:cs typeface="Times New Roman" pitchFamily="18" charset="0"/>
            </a:endParaRPr>
          </a:p>
        </p:txBody>
      </p:sp>
      <p:pic>
        <p:nvPicPr>
          <p:cNvPr id="4" name="Content Placeholder 3" descr="circuit-switching-vs-packet-switching-fig1.jpg"/>
          <p:cNvPicPr>
            <a:picLocks noGrp="1" noChangeAspect="1"/>
          </p:cNvPicPr>
          <p:nvPr>
            <p:ph idx="1"/>
          </p:nvPr>
        </p:nvPicPr>
        <p:blipFill>
          <a:blip r:embed="rId2" cstate="print"/>
          <a:stretch>
            <a:fillRect/>
          </a:stretch>
        </p:blipFill>
        <p:spPr>
          <a:xfrm>
            <a:off x="1676400" y="2438400"/>
            <a:ext cx="5638800" cy="2438400"/>
          </a:xfrm>
        </p:spPr>
      </p:pic>
      <p:pic>
        <p:nvPicPr>
          <p:cNvPr id="5" name="Picture 4" descr="circuit-switching-vs-packet-switching-fig2.jpg"/>
          <p:cNvPicPr>
            <a:picLocks noChangeAspect="1"/>
          </p:cNvPicPr>
          <p:nvPr/>
        </p:nvPicPr>
        <p:blipFill>
          <a:blip r:embed="rId3" cstate="print"/>
          <a:stretch>
            <a:fillRect/>
          </a:stretch>
        </p:blipFill>
        <p:spPr>
          <a:xfrm>
            <a:off x="1752600" y="4857750"/>
            <a:ext cx="5562600" cy="2000250"/>
          </a:xfrm>
          <a:prstGeom prst="rect">
            <a:avLst/>
          </a:prstGeom>
        </p:spPr>
      </p:pic>
      <p:sp>
        <p:nvSpPr>
          <p:cNvPr id="7" name="Slide Number Placeholder 6"/>
          <p:cNvSpPr>
            <a:spLocks noGrp="1"/>
          </p:cNvSpPr>
          <p:nvPr>
            <p:ph type="sldNum" sz="quarter" idx="12"/>
          </p:nvPr>
        </p:nvSpPr>
        <p:spPr/>
        <p:txBody>
          <a:bodyPr/>
          <a:lstStyle/>
          <a:p>
            <a:fld id="{B0463075-33AF-4FC3-B90F-61AFAD45E32E}"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paketcircuit-3-728.jpg"/>
          <p:cNvPicPr>
            <a:picLocks noGrp="1" noChangeAspect="1"/>
          </p:cNvPicPr>
          <p:nvPr>
            <p:ph idx="1"/>
          </p:nvPr>
        </p:nvPicPr>
        <p:blipFill>
          <a:blip r:embed="rId2" cstate="print"/>
          <a:stretch>
            <a:fillRect/>
          </a:stretch>
        </p:blipFill>
        <p:spPr>
          <a:xfrm>
            <a:off x="1676400" y="1828800"/>
            <a:ext cx="6034617" cy="4525963"/>
          </a:xfrm>
        </p:spPr>
      </p:pic>
      <p:sp>
        <p:nvSpPr>
          <p:cNvPr id="6" name="Slide Number Placeholder 5"/>
          <p:cNvSpPr>
            <a:spLocks noGrp="1"/>
          </p:cNvSpPr>
          <p:nvPr>
            <p:ph type="sldNum" sz="quarter" idx="12"/>
          </p:nvPr>
        </p:nvSpPr>
        <p:spPr/>
        <p:txBody>
          <a:bodyPr/>
          <a:lstStyle/>
          <a:p>
            <a:fld id="{B0463075-33AF-4FC3-B90F-61AFAD45E32E}"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2.5 G</a:t>
            </a:r>
          </a:p>
        </p:txBody>
      </p:sp>
      <p:sp>
        <p:nvSpPr>
          <p:cNvPr id="9219"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GPRS (General Packet Radio Service)</a:t>
            </a:r>
          </a:p>
          <a:p>
            <a:r>
              <a:rPr lang="en-US" sz="2400" dirty="0" smtClean="0">
                <a:latin typeface="Times New Roman" pitchFamily="18" charset="0"/>
                <a:cs typeface="Times New Roman" pitchFamily="18" charset="0"/>
              </a:rPr>
              <a:t>From circuit switched domain to packet switched domain</a:t>
            </a:r>
          </a:p>
          <a:p>
            <a:r>
              <a:rPr lang="en-US" sz="2400" dirty="0" smtClean="0">
                <a:latin typeface="Times New Roman" pitchFamily="18" charset="0"/>
                <a:cs typeface="Times New Roman" pitchFamily="18" charset="0"/>
              </a:rPr>
              <a:t> Enables data transfers through cellular networks</a:t>
            </a:r>
          </a:p>
          <a:p>
            <a:r>
              <a:rPr lang="en-US" sz="2400" dirty="0" smtClean="0">
                <a:latin typeface="Times New Roman" pitchFamily="18" charset="0"/>
                <a:cs typeface="Times New Roman" pitchFamily="18" charset="0"/>
              </a:rPr>
              <a:t>It is used for mobile internet, MMS and other data communications</a:t>
            </a:r>
          </a:p>
          <a:p>
            <a:r>
              <a:rPr lang="en-US" sz="2400" dirty="0" smtClean="0">
                <a:latin typeface="Times New Roman" pitchFamily="18" charset="0"/>
                <a:cs typeface="Times New Roman" pitchFamily="18" charset="0"/>
              </a:rPr>
              <a:t>In theory the speed limit of GPRS is 115 kbps, but in most networks it is around 35 kbps. </a:t>
            </a:r>
          </a:p>
          <a:p>
            <a:r>
              <a:rPr lang="en-US" sz="2400" dirty="0" smtClean="0">
                <a:latin typeface="Times New Roman" pitchFamily="18" charset="0"/>
                <a:cs typeface="Times New Roman" pitchFamily="18" charset="0"/>
              </a:rPr>
              <a:t>GPRS is based on Global System for Mobile Communication (GSM) </a:t>
            </a:r>
          </a:p>
          <a:p>
            <a:endParaRPr lang="en-US" sz="2400" dirty="0" smtClean="0">
              <a:latin typeface="Times New Roman" pitchFamily="18" charset="0"/>
              <a:cs typeface="Times New Roman" pitchFamily="18" charset="0"/>
            </a:endParaRPr>
          </a:p>
        </p:txBody>
      </p:sp>
      <p:pic>
        <p:nvPicPr>
          <p:cNvPr id="4" name="Picture 3" descr="gprs-logo.jpg"/>
          <p:cNvPicPr>
            <a:picLocks noChangeAspect="1"/>
          </p:cNvPicPr>
          <p:nvPr/>
        </p:nvPicPr>
        <p:blipFill>
          <a:blip r:embed="rId3" cstate="print"/>
          <a:stretch>
            <a:fillRect/>
          </a:stretch>
        </p:blipFill>
        <p:spPr>
          <a:xfrm>
            <a:off x="6096000" y="0"/>
            <a:ext cx="1714500" cy="1333500"/>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2.75 G</a:t>
            </a:r>
          </a:p>
        </p:txBody>
      </p:sp>
      <p:sp>
        <p:nvSpPr>
          <p:cNvPr id="10243" name="Content Placeholder 2"/>
          <p:cNvSpPr>
            <a:spLocks noGrp="1"/>
          </p:cNvSpPr>
          <p:nvPr>
            <p:ph idx="1"/>
          </p:nvPr>
        </p:nvSpPr>
        <p:spPr/>
        <p:txBody>
          <a:bodyPr>
            <a:normAutofit fontScale="92500"/>
          </a:bodyPr>
          <a:lstStyle/>
          <a:p>
            <a:r>
              <a:rPr lang="en-US" dirty="0" smtClean="0">
                <a:latin typeface="Times New Roman" pitchFamily="18" charset="0"/>
                <a:cs typeface="Times New Roman" pitchFamily="18" charset="0"/>
              </a:rPr>
              <a:t>EDGE (</a:t>
            </a:r>
            <a:r>
              <a:rPr lang="en-US" dirty="0" smtClean="0">
                <a:solidFill>
                  <a:srgbClr val="FF0000"/>
                </a:solidFill>
                <a:latin typeface="Times New Roman" pitchFamily="18" charset="0"/>
                <a:cs typeface="Times New Roman" pitchFamily="18" charset="0"/>
              </a:rPr>
              <a:t>E</a:t>
            </a:r>
            <a:r>
              <a:rPr lang="en-US" dirty="0" smtClean="0">
                <a:latin typeface="Times New Roman" pitchFamily="18" charset="0"/>
                <a:cs typeface="Times New Roman" pitchFamily="18" charset="0"/>
              </a:rPr>
              <a:t>nhanced </a:t>
            </a:r>
            <a:r>
              <a:rPr lang="en-US" dirty="0" smtClean="0">
                <a:solidFill>
                  <a:srgbClr val="FF0000"/>
                </a:solidFill>
                <a:latin typeface="Times New Roman" pitchFamily="18" charset="0"/>
                <a:cs typeface="Times New Roman" pitchFamily="18" charset="0"/>
              </a:rPr>
              <a:t>D</a:t>
            </a:r>
            <a:r>
              <a:rPr lang="en-US" dirty="0" smtClean="0">
                <a:latin typeface="Times New Roman" pitchFamily="18" charset="0"/>
                <a:cs typeface="Times New Roman" pitchFamily="18" charset="0"/>
              </a:rPr>
              <a:t>ata rates for </a:t>
            </a:r>
            <a:r>
              <a:rPr lang="en-US" dirty="0" smtClean="0">
                <a:solidFill>
                  <a:srgbClr val="FF0000"/>
                </a:solidFill>
                <a:latin typeface="Times New Roman" pitchFamily="18" charset="0"/>
                <a:cs typeface="Times New Roman" pitchFamily="18" charset="0"/>
              </a:rPr>
              <a:t>G</a:t>
            </a:r>
            <a:r>
              <a:rPr lang="en-US" dirty="0" smtClean="0">
                <a:latin typeface="Times New Roman" pitchFamily="18" charset="0"/>
                <a:cs typeface="Times New Roman" pitchFamily="18" charset="0"/>
              </a:rPr>
              <a:t>SM </a:t>
            </a:r>
            <a:r>
              <a:rPr lang="en-US" dirty="0" smtClean="0">
                <a:solidFill>
                  <a:srgbClr val="FF0000"/>
                </a:solidFill>
                <a:latin typeface="Times New Roman" pitchFamily="18" charset="0"/>
                <a:cs typeface="Times New Roman" pitchFamily="18" charset="0"/>
              </a:rPr>
              <a:t>E</a:t>
            </a:r>
            <a:r>
              <a:rPr lang="en-US" dirty="0" smtClean="0">
                <a:latin typeface="Times New Roman" pitchFamily="18" charset="0"/>
                <a:cs typeface="Times New Roman" pitchFamily="18" charset="0"/>
              </a:rPr>
              <a:t>volution)</a:t>
            </a:r>
          </a:p>
          <a:p>
            <a:r>
              <a:rPr lang="en-US" dirty="0" smtClean="0">
                <a:latin typeface="Times New Roman" pitchFamily="18" charset="0"/>
                <a:cs typeface="Times New Roman" pitchFamily="18" charset="0"/>
              </a:rPr>
              <a:t>Enhanced GPRS</a:t>
            </a:r>
          </a:p>
          <a:p>
            <a:r>
              <a:rPr lang="en-US" dirty="0" smtClean="0">
                <a:latin typeface="Times New Roman" pitchFamily="18" charset="0"/>
                <a:cs typeface="Times New Roman" pitchFamily="18" charset="0"/>
              </a:rPr>
              <a:t>EDGE was deployed on GSM in 2003</a:t>
            </a:r>
          </a:p>
          <a:p>
            <a:r>
              <a:rPr lang="en-US" dirty="0" smtClean="0">
                <a:latin typeface="Times New Roman" pitchFamily="18" charset="0"/>
                <a:cs typeface="Times New Roman" pitchFamily="18" charset="0"/>
              </a:rPr>
              <a:t>Evolution of GSM, &amp; GPRS which used 8PSK modulation</a:t>
            </a:r>
          </a:p>
          <a:p>
            <a:r>
              <a:rPr lang="en-US" dirty="0" smtClean="0">
                <a:latin typeface="Times New Roman" pitchFamily="18" charset="0"/>
                <a:cs typeface="Times New Roman" pitchFamily="18" charset="0"/>
              </a:rPr>
              <a:t>Transmits data at up to 384 kilobits per second (Kbps). </a:t>
            </a:r>
          </a:p>
          <a:p>
            <a:r>
              <a:rPr lang="en-US" dirty="0" smtClean="0">
                <a:latin typeface="Times New Roman" pitchFamily="18" charset="0"/>
                <a:cs typeface="Times New Roman" pitchFamily="18" charset="0"/>
              </a:rPr>
              <a:t>Achieves data transfer rates up to 384 kbps</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p:txBody>
      </p:sp>
      <p:pic>
        <p:nvPicPr>
          <p:cNvPr id="4" name="Picture 3" descr="EDGE_symbol_Android.png"/>
          <p:cNvPicPr>
            <a:picLocks noChangeAspect="1"/>
          </p:cNvPicPr>
          <p:nvPr/>
        </p:nvPicPr>
        <p:blipFill>
          <a:blip r:embed="rId2" cstate="print"/>
          <a:stretch>
            <a:fillRect/>
          </a:stretch>
        </p:blipFill>
        <p:spPr>
          <a:xfrm>
            <a:off x="5943600" y="381000"/>
            <a:ext cx="1511111" cy="939683"/>
          </a:xfrm>
          <a:prstGeom prst="rect">
            <a:avLst/>
          </a:prstGeom>
        </p:spPr>
      </p:pic>
      <p:sp>
        <p:nvSpPr>
          <p:cNvPr id="6" name="Slide Number Placeholder 5"/>
          <p:cNvSpPr>
            <a:spLocks noGrp="1"/>
          </p:cNvSpPr>
          <p:nvPr>
            <p:ph type="sldNum" sz="quarter" idx="12"/>
          </p:nvPr>
        </p:nvSpPr>
        <p:spPr/>
        <p:txBody>
          <a:bodyPr/>
          <a:lstStyle/>
          <a:p>
            <a:fld id="{B0463075-33AF-4FC3-B90F-61AFAD45E32E}" type="slidenum">
              <a:rPr lang="en-US" sz="2400" smtClean="0">
                <a:solidFill>
                  <a:schemeClr val="tx1"/>
                </a:solidFill>
              </a:rPr>
              <a:pPr/>
              <a:t>38</a:t>
            </a:fld>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0463075-33AF-4FC3-B90F-61AFAD45E32E}" type="slidenum">
              <a:rPr lang="en-US" smtClean="0"/>
              <a:pPr/>
              <a:t>39</a:t>
            </a:fld>
            <a:endParaRPr lang="en-US"/>
          </a:p>
        </p:txBody>
      </p:sp>
      <p:pic>
        <p:nvPicPr>
          <p:cNvPr id="5" name="Content Placeholder 4" descr="edge-seminar-27-728.jpg"/>
          <p:cNvPicPr>
            <a:picLocks noGrp="1"/>
          </p:cNvPicPr>
          <p:nvPr>
            <p:ph idx="1"/>
          </p:nvPr>
        </p:nvPicPr>
        <p:blipFill>
          <a:blip r:embed="rId3" cstate="print"/>
          <a:srcRect b="6838"/>
          <a:stretch>
            <a:fillRect/>
          </a:stretch>
        </p:blipFill>
        <p:spPr>
          <a:xfrm>
            <a:off x="533400" y="914400"/>
            <a:ext cx="8077200" cy="54864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Gaussian Minimum Shift Keying (</a:t>
            </a:r>
            <a:r>
              <a:rPr lang="en-US" sz="2800" b="1" dirty="0" smtClean="0">
                <a:latin typeface="Times New Roman" pitchFamily="18" charset="0"/>
                <a:cs typeface="Times New Roman" pitchFamily="18" charset="0"/>
              </a:rPr>
              <a:t>GMSK</a:t>
            </a:r>
            <a:r>
              <a:rPr lang="en-US" sz="2800" dirty="0" smtClean="0">
                <a:latin typeface="Times New Roman" pitchFamily="18" charset="0"/>
                <a:cs typeface="Times New Roman" pitchFamily="18" charset="0"/>
              </a:rPr>
              <a:t>) is a form of continuous-phase FSK</a:t>
            </a:r>
          </a:p>
          <a:p>
            <a:r>
              <a:rPr lang="en-US" sz="2800" dirty="0" smtClean="0">
                <a:latin typeface="Times New Roman" pitchFamily="18" charset="0"/>
                <a:cs typeface="Times New Roman" pitchFamily="18" charset="0"/>
              </a:rPr>
              <a:t>The phase change is changed between symbols to provide a constant envelope. Consequently it is a popular alternative to QPSK. </a:t>
            </a:r>
          </a:p>
          <a:p>
            <a:r>
              <a:rPr lang="en-US" sz="2800" dirty="0" smtClean="0">
                <a:latin typeface="Times New Roman" pitchFamily="18" charset="0"/>
                <a:cs typeface="Times New Roman" pitchFamily="18" charset="0"/>
              </a:rPr>
              <a:t>The RF bandwidth is controlled by the Gaussian</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Spread spectrum</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Spread-spectrum</a:t>
            </a:r>
            <a:r>
              <a:rPr lang="en-US" sz="2400" dirty="0" smtClean="0">
                <a:latin typeface="Times New Roman" pitchFamily="18" charset="0"/>
                <a:cs typeface="Times New Roman" pitchFamily="18" charset="0"/>
              </a:rPr>
              <a:t> techniques are methods by which a signal generated with a particular bandwidth is deliberately spread in the frequency domain, resulting in a signal with a wider bandwidth.</a:t>
            </a:r>
          </a:p>
          <a:p>
            <a:r>
              <a:rPr lang="en-US" sz="2400" dirty="0" smtClean="0">
                <a:latin typeface="Times New Roman" pitchFamily="18" charset="0"/>
                <a:cs typeface="Times New Roman" pitchFamily="18" charset="0"/>
              </a:rPr>
              <a:t>Spread signals are intentionally made to be much wider band than the information they are carrying to make them more noise-like.</a:t>
            </a:r>
          </a:p>
        </p:txBody>
      </p:sp>
      <p:sp>
        <p:nvSpPr>
          <p:cNvPr id="5" name="Slide Number Placeholder 4"/>
          <p:cNvSpPr>
            <a:spLocks noGrp="1"/>
          </p:cNvSpPr>
          <p:nvPr>
            <p:ph type="sldNum" sz="quarter" idx="12"/>
          </p:nvPr>
        </p:nvSpPr>
        <p:spPr/>
        <p:txBody>
          <a:bodyPr/>
          <a:lstStyle/>
          <a:p>
            <a:fld id="{B0463075-33AF-4FC3-B90F-61AFAD45E32E}"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Spread spectrum</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400" dirty="0" smtClean="0">
                <a:latin typeface="Times New Roman" pitchFamily="18" charset="0"/>
                <a:cs typeface="Times New Roman" pitchFamily="18" charset="0"/>
              </a:rPr>
              <a:t>Spread Spectrum signals use fast codes that run many times the information bandwidth or data rate.</a:t>
            </a:r>
          </a:p>
          <a:p>
            <a:r>
              <a:rPr lang="en-US" sz="2400" dirty="0" smtClean="0">
                <a:latin typeface="Times New Roman" pitchFamily="18" charset="0"/>
                <a:cs typeface="Times New Roman" pitchFamily="18" charset="0"/>
              </a:rPr>
              <a:t> These special "Spreading" codes are called "Pseudo Random" or "Pseudo Noise" codes. They are called "Pseudo" because they are not real Gaussian noise.</a:t>
            </a:r>
          </a:p>
          <a:p>
            <a:r>
              <a:rPr lang="en-US" sz="2400" dirty="0" smtClean="0">
                <a:latin typeface="Times New Roman" pitchFamily="18" charset="0"/>
                <a:cs typeface="Times New Roman" pitchFamily="18" charset="0"/>
              </a:rPr>
              <a:t>Features: Anti-Jam (AJ) and Low Probability of Intercept (LPI)</a:t>
            </a:r>
          </a:p>
          <a:p>
            <a:r>
              <a:rPr lang="en-US" sz="2400" dirty="0" smtClean="0">
                <a:latin typeface="Times New Roman" pitchFamily="18" charset="0"/>
                <a:cs typeface="Times New Roman" pitchFamily="18" charset="0"/>
              </a:rPr>
              <a:t>It has two techniques: 	</a:t>
            </a:r>
          </a:p>
          <a:p>
            <a:pPr lvl="6"/>
            <a:r>
              <a:rPr lang="en-US" sz="2400" dirty="0" smtClean="0">
                <a:latin typeface="Times New Roman" pitchFamily="18" charset="0"/>
                <a:cs typeface="Times New Roman" pitchFamily="18" charset="0"/>
              </a:rPr>
              <a:t>1. Direct Sequence Spread Spectrum (DSSS)</a:t>
            </a:r>
          </a:p>
          <a:p>
            <a:pPr lvl="6"/>
            <a:r>
              <a:rPr lang="en-US" sz="2400" dirty="0" smtClean="0">
                <a:latin typeface="Times New Roman" pitchFamily="18" charset="0"/>
                <a:cs typeface="Times New Roman" pitchFamily="18" charset="0"/>
              </a:rPr>
              <a:t>2. Frequency Hopping Spread Spectrum (FHSS)</a:t>
            </a:r>
          </a:p>
          <a:p>
            <a:pPr>
              <a:buNone/>
            </a:pPr>
            <a:endParaRPr lang="en-US" dirty="0"/>
          </a:p>
        </p:txBody>
      </p:sp>
      <p:sp>
        <p:nvSpPr>
          <p:cNvPr id="5" name="Slide Number Placeholder 4"/>
          <p:cNvSpPr>
            <a:spLocks noGrp="1"/>
          </p:cNvSpPr>
          <p:nvPr>
            <p:ph type="sldNum" sz="quarter" idx="12"/>
          </p:nvPr>
        </p:nvSpPr>
        <p:spPr/>
        <p:txBody>
          <a:bodyPr/>
          <a:lstStyle/>
          <a:p>
            <a:fld id="{B0463075-33AF-4FC3-B90F-61AFAD45E32E}"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DSSS</a:t>
            </a:r>
            <a:endParaRPr lang="en-US" sz="3200" b="1" dirty="0">
              <a:latin typeface="Times New Roman" pitchFamily="18" charset="0"/>
              <a:cs typeface="Times New Roman" pitchFamily="18" charset="0"/>
            </a:endParaRPr>
          </a:p>
        </p:txBody>
      </p:sp>
      <p:pic>
        <p:nvPicPr>
          <p:cNvPr id="4" name="Content Placeholder 3" descr="dsss_example.png"/>
          <p:cNvPicPr>
            <a:picLocks noGrp="1" noChangeAspect="1"/>
          </p:cNvPicPr>
          <p:nvPr>
            <p:ph idx="1"/>
          </p:nvPr>
        </p:nvPicPr>
        <p:blipFill>
          <a:blip r:embed="rId3" cstate="print"/>
          <a:stretch>
            <a:fillRect/>
          </a:stretch>
        </p:blipFill>
        <p:spPr>
          <a:xfrm>
            <a:off x="942468" y="1786441"/>
            <a:ext cx="7259064" cy="4153480"/>
          </a:xfrm>
        </p:spPr>
      </p:pic>
      <p:sp>
        <p:nvSpPr>
          <p:cNvPr id="6" name="Slide Number Placeholder 5"/>
          <p:cNvSpPr>
            <a:spLocks noGrp="1"/>
          </p:cNvSpPr>
          <p:nvPr>
            <p:ph type="sldNum" sz="quarter" idx="12"/>
          </p:nvPr>
        </p:nvSpPr>
        <p:spPr/>
        <p:txBody>
          <a:bodyPr/>
          <a:lstStyle/>
          <a:p>
            <a:fld id="{B0463075-33AF-4FC3-B90F-61AFAD45E32E}"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FHSS</a:t>
            </a:r>
            <a:endParaRPr lang="en-US" sz="3200" b="1" dirty="0">
              <a:latin typeface="Times New Roman" pitchFamily="18" charset="0"/>
              <a:cs typeface="Times New Roman" pitchFamily="18" charset="0"/>
            </a:endParaRPr>
          </a:p>
        </p:txBody>
      </p:sp>
      <p:pic>
        <p:nvPicPr>
          <p:cNvPr id="4" name="Content Placeholder 3" descr="fhss.gif"/>
          <p:cNvPicPr>
            <a:picLocks noGrp="1" noChangeAspect="1"/>
          </p:cNvPicPr>
          <p:nvPr>
            <p:ph idx="1"/>
          </p:nvPr>
        </p:nvPicPr>
        <p:blipFill>
          <a:blip r:embed="rId2" cstate="print"/>
          <a:stretch>
            <a:fillRect/>
          </a:stretch>
        </p:blipFill>
        <p:spPr>
          <a:xfrm>
            <a:off x="1676400" y="1371600"/>
            <a:ext cx="6400800" cy="3634581"/>
          </a:xfrm>
        </p:spPr>
      </p:pic>
      <p:sp>
        <p:nvSpPr>
          <p:cNvPr id="6" name="Slide Number Placeholder 5"/>
          <p:cNvSpPr>
            <a:spLocks noGrp="1"/>
          </p:cNvSpPr>
          <p:nvPr>
            <p:ph type="sldNum" sz="quarter" idx="12"/>
          </p:nvPr>
        </p:nvSpPr>
        <p:spPr/>
        <p:txBody>
          <a:bodyPr/>
          <a:lstStyle/>
          <a:p>
            <a:fld id="{B0463075-33AF-4FC3-B90F-61AFAD45E32E}"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3G</a:t>
            </a:r>
          </a:p>
        </p:txBody>
      </p:sp>
      <p:sp>
        <p:nvSpPr>
          <p:cNvPr id="11267"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UMTS (Universal Mobile Telecommunications System) in 2001</a:t>
            </a:r>
          </a:p>
          <a:p>
            <a:r>
              <a:rPr lang="en-US" dirty="0" smtClean="0">
                <a:latin typeface="Times New Roman" pitchFamily="18" charset="0"/>
                <a:cs typeface="Times New Roman" pitchFamily="18" charset="0"/>
              </a:rPr>
              <a:t>Digital wideband packet</a:t>
            </a:r>
          </a:p>
          <a:p>
            <a:r>
              <a:rPr lang="en-US" dirty="0" smtClean="0">
                <a:latin typeface="Times New Roman" pitchFamily="18" charset="0"/>
                <a:cs typeface="Times New Roman" pitchFamily="18" charset="0"/>
              </a:rPr>
              <a:t>Uses different IPs</a:t>
            </a:r>
          </a:p>
          <a:p>
            <a:r>
              <a:rPr lang="en-US" dirty="0" smtClean="0">
                <a:latin typeface="Times New Roman" pitchFamily="18" charset="0"/>
                <a:cs typeface="Times New Roman" pitchFamily="18" charset="0"/>
              </a:rPr>
              <a:t>3G based on GSM standards</a:t>
            </a:r>
          </a:p>
          <a:p>
            <a:r>
              <a:rPr lang="en-US" dirty="0" smtClean="0">
                <a:latin typeface="Times New Roman" pitchFamily="18" charset="0"/>
                <a:cs typeface="Times New Roman" pitchFamily="18" charset="0"/>
              </a:rPr>
              <a:t>Up to 2Mbps</a:t>
            </a:r>
          </a:p>
          <a:p>
            <a:r>
              <a:rPr lang="en-US" dirty="0" smtClean="0">
                <a:latin typeface="Times New Roman" pitchFamily="18" charset="0"/>
                <a:cs typeface="Times New Roman" pitchFamily="18" charset="0"/>
              </a:rPr>
              <a:t>Uses W-CDMA</a:t>
            </a:r>
          </a:p>
          <a:p>
            <a:r>
              <a:rPr lang="en-US" dirty="0" smtClean="0">
                <a:latin typeface="Times New Roman" pitchFamily="18" charset="0"/>
                <a:cs typeface="Times New Roman" pitchFamily="18" charset="0"/>
              </a:rPr>
              <a:t>Mobile TV, Video calling, and Video on Demand (VOD)</a:t>
            </a:r>
          </a:p>
          <a:p>
            <a:endParaRPr lang="en-US"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WCDMA</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Wideband-CDMA (WCDMA) was developed by the GSM community to support 3G</a:t>
            </a:r>
          </a:p>
          <a:p>
            <a:r>
              <a:rPr lang="en-US" sz="2400" dirty="0" smtClean="0">
                <a:latin typeface="Times New Roman" pitchFamily="18" charset="0"/>
                <a:cs typeface="Times New Roman" pitchFamily="18" charset="0"/>
              </a:rPr>
              <a:t>WCDMA uses frequency bands of 5Mhz wide</a:t>
            </a:r>
          </a:p>
          <a:p>
            <a:r>
              <a:rPr lang="en-US" sz="2400" dirty="0" smtClean="0">
                <a:latin typeface="Times New Roman" pitchFamily="18" charset="0"/>
                <a:cs typeface="Times New Roman" pitchFamily="18" charset="0"/>
              </a:rPr>
              <a:t>Most WCDMA phones include GSM as well, for backward compatibility</a:t>
            </a:r>
          </a:p>
          <a:p>
            <a:r>
              <a:rPr lang="en-US" sz="2400" dirty="0" smtClean="0">
                <a:latin typeface="Times New Roman" pitchFamily="18" charset="0"/>
                <a:cs typeface="Times New Roman" pitchFamily="18" charset="0"/>
              </a:rPr>
              <a:t>WCDMA borrows certain technology ideas from CDMA, as the name implies, but is in fact very different and incompatible with phones and networks using "CDMA" technology</a:t>
            </a:r>
          </a:p>
          <a:p>
            <a:r>
              <a:rPr lang="en-US" sz="2400" dirty="0" smtClean="0">
                <a:latin typeface="Times New Roman" pitchFamily="18" charset="0"/>
                <a:cs typeface="Times New Roman" pitchFamily="18" charset="0"/>
              </a:rPr>
              <a:t>The frequency bands for WCDMA are as follows: Europe and Asia - 2100MHz, North America - 1900MHz and 850MHz</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diff.JPG"/>
          <p:cNvPicPr>
            <a:picLocks noGrp="1" noChangeAspect="1"/>
          </p:cNvPicPr>
          <p:nvPr>
            <p:ph idx="1"/>
          </p:nvPr>
        </p:nvPicPr>
        <p:blipFill>
          <a:blip r:embed="rId2" cstate="print"/>
          <a:stretch>
            <a:fillRect/>
          </a:stretch>
        </p:blipFill>
        <p:spPr>
          <a:xfrm>
            <a:off x="609600" y="1447800"/>
            <a:ext cx="8229600" cy="4261388"/>
          </a:xfrm>
        </p:spPr>
      </p:pic>
      <p:sp>
        <p:nvSpPr>
          <p:cNvPr id="6" name="Slide Number Placeholder 5"/>
          <p:cNvSpPr>
            <a:spLocks noGrp="1"/>
          </p:cNvSpPr>
          <p:nvPr>
            <p:ph type="sldNum" sz="quarter" idx="12"/>
          </p:nvPr>
        </p:nvSpPr>
        <p:spPr/>
        <p:txBody>
          <a:bodyPr/>
          <a:lstStyle/>
          <a:p>
            <a:fld id="{B0463075-33AF-4FC3-B90F-61AFAD45E32E}"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3.5G </a:t>
            </a:r>
          </a:p>
        </p:txBody>
      </p:sp>
      <p:sp>
        <p:nvSpPr>
          <p:cNvPr id="12291"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High Speed Packet Access (HSPA) is a combination of two mobile telephony protocols, High Speed Downlink Packet Access (HSDPA) and High Speed Uplink Packet Access (HSUPA)</a:t>
            </a:r>
          </a:p>
          <a:p>
            <a:r>
              <a:rPr lang="en-US" dirty="0" smtClean="0">
                <a:latin typeface="Times New Roman" pitchFamily="18" charset="0"/>
                <a:cs typeface="Times New Roman" pitchFamily="18" charset="0"/>
              </a:rPr>
              <a:t>The peak downlink speed of the network can reach 14.4 Mbps, and the peak uplink speed can reach 5.7Mbps.</a:t>
            </a:r>
          </a:p>
        </p:txBody>
      </p:sp>
      <p:sp>
        <p:nvSpPr>
          <p:cNvPr id="5" name="Slide Number Placeholder 4"/>
          <p:cNvSpPr>
            <a:spLocks noGrp="1"/>
          </p:cNvSpPr>
          <p:nvPr>
            <p:ph type="sldNum" sz="quarter" idx="12"/>
          </p:nvPr>
        </p:nvSpPr>
        <p:spPr/>
        <p:txBody>
          <a:bodyPr/>
          <a:lstStyle/>
          <a:p>
            <a:fld id="{B0463075-33AF-4FC3-B90F-61AFAD45E32E}"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4G</a:t>
            </a:r>
          </a:p>
        </p:txBody>
      </p:sp>
      <p:sp>
        <p:nvSpPr>
          <p:cNvPr id="13315" name="Content Placeholder 2"/>
          <p:cNvSpPr>
            <a:spLocks noGrp="1"/>
          </p:cNvSpPr>
          <p:nvPr>
            <p:ph idx="1"/>
          </p:nvPr>
        </p:nvSpPr>
        <p:spPr/>
        <p:txBody>
          <a:bodyPr>
            <a:normAutofit lnSpcReduction="10000"/>
          </a:bodyPr>
          <a:lstStyle/>
          <a:p>
            <a:r>
              <a:rPr lang="en-US" dirty="0" smtClean="0">
                <a:latin typeface="Times New Roman" pitchFamily="18" charset="0"/>
                <a:cs typeface="Times New Roman" pitchFamily="18" charset="0"/>
              </a:rPr>
              <a:t>Digital Wideband packet</a:t>
            </a:r>
          </a:p>
          <a:p>
            <a:r>
              <a:rPr lang="en-US" dirty="0" smtClean="0">
                <a:latin typeface="Times New Roman" pitchFamily="18" charset="0"/>
                <a:cs typeface="Times New Roman" pitchFamily="18" charset="0"/>
              </a:rPr>
              <a:t>All-IP (Uses a single language to transfer data)</a:t>
            </a:r>
          </a:p>
          <a:p>
            <a:r>
              <a:rPr lang="en-US" dirty="0" smtClean="0">
                <a:latin typeface="Times New Roman" pitchFamily="18" charset="0"/>
                <a:cs typeface="Times New Roman" pitchFamily="18" charset="0"/>
              </a:rPr>
              <a:t>Very high Throughput</a:t>
            </a:r>
          </a:p>
          <a:p>
            <a:r>
              <a:rPr lang="en-US" dirty="0" smtClean="0">
                <a:latin typeface="Times New Roman" pitchFamily="18" charset="0"/>
                <a:cs typeface="Times New Roman" pitchFamily="18" charset="0"/>
              </a:rPr>
              <a:t>100-300 Mbps</a:t>
            </a:r>
          </a:p>
          <a:p>
            <a:r>
              <a:rPr lang="en-US" dirty="0" smtClean="0">
                <a:latin typeface="Times New Roman" pitchFamily="18" charset="0"/>
                <a:cs typeface="Times New Roman" pitchFamily="18" charset="0"/>
              </a:rPr>
              <a:t>OFDM(Orthogonal Frequency Division Multiplexing)</a:t>
            </a:r>
          </a:p>
          <a:p>
            <a:r>
              <a:rPr lang="en-US" dirty="0" smtClean="0">
                <a:latin typeface="Times New Roman" pitchFamily="18" charset="0"/>
                <a:cs typeface="Times New Roman" pitchFamily="18" charset="0"/>
              </a:rPr>
              <a:t>Feature: Cloud computing</a:t>
            </a:r>
          </a:p>
          <a:p>
            <a:r>
              <a:rPr lang="en-US" dirty="0" smtClean="0">
                <a:latin typeface="Times New Roman" pitchFamily="18" charset="0"/>
                <a:cs typeface="Times New Roman" pitchFamily="18" charset="0"/>
              </a:rPr>
              <a:t>Race track for you only (Running race)</a:t>
            </a:r>
          </a:p>
          <a:p>
            <a:endParaRPr lang="en-US"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itchFamily="18" charset="0"/>
                <a:cs typeface="Times New Roman" pitchFamily="18" charset="0"/>
              </a:rPr>
              <a:t>OFDM</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smtClean="0">
                <a:latin typeface="Times New Roman" pitchFamily="18" charset="0"/>
                <a:cs typeface="Times New Roman" pitchFamily="18" charset="0"/>
              </a:rPr>
              <a:t>Orthogonal frequency-division multiplexing (</a:t>
            </a:r>
            <a:r>
              <a:rPr lang="en-US" sz="2800" b="1" dirty="0" smtClean="0">
                <a:latin typeface="Times New Roman" pitchFamily="18" charset="0"/>
                <a:cs typeface="Times New Roman" pitchFamily="18" charset="0"/>
              </a:rPr>
              <a:t>OFDM</a:t>
            </a:r>
            <a:r>
              <a:rPr lang="en-US" sz="2800" dirty="0" smtClean="0">
                <a:latin typeface="Times New Roman" pitchFamily="18" charset="0"/>
                <a:cs typeface="Times New Roman" pitchFamily="18" charset="0"/>
              </a:rPr>
              <a:t>) is a method of digital modulation in which a signal is split into several narrowband channels at different frequencies.</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50</a:t>
            </a:fld>
            <a:endParaRPr lang="en-US"/>
          </a:p>
        </p:txBody>
      </p:sp>
      <p:pic>
        <p:nvPicPr>
          <p:cNvPr id="5" name="Picture 4" descr="634714339420312500.jpg"/>
          <p:cNvPicPr>
            <a:picLocks noChangeAspect="1"/>
          </p:cNvPicPr>
          <p:nvPr/>
        </p:nvPicPr>
        <p:blipFill>
          <a:blip r:embed="rId3" cstate="print"/>
          <a:stretch>
            <a:fillRect/>
          </a:stretch>
        </p:blipFill>
        <p:spPr>
          <a:xfrm>
            <a:off x="72555" y="0"/>
            <a:ext cx="8998889" cy="685800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4G continued</a:t>
            </a:r>
          </a:p>
        </p:txBody>
      </p:sp>
      <p:sp>
        <p:nvSpPr>
          <p:cNvPr id="14339" name="Content Placeholder 2"/>
          <p:cNvSpPr>
            <a:spLocks noGrp="1"/>
          </p:cNvSpPr>
          <p:nvPr>
            <p:ph idx="1"/>
          </p:nvPr>
        </p:nvSpPr>
        <p:spPr/>
        <p:txBody>
          <a:bodyPr>
            <a:normAutofit fontScale="92500" lnSpcReduction="10000"/>
          </a:bodyPr>
          <a:lstStyle/>
          <a:p>
            <a:r>
              <a:rPr lang="en-US" dirty="0" smtClean="0">
                <a:latin typeface="Times New Roman" pitchFamily="18" charset="0"/>
                <a:cs typeface="Times New Roman" pitchFamily="18" charset="0"/>
              </a:rPr>
              <a:t>WiMax (Worldwide Interoperability for Microwave Access) in 2009</a:t>
            </a:r>
          </a:p>
          <a:p>
            <a:pPr lvl="1"/>
            <a:r>
              <a:rPr lang="en-US" dirty="0" smtClean="0">
                <a:latin typeface="Times New Roman" pitchFamily="18" charset="0"/>
                <a:cs typeface="Times New Roman" pitchFamily="18" charset="0"/>
              </a:rPr>
              <a:t>IEEE 820.16e</a:t>
            </a:r>
          </a:p>
          <a:p>
            <a:pPr lvl="1"/>
            <a:r>
              <a:rPr lang="en-US" dirty="0" smtClean="0">
                <a:latin typeface="Times New Roman" pitchFamily="18" charset="0"/>
                <a:cs typeface="Times New Roman" pitchFamily="18" charset="0"/>
              </a:rPr>
              <a:t>30 to 40 Mbps</a:t>
            </a:r>
          </a:p>
          <a:p>
            <a:r>
              <a:rPr lang="en-US" dirty="0" smtClean="0">
                <a:latin typeface="Times New Roman" pitchFamily="18" charset="0"/>
                <a:cs typeface="Times New Roman" pitchFamily="18" charset="0"/>
              </a:rPr>
              <a:t>LTE (Long Term Evolution)</a:t>
            </a:r>
          </a:p>
          <a:p>
            <a:pPr lvl="1"/>
            <a:r>
              <a:rPr lang="en-US" dirty="0" smtClean="0">
                <a:latin typeface="Times New Roman" pitchFamily="18" charset="0"/>
                <a:cs typeface="Times New Roman" pitchFamily="18" charset="0"/>
              </a:rPr>
              <a:t>Based on GSM/EDGE and UMTS/HSPA</a:t>
            </a:r>
          </a:p>
          <a:p>
            <a:pPr lvl="1"/>
            <a:r>
              <a:rPr lang="en-US" altLang="zh-CN" dirty="0" smtClean="0">
                <a:latin typeface="Times New Roman" pitchFamily="18" charset="0"/>
                <a:cs typeface="Times New Roman" pitchFamily="18" charset="0"/>
              </a:rPr>
              <a:t>data transfer rates of 100 Mbps</a:t>
            </a:r>
            <a:endParaRPr lang="en-US" dirty="0" smtClean="0">
              <a:latin typeface="Times New Roman" pitchFamily="18" charset="0"/>
              <a:cs typeface="Times New Roman" pitchFamily="18" charset="0"/>
            </a:endParaRPr>
          </a:p>
          <a:p>
            <a:pPr lvl="1"/>
            <a:r>
              <a:rPr lang="en-US" dirty="0" smtClean="0">
                <a:latin typeface="Times New Roman" pitchFamily="18" charset="0"/>
                <a:cs typeface="Times New Roman" pitchFamily="18" charset="0"/>
              </a:rPr>
              <a:t>Trademark of ETSI (European Telecommunications Standards Institute)</a:t>
            </a:r>
          </a:p>
          <a:p>
            <a:pPr lvl="1"/>
            <a:r>
              <a:rPr lang="en-US" dirty="0" smtClean="0">
                <a:latin typeface="Times New Roman" pitchFamily="18" charset="0"/>
                <a:cs typeface="Times New Roman" pitchFamily="18" charset="0"/>
              </a:rPr>
              <a:t>Bandwidth is shared with other users</a:t>
            </a:r>
          </a:p>
          <a:p>
            <a:endParaRPr lang="en-US" dirty="0" smtClean="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endParaRPr lang="en-US" dirty="0" smtClean="0"/>
          </a:p>
        </p:txBody>
      </p:sp>
      <p:pic>
        <p:nvPicPr>
          <p:cNvPr id="15363" name="Content Placeholder 3" descr="1000000000000E10000006C050D82666.jpg"/>
          <p:cNvPicPr>
            <a:picLocks noGrp="1" noChangeAspect="1"/>
          </p:cNvPicPr>
          <p:nvPr>
            <p:ph idx="1"/>
          </p:nvPr>
        </p:nvPicPr>
        <p:blipFill>
          <a:blip r:embed="rId2" cstate="print"/>
          <a:srcRect/>
          <a:stretch>
            <a:fillRect/>
          </a:stretch>
        </p:blipFill>
        <p:spPr>
          <a:xfrm>
            <a:off x="457200" y="381000"/>
            <a:ext cx="8229600" cy="6105525"/>
          </a:xfrm>
        </p:spPr>
      </p:pic>
      <p:sp>
        <p:nvSpPr>
          <p:cNvPr id="5" name="Slide Number Placeholder 4"/>
          <p:cNvSpPr>
            <a:spLocks noGrp="1"/>
          </p:cNvSpPr>
          <p:nvPr>
            <p:ph type="sldNum" sz="quarter" idx="12"/>
          </p:nvPr>
        </p:nvSpPr>
        <p:spPr/>
        <p:txBody>
          <a:bodyPr/>
          <a:lstStyle/>
          <a:p>
            <a:fld id="{B0463075-33AF-4FC3-B90F-61AFAD45E32E}"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pPr eaLnBrk="1" hangingPunct="1"/>
            <a:r>
              <a:rPr lang="es-UY" sz="3200" b="1" dirty="0" smtClean="0">
                <a:latin typeface="Times New Roman" pitchFamily="18" charset="0"/>
                <a:cs typeface="Times New Roman" pitchFamily="18" charset="0"/>
              </a:rPr>
              <a:t>5G</a:t>
            </a:r>
            <a:endParaRPr lang="es-ES" sz="3200" b="1" dirty="0" smtClean="0">
              <a:latin typeface="Times New Roman" pitchFamily="18" charset="0"/>
              <a:cs typeface="Times New Roman" pitchFamily="18" charset="0"/>
            </a:endParaRPr>
          </a:p>
        </p:txBody>
      </p:sp>
      <p:sp>
        <p:nvSpPr>
          <p:cNvPr id="16387" name="Rectangle 3"/>
          <p:cNvSpPr>
            <a:spLocks noGrp="1" noChangeArrowheads="1"/>
          </p:cNvSpPr>
          <p:nvPr>
            <p:ph idx="1"/>
          </p:nvPr>
        </p:nvSpPr>
        <p:spPr/>
        <p:txBody>
          <a:bodyPr>
            <a:normAutofit/>
          </a:bodyPr>
          <a:lstStyle/>
          <a:p>
            <a:pPr eaLnBrk="1" hangingPunct="1"/>
            <a:r>
              <a:rPr lang="en-US" sz="2800" dirty="0" smtClean="0">
                <a:latin typeface="Times New Roman" pitchFamily="18" charset="0"/>
                <a:cs typeface="Times New Roman" pitchFamily="18" charset="0"/>
              </a:rPr>
              <a:t>5G is the next generation of wireless communications </a:t>
            </a:r>
          </a:p>
          <a:p>
            <a:pPr eaLnBrk="1" hangingPunct="1"/>
            <a:r>
              <a:rPr lang="en-US" sz="2800" dirty="0" smtClean="0">
                <a:latin typeface="Times New Roman" pitchFamily="18" charset="0"/>
                <a:cs typeface="Times New Roman" pitchFamily="18" charset="0"/>
              </a:rPr>
              <a:t>5G will provide a high bandwidth with very low latency.</a:t>
            </a:r>
          </a:p>
          <a:p>
            <a:pPr eaLnBrk="1" hangingPunct="1"/>
            <a:r>
              <a:rPr lang="en-US" sz="2800" dirty="0" smtClean="0">
                <a:latin typeface="Times New Roman" pitchFamily="18" charset="0"/>
                <a:cs typeface="Times New Roman" pitchFamily="18" charset="0"/>
              </a:rPr>
              <a:t>5G is not about changing the existing technologies but to enhance and support them with new technologies that require very high speed data</a:t>
            </a:r>
          </a:p>
          <a:p>
            <a:pPr eaLnBrk="1" hangingPunct="1"/>
            <a:r>
              <a:rPr lang="en-US" sz="2800" dirty="0" smtClean="0">
                <a:latin typeface="Times New Roman" pitchFamily="18" charset="0"/>
                <a:cs typeface="Times New Roman" pitchFamily="18" charset="0"/>
              </a:rPr>
              <a:t>It has hit the market now and expected be in use up to 2040.</a:t>
            </a:r>
          </a:p>
        </p:txBody>
      </p:sp>
      <p:sp>
        <p:nvSpPr>
          <p:cNvPr id="5" name="Slide Number Placeholder 4"/>
          <p:cNvSpPr>
            <a:spLocks noGrp="1"/>
          </p:cNvSpPr>
          <p:nvPr>
            <p:ph type="sldNum" sz="quarter" idx="12"/>
          </p:nvPr>
        </p:nvSpPr>
        <p:spPr/>
        <p:txBody>
          <a:bodyPr/>
          <a:lstStyle/>
          <a:p>
            <a:fld id="{B0463075-33AF-4FC3-B90F-61AFAD45E32E}"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Technologies investigated in 5G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Millimeter wave</a:t>
            </a:r>
          </a:p>
          <a:p>
            <a:r>
              <a:rPr lang="en-US" dirty="0" smtClean="0">
                <a:latin typeface="Times New Roman" pitchFamily="18" charset="0"/>
                <a:cs typeface="Times New Roman" pitchFamily="18" charset="0"/>
              </a:rPr>
              <a:t>Massive MIMO</a:t>
            </a:r>
          </a:p>
          <a:p>
            <a:r>
              <a:rPr lang="en-US" dirty="0" smtClean="0">
                <a:latin typeface="Times New Roman" pitchFamily="18" charset="0"/>
                <a:cs typeface="Times New Roman" pitchFamily="18" charset="0"/>
              </a:rPr>
              <a:t>Cognitive radio networks</a:t>
            </a:r>
          </a:p>
          <a:p>
            <a:r>
              <a:rPr lang="en-US" dirty="0" smtClean="0">
                <a:latin typeface="Times New Roman" pitchFamily="18" charset="0"/>
                <a:cs typeface="Times New Roman" pitchFamily="18" charset="0"/>
              </a:rPr>
              <a:t>Visible light communications</a:t>
            </a:r>
          </a:p>
          <a:p>
            <a:pPr>
              <a:buNone/>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Millimeter wave</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dirty="0" smtClean="0">
                <a:latin typeface="Times New Roman" pitchFamily="18" charset="0"/>
                <a:cs typeface="Times New Roman" pitchFamily="18" charset="0"/>
              </a:rPr>
              <a:t>It was discovered by Sir J.C Bose in 1897.</a:t>
            </a:r>
          </a:p>
          <a:p>
            <a:r>
              <a:rPr lang="en-US" dirty="0" smtClean="0">
                <a:latin typeface="Times New Roman" pitchFamily="18" charset="0"/>
                <a:cs typeface="Times New Roman" pitchFamily="18" charset="0"/>
              </a:rPr>
              <a:t>It has a frequency range of 30 to 325 GHz and the wavelength is from 1 to 10 millimeters, hence the name.</a:t>
            </a:r>
          </a:p>
          <a:p>
            <a:r>
              <a:rPr lang="en-US" dirty="0" smtClean="0">
                <a:latin typeface="Times New Roman" pitchFamily="18" charset="0"/>
                <a:cs typeface="Times New Roman" pitchFamily="18" charset="0"/>
              </a:rPr>
              <a:t>It depends primarily on atmospheric oxygen, humidity, fog, and rain.</a:t>
            </a:r>
          </a:p>
          <a:p>
            <a:r>
              <a:rPr lang="en-US" dirty="0" smtClean="0">
                <a:latin typeface="Times New Roman" pitchFamily="18" charset="0"/>
                <a:cs typeface="Times New Roman" pitchFamily="18" charset="0"/>
              </a:rPr>
              <a:t>It opens up more spectrum.</a:t>
            </a:r>
          </a:p>
          <a:p>
            <a:r>
              <a:rPr lang="en-US" dirty="0" smtClean="0">
                <a:latin typeface="Times New Roman" pitchFamily="18" charset="0"/>
                <a:cs typeface="Times New Roman" pitchFamily="18" charset="0"/>
              </a:rPr>
              <a:t>The shorter the wavelength, the shorter the transmission range. This can be overcome by using high sensitivity  receiver , high transmit power, and high antenna gains.</a:t>
            </a:r>
          </a:p>
        </p:txBody>
      </p:sp>
      <p:sp>
        <p:nvSpPr>
          <p:cNvPr id="4" name="Slide Number Placeholder 3"/>
          <p:cNvSpPr>
            <a:spLocks noGrp="1"/>
          </p:cNvSpPr>
          <p:nvPr>
            <p:ph type="sldNum" sz="quarter" idx="12"/>
          </p:nvPr>
        </p:nvSpPr>
        <p:spPr/>
        <p:txBody>
          <a:bodyPr/>
          <a:lstStyle/>
          <a:p>
            <a:fld id="{B0463075-33AF-4FC3-B90F-61AFAD45E32E}" type="slidenum">
              <a:rPr lang="en-US" smtClean="0"/>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sz="3200" b="1" dirty="0" smtClean="0">
                <a:latin typeface="Times New Roman" pitchFamily="18" charset="0"/>
                <a:cs typeface="Times New Roman" pitchFamily="18" charset="0"/>
              </a:rPr>
              <a:t>Massive MIMO</a:t>
            </a:r>
          </a:p>
        </p:txBody>
      </p:sp>
      <p:sp>
        <p:nvSpPr>
          <p:cNvPr id="45059" name="Content Placeholder 2"/>
          <p:cNvSpPr>
            <a:spLocks noGrp="1"/>
          </p:cNvSpPr>
          <p:nvPr>
            <p:ph idx="1"/>
          </p:nvPr>
        </p:nvSpPr>
        <p:spPr/>
        <p:txBody>
          <a:bodyPr>
            <a:normAutofit lnSpcReduction="10000"/>
          </a:bodyPr>
          <a:lstStyle/>
          <a:p>
            <a:r>
              <a:rPr lang="en-US" sz="2400" smtClean="0">
                <a:latin typeface="Times New Roman" pitchFamily="18" charset="0"/>
                <a:cs typeface="Times New Roman" pitchFamily="18" charset="0"/>
              </a:rPr>
              <a:t>Massive MIMO uses  a very large number of service antennas (e.g., hundreds or thousands) that are operated fully coherently and adaptively</a:t>
            </a:r>
          </a:p>
          <a:p>
            <a:r>
              <a:rPr lang="en-US" sz="2400" smtClean="0">
                <a:latin typeface="Times New Roman" pitchFamily="18" charset="0"/>
                <a:cs typeface="Times New Roman" pitchFamily="18" charset="0"/>
              </a:rPr>
              <a:t> The more antennas the transmitter/receiver is equipped with, the more the possible signal paths and the better the performance in terms of data rate and link reliability</a:t>
            </a:r>
          </a:p>
          <a:p>
            <a:r>
              <a:rPr lang="en-US" sz="2400" smtClean="0">
                <a:latin typeface="Times New Roman" pitchFamily="18" charset="0"/>
                <a:cs typeface="Times New Roman" pitchFamily="18" charset="0"/>
              </a:rPr>
              <a:t>Works on the principle of Time Division Duplexing (TDD)</a:t>
            </a:r>
          </a:p>
          <a:p>
            <a:r>
              <a:rPr lang="en-US" sz="2400" smtClean="0">
                <a:latin typeface="Times New Roman" pitchFamily="18" charset="0"/>
                <a:cs typeface="Times New Roman" pitchFamily="18" charset="0"/>
              </a:rPr>
              <a:t>It is possible to take massive MIMO a step further for 5G mobile communications by replacing an antenna array of N elements with N individual antennas distributed widely through the environment on separate buildings, lamp posts, etc. </a:t>
            </a:r>
          </a:p>
        </p:txBody>
      </p:sp>
      <p:sp>
        <p:nvSpPr>
          <p:cNvPr id="4" name="Slide Number Placeholder 3"/>
          <p:cNvSpPr>
            <a:spLocks noGrp="1"/>
          </p:cNvSpPr>
          <p:nvPr>
            <p:ph type="sldNum" sz="quarter" idx="12"/>
          </p:nvPr>
        </p:nvSpPr>
        <p:spPr/>
        <p:txBody>
          <a:bodyPr/>
          <a:lstStyle/>
          <a:p>
            <a:fld id="{B0463075-33AF-4FC3-B90F-61AFAD45E32E}" type="slidenum">
              <a:rPr lang="en-US" smtClean="0"/>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539750" y="549275"/>
            <a:ext cx="8229600" cy="998538"/>
          </a:xfrm>
        </p:spPr>
        <p:txBody>
          <a:bodyPr/>
          <a:lstStyle/>
          <a:p>
            <a:r>
              <a:rPr lang="en-US" sz="3200" b="1" dirty="0" smtClean="0">
                <a:latin typeface="Times New Roman" pitchFamily="18" charset="0"/>
                <a:cs typeface="Times New Roman" pitchFamily="18" charset="0"/>
              </a:rPr>
              <a:t>Massive MIMO</a:t>
            </a:r>
          </a:p>
        </p:txBody>
      </p:sp>
      <p:sp>
        <p:nvSpPr>
          <p:cNvPr id="46083" name="Content Placeholder 2"/>
          <p:cNvSpPr>
            <a:spLocks noGrp="1"/>
          </p:cNvSpPr>
          <p:nvPr>
            <p:ph idx="1"/>
          </p:nvPr>
        </p:nvSpPr>
        <p:spPr>
          <a:xfrm>
            <a:off x="457200" y="1557338"/>
            <a:ext cx="8229600" cy="4767262"/>
          </a:xfrm>
        </p:spPr>
        <p:txBody>
          <a:bodyPr/>
          <a:lstStyle/>
          <a:p>
            <a:r>
              <a:rPr lang="en-US" sz="2400" dirty="0" smtClean="0">
                <a:latin typeface="Times New Roman" pitchFamily="18" charset="0"/>
                <a:cs typeface="Times New Roman" pitchFamily="18" charset="0"/>
              </a:rPr>
              <a:t>For this to work, the path from the sender to the receiver must be the same as the path from the receiver to the sender (At same frequency). </a:t>
            </a:r>
          </a:p>
          <a:p>
            <a:r>
              <a:rPr lang="en-US" sz="2400" dirty="0" smtClean="0">
                <a:latin typeface="Times New Roman" pitchFamily="18" charset="0"/>
                <a:cs typeface="Times New Roman" pitchFamily="18" charset="0"/>
              </a:rPr>
              <a:t>Massive MIMO can increase the capacity 10 times or more and simultaneously, improve the radiated energy-efficiency in the order of 100 times,</a:t>
            </a:r>
          </a:p>
          <a:p>
            <a:r>
              <a:rPr lang="en-US" sz="2400" dirty="0" smtClean="0">
                <a:latin typeface="Times New Roman" pitchFamily="18" charset="0"/>
                <a:cs typeface="Times New Roman" pitchFamily="18" charset="0"/>
              </a:rPr>
              <a:t>Can be built with inexpensive low-power components, enables a significant reduction of latency, simplifies the multiple-access layer,…</a:t>
            </a:r>
          </a:p>
        </p:txBody>
      </p:sp>
      <p:sp>
        <p:nvSpPr>
          <p:cNvPr id="4" name="Slide Number Placeholder 3"/>
          <p:cNvSpPr>
            <a:spLocks noGrp="1"/>
          </p:cNvSpPr>
          <p:nvPr>
            <p:ph type="sldNum" sz="quarter" idx="12"/>
          </p:nvPr>
        </p:nvSpPr>
        <p:spPr/>
        <p:txBody>
          <a:bodyPr/>
          <a:lstStyle/>
          <a:p>
            <a:fld id="{B0463075-33AF-4FC3-B90F-61AFAD45E32E}" type="slidenum">
              <a:rPr lang="en-US" smtClean="0"/>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Cognitive radio (CR) is a form of wireless communication in which a transceiver can intelligently detect which communication channels are in use and which are not, and instantly move into vacant channels while avoiding occupied ones.</a:t>
            </a:r>
          </a:p>
          <a:p>
            <a:r>
              <a:rPr lang="en-US" dirty="0" smtClean="0">
                <a:latin typeface="Times New Roman" pitchFamily="18" charset="0"/>
                <a:cs typeface="Times New Roman" pitchFamily="18" charset="0"/>
              </a:rPr>
              <a:t>Visible light communication (VLC) is a data communications medium which uses visible light between 400 and 800 THz (780–375 nm). VLC is a subset of optical wireless communications technologies.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61" name="Oval 19"/>
          <p:cNvSpPr>
            <a:spLocks noChangeArrowheads="1"/>
          </p:cNvSpPr>
          <p:nvPr/>
        </p:nvSpPr>
        <p:spPr bwMode="auto">
          <a:xfrm>
            <a:off x="31750" y="400050"/>
            <a:ext cx="9112250" cy="6457950"/>
          </a:xfrm>
          <a:prstGeom prst="ellipse">
            <a:avLst/>
          </a:prstGeom>
          <a:solidFill>
            <a:srgbClr val="CCECFF"/>
          </a:solidFill>
          <a:ln w="0">
            <a:solidFill>
              <a:srgbClr val="000000"/>
            </a:solidFill>
            <a:round/>
            <a:headEnd/>
            <a:tailEnd/>
          </a:ln>
        </p:spPr>
        <p:txBody>
          <a:bodyPr lIns="95782" tIns="47891" rIns="95782" bIns="47891"/>
          <a:lstStyle/>
          <a:p>
            <a:pPr defTabSz="957263">
              <a:spcBef>
                <a:spcPct val="50000"/>
              </a:spcBef>
            </a:pPr>
            <a:endParaRPr lang="sv-SE" sz="900">
              <a:solidFill>
                <a:schemeClr val="bg2"/>
              </a:solidFill>
            </a:endParaRPr>
          </a:p>
        </p:txBody>
      </p:sp>
      <p:sp>
        <p:nvSpPr>
          <p:cNvPr id="62" name="Rectangle 36"/>
          <p:cNvSpPr>
            <a:spLocks noChangeArrowheads="1"/>
          </p:cNvSpPr>
          <p:nvPr/>
        </p:nvSpPr>
        <p:spPr bwMode="auto">
          <a:xfrm>
            <a:off x="0" y="5761038"/>
            <a:ext cx="9144000" cy="1096962"/>
          </a:xfrm>
          <a:prstGeom prst="rect">
            <a:avLst/>
          </a:prstGeom>
          <a:solidFill>
            <a:schemeClr val="bg1"/>
          </a:solidFill>
          <a:ln w="9525">
            <a:noFill/>
            <a:miter lim="800000"/>
            <a:headEnd/>
            <a:tailEnd/>
          </a:ln>
          <a:effectLst>
            <a:prstShdw prst="shdw17" dist="17961" dir="2700000">
              <a:schemeClr val="bg1">
                <a:gamma/>
                <a:shade val="60000"/>
                <a:invGamma/>
              </a:schemeClr>
            </a:prstShdw>
          </a:effectLst>
        </p:spPr>
        <p:txBody>
          <a:bodyPr wrap="none" anchor="ctr"/>
          <a:lstStyle/>
          <a:p>
            <a:pPr>
              <a:defRPr/>
            </a:pPr>
            <a:endParaRPr lang="sv-SE">
              <a:latin typeface="Arial" charset="0"/>
              <a:cs typeface="Arial" charset="0"/>
            </a:endParaRPr>
          </a:p>
        </p:txBody>
      </p:sp>
      <p:grpSp>
        <p:nvGrpSpPr>
          <p:cNvPr id="63" name="Group 21"/>
          <p:cNvGrpSpPr>
            <a:grpSpLocks/>
          </p:cNvGrpSpPr>
          <p:nvPr/>
        </p:nvGrpSpPr>
        <p:grpSpPr bwMode="auto">
          <a:xfrm>
            <a:off x="31750" y="400050"/>
            <a:ext cx="9112250" cy="6457950"/>
            <a:chOff x="1089" y="734"/>
            <a:chExt cx="3765" cy="2504"/>
          </a:xfrm>
        </p:grpSpPr>
        <p:sp>
          <p:nvSpPr>
            <p:cNvPr id="64" name="Oval 20"/>
            <p:cNvSpPr>
              <a:spLocks noChangeArrowheads="1"/>
            </p:cNvSpPr>
            <p:nvPr/>
          </p:nvSpPr>
          <p:spPr bwMode="auto">
            <a:xfrm>
              <a:off x="1089" y="734"/>
              <a:ext cx="3765" cy="2504"/>
            </a:xfrm>
            <a:prstGeom prst="ellipse">
              <a:avLst/>
            </a:prstGeom>
            <a:noFill/>
            <a:ln w="15875" cap="rnd">
              <a:solidFill>
                <a:srgbClr val="58585A"/>
              </a:solidFill>
              <a:round/>
              <a:headEnd/>
              <a:tailEnd/>
            </a:ln>
          </p:spPr>
          <p:txBody>
            <a:bodyPr lIns="95782" tIns="47891" rIns="95782" bIns="47891"/>
            <a:lstStyle/>
            <a:p>
              <a:pPr defTabSz="957263">
                <a:spcBef>
                  <a:spcPct val="50000"/>
                </a:spcBef>
              </a:pPr>
              <a:endParaRPr lang="sv-SE" sz="3600">
                <a:solidFill>
                  <a:schemeClr val="bg2"/>
                </a:solidFill>
              </a:endParaRPr>
            </a:p>
          </p:txBody>
        </p:sp>
        <p:sp>
          <p:nvSpPr>
            <p:cNvPr id="65" name="Oval 19"/>
            <p:cNvSpPr>
              <a:spLocks noChangeArrowheads="1"/>
            </p:cNvSpPr>
            <p:nvPr/>
          </p:nvSpPr>
          <p:spPr bwMode="auto">
            <a:xfrm>
              <a:off x="1089" y="734"/>
              <a:ext cx="3765" cy="2504"/>
            </a:xfrm>
            <a:prstGeom prst="ellipse">
              <a:avLst/>
            </a:prstGeom>
            <a:solidFill>
              <a:srgbClr val="CCECFF"/>
            </a:solidFill>
            <a:ln w="0">
              <a:solidFill>
                <a:srgbClr val="000000"/>
              </a:solidFill>
              <a:round/>
              <a:headEnd/>
              <a:tailEnd/>
            </a:ln>
          </p:spPr>
          <p:txBody>
            <a:bodyPr lIns="95782" tIns="47891" rIns="95782" bIns="47891"/>
            <a:lstStyle/>
            <a:p>
              <a:pPr defTabSz="957263">
                <a:spcBef>
                  <a:spcPct val="50000"/>
                </a:spcBef>
              </a:pPr>
              <a:endParaRPr lang="sv-SE" sz="900">
                <a:solidFill>
                  <a:schemeClr val="bg2"/>
                </a:solidFill>
              </a:endParaRPr>
            </a:p>
          </p:txBody>
        </p:sp>
      </p:grpSp>
      <p:sp>
        <p:nvSpPr>
          <p:cNvPr id="66" name="Right Arrow 11"/>
          <p:cNvSpPr>
            <a:spLocks noChangeArrowheads="1"/>
          </p:cNvSpPr>
          <p:nvPr/>
        </p:nvSpPr>
        <p:spPr bwMode="auto">
          <a:xfrm rot="14305556">
            <a:off x="1484313" y="3179763"/>
            <a:ext cx="3532187" cy="1474787"/>
          </a:xfrm>
          <a:prstGeom prst="rightArrow">
            <a:avLst>
              <a:gd name="adj1" fmla="val 66824"/>
              <a:gd name="adj2" fmla="val 73415"/>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67" name="Right Arrow 11"/>
          <p:cNvSpPr>
            <a:spLocks noChangeArrowheads="1"/>
          </p:cNvSpPr>
          <p:nvPr/>
        </p:nvSpPr>
        <p:spPr bwMode="auto">
          <a:xfrm rot="17947648">
            <a:off x="3838575" y="3154363"/>
            <a:ext cx="3532187" cy="1474788"/>
          </a:xfrm>
          <a:prstGeom prst="rightArrow">
            <a:avLst>
              <a:gd name="adj1" fmla="val 66824"/>
              <a:gd name="adj2" fmla="val 74169"/>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68" name="Rectangle 24"/>
          <p:cNvSpPr>
            <a:spLocks noChangeArrowheads="1"/>
          </p:cNvSpPr>
          <p:nvPr/>
        </p:nvSpPr>
        <p:spPr bwMode="auto">
          <a:xfrm>
            <a:off x="3287713" y="455613"/>
            <a:ext cx="2544762" cy="523875"/>
          </a:xfrm>
          <a:prstGeom prst="rect">
            <a:avLst/>
          </a:prstGeom>
          <a:noFill/>
          <a:ln w="9525">
            <a:noFill/>
            <a:miter lim="800000"/>
            <a:headEnd/>
            <a:tailEnd/>
          </a:ln>
        </p:spPr>
        <p:txBody>
          <a:bodyPr lIns="0" tIns="0" rIns="0" bIns="0">
            <a:spAutoFit/>
          </a:bodyPr>
          <a:lstStyle/>
          <a:p>
            <a:pPr algn="ctr" defTabSz="957263">
              <a:spcBef>
                <a:spcPct val="50000"/>
              </a:spcBef>
              <a:defRPr/>
            </a:pPr>
            <a:r>
              <a:rPr lang="en-US" sz="3400" b="1">
                <a:effectLst>
                  <a:outerShdw blurRad="38100" dist="38100" dir="2700000" algn="tl">
                    <a:srgbClr val="C0C0C0"/>
                  </a:outerShdw>
                </a:effectLst>
                <a:latin typeface="Arial" charset="0"/>
                <a:cs typeface="Arial" charset="0"/>
              </a:rPr>
              <a:t>5G Future</a:t>
            </a:r>
          </a:p>
        </p:txBody>
      </p:sp>
      <p:sp>
        <p:nvSpPr>
          <p:cNvPr id="69" name="Rechteck 74"/>
          <p:cNvSpPr>
            <a:spLocks noChangeArrowheads="1"/>
          </p:cNvSpPr>
          <p:nvPr/>
        </p:nvSpPr>
        <p:spPr bwMode="auto">
          <a:xfrm>
            <a:off x="2978150" y="936625"/>
            <a:ext cx="3254375" cy="788988"/>
          </a:xfrm>
          <a:prstGeom prst="rect">
            <a:avLst/>
          </a:prstGeom>
          <a:noFill/>
          <a:ln w="9525">
            <a:noFill/>
            <a:miter lim="800000"/>
            <a:headEnd/>
            <a:tailEnd/>
          </a:ln>
        </p:spPr>
        <p:txBody>
          <a:bodyPr lIns="95782" tIns="47891" rIns="95782" bIns="47891">
            <a:spAutoFit/>
          </a:bodyPr>
          <a:lstStyle/>
          <a:p>
            <a:pPr algn="ctr" defTabSz="957263"/>
            <a:r>
              <a:rPr lang="en-US" sz="1500" b="1"/>
              <a:t>Integration</a:t>
            </a:r>
            <a:r>
              <a:rPr lang="en-US" sz="1500"/>
              <a:t> </a:t>
            </a:r>
            <a:br>
              <a:rPr lang="en-US" sz="1500"/>
            </a:br>
            <a:r>
              <a:rPr lang="en-US" sz="1500"/>
              <a:t>of access technologies </a:t>
            </a:r>
            <a:br>
              <a:rPr lang="en-US" sz="1500"/>
            </a:br>
            <a:r>
              <a:rPr lang="en-US" sz="1500"/>
              <a:t>into one seamless experience</a:t>
            </a:r>
            <a:endParaRPr lang="de-DE" sz="1500"/>
          </a:p>
        </p:txBody>
      </p:sp>
      <p:sp>
        <p:nvSpPr>
          <p:cNvPr id="70" name="Rechteck 82"/>
          <p:cNvSpPr>
            <a:spLocks noChangeArrowheads="1"/>
          </p:cNvSpPr>
          <p:nvPr/>
        </p:nvSpPr>
        <p:spPr bwMode="auto">
          <a:xfrm>
            <a:off x="4867275" y="2654300"/>
            <a:ext cx="2516188" cy="515938"/>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500" b="1">
                <a:solidFill>
                  <a:schemeClr val="tx2"/>
                </a:solidFill>
              </a:rPr>
              <a:t>Complementary </a:t>
            </a:r>
            <a:br>
              <a:rPr lang="en-US" sz="1500" b="1">
                <a:solidFill>
                  <a:schemeClr val="tx2"/>
                </a:solidFill>
              </a:rPr>
            </a:br>
            <a:r>
              <a:rPr lang="en-US" sz="1500" b="1">
                <a:solidFill>
                  <a:schemeClr val="tx2"/>
                </a:solidFill>
              </a:rPr>
              <a:t>new technologies </a:t>
            </a:r>
          </a:p>
        </p:txBody>
      </p:sp>
      <p:sp>
        <p:nvSpPr>
          <p:cNvPr id="71" name="Textfeld 86"/>
          <p:cNvSpPr txBox="1">
            <a:spLocks noChangeArrowheads="1"/>
          </p:cNvSpPr>
          <p:nvPr/>
        </p:nvSpPr>
        <p:spPr bwMode="auto">
          <a:xfrm>
            <a:off x="7069138" y="3090863"/>
            <a:ext cx="2074862" cy="492125"/>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D2D Communications</a:t>
            </a:r>
          </a:p>
        </p:txBody>
      </p:sp>
      <p:sp>
        <p:nvSpPr>
          <p:cNvPr id="72" name="Textfeld 88"/>
          <p:cNvSpPr txBox="1">
            <a:spLocks noChangeArrowheads="1"/>
          </p:cNvSpPr>
          <p:nvPr/>
        </p:nvSpPr>
        <p:spPr bwMode="auto">
          <a:xfrm>
            <a:off x="7239000" y="4491038"/>
            <a:ext cx="2108200" cy="492125"/>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Massive Machine</a:t>
            </a:r>
            <a:br>
              <a:rPr lang="de-DE" sz="1300" b="1"/>
            </a:br>
            <a:r>
              <a:rPr lang="de-DE" sz="1300" b="1"/>
              <a:t>Communications</a:t>
            </a:r>
          </a:p>
        </p:txBody>
      </p:sp>
      <p:sp>
        <p:nvSpPr>
          <p:cNvPr id="73" name="Textfeld 89"/>
          <p:cNvSpPr txBox="1">
            <a:spLocks noChangeArrowheads="1"/>
          </p:cNvSpPr>
          <p:nvPr/>
        </p:nvSpPr>
        <p:spPr bwMode="auto">
          <a:xfrm>
            <a:off x="7199313" y="3776663"/>
            <a:ext cx="1944687" cy="492125"/>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Ultra-Reliable</a:t>
            </a:r>
            <a:br>
              <a:rPr lang="de-DE" sz="1300" b="1"/>
            </a:br>
            <a:r>
              <a:rPr lang="de-DE" sz="1300" b="1"/>
              <a:t>Communications</a:t>
            </a:r>
          </a:p>
        </p:txBody>
      </p:sp>
      <p:sp>
        <p:nvSpPr>
          <p:cNvPr id="74" name="Right Arrow 11"/>
          <p:cNvSpPr>
            <a:spLocks noChangeArrowheads="1"/>
          </p:cNvSpPr>
          <p:nvPr/>
        </p:nvSpPr>
        <p:spPr bwMode="auto">
          <a:xfrm rot="16200000">
            <a:off x="2640012" y="2725738"/>
            <a:ext cx="3533775" cy="1670050"/>
          </a:xfrm>
          <a:prstGeom prst="rightArrow">
            <a:avLst>
              <a:gd name="adj1" fmla="val 66824"/>
              <a:gd name="adj2" fmla="val 64860"/>
            </a:avLst>
          </a:prstGeom>
          <a:gradFill rotWithShape="1">
            <a:gsLst>
              <a:gs pos="0">
                <a:srgbClr val="00B0F0"/>
              </a:gs>
              <a:gs pos="53999">
                <a:srgbClr val="D6EDBC"/>
              </a:gs>
              <a:gs pos="83350">
                <a:srgbClr val="FF0000"/>
              </a:gs>
              <a:gs pos="100000">
                <a:srgbClr val="EAF5DF"/>
              </a:gs>
            </a:gsLst>
            <a:lin ang="0" scaled="1"/>
          </a:gradFill>
          <a:ln w="28575" algn="ctr">
            <a:noFill/>
            <a:round/>
            <a:headEnd/>
            <a:tailEnd/>
          </a:ln>
        </p:spPr>
        <p:txBody>
          <a:bodyPr rot="10800000" lIns="95782" tIns="47891" rIns="95782" bIns="47891" anchor="ctr"/>
          <a:lstStyle/>
          <a:p>
            <a:pPr algn="ctr" defTabSz="798513" eaLnBrk="0" hangingPunct="0">
              <a:lnSpc>
                <a:spcPct val="90000"/>
              </a:lnSpc>
              <a:spcBef>
                <a:spcPct val="30000"/>
              </a:spcBef>
              <a:buClr>
                <a:schemeClr val="accent1"/>
              </a:buClr>
            </a:pPr>
            <a:endParaRPr lang="sv-SE" sz="1300">
              <a:solidFill>
                <a:schemeClr val="bg1"/>
              </a:solidFill>
            </a:endParaRPr>
          </a:p>
        </p:txBody>
      </p:sp>
      <p:sp>
        <p:nvSpPr>
          <p:cNvPr id="75" name="TextBox 31"/>
          <p:cNvSpPr txBox="1">
            <a:spLocks noChangeArrowheads="1"/>
          </p:cNvSpPr>
          <p:nvPr/>
        </p:nvSpPr>
        <p:spPr bwMode="auto">
          <a:xfrm>
            <a:off x="1974850" y="3709988"/>
            <a:ext cx="2774950" cy="279400"/>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300" b="1"/>
              <a:t>Respond to traffic explosion</a:t>
            </a:r>
          </a:p>
        </p:txBody>
      </p:sp>
      <p:sp>
        <p:nvSpPr>
          <p:cNvPr id="76" name="Rechteck 79"/>
          <p:cNvSpPr>
            <a:spLocks noChangeArrowheads="1"/>
          </p:cNvSpPr>
          <p:nvPr/>
        </p:nvSpPr>
        <p:spPr bwMode="auto">
          <a:xfrm>
            <a:off x="2490788" y="4140200"/>
            <a:ext cx="2262187" cy="250825"/>
          </a:xfrm>
          <a:prstGeom prst="rect">
            <a:avLst/>
          </a:prstGeom>
          <a:noFill/>
          <a:ln w="9525">
            <a:noFill/>
            <a:miter lim="800000"/>
            <a:headEnd/>
            <a:tailEnd/>
          </a:ln>
        </p:spPr>
        <p:txBody>
          <a:bodyPr lIns="95782" tIns="47891" rIns="95782" bIns="47891">
            <a:spAutoFit/>
          </a:bodyPr>
          <a:lstStyle/>
          <a:p>
            <a:pPr marL="184150" indent="-184150" defTabSz="957263" eaLnBrk="0" hangingPunct="0">
              <a:spcBef>
                <a:spcPct val="20000"/>
              </a:spcBef>
              <a:buFont typeface="Arial" pitchFamily="34" charset="0"/>
              <a:buNone/>
            </a:pPr>
            <a:r>
              <a:rPr lang="en-US" sz="1000"/>
              <a:t>10 -100 x higher typical user rate</a:t>
            </a:r>
          </a:p>
        </p:txBody>
      </p:sp>
      <p:sp>
        <p:nvSpPr>
          <p:cNvPr id="77" name="Rechteck 81"/>
          <p:cNvSpPr>
            <a:spLocks noChangeArrowheads="1"/>
          </p:cNvSpPr>
          <p:nvPr/>
        </p:nvSpPr>
        <p:spPr bwMode="auto">
          <a:xfrm>
            <a:off x="3354388" y="2419350"/>
            <a:ext cx="2089150" cy="327025"/>
          </a:xfrm>
          <a:prstGeom prst="rect">
            <a:avLst/>
          </a:prstGeom>
          <a:noFill/>
          <a:ln w="9525">
            <a:noFill/>
            <a:miter lim="800000"/>
            <a:headEnd/>
            <a:tailEnd/>
          </a:ln>
        </p:spPr>
        <p:txBody>
          <a:bodyPr lIns="95782" tIns="47891" rIns="95782" bIns="47891">
            <a:spAutoFit/>
          </a:bodyPr>
          <a:lstStyle/>
          <a:p>
            <a:pPr algn="ctr" defTabSz="957263"/>
            <a:r>
              <a:rPr lang="en-US" sz="1500" b="1">
                <a:solidFill>
                  <a:schemeClr val="tx2"/>
                </a:solidFill>
              </a:rPr>
              <a:t>Evolution</a:t>
            </a:r>
            <a:endParaRPr lang="de-DE" sz="1500">
              <a:solidFill>
                <a:schemeClr val="tx2"/>
              </a:solidFill>
            </a:endParaRPr>
          </a:p>
        </p:txBody>
      </p:sp>
      <p:sp>
        <p:nvSpPr>
          <p:cNvPr id="78" name="Textfeld 83"/>
          <p:cNvSpPr txBox="1">
            <a:spLocks noChangeArrowheads="1"/>
          </p:cNvSpPr>
          <p:nvPr/>
        </p:nvSpPr>
        <p:spPr bwMode="auto">
          <a:xfrm>
            <a:off x="331788" y="4560888"/>
            <a:ext cx="2155825" cy="296862"/>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Higher Frequencies</a:t>
            </a:r>
          </a:p>
        </p:txBody>
      </p:sp>
      <p:sp>
        <p:nvSpPr>
          <p:cNvPr id="79" name="Textfeld 84"/>
          <p:cNvSpPr txBox="1">
            <a:spLocks noChangeArrowheads="1"/>
          </p:cNvSpPr>
          <p:nvPr/>
        </p:nvSpPr>
        <p:spPr bwMode="auto">
          <a:xfrm>
            <a:off x="307975" y="3149600"/>
            <a:ext cx="2154238" cy="296863"/>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Massive MIMO</a:t>
            </a:r>
          </a:p>
        </p:txBody>
      </p:sp>
      <p:sp>
        <p:nvSpPr>
          <p:cNvPr id="80" name="Textfeld 85"/>
          <p:cNvSpPr txBox="1">
            <a:spLocks noChangeArrowheads="1"/>
          </p:cNvSpPr>
          <p:nvPr/>
        </p:nvSpPr>
        <p:spPr bwMode="auto">
          <a:xfrm>
            <a:off x="284163" y="3567113"/>
            <a:ext cx="2154237" cy="492125"/>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Ultra-Dense</a:t>
            </a:r>
            <a:br>
              <a:rPr lang="de-DE" sz="1300" b="1"/>
            </a:br>
            <a:r>
              <a:rPr lang="de-DE" sz="1300" b="1"/>
              <a:t>Networks</a:t>
            </a:r>
          </a:p>
        </p:txBody>
      </p:sp>
      <p:sp>
        <p:nvSpPr>
          <p:cNvPr id="81" name="Textfeld 34"/>
          <p:cNvSpPr txBox="1">
            <a:spLocks noChangeArrowheads="1"/>
          </p:cNvSpPr>
          <p:nvPr/>
        </p:nvSpPr>
        <p:spPr bwMode="auto">
          <a:xfrm>
            <a:off x="284163" y="4130675"/>
            <a:ext cx="2154237" cy="296863"/>
          </a:xfrm>
          <a:prstGeom prst="rect">
            <a:avLst/>
          </a:prstGeom>
          <a:noFill/>
          <a:ln w="9525">
            <a:noFill/>
            <a:miter lim="800000"/>
            <a:headEnd/>
            <a:tailEnd/>
          </a:ln>
        </p:spPr>
        <p:txBody>
          <a:bodyPr lIns="95782" tIns="47891" rIns="95782" bIns="47891">
            <a:spAutoFit/>
          </a:bodyPr>
          <a:lstStyle/>
          <a:p>
            <a:pPr marL="379413" indent="-379413" defTabSz="957263">
              <a:buFont typeface="Wingdings" pitchFamily="2" charset="2"/>
              <a:buChar char="Ø"/>
            </a:pPr>
            <a:r>
              <a:rPr lang="de-DE" sz="1300" b="1"/>
              <a:t>Moving Networks</a:t>
            </a:r>
          </a:p>
        </p:txBody>
      </p:sp>
      <p:sp>
        <p:nvSpPr>
          <p:cNvPr id="82" name="Rechteck 80"/>
          <p:cNvSpPr>
            <a:spLocks noChangeArrowheads="1"/>
          </p:cNvSpPr>
          <p:nvPr/>
        </p:nvSpPr>
        <p:spPr bwMode="auto">
          <a:xfrm>
            <a:off x="2701925" y="4379913"/>
            <a:ext cx="2038350" cy="404812"/>
          </a:xfrm>
          <a:prstGeom prst="rect">
            <a:avLst/>
          </a:prstGeom>
          <a:noFill/>
          <a:ln w="9525">
            <a:noFill/>
            <a:miter lim="800000"/>
            <a:headEnd/>
            <a:tailEnd/>
          </a:ln>
        </p:spPr>
        <p:txBody>
          <a:bodyPr lIns="95782" tIns="47891" rIns="95782" bIns="47891">
            <a:spAutoFit/>
          </a:bodyPr>
          <a:lstStyle/>
          <a:p>
            <a:pPr marL="184150" indent="-184150" defTabSz="957263" eaLnBrk="0" hangingPunct="0">
              <a:spcBef>
                <a:spcPct val="20000"/>
              </a:spcBef>
              <a:buFont typeface="Arial" pitchFamily="34" charset="0"/>
              <a:buNone/>
            </a:pPr>
            <a:r>
              <a:rPr lang="en-US" sz="1000"/>
              <a:t>1000 x higher mobile data volume per area</a:t>
            </a:r>
          </a:p>
        </p:txBody>
      </p:sp>
      <p:sp>
        <p:nvSpPr>
          <p:cNvPr id="83" name="Rechteck 77"/>
          <p:cNvSpPr>
            <a:spLocks noChangeArrowheads="1"/>
          </p:cNvSpPr>
          <p:nvPr/>
        </p:nvSpPr>
        <p:spPr bwMode="auto">
          <a:xfrm>
            <a:off x="4867275" y="4316413"/>
            <a:ext cx="1963738" cy="404812"/>
          </a:xfrm>
          <a:prstGeom prst="rect">
            <a:avLst/>
          </a:prstGeom>
          <a:noFill/>
          <a:ln w="9525">
            <a:noFill/>
            <a:miter lim="800000"/>
            <a:headEnd/>
            <a:tailEnd/>
          </a:ln>
        </p:spPr>
        <p:txBody>
          <a:bodyPr lIns="95782" tIns="47891" rIns="95782" bIns="47891">
            <a:spAutoFit/>
          </a:bodyPr>
          <a:lstStyle/>
          <a:p>
            <a:pPr marL="184150" indent="-184150" defTabSz="957263" eaLnBrk="0" hangingPunct="0">
              <a:spcBef>
                <a:spcPct val="20000"/>
              </a:spcBef>
              <a:buFont typeface="Arial" pitchFamily="34" charset="0"/>
              <a:buNone/>
            </a:pPr>
            <a:r>
              <a:rPr lang="en-US" sz="1000">
                <a:solidFill>
                  <a:srgbClr val="996633"/>
                </a:solidFill>
              </a:rPr>
              <a:t>10 -100 x higher number of connected devices</a:t>
            </a:r>
          </a:p>
        </p:txBody>
      </p:sp>
      <p:sp>
        <p:nvSpPr>
          <p:cNvPr id="84" name="Rechteck 78"/>
          <p:cNvSpPr>
            <a:spLocks noChangeArrowheads="1"/>
          </p:cNvSpPr>
          <p:nvPr/>
        </p:nvSpPr>
        <p:spPr bwMode="auto">
          <a:xfrm>
            <a:off x="4764088" y="4678363"/>
            <a:ext cx="2479675" cy="250825"/>
          </a:xfrm>
          <a:prstGeom prst="rect">
            <a:avLst/>
          </a:prstGeom>
          <a:noFill/>
          <a:ln w="9525">
            <a:noFill/>
            <a:miter lim="800000"/>
            <a:headEnd/>
            <a:tailEnd/>
          </a:ln>
        </p:spPr>
        <p:txBody>
          <a:bodyPr lIns="95782" tIns="47891" rIns="95782" bIns="47891">
            <a:spAutoFit/>
          </a:bodyPr>
          <a:lstStyle/>
          <a:p>
            <a:pPr marL="184150" indent="-184150" defTabSz="957263" eaLnBrk="0" hangingPunct="0">
              <a:spcBef>
                <a:spcPct val="20000"/>
              </a:spcBef>
              <a:buFont typeface="Arial" pitchFamily="34" charset="0"/>
              <a:buNone/>
            </a:pPr>
            <a:r>
              <a:rPr lang="en-US" sz="1000">
                <a:solidFill>
                  <a:srgbClr val="996633"/>
                </a:solidFill>
              </a:rPr>
              <a:t>5 x reduced E2E latency</a:t>
            </a:r>
          </a:p>
        </p:txBody>
      </p:sp>
      <p:sp>
        <p:nvSpPr>
          <p:cNvPr id="85" name="Rectangle 3"/>
          <p:cNvSpPr txBox="1">
            <a:spLocks noChangeArrowheads="1"/>
          </p:cNvSpPr>
          <p:nvPr/>
        </p:nvSpPr>
        <p:spPr bwMode="auto">
          <a:xfrm>
            <a:off x="5056188" y="3973513"/>
            <a:ext cx="1976437" cy="477837"/>
          </a:xfrm>
          <a:prstGeom prst="rect">
            <a:avLst/>
          </a:prstGeom>
          <a:noFill/>
          <a:ln w="9525">
            <a:noFill/>
            <a:miter lim="800000"/>
            <a:headEnd/>
            <a:tailEnd/>
          </a:ln>
        </p:spPr>
        <p:txBody>
          <a:bodyPr lIns="75419" tIns="0" rIns="75419" bIns="0"/>
          <a:lstStyle/>
          <a:p>
            <a:pPr marL="184150" indent="-184150" defTabSz="957263" eaLnBrk="0" hangingPunct="0">
              <a:spcBef>
                <a:spcPct val="20000"/>
              </a:spcBef>
              <a:buFont typeface="Arial" pitchFamily="34" charset="0"/>
              <a:buNone/>
            </a:pPr>
            <a:r>
              <a:rPr lang="en-US" sz="1000">
                <a:solidFill>
                  <a:srgbClr val="996633"/>
                </a:solidFill>
              </a:rPr>
              <a:t>10 x longer battery life </a:t>
            </a:r>
          </a:p>
          <a:p>
            <a:pPr marL="184150" indent="-184150" defTabSz="957263" eaLnBrk="0" hangingPunct="0">
              <a:spcBef>
                <a:spcPct val="20000"/>
              </a:spcBef>
              <a:buFont typeface="Arial" pitchFamily="34" charset="0"/>
              <a:buNone/>
            </a:pPr>
            <a:r>
              <a:rPr lang="en-US" sz="1000">
                <a:solidFill>
                  <a:srgbClr val="996633"/>
                </a:solidFill>
              </a:rPr>
              <a:t>for low power M2M</a:t>
            </a:r>
          </a:p>
        </p:txBody>
      </p:sp>
      <p:sp>
        <p:nvSpPr>
          <p:cNvPr id="86" name="Rechteck 81"/>
          <p:cNvSpPr>
            <a:spLocks noChangeArrowheads="1"/>
          </p:cNvSpPr>
          <p:nvPr/>
        </p:nvSpPr>
        <p:spPr bwMode="auto">
          <a:xfrm>
            <a:off x="2287588" y="2701925"/>
            <a:ext cx="1317625" cy="327025"/>
          </a:xfrm>
          <a:prstGeom prst="rect">
            <a:avLst/>
          </a:prstGeom>
          <a:noFill/>
          <a:ln w="9525">
            <a:noFill/>
            <a:miter lim="800000"/>
            <a:headEnd/>
            <a:tailEnd/>
          </a:ln>
        </p:spPr>
        <p:txBody>
          <a:bodyPr lIns="95782" tIns="47891" rIns="95782" bIns="47891">
            <a:spAutoFit/>
          </a:bodyPr>
          <a:lstStyle/>
          <a:p>
            <a:pPr algn="ctr" defTabSz="957263"/>
            <a:r>
              <a:rPr lang="en-US" sz="1500" b="1">
                <a:solidFill>
                  <a:schemeClr val="tx2"/>
                </a:solidFill>
              </a:rPr>
              <a:t>Revolution</a:t>
            </a:r>
            <a:endParaRPr lang="de-DE" sz="1500">
              <a:solidFill>
                <a:schemeClr val="tx2"/>
              </a:solidFill>
            </a:endParaRPr>
          </a:p>
        </p:txBody>
      </p:sp>
      <p:sp>
        <p:nvSpPr>
          <p:cNvPr id="87" name="Rectangle 31"/>
          <p:cNvSpPr>
            <a:spLocks noChangeArrowheads="1"/>
          </p:cNvSpPr>
          <p:nvPr/>
        </p:nvSpPr>
        <p:spPr bwMode="auto">
          <a:xfrm>
            <a:off x="2462213" y="3968750"/>
            <a:ext cx="4124325" cy="1058863"/>
          </a:xfrm>
          <a:prstGeom prst="rect">
            <a:avLst/>
          </a:prstGeom>
          <a:noFill/>
          <a:ln w="9525">
            <a:solidFill>
              <a:schemeClr val="tx1"/>
            </a:solidFill>
            <a:prstDash val="dash"/>
            <a:miter lim="800000"/>
            <a:headEnd/>
            <a:tailEnd/>
          </a:ln>
          <a:effectLst>
            <a:prstShdw prst="shdw17" dist="17961" dir="2700000">
              <a:schemeClr val="tx1">
                <a:gamma/>
                <a:shade val="60000"/>
                <a:invGamma/>
              </a:schemeClr>
            </a:prstShdw>
          </a:effectLst>
        </p:spPr>
        <p:txBody>
          <a:bodyPr wrap="none" anchor="ctr"/>
          <a:lstStyle/>
          <a:p>
            <a:pPr>
              <a:defRPr/>
            </a:pPr>
            <a:endParaRPr lang="sv-SE" sz="2100">
              <a:latin typeface="Arial" charset="0"/>
              <a:cs typeface="Arial" charset="0"/>
            </a:endParaRPr>
          </a:p>
        </p:txBody>
      </p:sp>
      <p:sp>
        <p:nvSpPr>
          <p:cNvPr id="88" name="Oval 90"/>
          <p:cNvSpPr>
            <a:spLocks noChangeArrowheads="1"/>
          </p:cNvSpPr>
          <p:nvPr/>
        </p:nvSpPr>
        <p:spPr bwMode="auto">
          <a:xfrm>
            <a:off x="1209675" y="4911725"/>
            <a:ext cx="6588125" cy="1406525"/>
          </a:xfrm>
          <a:prstGeom prst="ellipse">
            <a:avLst/>
          </a:prstGeom>
          <a:solidFill>
            <a:srgbClr val="99CCFF"/>
          </a:solidFill>
          <a:ln w="25400" algn="ctr">
            <a:noFill/>
            <a:prstDash val="sysDash"/>
            <a:round/>
            <a:headEnd/>
            <a:tailEnd/>
          </a:ln>
        </p:spPr>
        <p:txBody>
          <a:bodyPr lIns="95782" tIns="47891" rIns="95782" bIns="47891" anchor="ctr"/>
          <a:lstStyle/>
          <a:p>
            <a:pPr algn="ctr" defTabSz="957263">
              <a:spcBef>
                <a:spcPct val="50000"/>
              </a:spcBef>
            </a:pPr>
            <a:endParaRPr lang="sv-SE" sz="5400"/>
          </a:p>
        </p:txBody>
      </p:sp>
      <p:sp>
        <p:nvSpPr>
          <p:cNvPr id="89" name="TextBox 93"/>
          <p:cNvSpPr txBox="1">
            <a:spLocks noChangeArrowheads="1"/>
          </p:cNvSpPr>
          <p:nvPr/>
        </p:nvSpPr>
        <p:spPr bwMode="auto">
          <a:xfrm>
            <a:off x="2647950" y="5207000"/>
            <a:ext cx="3646488" cy="327025"/>
          </a:xfrm>
          <a:prstGeom prst="rect">
            <a:avLst/>
          </a:prstGeom>
          <a:noFill/>
          <a:ln w="9525">
            <a:noFill/>
            <a:miter lim="800000"/>
            <a:headEnd/>
            <a:tailEnd/>
          </a:ln>
        </p:spPr>
        <p:txBody>
          <a:bodyPr lIns="95782" tIns="47891" rIns="95782" bIns="47891">
            <a:spAutoFit/>
          </a:bodyPr>
          <a:lstStyle/>
          <a:p>
            <a:pPr algn="ctr" defTabSz="957263">
              <a:spcBef>
                <a:spcPct val="50000"/>
              </a:spcBef>
            </a:pPr>
            <a:r>
              <a:rPr lang="en-US" sz="1500" b="1">
                <a:solidFill>
                  <a:schemeClr val="tx2"/>
                </a:solidFill>
              </a:rPr>
              <a:t>Existing technologies in 2012</a:t>
            </a:r>
          </a:p>
        </p:txBody>
      </p:sp>
      <p:sp>
        <p:nvSpPr>
          <p:cNvPr id="90" name="Oval 31"/>
          <p:cNvSpPr>
            <a:spLocks noChangeArrowheads="1"/>
          </p:cNvSpPr>
          <p:nvPr/>
        </p:nvSpPr>
        <p:spPr bwMode="auto">
          <a:xfrm>
            <a:off x="1763713" y="5437188"/>
            <a:ext cx="1598612" cy="392112"/>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3G</a:t>
            </a:r>
          </a:p>
        </p:txBody>
      </p:sp>
      <p:sp>
        <p:nvSpPr>
          <p:cNvPr id="91" name="Oval 31"/>
          <p:cNvSpPr>
            <a:spLocks noChangeArrowheads="1"/>
          </p:cNvSpPr>
          <p:nvPr/>
        </p:nvSpPr>
        <p:spPr bwMode="auto">
          <a:xfrm>
            <a:off x="3733800" y="5570538"/>
            <a:ext cx="1543050" cy="392112"/>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4G</a:t>
            </a:r>
          </a:p>
        </p:txBody>
      </p:sp>
      <p:sp>
        <p:nvSpPr>
          <p:cNvPr id="92" name="Oval 31"/>
          <p:cNvSpPr>
            <a:spLocks noChangeArrowheads="1"/>
          </p:cNvSpPr>
          <p:nvPr/>
        </p:nvSpPr>
        <p:spPr bwMode="auto">
          <a:xfrm>
            <a:off x="5599113" y="5407025"/>
            <a:ext cx="1433512" cy="384175"/>
          </a:xfrm>
          <a:prstGeom prst="ellipse">
            <a:avLst/>
          </a:prstGeom>
          <a:solidFill>
            <a:schemeClr val="bg2"/>
          </a:solidFill>
          <a:ln w="9525">
            <a:solidFill>
              <a:schemeClr val="tx1"/>
            </a:solidFill>
            <a:round/>
            <a:headEnd/>
            <a:tailEnd/>
          </a:ln>
        </p:spPr>
        <p:txBody>
          <a:bodyPr wrap="none" lIns="95782" tIns="47891" rIns="95782" bIns="47891" anchor="ctr"/>
          <a:lstStyle/>
          <a:p>
            <a:pPr algn="ctr" defTabSz="957263">
              <a:defRPr/>
            </a:pPr>
            <a:r>
              <a:rPr lang="en-US" sz="1500" b="1">
                <a:effectLst>
                  <a:outerShdw blurRad="38100" dist="38100" dir="2700000" algn="tl">
                    <a:srgbClr val="FFFFFF"/>
                  </a:outerShdw>
                </a:effectLst>
                <a:latin typeface="Arial" charset="0"/>
                <a:cs typeface="Arial" charset="0"/>
              </a:rPr>
              <a:t>Wifi</a:t>
            </a:r>
          </a:p>
        </p:txBody>
      </p:sp>
      <p:sp>
        <p:nvSpPr>
          <p:cNvPr id="93" name="WordArt 34"/>
          <p:cNvSpPr>
            <a:spLocks noChangeArrowheads="1" noChangeShapeType="1" noTextEdit="1"/>
          </p:cNvSpPr>
          <p:nvPr/>
        </p:nvSpPr>
        <p:spPr bwMode="auto">
          <a:xfrm rot="20539052">
            <a:off x="3384550" y="2620963"/>
            <a:ext cx="354013" cy="165100"/>
          </a:xfrm>
          <a:prstGeom prst="rect">
            <a:avLst/>
          </a:prstGeom>
        </p:spPr>
        <p:txBody>
          <a:bodyPr spcFirstLastPara="1" wrap="none" fromWordArt="1">
            <a:prstTxWarp prst="textArchUp">
              <a:avLst>
                <a:gd name="adj" fmla="val 10800005"/>
              </a:avLst>
            </a:prstTxWarp>
          </a:bodyPr>
          <a:lstStyle/>
          <a:p>
            <a:pPr algn="ctr"/>
            <a:r>
              <a:rPr lang="en-US" sz="1000" kern="10" spc="200">
                <a:ln w="9525">
                  <a:solidFill>
                    <a:srgbClr val="000000"/>
                  </a:solidFill>
                  <a:round/>
                  <a:headEnd/>
                  <a:tailEnd/>
                </a:ln>
                <a:solidFill>
                  <a:srgbClr val="000000"/>
                </a:solidFill>
                <a:latin typeface="Arial"/>
                <a:cs typeface="Arial"/>
              </a:rPr>
              <a:t>and / or</a:t>
            </a:r>
          </a:p>
        </p:txBody>
      </p:sp>
      <p:sp>
        <p:nvSpPr>
          <p:cNvPr id="94" name="WordArt 36"/>
          <p:cNvSpPr>
            <a:spLocks noChangeArrowheads="1" noChangeShapeType="1" noTextEdit="1"/>
          </p:cNvSpPr>
          <p:nvPr/>
        </p:nvSpPr>
        <p:spPr bwMode="auto">
          <a:xfrm rot="1281183">
            <a:off x="5084763" y="2606675"/>
            <a:ext cx="354012" cy="166688"/>
          </a:xfrm>
          <a:prstGeom prst="rect">
            <a:avLst/>
          </a:prstGeom>
        </p:spPr>
        <p:txBody>
          <a:bodyPr spcFirstLastPara="1" wrap="none" fromWordArt="1">
            <a:prstTxWarp prst="textArchUp">
              <a:avLst>
                <a:gd name="adj" fmla="val 10800005"/>
              </a:avLst>
            </a:prstTxWarp>
          </a:bodyPr>
          <a:lstStyle/>
          <a:p>
            <a:pPr algn="ctr"/>
            <a:r>
              <a:rPr lang="en-US" sz="1000" kern="10" spc="200">
                <a:ln w="9525">
                  <a:solidFill>
                    <a:srgbClr val="000000"/>
                  </a:solidFill>
                  <a:round/>
                  <a:headEnd/>
                  <a:tailEnd/>
                </a:ln>
                <a:solidFill>
                  <a:srgbClr val="000000"/>
                </a:solidFill>
                <a:latin typeface="Arial"/>
                <a:cs typeface="Arial"/>
              </a:rPr>
              <a:t>and / or</a:t>
            </a:r>
          </a:p>
        </p:txBody>
      </p:sp>
      <p:sp>
        <p:nvSpPr>
          <p:cNvPr id="95" name="TextBox 30"/>
          <p:cNvSpPr txBox="1">
            <a:spLocks noChangeArrowheads="1"/>
          </p:cNvSpPr>
          <p:nvPr/>
        </p:nvSpPr>
        <p:spPr bwMode="auto">
          <a:xfrm>
            <a:off x="4341813" y="3709988"/>
            <a:ext cx="2686050" cy="279400"/>
          </a:xfrm>
          <a:prstGeom prst="rect">
            <a:avLst/>
          </a:prstGeom>
          <a:noFill/>
          <a:ln w="9525">
            <a:noFill/>
            <a:miter lim="800000"/>
            <a:headEnd/>
            <a:tailEnd/>
          </a:ln>
        </p:spPr>
        <p:txBody>
          <a:bodyPr lIns="95782" tIns="47891" rIns="95782" bIns="47891">
            <a:spAutoFit/>
          </a:bodyPr>
          <a:lstStyle/>
          <a:p>
            <a:pPr algn="ctr" defTabSz="798513" eaLnBrk="0" hangingPunct="0">
              <a:lnSpc>
                <a:spcPct val="90000"/>
              </a:lnSpc>
              <a:spcBef>
                <a:spcPct val="30000"/>
              </a:spcBef>
              <a:buClr>
                <a:schemeClr val="accent1"/>
              </a:buClr>
            </a:pPr>
            <a:r>
              <a:rPr lang="en-US" sz="1300" b="1">
                <a:solidFill>
                  <a:srgbClr val="996633"/>
                </a:solidFill>
              </a:rPr>
              <a:t>Extend to novel applications</a:t>
            </a:r>
          </a:p>
        </p:txBody>
      </p:sp>
      <p:sp>
        <p:nvSpPr>
          <p:cNvPr id="40" name="Slide Number Placeholder 39"/>
          <p:cNvSpPr>
            <a:spLocks noGrp="1"/>
          </p:cNvSpPr>
          <p:nvPr>
            <p:ph type="sldNum" sz="quarter" idx="12"/>
          </p:nvPr>
        </p:nvSpPr>
        <p:spPr/>
        <p:txBody>
          <a:bodyPr/>
          <a:lstStyle/>
          <a:p>
            <a:fld id="{B0463075-33AF-4FC3-B90F-61AFAD45E32E}" type="slidenum">
              <a:rPr lang="en-US" smtClean="0"/>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Architecture of 5G</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a:p>
        </p:txBody>
      </p:sp>
      <p:pic>
        <p:nvPicPr>
          <p:cNvPr id="4" name="Picture 6" descr="Capture.JPG"/>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5800" y="1524000"/>
            <a:ext cx="8064896" cy="48965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fld id="{B0463075-33AF-4FC3-B90F-61AFAD45E32E}" type="slidenum">
              <a:rPr lang="en-US" smtClean="0"/>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Advantages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marL="457200" indent="-457200" fontAlgn="auto">
              <a:spcBef>
                <a:spcPts val="0"/>
              </a:spcBef>
              <a:spcAft>
                <a:spcPts val="0"/>
              </a:spcAft>
              <a:buFont typeface="Wingdings" pitchFamily="2" charset="2"/>
              <a:buChar char="v"/>
              <a:defRPr/>
            </a:pPr>
            <a:r>
              <a:rPr lang="en-US" dirty="0" smtClean="0">
                <a:latin typeface="Times New Roman" pitchFamily="18" charset="0"/>
                <a:cs typeface="Times New Roman" pitchFamily="18" charset="0"/>
              </a:rPr>
              <a:t>Data  Bandwidth of 1Gbps or higher.</a:t>
            </a:r>
          </a:p>
          <a:p>
            <a:pPr marL="457200" indent="-457200" fontAlgn="auto">
              <a:spcBef>
                <a:spcPts val="0"/>
              </a:spcBef>
              <a:spcAft>
                <a:spcPts val="0"/>
              </a:spcAft>
              <a:defRPr/>
            </a:pPr>
            <a:endParaRPr lang="en-US" dirty="0" smtClean="0">
              <a:latin typeface="Times New Roman" pitchFamily="18" charset="0"/>
              <a:cs typeface="Times New Roman" pitchFamily="18" charset="0"/>
            </a:endParaRPr>
          </a:p>
          <a:p>
            <a:pPr marL="457200" indent="-457200" fontAlgn="auto">
              <a:spcBef>
                <a:spcPts val="0"/>
              </a:spcBef>
              <a:spcAft>
                <a:spcPts val="0"/>
              </a:spcAft>
              <a:buFont typeface="Wingdings" pitchFamily="2" charset="2"/>
              <a:buChar char="v"/>
              <a:defRPr/>
            </a:pPr>
            <a:r>
              <a:rPr lang="en-US" dirty="0" smtClean="0">
                <a:latin typeface="Times New Roman" pitchFamily="18" charset="0"/>
                <a:cs typeface="Times New Roman" pitchFamily="18" charset="0"/>
              </a:rPr>
              <a:t>Dynamic information access.</a:t>
            </a:r>
          </a:p>
          <a:p>
            <a:pPr marL="457200" indent="-457200" fontAlgn="auto">
              <a:spcBef>
                <a:spcPts val="0"/>
              </a:spcBef>
              <a:spcAft>
                <a:spcPts val="0"/>
              </a:spcAft>
              <a:buNone/>
              <a:defRPr/>
            </a:pPr>
            <a:endParaRPr lang="en-US" dirty="0" smtClean="0">
              <a:latin typeface="Times New Roman" pitchFamily="18" charset="0"/>
              <a:cs typeface="Times New Roman" pitchFamily="18" charset="0"/>
            </a:endParaRPr>
          </a:p>
          <a:p>
            <a:pPr marL="457200" indent="-457200" fontAlgn="auto">
              <a:spcBef>
                <a:spcPts val="0"/>
              </a:spcBef>
              <a:spcAft>
                <a:spcPts val="0"/>
              </a:spcAft>
              <a:defRPr/>
            </a:pPr>
            <a:endParaRPr lang="en-US" dirty="0" smtClean="0">
              <a:latin typeface="Times New Roman" pitchFamily="18" charset="0"/>
              <a:cs typeface="Times New Roman" pitchFamily="18" charset="0"/>
            </a:endParaRPr>
          </a:p>
          <a:p>
            <a:pPr marL="457200" indent="-457200" fontAlgn="auto">
              <a:spcBef>
                <a:spcPts val="0"/>
              </a:spcBef>
              <a:spcAft>
                <a:spcPts val="0"/>
              </a:spcAft>
              <a:buFont typeface="Wingdings" pitchFamily="2" charset="2"/>
              <a:buChar char="v"/>
              <a:defRPr/>
            </a:pPr>
            <a:r>
              <a:rPr lang="en-US" dirty="0" smtClean="0">
                <a:latin typeface="Times New Roman" pitchFamily="18" charset="0"/>
                <a:cs typeface="Times New Roman" pitchFamily="18" charset="0"/>
              </a:rPr>
              <a:t>Finest Quality Of Service(QOS).</a:t>
            </a:r>
          </a:p>
          <a:p>
            <a:pPr marL="457200" indent="-457200" fontAlgn="auto">
              <a:spcBef>
                <a:spcPts val="0"/>
              </a:spcBef>
              <a:spcAft>
                <a:spcPts val="0"/>
              </a:spcAft>
              <a:defRPr/>
            </a:pPr>
            <a:endParaRPr lang="en-US" dirty="0" smtClean="0">
              <a:latin typeface="Times New Roman" pitchFamily="18" charset="0"/>
              <a:cs typeface="Times New Roman" pitchFamily="18" charset="0"/>
            </a:endParaRPr>
          </a:p>
          <a:p>
            <a:pPr marL="457200" indent="-457200" fontAlgn="auto">
              <a:spcBef>
                <a:spcPts val="0"/>
              </a:spcBef>
              <a:spcAft>
                <a:spcPts val="0"/>
              </a:spcAft>
              <a:buFont typeface="Wingdings" pitchFamily="2" charset="2"/>
              <a:buChar char="v"/>
              <a:defRPr/>
            </a:pPr>
            <a:r>
              <a:rPr lang="en-US" dirty="0" smtClean="0">
                <a:latin typeface="Times New Roman" pitchFamily="18" charset="0"/>
                <a:cs typeface="Times New Roman" pitchFamily="18" charset="0"/>
              </a:rPr>
              <a:t>Pages will upload almost instantly.</a:t>
            </a:r>
          </a:p>
          <a:p>
            <a:pPr marL="457200" indent="-457200" fontAlgn="auto">
              <a:spcBef>
                <a:spcPts val="0"/>
              </a:spcBef>
              <a:spcAft>
                <a:spcPts val="0"/>
              </a:spcAft>
              <a:defRPr/>
            </a:pPr>
            <a:endParaRPr lang="en-US" dirty="0" smtClean="0">
              <a:latin typeface="Times New Roman" pitchFamily="18" charset="0"/>
              <a:cs typeface="Times New Roman" pitchFamily="18" charset="0"/>
            </a:endParaRPr>
          </a:p>
          <a:p>
            <a:pPr marL="457200" indent="-457200" fontAlgn="auto">
              <a:spcBef>
                <a:spcPts val="0"/>
              </a:spcBef>
              <a:spcAft>
                <a:spcPts val="0"/>
              </a:spcAft>
              <a:buFont typeface="Wingdings" pitchFamily="2" charset="2"/>
              <a:buChar char="v"/>
              <a:defRPr/>
            </a:pPr>
            <a:r>
              <a:rPr lang="en-US" dirty="0" smtClean="0">
                <a:latin typeface="Times New Roman" pitchFamily="18" charset="0"/>
                <a:cs typeface="Times New Roman" pitchFamily="18" charset="0"/>
              </a:rPr>
              <a:t>Support interactive multimedia, voice, streaming video, Internet,  and other broadband services.</a:t>
            </a:r>
            <a:endParaRPr lang="en-US" dirty="0" smtClean="0">
              <a:solidFill>
                <a:srgbClr val="002060"/>
              </a:solidFill>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61</a:t>
            </a:fld>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Disadvantages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pPr>
              <a:buFont typeface="Wingdings" pitchFamily="2" charset="2"/>
              <a:buChar char="v"/>
            </a:pPr>
            <a:r>
              <a:rPr lang="en-US" dirty="0" smtClean="0">
                <a:latin typeface="Times New Roman" pitchFamily="18" charset="0"/>
                <a:cs typeface="Times New Roman" pitchFamily="18" charset="0"/>
              </a:rPr>
              <a:t>Since 5G services are likely to run on ultra-high spectrum bands, which travel shorter distances compared with lower bands, they may be more suited to enhanced indoor coverage.</a:t>
            </a:r>
          </a:p>
          <a:p>
            <a:pPr>
              <a:buFont typeface="Wingdings" pitchFamily="2" charset="2"/>
              <a:buChar char="v"/>
            </a:pPr>
            <a:r>
              <a:rPr lang="en-US" dirty="0" smtClean="0">
                <a:latin typeface="Times New Roman" pitchFamily="18" charset="0"/>
                <a:cs typeface="Times New Roman" pitchFamily="18" charset="0"/>
              </a:rPr>
              <a:t>  Higher frequencies could be blocked by buildings and they lose intensity over longer distances. That means, offering wider coverage would be a challenge.</a:t>
            </a:r>
          </a:p>
          <a:p>
            <a:pPr>
              <a:buFont typeface="Wingdings" pitchFamily="2" charset="2"/>
              <a:buChar char="v"/>
            </a:pPr>
            <a:r>
              <a:rPr lang="en-US" dirty="0" smtClean="0">
                <a:latin typeface="Times New Roman" pitchFamily="18" charset="0"/>
                <a:cs typeface="Times New Roman" pitchFamily="18" charset="0"/>
              </a:rPr>
              <a:t>The speed, this technology is claiming seems difficult to achieve (in future, it might be) because of the incompetent technological support in most parts of the world.</a:t>
            </a:r>
          </a:p>
          <a:p>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0463075-33AF-4FC3-B90F-61AFAD45E32E}" type="slidenum">
              <a:rPr lang="en-US" smtClean="0"/>
              <a:pPr/>
              <a:t>62</a:t>
            </a:fld>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itchFamily="18" charset="0"/>
                <a:cs typeface="Times New Roman" pitchFamily="18" charset="0"/>
              </a:rPr>
              <a:t>Area of implementation</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ctr">
              <a:buNone/>
            </a:pPr>
            <a:r>
              <a:rPr lang="en-US" dirty="0" smtClean="0">
                <a:latin typeface="Times New Roman" pitchFamily="18" charset="0"/>
                <a:cs typeface="Times New Roman" pitchFamily="18" charset="0"/>
              </a:rPr>
              <a:t>5G will be used in:</a:t>
            </a:r>
          </a:p>
          <a:p>
            <a:r>
              <a:rPr lang="en-US" dirty="0" smtClean="0">
                <a:latin typeface="Times New Roman" pitchFamily="18" charset="0"/>
                <a:cs typeface="Times New Roman" pitchFamily="18" charset="0"/>
              </a:rPr>
              <a:t> Industrial automation,</a:t>
            </a:r>
          </a:p>
          <a:p>
            <a:r>
              <a:rPr lang="en-US" dirty="0" smtClean="0">
                <a:latin typeface="Times New Roman" pitchFamily="18" charset="0"/>
                <a:cs typeface="Times New Roman" pitchFamily="18" charset="0"/>
              </a:rPr>
              <a:t> Doctors using robots to perform surgery remotely,</a:t>
            </a:r>
          </a:p>
          <a:p>
            <a:r>
              <a:rPr lang="en-US" dirty="0" smtClean="0">
                <a:latin typeface="Times New Roman" pitchFamily="18" charset="0"/>
                <a:cs typeface="Times New Roman" pitchFamily="18" charset="0"/>
              </a:rPr>
              <a:t>Smart TVs that need a very high amount of data,  </a:t>
            </a:r>
          </a:p>
          <a:p>
            <a:r>
              <a:rPr lang="en-US" dirty="0" smtClean="0">
                <a:latin typeface="Times New Roman" pitchFamily="18" charset="0"/>
                <a:cs typeface="Times New Roman" pitchFamily="18" charset="0"/>
              </a:rPr>
              <a:t>Internet of Things,</a:t>
            </a:r>
          </a:p>
          <a:p>
            <a:r>
              <a:rPr lang="en-US" dirty="0" smtClean="0">
                <a:latin typeface="Times New Roman" pitchFamily="18" charset="0"/>
                <a:cs typeface="Times New Roman" pitchFamily="18" charset="0"/>
              </a:rPr>
              <a:t>Autonomous vehicles…</a:t>
            </a:r>
          </a:p>
          <a:p>
            <a:endParaRPr lang="en-US" dirty="0"/>
          </a:p>
        </p:txBody>
      </p:sp>
      <p:sp>
        <p:nvSpPr>
          <p:cNvPr id="4" name="Slide Number Placeholder 3"/>
          <p:cNvSpPr>
            <a:spLocks noGrp="1"/>
          </p:cNvSpPr>
          <p:nvPr>
            <p:ph type="sldNum" sz="quarter" idx="12"/>
          </p:nvPr>
        </p:nvSpPr>
        <p:spPr/>
        <p:txBody>
          <a:bodyPr/>
          <a:lstStyle/>
          <a:p>
            <a:fld id="{B0463075-33AF-4FC3-B90F-61AFAD45E32E}" type="slidenum">
              <a:rPr lang="en-US" smtClean="0"/>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Comparison of all the 5 generations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09600" y="1295400"/>
            <a:ext cx="7848872" cy="52565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B0463075-33AF-4FC3-B90F-61AFAD45E32E}" type="slidenum">
              <a:rPr lang="en-US" smtClean="0"/>
              <a:pPr/>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endParaRPr lang="en-US" smtClean="0"/>
          </a:p>
        </p:txBody>
      </p:sp>
      <p:pic>
        <p:nvPicPr>
          <p:cNvPr id="17411" name="Content Placeholder 5" descr="5G wireless table"/>
          <p:cNvPicPr>
            <a:picLocks noGrp="1"/>
          </p:cNvPicPr>
          <p:nvPr>
            <p:ph idx="1"/>
          </p:nvPr>
        </p:nvPicPr>
        <p:blipFill>
          <a:blip r:embed="rId2" cstate="print"/>
          <a:srcRect r="1140"/>
          <a:stretch>
            <a:fillRect/>
          </a:stretch>
        </p:blipFill>
        <p:spPr>
          <a:xfrm>
            <a:off x="971550" y="1700213"/>
            <a:ext cx="7345363" cy="4181475"/>
          </a:xfrm>
        </p:spPr>
      </p:pic>
      <p:sp>
        <p:nvSpPr>
          <p:cNvPr id="5" name="Slide Number Placeholder 4"/>
          <p:cNvSpPr>
            <a:spLocks noGrp="1"/>
          </p:cNvSpPr>
          <p:nvPr>
            <p:ph type="sldNum" sz="quarter" idx="12"/>
          </p:nvPr>
        </p:nvSpPr>
        <p:spPr/>
        <p:txBody>
          <a:bodyPr/>
          <a:lstStyle/>
          <a:p>
            <a:fld id="{B0463075-33AF-4FC3-B90F-61AFAD45E32E}" type="slidenum">
              <a:rPr lang="en-US" smtClean="0"/>
              <a:pPr/>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sz="5400" dirty="0" smtClean="0">
              <a:latin typeface="Times New Roman" pitchFamily="18" charset="0"/>
              <a:cs typeface="Times New Roman" pitchFamily="18" charset="0"/>
            </a:endParaRPr>
          </a:p>
          <a:p>
            <a:pPr algn="ctr">
              <a:buNone/>
            </a:pPr>
            <a:r>
              <a:rPr lang="en-US" sz="5400" dirty="0" smtClean="0">
                <a:latin typeface="Times New Roman" pitchFamily="18" charset="0"/>
                <a:cs typeface="Times New Roman" pitchFamily="18" charset="0"/>
              </a:rPr>
              <a:t>Thank you! </a:t>
            </a:r>
            <a:r>
              <a:rPr lang="en-US" sz="5400" dirty="0" smtClean="0">
                <a:latin typeface="Times New Roman" pitchFamily="18" charset="0"/>
                <a:cs typeface="Times New Roman" pitchFamily="18" charset="0"/>
                <a:sym typeface="Wingdings" pitchFamily="2" charset="2"/>
              </a:rPr>
              <a:t></a:t>
            </a:r>
            <a:endParaRPr lang="en-US" sz="5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0463075-33AF-4FC3-B90F-61AFAD45E32E}" type="slidenum">
              <a:rPr lang="en-US" smtClean="0"/>
              <a:pPr/>
              <a:t>66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1240</TotalTime>
  <Words>1788</Words>
  <Application>Microsoft Office PowerPoint</Application>
  <PresentationFormat>On-screen Show (4:3)</PresentationFormat>
  <Paragraphs>402</Paragraphs>
  <Slides>66</Slides>
  <Notes>5</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What is Communication?</vt:lpstr>
      <vt:lpstr>Non Verbal: Sound</vt:lpstr>
      <vt:lpstr>Non Verbal: Smoke Signals</vt:lpstr>
      <vt:lpstr> Verbal Storytelling</vt:lpstr>
      <vt:lpstr>Carrier pigeons</vt:lpstr>
      <vt:lpstr> Speech</vt:lpstr>
      <vt:lpstr>Symbols</vt:lpstr>
      <vt:lpstr>Writing</vt:lpstr>
      <vt:lpstr>Alphabet</vt:lpstr>
      <vt:lpstr>Telegraph</vt:lpstr>
      <vt:lpstr>Slide 11</vt:lpstr>
      <vt:lpstr>Telephone</vt:lpstr>
      <vt:lpstr>Computer</vt:lpstr>
      <vt:lpstr>What is wireless?</vt:lpstr>
      <vt:lpstr>Slide 15</vt:lpstr>
      <vt:lpstr>Slide 16</vt:lpstr>
      <vt:lpstr>Slide 17</vt:lpstr>
      <vt:lpstr>Slide 18</vt:lpstr>
      <vt:lpstr>Slide 19</vt:lpstr>
      <vt:lpstr>Bluetooth</vt:lpstr>
      <vt:lpstr>WLAN</vt:lpstr>
      <vt:lpstr>Slide 22</vt:lpstr>
      <vt:lpstr>Slide 23</vt:lpstr>
      <vt:lpstr>Slide 24</vt:lpstr>
      <vt:lpstr>Generations of wireless communication systems</vt:lpstr>
      <vt:lpstr>1G</vt:lpstr>
      <vt:lpstr>Block diagram</vt:lpstr>
      <vt:lpstr>AM</vt:lpstr>
      <vt:lpstr>AM </vt:lpstr>
      <vt:lpstr>FM</vt:lpstr>
      <vt:lpstr>FM</vt:lpstr>
      <vt:lpstr>FDMA, TDMA, and CDMA</vt:lpstr>
      <vt:lpstr>Slide 33</vt:lpstr>
      <vt:lpstr>2G</vt:lpstr>
      <vt:lpstr>Difference between Circuit and packet switching</vt:lpstr>
      <vt:lpstr>Slide 36</vt:lpstr>
      <vt:lpstr>2.5 G</vt:lpstr>
      <vt:lpstr>2.75 G</vt:lpstr>
      <vt:lpstr>Slide 39</vt:lpstr>
      <vt:lpstr>Slide 40</vt:lpstr>
      <vt:lpstr>Spread spectrum</vt:lpstr>
      <vt:lpstr>Spread spectrum</vt:lpstr>
      <vt:lpstr>DSSS</vt:lpstr>
      <vt:lpstr>FHSS</vt:lpstr>
      <vt:lpstr>3G</vt:lpstr>
      <vt:lpstr>WCDMA</vt:lpstr>
      <vt:lpstr>Slide 47</vt:lpstr>
      <vt:lpstr>3.5G </vt:lpstr>
      <vt:lpstr>4G</vt:lpstr>
      <vt:lpstr>OFDM</vt:lpstr>
      <vt:lpstr>4G continued</vt:lpstr>
      <vt:lpstr>Slide 52</vt:lpstr>
      <vt:lpstr>5G</vt:lpstr>
      <vt:lpstr>Technologies investigated in 5G</vt:lpstr>
      <vt:lpstr>Millimeter wave</vt:lpstr>
      <vt:lpstr>Massive MIMO</vt:lpstr>
      <vt:lpstr>Massive MIMO</vt:lpstr>
      <vt:lpstr>Slide 58</vt:lpstr>
      <vt:lpstr>Slide 59</vt:lpstr>
      <vt:lpstr>Architecture of 5G</vt:lpstr>
      <vt:lpstr>Advantages</vt:lpstr>
      <vt:lpstr>Disadvantages</vt:lpstr>
      <vt:lpstr>Area of implementation</vt:lpstr>
      <vt:lpstr>Comparison of all the 5 generations</vt:lpstr>
      <vt:lpstr>Slide 65</vt:lpstr>
      <vt:lpstr>Slide 66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Cedrick</dc:creator>
  <cp:lastModifiedBy>Windows User</cp:lastModifiedBy>
  <cp:revision>242</cp:revision>
  <dcterms:created xsi:type="dcterms:W3CDTF">2016-03-06T04:34:56Z</dcterms:created>
  <dcterms:modified xsi:type="dcterms:W3CDTF">2024-12-16T05:17:46Z</dcterms:modified>
</cp:coreProperties>
</file>