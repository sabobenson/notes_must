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9.xml" ContentType="application/vnd.openxmlformats-officedocument.presentationml.slide+xml"/>
  <Override PartName="/ppt/slides/slide9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97.xml" ContentType="application/vnd.openxmlformats-officedocument.presentationml.slide+xml"/>
  <Override PartName="/ppt/slides/slide10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05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s/slide89.xml" ContentType="application/vnd.openxmlformats-officedocument.presentationml.slide+xml"/>
  <Override PartName="/ppt/slides/slide98.xml" ContentType="application/vnd.openxmlformats-officedocument.presentationml.slide+xml"/>
  <Override PartName="/ppt/slides/slide108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ppt/slides/slide106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0"/>
  </p:notesMasterIdLst>
  <p:sldIdLst>
    <p:sldId id="368" r:id="rId2"/>
    <p:sldId id="369" r:id="rId3"/>
    <p:sldId id="370" r:id="rId4"/>
    <p:sldId id="371" r:id="rId5"/>
    <p:sldId id="372" r:id="rId6"/>
    <p:sldId id="373" r:id="rId7"/>
    <p:sldId id="374" r:id="rId8"/>
    <p:sldId id="375" r:id="rId9"/>
    <p:sldId id="376" r:id="rId10"/>
    <p:sldId id="377" r:id="rId11"/>
    <p:sldId id="378" r:id="rId12"/>
    <p:sldId id="379" r:id="rId13"/>
    <p:sldId id="380" r:id="rId14"/>
    <p:sldId id="381" r:id="rId15"/>
    <p:sldId id="382" r:id="rId16"/>
    <p:sldId id="383" r:id="rId17"/>
    <p:sldId id="384" r:id="rId18"/>
    <p:sldId id="385" r:id="rId19"/>
    <p:sldId id="386" r:id="rId20"/>
    <p:sldId id="387" r:id="rId21"/>
    <p:sldId id="388" r:id="rId22"/>
    <p:sldId id="389" r:id="rId23"/>
    <p:sldId id="390" r:id="rId24"/>
    <p:sldId id="391" r:id="rId25"/>
    <p:sldId id="392" r:id="rId26"/>
    <p:sldId id="393" r:id="rId27"/>
    <p:sldId id="394" r:id="rId28"/>
    <p:sldId id="395" r:id="rId29"/>
    <p:sldId id="396" r:id="rId30"/>
    <p:sldId id="397" r:id="rId31"/>
    <p:sldId id="398" r:id="rId32"/>
    <p:sldId id="399" r:id="rId33"/>
    <p:sldId id="400" r:id="rId34"/>
    <p:sldId id="401" r:id="rId35"/>
    <p:sldId id="402" r:id="rId36"/>
    <p:sldId id="403" r:id="rId37"/>
    <p:sldId id="404" r:id="rId38"/>
    <p:sldId id="405" r:id="rId39"/>
    <p:sldId id="406" r:id="rId40"/>
    <p:sldId id="407" r:id="rId41"/>
    <p:sldId id="408" r:id="rId42"/>
    <p:sldId id="409" r:id="rId43"/>
    <p:sldId id="410" r:id="rId44"/>
    <p:sldId id="411" r:id="rId45"/>
    <p:sldId id="412" r:id="rId46"/>
    <p:sldId id="413" r:id="rId47"/>
    <p:sldId id="414" r:id="rId48"/>
    <p:sldId id="415" r:id="rId49"/>
    <p:sldId id="416" r:id="rId50"/>
    <p:sldId id="417" r:id="rId51"/>
    <p:sldId id="418" r:id="rId52"/>
    <p:sldId id="419" r:id="rId53"/>
    <p:sldId id="420" r:id="rId54"/>
    <p:sldId id="421" r:id="rId55"/>
    <p:sldId id="422" r:id="rId56"/>
    <p:sldId id="423" r:id="rId57"/>
    <p:sldId id="424" r:id="rId58"/>
    <p:sldId id="425" r:id="rId59"/>
    <p:sldId id="426" r:id="rId60"/>
    <p:sldId id="427" r:id="rId61"/>
    <p:sldId id="428" r:id="rId62"/>
    <p:sldId id="429" r:id="rId63"/>
    <p:sldId id="430" r:id="rId64"/>
    <p:sldId id="431" r:id="rId65"/>
    <p:sldId id="432" r:id="rId66"/>
    <p:sldId id="433" r:id="rId67"/>
    <p:sldId id="434" r:id="rId68"/>
    <p:sldId id="435" r:id="rId69"/>
    <p:sldId id="436" r:id="rId70"/>
    <p:sldId id="437" r:id="rId71"/>
    <p:sldId id="438" r:id="rId72"/>
    <p:sldId id="439" r:id="rId73"/>
    <p:sldId id="440" r:id="rId74"/>
    <p:sldId id="441" r:id="rId75"/>
    <p:sldId id="442" r:id="rId76"/>
    <p:sldId id="443" r:id="rId77"/>
    <p:sldId id="444" r:id="rId78"/>
    <p:sldId id="445" r:id="rId79"/>
    <p:sldId id="446" r:id="rId80"/>
    <p:sldId id="447" r:id="rId81"/>
    <p:sldId id="448" r:id="rId82"/>
    <p:sldId id="449" r:id="rId83"/>
    <p:sldId id="450" r:id="rId84"/>
    <p:sldId id="451" r:id="rId85"/>
    <p:sldId id="452" r:id="rId86"/>
    <p:sldId id="453" r:id="rId87"/>
    <p:sldId id="454" r:id="rId88"/>
    <p:sldId id="455" r:id="rId89"/>
    <p:sldId id="456" r:id="rId90"/>
    <p:sldId id="457" r:id="rId91"/>
    <p:sldId id="458" r:id="rId92"/>
    <p:sldId id="459" r:id="rId93"/>
    <p:sldId id="460" r:id="rId94"/>
    <p:sldId id="461" r:id="rId95"/>
    <p:sldId id="462" r:id="rId96"/>
    <p:sldId id="463" r:id="rId97"/>
    <p:sldId id="464" r:id="rId98"/>
    <p:sldId id="465" r:id="rId99"/>
    <p:sldId id="466" r:id="rId100"/>
    <p:sldId id="467" r:id="rId101"/>
    <p:sldId id="468" r:id="rId102"/>
    <p:sldId id="469" r:id="rId103"/>
    <p:sldId id="470" r:id="rId104"/>
    <p:sldId id="471" r:id="rId105"/>
    <p:sldId id="472" r:id="rId106"/>
    <p:sldId id="473" r:id="rId107"/>
    <p:sldId id="474" r:id="rId108"/>
    <p:sldId id="755" r:id="rId109"/>
  </p:sldIdLst>
  <p:sldSz cx="9144000" cy="10058400"/>
  <p:notesSz cx="91440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86" d="100"/>
          <a:sy n="86" d="100"/>
        </p:scale>
        <p:origin x="-906" y="1176"/>
      </p:cViewPr>
      <p:guideLst>
        <p:guide orient="horz" pos="2881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5032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5032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FDA910-7F59-4A67-8C68-B08064084693}" type="datetimeFigureOut">
              <a:rPr lang="en-US" smtClean="0"/>
              <a:t>12/11/2024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754063"/>
            <a:ext cx="3429000" cy="3771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4778375"/>
            <a:ext cx="7315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962400" cy="5032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9553575"/>
            <a:ext cx="3962400" cy="5032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E8DA4-AFB5-43F7-8035-81E8B21B6A89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1101" y="20269"/>
            <a:ext cx="6480175" cy="9798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4BFB28-4089-4F47-87F9-254B34401EC7}" type="datetime1">
              <a:rPr lang="en-US" smtClean="0"/>
              <a:t>12/11/2024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pPr marL="38100">
                <a:lnSpc>
                  <a:spcPts val="2090"/>
                </a:lnSpc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C7B363-7323-4CCB-BC9D-D2A6D76F1D05}" type="datetime1">
              <a:rPr lang="en-US" smtClean="0"/>
              <a:t>12/11/2024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pPr marL="38100">
                <a:lnSpc>
                  <a:spcPts val="2090"/>
                </a:lnSpc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6C2EA2-EC41-405A-88F1-9A5CA98EC053}" type="datetime1">
              <a:rPr lang="en-US" smtClean="0"/>
              <a:t>12/11/2024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pPr marL="38100">
                <a:lnSpc>
                  <a:spcPts val="2090"/>
                </a:lnSpc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81000" y="228600"/>
            <a:ext cx="8229600" cy="609600"/>
          </a:xfrm>
          <a:custGeom>
            <a:avLst/>
            <a:gdLst/>
            <a:ahLst/>
            <a:cxnLst/>
            <a:rect l="l" t="t" r="r" b="b"/>
            <a:pathLst>
              <a:path w="8229600" h="609600">
                <a:moveTo>
                  <a:pt x="0" y="609600"/>
                </a:moveTo>
                <a:lnTo>
                  <a:pt x="0" y="0"/>
                </a:lnTo>
                <a:lnTo>
                  <a:pt x="8229600" y="0"/>
                </a:lnTo>
              </a:path>
            </a:pathLst>
          </a:custGeom>
          <a:ln w="18288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57200" y="6172200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18288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BA5C10-7D64-4AD4-8CC9-FC01493CA4BC}" type="datetime1">
              <a:rPr lang="en-US" smtClean="0"/>
              <a:t>12/11/2024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pPr marL="38100">
                <a:lnSpc>
                  <a:spcPts val="2090"/>
                </a:lnSpc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87C4DF-804A-4DE5-9A2C-FEDCD51F740C}" type="datetime1">
              <a:rPr lang="en-US" smtClean="0"/>
              <a:t>12/11/2024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pPr marL="38100">
                <a:lnSpc>
                  <a:spcPts val="2090"/>
                </a:lnSpc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540" y="296037"/>
            <a:ext cx="8168640" cy="6362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65604" y="2584704"/>
            <a:ext cx="5041900" cy="2894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257C6-AF10-42FB-966C-63408A503C8B}" type="datetime1">
              <a:rPr lang="en-US" smtClean="0"/>
              <a:t>12/11/2024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608953" y="6294873"/>
            <a:ext cx="546734" cy="3725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pPr marL="38100">
                <a:lnSpc>
                  <a:spcPts val="2090"/>
                </a:lnSpc>
              </a:pPr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528817"/>
            <a:ext cx="3502660" cy="326391"/>
          </a:xfrm>
          <a:custGeom>
            <a:avLst/>
            <a:gdLst/>
            <a:ahLst/>
            <a:cxnLst/>
            <a:rect l="l" t="t" r="r" b="b"/>
            <a:pathLst>
              <a:path w="3502660" h="326390">
                <a:moveTo>
                  <a:pt x="3502152" y="0"/>
                </a:moveTo>
                <a:lnTo>
                  <a:pt x="0" y="0"/>
                </a:lnTo>
                <a:lnTo>
                  <a:pt x="0" y="326135"/>
                </a:lnTo>
                <a:lnTo>
                  <a:pt x="3502152" y="326135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5800" y="2438399"/>
            <a:ext cx="8455660" cy="759461"/>
          </a:xfrm>
          <a:custGeom>
            <a:avLst/>
            <a:gdLst/>
            <a:ahLst/>
            <a:cxnLst/>
            <a:rect l="l" t="t" r="r" b="b"/>
            <a:pathLst>
              <a:path w="8455660" h="759460">
                <a:moveTo>
                  <a:pt x="8455152" y="0"/>
                </a:moveTo>
                <a:lnTo>
                  <a:pt x="0" y="0"/>
                </a:lnTo>
                <a:lnTo>
                  <a:pt x="0" y="758951"/>
                </a:lnTo>
                <a:lnTo>
                  <a:pt x="8455152" y="758951"/>
                </a:lnTo>
                <a:lnTo>
                  <a:pt x="8455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72" y="118874"/>
            <a:ext cx="64008" cy="6400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72" y="347475"/>
            <a:ext cx="64008" cy="6400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8808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72" y="1033275"/>
            <a:ext cx="64008" cy="6400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72" y="1261875"/>
            <a:ext cx="64008" cy="6400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72" y="1490474"/>
            <a:ext cx="64008" cy="6400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880876" y="1719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60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80876" y="1947673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60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72" y="2176274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4538475" y="6672070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6"/>
                </a:lnTo>
                <a:lnTo>
                  <a:pt x="9382" y="8929"/>
                </a:lnTo>
                <a:lnTo>
                  <a:pt x="2518" y="18618"/>
                </a:lnTo>
                <a:lnTo>
                  <a:pt x="0" y="30479"/>
                </a:lnTo>
                <a:lnTo>
                  <a:pt x="2518" y="42341"/>
                </a:lnTo>
                <a:lnTo>
                  <a:pt x="9382" y="52030"/>
                </a:lnTo>
                <a:lnTo>
                  <a:pt x="19556" y="58563"/>
                </a:lnTo>
                <a:lnTo>
                  <a:pt x="32003" y="60959"/>
                </a:lnTo>
                <a:lnTo>
                  <a:pt x="44451" y="58563"/>
                </a:lnTo>
                <a:lnTo>
                  <a:pt x="54625" y="52030"/>
                </a:lnTo>
                <a:lnTo>
                  <a:pt x="61489" y="42341"/>
                </a:lnTo>
                <a:lnTo>
                  <a:pt x="64007" y="30479"/>
                </a:lnTo>
                <a:lnTo>
                  <a:pt x="61489" y="18618"/>
                </a:lnTo>
                <a:lnTo>
                  <a:pt x="54625" y="8929"/>
                </a:lnTo>
                <a:lnTo>
                  <a:pt x="44451" y="2396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148075" y="6672070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6"/>
                </a:lnTo>
                <a:lnTo>
                  <a:pt x="9382" y="8929"/>
                </a:lnTo>
                <a:lnTo>
                  <a:pt x="2518" y="18618"/>
                </a:lnTo>
                <a:lnTo>
                  <a:pt x="0" y="30479"/>
                </a:lnTo>
                <a:lnTo>
                  <a:pt x="2518" y="42341"/>
                </a:lnTo>
                <a:lnTo>
                  <a:pt x="9382" y="52030"/>
                </a:lnTo>
                <a:lnTo>
                  <a:pt x="19556" y="58563"/>
                </a:lnTo>
                <a:lnTo>
                  <a:pt x="32003" y="60959"/>
                </a:lnTo>
                <a:lnTo>
                  <a:pt x="44451" y="58563"/>
                </a:lnTo>
                <a:lnTo>
                  <a:pt x="54625" y="52030"/>
                </a:lnTo>
                <a:lnTo>
                  <a:pt x="61489" y="42341"/>
                </a:lnTo>
                <a:lnTo>
                  <a:pt x="64007" y="30479"/>
                </a:lnTo>
                <a:lnTo>
                  <a:pt x="61489" y="18618"/>
                </a:lnTo>
                <a:lnTo>
                  <a:pt x="54625" y="8929"/>
                </a:lnTo>
                <a:lnTo>
                  <a:pt x="44451" y="2396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757675" y="6672070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6"/>
                </a:lnTo>
                <a:lnTo>
                  <a:pt x="9382" y="8929"/>
                </a:lnTo>
                <a:lnTo>
                  <a:pt x="2518" y="18618"/>
                </a:lnTo>
                <a:lnTo>
                  <a:pt x="0" y="30479"/>
                </a:lnTo>
                <a:lnTo>
                  <a:pt x="2518" y="42341"/>
                </a:lnTo>
                <a:lnTo>
                  <a:pt x="9382" y="52030"/>
                </a:lnTo>
                <a:lnTo>
                  <a:pt x="19556" y="58563"/>
                </a:lnTo>
                <a:lnTo>
                  <a:pt x="32003" y="60959"/>
                </a:lnTo>
                <a:lnTo>
                  <a:pt x="44451" y="58563"/>
                </a:lnTo>
                <a:lnTo>
                  <a:pt x="54625" y="52030"/>
                </a:lnTo>
                <a:lnTo>
                  <a:pt x="61489" y="42341"/>
                </a:lnTo>
                <a:lnTo>
                  <a:pt x="64007" y="30479"/>
                </a:lnTo>
                <a:lnTo>
                  <a:pt x="61489" y="18618"/>
                </a:lnTo>
                <a:lnTo>
                  <a:pt x="54625" y="8929"/>
                </a:lnTo>
                <a:lnTo>
                  <a:pt x="44451" y="2396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367275" y="6672070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6"/>
                </a:lnTo>
                <a:lnTo>
                  <a:pt x="9382" y="8929"/>
                </a:lnTo>
                <a:lnTo>
                  <a:pt x="2518" y="18618"/>
                </a:lnTo>
                <a:lnTo>
                  <a:pt x="0" y="30479"/>
                </a:lnTo>
                <a:lnTo>
                  <a:pt x="2518" y="42341"/>
                </a:lnTo>
                <a:lnTo>
                  <a:pt x="9382" y="52030"/>
                </a:lnTo>
                <a:lnTo>
                  <a:pt x="19556" y="58563"/>
                </a:lnTo>
                <a:lnTo>
                  <a:pt x="32003" y="60959"/>
                </a:lnTo>
                <a:lnTo>
                  <a:pt x="44451" y="58563"/>
                </a:lnTo>
                <a:lnTo>
                  <a:pt x="54625" y="52030"/>
                </a:lnTo>
                <a:lnTo>
                  <a:pt x="61489" y="42341"/>
                </a:lnTo>
                <a:lnTo>
                  <a:pt x="64007" y="30479"/>
                </a:lnTo>
                <a:lnTo>
                  <a:pt x="61489" y="18618"/>
                </a:lnTo>
                <a:lnTo>
                  <a:pt x="54625" y="8929"/>
                </a:lnTo>
                <a:lnTo>
                  <a:pt x="44451" y="2396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976875" y="6672070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6"/>
                </a:lnTo>
                <a:lnTo>
                  <a:pt x="9382" y="8929"/>
                </a:lnTo>
                <a:lnTo>
                  <a:pt x="2518" y="18618"/>
                </a:lnTo>
                <a:lnTo>
                  <a:pt x="0" y="30479"/>
                </a:lnTo>
                <a:lnTo>
                  <a:pt x="2518" y="42341"/>
                </a:lnTo>
                <a:lnTo>
                  <a:pt x="9382" y="52030"/>
                </a:lnTo>
                <a:lnTo>
                  <a:pt x="19556" y="58563"/>
                </a:lnTo>
                <a:lnTo>
                  <a:pt x="32003" y="60959"/>
                </a:lnTo>
                <a:lnTo>
                  <a:pt x="44451" y="58563"/>
                </a:lnTo>
                <a:lnTo>
                  <a:pt x="54625" y="52030"/>
                </a:lnTo>
                <a:lnTo>
                  <a:pt x="61489" y="42341"/>
                </a:lnTo>
                <a:lnTo>
                  <a:pt x="64007" y="30479"/>
                </a:lnTo>
                <a:lnTo>
                  <a:pt x="61489" y="18618"/>
                </a:lnTo>
                <a:lnTo>
                  <a:pt x="54625" y="8929"/>
                </a:lnTo>
                <a:lnTo>
                  <a:pt x="44451" y="2396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586475" y="6672070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6"/>
                </a:lnTo>
                <a:lnTo>
                  <a:pt x="9382" y="8929"/>
                </a:lnTo>
                <a:lnTo>
                  <a:pt x="2518" y="18618"/>
                </a:lnTo>
                <a:lnTo>
                  <a:pt x="0" y="30479"/>
                </a:lnTo>
                <a:lnTo>
                  <a:pt x="2518" y="42341"/>
                </a:lnTo>
                <a:lnTo>
                  <a:pt x="9382" y="52030"/>
                </a:lnTo>
                <a:lnTo>
                  <a:pt x="19556" y="58563"/>
                </a:lnTo>
                <a:lnTo>
                  <a:pt x="32003" y="60959"/>
                </a:lnTo>
                <a:lnTo>
                  <a:pt x="44451" y="58563"/>
                </a:lnTo>
                <a:lnTo>
                  <a:pt x="54625" y="52030"/>
                </a:lnTo>
                <a:lnTo>
                  <a:pt x="61489" y="42341"/>
                </a:lnTo>
                <a:lnTo>
                  <a:pt x="64007" y="30479"/>
                </a:lnTo>
                <a:lnTo>
                  <a:pt x="61489" y="18618"/>
                </a:lnTo>
                <a:lnTo>
                  <a:pt x="54625" y="8929"/>
                </a:lnTo>
                <a:lnTo>
                  <a:pt x="44451" y="2396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196075" y="6672070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6"/>
                </a:lnTo>
                <a:lnTo>
                  <a:pt x="9382" y="8929"/>
                </a:lnTo>
                <a:lnTo>
                  <a:pt x="2518" y="18618"/>
                </a:lnTo>
                <a:lnTo>
                  <a:pt x="0" y="30479"/>
                </a:lnTo>
                <a:lnTo>
                  <a:pt x="2518" y="42341"/>
                </a:lnTo>
                <a:lnTo>
                  <a:pt x="9382" y="52030"/>
                </a:lnTo>
                <a:lnTo>
                  <a:pt x="19556" y="58563"/>
                </a:lnTo>
                <a:lnTo>
                  <a:pt x="32003" y="60959"/>
                </a:lnTo>
                <a:lnTo>
                  <a:pt x="44451" y="58563"/>
                </a:lnTo>
                <a:lnTo>
                  <a:pt x="54625" y="52030"/>
                </a:lnTo>
                <a:lnTo>
                  <a:pt x="61489" y="42341"/>
                </a:lnTo>
                <a:lnTo>
                  <a:pt x="64007" y="30479"/>
                </a:lnTo>
                <a:lnTo>
                  <a:pt x="61489" y="18618"/>
                </a:lnTo>
                <a:lnTo>
                  <a:pt x="54625" y="8929"/>
                </a:lnTo>
                <a:lnTo>
                  <a:pt x="44451" y="2396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805675" y="6672070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6"/>
                </a:lnTo>
                <a:lnTo>
                  <a:pt x="9382" y="8929"/>
                </a:lnTo>
                <a:lnTo>
                  <a:pt x="2518" y="18618"/>
                </a:lnTo>
                <a:lnTo>
                  <a:pt x="0" y="30479"/>
                </a:lnTo>
                <a:lnTo>
                  <a:pt x="2518" y="42341"/>
                </a:lnTo>
                <a:lnTo>
                  <a:pt x="9382" y="52030"/>
                </a:lnTo>
                <a:lnTo>
                  <a:pt x="19556" y="58563"/>
                </a:lnTo>
                <a:lnTo>
                  <a:pt x="32003" y="60959"/>
                </a:lnTo>
                <a:lnTo>
                  <a:pt x="44451" y="58563"/>
                </a:lnTo>
                <a:lnTo>
                  <a:pt x="54625" y="52030"/>
                </a:lnTo>
                <a:lnTo>
                  <a:pt x="61489" y="42341"/>
                </a:lnTo>
                <a:lnTo>
                  <a:pt x="64007" y="30479"/>
                </a:lnTo>
                <a:lnTo>
                  <a:pt x="61489" y="18618"/>
                </a:lnTo>
                <a:lnTo>
                  <a:pt x="54625" y="8929"/>
                </a:lnTo>
                <a:lnTo>
                  <a:pt x="44451" y="2396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80876" y="804673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0" y="3429002"/>
            <a:ext cx="2292350" cy="2889885"/>
            <a:chOff x="0" y="3429000"/>
            <a:chExt cx="2292350" cy="2889885"/>
          </a:xfrm>
        </p:grpSpPr>
        <p:sp>
          <p:nvSpPr>
            <p:cNvPr id="24" name="object 24"/>
            <p:cNvSpPr/>
            <p:nvPr/>
          </p:nvSpPr>
          <p:spPr>
            <a:xfrm>
              <a:off x="0" y="3695636"/>
              <a:ext cx="1906905" cy="1905000"/>
            </a:xfrm>
            <a:custGeom>
              <a:avLst/>
              <a:gdLst/>
              <a:ahLst/>
              <a:cxnLst/>
              <a:rect l="l" t="t" r="r" b="b"/>
              <a:pathLst>
                <a:path w="1906905" h="1905000">
                  <a:moveTo>
                    <a:pt x="699452" y="1076515"/>
                  </a:moveTo>
                  <a:lnTo>
                    <a:pt x="693127" y="1062291"/>
                  </a:lnTo>
                  <a:lnTo>
                    <a:pt x="659892" y="1019492"/>
                  </a:lnTo>
                  <a:lnTo>
                    <a:pt x="632993" y="965644"/>
                  </a:lnTo>
                  <a:lnTo>
                    <a:pt x="618756" y="914844"/>
                  </a:lnTo>
                  <a:lnTo>
                    <a:pt x="607669" y="856297"/>
                  </a:lnTo>
                  <a:lnTo>
                    <a:pt x="582358" y="841946"/>
                  </a:lnTo>
                  <a:lnTo>
                    <a:pt x="536460" y="808672"/>
                  </a:lnTo>
                  <a:lnTo>
                    <a:pt x="501650" y="773874"/>
                  </a:lnTo>
                  <a:lnTo>
                    <a:pt x="485825" y="724725"/>
                  </a:lnTo>
                  <a:lnTo>
                    <a:pt x="451002" y="680402"/>
                  </a:lnTo>
                  <a:lnTo>
                    <a:pt x="458914" y="642302"/>
                  </a:lnTo>
                  <a:lnTo>
                    <a:pt x="476326" y="602805"/>
                  </a:lnTo>
                  <a:lnTo>
                    <a:pt x="487400" y="563181"/>
                  </a:lnTo>
                  <a:lnTo>
                    <a:pt x="487400" y="528256"/>
                  </a:lnTo>
                  <a:lnTo>
                    <a:pt x="471576" y="545655"/>
                  </a:lnTo>
                  <a:lnTo>
                    <a:pt x="454177" y="571055"/>
                  </a:lnTo>
                  <a:lnTo>
                    <a:pt x="443090" y="591629"/>
                  </a:lnTo>
                  <a:lnTo>
                    <a:pt x="430441" y="602805"/>
                  </a:lnTo>
                  <a:lnTo>
                    <a:pt x="425691" y="553656"/>
                  </a:lnTo>
                  <a:lnTo>
                    <a:pt x="428853" y="507682"/>
                  </a:lnTo>
                  <a:lnTo>
                    <a:pt x="430441" y="460184"/>
                  </a:lnTo>
                  <a:lnTo>
                    <a:pt x="430441" y="414210"/>
                  </a:lnTo>
                  <a:lnTo>
                    <a:pt x="443090" y="385635"/>
                  </a:lnTo>
                  <a:lnTo>
                    <a:pt x="443090" y="336613"/>
                  </a:lnTo>
                  <a:lnTo>
                    <a:pt x="444677" y="315912"/>
                  </a:lnTo>
                  <a:lnTo>
                    <a:pt x="444677" y="300164"/>
                  </a:lnTo>
                  <a:lnTo>
                    <a:pt x="451002" y="284289"/>
                  </a:lnTo>
                  <a:lnTo>
                    <a:pt x="458914" y="270065"/>
                  </a:lnTo>
                  <a:lnTo>
                    <a:pt x="468414" y="258889"/>
                  </a:lnTo>
                  <a:lnTo>
                    <a:pt x="471576" y="254190"/>
                  </a:lnTo>
                  <a:lnTo>
                    <a:pt x="476326" y="251015"/>
                  </a:lnTo>
                  <a:lnTo>
                    <a:pt x="479488" y="241490"/>
                  </a:lnTo>
                  <a:lnTo>
                    <a:pt x="485825" y="236791"/>
                  </a:lnTo>
                  <a:lnTo>
                    <a:pt x="487400" y="236791"/>
                  </a:lnTo>
                  <a:lnTo>
                    <a:pt x="501650" y="230441"/>
                  </a:lnTo>
                  <a:lnTo>
                    <a:pt x="511136" y="227266"/>
                  </a:lnTo>
                  <a:lnTo>
                    <a:pt x="519049" y="227266"/>
                  </a:lnTo>
                  <a:lnTo>
                    <a:pt x="528548" y="222440"/>
                  </a:lnTo>
                  <a:lnTo>
                    <a:pt x="533298" y="222440"/>
                  </a:lnTo>
                  <a:lnTo>
                    <a:pt x="536460" y="219265"/>
                  </a:lnTo>
                  <a:lnTo>
                    <a:pt x="545960" y="211391"/>
                  </a:lnTo>
                  <a:lnTo>
                    <a:pt x="545960" y="205041"/>
                  </a:lnTo>
                  <a:lnTo>
                    <a:pt x="533298" y="184467"/>
                  </a:lnTo>
                  <a:lnTo>
                    <a:pt x="533298" y="170243"/>
                  </a:lnTo>
                  <a:lnTo>
                    <a:pt x="528548" y="170243"/>
                  </a:lnTo>
                  <a:lnTo>
                    <a:pt x="528548" y="165417"/>
                  </a:lnTo>
                  <a:lnTo>
                    <a:pt x="519049" y="152717"/>
                  </a:lnTo>
                  <a:lnTo>
                    <a:pt x="507974" y="138493"/>
                  </a:lnTo>
                  <a:lnTo>
                    <a:pt x="501650" y="122618"/>
                  </a:lnTo>
                  <a:lnTo>
                    <a:pt x="394042" y="170243"/>
                  </a:lnTo>
                  <a:lnTo>
                    <a:pt x="297510" y="254190"/>
                  </a:lnTo>
                  <a:lnTo>
                    <a:pt x="210464" y="344487"/>
                  </a:lnTo>
                  <a:lnTo>
                    <a:pt x="139255" y="450659"/>
                  </a:lnTo>
                  <a:lnTo>
                    <a:pt x="79121" y="563181"/>
                  </a:lnTo>
                  <a:lnTo>
                    <a:pt x="33223" y="685101"/>
                  </a:lnTo>
                  <a:lnTo>
                    <a:pt x="7912" y="811847"/>
                  </a:lnTo>
                  <a:lnTo>
                    <a:pt x="0" y="944943"/>
                  </a:lnTo>
                  <a:lnTo>
                    <a:pt x="7912" y="1068641"/>
                  </a:lnTo>
                  <a:lnTo>
                    <a:pt x="31648" y="1182687"/>
                  </a:lnTo>
                  <a:lnTo>
                    <a:pt x="71208" y="1295209"/>
                  </a:lnTo>
                  <a:lnTo>
                    <a:pt x="117094" y="1402905"/>
                  </a:lnTo>
                  <a:lnTo>
                    <a:pt x="180403" y="1498028"/>
                  </a:lnTo>
                  <a:lnTo>
                    <a:pt x="253199" y="1591500"/>
                  </a:lnTo>
                  <a:lnTo>
                    <a:pt x="340233" y="1669097"/>
                  </a:lnTo>
                  <a:lnTo>
                    <a:pt x="430441" y="1740471"/>
                  </a:lnTo>
                  <a:lnTo>
                    <a:pt x="458914" y="1715071"/>
                  </a:lnTo>
                  <a:lnTo>
                    <a:pt x="476326" y="1676971"/>
                  </a:lnTo>
                  <a:lnTo>
                    <a:pt x="500062" y="1648523"/>
                  </a:lnTo>
                  <a:lnTo>
                    <a:pt x="519049" y="1618424"/>
                  </a:lnTo>
                  <a:lnTo>
                    <a:pt x="560197" y="1562925"/>
                  </a:lnTo>
                  <a:lnTo>
                    <a:pt x="590270" y="1537652"/>
                  </a:lnTo>
                  <a:lnTo>
                    <a:pt x="607669" y="1505902"/>
                  </a:lnTo>
                  <a:lnTo>
                    <a:pt x="617169" y="1448879"/>
                  </a:lnTo>
                  <a:lnTo>
                    <a:pt x="602919" y="1423479"/>
                  </a:lnTo>
                  <a:lnTo>
                    <a:pt x="593432" y="1391856"/>
                  </a:lnTo>
                  <a:lnTo>
                    <a:pt x="585520" y="1363281"/>
                  </a:lnTo>
                  <a:lnTo>
                    <a:pt x="571271" y="1331658"/>
                  </a:lnTo>
                  <a:lnTo>
                    <a:pt x="571271" y="1268285"/>
                  </a:lnTo>
                  <a:lnTo>
                    <a:pt x="568109" y="1249235"/>
                  </a:lnTo>
                  <a:lnTo>
                    <a:pt x="568109" y="1225486"/>
                  </a:lnTo>
                  <a:lnTo>
                    <a:pt x="576021" y="1211135"/>
                  </a:lnTo>
                  <a:lnTo>
                    <a:pt x="590270" y="1200086"/>
                  </a:lnTo>
                  <a:lnTo>
                    <a:pt x="617169" y="1192212"/>
                  </a:lnTo>
                  <a:lnTo>
                    <a:pt x="618756" y="1192212"/>
                  </a:lnTo>
                  <a:lnTo>
                    <a:pt x="625081" y="1185862"/>
                  </a:lnTo>
                  <a:lnTo>
                    <a:pt x="625081" y="1177861"/>
                  </a:lnTo>
                  <a:lnTo>
                    <a:pt x="617169" y="1168463"/>
                  </a:lnTo>
                  <a:lnTo>
                    <a:pt x="610844" y="1160462"/>
                  </a:lnTo>
                  <a:lnTo>
                    <a:pt x="610844" y="1150937"/>
                  </a:lnTo>
                  <a:lnTo>
                    <a:pt x="625081" y="1143063"/>
                  </a:lnTo>
                  <a:lnTo>
                    <a:pt x="691540" y="1111313"/>
                  </a:lnTo>
                  <a:lnTo>
                    <a:pt x="699452" y="1097089"/>
                  </a:lnTo>
                  <a:lnTo>
                    <a:pt x="699452" y="1076515"/>
                  </a:lnTo>
                  <a:close/>
                </a:path>
                <a:path w="1906905" h="1905000">
                  <a:moveTo>
                    <a:pt x="1906524" y="952500"/>
                  </a:moveTo>
                  <a:lnTo>
                    <a:pt x="1900174" y="876300"/>
                  </a:lnTo>
                  <a:lnTo>
                    <a:pt x="1892173" y="800100"/>
                  </a:lnTo>
                  <a:lnTo>
                    <a:pt x="1881124" y="723900"/>
                  </a:lnTo>
                  <a:lnTo>
                    <a:pt x="1857248" y="660400"/>
                  </a:lnTo>
                  <a:lnTo>
                    <a:pt x="1831848" y="584200"/>
                  </a:lnTo>
                  <a:lnTo>
                    <a:pt x="1812798" y="546100"/>
                  </a:lnTo>
                  <a:lnTo>
                    <a:pt x="1800098" y="520700"/>
                  </a:lnTo>
                  <a:lnTo>
                    <a:pt x="1765173" y="457200"/>
                  </a:lnTo>
                  <a:lnTo>
                    <a:pt x="1725549" y="393700"/>
                  </a:lnTo>
                  <a:lnTo>
                    <a:pt x="1700149" y="393700"/>
                  </a:lnTo>
                  <a:lnTo>
                    <a:pt x="1674749" y="406400"/>
                  </a:lnTo>
                  <a:lnTo>
                    <a:pt x="1660525" y="406400"/>
                  </a:lnTo>
                  <a:lnTo>
                    <a:pt x="1647825" y="419100"/>
                  </a:lnTo>
                  <a:lnTo>
                    <a:pt x="1619250" y="419100"/>
                  </a:lnTo>
                  <a:lnTo>
                    <a:pt x="1601724" y="431800"/>
                  </a:lnTo>
                  <a:lnTo>
                    <a:pt x="1582674" y="431800"/>
                  </a:lnTo>
                  <a:lnTo>
                    <a:pt x="1562100" y="444500"/>
                  </a:lnTo>
                  <a:lnTo>
                    <a:pt x="1543050" y="457200"/>
                  </a:lnTo>
                  <a:lnTo>
                    <a:pt x="1511300" y="457200"/>
                  </a:lnTo>
                  <a:lnTo>
                    <a:pt x="1500251" y="469900"/>
                  </a:lnTo>
                  <a:lnTo>
                    <a:pt x="1484376" y="457200"/>
                  </a:lnTo>
                  <a:lnTo>
                    <a:pt x="1479550" y="457200"/>
                  </a:lnTo>
                  <a:lnTo>
                    <a:pt x="1470025" y="444500"/>
                  </a:lnTo>
                  <a:lnTo>
                    <a:pt x="1468501" y="444500"/>
                  </a:lnTo>
                  <a:lnTo>
                    <a:pt x="1462151" y="431800"/>
                  </a:lnTo>
                  <a:lnTo>
                    <a:pt x="1450975" y="419100"/>
                  </a:lnTo>
                  <a:lnTo>
                    <a:pt x="1444625" y="393700"/>
                  </a:lnTo>
                  <a:lnTo>
                    <a:pt x="1444625" y="368300"/>
                  </a:lnTo>
                  <a:lnTo>
                    <a:pt x="1441450" y="342900"/>
                  </a:lnTo>
                  <a:lnTo>
                    <a:pt x="1444625" y="330200"/>
                  </a:lnTo>
                  <a:lnTo>
                    <a:pt x="1458976" y="304800"/>
                  </a:lnTo>
                  <a:lnTo>
                    <a:pt x="1476375" y="279400"/>
                  </a:lnTo>
                  <a:lnTo>
                    <a:pt x="1493901" y="279400"/>
                  </a:lnTo>
                  <a:lnTo>
                    <a:pt x="1511300" y="254000"/>
                  </a:lnTo>
                  <a:lnTo>
                    <a:pt x="1525651" y="241300"/>
                  </a:lnTo>
                  <a:lnTo>
                    <a:pt x="1533525" y="215900"/>
                  </a:lnTo>
                  <a:lnTo>
                    <a:pt x="1533525" y="190500"/>
                  </a:lnTo>
                  <a:lnTo>
                    <a:pt x="1501775" y="165100"/>
                  </a:lnTo>
                  <a:lnTo>
                    <a:pt x="1476375" y="152400"/>
                  </a:lnTo>
                  <a:lnTo>
                    <a:pt x="1444625" y="139700"/>
                  </a:lnTo>
                  <a:lnTo>
                    <a:pt x="1413002" y="114300"/>
                  </a:lnTo>
                  <a:lnTo>
                    <a:pt x="1379601" y="101600"/>
                  </a:lnTo>
                  <a:lnTo>
                    <a:pt x="1347851" y="76200"/>
                  </a:lnTo>
                  <a:lnTo>
                    <a:pt x="1312926" y="63500"/>
                  </a:lnTo>
                  <a:lnTo>
                    <a:pt x="1279652" y="50800"/>
                  </a:lnTo>
                  <a:lnTo>
                    <a:pt x="1301877" y="76200"/>
                  </a:lnTo>
                  <a:lnTo>
                    <a:pt x="1322451" y="88900"/>
                  </a:lnTo>
                  <a:lnTo>
                    <a:pt x="1338326" y="101600"/>
                  </a:lnTo>
                  <a:lnTo>
                    <a:pt x="1368552" y="127000"/>
                  </a:lnTo>
                  <a:lnTo>
                    <a:pt x="1370076" y="139700"/>
                  </a:lnTo>
                  <a:lnTo>
                    <a:pt x="1368552" y="165100"/>
                  </a:lnTo>
                  <a:lnTo>
                    <a:pt x="1359027" y="203200"/>
                  </a:lnTo>
                  <a:lnTo>
                    <a:pt x="1359027" y="215900"/>
                  </a:lnTo>
                  <a:lnTo>
                    <a:pt x="1368552" y="241300"/>
                  </a:lnTo>
                  <a:lnTo>
                    <a:pt x="1368552" y="254000"/>
                  </a:lnTo>
                  <a:lnTo>
                    <a:pt x="1362202" y="254000"/>
                  </a:lnTo>
                  <a:lnTo>
                    <a:pt x="1352677" y="266700"/>
                  </a:lnTo>
                  <a:lnTo>
                    <a:pt x="1344676" y="279400"/>
                  </a:lnTo>
                  <a:lnTo>
                    <a:pt x="1338326" y="279400"/>
                  </a:lnTo>
                  <a:lnTo>
                    <a:pt x="1338326" y="304800"/>
                  </a:lnTo>
                  <a:lnTo>
                    <a:pt x="1336802" y="317500"/>
                  </a:lnTo>
                  <a:lnTo>
                    <a:pt x="1301877" y="317500"/>
                  </a:lnTo>
                  <a:lnTo>
                    <a:pt x="1287526" y="330200"/>
                  </a:lnTo>
                  <a:lnTo>
                    <a:pt x="1279652" y="330200"/>
                  </a:lnTo>
                  <a:lnTo>
                    <a:pt x="1273302" y="317500"/>
                  </a:lnTo>
                  <a:lnTo>
                    <a:pt x="1270127" y="317500"/>
                  </a:lnTo>
                  <a:lnTo>
                    <a:pt x="1265364" y="266700"/>
                  </a:lnTo>
                  <a:lnTo>
                    <a:pt x="1252664" y="254000"/>
                  </a:lnTo>
                  <a:lnTo>
                    <a:pt x="1244727" y="241300"/>
                  </a:lnTo>
                  <a:lnTo>
                    <a:pt x="1230452" y="228600"/>
                  </a:lnTo>
                  <a:lnTo>
                    <a:pt x="1219339" y="215900"/>
                  </a:lnTo>
                  <a:lnTo>
                    <a:pt x="1212989" y="203200"/>
                  </a:lnTo>
                  <a:lnTo>
                    <a:pt x="1209814" y="190500"/>
                  </a:lnTo>
                  <a:lnTo>
                    <a:pt x="1205064" y="177800"/>
                  </a:lnTo>
                  <a:lnTo>
                    <a:pt x="1209814" y="165100"/>
                  </a:lnTo>
                  <a:lnTo>
                    <a:pt x="1219339" y="165100"/>
                  </a:lnTo>
                  <a:lnTo>
                    <a:pt x="1219339" y="152400"/>
                  </a:lnTo>
                  <a:lnTo>
                    <a:pt x="1220927" y="152400"/>
                  </a:lnTo>
                  <a:lnTo>
                    <a:pt x="1230452" y="165100"/>
                  </a:lnTo>
                  <a:lnTo>
                    <a:pt x="1244727" y="177800"/>
                  </a:lnTo>
                  <a:lnTo>
                    <a:pt x="1273302" y="177800"/>
                  </a:lnTo>
                  <a:lnTo>
                    <a:pt x="1273302" y="152400"/>
                  </a:lnTo>
                  <a:lnTo>
                    <a:pt x="1273302" y="114300"/>
                  </a:lnTo>
                  <a:lnTo>
                    <a:pt x="1252664" y="88900"/>
                  </a:lnTo>
                  <a:lnTo>
                    <a:pt x="1227277" y="76200"/>
                  </a:lnTo>
                  <a:lnTo>
                    <a:pt x="1198714" y="50800"/>
                  </a:lnTo>
                  <a:lnTo>
                    <a:pt x="1178077" y="25400"/>
                  </a:lnTo>
                  <a:lnTo>
                    <a:pt x="1155865" y="12700"/>
                  </a:lnTo>
                  <a:lnTo>
                    <a:pt x="1138415" y="12700"/>
                  </a:lnTo>
                  <a:lnTo>
                    <a:pt x="1116190" y="0"/>
                  </a:lnTo>
                  <a:lnTo>
                    <a:pt x="1089215" y="0"/>
                  </a:lnTo>
                  <a:lnTo>
                    <a:pt x="1089215" y="12700"/>
                  </a:lnTo>
                  <a:lnTo>
                    <a:pt x="1087628" y="25400"/>
                  </a:lnTo>
                  <a:lnTo>
                    <a:pt x="1059065" y="25400"/>
                  </a:lnTo>
                  <a:lnTo>
                    <a:pt x="1046365" y="50800"/>
                  </a:lnTo>
                  <a:lnTo>
                    <a:pt x="1038440" y="76200"/>
                  </a:lnTo>
                  <a:lnTo>
                    <a:pt x="1020978" y="88900"/>
                  </a:lnTo>
                  <a:lnTo>
                    <a:pt x="998766" y="88900"/>
                  </a:lnTo>
                  <a:lnTo>
                    <a:pt x="995591" y="101600"/>
                  </a:lnTo>
                  <a:lnTo>
                    <a:pt x="981303" y="114300"/>
                  </a:lnTo>
                  <a:lnTo>
                    <a:pt x="967028" y="139700"/>
                  </a:lnTo>
                  <a:lnTo>
                    <a:pt x="955916" y="165100"/>
                  </a:lnTo>
                  <a:lnTo>
                    <a:pt x="938466" y="177800"/>
                  </a:lnTo>
                  <a:lnTo>
                    <a:pt x="932116" y="177800"/>
                  </a:lnTo>
                  <a:lnTo>
                    <a:pt x="932116" y="190500"/>
                  </a:lnTo>
                  <a:lnTo>
                    <a:pt x="892441" y="228600"/>
                  </a:lnTo>
                  <a:lnTo>
                    <a:pt x="909904" y="241300"/>
                  </a:lnTo>
                  <a:lnTo>
                    <a:pt x="971791" y="241300"/>
                  </a:lnTo>
                  <a:lnTo>
                    <a:pt x="974966" y="254000"/>
                  </a:lnTo>
                  <a:lnTo>
                    <a:pt x="984478" y="254000"/>
                  </a:lnTo>
                  <a:lnTo>
                    <a:pt x="981303" y="266700"/>
                  </a:lnTo>
                  <a:lnTo>
                    <a:pt x="971791" y="266700"/>
                  </a:lnTo>
                  <a:lnTo>
                    <a:pt x="967028" y="279400"/>
                  </a:lnTo>
                  <a:lnTo>
                    <a:pt x="957503" y="279400"/>
                  </a:lnTo>
                  <a:lnTo>
                    <a:pt x="949566" y="292100"/>
                  </a:lnTo>
                  <a:lnTo>
                    <a:pt x="941641" y="317500"/>
                  </a:lnTo>
                  <a:lnTo>
                    <a:pt x="932116" y="330200"/>
                  </a:lnTo>
                  <a:lnTo>
                    <a:pt x="932116" y="355600"/>
                  </a:lnTo>
                  <a:lnTo>
                    <a:pt x="938466" y="368300"/>
                  </a:lnTo>
                  <a:lnTo>
                    <a:pt x="932116" y="381000"/>
                  </a:lnTo>
                  <a:lnTo>
                    <a:pt x="941641" y="393700"/>
                  </a:lnTo>
                  <a:lnTo>
                    <a:pt x="967028" y="368300"/>
                  </a:lnTo>
                  <a:lnTo>
                    <a:pt x="1020978" y="368300"/>
                  </a:lnTo>
                  <a:lnTo>
                    <a:pt x="1024153" y="355600"/>
                  </a:lnTo>
                  <a:lnTo>
                    <a:pt x="1024153" y="317500"/>
                  </a:lnTo>
                  <a:lnTo>
                    <a:pt x="1059065" y="254000"/>
                  </a:lnTo>
                  <a:lnTo>
                    <a:pt x="1063828" y="254000"/>
                  </a:lnTo>
                  <a:lnTo>
                    <a:pt x="1081278" y="279400"/>
                  </a:lnTo>
                  <a:lnTo>
                    <a:pt x="1095565" y="292100"/>
                  </a:lnTo>
                  <a:lnTo>
                    <a:pt x="1113015" y="317500"/>
                  </a:lnTo>
                  <a:lnTo>
                    <a:pt x="1133652" y="330200"/>
                  </a:lnTo>
                  <a:lnTo>
                    <a:pt x="1144752" y="342900"/>
                  </a:lnTo>
                  <a:lnTo>
                    <a:pt x="1147927" y="342900"/>
                  </a:lnTo>
                  <a:lnTo>
                    <a:pt x="1155865" y="368300"/>
                  </a:lnTo>
                  <a:lnTo>
                    <a:pt x="1162215" y="368300"/>
                  </a:lnTo>
                  <a:lnTo>
                    <a:pt x="1162215" y="419100"/>
                  </a:lnTo>
                  <a:lnTo>
                    <a:pt x="1170152" y="431800"/>
                  </a:lnTo>
                  <a:lnTo>
                    <a:pt x="1178077" y="457200"/>
                  </a:lnTo>
                  <a:lnTo>
                    <a:pt x="1190777" y="469900"/>
                  </a:lnTo>
                  <a:lnTo>
                    <a:pt x="1195539" y="469900"/>
                  </a:lnTo>
                  <a:lnTo>
                    <a:pt x="1195539" y="482600"/>
                  </a:lnTo>
                  <a:lnTo>
                    <a:pt x="1190777" y="482600"/>
                  </a:lnTo>
                  <a:lnTo>
                    <a:pt x="1187602" y="495300"/>
                  </a:lnTo>
                  <a:lnTo>
                    <a:pt x="1152690" y="469900"/>
                  </a:lnTo>
                  <a:lnTo>
                    <a:pt x="1133652" y="457200"/>
                  </a:lnTo>
                  <a:lnTo>
                    <a:pt x="1098740" y="457200"/>
                  </a:lnTo>
                  <a:lnTo>
                    <a:pt x="1089215" y="469900"/>
                  </a:lnTo>
                  <a:lnTo>
                    <a:pt x="1074928" y="482600"/>
                  </a:lnTo>
                  <a:lnTo>
                    <a:pt x="1070178" y="482600"/>
                  </a:lnTo>
                  <a:lnTo>
                    <a:pt x="1073353" y="495300"/>
                  </a:lnTo>
                  <a:lnTo>
                    <a:pt x="1074928" y="495300"/>
                  </a:lnTo>
                  <a:lnTo>
                    <a:pt x="1074928" y="508000"/>
                  </a:lnTo>
                  <a:lnTo>
                    <a:pt x="1106678" y="508000"/>
                  </a:lnTo>
                  <a:lnTo>
                    <a:pt x="1113015" y="533400"/>
                  </a:lnTo>
                  <a:lnTo>
                    <a:pt x="1106678" y="533400"/>
                  </a:lnTo>
                  <a:lnTo>
                    <a:pt x="1103503" y="546100"/>
                  </a:lnTo>
                  <a:lnTo>
                    <a:pt x="1013040" y="520700"/>
                  </a:lnTo>
                  <a:lnTo>
                    <a:pt x="1013040" y="546100"/>
                  </a:lnTo>
                  <a:lnTo>
                    <a:pt x="1006703" y="558800"/>
                  </a:lnTo>
                  <a:lnTo>
                    <a:pt x="998766" y="571500"/>
                  </a:lnTo>
                  <a:lnTo>
                    <a:pt x="995591" y="571500"/>
                  </a:lnTo>
                  <a:lnTo>
                    <a:pt x="984478" y="584200"/>
                  </a:lnTo>
                  <a:lnTo>
                    <a:pt x="957503" y="622300"/>
                  </a:lnTo>
                  <a:lnTo>
                    <a:pt x="900379" y="660400"/>
                  </a:lnTo>
                  <a:lnTo>
                    <a:pt x="898791" y="660400"/>
                  </a:lnTo>
                  <a:lnTo>
                    <a:pt x="892441" y="673100"/>
                  </a:lnTo>
                  <a:lnTo>
                    <a:pt x="892441" y="762000"/>
                  </a:lnTo>
                  <a:lnTo>
                    <a:pt x="860704" y="762000"/>
                  </a:lnTo>
                  <a:lnTo>
                    <a:pt x="849591" y="749300"/>
                  </a:lnTo>
                  <a:lnTo>
                    <a:pt x="840079" y="736600"/>
                  </a:lnTo>
                  <a:lnTo>
                    <a:pt x="840079" y="711200"/>
                  </a:lnTo>
                  <a:lnTo>
                    <a:pt x="835317" y="698500"/>
                  </a:lnTo>
                  <a:lnTo>
                    <a:pt x="824191" y="673100"/>
                  </a:lnTo>
                  <a:lnTo>
                    <a:pt x="806754" y="660400"/>
                  </a:lnTo>
                  <a:lnTo>
                    <a:pt x="760730" y="660400"/>
                  </a:lnTo>
                  <a:lnTo>
                    <a:pt x="749617" y="647700"/>
                  </a:lnTo>
                  <a:lnTo>
                    <a:pt x="732167" y="647700"/>
                  </a:lnTo>
                  <a:lnTo>
                    <a:pt x="714717" y="635000"/>
                  </a:lnTo>
                  <a:lnTo>
                    <a:pt x="694080" y="622300"/>
                  </a:lnTo>
                  <a:lnTo>
                    <a:pt x="678218" y="622300"/>
                  </a:lnTo>
                  <a:lnTo>
                    <a:pt x="660755" y="647700"/>
                  </a:lnTo>
                  <a:lnTo>
                    <a:pt x="633780" y="673100"/>
                  </a:lnTo>
                  <a:lnTo>
                    <a:pt x="608393" y="711200"/>
                  </a:lnTo>
                  <a:lnTo>
                    <a:pt x="600456" y="723900"/>
                  </a:lnTo>
                  <a:lnTo>
                    <a:pt x="633780" y="762000"/>
                  </a:lnTo>
                  <a:lnTo>
                    <a:pt x="640130" y="825500"/>
                  </a:lnTo>
                  <a:lnTo>
                    <a:pt x="646480" y="825500"/>
                  </a:lnTo>
                  <a:lnTo>
                    <a:pt x="660755" y="812800"/>
                  </a:lnTo>
                  <a:lnTo>
                    <a:pt x="668693" y="812800"/>
                  </a:lnTo>
                  <a:lnTo>
                    <a:pt x="678218" y="800100"/>
                  </a:lnTo>
                  <a:lnTo>
                    <a:pt x="686142" y="787400"/>
                  </a:lnTo>
                  <a:lnTo>
                    <a:pt x="692492" y="787400"/>
                  </a:lnTo>
                  <a:lnTo>
                    <a:pt x="700430" y="774700"/>
                  </a:lnTo>
                  <a:lnTo>
                    <a:pt x="714717" y="762000"/>
                  </a:lnTo>
                  <a:lnTo>
                    <a:pt x="717880" y="762000"/>
                  </a:lnTo>
                  <a:lnTo>
                    <a:pt x="717880" y="774700"/>
                  </a:lnTo>
                  <a:lnTo>
                    <a:pt x="700430" y="863600"/>
                  </a:lnTo>
                  <a:lnTo>
                    <a:pt x="725817" y="889000"/>
                  </a:lnTo>
                  <a:lnTo>
                    <a:pt x="722642" y="901700"/>
                  </a:lnTo>
                  <a:lnTo>
                    <a:pt x="694080" y="927100"/>
                  </a:lnTo>
                  <a:lnTo>
                    <a:pt x="686142" y="952500"/>
                  </a:lnTo>
                  <a:lnTo>
                    <a:pt x="686142" y="965200"/>
                  </a:lnTo>
                  <a:lnTo>
                    <a:pt x="700430" y="990600"/>
                  </a:lnTo>
                  <a:lnTo>
                    <a:pt x="717880" y="1003300"/>
                  </a:lnTo>
                  <a:lnTo>
                    <a:pt x="740105" y="1016000"/>
                  </a:lnTo>
                  <a:lnTo>
                    <a:pt x="760730" y="1028700"/>
                  </a:lnTo>
                  <a:lnTo>
                    <a:pt x="797229" y="1028700"/>
                  </a:lnTo>
                  <a:lnTo>
                    <a:pt x="809929" y="1016000"/>
                  </a:lnTo>
                  <a:lnTo>
                    <a:pt x="854354" y="1016000"/>
                  </a:lnTo>
                  <a:lnTo>
                    <a:pt x="867054" y="1028700"/>
                  </a:lnTo>
                  <a:lnTo>
                    <a:pt x="892441" y="1041400"/>
                  </a:lnTo>
                  <a:lnTo>
                    <a:pt x="909904" y="1054100"/>
                  </a:lnTo>
                  <a:lnTo>
                    <a:pt x="949566" y="1079500"/>
                  </a:lnTo>
                  <a:lnTo>
                    <a:pt x="957503" y="1104900"/>
                  </a:lnTo>
                  <a:lnTo>
                    <a:pt x="963853" y="1130300"/>
                  </a:lnTo>
                  <a:lnTo>
                    <a:pt x="967028" y="1155700"/>
                  </a:lnTo>
                  <a:lnTo>
                    <a:pt x="971791" y="1181100"/>
                  </a:lnTo>
                  <a:lnTo>
                    <a:pt x="995591" y="1181100"/>
                  </a:lnTo>
                  <a:lnTo>
                    <a:pt x="1016215" y="1193800"/>
                  </a:lnTo>
                  <a:lnTo>
                    <a:pt x="1038440" y="1206500"/>
                  </a:lnTo>
                  <a:lnTo>
                    <a:pt x="1055890" y="1231900"/>
                  </a:lnTo>
                  <a:lnTo>
                    <a:pt x="1073353" y="1270000"/>
                  </a:lnTo>
                  <a:lnTo>
                    <a:pt x="1089215" y="1320800"/>
                  </a:lnTo>
                  <a:lnTo>
                    <a:pt x="1106678" y="1371600"/>
                  </a:lnTo>
                  <a:lnTo>
                    <a:pt x="1130477" y="1409700"/>
                  </a:lnTo>
                  <a:lnTo>
                    <a:pt x="1155865" y="1435100"/>
                  </a:lnTo>
                  <a:lnTo>
                    <a:pt x="1181252" y="1473200"/>
                  </a:lnTo>
                  <a:lnTo>
                    <a:pt x="1205064" y="1498600"/>
                  </a:lnTo>
                  <a:lnTo>
                    <a:pt x="1227277" y="1536700"/>
                  </a:lnTo>
                  <a:lnTo>
                    <a:pt x="1230452" y="1562100"/>
                  </a:lnTo>
                  <a:lnTo>
                    <a:pt x="1230452" y="1574800"/>
                  </a:lnTo>
                  <a:lnTo>
                    <a:pt x="1220927" y="1600200"/>
                  </a:lnTo>
                  <a:lnTo>
                    <a:pt x="1205064" y="1625600"/>
                  </a:lnTo>
                  <a:lnTo>
                    <a:pt x="1178077" y="1625600"/>
                  </a:lnTo>
                  <a:lnTo>
                    <a:pt x="1152690" y="1638300"/>
                  </a:lnTo>
                  <a:lnTo>
                    <a:pt x="1130477" y="1638300"/>
                  </a:lnTo>
                  <a:lnTo>
                    <a:pt x="1106678" y="1651000"/>
                  </a:lnTo>
                  <a:lnTo>
                    <a:pt x="1087628" y="1663700"/>
                  </a:lnTo>
                  <a:lnTo>
                    <a:pt x="1063828" y="1676400"/>
                  </a:lnTo>
                  <a:lnTo>
                    <a:pt x="1041615" y="1689100"/>
                  </a:lnTo>
                  <a:lnTo>
                    <a:pt x="1016215" y="1714500"/>
                  </a:lnTo>
                  <a:lnTo>
                    <a:pt x="995591" y="1727200"/>
                  </a:lnTo>
                  <a:lnTo>
                    <a:pt x="967028" y="1739900"/>
                  </a:lnTo>
                  <a:lnTo>
                    <a:pt x="941641" y="1739900"/>
                  </a:lnTo>
                  <a:lnTo>
                    <a:pt x="914654" y="1752600"/>
                  </a:lnTo>
                  <a:lnTo>
                    <a:pt x="889266" y="1752600"/>
                  </a:lnTo>
                  <a:lnTo>
                    <a:pt x="860704" y="1765300"/>
                  </a:lnTo>
                  <a:lnTo>
                    <a:pt x="840079" y="1778000"/>
                  </a:lnTo>
                  <a:lnTo>
                    <a:pt x="824191" y="1803400"/>
                  </a:lnTo>
                  <a:lnTo>
                    <a:pt x="797229" y="1828800"/>
                  </a:lnTo>
                  <a:lnTo>
                    <a:pt x="768667" y="1841500"/>
                  </a:lnTo>
                  <a:lnTo>
                    <a:pt x="740105" y="1866900"/>
                  </a:lnTo>
                  <a:lnTo>
                    <a:pt x="708367" y="1879600"/>
                  </a:lnTo>
                  <a:lnTo>
                    <a:pt x="740105" y="1892300"/>
                  </a:lnTo>
                  <a:lnTo>
                    <a:pt x="797229" y="1892300"/>
                  </a:lnTo>
                  <a:lnTo>
                    <a:pt x="825779" y="1905000"/>
                  </a:lnTo>
                  <a:lnTo>
                    <a:pt x="1055890" y="1905000"/>
                  </a:lnTo>
                  <a:lnTo>
                    <a:pt x="1106678" y="1892300"/>
                  </a:lnTo>
                  <a:lnTo>
                    <a:pt x="1162215" y="1892300"/>
                  </a:lnTo>
                  <a:lnTo>
                    <a:pt x="1212989" y="1866900"/>
                  </a:lnTo>
                  <a:lnTo>
                    <a:pt x="1309751" y="1841500"/>
                  </a:lnTo>
                  <a:lnTo>
                    <a:pt x="1359027" y="1816100"/>
                  </a:lnTo>
                  <a:lnTo>
                    <a:pt x="1401826" y="1790700"/>
                  </a:lnTo>
                  <a:lnTo>
                    <a:pt x="1450975" y="1765300"/>
                  </a:lnTo>
                  <a:lnTo>
                    <a:pt x="1487551" y="1739900"/>
                  </a:lnTo>
                  <a:lnTo>
                    <a:pt x="1533525" y="1714500"/>
                  </a:lnTo>
                  <a:lnTo>
                    <a:pt x="1573276" y="1676400"/>
                  </a:lnTo>
                  <a:lnTo>
                    <a:pt x="1611249" y="1638300"/>
                  </a:lnTo>
                  <a:lnTo>
                    <a:pt x="1647825" y="1600200"/>
                  </a:lnTo>
                  <a:lnTo>
                    <a:pt x="1682750" y="1562100"/>
                  </a:lnTo>
                  <a:lnTo>
                    <a:pt x="1657350" y="1536700"/>
                  </a:lnTo>
                  <a:lnTo>
                    <a:pt x="1625600" y="1524000"/>
                  </a:lnTo>
                  <a:lnTo>
                    <a:pt x="1593850" y="1498600"/>
                  </a:lnTo>
                  <a:lnTo>
                    <a:pt x="1568450" y="1473200"/>
                  </a:lnTo>
                  <a:lnTo>
                    <a:pt x="1536700" y="1473200"/>
                  </a:lnTo>
                  <a:lnTo>
                    <a:pt x="1511300" y="1460500"/>
                  </a:lnTo>
                  <a:lnTo>
                    <a:pt x="1484376" y="1435100"/>
                  </a:lnTo>
                  <a:lnTo>
                    <a:pt x="1468501" y="1422400"/>
                  </a:lnTo>
                  <a:lnTo>
                    <a:pt x="1468501" y="1409700"/>
                  </a:lnTo>
                  <a:lnTo>
                    <a:pt x="1462151" y="1409700"/>
                  </a:lnTo>
                  <a:lnTo>
                    <a:pt x="1462151" y="1397000"/>
                  </a:lnTo>
                  <a:lnTo>
                    <a:pt x="1468501" y="1371600"/>
                  </a:lnTo>
                  <a:lnTo>
                    <a:pt x="1468501" y="1358900"/>
                  </a:lnTo>
                  <a:lnTo>
                    <a:pt x="1470025" y="1346200"/>
                  </a:lnTo>
                  <a:lnTo>
                    <a:pt x="1484376" y="1308100"/>
                  </a:lnTo>
                  <a:lnTo>
                    <a:pt x="1500251" y="1257300"/>
                  </a:lnTo>
                  <a:lnTo>
                    <a:pt x="1519301" y="1219200"/>
                  </a:lnTo>
                  <a:lnTo>
                    <a:pt x="1554226" y="1193800"/>
                  </a:lnTo>
                  <a:lnTo>
                    <a:pt x="1573276" y="1193800"/>
                  </a:lnTo>
                  <a:lnTo>
                    <a:pt x="1590675" y="1181100"/>
                  </a:lnTo>
                  <a:lnTo>
                    <a:pt x="1639824" y="1181100"/>
                  </a:lnTo>
                  <a:lnTo>
                    <a:pt x="1657350" y="1168400"/>
                  </a:lnTo>
                  <a:lnTo>
                    <a:pt x="1668399" y="1155700"/>
                  </a:lnTo>
                  <a:lnTo>
                    <a:pt x="1717675" y="1155700"/>
                  </a:lnTo>
                  <a:lnTo>
                    <a:pt x="1735074" y="1143000"/>
                  </a:lnTo>
                  <a:lnTo>
                    <a:pt x="1750949" y="1130300"/>
                  </a:lnTo>
                  <a:lnTo>
                    <a:pt x="1822323" y="1130300"/>
                  </a:lnTo>
                  <a:lnTo>
                    <a:pt x="1831848" y="1143000"/>
                  </a:lnTo>
                  <a:lnTo>
                    <a:pt x="1843024" y="1155700"/>
                  </a:lnTo>
                  <a:lnTo>
                    <a:pt x="1857248" y="1155700"/>
                  </a:lnTo>
                  <a:lnTo>
                    <a:pt x="1874774" y="1168400"/>
                  </a:lnTo>
                  <a:lnTo>
                    <a:pt x="1881124" y="1155700"/>
                  </a:lnTo>
                  <a:lnTo>
                    <a:pt x="1882648" y="1130300"/>
                  </a:lnTo>
                  <a:lnTo>
                    <a:pt x="1888998" y="1117600"/>
                  </a:lnTo>
                  <a:lnTo>
                    <a:pt x="1892173" y="1104900"/>
                  </a:lnTo>
                  <a:lnTo>
                    <a:pt x="1874774" y="1104900"/>
                  </a:lnTo>
                  <a:lnTo>
                    <a:pt x="1863598" y="1092200"/>
                  </a:lnTo>
                  <a:lnTo>
                    <a:pt x="1843024" y="1092200"/>
                  </a:lnTo>
                  <a:lnTo>
                    <a:pt x="1831848" y="1079500"/>
                  </a:lnTo>
                  <a:lnTo>
                    <a:pt x="1822323" y="1079500"/>
                  </a:lnTo>
                  <a:lnTo>
                    <a:pt x="1817624" y="1066800"/>
                  </a:lnTo>
                  <a:lnTo>
                    <a:pt x="1808099" y="1054100"/>
                  </a:lnTo>
                  <a:lnTo>
                    <a:pt x="1806448" y="1041400"/>
                  </a:lnTo>
                  <a:lnTo>
                    <a:pt x="1800098" y="1016000"/>
                  </a:lnTo>
                  <a:lnTo>
                    <a:pt x="1800098" y="990600"/>
                  </a:lnTo>
                  <a:lnTo>
                    <a:pt x="1806448" y="977900"/>
                  </a:lnTo>
                  <a:lnTo>
                    <a:pt x="1817624" y="952500"/>
                  </a:lnTo>
                  <a:lnTo>
                    <a:pt x="1857248" y="952500"/>
                  </a:lnTo>
                  <a:lnTo>
                    <a:pt x="1874774" y="965200"/>
                  </a:lnTo>
                  <a:lnTo>
                    <a:pt x="1888998" y="977900"/>
                  </a:lnTo>
                  <a:lnTo>
                    <a:pt x="1900174" y="1003300"/>
                  </a:lnTo>
                  <a:lnTo>
                    <a:pt x="1906524" y="990600"/>
                  </a:lnTo>
                  <a:lnTo>
                    <a:pt x="1906524" y="95250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1247" y="4498847"/>
              <a:ext cx="95986" cy="1143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429000"/>
              <a:ext cx="2292096" cy="2889504"/>
            </a:xfrm>
            <a:prstGeom prst="rect">
              <a:avLst/>
            </a:prstGeom>
          </p:spPr>
        </p:pic>
      </p:grp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1579625" y="1090041"/>
            <a:ext cx="7176134" cy="136575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78915" marR="5080" indent="-1466850">
              <a:lnSpc>
                <a:spcPct val="100000"/>
              </a:lnSpc>
              <a:spcBef>
                <a:spcPts val="90"/>
              </a:spcBef>
            </a:pP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Multiple</a:t>
            </a:r>
            <a:r>
              <a:rPr sz="4400" b="0" u="none" spc="-15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Access</a:t>
            </a:r>
            <a:r>
              <a:rPr sz="4400" b="0" u="none" spc="-13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Techniques</a:t>
            </a:r>
            <a:r>
              <a:rPr sz="4400" b="0" u="none" spc="-14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spc="-25" dirty="0">
                <a:solidFill>
                  <a:srgbClr val="CACACA"/>
                </a:solidFill>
                <a:latin typeface="Times New Roman"/>
                <a:cs typeface="Times New Roman"/>
              </a:rPr>
              <a:t>for </a:t>
            </a: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Wireless</a:t>
            </a:r>
            <a:r>
              <a:rPr sz="4400" b="0" u="none" spc="-14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Communication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493268" y="3680282"/>
            <a:ext cx="4150995" cy="22811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3720"/>
              </a:lnSpc>
              <a:spcBef>
                <a:spcPts val="95"/>
              </a:spcBef>
            </a:pP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FDMA</a:t>
            </a:r>
            <a:endParaRPr sz="3200">
              <a:latin typeface="Times New Roman"/>
              <a:cs typeface="Times New Roman"/>
            </a:endParaRPr>
          </a:p>
          <a:p>
            <a:pPr marL="38100">
              <a:lnSpc>
                <a:spcPts val="3720"/>
              </a:lnSpc>
              <a:tabLst>
                <a:tab pos="1416685" algn="l"/>
              </a:tabLst>
            </a:pPr>
            <a:r>
              <a:rPr sz="4800" spc="-30" baseline="-18229" dirty="0">
                <a:solidFill>
                  <a:srgbClr val="FFFFFF"/>
                </a:solidFill>
                <a:latin typeface="Times New Roman"/>
                <a:cs typeface="Times New Roman"/>
              </a:rPr>
              <a:t>TDMA</a:t>
            </a:r>
            <a:r>
              <a:rPr sz="4800" baseline="-18229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Click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add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text</a:t>
            </a:r>
            <a:endParaRPr sz="3200">
              <a:latin typeface="Times New Roman"/>
              <a:cs typeface="Times New Roman"/>
            </a:endParaRPr>
          </a:p>
          <a:p>
            <a:pPr marL="38100" marR="2932430">
              <a:lnSpc>
                <a:spcPct val="121300"/>
              </a:lnSpc>
              <a:spcBef>
                <a:spcPts val="1005"/>
              </a:spcBef>
            </a:pP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SDMA PDMA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25"/>
              </a:spcBef>
            </a:pP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Introduction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41654" y="1673530"/>
            <a:ext cx="6746240" cy="358175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890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many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users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0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share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finite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amount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radio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spectrum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high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performance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819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duplexing</a:t>
            </a:r>
            <a:r>
              <a:rPr sz="32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generally</a:t>
            </a:r>
            <a:r>
              <a:rPr sz="32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required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frequency</a:t>
            </a:r>
            <a:r>
              <a:rPr sz="32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domain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domain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Frequency</a:t>
            </a:r>
            <a:r>
              <a:rPr sz="3600" b="0" u="none" spc="-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division</a:t>
            </a:r>
            <a:r>
              <a:rPr sz="3600" b="0" u="none" spc="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duplexing</a:t>
            </a:r>
            <a:r>
              <a:rPr sz="3600" b="0" u="none" spc="-2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(FDD)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41658" y="1596502"/>
            <a:ext cx="7498715" cy="3479798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894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bands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frequencies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every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forward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band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0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reverse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band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819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duplexer</a:t>
            </a:r>
            <a:r>
              <a:rPr sz="32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needed</a:t>
            </a:r>
            <a:endParaRPr sz="3200">
              <a:latin typeface="Times New Roman"/>
              <a:cs typeface="Times New Roman"/>
            </a:endParaRPr>
          </a:p>
          <a:p>
            <a:pPr marL="354330" marR="5080" indent="-342265">
              <a:lnSpc>
                <a:spcPct val="100000"/>
              </a:lnSpc>
              <a:spcBef>
                <a:spcPts val="795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frequency</a:t>
            </a:r>
            <a:r>
              <a:rPr sz="32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seperation</a:t>
            </a:r>
            <a:r>
              <a:rPr sz="3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forward</a:t>
            </a:r>
            <a:r>
              <a:rPr sz="32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band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reverse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band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constant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212850" y="5251450"/>
            <a:ext cx="5803900" cy="1003300"/>
            <a:chOff x="1212850" y="5251450"/>
            <a:chExt cx="5803900" cy="1003300"/>
          </a:xfrm>
        </p:grpSpPr>
        <p:sp>
          <p:nvSpPr>
            <p:cNvPr id="18" name="object 18"/>
            <p:cNvSpPr/>
            <p:nvPr/>
          </p:nvSpPr>
          <p:spPr>
            <a:xfrm>
              <a:off x="1219200" y="5257800"/>
              <a:ext cx="5791200" cy="990600"/>
            </a:xfrm>
            <a:custGeom>
              <a:avLst/>
              <a:gdLst/>
              <a:ahLst/>
              <a:cxnLst/>
              <a:rect l="l" t="t" r="r" b="b"/>
              <a:pathLst>
                <a:path w="5791200" h="990600">
                  <a:moveTo>
                    <a:pt x="57912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5791200" y="990600"/>
                  </a:lnTo>
                  <a:lnTo>
                    <a:pt x="5791200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19200" y="5257800"/>
              <a:ext cx="5791200" cy="990600"/>
            </a:xfrm>
            <a:custGeom>
              <a:avLst/>
              <a:gdLst/>
              <a:ahLst/>
              <a:cxnLst/>
              <a:rect l="l" t="t" r="r" b="b"/>
              <a:pathLst>
                <a:path w="5791200" h="990600">
                  <a:moveTo>
                    <a:pt x="0" y="990600"/>
                  </a:moveTo>
                  <a:lnTo>
                    <a:pt x="5791200" y="990600"/>
                  </a:lnTo>
                  <a:lnTo>
                    <a:pt x="5791200" y="0"/>
                  </a:lnTo>
                  <a:lnTo>
                    <a:pt x="0" y="0"/>
                  </a:lnTo>
                  <a:lnTo>
                    <a:pt x="0" y="99060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41450" y="5845022"/>
              <a:ext cx="5264150" cy="50800"/>
            </a:xfrm>
            <a:custGeom>
              <a:avLst/>
              <a:gdLst/>
              <a:ahLst/>
              <a:cxnLst/>
              <a:rect l="l" t="t" r="r" b="b"/>
              <a:pathLst>
                <a:path w="5264150" h="50800">
                  <a:moveTo>
                    <a:pt x="5213350" y="0"/>
                  </a:moveTo>
                  <a:lnTo>
                    <a:pt x="5213350" y="50800"/>
                  </a:lnTo>
                  <a:lnTo>
                    <a:pt x="5251488" y="31750"/>
                  </a:lnTo>
                  <a:lnTo>
                    <a:pt x="5226050" y="31750"/>
                  </a:lnTo>
                  <a:lnTo>
                    <a:pt x="5226050" y="19050"/>
                  </a:lnTo>
                  <a:lnTo>
                    <a:pt x="5251411" y="19050"/>
                  </a:lnTo>
                  <a:lnTo>
                    <a:pt x="5213350" y="0"/>
                  </a:lnTo>
                  <a:close/>
                </a:path>
                <a:path w="5264150" h="50800">
                  <a:moveTo>
                    <a:pt x="0" y="16027"/>
                  </a:moveTo>
                  <a:lnTo>
                    <a:pt x="0" y="28727"/>
                  </a:lnTo>
                  <a:lnTo>
                    <a:pt x="5226049" y="31750"/>
                  </a:lnTo>
                  <a:lnTo>
                    <a:pt x="5213350" y="31750"/>
                  </a:lnTo>
                  <a:lnTo>
                    <a:pt x="5213350" y="19050"/>
                  </a:lnTo>
                  <a:lnTo>
                    <a:pt x="5226049" y="19050"/>
                  </a:lnTo>
                  <a:lnTo>
                    <a:pt x="0" y="16027"/>
                  </a:lnTo>
                  <a:close/>
                </a:path>
                <a:path w="5264150" h="50800">
                  <a:moveTo>
                    <a:pt x="5251411" y="19050"/>
                  </a:moveTo>
                  <a:lnTo>
                    <a:pt x="5226050" y="19050"/>
                  </a:lnTo>
                  <a:lnTo>
                    <a:pt x="5226050" y="31750"/>
                  </a:lnTo>
                  <a:lnTo>
                    <a:pt x="5251488" y="31750"/>
                  </a:lnTo>
                  <a:lnTo>
                    <a:pt x="5264150" y="25425"/>
                  </a:lnTo>
                  <a:lnTo>
                    <a:pt x="5251411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834389" y="5895239"/>
            <a:ext cx="2134235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frequency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seperation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600200" y="5410202"/>
            <a:ext cx="4724400" cy="457200"/>
          </a:xfrm>
          <a:custGeom>
            <a:avLst/>
            <a:gdLst/>
            <a:ahLst/>
            <a:cxnLst/>
            <a:rect l="l" t="t" r="r" b="b"/>
            <a:pathLst>
              <a:path w="4724400" h="457200">
                <a:moveTo>
                  <a:pt x="1828800" y="0"/>
                </a:moveTo>
                <a:lnTo>
                  <a:pt x="0" y="0"/>
                </a:lnTo>
                <a:lnTo>
                  <a:pt x="0" y="457200"/>
                </a:lnTo>
                <a:lnTo>
                  <a:pt x="1828800" y="457200"/>
                </a:lnTo>
                <a:lnTo>
                  <a:pt x="1828800" y="0"/>
                </a:lnTo>
                <a:close/>
              </a:path>
              <a:path w="4724400" h="457200">
                <a:moveTo>
                  <a:pt x="4724400" y="0"/>
                </a:moveTo>
                <a:lnTo>
                  <a:pt x="2819400" y="0"/>
                </a:lnTo>
                <a:lnTo>
                  <a:pt x="2819400" y="457200"/>
                </a:lnTo>
                <a:lnTo>
                  <a:pt x="4724400" y="457200"/>
                </a:lnTo>
                <a:lnTo>
                  <a:pt x="4724400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600200" y="5410200"/>
            <a:ext cx="1828800" cy="346890"/>
          </a:xfrm>
          <a:prstGeom prst="rect">
            <a:avLst/>
          </a:prstGeom>
          <a:ln w="12192">
            <a:solidFill>
              <a:srgbClr val="FFFFF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0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reverse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419600" y="5410200"/>
            <a:ext cx="1905000" cy="346890"/>
          </a:xfrm>
          <a:prstGeom prst="rect">
            <a:avLst/>
          </a:prstGeom>
          <a:ln w="12192">
            <a:solidFill>
              <a:srgbClr val="FFFFF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forward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511556" y="6072977"/>
            <a:ext cx="2746375" cy="51435"/>
          </a:xfrm>
          <a:custGeom>
            <a:avLst/>
            <a:gdLst/>
            <a:ahLst/>
            <a:cxnLst/>
            <a:rect l="l" t="t" r="r" b="b"/>
            <a:pathLst>
              <a:path w="2746375" h="51435">
                <a:moveTo>
                  <a:pt x="241173" y="29286"/>
                </a:moveTo>
                <a:lnTo>
                  <a:pt x="240969" y="19227"/>
                </a:lnTo>
                <a:lnTo>
                  <a:pt x="240919" y="16586"/>
                </a:lnTo>
                <a:lnTo>
                  <a:pt x="50698" y="19062"/>
                </a:lnTo>
                <a:lnTo>
                  <a:pt x="50419" y="12"/>
                </a:lnTo>
                <a:lnTo>
                  <a:pt x="0" y="26073"/>
                </a:lnTo>
                <a:lnTo>
                  <a:pt x="51181" y="50812"/>
                </a:lnTo>
                <a:lnTo>
                  <a:pt x="50888" y="31927"/>
                </a:lnTo>
                <a:lnTo>
                  <a:pt x="50888" y="31775"/>
                </a:lnTo>
                <a:lnTo>
                  <a:pt x="241173" y="29286"/>
                </a:lnTo>
                <a:close/>
              </a:path>
              <a:path w="2746375" h="51435">
                <a:moveTo>
                  <a:pt x="2734145" y="31915"/>
                </a:moveTo>
                <a:lnTo>
                  <a:pt x="2708021" y="31915"/>
                </a:lnTo>
                <a:lnTo>
                  <a:pt x="2695346" y="31915"/>
                </a:lnTo>
                <a:lnTo>
                  <a:pt x="2695067" y="50787"/>
                </a:lnTo>
                <a:lnTo>
                  <a:pt x="2734145" y="31915"/>
                </a:lnTo>
                <a:close/>
              </a:path>
              <a:path w="2746375" h="51435">
                <a:moveTo>
                  <a:pt x="2746248" y="26073"/>
                </a:moveTo>
                <a:lnTo>
                  <a:pt x="2695829" y="0"/>
                </a:lnTo>
                <a:lnTo>
                  <a:pt x="2695575" y="16586"/>
                </a:lnTo>
                <a:lnTo>
                  <a:pt x="2695537" y="19050"/>
                </a:lnTo>
                <a:lnTo>
                  <a:pt x="2511425" y="16586"/>
                </a:lnTo>
                <a:lnTo>
                  <a:pt x="2511234" y="26073"/>
                </a:lnTo>
                <a:lnTo>
                  <a:pt x="2511171" y="29286"/>
                </a:lnTo>
                <a:lnTo>
                  <a:pt x="2695346" y="31750"/>
                </a:lnTo>
                <a:lnTo>
                  <a:pt x="2708021" y="31750"/>
                </a:lnTo>
                <a:lnTo>
                  <a:pt x="2734487" y="31750"/>
                </a:lnTo>
                <a:lnTo>
                  <a:pt x="2746248" y="260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766310" y="5955589"/>
            <a:ext cx="97155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1136650" y="5251450"/>
            <a:ext cx="5803900" cy="1003300"/>
            <a:chOff x="1136650" y="5251450"/>
            <a:chExt cx="5803900" cy="1003300"/>
          </a:xfrm>
        </p:grpSpPr>
        <p:sp>
          <p:nvSpPr>
            <p:cNvPr id="16" name="object 16"/>
            <p:cNvSpPr/>
            <p:nvPr/>
          </p:nvSpPr>
          <p:spPr>
            <a:xfrm>
              <a:off x="1143000" y="5257800"/>
              <a:ext cx="5791200" cy="990600"/>
            </a:xfrm>
            <a:custGeom>
              <a:avLst/>
              <a:gdLst/>
              <a:ahLst/>
              <a:cxnLst/>
              <a:rect l="l" t="t" r="r" b="b"/>
              <a:pathLst>
                <a:path w="5791200" h="990600">
                  <a:moveTo>
                    <a:pt x="57912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5791200" y="990600"/>
                  </a:lnTo>
                  <a:lnTo>
                    <a:pt x="5791200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43000" y="5257800"/>
              <a:ext cx="5791200" cy="990600"/>
            </a:xfrm>
            <a:custGeom>
              <a:avLst/>
              <a:gdLst/>
              <a:ahLst/>
              <a:cxnLst/>
              <a:rect l="l" t="t" r="r" b="b"/>
              <a:pathLst>
                <a:path w="5791200" h="990600">
                  <a:moveTo>
                    <a:pt x="0" y="990600"/>
                  </a:moveTo>
                  <a:lnTo>
                    <a:pt x="5791200" y="990600"/>
                  </a:lnTo>
                  <a:lnTo>
                    <a:pt x="5791200" y="0"/>
                  </a:lnTo>
                  <a:lnTo>
                    <a:pt x="0" y="0"/>
                  </a:lnTo>
                  <a:lnTo>
                    <a:pt x="0" y="99060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41450" y="5845022"/>
              <a:ext cx="5264150" cy="50800"/>
            </a:xfrm>
            <a:custGeom>
              <a:avLst/>
              <a:gdLst/>
              <a:ahLst/>
              <a:cxnLst/>
              <a:rect l="l" t="t" r="r" b="b"/>
              <a:pathLst>
                <a:path w="5264150" h="50800">
                  <a:moveTo>
                    <a:pt x="5213350" y="0"/>
                  </a:moveTo>
                  <a:lnTo>
                    <a:pt x="5213350" y="50800"/>
                  </a:lnTo>
                  <a:lnTo>
                    <a:pt x="5251488" y="31750"/>
                  </a:lnTo>
                  <a:lnTo>
                    <a:pt x="5226050" y="31750"/>
                  </a:lnTo>
                  <a:lnTo>
                    <a:pt x="5226050" y="19050"/>
                  </a:lnTo>
                  <a:lnTo>
                    <a:pt x="5251411" y="19050"/>
                  </a:lnTo>
                  <a:lnTo>
                    <a:pt x="5213350" y="0"/>
                  </a:lnTo>
                  <a:close/>
                </a:path>
                <a:path w="5264150" h="50800">
                  <a:moveTo>
                    <a:pt x="0" y="16027"/>
                  </a:moveTo>
                  <a:lnTo>
                    <a:pt x="0" y="28727"/>
                  </a:lnTo>
                  <a:lnTo>
                    <a:pt x="5226049" y="31750"/>
                  </a:lnTo>
                  <a:lnTo>
                    <a:pt x="5213350" y="31750"/>
                  </a:lnTo>
                  <a:lnTo>
                    <a:pt x="5213350" y="19050"/>
                  </a:lnTo>
                  <a:lnTo>
                    <a:pt x="5226049" y="19050"/>
                  </a:lnTo>
                  <a:lnTo>
                    <a:pt x="0" y="16027"/>
                  </a:lnTo>
                  <a:close/>
                </a:path>
                <a:path w="5264150" h="50800">
                  <a:moveTo>
                    <a:pt x="5251411" y="19050"/>
                  </a:moveTo>
                  <a:lnTo>
                    <a:pt x="5226050" y="19050"/>
                  </a:lnTo>
                  <a:lnTo>
                    <a:pt x="5226050" y="31750"/>
                  </a:lnTo>
                  <a:lnTo>
                    <a:pt x="5251488" y="31750"/>
                  </a:lnTo>
                  <a:lnTo>
                    <a:pt x="5264150" y="25425"/>
                  </a:lnTo>
                  <a:lnTo>
                    <a:pt x="5251411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46972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9207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7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Time division duplexing</a:t>
            </a:r>
            <a:r>
              <a:rPr sz="3600" b="0" u="none" spc="-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(TDD)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5454" y="1901497"/>
            <a:ext cx="7273290" cy="298735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894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uses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32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forward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reverse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link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multiple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users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share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single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radio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forward</a:t>
            </a:r>
            <a:r>
              <a:rPr sz="3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slot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81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reverse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slot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duplexer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required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39185" y="5879389"/>
            <a:ext cx="1567815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seperation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676400" y="5410201"/>
            <a:ext cx="4648200" cy="713740"/>
            <a:chOff x="1676400" y="5410200"/>
            <a:chExt cx="4648200" cy="713740"/>
          </a:xfrm>
        </p:grpSpPr>
        <p:sp>
          <p:nvSpPr>
            <p:cNvPr id="23" name="object 23"/>
            <p:cNvSpPr/>
            <p:nvPr/>
          </p:nvSpPr>
          <p:spPr>
            <a:xfrm>
              <a:off x="2816352" y="6072974"/>
              <a:ext cx="2212975" cy="51435"/>
            </a:xfrm>
            <a:custGeom>
              <a:avLst/>
              <a:gdLst/>
              <a:ahLst/>
              <a:cxnLst/>
              <a:rect l="l" t="t" r="r" b="b"/>
              <a:pathLst>
                <a:path w="2212975" h="51435">
                  <a:moveTo>
                    <a:pt x="241173" y="29286"/>
                  </a:moveTo>
                  <a:lnTo>
                    <a:pt x="240969" y="19227"/>
                  </a:lnTo>
                  <a:lnTo>
                    <a:pt x="240919" y="16586"/>
                  </a:lnTo>
                  <a:lnTo>
                    <a:pt x="50698" y="19062"/>
                  </a:lnTo>
                  <a:lnTo>
                    <a:pt x="50419" y="12"/>
                  </a:lnTo>
                  <a:lnTo>
                    <a:pt x="0" y="26073"/>
                  </a:lnTo>
                  <a:lnTo>
                    <a:pt x="51181" y="50812"/>
                  </a:lnTo>
                  <a:lnTo>
                    <a:pt x="50888" y="31927"/>
                  </a:lnTo>
                  <a:lnTo>
                    <a:pt x="50888" y="31775"/>
                  </a:lnTo>
                  <a:lnTo>
                    <a:pt x="241173" y="29286"/>
                  </a:lnTo>
                  <a:close/>
                </a:path>
                <a:path w="2212975" h="51435">
                  <a:moveTo>
                    <a:pt x="2200745" y="31915"/>
                  </a:moveTo>
                  <a:lnTo>
                    <a:pt x="2174621" y="31915"/>
                  </a:lnTo>
                  <a:lnTo>
                    <a:pt x="2161946" y="31915"/>
                  </a:lnTo>
                  <a:lnTo>
                    <a:pt x="2161667" y="50787"/>
                  </a:lnTo>
                  <a:lnTo>
                    <a:pt x="2200745" y="31915"/>
                  </a:lnTo>
                  <a:close/>
                </a:path>
                <a:path w="2212975" h="51435">
                  <a:moveTo>
                    <a:pt x="2212848" y="26073"/>
                  </a:moveTo>
                  <a:lnTo>
                    <a:pt x="2162429" y="0"/>
                  </a:lnTo>
                  <a:lnTo>
                    <a:pt x="2162175" y="16586"/>
                  </a:lnTo>
                  <a:lnTo>
                    <a:pt x="2162137" y="19050"/>
                  </a:lnTo>
                  <a:lnTo>
                    <a:pt x="1978025" y="16586"/>
                  </a:lnTo>
                  <a:lnTo>
                    <a:pt x="1977834" y="26073"/>
                  </a:lnTo>
                  <a:lnTo>
                    <a:pt x="1977771" y="29286"/>
                  </a:lnTo>
                  <a:lnTo>
                    <a:pt x="2161946" y="31750"/>
                  </a:lnTo>
                  <a:lnTo>
                    <a:pt x="2174621" y="31750"/>
                  </a:lnTo>
                  <a:lnTo>
                    <a:pt x="2201087" y="31750"/>
                  </a:lnTo>
                  <a:lnTo>
                    <a:pt x="2212848" y="260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76400" y="5410199"/>
              <a:ext cx="4648200" cy="457200"/>
            </a:xfrm>
            <a:custGeom>
              <a:avLst/>
              <a:gdLst/>
              <a:ahLst/>
              <a:cxnLst/>
              <a:rect l="l" t="t" r="r" b="b"/>
              <a:pathLst>
                <a:path w="4648200" h="457200">
                  <a:moveTo>
                    <a:pt x="18288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828800" y="457200"/>
                  </a:lnTo>
                  <a:lnTo>
                    <a:pt x="1828800" y="0"/>
                  </a:lnTo>
                  <a:close/>
                </a:path>
                <a:path w="4648200" h="457200">
                  <a:moveTo>
                    <a:pt x="4648200" y="0"/>
                  </a:moveTo>
                  <a:lnTo>
                    <a:pt x="2819400" y="0"/>
                  </a:lnTo>
                  <a:lnTo>
                    <a:pt x="2819400" y="457200"/>
                  </a:lnTo>
                  <a:lnTo>
                    <a:pt x="4648200" y="457200"/>
                  </a:lnTo>
                  <a:lnTo>
                    <a:pt x="4648200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782058" y="5666638"/>
            <a:ext cx="83185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95800" y="5410200"/>
            <a:ext cx="1828800" cy="346890"/>
          </a:xfrm>
          <a:prstGeom prst="rect">
            <a:avLst/>
          </a:prstGeom>
          <a:ln w="12192">
            <a:solidFill>
              <a:srgbClr val="FFFFF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forward</a:t>
            </a:r>
            <a:r>
              <a:rPr sz="20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76400" y="5410200"/>
            <a:ext cx="1828800" cy="346890"/>
          </a:xfrm>
          <a:prstGeom prst="rect">
            <a:avLst/>
          </a:prstGeom>
          <a:ln w="12192">
            <a:solidFill>
              <a:srgbClr val="FFFFF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0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reverse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46972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920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7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Multiple</a:t>
            </a:r>
            <a:r>
              <a:rPr sz="3600" b="0" u="none" spc="-5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Access</a:t>
            </a:r>
            <a:r>
              <a:rPr sz="3600" b="0" u="none" spc="-3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Techniques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8" y="1901497"/>
            <a:ext cx="7629525" cy="417742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894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Frequency</a:t>
            </a:r>
            <a:r>
              <a:rPr sz="32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division</a:t>
            </a:r>
            <a:r>
              <a:rPr sz="32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multiple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access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(FDMA)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division</a:t>
            </a:r>
            <a:r>
              <a:rPr sz="32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multiple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access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(TDMA)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Code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division</a:t>
            </a:r>
            <a:r>
              <a:rPr sz="32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multiple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access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(CDMA)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81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Space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division</a:t>
            </a:r>
            <a:r>
              <a:rPr sz="32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multiple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access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(SDMA)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grouped</a:t>
            </a:r>
            <a:r>
              <a:rPr sz="32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as: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narrowband</a:t>
            </a:r>
            <a:r>
              <a:rPr sz="3200" spc="-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systems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81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wideband</a:t>
            </a:r>
            <a:r>
              <a:rPr sz="32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systems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Narrowband</a:t>
            </a:r>
            <a:r>
              <a:rPr sz="3600" b="0" u="none" spc="2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systems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4" y="1749096"/>
            <a:ext cx="6523990" cy="4772459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894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large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narrowband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usually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FDD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0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Narrowband</a:t>
            </a:r>
            <a:r>
              <a:rPr sz="3200" spc="-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FDMA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819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Narrowband</a:t>
            </a:r>
            <a:r>
              <a:rPr sz="3200" spc="-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TDMA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FDMA/FDD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FDMA/TDD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815"/>
              </a:spcBef>
              <a:buChar char="•"/>
              <a:tabLst>
                <a:tab pos="353695" algn="l"/>
              </a:tabLst>
            </a:pP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TDMA/FDD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TDMA/TDD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25"/>
              </a:spcBef>
              <a:tabLst>
                <a:tab pos="3791585" algn="l"/>
              </a:tabLst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Logical</a:t>
            </a:r>
            <a:r>
              <a:rPr sz="3600" b="0" u="none" spc="-4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separation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	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FDMA/FDD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750047" y="2584450"/>
            <a:ext cx="50800" cy="2901950"/>
          </a:xfrm>
          <a:custGeom>
            <a:avLst/>
            <a:gdLst/>
            <a:ahLst/>
            <a:cxnLst/>
            <a:rect l="l" t="t" r="r" b="b"/>
            <a:pathLst>
              <a:path w="50800" h="2901950">
                <a:moveTo>
                  <a:pt x="19036" y="2851150"/>
                </a:moveTo>
                <a:lnTo>
                  <a:pt x="0" y="2851150"/>
                </a:lnTo>
                <a:lnTo>
                  <a:pt x="25400" y="2901950"/>
                </a:lnTo>
                <a:lnTo>
                  <a:pt x="44450" y="2863850"/>
                </a:lnTo>
                <a:lnTo>
                  <a:pt x="19050" y="2863850"/>
                </a:lnTo>
                <a:lnTo>
                  <a:pt x="19036" y="2851150"/>
                </a:lnTo>
                <a:close/>
              </a:path>
              <a:path w="50800" h="2901950">
                <a:moveTo>
                  <a:pt x="28701" y="0"/>
                </a:moveTo>
                <a:lnTo>
                  <a:pt x="16001" y="0"/>
                </a:lnTo>
                <a:lnTo>
                  <a:pt x="19036" y="2851150"/>
                </a:lnTo>
                <a:lnTo>
                  <a:pt x="19050" y="2863850"/>
                </a:lnTo>
                <a:lnTo>
                  <a:pt x="31750" y="2863850"/>
                </a:lnTo>
                <a:lnTo>
                  <a:pt x="28701" y="0"/>
                </a:lnTo>
                <a:close/>
              </a:path>
              <a:path w="50800" h="2901950">
                <a:moveTo>
                  <a:pt x="50800" y="2851150"/>
                </a:moveTo>
                <a:lnTo>
                  <a:pt x="31736" y="2851150"/>
                </a:lnTo>
                <a:lnTo>
                  <a:pt x="31750" y="2863850"/>
                </a:lnTo>
                <a:lnTo>
                  <a:pt x="44450" y="2863850"/>
                </a:lnTo>
                <a:lnTo>
                  <a:pt x="50800" y="28511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004809" y="3913123"/>
            <a:ext cx="127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2203708" y="2584704"/>
          <a:ext cx="4952365" cy="2894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9050"/>
                <a:gridCol w="3663315"/>
              </a:tblGrid>
              <a:tr h="458470">
                <a:tc rowSpan="2"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2105"/>
                        </a:spcBef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2300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26733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70675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forward</a:t>
                      </a:r>
                      <a:r>
                        <a:rPr sz="2300" spc="-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channel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</a:tr>
              <a:tr h="457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6733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70675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reverse</a:t>
                      </a:r>
                      <a:r>
                        <a:rPr sz="2300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channel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</a:tr>
              <a:tr h="1066801">
                <a:tc gridSpan="2">
                  <a:txBody>
                    <a:bodyPr/>
                    <a:lstStyle/>
                    <a:p>
                      <a:pPr marL="30480" algn="ctr">
                        <a:lnSpc>
                          <a:spcPct val="100000"/>
                        </a:lnSpc>
                        <a:spcBef>
                          <a:spcPts val="2100"/>
                        </a:spcBef>
                      </a:pPr>
                      <a:r>
                        <a:rPr sz="2300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...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266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7200">
                <a:tc rowSpan="2"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  <a:spcBef>
                          <a:spcPts val="2100"/>
                        </a:spcBef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2300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26670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7829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forward</a:t>
                      </a:r>
                      <a:r>
                        <a:rPr sz="2300" spc="-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channel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</a:tr>
              <a:tr h="45529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6670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78295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reverse</a:t>
                      </a:r>
                      <a:r>
                        <a:rPr sz="2300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channel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2203450" y="5921209"/>
            <a:ext cx="4959350" cy="50799"/>
          </a:xfrm>
          <a:custGeom>
            <a:avLst/>
            <a:gdLst/>
            <a:ahLst/>
            <a:cxnLst/>
            <a:rect l="l" t="t" r="r" b="b"/>
            <a:pathLst>
              <a:path w="4959350" h="50800">
                <a:moveTo>
                  <a:pt x="4908550" y="0"/>
                </a:moveTo>
                <a:lnTo>
                  <a:pt x="4908550" y="50800"/>
                </a:lnTo>
                <a:lnTo>
                  <a:pt x="4946681" y="31762"/>
                </a:lnTo>
                <a:lnTo>
                  <a:pt x="4921250" y="31762"/>
                </a:lnTo>
                <a:lnTo>
                  <a:pt x="4921250" y="19062"/>
                </a:lnTo>
                <a:lnTo>
                  <a:pt x="4946618" y="19062"/>
                </a:lnTo>
                <a:lnTo>
                  <a:pt x="4908550" y="0"/>
                </a:lnTo>
                <a:close/>
              </a:path>
              <a:path w="4959350" h="50800">
                <a:moveTo>
                  <a:pt x="0" y="16040"/>
                </a:moveTo>
                <a:lnTo>
                  <a:pt x="0" y="28740"/>
                </a:lnTo>
                <a:lnTo>
                  <a:pt x="4921249" y="31762"/>
                </a:lnTo>
                <a:lnTo>
                  <a:pt x="4908550" y="31762"/>
                </a:lnTo>
                <a:lnTo>
                  <a:pt x="4908550" y="19062"/>
                </a:lnTo>
                <a:lnTo>
                  <a:pt x="4921249" y="19062"/>
                </a:lnTo>
                <a:lnTo>
                  <a:pt x="0" y="16040"/>
                </a:lnTo>
                <a:close/>
              </a:path>
              <a:path w="4959350" h="50800">
                <a:moveTo>
                  <a:pt x="4946618" y="19062"/>
                </a:moveTo>
                <a:lnTo>
                  <a:pt x="4921250" y="19062"/>
                </a:lnTo>
                <a:lnTo>
                  <a:pt x="4921250" y="31762"/>
                </a:lnTo>
                <a:lnTo>
                  <a:pt x="4946681" y="31762"/>
                </a:lnTo>
                <a:lnTo>
                  <a:pt x="4959350" y="25438"/>
                </a:lnTo>
                <a:lnTo>
                  <a:pt x="4946618" y="190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879598" y="6080557"/>
            <a:ext cx="110489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Logical</a:t>
            </a:r>
            <a:r>
              <a:rPr sz="3600" b="0" u="none" spc="-4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separation</a:t>
            </a:r>
            <a:r>
              <a:rPr sz="3600" b="0" u="none" spc="-4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FDMA/TDD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750047" y="2584450"/>
            <a:ext cx="50800" cy="2901950"/>
          </a:xfrm>
          <a:custGeom>
            <a:avLst/>
            <a:gdLst/>
            <a:ahLst/>
            <a:cxnLst/>
            <a:rect l="l" t="t" r="r" b="b"/>
            <a:pathLst>
              <a:path w="50800" h="2901950">
                <a:moveTo>
                  <a:pt x="19036" y="2851150"/>
                </a:moveTo>
                <a:lnTo>
                  <a:pt x="0" y="2851150"/>
                </a:lnTo>
                <a:lnTo>
                  <a:pt x="25400" y="2901950"/>
                </a:lnTo>
                <a:lnTo>
                  <a:pt x="44450" y="2863850"/>
                </a:lnTo>
                <a:lnTo>
                  <a:pt x="19050" y="2863850"/>
                </a:lnTo>
                <a:lnTo>
                  <a:pt x="19036" y="2851150"/>
                </a:lnTo>
                <a:close/>
              </a:path>
              <a:path w="50800" h="2901950">
                <a:moveTo>
                  <a:pt x="28701" y="0"/>
                </a:moveTo>
                <a:lnTo>
                  <a:pt x="16001" y="0"/>
                </a:lnTo>
                <a:lnTo>
                  <a:pt x="19036" y="2851150"/>
                </a:lnTo>
                <a:lnTo>
                  <a:pt x="19050" y="2863850"/>
                </a:lnTo>
                <a:lnTo>
                  <a:pt x="31750" y="2863850"/>
                </a:lnTo>
                <a:lnTo>
                  <a:pt x="28701" y="0"/>
                </a:lnTo>
                <a:close/>
              </a:path>
              <a:path w="50800" h="2901950">
                <a:moveTo>
                  <a:pt x="50800" y="2851150"/>
                </a:moveTo>
                <a:lnTo>
                  <a:pt x="31736" y="2851150"/>
                </a:lnTo>
                <a:lnTo>
                  <a:pt x="31750" y="2863850"/>
                </a:lnTo>
                <a:lnTo>
                  <a:pt x="44450" y="2863850"/>
                </a:lnTo>
                <a:lnTo>
                  <a:pt x="50800" y="28511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004809" y="3913123"/>
            <a:ext cx="127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2203708" y="2584706"/>
          <a:ext cx="4952365" cy="28949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15870"/>
                <a:gridCol w="2436495"/>
              </a:tblGrid>
              <a:tr h="450850">
                <a:tc gridSpan="2">
                  <a:txBody>
                    <a:bodyPr/>
                    <a:lstStyle/>
                    <a:p>
                      <a:pPr marL="82550" algn="ctr">
                        <a:lnSpc>
                          <a:spcPts val="2585"/>
                        </a:lnSpc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2300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09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64820">
                <a:tc>
                  <a:txBody>
                    <a:bodyPr/>
                    <a:lstStyle/>
                    <a:p>
                      <a:pPr marL="243204">
                        <a:lnSpc>
                          <a:spcPts val="2640"/>
                        </a:lnSpc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forward</a:t>
                      </a:r>
                      <a:r>
                        <a:rPr sz="2300" spc="-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channel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ts val="2640"/>
                        </a:lnSpc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reverse</a:t>
                      </a:r>
                      <a:r>
                        <a:rPr sz="2300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channel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</a:tr>
              <a:tr h="1066801">
                <a:tc gridSpan="2">
                  <a:txBody>
                    <a:bodyPr/>
                    <a:lstStyle/>
                    <a:p>
                      <a:pPr marL="30480" algn="ctr">
                        <a:lnSpc>
                          <a:spcPct val="100000"/>
                        </a:lnSpc>
                        <a:spcBef>
                          <a:spcPts val="2100"/>
                        </a:spcBef>
                      </a:pPr>
                      <a:r>
                        <a:rPr sz="2300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...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266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46405">
                <a:tc gridSpan="2">
                  <a:txBody>
                    <a:bodyPr/>
                    <a:lstStyle/>
                    <a:p>
                      <a:pPr marL="81915" algn="ctr">
                        <a:lnSpc>
                          <a:spcPts val="2580"/>
                        </a:lnSpc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2300" spc="-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009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66091">
                <a:tc>
                  <a:txBody>
                    <a:bodyPr/>
                    <a:lstStyle/>
                    <a:p>
                      <a:pPr marL="243204">
                        <a:lnSpc>
                          <a:spcPts val="2670"/>
                        </a:lnSpc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forward</a:t>
                      </a:r>
                      <a:r>
                        <a:rPr sz="2300" spc="-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channel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ts val="2670"/>
                        </a:lnSpc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reverse</a:t>
                      </a:r>
                      <a:r>
                        <a:rPr sz="2300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channel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2203450" y="5921209"/>
            <a:ext cx="4959350" cy="50799"/>
          </a:xfrm>
          <a:custGeom>
            <a:avLst/>
            <a:gdLst/>
            <a:ahLst/>
            <a:cxnLst/>
            <a:rect l="l" t="t" r="r" b="b"/>
            <a:pathLst>
              <a:path w="4959350" h="50800">
                <a:moveTo>
                  <a:pt x="4908550" y="0"/>
                </a:moveTo>
                <a:lnTo>
                  <a:pt x="4908550" y="50800"/>
                </a:lnTo>
                <a:lnTo>
                  <a:pt x="4946681" y="31762"/>
                </a:lnTo>
                <a:lnTo>
                  <a:pt x="4921250" y="31762"/>
                </a:lnTo>
                <a:lnTo>
                  <a:pt x="4921250" y="19062"/>
                </a:lnTo>
                <a:lnTo>
                  <a:pt x="4946618" y="19062"/>
                </a:lnTo>
                <a:lnTo>
                  <a:pt x="4908550" y="0"/>
                </a:lnTo>
                <a:close/>
              </a:path>
              <a:path w="4959350" h="50800">
                <a:moveTo>
                  <a:pt x="0" y="16040"/>
                </a:moveTo>
                <a:lnTo>
                  <a:pt x="0" y="28740"/>
                </a:lnTo>
                <a:lnTo>
                  <a:pt x="4921249" y="31762"/>
                </a:lnTo>
                <a:lnTo>
                  <a:pt x="4908550" y="31762"/>
                </a:lnTo>
                <a:lnTo>
                  <a:pt x="4908550" y="19062"/>
                </a:lnTo>
                <a:lnTo>
                  <a:pt x="4921249" y="19062"/>
                </a:lnTo>
                <a:lnTo>
                  <a:pt x="0" y="16040"/>
                </a:lnTo>
                <a:close/>
              </a:path>
              <a:path w="4959350" h="50800">
                <a:moveTo>
                  <a:pt x="4946618" y="19062"/>
                </a:moveTo>
                <a:lnTo>
                  <a:pt x="4921250" y="19062"/>
                </a:lnTo>
                <a:lnTo>
                  <a:pt x="4921250" y="31762"/>
                </a:lnTo>
                <a:lnTo>
                  <a:pt x="4946681" y="31762"/>
                </a:lnTo>
                <a:lnTo>
                  <a:pt x="4959350" y="25438"/>
                </a:lnTo>
                <a:lnTo>
                  <a:pt x="4946618" y="190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879598" y="6080557"/>
            <a:ext cx="110489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25"/>
              </a:spcBef>
              <a:tabLst>
                <a:tab pos="3791585" algn="l"/>
              </a:tabLst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Logical</a:t>
            </a:r>
            <a:r>
              <a:rPr sz="3600" b="0" u="none" spc="-4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separation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	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TDMA/FDD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750047" y="2584450"/>
            <a:ext cx="50800" cy="2901950"/>
          </a:xfrm>
          <a:custGeom>
            <a:avLst/>
            <a:gdLst/>
            <a:ahLst/>
            <a:cxnLst/>
            <a:rect l="l" t="t" r="r" b="b"/>
            <a:pathLst>
              <a:path w="50800" h="2901950">
                <a:moveTo>
                  <a:pt x="19036" y="2851150"/>
                </a:moveTo>
                <a:lnTo>
                  <a:pt x="0" y="2851150"/>
                </a:lnTo>
                <a:lnTo>
                  <a:pt x="25400" y="2901950"/>
                </a:lnTo>
                <a:lnTo>
                  <a:pt x="44450" y="2863850"/>
                </a:lnTo>
                <a:lnTo>
                  <a:pt x="19050" y="2863850"/>
                </a:lnTo>
                <a:lnTo>
                  <a:pt x="19036" y="2851150"/>
                </a:lnTo>
                <a:close/>
              </a:path>
              <a:path w="50800" h="2901950">
                <a:moveTo>
                  <a:pt x="28701" y="0"/>
                </a:moveTo>
                <a:lnTo>
                  <a:pt x="16001" y="0"/>
                </a:lnTo>
                <a:lnTo>
                  <a:pt x="19036" y="2851150"/>
                </a:lnTo>
                <a:lnTo>
                  <a:pt x="19050" y="2863850"/>
                </a:lnTo>
                <a:lnTo>
                  <a:pt x="31750" y="2863850"/>
                </a:lnTo>
                <a:lnTo>
                  <a:pt x="28701" y="0"/>
                </a:lnTo>
                <a:close/>
              </a:path>
              <a:path w="50800" h="2901950">
                <a:moveTo>
                  <a:pt x="50800" y="2851150"/>
                </a:moveTo>
                <a:lnTo>
                  <a:pt x="31736" y="2851150"/>
                </a:lnTo>
                <a:lnTo>
                  <a:pt x="31750" y="2863850"/>
                </a:lnTo>
                <a:lnTo>
                  <a:pt x="44450" y="2863850"/>
                </a:lnTo>
                <a:lnTo>
                  <a:pt x="50800" y="28511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004809" y="3913123"/>
            <a:ext cx="127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2203704" y="2584704"/>
          <a:ext cx="4953000" cy="28949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8050"/>
                <a:gridCol w="1150620"/>
                <a:gridCol w="685800"/>
                <a:gridCol w="982980"/>
                <a:gridCol w="1225550"/>
              </a:tblGrid>
              <a:tr h="144907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30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2300" spc="-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97155" marR="85090">
                        <a:lnSpc>
                          <a:spcPct val="151800"/>
                        </a:lnSpc>
                        <a:spcBef>
                          <a:spcPts val="615"/>
                        </a:spcBef>
                      </a:pPr>
                      <a:r>
                        <a:rPr sz="2300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forward </a:t>
                      </a:r>
                      <a:r>
                        <a:rPr sz="23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channel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78104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241935">
                        <a:lnSpc>
                          <a:spcPct val="100000"/>
                        </a:lnSpc>
                      </a:pPr>
                      <a:r>
                        <a:rPr sz="2300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...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30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2300" spc="-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21590" marR="234950">
                        <a:lnSpc>
                          <a:spcPct val="151800"/>
                        </a:lnSpc>
                        <a:spcBef>
                          <a:spcPts val="615"/>
                        </a:spcBef>
                      </a:pPr>
                      <a:r>
                        <a:rPr sz="23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forward channel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78104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</a:tr>
              <a:tr h="144589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97155" marR="100965">
                        <a:lnSpc>
                          <a:spcPct val="151700"/>
                        </a:lnSpc>
                        <a:spcBef>
                          <a:spcPts val="610"/>
                        </a:spcBef>
                      </a:pPr>
                      <a:r>
                        <a:rPr sz="23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reverse channel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77469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97790" marR="174625">
                        <a:lnSpc>
                          <a:spcPct val="151700"/>
                        </a:lnSpc>
                        <a:spcBef>
                          <a:spcPts val="10"/>
                        </a:spcBef>
                      </a:pPr>
                      <a:r>
                        <a:rPr sz="23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reverse channel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2203450" y="5921209"/>
            <a:ext cx="4959350" cy="50799"/>
          </a:xfrm>
          <a:custGeom>
            <a:avLst/>
            <a:gdLst/>
            <a:ahLst/>
            <a:cxnLst/>
            <a:rect l="l" t="t" r="r" b="b"/>
            <a:pathLst>
              <a:path w="4959350" h="50800">
                <a:moveTo>
                  <a:pt x="4908550" y="0"/>
                </a:moveTo>
                <a:lnTo>
                  <a:pt x="4908550" y="50800"/>
                </a:lnTo>
                <a:lnTo>
                  <a:pt x="4946681" y="31762"/>
                </a:lnTo>
                <a:lnTo>
                  <a:pt x="4921250" y="31762"/>
                </a:lnTo>
                <a:lnTo>
                  <a:pt x="4921250" y="19062"/>
                </a:lnTo>
                <a:lnTo>
                  <a:pt x="4946618" y="19062"/>
                </a:lnTo>
                <a:lnTo>
                  <a:pt x="4908550" y="0"/>
                </a:lnTo>
                <a:close/>
              </a:path>
              <a:path w="4959350" h="50800">
                <a:moveTo>
                  <a:pt x="0" y="16040"/>
                </a:moveTo>
                <a:lnTo>
                  <a:pt x="0" y="28740"/>
                </a:lnTo>
                <a:lnTo>
                  <a:pt x="4921249" y="31762"/>
                </a:lnTo>
                <a:lnTo>
                  <a:pt x="4908550" y="31762"/>
                </a:lnTo>
                <a:lnTo>
                  <a:pt x="4908550" y="19062"/>
                </a:lnTo>
                <a:lnTo>
                  <a:pt x="4921249" y="19062"/>
                </a:lnTo>
                <a:lnTo>
                  <a:pt x="0" y="16040"/>
                </a:lnTo>
                <a:close/>
              </a:path>
              <a:path w="4959350" h="50800">
                <a:moveTo>
                  <a:pt x="4946618" y="19062"/>
                </a:moveTo>
                <a:lnTo>
                  <a:pt x="4921250" y="19062"/>
                </a:lnTo>
                <a:lnTo>
                  <a:pt x="4921250" y="31762"/>
                </a:lnTo>
                <a:lnTo>
                  <a:pt x="4946681" y="31762"/>
                </a:lnTo>
                <a:lnTo>
                  <a:pt x="4959350" y="25438"/>
                </a:lnTo>
                <a:lnTo>
                  <a:pt x="4946618" y="190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879598" y="6080557"/>
            <a:ext cx="110489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25"/>
              </a:spcBef>
              <a:tabLst>
                <a:tab pos="3791585" algn="l"/>
              </a:tabLst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Logical</a:t>
            </a:r>
            <a:r>
              <a:rPr sz="3600" b="0" u="none" spc="-4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separation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	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TDMA/TDD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750047" y="2584450"/>
            <a:ext cx="50800" cy="2901950"/>
          </a:xfrm>
          <a:custGeom>
            <a:avLst/>
            <a:gdLst/>
            <a:ahLst/>
            <a:cxnLst/>
            <a:rect l="l" t="t" r="r" b="b"/>
            <a:pathLst>
              <a:path w="50800" h="2901950">
                <a:moveTo>
                  <a:pt x="19036" y="2851150"/>
                </a:moveTo>
                <a:lnTo>
                  <a:pt x="0" y="2851150"/>
                </a:lnTo>
                <a:lnTo>
                  <a:pt x="25400" y="2901950"/>
                </a:lnTo>
                <a:lnTo>
                  <a:pt x="44450" y="2863850"/>
                </a:lnTo>
                <a:lnTo>
                  <a:pt x="19050" y="2863850"/>
                </a:lnTo>
                <a:lnTo>
                  <a:pt x="19036" y="2851150"/>
                </a:lnTo>
                <a:close/>
              </a:path>
              <a:path w="50800" h="2901950">
                <a:moveTo>
                  <a:pt x="28701" y="0"/>
                </a:moveTo>
                <a:lnTo>
                  <a:pt x="16001" y="0"/>
                </a:lnTo>
                <a:lnTo>
                  <a:pt x="19036" y="2851150"/>
                </a:lnTo>
                <a:lnTo>
                  <a:pt x="19050" y="2863850"/>
                </a:lnTo>
                <a:lnTo>
                  <a:pt x="31750" y="2863850"/>
                </a:lnTo>
                <a:lnTo>
                  <a:pt x="28701" y="0"/>
                </a:lnTo>
                <a:close/>
              </a:path>
              <a:path w="50800" h="2901950">
                <a:moveTo>
                  <a:pt x="50800" y="2851150"/>
                </a:moveTo>
                <a:lnTo>
                  <a:pt x="31736" y="2851150"/>
                </a:lnTo>
                <a:lnTo>
                  <a:pt x="31750" y="2863850"/>
                </a:lnTo>
                <a:lnTo>
                  <a:pt x="44450" y="2863850"/>
                </a:lnTo>
                <a:lnTo>
                  <a:pt x="50800" y="28511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004809" y="3913123"/>
            <a:ext cx="127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2051304" y="2584704"/>
          <a:ext cx="5105399" cy="28949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4270"/>
                <a:gridCol w="1066800"/>
                <a:gridCol w="685800"/>
                <a:gridCol w="1143000"/>
                <a:gridCol w="1065529"/>
              </a:tblGrid>
              <a:tr h="908050">
                <a:tc gridSpan="2">
                  <a:txBody>
                    <a:bodyPr/>
                    <a:lstStyle/>
                    <a:p>
                      <a:pPr marL="8528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2300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09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241935">
                        <a:lnSpc>
                          <a:spcPct val="100000"/>
                        </a:lnSpc>
                      </a:pPr>
                      <a:r>
                        <a:rPr sz="2300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...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7597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2300" spc="-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09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986914">
                <a:tc>
                  <a:txBody>
                    <a:bodyPr/>
                    <a:lstStyle/>
                    <a:p>
                      <a:pPr marL="90805" marR="84455">
                        <a:lnSpc>
                          <a:spcPct val="151700"/>
                        </a:lnSpc>
                        <a:spcBef>
                          <a:spcPts val="1870"/>
                        </a:spcBef>
                      </a:pPr>
                      <a:r>
                        <a:rPr sz="2300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forward </a:t>
                      </a:r>
                      <a:r>
                        <a:rPr sz="23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channel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2374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89535" marR="25400">
                        <a:lnSpc>
                          <a:spcPct val="151700"/>
                        </a:lnSpc>
                        <a:spcBef>
                          <a:spcPts val="1870"/>
                        </a:spcBef>
                      </a:pPr>
                      <a:r>
                        <a:rPr sz="23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reverse channel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2374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90170" marR="83820">
                        <a:lnSpc>
                          <a:spcPct val="151700"/>
                        </a:lnSpc>
                        <a:spcBef>
                          <a:spcPts val="1870"/>
                        </a:spcBef>
                      </a:pPr>
                      <a:r>
                        <a:rPr sz="23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forward channel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2374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90170" marR="20955">
                        <a:lnSpc>
                          <a:spcPct val="151700"/>
                        </a:lnSpc>
                        <a:spcBef>
                          <a:spcPts val="1870"/>
                        </a:spcBef>
                      </a:pPr>
                      <a:r>
                        <a:rPr sz="23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reverse channel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2374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2051050" y="5921209"/>
            <a:ext cx="5111750" cy="50799"/>
          </a:xfrm>
          <a:custGeom>
            <a:avLst/>
            <a:gdLst/>
            <a:ahLst/>
            <a:cxnLst/>
            <a:rect l="l" t="t" r="r" b="b"/>
            <a:pathLst>
              <a:path w="5111750" h="50800">
                <a:moveTo>
                  <a:pt x="5060950" y="0"/>
                </a:moveTo>
                <a:lnTo>
                  <a:pt x="5060950" y="50800"/>
                </a:lnTo>
                <a:lnTo>
                  <a:pt x="5099081" y="31762"/>
                </a:lnTo>
                <a:lnTo>
                  <a:pt x="5073650" y="31762"/>
                </a:lnTo>
                <a:lnTo>
                  <a:pt x="5073650" y="19062"/>
                </a:lnTo>
                <a:lnTo>
                  <a:pt x="5099018" y="19062"/>
                </a:lnTo>
                <a:lnTo>
                  <a:pt x="5060950" y="0"/>
                </a:lnTo>
                <a:close/>
              </a:path>
              <a:path w="5111750" h="50800">
                <a:moveTo>
                  <a:pt x="0" y="16040"/>
                </a:moveTo>
                <a:lnTo>
                  <a:pt x="0" y="28740"/>
                </a:lnTo>
                <a:lnTo>
                  <a:pt x="5073649" y="31762"/>
                </a:lnTo>
                <a:lnTo>
                  <a:pt x="5060950" y="31762"/>
                </a:lnTo>
                <a:lnTo>
                  <a:pt x="5060950" y="19062"/>
                </a:lnTo>
                <a:lnTo>
                  <a:pt x="5073649" y="19062"/>
                </a:lnTo>
                <a:lnTo>
                  <a:pt x="0" y="16040"/>
                </a:lnTo>
                <a:close/>
              </a:path>
              <a:path w="5111750" h="50800">
                <a:moveTo>
                  <a:pt x="5099018" y="19062"/>
                </a:moveTo>
                <a:lnTo>
                  <a:pt x="5073650" y="19062"/>
                </a:lnTo>
                <a:lnTo>
                  <a:pt x="5073650" y="31762"/>
                </a:lnTo>
                <a:lnTo>
                  <a:pt x="5099081" y="31762"/>
                </a:lnTo>
                <a:lnTo>
                  <a:pt x="5111750" y="25438"/>
                </a:lnTo>
                <a:lnTo>
                  <a:pt x="5099018" y="190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879598" y="6080557"/>
            <a:ext cx="110489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Wideband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systems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8" y="1673530"/>
            <a:ext cx="7541895" cy="4771819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890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large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transmitters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0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TDMA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techniques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CDMA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techniques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819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FDD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3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TDD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multiplexing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techniques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TDMA/FDD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TDMA/TDD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815"/>
              </a:spcBef>
              <a:buChar char="•"/>
              <a:tabLst>
                <a:tab pos="353695" algn="l"/>
              </a:tabLst>
            </a:pP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CDMA/FDD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CDMA/TDD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Logical</a:t>
            </a:r>
            <a:r>
              <a:rPr sz="3600" b="0" u="none" spc="-4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separation</a:t>
            </a:r>
            <a:r>
              <a:rPr sz="3600" b="0" u="none" spc="-4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CDMA/FDD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750047" y="2584450"/>
            <a:ext cx="50800" cy="2901950"/>
          </a:xfrm>
          <a:custGeom>
            <a:avLst/>
            <a:gdLst/>
            <a:ahLst/>
            <a:cxnLst/>
            <a:rect l="l" t="t" r="r" b="b"/>
            <a:pathLst>
              <a:path w="50800" h="2901950">
                <a:moveTo>
                  <a:pt x="19036" y="2851150"/>
                </a:moveTo>
                <a:lnTo>
                  <a:pt x="0" y="2851150"/>
                </a:lnTo>
                <a:lnTo>
                  <a:pt x="25400" y="2901950"/>
                </a:lnTo>
                <a:lnTo>
                  <a:pt x="44450" y="2863850"/>
                </a:lnTo>
                <a:lnTo>
                  <a:pt x="19050" y="2863850"/>
                </a:lnTo>
                <a:lnTo>
                  <a:pt x="19036" y="2851150"/>
                </a:lnTo>
                <a:close/>
              </a:path>
              <a:path w="50800" h="2901950">
                <a:moveTo>
                  <a:pt x="28701" y="0"/>
                </a:moveTo>
                <a:lnTo>
                  <a:pt x="16001" y="0"/>
                </a:lnTo>
                <a:lnTo>
                  <a:pt x="19036" y="2851150"/>
                </a:lnTo>
                <a:lnTo>
                  <a:pt x="19050" y="2863850"/>
                </a:lnTo>
                <a:lnTo>
                  <a:pt x="31750" y="2863850"/>
                </a:lnTo>
                <a:lnTo>
                  <a:pt x="28701" y="0"/>
                </a:lnTo>
                <a:close/>
              </a:path>
              <a:path w="50800" h="2901950">
                <a:moveTo>
                  <a:pt x="50800" y="2851150"/>
                </a:moveTo>
                <a:lnTo>
                  <a:pt x="31736" y="2851150"/>
                </a:lnTo>
                <a:lnTo>
                  <a:pt x="31750" y="2863850"/>
                </a:lnTo>
                <a:lnTo>
                  <a:pt x="44450" y="2863850"/>
                </a:lnTo>
                <a:lnTo>
                  <a:pt x="50800" y="28511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004813" y="3913123"/>
            <a:ext cx="60007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code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203450" y="5921209"/>
            <a:ext cx="4959350" cy="50799"/>
          </a:xfrm>
          <a:custGeom>
            <a:avLst/>
            <a:gdLst/>
            <a:ahLst/>
            <a:cxnLst/>
            <a:rect l="l" t="t" r="r" b="b"/>
            <a:pathLst>
              <a:path w="4959350" h="50800">
                <a:moveTo>
                  <a:pt x="4908550" y="0"/>
                </a:moveTo>
                <a:lnTo>
                  <a:pt x="4908550" y="50800"/>
                </a:lnTo>
                <a:lnTo>
                  <a:pt x="4946681" y="31762"/>
                </a:lnTo>
                <a:lnTo>
                  <a:pt x="4921250" y="31762"/>
                </a:lnTo>
                <a:lnTo>
                  <a:pt x="4921250" y="19062"/>
                </a:lnTo>
                <a:lnTo>
                  <a:pt x="4946618" y="19062"/>
                </a:lnTo>
                <a:lnTo>
                  <a:pt x="4908550" y="0"/>
                </a:lnTo>
                <a:close/>
              </a:path>
              <a:path w="4959350" h="50800">
                <a:moveTo>
                  <a:pt x="0" y="16040"/>
                </a:moveTo>
                <a:lnTo>
                  <a:pt x="0" y="28740"/>
                </a:lnTo>
                <a:lnTo>
                  <a:pt x="4921249" y="31762"/>
                </a:lnTo>
                <a:lnTo>
                  <a:pt x="4908550" y="31762"/>
                </a:lnTo>
                <a:lnTo>
                  <a:pt x="4908550" y="19062"/>
                </a:lnTo>
                <a:lnTo>
                  <a:pt x="4921249" y="19062"/>
                </a:lnTo>
                <a:lnTo>
                  <a:pt x="0" y="16040"/>
                </a:lnTo>
                <a:close/>
              </a:path>
              <a:path w="4959350" h="50800">
                <a:moveTo>
                  <a:pt x="4946618" y="19062"/>
                </a:moveTo>
                <a:lnTo>
                  <a:pt x="4921250" y="19062"/>
                </a:lnTo>
                <a:lnTo>
                  <a:pt x="4921250" y="31762"/>
                </a:lnTo>
                <a:lnTo>
                  <a:pt x="4946681" y="31762"/>
                </a:lnTo>
                <a:lnTo>
                  <a:pt x="4959350" y="25438"/>
                </a:lnTo>
                <a:lnTo>
                  <a:pt x="4946618" y="190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79594" y="6047334"/>
            <a:ext cx="127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2203708" y="2584706"/>
          <a:ext cx="4952365" cy="28949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15870"/>
                <a:gridCol w="2436495"/>
              </a:tblGrid>
              <a:tr h="450850">
                <a:tc gridSpan="2">
                  <a:txBody>
                    <a:bodyPr/>
                    <a:lstStyle/>
                    <a:p>
                      <a:pPr marL="82550" algn="ctr">
                        <a:lnSpc>
                          <a:spcPts val="2585"/>
                        </a:lnSpc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2300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09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64820">
                <a:tc>
                  <a:txBody>
                    <a:bodyPr/>
                    <a:lstStyle/>
                    <a:p>
                      <a:pPr marL="243204">
                        <a:lnSpc>
                          <a:spcPts val="2640"/>
                        </a:lnSpc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forward</a:t>
                      </a:r>
                      <a:r>
                        <a:rPr sz="2300" spc="-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channel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ts val="2640"/>
                        </a:lnSpc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reverse</a:t>
                      </a:r>
                      <a:r>
                        <a:rPr sz="2300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channel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</a:tr>
              <a:tr h="1066801">
                <a:tc gridSpan="2">
                  <a:txBody>
                    <a:bodyPr/>
                    <a:lstStyle/>
                    <a:p>
                      <a:pPr marL="30480" algn="ctr">
                        <a:lnSpc>
                          <a:spcPct val="100000"/>
                        </a:lnSpc>
                        <a:spcBef>
                          <a:spcPts val="2100"/>
                        </a:spcBef>
                      </a:pPr>
                      <a:r>
                        <a:rPr sz="2300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...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266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46405">
                <a:tc gridSpan="2">
                  <a:txBody>
                    <a:bodyPr/>
                    <a:lstStyle/>
                    <a:p>
                      <a:pPr marL="81915" algn="ctr">
                        <a:lnSpc>
                          <a:spcPts val="2580"/>
                        </a:lnSpc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2300" spc="-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009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66091">
                <a:tc>
                  <a:txBody>
                    <a:bodyPr/>
                    <a:lstStyle/>
                    <a:p>
                      <a:pPr marL="243204">
                        <a:lnSpc>
                          <a:spcPts val="2670"/>
                        </a:lnSpc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forward</a:t>
                      </a:r>
                      <a:r>
                        <a:rPr sz="2300" spc="-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channel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ts val="2670"/>
                        </a:lnSpc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reverse</a:t>
                      </a:r>
                      <a:r>
                        <a:rPr sz="2300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channel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Logical</a:t>
            </a:r>
            <a:r>
              <a:rPr sz="3600" b="0" u="none" spc="-4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separation</a:t>
            </a:r>
            <a:r>
              <a:rPr sz="3600" b="0" u="none" spc="-4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CDMA/TDD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750047" y="2584450"/>
            <a:ext cx="50800" cy="2901950"/>
          </a:xfrm>
          <a:custGeom>
            <a:avLst/>
            <a:gdLst/>
            <a:ahLst/>
            <a:cxnLst/>
            <a:rect l="l" t="t" r="r" b="b"/>
            <a:pathLst>
              <a:path w="50800" h="2901950">
                <a:moveTo>
                  <a:pt x="19036" y="2851150"/>
                </a:moveTo>
                <a:lnTo>
                  <a:pt x="0" y="2851150"/>
                </a:lnTo>
                <a:lnTo>
                  <a:pt x="25400" y="2901950"/>
                </a:lnTo>
                <a:lnTo>
                  <a:pt x="44450" y="2863850"/>
                </a:lnTo>
                <a:lnTo>
                  <a:pt x="19050" y="2863850"/>
                </a:lnTo>
                <a:lnTo>
                  <a:pt x="19036" y="2851150"/>
                </a:lnTo>
                <a:close/>
              </a:path>
              <a:path w="50800" h="2901950">
                <a:moveTo>
                  <a:pt x="28701" y="0"/>
                </a:moveTo>
                <a:lnTo>
                  <a:pt x="16001" y="0"/>
                </a:lnTo>
                <a:lnTo>
                  <a:pt x="19036" y="2851150"/>
                </a:lnTo>
                <a:lnTo>
                  <a:pt x="19050" y="2863850"/>
                </a:lnTo>
                <a:lnTo>
                  <a:pt x="31750" y="2863850"/>
                </a:lnTo>
                <a:lnTo>
                  <a:pt x="28701" y="0"/>
                </a:lnTo>
                <a:close/>
              </a:path>
              <a:path w="50800" h="2901950">
                <a:moveTo>
                  <a:pt x="50800" y="2851150"/>
                </a:moveTo>
                <a:lnTo>
                  <a:pt x="31736" y="2851150"/>
                </a:lnTo>
                <a:lnTo>
                  <a:pt x="31750" y="2863850"/>
                </a:lnTo>
                <a:lnTo>
                  <a:pt x="44450" y="2863850"/>
                </a:lnTo>
                <a:lnTo>
                  <a:pt x="50800" y="28511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004813" y="3913123"/>
            <a:ext cx="60007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code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203450" y="5921209"/>
            <a:ext cx="4959350" cy="50799"/>
          </a:xfrm>
          <a:custGeom>
            <a:avLst/>
            <a:gdLst/>
            <a:ahLst/>
            <a:cxnLst/>
            <a:rect l="l" t="t" r="r" b="b"/>
            <a:pathLst>
              <a:path w="4959350" h="50800">
                <a:moveTo>
                  <a:pt x="4908550" y="0"/>
                </a:moveTo>
                <a:lnTo>
                  <a:pt x="4908550" y="50800"/>
                </a:lnTo>
                <a:lnTo>
                  <a:pt x="4946681" y="31762"/>
                </a:lnTo>
                <a:lnTo>
                  <a:pt x="4921250" y="31762"/>
                </a:lnTo>
                <a:lnTo>
                  <a:pt x="4921250" y="19062"/>
                </a:lnTo>
                <a:lnTo>
                  <a:pt x="4946618" y="19062"/>
                </a:lnTo>
                <a:lnTo>
                  <a:pt x="4908550" y="0"/>
                </a:lnTo>
                <a:close/>
              </a:path>
              <a:path w="4959350" h="50800">
                <a:moveTo>
                  <a:pt x="0" y="16040"/>
                </a:moveTo>
                <a:lnTo>
                  <a:pt x="0" y="28740"/>
                </a:lnTo>
                <a:lnTo>
                  <a:pt x="4921249" y="31762"/>
                </a:lnTo>
                <a:lnTo>
                  <a:pt x="4908550" y="31762"/>
                </a:lnTo>
                <a:lnTo>
                  <a:pt x="4908550" y="19062"/>
                </a:lnTo>
                <a:lnTo>
                  <a:pt x="4921249" y="19062"/>
                </a:lnTo>
                <a:lnTo>
                  <a:pt x="0" y="16040"/>
                </a:lnTo>
                <a:close/>
              </a:path>
              <a:path w="4959350" h="50800">
                <a:moveTo>
                  <a:pt x="4946618" y="19062"/>
                </a:moveTo>
                <a:lnTo>
                  <a:pt x="4921250" y="19062"/>
                </a:lnTo>
                <a:lnTo>
                  <a:pt x="4921250" y="31762"/>
                </a:lnTo>
                <a:lnTo>
                  <a:pt x="4946681" y="31762"/>
                </a:lnTo>
                <a:lnTo>
                  <a:pt x="4959350" y="25438"/>
                </a:lnTo>
                <a:lnTo>
                  <a:pt x="4946618" y="190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79598" y="6047334"/>
            <a:ext cx="11048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2203708" y="2584706"/>
          <a:ext cx="4952365" cy="28949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15870"/>
                <a:gridCol w="2436495"/>
              </a:tblGrid>
              <a:tr h="450850">
                <a:tc gridSpan="2">
                  <a:txBody>
                    <a:bodyPr/>
                    <a:lstStyle/>
                    <a:p>
                      <a:pPr marL="81915" algn="ctr">
                        <a:lnSpc>
                          <a:spcPts val="2585"/>
                        </a:lnSpc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2300" spc="-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09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64820">
                <a:tc>
                  <a:txBody>
                    <a:bodyPr/>
                    <a:lstStyle/>
                    <a:p>
                      <a:pPr marL="243204">
                        <a:lnSpc>
                          <a:spcPts val="2640"/>
                        </a:lnSpc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forward</a:t>
                      </a:r>
                      <a:r>
                        <a:rPr sz="2300" spc="-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channel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ts val="2640"/>
                        </a:lnSpc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reverse</a:t>
                      </a:r>
                      <a:r>
                        <a:rPr sz="2300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channel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</a:tr>
              <a:tr h="1066801">
                <a:tc gridSpan="2">
                  <a:txBody>
                    <a:bodyPr/>
                    <a:lstStyle/>
                    <a:p>
                      <a:pPr marL="30480" algn="ctr">
                        <a:lnSpc>
                          <a:spcPct val="100000"/>
                        </a:lnSpc>
                        <a:spcBef>
                          <a:spcPts val="2100"/>
                        </a:spcBef>
                      </a:pPr>
                      <a:r>
                        <a:rPr sz="2300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...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266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46405">
                <a:tc gridSpan="2">
                  <a:txBody>
                    <a:bodyPr/>
                    <a:lstStyle/>
                    <a:p>
                      <a:pPr marL="81915" algn="ctr">
                        <a:lnSpc>
                          <a:spcPts val="2580"/>
                        </a:lnSpc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2300" spc="-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009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66091">
                <a:tc>
                  <a:txBody>
                    <a:bodyPr/>
                    <a:lstStyle/>
                    <a:p>
                      <a:pPr marL="243204">
                        <a:lnSpc>
                          <a:spcPts val="2670"/>
                        </a:lnSpc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forward</a:t>
                      </a:r>
                      <a:r>
                        <a:rPr sz="2300" spc="-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channel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ts val="2670"/>
                        </a:lnSpc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reverse</a:t>
                      </a:r>
                      <a:r>
                        <a:rPr sz="2300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channel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9829798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Multiple</a:t>
            </a:r>
            <a:r>
              <a:rPr sz="3600" b="0" u="none" spc="-4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Access</a:t>
            </a:r>
            <a:r>
              <a:rPr sz="3600" b="0" u="none" spc="-2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Techniques</a:t>
            </a:r>
            <a:r>
              <a:rPr sz="3600" b="0" u="none" spc="-6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in</a:t>
            </a:r>
            <a:r>
              <a:rPr sz="3600" b="0" u="none" spc="-2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25" dirty="0">
                <a:solidFill>
                  <a:srgbClr val="CACACA"/>
                </a:solidFill>
                <a:latin typeface="Times New Roman"/>
                <a:cs typeface="Times New Roman"/>
              </a:rPr>
              <a:t>use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14400" y="1905003"/>
            <a:ext cx="7924800" cy="3175"/>
          </a:xfrm>
          <a:custGeom>
            <a:avLst/>
            <a:gdLst/>
            <a:ahLst/>
            <a:cxnLst/>
            <a:rect l="l" t="t" r="r" b="b"/>
            <a:pathLst>
              <a:path w="7924800" h="3175">
                <a:moveTo>
                  <a:pt x="0" y="0"/>
                </a:moveTo>
                <a:lnTo>
                  <a:pt x="7924800" y="3048"/>
                </a:lnTo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760846" y="1673592"/>
            <a:ext cx="3068320" cy="15099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14020">
              <a:lnSpc>
                <a:spcPct val="151900"/>
              </a:lnSpc>
              <a:spcBef>
                <a:spcPts val="100"/>
              </a:spcBef>
            </a:pP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Multiple</a:t>
            </a:r>
            <a:r>
              <a:rPr sz="3200" spc="-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Access Technique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91920" y="3156275"/>
            <a:ext cx="5146040" cy="1699182"/>
          </a:xfrm>
          <a:prstGeom prst="rect">
            <a:avLst/>
          </a:prstGeom>
        </p:spPr>
        <p:txBody>
          <a:bodyPr vert="horz" wrap="square" lIns="0" tIns="2051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14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Advanced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Mobile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Phone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r>
              <a:rPr sz="24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(AMPS)</a:t>
            </a:r>
            <a:endParaRPr sz="2400">
              <a:latin typeface="Times New Roman"/>
              <a:cs typeface="Times New Roman"/>
            </a:endParaRPr>
          </a:p>
          <a:p>
            <a:pPr marL="12700" marR="991869">
              <a:lnSpc>
                <a:spcPct val="151700"/>
              </a:lnSpc>
              <a:spcBef>
                <a:spcPts val="25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Global</a:t>
            </a:r>
            <a:r>
              <a:rPr sz="2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r>
              <a:rPr sz="24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Mobile</a:t>
            </a:r>
            <a:r>
              <a:rPr sz="24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(GSM)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US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Digital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Cellular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(USDC)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55332" y="3156278"/>
            <a:ext cx="1615440" cy="1698863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 indent="5715" algn="just">
              <a:lnSpc>
                <a:spcPct val="152200"/>
              </a:lnSpc>
              <a:spcBef>
                <a:spcPts val="115"/>
              </a:spcBef>
            </a:pP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FDMA/FDD TDMA/FDD TDMA/FDD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91924" y="4831725"/>
            <a:ext cx="7426959" cy="11349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1700"/>
              </a:lnSpc>
              <a:spcBef>
                <a:spcPts val="95"/>
              </a:spcBef>
              <a:tabLst>
                <a:tab pos="5805805" algn="l"/>
              </a:tabLst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Digital</a:t>
            </a:r>
            <a:r>
              <a:rPr sz="2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European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Cordless</a:t>
            </a:r>
            <a:r>
              <a:rPr sz="24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Telephone</a:t>
            </a:r>
            <a:r>
              <a:rPr sz="2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(DECT)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spc="-5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FDMA/TDD US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Narrowband</a:t>
            </a:r>
            <a:r>
              <a:rPr sz="24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Spread Spectrum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Times New Roman"/>
                <a:cs typeface="Times New Roman"/>
              </a:rPr>
              <a:t>(IS-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95)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CDMA/FDD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14404" y="1905003"/>
            <a:ext cx="7927975" cy="4194175"/>
          </a:xfrm>
          <a:custGeom>
            <a:avLst/>
            <a:gdLst/>
            <a:ahLst/>
            <a:cxnLst/>
            <a:rect l="l" t="t" r="r" b="b"/>
            <a:pathLst>
              <a:path w="7927975" h="4194175">
                <a:moveTo>
                  <a:pt x="0" y="1371600"/>
                </a:moveTo>
                <a:lnTo>
                  <a:pt x="7924800" y="1374648"/>
                </a:lnTo>
              </a:path>
              <a:path w="7927975" h="4194175">
                <a:moveTo>
                  <a:pt x="0" y="4191000"/>
                </a:moveTo>
                <a:lnTo>
                  <a:pt x="7924800" y="4194048"/>
                </a:lnTo>
              </a:path>
              <a:path w="7927975" h="4194175">
                <a:moveTo>
                  <a:pt x="0" y="0"/>
                </a:moveTo>
                <a:lnTo>
                  <a:pt x="3047" y="4191000"/>
                </a:lnTo>
              </a:path>
              <a:path w="7927975" h="4194175">
                <a:moveTo>
                  <a:pt x="7924800" y="0"/>
                </a:moveTo>
                <a:lnTo>
                  <a:pt x="7927848" y="4191000"/>
                </a:lnTo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678051" y="2339468"/>
            <a:ext cx="2628900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Cellular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Frequency</a:t>
            </a:r>
            <a:r>
              <a:rPr sz="3600" b="0" u="none" spc="-4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division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multiple</a:t>
            </a:r>
            <a:r>
              <a:rPr sz="3600" b="0" u="none" spc="-4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access</a:t>
            </a:r>
            <a:r>
              <a:rPr sz="3600" b="0" u="none" spc="-3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20" dirty="0">
                <a:solidFill>
                  <a:srgbClr val="CACACA"/>
                </a:solidFill>
                <a:latin typeface="Times New Roman"/>
                <a:cs typeface="Times New Roman"/>
              </a:rPr>
              <a:t>FDMA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8" y="1901494"/>
            <a:ext cx="7599045" cy="397224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894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phone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circuit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per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idle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3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causes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wasting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resources</a:t>
            </a:r>
            <a:endParaRPr sz="3200">
              <a:latin typeface="Times New Roman"/>
              <a:cs typeface="Times New Roman"/>
            </a:endParaRPr>
          </a:p>
          <a:p>
            <a:pPr marL="354330" marR="1885314" indent="-342265">
              <a:lnSpc>
                <a:spcPct val="100000"/>
              </a:lnSpc>
              <a:spcBef>
                <a:spcPts val="795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simultaneously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32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continuously transmitting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81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usually</a:t>
            </a:r>
            <a:r>
              <a:rPr sz="3200" spc="-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implemented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narrowband</a:t>
            </a:r>
            <a:r>
              <a:rPr sz="3200" spc="-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systems</a:t>
            </a:r>
            <a:endParaRPr sz="3200">
              <a:latin typeface="Times New Roman"/>
              <a:cs typeface="Times New Roman"/>
            </a:endParaRPr>
          </a:p>
          <a:p>
            <a:pPr marL="354330" marR="1589405" indent="-342265">
              <a:lnSpc>
                <a:spcPct val="100000"/>
              </a:lnSpc>
              <a:spcBef>
                <a:spcPts val="795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example: in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AMPS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FDMA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bandwidth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30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kHz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implemented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FDMA</a:t>
            </a:r>
            <a:r>
              <a:rPr sz="3600" b="0" u="none" spc="-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compared</a:t>
            </a:r>
            <a:r>
              <a:rPr sz="3600" b="0" u="none" spc="-2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to</a:t>
            </a:r>
            <a:r>
              <a:rPr sz="3600" b="0" u="none" spc="-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20" dirty="0">
                <a:solidFill>
                  <a:srgbClr val="CACACA"/>
                </a:solidFill>
                <a:latin typeface="Times New Roman"/>
                <a:cs typeface="Times New Roman"/>
              </a:rPr>
              <a:t>TDMA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8" y="1901494"/>
            <a:ext cx="6995795" cy="397224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894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fewer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synchronization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fewer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framing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higher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site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costs</a:t>
            </a:r>
            <a:endParaRPr sz="3200">
              <a:latin typeface="Times New Roman"/>
              <a:cs typeface="Times New Roman"/>
            </a:endParaRPr>
          </a:p>
          <a:p>
            <a:pPr marL="354330" marR="497840" indent="-342265">
              <a:lnSpc>
                <a:spcPct val="100000"/>
              </a:lnSpc>
              <a:spcBef>
                <a:spcPts val="815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higher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costs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duplexer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base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station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subscriber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units</a:t>
            </a:r>
            <a:endParaRPr sz="3200">
              <a:latin typeface="Times New Roman"/>
              <a:cs typeface="Times New Roman"/>
            </a:endParaRPr>
          </a:p>
          <a:p>
            <a:pPr marL="354330" marR="5080" indent="-342265">
              <a:lnSpc>
                <a:spcPct val="100000"/>
              </a:lnSpc>
              <a:spcBef>
                <a:spcPts val="795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FDMA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requires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RF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filtering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minimize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adjacent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Nonlinear</a:t>
            </a:r>
            <a:r>
              <a:rPr sz="3600" b="0" u="none" spc="-2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Effects</a:t>
            </a:r>
            <a:r>
              <a:rPr sz="3600" b="0" u="none" spc="-6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in</a:t>
            </a:r>
            <a:r>
              <a:rPr sz="3600" b="0" u="none" spc="-2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20" dirty="0">
                <a:solidFill>
                  <a:srgbClr val="CACACA"/>
                </a:solidFill>
                <a:latin typeface="Times New Roman"/>
                <a:cs typeface="Times New Roman"/>
              </a:rPr>
              <a:t>FDMA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4" y="1901494"/>
            <a:ext cx="7527290" cy="397224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894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many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antenna</a:t>
            </a:r>
            <a:endParaRPr sz="3200">
              <a:latin typeface="Times New Roman"/>
              <a:cs typeface="Times New Roman"/>
            </a:endParaRPr>
          </a:p>
          <a:p>
            <a:pPr marL="354330" marR="5080" indent="-342265">
              <a:lnSpc>
                <a:spcPct val="100000"/>
              </a:lnSpc>
              <a:spcBef>
                <a:spcPts val="795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32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maximum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r>
              <a:rPr sz="32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efficiency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operate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near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saturation</a:t>
            </a:r>
            <a:endParaRPr sz="3200">
              <a:latin typeface="Times New Roman"/>
              <a:cs typeface="Times New Roman"/>
            </a:endParaRPr>
          </a:p>
          <a:p>
            <a:pPr marL="354330" marR="1303020" indent="-342265">
              <a:lnSpc>
                <a:spcPct val="100000"/>
              </a:lnSpc>
              <a:spcBef>
                <a:spcPts val="795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near</a:t>
            </a:r>
            <a:r>
              <a:rPr sz="32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saturation</a:t>
            </a:r>
            <a:r>
              <a:rPr sz="3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r>
              <a:rPr sz="3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amplifiers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are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nonlinear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819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nonlinearities</a:t>
            </a:r>
            <a:r>
              <a:rPr sz="32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causes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32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spreading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intermodulation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frequencies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Nonlinear</a:t>
            </a:r>
            <a:r>
              <a:rPr sz="3600" b="0" u="none" spc="-2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Effects</a:t>
            </a:r>
            <a:r>
              <a:rPr sz="3600" b="0" u="none" spc="-6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in</a:t>
            </a:r>
            <a:r>
              <a:rPr sz="3600" b="0" u="none" spc="-2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20" dirty="0">
                <a:solidFill>
                  <a:srgbClr val="CACACA"/>
                </a:solidFill>
                <a:latin typeface="Times New Roman"/>
                <a:cs typeface="Times New Roman"/>
              </a:rPr>
              <a:t>FDMA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8" y="1901494"/>
            <a:ext cx="7378065" cy="397224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894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IM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undesired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harmonics</a:t>
            </a:r>
            <a:endParaRPr sz="3200">
              <a:latin typeface="Times New Roman"/>
              <a:cs typeface="Times New Roman"/>
            </a:endParaRPr>
          </a:p>
          <a:p>
            <a:pPr marL="354330" marR="779145" indent="-342265">
              <a:lnSpc>
                <a:spcPct val="100000"/>
              </a:lnSpc>
              <a:spcBef>
                <a:spcPts val="795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FDMA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decreases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C/I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decreases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performance</a:t>
            </a:r>
            <a:endParaRPr sz="3200">
              <a:latin typeface="Times New Roman"/>
              <a:cs typeface="Times New Roman"/>
            </a:endParaRPr>
          </a:p>
          <a:p>
            <a:pPr marL="354330" marR="33655" indent="-342265">
              <a:lnSpc>
                <a:spcPct val="100000"/>
              </a:lnSpc>
              <a:spcBef>
                <a:spcPts val="815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outside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mobile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radio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band: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adjacent-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32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800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RF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filters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needed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higher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costs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Number</a:t>
            </a:r>
            <a:r>
              <a:rPr sz="3600" b="0" u="none" spc="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of</a:t>
            </a:r>
            <a:r>
              <a:rPr sz="3600" b="0" u="none" spc="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channels</a:t>
            </a:r>
            <a:r>
              <a:rPr sz="3600" b="0" u="none" spc="-4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in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a</a:t>
            </a:r>
            <a:r>
              <a:rPr sz="3600" b="0" u="none" spc="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FDMA</a:t>
            </a:r>
            <a:r>
              <a:rPr sz="3600" b="0" u="none" spc="-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system</a:t>
            </a:r>
            <a:endParaRPr sz="36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194304" y="2127504"/>
            <a:ext cx="2984500" cy="1231900"/>
            <a:chOff x="3194304" y="2127504"/>
            <a:chExt cx="2984500" cy="1231900"/>
          </a:xfrm>
        </p:grpSpPr>
        <p:sp>
          <p:nvSpPr>
            <p:cNvPr id="17" name="object 17"/>
            <p:cNvSpPr/>
            <p:nvPr/>
          </p:nvSpPr>
          <p:spPr>
            <a:xfrm>
              <a:off x="3200400" y="2133600"/>
              <a:ext cx="2971800" cy="1219200"/>
            </a:xfrm>
            <a:custGeom>
              <a:avLst/>
              <a:gdLst/>
              <a:ahLst/>
              <a:cxnLst/>
              <a:rect l="l" t="t" r="r" b="b"/>
              <a:pathLst>
                <a:path w="2971800" h="1219200">
                  <a:moveTo>
                    <a:pt x="29718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2971800" y="1219200"/>
                  </a:lnTo>
                  <a:lnTo>
                    <a:pt x="2971800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00400" y="2133600"/>
              <a:ext cx="2971800" cy="1219200"/>
            </a:xfrm>
            <a:custGeom>
              <a:avLst/>
              <a:gdLst/>
              <a:ahLst/>
              <a:cxnLst/>
              <a:rect l="l" t="t" r="r" b="b"/>
              <a:pathLst>
                <a:path w="2971800" h="1219200">
                  <a:moveTo>
                    <a:pt x="0" y="1219200"/>
                  </a:moveTo>
                  <a:lnTo>
                    <a:pt x="2971800" y="1219200"/>
                  </a:lnTo>
                  <a:lnTo>
                    <a:pt x="29718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52754" y="2232738"/>
            <a:ext cx="5373370" cy="37670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91130">
              <a:lnSpc>
                <a:spcPts val="3840"/>
              </a:lnSpc>
              <a:spcBef>
                <a:spcPts val="95"/>
              </a:spcBef>
            </a:pPr>
            <a:r>
              <a:rPr sz="4800" baseline="-31250" dirty="0">
                <a:solidFill>
                  <a:srgbClr val="FFFFFF"/>
                </a:solidFill>
                <a:latin typeface="Times New Roman"/>
                <a:cs typeface="Times New Roman"/>
              </a:rPr>
              <a:t>N=</a:t>
            </a:r>
            <a:r>
              <a:rPr sz="4800" spc="457" baseline="-31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B</a:t>
            </a:r>
            <a:r>
              <a:rPr sz="2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t</a:t>
            </a:r>
            <a:r>
              <a:rPr sz="2400" u="sng" spc="18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-</a:t>
            </a:r>
            <a:r>
              <a:rPr sz="32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B</a:t>
            </a:r>
            <a:r>
              <a:rPr sz="2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guard</a:t>
            </a:r>
            <a:r>
              <a:rPr sz="2400" u="sng" spc="6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endParaRPr sz="2400">
              <a:latin typeface="Times New Roman"/>
              <a:cs typeface="Times New Roman"/>
            </a:endParaRPr>
          </a:p>
          <a:p>
            <a:pPr marR="972185" algn="r">
              <a:lnSpc>
                <a:spcPct val="100000"/>
              </a:lnSpc>
            </a:pP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2400">
              <a:latin typeface="Times New Roman"/>
              <a:cs typeface="Times New Roman"/>
            </a:endParaRPr>
          </a:p>
          <a:p>
            <a:pPr marL="366395" indent="-340995">
              <a:lnSpc>
                <a:spcPct val="100000"/>
              </a:lnSpc>
              <a:buChar char="•"/>
              <a:tabLst>
                <a:tab pos="3663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endParaRPr sz="3200">
              <a:latin typeface="Times New Roman"/>
              <a:cs typeface="Times New Roman"/>
            </a:endParaRPr>
          </a:p>
          <a:p>
            <a:pPr marL="3663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663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total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spectrum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allocation</a:t>
            </a:r>
            <a:endParaRPr sz="3200">
              <a:latin typeface="Times New Roman"/>
              <a:cs typeface="Times New Roman"/>
            </a:endParaRPr>
          </a:p>
          <a:p>
            <a:pPr marL="3663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663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guard</a:t>
            </a:r>
            <a:r>
              <a:rPr sz="24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guard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band</a:t>
            </a:r>
            <a:endParaRPr sz="3200">
              <a:latin typeface="Times New Roman"/>
              <a:cs typeface="Times New Roman"/>
            </a:endParaRPr>
          </a:p>
          <a:p>
            <a:pPr marL="366395" indent="-340995">
              <a:lnSpc>
                <a:spcPct val="100000"/>
              </a:lnSpc>
              <a:spcBef>
                <a:spcPts val="819"/>
              </a:spcBef>
              <a:buChar char="•"/>
              <a:tabLst>
                <a:tab pos="3663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4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bandwidth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Example: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Advanced</a:t>
            </a:r>
            <a:r>
              <a:rPr sz="3600" b="0" u="none" spc="-4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Mobile Phone</a:t>
            </a:r>
            <a:r>
              <a:rPr sz="3600" b="0" u="none" spc="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System</a:t>
            </a:r>
            <a:endParaRPr sz="36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136903" y="5099302"/>
            <a:ext cx="7175500" cy="1231900"/>
            <a:chOff x="1136903" y="5099303"/>
            <a:chExt cx="7175500" cy="1231900"/>
          </a:xfrm>
        </p:grpSpPr>
        <p:sp>
          <p:nvSpPr>
            <p:cNvPr id="17" name="object 17"/>
            <p:cNvSpPr/>
            <p:nvPr/>
          </p:nvSpPr>
          <p:spPr>
            <a:xfrm>
              <a:off x="1142999" y="5105399"/>
              <a:ext cx="7162800" cy="1219200"/>
            </a:xfrm>
            <a:custGeom>
              <a:avLst/>
              <a:gdLst/>
              <a:ahLst/>
              <a:cxnLst/>
              <a:rect l="l" t="t" r="r" b="b"/>
              <a:pathLst>
                <a:path w="7162800" h="1219200">
                  <a:moveTo>
                    <a:pt x="71628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7162800" y="1219200"/>
                  </a:lnTo>
                  <a:lnTo>
                    <a:pt x="7162800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42999" y="5105399"/>
              <a:ext cx="7162800" cy="1219200"/>
            </a:xfrm>
            <a:custGeom>
              <a:avLst/>
              <a:gdLst/>
              <a:ahLst/>
              <a:cxnLst/>
              <a:rect l="l" t="t" r="r" b="b"/>
              <a:pathLst>
                <a:path w="7162800" h="1219200">
                  <a:moveTo>
                    <a:pt x="0" y="1219200"/>
                  </a:moveTo>
                  <a:lnTo>
                    <a:pt x="7162800" y="1219200"/>
                  </a:lnTo>
                  <a:lnTo>
                    <a:pt x="71628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40058" y="1901495"/>
            <a:ext cx="7441565" cy="430823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79095" indent="-340995">
              <a:lnSpc>
                <a:spcPct val="100000"/>
              </a:lnSpc>
              <a:spcBef>
                <a:spcPts val="894"/>
              </a:spcBef>
              <a:buChar char="•"/>
              <a:tabLst>
                <a:tab pos="379095" algn="l"/>
              </a:tabLst>
            </a:pP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AMPS</a:t>
            </a:r>
            <a:endParaRPr sz="3200">
              <a:latin typeface="Times New Roman"/>
              <a:cs typeface="Times New Roman"/>
            </a:endParaRPr>
          </a:p>
          <a:p>
            <a:pPr marL="3790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79095" algn="l"/>
              </a:tabLst>
            </a:pP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FDMA/FDD</a:t>
            </a:r>
            <a:endParaRPr sz="3200">
              <a:latin typeface="Times New Roman"/>
              <a:cs typeface="Times New Roman"/>
            </a:endParaRPr>
          </a:p>
          <a:p>
            <a:pPr marL="3790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790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analog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cellular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endParaRPr sz="3200">
              <a:latin typeface="Times New Roman"/>
              <a:cs typeface="Times New Roman"/>
            </a:endParaRPr>
          </a:p>
          <a:p>
            <a:pPr marL="379095" indent="-340995">
              <a:lnSpc>
                <a:spcPct val="100000"/>
              </a:lnSpc>
              <a:spcBef>
                <a:spcPts val="600"/>
              </a:spcBef>
              <a:buChar char="•"/>
              <a:tabLst>
                <a:tab pos="3790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12.5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MHz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per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simplex band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  <a:p>
            <a:pPr marL="379095" indent="-340995">
              <a:lnSpc>
                <a:spcPct val="100000"/>
              </a:lnSpc>
              <a:spcBef>
                <a:spcPts val="815"/>
              </a:spcBef>
              <a:buChar char="•"/>
              <a:tabLst>
                <a:tab pos="3790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guard</a:t>
            </a:r>
            <a:r>
              <a:rPr sz="24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kHz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4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30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kHz</a:t>
            </a:r>
            <a:endParaRPr sz="3200">
              <a:latin typeface="Times New Roman"/>
              <a:cs typeface="Times New Roman"/>
            </a:endParaRPr>
          </a:p>
          <a:p>
            <a:pPr marL="2475230" marR="55880" indent="-1829435">
              <a:lnSpc>
                <a:spcPts val="3600"/>
              </a:lnSpc>
              <a:spcBef>
                <a:spcPts val="3329"/>
              </a:spcBef>
              <a:tabLst>
                <a:tab pos="4752340" algn="l"/>
                <a:tab pos="4914265" algn="l"/>
              </a:tabLst>
            </a:pPr>
            <a:r>
              <a:rPr sz="4800" baseline="-31250" dirty="0">
                <a:solidFill>
                  <a:srgbClr val="FFFFFF"/>
                </a:solidFill>
                <a:latin typeface="Times New Roman"/>
                <a:cs typeface="Times New Roman"/>
              </a:rPr>
              <a:t>N=</a:t>
            </a:r>
            <a:r>
              <a:rPr sz="4800" spc="457" baseline="-31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u="sng" spc="1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32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12.5</a:t>
            </a:r>
            <a:r>
              <a:rPr sz="2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32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6</a:t>
            </a:r>
            <a:r>
              <a:rPr sz="3200" u="sng" spc="-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-</a:t>
            </a:r>
            <a:r>
              <a:rPr sz="3200" u="sng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2*(10</a:t>
            </a:r>
            <a:r>
              <a:rPr sz="2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32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3)</a:t>
            </a:r>
            <a:r>
              <a:rPr sz="32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3200" u="none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4800" u="none" baseline="-3125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4800" u="none" spc="-44" baseline="-31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800" u="none" baseline="-31250" dirty="0">
                <a:solidFill>
                  <a:srgbClr val="FFFFFF"/>
                </a:solidFill>
                <a:latin typeface="Times New Roman"/>
                <a:cs typeface="Times New Roman"/>
              </a:rPr>
              <a:t>416</a:t>
            </a:r>
            <a:r>
              <a:rPr sz="4800" u="none" spc="-22" baseline="-31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800" u="none" spc="-15" baseline="-31250" dirty="0">
                <a:solidFill>
                  <a:srgbClr val="FFFFFF"/>
                </a:solidFill>
                <a:latin typeface="Times New Roman"/>
                <a:cs typeface="Times New Roman"/>
              </a:rPr>
              <a:t>channels </a:t>
            </a:r>
            <a:r>
              <a:rPr sz="3200" u="none" spc="-20" dirty="0">
                <a:solidFill>
                  <a:srgbClr val="FFFFFF"/>
                </a:solidFill>
                <a:latin typeface="Times New Roman"/>
                <a:cs typeface="Times New Roman"/>
              </a:rPr>
              <a:t>30</a:t>
            </a:r>
            <a:r>
              <a:rPr sz="2400" u="none" spc="-2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3200" u="none" spc="-2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Time</a:t>
            </a:r>
            <a:r>
              <a:rPr sz="3600" b="0" u="none" spc="-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Division</a:t>
            </a:r>
            <a:r>
              <a:rPr sz="3600" b="0" u="none" spc="-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Multiple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 Access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8" y="1901494"/>
            <a:ext cx="4905375" cy="358239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894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slots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per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slot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buffer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burst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method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81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noncontinuous</a:t>
            </a:r>
            <a:r>
              <a:rPr sz="3200" spc="-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transmission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digital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digital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modulation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1365503" y="3575304"/>
          <a:ext cx="6857998" cy="533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5669"/>
                <a:gridCol w="914400"/>
                <a:gridCol w="990600"/>
                <a:gridCol w="3048000"/>
                <a:gridCol w="989329"/>
              </a:tblGrid>
              <a:tr h="533400"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Slot</a:t>
                      </a:r>
                      <a:r>
                        <a:rPr sz="2300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7620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Slot</a:t>
                      </a:r>
                      <a:r>
                        <a:rPr sz="2300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76201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Slot</a:t>
                      </a:r>
                      <a:r>
                        <a:rPr sz="2300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76201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53340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23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76201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Slot</a:t>
                      </a:r>
                      <a:r>
                        <a:rPr sz="2300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6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76201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</a:tr>
            </a:tbl>
          </a:graphicData>
        </a:graphic>
      </p:graphicFrame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Repeating</a:t>
            </a:r>
            <a:r>
              <a:rPr sz="3600" b="0" u="none" spc="-5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Frame</a:t>
            </a:r>
            <a:r>
              <a:rPr sz="3600" b="0" u="none" spc="-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Structure</a:t>
            </a:r>
            <a:endParaRPr sz="3600">
              <a:latin typeface="Times New Roman"/>
              <a:cs typeface="Times New Roman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1365507" y="2279904"/>
          <a:ext cx="6857999" cy="533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3870"/>
                <a:gridCol w="3276600"/>
                <a:gridCol w="1827529"/>
              </a:tblGrid>
              <a:tr h="533400">
                <a:tc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3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Preamble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7556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37782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Information</a:t>
                      </a:r>
                      <a:r>
                        <a:rPr sz="2300" spc="-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Message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75566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37719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Trail</a:t>
                      </a:r>
                      <a:r>
                        <a:rPr sz="2300" spc="-10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Bits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75566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1365250" y="2110996"/>
            <a:ext cx="6864350" cy="51435"/>
          </a:xfrm>
          <a:custGeom>
            <a:avLst/>
            <a:gdLst/>
            <a:ahLst/>
            <a:cxnLst/>
            <a:rect l="l" t="t" r="r" b="b"/>
            <a:pathLst>
              <a:path w="6864350" h="51435">
                <a:moveTo>
                  <a:pt x="6864350" y="25654"/>
                </a:moveTo>
                <a:lnTo>
                  <a:pt x="6851650" y="19304"/>
                </a:lnTo>
                <a:lnTo>
                  <a:pt x="6813550" y="254"/>
                </a:lnTo>
                <a:lnTo>
                  <a:pt x="6813550" y="19304"/>
                </a:lnTo>
                <a:lnTo>
                  <a:pt x="701548" y="16573"/>
                </a:lnTo>
                <a:lnTo>
                  <a:pt x="701548" y="16256"/>
                </a:lnTo>
                <a:lnTo>
                  <a:pt x="637235" y="16548"/>
                </a:lnTo>
                <a:lnTo>
                  <a:pt x="54038" y="16281"/>
                </a:lnTo>
                <a:lnTo>
                  <a:pt x="53975" y="0"/>
                </a:lnTo>
                <a:lnTo>
                  <a:pt x="21844" y="16268"/>
                </a:lnTo>
                <a:lnTo>
                  <a:pt x="0" y="16256"/>
                </a:lnTo>
                <a:lnTo>
                  <a:pt x="0" y="28956"/>
                </a:lnTo>
                <a:lnTo>
                  <a:pt x="9994" y="28968"/>
                </a:lnTo>
                <a:lnTo>
                  <a:pt x="54229" y="50800"/>
                </a:lnTo>
                <a:lnTo>
                  <a:pt x="54127" y="31877"/>
                </a:lnTo>
                <a:lnTo>
                  <a:pt x="41402" y="31877"/>
                </a:lnTo>
                <a:lnTo>
                  <a:pt x="54114" y="31826"/>
                </a:lnTo>
                <a:lnTo>
                  <a:pt x="637235" y="29248"/>
                </a:lnTo>
                <a:lnTo>
                  <a:pt x="6813550" y="32004"/>
                </a:lnTo>
                <a:lnTo>
                  <a:pt x="6813550" y="51054"/>
                </a:lnTo>
                <a:lnTo>
                  <a:pt x="6851650" y="32004"/>
                </a:lnTo>
                <a:lnTo>
                  <a:pt x="6864350" y="256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431285" y="1778634"/>
            <a:ext cx="23368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24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TDMA</a:t>
            </a:r>
            <a:r>
              <a:rPr sz="24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Frame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368552" y="2819402"/>
            <a:ext cx="1758950" cy="761999"/>
          </a:xfrm>
          <a:custGeom>
            <a:avLst/>
            <a:gdLst/>
            <a:ahLst/>
            <a:cxnLst/>
            <a:rect l="l" t="t" r="r" b="b"/>
            <a:pathLst>
              <a:path w="1758950" h="762000">
                <a:moveTo>
                  <a:pt x="1758696" y="0"/>
                </a:moveTo>
                <a:lnTo>
                  <a:pt x="0" y="762000"/>
                </a:lnTo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400800" y="2819402"/>
            <a:ext cx="1828800" cy="761999"/>
          </a:xfrm>
          <a:custGeom>
            <a:avLst/>
            <a:gdLst/>
            <a:ahLst/>
            <a:cxnLst/>
            <a:rect l="l" t="t" r="r" b="b"/>
            <a:pathLst>
              <a:path w="1828800" h="762000">
                <a:moveTo>
                  <a:pt x="0" y="0"/>
                </a:moveTo>
                <a:lnTo>
                  <a:pt x="1828800" y="762000"/>
                </a:lnTo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1365507" y="4946903"/>
          <a:ext cx="6857999" cy="533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2870"/>
                <a:gridCol w="1524000"/>
                <a:gridCol w="2438400"/>
                <a:gridCol w="1522729"/>
              </a:tblGrid>
              <a:tr h="533400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Trail</a:t>
                      </a:r>
                      <a:r>
                        <a:rPr sz="2300" spc="-1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Bits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768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Sync.</a:t>
                      </a:r>
                      <a:r>
                        <a:rPr sz="2300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Bits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7683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Information</a:t>
                      </a:r>
                      <a:r>
                        <a:rPr sz="2300" spc="-7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Data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7683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Guard</a:t>
                      </a:r>
                      <a:r>
                        <a:rPr sz="2300" spc="-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Bits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7683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</a:tr>
            </a:tbl>
          </a:graphicData>
        </a:graphic>
      </p:graphicFrame>
      <p:sp>
        <p:nvSpPr>
          <p:cNvPr id="23" name="object 23"/>
          <p:cNvSpPr/>
          <p:nvPr/>
        </p:nvSpPr>
        <p:spPr>
          <a:xfrm>
            <a:off x="1368552" y="4114799"/>
            <a:ext cx="1835150" cy="838200"/>
          </a:xfrm>
          <a:custGeom>
            <a:avLst/>
            <a:gdLst/>
            <a:ahLst/>
            <a:cxnLst/>
            <a:rect l="l" t="t" r="r" b="b"/>
            <a:pathLst>
              <a:path w="1835150" h="838200">
                <a:moveTo>
                  <a:pt x="1834896" y="0"/>
                </a:moveTo>
                <a:lnTo>
                  <a:pt x="0" y="838200"/>
                </a:lnTo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191000" y="4114799"/>
            <a:ext cx="4038600" cy="838200"/>
          </a:xfrm>
          <a:custGeom>
            <a:avLst/>
            <a:gdLst/>
            <a:ahLst/>
            <a:cxnLst/>
            <a:rect l="l" t="t" r="r" b="b"/>
            <a:pathLst>
              <a:path w="4038600" h="838200">
                <a:moveTo>
                  <a:pt x="0" y="0"/>
                </a:moveTo>
                <a:lnTo>
                  <a:pt x="4038600" y="838200"/>
                </a:lnTo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449454" y="5895238"/>
            <a:ext cx="52381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frame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cyclically</a:t>
            </a:r>
            <a:r>
              <a:rPr sz="24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repeated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over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time.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Features</a:t>
            </a:r>
            <a:r>
              <a:rPr sz="3600" b="0" u="none" spc="-2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of</a:t>
            </a:r>
            <a:r>
              <a:rPr sz="3600" b="0" u="none" spc="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20" dirty="0">
                <a:solidFill>
                  <a:srgbClr val="CACACA"/>
                </a:solidFill>
                <a:latin typeface="Times New Roman"/>
                <a:cs typeface="Times New Roman"/>
              </a:rPr>
              <a:t>TDMA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8" y="1673530"/>
            <a:ext cx="7270115" cy="4771819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890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single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carrier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frequency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3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several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users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0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transmission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bursts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low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battery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consumption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819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32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process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much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simpler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FDD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switch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instead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duplexer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very</a:t>
            </a:r>
            <a:r>
              <a:rPr sz="32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high</a:t>
            </a:r>
            <a:r>
              <a:rPr sz="32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transmission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rate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81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high</a:t>
            </a:r>
            <a:r>
              <a:rPr sz="32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synchronization</a:t>
            </a:r>
            <a:r>
              <a:rPr sz="3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overhead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guard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slots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necessary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Number</a:t>
            </a:r>
            <a:r>
              <a:rPr sz="3600" b="0" u="none" spc="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of</a:t>
            </a:r>
            <a:r>
              <a:rPr sz="3600" b="0" u="none" spc="1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channels</a:t>
            </a:r>
            <a:r>
              <a:rPr sz="3600" b="0" u="none" spc="-4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in</a:t>
            </a:r>
            <a:r>
              <a:rPr sz="3600" b="0" u="none" spc="-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a</a:t>
            </a:r>
            <a:r>
              <a:rPr sz="3600" b="0" u="none" spc="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TDMA</a:t>
            </a:r>
            <a:r>
              <a:rPr sz="3600" b="0" u="none" spc="-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system</a:t>
            </a:r>
            <a:endParaRPr sz="36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737104" y="2127504"/>
            <a:ext cx="4203700" cy="1231900"/>
            <a:chOff x="2737104" y="2127504"/>
            <a:chExt cx="4203700" cy="1231900"/>
          </a:xfrm>
        </p:grpSpPr>
        <p:sp>
          <p:nvSpPr>
            <p:cNvPr id="17" name="object 17"/>
            <p:cNvSpPr/>
            <p:nvPr/>
          </p:nvSpPr>
          <p:spPr>
            <a:xfrm>
              <a:off x="2743200" y="2133600"/>
              <a:ext cx="4191000" cy="1219200"/>
            </a:xfrm>
            <a:custGeom>
              <a:avLst/>
              <a:gdLst/>
              <a:ahLst/>
              <a:cxnLst/>
              <a:rect l="l" t="t" r="r" b="b"/>
              <a:pathLst>
                <a:path w="4191000" h="1219200">
                  <a:moveTo>
                    <a:pt x="41910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4191000" y="1219200"/>
                  </a:lnTo>
                  <a:lnTo>
                    <a:pt x="4191000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43200" y="2133600"/>
              <a:ext cx="4191000" cy="1219200"/>
            </a:xfrm>
            <a:custGeom>
              <a:avLst/>
              <a:gdLst/>
              <a:ahLst/>
              <a:cxnLst/>
              <a:rect l="l" t="t" r="r" b="b"/>
              <a:pathLst>
                <a:path w="4191000" h="1219200">
                  <a:moveTo>
                    <a:pt x="0" y="1219200"/>
                  </a:moveTo>
                  <a:lnTo>
                    <a:pt x="4191000" y="1219200"/>
                  </a:lnTo>
                  <a:lnTo>
                    <a:pt x="41910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52758" y="2232736"/>
            <a:ext cx="8151495" cy="41928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5255" algn="ctr">
              <a:lnSpc>
                <a:spcPts val="3720"/>
              </a:lnSpc>
              <a:spcBef>
                <a:spcPts val="95"/>
              </a:spcBef>
            </a:pPr>
            <a:r>
              <a:rPr sz="4800" baseline="-31250" dirty="0">
                <a:solidFill>
                  <a:srgbClr val="FFFFFF"/>
                </a:solidFill>
                <a:latin typeface="Times New Roman"/>
                <a:cs typeface="Times New Roman"/>
              </a:rPr>
              <a:t>N=</a:t>
            </a:r>
            <a:r>
              <a:rPr sz="4800" spc="405" baseline="-31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u="sng" spc="-8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m*(B</a:t>
            </a:r>
            <a:r>
              <a:rPr sz="2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tot</a:t>
            </a:r>
            <a:r>
              <a:rPr sz="2400" u="sng" spc="2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-</a:t>
            </a:r>
            <a:r>
              <a:rPr sz="3200" u="sng" spc="-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2*B</a:t>
            </a:r>
            <a:r>
              <a:rPr sz="2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guard)</a:t>
            </a:r>
            <a:endParaRPr sz="2400">
              <a:latin typeface="Times New Roman"/>
              <a:cs typeface="Times New Roman"/>
            </a:endParaRPr>
          </a:p>
          <a:p>
            <a:pPr marL="534035" algn="ctr">
              <a:lnSpc>
                <a:spcPts val="3720"/>
              </a:lnSpc>
            </a:pP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  <a:p>
            <a:pPr marL="366395" indent="-340995">
              <a:lnSpc>
                <a:spcPct val="100000"/>
              </a:lnSpc>
              <a:spcBef>
                <a:spcPts val="2755"/>
              </a:spcBef>
              <a:buChar char="•"/>
              <a:tabLst>
                <a:tab pos="3663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endParaRPr sz="3200">
              <a:latin typeface="Times New Roman"/>
              <a:cs typeface="Times New Roman"/>
            </a:endParaRPr>
          </a:p>
          <a:p>
            <a:pPr marL="3663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663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TDMA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users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per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radio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endParaRPr sz="3200">
              <a:latin typeface="Times New Roman"/>
              <a:cs typeface="Times New Roman"/>
            </a:endParaRPr>
          </a:p>
          <a:p>
            <a:pPr marL="3663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663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tot</a:t>
            </a:r>
            <a:r>
              <a:rPr sz="24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total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spectrum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allocation</a:t>
            </a:r>
            <a:endParaRPr sz="3200">
              <a:latin typeface="Times New Roman"/>
              <a:cs typeface="Times New Roman"/>
            </a:endParaRPr>
          </a:p>
          <a:p>
            <a:pPr marL="366395" indent="-340995">
              <a:lnSpc>
                <a:spcPct val="100000"/>
              </a:lnSpc>
              <a:spcBef>
                <a:spcPts val="820"/>
              </a:spcBef>
              <a:buChar char="•"/>
              <a:tabLst>
                <a:tab pos="3663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guard</a:t>
            </a:r>
            <a:r>
              <a:rPr sz="24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Guard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Band</a:t>
            </a:r>
            <a:endParaRPr sz="3200">
              <a:latin typeface="Times New Roman"/>
              <a:cs typeface="Times New Roman"/>
            </a:endParaRPr>
          </a:p>
          <a:p>
            <a:pPr marL="366395" indent="-340995">
              <a:lnSpc>
                <a:spcPct val="100000"/>
              </a:lnSpc>
              <a:spcBef>
                <a:spcPts val="790"/>
              </a:spcBef>
              <a:buChar char="•"/>
              <a:tabLst>
                <a:tab pos="3663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4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bandwidth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62004" y="761999"/>
            <a:ext cx="8379459" cy="656590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6256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280"/>
              </a:spcBef>
            </a:pPr>
            <a:r>
              <a:rPr sz="3200" dirty="0">
                <a:solidFill>
                  <a:srgbClr val="CACACA"/>
                </a:solidFill>
                <a:latin typeface="Times New Roman"/>
                <a:cs typeface="Times New Roman"/>
              </a:rPr>
              <a:t>Example:</a:t>
            </a:r>
            <a:r>
              <a:rPr sz="3200" spc="-3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CACACA"/>
                </a:solidFill>
                <a:latin typeface="Times New Roman"/>
                <a:cs typeface="Times New Roman"/>
              </a:rPr>
              <a:t>Global</a:t>
            </a:r>
            <a:r>
              <a:rPr sz="3200" spc="-7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CACACA"/>
                </a:solidFill>
                <a:latin typeface="Times New Roman"/>
                <a:cs typeface="Times New Roman"/>
              </a:rPr>
              <a:t>System</a:t>
            </a:r>
            <a:r>
              <a:rPr sz="3200" spc="-6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CACACA"/>
                </a:solidFill>
                <a:latin typeface="Times New Roman"/>
                <a:cs typeface="Times New Roman"/>
              </a:rPr>
              <a:t>for</a:t>
            </a:r>
            <a:r>
              <a:rPr sz="3200" spc="-12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CACACA"/>
                </a:solidFill>
                <a:latin typeface="Times New Roman"/>
                <a:cs typeface="Times New Roman"/>
              </a:rPr>
              <a:t>Mobile</a:t>
            </a:r>
            <a:r>
              <a:rPr sz="3200" spc="-7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CACACA"/>
                </a:solidFill>
                <a:latin typeface="Times New Roman"/>
                <a:cs typeface="Times New Roman"/>
              </a:rPr>
              <a:t>(GSM)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4" y="1901497"/>
            <a:ext cx="6992620" cy="298735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894"/>
              </a:spcBef>
              <a:buChar char="•"/>
              <a:tabLst>
                <a:tab pos="353695" algn="l"/>
              </a:tabLst>
            </a:pP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TDMA/FDD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forward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link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tot</a:t>
            </a:r>
            <a:r>
              <a:rPr sz="2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25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MHz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radio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4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200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kHz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815"/>
              </a:spcBef>
              <a:buChar char="•"/>
              <a:tabLst>
                <a:tab pos="353695" algn="l"/>
                <a:tab pos="804545" algn="l"/>
              </a:tabLst>
            </a:pP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	m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speech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supported,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guard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band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assumed</a:t>
            </a:r>
            <a:r>
              <a:rPr sz="32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136903" y="5099302"/>
            <a:ext cx="7099300" cy="1231900"/>
            <a:chOff x="1136903" y="5099303"/>
            <a:chExt cx="7099300" cy="1231900"/>
          </a:xfrm>
        </p:grpSpPr>
        <p:sp>
          <p:nvSpPr>
            <p:cNvPr id="18" name="object 18"/>
            <p:cNvSpPr/>
            <p:nvPr/>
          </p:nvSpPr>
          <p:spPr>
            <a:xfrm>
              <a:off x="1142999" y="5105399"/>
              <a:ext cx="7086600" cy="1219200"/>
            </a:xfrm>
            <a:custGeom>
              <a:avLst/>
              <a:gdLst/>
              <a:ahLst/>
              <a:cxnLst/>
              <a:rect l="l" t="t" r="r" b="b"/>
              <a:pathLst>
                <a:path w="7086600" h="1219200">
                  <a:moveTo>
                    <a:pt x="70866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7086600" y="1219200"/>
                  </a:lnTo>
                  <a:lnTo>
                    <a:pt x="7086600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42999" y="5105399"/>
              <a:ext cx="7086600" cy="1219200"/>
            </a:xfrm>
            <a:custGeom>
              <a:avLst/>
              <a:gdLst/>
              <a:ahLst/>
              <a:cxnLst/>
              <a:rect l="l" t="t" r="r" b="b"/>
              <a:pathLst>
                <a:path w="7086600" h="1219200">
                  <a:moveTo>
                    <a:pt x="0" y="1219200"/>
                  </a:moveTo>
                  <a:lnTo>
                    <a:pt x="7086600" y="1219200"/>
                  </a:lnTo>
                  <a:lnTo>
                    <a:pt x="70866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224408" y="5663590"/>
            <a:ext cx="1075055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200E3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60550" y="5434383"/>
            <a:ext cx="675005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2226310" algn="l"/>
                <a:tab pos="238823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N=</a:t>
            </a:r>
            <a:r>
              <a:rPr sz="3200" spc="3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800" u="sng" spc="-97" baseline="26909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800" u="sng" spc="-15" baseline="26909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8*25E6</a:t>
            </a:r>
            <a:r>
              <a:rPr sz="4800" u="sng" baseline="26909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4800" u="none" baseline="26909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3200" u="none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3200" u="none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u="none" dirty="0">
                <a:solidFill>
                  <a:srgbClr val="FFFFFF"/>
                </a:solidFill>
                <a:latin typeface="Times New Roman"/>
                <a:cs typeface="Times New Roman"/>
              </a:rPr>
              <a:t>1000</a:t>
            </a:r>
            <a:r>
              <a:rPr sz="3200" u="none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u="none" dirty="0">
                <a:solidFill>
                  <a:srgbClr val="FFFFFF"/>
                </a:solidFill>
                <a:latin typeface="Times New Roman"/>
                <a:cs typeface="Times New Roman"/>
              </a:rPr>
              <a:t>simultaneous</a:t>
            </a:r>
            <a:r>
              <a:rPr sz="3200" u="none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u="none" spc="-10" dirty="0">
                <a:solidFill>
                  <a:srgbClr val="FFFFFF"/>
                </a:solidFill>
                <a:latin typeface="Times New Roman"/>
                <a:cs typeface="Times New Roman"/>
              </a:rPr>
              <a:t>users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Efficiency</a:t>
            </a:r>
            <a:r>
              <a:rPr sz="3600" b="0" u="none" spc="-5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of</a:t>
            </a:r>
            <a:r>
              <a:rPr sz="3600" b="0" u="none" spc="-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20" dirty="0">
                <a:solidFill>
                  <a:srgbClr val="CACACA"/>
                </a:solidFill>
                <a:latin typeface="Times New Roman"/>
                <a:cs typeface="Times New Roman"/>
              </a:rPr>
              <a:t>TDMA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8" y="2003554"/>
            <a:ext cx="7281545" cy="33252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4330" marR="5080" indent="-342265">
              <a:lnSpc>
                <a:spcPct val="100000"/>
              </a:lnSpc>
              <a:spcBef>
                <a:spcPts val="90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percentage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transmitted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contain information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60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frame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efficiency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Wingdings"/>
                <a:cs typeface="Wingdings"/>
              </a:rPr>
              <a:t>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600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usually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end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efficiency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&lt; </a:t>
            </a:r>
            <a:r>
              <a:rPr sz="3200" dirty="0">
                <a:solidFill>
                  <a:srgbClr val="FFFFFF"/>
                </a:solidFill>
                <a:latin typeface="Wingdings"/>
                <a:cs typeface="Wingdings"/>
              </a:rPr>
              <a:t>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 ,</a:t>
            </a:r>
            <a:endParaRPr sz="24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because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source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coding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819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How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get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Wingdings"/>
                <a:cs typeface="Wingdings"/>
              </a:rPr>
              <a:t>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?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1365503" y="3575304"/>
          <a:ext cx="6857998" cy="533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5669"/>
                <a:gridCol w="914400"/>
                <a:gridCol w="990600"/>
                <a:gridCol w="3048000"/>
                <a:gridCol w="989329"/>
              </a:tblGrid>
              <a:tr h="533400"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Slot</a:t>
                      </a:r>
                      <a:r>
                        <a:rPr sz="2300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7620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Slot</a:t>
                      </a:r>
                      <a:r>
                        <a:rPr sz="2300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76201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Slot</a:t>
                      </a:r>
                      <a:r>
                        <a:rPr sz="2300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76201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53340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23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76201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Slot</a:t>
                      </a:r>
                      <a:r>
                        <a:rPr sz="2300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6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76201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</a:tr>
            </a:tbl>
          </a:graphicData>
        </a:graphic>
      </p:graphicFrame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Repeating</a:t>
            </a:r>
            <a:r>
              <a:rPr sz="3600" b="0" u="none" spc="-5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Frame</a:t>
            </a:r>
            <a:r>
              <a:rPr sz="3600" b="0" u="none" spc="-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Structure</a:t>
            </a:r>
            <a:endParaRPr sz="3600">
              <a:latin typeface="Times New Roman"/>
              <a:cs typeface="Times New Roman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1365507" y="2279904"/>
          <a:ext cx="6857999" cy="533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3870"/>
                <a:gridCol w="3276600"/>
                <a:gridCol w="1827529"/>
              </a:tblGrid>
              <a:tr h="533400">
                <a:tc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3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Preamble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7556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37782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Information</a:t>
                      </a:r>
                      <a:r>
                        <a:rPr sz="2300" spc="-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Message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75566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37719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Trail</a:t>
                      </a:r>
                      <a:r>
                        <a:rPr sz="2300" spc="-10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Bits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75566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1365250" y="2110996"/>
            <a:ext cx="6864350" cy="51435"/>
          </a:xfrm>
          <a:custGeom>
            <a:avLst/>
            <a:gdLst/>
            <a:ahLst/>
            <a:cxnLst/>
            <a:rect l="l" t="t" r="r" b="b"/>
            <a:pathLst>
              <a:path w="6864350" h="51435">
                <a:moveTo>
                  <a:pt x="6864350" y="25654"/>
                </a:moveTo>
                <a:lnTo>
                  <a:pt x="6851650" y="19304"/>
                </a:lnTo>
                <a:lnTo>
                  <a:pt x="6813550" y="254"/>
                </a:lnTo>
                <a:lnTo>
                  <a:pt x="6813550" y="19304"/>
                </a:lnTo>
                <a:lnTo>
                  <a:pt x="701548" y="16573"/>
                </a:lnTo>
                <a:lnTo>
                  <a:pt x="701548" y="16256"/>
                </a:lnTo>
                <a:lnTo>
                  <a:pt x="637235" y="16548"/>
                </a:lnTo>
                <a:lnTo>
                  <a:pt x="54038" y="16281"/>
                </a:lnTo>
                <a:lnTo>
                  <a:pt x="53975" y="0"/>
                </a:lnTo>
                <a:lnTo>
                  <a:pt x="21844" y="16268"/>
                </a:lnTo>
                <a:lnTo>
                  <a:pt x="0" y="16256"/>
                </a:lnTo>
                <a:lnTo>
                  <a:pt x="0" y="28956"/>
                </a:lnTo>
                <a:lnTo>
                  <a:pt x="9994" y="28968"/>
                </a:lnTo>
                <a:lnTo>
                  <a:pt x="54229" y="50800"/>
                </a:lnTo>
                <a:lnTo>
                  <a:pt x="54127" y="31877"/>
                </a:lnTo>
                <a:lnTo>
                  <a:pt x="41402" y="31877"/>
                </a:lnTo>
                <a:lnTo>
                  <a:pt x="54114" y="31826"/>
                </a:lnTo>
                <a:lnTo>
                  <a:pt x="637235" y="29248"/>
                </a:lnTo>
                <a:lnTo>
                  <a:pt x="6813550" y="32004"/>
                </a:lnTo>
                <a:lnTo>
                  <a:pt x="6813550" y="51054"/>
                </a:lnTo>
                <a:lnTo>
                  <a:pt x="6851650" y="32004"/>
                </a:lnTo>
                <a:lnTo>
                  <a:pt x="6864350" y="256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431285" y="1778634"/>
            <a:ext cx="23368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24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TDMA</a:t>
            </a:r>
            <a:r>
              <a:rPr sz="24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Frame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368552" y="2819402"/>
            <a:ext cx="1758950" cy="761999"/>
          </a:xfrm>
          <a:custGeom>
            <a:avLst/>
            <a:gdLst/>
            <a:ahLst/>
            <a:cxnLst/>
            <a:rect l="l" t="t" r="r" b="b"/>
            <a:pathLst>
              <a:path w="1758950" h="762000">
                <a:moveTo>
                  <a:pt x="1758696" y="0"/>
                </a:moveTo>
                <a:lnTo>
                  <a:pt x="0" y="762000"/>
                </a:lnTo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400800" y="2819402"/>
            <a:ext cx="1828800" cy="761999"/>
          </a:xfrm>
          <a:custGeom>
            <a:avLst/>
            <a:gdLst/>
            <a:ahLst/>
            <a:cxnLst/>
            <a:rect l="l" t="t" r="r" b="b"/>
            <a:pathLst>
              <a:path w="1828800" h="762000">
                <a:moveTo>
                  <a:pt x="0" y="0"/>
                </a:moveTo>
                <a:lnTo>
                  <a:pt x="1828800" y="762000"/>
                </a:lnTo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1365507" y="4946903"/>
          <a:ext cx="6857999" cy="533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2870"/>
                <a:gridCol w="1524000"/>
                <a:gridCol w="2438400"/>
                <a:gridCol w="1522729"/>
              </a:tblGrid>
              <a:tr h="533400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Trail</a:t>
                      </a:r>
                      <a:r>
                        <a:rPr sz="2300" spc="-1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Bits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768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Sync.</a:t>
                      </a:r>
                      <a:r>
                        <a:rPr sz="2300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Bits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7683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Information</a:t>
                      </a:r>
                      <a:r>
                        <a:rPr sz="2300" spc="-7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Data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7683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23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Guard</a:t>
                      </a:r>
                      <a:r>
                        <a:rPr sz="2300" spc="-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Bits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7683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</a:tr>
            </a:tbl>
          </a:graphicData>
        </a:graphic>
      </p:graphicFrame>
      <p:sp>
        <p:nvSpPr>
          <p:cNvPr id="23" name="object 23"/>
          <p:cNvSpPr/>
          <p:nvPr/>
        </p:nvSpPr>
        <p:spPr>
          <a:xfrm>
            <a:off x="1368552" y="4114799"/>
            <a:ext cx="1835150" cy="838200"/>
          </a:xfrm>
          <a:custGeom>
            <a:avLst/>
            <a:gdLst/>
            <a:ahLst/>
            <a:cxnLst/>
            <a:rect l="l" t="t" r="r" b="b"/>
            <a:pathLst>
              <a:path w="1835150" h="838200">
                <a:moveTo>
                  <a:pt x="1834896" y="0"/>
                </a:moveTo>
                <a:lnTo>
                  <a:pt x="0" y="838200"/>
                </a:lnTo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191000" y="4114799"/>
            <a:ext cx="4038600" cy="838200"/>
          </a:xfrm>
          <a:custGeom>
            <a:avLst/>
            <a:gdLst/>
            <a:ahLst/>
            <a:cxnLst/>
            <a:rect l="l" t="t" r="r" b="b"/>
            <a:pathLst>
              <a:path w="4038600" h="838200">
                <a:moveTo>
                  <a:pt x="0" y="0"/>
                </a:moveTo>
                <a:lnTo>
                  <a:pt x="4038600" y="838200"/>
                </a:lnTo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449454" y="5895238"/>
            <a:ext cx="52381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frame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cyclically</a:t>
            </a:r>
            <a:r>
              <a:rPr sz="24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repeated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over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time.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Efficiency</a:t>
            </a:r>
            <a:r>
              <a:rPr sz="3600" b="0" u="none" spc="-5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of</a:t>
            </a:r>
            <a:r>
              <a:rPr sz="3600" b="0" u="none" spc="-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20" dirty="0">
                <a:solidFill>
                  <a:srgbClr val="CACACA"/>
                </a:solidFill>
                <a:latin typeface="Times New Roman"/>
                <a:cs typeface="Times New Roman"/>
              </a:rPr>
              <a:t>TDMA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8" y="2511222"/>
            <a:ext cx="7698105" cy="4074832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894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OH</a:t>
            </a:r>
            <a:r>
              <a:rPr sz="24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overhead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4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reference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bursts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per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frame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  <a:tab pos="1369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400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	reference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per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reference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burst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81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traffic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bursts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per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frame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24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overhead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per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preamble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slot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24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equivalent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guard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endParaRPr sz="3200">
              <a:latin typeface="Times New Roman"/>
              <a:cs typeface="Times New Roman"/>
            </a:endParaRPr>
          </a:p>
          <a:p>
            <a:pPr marL="2244090">
              <a:lnSpc>
                <a:spcPct val="100000"/>
              </a:lnSpc>
            </a:pP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intervall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43000" y="1752601"/>
            <a:ext cx="7010400" cy="618118"/>
          </a:xfrm>
          <a:prstGeom prst="rect">
            <a:avLst/>
          </a:prstGeom>
          <a:solidFill>
            <a:srgbClr val="009999"/>
          </a:solidFill>
          <a:ln w="12192">
            <a:solidFill>
              <a:srgbClr val="FFFFFF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456565">
              <a:lnSpc>
                <a:spcPct val="100000"/>
              </a:lnSpc>
              <a:spcBef>
                <a:spcPts val="98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OH</a:t>
            </a:r>
            <a:r>
              <a:rPr sz="24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*b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4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*b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2400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*b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24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*b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Efficiency</a:t>
            </a:r>
            <a:r>
              <a:rPr sz="3600" b="0" u="none" spc="-5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of</a:t>
            </a:r>
            <a:r>
              <a:rPr sz="3600" b="0" u="none" spc="-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20" dirty="0">
                <a:solidFill>
                  <a:srgbClr val="CACACA"/>
                </a:solidFill>
                <a:latin typeface="Times New Roman"/>
                <a:cs typeface="Times New Roman"/>
              </a:rPr>
              <a:t>TDMA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95600" y="2286003"/>
            <a:ext cx="3200400" cy="618759"/>
          </a:xfrm>
          <a:prstGeom prst="rect">
            <a:avLst/>
          </a:prstGeom>
          <a:solidFill>
            <a:srgbClr val="009999"/>
          </a:solidFill>
          <a:ln w="12192">
            <a:solidFill>
              <a:srgbClr val="FFFFFF"/>
            </a:solidFill>
          </a:ln>
        </p:spPr>
        <p:txBody>
          <a:bodyPr vert="horz" wrap="square" lIns="0" tIns="125095" rIns="0" bIns="0" rtlCol="0">
            <a:spAutoFit/>
          </a:bodyPr>
          <a:lstStyle/>
          <a:p>
            <a:pPr marL="679450">
              <a:lnSpc>
                <a:spcPct val="100000"/>
              </a:lnSpc>
              <a:spcBef>
                <a:spcPts val="98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sz="2400" spc="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41654" y="3654791"/>
            <a:ext cx="6220460" cy="1797286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894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total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per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frame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sz="24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frame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duration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bit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rate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Efficiency</a:t>
            </a:r>
            <a:r>
              <a:rPr sz="3600" b="0" u="none" spc="-5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of</a:t>
            </a:r>
            <a:r>
              <a:rPr sz="3600" b="0" u="none" spc="-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20" dirty="0">
                <a:solidFill>
                  <a:srgbClr val="CACACA"/>
                </a:solidFill>
                <a:latin typeface="Times New Roman"/>
                <a:cs typeface="Times New Roman"/>
              </a:rPr>
              <a:t>TDMA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41658" y="3644032"/>
            <a:ext cx="7238365" cy="1871025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3600" dirty="0">
                <a:solidFill>
                  <a:srgbClr val="FFFFFF"/>
                </a:solidFill>
                <a:latin typeface="Wingdings"/>
                <a:cs typeface="Wingdings"/>
              </a:rPr>
              <a:t>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sz="24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frame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efficiency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80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OH</a:t>
            </a:r>
            <a:r>
              <a:rPr sz="2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overhead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per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frame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total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per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frame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14600" y="2209800"/>
            <a:ext cx="4191000" cy="655308"/>
          </a:xfrm>
          <a:prstGeom prst="rect">
            <a:avLst/>
          </a:prstGeom>
          <a:solidFill>
            <a:srgbClr val="009999"/>
          </a:solidFill>
          <a:ln w="12192">
            <a:solidFill>
              <a:srgbClr val="FFFFFF"/>
            </a:solidFill>
          </a:ln>
        </p:spPr>
        <p:txBody>
          <a:bodyPr vert="horz" wrap="square" lIns="0" tIns="161290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1270"/>
              </a:spcBef>
            </a:pPr>
            <a:r>
              <a:rPr sz="3200" dirty="0">
                <a:solidFill>
                  <a:srgbClr val="FFFFFF"/>
                </a:solidFill>
                <a:latin typeface="Wingdings"/>
                <a:cs typeface="Wingdings"/>
              </a:rPr>
              <a:t>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sz="2400" spc="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(1-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OH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/b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)*100%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Space</a:t>
            </a:r>
            <a:r>
              <a:rPr sz="3600" b="0" u="none" spc="-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Division</a:t>
            </a:r>
            <a:r>
              <a:rPr sz="3600" b="0" u="none" spc="-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Multiple</a:t>
            </a:r>
            <a:r>
              <a:rPr sz="3600" b="0" u="none" spc="-3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Access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8" y="1901497"/>
            <a:ext cx="8002905" cy="417742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894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Controls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radiated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energy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space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spot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beam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antennas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station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tracks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when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moving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81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cover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areas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frequency:</a:t>
            </a:r>
            <a:endParaRPr sz="3200">
              <a:latin typeface="Times New Roman"/>
              <a:cs typeface="Times New Roman"/>
            </a:endParaRPr>
          </a:p>
          <a:p>
            <a:pPr marL="454659" indent="-441959">
              <a:lnSpc>
                <a:spcPct val="100000"/>
              </a:lnSpc>
              <a:spcBef>
                <a:spcPts val="795"/>
              </a:spcBef>
              <a:buChar char="•"/>
              <a:tabLst>
                <a:tab pos="454659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TDMA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CDMA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systems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cover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areas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same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frequency: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81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FDMA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systems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Space</a:t>
            </a:r>
            <a:r>
              <a:rPr sz="3600" b="0" u="none" spc="-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Division</a:t>
            </a:r>
            <a:r>
              <a:rPr sz="3600" b="0" u="none" spc="-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Multiple</a:t>
            </a:r>
            <a:r>
              <a:rPr sz="3600" b="0" u="none" spc="-3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Access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67400" y="4255011"/>
            <a:ext cx="2670048" cy="1536191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72204" y="1905001"/>
            <a:ext cx="2011679" cy="1716023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65454" y="2155649"/>
            <a:ext cx="4585970" cy="425949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330" marR="75565" indent="-342265">
              <a:lnSpc>
                <a:spcPct val="100000"/>
              </a:lnSpc>
              <a:spcBef>
                <a:spcPts val="95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primitive</a:t>
            </a:r>
            <a:r>
              <a:rPr sz="32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applications</a:t>
            </a:r>
            <a:r>
              <a:rPr sz="3200" spc="-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are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“Sectorized</a:t>
            </a:r>
            <a:r>
              <a:rPr sz="32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antennas”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45"/>
              </a:spcBef>
              <a:buClr>
                <a:srgbClr val="FFFFFF"/>
              </a:buClr>
              <a:buFont typeface="Times New Roman"/>
              <a:buChar char="•"/>
            </a:pPr>
            <a:endParaRPr sz="3200">
              <a:latin typeface="Times New Roman"/>
              <a:cs typeface="Times New Roman"/>
            </a:endParaRPr>
          </a:p>
          <a:p>
            <a:pPr marL="354330" marR="5080" indent="-342265">
              <a:lnSpc>
                <a:spcPct val="100000"/>
              </a:lnSpc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future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adaptive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antennas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simultaneously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steer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energy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direction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many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users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at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once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Reverse</a:t>
            </a:r>
            <a:r>
              <a:rPr sz="3600" b="0" u="none" spc="-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link</a:t>
            </a:r>
            <a:r>
              <a:rPr sz="3600" b="0" u="none" spc="-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problems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4" y="1901494"/>
            <a:ext cx="7527290" cy="397224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894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general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problem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propagation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path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endParaRPr sz="3200">
              <a:latin typeface="Times New Roman"/>
              <a:cs typeface="Times New Roman"/>
            </a:endParaRPr>
          </a:p>
          <a:p>
            <a:pPr marL="354330" marR="5080" indent="-342265">
              <a:lnSpc>
                <a:spcPct val="100000"/>
              </a:lnSpc>
              <a:spcBef>
                <a:spcPts val="795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dynamic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control</a:t>
            </a:r>
            <a:r>
              <a:rPr sz="32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transmitting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r>
              <a:rPr sz="3200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from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station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required</a:t>
            </a:r>
            <a:endParaRPr sz="3200">
              <a:latin typeface="Times New Roman"/>
              <a:cs typeface="Times New Roman"/>
            </a:endParaRPr>
          </a:p>
          <a:p>
            <a:pPr marL="354330" marR="95250" indent="-342265">
              <a:lnSpc>
                <a:spcPct val="100000"/>
              </a:lnSpc>
              <a:spcBef>
                <a:spcPts val="815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limits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3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battery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consumption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subscriber units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800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possible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solution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filter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Solution</a:t>
            </a:r>
            <a:r>
              <a:rPr sz="3600" b="0" u="none" spc="-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by</a:t>
            </a:r>
            <a:r>
              <a:rPr sz="3600" b="0" u="none" spc="-2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SDMA</a:t>
            </a:r>
            <a:r>
              <a:rPr sz="3600" b="0" u="none" spc="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systems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4" y="2003550"/>
            <a:ext cx="7578090" cy="4361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4330" marR="1064260" indent="-342265">
              <a:lnSpc>
                <a:spcPct val="100000"/>
              </a:lnSpc>
              <a:spcBef>
                <a:spcPts val="90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adaptive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antennas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promise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mitigate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reverse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link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problems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limiting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case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infinitesimal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beamwidth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limiting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case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infinitely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fast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track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ability</a:t>
            </a:r>
            <a:endParaRPr sz="3200">
              <a:latin typeface="Times New Roman"/>
              <a:cs typeface="Times New Roman"/>
            </a:endParaRPr>
          </a:p>
          <a:p>
            <a:pPr marL="354330" marR="719455" indent="-342265">
              <a:lnSpc>
                <a:spcPct val="100000"/>
              </a:lnSpc>
              <a:spcBef>
                <a:spcPts val="820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thereby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unique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free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from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endParaRPr sz="3200">
              <a:latin typeface="Times New Roman"/>
              <a:cs typeface="Times New Roman"/>
            </a:endParaRPr>
          </a:p>
          <a:p>
            <a:pPr marL="354330" marR="5080" indent="-342265">
              <a:lnSpc>
                <a:spcPct val="100000"/>
              </a:lnSpc>
              <a:spcBef>
                <a:spcPts val="795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r>
              <a:rPr sz="32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communicate at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Disadvantage</a:t>
            </a:r>
            <a:r>
              <a:rPr sz="3600" b="0" u="none" spc="-2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of</a:t>
            </a:r>
            <a:r>
              <a:rPr sz="3600" b="0" u="none" spc="2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20" dirty="0">
                <a:solidFill>
                  <a:srgbClr val="CACACA"/>
                </a:solidFill>
                <a:latin typeface="Times New Roman"/>
                <a:cs typeface="Times New Roman"/>
              </a:rPr>
              <a:t>SDMA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7" y="2003554"/>
            <a:ext cx="5672455" cy="159146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4330" marR="5080" indent="-342265">
              <a:lnSpc>
                <a:spcPct val="100000"/>
              </a:lnSpc>
              <a:spcBef>
                <a:spcPts val="90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perfect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adaptive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antenna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system: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infinitely</a:t>
            </a:r>
            <a:r>
              <a:rPr sz="3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large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antenna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needed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compromise</a:t>
            </a:r>
            <a:r>
              <a:rPr sz="32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needed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SDMA</a:t>
            </a:r>
            <a:r>
              <a:rPr sz="3600" b="0" u="none" spc="-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and</a:t>
            </a:r>
            <a:r>
              <a:rPr sz="3600" b="0" u="none" spc="-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PDMA</a:t>
            </a:r>
            <a:r>
              <a:rPr sz="3600" b="0" u="none" spc="1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in</a:t>
            </a:r>
            <a:r>
              <a:rPr sz="3600" b="0" u="none" spc="-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satellites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4" y="1901494"/>
            <a:ext cx="3964304" cy="3274613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894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INTELSAT</a:t>
            </a:r>
            <a:r>
              <a:rPr sz="3200" spc="-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IVA</a:t>
            </a:r>
            <a:endParaRPr sz="3200">
              <a:latin typeface="Times New Roman"/>
              <a:cs typeface="Times New Roman"/>
            </a:endParaRPr>
          </a:p>
          <a:p>
            <a:pPr marL="354330" marR="609600" indent="-342265">
              <a:lnSpc>
                <a:spcPct val="100000"/>
              </a:lnSpc>
              <a:spcBef>
                <a:spcPts val="795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SDMA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dual-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beam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receive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antenna</a:t>
            </a:r>
            <a:endParaRPr sz="3200">
              <a:latin typeface="Times New Roman"/>
              <a:cs typeface="Times New Roman"/>
            </a:endParaRPr>
          </a:p>
          <a:p>
            <a:pPr marL="354330" marR="5080" indent="-342265">
              <a:lnSpc>
                <a:spcPct val="100000"/>
              </a:lnSpc>
              <a:spcBef>
                <a:spcPts val="795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simultaneously</a:t>
            </a:r>
            <a:r>
              <a:rPr sz="3200" spc="-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access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different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regions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earth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4" y="1905002"/>
            <a:ext cx="1459991" cy="39288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SDMA</a:t>
            </a:r>
            <a:r>
              <a:rPr sz="3600" b="0" u="none" spc="-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and</a:t>
            </a:r>
            <a:r>
              <a:rPr sz="3600" b="0" u="none" spc="-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PDMA</a:t>
            </a:r>
            <a:r>
              <a:rPr sz="3600" b="0" u="none" spc="1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in</a:t>
            </a:r>
            <a:r>
              <a:rPr sz="3600" b="0" u="none" spc="-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satellites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8" y="1901494"/>
            <a:ext cx="3225165" cy="3377206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894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COMSTAR</a:t>
            </a:r>
            <a:r>
              <a:rPr sz="3200" spc="-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PDMA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separate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antennas</a:t>
            </a:r>
            <a:endParaRPr sz="3200">
              <a:latin typeface="Times New Roman"/>
              <a:cs typeface="Times New Roman"/>
            </a:endParaRPr>
          </a:p>
          <a:p>
            <a:pPr marL="354330" marR="5080" indent="-342265">
              <a:lnSpc>
                <a:spcPct val="100000"/>
              </a:lnSpc>
              <a:spcBef>
                <a:spcPts val="815"/>
              </a:spcBef>
              <a:buChar char="•"/>
              <a:tabLst>
                <a:tab pos="354330" algn="l"/>
              </a:tabLst>
            </a:pP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simultaneously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access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same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region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62604" y="1947674"/>
            <a:ext cx="1731263" cy="40721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SDMA</a:t>
            </a:r>
            <a:r>
              <a:rPr sz="3600" b="0" u="none" spc="-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and</a:t>
            </a:r>
            <a:r>
              <a:rPr sz="3600" b="0" u="none" spc="-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PDMA</a:t>
            </a:r>
            <a:r>
              <a:rPr sz="3600" b="0" u="none" spc="1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in</a:t>
            </a:r>
            <a:r>
              <a:rPr sz="3600" b="0" u="none" spc="-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satellites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8" y="1901494"/>
            <a:ext cx="4164965" cy="397224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894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INTELSAT</a:t>
            </a:r>
            <a:r>
              <a:rPr sz="3200" spc="-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PDMA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SDMA</a:t>
            </a:r>
            <a:endParaRPr sz="3200">
              <a:latin typeface="Times New Roman"/>
              <a:cs typeface="Times New Roman"/>
            </a:endParaRPr>
          </a:p>
          <a:p>
            <a:pPr marL="354330" marR="396240" indent="-342265">
              <a:lnSpc>
                <a:spcPct val="100000"/>
              </a:lnSpc>
              <a:spcBef>
                <a:spcPts val="795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hemispheric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coverages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SDMA</a:t>
            </a:r>
            <a:endParaRPr sz="3200">
              <a:latin typeface="Times New Roman"/>
              <a:cs typeface="Times New Roman"/>
            </a:endParaRPr>
          </a:p>
          <a:p>
            <a:pPr marL="354330" marR="915035" indent="-342265">
              <a:lnSpc>
                <a:spcPct val="100000"/>
              </a:lnSpc>
              <a:spcBef>
                <a:spcPts val="815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sz="3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smaller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beam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zones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PDMA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800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orthogonal</a:t>
            </a:r>
            <a:r>
              <a:rPr sz="3200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polarization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05148" y="1981200"/>
            <a:ext cx="1819655" cy="39745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Capacity</a:t>
            </a:r>
            <a:r>
              <a:rPr sz="3600" b="0" u="none" spc="-4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of Cellular</a:t>
            </a:r>
            <a:r>
              <a:rPr sz="3600" b="0" u="none" spc="-3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Systems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6" y="2308050"/>
            <a:ext cx="7844155" cy="337720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330" marR="186055" indent="-342265">
              <a:lnSpc>
                <a:spcPct val="100000"/>
              </a:lnSpc>
              <a:spcBef>
                <a:spcPts val="95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3200" spc="-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capacity: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maximum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users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fixed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frequency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band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  <a:tab pos="461708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radio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capacity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value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	spectrum</a:t>
            </a:r>
            <a:r>
              <a:rPr sz="32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efficiency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reverse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820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forward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0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How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determine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radio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capacity?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Co-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Channel</a:t>
            </a:r>
            <a:r>
              <a:rPr sz="3600" b="0" u="none" spc="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Reuse</a:t>
            </a:r>
            <a:r>
              <a:rPr sz="3600" b="0" u="none" spc="-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Ratio</a:t>
            </a:r>
            <a:r>
              <a:rPr sz="3600" b="0" u="none" spc="-2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50" dirty="0">
                <a:solidFill>
                  <a:srgbClr val="CACACA"/>
                </a:solidFill>
                <a:latin typeface="Times New Roman"/>
                <a:cs typeface="Times New Roman"/>
              </a:rPr>
              <a:t>Q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8" y="3654791"/>
            <a:ext cx="7505065" cy="1797286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894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co-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reuse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ratio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distance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co-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radius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00400" y="2209802"/>
            <a:ext cx="2133600" cy="657231"/>
          </a:xfrm>
          <a:prstGeom prst="rect">
            <a:avLst/>
          </a:prstGeom>
          <a:solidFill>
            <a:srgbClr val="009999"/>
          </a:solidFill>
          <a:ln w="12192">
            <a:solidFill>
              <a:srgbClr val="FFFFFF"/>
            </a:solidFill>
          </a:ln>
        </p:spPr>
        <p:txBody>
          <a:bodyPr vert="horz" wrap="square" lIns="0" tIns="163195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285"/>
              </a:spcBef>
            </a:pP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Q=D/R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Forward</a:t>
            </a:r>
            <a:r>
              <a:rPr sz="3600" b="0" u="none" spc="-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channel</a:t>
            </a:r>
            <a:r>
              <a:rPr sz="3600" b="0" u="none" spc="-4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interference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8" y="1901494"/>
            <a:ext cx="2973705" cy="3767056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3695" indent="-340995" algn="just">
              <a:lnSpc>
                <a:spcPct val="100000"/>
              </a:lnSpc>
              <a:spcBef>
                <a:spcPts val="894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cluster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size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4</a:t>
            </a:r>
            <a:endParaRPr sz="3200">
              <a:latin typeface="Times New Roman"/>
              <a:cs typeface="Times New Roman"/>
            </a:endParaRPr>
          </a:p>
          <a:p>
            <a:pPr marL="353060" marR="224154" indent="-340995" algn="just">
              <a:lnSpc>
                <a:spcPct val="100000"/>
              </a:lnSpc>
              <a:spcBef>
                <a:spcPts val="795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24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distance 	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serving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station 	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user</a:t>
            </a:r>
            <a:endParaRPr sz="3200">
              <a:latin typeface="Times New Roman"/>
              <a:cs typeface="Times New Roman"/>
            </a:endParaRPr>
          </a:p>
          <a:p>
            <a:pPr marL="353060" marR="5080" indent="-340995" algn="just">
              <a:lnSpc>
                <a:spcPct val="100000"/>
              </a:lnSpc>
              <a:spcBef>
                <a:spcPts val="795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DK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distance 	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co-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base 	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station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5012" y="1981201"/>
            <a:ext cx="4355591" cy="42519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Carrier-to-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interference</a:t>
            </a:r>
            <a:r>
              <a:rPr sz="3600" b="0" u="none" spc="-12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ratio</a:t>
            </a:r>
            <a:r>
              <a:rPr sz="3600" b="0" u="none" spc="-8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25" dirty="0">
                <a:solidFill>
                  <a:srgbClr val="CACACA"/>
                </a:solidFill>
                <a:latin typeface="Times New Roman"/>
                <a:cs typeface="Times New Roman"/>
              </a:rPr>
              <a:t>C/I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8" y="1774954"/>
            <a:ext cx="754824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4330" marR="5080" indent="-342265">
              <a:lnSpc>
                <a:spcPct val="100000"/>
              </a:lnSpc>
              <a:spcBef>
                <a:spcPts val="90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closest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co-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cause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first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order interference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660650" y="3041650"/>
            <a:ext cx="3365500" cy="1689100"/>
            <a:chOff x="2660650" y="3041650"/>
            <a:chExt cx="3365500" cy="1689100"/>
          </a:xfrm>
        </p:grpSpPr>
        <p:sp>
          <p:nvSpPr>
            <p:cNvPr id="18" name="object 18"/>
            <p:cNvSpPr/>
            <p:nvPr/>
          </p:nvSpPr>
          <p:spPr>
            <a:xfrm>
              <a:off x="2667000" y="3048000"/>
              <a:ext cx="3352800" cy="1676400"/>
            </a:xfrm>
            <a:custGeom>
              <a:avLst/>
              <a:gdLst/>
              <a:ahLst/>
              <a:cxnLst/>
              <a:rect l="l" t="t" r="r" b="b"/>
              <a:pathLst>
                <a:path w="3352800" h="1676400">
                  <a:moveTo>
                    <a:pt x="3352800" y="0"/>
                  </a:moveTo>
                  <a:lnTo>
                    <a:pt x="0" y="0"/>
                  </a:lnTo>
                  <a:lnTo>
                    <a:pt x="0" y="1676400"/>
                  </a:lnTo>
                  <a:lnTo>
                    <a:pt x="3352800" y="1676400"/>
                  </a:lnTo>
                  <a:lnTo>
                    <a:pt x="3352800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667000" y="3048000"/>
              <a:ext cx="3352800" cy="1676400"/>
            </a:xfrm>
            <a:custGeom>
              <a:avLst/>
              <a:gdLst/>
              <a:ahLst/>
              <a:cxnLst/>
              <a:rect l="l" t="t" r="r" b="b"/>
              <a:pathLst>
                <a:path w="3352800" h="1676400">
                  <a:moveTo>
                    <a:pt x="0" y="1676400"/>
                  </a:moveTo>
                  <a:lnTo>
                    <a:pt x="3352800" y="1676400"/>
                  </a:lnTo>
                  <a:lnTo>
                    <a:pt x="3352800" y="0"/>
                  </a:lnTo>
                  <a:lnTo>
                    <a:pt x="0" y="0"/>
                  </a:lnTo>
                  <a:lnTo>
                    <a:pt x="0" y="167640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19400" y="3886200"/>
              <a:ext cx="2971800" cy="3175"/>
            </a:xfrm>
            <a:custGeom>
              <a:avLst/>
              <a:gdLst/>
              <a:ahLst/>
              <a:cxnLst/>
              <a:rect l="l" t="t" r="r" b="b"/>
              <a:pathLst>
                <a:path w="2971800" h="3175">
                  <a:moveTo>
                    <a:pt x="0" y="0"/>
                  </a:moveTo>
                  <a:lnTo>
                    <a:pt x="457200" y="3048"/>
                  </a:lnTo>
                </a:path>
                <a:path w="2971800" h="3175">
                  <a:moveTo>
                    <a:pt x="1295400" y="0"/>
                  </a:moveTo>
                  <a:lnTo>
                    <a:pt x="2971800" y="3048"/>
                  </a:lnTo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596389" y="3605276"/>
            <a:ext cx="241935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10589" y="3176889"/>
            <a:ext cx="283845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 marR="5080" indent="-76200">
              <a:lnSpc>
                <a:spcPct val="125099"/>
              </a:lnSpc>
              <a:spcBef>
                <a:spcPts val="100"/>
              </a:spcBef>
            </a:pP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C 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80844" y="3126183"/>
            <a:ext cx="1116965" cy="10252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95"/>
              </a:spcBef>
            </a:pPr>
            <a:r>
              <a:rPr sz="4800" baseline="-33854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3600" baseline="-45138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3600" spc="97" baseline="-45138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-n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875"/>
              </a:spcBef>
            </a:pP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187952" y="4114803"/>
            <a:ext cx="234950" cy="307975"/>
          </a:xfrm>
          <a:custGeom>
            <a:avLst/>
            <a:gdLst/>
            <a:ahLst/>
            <a:cxnLst/>
            <a:rect l="l" t="t" r="r" b="b"/>
            <a:pathLst>
              <a:path w="234950" h="307975">
                <a:moveTo>
                  <a:pt x="234696" y="0"/>
                </a:moveTo>
                <a:lnTo>
                  <a:pt x="0" y="3048"/>
                </a:lnTo>
              </a:path>
              <a:path w="234950" h="307975">
                <a:moveTo>
                  <a:pt x="3048" y="0"/>
                </a:moveTo>
                <a:lnTo>
                  <a:pt x="155448" y="152400"/>
                </a:lnTo>
              </a:path>
              <a:path w="234950" h="307975">
                <a:moveTo>
                  <a:pt x="158496" y="152400"/>
                </a:moveTo>
                <a:lnTo>
                  <a:pt x="0" y="304800"/>
                </a:lnTo>
              </a:path>
              <a:path w="234950" h="307975">
                <a:moveTo>
                  <a:pt x="3048" y="304800"/>
                </a:moveTo>
                <a:lnTo>
                  <a:pt x="231648" y="307848"/>
                </a:lnTo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206240" y="4370579"/>
            <a:ext cx="3683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k=1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63694" y="3985972"/>
            <a:ext cx="52578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2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Dk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273298" y="3836923"/>
            <a:ext cx="38036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-n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41654" y="4874625"/>
            <a:ext cx="7334250" cy="1694694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894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24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path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loss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exponent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desired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endParaRPr sz="3200">
              <a:latin typeface="Times New Roman"/>
              <a:cs typeface="Times New Roman"/>
            </a:endParaRPr>
          </a:p>
          <a:p>
            <a:pPr marL="354330" marR="178435" indent="-342265">
              <a:lnSpc>
                <a:spcPct val="100000"/>
              </a:lnSpc>
              <a:spcBef>
                <a:spcPts val="795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sz="2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path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loss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exponent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interfering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station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Carrier-to-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interference</a:t>
            </a:r>
            <a:r>
              <a:rPr sz="3600" b="0" u="none" spc="-12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ratio</a:t>
            </a:r>
            <a:r>
              <a:rPr sz="3600" b="0" u="none" spc="-8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25" dirty="0">
                <a:solidFill>
                  <a:srgbClr val="CACACA"/>
                </a:solidFill>
                <a:latin typeface="Times New Roman"/>
                <a:cs typeface="Times New Roman"/>
              </a:rPr>
              <a:t>C/I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8" y="1901498"/>
            <a:ext cx="7287259" cy="2366673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894"/>
              </a:spcBef>
              <a:buChar char="•"/>
              <a:tabLst>
                <a:tab pos="353695" algn="l"/>
              </a:tabLst>
            </a:pP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Assumption: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just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closest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stations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interfere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these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stations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have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3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distance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600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have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similar path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loss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exponents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041650" y="4565650"/>
            <a:ext cx="2832100" cy="1689100"/>
            <a:chOff x="3041650" y="4565650"/>
            <a:chExt cx="2832100" cy="1689100"/>
          </a:xfrm>
        </p:grpSpPr>
        <p:sp>
          <p:nvSpPr>
            <p:cNvPr id="18" name="object 18"/>
            <p:cNvSpPr/>
            <p:nvPr/>
          </p:nvSpPr>
          <p:spPr>
            <a:xfrm>
              <a:off x="3048000" y="4572000"/>
              <a:ext cx="2819400" cy="1676400"/>
            </a:xfrm>
            <a:custGeom>
              <a:avLst/>
              <a:gdLst/>
              <a:ahLst/>
              <a:cxnLst/>
              <a:rect l="l" t="t" r="r" b="b"/>
              <a:pathLst>
                <a:path w="2819400" h="1676400">
                  <a:moveTo>
                    <a:pt x="2819400" y="0"/>
                  </a:moveTo>
                  <a:lnTo>
                    <a:pt x="0" y="0"/>
                  </a:lnTo>
                  <a:lnTo>
                    <a:pt x="0" y="1676400"/>
                  </a:lnTo>
                  <a:lnTo>
                    <a:pt x="2819400" y="1676400"/>
                  </a:lnTo>
                  <a:lnTo>
                    <a:pt x="2819400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48000" y="4572000"/>
              <a:ext cx="2819400" cy="1676400"/>
            </a:xfrm>
            <a:custGeom>
              <a:avLst/>
              <a:gdLst/>
              <a:ahLst/>
              <a:cxnLst/>
              <a:rect l="l" t="t" r="r" b="b"/>
              <a:pathLst>
                <a:path w="2819400" h="1676400">
                  <a:moveTo>
                    <a:pt x="0" y="1676400"/>
                  </a:moveTo>
                  <a:lnTo>
                    <a:pt x="2819400" y="1676400"/>
                  </a:lnTo>
                  <a:lnTo>
                    <a:pt x="2819400" y="0"/>
                  </a:lnTo>
                  <a:lnTo>
                    <a:pt x="0" y="0"/>
                  </a:lnTo>
                  <a:lnTo>
                    <a:pt x="0" y="167640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00400" y="5440680"/>
              <a:ext cx="457200" cy="0"/>
            </a:xfrm>
            <a:custGeom>
              <a:avLst/>
              <a:gdLst/>
              <a:ahLst/>
              <a:cxnLst/>
              <a:rect l="l" t="t" r="r" b="b"/>
              <a:pathLst>
                <a:path w="4572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825244" y="5159706"/>
            <a:ext cx="24193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267200" y="5410203"/>
            <a:ext cx="1295400" cy="3175"/>
          </a:xfrm>
          <a:custGeom>
            <a:avLst/>
            <a:gdLst/>
            <a:ahLst/>
            <a:cxnLst/>
            <a:rect l="l" t="t" r="r" b="b"/>
            <a:pathLst>
              <a:path w="1295400" h="3175">
                <a:moveTo>
                  <a:pt x="0" y="0"/>
                </a:moveTo>
                <a:lnTo>
                  <a:pt x="1295400" y="3047"/>
                </a:lnTo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266185" y="4731572"/>
            <a:ext cx="2082800" cy="124906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60"/>
              </a:spcBef>
              <a:tabLst>
                <a:tab pos="1168400" algn="l"/>
              </a:tabLst>
            </a:pP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	D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24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spc="-15" baseline="45138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3600" spc="-75" baseline="45138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3600" baseline="45138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  <a:spcBef>
                <a:spcPts val="965"/>
              </a:spcBef>
              <a:tabLst>
                <a:tab pos="1168400" algn="l"/>
              </a:tabLst>
            </a:pP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6*</a:t>
            </a:r>
            <a:r>
              <a:rPr sz="3200" spc="-755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3600" spc="-52" baseline="45138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3600" spc="-75" baseline="45138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3600" baseline="45138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Worst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Case</a:t>
            </a:r>
            <a:r>
              <a:rPr sz="3600" b="0" u="none" spc="-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Performance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8" y="1901494"/>
            <a:ext cx="6323965" cy="1797286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894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maximum</a:t>
            </a:r>
            <a:r>
              <a:rPr sz="3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24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(C/I)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min</a:t>
            </a:r>
            <a:r>
              <a:rPr sz="24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acceptable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quality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following</a:t>
            </a:r>
            <a:r>
              <a:rPr sz="3200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equation</a:t>
            </a:r>
            <a:r>
              <a:rPr sz="3200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must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hold: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822704" y="4261104"/>
            <a:ext cx="5118100" cy="1003300"/>
            <a:chOff x="1822704" y="4261103"/>
            <a:chExt cx="5118100" cy="1003300"/>
          </a:xfrm>
        </p:grpSpPr>
        <p:sp>
          <p:nvSpPr>
            <p:cNvPr id="18" name="object 18"/>
            <p:cNvSpPr/>
            <p:nvPr/>
          </p:nvSpPr>
          <p:spPr>
            <a:xfrm>
              <a:off x="1828800" y="4267199"/>
              <a:ext cx="5105400" cy="990600"/>
            </a:xfrm>
            <a:custGeom>
              <a:avLst/>
              <a:gdLst/>
              <a:ahLst/>
              <a:cxnLst/>
              <a:rect l="l" t="t" r="r" b="b"/>
              <a:pathLst>
                <a:path w="5105400" h="990600">
                  <a:moveTo>
                    <a:pt x="51054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5105400" y="990600"/>
                  </a:lnTo>
                  <a:lnTo>
                    <a:pt x="5105400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28800" y="4267199"/>
              <a:ext cx="5105400" cy="990600"/>
            </a:xfrm>
            <a:custGeom>
              <a:avLst/>
              <a:gdLst/>
              <a:ahLst/>
              <a:cxnLst/>
              <a:rect l="l" t="t" r="r" b="b"/>
              <a:pathLst>
                <a:path w="5105400" h="990600">
                  <a:moveTo>
                    <a:pt x="0" y="990600"/>
                  </a:moveTo>
                  <a:lnTo>
                    <a:pt x="5105400" y="990600"/>
                  </a:lnTo>
                  <a:lnTo>
                    <a:pt x="5105400" y="0"/>
                  </a:lnTo>
                  <a:lnTo>
                    <a:pt x="0" y="0"/>
                  </a:lnTo>
                  <a:lnTo>
                    <a:pt x="0" y="99060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047909" y="4495624"/>
            <a:ext cx="127190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(C/I)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min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34335" y="4495624"/>
            <a:ext cx="228727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207645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1/6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(R/D)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3600" spc="-2115" baseline="13888" dirty="0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r>
              <a:rPr sz="3600" spc="-82" baseline="-13888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3600" baseline="-13888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30044" y="4294378"/>
            <a:ext cx="26606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Co-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Channel</a:t>
            </a:r>
            <a:r>
              <a:rPr sz="3600" b="0" u="none" spc="-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reuse</a:t>
            </a:r>
            <a:r>
              <a:rPr sz="3600" b="0" u="none" spc="-2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ratio</a:t>
            </a:r>
            <a:r>
              <a:rPr sz="3600" b="0" u="none" spc="-3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50" dirty="0">
                <a:solidFill>
                  <a:srgbClr val="CACACA"/>
                </a:solidFill>
                <a:latin typeface="Times New Roman"/>
                <a:cs typeface="Times New Roman"/>
              </a:rPr>
              <a:t>Q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4" y="3299589"/>
            <a:ext cx="7499984" cy="327397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90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distance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closest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interfering</a:t>
            </a:r>
            <a:endParaRPr sz="3200">
              <a:latin typeface="Times New Roman"/>
              <a:cs typeface="Times New Roman"/>
            </a:endParaRPr>
          </a:p>
          <a:p>
            <a:pPr marL="2143760">
              <a:lnSpc>
                <a:spcPct val="100000"/>
              </a:lnSpc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stations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radius</a:t>
            </a:r>
            <a:endParaRPr sz="3200">
              <a:latin typeface="Times New Roman"/>
              <a:cs typeface="Times New Roman"/>
            </a:endParaRPr>
          </a:p>
          <a:p>
            <a:pPr marL="353695" marR="5080" indent="-341630">
              <a:lnSpc>
                <a:spcPct val="100000"/>
              </a:lnSpc>
              <a:spcBef>
                <a:spcPts val="795"/>
              </a:spcBef>
              <a:buChar char="•"/>
              <a:tabLst>
                <a:tab pos="224409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(C/I)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min</a:t>
            </a:r>
            <a:r>
              <a:rPr sz="24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minimum</a:t>
            </a:r>
            <a:r>
              <a:rPr sz="3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carrier-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to-interference 	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ratio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819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path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loss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exponent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62200" y="1981202"/>
            <a:ext cx="4648200" cy="770083"/>
          </a:xfrm>
          <a:prstGeom prst="rect">
            <a:avLst/>
          </a:prstGeom>
          <a:solidFill>
            <a:srgbClr val="009999"/>
          </a:solidFill>
          <a:ln w="12192">
            <a:solidFill>
              <a:srgbClr val="FFFFF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R="195580" algn="r">
              <a:lnSpc>
                <a:spcPts val="2380"/>
              </a:lnSpc>
              <a:spcBef>
                <a:spcPts val="305"/>
              </a:spcBef>
            </a:pP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1/n</a:t>
            </a:r>
            <a:endParaRPr sz="2400">
              <a:latin typeface="Times New Roman"/>
              <a:cs typeface="Times New Roman"/>
            </a:endParaRPr>
          </a:p>
          <a:p>
            <a:pPr marL="438784">
              <a:lnSpc>
                <a:spcPts val="3340"/>
              </a:lnSpc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D/R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(6*(C/I)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min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Radio</a:t>
            </a:r>
            <a:r>
              <a:rPr sz="3600" b="0" u="none" spc="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Capacity</a:t>
            </a:r>
            <a:r>
              <a:rPr sz="3600" b="0" u="none" spc="-3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50" dirty="0">
                <a:solidFill>
                  <a:srgbClr val="CACACA"/>
                </a:solidFill>
                <a:latin typeface="Times New Roman"/>
                <a:cs typeface="Times New Roman"/>
              </a:rPr>
              <a:t>m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4" y="3654791"/>
            <a:ext cx="7810500" cy="2289728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894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Bt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total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allocated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spectrum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Bc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bandwidth</a:t>
            </a:r>
            <a:endParaRPr sz="3200">
              <a:latin typeface="Times New Roman"/>
              <a:cs typeface="Times New Roman"/>
            </a:endParaRPr>
          </a:p>
          <a:p>
            <a:pPr marL="353695" marR="5080" indent="-341630">
              <a:lnSpc>
                <a:spcPct val="100000"/>
              </a:lnSpc>
              <a:spcBef>
                <a:spcPts val="795"/>
              </a:spcBef>
              <a:buChar char="•"/>
              <a:tabLst>
                <a:tab pos="122936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complete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frequency 	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reuse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cluster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594103" y="2127504"/>
            <a:ext cx="6565900" cy="1231900"/>
            <a:chOff x="1594103" y="2127504"/>
            <a:chExt cx="6565900" cy="1231900"/>
          </a:xfrm>
        </p:grpSpPr>
        <p:sp>
          <p:nvSpPr>
            <p:cNvPr id="18" name="object 18"/>
            <p:cNvSpPr/>
            <p:nvPr/>
          </p:nvSpPr>
          <p:spPr>
            <a:xfrm>
              <a:off x="1600199" y="2133600"/>
              <a:ext cx="6553200" cy="1219200"/>
            </a:xfrm>
            <a:custGeom>
              <a:avLst/>
              <a:gdLst/>
              <a:ahLst/>
              <a:cxnLst/>
              <a:rect l="l" t="t" r="r" b="b"/>
              <a:pathLst>
                <a:path w="6553200" h="1219200">
                  <a:moveTo>
                    <a:pt x="65532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6553200" y="1219200"/>
                  </a:lnTo>
                  <a:lnTo>
                    <a:pt x="6553200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600199" y="2133600"/>
              <a:ext cx="6553200" cy="1219200"/>
            </a:xfrm>
            <a:custGeom>
              <a:avLst/>
              <a:gdLst/>
              <a:ahLst/>
              <a:cxnLst/>
              <a:rect l="l" t="t" r="r" b="b"/>
              <a:pathLst>
                <a:path w="6553200" h="1219200">
                  <a:moveTo>
                    <a:pt x="0" y="1219200"/>
                  </a:moveTo>
                  <a:lnTo>
                    <a:pt x="6553200" y="1219200"/>
                  </a:lnTo>
                  <a:lnTo>
                    <a:pt x="65532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817755" y="2232738"/>
            <a:ext cx="256984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842644" algn="l"/>
                <a:tab pos="1473200" algn="l"/>
                <a:tab pos="2531110" algn="l"/>
              </a:tabLst>
            </a:pPr>
            <a:r>
              <a:rPr sz="4800" baseline="-35590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4800" spc="-30" baseline="-355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800" spc="-75" baseline="-3559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4800" baseline="-3559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32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3200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B</a:t>
            </a:r>
            <a:r>
              <a:rPr sz="2400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t</a:t>
            </a:r>
            <a:r>
              <a:rPr sz="2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	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86789" y="2766138"/>
            <a:ext cx="112077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4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87498" y="2491565"/>
            <a:ext cx="306768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radio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channels/cell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Radio</a:t>
            </a:r>
            <a:r>
              <a:rPr sz="3600" b="0" u="none" spc="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Capacity</a:t>
            </a:r>
            <a:r>
              <a:rPr sz="3600" b="0" u="none" spc="-3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50" dirty="0">
                <a:solidFill>
                  <a:srgbClr val="CACACA"/>
                </a:solidFill>
                <a:latin typeface="Times New Roman"/>
                <a:cs typeface="Times New Roman"/>
              </a:rPr>
              <a:t>m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41658" y="1851152"/>
            <a:ext cx="7205345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90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related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co-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factor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by: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041904" y="2737103"/>
            <a:ext cx="2603500" cy="927101"/>
            <a:chOff x="3041904" y="2737104"/>
            <a:chExt cx="2603500" cy="927100"/>
          </a:xfrm>
        </p:grpSpPr>
        <p:sp>
          <p:nvSpPr>
            <p:cNvPr id="18" name="object 18"/>
            <p:cNvSpPr/>
            <p:nvPr/>
          </p:nvSpPr>
          <p:spPr>
            <a:xfrm>
              <a:off x="3048000" y="2743200"/>
              <a:ext cx="2590800" cy="914400"/>
            </a:xfrm>
            <a:custGeom>
              <a:avLst/>
              <a:gdLst/>
              <a:ahLst/>
              <a:cxnLst/>
              <a:rect l="l" t="t" r="r" b="b"/>
              <a:pathLst>
                <a:path w="2590800" h="914400">
                  <a:moveTo>
                    <a:pt x="25908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590800" y="9144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48000" y="2743200"/>
              <a:ext cx="2590800" cy="914400"/>
            </a:xfrm>
            <a:custGeom>
              <a:avLst/>
              <a:gdLst/>
              <a:ahLst/>
              <a:cxnLst/>
              <a:rect l="l" t="t" r="r" b="b"/>
              <a:pathLst>
                <a:path w="2590800" h="914400">
                  <a:moveTo>
                    <a:pt x="0" y="914400"/>
                  </a:moveTo>
                  <a:lnTo>
                    <a:pt x="2590800" y="914400"/>
                  </a:lnTo>
                  <a:lnTo>
                    <a:pt x="25908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496313" y="2932888"/>
            <a:ext cx="170878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(3*N)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120894" y="2769184"/>
            <a:ext cx="4025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1/2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908050" y="4108452"/>
            <a:ext cx="7708900" cy="1993900"/>
            <a:chOff x="908050" y="4108450"/>
            <a:chExt cx="7708900" cy="1993900"/>
          </a:xfrm>
        </p:grpSpPr>
        <p:sp>
          <p:nvSpPr>
            <p:cNvPr id="23" name="object 23"/>
            <p:cNvSpPr/>
            <p:nvPr/>
          </p:nvSpPr>
          <p:spPr>
            <a:xfrm>
              <a:off x="914400" y="4114800"/>
              <a:ext cx="7696200" cy="1981200"/>
            </a:xfrm>
            <a:custGeom>
              <a:avLst/>
              <a:gdLst/>
              <a:ahLst/>
              <a:cxnLst/>
              <a:rect l="l" t="t" r="r" b="b"/>
              <a:pathLst>
                <a:path w="7696200" h="1981200">
                  <a:moveTo>
                    <a:pt x="7696200" y="0"/>
                  </a:moveTo>
                  <a:lnTo>
                    <a:pt x="0" y="0"/>
                  </a:lnTo>
                  <a:lnTo>
                    <a:pt x="0" y="1981200"/>
                  </a:lnTo>
                  <a:lnTo>
                    <a:pt x="7696200" y="1981200"/>
                  </a:lnTo>
                  <a:lnTo>
                    <a:pt x="7696200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14400" y="4114800"/>
              <a:ext cx="7696200" cy="1981200"/>
            </a:xfrm>
            <a:custGeom>
              <a:avLst/>
              <a:gdLst/>
              <a:ahLst/>
              <a:cxnLst/>
              <a:rect l="l" t="t" r="r" b="b"/>
              <a:pathLst>
                <a:path w="7696200" h="1981200">
                  <a:moveTo>
                    <a:pt x="0" y="1981200"/>
                  </a:moveTo>
                  <a:lnTo>
                    <a:pt x="7696200" y="1981200"/>
                  </a:lnTo>
                  <a:lnTo>
                    <a:pt x="7696200" y="0"/>
                  </a:lnTo>
                  <a:lnTo>
                    <a:pt x="0" y="0"/>
                  </a:lnTo>
                  <a:lnTo>
                    <a:pt x="0" y="198120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233529" y="4854654"/>
            <a:ext cx="54165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m=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95804" y="4366371"/>
            <a:ext cx="1828164" cy="1305486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R="245110" algn="ctr">
              <a:lnSpc>
                <a:spcPct val="100000"/>
              </a:lnSpc>
              <a:spcBef>
                <a:spcPts val="1300"/>
              </a:spcBef>
            </a:pP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4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(Q²/3)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30044" y="4824426"/>
            <a:ext cx="24193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905000" y="5105401"/>
            <a:ext cx="6477000" cy="384176"/>
          </a:xfrm>
          <a:custGeom>
            <a:avLst/>
            <a:gdLst/>
            <a:ahLst/>
            <a:cxnLst/>
            <a:rect l="l" t="t" r="r" b="b"/>
            <a:pathLst>
              <a:path w="6477000" h="384175">
                <a:moveTo>
                  <a:pt x="0" y="0"/>
                </a:moveTo>
                <a:lnTo>
                  <a:pt x="1905000" y="3048"/>
                </a:lnTo>
              </a:path>
              <a:path w="6477000" h="384175">
                <a:moveTo>
                  <a:pt x="2590800" y="0"/>
                </a:moveTo>
                <a:lnTo>
                  <a:pt x="6477000" y="3048"/>
                </a:lnTo>
              </a:path>
              <a:path w="6477000" h="384175">
                <a:moveTo>
                  <a:pt x="3505200" y="381000"/>
                </a:moveTo>
                <a:lnTo>
                  <a:pt x="4191000" y="384047"/>
                </a:lnTo>
              </a:path>
              <a:path w="6477000" h="384175">
                <a:moveTo>
                  <a:pt x="4648200" y="381000"/>
                </a:moveTo>
                <a:lnTo>
                  <a:pt x="5181600" y="384047"/>
                </a:lnTo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035679" y="4443427"/>
            <a:ext cx="36893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797933" y="5434383"/>
            <a:ext cx="14795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476879" y="5337150"/>
            <a:ext cx="682625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4800" spc="-30" baseline="-23437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n/2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485644" y="5230164"/>
            <a:ext cx="133413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Bc</a:t>
            </a:r>
            <a:r>
              <a:rPr sz="3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sz="5400" baseline="3086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5400" spc="419" baseline="3086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800" spc="-75" baseline="37326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4800" baseline="37326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162679" y="5202733"/>
            <a:ext cx="113093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558800" algn="l"/>
              </a:tabLst>
            </a:pP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sz="3600" spc="-25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36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4800" baseline="33854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4800" spc="67" baseline="338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5400" spc="-75" baseline="3858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5400" baseline="3858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255509" y="5513629"/>
            <a:ext cx="4876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min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763509" y="4904054"/>
            <a:ext cx="60579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-30" baseline="-32407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2/n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  <a:tabLst>
                <a:tab pos="3621404" algn="l"/>
                <a:tab pos="4384040" algn="l"/>
              </a:tabLst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Radio</a:t>
            </a:r>
            <a:r>
              <a:rPr sz="3600" b="0" u="none" spc="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Capacity</a:t>
            </a:r>
            <a:r>
              <a:rPr sz="3600" b="0" u="none" spc="-3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50" dirty="0">
                <a:solidFill>
                  <a:srgbClr val="CACACA"/>
                </a:solidFill>
                <a:latin typeface="Times New Roman"/>
                <a:cs typeface="Times New Roman"/>
              </a:rPr>
              <a:t>m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	</a:t>
            </a:r>
            <a:r>
              <a:rPr sz="3600" b="0" u="none" spc="-25" dirty="0">
                <a:solidFill>
                  <a:srgbClr val="CACACA"/>
                </a:solidFill>
                <a:latin typeface="Times New Roman"/>
                <a:cs typeface="Times New Roman"/>
              </a:rPr>
              <a:t>for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	n</a:t>
            </a:r>
            <a:r>
              <a:rPr sz="3600" b="0" u="none" spc="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= </a:t>
            </a:r>
            <a:r>
              <a:rPr sz="3600" b="0" u="none" spc="-50" dirty="0">
                <a:solidFill>
                  <a:srgbClr val="CACACA"/>
                </a:solidFill>
                <a:latin typeface="Times New Roman"/>
                <a:cs typeface="Times New Roman"/>
              </a:rPr>
              <a:t>4</a:t>
            </a:r>
            <a:endParaRPr sz="36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051304" y="1822705"/>
            <a:ext cx="5041900" cy="1231900"/>
            <a:chOff x="2051304" y="1822704"/>
            <a:chExt cx="5041900" cy="1231900"/>
          </a:xfrm>
        </p:grpSpPr>
        <p:sp>
          <p:nvSpPr>
            <p:cNvPr id="17" name="object 17"/>
            <p:cNvSpPr/>
            <p:nvPr/>
          </p:nvSpPr>
          <p:spPr>
            <a:xfrm>
              <a:off x="2057400" y="1828800"/>
              <a:ext cx="5029200" cy="1219200"/>
            </a:xfrm>
            <a:custGeom>
              <a:avLst/>
              <a:gdLst/>
              <a:ahLst/>
              <a:cxnLst/>
              <a:rect l="l" t="t" r="r" b="b"/>
              <a:pathLst>
                <a:path w="5029200" h="1219200">
                  <a:moveTo>
                    <a:pt x="50292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5029200" y="1219200"/>
                  </a:lnTo>
                  <a:lnTo>
                    <a:pt x="5029200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57400" y="1828800"/>
              <a:ext cx="5029200" cy="1219200"/>
            </a:xfrm>
            <a:custGeom>
              <a:avLst/>
              <a:gdLst/>
              <a:ahLst/>
              <a:cxnLst/>
              <a:rect l="l" t="t" r="r" b="b"/>
              <a:pathLst>
                <a:path w="5029200" h="1219200">
                  <a:moveTo>
                    <a:pt x="0" y="1219200"/>
                  </a:moveTo>
                  <a:lnTo>
                    <a:pt x="5029200" y="1219200"/>
                  </a:lnTo>
                  <a:lnTo>
                    <a:pt x="50292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62400" y="2511552"/>
              <a:ext cx="2819400" cy="463550"/>
            </a:xfrm>
            <a:custGeom>
              <a:avLst/>
              <a:gdLst/>
              <a:ahLst/>
              <a:cxnLst/>
              <a:rect l="l" t="t" r="r" b="b"/>
              <a:pathLst>
                <a:path w="2819400" h="463550">
                  <a:moveTo>
                    <a:pt x="0" y="231648"/>
                  </a:moveTo>
                  <a:lnTo>
                    <a:pt x="152400" y="460248"/>
                  </a:lnTo>
                </a:path>
                <a:path w="2819400" h="463550">
                  <a:moveTo>
                    <a:pt x="152400" y="463296"/>
                  </a:moveTo>
                  <a:lnTo>
                    <a:pt x="155448" y="0"/>
                  </a:lnTo>
                </a:path>
                <a:path w="2819400" h="463550">
                  <a:moveTo>
                    <a:pt x="152400" y="3048"/>
                  </a:moveTo>
                  <a:lnTo>
                    <a:pt x="2819400" y="6096"/>
                  </a:lnTo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63858" y="1880855"/>
            <a:ext cx="8034655" cy="4473018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R="265430" algn="ctr">
              <a:lnSpc>
                <a:spcPct val="100000"/>
              </a:lnSpc>
              <a:spcBef>
                <a:spcPts val="459"/>
              </a:spcBef>
              <a:tabLst>
                <a:tab pos="817244" algn="l"/>
                <a:tab pos="2286000" algn="l"/>
                <a:tab pos="4639310" algn="l"/>
              </a:tabLst>
            </a:pPr>
            <a:r>
              <a:rPr sz="4800" baseline="-31250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4800" spc="-44" baseline="-31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800" spc="-75" baseline="-3125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4800" baseline="-3125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32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3200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B</a:t>
            </a:r>
            <a:r>
              <a:rPr sz="2400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t</a:t>
            </a:r>
            <a:r>
              <a:rPr sz="2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	</a:t>
            </a:r>
            <a:endParaRPr sz="2400">
              <a:latin typeface="Times New Roman"/>
              <a:cs typeface="Times New Roman"/>
            </a:endParaRPr>
          </a:p>
          <a:p>
            <a:pPr marL="400685" algn="ctr">
              <a:lnSpc>
                <a:spcPct val="100000"/>
              </a:lnSpc>
              <a:spcBef>
                <a:spcPts val="365"/>
              </a:spcBef>
              <a:tabLst>
                <a:tab pos="169672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2/3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(C/I)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min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3200">
              <a:latin typeface="Times New Roman"/>
              <a:cs typeface="Times New Roman"/>
            </a:endParaRPr>
          </a:p>
          <a:p>
            <a:pPr marL="379095" indent="-340995">
              <a:lnSpc>
                <a:spcPct val="100000"/>
              </a:lnSpc>
              <a:buChar char="•"/>
              <a:tabLst>
                <a:tab pos="3790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radio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per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endParaRPr sz="3200">
              <a:latin typeface="Times New Roman"/>
              <a:cs typeface="Times New Roman"/>
            </a:endParaRPr>
          </a:p>
          <a:p>
            <a:pPr marL="379730" marR="290830" indent="-342265">
              <a:lnSpc>
                <a:spcPct val="100000"/>
              </a:lnSpc>
              <a:spcBef>
                <a:spcPts val="795"/>
              </a:spcBef>
              <a:buChar char="•"/>
              <a:tabLst>
                <a:tab pos="3797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(C/I)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min</a:t>
            </a:r>
            <a:r>
              <a:rPr sz="24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lower</a:t>
            </a:r>
            <a:r>
              <a:rPr sz="3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digital</a:t>
            </a:r>
            <a:r>
              <a:rPr sz="3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systems compared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analog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systems</a:t>
            </a:r>
            <a:endParaRPr sz="3200">
              <a:latin typeface="Times New Roman"/>
              <a:cs typeface="Times New Roman"/>
            </a:endParaRPr>
          </a:p>
          <a:p>
            <a:pPr marL="379095" indent="-340995">
              <a:lnSpc>
                <a:spcPct val="100000"/>
              </a:lnSpc>
              <a:spcBef>
                <a:spcPts val="800"/>
              </a:spcBef>
              <a:buChar char="•"/>
              <a:tabLst>
                <a:tab pos="3790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lower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(C/I)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min</a:t>
            </a:r>
            <a:r>
              <a:rPr sz="24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imply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capacity</a:t>
            </a:r>
            <a:endParaRPr sz="3200">
              <a:latin typeface="Times New Roman"/>
              <a:cs typeface="Times New Roman"/>
            </a:endParaRPr>
          </a:p>
          <a:p>
            <a:pPr marL="379095" indent="-340995">
              <a:lnSpc>
                <a:spcPct val="100000"/>
              </a:lnSpc>
              <a:spcBef>
                <a:spcPts val="815"/>
              </a:spcBef>
              <a:buChar char="•"/>
              <a:tabLst>
                <a:tab pos="3790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exact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values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real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world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conditions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measured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Compare</a:t>
            </a:r>
            <a:r>
              <a:rPr sz="3600" b="0" u="none" spc="-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different</a:t>
            </a:r>
            <a:r>
              <a:rPr sz="3600" b="0" u="none" spc="-6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Systems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8" y="2079447"/>
            <a:ext cx="7515859" cy="317202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330" marR="210820" indent="-342265">
              <a:lnSpc>
                <a:spcPct val="100000"/>
              </a:lnSpc>
              <a:spcBef>
                <a:spcPts val="95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digital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wireless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standard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has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different (C/I)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min</a:t>
            </a:r>
            <a:endParaRPr sz="24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compare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them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equivalent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(C/I)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needed</a:t>
            </a:r>
            <a:endParaRPr sz="3200">
              <a:latin typeface="Times New Roman"/>
              <a:cs typeface="Times New Roman"/>
            </a:endParaRPr>
          </a:p>
          <a:p>
            <a:pPr marL="354330" marR="1115695" indent="-342265">
              <a:lnSpc>
                <a:spcPct val="100000"/>
              </a:lnSpc>
              <a:spcBef>
                <a:spcPts val="790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keep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total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spectrum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allocation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rario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per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m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constant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get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(C/I)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eq</a:t>
            </a:r>
            <a:r>
              <a:rPr sz="24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Compare</a:t>
            </a:r>
            <a:r>
              <a:rPr sz="3600" b="0" u="none" spc="-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different</a:t>
            </a:r>
            <a:r>
              <a:rPr sz="3600" b="0" u="none" spc="-6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Systems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8" y="3197530"/>
            <a:ext cx="7979409" cy="3377206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894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4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bandwidth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particular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(C/I)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min</a:t>
            </a:r>
            <a:r>
              <a:rPr sz="24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tolerable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value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3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endParaRPr sz="3200">
              <a:latin typeface="Times New Roman"/>
              <a:cs typeface="Times New Roman"/>
            </a:endParaRPr>
          </a:p>
          <a:p>
            <a:pPr marL="354330" marR="1026794" indent="-342265">
              <a:lnSpc>
                <a:spcPct val="100000"/>
              </a:lnSpc>
              <a:spcBef>
                <a:spcPts val="795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bandwidth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different system</a:t>
            </a:r>
            <a:endParaRPr sz="3200">
              <a:latin typeface="Times New Roman"/>
              <a:cs typeface="Times New Roman"/>
            </a:endParaRPr>
          </a:p>
          <a:p>
            <a:pPr marL="354330" marR="76835" indent="-342265">
              <a:lnSpc>
                <a:spcPct val="100000"/>
              </a:lnSpc>
              <a:spcBef>
                <a:spcPts val="815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(C/I)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eq</a:t>
            </a:r>
            <a:r>
              <a:rPr sz="2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minimum</a:t>
            </a:r>
            <a:r>
              <a:rPr sz="3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C/I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value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32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different system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051304" y="1746506"/>
            <a:ext cx="5041900" cy="1384300"/>
            <a:chOff x="2051304" y="1746504"/>
            <a:chExt cx="5041900" cy="1384300"/>
          </a:xfrm>
        </p:grpSpPr>
        <p:sp>
          <p:nvSpPr>
            <p:cNvPr id="18" name="object 18"/>
            <p:cNvSpPr/>
            <p:nvPr/>
          </p:nvSpPr>
          <p:spPr>
            <a:xfrm>
              <a:off x="2057400" y="1752600"/>
              <a:ext cx="5029200" cy="1371600"/>
            </a:xfrm>
            <a:custGeom>
              <a:avLst/>
              <a:gdLst/>
              <a:ahLst/>
              <a:cxnLst/>
              <a:rect l="l" t="t" r="r" b="b"/>
              <a:pathLst>
                <a:path w="5029200" h="1371600">
                  <a:moveTo>
                    <a:pt x="5029200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5029200" y="1371600"/>
                  </a:lnTo>
                  <a:lnTo>
                    <a:pt x="5029200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057400" y="1752600"/>
              <a:ext cx="5029200" cy="1371600"/>
            </a:xfrm>
            <a:custGeom>
              <a:avLst/>
              <a:gdLst/>
              <a:ahLst/>
              <a:cxnLst/>
              <a:rect l="l" t="t" r="r" b="b"/>
              <a:pathLst>
                <a:path w="5029200" h="1371600">
                  <a:moveTo>
                    <a:pt x="0" y="1371600"/>
                  </a:moveTo>
                  <a:lnTo>
                    <a:pt x="5029200" y="1371600"/>
                  </a:lnTo>
                  <a:lnTo>
                    <a:pt x="5029200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681604" y="2461337"/>
            <a:ext cx="379666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1676400" algn="l"/>
                <a:tab pos="3277235" algn="l"/>
              </a:tabLst>
            </a:pP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c’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99004" y="2003885"/>
            <a:ext cx="111379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854710" algn="l"/>
              </a:tabLst>
            </a:pPr>
            <a:r>
              <a:rPr sz="4800" baseline="-25173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4800" spc="-345" baseline="-2517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u="sng" spc="5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32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3200" u="none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800" u="none" baseline="-25173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4800" baseline="-25173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570985" y="2033984"/>
            <a:ext cx="134239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406400" algn="l"/>
                <a:tab pos="1158875" algn="l"/>
              </a:tabLst>
            </a:pPr>
            <a:r>
              <a:rPr sz="4800" spc="-75" baseline="-26909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4800" baseline="-26909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4800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3200" u="sng" spc="5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32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4800" u="none" spc="-75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4800" baseline="-20833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15389" y="2540889"/>
            <a:ext cx="208978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600200" algn="l"/>
              </a:tabLst>
            </a:pP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eq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min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47898" y="1957782"/>
            <a:ext cx="161480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4800" baseline="-47743" dirty="0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sz="4800" spc="-15" baseline="-4774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800" baseline="-26909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4800" spc="-359" baseline="-269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u="sng" spc="5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B</a:t>
            </a:r>
            <a:r>
              <a:rPr sz="2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2400" u="sng" spc="3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none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800" u="none" spc="-37" baseline="-31250" dirty="0">
                <a:solidFill>
                  <a:srgbClr val="FFFFFF"/>
                </a:solidFill>
                <a:latin typeface="Times New Roman"/>
                <a:cs typeface="Times New Roman"/>
              </a:rPr>
              <a:t>)²</a:t>
            </a:r>
            <a:endParaRPr sz="4800" baseline="-3125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C/I</a:t>
            </a:r>
            <a:r>
              <a:rPr sz="3600" b="0" u="none" spc="-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in</a:t>
            </a:r>
            <a:r>
              <a:rPr sz="3600" b="0" u="none" spc="-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digital</a:t>
            </a:r>
            <a:r>
              <a:rPr sz="3600" b="0" u="none" spc="-3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cellular</a:t>
            </a:r>
            <a:r>
              <a:rPr sz="3600" b="0" u="none" spc="-3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systems</a:t>
            </a:r>
            <a:endParaRPr sz="36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127504" y="1822706"/>
            <a:ext cx="4737100" cy="1612901"/>
            <a:chOff x="2127504" y="1822704"/>
            <a:chExt cx="4737100" cy="1612900"/>
          </a:xfrm>
        </p:grpSpPr>
        <p:sp>
          <p:nvSpPr>
            <p:cNvPr id="17" name="object 17"/>
            <p:cNvSpPr/>
            <p:nvPr/>
          </p:nvSpPr>
          <p:spPr>
            <a:xfrm>
              <a:off x="2133600" y="1828800"/>
              <a:ext cx="4724400" cy="1600200"/>
            </a:xfrm>
            <a:custGeom>
              <a:avLst/>
              <a:gdLst/>
              <a:ahLst/>
              <a:cxnLst/>
              <a:rect l="l" t="t" r="r" b="b"/>
              <a:pathLst>
                <a:path w="4724400" h="1600200">
                  <a:moveTo>
                    <a:pt x="4724400" y="0"/>
                  </a:moveTo>
                  <a:lnTo>
                    <a:pt x="0" y="0"/>
                  </a:lnTo>
                  <a:lnTo>
                    <a:pt x="0" y="1600200"/>
                  </a:lnTo>
                  <a:lnTo>
                    <a:pt x="4724400" y="1600200"/>
                  </a:lnTo>
                  <a:lnTo>
                    <a:pt x="4724400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133600" y="1828800"/>
              <a:ext cx="4724400" cy="1600200"/>
            </a:xfrm>
            <a:custGeom>
              <a:avLst/>
              <a:gdLst/>
              <a:ahLst/>
              <a:cxnLst/>
              <a:rect l="l" t="t" r="r" b="b"/>
              <a:pathLst>
                <a:path w="4724400" h="1600200">
                  <a:moveTo>
                    <a:pt x="0" y="1600200"/>
                  </a:moveTo>
                  <a:lnTo>
                    <a:pt x="4724400" y="1600200"/>
                  </a:lnTo>
                  <a:lnTo>
                    <a:pt x="4724400" y="0"/>
                  </a:lnTo>
                  <a:lnTo>
                    <a:pt x="0" y="0"/>
                  </a:lnTo>
                  <a:lnTo>
                    <a:pt x="0" y="160020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14600" y="2667000"/>
              <a:ext cx="3810000" cy="3175"/>
            </a:xfrm>
            <a:custGeom>
              <a:avLst/>
              <a:gdLst/>
              <a:ahLst/>
              <a:cxnLst/>
              <a:rect l="l" t="t" r="r" b="b"/>
              <a:pathLst>
                <a:path w="3810000" h="3175">
                  <a:moveTo>
                    <a:pt x="0" y="0"/>
                  </a:moveTo>
                  <a:lnTo>
                    <a:pt x="533400" y="3048"/>
                  </a:lnTo>
                </a:path>
                <a:path w="3810000" h="3175">
                  <a:moveTo>
                    <a:pt x="990600" y="0"/>
                  </a:moveTo>
                  <a:lnTo>
                    <a:pt x="2209800" y="3048"/>
                  </a:lnTo>
                </a:path>
                <a:path w="3810000" h="3175">
                  <a:moveTo>
                    <a:pt x="2667000" y="0"/>
                  </a:moveTo>
                  <a:lnTo>
                    <a:pt x="3810000" y="3048"/>
                  </a:lnTo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65458" y="2080084"/>
            <a:ext cx="5440045" cy="41415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15795">
              <a:lnSpc>
                <a:spcPts val="3120"/>
              </a:lnSpc>
              <a:spcBef>
                <a:spcPts val="95"/>
              </a:spcBef>
              <a:tabLst>
                <a:tab pos="2797175" algn="l"/>
                <a:tab pos="4434205" algn="l"/>
              </a:tabLst>
            </a:pP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*R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*R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  <a:p>
            <a:pPr marL="2373630">
              <a:lnSpc>
                <a:spcPts val="2520"/>
              </a:lnSpc>
              <a:tabLst>
                <a:tab pos="4050029" algn="l"/>
              </a:tabLst>
            </a:pP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4800" spc="-75" baseline="-434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4800" baseline="-4340">
              <a:latin typeface="Times New Roman"/>
              <a:cs typeface="Times New Roman"/>
            </a:endParaRPr>
          </a:p>
          <a:p>
            <a:pPr marL="1991995">
              <a:lnSpc>
                <a:spcPts val="3240"/>
              </a:lnSpc>
              <a:tabLst>
                <a:tab pos="3248025" algn="l"/>
                <a:tab pos="4909820" algn="l"/>
              </a:tabLst>
            </a:pP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39"/>
              </a:spcBef>
            </a:pP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bit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rate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energy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per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bit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0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4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rate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code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819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4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energy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per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code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symbol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C/I</a:t>
            </a:r>
            <a:r>
              <a:rPr sz="3600" b="0" u="none" spc="-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in</a:t>
            </a:r>
            <a:r>
              <a:rPr sz="3600" b="0" u="none" spc="-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digital</a:t>
            </a:r>
            <a:r>
              <a:rPr sz="3600" b="0" u="none" spc="-3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cellular</a:t>
            </a:r>
            <a:r>
              <a:rPr sz="3600" b="0" u="none" spc="-3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systems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8" y="2079449"/>
            <a:ext cx="491680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combine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last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equations: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594103" y="3118104"/>
            <a:ext cx="6261100" cy="1536700"/>
            <a:chOff x="1594103" y="3118104"/>
            <a:chExt cx="6261100" cy="1536700"/>
          </a:xfrm>
        </p:grpSpPr>
        <p:sp>
          <p:nvSpPr>
            <p:cNvPr id="18" name="object 18"/>
            <p:cNvSpPr/>
            <p:nvPr/>
          </p:nvSpPr>
          <p:spPr>
            <a:xfrm>
              <a:off x="1600199" y="3124200"/>
              <a:ext cx="6248400" cy="1524000"/>
            </a:xfrm>
            <a:custGeom>
              <a:avLst/>
              <a:gdLst/>
              <a:ahLst/>
              <a:cxnLst/>
              <a:rect l="l" t="t" r="r" b="b"/>
              <a:pathLst>
                <a:path w="6248400" h="1524000">
                  <a:moveTo>
                    <a:pt x="6248400" y="0"/>
                  </a:moveTo>
                  <a:lnTo>
                    <a:pt x="0" y="0"/>
                  </a:lnTo>
                  <a:lnTo>
                    <a:pt x="0" y="1524000"/>
                  </a:lnTo>
                  <a:lnTo>
                    <a:pt x="6248400" y="1524000"/>
                  </a:lnTo>
                  <a:lnTo>
                    <a:pt x="6248400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600199" y="3124200"/>
              <a:ext cx="6248400" cy="1524000"/>
            </a:xfrm>
            <a:custGeom>
              <a:avLst/>
              <a:gdLst/>
              <a:ahLst/>
              <a:cxnLst/>
              <a:rect l="l" t="t" r="r" b="b"/>
              <a:pathLst>
                <a:path w="6248400" h="1524000">
                  <a:moveTo>
                    <a:pt x="0" y="1524000"/>
                  </a:moveTo>
                  <a:lnTo>
                    <a:pt x="6248400" y="1524000"/>
                  </a:lnTo>
                  <a:lnTo>
                    <a:pt x="6248400" y="0"/>
                  </a:lnTo>
                  <a:lnTo>
                    <a:pt x="0" y="0"/>
                  </a:lnTo>
                  <a:lnTo>
                    <a:pt x="0" y="152400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81199" y="3886200"/>
              <a:ext cx="5181600" cy="3175"/>
            </a:xfrm>
            <a:custGeom>
              <a:avLst/>
              <a:gdLst/>
              <a:ahLst/>
              <a:cxnLst/>
              <a:rect l="l" t="t" r="r" b="b"/>
              <a:pathLst>
                <a:path w="5181600" h="3175">
                  <a:moveTo>
                    <a:pt x="0" y="0"/>
                  </a:moveTo>
                  <a:lnTo>
                    <a:pt x="1295400" y="3048"/>
                  </a:lnTo>
                </a:path>
                <a:path w="5181600" h="3175">
                  <a:moveTo>
                    <a:pt x="1752600" y="0"/>
                  </a:moveTo>
                  <a:lnTo>
                    <a:pt x="3810000" y="3048"/>
                  </a:lnTo>
                </a:path>
                <a:path w="5181600" h="3175">
                  <a:moveTo>
                    <a:pt x="4495800" y="0"/>
                  </a:moveTo>
                  <a:lnTo>
                    <a:pt x="5181600" y="3048"/>
                  </a:lnTo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046608" y="3222865"/>
            <a:ext cx="5113655" cy="11553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30480" indent="76200">
              <a:lnSpc>
                <a:spcPct val="115599"/>
              </a:lnSpc>
              <a:spcBef>
                <a:spcPts val="100"/>
              </a:spcBef>
              <a:tabLst>
                <a:tab pos="1320800" algn="l"/>
                <a:tab pos="1811655" algn="l"/>
                <a:tab pos="1903730" algn="l"/>
                <a:tab pos="3912235" algn="l"/>
                <a:tab pos="4531995" algn="l"/>
              </a:tabLst>
            </a:pP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(C/I)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			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(E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*R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)/I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		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’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(C/I)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eq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4800" spc="-75" baseline="3559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4800" baseline="3559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(E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’*R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’)/I’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4800" baseline="3559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4800" spc="577" baseline="355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800" baseline="3559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4800" spc="-270" baseline="355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239258" y="3605276"/>
            <a:ext cx="268605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)²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41654" y="5205480"/>
            <a:ext cx="6040120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4330" marR="5080" indent="-342265">
              <a:lnSpc>
                <a:spcPct val="100000"/>
              </a:lnSpc>
              <a:spcBef>
                <a:spcPts val="90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sign</a:t>
            </a:r>
            <a:r>
              <a:rPr sz="32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‘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marks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compared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system parameters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C/I</a:t>
            </a:r>
            <a:r>
              <a:rPr sz="3600" b="0" u="none" spc="-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in</a:t>
            </a:r>
            <a:r>
              <a:rPr sz="3600" b="0" u="none" spc="-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digital</a:t>
            </a:r>
            <a:r>
              <a:rPr sz="3600" b="0" u="none" spc="-3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cellular</a:t>
            </a:r>
            <a:r>
              <a:rPr sz="3600" b="0" u="none" spc="-3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systems</a:t>
            </a:r>
            <a:endParaRPr sz="36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889504" y="4642103"/>
            <a:ext cx="2298700" cy="1308099"/>
            <a:chOff x="2889504" y="4642103"/>
            <a:chExt cx="2298700" cy="1308100"/>
          </a:xfrm>
        </p:grpSpPr>
        <p:sp>
          <p:nvSpPr>
            <p:cNvPr id="17" name="object 17"/>
            <p:cNvSpPr/>
            <p:nvPr/>
          </p:nvSpPr>
          <p:spPr>
            <a:xfrm>
              <a:off x="2895600" y="4648199"/>
              <a:ext cx="2286000" cy="1295400"/>
            </a:xfrm>
            <a:custGeom>
              <a:avLst/>
              <a:gdLst/>
              <a:ahLst/>
              <a:cxnLst/>
              <a:rect l="l" t="t" r="r" b="b"/>
              <a:pathLst>
                <a:path w="2286000" h="1295400">
                  <a:moveTo>
                    <a:pt x="22860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2286000" y="12954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895600" y="4648199"/>
              <a:ext cx="2286000" cy="1295400"/>
            </a:xfrm>
            <a:custGeom>
              <a:avLst/>
              <a:gdLst/>
              <a:ahLst/>
              <a:cxnLst/>
              <a:rect l="l" t="t" r="r" b="b"/>
              <a:pathLst>
                <a:path w="2286000" h="1295400">
                  <a:moveTo>
                    <a:pt x="0" y="1295400"/>
                  </a:moveTo>
                  <a:lnTo>
                    <a:pt x="2286000" y="1295400"/>
                  </a:lnTo>
                  <a:lnTo>
                    <a:pt x="2286000" y="0"/>
                  </a:lnTo>
                  <a:lnTo>
                    <a:pt x="0" y="0"/>
                  </a:lnTo>
                  <a:lnTo>
                    <a:pt x="0" y="129540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52758" y="2003552"/>
            <a:ext cx="7211695" cy="385490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67030" marR="17780" indent="-342265">
              <a:lnSpc>
                <a:spcPct val="100000"/>
              </a:lnSpc>
              <a:spcBef>
                <a:spcPts val="90"/>
              </a:spcBef>
              <a:buChar char="•"/>
              <a:tabLst>
                <a:tab pos="3670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Relationship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4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4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always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linear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(R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/R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/B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)</a:t>
            </a:r>
            <a:endParaRPr sz="3200">
              <a:latin typeface="Times New Roman"/>
              <a:cs typeface="Times New Roman"/>
            </a:endParaRPr>
          </a:p>
          <a:p>
            <a:pPr marL="367030" marR="609600" indent="-342265">
              <a:lnSpc>
                <a:spcPct val="100000"/>
              </a:lnSpc>
              <a:spcBef>
                <a:spcPts val="795"/>
              </a:spcBef>
              <a:buChar char="•"/>
              <a:tabLst>
                <a:tab pos="3670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assume</a:t>
            </a:r>
            <a:r>
              <a:rPr sz="3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level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32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two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systems</a:t>
            </a:r>
            <a:r>
              <a:rPr sz="32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I’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: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3200">
              <a:latin typeface="Times New Roman"/>
              <a:cs typeface="Times New Roman"/>
            </a:endParaRPr>
          </a:p>
          <a:p>
            <a:pPr marL="2386330" marR="2885440">
              <a:lnSpc>
                <a:spcPct val="71900"/>
              </a:lnSpc>
              <a:tabLst>
                <a:tab pos="3512185" algn="l"/>
              </a:tabLst>
            </a:pPr>
            <a:r>
              <a:rPr sz="32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2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2400" u="sng" spc="-9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none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800" u="none" baseline="-16493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4800" u="none" spc="-15" baseline="-1649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800" u="none" baseline="-16493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4800" u="none" spc="-644" baseline="-1649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u="sng" spc="-4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B</a:t>
            </a:r>
            <a:r>
              <a:rPr sz="2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32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’</a:t>
            </a:r>
            <a:r>
              <a:rPr sz="3200" u="none" spc="-4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800" u="none" spc="-37" baseline="-16493" dirty="0">
                <a:solidFill>
                  <a:srgbClr val="FFFFFF"/>
                </a:solidFill>
                <a:latin typeface="Times New Roman"/>
                <a:cs typeface="Times New Roman"/>
              </a:rPr>
              <a:t>)³ </a:t>
            </a:r>
            <a:r>
              <a:rPr sz="3200" u="none" spc="-25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2400" u="none" spc="-25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3200" u="none" spc="-25" dirty="0">
                <a:solidFill>
                  <a:srgbClr val="FFFFFF"/>
                </a:solidFill>
                <a:latin typeface="Times New Roman"/>
                <a:cs typeface="Times New Roman"/>
              </a:rPr>
              <a:t>‘</a:t>
            </a:r>
            <a:r>
              <a:rPr sz="3200" u="none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3200" u="none" spc="-2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u="none" spc="-25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08500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539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425"/>
              </a:spcBef>
              <a:tabLst>
                <a:tab pos="2698115" algn="l"/>
              </a:tabLst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Compare</a:t>
            </a:r>
            <a:r>
              <a:rPr sz="3600" b="0" u="none" spc="-25" dirty="0">
                <a:solidFill>
                  <a:srgbClr val="CACACA"/>
                </a:solidFill>
                <a:latin typeface="Times New Roman"/>
                <a:cs typeface="Times New Roman"/>
              </a:rPr>
              <a:t> C/I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	between</a:t>
            </a:r>
            <a:r>
              <a:rPr sz="3600" b="0" u="none" spc="-5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FDMA</a:t>
            </a:r>
            <a:r>
              <a:rPr sz="3600" b="0" u="none" spc="1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and</a:t>
            </a:r>
            <a:r>
              <a:rPr sz="3600" b="0" u="none" spc="-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20" dirty="0">
                <a:solidFill>
                  <a:srgbClr val="CACACA"/>
                </a:solidFill>
                <a:latin typeface="Times New Roman"/>
                <a:cs typeface="Times New Roman"/>
              </a:rPr>
              <a:t>TDMA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8" y="2003554"/>
            <a:ext cx="7567295" cy="454098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4330" marR="5080" indent="-342265">
              <a:lnSpc>
                <a:spcPct val="100000"/>
              </a:lnSpc>
              <a:spcBef>
                <a:spcPts val="90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Assume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32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multichannel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FDMA</a:t>
            </a:r>
            <a:r>
              <a:rPr sz="3200" spc="-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system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occupies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spectrum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TDMA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605"/>
              </a:spcBef>
              <a:buChar char="•"/>
              <a:tabLst>
                <a:tab pos="353695" algn="l"/>
                <a:tab pos="4286885" algn="l"/>
                <a:tab pos="460375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FDMA</a:t>
            </a:r>
            <a:r>
              <a:rPr sz="3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400" spc="-3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	I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3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24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*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  <a:tab pos="4275455" algn="l"/>
                <a:tab pos="459105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TDMA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C’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R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	I’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24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*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0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Energy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per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bit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819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24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per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Hertz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bit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rate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4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bandwidth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Example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8" y="2003552"/>
            <a:ext cx="7559675" cy="415626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4330" marR="52069" indent="-342265">
              <a:lnSpc>
                <a:spcPct val="100000"/>
              </a:lnSpc>
              <a:spcBef>
                <a:spcPts val="90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FDMA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has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with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bandwidth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10kHz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transmission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rate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kbps.</a:t>
            </a:r>
            <a:endParaRPr sz="3200">
              <a:latin typeface="Times New Roman"/>
              <a:cs typeface="Times New Roman"/>
            </a:endParaRPr>
          </a:p>
          <a:p>
            <a:pPr marL="353060" marR="5080" indent="-340995" algn="just">
              <a:lnSpc>
                <a:spcPct val="100000"/>
              </a:lnSpc>
              <a:spcBef>
                <a:spcPts val="800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TDMA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has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32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slots,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 	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bandwidth</a:t>
            </a:r>
            <a:r>
              <a:rPr sz="3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30kHz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transmission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rate 	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30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kbps.</a:t>
            </a:r>
            <a:endParaRPr sz="3200">
              <a:latin typeface="Times New Roman"/>
              <a:cs typeface="Times New Roman"/>
            </a:endParaRPr>
          </a:p>
          <a:p>
            <a:pPr marL="353060" marR="260350" indent="-340995" algn="just">
              <a:lnSpc>
                <a:spcPct val="100000"/>
              </a:lnSpc>
              <a:spcBef>
                <a:spcPts val="795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What’s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received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carrier-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to-interference 	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ratio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?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Example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4" y="2003554"/>
            <a:ext cx="6788150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90"/>
              </a:spcBef>
              <a:buChar char="•"/>
              <a:tabLst>
                <a:tab pos="353695" algn="l"/>
                <a:tab pos="219456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TDMA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	system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C’/I’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measured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endParaRPr sz="3200">
              <a:latin typeface="Times New Roman"/>
              <a:cs typeface="Times New Roman"/>
            </a:endParaRPr>
          </a:p>
          <a:p>
            <a:pPr marL="354330">
              <a:lnSpc>
                <a:spcPct val="100000"/>
              </a:lnSpc>
              <a:spcBef>
                <a:spcPts val="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333.3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ms per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second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slot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200" y="3352800"/>
            <a:ext cx="7924800" cy="1371600"/>
          </a:xfrm>
          <a:custGeom>
            <a:avLst/>
            <a:gdLst/>
            <a:ahLst/>
            <a:cxnLst/>
            <a:rect l="l" t="t" r="r" b="b"/>
            <a:pathLst>
              <a:path w="7924800" h="1371600">
                <a:moveTo>
                  <a:pt x="7924800" y="0"/>
                </a:moveTo>
                <a:lnTo>
                  <a:pt x="0" y="0"/>
                </a:lnTo>
                <a:lnTo>
                  <a:pt x="0" y="1371600"/>
                </a:lnTo>
                <a:lnTo>
                  <a:pt x="7924800" y="1371600"/>
                </a:lnTo>
                <a:lnTo>
                  <a:pt x="7924800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38200" y="3352802"/>
            <a:ext cx="7924800" cy="1113765"/>
          </a:xfrm>
          <a:prstGeom prst="rect">
            <a:avLst/>
          </a:prstGeom>
          <a:ln w="12192">
            <a:solidFill>
              <a:srgbClr val="FFFFFF"/>
            </a:solidFill>
          </a:ln>
        </p:spPr>
        <p:txBody>
          <a:bodyPr vert="horz" wrap="square" lIns="0" tIns="249554" rIns="0" bIns="0" rtlCol="0">
            <a:spAutoFit/>
          </a:bodyPr>
          <a:lstStyle/>
          <a:p>
            <a:pPr marL="1859280" marR="214629" indent="-1637030">
              <a:lnSpc>
                <a:spcPct val="100000"/>
              </a:lnSpc>
              <a:spcBef>
                <a:spcPts val="1964"/>
              </a:spcBef>
            </a:pPr>
            <a:r>
              <a:rPr sz="2800" u="sng" spc="-6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C’</a:t>
            </a:r>
            <a:r>
              <a:rPr sz="2800" u="none" spc="-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u="none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800" u="none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u="none" spc="-1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2400" u="none" spc="-1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800" u="none" spc="-10" dirty="0">
                <a:solidFill>
                  <a:srgbClr val="FFFFFF"/>
                </a:solidFill>
                <a:latin typeface="Times New Roman"/>
                <a:cs typeface="Times New Roman"/>
              </a:rPr>
              <a:t>*R</a:t>
            </a:r>
            <a:r>
              <a:rPr sz="2400" u="none" spc="-1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800" u="none" spc="-10" dirty="0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sz="2800" u="none" spc="-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u="none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800" u="none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u="none" dirty="0">
                <a:solidFill>
                  <a:srgbClr val="FFFFFF"/>
                </a:solidFill>
                <a:latin typeface="Times New Roman"/>
                <a:cs typeface="Times New Roman"/>
              </a:rPr>
              <a:t>1/3*(E</a:t>
            </a:r>
            <a:r>
              <a:rPr sz="2400" u="none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800" u="none" dirty="0">
                <a:solidFill>
                  <a:srgbClr val="FFFFFF"/>
                </a:solidFill>
                <a:latin typeface="Times New Roman"/>
                <a:cs typeface="Times New Roman"/>
              </a:rPr>
              <a:t>*10</a:t>
            </a:r>
            <a:r>
              <a:rPr sz="2400" u="none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2800" u="none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sz="2800" u="none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u="none" dirty="0">
                <a:solidFill>
                  <a:srgbClr val="FFFFFF"/>
                </a:solidFill>
                <a:latin typeface="Times New Roman"/>
                <a:cs typeface="Times New Roman"/>
              </a:rPr>
              <a:t>bits)</a:t>
            </a:r>
            <a:r>
              <a:rPr sz="2800" u="none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u="none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800" u="none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u="none" spc="-35" dirty="0">
                <a:solidFill>
                  <a:srgbClr val="FFFFFF"/>
                </a:solidFill>
                <a:latin typeface="Times New Roman"/>
                <a:cs typeface="Times New Roman"/>
              </a:rPr>
              <a:t>3*R</a:t>
            </a:r>
            <a:r>
              <a:rPr sz="2400" u="none" spc="-3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800" u="none" spc="-35" dirty="0">
                <a:solidFill>
                  <a:srgbClr val="FFFFFF"/>
                </a:solidFill>
                <a:latin typeface="Times New Roman"/>
                <a:cs typeface="Times New Roman"/>
              </a:rPr>
              <a:t>*E</a:t>
            </a:r>
            <a:r>
              <a:rPr sz="2400" u="none" spc="-3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800" u="none" spc="-35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800" u="sng" spc="-4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3*C</a:t>
            </a:r>
            <a:r>
              <a:rPr sz="2800" u="sng" spc="-1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none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u="none" spc="-10" dirty="0">
                <a:solidFill>
                  <a:srgbClr val="FFFFFF"/>
                </a:solidFill>
                <a:latin typeface="Times New Roman"/>
                <a:cs typeface="Times New Roman"/>
              </a:rPr>
              <a:t>I’</a:t>
            </a:r>
            <a:r>
              <a:rPr sz="2800" u="none" spc="-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u="none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800" u="none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u="none" spc="-10" dirty="0">
                <a:solidFill>
                  <a:srgbClr val="FFFFFF"/>
                </a:solidFill>
                <a:latin typeface="Times New Roman"/>
                <a:cs typeface="Times New Roman"/>
              </a:rPr>
              <a:t>I0*Bc’</a:t>
            </a:r>
            <a:r>
              <a:rPr sz="2800" u="none" spc="-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u="none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800" u="none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u="none" dirty="0">
                <a:solidFill>
                  <a:srgbClr val="FFFFFF"/>
                </a:solidFill>
                <a:latin typeface="Times New Roman"/>
                <a:cs typeface="Times New Roman"/>
              </a:rPr>
              <a:t>I0*30kHz</a:t>
            </a:r>
            <a:r>
              <a:rPr sz="2800" u="none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u="none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800" u="none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u="none" spc="-25" dirty="0">
                <a:solidFill>
                  <a:srgbClr val="FFFFFF"/>
                </a:solidFill>
                <a:latin typeface="Times New Roman"/>
                <a:cs typeface="Times New Roman"/>
              </a:rPr>
              <a:t>3*I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590800" y="4495802"/>
            <a:ext cx="4419600" cy="3175"/>
          </a:xfrm>
          <a:custGeom>
            <a:avLst/>
            <a:gdLst/>
            <a:ahLst/>
            <a:cxnLst/>
            <a:rect l="l" t="t" r="r" b="b"/>
            <a:pathLst>
              <a:path w="4419600" h="3175">
                <a:moveTo>
                  <a:pt x="0" y="0"/>
                </a:moveTo>
                <a:lnTo>
                  <a:pt x="304800" y="3048"/>
                </a:lnTo>
              </a:path>
              <a:path w="4419600" h="3175">
                <a:moveTo>
                  <a:pt x="3810000" y="0"/>
                </a:moveTo>
                <a:lnTo>
                  <a:pt x="4419600" y="3048"/>
                </a:lnTo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65454" y="5052517"/>
            <a:ext cx="7550150" cy="9970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330" marR="5080" indent="-342265">
              <a:lnSpc>
                <a:spcPct val="100000"/>
              </a:lnSpc>
              <a:spcBef>
                <a:spcPts val="95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32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FDMA</a:t>
            </a:r>
            <a:r>
              <a:rPr sz="3200" spc="-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TDMA</a:t>
            </a:r>
            <a:r>
              <a:rPr sz="3200" spc="-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have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radio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capacity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(C/I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leads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m)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Example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8" y="2003552"/>
            <a:ext cx="7553325" cy="20839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4330" marR="5080" indent="-342265">
              <a:lnSpc>
                <a:spcPct val="100000"/>
              </a:lnSpc>
              <a:spcBef>
                <a:spcPts val="90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Peak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TDMA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10logk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higher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then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FDMA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time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slots)</a:t>
            </a:r>
            <a:endParaRPr sz="3200">
              <a:latin typeface="Times New Roman"/>
              <a:cs typeface="Times New Roman"/>
            </a:endParaRPr>
          </a:p>
          <a:p>
            <a:pPr marL="354330" marR="383540" indent="-342265">
              <a:lnSpc>
                <a:spcPct val="100000"/>
              </a:lnSpc>
              <a:spcBef>
                <a:spcPts val="795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practice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TDMA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have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3-6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times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better capacity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Capacity</a:t>
            </a:r>
            <a:r>
              <a:rPr sz="3600" b="0" u="none" spc="-5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of</a:t>
            </a:r>
            <a:r>
              <a:rPr sz="3600" b="0" u="none" spc="-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SDMA</a:t>
            </a:r>
            <a:r>
              <a:rPr sz="3600" b="0" u="none" spc="1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systems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8" y="1901494"/>
            <a:ext cx="7132955" cy="397224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894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beam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station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tracks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moves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adaptive</a:t>
            </a:r>
            <a:r>
              <a:rPr sz="32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antennas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most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powerful</a:t>
            </a:r>
            <a:r>
              <a:rPr sz="32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form</a:t>
            </a:r>
            <a:endParaRPr sz="3200">
              <a:latin typeface="Times New Roman"/>
              <a:cs typeface="Times New Roman"/>
            </a:endParaRPr>
          </a:p>
          <a:p>
            <a:pPr marL="354330" marR="5080" indent="-342265">
              <a:lnSpc>
                <a:spcPct val="100000"/>
              </a:lnSpc>
              <a:spcBef>
                <a:spcPts val="815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beam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pattern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G(</a:t>
            </a:r>
            <a:r>
              <a:rPr sz="3200" dirty="0">
                <a:solidFill>
                  <a:srgbClr val="FFFFFF"/>
                </a:solidFill>
                <a:latin typeface="Wingdings"/>
                <a:cs typeface="Wingdings"/>
              </a:rPr>
              <a:t>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has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maximum</a:t>
            </a:r>
            <a:r>
              <a:rPr sz="3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gain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in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direction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desired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endParaRPr sz="3200">
              <a:latin typeface="Times New Roman"/>
              <a:cs typeface="Times New Roman"/>
            </a:endParaRPr>
          </a:p>
          <a:p>
            <a:pPr marL="354330" marR="437515" indent="-342265">
              <a:lnSpc>
                <a:spcPct val="100000"/>
              </a:lnSpc>
              <a:spcBef>
                <a:spcPts val="795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beam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formed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N-element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adaptive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array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antenna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Capacity</a:t>
            </a:r>
            <a:r>
              <a:rPr sz="3600" b="0" u="none" spc="-5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of</a:t>
            </a:r>
            <a:r>
              <a:rPr sz="3600" b="0" u="none" spc="-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SDMA</a:t>
            </a:r>
            <a:r>
              <a:rPr sz="3600" b="0" u="none" spc="1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systems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9258" y="2003552"/>
            <a:ext cx="7687309" cy="3670492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53060" marR="767080" indent="-340995" algn="just">
              <a:lnSpc>
                <a:spcPct val="100699"/>
              </a:lnSpc>
              <a:spcBef>
                <a:spcPts val="65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G(</a:t>
            </a:r>
            <a:r>
              <a:rPr sz="3200" dirty="0">
                <a:solidFill>
                  <a:srgbClr val="FFFFFF"/>
                </a:solidFill>
                <a:latin typeface="Wingdings"/>
                <a:cs typeface="Wingdings"/>
              </a:rPr>
              <a:t>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steered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horizontal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Wingdings"/>
                <a:cs typeface="Wingdings"/>
              </a:rPr>
              <a:t>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-plane 	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through</a:t>
            </a:r>
            <a:r>
              <a:rPr sz="32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360</a:t>
            </a:r>
            <a:r>
              <a:rPr sz="3200" spc="-20" dirty="0">
                <a:solidFill>
                  <a:srgbClr val="FFFFFF"/>
                </a:solidFill>
                <a:latin typeface="MS PGothic"/>
                <a:cs typeface="MS PGothic"/>
              </a:rPr>
              <a:t>°</a:t>
            </a:r>
            <a:endParaRPr sz="3200">
              <a:latin typeface="MS PGothic"/>
              <a:cs typeface="MS PGothic"/>
            </a:endParaRPr>
          </a:p>
          <a:p>
            <a:pPr marL="353060" marR="5080" indent="-340995" algn="just">
              <a:lnSpc>
                <a:spcPct val="100000"/>
              </a:lnSpc>
              <a:spcBef>
                <a:spcPts val="765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G(</a:t>
            </a:r>
            <a:r>
              <a:rPr sz="3200" dirty="0">
                <a:solidFill>
                  <a:srgbClr val="FFFFFF"/>
                </a:solidFill>
                <a:latin typeface="Wingdings"/>
                <a:cs typeface="Wingdings"/>
              </a:rPr>
              <a:t>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has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variation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elevation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plane 	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account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near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far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	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station</a:t>
            </a:r>
            <a:endParaRPr sz="3200">
              <a:latin typeface="Times New Roman"/>
              <a:cs typeface="Times New Roman"/>
            </a:endParaRPr>
          </a:p>
          <a:p>
            <a:pPr marL="353060" marR="1029335" indent="-340995" algn="just">
              <a:lnSpc>
                <a:spcPct val="100000"/>
              </a:lnSpc>
              <a:spcBef>
                <a:spcPts val="800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following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picture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shows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60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degree 	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beamwidth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dB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sideslope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level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Capacity</a:t>
            </a:r>
            <a:r>
              <a:rPr sz="3600" b="0" u="none" spc="-5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of</a:t>
            </a:r>
            <a:r>
              <a:rPr sz="3600" b="0" u="none" spc="-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SDMA</a:t>
            </a:r>
            <a:r>
              <a:rPr sz="3600" b="0" u="none" spc="1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systems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35479" y="1941578"/>
            <a:ext cx="5227320" cy="42306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Capacity</a:t>
            </a:r>
            <a:r>
              <a:rPr sz="3600" b="0" u="none" spc="-5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of</a:t>
            </a:r>
            <a:r>
              <a:rPr sz="3600" b="0" u="none" spc="-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SDMA</a:t>
            </a:r>
            <a:r>
              <a:rPr sz="3600" b="0" u="none" spc="1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systems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4" y="2231847"/>
            <a:ext cx="7462520" cy="314637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330" marR="532765" indent="-342265">
              <a:lnSpc>
                <a:spcPct val="100000"/>
              </a:lnSpc>
              <a:spcBef>
                <a:spcPts val="95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reverse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link</a:t>
            </a:r>
            <a:r>
              <a:rPr sz="32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received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power,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from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desired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mobiles,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r;0</a:t>
            </a:r>
            <a:endParaRPr sz="2400">
              <a:latin typeface="Times New Roman"/>
              <a:cs typeface="Times New Roman"/>
            </a:endParaRPr>
          </a:p>
          <a:p>
            <a:pPr marL="354330" marR="104139" indent="-342265">
              <a:lnSpc>
                <a:spcPct val="100000"/>
              </a:lnSpc>
              <a:spcBef>
                <a:spcPts val="605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interfering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users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1,…,k-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have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received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r;I</a:t>
            </a:r>
            <a:endParaRPr sz="2400">
              <a:latin typeface="Times New Roman"/>
              <a:cs typeface="Times New Roman"/>
            </a:endParaRPr>
          </a:p>
          <a:p>
            <a:pPr marL="354330" marR="5080" indent="-342265">
              <a:lnSpc>
                <a:spcPct val="100000"/>
              </a:lnSpc>
              <a:spcBef>
                <a:spcPts val="790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average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total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seen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single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desired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user: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Capacity</a:t>
            </a:r>
            <a:r>
              <a:rPr sz="3600" b="0" u="none" spc="-4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of</a:t>
            </a:r>
            <a:r>
              <a:rPr sz="3600" b="0" u="none" spc="-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20" dirty="0">
                <a:solidFill>
                  <a:srgbClr val="CACACA"/>
                </a:solidFill>
                <a:latin typeface="Times New Roman"/>
                <a:cs typeface="Times New Roman"/>
              </a:rPr>
              <a:t>SDMA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4" y="3982287"/>
            <a:ext cx="6752590" cy="17158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330" marR="5080" indent="-342265">
              <a:lnSpc>
                <a:spcPct val="100200"/>
              </a:lnSpc>
              <a:spcBef>
                <a:spcPts val="100"/>
              </a:spcBef>
            </a:pPr>
            <a:r>
              <a:rPr sz="4000" dirty="0">
                <a:solidFill>
                  <a:srgbClr val="FFFFFF"/>
                </a:solidFill>
                <a:latin typeface="Wingdings"/>
                <a:cs typeface="Wingdings"/>
              </a:rPr>
              <a:t>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direction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i-th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horizontal</a:t>
            </a:r>
            <a:r>
              <a:rPr sz="32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plane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expectation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operator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95600" y="2362203"/>
            <a:ext cx="3581400" cy="1025281"/>
          </a:xfrm>
          <a:prstGeom prst="rect">
            <a:avLst/>
          </a:prstGeom>
          <a:solidFill>
            <a:srgbClr val="009999"/>
          </a:solidFill>
          <a:ln w="12192">
            <a:solidFill>
              <a:srgbClr val="FFFFFF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R="560705" algn="ctr">
              <a:lnSpc>
                <a:spcPts val="2145"/>
              </a:lnSpc>
              <a:spcBef>
                <a:spcPts val="295"/>
              </a:spcBef>
            </a:pP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K-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85090">
              <a:lnSpc>
                <a:spcPts val="3354"/>
              </a:lnSpc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Wingdings"/>
                <a:cs typeface="Wingdings"/>
              </a:rPr>
              <a:t>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G(</a:t>
            </a:r>
            <a:r>
              <a:rPr sz="3200" dirty="0">
                <a:solidFill>
                  <a:srgbClr val="FFFFFF"/>
                </a:solidFill>
                <a:latin typeface="Wingdings"/>
                <a:cs typeface="Wingdings"/>
              </a:rPr>
              <a:t>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3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r;I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  <a:p>
            <a:pPr marR="612140" algn="ctr">
              <a:lnSpc>
                <a:spcPts val="2175"/>
              </a:lnSpc>
            </a:pP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i=1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Capacity</a:t>
            </a:r>
            <a:r>
              <a:rPr sz="3600" b="0" u="none" spc="-5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of</a:t>
            </a:r>
            <a:r>
              <a:rPr sz="3600" b="0" u="none" spc="-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SDMA</a:t>
            </a:r>
            <a:r>
              <a:rPr sz="3600" b="0" u="none" spc="1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systems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8" y="1927355"/>
            <a:ext cx="713041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4330" marR="5080" indent="-342265">
              <a:lnSpc>
                <a:spcPct val="100000"/>
              </a:lnSpc>
              <a:spcBef>
                <a:spcPts val="90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case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perfect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control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(received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same)</a:t>
            </a:r>
            <a:r>
              <a:rPr sz="32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71800" y="3200400"/>
            <a:ext cx="2895600" cy="657872"/>
          </a:xfrm>
          <a:prstGeom prst="rect">
            <a:avLst/>
          </a:prstGeom>
          <a:solidFill>
            <a:srgbClr val="009999"/>
          </a:solidFill>
          <a:ln w="12192">
            <a:solidFill>
              <a:srgbClr val="FFFFFF"/>
            </a:solidFill>
          </a:ln>
        </p:spPr>
        <p:txBody>
          <a:bodyPr vert="horz" wrap="square" lIns="0" tIns="163830" rIns="0" bIns="0" rtlCol="0">
            <a:spAutoFit/>
          </a:bodyPr>
          <a:lstStyle/>
          <a:p>
            <a:pPr marL="795655">
              <a:lnSpc>
                <a:spcPct val="100000"/>
              </a:lnSpc>
              <a:spcBef>
                <a:spcPts val="129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r;I</a:t>
            </a:r>
            <a:r>
              <a:rPr sz="24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5458" y="4290138"/>
            <a:ext cx="740219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95"/>
              </a:spcBef>
              <a:buChar char="•"/>
              <a:tabLst>
                <a:tab pos="353695" algn="l"/>
              </a:tabLst>
            </a:pP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Average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seen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0: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67000" y="5181602"/>
            <a:ext cx="3581400" cy="1026563"/>
          </a:xfrm>
          <a:prstGeom prst="rect">
            <a:avLst/>
          </a:prstGeom>
          <a:solidFill>
            <a:srgbClr val="009999"/>
          </a:solidFill>
          <a:ln w="12192">
            <a:solidFill>
              <a:srgbClr val="FFFFF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767839">
              <a:lnSpc>
                <a:spcPts val="2145"/>
              </a:lnSpc>
              <a:spcBef>
                <a:spcPts val="305"/>
              </a:spcBef>
            </a:pP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K-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106680">
              <a:lnSpc>
                <a:spcPts val="3360"/>
              </a:lnSpc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4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Wingdings"/>
                <a:cs typeface="Wingdings"/>
              </a:rPr>
              <a:t></a:t>
            </a:r>
            <a:r>
              <a:rPr sz="3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G(</a:t>
            </a:r>
            <a:r>
              <a:rPr sz="3200" dirty="0">
                <a:solidFill>
                  <a:srgbClr val="FFFFFF"/>
                </a:solidFill>
                <a:latin typeface="Wingdings"/>
                <a:cs typeface="Wingdings"/>
              </a:rPr>
              <a:t>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  <a:p>
            <a:pPr marL="1844039">
              <a:lnSpc>
                <a:spcPts val="2175"/>
              </a:lnSpc>
            </a:pP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i=1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Capacity</a:t>
            </a:r>
            <a:r>
              <a:rPr sz="3600" b="0" u="none" spc="-5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of</a:t>
            </a:r>
            <a:r>
              <a:rPr sz="3600" b="0" u="none" spc="-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SDMA</a:t>
            </a:r>
            <a:r>
              <a:rPr sz="3600" b="0" u="none" spc="1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systems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458" y="2003554"/>
            <a:ext cx="610933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4330" marR="5080" indent="-342265">
              <a:lnSpc>
                <a:spcPct val="100000"/>
              </a:lnSpc>
              <a:spcBef>
                <a:spcPts val="90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users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independently</a:t>
            </a:r>
            <a:r>
              <a:rPr sz="3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identically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distributed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throughout</a:t>
            </a:r>
            <a:r>
              <a:rPr sz="3200" spc="-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cell: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19400" y="3352802"/>
            <a:ext cx="3581400" cy="811761"/>
          </a:xfrm>
          <a:prstGeom prst="rect">
            <a:avLst/>
          </a:prstGeom>
          <a:solidFill>
            <a:srgbClr val="009999"/>
          </a:solidFill>
          <a:ln w="12192">
            <a:solidFill>
              <a:srgbClr val="FFFFFF"/>
            </a:solidFill>
          </a:ln>
        </p:spPr>
        <p:txBody>
          <a:bodyPr vert="horz" wrap="square" lIns="0" tIns="316230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249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3200" spc="-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400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*(k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1) *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1/D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5458" y="4900120"/>
            <a:ext cx="7096125" cy="15921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330" marR="5080" indent="-342265">
              <a:lnSpc>
                <a:spcPct val="100000"/>
              </a:lnSpc>
              <a:spcBef>
                <a:spcPts val="95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directivity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antenna</a:t>
            </a:r>
            <a:r>
              <a:rPr sz="3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given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by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max(G(</a:t>
            </a:r>
            <a:r>
              <a:rPr sz="3200" spc="-10" dirty="0">
                <a:solidFill>
                  <a:srgbClr val="FFFFFF"/>
                </a:solidFill>
                <a:latin typeface="Wingdings"/>
                <a:cs typeface="Wingdings"/>
              </a:rPr>
              <a:t>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))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typ.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3dB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…10dB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2736850" y="2660651"/>
            <a:ext cx="3822700" cy="1384300"/>
            <a:chOff x="2736850" y="2660650"/>
            <a:chExt cx="3822700" cy="1384300"/>
          </a:xfrm>
        </p:grpSpPr>
        <p:sp>
          <p:nvSpPr>
            <p:cNvPr id="16" name="object 16"/>
            <p:cNvSpPr/>
            <p:nvPr/>
          </p:nvSpPr>
          <p:spPr>
            <a:xfrm>
              <a:off x="2743200" y="2667000"/>
              <a:ext cx="3810000" cy="1371600"/>
            </a:xfrm>
            <a:custGeom>
              <a:avLst/>
              <a:gdLst/>
              <a:ahLst/>
              <a:cxnLst/>
              <a:rect l="l" t="t" r="r" b="b"/>
              <a:pathLst>
                <a:path w="3810000" h="1371600">
                  <a:moveTo>
                    <a:pt x="3810000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3810000" y="1371600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43200" y="2667000"/>
              <a:ext cx="3810000" cy="1371600"/>
            </a:xfrm>
            <a:custGeom>
              <a:avLst/>
              <a:gdLst/>
              <a:ahLst/>
              <a:cxnLst/>
              <a:rect l="l" t="t" r="r" b="b"/>
              <a:pathLst>
                <a:path w="3810000" h="1371600">
                  <a:moveTo>
                    <a:pt x="0" y="1371600"/>
                  </a:moveTo>
                  <a:lnTo>
                    <a:pt x="3810000" y="1371600"/>
                  </a:lnTo>
                  <a:lnTo>
                    <a:pt x="3810000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148842" y="3085289"/>
            <a:ext cx="135318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= Q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Capacity</a:t>
            </a:r>
            <a:r>
              <a:rPr sz="3600" b="0" u="none" spc="-5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of</a:t>
            </a:r>
            <a:r>
              <a:rPr sz="3600" b="0" u="none" spc="-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SDMA</a:t>
            </a:r>
            <a:r>
              <a:rPr sz="3600" b="0" u="none" spc="1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systems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5458" y="1851152"/>
            <a:ext cx="6128385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90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Average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bit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error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rate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0: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90694" y="2918918"/>
            <a:ext cx="139319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1219200" algn="l"/>
              </a:tabLst>
            </a:pPr>
            <a:r>
              <a:rPr sz="32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3</a:t>
            </a:r>
            <a:r>
              <a:rPr sz="3200" u="sng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3200" u="sng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200" u="none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4800" u="none" spc="-75" baseline="-22569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4800" baseline="-22569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44698" y="3376119"/>
            <a:ext cx="64325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K-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572000" y="2968751"/>
            <a:ext cx="1371600" cy="768350"/>
          </a:xfrm>
          <a:custGeom>
            <a:avLst/>
            <a:gdLst/>
            <a:ahLst/>
            <a:cxnLst/>
            <a:rect l="l" t="t" r="r" b="b"/>
            <a:pathLst>
              <a:path w="1371600" h="768350">
                <a:moveTo>
                  <a:pt x="0" y="536448"/>
                </a:moveTo>
                <a:lnTo>
                  <a:pt x="76200" y="765048"/>
                </a:lnTo>
              </a:path>
              <a:path w="1371600" h="768350">
                <a:moveTo>
                  <a:pt x="76200" y="768096"/>
                </a:moveTo>
                <a:lnTo>
                  <a:pt x="79248" y="0"/>
                </a:lnTo>
              </a:path>
              <a:path w="1371600" h="768350">
                <a:moveTo>
                  <a:pt x="76200" y="3048"/>
                </a:moveTo>
                <a:lnTo>
                  <a:pt x="1371600" y="6096"/>
                </a:lnTo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65454" y="4112121"/>
            <a:ext cx="5340350" cy="2392321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894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directivity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antenna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Q(x)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standard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Q-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function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spreading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factor</a:t>
            </a:r>
            <a:endParaRPr sz="3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81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number of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users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62004" y="761999"/>
            <a:ext cx="8379459" cy="685444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25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Capacity</a:t>
            </a:r>
            <a:r>
              <a:rPr sz="3600" b="0" u="none" spc="-5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of</a:t>
            </a:r>
            <a:r>
              <a:rPr sz="3600" b="0" u="none" spc="-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SDMA</a:t>
            </a:r>
            <a:r>
              <a:rPr sz="3600" b="0" u="none" spc="1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systems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6400" y="1813560"/>
            <a:ext cx="5711952" cy="4495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09600" y="1219202"/>
            <a:ext cx="7924800" cy="914401"/>
          </a:xfrm>
          <a:custGeom>
            <a:avLst/>
            <a:gdLst/>
            <a:ahLst/>
            <a:cxnLst/>
            <a:rect l="l" t="t" r="r" b="b"/>
            <a:pathLst>
              <a:path w="7924800" h="914400">
                <a:moveTo>
                  <a:pt x="0" y="914400"/>
                </a:moveTo>
                <a:lnTo>
                  <a:pt x="0" y="0"/>
                </a:lnTo>
                <a:lnTo>
                  <a:pt x="7924800" y="0"/>
                </a:lnTo>
              </a:path>
            </a:pathLst>
          </a:custGeom>
          <a:ln w="24384">
            <a:solidFill>
              <a:srgbClr val="00CC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81204" y="3962399"/>
            <a:ext cx="6510655" cy="0"/>
          </a:xfrm>
          <a:custGeom>
            <a:avLst/>
            <a:gdLst/>
            <a:ahLst/>
            <a:cxnLst/>
            <a:rect l="l" t="t" r="r" b="b"/>
            <a:pathLst>
              <a:path w="6510655">
                <a:moveTo>
                  <a:pt x="0" y="0"/>
                </a:moveTo>
                <a:lnTo>
                  <a:pt x="6510528" y="0"/>
                </a:lnTo>
              </a:path>
            </a:pathLst>
          </a:custGeom>
          <a:ln w="18288">
            <a:solidFill>
              <a:srgbClr val="00CC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82855" y="1986229"/>
            <a:ext cx="5485765" cy="78162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The</a:t>
            </a:r>
            <a:r>
              <a:rPr sz="5000" b="0" u="none" spc="-12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50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Cellular</a:t>
            </a:r>
            <a:r>
              <a:rPr sz="5000" b="0" u="none" spc="-11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50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Concept</a:t>
            </a:r>
            <a:endParaRPr sz="5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56994" y="3884234"/>
            <a:ext cx="2798445" cy="1543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 indent="795655">
              <a:lnSpc>
                <a:spcPct val="123600"/>
              </a:lnSpc>
              <a:spcBef>
                <a:spcPts val="105"/>
              </a:spcBef>
            </a:pPr>
            <a:r>
              <a:rPr sz="2000" dirty="0">
                <a:solidFill>
                  <a:srgbClr val="000066"/>
                </a:solidFill>
                <a:latin typeface="Times New Roman"/>
                <a:cs typeface="Times New Roman"/>
              </a:rPr>
              <a:t>3</a:t>
            </a:r>
            <a:r>
              <a:rPr sz="2025" baseline="24691" dirty="0">
                <a:solidFill>
                  <a:srgbClr val="000066"/>
                </a:solidFill>
                <a:latin typeface="Times New Roman"/>
                <a:cs typeface="Times New Roman"/>
              </a:rPr>
              <a:t>rd</a:t>
            </a:r>
            <a:r>
              <a:rPr sz="2025" spc="195" baseline="24691" dirty="0">
                <a:solidFill>
                  <a:srgbClr val="000066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0066"/>
                </a:solidFill>
                <a:latin typeface="Times New Roman"/>
                <a:cs typeface="Times New Roman"/>
              </a:rPr>
              <a:t>Chapter </a:t>
            </a:r>
            <a:r>
              <a:rPr sz="2000" dirty="0">
                <a:solidFill>
                  <a:srgbClr val="000066"/>
                </a:solidFill>
                <a:latin typeface="Times New Roman"/>
                <a:cs typeface="Times New Roman"/>
              </a:rPr>
              <a:t>Wireless</a:t>
            </a:r>
            <a:r>
              <a:rPr sz="2000" spc="-45" dirty="0">
                <a:solidFill>
                  <a:srgbClr val="000066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0066"/>
                </a:solidFill>
                <a:latin typeface="Times New Roman"/>
                <a:cs typeface="Times New Roman"/>
              </a:rPr>
              <a:t>Communication </a:t>
            </a:r>
            <a:r>
              <a:rPr sz="2000" dirty="0">
                <a:solidFill>
                  <a:srgbClr val="000066"/>
                </a:solidFill>
                <a:latin typeface="Times New Roman"/>
                <a:cs typeface="Times New Roman"/>
              </a:rPr>
              <a:t>By</a:t>
            </a:r>
            <a:r>
              <a:rPr sz="2000" spc="-30" dirty="0">
                <a:solidFill>
                  <a:srgbClr val="000066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66"/>
                </a:solidFill>
                <a:latin typeface="Times New Roman"/>
                <a:cs typeface="Times New Roman"/>
              </a:rPr>
              <a:t>Theodore</a:t>
            </a:r>
            <a:r>
              <a:rPr sz="2000" spc="-60" dirty="0">
                <a:solidFill>
                  <a:srgbClr val="000066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66"/>
                </a:solidFill>
                <a:latin typeface="Times New Roman"/>
                <a:cs typeface="Times New Roman"/>
              </a:rPr>
              <a:t>S.</a:t>
            </a:r>
            <a:r>
              <a:rPr sz="2000" spc="-15" dirty="0">
                <a:solidFill>
                  <a:srgbClr val="000066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0066"/>
                </a:solidFill>
                <a:latin typeface="Times New Roman"/>
                <a:cs typeface="Times New Roman"/>
              </a:rPr>
              <a:t>Rappaport</a:t>
            </a:r>
            <a:endParaRPr sz="2000">
              <a:latin typeface="Times New Roman"/>
              <a:cs typeface="Times New Roman"/>
            </a:endParaRPr>
          </a:p>
          <a:p>
            <a:pPr marL="848994">
              <a:lnSpc>
                <a:spcPct val="100000"/>
              </a:lnSpc>
              <a:spcBef>
                <a:spcPts val="555"/>
              </a:spcBef>
            </a:pPr>
            <a:r>
              <a:rPr sz="2000" dirty="0">
                <a:solidFill>
                  <a:srgbClr val="000066"/>
                </a:solidFill>
                <a:latin typeface="Times New Roman"/>
                <a:cs typeface="Times New Roman"/>
              </a:rPr>
              <a:t>2</a:t>
            </a:r>
            <a:r>
              <a:rPr sz="2025" baseline="24691" dirty="0">
                <a:solidFill>
                  <a:srgbClr val="000066"/>
                </a:solidFill>
                <a:latin typeface="Times New Roman"/>
                <a:cs typeface="Times New Roman"/>
              </a:rPr>
              <a:t>nd</a:t>
            </a:r>
            <a:r>
              <a:rPr sz="2025" spc="187" baseline="24691" dirty="0">
                <a:solidFill>
                  <a:srgbClr val="000066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0066"/>
                </a:solidFill>
                <a:latin typeface="Times New Roman"/>
                <a:cs typeface="Times New Roman"/>
              </a:rPr>
              <a:t>Edition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4" y="761999"/>
            <a:ext cx="8379459" cy="759461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2280">
              <a:lnSpc>
                <a:spcPct val="100000"/>
              </a:lnSpc>
              <a:spcBef>
                <a:spcPts val="95"/>
              </a:spcBef>
            </a:pP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Cellular</a:t>
            </a:r>
            <a:r>
              <a:rPr sz="4400" b="0" u="none" spc="-10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spc="-25" dirty="0">
                <a:solidFill>
                  <a:srgbClr val="CACACA"/>
                </a:solidFill>
                <a:latin typeface="Times New Roman"/>
                <a:cs typeface="Times New Roman"/>
              </a:rPr>
              <a:t>Systems-</a:t>
            </a: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Basic</a:t>
            </a:r>
            <a:r>
              <a:rPr sz="4400" b="0" u="none" spc="-4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Concepts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5755" y="1068081"/>
            <a:ext cx="8037195" cy="4792338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R="2540" algn="ctr">
              <a:lnSpc>
                <a:spcPct val="100000"/>
              </a:lnSpc>
              <a:spcBef>
                <a:spcPts val="890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Cellular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solves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problem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spectral</a:t>
            </a:r>
            <a:r>
              <a:rPr sz="22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congestion.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Offers</a:t>
            </a:r>
            <a:r>
              <a:rPr sz="22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high</a:t>
            </a:r>
            <a:r>
              <a:rPr sz="22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capacity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limited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spectrum.</a:t>
            </a:r>
            <a:endParaRPr sz="2200">
              <a:latin typeface="Arial"/>
              <a:cs typeface="Arial"/>
            </a:endParaRPr>
          </a:p>
          <a:p>
            <a:pPr marL="5080" algn="ctr">
              <a:lnSpc>
                <a:spcPct val="100000"/>
              </a:lnSpc>
              <a:spcBef>
                <a:spcPts val="819"/>
              </a:spcBef>
            </a:pPr>
            <a:r>
              <a:rPr sz="2200" dirty="0">
                <a:solidFill>
                  <a:srgbClr val="006FC0"/>
                </a:solidFill>
                <a:latin typeface="Arial"/>
                <a:cs typeface="Arial"/>
              </a:rPr>
              <a:t>High</a:t>
            </a:r>
            <a:r>
              <a:rPr sz="2200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6FC0"/>
                </a:solidFill>
                <a:latin typeface="Arial"/>
                <a:cs typeface="Arial"/>
              </a:rPr>
              <a:t>capacity</a:t>
            </a:r>
            <a:r>
              <a:rPr sz="2200" spc="-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is achieved by limiting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coverage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area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each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BS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small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geographical</a:t>
            </a:r>
            <a:r>
              <a:rPr sz="22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area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called</a:t>
            </a:r>
            <a:r>
              <a:rPr sz="2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006FC0"/>
                </a:solidFill>
                <a:latin typeface="Arial"/>
                <a:cs typeface="Arial"/>
              </a:rPr>
              <a:t>cell.</a:t>
            </a:r>
            <a:endParaRPr sz="2200">
              <a:latin typeface="Arial"/>
              <a:cs typeface="Arial"/>
            </a:endParaRPr>
          </a:p>
          <a:p>
            <a:pPr marR="2540"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Replaces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high</a:t>
            </a:r>
            <a:r>
              <a:rPr sz="2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powered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transmitter</a:t>
            </a:r>
            <a:r>
              <a:rPr sz="22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several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low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power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transmitters.</a:t>
            </a:r>
            <a:endParaRPr sz="2200">
              <a:latin typeface="Arial"/>
              <a:cs typeface="Arial"/>
            </a:endParaRPr>
          </a:p>
          <a:p>
            <a:pPr marL="36830" marR="24130"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Each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BS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allocated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portion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total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channels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nearby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cells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allocated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completely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different</a:t>
            </a:r>
            <a:r>
              <a:rPr sz="22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channels.</a:t>
            </a:r>
            <a:endParaRPr sz="2200">
              <a:latin typeface="Arial"/>
              <a:cs typeface="Arial"/>
            </a:endParaRPr>
          </a:p>
          <a:p>
            <a:pPr marR="2540" algn="ctr">
              <a:lnSpc>
                <a:spcPct val="100000"/>
              </a:lnSpc>
              <a:spcBef>
                <a:spcPts val="815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available</a:t>
            </a:r>
            <a:r>
              <a:rPr sz="2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channels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allocated</a:t>
            </a:r>
            <a:r>
              <a:rPr sz="22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small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neighboring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BS.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90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Interference</a:t>
            </a:r>
            <a:r>
              <a:rPr sz="22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between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neighboring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BSs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minimized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allocating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different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channels.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833424" y="268049"/>
            <a:ext cx="747522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Cellular</a:t>
            </a:r>
            <a:r>
              <a:rPr sz="4400" b="0" u="none" spc="-10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spc="-25" dirty="0">
                <a:solidFill>
                  <a:srgbClr val="CACACA"/>
                </a:solidFill>
                <a:latin typeface="Times New Roman"/>
                <a:cs typeface="Times New Roman"/>
              </a:rPr>
              <a:t>Systems-</a:t>
            </a: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Basic</a:t>
            </a:r>
            <a:r>
              <a:rPr sz="4400" b="0" u="none" spc="-4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Concepts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2004" y="762002"/>
            <a:ext cx="8379459" cy="756617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261620" rIns="0" bIns="0" rtlCol="0">
            <a:spAutoFit/>
          </a:bodyPr>
          <a:lstStyle/>
          <a:p>
            <a:pPr marL="495300">
              <a:lnSpc>
                <a:spcPct val="100000"/>
              </a:lnSpc>
              <a:spcBef>
                <a:spcPts val="206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frequencies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reused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spatially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4899" y="1398383"/>
            <a:ext cx="8009255" cy="3377206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894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separated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BSs.</a:t>
            </a:r>
            <a:endParaRPr sz="3200">
              <a:latin typeface="Times New Roman"/>
              <a:cs typeface="Times New Roman"/>
            </a:endParaRPr>
          </a:p>
          <a:p>
            <a:pPr marL="12700" marR="5080" algn="ctr">
              <a:lnSpc>
                <a:spcPct val="100000"/>
              </a:lnSpc>
              <a:spcBef>
                <a:spcPts val="79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co-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stations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kept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below</a:t>
            </a:r>
            <a:r>
              <a:rPr sz="32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acceptable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level.</a:t>
            </a:r>
            <a:endParaRPr sz="3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Additional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radio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capacity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achieved.</a:t>
            </a:r>
            <a:endParaRPr sz="3200">
              <a:latin typeface="Times New Roman"/>
              <a:cs typeface="Times New Roman"/>
            </a:endParaRPr>
          </a:p>
          <a:p>
            <a:pPr marL="302260" marR="294005" algn="ctr">
              <a:lnSpc>
                <a:spcPct val="100000"/>
              </a:lnSpc>
              <a:spcBef>
                <a:spcPts val="81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Frequency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Reuse-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Fix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serve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an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arbitrarily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large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subscribers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4" y="761999"/>
            <a:ext cx="8379459" cy="759461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58060">
              <a:lnSpc>
                <a:spcPct val="100000"/>
              </a:lnSpc>
              <a:spcBef>
                <a:spcPts val="95"/>
              </a:spcBef>
            </a:pP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Frequency</a:t>
            </a:r>
            <a:r>
              <a:rPr sz="4400" b="0" u="none" spc="-19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Reuse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5755" y="1091260"/>
            <a:ext cx="8023859" cy="437427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8270" marR="99695" algn="ctr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used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2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sz="2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providers</a:t>
            </a:r>
            <a:r>
              <a:rPr sz="2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improve the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efficiency</a:t>
            </a:r>
            <a:r>
              <a:rPr sz="22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cellular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network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serve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millions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subscribers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FFFFFF"/>
                </a:solidFill>
                <a:latin typeface="Arial"/>
                <a:cs typeface="Arial"/>
              </a:rPr>
              <a:t>limited </a:t>
            </a:r>
            <a:r>
              <a:rPr sz="2200" b="1" dirty="0">
                <a:solidFill>
                  <a:srgbClr val="FFFFFF"/>
                </a:solidFill>
                <a:latin typeface="Arial"/>
                <a:cs typeface="Arial"/>
              </a:rPr>
              <a:t>radio</a:t>
            </a:r>
            <a:r>
              <a:rPr sz="22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FFFFFF"/>
                </a:solidFill>
                <a:latin typeface="Arial"/>
                <a:cs typeface="Arial"/>
              </a:rPr>
              <a:t>spectrum</a:t>
            </a:r>
            <a:endParaRPr sz="2200">
              <a:latin typeface="Arial"/>
              <a:cs typeface="Arial"/>
            </a:endParaRPr>
          </a:p>
          <a:p>
            <a:pPr marL="42545" marR="17780" indent="-13335"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After</a:t>
            </a:r>
            <a:r>
              <a:rPr sz="22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covering</a:t>
            </a:r>
            <a:r>
              <a:rPr sz="2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certain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distance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radio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wave</a:t>
            </a:r>
            <a:r>
              <a:rPr sz="2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gets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attenuated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signal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falls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below</a:t>
            </a:r>
            <a:r>
              <a:rPr sz="2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point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where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longer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used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cause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any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interference</a:t>
            </a:r>
            <a:endParaRPr sz="2200">
              <a:latin typeface="Arial"/>
              <a:cs typeface="Arial"/>
            </a:endParaRPr>
          </a:p>
          <a:p>
            <a:pPr marL="12065" algn="ctr">
              <a:lnSpc>
                <a:spcPct val="100000"/>
              </a:lnSpc>
              <a:spcBef>
                <a:spcPts val="819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transmitter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transmitting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specific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frequency</a:t>
            </a:r>
            <a:r>
              <a:rPr sz="22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range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will</a:t>
            </a:r>
            <a:r>
              <a:rPr sz="2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have</a:t>
            </a:r>
            <a:endParaRPr sz="2200">
              <a:latin typeface="Arial"/>
              <a:cs typeface="Arial"/>
            </a:endParaRPr>
          </a:p>
          <a:p>
            <a:pPr marL="5715"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only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limited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coverage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area</a:t>
            </a:r>
            <a:endParaRPr sz="2200">
              <a:latin typeface="Arial"/>
              <a:cs typeface="Arial"/>
            </a:endParaRPr>
          </a:p>
          <a:p>
            <a:pPr marL="10795"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Beyond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coverage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area,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frequency</a:t>
            </a:r>
            <a:r>
              <a:rPr sz="22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reused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endParaRPr sz="2200">
              <a:latin typeface="Arial"/>
              <a:cs typeface="Arial"/>
            </a:endParaRPr>
          </a:p>
          <a:p>
            <a:pPr marL="8890"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another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transmitter.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ts val="2280"/>
              </a:lnSpc>
              <a:spcBef>
                <a:spcPts val="56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entire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coverage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area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divided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principle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9525" algn="ctr">
              <a:lnSpc>
                <a:spcPts val="228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frequency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reuse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4" y="761999"/>
            <a:ext cx="8379459" cy="759461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58060">
              <a:lnSpc>
                <a:spcPct val="100000"/>
              </a:lnSpc>
              <a:spcBef>
                <a:spcPts val="95"/>
              </a:spcBef>
            </a:pP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Frequency</a:t>
            </a:r>
            <a:r>
              <a:rPr sz="4400" b="0" u="none" spc="-19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Reuse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5755" y="981533"/>
            <a:ext cx="8042909" cy="47615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5080" algn="ctr">
              <a:lnSpc>
                <a:spcPts val="2510"/>
              </a:lnSpc>
              <a:spcBef>
                <a:spcPts val="110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cell</a:t>
            </a:r>
            <a:r>
              <a:rPr sz="2200" u="none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u="none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2200" u="none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u="none" dirty="0">
                <a:solidFill>
                  <a:srgbClr val="FFFFFF"/>
                </a:solidFill>
                <a:latin typeface="Arial"/>
                <a:cs typeface="Arial"/>
              </a:rPr>
              <a:t>basic</a:t>
            </a:r>
            <a:r>
              <a:rPr sz="2200" u="none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u="none" dirty="0">
                <a:solidFill>
                  <a:srgbClr val="FFFFFF"/>
                </a:solidFill>
                <a:latin typeface="Arial"/>
                <a:cs typeface="Arial"/>
              </a:rPr>
              <a:t>geographical</a:t>
            </a:r>
            <a:r>
              <a:rPr sz="2200" u="none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u="none" dirty="0">
                <a:solidFill>
                  <a:srgbClr val="FFFFFF"/>
                </a:solidFill>
                <a:latin typeface="Arial"/>
                <a:cs typeface="Arial"/>
              </a:rPr>
              <a:t>unit</a:t>
            </a:r>
            <a:r>
              <a:rPr sz="2200" u="none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u="none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200" u="none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u="none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200" u="none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u="none" dirty="0">
                <a:solidFill>
                  <a:srgbClr val="FFFFFF"/>
                </a:solidFill>
                <a:latin typeface="Arial"/>
                <a:cs typeface="Arial"/>
              </a:rPr>
              <a:t>cellular</a:t>
            </a:r>
            <a:r>
              <a:rPr sz="2200" u="none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u="none" dirty="0">
                <a:solidFill>
                  <a:srgbClr val="FFFFFF"/>
                </a:solidFill>
                <a:latin typeface="Arial"/>
                <a:cs typeface="Arial"/>
              </a:rPr>
              <a:t>network;</a:t>
            </a:r>
            <a:r>
              <a:rPr sz="2200" u="none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u="none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200" u="none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u="none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00" u="none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u="none" spc="-20" dirty="0">
                <a:solidFill>
                  <a:srgbClr val="FFFFFF"/>
                </a:solidFill>
                <a:latin typeface="Arial"/>
                <a:cs typeface="Arial"/>
              </a:rPr>
              <a:t>area</a:t>
            </a:r>
            <a:endParaRPr sz="2200">
              <a:latin typeface="Arial"/>
              <a:cs typeface="Arial"/>
            </a:endParaRPr>
          </a:p>
          <a:p>
            <a:pPr marR="4445" algn="ctr">
              <a:lnSpc>
                <a:spcPts val="2510"/>
              </a:lnSpc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around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antenna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where</a:t>
            </a:r>
            <a:r>
              <a:rPr sz="2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specific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frequency</a:t>
            </a:r>
            <a:r>
              <a:rPr sz="22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range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used.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ts val="2510"/>
              </a:lnSpc>
              <a:spcBef>
                <a:spcPts val="525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when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subscriber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moves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another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cell,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antenna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new</a:t>
            </a:r>
            <a:endParaRPr sz="2200">
              <a:latin typeface="Arial"/>
              <a:cs typeface="Arial"/>
            </a:endParaRPr>
          </a:p>
          <a:p>
            <a:pPr marR="5080" algn="ctr">
              <a:lnSpc>
                <a:spcPts val="2510"/>
              </a:lnSpc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cell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takes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over</a:t>
            </a:r>
            <a:r>
              <a:rPr sz="2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signal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transmission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2200">
              <a:latin typeface="Arial"/>
              <a:cs typeface="Arial"/>
            </a:endParaRPr>
          </a:p>
          <a:p>
            <a:pPr algn="ctr">
              <a:lnSpc>
                <a:spcPts val="2510"/>
              </a:lnSpc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cluster</a:t>
            </a:r>
            <a:r>
              <a:rPr sz="2200" u="none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u="none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200" u="none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u="none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200" u="none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u="none" dirty="0">
                <a:solidFill>
                  <a:srgbClr val="FFFFFF"/>
                </a:solidFill>
                <a:latin typeface="Arial"/>
                <a:cs typeface="Arial"/>
              </a:rPr>
              <a:t>group</a:t>
            </a:r>
            <a:r>
              <a:rPr sz="2200" u="none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u="none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200" u="none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u="none" dirty="0">
                <a:solidFill>
                  <a:srgbClr val="FFFFFF"/>
                </a:solidFill>
                <a:latin typeface="Arial"/>
                <a:cs typeface="Arial"/>
              </a:rPr>
              <a:t>adjacent</a:t>
            </a:r>
            <a:r>
              <a:rPr sz="2200" u="none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u="none" dirty="0">
                <a:solidFill>
                  <a:srgbClr val="FFFFFF"/>
                </a:solidFill>
                <a:latin typeface="Arial"/>
                <a:cs typeface="Arial"/>
              </a:rPr>
              <a:t>cells,</a:t>
            </a:r>
            <a:r>
              <a:rPr sz="2200" u="none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u="none" dirty="0">
                <a:solidFill>
                  <a:srgbClr val="FFFFFF"/>
                </a:solidFill>
                <a:latin typeface="Arial"/>
                <a:cs typeface="Arial"/>
              </a:rPr>
              <a:t>usually</a:t>
            </a:r>
            <a:r>
              <a:rPr sz="2200" u="none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u="none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2200" u="none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u="none" dirty="0">
                <a:solidFill>
                  <a:srgbClr val="FFFFFF"/>
                </a:solidFill>
                <a:latin typeface="Arial"/>
                <a:cs typeface="Arial"/>
              </a:rPr>
              <a:t>cells;</a:t>
            </a:r>
            <a:r>
              <a:rPr sz="2200" u="none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u="none" spc="-25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endParaRPr sz="2200">
              <a:latin typeface="Arial"/>
              <a:cs typeface="Arial"/>
            </a:endParaRPr>
          </a:p>
          <a:p>
            <a:pPr marR="3810" algn="ctr">
              <a:lnSpc>
                <a:spcPts val="2510"/>
              </a:lnSpc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frequency</a:t>
            </a:r>
            <a:r>
              <a:rPr sz="22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reuse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done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within a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cluster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90"/>
              </a:spcBef>
            </a:pPr>
            <a:endParaRPr sz="2200">
              <a:latin typeface="Arial"/>
              <a:cs typeface="Arial"/>
            </a:endParaRPr>
          </a:p>
          <a:p>
            <a:pPr marL="48895" marR="52705" algn="ctr">
              <a:lnSpc>
                <a:spcPts val="2380"/>
              </a:lnSpc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frequency</a:t>
            </a:r>
            <a:r>
              <a:rPr sz="22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spectrum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divided</a:t>
            </a:r>
            <a:r>
              <a:rPr sz="2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into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sub-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bands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each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sub-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band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used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within</a:t>
            </a:r>
            <a:r>
              <a:rPr sz="2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one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cell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cluster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2200">
              <a:latin typeface="Arial"/>
              <a:cs typeface="Arial"/>
            </a:endParaRPr>
          </a:p>
          <a:p>
            <a:pPr marR="6985" algn="ctr">
              <a:lnSpc>
                <a:spcPts val="2510"/>
              </a:lnSpc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heavy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traffic</a:t>
            </a:r>
            <a:r>
              <a:rPr sz="22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zones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cells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smaller,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while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isolated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zones</a:t>
            </a:r>
            <a:endParaRPr sz="2200">
              <a:latin typeface="Arial"/>
              <a:cs typeface="Arial"/>
            </a:endParaRPr>
          </a:p>
          <a:p>
            <a:pPr marR="635" algn="ctr">
              <a:lnSpc>
                <a:spcPts val="2510"/>
              </a:lnSpc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cells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larger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4" y="761999"/>
            <a:ext cx="8379459" cy="759461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58060">
              <a:lnSpc>
                <a:spcPct val="100000"/>
              </a:lnSpc>
              <a:spcBef>
                <a:spcPts val="95"/>
              </a:spcBef>
            </a:pP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Frequency</a:t>
            </a:r>
            <a:r>
              <a:rPr sz="4400" b="0" u="none" spc="-19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Reuse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3559" y="1088215"/>
            <a:ext cx="8053070" cy="53469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-6985" algn="ctr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design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process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selecting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allocating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groups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cellular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r>
              <a:rPr sz="3200" spc="8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stations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within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called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frequency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reuse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frequency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planning.</a:t>
            </a:r>
            <a:endParaRPr sz="3200">
              <a:latin typeface="Times New Roman"/>
              <a:cs typeface="Times New Roman"/>
            </a:endParaRPr>
          </a:p>
          <a:p>
            <a:pPr marL="113030" marR="98425" algn="ctr">
              <a:lnSpc>
                <a:spcPct val="100000"/>
              </a:lnSpc>
              <a:spcBef>
                <a:spcPts val="80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labeled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3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letter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use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3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frequencies.</a:t>
            </a:r>
            <a:endParaRPr sz="3200">
              <a:latin typeface="Times New Roman"/>
              <a:cs typeface="Times New Roman"/>
            </a:endParaRPr>
          </a:p>
          <a:p>
            <a:pPr marL="4445" algn="ctr">
              <a:lnSpc>
                <a:spcPct val="100000"/>
              </a:lnSpc>
              <a:spcBef>
                <a:spcPts val="79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Shapes:</a:t>
            </a:r>
            <a:endParaRPr sz="32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  <a:spcBef>
                <a:spcPts val="82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Circle,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Square,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Triangle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Hexagon.</a:t>
            </a:r>
            <a:endParaRPr sz="3200">
              <a:latin typeface="Times New Roman"/>
              <a:cs typeface="Times New Roman"/>
            </a:endParaRPr>
          </a:p>
          <a:p>
            <a:pPr marL="125095" marR="109220" algn="ctr">
              <a:lnSpc>
                <a:spcPct val="100000"/>
              </a:lnSpc>
              <a:spcBef>
                <a:spcPts val="79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Hexagonal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shape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conceptual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reality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it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irregular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shape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4" y="761999"/>
            <a:ext cx="8379459" cy="759461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2629284" y="229949"/>
            <a:ext cx="3884929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Frequency</a:t>
            </a:r>
            <a:r>
              <a:rPr sz="4400" b="0" u="none" spc="-19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Reuse</a:t>
            </a:r>
            <a:endParaRPr sz="440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" y="1371602"/>
            <a:ext cx="7772400" cy="4648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629284" y="268049"/>
            <a:ext cx="3884929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Frequency</a:t>
            </a:r>
            <a:r>
              <a:rPr sz="4400" b="0" u="none" spc="-19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Reuse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2004" y="762002"/>
            <a:ext cx="8379459" cy="756617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2616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6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hexagonal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model,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BS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transmitter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0924" y="1398384"/>
            <a:ext cx="7915909" cy="4854533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94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centre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its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vertices.</a:t>
            </a:r>
            <a:endParaRPr sz="3200">
              <a:latin typeface="Times New Roman"/>
              <a:cs typeface="Times New Roman"/>
            </a:endParaRPr>
          </a:p>
          <a:p>
            <a:pPr marL="454659" marR="445134" algn="ctr">
              <a:lnSpc>
                <a:spcPct val="100000"/>
              </a:lnSpc>
              <a:spcBef>
                <a:spcPts val="79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Centered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excited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use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omni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directional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whereas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edge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excited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use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directional antennas.</a:t>
            </a:r>
            <a:endParaRPr sz="3200">
              <a:latin typeface="Times New Roman"/>
              <a:cs typeface="Times New Roman"/>
            </a:endParaRPr>
          </a:p>
          <a:p>
            <a:pPr marL="216535" marR="210185" algn="ctr">
              <a:lnSpc>
                <a:spcPct val="100000"/>
              </a:lnSpc>
              <a:spcBef>
                <a:spcPts val="79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cellular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having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‘S’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duplex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channels,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allocated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‘k’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channels(k&lt;S).</a:t>
            </a:r>
            <a:endParaRPr sz="3200">
              <a:latin typeface="Times New Roman"/>
              <a:cs typeface="Times New Roman"/>
            </a:endParaRPr>
          </a:p>
          <a:p>
            <a:pPr marL="12700" marR="5080" algn="ctr">
              <a:lnSpc>
                <a:spcPct val="100000"/>
              </a:lnSpc>
              <a:spcBef>
                <a:spcPts val="819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allocated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unique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disjoint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channels,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total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available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S=kN.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4" y="761999"/>
            <a:ext cx="8379459" cy="759461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2629284" y="191850"/>
            <a:ext cx="3884929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Frequency</a:t>
            </a:r>
            <a:r>
              <a:rPr sz="4400" b="0" u="none" spc="-19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Reuse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2327" y="1167461"/>
            <a:ext cx="7964170" cy="474617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cells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collectively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channels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called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2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cluster,</a:t>
            </a:r>
            <a:r>
              <a:rPr sz="2200" u="none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u="none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200" u="none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u="none" spc="-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group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adjacent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cells.</a:t>
            </a:r>
            <a:endParaRPr sz="2200">
              <a:latin typeface="Arial"/>
              <a:cs typeface="Arial"/>
            </a:endParaRPr>
          </a:p>
          <a:p>
            <a:pPr marR="1905"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If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cluster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if</a:t>
            </a:r>
            <a:r>
              <a:rPr sz="2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repeated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times,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capacity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given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as</a:t>
            </a:r>
            <a:endParaRPr sz="2200">
              <a:latin typeface="Arial"/>
              <a:cs typeface="Arial"/>
            </a:endParaRPr>
          </a:p>
          <a:p>
            <a:pPr marL="4363720">
              <a:lnSpc>
                <a:spcPct val="100000"/>
              </a:lnSpc>
              <a:spcBef>
                <a:spcPts val="819"/>
              </a:spcBef>
            </a:pP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C=MkN=MS</a:t>
            </a:r>
            <a:endParaRPr sz="2200">
              <a:latin typeface="Arial"/>
              <a:cs typeface="Arial"/>
            </a:endParaRPr>
          </a:p>
          <a:p>
            <a:pPr marL="283845" marR="287020" algn="ctr">
              <a:lnSpc>
                <a:spcPts val="3600"/>
              </a:lnSpc>
              <a:spcBef>
                <a:spcPts val="110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Capacity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directly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proportional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times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cluster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 repeated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12065" marR="5080" algn="ctr">
              <a:lnSpc>
                <a:spcPct val="100000"/>
              </a:lnSpc>
              <a:spcBef>
                <a:spcPts val="760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Reducing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cluster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size</a:t>
            </a:r>
            <a:r>
              <a:rPr sz="2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while</a:t>
            </a:r>
            <a:r>
              <a:rPr sz="22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keeping</a:t>
            </a:r>
            <a:r>
              <a:rPr sz="22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cell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size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constant,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more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clusters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required</a:t>
            </a:r>
            <a:r>
              <a:rPr sz="22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cover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given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area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hence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more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capacity.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815"/>
              </a:spcBef>
            </a:pP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Co-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channel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interference</a:t>
            </a:r>
            <a:r>
              <a:rPr sz="22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dependent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cluster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size,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large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cluster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size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less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interference</a:t>
            </a:r>
            <a:r>
              <a:rPr sz="22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vice</a:t>
            </a:r>
            <a:r>
              <a:rPr sz="2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versa.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4" y="761999"/>
            <a:ext cx="8379459" cy="759461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2629284" y="229949"/>
            <a:ext cx="3884929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Frequency</a:t>
            </a:r>
            <a:r>
              <a:rPr sz="4400" b="0" u="none" spc="-19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Reuse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8748" y="938860"/>
            <a:ext cx="7625080" cy="445634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Frequency</a:t>
            </a:r>
            <a:r>
              <a:rPr sz="22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Reuse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factor</a:t>
            </a:r>
            <a:r>
              <a:rPr sz="22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given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1/N,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each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cell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endParaRPr sz="2200">
              <a:latin typeface="Arial"/>
              <a:cs typeface="Arial"/>
            </a:endParaRPr>
          </a:p>
          <a:p>
            <a:pPr marL="1270"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assigned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1/N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total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channels.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Lines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joining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cell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each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its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neighbor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separated</a:t>
            </a:r>
            <a:r>
              <a:rPr sz="22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multiple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60</a:t>
            </a:r>
            <a:r>
              <a:rPr sz="2175" baseline="24904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,certain</a:t>
            </a:r>
            <a:r>
              <a:rPr sz="22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cluster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sizes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cell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layout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possible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Geometery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 hexagon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such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no of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per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cluster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i.e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N,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only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have values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satisfy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equation</a:t>
            </a:r>
            <a:endParaRPr sz="2200">
              <a:latin typeface="Times New Roman"/>
              <a:cs typeface="Times New Roman"/>
            </a:endParaRPr>
          </a:p>
          <a:p>
            <a:pPr marL="458470" algn="ctr">
              <a:lnSpc>
                <a:spcPct val="100000"/>
              </a:lnSpc>
              <a:spcBef>
                <a:spcPts val="819"/>
              </a:spcBef>
            </a:pP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N=i</a:t>
            </a:r>
            <a:r>
              <a:rPr sz="2175" spc="-15" baseline="24904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+ij+j</a:t>
            </a:r>
            <a:r>
              <a:rPr sz="2175" spc="-15" baseline="24904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2175" baseline="24904">
              <a:latin typeface="Arial"/>
              <a:cs typeface="Arial"/>
            </a:endParaRPr>
          </a:p>
          <a:p>
            <a:pPr marL="459740" algn="ctr">
              <a:lnSpc>
                <a:spcPct val="100000"/>
              </a:lnSpc>
              <a:spcBef>
                <a:spcPts val="790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N,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cluster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size</a:t>
            </a:r>
            <a:r>
              <a:rPr sz="2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typically</a:t>
            </a:r>
            <a:r>
              <a:rPr sz="2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4,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12.</a:t>
            </a:r>
            <a:endParaRPr sz="2200">
              <a:latin typeface="Arial"/>
              <a:cs typeface="Arial"/>
            </a:endParaRPr>
          </a:p>
          <a:p>
            <a:pPr marL="457834" algn="ctr">
              <a:lnSpc>
                <a:spcPct val="100000"/>
              </a:lnSpc>
              <a:spcBef>
                <a:spcPts val="819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GSM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normally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=7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used.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j are</a:t>
            </a:r>
            <a:r>
              <a:rPr sz="2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integers,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i=3</a:t>
            </a:r>
            <a:r>
              <a:rPr sz="2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j=2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 N=19.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90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sz="2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Book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4" y="761999"/>
            <a:ext cx="8379459" cy="759461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64615">
              <a:lnSpc>
                <a:spcPct val="100000"/>
              </a:lnSpc>
              <a:spcBef>
                <a:spcPts val="95"/>
              </a:spcBef>
            </a:pP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Locating</a:t>
            </a:r>
            <a:r>
              <a:rPr sz="4400" b="0" u="none" spc="-12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co-</a:t>
            </a: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channel</a:t>
            </a:r>
            <a:r>
              <a:rPr sz="4400" b="0" u="none" spc="-12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spc="-20" dirty="0">
                <a:solidFill>
                  <a:srgbClr val="CACACA"/>
                </a:solidFill>
                <a:latin typeface="Times New Roman"/>
                <a:cs typeface="Times New Roman"/>
              </a:rPr>
              <a:t>Cell</a:t>
            </a:r>
            <a:endParaRPr sz="440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6400" y="1075944"/>
            <a:ext cx="5486400" cy="44104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4" y="761999"/>
            <a:ext cx="8379459" cy="759461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81990">
              <a:lnSpc>
                <a:spcPct val="100000"/>
              </a:lnSpc>
              <a:spcBef>
                <a:spcPts val="95"/>
              </a:spcBef>
            </a:pP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Channel</a:t>
            </a:r>
            <a:r>
              <a:rPr sz="4400" b="0" u="none" spc="-19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Assignment</a:t>
            </a:r>
            <a:r>
              <a:rPr sz="4400" b="0" u="none" spc="-14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Strategies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7463" y="1091262"/>
            <a:ext cx="8065770" cy="435632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scheme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increasing</a:t>
            </a:r>
            <a:r>
              <a:rPr sz="2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capacity</a:t>
            </a:r>
            <a:r>
              <a:rPr sz="2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minimizing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2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endParaRPr sz="2200">
              <a:latin typeface="Times New Roman"/>
              <a:cs typeface="Times New Roman"/>
            </a:endParaRPr>
          </a:p>
          <a:p>
            <a:pPr marL="5080" algn="ctr">
              <a:lnSpc>
                <a:spcPct val="100000"/>
              </a:lnSpc>
            </a:pP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required.</a:t>
            </a:r>
            <a:endParaRPr sz="2200">
              <a:latin typeface="Times New Roman"/>
              <a:cs typeface="Times New Roman"/>
            </a:endParaRPr>
          </a:p>
          <a:p>
            <a:pPr marL="1156335" marR="1149985" indent="-1905" algn="ctr">
              <a:lnSpc>
                <a:spcPts val="3429"/>
              </a:lnSpc>
              <a:spcBef>
                <a:spcPts val="25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CAS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classified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either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fixed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dynamic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Choice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CAS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impacts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performance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system.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Fixed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assigned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predetermined</a:t>
            </a:r>
            <a:r>
              <a:rPr sz="2200" i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voice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endParaRPr sz="2200">
              <a:latin typeface="Times New Roman"/>
              <a:cs typeface="Times New Roman"/>
            </a:endParaRPr>
          </a:p>
          <a:p>
            <a:pPr marL="6350"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Any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call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attempt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within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only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served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unused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particular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endParaRPr sz="2200">
              <a:latin typeface="Times New Roman"/>
              <a:cs typeface="Times New Roman"/>
            </a:endParaRPr>
          </a:p>
          <a:p>
            <a:pPr marL="4445"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2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occupied,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call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 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blocked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endParaRPr sz="220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does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get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service.</a:t>
            </a:r>
            <a:endParaRPr sz="2200">
              <a:latin typeface="Times New Roman"/>
              <a:cs typeface="Times New Roman"/>
            </a:endParaRPr>
          </a:p>
          <a:p>
            <a:pPr marL="3810" algn="ctr">
              <a:lnSpc>
                <a:spcPct val="100000"/>
              </a:lnSpc>
              <a:spcBef>
                <a:spcPts val="819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variation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FCA, a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borrow</a:t>
            </a:r>
            <a:r>
              <a:rPr sz="22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channels</a:t>
            </a:r>
            <a:r>
              <a:rPr sz="2200" i="1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its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neighboring</a:t>
            </a:r>
            <a:endParaRPr sz="2200">
              <a:latin typeface="Times New Roman"/>
              <a:cs typeface="Times New Roman"/>
            </a:endParaRPr>
          </a:p>
          <a:p>
            <a:pPr marL="1905"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its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own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full.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4" y="761999"/>
            <a:ext cx="8379459" cy="759461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2217547" y="304930"/>
            <a:ext cx="470789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Dynamic</a:t>
            </a:r>
            <a:r>
              <a:rPr sz="3000" b="0" u="none" spc="-5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0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Channel</a:t>
            </a:r>
            <a:r>
              <a:rPr sz="3000" b="0" u="none" spc="-8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0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Assignment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5032" y="862967"/>
            <a:ext cx="7653020" cy="3520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Voice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channels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2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not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allocated</a:t>
            </a:r>
            <a:r>
              <a:rPr sz="2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different</a:t>
            </a:r>
            <a:r>
              <a:rPr sz="22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cells</a:t>
            </a:r>
            <a:r>
              <a:rPr sz="22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i="1" spc="-10" dirty="0">
                <a:solidFill>
                  <a:srgbClr val="FF0000"/>
                </a:solidFill>
                <a:latin typeface="Arial"/>
                <a:cs typeface="Arial"/>
              </a:rPr>
              <a:t>permanently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7948" y="1299212"/>
            <a:ext cx="8009255" cy="3520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Each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call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request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made,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BS</a:t>
            </a:r>
            <a:r>
              <a:rPr sz="2200" i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request</a:t>
            </a:r>
            <a:r>
              <a:rPr sz="2200" i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channel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endParaRPr sz="2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7946" y="1531469"/>
            <a:ext cx="8013065" cy="4714111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20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MSC.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815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MSC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allocates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channel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requesting</a:t>
            </a:r>
            <a:r>
              <a:rPr sz="22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cell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endParaRPr sz="2200">
              <a:latin typeface="Arial"/>
              <a:cs typeface="Arial"/>
            </a:endParaRPr>
          </a:p>
          <a:p>
            <a:pPr marR="635"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algorithm</a:t>
            </a:r>
            <a:r>
              <a:rPr sz="22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takes</a:t>
            </a:r>
            <a:r>
              <a:rPr sz="2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into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account</a:t>
            </a:r>
            <a:endParaRPr sz="2200">
              <a:latin typeface="Arial"/>
              <a:cs typeface="Arial"/>
            </a:endParaRPr>
          </a:p>
          <a:p>
            <a:pPr marL="449580" algn="ctr">
              <a:lnSpc>
                <a:spcPct val="100000"/>
              </a:lnSpc>
              <a:spcBef>
                <a:spcPts val="810"/>
              </a:spcBef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likelihood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8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future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blocking</a:t>
            </a:r>
            <a:endParaRPr sz="1800">
              <a:latin typeface="Arial"/>
              <a:cs typeface="Arial"/>
            </a:endParaRPr>
          </a:p>
          <a:p>
            <a:pPr marL="440690" algn="ctr">
              <a:lnSpc>
                <a:spcPct val="100000"/>
              </a:lnSpc>
              <a:spcBef>
                <a:spcPts val="795"/>
              </a:spcBef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reuse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distance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8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channel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( should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not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cause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interference)</a:t>
            </a:r>
            <a:endParaRPr sz="1800">
              <a:latin typeface="Arial"/>
              <a:cs typeface="Arial"/>
            </a:endParaRPr>
          </a:p>
          <a:p>
            <a:pPr marL="450850" algn="ctr">
              <a:lnSpc>
                <a:spcPct val="100000"/>
              </a:lnSpc>
              <a:spcBef>
                <a:spcPts val="815"/>
              </a:spcBef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Other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parameters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like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cost</a:t>
            </a:r>
            <a:endParaRPr sz="1800">
              <a:latin typeface="Arial"/>
              <a:cs typeface="Arial"/>
            </a:endParaRPr>
          </a:p>
          <a:p>
            <a:pPr marL="12700" marR="5080" indent="-10795" algn="ctr">
              <a:lnSpc>
                <a:spcPct val="100000"/>
              </a:lnSpc>
              <a:spcBef>
                <a:spcPts val="78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ensure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min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QoS,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MSC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only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allocates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given</a:t>
            </a:r>
            <a:r>
              <a:rPr sz="22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frequency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that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frequency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2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currently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use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any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falls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within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limiting</a:t>
            </a:r>
            <a:r>
              <a:rPr sz="2200" i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reuse</a:t>
            </a:r>
            <a:r>
              <a:rPr sz="2200"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distance.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DCA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reduce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likelihood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 blocking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increases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capacity</a:t>
            </a:r>
            <a:endParaRPr sz="2200">
              <a:latin typeface="Times New Roman"/>
              <a:cs typeface="Times New Roman"/>
            </a:endParaRPr>
          </a:p>
          <a:p>
            <a:pPr marR="5715"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Requires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MSC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 collect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realtime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occupancy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endParaRPr sz="2200">
              <a:latin typeface="Times New Roman"/>
              <a:cs typeface="Times New Roman"/>
            </a:endParaRPr>
          </a:p>
          <a:p>
            <a:pPr marL="1905"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traffic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distribution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continous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basis.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4" y="761999"/>
            <a:ext cx="8379459" cy="759461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534917" y="306148"/>
            <a:ext cx="207391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0" u="none" spc="-25" dirty="0">
                <a:solidFill>
                  <a:srgbClr val="CACACA"/>
                </a:solidFill>
                <a:latin typeface="Times New Roman"/>
                <a:cs typeface="Times New Roman"/>
              </a:rPr>
              <a:t>Hand-off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0136" y="1091260"/>
            <a:ext cx="7984490" cy="354327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Mobile</a:t>
            </a:r>
            <a:r>
              <a:rPr sz="2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moves</a:t>
            </a:r>
            <a:r>
              <a:rPr sz="2200" i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into</a:t>
            </a:r>
            <a:r>
              <a:rPr sz="2200" i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200" i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different</a:t>
            </a:r>
            <a:r>
              <a:rPr sz="2200" i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cell</a:t>
            </a:r>
            <a:r>
              <a:rPr sz="2200" i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during</a:t>
            </a:r>
            <a:r>
              <a:rPr sz="2200" i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conversation,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MSC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transfers</a:t>
            </a:r>
            <a:r>
              <a:rPr sz="22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call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new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channel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belonging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new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BS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Handoff</a:t>
            </a:r>
            <a:r>
              <a:rPr sz="22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operation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involves</a:t>
            </a:r>
            <a:r>
              <a:rPr sz="2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identifying</a:t>
            </a:r>
            <a:r>
              <a:rPr sz="2200" i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200" i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new</a:t>
            </a:r>
            <a:r>
              <a:rPr sz="2200" i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BS</a:t>
            </a:r>
            <a:r>
              <a:rPr sz="2200" i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i="1" spc="-10" dirty="0">
                <a:solidFill>
                  <a:srgbClr val="FF0000"/>
                </a:solidFill>
                <a:latin typeface="Arial"/>
                <a:cs typeface="Arial"/>
              </a:rPr>
              <a:t>allocation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2200" i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voice</a:t>
            </a:r>
            <a:r>
              <a:rPr sz="2200" i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sz="2200" i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control</a:t>
            </a:r>
            <a:r>
              <a:rPr sz="2200" i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signal</a:t>
            </a:r>
            <a:r>
              <a:rPr sz="2200" i="1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channels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associated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2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new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BS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82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Must</a:t>
            </a:r>
            <a:r>
              <a:rPr sz="20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20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performed</a:t>
            </a:r>
            <a:r>
              <a:rPr sz="20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FF0000"/>
                </a:solidFill>
                <a:latin typeface="Arial"/>
                <a:cs typeface="Arial"/>
              </a:rPr>
              <a:t>successfully,</a:t>
            </a:r>
            <a:r>
              <a:rPr sz="2000" i="1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FF0000"/>
                </a:solidFill>
                <a:latin typeface="Arial"/>
                <a:cs typeface="Arial"/>
              </a:rPr>
              <a:t>infrequently</a:t>
            </a:r>
            <a:r>
              <a:rPr sz="2000" i="1" spc="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0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FF0000"/>
                </a:solidFill>
                <a:latin typeface="Arial"/>
                <a:cs typeface="Arial"/>
              </a:rPr>
              <a:t>impercitble</a:t>
            </a:r>
            <a:r>
              <a:rPr sz="2000" i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0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user</a:t>
            </a:r>
            <a:endParaRPr sz="2000">
              <a:latin typeface="Arial"/>
              <a:cs typeface="Arial"/>
            </a:endParaRPr>
          </a:p>
          <a:p>
            <a:pPr marL="3175" algn="ctr">
              <a:lnSpc>
                <a:spcPct val="100000"/>
              </a:lnSpc>
              <a:spcBef>
                <a:spcPts val="785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meet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these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requirements</a:t>
            </a:r>
            <a:r>
              <a:rPr sz="22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2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optimum</a:t>
            </a:r>
            <a:r>
              <a:rPr sz="2200" i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signal</a:t>
            </a:r>
            <a:r>
              <a:rPr sz="2200" i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level</a:t>
            </a:r>
            <a:r>
              <a:rPr sz="2200" i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must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be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  <a:tabLst>
                <a:tab pos="1075055" algn="l"/>
              </a:tabLst>
            </a:pP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defined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	to</a:t>
            </a:r>
            <a:r>
              <a:rPr sz="22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initiate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handoff.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90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Min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usuable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signal</a:t>
            </a:r>
            <a:r>
              <a:rPr sz="2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22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acceptable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voice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qualtiy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-90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-100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dBm</a:t>
            </a:r>
            <a:endParaRPr sz="2000">
              <a:latin typeface="Arial"/>
              <a:cs typeface="Arial"/>
            </a:endParaRPr>
          </a:p>
          <a:p>
            <a:pPr marL="78740" algn="ctr">
              <a:lnSpc>
                <a:spcPct val="100000"/>
              </a:lnSpc>
              <a:spcBef>
                <a:spcPts val="819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slight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higher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value</a:t>
            </a:r>
            <a:r>
              <a:rPr sz="2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used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sz="2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i="1" spc="-10" dirty="0">
                <a:solidFill>
                  <a:srgbClr val="FF0000"/>
                </a:solidFill>
                <a:latin typeface="Arial"/>
                <a:cs typeface="Arial"/>
              </a:rPr>
              <a:t>threshold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4" y="761999"/>
            <a:ext cx="8379459" cy="759461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696268" y="1497330"/>
            <a:ext cx="774382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5"/>
              </a:spcBef>
            </a:pPr>
            <a:r>
              <a:rPr sz="2200" b="0" u="none" dirty="0">
                <a:latin typeface="Times New Roman"/>
                <a:cs typeface="Times New Roman"/>
              </a:rPr>
              <a:t>By</a:t>
            </a:r>
            <a:r>
              <a:rPr sz="2200" b="0" u="none" spc="-10" dirty="0">
                <a:latin typeface="Times New Roman"/>
                <a:cs typeface="Times New Roman"/>
              </a:rPr>
              <a:t> </a:t>
            </a:r>
            <a:r>
              <a:rPr sz="2200" b="0" u="none" dirty="0">
                <a:latin typeface="Times New Roman"/>
                <a:cs typeface="Times New Roman"/>
              </a:rPr>
              <a:t>looking</a:t>
            </a:r>
            <a:r>
              <a:rPr sz="2200" b="0" u="none" spc="-30" dirty="0">
                <a:latin typeface="Times New Roman"/>
                <a:cs typeface="Times New Roman"/>
              </a:rPr>
              <a:t> </a:t>
            </a:r>
            <a:r>
              <a:rPr sz="2200" b="0" u="none" dirty="0">
                <a:latin typeface="Times New Roman"/>
                <a:cs typeface="Times New Roman"/>
              </a:rPr>
              <a:t>at</a:t>
            </a:r>
            <a:r>
              <a:rPr sz="2200" b="0" u="none" spc="-15" dirty="0">
                <a:latin typeface="Times New Roman"/>
                <a:cs typeface="Times New Roman"/>
              </a:rPr>
              <a:t> </a:t>
            </a:r>
            <a:r>
              <a:rPr sz="2200" b="0" u="none" dirty="0">
                <a:latin typeface="Times New Roman"/>
                <a:cs typeface="Times New Roman"/>
              </a:rPr>
              <a:t>the</a:t>
            </a:r>
            <a:r>
              <a:rPr sz="2200" b="0" u="none" spc="-25" dirty="0">
                <a:latin typeface="Times New Roman"/>
                <a:cs typeface="Times New Roman"/>
              </a:rPr>
              <a:t> </a:t>
            </a:r>
            <a:r>
              <a:rPr sz="2200" b="0" u="none" dirty="0">
                <a:latin typeface="Times New Roman"/>
                <a:cs typeface="Times New Roman"/>
              </a:rPr>
              <a:t>variations</a:t>
            </a:r>
            <a:r>
              <a:rPr sz="2200" b="0" u="none" spc="-70" dirty="0">
                <a:latin typeface="Times New Roman"/>
                <a:cs typeface="Times New Roman"/>
              </a:rPr>
              <a:t> </a:t>
            </a:r>
            <a:r>
              <a:rPr sz="2200" b="0" u="none" dirty="0">
                <a:latin typeface="Times New Roman"/>
                <a:cs typeface="Times New Roman"/>
              </a:rPr>
              <a:t>of</a:t>
            </a:r>
            <a:r>
              <a:rPr sz="2200" b="0" u="none" spc="5" dirty="0">
                <a:latin typeface="Times New Roman"/>
                <a:cs typeface="Times New Roman"/>
              </a:rPr>
              <a:t> </a:t>
            </a:r>
            <a:r>
              <a:rPr sz="2200" b="0" u="none" dirty="0">
                <a:latin typeface="Times New Roman"/>
                <a:cs typeface="Times New Roman"/>
              </a:rPr>
              <a:t>signal</a:t>
            </a:r>
            <a:r>
              <a:rPr sz="2200" b="0" u="none" spc="-45" dirty="0">
                <a:latin typeface="Times New Roman"/>
                <a:cs typeface="Times New Roman"/>
              </a:rPr>
              <a:t> </a:t>
            </a:r>
            <a:r>
              <a:rPr sz="2200" b="0" u="none" dirty="0">
                <a:latin typeface="Times New Roman"/>
                <a:cs typeface="Times New Roman"/>
              </a:rPr>
              <a:t>strength</a:t>
            </a:r>
            <a:r>
              <a:rPr sz="2200" b="0" u="none" spc="-25" dirty="0">
                <a:latin typeface="Times New Roman"/>
                <a:cs typeface="Times New Roman"/>
              </a:rPr>
              <a:t> </a:t>
            </a:r>
            <a:r>
              <a:rPr sz="2200" b="0" u="none" dirty="0">
                <a:latin typeface="Times New Roman"/>
                <a:cs typeface="Times New Roman"/>
              </a:rPr>
              <a:t>from</a:t>
            </a:r>
            <a:r>
              <a:rPr sz="2200" b="0" u="none" spc="-45" dirty="0">
                <a:latin typeface="Times New Roman"/>
                <a:cs typeface="Times New Roman"/>
              </a:rPr>
              <a:t> </a:t>
            </a:r>
            <a:r>
              <a:rPr sz="2200" b="0" u="none" dirty="0">
                <a:latin typeface="Times New Roman"/>
                <a:cs typeface="Times New Roman"/>
              </a:rPr>
              <a:t>either</a:t>
            </a:r>
            <a:r>
              <a:rPr sz="2200" b="0" u="none" spc="-45" dirty="0">
                <a:latin typeface="Times New Roman"/>
                <a:cs typeface="Times New Roman"/>
              </a:rPr>
              <a:t> </a:t>
            </a:r>
            <a:r>
              <a:rPr sz="2200" b="0" u="none" dirty="0">
                <a:latin typeface="Times New Roman"/>
                <a:cs typeface="Times New Roman"/>
              </a:rPr>
              <a:t>BS it</a:t>
            </a:r>
            <a:r>
              <a:rPr sz="2200" b="0" u="none" spc="-15" dirty="0">
                <a:latin typeface="Times New Roman"/>
                <a:cs typeface="Times New Roman"/>
              </a:rPr>
              <a:t> </a:t>
            </a:r>
            <a:r>
              <a:rPr sz="2200" b="0" u="none" spc="-25" dirty="0">
                <a:latin typeface="Times New Roman"/>
                <a:cs typeface="Times New Roman"/>
              </a:rPr>
              <a:t>is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200" b="0" u="none" dirty="0">
                <a:latin typeface="Times New Roman"/>
                <a:cs typeface="Times New Roman"/>
              </a:rPr>
              <a:t>possible</a:t>
            </a:r>
            <a:r>
              <a:rPr sz="2200" b="0" u="none" spc="-75" dirty="0">
                <a:latin typeface="Times New Roman"/>
                <a:cs typeface="Times New Roman"/>
              </a:rPr>
              <a:t> </a:t>
            </a:r>
            <a:r>
              <a:rPr sz="2200" b="0" u="none" dirty="0">
                <a:latin typeface="Times New Roman"/>
                <a:cs typeface="Times New Roman"/>
              </a:rPr>
              <a:t>to</a:t>
            </a:r>
            <a:r>
              <a:rPr sz="2200" b="0" u="none" spc="-30" dirty="0">
                <a:latin typeface="Times New Roman"/>
                <a:cs typeface="Times New Roman"/>
              </a:rPr>
              <a:t> </a:t>
            </a:r>
            <a:r>
              <a:rPr sz="2200" b="0" u="none" dirty="0">
                <a:latin typeface="Times New Roman"/>
                <a:cs typeface="Times New Roman"/>
              </a:rPr>
              <a:t>decide</a:t>
            </a:r>
            <a:r>
              <a:rPr sz="2200" b="0" u="none" spc="-45" dirty="0">
                <a:latin typeface="Times New Roman"/>
                <a:cs typeface="Times New Roman"/>
              </a:rPr>
              <a:t> </a:t>
            </a:r>
            <a:r>
              <a:rPr sz="2200" b="0" u="none" dirty="0">
                <a:latin typeface="Times New Roman"/>
                <a:cs typeface="Times New Roman"/>
              </a:rPr>
              <a:t>on</a:t>
            </a:r>
            <a:r>
              <a:rPr sz="2200" b="0" u="none" spc="-5" dirty="0">
                <a:latin typeface="Times New Roman"/>
                <a:cs typeface="Times New Roman"/>
              </a:rPr>
              <a:t> </a:t>
            </a:r>
            <a:r>
              <a:rPr sz="2200" b="0" u="none" dirty="0">
                <a:latin typeface="Times New Roman"/>
                <a:cs typeface="Times New Roman"/>
              </a:rPr>
              <a:t>the</a:t>
            </a:r>
            <a:r>
              <a:rPr sz="2200" b="0" u="none" spc="-20" dirty="0">
                <a:latin typeface="Times New Roman"/>
                <a:cs typeface="Times New Roman"/>
              </a:rPr>
              <a:t> </a:t>
            </a:r>
            <a:r>
              <a:rPr sz="2200" b="0" u="none" dirty="0">
                <a:latin typeface="Times New Roman"/>
                <a:cs typeface="Times New Roman"/>
              </a:rPr>
              <a:t>optimum</a:t>
            </a:r>
            <a:r>
              <a:rPr sz="2200" b="0" u="none" spc="-25" dirty="0">
                <a:latin typeface="Times New Roman"/>
                <a:cs typeface="Times New Roman"/>
              </a:rPr>
              <a:t> </a:t>
            </a:r>
            <a:r>
              <a:rPr sz="2200" b="0" u="none" dirty="0">
                <a:latin typeface="Times New Roman"/>
                <a:cs typeface="Times New Roman"/>
              </a:rPr>
              <a:t>area</a:t>
            </a:r>
            <a:r>
              <a:rPr sz="2200" b="0" u="none" spc="-45" dirty="0">
                <a:latin typeface="Times New Roman"/>
                <a:cs typeface="Times New Roman"/>
              </a:rPr>
              <a:t> </a:t>
            </a:r>
            <a:r>
              <a:rPr sz="2200" b="0" u="none" dirty="0">
                <a:latin typeface="Times New Roman"/>
                <a:cs typeface="Times New Roman"/>
              </a:rPr>
              <a:t>where</a:t>
            </a:r>
            <a:r>
              <a:rPr sz="2200" b="0" u="none" spc="-25" dirty="0">
                <a:latin typeface="Times New Roman"/>
                <a:cs typeface="Times New Roman"/>
              </a:rPr>
              <a:t> </a:t>
            </a:r>
            <a:r>
              <a:rPr sz="2200" b="0" u="none" dirty="0">
                <a:latin typeface="Times New Roman"/>
                <a:cs typeface="Times New Roman"/>
              </a:rPr>
              <a:t>handoff</a:t>
            </a:r>
            <a:r>
              <a:rPr sz="2200" b="0" u="none" spc="-15" dirty="0">
                <a:latin typeface="Times New Roman"/>
                <a:cs typeface="Times New Roman"/>
              </a:rPr>
              <a:t> </a:t>
            </a:r>
            <a:r>
              <a:rPr sz="2200" b="0" u="none" dirty="0">
                <a:latin typeface="Times New Roman"/>
                <a:cs typeface="Times New Roman"/>
              </a:rPr>
              <a:t>can</a:t>
            </a:r>
            <a:r>
              <a:rPr sz="2200" b="0" u="none" spc="-25" dirty="0">
                <a:latin typeface="Times New Roman"/>
                <a:cs typeface="Times New Roman"/>
              </a:rPr>
              <a:t> </a:t>
            </a:r>
            <a:r>
              <a:rPr sz="2200" b="0" u="none" dirty="0">
                <a:latin typeface="Times New Roman"/>
                <a:cs typeface="Times New Roman"/>
              </a:rPr>
              <a:t>take</a:t>
            </a:r>
            <a:r>
              <a:rPr sz="2200" b="0" u="none" spc="-20" dirty="0">
                <a:latin typeface="Times New Roman"/>
                <a:cs typeface="Times New Roman"/>
              </a:rPr>
              <a:t> </a:t>
            </a:r>
            <a:r>
              <a:rPr sz="2200" b="0" u="none" spc="-10" dirty="0">
                <a:latin typeface="Times New Roman"/>
                <a:cs typeface="Times New Roman"/>
              </a:rPr>
              <a:t>place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8800" y="2971800"/>
            <a:ext cx="5715000" cy="31059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4" y="761999"/>
            <a:ext cx="8379459" cy="759461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7800" y="530353"/>
            <a:ext cx="6705600" cy="54894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4" y="761999"/>
            <a:ext cx="8379459" cy="759461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2412877" y="306148"/>
            <a:ext cx="431736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0" u="none" spc="-25" dirty="0">
                <a:solidFill>
                  <a:srgbClr val="CACACA"/>
                </a:solidFill>
                <a:latin typeface="Times New Roman"/>
                <a:cs typeface="Times New Roman"/>
              </a:rPr>
              <a:t>Hand-</a:t>
            </a: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off</a:t>
            </a:r>
            <a:r>
              <a:rPr sz="4400" b="0" u="none" spc="-2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strategies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5459" y="938862"/>
            <a:ext cx="8130540" cy="496930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Handoff</a:t>
            </a:r>
            <a:r>
              <a:rPr sz="2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made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when received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signal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BS</a:t>
            </a:r>
            <a:r>
              <a:rPr sz="22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falls</a:t>
            </a:r>
            <a:r>
              <a:rPr sz="2200" i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below</a:t>
            </a:r>
            <a:r>
              <a:rPr sz="2200" i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200">
              <a:latin typeface="Arial"/>
              <a:cs typeface="Arial"/>
            </a:endParaRPr>
          </a:p>
          <a:p>
            <a:pPr marL="5715"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certain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threshold</a:t>
            </a:r>
            <a:endParaRPr sz="2200">
              <a:latin typeface="Arial"/>
              <a:cs typeface="Arial"/>
            </a:endParaRPr>
          </a:p>
          <a:p>
            <a:pPr marL="5715"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During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handoff:</a:t>
            </a:r>
            <a:r>
              <a:rPr sz="22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avoid</a:t>
            </a:r>
            <a:r>
              <a:rPr sz="2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call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termination, </a:t>
            </a: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safety</a:t>
            </a:r>
            <a:r>
              <a:rPr sz="2200" i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margin</a:t>
            </a:r>
            <a:r>
              <a:rPr sz="2200" i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i="1" spc="-10" dirty="0">
                <a:solidFill>
                  <a:srgbClr val="FF0000"/>
                </a:solidFill>
                <a:latin typeface="Arial"/>
                <a:cs typeface="Arial"/>
              </a:rPr>
              <a:t>should</a:t>
            </a:r>
            <a:endParaRPr sz="2200">
              <a:latin typeface="Arial"/>
              <a:cs typeface="Arial"/>
            </a:endParaRPr>
          </a:p>
          <a:p>
            <a:pPr marL="9525" algn="ctr">
              <a:lnSpc>
                <a:spcPct val="100000"/>
              </a:lnSpc>
            </a:pP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exist</a:t>
            </a:r>
            <a:r>
              <a:rPr sz="2200" i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should not</a:t>
            </a:r>
            <a:r>
              <a:rPr sz="22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be</a:t>
            </a:r>
            <a:r>
              <a:rPr sz="22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too</a:t>
            </a:r>
            <a:r>
              <a:rPr sz="22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large</a:t>
            </a:r>
            <a:r>
              <a:rPr sz="22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sz="22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Arial"/>
                <a:cs typeface="Arial"/>
              </a:rPr>
              <a:t>small</a:t>
            </a:r>
            <a:endParaRPr sz="2200">
              <a:latin typeface="Arial"/>
              <a:cs typeface="Arial"/>
            </a:endParaRPr>
          </a:p>
          <a:p>
            <a:pPr marL="2666365">
              <a:lnSpc>
                <a:spcPct val="100000"/>
              </a:lnSpc>
              <a:spcBef>
                <a:spcPts val="1345"/>
              </a:spcBef>
            </a:pPr>
            <a:r>
              <a:rPr sz="3300" baseline="13888" dirty="0">
                <a:solidFill>
                  <a:srgbClr val="FFFFFF"/>
                </a:solidFill>
                <a:latin typeface="Symbol"/>
                <a:cs typeface="Symbol"/>
              </a:rPr>
              <a:t></a:t>
            </a:r>
            <a:r>
              <a:rPr sz="3300" baseline="13888" dirty="0">
                <a:solidFill>
                  <a:srgbClr val="FFFFFF"/>
                </a:solidFill>
                <a:latin typeface="Times New Roman"/>
                <a:cs typeface="Times New Roman"/>
              </a:rPr>
              <a:t>=Power_</a:t>
            </a:r>
            <a:r>
              <a:rPr sz="145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145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baseline="13888" dirty="0">
                <a:solidFill>
                  <a:srgbClr val="FFFFFF"/>
                </a:solidFill>
                <a:latin typeface="Times New Roman"/>
                <a:cs typeface="Times New Roman"/>
              </a:rPr>
              <a:t>–</a:t>
            </a:r>
            <a:r>
              <a:rPr sz="3300" spc="-44" baseline="13888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baseline="13888" dirty="0">
                <a:solidFill>
                  <a:srgbClr val="FFFFFF"/>
                </a:solidFill>
                <a:latin typeface="Times New Roman"/>
                <a:cs typeface="Times New Roman"/>
              </a:rPr>
              <a:t>Power_</a:t>
            </a:r>
            <a:r>
              <a:rPr sz="1450" dirty="0">
                <a:solidFill>
                  <a:srgbClr val="FFFFFF"/>
                </a:solidFill>
                <a:latin typeface="Times New Roman"/>
                <a:cs typeface="Times New Roman"/>
              </a:rPr>
              <a:t>min</a:t>
            </a:r>
            <a:r>
              <a:rPr sz="14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FFFFFF"/>
                </a:solidFill>
                <a:latin typeface="Times New Roman"/>
                <a:cs typeface="Times New Roman"/>
              </a:rPr>
              <a:t>usable</a:t>
            </a:r>
            <a:endParaRPr sz="1450">
              <a:latin typeface="Times New Roman"/>
              <a:cs typeface="Times New Roman"/>
            </a:endParaRPr>
          </a:p>
          <a:p>
            <a:pPr marL="50165" marR="43180" algn="ctr">
              <a:lnSpc>
                <a:spcPct val="100000"/>
              </a:lnSpc>
              <a:spcBef>
                <a:spcPts val="265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Large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Symbol"/>
                <a:cs typeface="Symbol"/>
              </a:rPr>
              <a:t></a:t>
            </a:r>
            <a:r>
              <a:rPr sz="22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results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unecesarry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small</a:t>
            </a:r>
            <a:r>
              <a:rPr sz="22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Symbol"/>
                <a:cs typeface="Symbol"/>
              </a:rPr>
              <a:t>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unsufficient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time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complete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handoff,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so carefully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chosen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meet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requirements.</a:t>
            </a:r>
            <a:endParaRPr sz="22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Fig</a:t>
            </a:r>
            <a:r>
              <a:rPr sz="22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handoff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not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made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signal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falls</a:t>
            </a:r>
            <a:r>
              <a:rPr sz="22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below</a:t>
            </a:r>
            <a:r>
              <a:rPr sz="22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min</a:t>
            </a:r>
            <a:r>
              <a:rPr sz="22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acceptable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level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keep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channel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active.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815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happen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due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excessive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delay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MSC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assigning</a:t>
            </a:r>
            <a:endParaRPr sz="22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handoff,</a:t>
            </a:r>
            <a:r>
              <a:rPr sz="22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sz="2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when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threshold</a:t>
            </a:r>
            <a:r>
              <a:rPr sz="2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Symbol"/>
                <a:cs typeface="Symbol"/>
              </a:rPr>
              <a:t>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small.</a:t>
            </a:r>
            <a:endParaRPr sz="2200">
              <a:latin typeface="Times New Roman"/>
              <a:cs typeface="Times New Roman"/>
            </a:endParaRPr>
          </a:p>
          <a:p>
            <a:pPr marL="16510" algn="ctr">
              <a:lnSpc>
                <a:spcPct val="100000"/>
              </a:lnSpc>
              <a:spcBef>
                <a:spcPts val="78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Excessive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delay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may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occur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during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high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traffic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conditions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due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computional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loading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non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avialablilty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3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nearby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4" y="761999"/>
            <a:ext cx="8379459" cy="759461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534917" y="306148"/>
            <a:ext cx="207391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0" u="none" spc="-25" dirty="0">
                <a:solidFill>
                  <a:srgbClr val="CACACA"/>
                </a:solidFill>
                <a:latin typeface="Times New Roman"/>
                <a:cs typeface="Times New Roman"/>
              </a:rPr>
              <a:t>Hand-off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1848" y="938863"/>
            <a:ext cx="8031480" cy="315855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11430" algn="ctr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deciding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when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 handoff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, it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important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ensure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drop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in</a:t>
            </a:r>
            <a:endParaRPr sz="220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level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due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momentary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fading.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95"/>
              </a:spcBef>
            </a:pP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order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ensure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monitors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for a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certain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period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endParaRPr sz="2200">
              <a:latin typeface="Times New Roman"/>
              <a:cs typeface="Times New Roman"/>
            </a:endParaRPr>
          </a:p>
          <a:p>
            <a:pPr marR="9525"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before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initiating</a:t>
            </a:r>
            <a:r>
              <a:rPr sz="2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length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 time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needed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decide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necessary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depends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speed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mobile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moving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4" y="761999"/>
            <a:ext cx="8379459" cy="759461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41525">
              <a:lnSpc>
                <a:spcPct val="100000"/>
              </a:lnSpc>
              <a:spcBef>
                <a:spcPts val="95"/>
              </a:spcBef>
            </a:pPr>
            <a:r>
              <a:rPr sz="4400" b="0" u="none" spc="-25" dirty="0">
                <a:solidFill>
                  <a:srgbClr val="CACACA"/>
                </a:solidFill>
                <a:latin typeface="Times New Roman"/>
                <a:cs typeface="Times New Roman"/>
              </a:rPr>
              <a:t>Hand-</a:t>
            </a: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off</a:t>
            </a:r>
            <a:r>
              <a:rPr sz="4400" b="0" u="none" spc="-2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strategies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3988" y="1015063"/>
            <a:ext cx="7768590" cy="45794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163195" algn="ctr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175" baseline="24904" dirty="0">
                <a:solidFill>
                  <a:srgbClr val="FFFFFF"/>
                </a:solidFill>
                <a:latin typeface="Times New Roman"/>
                <a:cs typeface="Times New Roman"/>
              </a:rPr>
              <a:t>st</a:t>
            </a:r>
            <a:r>
              <a:rPr sz="2175" spc="262" baseline="249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generation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analog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cellular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systems,</a:t>
            </a:r>
            <a:r>
              <a:rPr sz="22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signal</a:t>
            </a:r>
            <a:r>
              <a:rPr sz="22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strength</a:t>
            </a:r>
            <a:endParaRPr sz="2200">
              <a:latin typeface="Times New Roman"/>
              <a:cs typeface="Times New Roman"/>
            </a:endParaRPr>
          </a:p>
          <a:p>
            <a:pPr marR="161290"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measurements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made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by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BS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supervised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MSC.</a:t>
            </a:r>
            <a:endParaRPr sz="2200">
              <a:latin typeface="Times New Roman"/>
              <a:cs typeface="Times New Roman"/>
            </a:endParaRPr>
          </a:p>
          <a:p>
            <a:pPr marR="172720"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spare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Rx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station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(locator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Rx) monitors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RSS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RVC's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endParaRPr sz="2200">
              <a:latin typeface="Times New Roman"/>
              <a:cs typeface="Times New Roman"/>
            </a:endParaRPr>
          </a:p>
          <a:p>
            <a:pPr marR="167640"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neighboring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endParaRPr sz="2200">
              <a:latin typeface="Times New Roman"/>
              <a:cs typeface="Times New Roman"/>
            </a:endParaRPr>
          </a:p>
          <a:p>
            <a:pPr marL="772795" marR="17780" algn="ctr">
              <a:lnSpc>
                <a:spcPct val="100000"/>
              </a:lnSpc>
              <a:spcBef>
                <a:spcPts val="75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Tells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Mobile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Switching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Center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about</a:t>
            </a:r>
            <a:r>
              <a:rPr sz="3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these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mobiles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their</a:t>
            </a:r>
            <a:r>
              <a:rPr sz="3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endParaRPr sz="3200">
              <a:latin typeface="Times New Roman"/>
              <a:cs typeface="Times New Roman"/>
            </a:endParaRPr>
          </a:p>
          <a:p>
            <a:pPr marL="1014094" marR="269875" algn="ctr">
              <a:lnSpc>
                <a:spcPct val="100000"/>
              </a:lnSpc>
              <a:spcBef>
                <a:spcPts val="819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Locator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Rx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see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base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station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significantly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better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than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station</a:t>
            </a:r>
            <a:endParaRPr sz="3200">
              <a:latin typeface="Times New Roman"/>
              <a:cs typeface="Times New Roman"/>
            </a:endParaRPr>
          </a:p>
          <a:p>
            <a:pPr marL="447040">
              <a:lnSpc>
                <a:spcPct val="100000"/>
              </a:lnSpc>
              <a:spcBef>
                <a:spcPts val="83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MSC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monitors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RSS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stations</a:t>
            </a:r>
            <a:r>
              <a:rPr sz="2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decides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4" y="761999"/>
            <a:ext cx="8379459" cy="759461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41525">
              <a:lnSpc>
                <a:spcPct val="100000"/>
              </a:lnSpc>
              <a:spcBef>
                <a:spcPts val="95"/>
              </a:spcBef>
            </a:pPr>
            <a:r>
              <a:rPr sz="4400" b="0" u="none" spc="-25" dirty="0">
                <a:solidFill>
                  <a:srgbClr val="CACACA"/>
                </a:solidFill>
                <a:latin typeface="Times New Roman"/>
                <a:cs typeface="Times New Roman"/>
              </a:rPr>
              <a:t>Hand-</a:t>
            </a: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off</a:t>
            </a:r>
            <a:r>
              <a:rPr sz="4400" b="0" u="none" spc="-2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strategies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32829" y="6304248"/>
            <a:ext cx="332740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60"/>
              </a:lnSpc>
            </a:pPr>
            <a:r>
              <a:rPr sz="2400" spc="-1205" dirty="0">
                <a:latin typeface="Times New Roman"/>
                <a:cs typeface="Times New Roman"/>
              </a:rPr>
              <a:t>8</a:t>
            </a:r>
            <a:r>
              <a:rPr sz="3600" spc="-60" baseline="1157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sz="2400" spc="-1205" dirty="0">
                <a:latin typeface="Times New Roman"/>
                <a:cs typeface="Times New Roman"/>
              </a:rPr>
              <a:t>6</a:t>
            </a:r>
            <a:r>
              <a:rPr sz="3600" spc="-30" baseline="1157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3600" baseline="1157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5016" y="991469"/>
            <a:ext cx="7972425" cy="4020459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94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175" baseline="24904" dirty="0">
                <a:solidFill>
                  <a:srgbClr val="FFFFFF"/>
                </a:solidFill>
                <a:latin typeface="Times New Roman"/>
                <a:cs typeface="Times New Roman"/>
              </a:rPr>
              <a:t>nd</a:t>
            </a:r>
            <a:r>
              <a:rPr sz="2175" spc="277" baseline="249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generation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systems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Mobile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Assisted</a:t>
            </a:r>
            <a:r>
              <a:rPr sz="2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Handoffs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(MAHO)are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endParaRPr sz="2200">
              <a:latin typeface="Times New Roman"/>
              <a:cs typeface="Times New Roman"/>
            </a:endParaRPr>
          </a:p>
          <a:p>
            <a:pPr marL="626745" marR="619760"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 MAHO,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every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MS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measures</a:t>
            </a:r>
            <a:r>
              <a:rPr sz="22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received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power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from</a:t>
            </a:r>
            <a:r>
              <a:rPr sz="22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surrounding</a:t>
            </a:r>
            <a:r>
              <a:rPr sz="22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BS</a:t>
            </a:r>
            <a:r>
              <a:rPr sz="22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continually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reports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these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values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corresponding</a:t>
            </a:r>
            <a:r>
              <a:rPr sz="2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BS.</a:t>
            </a:r>
            <a:endParaRPr sz="2200">
              <a:latin typeface="Times New Roman"/>
              <a:cs typeface="Times New Roman"/>
            </a:endParaRPr>
          </a:p>
          <a:p>
            <a:pPr marR="635"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initiated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strength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 neighboring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BS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exceeds</a:t>
            </a:r>
            <a:endParaRPr sz="22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current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BS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819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MSC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longer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monitors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RSS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endParaRPr sz="2200">
              <a:latin typeface="Times New Roman"/>
              <a:cs typeface="Times New Roman"/>
            </a:endParaRPr>
          </a:p>
          <a:p>
            <a:pPr marL="1797685" marR="1332865" indent="4445" algn="ctr">
              <a:lnSpc>
                <a:spcPct val="133100"/>
              </a:lnSpc>
              <a:spcBef>
                <a:spcPts val="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reduces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computational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load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considerably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enables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much more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rapid</a:t>
            </a:r>
            <a:r>
              <a:rPr sz="20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efficient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handoffs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imperceptible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4" y="761999"/>
            <a:ext cx="8379459" cy="759461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21610">
              <a:lnSpc>
                <a:spcPct val="100000"/>
              </a:lnSpc>
              <a:spcBef>
                <a:spcPts val="95"/>
              </a:spcBef>
            </a:pP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Soft</a:t>
            </a:r>
            <a:r>
              <a:rPr sz="4400" b="0" u="none" spc="-6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Handoff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3663" y="1091262"/>
            <a:ext cx="7913370" cy="336887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CDMA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spread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spectrum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cellular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systems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provides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unique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endParaRPr sz="2200">
              <a:latin typeface="Times New Roman"/>
              <a:cs typeface="Times New Roman"/>
            </a:endParaRPr>
          </a:p>
          <a:p>
            <a:pPr marL="4445" algn="ctr">
              <a:lnSpc>
                <a:spcPct val="100000"/>
              </a:lnSpc>
            </a:pP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capability</a:t>
            </a:r>
            <a:endParaRPr sz="2200">
              <a:latin typeface="Times New Roman"/>
              <a:cs typeface="Times New Roman"/>
            </a:endParaRPr>
          </a:p>
          <a:p>
            <a:pPr marL="12700" marR="5080" indent="-1905"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Unlike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channelized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wireless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systems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assigns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radio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during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(called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hard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handoff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),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spread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spectrum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MS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share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every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term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here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implies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 different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BS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handles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radio</a:t>
            </a:r>
            <a:endParaRPr sz="2200">
              <a:latin typeface="Times New Roman"/>
              <a:cs typeface="Times New Roman"/>
            </a:endParaRPr>
          </a:p>
          <a:p>
            <a:pPr marL="7620" algn="ctr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communication</a:t>
            </a:r>
            <a:r>
              <a:rPr sz="2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task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815"/>
              </a:spcBef>
              <a:tabLst>
                <a:tab pos="5346700" algn="l"/>
              </a:tabLst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ability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select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instantaneous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received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signals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endParaRPr sz="220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BSs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called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soft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handoff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4" y="761999"/>
            <a:ext cx="8379459" cy="759461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39315">
              <a:lnSpc>
                <a:spcPct val="100000"/>
              </a:lnSpc>
              <a:spcBef>
                <a:spcPts val="95"/>
              </a:spcBef>
            </a:pPr>
            <a:r>
              <a:rPr sz="38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Inter</a:t>
            </a:r>
            <a:r>
              <a:rPr sz="3800" b="0" u="none" spc="-3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8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system</a:t>
            </a:r>
            <a:r>
              <a:rPr sz="3800" b="0" u="none" spc="-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8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Handoff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0168" y="1015060"/>
            <a:ext cx="7766050" cy="300979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mobile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moves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cellular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controlled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MSC,</a:t>
            </a:r>
            <a:r>
              <a:rPr sz="2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an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inter-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system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handoff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necessary</a:t>
            </a:r>
            <a:endParaRPr sz="2200">
              <a:latin typeface="Times New Roman"/>
              <a:cs typeface="Times New Roman"/>
            </a:endParaRPr>
          </a:p>
          <a:p>
            <a:pPr marL="12700" marR="5080"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MSC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engages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intersystem</a:t>
            </a:r>
            <a:r>
              <a:rPr sz="2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when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signal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becomes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weak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given</a:t>
            </a:r>
            <a:r>
              <a:rPr sz="22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MSC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cannot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find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another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cell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within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its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to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transfer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on-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going</a:t>
            </a:r>
            <a:r>
              <a:rPr sz="22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call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Many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issues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must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resolved</a:t>
            </a:r>
            <a:endParaRPr sz="2200">
              <a:latin typeface="Times New Roman"/>
              <a:cs typeface="Times New Roman"/>
            </a:endParaRPr>
          </a:p>
          <a:p>
            <a:pPr marL="452120" algn="ctr">
              <a:lnSpc>
                <a:spcPct val="100000"/>
              </a:lnSpc>
              <a:spcBef>
                <a:spcPts val="81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Local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call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may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become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long</a:t>
            </a:r>
            <a:r>
              <a:rPr sz="1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distance</a:t>
            </a:r>
            <a:r>
              <a:rPr sz="1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call</a:t>
            </a:r>
            <a:endParaRPr sz="1800">
              <a:latin typeface="Times New Roman"/>
              <a:cs typeface="Times New Roman"/>
            </a:endParaRPr>
          </a:p>
          <a:p>
            <a:pPr marL="450215" algn="ctr">
              <a:lnSpc>
                <a:spcPct val="100000"/>
              </a:lnSpc>
              <a:spcBef>
                <a:spcPts val="81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Compatibility</a:t>
            </a:r>
            <a:r>
              <a:rPr sz="18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between the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MSCs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507360" y="-56946"/>
            <a:ext cx="4131310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Prioritizing</a:t>
            </a:r>
            <a:r>
              <a:rPr sz="3800" b="0" u="none" spc="-3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8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Handoffs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2004" y="762002"/>
            <a:ext cx="8379459" cy="695703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84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5"/>
              </a:spcBef>
            </a:pPr>
            <a:endParaRPr sz="2200">
              <a:latin typeface="Times New Roman"/>
              <a:cs typeface="Times New Roman"/>
            </a:endParaRPr>
          </a:p>
          <a:p>
            <a:pPr marL="675005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Issue: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Perceived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Grade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Service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(GOS) –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service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quality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33830" y="1388064"/>
            <a:ext cx="6975475" cy="4499309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R="235585" algn="ctr">
              <a:lnSpc>
                <a:spcPct val="100000"/>
              </a:lnSpc>
              <a:spcBef>
                <a:spcPts val="36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viewed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users</a:t>
            </a:r>
            <a:endParaRPr sz="2200">
              <a:latin typeface="Times New Roman"/>
              <a:cs typeface="Times New Roman"/>
            </a:endParaRPr>
          </a:p>
          <a:p>
            <a:pPr marL="220979" algn="ctr">
              <a:lnSpc>
                <a:spcPct val="100000"/>
              </a:lnSpc>
              <a:spcBef>
                <a:spcPts val="37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“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quality”</a:t>
            </a:r>
            <a:r>
              <a:rPr sz="20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terms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dropped</a:t>
            </a:r>
            <a:r>
              <a:rPr sz="20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or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blocked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calls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(not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voice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quality)</a:t>
            </a:r>
            <a:endParaRPr sz="2000">
              <a:latin typeface="Times New Roman"/>
              <a:cs typeface="Times New Roman"/>
            </a:endParaRPr>
          </a:p>
          <a:p>
            <a:pPr marL="217170" algn="ctr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assign higher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priority</a:t>
            </a:r>
            <a:r>
              <a:rPr sz="20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2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handoff</a:t>
            </a:r>
            <a:r>
              <a:rPr sz="20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vs.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new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call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request</a:t>
            </a:r>
            <a:endParaRPr sz="2000">
              <a:latin typeface="Times New Roman"/>
              <a:cs typeface="Times New Roman"/>
            </a:endParaRPr>
          </a:p>
          <a:p>
            <a:pPr marL="210185" algn="ctr">
              <a:lnSpc>
                <a:spcPct val="100000"/>
              </a:lnSpc>
              <a:spcBef>
                <a:spcPts val="55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dropped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call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aggravating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than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occasional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blocked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call</a:t>
            </a:r>
            <a:endParaRPr sz="2000">
              <a:latin typeface="Times New Roman"/>
              <a:cs typeface="Times New Roman"/>
            </a:endParaRPr>
          </a:p>
          <a:p>
            <a:pPr marR="689610" algn="ctr">
              <a:lnSpc>
                <a:spcPct val="100000"/>
              </a:lnSpc>
              <a:spcBef>
                <a:spcPts val="81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Guard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endParaRPr sz="2200">
              <a:latin typeface="Times New Roman"/>
              <a:cs typeface="Times New Roman"/>
            </a:endParaRPr>
          </a:p>
          <a:p>
            <a:pPr marR="232410" algn="ctr">
              <a:lnSpc>
                <a:spcPct val="100000"/>
              </a:lnSpc>
              <a:spcBef>
                <a:spcPts val="8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%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total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available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cell</a:t>
            </a:r>
            <a:r>
              <a:rPr sz="20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exclusively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aside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endParaRPr sz="2000">
              <a:latin typeface="Times New Roman"/>
              <a:cs typeface="Times New Roman"/>
            </a:endParaRPr>
          </a:p>
          <a:p>
            <a:pPr marR="233045" algn="ctr">
              <a:lnSpc>
                <a:spcPct val="100000"/>
              </a:lnSpc>
            </a:pP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requests</a:t>
            </a:r>
            <a:endParaRPr sz="2000">
              <a:latin typeface="Times New Roman"/>
              <a:cs typeface="Times New Roman"/>
            </a:endParaRPr>
          </a:p>
          <a:p>
            <a:pPr marR="233679" algn="ctr">
              <a:lnSpc>
                <a:spcPct val="100000"/>
              </a:lnSpc>
              <a:spcBef>
                <a:spcPts val="79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makes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fewer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available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new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call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requests</a:t>
            </a:r>
            <a:endParaRPr sz="2000">
              <a:latin typeface="Times New Roman"/>
              <a:cs typeface="Times New Roman"/>
            </a:endParaRPr>
          </a:p>
          <a:p>
            <a:pPr marR="234950" algn="ctr">
              <a:lnSpc>
                <a:spcPct val="100000"/>
              </a:lnSpc>
              <a:spcBef>
                <a:spcPts val="819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good</a:t>
            </a:r>
            <a:r>
              <a:rPr sz="2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strategy</a:t>
            </a:r>
            <a:r>
              <a:rPr sz="2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dynamic</a:t>
            </a:r>
            <a:r>
              <a:rPr sz="2000" spc="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allocation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(not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fixed)</a:t>
            </a:r>
            <a:endParaRPr sz="2000">
              <a:latin typeface="Times New Roman"/>
              <a:cs typeface="Times New Roman"/>
            </a:endParaRPr>
          </a:p>
          <a:p>
            <a:pPr marL="207010" algn="ctr">
              <a:lnSpc>
                <a:spcPct val="100000"/>
              </a:lnSpc>
              <a:spcBef>
                <a:spcPts val="79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adjust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number of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guard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needed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demand</a:t>
            </a:r>
            <a:endParaRPr sz="2000">
              <a:latin typeface="Times New Roman"/>
              <a:cs typeface="Times New Roman"/>
            </a:endParaRPr>
          </a:p>
          <a:p>
            <a:pPr marL="213360" algn="ctr">
              <a:lnSpc>
                <a:spcPct val="100000"/>
              </a:lnSpc>
              <a:spcBef>
                <a:spcPts val="79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so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channels are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wasted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low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traffic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4" y="761999"/>
            <a:ext cx="8379459" cy="759461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2507360" y="354914"/>
            <a:ext cx="4131310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Prioritizing</a:t>
            </a:r>
            <a:r>
              <a:rPr sz="3800" b="0" u="none" spc="-3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8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Handoffs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86994" y="901063"/>
            <a:ext cx="7224395" cy="2737288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R="448945" algn="ctr">
              <a:lnSpc>
                <a:spcPct val="100000"/>
              </a:lnSpc>
              <a:spcBef>
                <a:spcPts val="1005"/>
              </a:spcBef>
            </a:pP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Queuing</a:t>
            </a:r>
            <a:r>
              <a:rPr sz="2200" i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Requests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80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delay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handoff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threshold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minimum useable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level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place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blocked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request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queue</a:t>
            </a:r>
            <a:endParaRPr sz="20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  <a:spcBef>
                <a:spcPts val="79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request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"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keep</a:t>
            </a:r>
            <a:r>
              <a:rPr sz="2000" i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trying"</a:t>
            </a:r>
            <a:r>
              <a:rPr sz="2000" i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during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period,</a:t>
            </a:r>
            <a:r>
              <a:rPr sz="20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instead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having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single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block/no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block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decision</a:t>
            </a:r>
            <a:endParaRPr sz="2000">
              <a:latin typeface="Times New Roman"/>
              <a:cs typeface="Times New Roman"/>
            </a:endParaRPr>
          </a:p>
          <a:p>
            <a:pPr marL="265430" marR="257175" algn="ctr">
              <a:lnSpc>
                <a:spcPts val="3220"/>
              </a:lnSpc>
              <a:spcBef>
                <a:spcPts val="70"/>
              </a:spcBef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prioritize</a:t>
            </a:r>
            <a:r>
              <a:rPr sz="20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requests</a:t>
            </a:r>
            <a:r>
              <a:rPr sz="2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(based</a:t>
            </a:r>
            <a:r>
              <a:rPr sz="2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on</a:t>
            </a:r>
            <a:r>
              <a:rPr sz="2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mobile speed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needed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calls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still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dropped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period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expires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046788" y="281763"/>
            <a:ext cx="7047865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b="0" u="none" dirty="0">
                <a:solidFill>
                  <a:srgbClr val="CACACA"/>
                </a:solidFill>
                <a:latin typeface="Arial"/>
                <a:cs typeface="Arial"/>
              </a:rPr>
              <a:t>Practical</a:t>
            </a:r>
            <a:r>
              <a:rPr sz="3800" b="0" u="none" spc="-150" dirty="0">
                <a:solidFill>
                  <a:srgbClr val="CACACA"/>
                </a:solidFill>
                <a:latin typeface="Arial"/>
                <a:cs typeface="Arial"/>
              </a:rPr>
              <a:t> </a:t>
            </a:r>
            <a:r>
              <a:rPr sz="3800" b="0" u="none" dirty="0">
                <a:solidFill>
                  <a:srgbClr val="CACACA"/>
                </a:solidFill>
                <a:latin typeface="Arial"/>
                <a:cs typeface="Arial"/>
              </a:rPr>
              <a:t>Handoff</a:t>
            </a:r>
            <a:r>
              <a:rPr sz="3800" b="0" u="none" spc="-160" dirty="0">
                <a:solidFill>
                  <a:srgbClr val="CACACA"/>
                </a:solidFill>
                <a:latin typeface="Arial"/>
                <a:cs typeface="Arial"/>
              </a:rPr>
              <a:t> </a:t>
            </a:r>
            <a:r>
              <a:rPr sz="3800" b="0" u="none" spc="-10" dirty="0">
                <a:solidFill>
                  <a:srgbClr val="CACACA"/>
                </a:solidFill>
                <a:latin typeface="Arial"/>
                <a:cs typeface="Arial"/>
              </a:rPr>
              <a:t>Considerations</a:t>
            </a:r>
            <a:endParaRPr sz="3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2004" y="762002"/>
            <a:ext cx="8379459" cy="530915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90500" rIns="0" bIns="0" rtlCol="0">
            <a:spAutoFit/>
          </a:bodyPr>
          <a:lstStyle/>
          <a:p>
            <a:pPr marL="397510">
              <a:lnSpc>
                <a:spcPct val="100000"/>
              </a:lnSpc>
              <a:spcBef>
                <a:spcPts val="150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Problems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occur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because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 a 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large</a:t>
            </a:r>
            <a:r>
              <a:rPr sz="2200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range</a:t>
            </a:r>
            <a:r>
              <a:rPr sz="22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200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mobile</a:t>
            </a:r>
            <a:r>
              <a:rPr sz="2200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velocities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52621" y="1378458"/>
            <a:ext cx="269621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pedestrian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vs.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vehicle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2088" y="1677771"/>
            <a:ext cx="7647940" cy="4650504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R="120650" algn="ctr">
              <a:lnSpc>
                <a:spcPct val="100000"/>
              </a:lnSpc>
              <a:spcBef>
                <a:spcPts val="92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Small</a:t>
            </a:r>
            <a:r>
              <a:rPr sz="22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sizes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and/or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micro-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sz="22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larger</a:t>
            </a:r>
            <a:r>
              <a:rPr sz="2200" i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#</a:t>
            </a:r>
            <a:r>
              <a:rPr sz="22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handoffs</a:t>
            </a:r>
            <a:endParaRPr sz="2200">
              <a:latin typeface="Times New Roman"/>
              <a:cs typeface="Times New Roman"/>
            </a:endParaRPr>
          </a:p>
          <a:p>
            <a:pPr marL="12065" marR="134620" algn="ctr">
              <a:lnSpc>
                <a:spcPct val="100000"/>
              </a:lnSpc>
              <a:spcBef>
                <a:spcPts val="81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MSC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load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heavy</a:t>
            </a:r>
            <a:r>
              <a:rPr sz="2200" i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when high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speed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users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passed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very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small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endParaRPr sz="2200">
              <a:latin typeface="Times New Roman"/>
              <a:cs typeface="Times New Roman"/>
            </a:endParaRPr>
          </a:p>
          <a:p>
            <a:pPr marR="123189" algn="ctr">
              <a:lnSpc>
                <a:spcPct val="100000"/>
              </a:lnSpc>
              <a:spcBef>
                <a:spcPts val="795"/>
              </a:spcBef>
            </a:pP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Umbrella</a:t>
            </a:r>
            <a:r>
              <a:rPr sz="22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endParaRPr sz="2200">
              <a:latin typeface="Times New Roman"/>
              <a:cs typeface="Times New Roman"/>
            </a:endParaRPr>
          </a:p>
          <a:p>
            <a:pPr marL="329565" algn="ctr">
              <a:lnSpc>
                <a:spcPct val="100000"/>
              </a:lnSpc>
              <a:spcBef>
                <a:spcPts val="80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 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different</a:t>
            </a:r>
            <a:r>
              <a:rPr sz="2000" i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antenna</a:t>
            </a:r>
            <a:r>
              <a:rPr sz="2000"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heights</a:t>
            </a:r>
            <a:r>
              <a:rPr sz="2000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Tx</a:t>
            </a:r>
            <a:r>
              <a:rPr sz="2000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power</a:t>
            </a:r>
            <a:r>
              <a:rPr sz="2000" i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levels</a:t>
            </a:r>
            <a:r>
              <a:rPr sz="20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provide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large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330200" algn="ctr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small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coverage</a:t>
            </a:r>
            <a:endParaRPr sz="2000">
              <a:latin typeface="Times New Roman"/>
              <a:cs typeface="Times New Roman"/>
            </a:endParaRPr>
          </a:p>
          <a:p>
            <a:pPr marL="328930" algn="ctr">
              <a:lnSpc>
                <a:spcPct val="100000"/>
              </a:lnSpc>
              <a:spcBef>
                <a:spcPts val="79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multiple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antennas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Tx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co-located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single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location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necessary</a:t>
            </a:r>
            <a:endParaRPr sz="2000">
              <a:latin typeface="Times New Roman"/>
              <a:cs typeface="Times New Roman"/>
            </a:endParaRPr>
          </a:p>
          <a:p>
            <a:pPr marL="323850" algn="ctr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(saves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obtaining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new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tower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licenses)</a:t>
            </a:r>
            <a:endParaRPr sz="2000">
              <a:latin typeface="Times New Roman"/>
              <a:cs typeface="Times New Roman"/>
            </a:endParaRPr>
          </a:p>
          <a:p>
            <a:pPr marL="1490980" marR="1155065" algn="ctr">
              <a:lnSpc>
                <a:spcPct val="133100"/>
              </a:lnSpc>
              <a:spcBef>
                <a:spcPts val="2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large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sz="20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high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speed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traffic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sz="20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fewer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handoffs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small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low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speed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traffic</a:t>
            </a:r>
            <a:endParaRPr sz="2000">
              <a:latin typeface="Times New Roman"/>
              <a:cs typeface="Times New Roman"/>
            </a:endParaRPr>
          </a:p>
          <a:p>
            <a:pPr marL="319405" algn="ctr">
              <a:lnSpc>
                <a:spcPct val="100000"/>
              </a:lnSpc>
              <a:spcBef>
                <a:spcPts val="79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areas:</a:t>
            </a:r>
            <a:r>
              <a:rPr sz="20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interstate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highway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passing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through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urban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center,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office</a:t>
            </a:r>
            <a:endParaRPr sz="2000">
              <a:latin typeface="Times New Roman"/>
              <a:cs typeface="Times New Roman"/>
            </a:endParaRPr>
          </a:p>
          <a:p>
            <a:pPr marL="327660" algn="ctr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park,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nearby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shopping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mall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4" y="761999"/>
            <a:ext cx="8379459" cy="759461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24150">
              <a:lnSpc>
                <a:spcPct val="100000"/>
              </a:lnSpc>
              <a:spcBef>
                <a:spcPts val="95"/>
              </a:spcBef>
            </a:pPr>
            <a:r>
              <a:rPr sz="38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Umbrella</a:t>
            </a:r>
            <a:r>
              <a:rPr sz="3800" b="0" u="none" spc="-15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8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Cells</a:t>
            </a:r>
            <a:endParaRPr sz="380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1722119"/>
            <a:ext cx="8229600" cy="42885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4" y="761999"/>
            <a:ext cx="8379459" cy="759461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6540">
              <a:lnSpc>
                <a:spcPct val="100000"/>
              </a:lnSpc>
              <a:spcBef>
                <a:spcPts val="95"/>
              </a:spcBef>
            </a:pPr>
            <a:r>
              <a:rPr sz="38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Typical</a:t>
            </a:r>
            <a:r>
              <a:rPr sz="3800" b="0" u="none" spc="-13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8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handoff</a:t>
            </a:r>
            <a:r>
              <a:rPr sz="3800" b="0" u="none" spc="-9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8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parameters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67358" y="1554537"/>
            <a:ext cx="7123430" cy="4537139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R="448945" algn="ctr">
              <a:lnSpc>
                <a:spcPct val="100000"/>
              </a:lnSpc>
              <a:spcBef>
                <a:spcPts val="40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Analog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cellular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(1st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generation)</a:t>
            </a:r>
            <a:endParaRPr sz="22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42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threshold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margin</a:t>
            </a:r>
            <a:r>
              <a:rPr sz="3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MS PGothic"/>
                <a:cs typeface="MS PGothic"/>
              </a:rPr>
              <a:t>△</a:t>
            </a:r>
            <a:r>
              <a:rPr sz="3200" spc="-235" dirty="0">
                <a:solidFill>
                  <a:srgbClr val="FFFFFF"/>
                </a:solidFill>
                <a:latin typeface="MS PGothic"/>
                <a:cs typeface="MS PGothic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≈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dB</a:t>
            </a:r>
            <a:endParaRPr sz="3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total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32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complete</a:t>
            </a:r>
            <a:r>
              <a:rPr sz="3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≈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sec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3200">
              <a:latin typeface="Times New Roman"/>
              <a:cs typeface="Times New Roman"/>
            </a:endParaRPr>
          </a:p>
          <a:p>
            <a:pPr marR="445134" algn="ctr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Digital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cellular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(2nd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generation)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total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32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complete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≈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sec</a:t>
            </a:r>
            <a:endParaRPr sz="3200">
              <a:latin typeface="Times New Roman"/>
              <a:cs typeface="Times New Roman"/>
            </a:endParaRPr>
          </a:p>
          <a:p>
            <a:pPr marL="43180" marR="36195" algn="ctr">
              <a:lnSpc>
                <a:spcPts val="3429"/>
              </a:lnSpc>
              <a:spcBef>
                <a:spcPts val="91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lower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necessary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threshold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margin</a:t>
            </a:r>
            <a:r>
              <a:rPr sz="32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MS PGothic"/>
                <a:cs typeface="MS PGothic"/>
              </a:rPr>
              <a:t>△</a:t>
            </a:r>
            <a:r>
              <a:rPr sz="3200" spc="-229" dirty="0">
                <a:solidFill>
                  <a:srgbClr val="FFFFFF"/>
                </a:solidFill>
                <a:latin typeface="MS PGothic"/>
                <a:cs typeface="MS PGothic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≈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dB</a:t>
            </a:r>
            <a:endParaRPr sz="3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6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enabled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mobile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assisted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4" y="761999"/>
            <a:ext cx="8379459" cy="759461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123057" y="229949"/>
            <a:ext cx="289687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Reuse</a:t>
            </a:r>
            <a:r>
              <a:rPr sz="4400" b="0" u="none" spc="-8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Ratio: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5888" y="915266"/>
            <a:ext cx="7671434" cy="1774716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  <a:tabLst>
                <a:tab pos="6415405" algn="l"/>
              </a:tabLst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hexagonal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reuse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distance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given</a:t>
            </a:r>
            <a:r>
              <a:rPr sz="2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D=R(</a:t>
            </a:r>
            <a:r>
              <a:rPr sz="2200" spc="-10" dirty="0">
                <a:solidFill>
                  <a:srgbClr val="FF0000"/>
                </a:solidFill>
                <a:latin typeface="Arial"/>
                <a:cs typeface="Arial"/>
              </a:rPr>
              <a:t>√3N)</a:t>
            </a:r>
            <a:endParaRPr sz="2200">
              <a:latin typeface="Arial"/>
              <a:cs typeface="Arial"/>
            </a:endParaRPr>
          </a:p>
          <a:p>
            <a:pPr marL="487680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Where</a:t>
            </a:r>
            <a:r>
              <a:rPr sz="22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cell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size</a:t>
            </a:r>
            <a:r>
              <a:rPr sz="2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cell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radius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cluster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size</a:t>
            </a:r>
            <a:endParaRPr sz="2200">
              <a:latin typeface="Arial"/>
              <a:cs typeface="Arial"/>
            </a:endParaRPr>
          </a:p>
          <a:p>
            <a:pPr marL="1438910" marR="1433195" indent="548640">
              <a:lnSpc>
                <a:spcPct val="130100"/>
              </a:lnSpc>
              <a:spcBef>
                <a:spcPts val="20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increases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we increase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N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Reuse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factor</a:t>
            </a:r>
            <a:r>
              <a:rPr sz="22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given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2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Arial"/>
                <a:cs typeface="Arial"/>
              </a:rPr>
              <a:t>Q=D/R=(√3N)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4" y="761999"/>
            <a:ext cx="8379459" cy="759461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211452" y="-105711"/>
            <a:ext cx="272224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Interference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91920" y="986393"/>
            <a:ext cx="7155180" cy="2394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26385" marR="1837689" indent="-979169">
              <a:lnSpc>
                <a:spcPct val="120700"/>
              </a:lnSpc>
              <a:spcBef>
                <a:spcPts val="10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Goals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section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Co-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endParaRPr sz="3200">
              <a:latin typeface="Times New Roman"/>
              <a:cs typeface="Times New Roman"/>
            </a:endParaRPr>
          </a:p>
          <a:p>
            <a:pPr marL="2344420">
              <a:lnSpc>
                <a:spcPct val="100000"/>
              </a:lnSpc>
              <a:spcBef>
                <a:spcPts val="79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Adjacent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How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calculate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ratio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4" y="761999"/>
            <a:ext cx="8379459" cy="759461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40355">
              <a:lnSpc>
                <a:spcPct val="100000"/>
              </a:lnSpc>
              <a:spcBef>
                <a:spcPts val="95"/>
              </a:spcBef>
            </a:pPr>
            <a:r>
              <a:rPr sz="44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Interference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5516" y="1165100"/>
            <a:ext cx="7585709" cy="436311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indent="-1905" algn="ctr">
              <a:lnSpc>
                <a:spcPct val="100000"/>
              </a:lnSpc>
              <a:spcBef>
                <a:spcPts val="9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major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limiting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factor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performance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cellular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radio.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32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limits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capacity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increases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dropped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calls.</a:t>
            </a:r>
            <a:endParaRPr sz="3200">
              <a:latin typeface="Times New Roman"/>
              <a:cs typeface="Times New Roman"/>
            </a:endParaRPr>
          </a:p>
          <a:p>
            <a:pPr marL="1722755" marR="1251585" indent="-461009">
              <a:lnSpc>
                <a:spcPct val="120700"/>
              </a:lnSpc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Sources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include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Another</a:t>
            </a:r>
            <a:r>
              <a:rPr sz="32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mobile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cell</a:t>
            </a:r>
            <a:endParaRPr sz="3200">
              <a:latin typeface="Times New Roman"/>
              <a:cs typeface="Times New Roman"/>
            </a:endParaRPr>
          </a:p>
          <a:p>
            <a:pPr marL="459740" algn="ctr">
              <a:lnSpc>
                <a:spcPct val="100000"/>
              </a:lnSpc>
              <a:spcBef>
                <a:spcPts val="819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call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progress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neighboring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endParaRPr sz="3200">
              <a:latin typeface="Times New Roman"/>
              <a:cs typeface="Times New Roman"/>
            </a:endParaRPr>
          </a:p>
          <a:p>
            <a:pPr marL="524510" marR="54610" algn="ctr">
              <a:lnSpc>
                <a:spcPct val="100000"/>
              </a:lnSpc>
              <a:spcBef>
                <a:spcPts val="79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BSs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operating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3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frequency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band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4" y="761999"/>
            <a:ext cx="8379459" cy="759461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20570">
              <a:lnSpc>
                <a:spcPct val="100000"/>
              </a:lnSpc>
              <a:spcBef>
                <a:spcPts val="95"/>
              </a:spcBef>
            </a:pPr>
            <a:r>
              <a:rPr sz="38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Effects</a:t>
            </a:r>
            <a:r>
              <a:rPr sz="3800" b="0" u="none" spc="-4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8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of</a:t>
            </a:r>
            <a:r>
              <a:rPr sz="3800" b="0" u="none" spc="-3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8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Interference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97253" y="1063675"/>
            <a:ext cx="6592570" cy="4752968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89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voice</a:t>
            </a:r>
            <a:r>
              <a:rPr sz="32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channels</a:t>
            </a:r>
            <a:r>
              <a:rPr sz="32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causes</a:t>
            </a:r>
            <a:endParaRPr sz="3200">
              <a:latin typeface="Times New Roman"/>
              <a:cs typeface="Times New Roman"/>
            </a:endParaRPr>
          </a:p>
          <a:p>
            <a:pPr marL="1707514" marR="1489075" indent="926465">
              <a:lnSpc>
                <a:spcPts val="4630"/>
              </a:lnSpc>
              <a:spcBef>
                <a:spcPts val="285"/>
              </a:spcBef>
            </a:pP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Crosstalk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Noise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background</a:t>
            </a:r>
            <a:endParaRPr sz="3200">
              <a:latin typeface="Times New Roman"/>
              <a:cs typeface="Times New Roman"/>
            </a:endParaRPr>
          </a:p>
          <a:p>
            <a:pPr marL="220345" marR="5080" indent="-207645">
              <a:lnSpc>
                <a:spcPts val="4640"/>
              </a:lnSpc>
              <a:spcBef>
                <a:spcPts val="2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control</a:t>
            </a:r>
            <a:r>
              <a:rPr sz="32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channels</a:t>
            </a:r>
            <a:r>
              <a:rPr sz="32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causes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Error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digital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signaling,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causes</a:t>
            </a:r>
            <a:endParaRPr sz="3200">
              <a:latin typeface="Times New Roman"/>
              <a:cs typeface="Times New Roman"/>
            </a:endParaRPr>
          </a:p>
          <a:p>
            <a:pPr marL="2622550">
              <a:lnSpc>
                <a:spcPct val="100000"/>
              </a:lnSpc>
              <a:spcBef>
                <a:spcPts val="50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Missed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calls</a:t>
            </a:r>
            <a:endParaRPr sz="3200">
              <a:latin typeface="Times New Roman"/>
              <a:cs typeface="Times New Roman"/>
            </a:endParaRPr>
          </a:p>
          <a:p>
            <a:pPr marL="2497455" marR="1819910" indent="33020">
              <a:lnSpc>
                <a:spcPct val="120700"/>
              </a:lnSpc>
              <a:spcBef>
                <a:spcPts val="2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Blocked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calls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Dropped</a:t>
            </a:r>
            <a:r>
              <a:rPr sz="3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calls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394709" y="278715"/>
            <a:ext cx="2354580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Interference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2004" y="762001"/>
            <a:ext cx="8379459" cy="775853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977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70"/>
              </a:spcBef>
            </a:pPr>
            <a:endParaRPr sz="2200">
              <a:latin typeface="Times New Roman"/>
              <a:cs typeface="Times New Roman"/>
            </a:endParaRPr>
          </a:p>
          <a:p>
            <a:pPr marL="1943735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major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types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Interferences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7020" y="1504040"/>
            <a:ext cx="7903209" cy="2115322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463550" algn="ctr">
              <a:lnSpc>
                <a:spcPct val="100000"/>
              </a:lnSpc>
              <a:spcBef>
                <a:spcPts val="894"/>
              </a:spcBef>
            </a:pP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Co-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channel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Interference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(CCI)</a:t>
            </a:r>
            <a:endParaRPr sz="2200">
              <a:latin typeface="Times New Roman"/>
              <a:cs typeface="Times New Roman"/>
            </a:endParaRPr>
          </a:p>
          <a:p>
            <a:pPr marL="462280"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Adjacent</a:t>
            </a:r>
            <a:r>
              <a:rPr sz="2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channel</a:t>
            </a:r>
            <a:r>
              <a:rPr sz="2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Interference</a:t>
            </a:r>
            <a:r>
              <a:rPr sz="220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(ACI)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81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CCI is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caused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due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 the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reuse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same frequency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set.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These</a:t>
            </a:r>
            <a:endParaRPr sz="2200">
              <a:latin typeface="Times New Roman"/>
              <a:cs typeface="Times New Roman"/>
            </a:endParaRPr>
          </a:p>
          <a:p>
            <a:pPr marL="3810"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frequency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called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Co-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channel</a:t>
            </a:r>
            <a:r>
              <a:rPr sz="22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cells</a:t>
            </a:r>
            <a:endParaRPr sz="2200">
              <a:latin typeface="Times New Roman"/>
              <a:cs typeface="Times New Roman"/>
            </a:endParaRPr>
          </a:p>
          <a:p>
            <a:pPr marL="1905"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ACI</a:t>
            </a:r>
            <a:r>
              <a:rPr sz="22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caused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due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signals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adjacent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frequency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970658" y="281763"/>
            <a:ext cx="5201920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b="0" u="none" spc="-25" dirty="0">
                <a:solidFill>
                  <a:srgbClr val="006FC0"/>
                </a:solidFill>
                <a:latin typeface="Arial"/>
                <a:cs typeface="Arial"/>
              </a:rPr>
              <a:t>Co-</a:t>
            </a:r>
            <a:r>
              <a:rPr sz="3800" b="0" u="none" dirty="0">
                <a:solidFill>
                  <a:srgbClr val="006FC0"/>
                </a:solidFill>
                <a:latin typeface="Arial"/>
                <a:cs typeface="Arial"/>
              </a:rPr>
              <a:t>channel</a:t>
            </a:r>
            <a:r>
              <a:rPr sz="3800" b="0" u="none" spc="-114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800" b="0" u="none" spc="-10" dirty="0">
                <a:solidFill>
                  <a:srgbClr val="006FC0"/>
                </a:solidFill>
                <a:latin typeface="Arial"/>
                <a:cs typeface="Arial"/>
              </a:rPr>
              <a:t>Interference</a:t>
            </a:r>
            <a:endParaRPr sz="3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2004" y="762001"/>
            <a:ext cx="8379459" cy="607859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266700" rIns="0" bIns="0" rtlCol="0">
            <a:spAutoFit/>
          </a:bodyPr>
          <a:lstStyle/>
          <a:p>
            <a:pPr marL="358140">
              <a:lnSpc>
                <a:spcPct val="100000"/>
              </a:lnSpc>
              <a:spcBef>
                <a:spcPts val="210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Increase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station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Tx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improve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radio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reception?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93088" y="1454658"/>
            <a:ext cx="7371080" cy="33970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also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increase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co-channel cells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endParaRPr sz="2000">
              <a:latin typeface="Times New Roman"/>
              <a:cs typeface="Times New Roman"/>
            </a:endParaRPr>
          </a:p>
          <a:p>
            <a:pPr marL="3677285">
              <a:lnSpc>
                <a:spcPct val="100000"/>
              </a:lnSpc>
            </a:pP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amount</a:t>
            </a:r>
            <a:endParaRPr sz="2000">
              <a:latin typeface="Times New Roman"/>
              <a:cs typeface="Times New Roman"/>
            </a:endParaRPr>
          </a:p>
          <a:p>
            <a:pPr marL="2817495">
              <a:lnSpc>
                <a:spcPct val="100000"/>
              </a:lnSpc>
              <a:spcBef>
                <a:spcPts val="79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improvement</a:t>
            </a:r>
            <a:endParaRPr sz="2000">
              <a:latin typeface="Times New Roman"/>
              <a:cs typeface="Times New Roman"/>
            </a:endParaRPr>
          </a:p>
          <a:p>
            <a:pPr marL="847725" marR="152400" indent="-835660">
              <a:lnSpc>
                <a:spcPct val="100000"/>
              </a:lnSpc>
              <a:spcBef>
                <a:spcPts val="81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Separate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co-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some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minimum</a:t>
            </a:r>
            <a:r>
              <a:rPr sz="22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distance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provide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sufficient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isolation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propagation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radio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signals?</a:t>
            </a:r>
            <a:endParaRPr sz="2200">
              <a:latin typeface="Times New Roman"/>
              <a:cs typeface="Times New Roman"/>
            </a:endParaRPr>
          </a:p>
          <a:p>
            <a:pPr marL="796290" marR="59055" indent="66675">
              <a:lnSpc>
                <a:spcPct val="100000"/>
              </a:lnSpc>
              <a:spcBef>
                <a:spcPts val="75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sizes,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transmit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powers,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coverage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patterns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≈</a:t>
            </a:r>
            <a:r>
              <a:rPr sz="1600" spc="3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3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sz="2400" b="1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co-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independent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Tx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970658" y="281763"/>
            <a:ext cx="5201920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b="0" u="none" spc="-25" dirty="0">
                <a:solidFill>
                  <a:srgbClr val="006FC0"/>
                </a:solidFill>
                <a:latin typeface="Arial"/>
                <a:cs typeface="Arial"/>
              </a:rPr>
              <a:t>Co-</a:t>
            </a:r>
            <a:r>
              <a:rPr sz="3800" b="0" u="none" dirty="0">
                <a:solidFill>
                  <a:srgbClr val="006FC0"/>
                </a:solidFill>
                <a:latin typeface="Arial"/>
                <a:cs typeface="Arial"/>
              </a:rPr>
              <a:t>channel</a:t>
            </a:r>
            <a:r>
              <a:rPr sz="3800" b="0" u="none" spc="-114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800" b="0" u="none" spc="-10" dirty="0">
                <a:solidFill>
                  <a:srgbClr val="006FC0"/>
                </a:solidFill>
                <a:latin typeface="Arial"/>
                <a:cs typeface="Arial"/>
              </a:rPr>
              <a:t>Interference</a:t>
            </a:r>
            <a:endParaRPr sz="3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2004" y="762001"/>
            <a:ext cx="8379459" cy="607859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266700" rIns="0" bIns="0" rtlCol="0">
            <a:spAutoFit/>
          </a:bodyPr>
          <a:lstStyle/>
          <a:p>
            <a:pPr marL="1788160">
              <a:lnSpc>
                <a:spcPct val="100000"/>
              </a:lnSpc>
              <a:spcBef>
                <a:spcPts val="2100"/>
              </a:spcBef>
            </a:pP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co-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depends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on: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85646" y="1354514"/>
            <a:ext cx="6630034" cy="770083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885"/>
              </a:spcBef>
            </a:pPr>
            <a:r>
              <a:rPr sz="1800" i="1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180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radius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1800" i="1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1800" i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distance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station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nearest</a:t>
            </a:r>
            <a:r>
              <a:rPr sz="18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co-channel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1800" spc="4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where</a:t>
            </a:r>
            <a:r>
              <a:rPr sz="18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D=R(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√3N)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64564" y="2454253"/>
            <a:ext cx="7332980" cy="412356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R="317500" algn="ctr">
              <a:lnSpc>
                <a:spcPct val="100000"/>
              </a:lnSpc>
              <a:spcBef>
                <a:spcPts val="10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FFFF"/>
                </a:solidFill>
                <a:latin typeface="Times New Roman"/>
                <a:cs typeface="Times New Roman"/>
              </a:rPr>
              <a:t>D/R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↑ then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spatial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separation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relative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coverage area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↑</a:t>
            </a:r>
            <a:endParaRPr sz="2200">
              <a:latin typeface="Times New Roman"/>
              <a:cs typeface="Times New Roman"/>
            </a:endParaRPr>
          </a:p>
          <a:p>
            <a:pPr marL="142240" algn="ctr">
              <a:lnSpc>
                <a:spcPct val="100000"/>
              </a:lnSpc>
              <a:spcBef>
                <a:spcPts val="81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improved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isolation</a:t>
            </a:r>
            <a:r>
              <a:rPr sz="1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co-channel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RF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energy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85"/>
              </a:spcBef>
            </a:pPr>
            <a:endParaRPr sz="1800">
              <a:latin typeface="Times New Roman"/>
              <a:cs typeface="Times New Roman"/>
            </a:endParaRPr>
          </a:p>
          <a:p>
            <a:pPr marR="312420" algn="ctr">
              <a:lnSpc>
                <a:spcPct val="100000"/>
              </a:lnSpc>
            </a:pPr>
            <a:r>
              <a:rPr sz="2200" i="1" dirty="0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sz="220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200" i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20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z="2200" i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200" i="1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co-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reuse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ratio</a:t>
            </a:r>
            <a:endParaRPr sz="2200">
              <a:latin typeface="Times New Roman"/>
              <a:cs typeface="Times New Roman"/>
            </a:endParaRPr>
          </a:p>
          <a:p>
            <a:pPr marL="38100" algn="ctr">
              <a:lnSpc>
                <a:spcPct val="100000"/>
              </a:lnSpc>
              <a:spcBef>
                <a:spcPts val="82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hexagonal</a:t>
            </a:r>
            <a:r>
              <a:rPr sz="20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cells</a:t>
            </a:r>
            <a:r>
              <a:rPr sz="20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20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FFFFFF"/>
                </a:solidFill>
                <a:latin typeface="Arial"/>
                <a:cs typeface="Arial"/>
              </a:rPr>
              <a:t>Q</a:t>
            </a:r>
            <a:r>
              <a:rPr sz="2000" i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2000" i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FFFFFF"/>
                </a:solidFill>
                <a:latin typeface="Arial"/>
                <a:cs typeface="Arial"/>
              </a:rPr>
              <a:t>D/R</a:t>
            </a:r>
            <a:r>
              <a:rPr sz="20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2000" i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√3N</a:t>
            </a:r>
            <a:endParaRPr sz="2000">
              <a:latin typeface="Arial"/>
              <a:cs typeface="Arial"/>
            </a:endParaRPr>
          </a:p>
          <a:p>
            <a:pPr marR="309880" algn="ctr">
              <a:lnSpc>
                <a:spcPct val="100000"/>
              </a:lnSpc>
              <a:spcBef>
                <a:spcPts val="78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Smaller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value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provides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larger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capacity,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but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higher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CCI</a:t>
            </a:r>
            <a:endParaRPr sz="2200">
              <a:latin typeface="Times New Roman"/>
              <a:cs typeface="Times New Roman"/>
            </a:endParaRPr>
          </a:p>
          <a:p>
            <a:pPr marR="318135"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Hence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there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tradeoff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capacity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interference.</a:t>
            </a:r>
            <a:endParaRPr sz="2200">
              <a:latin typeface="Times New Roman"/>
              <a:cs typeface="Times New Roman"/>
            </a:endParaRPr>
          </a:p>
          <a:p>
            <a:pPr marL="139065" algn="ctr">
              <a:lnSpc>
                <a:spcPct val="100000"/>
              </a:lnSpc>
              <a:spcBef>
                <a:spcPts val="82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small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Q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small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cluster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size</a:t>
            </a:r>
            <a:r>
              <a:rPr sz="20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more</a:t>
            </a:r>
            <a:r>
              <a:rPr sz="20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frequency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reuse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larger</a:t>
            </a:r>
            <a:endParaRPr sz="2000">
              <a:latin typeface="Arial"/>
              <a:cs typeface="Arial"/>
            </a:endParaRPr>
          </a:p>
          <a:p>
            <a:pPr marL="144780" algn="ctr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sz="20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capacity</a:t>
            </a:r>
            <a:endParaRPr sz="2000">
              <a:latin typeface="Arial"/>
              <a:cs typeface="Arial"/>
            </a:endParaRPr>
          </a:p>
          <a:p>
            <a:pPr marL="144145" algn="ctr">
              <a:lnSpc>
                <a:spcPct val="100000"/>
              </a:lnSpc>
              <a:spcBef>
                <a:spcPts val="39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small</a:t>
            </a:r>
            <a:r>
              <a:rPr sz="20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Q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20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small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cell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separation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000" spc="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000" spc="-1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600" spc="-1604" baseline="-2199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000" spc="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000" spc="-107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600" spc="-232" baseline="-21990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2000" spc="-97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3600" spc="-7" baseline="-21990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3600" spc="-405" baseline="-219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CCI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4" y="761999"/>
            <a:ext cx="8379459" cy="759461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55395">
              <a:lnSpc>
                <a:spcPct val="100000"/>
              </a:lnSpc>
              <a:spcBef>
                <a:spcPts val="95"/>
              </a:spcBef>
            </a:pPr>
            <a:r>
              <a:rPr sz="3800" b="0" u="none" dirty="0">
                <a:solidFill>
                  <a:srgbClr val="006FC0"/>
                </a:solidFill>
                <a:latin typeface="Times New Roman"/>
                <a:cs typeface="Times New Roman"/>
              </a:rPr>
              <a:t>Signal</a:t>
            </a:r>
            <a:r>
              <a:rPr sz="3800" b="0" u="none" spc="-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800" b="0" u="none" dirty="0">
                <a:solidFill>
                  <a:srgbClr val="006FC0"/>
                </a:solidFill>
                <a:latin typeface="Times New Roman"/>
                <a:cs typeface="Times New Roman"/>
              </a:rPr>
              <a:t>to</a:t>
            </a:r>
            <a:r>
              <a:rPr sz="3800" b="0" u="none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800" b="0" u="none" dirty="0">
                <a:solidFill>
                  <a:srgbClr val="006FC0"/>
                </a:solidFill>
                <a:latin typeface="Times New Roman"/>
                <a:cs typeface="Times New Roman"/>
              </a:rPr>
              <a:t>Interference</a:t>
            </a:r>
            <a:r>
              <a:rPr sz="3800" b="0" u="none" spc="-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800" b="0" u="none" dirty="0">
                <a:solidFill>
                  <a:srgbClr val="006FC0"/>
                </a:solidFill>
                <a:latin typeface="Times New Roman"/>
                <a:cs typeface="Times New Roman"/>
              </a:rPr>
              <a:t>ratio</a:t>
            </a:r>
            <a:r>
              <a:rPr sz="3800" b="0" u="none" spc="-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800" b="0" u="none" spc="-25" dirty="0">
                <a:solidFill>
                  <a:srgbClr val="006FC0"/>
                </a:solidFill>
                <a:latin typeface="Times New Roman"/>
                <a:cs typeface="Times New Roman"/>
              </a:rPr>
              <a:t>S/I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20727" y="1091262"/>
            <a:ext cx="5701665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006FC0"/>
                </a:solidFill>
                <a:latin typeface="Arial"/>
                <a:cs typeface="Arial"/>
              </a:rPr>
              <a:t>Signal-to-</a:t>
            </a:r>
            <a:r>
              <a:rPr sz="2200" dirty="0">
                <a:solidFill>
                  <a:srgbClr val="006FC0"/>
                </a:solidFill>
                <a:latin typeface="Arial"/>
                <a:cs typeface="Arial"/>
              </a:rPr>
              <a:t>Interference</a:t>
            </a:r>
            <a:r>
              <a:rPr sz="2200" spc="-9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6FC0"/>
                </a:solidFill>
                <a:latin typeface="Arial"/>
                <a:cs typeface="Arial"/>
              </a:rPr>
              <a:t>(S/I)</a:t>
            </a:r>
            <a:r>
              <a:rPr sz="2200" spc="-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 mobile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endParaRPr sz="2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7308" y="3134238"/>
            <a:ext cx="8087995" cy="3132909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946150">
              <a:lnSpc>
                <a:spcPct val="100000"/>
              </a:lnSpc>
              <a:spcBef>
                <a:spcPts val="750"/>
              </a:spcBef>
            </a:pPr>
            <a:r>
              <a:rPr sz="1800" i="1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180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desired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r>
              <a:rPr sz="18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1800" i="1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1800" i="1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1800" i="1" spc="172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interference power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1800" i="1" baseline="16203" dirty="0">
                <a:solidFill>
                  <a:srgbClr val="FFFFFF"/>
                </a:solidFill>
                <a:latin typeface="Times New Roman"/>
                <a:cs typeface="Times New Roman"/>
              </a:rPr>
              <a:t>th</a:t>
            </a:r>
            <a:r>
              <a:rPr sz="1800" i="1" spc="187" baseline="16203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co-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endParaRPr sz="18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  <a:spcBef>
                <a:spcPts val="800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average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received power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distance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endParaRPr sz="2200">
              <a:latin typeface="Arial"/>
              <a:cs typeface="Arial"/>
            </a:endParaRPr>
          </a:p>
          <a:p>
            <a:pPr marL="5080" algn="ctr">
              <a:lnSpc>
                <a:spcPct val="100000"/>
              </a:lnSpc>
              <a:spcBef>
                <a:spcPts val="810"/>
              </a:spcBef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2400" baseline="-20833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=Po</a:t>
            </a:r>
            <a:r>
              <a:rPr sz="24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(d/d</a:t>
            </a:r>
            <a:r>
              <a:rPr sz="2400" spc="-30" baseline="-20833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2400" spc="-30" baseline="2430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400" spc="-75" baseline="2430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400" baseline="24305">
              <a:latin typeface="Arial"/>
              <a:cs typeface="Arial"/>
            </a:endParaRPr>
          </a:p>
          <a:p>
            <a:pPr marL="19050" algn="ctr">
              <a:lnSpc>
                <a:spcPct val="100000"/>
              </a:lnSpc>
              <a:spcBef>
                <a:spcPts val="810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RSS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decays</a:t>
            </a:r>
            <a:r>
              <a:rPr sz="20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0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power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law</a:t>
            </a:r>
            <a:r>
              <a:rPr sz="20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distance</a:t>
            </a:r>
            <a:r>
              <a:rPr sz="20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separation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 between</a:t>
            </a:r>
            <a:endParaRPr sz="2000">
              <a:latin typeface="Arial"/>
              <a:cs typeface="Arial"/>
            </a:endParaRPr>
          </a:p>
          <a:p>
            <a:pPr marL="7620" algn="ctr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transmitter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receiver</a:t>
            </a:r>
            <a:endParaRPr sz="2000">
              <a:latin typeface="Arial"/>
              <a:cs typeface="Arial"/>
            </a:endParaRPr>
          </a:p>
          <a:p>
            <a:pPr marL="1270" algn="ctr">
              <a:lnSpc>
                <a:spcPct val="100000"/>
              </a:lnSpc>
              <a:spcBef>
                <a:spcPts val="790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Where</a:t>
            </a:r>
            <a:r>
              <a:rPr sz="2000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2025" baseline="-20576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025" spc="735" baseline="-2057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received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power at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reference</a:t>
            </a:r>
            <a:r>
              <a:rPr sz="20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distance d</a:t>
            </a:r>
            <a:r>
              <a:rPr sz="2025" baseline="-20576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025" spc="-60" baseline="-2057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000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path</a:t>
            </a:r>
            <a:endParaRPr sz="2000">
              <a:latin typeface="Arial"/>
              <a:cs typeface="Arial"/>
            </a:endParaRPr>
          </a:p>
          <a:p>
            <a:pPr marL="5080" algn="ctr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loss</a:t>
            </a:r>
            <a:r>
              <a:rPr sz="20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exponent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0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ranges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between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2-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If</a:t>
            </a:r>
            <a:r>
              <a:rPr sz="2000" spc="25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2025" baseline="-20576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025" spc="-30" baseline="-2057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distance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0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025" baseline="24691" dirty="0">
                <a:solidFill>
                  <a:srgbClr val="FFFFFF"/>
                </a:solidFill>
                <a:latin typeface="Arial"/>
                <a:cs typeface="Arial"/>
              </a:rPr>
              <a:t>th</a:t>
            </a:r>
            <a:r>
              <a:rPr sz="2025" spc="179" baseline="2469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interferer,</a:t>
            </a:r>
            <a:r>
              <a:rPr sz="20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received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power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proportional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62628" y="6226862"/>
            <a:ext cx="62230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(D</a:t>
            </a:r>
            <a:r>
              <a:rPr sz="2025" spc="-15" baseline="-20576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2025" spc="-15" baseline="24691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025" spc="-75" baseline="24691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025" baseline="24691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634988" y="6271056"/>
            <a:ext cx="4826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101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81200" y="1524000"/>
            <a:ext cx="4251960" cy="13472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4" y="761999"/>
            <a:ext cx="8379459" cy="759461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98855">
              <a:lnSpc>
                <a:spcPct val="100000"/>
              </a:lnSpc>
              <a:spcBef>
                <a:spcPts val="95"/>
              </a:spcBef>
            </a:pPr>
            <a:r>
              <a:rPr sz="3800" b="0" u="none" dirty="0">
                <a:solidFill>
                  <a:srgbClr val="006FC0"/>
                </a:solidFill>
                <a:latin typeface="Arial"/>
                <a:cs typeface="Arial"/>
              </a:rPr>
              <a:t>Signal</a:t>
            </a:r>
            <a:r>
              <a:rPr sz="3800" b="0" u="none" spc="-6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800" b="0" u="none" dirty="0">
                <a:solidFill>
                  <a:srgbClr val="006FC0"/>
                </a:solidFill>
                <a:latin typeface="Arial"/>
                <a:cs typeface="Arial"/>
              </a:rPr>
              <a:t>to</a:t>
            </a:r>
            <a:r>
              <a:rPr sz="3800" b="0" u="none" spc="-8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800" b="0" u="none" dirty="0">
                <a:solidFill>
                  <a:srgbClr val="006FC0"/>
                </a:solidFill>
                <a:latin typeface="Arial"/>
                <a:cs typeface="Arial"/>
              </a:rPr>
              <a:t>Interference</a:t>
            </a:r>
            <a:r>
              <a:rPr sz="3800" b="0" u="none" spc="-1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800" b="0" u="none" dirty="0">
                <a:solidFill>
                  <a:srgbClr val="006FC0"/>
                </a:solidFill>
                <a:latin typeface="Arial"/>
                <a:cs typeface="Arial"/>
              </a:rPr>
              <a:t>ratio</a:t>
            </a:r>
            <a:r>
              <a:rPr sz="3800" b="0" u="none" spc="-8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800" b="0" u="none" spc="-25" dirty="0">
                <a:solidFill>
                  <a:srgbClr val="006FC0"/>
                </a:solidFill>
                <a:latin typeface="Arial"/>
                <a:cs typeface="Arial"/>
              </a:rPr>
              <a:t>S/I</a:t>
            </a:r>
            <a:endParaRPr sz="3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76169" y="1091262"/>
            <a:ext cx="3394710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S/I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mobile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given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1884" y="4925421"/>
            <a:ext cx="7778115" cy="89447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1430" algn="ctr">
              <a:lnSpc>
                <a:spcPct val="100000"/>
              </a:lnSpc>
              <a:spcBef>
                <a:spcPts val="894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only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first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tier(layer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of)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equidistant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interferers.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hexagonal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cluster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size,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always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have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CC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first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tier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31180" y="3937369"/>
            <a:ext cx="267970" cy="0"/>
          </a:xfrm>
          <a:custGeom>
            <a:avLst/>
            <a:gdLst/>
            <a:ahLst/>
            <a:cxnLst/>
            <a:rect l="l" t="t" r="r" b="b"/>
            <a:pathLst>
              <a:path w="267969">
                <a:moveTo>
                  <a:pt x="0" y="0"/>
                </a:moveTo>
                <a:lnTo>
                  <a:pt x="267353" y="0"/>
                </a:lnTo>
              </a:path>
            </a:pathLst>
          </a:custGeom>
          <a:ln w="88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20419" y="3937369"/>
            <a:ext cx="1414145" cy="0"/>
          </a:xfrm>
          <a:custGeom>
            <a:avLst/>
            <a:gdLst/>
            <a:ahLst/>
            <a:cxnLst/>
            <a:rect l="l" t="t" r="r" b="b"/>
            <a:pathLst>
              <a:path w="1414145">
                <a:moveTo>
                  <a:pt x="0" y="0"/>
                </a:moveTo>
                <a:lnTo>
                  <a:pt x="1414115" y="0"/>
                </a:lnTo>
              </a:path>
            </a:pathLst>
          </a:custGeom>
          <a:ln w="88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656415" y="3937369"/>
            <a:ext cx="1229995" cy="0"/>
          </a:xfrm>
          <a:custGeom>
            <a:avLst/>
            <a:gdLst/>
            <a:ahLst/>
            <a:cxnLst/>
            <a:rect l="l" t="t" r="r" b="b"/>
            <a:pathLst>
              <a:path w="1229995">
                <a:moveTo>
                  <a:pt x="0" y="0"/>
                </a:moveTo>
                <a:lnTo>
                  <a:pt x="1229415" y="0"/>
                </a:lnTo>
              </a:path>
            </a:pathLst>
          </a:custGeom>
          <a:ln w="88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5471890" y="3634698"/>
            <a:ext cx="749935" cy="247015"/>
            <a:chOff x="5471886" y="3634695"/>
            <a:chExt cx="749935" cy="247015"/>
          </a:xfrm>
        </p:grpSpPr>
        <p:sp>
          <p:nvSpPr>
            <p:cNvPr id="23" name="object 23"/>
            <p:cNvSpPr/>
            <p:nvPr/>
          </p:nvSpPr>
          <p:spPr>
            <a:xfrm>
              <a:off x="5477216" y="3786489"/>
              <a:ext cx="49530" cy="18415"/>
            </a:xfrm>
            <a:custGeom>
              <a:avLst/>
              <a:gdLst/>
              <a:ahLst/>
              <a:cxnLst/>
              <a:rect l="l" t="t" r="r" b="b"/>
              <a:pathLst>
                <a:path w="49529" h="18414">
                  <a:moveTo>
                    <a:pt x="0" y="18187"/>
                  </a:moveTo>
                  <a:lnTo>
                    <a:pt x="49386" y="0"/>
                  </a:lnTo>
                </a:path>
              </a:pathLst>
            </a:custGeom>
            <a:ln w="96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526602" y="3790930"/>
              <a:ext cx="67310" cy="76835"/>
            </a:xfrm>
            <a:custGeom>
              <a:avLst/>
              <a:gdLst/>
              <a:ahLst/>
              <a:cxnLst/>
              <a:rect l="l" t="t" r="r" b="b"/>
              <a:pathLst>
                <a:path w="67310" h="76835">
                  <a:moveTo>
                    <a:pt x="0" y="0"/>
                  </a:moveTo>
                  <a:lnTo>
                    <a:pt x="67203" y="76770"/>
                  </a:lnTo>
                </a:path>
              </a:pathLst>
            </a:custGeom>
            <a:ln w="248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601308" y="3640031"/>
              <a:ext cx="615315" cy="227965"/>
            </a:xfrm>
            <a:custGeom>
              <a:avLst/>
              <a:gdLst/>
              <a:ahLst/>
              <a:cxnLst/>
              <a:rect l="l" t="t" r="r" b="b"/>
              <a:pathLst>
                <a:path w="615314" h="227964">
                  <a:moveTo>
                    <a:pt x="0" y="227669"/>
                  </a:moveTo>
                  <a:lnTo>
                    <a:pt x="94709" y="0"/>
                  </a:lnTo>
                  <a:lnTo>
                    <a:pt x="615145" y="0"/>
                  </a:lnTo>
                </a:path>
              </a:pathLst>
            </a:custGeom>
            <a:ln w="96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/>
          <p:nvPr/>
        </p:nvSpPr>
        <p:spPr>
          <a:xfrm>
            <a:off x="5307488" y="3937369"/>
            <a:ext cx="1236980" cy="0"/>
          </a:xfrm>
          <a:custGeom>
            <a:avLst/>
            <a:gdLst/>
            <a:ahLst/>
            <a:cxnLst/>
            <a:rect l="l" t="t" r="r" b="b"/>
            <a:pathLst>
              <a:path w="1236979">
                <a:moveTo>
                  <a:pt x="0" y="0"/>
                </a:moveTo>
                <a:lnTo>
                  <a:pt x="1236854" y="0"/>
                </a:lnTo>
              </a:path>
            </a:pathLst>
          </a:custGeom>
          <a:ln w="88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966317" y="3937369"/>
            <a:ext cx="471170" cy="0"/>
          </a:xfrm>
          <a:custGeom>
            <a:avLst/>
            <a:gdLst/>
            <a:ahLst/>
            <a:cxnLst/>
            <a:rect l="l" t="t" r="r" b="b"/>
            <a:pathLst>
              <a:path w="471170">
                <a:moveTo>
                  <a:pt x="0" y="0"/>
                </a:moveTo>
                <a:lnTo>
                  <a:pt x="471048" y="0"/>
                </a:lnTo>
              </a:path>
            </a:pathLst>
          </a:custGeom>
          <a:ln w="88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096776" y="3930858"/>
            <a:ext cx="217804" cy="2853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585" dirty="0">
                <a:latin typeface="Times New Roman"/>
                <a:cs typeface="Times New Roman"/>
              </a:rPr>
              <a:t>6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822725" y="3930858"/>
            <a:ext cx="217804" cy="2853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585" dirty="0">
                <a:latin typeface="Times New Roman"/>
                <a:cs typeface="Times New Roman"/>
              </a:rPr>
              <a:t>6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167835" y="3930858"/>
            <a:ext cx="217804" cy="2853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585" dirty="0">
                <a:latin typeface="Times New Roman"/>
                <a:cs typeface="Times New Roman"/>
              </a:rPr>
              <a:t>6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78316" y="3930858"/>
            <a:ext cx="153670" cy="2853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i="1" spc="365" dirty="0">
                <a:latin typeface="Times New Roman"/>
                <a:cs typeface="Times New Roman"/>
              </a:rPr>
              <a:t>I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48018" y="3615312"/>
            <a:ext cx="217804" cy="2853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i="1" spc="585" dirty="0">
                <a:latin typeface="Times New Roman"/>
                <a:cs typeface="Times New Roman"/>
              </a:rPr>
              <a:t>S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615335" y="3516353"/>
            <a:ext cx="809625" cy="2853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625" spc="1035" baseline="-60317" dirty="0">
                <a:latin typeface="Symbol"/>
                <a:cs typeface="Symbol"/>
              </a:rPr>
              <a:t></a:t>
            </a:r>
            <a:r>
              <a:rPr sz="2625" spc="667" baseline="-60317" dirty="0">
                <a:latin typeface="Times New Roman"/>
                <a:cs typeface="Times New Roman"/>
              </a:rPr>
              <a:t> </a:t>
            </a:r>
            <a:r>
              <a:rPr sz="2625" i="1" spc="1050" baseline="-25396" dirty="0">
                <a:latin typeface="Times New Roman"/>
                <a:cs typeface="Times New Roman"/>
              </a:rPr>
              <a:t>Q</a:t>
            </a:r>
            <a:r>
              <a:rPr sz="1000" spc="700" dirty="0">
                <a:latin typeface="Times New Roman"/>
                <a:cs typeface="Times New Roman"/>
              </a:rPr>
              <a:t>4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947867" y="3615314"/>
            <a:ext cx="1589405" cy="2853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759460" algn="l"/>
              </a:tabLst>
            </a:pPr>
            <a:r>
              <a:rPr sz="2625" spc="1035" baseline="-34920" dirty="0">
                <a:latin typeface="Symbol"/>
                <a:cs typeface="Symbol"/>
              </a:rPr>
              <a:t></a:t>
            </a:r>
            <a:r>
              <a:rPr sz="2625" spc="757" baseline="-34920" dirty="0">
                <a:latin typeface="Times New Roman"/>
                <a:cs typeface="Times New Roman"/>
              </a:rPr>
              <a:t> </a:t>
            </a:r>
            <a:r>
              <a:rPr sz="1750" spc="365" dirty="0">
                <a:latin typeface="Times New Roman"/>
                <a:cs typeface="Times New Roman"/>
              </a:rPr>
              <a:t>(</a:t>
            </a:r>
            <a:r>
              <a:rPr sz="1750" dirty="0">
                <a:latin typeface="Times New Roman"/>
                <a:cs typeface="Times New Roman"/>
              </a:rPr>
              <a:t>	</a:t>
            </a:r>
            <a:r>
              <a:rPr sz="1750" spc="770" dirty="0">
                <a:latin typeface="Times New Roman"/>
                <a:cs typeface="Times New Roman"/>
              </a:rPr>
              <a:t>3</a:t>
            </a:r>
            <a:r>
              <a:rPr sz="1750" i="1" spc="770" dirty="0">
                <a:latin typeface="Times New Roman"/>
                <a:cs typeface="Times New Roman"/>
              </a:rPr>
              <a:t>N</a:t>
            </a:r>
            <a:r>
              <a:rPr sz="1750" i="1" spc="125" dirty="0">
                <a:latin typeface="Times New Roman"/>
                <a:cs typeface="Times New Roman"/>
              </a:rPr>
              <a:t> </a:t>
            </a:r>
            <a:r>
              <a:rPr sz="1750" spc="409" dirty="0">
                <a:latin typeface="Times New Roman"/>
                <a:cs typeface="Times New Roman"/>
              </a:rPr>
              <a:t>)</a:t>
            </a:r>
            <a:r>
              <a:rPr sz="1500" i="1" spc="615" baseline="44444" dirty="0">
                <a:latin typeface="Times New Roman"/>
                <a:cs typeface="Times New Roman"/>
              </a:rPr>
              <a:t>n</a:t>
            </a:r>
            <a:endParaRPr sz="1500" baseline="44444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309301" y="3615312"/>
            <a:ext cx="1560195" cy="2853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625" spc="1035" baseline="-34920" dirty="0">
                <a:latin typeface="Symbol"/>
                <a:cs typeface="Symbol"/>
              </a:rPr>
              <a:t></a:t>
            </a:r>
            <a:r>
              <a:rPr sz="2625" spc="757" baseline="-34920" dirty="0">
                <a:latin typeface="Times New Roman"/>
                <a:cs typeface="Times New Roman"/>
              </a:rPr>
              <a:t> </a:t>
            </a:r>
            <a:r>
              <a:rPr sz="1750" spc="740" dirty="0">
                <a:latin typeface="Times New Roman"/>
                <a:cs typeface="Times New Roman"/>
              </a:rPr>
              <a:t>(</a:t>
            </a:r>
            <a:r>
              <a:rPr sz="1750" i="1" spc="740" dirty="0">
                <a:latin typeface="Times New Roman"/>
                <a:cs typeface="Times New Roman"/>
              </a:rPr>
              <a:t>D</a:t>
            </a:r>
            <a:r>
              <a:rPr sz="1750" i="1" spc="-10" dirty="0">
                <a:latin typeface="Times New Roman"/>
                <a:cs typeface="Times New Roman"/>
              </a:rPr>
              <a:t> </a:t>
            </a:r>
            <a:r>
              <a:rPr sz="1750" spc="350" dirty="0">
                <a:latin typeface="Times New Roman"/>
                <a:cs typeface="Times New Roman"/>
              </a:rPr>
              <a:t>/</a:t>
            </a:r>
            <a:r>
              <a:rPr sz="1750" spc="114" dirty="0">
                <a:latin typeface="Times New Roman"/>
                <a:cs typeface="Times New Roman"/>
              </a:rPr>
              <a:t> </a:t>
            </a:r>
            <a:r>
              <a:rPr sz="1750" i="1" spc="550" dirty="0">
                <a:latin typeface="Times New Roman"/>
                <a:cs typeface="Times New Roman"/>
              </a:rPr>
              <a:t>R</a:t>
            </a:r>
            <a:r>
              <a:rPr sz="1750" spc="550" dirty="0">
                <a:latin typeface="Times New Roman"/>
                <a:cs typeface="Times New Roman"/>
              </a:rPr>
              <a:t>)</a:t>
            </a:r>
            <a:r>
              <a:rPr sz="1500" i="1" spc="825" baseline="44444" dirty="0">
                <a:latin typeface="Times New Roman"/>
                <a:cs typeface="Times New Roman"/>
              </a:rPr>
              <a:t>n</a:t>
            </a:r>
            <a:endParaRPr sz="1500" baseline="44444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494922" y="3755109"/>
            <a:ext cx="236854" cy="2853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640" dirty="0">
                <a:latin typeface="Symbol"/>
                <a:cs typeface="Symbol"/>
              </a:rPr>
              <a:t></a:t>
            </a:r>
            <a:endParaRPr sz="1750">
              <a:latin typeface="Symbol"/>
              <a:cs typeface="Symbo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812635" y="3919969"/>
            <a:ext cx="463550" cy="170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000" i="1" spc="200" dirty="0">
                <a:latin typeface="Times New Roman"/>
                <a:cs typeface="Times New Roman"/>
              </a:rPr>
              <a:t>i</a:t>
            </a:r>
            <a:r>
              <a:rPr sz="1125" spc="300" baseline="-18518" dirty="0">
                <a:latin typeface="Times New Roman"/>
                <a:cs typeface="Times New Roman"/>
              </a:rPr>
              <a:t>0</a:t>
            </a:r>
            <a:r>
              <a:rPr sz="1125" spc="-82" baseline="-18518" dirty="0">
                <a:latin typeface="Times New Roman"/>
                <a:cs typeface="Times New Roman"/>
              </a:rPr>
              <a:t> </a:t>
            </a:r>
            <a:r>
              <a:rPr sz="1000" spc="375" dirty="0">
                <a:latin typeface="Symbol"/>
                <a:cs typeface="Symbol"/>
              </a:rPr>
              <a:t></a:t>
            </a:r>
            <a:r>
              <a:rPr sz="1000" spc="375" dirty="0">
                <a:latin typeface="Times New Roman"/>
                <a:cs typeface="Times New Roman"/>
              </a:rPr>
              <a:t>6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805039" y="3913218"/>
            <a:ext cx="1162050" cy="642484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0"/>
              </a:spcBef>
            </a:pPr>
            <a:r>
              <a:rPr sz="3975" spc="1170" baseline="-8385" dirty="0">
                <a:latin typeface="Symbol"/>
                <a:cs typeface="Symbol"/>
              </a:rPr>
              <a:t></a:t>
            </a:r>
            <a:r>
              <a:rPr sz="1750" spc="780" dirty="0">
                <a:latin typeface="Times New Roman"/>
                <a:cs typeface="Times New Roman"/>
              </a:rPr>
              <a:t>(</a:t>
            </a:r>
            <a:r>
              <a:rPr sz="1750" i="1" spc="780" dirty="0">
                <a:latin typeface="Times New Roman"/>
                <a:cs typeface="Times New Roman"/>
              </a:rPr>
              <a:t>D</a:t>
            </a:r>
            <a:r>
              <a:rPr sz="1500" i="1" spc="1170" baseline="-25000" dirty="0">
                <a:latin typeface="Times New Roman"/>
                <a:cs typeface="Times New Roman"/>
              </a:rPr>
              <a:t>i</a:t>
            </a:r>
            <a:r>
              <a:rPr sz="1500" i="1" spc="195" baseline="-25000" dirty="0">
                <a:latin typeface="Times New Roman"/>
                <a:cs typeface="Times New Roman"/>
              </a:rPr>
              <a:t> </a:t>
            </a:r>
            <a:r>
              <a:rPr sz="1750" spc="365" dirty="0">
                <a:latin typeface="Times New Roman"/>
                <a:cs typeface="Times New Roman"/>
              </a:rPr>
              <a:t>)</a:t>
            </a:r>
            <a:endParaRPr sz="1750">
              <a:latin typeface="Times New Roman"/>
              <a:cs typeface="Times New Roman"/>
            </a:endParaRPr>
          </a:p>
          <a:p>
            <a:pPr marL="102235">
              <a:lnSpc>
                <a:spcPct val="100000"/>
              </a:lnSpc>
              <a:spcBef>
                <a:spcPts val="155"/>
              </a:spcBef>
            </a:pPr>
            <a:r>
              <a:rPr sz="1000" i="1" spc="275" dirty="0">
                <a:latin typeface="Times New Roman"/>
                <a:cs typeface="Times New Roman"/>
              </a:rPr>
              <a:t>i</a:t>
            </a:r>
            <a:r>
              <a:rPr sz="1000" spc="275" dirty="0">
                <a:latin typeface="Symbol"/>
                <a:cs typeface="Symbol"/>
              </a:rPr>
              <a:t></a:t>
            </a:r>
            <a:r>
              <a:rPr sz="1000" spc="275" dirty="0">
                <a:latin typeface="Times New Roman"/>
                <a:cs typeface="Times New Roman"/>
              </a:rPr>
              <a:t>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927952" y="4059764"/>
            <a:ext cx="264795" cy="170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00" spc="385" dirty="0">
                <a:latin typeface="Symbol"/>
                <a:cs typeface="Symbol"/>
              </a:rPr>
              <a:t></a:t>
            </a:r>
            <a:r>
              <a:rPr sz="1000" i="1" spc="385" dirty="0">
                <a:latin typeface="Times New Roman"/>
                <a:cs typeface="Times New Roman"/>
              </a:rPr>
              <a:t>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227701" y="3516353"/>
            <a:ext cx="582930" cy="2853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625" i="1" spc="1005" baseline="-25396" dirty="0">
                <a:latin typeface="Times New Roman"/>
                <a:cs typeface="Times New Roman"/>
              </a:rPr>
              <a:t>R</a:t>
            </a:r>
            <a:r>
              <a:rPr sz="1000" spc="670" dirty="0">
                <a:latin typeface="Symbol"/>
                <a:cs typeface="Symbol"/>
              </a:rPr>
              <a:t></a:t>
            </a:r>
            <a:r>
              <a:rPr sz="1000" spc="-110" dirty="0">
                <a:latin typeface="Times New Roman"/>
                <a:cs typeface="Times New Roman"/>
              </a:rPr>
              <a:t> </a:t>
            </a:r>
            <a:r>
              <a:rPr sz="1000" i="1" spc="325" dirty="0">
                <a:latin typeface="Times New Roman"/>
                <a:cs typeface="Times New Roman"/>
              </a:rPr>
              <a:t>n</a:t>
            </a:r>
            <a:endParaRPr sz="1000">
              <a:latin typeface="Times New Roman"/>
              <a:cs typeface="Times New Roman"/>
            </a:endParaRPr>
          </a:p>
        </p:txBody>
      </p:sp>
      <p:pic>
        <p:nvPicPr>
          <p:cNvPr id="41" name="object 4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200" y="1447799"/>
            <a:ext cx="7534656" cy="19141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4" y="761999"/>
            <a:ext cx="8379459" cy="759461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369822" y="316815"/>
            <a:ext cx="6403340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b="0" u="none" dirty="0">
                <a:solidFill>
                  <a:srgbClr val="006FC0"/>
                </a:solidFill>
                <a:latin typeface="Arial"/>
                <a:cs typeface="Arial"/>
              </a:rPr>
              <a:t>Signal</a:t>
            </a:r>
            <a:r>
              <a:rPr sz="3800" b="0" u="none" spc="-6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800" b="0" u="none" dirty="0">
                <a:solidFill>
                  <a:srgbClr val="006FC0"/>
                </a:solidFill>
                <a:latin typeface="Arial"/>
                <a:cs typeface="Arial"/>
              </a:rPr>
              <a:t>to</a:t>
            </a:r>
            <a:r>
              <a:rPr sz="3800" b="0" u="none" spc="-8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800" b="0" u="none" dirty="0">
                <a:solidFill>
                  <a:srgbClr val="006FC0"/>
                </a:solidFill>
                <a:latin typeface="Arial"/>
                <a:cs typeface="Arial"/>
              </a:rPr>
              <a:t>Interference</a:t>
            </a:r>
            <a:r>
              <a:rPr sz="3800" b="0" u="none" spc="-1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800" b="0" u="none" dirty="0">
                <a:solidFill>
                  <a:srgbClr val="006FC0"/>
                </a:solidFill>
                <a:latin typeface="Arial"/>
                <a:cs typeface="Arial"/>
              </a:rPr>
              <a:t>ratio</a:t>
            </a:r>
            <a:r>
              <a:rPr sz="3800" b="0" u="none" spc="-8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800" b="0" u="none" spc="-25" dirty="0">
                <a:solidFill>
                  <a:srgbClr val="006FC0"/>
                </a:solidFill>
                <a:latin typeface="Arial"/>
                <a:cs typeface="Arial"/>
              </a:rPr>
              <a:t>S/I</a:t>
            </a:r>
            <a:endParaRPr sz="3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01977" y="915268"/>
            <a:ext cx="1937385" cy="89447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MS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endParaRPr sz="2200">
              <a:latin typeface="Times New Roman"/>
              <a:cs typeface="Times New Roman"/>
            </a:endParaRPr>
          </a:p>
          <a:p>
            <a:pPr marL="671195">
              <a:lnSpc>
                <a:spcPct val="100000"/>
              </a:lnSpc>
              <a:spcBef>
                <a:spcPts val="795"/>
              </a:spcBef>
            </a:pP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boundary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78889" y="2663805"/>
            <a:ext cx="2632075" cy="1771382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065" marR="5080" indent="-45085" algn="ctr">
              <a:lnSpc>
                <a:spcPct val="130400"/>
              </a:lnSpc>
              <a:spcBef>
                <a:spcPts val="8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aproximate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S/I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is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given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by, both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terms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D, along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with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reuse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ratio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38200" y="914401"/>
            <a:ext cx="8305800" cy="5181600"/>
            <a:chOff x="838200" y="914400"/>
            <a:chExt cx="8305800" cy="518160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29000" y="914400"/>
              <a:ext cx="5715000" cy="431901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8200" y="5257800"/>
              <a:ext cx="4258056" cy="7620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76800" y="5257800"/>
              <a:ext cx="3944111" cy="8382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260601" y="240614"/>
            <a:ext cx="2625725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b="0" u="none" dirty="0">
                <a:solidFill>
                  <a:srgbClr val="006FC0"/>
                </a:solidFill>
                <a:latin typeface="Arial"/>
                <a:cs typeface="Arial"/>
              </a:rPr>
              <a:t>Example</a:t>
            </a:r>
            <a:r>
              <a:rPr sz="3800" b="0" u="none" spc="-16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800" b="0" u="none" spc="-25" dirty="0">
                <a:solidFill>
                  <a:srgbClr val="006FC0"/>
                </a:solidFill>
                <a:latin typeface="Arial"/>
                <a:cs typeface="Arial"/>
              </a:rPr>
              <a:t>S/I</a:t>
            </a:r>
            <a:endParaRPr sz="3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93626" y="6133571"/>
            <a:ext cx="6555105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85"/>
              </a:lnSpc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S/I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greater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than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required,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wi</a:t>
            </a:r>
            <a:r>
              <a:rPr sz="3200" spc="-31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3600" spc="-1350" baseline="-15046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3600" spc="-637" baseline="-15046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3200" spc="-1914" dirty="0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r>
              <a:rPr sz="3600" spc="-7" baseline="-15046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sz="3600" spc="127" baseline="-15046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ork.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2004" y="761999"/>
            <a:ext cx="8379459" cy="634148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793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25"/>
              </a:spcBef>
            </a:pPr>
            <a:endParaRPr sz="1800">
              <a:latin typeface="Times New Roman"/>
              <a:cs typeface="Times New Roman"/>
            </a:endParaRPr>
          </a:p>
          <a:p>
            <a:pPr marL="257746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Examples</a:t>
            </a:r>
            <a:r>
              <a:rPr sz="18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00" spc="4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Problem</a:t>
            </a:r>
            <a:r>
              <a:rPr sz="1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2.3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36476" y="1369751"/>
            <a:ext cx="7471409" cy="1047082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TDMA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tolerate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S/I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15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dB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What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optimal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value of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omni-directional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antennas?</a:t>
            </a:r>
            <a:r>
              <a:rPr sz="1800" spc="4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Path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loss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4.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Co-</a:t>
            </a:r>
            <a:endParaRPr sz="18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18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15367" y="2772342"/>
            <a:ext cx="5109845" cy="2678297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88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cluster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size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=7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(choices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4,7,12)</a:t>
            </a:r>
            <a:endParaRPr sz="1800">
              <a:latin typeface="Times New Roman"/>
              <a:cs typeface="Times New Roman"/>
            </a:endParaRPr>
          </a:p>
          <a:p>
            <a:pPr marL="56515" algn="ctr">
              <a:lnSpc>
                <a:spcPct val="100000"/>
              </a:lnSpc>
              <a:spcBef>
                <a:spcPts val="79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path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loss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exponent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(means)n=4</a:t>
            </a:r>
            <a:endParaRPr sz="1800">
              <a:latin typeface="Times New Roman"/>
              <a:cs typeface="Times New Roman"/>
            </a:endParaRPr>
          </a:p>
          <a:p>
            <a:pPr marL="486409" marR="477520" algn="ctr">
              <a:lnSpc>
                <a:spcPts val="2980"/>
              </a:lnSpc>
              <a:spcBef>
                <a:spcPts val="210"/>
              </a:spcBef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co-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reuse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ratio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Q=sqrt(3N)=4.582576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Ratio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distance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radius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Q=D/R=4.582576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number of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neighboring</a:t>
            </a:r>
            <a:r>
              <a:rPr sz="18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z="18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1800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=6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sides of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hexagon</a:t>
            </a:r>
            <a:endParaRPr sz="180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  <a:spcBef>
                <a:spcPts val="79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interference ratio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S/I=</a:t>
            </a:r>
            <a:r>
              <a:rPr sz="18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(D/R)</a:t>
            </a:r>
            <a:r>
              <a:rPr sz="1800" baseline="25462" dirty="0">
                <a:solidFill>
                  <a:srgbClr val="FFFFFF"/>
                </a:solidFill>
                <a:latin typeface="Times New Roman"/>
                <a:cs typeface="Times New Roman"/>
              </a:rPr>
              <a:t>^n</a:t>
            </a:r>
            <a:r>
              <a:rPr sz="1800" spc="-30" baseline="25462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1800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1800" spc="-44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=73.5</a:t>
            </a:r>
            <a:endParaRPr sz="1800">
              <a:latin typeface="Times New Roman"/>
              <a:cs typeface="Times New Roman"/>
            </a:endParaRPr>
          </a:p>
          <a:p>
            <a:pPr marL="1905" algn="ctr">
              <a:lnSpc>
                <a:spcPct val="100000"/>
              </a:lnSpc>
              <a:spcBef>
                <a:spcPts val="81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convert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dB,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S/I=10log(S/I)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=18.66287dB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4" y="761999"/>
            <a:ext cx="8379459" cy="759461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260601" y="202515"/>
            <a:ext cx="2625725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b="0" u="none" dirty="0">
                <a:solidFill>
                  <a:srgbClr val="006FC0"/>
                </a:solidFill>
                <a:latin typeface="Arial"/>
                <a:cs typeface="Arial"/>
              </a:rPr>
              <a:t>Example</a:t>
            </a:r>
            <a:r>
              <a:rPr sz="3800" b="0" u="none" spc="-16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800" b="0" u="none" spc="-25" dirty="0">
                <a:solidFill>
                  <a:srgbClr val="006FC0"/>
                </a:solidFill>
                <a:latin typeface="Arial"/>
                <a:cs typeface="Arial"/>
              </a:rPr>
              <a:t>S/I</a:t>
            </a:r>
            <a:endParaRPr sz="3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28499" y="835154"/>
            <a:ext cx="5328285" cy="6110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4110" marR="1163955" algn="ctr">
              <a:lnSpc>
                <a:spcPct val="1379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cluster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size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N=4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(choices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4,7,12)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path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loss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exponent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(means)</a:t>
            </a:r>
            <a:r>
              <a:rPr sz="18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n=4</a:t>
            </a:r>
            <a:endParaRPr sz="1800">
              <a:latin typeface="Times New Roman"/>
              <a:cs typeface="Times New Roman"/>
            </a:endParaRPr>
          </a:p>
          <a:p>
            <a:pPr marL="572770" marR="551180" algn="ctr">
              <a:lnSpc>
                <a:spcPts val="2950"/>
              </a:lnSpc>
              <a:spcBef>
                <a:spcPts val="229"/>
              </a:spcBef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co-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reuse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ratio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Q=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sqrt(3N)=3.464102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Ratio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distance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radius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Q=D/R=3.464102</a:t>
            </a:r>
            <a:endParaRPr sz="1800">
              <a:latin typeface="Times New Roman"/>
              <a:cs typeface="Times New Roman"/>
            </a:endParaRPr>
          </a:p>
          <a:p>
            <a:pPr marR="36830" algn="ctr">
              <a:lnSpc>
                <a:spcPct val="100000"/>
              </a:lnSpc>
              <a:spcBef>
                <a:spcPts val="59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neighboring</a:t>
            </a:r>
            <a:r>
              <a:rPr sz="1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z="18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io=6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,#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 sides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hexagon</a:t>
            </a:r>
            <a:endParaRPr sz="1800">
              <a:latin typeface="Times New Roman"/>
              <a:cs typeface="Times New Roman"/>
            </a:endParaRPr>
          </a:p>
          <a:p>
            <a:pPr marR="29845" algn="ctr">
              <a:lnSpc>
                <a:spcPct val="100000"/>
              </a:lnSpc>
              <a:spcBef>
                <a:spcPts val="79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ratio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S/I=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(D/R)</a:t>
            </a:r>
            <a:r>
              <a:rPr sz="1800" baseline="25462" dirty="0">
                <a:solidFill>
                  <a:srgbClr val="FFFFFF"/>
                </a:solidFill>
                <a:latin typeface="Times New Roman"/>
                <a:cs typeface="Times New Roman"/>
              </a:rPr>
              <a:t>^n</a:t>
            </a:r>
            <a:r>
              <a:rPr sz="1800" spc="-7" baseline="25462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1800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1800" spc="202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=24</a:t>
            </a:r>
            <a:endParaRPr sz="1800">
              <a:latin typeface="Times New Roman"/>
              <a:cs typeface="Times New Roman"/>
            </a:endParaRPr>
          </a:p>
          <a:p>
            <a:pPr marR="27940" algn="ctr">
              <a:lnSpc>
                <a:spcPct val="100000"/>
              </a:lnSpc>
              <a:spcBef>
                <a:spcPts val="79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convert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dB,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S/I=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10log(S/I)=13.80211dB</a:t>
            </a:r>
            <a:endParaRPr sz="1800">
              <a:latin typeface="Times New Roman"/>
              <a:cs typeface="Times New Roman"/>
            </a:endParaRPr>
          </a:p>
          <a:p>
            <a:pPr marL="75565" algn="ctr">
              <a:lnSpc>
                <a:spcPct val="100000"/>
              </a:lnSpc>
              <a:spcBef>
                <a:spcPts val="819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S/I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less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than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required,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it will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work!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1800">
              <a:latin typeface="Times New Roman"/>
              <a:cs typeface="Times New Roman"/>
            </a:endParaRPr>
          </a:p>
          <a:p>
            <a:pPr marL="1612900" marR="1589405" indent="316865">
              <a:lnSpc>
                <a:spcPct val="137300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cluster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size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N=7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path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loss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exponent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n=3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Q=sqrt(3N)=4.582576</a:t>
            </a:r>
            <a:endParaRPr sz="1800">
              <a:latin typeface="Times New Roman"/>
              <a:cs typeface="Times New Roman"/>
            </a:endParaRPr>
          </a:p>
          <a:p>
            <a:pPr marL="78740">
              <a:lnSpc>
                <a:spcPct val="100000"/>
              </a:lnSpc>
              <a:spcBef>
                <a:spcPts val="79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number of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neighboring</a:t>
            </a:r>
            <a:r>
              <a:rPr sz="1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io=</a:t>
            </a:r>
            <a:r>
              <a:rPr sz="18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6,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sides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hexagon</a:t>
            </a:r>
            <a:endParaRPr sz="1800">
              <a:latin typeface="Times New Roman"/>
              <a:cs typeface="Times New Roman"/>
            </a:endParaRPr>
          </a:p>
          <a:p>
            <a:pPr marL="640080" marR="143510" indent="-497205" algn="just">
              <a:lnSpc>
                <a:spcPct val="116199"/>
              </a:lnSpc>
              <a:spcBef>
                <a:spcPts val="46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ratio=S/I=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(D/R)</a:t>
            </a:r>
            <a:r>
              <a:rPr sz="1800" baseline="25462" dirty="0">
                <a:solidFill>
                  <a:srgbClr val="FFFFFF"/>
                </a:solidFill>
                <a:latin typeface="Times New Roman"/>
                <a:cs typeface="Times New Roman"/>
              </a:rPr>
              <a:t>^n</a:t>
            </a:r>
            <a:r>
              <a:rPr sz="1800" spc="-7" baseline="25462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1800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1800" spc="-44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=16.03901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convert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 dB,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S/I=10log(S/I)=12.05178dB</a:t>
            </a:r>
            <a:r>
              <a:rPr sz="1800" spc="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3600" spc="-37" baseline="-25462" dirty="0">
                <a:solidFill>
                  <a:srgbClr val="FFFFFF"/>
                </a:solidFill>
                <a:latin typeface="Times New Roman"/>
                <a:cs typeface="Times New Roman"/>
              </a:rPr>
              <a:t>105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S/I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less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than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required,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z="18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work!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4" y="761999"/>
            <a:ext cx="8379459" cy="759461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132132" y="481663"/>
            <a:ext cx="687514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Adjacent</a:t>
            </a:r>
            <a:r>
              <a:rPr sz="4400" b="0" u="none" spc="-15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Channel</a:t>
            </a:r>
            <a:r>
              <a:rPr sz="4400" b="0" u="none" spc="-15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Interference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6508" y="1091262"/>
            <a:ext cx="8036559" cy="44236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Results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0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imperfect</a:t>
            </a:r>
            <a:r>
              <a:rPr sz="2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receiver</a:t>
            </a:r>
            <a:r>
              <a:rPr sz="2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filters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allowing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nearby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frequencies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leak</a:t>
            </a:r>
            <a:endParaRPr sz="2000">
              <a:latin typeface="Times New Roman"/>
              <a:cs typeface="Times New Roman"/>
            </a:endParaRPr>
          </a:p>
          <a:p>
            <a:pPr marL="3810" algn="ctr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into</a:t>
            </a:r>
            <a:r>
              <a:rPr sz="2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pass-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band.</a:t>
            </a:r>
            <a:endParaRPr sz="20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81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minimized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careful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filtering</a:t>
            </a:r>
            <a:r>
              <a:rPr sz="2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channel</a:t>
            </a:r>
            <a:r>
              <a:rPr sz="2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assignments.</a:t>
            </a:r>
            <a:endParaRPr sz="2000">
              <a:latin typeface="Times New Roman"/>
              <a:cs typeface="Times New Roman"/>
            </a:endParaRPr>
          </a:p>
          <a:p>
            <a:pPr marL="1905" algn="ctr">
              <a:lnSpc>
                <a:spcPct val="100000"/>
              </a:lnSpc>
              <a:spcBef>
                <a:spcPts val="819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Channels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20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assigned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such</a:t>
            </a:r>
            <a:r>
              <a:rPr sz="20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sz="20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frequency</a:t>
            </a:r>
            <a:r>
              <a:rPr sz="20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separations</a:t>
            </a:r>
            <a:r>
              <a:rPr sz="20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between</a:t>
            </a:r>
            <a:endParaRPr sz="2000">
              <a:latin typeface="Arial"/>
              <a:cs typeface="Arial"/>
            </a:endParaRPr>
          </a:p>
          <a:p>
            <a:pPr marL="5080" algn="ctr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channels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20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maximized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20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example,</a:t>
            </a:r>
            <a:r>
              <a:rPr sz="20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20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sequentially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assigning</a:t>
            </a:r>
            <a:r>
              <a:rPr sz="20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adjacent</a:t>
            </a:r>
            <a:r>
              <a:rPr sz="2000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bands</a:t>
            </a:r>
            <a:r>
              <a:rPr sz="2000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2000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different</a:t>
            </a:r>
            <a:r>
              <a:rPr sz="2000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cells</a:t>
            </a:r>
            <a:endParaRPr sz="2000">
              <a:latin typeface="Arial"/>
              <a:cs typeface="Arial"/>
            </a:endParaRPr>
          </a:p>
          <a:p>
            <a:pPr marL="1905" algn="ctr">
              <a:lnSpc>
                <a:spcPct val="100000"/>
              </a:lnSpc>
              <a:spcBef>
                <a:spcPts val="79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Total</a:t>
            </a:r>
            <a:r>
              <a:rPr sz="20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832</a:t>
            </a:r>
            <a:r>
              <a:rPr sz="2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channels, divided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two groups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416</a:t>
            </a:r>
            <a:r>
              <a:rPr sz="2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each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9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Out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416,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395</a:t>
            </a:r>
            <a:r>
              <a:rPr sz="2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voice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21</a:t>
            </a:r>
            <a:r>
              <a:rPr sz="2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control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channels.</a:t>
            </a:r>
            <a:endParaRPr sz="200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  <a:spcBef>
                <a:spcPts val="79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395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divided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21</a:t>
            </a:r>
            <a:r>
              <a:rPr sz="2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subsets,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containing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almost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19</a:t>
            </a:r>
            <a:r>
              <a:rPr sz="2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channels,</a:t>
            </a:r>
            <a:endParaRPr sz="2000">
              <a:latin typeface="Times New Roman"/>
              <a:cs typeface="Times New Roman"/>
            </a:endParaRPr>
          </a:p>
          <a:p>
            <a:pPr marL="8890" algn="ctr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closet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21</a:t>
            </a:r>
            <a:r>
              <a:rPr sz="2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away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819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N=7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used,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uses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subsets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assigned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such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way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endParaRPr sz="2000">
              <a:latin typeface="Times New Roman"/>
              <a:cs typeface="Times New Roman"/>
            </a:endParaRPr>
          </a:p>
          <a:p>
            <a:pPr marL="3810" algn="ctr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7</a:t>
            </a:r>
            <a:r>
              <a:rPr sz="2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channels</a:t>
            </a:r>
            <a:r>
              <a:rPr sz="20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away.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629399"/>
            <a:ext cx="3502660" cy="226060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5" y="67482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4" y="761999"/>
            <a:ext cx="8379459" cy="759461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118874"/>
            <a:ext cx="64008" cy="6400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347475"/>
            <a:ext cx="64008" cy="6400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6" y="576071"/>
            <a:ext cx="64135" cy="60961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2282955" y="1901953"/>
            <a:ext cx="4124325" cy="3667126"/>
            <a:chOff x="2282951" y="1901951"/>
            <a:chExt cx="4124325" cy="3667125"/>
          </a:xfrm>
        </p:grpSpPr>
        <p:sp>
          <p:nvSpPr>
            <p:cNvPr id="17" name="object 17"/>
            <p:cNvSpPr/>
            <p:nvPr/>
          </p:nvSpPr>
          <p:spPr>
            <a:xfrm>
              <a:off x="2287523" y="37353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1341120" y="0"/>
                  </a:moveTo>
                  <a:lnTo>
                    <a:pt x="335280" y="0"/>
                  </a:lnTo>
                  <a:lnTo>
                    <a:pt x="0" y="609600"/>
                  </a:lnTo>
                  <a:lnTo>
                    <a:pt x="335280" y="1219200"/>
                  </a:lnTo>
                  <a:lnTo>
                    <a:pt x="1341120" y="1219200"/>
                  </a:lnTo>
                  <a:lnTo>
                    <a:pt x="1676400" y="609600"/>
                  </a:lnTo>
                  <a:lnTo>
                    <a:pt x="1341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287523" y="37353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0" y="609600"/>
                  </a:moveTo>
                  <a:lnTo>
                    <a:pt x="335280" y="0"/>
                  </a:lnTo>
                  <a:lnTo>
                    <a:pt x="1341120" y="0"/>
                  </a:lnTo>
                  <a:lnTo>
                    <a:pt x="1676400" y="609600"/>
                  </a:lnTo>
                  <a:lnTo>
                    <a:pt x="1341120" y="1219200"/>
                  </a:lnTo>
                  <a:lnTo>
                    <a:pt x="335280" y="1219200"/>
                  </a:lnTo>
                  <a:lnTo>
                    <a:pt x="0" y="609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725923" y="25161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1341120" y="0"/>
                  </a:moveTo>
                  <a:lnTo>
                    <a:pt x="335279" y="0"/>
                  </a:lnTo>
                  <a:lnTo>
                    <a:pt x="0" y="609600"/>
                  </a:lnTo>
                  <a:lnTo>
                    <a:pt x="335279" y="1219200"/>
                  </a:lnTo>
                  <a:lnTo>
                    <a:pt x="1341120" y="1219200"/>
                  </a:lnTo>
                  <a:lnTo>
                    <a:pt x="1676400" y="609600"/>
                  </a:lnTo>
                  <a:lnTo>
                    <a:pt x="1341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725923" y="25161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0" y="609600"/>
                  </a:moveTo>
                  <a:lnTo>
                    <a:pt x="335279" y="0"/>
                  </a:lnTo>
                  <a:lnTo>
                    <a:pt x="1341120" y="0"/>
                  </a:lnTo>
                  <a:lnTo>
                    <a:pt x="1676400" y="609600"/>
                  </a:lnTo>
                  <a:lnTo>
                    <a:pt x="1341120" y="1219200"/>
                  </a:lnTo>
                  <a:lnTo>
                    <a:pt x="335279" y="1219200"/>
                  </a:lnTo>
                  <a:lnTo>
                    <a:pt x="0" y="609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06723" y="19065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1341120" y="0"/>
                  </a:moveTo>
                  <a:lnTo>
                    <a:pt x="335279" y="0"/>
                  </a:lnTo>
                  <a:lnTo>
                    <a:pt x="0" y="609600"/>
                  </a:lnTo>
                  <a:lnTo>
                    <a:pt x="335279" y="1219200"/>
                  </a:lnTo>
                  <a:lnTo>
                    <a:pt x="1341120" y="1219200"/>
                  </a:lnTo>
                  <a:lnTo>
                    <a:pt x="1676400" y="609600"/>
                  </a:lnTo>
                  <a:lnTo>
                    <a:pt x="1341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506723" y="19065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0" y="609600"/>
                  </a:moveTo>
                  <a:lnTo>
                    <a:pt x="335279" y="0"/>
                  </a:lnTo>
                  <a:lnTo>
                    <a:pt x="1341120" y="0"/>
                  </a:lnTo>
                  <a:lnTo>
                    <a:pt x="1676400" y="609600"/>
                  </a:lnTo>
                  <a:lnTo>
                    <a:pt x="1341120" y="1219200"/>
                  </a:lnTo>
                  <a:lnTo>
                    <a:pt x="335279" y="1219200"/>
                  </a:lnTo>
                  <a:lnTo>
                    <a:pt x="0" y="609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725923" y="37353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1341120" y="0"/>
                  </a:moveTo>
                  <a:lnTo>
                    <a:pt x="335279" y="0"/>
                  </a:lnTo>
                  <a:lnTo>
                    <a:pt x="0" y="609600"/>
                  </a:lnTo>
                  <a:lnTo>
                    <a:pt x="335279" y="1219200"/>
                  </a:lnTo>
                  <a:lnTo>
                    <a:pt x="1341120" y="1219200"/>
                  </a:lnTo>
                  <a:lnTo>
                    <a:pt x="1676400" y="609600"/>
                  </a:lnTo>
                  <a:lnTo>
                    <a:pt x="1341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725923" y="37353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0" y="609600"/>
                  </a:moveTo>
                  <a:lnTo>
                    <a:pt x="335279" y="0"/>
                  </a:lnTo>
                  <a:lnTo>
                    <a:pt x="1341120" y="0"/>
                  </a:lnTo>
                  <a:lnTo>
                    <a:pt x="1676400" y="609600"/>
                  </a:lnTo>
                  <a:lnTo>
                    <a:pt x="1341120" y="1219200"/>
                  </a:lnTo>
                  <a:lnTo>
                    <a:pt x="335279" y="1219200"/>
                  </a:lnTo>
                  <a:lnTo>
                    <a:pt x="0" y="609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506723" y="43449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1341120" y="0"/>
                  </a:moveTo>
                  <a:lnTo>
                    <a:pt x="335279" y="0"/>
                  </a:lnTo>
                  <a:lnTo>
                    <a:pt x="0" y="609600"/>
                  </a:lnTo>
                  <a:lnTo>
                    <a:pt x="335279" y="1219200"/>
                  </a:lnTo>
                  <a:lnTo>
                    <a:pt x="1341120" y="1219200"/>
                  </a:lnTo>
                  <a:lnTo>
                    <a:pt x="1676400" y="609600"/>
                  </a:lnTo>
                  <a:lnTo>
                    <a:pt x="1341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506723" y="43449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0" y="609600"/>
                  </a:moveTo>
                  <a:lnTo>
                    <a:pt x="335279" y="0"/>
                  </a:lnTo>
                  <a:lnTo>
                    <a:pt x="1341120" y="0"/>
                  </a:lnTo>
                  <a:lnTo>
                    <a:pt x="1676400" y="609600"/>
                  </a:lnTo>
                  <a:lnTo>
                    <a:pt x="1341120" y="1219200"/>
                  </a:lnTo>
                  <a:lnTo>
                    <a:pt x="335279" y="1219200"/>
                  </a:lnTo>
                  <a:lnTo>
                    <a:pt x="0" y="609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506723" y="31257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1341120" y="0"/>
                  </a:moveTo>
                  <a:lnTo>
                    <a:pt x="335279" y="0"/>
                  </a:lnTo>
                  <a:lnTo>
                    <a:pt x="0" y="609600"/>
                  </a:lnTo>
                  <a:lnTo>
                    <a:pt x="335279" y="1219200"/>
                  </a:lnTo>
                  <a:lnTo>
                    <a:pt x="1341120" y="1219200"/>
                  </a:lnTo>
                  <a:lnTo>
                    <a:pt x="1676400" y="609600"/>
                  </a:lnTo>
                  <a:lnTo>
                    <a:pt x="1341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06723" y="31257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0" y="609600"/>
                  </a:moveTo>
                  <a:lnTo>
                    <a:pt x="335279" y="0"/>
                  </a:lnTo>
                  <a:lnTo>
                    <a:pt x="1341120" y="0"/>
                  </a:lnTo>
                  <a:lnTo>
                    <a:pt x="1676400" y="609600"/>
                  </a:lnTo>
                  <a:lnTo>
                    <a:pt x="1341120" y="1219200"/>
                  </a:lnTo>
                  <a:lnTo>
                    <a:pt x="335279" y="1219200"/>
                  </a:lnTo>
                  <a:lnTo>
                    <a:pt x="0" y="609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287523" y="25161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1341120" y="0"/>
                  </a:moveTo>
                  <a:lnTo>
                    <a:pt x="335280" y="0"/>
                  </a:lnTo>
                  <a:lnTo>
                    <a:pt x="0" y="609600"/>
                  </a:lnTo>
                  <a:lnTo>
                    <a:pt x="335280" y="1219200"/>
                  </a:lnTo>
                  <a:lnTo>
                    <a:pt x="1341120" y="1219200"/>
                  </a:lnTo>
                  <a:lnTo>
                    <a:pt x="1676400" y="609600"/>
                  </a:lnTo>
                  <a:lnTo>
                    <a:pt x="1341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287523" y="25161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0" y="609600"/>
                  </a:moveTo>
                  <a:lnTo>
                    <a:pt x="335280" y="0"/>
                  </a:lnTo>
                  <a:lnTo>
                    <a:pt x="1341120" y="0"/>
                  </a:lnTo>
                  <a:lnTo>
                    <a:pt x="1676400" y="609600"/>
                  </a:lnTo>
                  <a:lnTo>
                    <a:pt x="1341120" y="1219200"/>
                  </a:lnTo>
                  <a:lnTo>
                    <a:pt x="335280" y="1219200"/>
                  </a:lnTo>
                  <a:lnTo>
                    <a:pt x="0" y="609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/>
          <p:nvPr/>
        </p:nvSpPr>
        <p:spPr>
          <a:xfrm>
            <a:off x="1982723" y="992124"/>
            <a:ext cx="5029200" cy="0"/>
          </a:xfrm>
          <a:custGeom>
            <a:avLst/>
            <a:gdLst/>
            <a:ahLst/>
            <a:cxnLst/>
            <a:rect l="l" t="t" r="r" b="b"/>
            <a:pathLst>
              <a:path w="5029200">
                <a:moveTo>
                  <a:pt x="0" y="0"/>
                </a:moveTo>
                <a:lnTo>
                  <a:pt x="50292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862953" y="938910"/>
            <a:ext cx="5130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freq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135123" y="763523"/>
            <a:ext cx="4038600" cy="304800"/>
          </a:xfrm>
          <a:custGeom>
            <a:avLst/>
            <a:gdLst/>
            <a:ahLst/>
            <a:cxnLst/>
            <a:rect l="l" t="t" r="r" b="b"/>
            <a:pathLst>
              <a:path w="4038600" h="304800">
                <a:moveTo>
                  <a:pt x="304800" y="0"/>
                </a:moveTo>
                <a:lnTo>
                  <a:pt x="304800" y="304800"/>
                </a:lnTo>
              </a:path>
              <a:path w="4038600" h="304800">
                <a:moveTo>
                  <a:pt x="609600" y="0"/>
                </a:moveTo>
                <a:lnTo>
                  <a:pt x="609600" y="304800"/>
                </a:lnTo>
              </a:path>
              <a:path w="4038600" h="304800">
                <a:moveTo>
                  <a:pt x="990600" y="0"/>
                </a:moveTo>
                <a:lnTo>
                  <a:pt x="990600" y="304800"/>
                </a:lnTo>
              </a:path>
              <a:path w="4038600" h="304800">
                <a:moveTo>
                  <a:pt x="1371600" y="0"/>
                </a:moveTo>
                <a:lnTo>
                  <a:pt x="1371600" y="304800"/>
                </a:lnTo>
              </a:path>
              <a:path w="4038600" h="304800">
                <a:moveTo>
                  <a:pt x="1752600" y="0"/>
                </a:moveTo>
                <a:lnTo>
                  <a:pt x="1752600" y="304800"/>
                </a:lnTo>
              </a:path>
              <a:path w="4038600" h="304800">
                <a:moveTo>
                  <a:pt x="2133600" y="0"/>
                </a:moveTo>
                <a:lnTo>
                  <a:pt x="2133600" y="304800"/>
                </a:lnTo>
              </a:path>
              <a:path w="4038600" h="304800">
                <a:moveTo>
                  <a:pt x="2438400" y="0"/>
                </a:moveTo>
                <a:lnTo>
                  <a:pt x="2438400" y="304800"/>
                </a:lnTo>
              </a:path>
              <a:path w="4038600" h="304800">
                <a:moveTo>
                  <a:pt x="2819400" y="0"/>
                </a:moveTo>
                <a:lnTo>
                  <a:pt x="2819400" y="304800"/>
                </a:lnTo>
              </a:path>
              <a:path w="4038600" h="304800">
                <a:moveTo>
                  <a:pt x="3124200" y="0"/>
                </a:moveTo>
                <a:lnTo>
                  <a:pt x="3124200" y="304800"/>
                </a:lnTo>
              </a:path>
              <a:path w="4038600" h="304800">
                <a:moveTo>
                  <a:pt x="3429000" y="0"/>
                </a:moveTo>
                <a:lnTo>
                  <a:pt x="3429000" y="304800"/>
                </a:lnTo>
              </a:path>
              <a:path w="4038600" h="304800">
                <a:moveTo>
                  <a:pt x="3733800" y="0"/>
                </a:moveTo>
                <a:lnTo>
                  <a:pt x="3733800" y="304800"/>
                </a:lnTo>
              </a:path>
              <a:path w="4038600" h="304800">
                <a:moveTo>
                  <a:pt x="4038600" y="0"/>
                </a:moveTo>
                <a:lnTo>
                  <a:pt x="4038600" y="304800"/>
                </a:lnTo>
              </a:path>
              <a:path w="4038600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195068" y="3149296"/>
            <a:ext cx="17843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042668" y="4445331"/>
            <a:ext cx="17843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262121" y="2615642"/>
            <a:ext cx="17843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185921" y="3835350"/>
            <a:ext cx="17843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195571" y="3530854"/>
            <a:ext cx="508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3600" spc="-75" baseline="-13888" dirty="0">
                <a:latin typeface="Times New Roman"/>
                <a:cs typeface="Times New Roman"/>
              </a:rPr>
              <a:t>8</a:t>
            </a:r>
            <a:endParaRPr sz="3600" baseline="-13888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093468" y="2006349"/>
            <a:ext cx="610235" cy="6796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64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  <a:p>
            <a:pPr marL="149225">
              <a:lnSpc>
                <a:spcPts val="2640"/>
              </a:lnSpc>
            </a:pPr>
            <a:r>
              <a:rPr sz="2400" dirty="0">
                <a:latin typeface="Times New Roman"/>
                <a:cs typeface="Times New Roman"/>
              </a:rPr>
              <a:t>B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3600" spc="-75" baseline="-13888" dirty="0">
                <a:latin typeface="Times New Roman"/>
                <a:cs typeface="Times New Roman"/>
              </a:rPr>
              <a:t>9</a:t>
            </a:r>
            <a:endParaRPr sz="3600" baseline="-13888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873633" y="2615642"/>
            <a:ext cx="738505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  <a:p>
            <a:pPr marL="140335">
              <a:lnSpc>
                <a:spcPct val="100000"/>
              </a:lnSpc>
              <a:spcBef>
                <a:spcPts val="125"/>
              </a:spcBef>
            </a:pPr>
            <a:r>
              <a:rPr sz="3600" spc="-30" baseline="13888" dirty="0">
                <a:latin typeface="Times New Roman"/>
                <a:cs typeface="Times New Roman"/>
              </a:rPr>
              <a:t>G</a:t>
            </a:r>
            <a:r>
              <a:rPr sz="3600" spc="-209" baseline="13888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424170" y="2997200"/>
            <a:ext cx="65151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baseline="13888" dirty="0">
                <a:latin typeface="Times New Roman"/>
                <a:cs typeface="Times New Roman"/>
              </a:rPr>
              <a:t>C</a:t>
            </a:r>
            <a:r>
              <a:rPr sz="3600" spc="-112" baseline="13888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title"/>
          </p:nvPr>
        </p:nvSpPr>
        <p:spPr>
          <a:xfrm>
            <a:off x="2187833" y="481026"/>
            <a:ext cx="471360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42265" algn="l"/>
                <a:tab pos="647065" algn="l"/>
                <a:tab pos="1028700" algn="l"/>
                <a:tab pos="1409700" algn="l"/>
                <a:tab pos="1790700" algn="l"/>
                <a:tab pos="2171700" algn="l"/>
                <a:tab pos="2552700" algn="l"/>
                <a:tab pos="2858135" algn="l"/>
              </a:tabLst>
            </a:pPr>
            <a:r>
              <a:rPr sz="2400" b="0" u="none" spc="-50" dirty="0">
                <a:latin typeface="Times New Roman"/>
                <a:cs typeface="Times New Roman"/>
              </a:rPr>
              <a:t>1</a:t>
            </a:r>
            <a:r>
              <a:rPr sz="2400" b="0" u="none" dirty="0">
                <a:latin typeface="Times New Roman"/>
                <a:cs typeface="Times New Roman"/>
              </a:rPr>
              <a:t>	</a:t>
            </a:r>
            <a:r>
              <a:rPr sz="2400" b="0" u="none" spc="-50" dirty="0">
                <a:latin typeface="Times New Roman"/>
                <a:cs typeface="Times New Roman"/>
              </a:rPr>
              <a:t>2</a:t>
            </a:r>
            <a:r>
              <a:rPr sz="2400" b="0" u="none" dirty="0">
                <a:latin typeface="Times New Roman"/>
                <a:cs typeface="Times New Roman"/>
              </a:rPr>
              <a:t>	</a:t>
            </a:r>
            <a:r>
              <a:rPr sz="2400" b="0" u="none" spc="-50" dirty="0">
                <a:latin typeface="Times New Roman"/>
                <a:cs typeface="Times New Roman"/>
              </a:rPr>
              <a:t>3</a:t>
            </a:r>
            <a:r>
              <a:rPr sz="2400" b="0" u="none" dirty="0">
                <a:latin typeface="Times New Roman"/>
                <a:cs typeface="Times New Roman"/>
              </a:rPr>
              <a:t>	</a:t>
            </a:r>
            <a:r>
              <a:rPr sz="2400" b="0" u="none" spc="-50" dirty="0">
                <a:latin typeface="Times New Roman"/>
                <a:cs typeface="Times New Roman"/>
              </a:rPr>
              <a:t>4</a:t>
            </a:r>
            <a:r>
              <a:rPr sz="2400" b="0" u="none" dirty="0">
                <a:latin typeface="Times New Roman"/>
                <a:cs typeface="Times New Roman"/>
              </a:rPr>
              <a:t>	</a:t>
            </a:r>
            <a:r>
              <a:rPr sz="2400" b="0" u="none" spc="-50" dirty="0">
                <a:latin typeface="Times New Roman"/>
                <a:cs typeface="Times New Roman"/>
              </a:rPr>
              <a:t>5</a:t>
            </a:r>
            <a:r>
              <a:rPr sz="2400" b="0" u="none" dirty="0">
                <a:latin typeface="Times New Roman"/>
                <a:cs typeface="Times New Roman"/>
              </a:rPr>
              <a:t>	</a:t>
            </a:r>
            <a:r>
              <a:rPr sz="2400" b="0" u="none" spc="-50" dirty="0">
                <a:latin typeface="Times New Roman"/>
                <a:cs typeface="Times New Roman"/>
              </a:rPr>
              <a:t>6</a:t>
            </a:r>
            <a:r>
              <a:rPr sz="2400" b="0" u="none" dirty="0">
                <a:latin typeface="Times New Roman"/>
                <a:cs typeface="Times New Roman"/>
              </a:rPr>
              <a:t>	</a:t>
            </a:r>
            <a:r>
              <a:rPr sz="2400" b="0" u="none" spc="-50" dirty="0">
                <a:latin typeface="Times New Roman"/>
                <a:cs typeface="Times New Roman"/>
              </a:rPr>
              <a:t>7</a:t>
            </a:r>
            <a:r>
              <a:rPr sz="2400" b="0" u="none" dirty="0">
                <a:latin typeface="Times New Roman"/>
                <a:cs typeface="Times New Roman"/>
              </a:rPr>
              <a:t>	</a:t>
            </a:r>
            <a:r>
              <a:rPr sz="2400" b="0" u="none" spc="-50" dirty="0">
                <a:latin typeface="Times New Roman"/>
                <a:cs typeface="Times New Roman"/>
              </a:rPr>
              <a:t>8</a:t>
            </a:r>
            <a:r>
              <a:rPr sz="2400" b="0" u="none" dirty="0">
                <a:latin typeface="Times New Roman"/>
                <a:cs typeface="Times New Roman"/>
              </a:rPr>
              <a:t>	9</a:t>
            </a:r>
            <a:r>
              <a:rPr sz="2400" b="0" u="none" spc="-5" dirty="0">
                <a:latin typeface="Times New Roman"/>
                <a:cs typeface="Times New Roman"/>
              </a:rPr>
              <a:t> </a:t>
            </a:r>
            <a:r>
              <a:rPr sz="2400" b="0" u="none" spc="-10" dirty="0">
                <a:latin typeface="Times New Roman"/>
                <a:cs typeface="Times New Roman"/>
              </a:rPr>
              <a:t>10</a:t>
            </a:r>
            <a:r>
              <a:rPr sz="3600" b="0" u="none" spc="-15" baseline="13888" dirty="0">
                <a:latin typeface="Times New Roman"/>
                <a:cs typeface="Times New Roman"/>
              </a:rPr>
              <a:t>11</a:t>
            </a:r>
            <a:r>
              <a:rPr sz="2400" b="0" u="none" spc="-10" dirty="0">
                <a:latin typeface="Times New Roman"/>
                <a:cs typeface="Times New Roman"/>
              </a:rPr>
              <a:t>121314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478523" y="76352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0" y="304800"/>
                </a:lnTo>
              </a:path>
              <a:path w="304800" h="304800">
                <a:moveTo>
                  <a:pt x="304800" y="0"/>
                </a:moveTo>
                <a:lnTo>
                  <a:pt x="304800" y="3048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2975233" y="3835352"/>
            <a:ext cx="635635" cy="6796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4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  <a:p>
            <a:pPr marL="66040">
              <a:lnSpc>
                <a:spcPts val="2640"/>
              </a:lnSpc>
            </a:pPr>
            <a:r>
              <a:rPr sz="2400" dirty="0">
                <a:latin typeface="Times New Roman"/>
                <a:cs typeface="Times New Roman"/>
              </a:rPr>
              <a:t>F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415030" y="4217034"/>
            <a:ext cx="58483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37" baseline="13888" dirty="0">
                <a:latin typeface="Times New Roman"/>
                <a:cs typeface="Times New Roman"/>
              </a:rPr>
              <a:t>D</a:t>
            </a:r>
            <a:r>
              <a:rPr sz="2400" spc="-25" dirty="0">
                <a:latin typeface="Times New Roman"/>
                <a:cs typeface="Times New Roman"/>
              </a:rPr>
              <a:t>14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895475" y="4826890"/>
            <a:ext cx="5106670" cy="11721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 algn="ctr">
              <a:lnSpc>
                <a:spcPct val="100000"/>
              </a:lnSpc>
              <a:spcBef>
                <a:spcPts val="100"/>
              </a:spcBef>
            </a:pPr>
            <a:r>
              <a:rPr sz="3600" spc="-37" baseline="13888" dirty="0">
                <a:latin typeface="Times New Roman"/>
                <a:cs typeface="Times New Roman"/>
              </a:rPr>
              <a:t>E</a:t>
            </a:r>
            <a:r>
              <a:rPr sz="2400" spc="-25" dirty="0">
                <a:latin typeface="Times New Roman"/>
                <a:cs typeface="Times New Roman"/>
              </a:rPr>
              <a:t>10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24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Frequency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Planning/Channel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Assignment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65947" y="153923"/>
            <a:ext cx="0" cy="1524000"/>
          </a:xfrm>
          <a:custGeom>
            <a:avLst/>
            <a:gdLst/>
            <a:ahLst/>
            <a:cxnLst/>
            <a:rect l="l" t="t" r="r" b="b"/>
            <a:pathLst>
              <a:path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53400" y="152402"/>
            <a:ext cx="118872" cy="1188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1044" y="152402"/>
            <a:ext cx="118871" cy="1188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88680" y="152402"/>
            <a:ext cx="118872" cy="1188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53400" y="320042"/>
            <a:ext cx="118872" cy="11887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88680" y="320042"/>
            <a:ext cx="118872" cy="11887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1044" y="320042"/>
            <a:ext cx="118871" cy="11887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56319" y="320042"/>
            <a:ext cx="118872" cy="11887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53400" y="487682"/>
            <a:ext cx="118872" cy="11887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1044" y="487682"/>
            <a:ext cx="118871" cy="11887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88680" y="487682"/>
            <a:ext cx="118872" cy="11887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56319" y="487682"/>
            <a:ext cx="118872" cy="118872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27007" y="487682"/>
            <a:ext cx="118872" cy="11887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53400" y="655320"/>
            <a:ext cx="118872" cy="12192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88680" y="655320"/>
            <a:ext cx="118872" cy="12192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21044" y="655320"/>
            <a:ext cx="118871" cy="12192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56319" y="655320"/>
            <a:ext cx="118872" cy="12192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53400" y="822960"/>
            <a:ext cx="118872" cy="12192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21044" y="822960"/>
            <a:ext cx="118871" cy="12192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88680" y="822960"/>
            <a:ext cx="118872" cy="12192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56319" y="822960"/>
            <a:ext cx="118872" cy="12192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827007" y="822960"/>
            <a:ext cx="118872" cy="12192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53400" y="990602"/>
            <a:ext cx="118872" cy="118872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21044" y="990602"/>
            <a:ext cx="118871" cy="118872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88680" y="990602"/>
            <a:ext cx="118872" cy="118872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153400" y="1161288"/>
            <a:ext cx="118872" cy="115824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656319" y="990602"/>
            <a:ext cx="118872" cy="118872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321044" y="1161288"/>
            <a:ext cx="118871" cy="115824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488680" y="1161288"/>
            <a:ext cx="118872" cy="115824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656319" y="1161288"/>
            <a:ext cx="118872" cy="115824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321044" y="1328928"/>
            <a:ext cx="118871" cy="118872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656319" y="1328928"/>
            <a:ext cx="118872" cy="118872"/>
          </a:xfrm>
          <a:prstGeom prst="rect">
            <a:avLst/>
          </a:prstGeom>
        </p:spPr>
      </p:pic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2533908" y="2716735"/>
            <a:ext cx="4082415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0" u="none" dirty="0">
                <a:latin typeface="Times New Roman"/>
                <a:cs typeface="Times New Roman"/>
              </a:rPr>
              <a:t>THANK</a:t>
            </a:r>
            <a:r>
              <a:rPr sz="5400" b="0" u="none" spc="-5" dirty="0">
                <a:latin typeface="Times New Roman"/>
                <a:cs typeface="Times New Roman"/>
              </a:rPr>
              <a:t> </a:t>
            </a:r>
            <a:r>
              <a:rPr sz="5400" b="0" u="none" spc="-25" dirty="0">
                <a:latin typeface="Times New Roman"/>
                <a:cs typeface="Times New Roman"/>
              </a:rPr>
              <a:t>YOU</a:t>
            </a:r>
            <a:endParaRPr sz="5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D9CE8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315</TotalTime>
  <Words>4618</Words>
  <Application>Microsoft Office PowerPoint</Application>
  <PresentationFormat>Custom</PresentationFormat>
  <Paragraphs>830</Paragraphs>
  <Slides>108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108</vt:i4>
      </vt:variant>
    </vt:vector>
  </HeadingPairs>
  <TitlesOfParts>
    <vt:vector size="109" baseType="lpstr">
      <vt:lpstr>Office Theme</vt:lpstr>
      <vt:lpstr>Multiple Access Techniques for Wireless Communication</vt:lpstr>
      <vt:lpstr>Introduction</vt:lpstr>
      <vt:lpstr>Frequency division duplexing (FDD)</vt:lpstr>
      <vt:lpstr>Time division duplexing (TDD)</vt:lpstr>
      <vt:lpstr>Multiple Access Techniques</vt:lpstr>
      <vt:lpstr>Narrowband systems</vt:lpstr>
      <vt:lpstr>Logical separation FDMA/FDD</vt:lpstr>
      <vt:lpstr>Logical separation FDMA/TDD</vt:lpstr>
      <vt:lpstr>Logical separation TDMA/FDD</vt:lpstr>
      <vt:lpstr>Logical separation TDMA/TDD</vt:lpstr>
      <vt:lpstr>Wideband systems</vt:lpstr>
      <vt:lpstr>Logical separation CDMA/FDD</vt:lpstr>
      <vt:lpstr>Logical separation CDMA/TDD</vt:lpstr>
      <vt:lpstr>Multiple Access Techniques in use</vt:lpstr>
      <vt:lpstr>Frequency division multiple access FDMA</vt:lpstr>
      <vt:lpstr>FDMA compared to TDMA</vt:lpstr>
      <vt:lpstr>Nonlinear Effects in FDMA</vt:lpstr>
      <vt:lpstr>Nonlinear Effects in FDMA</vt:lpstr>
      <vt:lpstr>Number of channels in a FDMA system</vt:lpstr>
      <vt:lpstr>Example: Advanced Mobile Phone System</vt:lpstr>
      <vt:lpstr>Time Division Multiple Access</vt:lpstr>
      <vt:lpstr>Repeating Frame Structure</vt:lpstr>
      <vt:lpstr>Features of TDMA</vt:lpstr>
      <vt:lpstr>Number of channels in a TDMA system</vt:lpstr>
      <vt:lpstr>Slide 25</vt:lpstr>
      <vt:lpstr>Efficiency of TDMA</vt:lpstr>
      <vt:lpstr>Repeating Frame Structure</vt:lpstr>
      <vt:lpstr>Efficiency of TDMA</vt:lpstr>
      <vt:lpstr>Efficiency of TDMA</vt:lpstr>
      <vt:lpstr>Efficiency of TDMA</vt:lpstr>
      <vt:lpstr>Space Division Multiple Access</vt:lpstr>
      <vt:lpstr>Space Division Multiple Access</vt:lpstr>
      <vt:lpstr>Reverse link problems</vt:lpstr>
      <vt:lpstr>Solution by SDMA systems</vt:lpstr>
      <vt:lpstr>Disadvantage of SDMA</vt:lpstr>
      <vt:lpstr>SDMA and PDMA in satellites</vt:lpstr>
      <vt:lpstr>SDMA and PDMA in satellites</vt:lpstr>
      <vt:lpstr>SDMA and PDMA in satellites</vt:lpstr>
      <vt:lpstr>Capacity of Cellular Systems</vt:lpstr>
      <vt:lpstr>Co-Channel Reuse Ratio Q</vt:lpstr>
      <vt:lpstr>Forward channel interference</vt:lpstr>
      <vt:lpstr>Carrier-to-interference ratio C/I</vt:lpstr>
      <vt:lpstr>Carrier-to-interference ratio C/I</vt:lpstr>
      <vt:lpstr>Worst Case Performance</vt:lpstr>
      <vt:lpstr>Co-Channel reuse ratio Q</vt:lpstr>
      <vt:lpstr>Radio Capacity m</vt:lpstr>
      <vt:lpstr>Radio Capacity m</vt:lpstr>
      <vt:lpstr>Radio Capacity m for n = 4</vt:lpstr>
      <vt:lpstr>Compare different Systems</vt:lpstr>
      <vt:lpstr>Compare different Systems</vt:lpstr>
      <vt:lpstr>C/I in digital cellular systems</vt:lpstr>
      <vt:lpstr>C/I in digital cellular systems</vt:lpstr>
      <vt:lpstr>C/I in digital cellular systems</vt:lpstr>
      <vt:lpstr>Compare C/I between FDMA and TDMA</vt:lpstr>
      <vt:lpstr>Example</vt:lpstr>
      <vt:lpstr>Example</vt:lpstr>
      <vt:lpstr>Example</vt:lpstr>
      <vt:lpstr>Capacity of SDMA systems</vt:lpstr>
      <vt:lpstr>Capacity of SDMA systems</vt:lpstr>
      <vt:lpstr>Capacity of SDMA systems</vt:lpstr>
      <vt:lpstr>Capacity of SDMA systems</vt:lpstr>
      <vt:lpstr>Capacity of SDMA</vt:lpstr>
      <vt:lpstr>Capacity of SDMA systems</vt:lpstr>
      <vt:lpstr>Capacity of SDMA systems</vt:lpstr>
      <vt:lpstr>Capacity of SDMA systems</vt:lpstr>
      <vt:lpstr>Capacity of SDMA systems</vt:lpstr>
      <vt:lpstr>The Cellular Concept</vt:lpstr>
      <vt:lpstr>Cellular Systems-Basic Concepts</vt:lpstr>
      <vt:lpstr>Cellular Systems-Basic Concepts</vt:lpstr>
      <vt:lpstr>Frequency Reuse</vt:lpstr>
      <vt:lpstr>Frequency Reuse</vt:lpstr>
      <vt:lpstr>Frequency Reuse</vt:lpstr>
      <vt:lpstr>Frequency Reuse</vt:lpstr>
      <vt:lpstr>Frequency Reuse</vt:lpstr>
      <vt:lpstr>Frequency Reuse</vt:lpstr>
      <vt:lpstr>Frequency Reuse</vt:lpstr>
      <vt:lpstr>Locating co-channel Cell</vt:lpstr>
      <vt:lpstr>Channel Assignment Strategies</vt:lpstr>
      <vt:lpstr>Dynamic Channel Assignment</vt:lpstr>
      <vt:lpstr>Hand-off</vt:lpstr>
      <vt:lpstr>By looking at the variations of signal strength from either BS it is possible to decide on the optimum area where handoff can take place</vt:lpstr>
      <vt:lpstr>Slide 82</vt:lpstr>
      <vt:lpstr>Hand-off strategies</vt:lpstr>
      <vt:lpstr>Hand-off</vt:lpstr>
      <vt:lpstr>Hand-off strategies</vt:lpstr>
      <vt:lpstr>Hand-off strategies</vt:lpstr>
      <vt:lpstr>Soft Handoff</vt:lpstr>
      <vt:lpstr>Inter system Handoff</vt:lpstr>
      <vt:lpstr>Prioritizing Handoffs</vt:lpstr>
      <vt:lpstr>Prioritizing Handoffs</vt:lpstr>
      <vt:lpstr>Practical Handoff Considerations</vt:lpstr>
      <vt:lpstr>Umbrella Cells</vt:lpstr>
      <vt:lpstr>Typical handoff parameters</vt:lpstr>
      <vt:lpstr>Reuse Ratio:</vt:lpstr>
      <vt:lpstr>Interference</vt:lpstr>
      <vt:lpstr>Interference</vt:lpstr>
      <vt:lpstr>Effects of Interference</vt:lpstr>
      <vt:lpstr>Interference</vt:lpstr>
      <vt:lpstr>Co-channel Interference</vt:lpstr>
      <vt:lpstr>Co-channel Interference</vt:lpstr>
      <vt:lpstr>Signal to Interference ratio S/I</vt:lpstr>
      <vt:lpstr>Signal to Interference ratio S/I</vt:lpstr>
      <vt:lpstr>Signal to Interference ratio S/I</vt:lpstr>
      <vt:lpstr>Example S/I</vt:lpstr>
      <vt:lpstr>Example S/I</vt:lpstr>
      <vt:lpstr>Adjacent Channel Interference</vt:lpstr>
      <vt:lpstr>1 2 3 4 5 6 7 8 9 1011121314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MergedFile</dc:title>
  <cp:lastModifiedBy>Windows User</cp:lastModifiedBy>
  <cp:revision>1</cp:revision>
  <dcterms:created xsi:type="dcterms:W3CDTF">2024-12-02T06:32:18Z</dcterms:created>
  <dcterms:modified xsi:type="dcterms:W3CDTF">2024-12-11T11:57:12Z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2022-04-02T00:00:00Z</vt:filetime>
  </property>
  <property fmtid="{D5CDD505-2E9C-101B-9397-08002B2CF9AE}" pid="3" name="Creator">
    <vt:lpwstr>Soda PDF</vt:lpwstr>
  </property>
  <property fmtid="{D5CDD505-2E9C-101B-9397-08002B2CF9AE}" pid="4" name="LastSaved">
    <vt:filetime>2024-12-02T00:00:00Z</vt:filetime>
  </property>
  <property fmtid="{D5CDD505-2E9C-101B-9397-08002B2CF9AE}" pid="5" name="Producer">
    <vt:lpwstr>Soda PDF</vt:lpwstr>
  </property>
</Properties>
</file>