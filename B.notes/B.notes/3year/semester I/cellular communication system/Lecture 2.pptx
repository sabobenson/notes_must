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88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38400"/>
            <a:ext cx="7772400" cy="1470025"/>
          </a:xfrm>
        </p:spPr>
        <p:txBody>
          <a:bodyPr/>
          <a:lstStyle/>
          <a:p>
            <a:r>
              <a:rPr lang="en-US" dirty="0" err="1" smtClean="0"/>
              <a:t>GSM</a:t>
            </a:r>
            <a:r>
              <a:rPr lang="en-US" dirty="0" smtClean="0"/>
              <a:t> NETWORK </a:t>
            </a:r>
            <a:r>
              <a:rPr lang="en-US" dirty="0" smtClean="0"/>
              <a:t>STRUCTURE</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7914084" cy="5638800"/>
          </a:xfrm>
        </p:spPr>
        <p:txBody>
          <a:bodyPr>
            <a:normAutofit fontScale="85000" lnSpcReduction="20000"/>
          </a:bodyPr>
          <a:lstStyle/>
          <a:p>
            <a:pPr algn="just" fontAlgn="base"/>
            <a:r>
              <a:rPr lang="en-US" i="1" dirty="0" smtClean="0"/>
              <a:t>The </a:t>
            </a:r>
            <a:r>
              <a:rPr lang="en-US" i="1" dirty="0"/>
              <a:t>GSM network architecture consists of different elements including Base Station Subsystem BSS, Network &amp; Switching Subsystem NSS, Operation &amp; Support Subsystem as well as elements including- MSC, </a:t>
            </a:r>
            <a:r>
              <a:rPr lang="en-US" i="1" dirty="0" err="1"/>
              <a:t>AuC</a:t>
            </a:r>
            <a:r>
              <a:rPr lang="en-US" i="1" dirty="0"/>
              <a:t>, HLR, VLR, etc</a:t>
            </a:r>
            <a:r>
              <a:rPr lang="en-US" i="1" dirty="0" smtClean="0"/>
              <a:t>.</a:t>
            </a:r>
            <a:endParaRPr lang="en-US" i="1" dirty="0"/>
          </a:p>
          <a:p>
            <a:pPr algn="just" fontAlgn="base"/>
            <a:r>
              <a:rPr lang="en-US" i="1" dirty="0"/>
              <a:t>The GSM network architecture provided a simple and yet effective architecture to provide the services needed for a 2G cellular or mobile communications system.</a:t>
            </a:r>
          </a:p>
          <a:p>
            <a:pPr algn="just" fontAlgn="base"/>
            <a:endParaRPr lang="en-US" i="1" dirty="0"/>
          </a:p>
          <a:p>
            <a:pPr algn="just" fontAlgn="base"/>
            <a:r>
              <a:rPr lang="en-US" i="1" dirty="0"/>
              <a:t>Although the 5G network architecture has moved on significantly since 2G GSM was introduced, the 5G network architecture owes a lot to its predecessor. Understanding how the early systems works, also gives a significant insight into understanding the later ones</a:t>
            </a:r>
          </a:p>
        </p:txBody>
      </p:sp>
    </p:spTree>
    <p:extLst>
      <p:ext uri="{BB962C8B-B14F-4D97-AF65-F5344CB8AC3E}">
        <p14:creationId xmlns:p14="http://schemas.microsoft.com/office/powerpoint/2010/main" xmlns="" val="299472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438401" y="702964"/>
            <a:ext cx="5410200" cy="5780387"/>
          </a:xfrm>
        </p:spPr>
      </p:pic>
    </p:spTree>
    <p:extLst>
      <p:ext uri="{BB962C8B-B14F-4D97-AF65-F5344CB8AC3E}">
        <p14:creationId xmlns:p14="http://schemas.microsoft.com/office/powerpoint/2010/main" xmlns="" val="2755111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US" b="1" dirty="0"/>
              <a:t>Network Switching Subsystem (NSS)</a:t>
            </a:r>
          </a:p>
        </p:txBody>
      </p:sp>
      <p:sp>
        <p:nvSpPr>
          <p:cNvPr id="3" name="Content Placeholder 2"/>
          <p:cNvSpPr>
            <a:spLocks noGrp="1"/>
          </p:cNvSpPr>
          <p:nvPr>
            <p:ph idx="1"/>
          </p:nvPr>
        </p:nvSpPr>
        <p:spPr>
          <a:xfrm>
            <a:off x="457200" y="1295400"/>
            <a:ext cx="8229600" cy="5334000"/>
          </a:xfrm>
        </p:spPr>
        <p:txBody>
          <a:bodyPr>
            <a:normAutofit fontScale="55000" lnSpcReduction="20000"/>
          </a:bodyPr>
          <a:lstStyle/>
          <a:p>
            <a:pPr>
              <a:buNone/>
            </a:pPr>
            <a:r>
              <a:rPr lang="en-US" sz="4000" b="1" dirty="0" smtClean="0"/>
              <a:t>1. Mobile </a:t>
            </a:r>
            <a:r>
              <a:rPr lang="en-US" sz="4000" b="1" dirty="0"/>
              <a:t>Services Switching Centre (MSC):</a:t>
            </a:r>
          </a:p>
          <a:p>
            <a:pPr algn="just">
              <a:lnSpc>
                <a:spcPct val="170000"/>
              </a:lnSpc>
            </a:pPr>
            <a:r>
              <a:rPr lang="en-US" dirty="0"/>
              <a:t>The main element within the core network area of the overall GSM network architecture is the Mobile switching Services Centre (MSC).</a:t>
            </a:r>
          </a:p>
          <a:p>
            <a:pPr algn="just">
              <a:lnSpc>
                <a:spcPct val="170000"/>
              </a:lnSpc>
            </a:pPr>
            <a:endParaRPr lang="en-US" dirty="0"/>
          </a:p>
          <a:p>
            <a:pPr algn="just">
              <a:lnSpc>
                <a:spcPct val="170000"/>
              </a:lnSpc>
            </a:pPr>
            <a:r>
              <a:rPr lang="en-US" dirty="0"/>
              <a:t>The MSC acts like a normal switching node within a PSTN or ISDN, but also provides additional functionality to enable the requirements of a mobile user to be supported. These include registration, authentication, call location, inter-MSC handovers and call routing to a mobile subscriber</a:t>
            </a:r>
            <a:r>
              <a:rPr lang="en-US" dirty="0" smtClean="0"/>
              <a:t>.</a:t>
            </a:r>
          </a:p>
          <a:p>
            <a:pPr algn="just">
              <a:lnSpc>
                <a:spcPct val="170000"/>
              </a:lnSpc>
            </a:pPr>
            <a:r>
              <a:rPr lang="en-US" dirty="0"/>
              <a:t>It also provides an interface to the PSTN so that the mobile communications calls can be routed from the mobile network to a phone connected to a landline. Interfaces to other MSCs are provided to enable calls to be made to mobiles on different networks.</a:t>
            </a:r>
          </a:p>
        </p:txBody>
      </p:sp>
    </p:spTree>
    <p:extLst>
      <p:ext uri="{BB962C8B-B14F-4D97-AF65-F5344CB8AC3E}">
        <p14:creationId xmlns:p14="http://schemas.microsoft.com/office/powerpoint/2010/main" xmlns="" val="1747268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09600"/>
            <a:ext cx="8153400" cy="5715000"/>
          </a:xfrm>
        </p:spPr>
        <p:txBody>
          <a:bodyPr>
            <a:normAutofit fontScale="70000" lnSpcReduction="20000"/>
          </a:bodyPr>
          <a:lstStyle/>
          <a:p>
            <a:r>
              <a:rPr lang="en-US" sz="3600" b="1" dirty="0" smtClean="0"/>
              <a:t>2. Home </a:t>
            </a:r>
            <a:r>
              <a:rPr lang="en-US" sz="3600" b="1" dirty="0"/>
              <a:t>Location Register (HLR):</a:t>
            </a:r>
          </a:p>
          <a:p>
            <a:r>
              <a:rPr lang="en-US" sz="3600" dirty="0"/>
              <a:t>This database contains all the administrative information about each subscriber along with their last known location. In this way, the GSM network is able to route calls to the relevant base station for the MS.</a:t>
            </a:r>
          </a:p>
          <a:p>
            <a:endParaRPr lang="en-US" sz="3600" dirty="0"/>
          </a:p>
          <a:p>
            <a:r>
              <a:rPr lang="en-US" sz="3600" dirty="0"/>
              <a:t>When a user switches on their phone, the phone registers with the network and from this it is possible to determine which BTS it communicates with so that incoming calls can be routed appropriately. Even when the phone is not active (but switched on) it re-registers periodically to ensure that the network (HLR) is aware of its latest position.</a:t>
            </a:r>
          </a:p>
          <a:p>
            <a:endParaRPr lang="en-US" sz="3600" dirty="0"/>
          </a:p>
          <a:p>
            <a:r>
              <a:rPr lang="en-US" sz="3600" dirty="0"/>
              <a:t>There is one HLR per network, although it may be distributed across various sub-</a:t>
            </a:r>
            <a:r>
              <a:rPr lang="en-US" sz="3600" dirty="0" err="1"/>
              <a:t>centres</a:t>
            </a:r>
            <a:r>
              <a:rPr lang="en-US" sz="3600" dirty="0"/>
              <a:t> to for operational reasons</a:t>
            </a:r>
            <a:r>
              <a:rPr lang="en-US" dirty="0"/>
              <a:t>.</a:t>
            </a:r>
          </a:p>
        </p:txBody>
      </p:sp>
    </p:spTree>
    <p:extLst>
      <p:ext uri="{BB962C8B-B14F-4D97-AF65-F5344CB8AC3E}">
        <p14:creationId xmlns:p14="http://schemas.microsoft.com/office/powerpoint/2010/main" xmlns="" val="3080969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2700"/>
            <a:ext cx="8382000" cy="5118100"/>
          </a:xfrm>
        </p:spPr>
        <p:txBody>
          <a:bodyPr>
            <a:normAutofit lnSpcReduction="10000"/>
          </a:bodyPr>
          <a:lstStyle/>
          <a:p>
            <a:pPr fontAlgn="base">
              <a:lnSpc>
                <a:spcPct val="200000"/>
              </a:lnSpc>
            </a:pPr>
            <a:r>
              <a:rPr lang="en-US" sz="2400" b="1" dirty="0" smtClean="0"/>
              <a:t>3. Visitor </a:t>
            </a:r>
            <a:r>
              <a:rPr lang="en-US" sz="2400" b="1" dirty="0"/>
              <a:t>Location Register (VLR):</a:t>
            </a:r>
          </a:p>
          <a:p>
            <a:pPr fontAlgn="base">
              <a:lnSpc>
                <a:spcPct val="200000"/>
              </a:lnSpc>
            </a:pPr>
            <a:r>
              <a:rPr lang="en-US" sz="2400" dirty="0"/>
              <a:t>This contains selected information from the HLR that enables the selected services for the individual subscriber to be provided. The VLR can be implemented as a separate entity, but it is commonly </a:t>
            </a:r>
            <a:r>
              <a:rPr lang="en-US" sz="2400" dirty="0" err="1"/>
              <a:t>realised</a:t>
            </a:r>
            <a:r>
              <a:rPr lang="en-US" sz="2400" dirty="0"/>
              <a:t> as an integral part of the MSC, rather than a separate entity. In this way access is made faster and more </a:t>
            </a:r>
            <a:r>
              <a:rPr lang="en-US" sz="2400" dirty="0" smtClean="0"/>
              <a:t>convenient.</a:t>
            </a:r>
            <a:endParaRPr lang="en-US" sz="2400" dirty="0"/>
          </a:p>
        </p:txBody>
      </p:sp>
    </p:spTree>
    <p:extLst>
      <p:ext uri="{BB962C8B-B14F-4D97-AF65-F5344CB8AC3E}">
        <p14:creationId xmlns:p14="http://schemas.microsoft.com/office/powerpoint/2010/main" xmlns="" val="105050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458200" cy="5295900"/>
          </a:xfrm>
        </p:spPr>
        <p:txBody>
          <a:bodyPr>
            <a:noAutofit/>
          </a:bodyPr>
          <a:lstStyle/>
          <a:p>
            <a:pPr fontAlgn="base">
              <a:lnSpc>
                <a:spcPct val="150000"/>
              </a:lnSpc>
            </a:pPr>
            <a:r>
              <a:rPr lang="en-US" sz="2000" b="1" dirty="0" smtClean="0"/>
              <a:t>4. Equipment </a:t>
            </a:r>
            <a:r>
              <a:rPr lang="en-US" sz="2000" b="1" dirty="0"/>
              <a:t>Identity Register (EIR):</a:t>
            </a:r>
          </a:p>
          <a:p>
            <a:pPr fontAlgn="base">
              <a:lnSpc>
                <a:spcPct val="150000"/>
              </a:lnSpc>
            </a:pPr>
            <a:r>
              <a:rPr lang="en-US" sz="2000" dirty="0"/>
              <a:t>The EIR is the entity that decides whether a given mobile equipment may be allowed onto the network. Each mobile equipment has a number known as the International Mobile Equipment Identity.</a:t>
            </a:r>
          </a:p>
          <a:p>
            <a:pPr fontAlgn="base">
              <a:lnSpc>
                <a:spcPct val="150000"/>
              </a:lnSpc>
            </a:pPr>
            <a:r>
              <a:rPr lang="en-US" sz="2000" dirty="0"/>
              <a:t>This number, as mentioned above, is installed in the equipment and is checked by the network during registration. Dependent upon the information held in the EIR, the mobile may be allocated one of three states - allowed onto the network, barred access, or monitored in case its problems</a:t>
            </a:r>
            <a:r>
              <a:rPr lang="en-US" sz="2000" dirty="0" smtClean="0"/>
              <a:t>.</a:t>
            </a:r>
          </a:p>
          <a:p>
            <a:pPr fontAlgn="base">
              <a:lnSpc>
                <a:spcPct val="150000"/>
              </a:lnSpc>
            </a:pPr>
            <a:r>
              <a:rPr lang="en-US" sz="2000" b="1" dirty="0" smtClean="0"/>
              <a:t>5. Authentication </a:t>
            </a:r>
            <a:r>
              <a:rPr lang="en-US" sz="2000" b="1" dirty="0"/>
              <a:t>Centre (</a:t>
            </a:r>
            <a:r>
              <a:rPr lang="en-US" sz="2000" b="1" dirty="0" err="1"/>
              <a:t>AuC</a:t>
            </a:r>
            <a:r>
              <a:rPr lang="en-US" sz="2000" b="1" dirty="0"/>
              <a:t>):</a:t>
            </a:r>
          </a:p>
          <a:p>
            <a:pPr fontAlgn="base">
              <a:lnSpc>
                <a:spcPct val="150000"/>
              </a:lnSpc>
            </a:pPr>
            <a:r>
              <a:rPr lang="en-US" sz="2000" dirty="0"/>
              <a:t>The </a:t>
            </a:r>
            <a:r>
              <a:rPr lang="en-US" sz="2000" dirty="0" err="1"/>
              <a:t>AuC</a:t>
            </a:r>
            <a:r>
              <a:rPr lang="en-US" sz="2000" dirty="0"/>
              <a:t> is a protected database that contains the secret key also contained in the user's SIM card. It is used for authentication and for ciphering on the radio channel.</a:t>
            </a:r>
          </a:p>
        </p:txBody>
      </p:sp>
    </p:spTree>
    <p:extLst>
      <p:ext uri="{BB962C8B-B14F-4D97-AF65-F5344CB8AC3E}">
        <p14:creationId xmlns:p14="http://schemas.microsoft.com/office/powerpoint/2010/main" xmlns="" val="140246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Base Station Subsystem (BSS)</a:t>
            </a:r>
          </a:p>
        </p:txBody>
      </p:sp>
      <p:sp>
        <p:nvSpPr>
          <p:cNvPr id="3" name="Content Placeholder 2"/>
          <p:cNvSpPr>
            <a:spLocks noGrp="1"/>
          </p:cNvSpPr>
          <p:nvPr>
            <p:ph idx="1"/>
          </p:nvPr>
        </p:nvSpPr>
        <p:spPr>
          <a:xfrm>
            <a:off x="228600" y="1409700"/>
            <a:ext cx="8686800" cy="5219700"/>
          </a:xfrm>
        </p:spPr>
        <p:txBody>
          <a:bodyPr>
            <a:noAutofit/>
          </a:bodyPr>
          <a:lstStyle/>
          <a:p>
            <a:r>
              <a:rPr lang="en-US" sz="1800" dirty="0"/>
              <a:t>The Base Station Subsystem (BSS) section of the 2G GSM network architecture that is fundamentally associated with communicating with the mobiles on the network.</a:t>
            </a:r>
          </a:p>
          <a:p>
            <a:endParaRPr lang="en-US" sz="1800" dirty="0"/>
          </a:p>
          <a:p>
            <a:r>
              <a:rPr lang="en-US" sz="1800" dirty="0"/>
              <a:t>It consists of two elements:</a:t>
            </a:r>
          </a:p>
          <a:p>
            <a:endParaRPr lang="en-US" sz="1800" dirty="0"/>
          </a:p>
          <a:p>
            <a:r>
              <a:rPr lang="en-US" sz="1800" b="1" dirty="0"/>
              <a:t>Base Transceiver Station (BTS):   </a:t>
            </a:r>
            <a:r>
              <a:rPr lang="en-US" sz="1800" dirty="0"/>
              <a:t>The BTS used in a GSM network comprises the radio transmitter receivers, and their associated antennas that transmit and receive to directly communicate with the mobiles. The BTS is the defining element for each cell. The BTS communicates with the mobiles and the interface between the two is known as the Um interface with its associated protocols.</a:t>
            </a:r>
          </a:p>
          <a:p>
            <a:r>
              <a:rPr lang="en-US" sz="1800" b="1" dirty="0"/>
              <a:t>Base Station Controller (BSC):   </a:t>
            </a:r>
            <a:r>
              <a:rPr lang="en-US" sz="1800" dirty="0"/>
              <a:t>The BSC forms the next stage back into the GSM network. It controls a group of BTSs, and is often co-located with one of the BTSs in its group. It manages the radio resources and controls items such as handover within the group of BTSs, allocates channels and the like. It communicates with the BTSs over what is termed the </a:t>
            </a:r>
            <a:r>
              <a:rPr lang="en-US" sz="1800" dirty="0" err="1"/>
              <a:t>Abis</a:t>
            </a:r>
            <a:r>
              <a:rPr lang="en-US" sz="1800" dirty="0"/>
              <a:t> interface.</a:t>
            </a:r>
          </a:p>
        </p:txBody>
      </p:sp>
    </p:spTree>
    <p:extLst>
      <p:ext uri="{BB962C8B-B14F-4D97-AF65-F5344CB8AC3E}">
        <p14:creationId xmlns:p14="http://schemas.microsoft.com/office/powerpoint/2010/main" xmlns="" val="99469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Mobile station</a:t>
            </a:r>
            <a:br>
              <a:rPr lang="en-US" b="1" dirty="0"/>
            </a:br>
            <a:endParaRPr lang="en-US" dirty="0"/>
          </a:p>
        </p:txBody>
      </p:sp>
      <p:sp>
        <p:nvSpPr>
          <p:cNvPr id="3" name="Content Placeholder 2"/>
          <p:cNvSpPr>
            <a:spLocks noGrp="1"/>
          </p:cNvSpPr>
          <p:nvPr>
            <p:ph idx="1"/>
          </p:nvPr>
        </p:nvSpPr>
        <p:spPr>
          <a:xfrm>
            <a:off x="304800" y="1066800"/>
            <a:ext cx="8515350" cy="5397500"/>
          </a:xfrm>
        </p:spPr>
        <p:txBody>
          <a:bodyPr>
            <a:normAutofit fontScale="62500" lnSpcReduction="20000"/>
          </a:bodyPr>
          <a:lstStyle/>
          <a:p>
            <a:pPr fontAlgn="base"/>
            <a:r>
              <a:rPr lang="en-US" dirty="0" smtClean="0"/>
              <a:t>Mobile </a:t>
            </a:r>
            <a:r>
              <a:rPr lang="en-US" dirty="0"/>
              <a:t>stations (MS), mobile equipment (ME) or as they are most widely known, cell or mobile phones are the section of a GSM mobile communications network that the user sees and operates. In recent years their size has fallen dramatically while the level of functionality has greatly increased. A further advantage is that the time between charges has significantly increased.</a:t>
            </a:r>
          </a:p>
          <a:p>
            <a:pPr fontAlgn="base"/>
            <a:r>
              <a:rPr lang="en-US" dirty="0"/>
              <a:t>There are a number of elements to the cell phone, although the two main elements are the main hardware and the SIM</a:t>
            </a:r>
            <a:r>
              <a:rPr lang="en-US" dirty="0" smtClean="0"/>
              <a:t>.</a:t>
            </a:r>
          </a:p>
          <a:p>
            <a:pPr fontAlgn="base"/>
            <a:r>
              <a:rPr lang="en-US" dirty="0"/>
              <a:t>The mobile station, or ME also contains a number known as the International Mobile Equipment Identity (</a:t>
            </a:r>
            <a:r>
              <a:rPr lang="en-US" b="1" dirty="0"/>
              <a:t>IMEI</a:t>
            </a:r>
            <a:r>
              <a:rPr lang="en-US" dirty="0"/>
              <a:t>). This is installed in the phone at manufacture and "cannot" be changed. It is accessed by the network during registration to check whether the equipment has been reported as </a:t>
            </a:r>
            <a:r>
              <a:rPr lang="en-US" dirty="0" smtClean="0"/>
              <a:t>stolen</a:t>
            </a:r>
          </a:p>
          <a:p>
            <a:pPr fontAlgn="base"/>
            <a:r>
              <a:rPr lang="en-US" dirty="0"/>
              <a:t>The SIM or Subscriber Identity Module contains the information that provides the identity of the user to the network. It contains are variety of information including a number known as the International Mobile Subscriber Identity (</a:t>
            </a:r>
            <a:r>
              <a:rPr lang="en-US" b="1" dirty="0"/>
              <a:t>IMSI</a:t>
            </a:r>
            <a:r>
              <a:rPr lang="en-US" dirty="0"/>
              <a:t>). As this is included in the SIM, and it means that by moving the SIM card from one mobile to another, the user could easily change mobiles. The ease of changing mobiles whilst keeping the same number meant that people would regularly upgrade, thereby creating a further revenue stream for network providers and helping to increase the overall financial success of GSM</a:t>
            </a:r>
          </a:p>
          <a:p>
            <a:endParaRPr lang="en-US" dirty="0"/>
          </a:p>
        </p:txBody>
      </p:sp>
    </p:spTree>
    <p:extLst>
      <p:ext uri="{BB962C8B-B14F-4D97-AF65-F5344CB8AC3E}">
        <p14:creationId xmlns:p14="http://schemas.microsoft.com/office/powerpoint/2010/main" xmlns="" val="2770594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Operation and Support Subsystem (OSS)</a:t>
            </a:r>
          </a:p>
        </p:txBody>
      </p:sp>
      <p:sp>
        <p:nvSpPr>
          <p:cNvPr id="3" name="Content Placeholder 2"/>
          <p:cNvSpPr>
            <a:spLocks noGrp="1"/>
          </p:cNvSpPr>
          <p:nvPr>
            <p:ph idx="1"/>
          </p:nvPr>
        </p:nvSpPr>
        <p:spPr/>
        <p:txBody>
          <a:bodyPr>
            <a:normAutofit fontScale="62500" lnSpcReduction="20000"/>
          </a:bodyPr>
          <a:lstStyle/>
          <a:p>
            <a:pPr fontAlgn="base"/>
            <a:r>
              <a:rPr lang="en-US" dirty="0"/>
              <a:t>The OSS or operation support subsystem is an element within the overall GSM mobile communications network architecture that is connected to components of the NSS and the BSC. It is used to control and monitor the overall GSM network and it is also used to control the traffic load of the BSS. It must be noted that as the number of BS increases with the scaling of the subscriber population some of the maintenance tasks are transferred to the BTS, allowing savings in the cost of ownership of the system.</a:t>
            </a:r>
          </a:p>
          <a:p>
            <a:pPr fontAlgn="base"/>
            <a:r>
              <a:rPr lang="en-US" dirty="0"/>
              <a:t/>
            </a:r>
            <a:br>
              <a:rPr lang="en-US" dirty="0"/>
            </a:br>
            <a:r>
              <a:rPr lang="en-US" dirty="0"/>
              <a:t>The 2G GSM network architecture follows a logical method of operation. It is far simpler than current mobile phone network architectures such as the 5G network architecture which uses software defined entities to enable very flexible operation.</a:t>
            </a:r>
          </a:p>
          <a:p>
            <a:r>
              <a:rPr lang="en-US" dirty="0" smtClean="0"/>
              <a:t>However </a:t>
            </a:r>
            <a:r>
              <a:rPr lang="en-US" dirty="0"/>
              <a:t>the 2G GSM architecture does show the voice and operational basic functions that are needed and how they fit together. As the GSM system was all digital, the network was a data network</a:t>
            </a:r>
          </a:p>
        </p:txBody>
      </p:sp>
    </p:spTree>
    <p:extLst>
      <p:ext uri="{BB962C8B-B14F-4D97-AF65-F5344CB8AC3E}">
        <p14:creationId xmlns:p14="http://schemas.microsoft.com/office/powerpoint/2010/main" xmlns="" val="295169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680" y="141510"/>
            <a:ext cx="6683765" cy="747490"/>
          </a:xfrm>
        </p:spPr>
        <p:txBody>
          <a:bodyPr>
            <a:normAutofit fontScale="90000"/>
          </a:bodyPr>
          <a:lstStyle/>
          <a:p>
            <a:pPr algn="ctr"/>
            <a:r>
              <a:rPr lang="en-US" b="1" dirty="0"/>
              <a:t>GSM network interfaces list</a:t>
            </a:r>
            <a:br>
              <a:rPr lang="en-US" b="1" dirty="0"/>
            </a:br>
            <a:endParaRPr lang="en-US" dirty="0"/>
          </a:p>
        </p:txBody>
      </p:sp>
      <p:sp>
        <p:nvSpPr>
          <p:cNvPr id="3" name="Content Placeholder 2"/>
          <p:cNvSpPr>
            <a:spLocks noGrp="1"/>
          </p:cNvSpPr>
          <p:nvPr>
            <p:ph idx="1"/>
          </p:nvPr>
        </p:nvSpPr>
        <p:spPr>
          <a:xfrm>
            <a:off x="381000" y="660400"/>
            <a:ext cx="8458200" cy="6197600"/>
          </a:xfrm>
        </p:spPr>
        <p:txBody>
          <a:bodyPr>
            <a:normAutofit/>
          </a:bodyPr>
          <a:lstStyle/>
          <a:p>
            <a:pPr fontAlgn="base"/>
            <a:r>
              <a:rPr lang="en-US" sz="1200" dirty="0" smtClean="0"/>
              <a:t>A </a:t>
            </a:r>
            <a:r>
              <a:rPr lang="en-US" sz="1200" dirty="0"/>
              <a:t>series of different interface definitions were written and each given names as seen below.</a:t>
            </a:r>
          </a:p>
          <a:p>
            <a:pPr fontAlgn="base"/>
            <a:r>
              <a:rPr lang="en-US" sz="1200" b="1" i="1" dirty="0"/>
              <a:t>Um interface</a:t>
            </a:r>
            <a:r>
              <a:rPr lang="en-US" sz="1200" dirty="0"/>
              <a:t>   The "air" or radio interface standard that is used for exchanges between a mobile (ME) and a base station (BTS / BSC). For </a:t>
            </a:r>
            <a:r>
              <a:rPr lang="en-US" sz="1200" dirty="0" err="1"/>
              <a:t>signalling</a:t>
            </a:r>
            <a:r>
              <a:rPr lang="en-US" sz="1200" dirty="0"/>
              <a:t>, a modified version of the ISDN LAPD, known as </a:t>
            </a:r>
            <a:r>
              <a:rPr lang="en-US" sz="1200" dirty="0" err="1"/>
              <a:t>LAPDm</a:t>
            </a:r>
            <a:r>
              <a:rPr lang="en-US" sz="1200" dirty="0"/>
              <a:t> is used.</a:t>
            </a:r>
          </a:p>
          <a:p>
            <a:pPr fontAlgn="base"/>
            <a:r>
              <a:rPr lang="en-US" sz="1200" b="1" i="1" dirty="0" err="1"/>
              <a:t>Abis</a:t>
            </a:r>
            <a:r>
              <a:rPr lang="en-US" sz="1200" b="1" i="1" dirty="0"/>
              <a:t> interface</a:t>
            </a:r>
            <a:r>
              <a:rPr lang="en-US" sz="1200" dirty="0"/>
              <a:t>   This is a BSS internal interface linking the BSC and a BTS, and it has not been totally </a:t>
            </a:r>
            <a:r>
              <a:rPr lang="en-US" sz="1200" dirty="0" err="1"/>
              <a:t>standardised</a:t>
            </a:r>
            <a:r>
              <a:rPr lang="en-US" sz="1200" dirty="0"/>
              <a:t>. The </a:t>
            </a:r>
            <a:r>
              <a:rPr lang="en-US" sz="1200" dirty="0" err="1"/>
              <a:t>Abis</a:t>
            </a:r>
            <a:r>
              <a:rPr lang="en-US" sz="1200" dirty="0"/>
              <a:t> interface allows control of the radio equipment and radio frequency allocation in the BTS.</a:t>
            </a:r>
          </a:p>
          <a:p>
            <a:pPr fontAlgn="base"/>
            <a:r>
              <a:rPr lang="en-US" sz="1200" b="1" i="1" dirty="0"/>
              <a:t>A interface</a:t>
            </a:r>
            <a:r>
              <a:rPr lang="en-US" sz="1200" dirty="0"/>
              <a:t>   The A interface is used to provide communication between the BSS and the MSC. The interface carries information to enable the channels, timeslots and the like to be allocated to the mobile </a:t>
            </a:r>
            <a:r>
              <a:rPr lang="en-US" sz="1200" dirty="0" err="1"/>
              <a:t>equipments</a:t>
            </a:r>
            <a:r>
              <a:rPr lang="en-US" sz="1200" dirty="0"/>
              <a:t> being serviced by the BSSs. The messaging required within the network to enable handover </a:t>
            </a:r>
            <a:r>
              <a:rPr lang="en-US" sz="1200" dirty="0" err="1"/>
              <a:t>etc</a:t>
            </a:r>
            <a:r>
              <a:rPr lang="en-US" sz="1200" dirty="0"/>
              <a:t> to be undertaken is carried over the interface.</a:t>
            </a:r>
          </a:p>
          <a:p>
            <a:pPr fontAlgn="base"/>
            <a:r>
              <a:rPr lang="en-US" sz="1200" b="1" i="1" dirty="0"/>
              <a:t>B interface</a:t>
            </a:r>
            <a:r>
              <a:rPr lang="en-US" sz="1200" dirty="0"/>
              <a:t>   The B interface exists between the MSC and the VLR . It uses a protocol known as the MAP/B protocol. As most VLRs are collocated with an MSC, this makes the interface purely an "internal" interface. The interface is used whenever the MSC needs access to data regarding a MS located in its area.</a:t>
            </a:r>
          </a:p>
          <a:p>
            <a:pPr fontAlgn="base"/>
            <a:r>
              <a:rPr lang="en-US" sz="1200" b="1" i="1" dirty="0"/>
              <a:t>C interface</a:t>
            </a:r>
            <a:r>
              <a:rPr lang="en-US" sz="1200" dirty="0"/>
              <a:t>   The C interface is located between the HLR and a GMSC or a SMS-G. When a call originates from outside the network, i.e. from the PSTN or another mobile network it ahs to pass through the gateway so that routing information required to complete the call may be gained. The protocol used for communication is MAP/C, the letter "C" indicating that the protocol is used for the "C" interface. In addition to this, the MSC may optionally forward billing information to the HLR after the call is completed and cleared down.</a:t>
            </a:r>
          </a:p>
          <a:p>
            <a:pPr fontAlgn="base"/>
            <a:r>
              <a:rPr lang="en-US" sz="1200" b="1" i="1" dirty="0"/>
              <a:t>D interface</a:t>
            </a:r>
            <a:r>
              <a:rPr lang="en-US" sz="1200" dirty="0"/>
              <a:t>   The D interface is situated between the VLR and HLR. It uses the MAP/D protocol to exchange the data related to the location of the ME and to the management of the subscriber.</a:t>
            </a:r>
          </a:p>
          <a:p>
            <a:pPr fontAlgn="base"/>
            <a:r>
              <a:rPr lang="en-US" sz="1200" b="1" i="1" dirty="0"/>
              <a:t>E interface</a:t>
            </a:r>
            <a:r>
              <a:rPr lang="en-US" sz="1200" dirty="0"/>
              <a:t>   The E interface provides communication between two MSCs. The E interface exchanges data related to handover between the anchor and relay MSCs using the MAP/E protocol.</a:t>
            </a:r>
          </a:p>
          <a:p>
            <a:pPr fontAlgn="base"/>
            <a:r>
              <a:rPr lang="en-US" sz="1200" b="1" i="1" dirty="0"/>
              <a:t>F interface</a:t>
            </a:r>
            <a:r>
              <a:rPr lang="en-US" sz="1200" dirty="0"/>
              <a:t>   The F interface is used between an MSC and EIR. It uses the MAP/F protocol. The communications along this interface are used to confirm the status of the IMEI of the ME gaining access to the network.</a:t>
            </a:r>
          </a:p>
          <a:p>
            <a:pPr fontAlgn="base"/>
            <a:r>
              <a:rPr lang="en-US" sz="1200" b="1" i="1" dirty="0"/>
              <a:t>G interface</a:t>
            </a:r>
            <a:r>
              <a:rPr lang="en-US" sz="1200" dirty="0"/>
              <a:t>   The G interface interconnects two VLRs of different MSCs and uses the MAP/G protocol to transfer subscriber information, during e.g. a location update procedure.</a:t>
            </a:r>
          </a:p>
          <a:p>
            <a:pPr fontAlgn="base"/>
            <a:r>
              <a:rPr lang="en-US" sz="1200" b="1" i="1" dirty="0"/>
              <a:t>H interface</a:t>
            </a:r>
            <a:r>
              <a:rPr lang="en-US" sz="1200" dirty="0"/>
              <a:t>   The H interface exists between the MSC the SMS-G. It transfers short messages and uses the MAP/H protocol.</a:t>
            </a:r>
          </a:p>
          <a:p>
            <a:pPr fontAlgn="base"/>
            <a:r>
              <a:rPr lang="en-US" sz="1200" b="1" i="1" dirty="0"/>
              <a:t>I interface</a:t>
            </a:r>
            <a:r>
              <a:rPr lang="en-US" sz="1200" dirty="0"/>
              <a:t>   The I interface can be found between the MSC and the ME. Messages exchanged over the I interface are relayed transparently through the BSS.</a:t>
            </a:r>
          </a:p>
          <a:p>
            <a:pPr fontAlgn="base"/>
            <a:r>
              <a:rPr lang="en-US" sz="1200" dirty="0"/>
              <a:t>In some cases the 2G GSM interfaces were not as rigorously defined as many might have liked, but the did at least provide a large element of the definition required, enabling the functionality of GSM network elements to be </a:t>
            </a:r>
            <a:r>
              <a:rPr lang="en-US" sz="1200" dirty="0" smtClean="0"/>
              <a:t>defined sufficiently.</a:t>
            </a:r>
            <a:endParaRPr lang="en-US" sz="1200" dirty="0"/>
          </a:p>
        </p:txBody>
      </p:sp>
    </p:spTree>
    <p:extLst>
      <p:ext uri="{BB962C8B-B14F-4D97-AF65-F5344CB8AC3E}">
        <p14:creationId xmlns:p14="http://schemas.microsoft.com/office/powerpoint/2010/main" xmlns="" val="850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0"/>
            <a:ext cx="8229600" cy="1143000"/>
          </a:xfrm>
        </p:spPr>
        <p:txBody>
          <a:bodyPr/>
          <a:lstStyle/>
          <a:p>
            <a:r>
              <a:rPr lang="en-GB" dirty="0" smtClean="0"/>
              <a:t>END</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1136</Words>
  <Application>Microsoft Office PowerPoint</Application>
  <PresentationFormat>On-screen Show (4:3)</PresentationFormat>
  <Paragraphs>55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GSM NETWORK STRUCTURE</vt:lpstr>
      <vt:lpstr>Slide 2</vt:lpstr>
      <vt:lpstr>Slide 3</vt:lpstr>
      <vt:lpstr>Network Switching Subsystem (NSS)</vt:lpstr>
      <vt:lpstr>Slide 5</vt:lpstr>
      <vt:lpstr>Slide 6</vt:lpstr>
      <vt:lpstr>Slide 7</vt:lpstr>
      <vt:lpstr>Base Station Subsystem (BSS)</vt:lpstr>
      <vt:lpstr>Mobile station </vt:lpstr>
      <vt:lpstr>Operation and Support Subsystem (OSS)</vt:lpstr>
      <vt:lpstr>GSM network interfaces list </vt:lpstr>
      <vt:lpstr>END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GSM NETWORK STRUCTURE</dc:title>
  <dc:creator>user</dc:creator>
  <cp:lastModifiedBy>Windows User</cp:lastModifiedBy>
  <cp:revision>2</cp:revision>
  <dcterms:created xsi:type="dcterms:W3CDTF">2006-08-16T00:00:00Z</dcterms:created>
  <dcterms:modified xsi:type="dcterms:W3CDTF">2024-11-28T09:23:46Z</dcterms:modified>
</cp:coreProperties>
</file>