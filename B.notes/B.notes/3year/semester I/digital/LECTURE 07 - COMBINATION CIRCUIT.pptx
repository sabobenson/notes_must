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53"/>
  </p:notesMasterIdLst>
  <p:sldIdLst>
    <p:sldId id="311" r:id="rId3"/>
    <p:sldId id="293" r:id="rId4"/>
    <p:sldId id="294" r:id="rId5"/>
    <p:sldId id="295" r:id="rId6"/>
    <p:sldId id="296" r:id="rId7"/>
    <p:sldId id="297" r:id="rId8"/>
    <p:sldId id="298" r:id="rId9"/>
    <p:sldId id="261" r:id="rId10"/>
    <p:sldId id="262" r:id="rId11"/>
    <p:sldId id="299" r:id="rId12"/>
    <p:sldId id="264" r:id="rId13"/>
    <p:sldId id="300" r:id="rId14"/>
    <p:sldId id="301" r:id="rId15"/>
    <p:sldId id="265" r:id="rId16"/>
    <p:sldId id="302" r:id="rId17"/>
    <p:sldId id="310" r:id="rId18"/>
    <p:sldId id="271" r:id="rId19"/>
    <p:sldId id="272" r:id="rId20"/>
    <p:sldId id="303" r:id="rId21"/>
    <p:sldId id="281" r:id="rId22"/>
    <p:sldId id="282" r:id="rId23"/>
    <p:sldId id="279" r:id="rId24"/>
    <p:sldId id="280" r:id="rId25"/>
    <p:sldId id="275" r:id="rId26"/>
    <p:sldId id="276" r:id="rId27"/>
    <p:sldId id="278" r:id="rId28"/>
    <p:sldId id="274" r:id="rId29"/>
    <p:sldId id="273" r:id="rId30"/>
    <p:sldId id="277" r:id="rId31"/>
    <p:sldId id="283" r:id="rId32"/>
    <p:sldId id="304" r:id="rId33"/>
    <p:sldId id="305" r:id="rId34"/>
    <p:sldId id="306" r:id="rId35"/>
    <p:sldId id="307" r:id="rId36"/>
    <p:sldId id="267" r:id="rId37"/>
    <p:sldId id="308" r:id="rId38"/>
    <p:sldId id="268" r:id="rId39"/>
    <p:sldId id="269" r:id="rId40"/>
    <p:sldId id="270" r:id="rId41"/>
    <p:sldId id="286" r:id="rId42"/>
    <p:sldId id="287" r:id="rId43"/>
    <p:sldId id="285" r:id="rId44"/>
    <p:sldId id="288" r:id="rId45"/>
    <p:sldId id="289" r:id="rId46"/>
    <p:sldId id="290" r:id="rId47"/>
    <p:sldId id="263" r:id="rId48"/>
    <p:sldId id="309" r:id="rId49"/>
    <p:sldId id="292" r:id="rId50"/>
    <p:sldId id="259" r:id="rId51"/>
    <p:sldId id="260" r:id="rId52"/>
  </p:sldIdLst>
  <p:sldSz cx="10080625" cy="7559675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14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move the slide</a:t>
            </a: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8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83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84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85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C47CE8F3-9046-4383-A545-29638B63BD91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6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C47CE8F3-9046-4383-A545-29638B63BD91}" type="slidenum">
              <a:rPr lang="en-US" sz="1400" b="0" strike="noStrike" spc="-1" smtClean="0">
                <a:latin typeface="Times New Roman"/>
              </a:rPr>
              <a:t>8</a:t>
            </a:fld>
            <a:endParaRPr lang="en-US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083750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6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]\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37DB2D-AF6B-4FC6-8DAD-A69CE32D4C64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116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6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]\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37DB2D-AF6B-4FC6-8DAD-A69CE32D4C64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419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6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37DB2D-AF6B-4FC6-8DAD-A69CE32D4C64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1786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CustomShape 1"/>
          <p:cNvSpPr/>
          <p:nvPr/>
        </p:nvSpPr>
        <p:spPr>
          <a:xfrm>
            <a:off x="4278960" y="10157400"/>
            <a:ext cx="3279960" cy="533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ABAC773E-5D99-4C8C-AFB9-5ECECF8F8764}" type="slidenum">
              <a:rPr lang="en-US" sz="1400" b="1" strike="noStrike" spc="-1">
                <a:solidFill>
                  <a:srgbClr val="FFFFFF"/>
                </a:solidFill>
                <a:latin typeface="Noto Sans Black"/>
                <a:ea typeface="DejaVu Sans"/>
              </a:rPr>
              <a:t>49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100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prstGeom prst="rect">
            <a:avLst/>
          </a:prstGeom>
        </p:spPr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920" cy="48103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CustomShape 1"/>
          <p:cNvSpPr/>
          <p:nvPr/>
        </p:nvSpPr>
        <p:spPr>
          <a:xfrm>
            <a:off x="4278960" y="10157400"/>
            <a:ext cx="3279960" cy="5335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</a:pPr>
            <a:fld id="{BC2D1FAB-EFED-48B7-88D3-CE86D76347A2}" type="slidenum">
              <a:rPr lang="en-US" sz="1400" b="1" strike="noStrike" spc="-1">
                <a:solidFill>
                  <a:srgbClr val="FFFFFF"/>
                </a:solidFill>
                <a:latin typeface="Noto Sans Black"/>
                <a:ea typeface="DejaVu Sans"/>
              </a:rPr>
              <a:t>50</a:t>
            </a:fld>
            <a:endParaRPr lang="en-US" sz="1400" b="0" strike="noStrike" spc="-1">
              <a:latin typeface="Arial"/>
            </a:endParaRPr>
          </a:p>
        </p:txBody>
      </p:sp>
      <p:sp>
        <p:nvSpPr>
          <p:cNvPr id="103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prstGeom prst="rect">
            <a:avLst/>
          </a:prstGeom>
        </p:spPr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920" cy="4810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053B8-094E-43E7-995E-5B6B6297AA45}" type="datetimeFigureOut">
              <a:rPr lang="en-US" smtClean="0"/>
              <a:pPr/>
              <a:t>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D04A2-BF16-4091-B854-7D22F8F21A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7195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2658" y="302387"/>
            <a:ext cx="8266113" cy="1259946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2658" y="1679928"/>
            <a:ext cx="4032250" cy="5140579"/>
          </a:xfrm>
        </p:spPr>
        <p:txBody>
          <a:bodyPr/>
          <a:lstStyle>
            <a:lvl1pPr>
              <a:defRPr sz="3086"/>
            </a:lvl1pPr>
            <a:lvl2pPr>
              <a:defRPr sz="2646"/>
            </a:lvl2pPr>
            <a:lvl3pPr>
              <a:defRPr sz="2205"/>
            </a:lvl3pPr>
            <a:lvl4pPr>
              <a:defRPr sz="1984"/>
            </a:lvl4pPr>
            <a:lvl5pPr>
              <a:defRPr sz="1984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6521" y="1679928"/>
            <a:ext cx="4032250" cy="5140579"/>
          </a:xfrm>
        </p:spPr>
        <p:txBody>
          <a:bodyPr/>
          <a:lstStyle>
            <a:lvl1pPr>
              <a:defRPr sz="3086"/>
            </a:lvl1pPr>
            <a:lvl2pPr>
              <a:defRPr sz="2646"/>
            </a:lvl2pPr>
            <a:lvl3pPr>
              <a:defRPr sz="2205"/>
            </a:lvl3pPr>
            <a:lvl4pPr>
              <a:defRPr sz="1984"/>
            </a:lvl4pPr>
            <a:lvl5pPr>
              <a:defRPr sz="1984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053B8-094E-43E7-995E-5B6B6297AA45}" type="datetimeFigureOut">
              <a:rPr lang="en-US" smtClean="0"/>
              <a:pPr/>
              <a:t>1/4/2024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D04A2-BF16-4091-B854-7D22F8F21A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3988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ubTitle"/>
          </p:nvPr>
        </p:nvSpPr>
        <p:spPr>
          <a:xfrm>
            <a:off x="504000" y="301320"/>
            <a:ext cx="9072000" cy="5850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292104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3571560" y="1768680"/>
            <a:ext cx="292104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6639120" y="1768680"/>
            <a:ext cx="292104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504000" y="4058640"/>
            <a:ext cx="292104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 type="body"/>
          </p:nvPr>
        </p:nvSpPr>
        <p:spPr>
          <a:xfrm>
            <a:off x="3571560" y="4058640"/>
            <a:ext cx="292104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9" name="PlaceHolder 7"/>
          <p:cNvSpPr>
            <a:spLocks noGrp="1"/>
          </p:cNvSpPr>
          <p:nvPr>
            <p:ph type="body"/>
          </p:nvPr>
        </p:nvSpPr>
        <p:spPr>
          <a:xfrm>
            <a:off x="6639120" y="4058640"/>
            <a:ext cx="2921040" cy="2090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/>
          <p:cNvSpPr/>
          <p:nvPr/>
        </p:nvSpPr>
        <p:spPr>
          <a:xfrm>
            <a:off x="0" y="7200000"/>
            <a:ext cx="10079280" cy="359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C3E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CustomShape 2"/>
          <p:cNvSpPr/>
          <p:nvPr/>
        </p:nvSpPr>
        <p:spPr>
          <a:xfrm>
            <a:off x="0" y="0"/>
            <a:ext cx="10079280" cy="1619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2C3E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" name="CustomShape 3"/>
          <p:cNvSpPr/>
          <p:nvPr/>
        </p:nvSpPr>
        <p:spPr>
          <a:xfrm>
            <a:off x="9270000" y="6894000"/>
            <a:ext cx="539280" cy="539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</a:path>
            </a:pathLst>
          </a:custGeom>
          <a:solidFill>
            <a:srgbClr val="1ABC9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4" r:id="rId13"/>
    <p:sldLayoutId id="2147483675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2520000" y="2520000"/>
            <a:ext cx="5039280" cy="2519280"/>
          </a:xfrm>
          <a:custGeom>
            <a:avLst/>
            <a:gdLst/>
            <a:ahLst/>
            <a:cxnLst/>
            <a:rect l="l" t="t" r="r" b="b"/>
            <a:pathLst>
              <a:path w="14001" h="11494">
                <a:moveTo>
                  <a:pt x="0" y="0"/>
                </a:moveTo>
                <a:lnTo>
                  <a:pt x="0" y="1163"/>
                </a:lnTo>
                <a:lnTo>
                  <a:pt x="0" y="2035"/>
                </a:lnTo>
                <a:lnTo>
                  <a:pt x="0" y="2906"/>
                </a:lnTo>
                <a:lnTo>
                  <a:pt x="0" y="4093"/>
                </a:lnTo>
                <a:lnTo>
                  <a:pt x="0" y="4964"/>
                </a:lnTo>
                <a:lnTo>
                  <a:pt x="0" y="5836"/>
                </a:lnTo>
                <a:lnTo>
                  <a:pt x="0" y="7000"/>
                </a:lnTo>
                <a:lnTo>
                  <a:pt x="2326" y="7000"/>
                </a:lnTo>
                <a:lnTo>
                  <a:pt x="1016" y="11493"/>
                </a:lnTo>
                <a:lnTo>
                  <a:pt x="5813" y="7000"/>
                </a:lnTo>
                <a:lnTo>
                  <a:pt x="8186" y="7000"/>
                </a:lnTo>
                <a:lnTo>
                  <a:pt x="9929" y="7000"/>
                </a:lnTo>
                <a:lnTo>
                  <a:pt x="11673" y="7000"/>
                </a:lnTo>
                <a:lnTo>
                  <a:pt x="14000" y="7000"/>
                </a:lnTo>
                <a:lnTo>
                  <a:pt x="14000" y="5836"/>
                </a:lnTo>
                <a:lnTo>
                  <a:pt x="14000" y="4964"/>
                </a:lnTo>
                <a:lnTo>
                  <a:pt x="14000" y="4093"/>
                </a:lnTo>
                <a:lnTo>
                  <a:pt x="14000" y="2906"/>
                </a:lnTo>
                <a:lnTo>
                  <a:pt x="14000" y="2035"/>
                </a:lnTo>
                <a:lnTo>
                  <a:pt x="14000" y="1163"/>
                </a:lnTo>
                <a:lnTo>
                  <a:pt x="14000" y="0"/>
                </a:lnTo>
                <a:lnTo>
                  <a:pt x="11673" y="0"/>
                </a:lnTo>
                <a:lnTo>
                  <a:pt x="9929" y="0"/>
                </a:lnTo>
                <a:lnTo>
                  <a:pt x="8186" y="0"/>
                </a:lnTo>
                <a:lnTo>
                  <a:pt x="5813" y="0"/>
                </a:lnTo>
                <a:lnTo>
                  <a:pt x="4070" y="0"/>
                </a:lnTo>
                <a:lnTo>
                  <a:pt x="2326" y="0"/>
                </a:lnTo>
                <a:lnTo>
                  <a:pt x="0" y="0"/>
                </a:lnTo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2" name="PlaceHolder 2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png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7.emf"/><Relationship Id="rId4" Type="http://schemas.openxmlformats.org/officeDocument/2006/relationships/image" Target="../media/image16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4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2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6.w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67" y="3808"/>
            <a:ext cx="10077028" cy="7555867"/>
          </a:xfrm>
          <a:custGeom>
            <a:avLst/>
            <a:gdLst/>
            <a:ahLst/>
            <a:cxnLst/>
            <a:rect l="l" t="t" r="r" b="b"/>
            <a:pathLst>
              <a:path w="10081260" h="7559040">
                <a:moveTo>
                  <a:pt x="10081260" y="0"/>
                </a:moveTo>
                <a:lnTo>
                  <a:pt x="0" y="0"/>
                </a:lnTo>
                <a:lnTo>
                  <a:pt x="0" y="7559040"/>
                </a:lnTo>
                <a:lnTo>
                  <a:pt x="10081260" y="7559040"/>
                </a:lnTo>
                <a:lnTo>
                  <a:pt x="10081260" y="0"/>
                </a:lnTo>
                <a:close/>
              </a:path>
            </a:pathLst>
          </a:custGeom>
          <a:solidFill>
            <a:srgbClr val="2C3D50"/>
          </a:solidFill>
        </p:spPr>
        <p:txBody>
          <a:bodyPr wrap="square" lIns="0" tIns="0" rIns="0" bIns="0" rtlCol="0"/>
          <a:lstStyle/>
          <a:p>
            <a:endParaRPr sz="1799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94064" y="622545"/>
            <a:ext cx="9292497" cy="843467"/>
          </a:xfrm>
          <a:prstGeom prst="rect">
            <a:avLst/>
          </a:prstGeom>
        </p:spPr>
        <p:txBody>
          <a:bodyPr vert="horz" wrap="square" lIns="0" tIns="12695" rIns="0" bIns="0" rtlCol="0" anchor="ctr">
            <a:spAutoFit/>
          </a:bodyPr>
          <a:lstStyle/>
          <a:p>
            <a:pPr marL="1507522" marR="5078" indent="-1494827" algn="ctr">
              <a:lnSpc>
                <a:spcPct val="100000"/>
              </a:lnSpc>
              <a:spcBef>
                <a:spcPts val="100"/>
              </a:spcBef>
            </a:pPr>
            <a:r>
              <a:rPr sz="5398" b="1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</a:t>
            </a:r>
            <a:r>
              <a:rPr sz="5398" b="1" spc="-1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5398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ELECTRONICS</a:t>
            </a:r>
            <a:r>
              <a:rPr sz="5398" b="1" spc="-13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5398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598" y="3145419"/>
            <a:ext cx="8911657" cy="3998693"/>
          </a:xfrm>
          <a:prstGeom prst="rect">
            <a:avLst/>
          </a:prstGeom>
        </p:spPr>
        <p:txBody>
          <a:bodyPr vert="horz" wrap="square" lIns="0" tIns="220252" rIns="0" bIns="0" rtlCol="0">
            <a:spAutoFit/>
          </a:bodyPr>
          <a:lstStyle/>
          <a:p>
            <a:pPr marL="4443" algn="ctr">
              <a:spcBef>
                <a:spcPts val="1734"/>
              </a:spcBef>
            </a:pPr>
            <a:fld id="{C8E03E81-76A2-471C-BDD7-C05415EC3B77}" type="datetime2">
              <a:rPr lang="en-US" sz="3599" b="1" spc="-25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marL="4443" algn="ctr">
                <a:spcBef>
                  <a:spcPts val="1734"/>
                </a:spcBef>
              </a:pPr>
              <a:t>Friday, January 5, 2024</a:t>
            </a:fld>
            <a:endParaRPr lang="en-US" sz="3599" b="1" spc="-25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3" algn="ctr">
              <a:spcBef>
                <a:spcPts val="1734"/>
              </a:spcBef>
            </a:pPr>
            <a:r>
              <a:rPr sz="3199" b="1" spc="-6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</a:t>
            </a:r>
            <a:r>
              <a:rPr sz="3199" b="1" spc="-6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sz="3199" b="1" spc="-8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199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Cuthbert</a:t>
            </a:r>
            <a:r>
              <a:rPr sz="3199" b="1" spc="-7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199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J.</a:t>
            </a:r>
            <a:r>
              <a:rPr sz="3199" b="1" spc="-7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199" b="1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Karawa </a:t>
            </a:r>
            <a:endParaRPr lang="en-US" sz="3199" b="1" spc="-1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3" algn="ctr">
              <a:spcBef>
                <a:spcPts val="1734"/>
              </a:spcBef>
            </a:pPr>
            <a:r>
              <a:rPr sz="3199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</a:t>
            </a:r>
            <a:r>
              <a:rPr sz="3199" b="1" spc="-10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99" b="1" spc="-105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endParaRPr sz="31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1389"/>
              </a:spcBef>
            </a:pPr>
            <a:r>
              <a:rPr lang="en-US" sz="3200" b="1" spc="-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 of Combinational Logic</a:t>
            </a:r>
          </a:p>
          <a:p>
            <a:pPr marL="12060" marR="5078" indent="3174" algn="ctr">
              <a:lnSpc>
                <a:spcPct val="153300"/>
              </a:lnSpc>
              <a:spcBef>
                <a:spcPts val="35"/>
              </a:spcBef>
            </a:pPr>
            <a:r>
              <a:rPr sz="2399" b="1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</a:t>
            </a:r>
            <a:r>
              <a:rPr sz="2399" b="1" spc="-65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99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399" b="1" spc="-6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99" b="1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sz="2399" b="1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99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399" b="1" spc="-7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99" b="1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r>
              <a:rPr sz="2399" b="1" spc="-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99" b="1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  <a:r>
              <a:rPr sz="2399" b="1" spc="-6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99" b="1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399" b="1" spc="-1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CoICT</a:t>
            </a:r>
            <a:r>
              <a:rPr sz="2399" b="1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Department</a:t>
            </a:r>
            <a:r>
              <a:rPr sz="2399" b="1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99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399" b="1" spc="-6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99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Electronics</a:t>
            </a:r>
            <a:r>
              <a:rPr sz="2399" b="1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99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399" b="1" spc="-7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99" b="1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Telecommunications</a:t>
            </a:r>
            <a:r>
              <a:rPr sz="2399" b="1" spc="-1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399" b="1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Engineering.</a:t>
            </a:r>
            <a:endParaRPr sz="23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55272" y="1799469"/>
            <a:ext cx="4874753" cy="1015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998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8301</a:t>
            </a:r>
            <a:endParaRPr lang="en-US" sz="1799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287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6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943" y="1768679"/>
            <a:ext cx="9715500" cy="459946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tradition way of 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combinational circuit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involves simplification and realization of circuit using logic gates.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method is effective for 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circuit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circuit is more complex, more number of gates are required with more number of wires between them.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such circuits is time consuming and less reliable.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avoid these problems  several combination circuits available in integrated circuits are employed in the designing of digital systems.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5122444"/>
              </p:ext>
            </p:extLst>
          </p:nvPr>
        </p:nvGraphicFramePr>
        <p:xfrm>
          <a:off x="1008173" y="3378683"/>
          <a:ext cx="8063653" cy="33448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7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1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45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62140">
                <a:tc>
                  <a:txBody>
                    <a:bodyPr/>
                    <a:lstStyle/>
                    <a:p>
                      <a:r>
                        <a:rPr kumimoji="0" lang="en-US" sz="2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Number of gates per package</a:t>
                      </a:r>
                      <a:endParaRPr lang="en-US" sz="2000" dirty="0"/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Classification</a:t>
                      </a:r>
                      <a:endParaRPr lang="en-US" sz="13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75597" marR="75597" marT="0" marB="0"/>
                </a:tc>
                <a:tc>
                  <a:txBody>
                    <a:bodyPr/>
                    <a:lstStyle/>
                    <a:p>
                      <a:r>
                        <a:rPr kumimoji="0" lang="en-US" sz="20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Abbreviation</a:t>
                      </a:r>
                      <a:endParaRPr lang="en-US" sz="2000" dirty="0"/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431">
                <a:tc>
                  <a:txBody>
                    <a:bodyPr/>
                    <a:lstStyle/>
                    <a:p>
                      <a:r>
                        <a:rPr lang="en-US" sz="2000" dirty="0"/>
                        <a:t>&lt;10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kumimoji="0"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Small Scale Integration</a:t>
                      </a:r>
                      <a:endParaRPr lang="en-US" sz="2000" dirty="0"/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SSI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431">
                <a:tc>
                  <a:txBody>
                    <a:bodyPr/>
                    <a:lstStyle/>
                    <a:p>
                      <a:r>
                        <a:rPr lang="en-US" sz="2000" dirty="0"/>
                        <a:t>10-99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kumimoji="0"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Medium Scale Integration</a:t>
                      </a:r>
                      <a:endParaRPr lang="en-US" sz="2000" dirty="0"/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MSI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431">
                <a:tc>
                  <a:txBody>
                    <a:bodyPr/>
                    <a:lstStyle/>
                    <a:p>
                      <a:r>
                        <a:rPr lang="en-US" sz="2000" dirty="0"/>
                        <a:t>1000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kumimoji="0"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Large Scale Integration</a:t>
                      </a:r>
                      <a:endParaRPr lang="en-US" sz="2000" dirty="0"/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LSI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5570">
                <a:tc>
                  <a:txBody>
                    <a:bodyPr/>
                    <a:lstStyle/>
                    <a:p>
                      <a:r>
                        <a:rPr lang="en-US" sz="2000" dirty="0"/>
                        <a:t>10K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kumimoji="0" lang="en-US" sz="20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Very Large Scale Integration</a:t>
                      </a:r>
                      <a:endParaRPr lang="en-US" sz="2000" dirty="0"/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VLSI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combinational circuits which available in IC are classified as  MSI components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MSI components which available in IC includes 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adders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subtractors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multiplexers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demultiplexers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decoders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encoders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comparators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MSI are used to implement combinational  circuits.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Adder are important in computer and also in other types of digital system in which numerical data are processed.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basic operations are the arithmetic operations which includes additions of binary digits.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Binary 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816" y="1805851"/>
            <a:ext cx="9692284" cy="344385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Half adder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Basic rules of binary addition are performed by a </a:t>
            </a:r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half adder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has two binary inputs (</a:t>
            </a:r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two binary outputs (</a:t>
            </a:r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Carry out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inputs and outputs can be summarized on a truth table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787D29-3FD4-49CD-93BB-E215D4842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87" y="4098961"/>
            <a:ext cx="3443741" cy="27869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88E9D25-66FD-4D69-8E65-A743A53FC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00" y="4148634"/>
            <a:ext cx="5158293" cy="17869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solidFill>
                  <a:schemeClr val="bg1"/>
                </a:solidFill>
              </a:rPr>
              <a:t>Binary 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243" y="1595931"/>
            <a:ext cx="9538023" cy="251989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Half Adder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truth table we get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logic symbol and equivalent circuit are: </a:t>
            </a:r>
          </a:p>
          <a:p>
            <a:pPr>
              <a:buNone/>
            </a:pP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227196"/>
              </p:ext>
            </p:extLst>
          </p:nvPr>
        </p:nvGraphicFramePr>
        <p:xfrm>
          <a:off x="4284215" y="2435895"/>
          <a:ext cx="3316107" cy="839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8" name="Equation" r:id="rId4" imgW="1155199" imgH="355446" progId="Equation.DSMT4">
                  <p:embed/>
                </p:oleObj>
              </mc:Choice>
              <mc:Fallback>
                <p:oleObj name="Equation" r:id="rId4" imgW="1155199" imgH="355446" progId="Equation.DSMT4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215" y="2435895"/>
                        <a:ext cx="3316107" cy="8399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D7F87D4-BF19-42BD-B5BE-2470EA38E4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93542" y="3631624"/>
            <a:ext cx="4282458" cy="20142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01" y="1714500"/>
            <a:ext cx="9072000" cy="164535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 Adder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full adder accepts </a:t>
            </a:r>
            <a:r>
              <a:rPr lang="en-US" sz="3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inputs bits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3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carry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generates a sum output and an output carry.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truth table summarizes the operation.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C78AF9-5F42-406F-9041-CADFD56A9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00" y="3852732"/>
            <a:ext cx="4654199" cy="18541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9AE000-0141-431B-B6E5-CB7018F221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0000" y="3229226"/>
            <a:ext cx="4303671" cy="364510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257" y="1595931"/>
            <a:ext cx="9587009" cy="529177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From the truth table we get</a:t>
            </a:r>
          </a:p>
          <a:p>
            <a:pPr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logic symbol and equivalent circuit are: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694710"/>
              </p:ext>
            </p:extLst>
          </p:nvPr>
        </p:nvGraphicFramePr>
        <p:xfrm>
          <a:off x="2883839" y="1970453"/>
          <a:ext cx="3099117" cy="9064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8" name="Equation" r:id="rId3" imgW="1549080" imgH="533160" progId="Equation.DSMT4">
                  <p:embed/>
                </p:oleObj>
              </mc:Choice>
              <mc:Fallback>
                <p:oleObj name="Equation" r:id="rId3" imgW="1549080" imgH="533160" progId="Equation.DSMT4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3839" y="1970453"/>
                        <a:ext cx="3099117" cy="90646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684103D-69A3-4395-8EB0-F6B461C24E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8456" y="3779837"/>
            <a:ext cx="5782060" cy="28658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223006-2A20-4E6E-9A00-D5BE625590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037" y="3994421"/>
            <a:ext cx="3370419" cy="24367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>
                <a:solidFill>
                  <a:schemeClr val="bg1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Implement full adder by using two half adders.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571" y="1595931"/>
            <a:ext cx="9521695" cy="5291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Parallel Adder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More often there a need to add </a:t>
            </a:r>
            <a:r>
              <a:rPr lang="en-US" sz="3200" b="1" i="1" dirty="0">
                <a:solidFill>
                  <a:srgbClr val="FF0000"/>
                </a:solidFill>
              </a:rPr>
              <a:t>two n bits </a:t>
            </a:r>
            <a:r>
              <a:rPr lang="en-US" sz="3200" dirty="0"/>
              <a:t>numbers.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When adding two </a:t>
            </a:r>
            <a:r>
              <a:rPr lang="en-US" sz="3200" b="1" i="1" dirty="0">
                <a:solidFill>
                  <a:srgbClr val="FF0000"/>
                </a:solidFill>
              </a:rPr>
              <a:t>n bit </a:t>
            </a:r>
            <a:r>
              <a:rPr lang="en-US" sz="3200" dirty="0"/>
              <a:t>number the two LSB are added to produce their sum and carry out bit.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Then the next two bits are added together with a carry generated from the addition of the first two bits to produce the sum and carry out bits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/>
              <a:t>The process is repeated until the most significant bits are reached.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solidFill>
                  <a:schemeClr val="bg1"/>
                </a:solidFill>
              </a:rPr>
              <a:t>Binary 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00" y="1595931"/>
            <a:ext cx="9344266" cy="5291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Parallel Adder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add two binary numbers a full adder is required for each bit in the numbers.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 for 2-bit numbers two adders are needed for 3-bit numbers three adders are needed and so 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carry output of each adder is connected to the carry input of the next higher order adder.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or more full-adders are connected to form parallel binary adders.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243" y="1595931"/>
            <a:ext cx="9538022" cy="5291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Parallel Adder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below shows  a basic 2-bit parallel adder which is implemented with two full adder stages. </a:t>
            </a:r>
          </a:p>
        </p:txBody>
      </p:sp>
      <p:pic>
        <p:nvPicPr>
          <p:cNvPr id="27649" name="Picture 1"/>
          <p:cNvPicPr>
            <a:picLocks noChangeAspect="1" noChangeArrowheads="1"/>
          </p:cNvPicPr>
          <p:nvPr/>
        </p:nvPicPr>
        <p:blipFill>
          <a:blip r:embed="rId2" cstate="print"/>
          <a:srcRect l="3571" t="4878" r="5952" b="7317"/>
          <a:stretch>
            <a:fillRect/>
          </a:stretch>
        </p:blipFill>
        <p:spPr bwMode="auto">
          <a:xfrm>
            <a:off x="1175656" y="3122132"/>
            <a:ext cx="7152282" cy="33879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00E166-78EA-4718-A85B-ACA10026D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872" y="2435471"/>
            <a:ext cx="6385308" cy="31459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 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00" y="1595931"/>
            <a:ext cx="9344266" cy="562775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Parallel Adders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 4-bit adder is shown figure below.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output carry (</a:t>
            </a:r>
            <a:r>
              <a:rPr lang="en-US" i="1" dirty="0"/>
              <a:t>C</a:t>
            </a:r>
            <a:r>
              <a:rPr lang="en-US" baseline="-25000" dirty="0"/>
              <a:t>4</a:t>
            </a:r>
            <a:r>
              <a:rPr lang="en-US" dirty="0"/>
              <a:t>) is not ready until it propagates through all of the full adders. This is called ripple carry, delaying the addition process.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sum generated by the 3-bit parallel adder and show the intermediate carries when the binary number 101 and 011 are being added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00" y="1768679"/>
            <a:ext cx="9072000" cy="5334249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basic function of a </a:t>
            </a:r>
            <a:r>
              <a:rPr lang="en-US" sz="3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comparator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to compare the magnitudes of </a:t>
            </a:r>
            <a:r>
              <a:rPr lang="en-US" sz="3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binary quantities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30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relationship of those quantities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exclusive-NOR gate can be used as a basic comparator because its output is a 0 if the two input bits are not equal and a 1 if the input bits are equal.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above shows the exclusive-NOR gate as a 2-bit comparator.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606D19-688A-46B3-B5BD-F76A81C90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3015001"/>
            <a:ext cx="3992441" cy="15296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ADB5D7-ED0F-4B0E-A123-10212EC93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395" y="2991537"/>
            <a:ext cx="3749488" cy="155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970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7689" y="167992"/>
            <a:ext cx="8265245" cy="1007957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Decoders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3C1A54-761C-42AF-825A-E99C85785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decoder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digital circuit that detects the presence of a specified combination of bits (code) on its inputs and indicates the presence of that code by a specified output level.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general a decoder has </a:t>
            </a:r>
            <a:r>
              <a:rPr lang="en-US" sz="3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inputs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3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outputs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are several types of decoder but the most common is </a:t>
            </a:r>
            <a:r>
              <a:rPr lang="en-US" sz="3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3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3600" b="1" i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type of decoder  e.g. 2 to 4,3 to 8 and 4 to 16 line decoders.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530" y="302387"/>
            <a:ext cx="9375242" cy="1259946"/>
          </a:xfrm>
        </p:spPr>
        <p:txBody>
          <a:bodyPr/>
          <a:lstStyle/>
          <a:p>
            <a:r>
              <a:rPr lang="en-US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Decoders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4872" y="1763925"/>
            <a:ext cx="9375242" cy="176392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Example</a:t>
            </a:r>
            <a:r>
              <a:rPr lang="en-US" dirty="0"/>
              <a:t>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Show truth table and block diagram of 2 to 4 line decoder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Truth table  </a:t>
            </a:r>
          </a:p>
          <a:p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5124308" y="3135086"/>
            <a:ext cx="4451809" cy="392762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Block diagram</a:t>
            </a:r>
          </a:p>
        </p:txBody>
      </p:sp>
      <p:graphicFrame>
        <p:nvGraphicFramePr>
          <p:cNvPr id="7" name="Content Placeholder 4"/>
          <p:cNvGraphicFramePr>
            <a:graphicFrameLocks/>
          </p:cNvGraphicFramePr>
          <p:nvPr>
            <p:extLst/>
          </p:nvPr>
        </p:nvGraphicFramePr>
        <p:xfrm>
          <a:off x="1092482" y="3779837"/>
          <a:ext cx="4367814" cy="3074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79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79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79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79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8887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Inputs</a:t>
                      </a:r>
                      <a:r>
                        <a:rPr lang="en-US" sz="2000" baseline="0" dirty="0"/>
                        <a:t> </a:t>
                      </a:r>
                      <a:endParaRPr lang="en-US" sz="2000" dirty="0"/>
                    </a:p>
                  </a:txBody>
                  <a:tcPr marL="100796" marR="100796" marT="50398" marB="50398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Outputs </a:t>
                      </a:r>
                    </a:p>
                  </a:txBody>
                  <a:tcPr marL="100796" marR="100796" marT="50398" marB="50398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044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0796" marR="100796" marT="50398" marB="50398">
                    <a:blipFill rotWithShape="0">
                      <a:blip r:embed="rId2"/>
                      <a:stretch>
                        <a:fillRect l="-917" t="-129508" r="-500917" b="-422951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0796" marR="100796" marT="50398" marB="50398">
                    <a:blipFill rotWithShape="0">
                      <a:blip r:embed="rId2"/>
                      <a:stretch>
                        <a:fillRect l="-101852" t="-129508" r="-405556" b="-422951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0796" marR="100796" marT="50398" marB="50398">
                    <a:blipFill rotWithShape="0">
                      <a:blip r:embed="rId2"/>
                      <a:stretch>
                        <a:fillRect l="-200000" t="-129508" r="-301835" b="-422951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0796" marR="100796" marT="50398" marB="50398">
                    <a:blipFill rotWithShape="0">
                      <a:blip r:embed="rId2"/>
                      <a:stretch>
                        <a:fillRect l="-302778" t="-129508" r="-204630" b="-422951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0796" marR="100796" marT="50398" marB="50398">
                    <a:blipFill rotWithShape="0">
                      <a:blip r:embed="rId2"/>
                      <a:stretch>
                        <a:fillRect l="-399083" t="-129508" r="-102752" b="-422951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0796" marR="100796" marT="50398" marB="50398">
                    <a:blipFill rotWithShape="0">
                      <a:blip r:embed="rId2"/>
                      <a:stretch>
                        <a:fillRect l="-503704" t="-129508" r="-3704" b="-422951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044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044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044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044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964272" y="3768459"/>
            <a:ext cx="3107866" cy="236327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Decoders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229" y="1595931"/>
            <a:ext cx="9489037" cy="529177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truth table it can be observed that the output variables are mutually exclusive because only one output can be equal to 1 at any one time.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line whose value is equal to 1 represents the minterm equivalent of the binary number presently available in the input lines.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6926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Decoders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595931"/>
            <a:ext cx="9505366" cy="529177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truth table  we can write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7025634"/>
              </p:ext>
            </p:extLst>
          </p:nvPr>
        </p:nvGraphicFramePr>
        <p:xfrm>
          <a:off x="1563803" y="2015913"/>
          <a:ext cx="3947830" cy="11759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Equation" r:id="rId3" imgW="1498320" imgH="507960" progId="Equation.DSMT4">
                  <p:embed/>
                </p:oleObj>
              </mc:Choice>
              <mc:Fallback>
                <p:oleObj name="Equation" r:id="rId3" imgW="1498320" imgH="507960" progId="Equation.DSMT4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3803" y="2015913"/>
                        <a:ext cx="3947830" cy="117594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195307" y="3224673"/>
            <a:ext cx="5627758" cy="28147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" y="6230351"/>
            <a:ext cx="69326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Figure: Implementation of 2 to 4 line decoder</a:t>
            </a:r>
          </a:p>
        </p:txBody>
      </p:sp>
    </p:spTree>
    <p:extLst>
      <p:ext uri="{BB962C8B-B14F-4D97-AF65-F5344CB8AC3E}">
        <p14:creationId xmlns:p14="http://schemas.microsoft.com/office/powerpoint/2010/main" val="3497241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Decoders </a:t>
            </a:r>
          </a:p>
        </p:txBody>
      </p:sp>
      <p:sp>
        <p:nvSpPr>
          <p:cNvPr id="3" name="Content Placeholder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1092482" y="1595931"/>
            <a:ext cx="8755784" cy="5291773"/>
          </a:xfrm>
          <a:blipFill rotWithShape="0">
            <a:blip r:embed="rId3" cstate="print"/>
            <a:stretch>
              <a:fillRect l="-1842" t="-3558" r="-2456"/>
            </a:stretch>
          </a:blipFill>
        </p:spPr>
        <p:txBody>
          <a:bodyPr/>
          <a:lstStyle/>
          <a:p>
            <a:pPr>
              <a:buNone/>
            </a:pPr>
            <a:endParaRPr lang="en-US" dirty="0">
              <a:noFill/>
            </a:endParaRPr>
          </a:p>
          <a:p>
            <a:pPr>
              <a:buNone/>
            </a:pPr>
            <a:endParaRPr lang="en-US" dirty="0">
              <a:noFill/>
            </a:endParaRPr>
          </a:p>
          <a:p>
            <a:pPr>
              <a:buNone/>
            </a:pPr>
            <a:endParaRPr lang="en-US" dirty="0">
              <a:noFill/>
            </a:endParaRPr>
          </a:p>
          <a:p>
            <a:pPr>
              <a:buNone/>
            </a:pPr>
            <a:endParaRPr lang="en-US" dirty="0">
              <a:noFill/>
            </a:endParaRPr>
          </a:p>
          <a:p>
            <a:pPr>
              <a:buNone/>
            </a:pPr>
            <a:endParaRPr lang="en-US" dirty="0">
              <a:noFill/>
            </a:endParaRPr>
          </a:p>
          <a:p>
            <a:pPr>
              <a:buNone/>
            </a:pPr>
            <a:endParaRPr lang="en-US" dirty="0">
              <a:noFill/>
            </a:endParaRPr>
          </a:p>
          <a:p>
            <a:pPr>
              <a:buNone/>
            </a:pPr>
            <a:endParaRPr lang="en-US" dirty="0">
              <a:noFill/>
            </a:endParaRPr>
          </a:p>
          <a:p>
            <a:pPr>
              <a:buNone/>
            </a:pPr>
            <a:r>
              <a:rPr lang="en-US" dirty="0">
                <a:noFill/>
              </a:rPr>
              <a:t>                                     .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/>
          </p:nvPr>
        </p:nvGraphicFramePr>
        <p:xfrm>
          <a:off x="3192392" y="2519891"/>
          <a:ext cx="3695841" cy="10079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5" name="Equation" r:id="rId4" imgW="1498320" imgH="507960" progId="Equation.DSMT4">
                  <p:embed/>
                </p:oleObj>
              </mc:Choice>
              <mc:Fallback>
                <p:oleObj name="Equation" r:id="rId4" imgW="1498320" imgH="507960" progId="Equation.DSMT4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2392" y="2519891"/>
                        <a:ext cx="3695841" cy="100795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60692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230" y="302387"/>
            <a:ext cx="9489542" cy="1259946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Decoders </a:t>
            </a:r>
          </a:p>
        </p:txBody>
      </p:sp>
      <p:sp>
        <p:nvSpPr>
          <p:cNvPr id="3" name="Content Placeholder 2"/>
          <p:cNvSpPr>
            <a:spLocks noGrp="1" noRot="1" noChangeAspect="1" noMove="1" noResize="1" noEditPoints="1" noAdjustHandles="1" noChangeArrowheads="1" noChangeShapeType="1" noTextEdit="1"/>
          </p:cNvSpPr>
          <p:nvPr>
            <p:ph sz="half" idx="1"/>
          </p:nvPr>
        </p:nvSpPr>
        <p:spPr>
          <a:xfrm>
            <a:off x="1092482" y="1707802"/>
            <a:ext cx="8483635" cy="2855877"/>
          </a:xfrm>
          <a:blipFill rotWithShape="0">
            <a:blip r:embed="rId2" cstate="print"/>
            <a:stretch>
              <a:fillRect l="-1664" t="-2353" b="-25412"/>
            </a:stretch>
          </a:blipFill>
        </p:spPr>
        <p:txBody>
          <a:bodyPr/>
          <a:lstStyle/>
          <a:p>
            <a:pPr>
              <a:buNone/>
            </a:pPr>
            <a:r>
              <a:rPr lang="en-US" dirty="0">
                <a:noFill/>
              </a:rPr>
              <a:t> 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4945876" y="4184439"/>
            <a:ext cx="4871791" cy="285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819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Decoders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xfrm>
            <a:off x="1092482" y="1595931"/>
            <a:ext cx="8755784" cy="5291773"/>
          </a:xfrm>
          <a:blipFill rotWithShape="0">
            <a:blip r:embed="rId2" cstate="print"/>
            <a:stretch>
              <a:fillRect l="-1995" t="-1652"/>
            </a:stretch>
          </a:blipFill>
        </p:spPr>
        <p:txBody>
          <a:bodyPr/>
          <a:lstStyle/>
          <a:p>
            <a:pPr>
              <a:buNone/>
            </a:pPr>
            <a:r>
              <a:rPr lang="en-US" dirty="0">
                <a:noFill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1547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Decoders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571" y="1595931"/>
            <a:ext cx="9521695" cy="529177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 design using decoder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inputs to each or gate can be minimized by implement the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f’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finally invert the OR output to get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the following functions using a decoder minimizing the number of inputs to be summed.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2862517"/>
              </p:ext>
            </p:extLst>
          </p:nvPr>
        </p:nvGraphicFramePr>
        <p:xfrm>
          <a:off x="2651522" y="5108990"/>
          <a:ext cx="4871791" cy="11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90" name="Equation" r:id="rId3" imgW="1905000" imgH="596900" progId="Equation.DSMT4">
                  <p:embed/>
                </p:oleObj>
              </mc:Choice>
              <mc:Fallback>
                <p:oleObj name="Equation" r:id="rId3" imgW="1905000" imgH="596900" progId="Equation.DSMT4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1522" y="5108990"/>
                        <a:ext cx="4871791" cy="11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Decoders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914" y="1747157"/>
            <a:ext cx="9282203" cy="24194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 design using decoder</a:t>
            </a: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decoder in IC packages usually have an active low output. The truth table and symbol of such 2 to 4 line decoder.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generate maxterms at their output and are useful in implementing canonical POS expression.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12283" y="4418561"/>
            <a:ext cx="3947830" cy="2637137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0807504"/>
              </p:ext>
            </p:extLst>
          </p:nvPr>
        </p:nvGraphicFramePr>
        <p:xfrm>
          <a:off x="1344473" y="4115823"/>
          <a:ext cx="4239898" cy="29398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8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17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17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1314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Inputs</a:t>
                      </a:r>
                    </a:p>
                  </a:txBody>
                  <a:tcPr marL="100796" marR="100796" marT="50398" marB="50398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Outputs</a:t>
                      </a:r>
                    </a:p>
                  </a:txBody>
                  <a:tcPr marL="100796" marR="100796" marT="50398" marB="50398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712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0796" marR="100796" marT="50398" marB="50398">
                    <a:blipFill rotWithShape="0">
                      <a:blip r:embed="rId3"/>
                      <a:stretch>
                        <a:fillRect l="-2151" t="-106250" r="-569892" b="-40375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0796" marR="100796" marT="50398" marB="50398">
                    <a:blipFill rotWithShape="0">
                      <a:blip r:embed="rId3"/>
                      <a:stretch>
                        <a:fillRect l="-95000" t="-106250" r="-430000" b="-40375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0796" marR="100796" marT="50398" marB="50398">
                    <a:blipFill rotWithShape="0">
                      <a:blip r:embed="rId3"/>
                      <a:stretch>
                        <a:fillRect l="-193069" t="-106250" r="-325743" b="-40375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0796" marR="100796" marT="50398" marB="50398">
                    <a:blipFill rotWithShape="0">
                      <a:blip r:embed="rId3"/>
                      <a:stretch>
                        <a:fillRect l="-296000" t="-106250" r="-229000" b="-40375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0796" marR="100796" marT="50398" marB="50398">
                    <a:blipFill rotWithShape="0">
                      <a:blip r:embed="rId3"/>
                      <a:stretch>
                        <a:fillRect l="-353571" t="-106250" r="-104464" b="-403750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0796" marR="100796" marT="50398" marB="50398">
                    <a:blipFill rotWithShape="0">
                      <a:blip r:embed="rId3"/>
                      <a:stretch>
                        <a:fillRect l="-449558" t="-106250" r="-3540" b="-403750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71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71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71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71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Decoders</a:t>
            </a:r>
          </a:p>
        </p:txBody>
      </p:sp>
      <p:sp>
        <p:nvSpPr>
          <p:cNvPr id="3" name="Content Placeholder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blipFill rotWithShape="0">
            <a:blip r:embed="rId2" cstate="print"/>
            <a:stretch>
              <a:fillRect l="-1951" t="-2541" r="-1951"/>
            </a:stretch>
          </a:blipFill>
        </p:spPr>
        <p:txBody>
          <a:bodyPr/>
          <a:lstStyle/>
          <a:p>
            <a:pPr>
              <a:buNone/>
            </a:pPr>
            <a:r>
              <a:rPr lang="en-US" dirty="0">
                <a:noFill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914" y="1595931"/>
            <a:ext cx="9554351" cy="52917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Logic design using decoder</a:t>
            </a:r>
            <a:endParaRPr lang="en-US" dirty="0"/>
          </a:p>
          <a:p>
            <a:r>
              <a:rPr lang="en-US" dirty="0"/>
              <a:t>Functions expressed in maxterm canonical forms can also be implemented using decoder.</a:t>
            </a:r>
          </a:p>
          <a:p>
            <a:r>
              <a:rPr lang="en-US" b="1" dirty="0"/>
              <a:t>Example: </a:t>
            </a:r>
            <a:r>
              <a:rPr lang="en-US" dirty="0"/>
              <a:t>implement the following functions expressed in maxterm canonical form in two possible ways using a 3 to 8 decoder.</a:t>
            </a:r>
          </a:p>
          <a:p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5024018"/>
              </p:ext>
            </p:extLst>
          </p:nvPr>
        </p:nvGraphicFramePr>
        <p:xfrm>
          <a:off x="1995991" y="4647801"/>
          <a:ext cx="4787794" cy="1315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12" name="Equation" r:id="rId3" imgW="1866900" imgH="596900" progId="Equation.DSMT4">
                  <p:embed/>
                </p:oleObj>
              </mc:Choice>
              <mc:Fallback>
                <p:oleObj name="Equation" r:id="rId3" imgW="1866900" imgH="596900" progId="Equation.DSMT4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5991" y="4647801"/>
                        <a:ext cx="4787794" cy="131594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Decoders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Decoders with Enable Input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previous decoder one of the input is either 1 or 0 for active high and low outputs respectively.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input is used for some application where more than one output need to be at 0 or 1 state.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inputs are also useful in cascading decoders to increase their input and outputs lines.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630" y="1763925"/>
            <a:ext cx="9445488" cy="19319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Decoders with Enable Input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The truth table and symbol of 2 to 4 line decoder with enable for uncomplemented (active high) output is as shown</a:t>
            </a:r>
          </a:p>
        </p:txBody>
      </p:sp>
      <p:graphicFrame>
        <p:nvGraphicFramePr>
          <p:cNvPr id="5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7840610"/>
              </p:ext>
            </p:extLst>
          </p:nvPr>
        </p:nvGraphicFramePr>
        <p:xfrm>
          <a:off x="790954" y="3395011"/>
          <a:ext cx="4367811" cy="29454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9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39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39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39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39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39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92779"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Inputs</a:t>
                      </a:r>
                      <a:r>
                        <a:rPr lang="en-US" sz="2000" baseline="0" dirty="0"/>
                        <a:t> </a:t>
                      </a:r>
                      <a:endParaRPr lang="en-US" sz="2000" dirty="0"/>
                    </a:p>
                  </a:txBody>
                  <a:tcPr marL="100796" marR="100796" marT="50398" marB="50398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en-US" sz="2000" dirty="0"/>
                        <a:t>Outputs </a:t>
                      </a:r>
                    </a:p>
                  </a:txBody>
                  <a:tcPr marL="100796" marR="100796" marT="50398" marB="50398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782">
                <a:tc>
                  <a:txBody>
                    <a:bodyPr/>
                    <a:lstStyle/>
                    <a:p>
                      <a:r>
                        <a:rPr lang="en-US" sz="2000" i="1" dirty="0"/>
                        <a:t>E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0796" marR="100796" marT="50398" marB="50398">
                    <a:blipFill rotWithShape="0">
                      <a:blip r:embed="rId2"/>
                      <a:stretch>
                        <a:fillRect l="-101075" t="-127869" r="-504301" b="-522951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0796" marR="100796" marT="50398" marB="50398">
                    <a:blipFill rotWithShape="0">
                      <a:blip r:embed="rId2"/>
                      <a:stretch>
                        <a:fillRect l="-201075" t="-127869" r="-404301" b="-522951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0796" marR="100796" marT="50398" marB="50398">
                    <a:blipFill rotWithShape="0">
                      <a:blip r:embed="rId2"/>
                      <a:stretch>
                        <a:fillRect l="-301075" t="-127869" r="-304301" b="-522951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0796" marR="100796" marT="50398" marB="50398">
                    <a:blipFill rotWithShape="0">
                      <a:blip r:embed="rId2"/>
                      <a:stretch>
                        <a:fillRect l="-401075" t="-127869" r="-204301" b="-522951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0796" marR="100796" marT="50398" marB="50398">
                    <a:blipFill rotWithShape="0">
                      <a:blip r:embed="rId2"/>
                      <a:stretch>
                        <a:fillRect l="-501075" t="-127869" r="-104301" b="-522951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0796" marR="100796" marT="50398" marB="50398">
                    <a:blipFill rotWithShape="0">
                      <a:blip r:embed="rId2"/>
                      <a:stretch>
                        <a:fillRect l="-601075" t="-127869" r="-4301" b="-522951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782">
                <a:tc>
                  <a:txBody>
                    <a:bodyPr/>
                    <a:lstStyle/>
                    <a:p>
                      <a:r>
                        <a:rPr lang="en-US" sz="2000" i="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i="0" dirty="0">
                          <a:latin typeface="Calibri" pitchFamily="34" charset="0"/>
                        </a:rPr>
                        <a:t>x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i="0" dirty="0">
                          <a:latin typeface="Calibri" pitchFamily="34" charset="0"/>
                        </a:rPr>
                        <a:t>x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i="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i="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i="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i="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782">
                <a:tc>
                  <a:txBody>
                    <a:bodyPr/>
                    <a:lstStyle/>
                    <a:p>
                      <a:r>
                        <a:rPr lang="en-US" sz="2000" i="0">
                          <a:latin typeface="Calibri" pitchFamily="34" charset="0"/>
                        </a:rPr>
                        <a:t>1</a:t>
                      </a:r>
                      <a:endParaRPr lang="en-US" sz="2000" i="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i="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i="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i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i="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i="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i="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782">
                <a:tc>
                  <a:txBody>
                    <a:bodyPr/>
                    <a:lstStyle/>
                    <a:p>
                      <a:r>
                        <a:rPr lang="en-US" sz="2000" i="0">
                          <a:latin typeface="Calibri" pitchFamily="34" charset="0"/>
                        </a:rPr>
                        <a:t>1</a:t>
                      </a:r>
                      <a:endParaRPr lang="en-US" sz="2000" i="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i="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i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i="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i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i="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i="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782">
                <a:tc>
                  <a:txBody>
                    <a:bodyPr/>
                    <a:lstStyle/>
                    <a:p>
                      <a:r>
                        <a:rPr lang="en-US" sz="2000" i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i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i="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i="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i="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i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i="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782">
                <a:tc>
                  <a:txBody>
                    <a:bodyPr/>
                    <a:lstStyle/>
                    <a:p>
                      <a:r>
                        <a:rPr lang="en-US" sz="2000" i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i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i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i="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i="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i="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i="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37054" y="3395011"/>
            <a:ext cx="4031827" cy="29906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Decoders with Enable Input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enable input can also be included in decoder with complemented (active low) output as shown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167639"/>
              </p:ext>
            </p:extLst>
          </p:nvPr>
        </p:nvGraphicFramePr>
        <p:xfrm>
          <a:off x="1254752" y="3593309"/>
          <a:ext cx="4153436" cy="3275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6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40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40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70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70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7980"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Inputs</a:t>
                      </a:r>
                    </a:p>
                  </a:txBody>
                  <a:tcPr marL="100796" marR="100796" marT="50398" marB="50398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Outputs</a:t>
                      </a:r>
                    </a:p>
                  </a:txBody>
                  <a:tcPr marL="100796" marR="100796" marT="50398" marB="50398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980">
                <a:tc>
                  <a:txBody>
                    <a:bodyPr/>
                    <a:lstStyle/>
                    <a:p>
                      <a:r>
                        <a:rPr lang="en-US" sz="2000" dirty="0"/>
                        <a:t>E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0796" marR="100796" marT="50398" marB="50398">
                    <a:blipFill rotWithShape="0">
                      <a:blip r:embed="rId2"/>
                      <a:stretch>
                        <a:fillRect l="-101235" t="-107143" r="-570370" b="-505714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0796" marR="100796" marT="50398" marB="50398">
                    <a:blipFill rotWithShape="0">
                      <a:blip r:embed="rId2"/>
                      <a:stretch>
                        <a:fillRect l="-187356" t="-107143" r="-431034" b="-505714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0796" marR="100796" marT="50398" marB="50398">
                    <a:blipFill rotWithShape="0">
                      <a:blip r:embed="rId2"/>
                      <a:stretch>
                        <a:fillRect l="-287356" t="-107143" r="-331034" b="-505714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0796" marR="100796" marT="50398" marB="50398">
                    <a:blipFill rotWithShape="0">
                      <a:blip r:embed="rId2"/>
                      <a:stretch>
                        <a:fillRect l="-387356" t="-107143" r="-231034" b="-505714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0796" marR="100796" marT="50398" marB="50398">
                    <a:blipFill rotWithShape="0">
                      <a:blip r:embed="rId2"/>
                      <a:stretch>
                        <a:fillRect l="-432653" t="-107143" r="-105102" b="-505714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0796" marR="100796" marT="50398" marB="50398">
                    <a:blipFill rotWithShape="0">
                      <a:blip r:embed="rId2"/>
                      <a:stretch>
                        <a:fillRect l="-532653" t="-107143" r="-5102" b="-505714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98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98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98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98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98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x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x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846511" y="3779837"/>
            <a:ext cx="3328082" cy="2721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4343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An encoder has 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b="1" baseline="30000" dirty="0">
                <a:solidFill>
                  <a:srgbClr val="FF0000"/>
                </a:solidFill>
              </a:rPr>
              <a:t>n </a:t>
            </a:r>
            <a:r>
              <a:rPr lang="en-US" b="1" dirty="0">
                <a:solidFill>
                  <a:srgbClr val="FF0000"/>
                </a:solidFill>
              </a:rPr>
              <a:t>inputs </a:t>
            </a:r>
            <a:r>
              <a:rPr lang="en-US" dirty="0"/>
              <a:t>and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outputs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Outputs the binary value of the selected (or active) input.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Performs the inverse operation of a decoder.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Some examples of encoders are 4to 2 line and 8 to 3 line encoders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230" y="302387"/>
            <a:ext cx="9489542" cy="1259946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Encoders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31854" y="1679928"/>
            <a:ext cx="5383054" cy="5140579"/>
          </a:xfrm>
        </p:spPr>
        <p:txBody>
          <a:bodyPr/>
          <a:lstStyle/>
          <a:p>
            <a:r>
              <a:rPr lang="en-US" dirty="0"/>
              <a:t>Truth Table of 4-2line encoder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5040312" y="1679928"/>
            <a:ext cx="4808459" cy="5140579"/>
          </a:xfrm>
        </p:spPr>
        <p:txBody>
          <a:bodyPr/>
          <a:lstStyle/>
          <a:p>
            <a:r>
              <a:rPr lang="en-US" dirty="0"/>
              <a:t>Block diagram of 4-2line encoder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260476" y="2939873"/>
          <a:ext cx="3527846" cy="369584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5039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7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2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48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98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91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391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kern="1200" dirty="0"/>
                        <a:t>X</a:t>
                      </a:r>
                      <a:r>
                        <a:rPr kumimoji="0" lang="en-US" sz="2000" kern="1200" baseline="-25000" dirty="0"/>
                        <a:t>0</a:t>
                      </a:r>
                      <a:endParaRPr kumimoji="0" lang="en-US" sz="2000" b="1" kern="1200" dirty="0">
                        <a:solidFill>
                          <a:schemeClr val="lt1"/>
                        </a:solidFill>
                        <a:latin typeface="Calibri" pitchFamily="34" charset="0"/>
                        <a:ea typeface="+mn-ea"/>
                        <a:cs typeface="+mn-cs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kern="1200" dirty="0"/>
                        <a:t>X</a:t>
                      </a:r>
                      <a:r>
                        <a:rPr kumimoji="0" lang="en-US" sz="2000" kern="1200" baseline="-25000" dirty="0"/>
                        <a:t>1</a:t>
                      </a:r>
                      <a:endParaRPr kumimoji="0" lang="en-US" sz="2000" b="1" kern="1200" dirty="0">
                        <a:solidFill>
                          <a:schemeClr val="lt1"/>
                        </a:solidFill>
                        <a:latin typeface="Calibri" pitchFamily="34" charset="0"/>
                        <a:ea typeface="+mn-ea"/>
                        <a:cs typeface="+mn-cs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kern="1200" dirty="0"/>
                        <a:t>X</a:t>
                      </a:r>
                      <a:r>
                        <a:rPr kumimoji="0" lang="en-US" sz="2000" kern="1200" baseline="-25000" dirty="0"/>
                        <a:t>2</a:t>
                      </a:r>
                      <a:endParaRPr kumimoji="0" lang="en-US" sz="2000" b="1" kern="1200" dirty="0">
                        <a:solidFill>
                          <a:schemeClr val="lt1"/>
                        </a:solidFill>
                        <a:latin typeface="Calibri" pitchFamily="34" charset="0"/>
                        <a:ea typeface="+mn-ea"/>
                        <a:cs typeface="+mn-cs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kern="1200" dirty="0"/>
                        <a:t>X</a:t>
                      </a:r>
                      <a:r>
                        <a:rPr kumimoji="0" lang="en-US" sz="2000" kern="1200" baseline="-25000" dirty="0"/>
                        <a:t>3</a:t>
                      </a:r>
                      <a:endParaRPr kumimoji="0" lang="en-US" sz="2000" b="1" kern="1200" dirty="0">
                        <a:solidFill>
                          <a:schemeClr val="lt1"/>
                        </a:solidFill>
                        <a:latin typeface="Calibri" pitchFamily="34" charset="0"/>
                        <a:ea typeface="+mn-ea"/>
                        <a:cs typeface="+mn-cs"/>
                      </a:endParaRPr>
                    </a:p>
                  </a:txBody>
                  <a:tcPr marL="100796" marR="100796" marT="50398" marB="5039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kern="1200" dirty="0"/>
                        <a:t>Y</a:t>
                      </a:r>
                      <a:r>
                        <a:rPr kumimoji="0" lang="en-US" sz="2000" kern="1200" baseline="-25000" dirty="0"/>
                        <a:t>1</a:t>
                      </a:r>
                      <a:endParaRPr kumimoji="0" lang="en-US" sz="2000" b="1" kern="1200" baseline="-25000" dirty="0">
                        <a:solidFill>
                          <a:schemeClr val="lt1"/>
                        </a:solidFill>
                        <a:latin typeface="Calibri" pitchFamily="34" charset="0"/>
                        <a:ea typeface="+mn-ea"/>
                        <a:cs typeface="+mn-cs"/>
                      </a:endParaRPr>
                    </a:p>
                  </a:txBody>
                  <a:tcPr marL="100796" marR="100796" marT="50398" marB="503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kern="1200" dirty="0"/>
                        <a:t>Y</a:t>
                      </a:r>
                      <a:r>
                        <a:rPr kumimoji="0" lang="en-US" sz="2000" kern="1200" baseline="-25000" dirty="0"/>
                        <a:t>0</a:t>
                      </a:r>
                      <a:endParaRPr kumimoji="0" lang="en-US" sz="2000" b="1" kern="1200" dirty="0">
                        <a:solidFill>
                          <a:schemeClr val="lt1"/>
                        </a:solidFill>
                        <a:latin typeface="Calibri" pitchFamily="34" charset="0"/>
                        <a:ea typeface="+mn-ea"/>
                        <a:cs typeface="+mn-cs"/>
                      </a:endParaRP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168"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9168"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9168"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9168"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00258" y="3275859"/>
            <a:ext cx="2687884" cy="260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Encoders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42900" y="1595931"/>
            <a:ext cx="9505365" cy="529177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more than one input is active the higher order input has priority over the lower order input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higher value is encoded at the output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valid indicator is included to indicate whether or not the output is valid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is invalid (0) when no inputs are active.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is valid (1) when at least one input is active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Priority Encoders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truth table of 4-2 line priority encoder</a:t>
            </a:r>
          </a:p>
          <a:p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016443" y="3023869"/>
          <a:ext cx="5879747" cy="354465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7979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7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79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73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81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79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23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9077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kern="1200" dirty="0"/>
                        <a:t>X</a:t>
                      </a:r>
                      <a:r>
                        <a:rPr kumimoji="0" lang="en-US" sz="2000" kern="1200" baseline="-25000" dirty="0"/>
                        <a:t>0</a:t>
                      </a:r>
                      <a:endParaRPr kumimoji="0" lang="en-US" sz="2000" b="1" kern="1200" dirty="0">
                        <a:solidFill>
                          <a:schemeClr val="lt1"/>
                        </a:solidFill>
                        <a:latin typeface="Calibri" pitchFamily="34" charset="0"/>
                        <a:ea typeface="+mn-ea"/>
                        <a:cs typeface="+mn-cs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kern="1200" dirty="0"/>
                        <a:t>X</a:t>
                      </a:r>
                      <a:r>
                        <a:rPr kumimoji="0" lang="en-US" sz="2000" kern="1200" baseline="-25000" dirty="0"/>
                        <a:t>1</a:t>
                      </a:r>
                      <a:endParaRPr kumimoji="0" lang="en-US" sz="2000" b="1" kern="1200" dirty="0">
                        <a:solidFill>
                          <a:schemeClr val="lt1"/>
                        </a:solidFill>
                        <a:latin typeface="Calibri" pitchFamily="34" charset="0"/>
                        <a:ea typeface="+mn-ea"/>
                        <a:cs typeface="+mn-cs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kern="1200" dirty="0"/>
                        <a:t>X</a:t>
                      </a:r>
                      <a:r>
                        <a:rPr kumimoji="0" lang="en-US" sz="2000" kern="1200" baseline="-25000" dirty="0"/>
                        <a:t>2</a:t>
                      </a:r>
                      <a:endParaRPr kumimoji="0" lang="en-US" sz="2000" b="1" kern="1200" dirty="0">
                        <a:solidFill>
                          <a:schemeClr val="lt1"/>
                        </a:solidFill>
                        <a:latin typeface="Calibri" pitchFamily="34" charset="0"/>
                        <a:ea typeface="+mn-ea"/>
                        <a:cs typeface="+mn-cs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kern="1200" dirty="0"/>
                        <a:t>X</a:t>
                      </a:r>
                      <a:r>
                        <a:rPr kumimoji="0" lang="en-US" sz="2000" kern="1200" baseline="-25000" dirty="0"/>
                        <a:t>3</a:t>
                      </a:r>
                      <a:endParaRPr kumimoji="0" lang="en-US" sz="2000" b="1" kern="1200" dirty="0">
                        <a:solidFill>
                          <a:schemeClr val="lt1"/>
                        </a:solidFill>
                        <a:latin typeface="Calibri" pitchFamily="34" charset="0"/>
                        <a:ea typeface="+mn-ea"/>
                        <a:cs typeface="+mn-cs"/>
                      </a:endParaRPr>
                    </a:p>
                  </a:txBody>
                  <a:tcPr marL="100796" marR="100796" marT="50398" marB="5039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kern="1200" dirty="0"/>
                        <a:t>Y</a:t>
                      </a:r>
                      <a:r>
                        <a:rPr kumimoji="0" lang="en-US" sz="2000" kern="1200" baseline="-25000" dirty="0"/>
                        <a:t>1</a:t>
                      </a:r>
                      <a:endParaRPr kumimoji="0" lang="en-US" sz="2000" b="1" kern="1200" baseline="-25000" dirty="0">
                        <a:solidFill>
                          <a:schemeClr val="lt1"/>
                        </a:solidFill>
                        <a:latin typeface="Calibri" pitchFamily="34" charset="0"/>
                        <a:ea typeface="+mn-ea"/>
                        <a:cs typeface="+mn-cs"/>
                      </a:endParaRPr>
                    </a:p>
                  </a:txBody>
                  <a:tcPr marL="100796" marR="100796" marT="50398" marB="503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kern="1200" dirty="0"/>
                        <a:t>Y</a:t>
                      </a:r>
                      <a:r>
                        <a:rPr kumimoji="0" lang="en-US" sz="2000" kern="1200" baseline="-25000" dirty="0"/>
                        <a:t>0</a:t>
                      </a:r>
                      <a:endParaRPr kumimoji="0" lang="en-US" sz="2000" b="1" kern="1200" dirty="0">
                        <a:solidFill>
                          <a:schemeClr val="lt1"/>
                        </a:solidFill>
                        <a:latin typeface="Calibri" pitchFamily="34" charset="0"/>
                        <a:ea typeface="+mn-ea"/>
                        <a:cs typeface="+mn-cs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Valid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775"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775"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775">
                <a:tc>
                  <a:txBody>
                    <a:bodyPr/>
                    <a:lstStyle/>
                    <a:p>
                      <a:r>
                        <a:rPr lang="en-US" sz="2000" dirty="0"/>
                        <a:t>x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775">
                <a:tc>
                  <a:txBody>
                    <a:bodyPr/>
                    <a:lstStyle/>
                    <a:p>
                      <a:r>
                        <a:rPr lang="en-US" sz="2000" dirty="0"/>
                        <a:t>x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x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0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775">
                <a:tc>
                  <a:txBody>
                    <a:bodyPr/>
                    <a:lstStyle/>
                    <a:p>
                      <a:r>
                        <a:rPr lang="en-US" sz="2000" dirty="0"/>
                        <a:t>x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x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x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</a:t>
                      </a:r>
                      <a:endParaRPr lang="en-US" sz="2000" dirty="0">
                        <a:latin typeface="Calibri" pitchFamily="34" charset="0"/>
                      </a:endParaRP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Multiplexer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04000" y="1595931"/>
                <a:ext cx="9344265" cy="5291773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US" alt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multiplexer (MUX) </a:t>
                </a:r>
                <a:r>
                  <a:rPr lang="en-US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selects one data line from two or more input lines and routes data from the selected line to the output 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Multiplexer has a set of</a:t>
                </a: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 address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lines(</a:t>
                </a:r>
                <a:r>
                  <a:rPr lang="en-US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select inputs)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select one of these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inputs.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Multiplexer also has </a:t>
                </a:r>
                <a:r>
                  <a:rPr lang="en-US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one or more enable inputs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4000" y="1595931"/>
                <a:ext cx="9344265" cy="5291773"/>
              </a:xfrm>
              <a:blipFill>
                <a:blip r:embed="rId2"/>
                <a:stretch>
                  <a:fillRect l="-2153" t="-2880" r="-15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Multiplexer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Symbol of  4-1 MUX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04416" y="2687884"/>
            <a:ext cx="3779838" cy="319186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Multiplexer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Truth table of 4 to 1 MUX</a:t>
            </a:r>
          </a:p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1512464" y="2267902"/>
          <a:ext cx="7020589" cy="4919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5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13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30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48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48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67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30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7881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04506">
                <a:tc rowSpan="2">
                  <a:txBody>
                    <a:bodyPr/>
                    <a:lstStyle/>
                    <a:p>
                      <a:endParaRPr lang="en-US" sz="2000" dirty="0"/>
                    </a:p>
                    <a:p>
                      <a:r>
                        <a:rPr lang="en-US" sz="2000" dirty="0"/>
                        <a:t>Row</a:t>
                      </a:r>
                      <a:r>
                        <a:rPr lang="en-US" sz="2000" baseline="0" dirty="0"/>
                        <a:t> no.</a:t>
                      </a:r>
                      <a:endParaRPr lang="en-US" sz="2000" dirty="0"/>
                    </a:p>
                  </a:txBody>
                  <a:tcPr marL="100796" marR="100796" marT="50398" marB="50398"/>
                </a:tc>
                <a:tc rowSpan="2">
                  <a:txBody>
                    <a:bodyPr/>
                    <a:lstStyle/>
                    <a:p>
                      <a:endParaRPr lang="en-US" sz="2000" dirty="0"/>
                    </a:p>
                    <a:p>
                      <a:r>
                        <a:rPr lang="en-US" sz="2000" dirty="0"/>
                        <a:t>E</a:t>
                      </a:r>
                    </a:p>
                  </a:txBody>
                  <a:tcPr marL="100796" marR="100796" marT="50398" marB="50398"/>
                </a:tc>
                <a:tc gridSpan="2">
                  <a:txBody>
                    <a:bodyPr/>
                    <a:lstStyle/>
                    <a:p>
                      <a:r>
                        <a:rPr lang="en-US" sz="2000" dirty="0" err="1"/>
                        <a:t>Sel</a:t>
                      </a:r>
                      <a:r>
                        <a:rPr lang="en-US" sz="2000" dirty="0"/>
                        <a:t> Line</a:t>
                      </a:r>
                    </a:p>
                  </a:txBody>
                  <a:tcPr marL="100796" marR="100796" marT="50398" marB="50398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Inputs</a:t>
                      </a:r>
                    </a:p>
                  </a:txBody>
                  <a:tcPr marL="100796" marR="100796" marT="50398" marB="50398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Output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335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0796" marR="100796" marT="50398" marB="50398">
                    <a:blipFill rotWithShape="0">
                      <a:blip r:embed="rId3"/>
                      <a:stretch>
                        <a:fillRect l="-178409" t="-74157" r="-745455" b="-632584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0796" marR="100796" marT="50398" marB="50398">
                    <a:blipFill rotWithShape="0">
                      <a:blip r:embed="rId3"/>
                      <a:stretch>
                        <a:fillRect l="-281609" t="-74157" r="-654023" b="-632584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0796" marR="100796" marT="50398" marB="50398">
                    <a:blipFill rotWithShape="0">
                      <a:blip r:embed="rId3"/>
                      <a:stretch>
                        <a:fillRect l="-332000" t="-74157" r="-469000" b="-632584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0796" marR="100796" marT="50398" marB="50398">
                    <a:blipFill rotWithShape="0">
                      <a:blip r:embed="rId3"/>
                      <a:stretch>
                        <a:fillRect l="-432000" t="-74157" r="-369000" b="-632584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0796" marR="100796" marT="50398" marB="50398">
                    <a:blipFill rotWithShape="0">
                      <a:blip r:embed="rId3"/>
                      <a:stretch>
                        <a:fillRect l="-470796" t="-74157" r="-226549" b="-632584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0796" marR="100796" marT="50398" marB="50398">
                    <a:blipFill rotWithShape="0">
                      <a:blip r:embed="rId3"/>
                      <a:stretch>
                        <a:fillRect l="-741379" t="-74157" r="-194253" b="-632584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 marL="100796" marR="100796" marT="50398" marB="50398">
                    <a:blipFill rotWithShape="0">
                      <a:blip r:embed="rId3"/>
                      <a:stretch>
                        <a:fillRect l="-443636" t="-74157" r="-2424" b="-632584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18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X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X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X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X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X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X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18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X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X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X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18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2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X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X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X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18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X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X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X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18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X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X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X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18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X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X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X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18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6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X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X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X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5726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7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X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X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X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0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318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8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X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X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X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Multiplexer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61257" y="1595931"/>
                <a:ext cx="9587009" cy="5291773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truth table functional description can be represented in a functional table.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output can be expressed as follows</a:t>
                </a:r>
              </a:p>
              <a:p>
                <a:pPr marL="503972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ac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E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1257" y="1595931"/>
                <a:ext cx="9587009" cy="5291773"/>
              </a:xfrm>
              <a:blipFill>
                <a:blip r:embed="rId2"/>
                <a:stretch>
                  <a:fillRect l="-2098" t="-28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2772410" y="2855877"/>
              <a:ext cx="3023871" cy="24526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19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5596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559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3996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08782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E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00796" marR="100796" marT="50398" marB="50398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08782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X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X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08782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00796" marR="100796" marT="50398" marB="50398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08782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00796" marR="100796" marT="50398" marB="50398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08782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00796" marR="100796" marT="50398" marB="50398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08782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00796" marR="100796" marT="50398" marB="50398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2772410" y="2855877"/>
              <a:ext cx="3023871" cy="24526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19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5596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559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3996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08782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E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0796" marR="100796" marT="50398" marB="50398">
                        <a:blipFill>
                          <a:blip r:embed="rId3"/>
                          <a:stretch>
                            <a:fillRect l="-88800" t="-4478" r="-212800" b="-5283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0796" marR="100796" marT="50398" marB="50398">
                        <a:blipFill>
                          <a:blip r:embed="rId3"/>
                          <a:stretch>
                            <a:fillRect l="-190323" t="-4478" r="-114516" b="-5283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0796" marR="100796" marT="50398" marB="50398">
                        <a:blipFill>
                          <a:blip r:embed="rId3"/>
                          <a:stretch>
                            <a:fillRect l="-260870" t="-4478" r="-2899" b="-5283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08782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X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X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08782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0796" marR="100796" marT="50398" marB="50398">
                        <a:blipFill>
                          <a:blip r:embed="rId3"/>
                          <a:stretch>
                            <a:fillRect l="-260870" t="-201471" r="-2899" b="-3220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08782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0796" marR="100796" marT="50398" marB="50398">
                        <a:blipFill>
                          <a:blip r:embed="rId3"/>
                          <a:stretch>
                            <a:fillRect l="-260870" t="-305970" r="-2899" b="-2268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08782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0796" marR="100796" marT="50398" marB="50398">
                        <a:blipFill>
                          <a:blip r:embed="rId3"/>
                          <a:stretch>
                            <a:fillRect l="-260870" t="-405970" r="-2899" b="-1268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08782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0796" marR="100796" marT="50398" marB="50398">
                        <a:blipFill>
                          <a:blip r:embed="rId3"/>
                          <a:stretch>
                            <a:fillRect l="-260870" t="-505970" r="-2899" b="-268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507" y="302737"/>
            <a:ext cx="9071610" cy="1169679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Multiplexer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4930" y="6131738"/>
            <a:ext cx="8491224" cy="65943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multiplexer are available in IC packages.</a:t>
            </a:r>
          </a:p>
          <a:p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130629" y="1649814"/>
            <a:ext cx="4474028" cy="439165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4 to one multiplexer can be implemented as shown in figure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94887" y="1518204"/>
            <a:ext cx="5555109" cy="403733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Multiplexer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763925"/>
            <a:ext cx="9233217" cy="176392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Logic Design using Multiplexers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MUX is ideal to implement functions expressed as a sum of their minterms.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Let us look on 8 to 1 MUX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3289810"/>
                  </p:ext>
                </p:extLst>
              </p:nvPr>
            </p:nvGraphicFramePr>
            <p:xfrm>
              <a:off x="2450399" y="3454673"/>
              <a:ext cx="3191863" cy="36758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19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399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2699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45293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0878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00796" marR="100796" marT="50398" marB="50398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08782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00796" marR="100796" marT="50398" marB="50398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08782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00796" marR="100796" marT="50398" marB="50398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08782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00796" marR="100796" marT="50398" marB="50398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37074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00796" marR="100796" marT="50398" marB="50398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08782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00796" marR="100796" marT="50398" marB="50398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08782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00796" marR="100796" marT="50398" marB="50398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08782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00796" marR="100796" marT="50398" marB="50398"/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08782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00796" marR="100796" marT="50398" marB="50398"/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93289810"/>
                  </p:ext>
                </p:extLst>
              </p:nvPr>
            </p:nvGraphicFramePr>
            <p:xfrm>
              <a:off x="2450399" y="3454673"/>
              <a:ext cx="3191863" cy="36758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719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3996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2699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45293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0878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0796" marR="100796" marT="50398" marB="50398">
                        <a:blipFill>
                          <a:blip r:embed="rId2"/>
                          <a:stretch>
                            <a:fillRect l="-901" t="-1493" r="-376577" b="-8268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0796" marR="100796" marT="50398" marB="50398">
                        <a:blipFill>
                          <a:blip r:embed="rId2"/>
                          <a:stretch>
                            <a:fillRect l="-81159" t="-1493" r="-202899" b="-8268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0796" marR="100796" marT="50398" marB="50398">
                        <a:blipFill>
                          <a:blip r:embed="rId2"/>
                          <a:stretch>
                            <a:fillRect l="-675676" t="-1493" r="-656757" b="-8268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0796" marR="100796" marT="50398" marB="50398">
                        <a:blipFill>
                          <a:blip r:embed="rId2"/>
                          <a:stretch>
                            <a:fillRect l="-120084" t="-1493" r="-1674" b="-8268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08782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0796" marR="100796" marT="50398" marB="50398">
                        <a:blipFill>
                          <a:blip r:embed="rId2"/>
                          <a:stretch>
                            <a:fillRect l="-120084" t="-101493" r="-1674" b="-7268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08782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0796" marR="100796" marT="50398" marB="50398">
                        <a:blipFill>
                          <a:blip r:embed="rId2"/>
                          <a:stretch>
                            <a:fillRect l="-120084" t="-198529" r="-1674" b="-6161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08782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0796" marR="100796" marT="50398" marB="50398">
                        <a:blipFill>
                          <a:blip r:embed="rId2"/>
                          <a:stretch>
                            <a:fillRect l="-120084" t="-302985" r="-1674" b="-5253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05596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0796" marR="100796" marT="50398" marB="50398">
                        <a:blipFill>
                          <a:blip r:embed="rId2"/>
                          <a:stretch>
                            <a:fillRect l="-120084" t="-409091" r="-1674" b="-4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08782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0796" marR="100796" marT="50398" marB="50398">
                        <a:blipFill>
                          <a:blip r:embed="rId2"/>
                          <a:stretch>
                            <a:fillRect l="-120084" t="-501493" r="-1674" b="-3268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08782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0796" marR="100796" marT="50398" marB="50398">
                        <a:blipFill>
                          <a:blip r:embed="rId2"/>
                          <a:stretch>
                            <a:fillRect l="-120084" t="-592647" r="-1674" b="-2220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08782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0796" marR="100796" marT="50398" marB="50398">
                        <a:blipFill>
                          <a:blip r:embed="rId2"/>
                          <a:stretch>
                            <a:fillRect l="-120084" t="-702985" r="-1674" b="-1253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408782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0796" marR="100796" marT="50398" marB="50398">
                        <a:blipFill>
                          <a:blip r:embed="rId2"/>
                          <a:stretch>
                            <a:fillRect l="-120084" t="-802985" r="-1674" b="-253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55233" y="3527847"/>
            <a:ext cx="2968895" cy="344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3653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Multiplexer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-1" y="1768679"/>
                <a:ext cx="10080625" cy="5170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</a:rPr>
                  <a:t>Logic Design using Multiplexers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/>
                  <a:t> Let enable E=1. equation for a 8 to 1 MUX with reference to figure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/>
                  <a:t>can be written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  <m:acc>
                        <m:accPr>
                          <m:chr m:val="̅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acc>
                        <m:accPr>
                          <m:chr m:val="̅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acc>
                        <m:accPr>
                          <m:chr m:val="̅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𝑎𝑏</m:t>
                      </m:r>
                      <m:acc>
                        <m:accPr>
                          <m:chr m:val="̅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𝑎𝑏𝑐</m:t>
                      </m:r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1" y="1768679"/>
                <a:ext cx="10080625" cy="5170963"/>
              </a:xfrm>
              <a:blipFill>
                <a:blip r:embed="rId2"/>
                <a:stretch>
                  <a:fillRect l="-2116" t="-29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32061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Multiplexer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Logic Design using Multiplexers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/>
                  <a:t>To implement a three variable function expressed in terms of its minterms,  simply needed to set the data input lines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419" t="-34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19107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Multiplexer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b="1" dirty="0"/>
                  <a:t>Example 1</a:t>
                </a:r>
                <a:r>
                  <a:rPr lang="en-US" dirty="0"/>
                  <a:t>: Implement the following function using 8 to 1 MUX.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(0,4,5,6)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b="1" dirty="0"/>
                  <a:t>Example 2</a:t>
                </a:r>
                <a:r>
                  <a:rPr lang="en-US" dirty="0"/>
                  <a:t>: Implement following function using 4 to 1 MUX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(0,1,2,7)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b="1" dirty="0"/>
                  <a:t>Example 3:</a:t>
                </a:r>
                <a:r>
                  <a:rPr lang="en-US" dirty="0"/>
                  <a:t> Implement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(1,4,5,7)</m:t>
                        </m:r>
                      </m:e>
                    </m:nary>
                  </m:oMath>
                </a14:m>
                <a:r>
                  <a:rPr lang="en-US" dirty="0"/>
                  <a:t> using 4 to 1 MUX using b and c as the address lines.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218" t="-3477" r="-2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95040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Demultiplexer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768680"/>
                <a:ext cx="9347400" cy="5252606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is the reverse operation of the </a:t>
                </a:r>
                <a:r>
                  <a:rPr lang="en-US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multiplexer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US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demultiplexer</a:t>
                </a:r>
                <a:r>
                  <a:rPr lang="en-US" sz="3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has an input line,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 lines and </a:t>
                </a:r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select lines.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US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demultiplexer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logic circuit that receives information through a single input line and transmits the same information over one of the possible output lines.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output line that gets the information present on the input line is decided by the bit status of the selection lines.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768680"/>
                <a:ext cx="9347400" cy="5252606"/>
              </a:xfrm>
              <a:blipFill>
                <a:blip r:embed="rId2"/>
                <a:stretch>
                  <a:fillRect l="-2479" t="-3364" r="-29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1224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Demultiplexer</a:t>
            </a:r>
            <a:r>
              <a:rPr lang="en-US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of 1 to 4 DEMUX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1176478" y="2687884"/>
              <a:ext cx="4497620" cy="36118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0178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879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779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4251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4251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42517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42517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558611">
                    <a:tc rowSpan="2"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  <a:p>
                          <a:pPr algn="ctr"/>
                          <a:r>
                            <a:rPr lang="en-US" sz="2000" dirty="0"/>
                            <a:t>Input</a:t>
                          </a:r>
                        </a:p>
                      </a:txBody>
                      <a:tcPr marL="100796" marR="100796" marT="50398" marB="50398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Select</a:t>
                          </a:r>
                        </a:p>
                      </a:txBody>
                      <a:tcPr marL="100796" marR="100796" marT="50398" marB="50398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Output</a:t>
                          </a:r>
                        </a:p>
                      </a:txBody>
                      <a:tcPr marL="100796" marR="100796" marT="50398" marB="50398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18787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a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b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marL="100796" marR="100796" marT="50398" marB="50398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58611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58611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58611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58611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1176478" y="2687884"/>
              <a:ext cx="4497620" cy="361184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0178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8797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3779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4251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4251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42517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642517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</a:tblGrid>
                  <a:tr h="558611">
                    <a:tc rowSpan="2">
                      <a:txBody>
                        <a:bodyPr/>
                        <a:lstStyle/>
                        <a:p>
                          <a:pPr algn="ctr"/>
                          <a:endParaRPr lang="en-US" sz="2000" dirty="0"/>
                        </a:p>
                        <a:p>
                          <a:pPr algn="ctr"/>
                          <a:r>
                            <a:rPr lang="en-US" sz="2000" dirty="0"/>
                            <a:t>Input</a:t>
                          </a:r>
                        </a:p>
                      </a:txBody>
                      <a:tcPr marL="100796" marR="100796" marT="50398" marB="50398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Select</a:t>
                          </a:r>
                        </a:p>
                      </a:txBody>
                      <a:tcPr marL="100796" marR="100796" marT="50398" marB="50398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Output</a:t>
                          </a:r>
                        </a:p>
                      </a:txBody>
                      <a:tcPr marL="100796" marR="100796" marT="50398" marB="50398"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18787">
                    <a:tc vMerge="1"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a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b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0796" marR="100796" marT="50398" marB="50398">
                        <a:blipFill>
                          <a:blip r:embed="rId2"/>
                          <a:stretch>
                            <a:fillRect l="-302857" t="-70370" r="-305714" b="-27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0796" marR="100796" marT="50398" marB="50398">
                        <a:blipFill>
                          <a:blip r:embed="rId2"/>
                          <a:stretch>
                            <a:fillRect l="-399057" t="-70370" r="-202830" b="-27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0796" marR="100796" marT="50398" marB="50398">
                        <a:blipFill>
                          <a:blip r:embed="rId2"/>
                          <a:stretch>
                            <a:fillRect l="-503810" t="-70370" r="-104762" b="-27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0796" marR="100796" marT="50398" marB="50398">
                        <a:blipFill>
                          <a:blip r:embed="rId2"/>
                          <a:stretch>
                            <a:fillRect l="-598113" t="-70370" r="-3774" b="-27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58611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58611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58611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58611"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0</a:t>
                          </a:r>
                        </a:p>
                      </a:txBody>
                      <a:tcPr marL="100796" marR="100796" marT="50398" marB="50398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1</a:t>
                          </a:r>
                        </a:p>
                      </a:txBody>
                      <a:tcPr marL="100796" marR="100796" marT="50398" marB="50398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880276" y="2435895"/>
            <a:ext cx="3779838" cy="344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430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Tutorials </a:t>
            </a:r>
          </a:p>
        </p:txBody>
      </p:sp>
      <p:sp>
        <p:nvSpPr>
          <p:cNvPr id="3" name="Content Placeholder 2"/>
          <p:cNvSpPr>
            <a:spLocks noGrp="1" noRot="1" noChangeAspect="1" noMove="1" noResize="1" noEditPoints="1" noAdjustHandles="1" noChangeArrowheads="1" noChangeShapeType="1" noTextEdit="1"/>
          </p:cNvSpPr>
          <p:nvPr>
            <p:ph idx="1"/>
          </p:nvPr>
        </p:nvSpPr>
        <p:spPr>
          <a:blipFill rotWithShape="0">
            <a:blip r:embed="rId2" cstate="print"/>
            <a:stretch>
              <a:fillRect l="-1481" t="-2695" r="-963" b="-1213"/>
            </a:stretch>
          </a:blipFill>
        </p:spPr>
        <p:txBody>
          <a:bodyPr/>
          <a:lstStyle/>
          <a:p>
            <a:pPr>
              <a:buNone/>
            </a:pPr>
            <a:r>
              <a:rPr lang="en-US" dirty="0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Tutorials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00" y="1768679"/>
            <a:ext cx="9072000" cy="507299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Implement a full adder circuit  with a decoder and two OR gates.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Homework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00" y="1768679"/>
            <a:ext cx="9072000" cy="499135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Study on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Look ahead Carry adder</a:t>
            </a:r>
          </a:p>
        </p:txBody>
      </p:sp>
    </p:spTree>
    <p:extLst>
      <p:ext uri="{BB962C8B-B14F-4D97-AF65-F5344CB8AC3E}">
        <p14:creationId xmlns:p14="http://schemas.microsoft.com/office/powerpoint/2010/main" val="21828237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1"/>
          <p:cNvSpPr/>
          <p:nvPr/>
        </p:nvSpPr>
        <p:spPr>
          <a:xfrm>
            <a:off x="9180000" y="6804000"/>
            <a:ext cx="719280" cy="719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D2A21E51-014F-465E-B9A3-1F35207878E3}" type="slidenum">
              <a:rPr lang="en-US" sz="1800" b="1" strike="noStrike" spc="-1">
                <a:solidFill>
                  <a:srgbClr val="FFFFFF"/>
                </a:solidFill>
                <a:latin typeface="Noto Sans Black"/>
                <a:ea typeface="DejaVu Sans"/>
              </a:rPr>
              <a:t>49</a:t>
            </a:fld>
            <a:endParaRPr lang="en-US" sz="1800" b="0" strike="noStrike" spc="-1">
              <a:latin typeface="Arial"/>
            </a:endParaRPr>
          </a:p>
        </p:txBody>
      </p:sp>
      <p:pic>
        <p:nvPicPr>
          <p:cNvPr id="93" name="Picture 4"/>
          <p:cNvPicPr/>
          <p:nvPr/>
        </p:nvPicPr>
        <p:blipFill>
          <a:blip r:embed="rId3"/>
          <a:stretch/>
        </p:blipFill>
        <p:spPr>
          <a:xfrm>
            <a:off x="1255320" y="-214560"/>
            <a:ext cx="7923960" cy="7693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p15="http://schemas.microsoft.com/office/powerpoint/2012/main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CustomShape 1"/>
          <p:cNvSpPr/>
          <p:nvPr/>
        </p:nvSpPr>
        <p:spPr>
          <a:xfrm>
            <a:off x="2700672" y="2259128"/>
            <a:ext cx="4679280" cy="2159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 anchorCtr="1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strike="noStrike" spc="-1" dirty="0">
                <a:solidFill>
                  <a:srgbClr val="2C3E50"/>
                </a:solidFill>
                <a:latin typeface="Noto Sans Black"/>
              </a:rPr>
              <a:t>Next Lecture </a:t>
            </a:r>
            <a:r>
              <a:rPr dirty="0"/>
              <a:t/>
            </a:r>
            <a:br>
              <a:rPr dirty="0"/>
            </a:br>
            <a:r>
              <a:rPr lang="en-US" sz="3600" b="1" strike="noStrike" spc="-1" dirty="0">
                <a:solidFill>
                  <a:srgbClr val="FF0000"/>
                </a:solidFill>
                <a:latin typeface="Noto Sans Black"/>
              </a:rPr>
              <a:t> </a:t>
            </a:r>
            <a:endParaRPr lang="en-US" sz="3600" b="0" strike="noStrike" spc="-1" dirty="0">
              <a:latin typeface="Arial"/>
            </a:endParaRPr>
          </a:p>
        </p:txBody>
      </p:sp>
      <p:sp>
        <p:nvSpPr>
          <p:cNvPr id="95" name="CustomShape 2"/>
          <p:cNvSpPr/>
          <p:nvPr/>
        </p:nvSpPr>
        <p:spPr>
          <a:xfrm>
            <a:off x="9180000" y="6804000"/>
            <a:ext cx="719280" cy="719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fld id="{41A5EB9B-9C93-48A1-A201-AE318847425C}" type="slidenum">
              <a:rPr lang="en-US" sz="1800" b="1" strike="noStrike" spc="-1">
                <a:solidFill>
                  <a:srgbClr val="FFFFFF"/>
                </a:solidFill>
                <a:latin typeface="Noto Sans Black"/>
                <a:ea typeface="DejaVu Sans"/>
              </a:rPr>
              <a:t>50</a:t>
            </a:fld>
            <a:endParaRPr lang="en-US" sz="1800" b="0" strike="noStrike" spc="-1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 xmlns:p15="http://schemas.microsoft.com/office/powerpoint/2012/main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../../../../usr/lib/libreoffice/share/template/common/presnt/Midnightblue.otp</Template>
  <TotalTime>6442</TotalTime>
  <Words>2373</Words>
  <Application>Microsoft Office PowerPoint</Application>
  <PresentationFormat>Custom</PresentationFormat>
  <Paragraphs>621</Paragraphs>
  <Slides>50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1" baseType="lpstr">
      <vt:lpstr>Arial</vt:lpstr>
      <vt:lpstr>Calibri</vt:lpstr>
      <vt:lpstr>Cambria Math</vt:lpstr>
      <vt:lpstr>DejaVu Sans</vt:lpstr>
      <vt:lpstr>Noto Sans Black</vt:lpstr>
      <vt:lpstr>Symbol</vt:lpstr>
      <vt:lpstr>Times New Roman</vt:lpstr>
      <vt:lpstr>Wingdings</vt:lpstr>
      <vt:lpstr>Office Theme</vt:lpstr>
      <vt:lpstr>Office Theme</vt:lpstr>
      <vt:lpstr>Equation</vt:lpstr>
      <vt:lpstr>DIGITAL ELECTRONICS </vt:lpstr>
      <vt:lpstr>Introduction</vt:lpstr>
      <vt:lpstr>Introduction</vt:lpstr>
      <vt:lpstr>Introduction</vt:lpstr>
      <vt:lpstr>Binary adder</vt:lpstr>
      <vt:lpstr>Binary adder</vt:lpstr>
      <vt:lpstr>Binary adder</vt:lpstr>
      <vt:lpstr>Binary adder</vt:lpstr>
      <vt:lpstr>Binary adder</vt:lpstr>
      <vt:lpstr>Exercise</vt:lpstr>
      <vt:lpstr>Binary adder</vt:lpstr>
      <vt:lpstr>Binary adder</vt:lpstr>
      <vt:lpstr>Binary adder</vt:lpstr>
      <vt:lpstr>Binary adder</vt:lpstr>
      <vt:lpstr>Exercise</vt:lpstr>
      <vt:lpstr>Comparators</vt:lpstr>
      <vt:lpstr>Decoders </vt:lpstr>
      <vt:lpstr>Decoders </vt:lpstr>
      <vt:lpstr>Decoders </vt:lpstr>
      <vt:lpstr>Decoders </vt:lpstr>
      <vt:lpstr>Decoders </vt:lpstr>
      <vt:lpstr>Decoders </vt:lpstr>
      <vt:lpstr>Decoders </vt:lpstr>
      <vt:lpstr>Decoders </vt:lpstr>
      <vt:lpstr>Decoders</vt:lpstr>
      <vt:lpstr>Decoders</vt:lpstr>
      <vt:lpstr>Decoders</vt:lpstr>
      <vt:lpstr>Decoders </vt:lpstr>
      <vt:lpstr>Decoders</vt:lpstr>
      <vt:lpstr>Decoders</vt:lpstr>
      <vt:lpstr>Encoders</vt:lpstr>
      <vt:lpstr>Encoders</vt:lpstr>
      <vt:lpstr>Priority Encoders</vt:lpstr>
      <vt:lpstr>Priority Encoders</vt:lpstr>
      <vt:lpstr>Multiplexer </vt:lpstr>
      <vt:lpstr>Multiplexer </vt:lpstr>
      <vt:lpstr>Multiplexer </vt:lpstr>
      <vt:lpstr>Multiplexer </vt:lpstr>
      <vt:lpstr>Multiplexer </vt:lpstr>
      <vt:lpstr>Multiplexer </vt:lpstr>
      <vt:lpstr>Multiplexer </vt:lpstr>
      <vt:lpstr>Multiplexer </vt:lpstr>
      <vt:lpstr>Multiplexer </vt:lpstr>
      <vt:lpstr>Demultiplexer </vt:lpstr>
      <vt:lpstr>Demultiplexer </vt:lpstr>
      <vt:lpstr>Tutorials </vt:lpstr>
      <vt:lpstr>Tutorials</vt:lpstr>
      <vt:lpstr>Homework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Midnightblue</dc:title>
  <dc:subject/>
  <dc:creator>CUTHBERT JOHN KARAWA</dc:creator>
  <dc:description/>
  <cp:lastModifiedBy>Cuthbert John Karawa</cp:lastModifiedBy>
  <cp:revision>702</cp:revision>
  <dcterms:created xsi:type="dcterms:W3CDTF">2022-05-01T12:14:38Z</dcterms:created>
  <dcterms:modified xsi:type="dcterms:W3CDTF">2024-01-05T06:44:49Z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4</vt:i4>
  </property>
  <property fmtid="{D5CDD505-2E9C-101B-9397-08002B2CF9AE}" pid="8" name="PresentationFormat">
    <vt:lpwstr>Custom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39</vt:i4>
  </property>
</Properties>
</file>