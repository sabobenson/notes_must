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9" r:id="rId2"/>
    <p:sldId id="285" r:id="rId3"/>
    <p:sldId id="280" r:id="rId4"/>
    <p:sldId id="284" r:id="rId5"/>
    <p:sldId id="283" r:id="rId6"/>
    <p:sldId id="282" r:id="rId7"/>
    <p:sldId id="281" r:id="rId8"/>
    <p:sldId id="286" r:id="rId9"/>
    <p:sldId id="287" r:id="rId10"/>
    <p:sldId id="288" r:id="rId11"/>
    <p:sldId id="289" r:id="rId12"/>
    <p:sldId id="290" r:id="rId13"/>
    <p:sldId id="291" r:id="rId14"/>
    <p:sldId id="301" r:id="rId15"/>
    <p:sldId id="292" r:id="rId16"/>
    <p:sldId id="293" r:id="rId17"/>
    <p:sldId id="302" r:id="rId18"/>
    <p:sldId id="294" r:id="rId19"/>
    <p:sldId id="303" r:id="rId20"/>
    <p:sldId id="296" r:id="rId21"/>
    <p:sldId id="297" r:id="rId22"/>
    <p:sldId id="30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58357-B6B4-4F32-83DB-75D412EC5BFE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6F6CB-C00C-4FC4-919E-DEA11DF01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65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8100D-3BA6-44C9-A4DC-991B71822AA5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5E866-9773-41A6-AE28-29749D133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3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31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0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3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8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8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9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16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9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28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2B89F-C098-4BD2-9A2E-D8694E790B10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754DC-5013-418A-93E7-FAF0EA5A1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7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1871" y="66884"/>
            <a:ext cx="10515600" cy="150018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ET 8304 microprocessor and </a:t>
            </a:r>
            <a:r>
              <a:rPr lang="en-US" dirty="0" smtClean="0">
                <a:solidFill>
                  <a:schemeClr val="accent1"/>
                </a:solidFill>
              </a:rPr>
              <a:t>interfacing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ubtitle 4"/>
          <p:cNvSpPr txBox="1">
            <a:spLocks/>
          </p:cNvSpPr>
          <p:nvPr/>
        </p:nvSpPr>
        <p:spPr>
          <a:xfrm>
            <a:off x="3299059" y="3908651"/>
            <a:ext cx="6874844" cy="164832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MY" altLang="ar-EG" sz="8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MBEYA UNIVERSITY OF SCIENCE AN TECHNOLOGY</a:t>
            </a:r>
          </a:p>
          <a:p>
            <a:pPr algn="ctr"/>
            <a:r>
              <a:rPr lang="en-MY" altLang="ar-EG" sz="8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OCTOBER 2022</a:t>
            </a:r>
          </a:p>
          <a:p>
            <a:pPr algn="ctr"/>
            <a:endParaRPr lang="en-MY" altLang="ar-EG" sz="8000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MY" altLang="ar-EG" sz="8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 3 &amp; 4</a:t>
            </a:r>
          </a:p>
          <a:p>
            <a:pPr algn="ctr"/>
            <a:endParaRPr lang="en-MY" altLang="ar-EG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ar-EG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SET AND EXECUTION IN 8085</a:t>
            </a:r>
            <a:endParaRPr lang="en-MY" altLang="ar-EG" sz="7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114" y="1358633"/>
            <a:ext cx="2676733" cy="1736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79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3911"/>
          </a:xfrm>
        </p:spPr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Outlines 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INSTRUCTION </a:t>
            </a:r>
            <a:r>
              <a:rPr lang="en-US" dirty="0" smtClean="0"/>
              <a:t>SET 8085</a:t>
            </a:r>
          </a:p>
          <a:p>
            <a:pPr lvl="1"/>
            <a:r>
              <a:rPr lang="en-US" dirty="0"/>
              <a:t>Classification based on </a:t>
            </a:r>
            <a:r>
              <a:rPr lang="en-US" dirty="0" smtClean="0"/>
              <a:t>functionality</a:t>
            </a:r>
          </a:p>
          <a:p>
            <a:pPr lvl="1"/>
            <a:r>
              <a:rPr lang="en-US" dirty="0"/>
              <a:t>Classification based on </a:t>
            </a:r>
            <a:r>
              <a:rPr lang="en-US" dirty="0" smtClean="0"/>
              <a:t>instruction length:</a:t>
            </a:r>
          </a:p>
          <a:p>
            <a:pPr lvl="1"/>
            <a:r>
              <a:rPr lang="en-US" dirty="0"/>
              <a:t>Classification </a:t>
            </a:r>
            <a:r>
              <a:rPr lang="en-US" dirty="0" smtClean="0"/>
              <a:t>based on operand addressing </a:t>
            </a:r>
            <a:r>
              <a:rPr lang="en-US" dirty="0"/>
              <a:t>Modes in Instructions</a:t>
            </a:r>
            <a:endParaRPr lang="en-US" dirty="0" smtClean="0"/>
          </a:p>
          <a:p>
            <a:r>
              <a:rPr lang="en-US" dirty="0"/>
              <a:t>INSTRUCTION EXECUTION AND TIMING DIAGRAM:</a:t>
            </a:r>
          </a:p>
        </p:txBody>
      </p:sp>
    </p:spTree>
    <p:extLst>
      <p:ext uri="{BB962C8B-B14F-4D97-AF65-F5344CB8AC3E}">
        <p14:creationId xmlns:p14="http://schemas.microsoft.com/office/powerpoint/2010/main" val="311205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Instruction set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 instruction  is  a  binary  pattern  designed  inside  a  microprocessor  to  perform  a  specific </a:t>
            </a:r>
            <a:r>
              <a:rPr lang="en-US" dirty="0" smtClean="0"/>
              <a:t>function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Based  on  the  design  of  the  ALU  and  decoding  unit,  the  microprocessor  manufacturer </a:t>
            </a:r>
            <a:r>
              <a:rPr lang="en-US" dirty="0" smtClean="0"/>
              <a:t>provides  </a:t>
            </a:r>
            <a:r>
              <a:rPr lang="en-US" dirty="0"/>
              <a:t>instruction  set  for  every  microprocessor.  The  instruction  set  consists  of  both </a:t>
            </a:r>
            <a:r>
              <a:rPr lang="en-US" dirty="0" smtClean="0">
                <a:solidFill>
                  <a:srgbClr val="FF0000"/>
                </a:solidFill>
              </a:rPr>
              <a:t>machine </a:t>
            </a:r>
            <a:r>
              <a:rPr lang="en-US" dirty="0">
                <a:solidFill>
                  <a:srgbClr val="FF0000"/>
                </a:solidFill>
              </a:rPr>
              <a:t>code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mnemonics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Microprocessor instructions can be classified based on </a:t>
            </a:r>
            <a:r>
              <a:rPr lang="en-US" dirty="0" smtClean="0"/>
              <a:t>the parameters </a:t>
            </a:r>
            <a:r>
              <a:rPr lang="en-US" dirty="0"/>
              <a:t>such </a:t>
            </a:r>
            <a:r>
              <a:rPr lang="en-US" dirty="0" smtClean="0"/>
              <a:t>functionality</a:t>
            </a:r>
            <a:r>
              <a:rPr lang="en-US" dirty="0"/>
              <a:t>, length and operand addressing.</a:t>
            </a:r>
          </a:p>
        </p:txBody>
      </p:sp>
    </p:spTree>
    <p:extLst>
      <p:ext uri="{BB962C8B-B14F-4D97-AF65-F5344CB8AC3E}">
        <p14:creationId xmlns:p14="http://schemas.microsoft.com/office/powerpoint/2010/main" val="314647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Classification based on functionality: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solidFill>
                  <a:schemeClr val="accent1"/>
                </a:solidFill>
              </a:rPr>
              <a:t>Data  transfer  operations</a:t>
            </a:r>
            <a:r>
              <a:rPr lang="en-US" dirty="0"/>
              <a:t>:  This  group  of  instructions  copies  data  from  source  to </a:t>
            </a:r>
            <a:r>
              <a:rPr lang="en-US" dirty="0" smtClean="0"/>
              <a:t>destination</a:t>
            </a:r>
            <a:r>
              <a:rPr lang="en-US" dirty="0"/>
              <a:t>. The content of the source is not altered</a:t>
            </a:r>
            <a:r>
              <a:rPr lang="en-US" dirty="0" smtClean="0"/>
              <a:t>.</a:t>
            </a:r>
          </a:p>
          <a:p>
            <a:pPr algn="just"/>
            <a:r>
              <a:rPr lang="en-US" dirty="0">
                <a:solidFill>
                  <a:schemeClr val="accent1"/>
                </a:solidFill>
              </a:rPr>
              <a:t>Arithmetic  operations</a:t>
            </a:r>
            <a:r>
              <a:rPr lang="en-US" dirty="0"/>
              <a:t>:  Instructions  of  this  group  perform  operations  like  addition, </a:t>
            </a:r>
            <a:r>
              <a:rPr lang="en-US" dirty="0" smtClean="0"/>
              <a:t>subtraction</a:t>
            </a:r>
            <a:r>
              <a:rPr lang="en-US" dirty="0"/>
              <a:t>, increment &amp; decrement.  One of the data used in arithmetic operation is </a:t>
            </a:r>
            <a:r>
              <a:rPr lang="en-US" dirty="0" smtClean="0"/>
              <a:t>stored </a:t>
            </a:r>
            <a:r>
              <a:rPr lang="en-US" dirty="0"/>
              <a:t>in accumulator and the result is also stored in accumulator</a:t>
            </a:r>
            <a:r>
              <a:rPr lang="en-US" dirty="0" smtClean="0"/>
              <a:t>.</a:t>
            </a:r>
          </a:p>
          <a:p>
            <a:pPr algn="just"/>
            <a:r>
              <a:rPr lang="en-US" dirty="0">
                <a:solidFill>
                  <a:schemeClr val="accent1"/>
                </a:solidFill>
              </a:rPr>
              <a:t>Logical  operations</a:t>
            </a:r>
            <a:r>
              <a:rPr lang="en-US" dirty="0"/>
              <a:t>:  Logical  operations  include  AND,  OR,  EXOR,  NOT.  The </a:t>
            </a:r>
            <a:r>
              <a:rPr lang="en-US" dirty="0" smtClean="0"/>
              <a:t>operations  </a:t>
            </a:r>
            <a:r>
              <a:rPr lang="en-US" dirty="0"/>
              <a:t>like  AND,  OR  and  EXOR  uses  two  operands,  one  is  stored  in </a:t>
            </a:r>
            <a:r>
              <a:rPr lang="en-US" dirty="0" smtClean="0"/>
              <a:t>accumulator </a:t>
            </a:r>
            <a:r>
              <a:rPr lang="en-US" dirty="0"/>
              <a:t>and other can be any register or memory location.  The result is stored </a:t>
            </a:r>
            <a:r>
              <a:rPr lang="en-US" dirty="0" smtClean="0"/>
              <a:t>in  </a:t>
            </a:r>
            <a:r>
              <a:rPr lang="en-US" dirty="0"/>
              <a:t>accumulator.  NOT  operation  requires  single  operand,  which  is  stored  in </a:t>
            </a:r>
            <a:r>
              <a:rPr lang="en-US" dirty="0" smtClean="0"/>
              <a:t>accumulator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939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Branching  operations</a:t>
            </a:r>
            <a:r>
              <a:rPr lang="en-US" dirty="0"/>
              <a:t>:  Instructions  in  this  group  can  be  used  to  transfer  program </a:t>
            </a:r>
            <a:r>
              <a:rPr lang="en-US" dirty="0" smtClean="0"/>
              <a:t>sequence  </a:t>
            </a:r>
            <a:r>
              <a:rPr lang="en-US" dirty="0"/>
              <a:t>from  one  memory  location  to  another  either  conditionally  or </a:t>
            </a:r>
            <a:r>
              <a:rPr lang="en-US" dirty="0" smtClean="0"/>
              <a:t>unconditionally</a:t>
            </a:r>
            <a:r>
              <a:rPr lang="en-US" dirty="0"/>
              <a:t>.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Machine  </a:t>
            </a:r>
            <a:r>
              <a:rPr lang="en-US" dirty="0">
                <a:solidFill>
                  <a:schemeClr val="accent1"/>
                </a:solidFill>
              </a:rPr>
              <a:t>control  operations</a:t>
            </a:r>
            <a:r>
              <a:rPr lang="en-US" dirty="0"/>
              <a:t>:  Instruction  in  this  group  control  execution  of  other </a:t>
            </a:r>
            <a:r>
              <a:rPr lang="en-US" dirty="0" smtClean="0"/>
              <a:t>instructions </a:t>
            </a:r>
            <a:r>
              <a:rPr lang="en-US" dirty="0"/>
              <a:t>and control operations like interrupt, halt etc.</a:t>
            </a:r>
          </a:p>
        </p:txBody>
      </p:sp>
    </p:spTree>
    <p:extLst>
      <p:ext uri="{BB962C8B-B14F-4D97-AF65-F5344CB8AC3E}">
        <p14:creationId xmlns:p14="http://schemas.microsoft.com/office/powerpoint/2010/main" val="230619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Classification based on </a:t>
            </a:r>
            <a:r>
              <a:rPr lang="en-US" dirty="0" smtClean="0">
                <a:solidFill>
                  <a:srgbClr val="FF0000"/>
                </a:solidFill>
              </a:rPr>
              <a:t>instruction length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One-byte instructions:  Instruction having one byte in machine code.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93" y="2605087"/>
            <a:ext cx="9982807" cy="249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3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Cont</a:t>
            </a:r>
            <a:r>
              <a:rPr lang="en-US" dirty="0" smtClean="0"/>
              <a:t>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Two-byte  instructions: Instruction having two byte in machine code.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156" y="2405062"/>
            <a:ext cx="8989394" cy="265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12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Three-byte  instructions:  Instruction  having  three  byte  in  machine  code.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19" y="2752826"/>
            <a:ext cx="9361216" cy="304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7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Classification based on </a:t>
            </a:r>
            <a:r>
              <a:rPr lang="en-US" dirty="0" smtClean="0">
                <a:solidFill>
                  <a:srgbClr val="FF0000"/>
                </a:solidFill>
              </a:rPr>
              <a:t>Addressing </a:t>
            </a:r>
            <a:r>
              <a:rPr lang="en-US" dirty="0">
                <a:solidFill>
                  <a:srgbClr val="FF0000"/>
                </a:solidFill>
              </a:rPr>
              <a:t>Modes in Instructions: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process of specifying the data to be operated on by the instruction is </a:t>
            </a:r>
            <a:r>
              <a:rPr lang="en-US" b="1" dirty="0"/>
              <a:t>called addressing</a:t>
            </a:r>
            <a:r>
              <a:rPr lang="en-US" dirty="0"/>
              <a:t>.</a:t>
            </a:r>
          </a:p>
          <a:p>
            <a:r>
              <a:rPr lang="en-US" dirty="0"/>
              <a:t>The various formats for specifying operands are called addressing modes.  The 8085 has the </a:t>
            </a:r>
            <a:r>
              <a:rPr lang="en-US" dirty="0" smtClean="0"/>
              <a:t>following </a:t>
            </a:r>
            <a:r>
              <a:rPr lang="en-US" dirty="0"/>
              <a:t>five types of addressing</a:t>
            </a:r>
            <a:r>
              <a:rPr lang="en-US" dirty="0" smtClean="0"/>
              <a:t>:</a:t>
            </a:r>
            <a:endParaRPr lang="en-US" dirty="0"/>
          </a:p>
          <a:p>
            <a:pPr marL="971550" lvl="1" indent="-514350">
              <a:buFont typeface="+mj-lt"/>
              <a:buAutoNum type="romanUcPeriod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immediate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addressing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Memory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direct addressing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Register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direct addressing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Indirect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addressing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Implicit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addressing</a:t>
            </a:r>
          </a:p>
        </p:txBody>
      </p:sp>
    </p:spTree>
    <p:extLst>
      <p:ext uri="{BB962C8B-B14F-4D97-AF65-F5344CB8AC3E}">
        <p14:creationId xmlns:p14="http://schemas.microsoft.com/office/powerpoint/2010/main" val="240391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Immediate Addressing: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 this  mode,  the  operand  given  in  the  instruction  -  a  byte  or  word  –  transfers  to  the </a:t>
            </a:r>
            <a:r>
              <a:rPr lang="en-US" dirty="0" smtClean="0"/>
              <a:t>destination </a:t>
            </a:r>
            <a:r>
              <a:rPr lang="en-US" dirty="0"/>
              <a:t>register or memory location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	Ex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MVI A</a:t>
            </a:r>
            <a:r>
              <a:rPr lang="en-US" dirty="0" smtClean="0">
                <a:solidFill>
                  <a:srgbClr val="FF0000"/>
                </a:solidFill>
              </a:rPr>
              <a:t>, 9AH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The </a:t>
            </a:r>
            <a:r>
              <a:rPr lang="en-US" dirty="0">
                <a:solidFill>
                  <a:schemeClr val="accent1"/>
                </a:solidFill>
              </a:rPr>
              <a:t>operand is a part of the instruction.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The operand is stored in the register mentioned in the instruction.</a:t>
            </a:r>
          </a:p>
        </p:txBody>
      </p:sp>
    </p:spTree>
    <p:extLst>
      <p:ext uri="{BB962C8B-B14F-4D97-AF65-F5344CB8AC3E}">
        <p14:creationId xmlns:p14="http://schemas.microsoft.com/office/powerpoint/2010/main" val="129382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Memory Direct Addressing: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direct addressing moves a byte or word between a memory location and register. </a:t>
            </a:r>
            <a:r>
              <a:rPr lang="en-US" dirty="0" smtClean="0"/>
              <a:t>The </a:t>
            </a:r>
            <a:r>
              <a:rPr lang="en-US" dirty="0"/>
              <a:t>memory location address is given in the instruction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		Ex</a:t>
            </a:r>
            <a:r>
              <a:rPr lang="en-US" dirty="0">
                <a:solidFill>
                  <a:srgbClr val="FF0000"/>
                </a:solidFill>
              </a:rPr>
              <a:t>: LDA 850FH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1"/>
                </a:solidFill>
              </a:rPr>
              <a:t>	This </a:t>
            </a:r>
            <a:r>
              <a:rPr lang="en-US" sz="2400" dirty="0">
                <a:solidFill>
                  <a:schemeClr val="accent1"/>
                </a:solidFill>
              </a:rPr>
              <a:t>instruction is used to load the content of memory address 850FH in the </a:t>
            </a:r>
            <a:r>
              <a:rPr lang="en-US" sz="2400" dirty="0" smtClean="0">
                <a:solidFill>
                  <a:schemeClr val="accent1"/>
                </a:solidFill>
              </a:rPr>
              <a:t>	accumulator</a:t>
            </a:r>
            <a:r>
              <a:rPr lang="en-US" sz="24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028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Register Direct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Register  direct  addressing  transfer  a  copy  of  a  byte  or  word  from  source  register  to </a:t>
            </a:r>
            <a:r>
              <a:rPr lang="en-US" dirty="0" smtClean="0"/>
              <a:t>destination </a:t>
            </a:r>
            <a:r>
              <a:rPr lang="en-US" dirty="0"/>
              <a:t>register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	Ex</a:t>
            </a:r>
            <a:r>
              <a:rPr lang="en-US" dirty="0">
                <a:solidFill>
                  <a:srgbClr val="FF0000"/>
                </a:solidFill>
              </a:rPr>
              <a:t>: MOV B,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chemeClr val="accent1"/>
                </a:solidFill>
              </a:rPr>
              <a:t>It </a:t>
            </a:r>
            <a:r>
              <a:rPr lang="en-US" dirty="0">
                <a:solidFill>
                  <a:schemeClr val="accent1"/>
                </a:solidFill>
              </a:rPr>
              <a:t>copies the content of register C to register B</a:t>
            </a:r>
            <a:r>
              <a:rPr lang="en-US" dirty="0" smtClean="0">
                <a:solidFill>
                  <a:schemeClr val="accent1"/>
                </a:solidFill>
              </a:rPr>
              <a:t>.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44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Indirect </a:t>
            </a:r>
            <a:r>
              <a:rPr lang="en-US" sz="44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Addressing</a:t>
            </a:r>
            <a:r>
              <a:rPr lang="en-US" sz="44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r>
              <a:rPr lang="en-US" dirty="0"/>
              <a:t>Indirect addressing transfers a byte or word between a register and a memory location.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dirty="0" smtClean="0">
                <a:solidFill>
                  <a:srgbClr val="FF0000"/>
                </a:solidFill>
              </a:rPr>
              <a:t>	Ex</a:t>
            </a:r>
            <a:r>
              <a:rPr lang="en-US" dirty="0">
                <a:solidFill>
                  <a:srgbClr val="FF0000"/>
                </a:solidFill>
              </a:rPr>
              <a:t>: MOV A, </a:t>
            </a:r>
            <a:r>
              <a:rPr lang="en-US" dirty="0" smtClean="0">
                <a:solidFill>
                  <a:srgbClr val="FF0000"/>
                </a:solidFill>
              </a:rPr>
              <a:t>M</a:t>
            </a:r>
          </a:p>
          <a:p>
            <a:pPr marL="0" indent="0">
              <a:spcBef>
                <a:spcPct val="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dirty="0" smtClean="0">
                <a:solidFill>
                  <a:schemeClr val="accent1"/>
                </a:solidFill>
              </a:rPr>
              <a:t>	Here </a:t>
            </a:r>
            <a:r>
              <a:rPr lang="en-US" dirty="0">
                <a:solidFill>
                  <a:schemeClr val="accent1"/>
                </a:solidFill>
              </a:rPr>
              <a:t>the data is in the memory location pointed to by the contents of </a:t>
            </a:r>
            <a:r>
              <a:rPr lang="en-US" dirty="0" smtClean="0">
                <a:solidFill>
                  <a:schemeClr val="accent1"/>
                </a:solidFill>
              </a:rPr>
              <a:t>	HL </a:t>
            </a:r>
            <a:r>
              <a:rPr lang="en-US" dirty="0">
                <a:solidFill>
                  <a:schemeClr val="accent1"/>
                </a:solidFill>
              </a:rPr>
              <a:t>pair. The data is </a:t>
            </a:r>
            <a:r>
              <a:rPr lang="en-US" dirty="0" smtClean="0">
                <a:solidFill>
                  <a:schemeClr val="accent1"/>
                </a:solidFill>
              </a:rPr>
              <a:t>moved </a:t>
            </a:r>
            <a:r>
              <a:rPr lang="en-US" dirty="0">
                <a:solidFill>
                  <a:schemeClr val="accent1"/>
                </a:solidFill>
              </a:rPr>
              <a:t>to the accumulator.</a:t>
            </a:r>
          </a:p>
        </p:txBody>
      </p:sp>
    </p:spTree>
    <p:extLst>
      <p:ext uri="{BB962C8B-B14F-4D97-AF65-F5344CB8AC3E}">
        <p14:creationId xmlns:p14="http://schemas.microsoft.com/office/powerpoint/2010/main" val="68681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Implicit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addressing mode the data itself specifies the data to be operated upon. 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Ex: CMA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	The instruction complements the content of the accumulator. No 	specific data or operand is mentioned in the instruction.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668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 5 group of instructions in 8085 up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transfer instructions</a:t>
            </a:r>
          </a:p>
          <a:p>
            <a:r>
              <a:rPr lang="en-US" dirty="0" smtClean="0"/>
              <a:t>Arithmetic instructions</a:t>
            </a:r>
          </a:p>
          <a:p>
            <a:r>
              <a:rPr lang="en-US" dirty="0" smtClean="0"/>
              <a:t>Logical instructions</a:t>
            </a:r>
          </a:p>
          <a:p>
            <a:r>
              <a:rPr lang="en-US" dirty="0" smtClean="0"/>
              <a:t>Branching instructions</a:t>
            </a:r>
          </a:p>
          <a:p>
            <a:r>
              <a:rPr lang="en-US" dirty="0" smtClean="0"/>
              <a:t>I/O &amp; machine control instructions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32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891" y="121690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DATA TRANSFER INSTRUCTION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469" y="1447253"/>
            <a:ext cx="5562600" cy="435133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MOV B,C       MOV B, M</a:t>
            </a:r>
          </a:p>
          <a:p>
            <a:r>
              <a:rPr lang="en-US" dirty="0" smtClean="0"/>
              <a:t>MVI B, 57       MVI M, 57</a:t>
            </a:r>
          </a:p>
          <a:p>
            <a:r>
              <a:rPr lang="en-US" dirty="0" smtClean="0"/>
              <a:t>LDA 2034      LDA XYZ</a:t>
            </a:r>
          </a:p>
          <a:p>
            <a:r>
              <a:rPr lang="en-US" dirty="0" smtClean="0"/>
              <a:t>LDAX            </a:t>
            </a:r>
            <a:r>
              <a:rPr lang="en-US" dirty="0" err="1" smtClean="0"/>
              <a:t>LDAX</a:t>
            </a:r>
            <a:r>
              <a:rPr lang="en-US" dirty="0" smtClean="0"/>
              <a:t> B</a:t>
            </a:r>
          </a:p>
          <a:p>
            <a:r>
              <a:rPr lang="en-US" dirty="0" smtClean="0"/>
              <a:t>LXI H, 2034</a:t>
            </a:r>
          </a:p>
          <a:p>
            <a:r>
              <a:rPr lang="en-US" dirty="0" smtClean="0"/>
              <a:t>LHLD 2040</a:t>
            </a:r>
          </a:p>
          <a:p>
            <a:r>
              <a:rPr lang="en-US" dirty="0" smtClean="0"/>
              <a:t>STA 4350    STA XYZ</a:t>
            </a:r>
          </a:p>
          <a:p>
            <a:r>
              <a:rPr lang="en-US" dirty="0" smtClean="0"/>
              <a:t>STAX B</a:t>
            </a:r>
          </a:p>
          <a:p>
            <a:r>
              <a:rPr lang="en-US" dirty="0" smtClean="0"/>
              <a:t>XCHG NONE (Hand L    with D and E)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12069" y="1447253"/>
            <a:ext cx="4448506" cy="2028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PUSH B </a:t>
            </a:r>
            <a:r>
              <a:rPr lang="en-US" sz="2800" dirty="0" smtClean="0"/>
              <a:t>or </a:t>
            </a:r>
            <a:r>
              <a:rPr lang="en-US" sz="2800" dirty="0"/>
              <a:t>PUSH A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POP H </a:t>
            </a:r>
            <a:r>
              <a:rPr lang="en-US" sz="2800" dirty="0" smtClean="0"/>
              <a:t>or </a:t>
            </a:r>
            <a:r>
              <a:rPr lang="en-US" sz="2800" dirty="0"/>
              <a:t>POP A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OUT 87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IN 82</a:t>
            </a:r>
          </a:p>
        </p:txBody>
      </p:sp>
    </p:spTree>
    <p:extLst>
      <p:ext uri="{BB962C8B-B14F-4D97-AF65-F5344CB8AC3E}">
        <p14:creationId xmlns:p14="http://schemas.microsoft.com/office/powerpoint/2010/main" val="170230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575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Arithmetic Instructions: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2772"/>
            <a:ext cx="10515600" cy="4884191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 smtClean="0"/>
              <a:t>ADD B   OR ADD M</a:t>
            </a:r>
          </a:p>
          <a:p>
            <a:r>
              <a:rPr lang="en-US" sz="9600" dirty="0" smtClean="0"/>
              <a:t>ADC B OR ADC M</a:t>
            </a:r>
          </a:p>
          <a:p>
            <a:r>
              <a:rPr lang="en-US" sz="9600" dirty="0" smtClean="0"/>
              <a:t>ADI 45</a:t>
            </a:r>
          </a:p>
          <a:p>
            <a:r>
              <a:rPr lang="en-US" sz="9600" dirty="0" smtClean="0"/>
              <a:t>ACI 45</a:t>
            </a:r>
          </a:p>
          <a:p>
            <a:r>
              <a:rPr lang="en-US" sz="9600" dirty="0" smtClean="0"/>
              <a:t>DAD H</a:t>
            </a:r>
          </a:p>
          <a:p>
            <a:r>
              <a:rPr lang="en-US" sz="9600" dirty="0" smtClean="0"/>
              <a:t>SUB B OR SUB M</a:t>
            </a:r>
          </a:p>
          <a:p>
            <a:r>
              <a:rPr lang="en-US" sz="9600" dirty="0" smtClean="0"/>
              <a:t>SUBB B OR SUBB M</a:t>
            </a:r>
          </a:p>
          <a:p>
            <a:r>
              <a:rPr lang="en-US" sz="9600" dirty="0" smtClean="0"/>
              <a:t>SUI 45</a:t>
            </a:r>
          </a:p>
          <a:p>
            <a:r>
              <a:rPr lang="en-US" sz="9600" dirty="0" smtClean="0"/>
              <a:t>SBI 45</a:t>
            </a:r>
          </a:p>
          <a:p>
            <a:r>
              <a:rPr lang="en-US" sz="9600" dirty="0" smtClean="0"/>
              <a:t>INCR B OR INR M</a:t>
            </a:r>
          </a:p>
          <a:p>
            <a:r>
              <a:rPr lang="en-US" sz="9600" dirty="0" smtClean="0"/>
              <a:t>INX H</a:t>
            </a:r>
          </a:p>
          <a:p>
            <a:r>
              <a:rPr lang="en-US" sz="9600" dirty="0" smtClean="0"/>
              <a:t>DCR B OR DCR M</a:t>
            </a:r>
          </a:p>
          <a:p>
            <a:r>
              <a:rPr lang="en-US" sz="9600" dirty="0" smtClean="0"/>
              <a:t>DCX H</a:t>
            </a:r>
          </a:p>
          <a:p>
            <a:r>
              <a:rPr lang="en-US" sz="9600" dirty="0" smtClean="0"/>
              <a:t>DAA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Logical instructions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357785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ANA R</a:t>
            </a:r>
          </a:p>
          <a:p>
            <a:r>
              <a:rPr lang="en-US" dirty="0" smtClean="0"/>
              <a:t>ANA M</a:t>
            </a:r>
          </a:p>
          <a:p>
            <a:r>
              <a:rPr lang="en-US" dirty="0" smtClean="0"/>
              <a:t>ANI 8BIT DATA</a:t>
            </a:r>
          </a:p>
          <a:p>
            <a:r>
              <a:rPr lang="en-US" dirty="0" smtClean="0"/>
              <a:t>ORA R</a:t>
            </a:r>
          </a:p>
          <a:p>
            <a:r>
              <a:rPr lang="en-US" dirty="0" smtClean="0"/>
              <a:t>ORA M</a:t>
            </a:r>
          </a:p>
          <a:p>
            <a:r>
              <a:rPr lang="en-US" dirty="0" smtClean="0"/>
              <a:t>ORI </a:t>
            </a:r>
            <a:r>
              <a:rPr lang="en-US" dirty="0"/>
              <a:t>8BIT </a:t>
            </a:r>
            <a:r>
              <a:rPr lang="en-US" dirty="0" smtClean="0"/>
              <a:t>DATA</a:t>
            </a:r>
          </a:p>
          <a:p>
            <a:r>
              <a:rPr lang="en-US" dirty="0" smtClean="0"/>
              <a:t>XRA R</a:t>
            </a:r>
          </a:p>
          <a:p>
            <a:r>
              <a:rPr lang="en-US" dirty="0" smtClean="0"/>
              <a:t>XRA</a:t>
            </a:r>
          </a:p>
          <a:p>
            <a:r>
              <a:rPr lang="en-US" dirty="0" smtClean="0"/>
              <a:t>XRA </a:t>
            </a:r>
            <a:r>
              <a:rPr lang="en-US" dirty="0"/>
              <a:t>8BIT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5824" y="1825625"/>
            <a:ext cx="18458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CMP R</a:t>
            </a:r>
          </a:p>
          <a:p>
            <a:r>
              <a:rPr lang="en-US" sz="2800" dirty="0"/>
              <a:t>CMP M</a:t>
            </a:r>
          </a:p>
          <a:p>
            <a:r>
              <a:rPr lang="en-US" sz="2800" dirty="0"/>
              <a:t>CPI 8BIT DATA</a:t>
            </a:r>
          </a:p>
          <a:p>
            <a:r>
              <a:rPr lang="en-US" sz="2800" dirty="0"/>
              <a:t>CMA</a:t>
            </a:r>
          </a:p>
          <a:p>
            <a:r>
              <a:rPr lang="en-US" sz="2800" dirty="0"/>
              <a:t>CMC</a:t>
            </a:r>
          </a:p>
          <a:p>
            <a:r>
              <a:rPr lang="en-US" sz="2800" dirty="0" smtClean="0"/>
              <a:t>STC</a:t>
            </a:r>
            <a:endParaRPr lang="en-US" sz="2800" dirty="0"/>
          </a:p>
          <a:p>
            <a:r>
              <a:rPr lang="en-US" sz="2800" dirty="0"/>
              <a:t>RLC</a:t>
            </a:r>
          </a:p>
          <a:p>
            <a:r>
              <a:rPr lang="en-US" sz="2800" dirty="0"/>
              <a:t>RRC</a:t>
            </a:r>
          </a:p>
        </p:txBody>
      </p:sp>
    </p:spTree>
    <p:extLst>
      <p:ext uri="{BB962C8B-B14F-4D97-AF65-F5344CB8AC3E}">
        <p14:creationId xmlns:p14="http://schemas.microsoft.com/office/powerpoint/2010/main" val="3768885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BRANCHING INSTRUCTIONS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66" y="1690688"/>
            <a:ext cx="10515600" cy="4351338"/>
          </a:xfrm>
        </p:spPr>
        <p:txBody>
          <a:bodyPr/>
          <a:lstStyle/>
          <a:p>
            <a:r>
              <a:rPr lang="en-US" dirty="0" smtClean="0"/>
              <a:t>JMP 2034</a:t>
            </a:r>
          </a:p>
          <a:p>
            <a:r>
              <a:rPr lang="en-US" dirty="0" smtClean="0"/>
              <a:t>JZ</a:t>
            </a:r>
          </a:p>
          <a:p>
            <a:r>
              <a:rPr lang="en-US" dirty="0" smtClean="0"/>
              <a:t>JC</a:t>
            </a:r>
          </a:p>
          <a:p>
            <a:r>
              <a:rPr lang="en-US" dirty="0" smtClean="0"/>
              <a:t>JP</a:t>
            </a:r>
          </a:p>
          <a:p>
            <a:r>
              <a:rPr lang="en-US" dirty="0" smtClean="0"/>
              <a:t>JPO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815" y="1662112"/>
            <a:ext cx="10095186" cy="499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4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I/O and machine control instructions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OUT 50H</a:t>
            </a:r>
          </a:p>
          <a:p>
            <a:r>
              <a:rPr lang="en-US" dirty="0" smtClean="0"/>
              <a:t>IN 80H</a:t>
            </a:r>
          </a:p>
          <a:p>
            <a:r>
              <a:rPr lang="en-US" dirty="0" smtClean="0"/>
              <a:t>NOP</a:t>
            </a:r>
          </a:p>
          <a:p>
            <a:r>
              <a:rPr lang="en-US" dirty="0" smtClean="0"/>
              <a:t>HLT</a:t>
            </a:r>
          </a:p>
          <a:p>
            <a:r>
              <a:rPr lang="en-US" dirty="0" smtClean="0"/>
              <a:t>DI</a:t>
            </a:r>
          </a:p>
          <a:p>
            <a:r>
              <a:rPr lang="en-US" dirty="0" smtClean="0"/>
              <a:t>EI</a:t>
            </a:r>
          </a:p>
          <a:p>
            <a:r>
              <a:rPr lang="en-US" dirty="0" smtClean="0"/>
              <a:t>RIM</a:t>
            </a:r>
          </a:p>
          <a:p>
            <a:r>
              <a:rPr lang="en-US" dirty="0" smtClean="0"/>
              <a:t>SIM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014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5940"/>
            <a:ext cx="10515600" cy="95917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INSTRUCTION EXECUTION AND TIMING DIAGRAM: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5118"/>
            <a:ext cx="10515600" cy="4351338"/>
          </a:xfrm>
        </p:spPr>
        <p:txBody>
          <a:bodyPr>
            <a:noAutofit/>
          </a:bodyPr>
          <a:lstStyle/>
          <a:p>
            <a:r>
              <a:rPr lang="en-US" sz="2600" dirty="0"/>
              <a:t>Each instruction in 8085 microprocessor consists of two part-  operation code (</a:t>
            </a:r>
            <a:r>
              <a:rPr lang="en-US" sz="2600" dirty="0" err="1">
                <a:solidFill>
                  <a:srgbClr val="FF0000"/>
                </a:solidFill>
              </a:rPr>
              <a:t>opcode</a:t>
            </a:r>
            <a:r>
              <a:rPr lang="en-US" sz="2600" dirty="0"/>
              <a:t>) and </a:t>
            </a:r>
            <a:r>
              <a:rPr lang="en-US" sz="2600" dirty="0" smtClean="0">
                <a:solidFill>
                  <a:srgbClr val="FF0000"/>
                </a:solidFill>
              </a:rPr>
              <a:t>operand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  <a:r>
              <a:rPr lang="en-US" sz="2600" dirty="0"/>
              <a:t>  The  </a:t>
            </a:r>
            <a:r>
              <a:rPr lang="en-US" sz="2600" dirty="0" err="1"/>
              <a:t>opcode</a:t>
            </a:r>
            <a:r>
              <a:rPr lang="en-US" sz="2600" dirty="0"/>
              <a:t>  is  a  command  such  as  ADD  and  the  operand  is  an  object  to  be </a:t>
            </a:r>
            <a:r>
              <a:rPr lang="en-US" sz="2600" dirty="0" smtClean="0"/>
              <a:t>operated </a:t>
            </a:r>
            <a:r>
              <a:rPr lang="en-US" sz="2600" dirty="0"/>
              <a:t>on, such as a byte or the content of a register</a:t>
            </a:r>
            <a:r>
              <a:rPr lang="en-US" sz="2600" dirty="0" smtClean="0"/>
              <a:t>.</a:t>
            </a:r>
            <a:endParaRPr lang="en-US" sz="2600" dirty="0"/>
          </a:p>
          <a:p>
            <a:endParaRPr lang="en-US" sz="2600" dirty="0" smtClean="0"/>
          </a:p>
          <a:p>
            <a:r>
              <a:rPr lang="en-US" sz="2600" b="1" dirty="0">
                <a:solidFill>
                  <a:schemeClr val="accent1"/>
                </a:solidFill>
              </a:rPr>
              <a:t>Instruction  Cycle:</a:t>
            </a:r>
            <a:r>
              <a:rPr lang="en-US" sz="2600" b="1" dirty="0"/>
              <a:t>  </a:t>
            </a:r>
            <a:r>
              <a:rPr lang="en-US" sz="2600" dirty="0"/>
              <a:t>The  time  taken  by  the  processor  to  complete  the  execution  of  an </a:t>
            </a:r>
            <a:r>
              <a:rPr lang="en-US" sz="2600" dirty="0" smtClean="0"/>
              <a:t>instruction</a:t>
            </a:r>
            <a:r>
              <a:rPr lang="en-US" sz="2600" dirty="0"/>
              <a:t>. An instruction cycle consists of one to six machine cycles</a:t>
            </a:r>
            <a:r>
              <a:rPr lang="en-US" sz="2600" dirty="0" smtClean="0"/>
              <a:t>.</a:t>
            </a:r>
          </a:p>
          <a:p>
            <a:endParaRPr lang="en-US" sz="2600" dirty="0" smtClean="0"/>
          </a:p>
          <a:p>
            <a:r>
              <a:rPr lang="en-US" sz="2600" b="1" dirty="0">
                <a:solidFill>
                  <a:schemeClr val="accent1"/>
                </a:solidFill>
              </a:rPr>
              <a:t>Machine Cycle: </a:t>
            </a:r>
            <a:r>
              <a:rPr lang="en-US" sz="2600" dirty="0"/>
              <a:t>The time required to complete one operation; accessing either the memory </a:t>
            </a:r>
            <a:r>
              <a:rPr lang="en-US" sz="2600" dirty="0" smtClean="0"/>
              <a:t>or </a:t>
            </a:r>
            <a:r>
              <a:rPr lang="en-US" sz="2600" dirty="0"/>
              <a:t>I/O device. A machine cycle consists of three to six T-states</a:t>
            </a:r>
            <a:r>
              <a:rPr lang="en-US" sz="2600" dirty="0" smtClean="0"/>
              <a:t>.</a:t>
            </a:r>
          </a:p>
          <a:p>
            <a:r>
              <a:rPr lang="en-US" sz="2600" b="1" dirty="0">
                <a:solidFill>
                  <a:schemeClr val="accent1"/>
                </a:solidFill>
              </a:rPr>
              <a:t>T-State:</a:t>
            </a:r>
            <a:r>
              <a:rPr lang="en-US" sz="2600" dirty="0"/>
              <a:t> Time corresponding to one clock period. It is the basic unit to calculate execution </a:t>
            </a:r>
            <a:r>
              <a:rPr lang="en-US" sz="2600" dirty="0" smtClean="0"/>
              <a:t>of </a:t>
            </a:r>
            <a:r>
              <a:rPr lang="en-US" sz="2600" dirty="0"/>
              <a:t>instructions or programs in a processor.</a:t>
            </a:r>
          </a:p>
        </p:txBody>
      </p:sp>
    </p:spTree>
    <p:extLst>
      <p:ext uri="{BB962C8B-B14F-4D97-AF65-F5344CB8AC3E}">
        <p14:creationId xmlns:p14="http://schemas.microsoft.com/office/powerpoint/2010/main" val="33323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To execute a program, 8085 performs various operations 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200" dirty="0" err="1"/>
              <a:t>Opcode</a:t>
            </a:r>
            <a:r>
              <a:rPr lang="en-US" sz="3200" dirty="0"/>
              <a:t> fetch</a:t>
            </a:r>
          </a:p>
          <a:p>
            <a:pPr lvl="1"/>
            <a:r>
              <a:rPr lang="en-US" sz="3200" dirty="0" smtClean="0"/>
              <a:t>Operand </a:t>
            </a:r>
            <a:r>
              <a:rPr lang="en-US" sz="3200" dirty="0"/>
              <a:t>fetch</a:t>
            </a:r>
          </a:p>
          <a:p>
            <a:pPr lvl="1"/>
            <a:r>
              <a:rPr lang="en-US" sz="3200" dirty="0" smtClean="0"/>
              <a:t>Memory </a:t>
            </a:r>
            <a:r>
              <a:rPr lang="en-US" sz="3200" dirty="0"/>
              <a:t>read/write</a:t>
            </a:r>
          </a:p>
          <a:p>
            <a:pPr lvl="1"/>
            <a:r>
              <a:rPr lang="en-US" sz="3200" dirty="0"/>
              <a:t>I/O </a:t>
            </a:r>
            <a:r>
              <a:rPr lang="en-US" sz="3200" dirty="0" smtClean="0"/>
              <a:t>read/write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rgbClr val="FF0000"/>
                </a:solidFill>
              </a:rPr>
              <a:t>External </a:t>
            </a:r>
            <a:r>
              <a:rPr lang="en-US" sz="3600" dirty="0">
                <a:solidFill>
                  <a:srgbClr val="FF0000"/>
                </a:solidFill>
              </a:rPr>
              <a:t>communication functions are: </a:t>
            </a:r>
          </a:p>
          <a:p>
            <a:pPr lvl="1"/>
            <a:r>
              <a:rPr lang="en-US" sz="3200" dirty="0" smtClean="0"/>
              <a:t> </a:t>
            </a:r>
            <a:r>
              <a:rPr lang="en-US" sz="3200" dirty="0"/>
              <a:t>Memory read/write</a:t>
            </a:r>
          </a:p>
          <a:p>
            <a:pPr lvl="1"/>
            <a:r>
              <a:rPr lang="en-US" sz="3200" dirty="0" smtClean="0"/>
              <a:t> I/O </a:t>
            </a:r>
            <a:r>
              <a:rPr lang="en-US" sz="3200" dirty="0"/>
              <a:t>read/write</a:t>
            </a:r>
          </a:p>
          <a:p>
            <a:pPr lvl="1"/>
            <a:r>
              <a:rPr lang="en-US" sz="3200" dirty="0" smtClean="0"/>
              <a:t>Interrupt </a:t>
            </a:r>
            <a:r>
              <a:rPr lang="en-US" sz="3200" dirty="0"/>
              <a:t>request acknowledge</a:t>
            </a:r>
            <a:endParaRPr lang="en-US" sz="3200" dirty="0" smtClean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5033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3200" dirty="0" smtClean="0">
                <a:solidFill>
                  <a:srgbClr val="FF0000"/>
                </a:solidFill>
              </a:rPr>
              <a:t>Assembly language programming for 8085up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495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9551</TotalTime>
  <Words>850</Words>
  <Application>Microsoft Office PowerPoint</Application>
  <PresentationFormat>Widescreen</PresentationFormat>
  <Paragraphs>146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Outlines </vt:lpstr>
      <vt:lpstr>Instruction set</vt:lpstr>
      <vt:lpstr>Classification based on functionality:</vt:lpstr>
      <vt:lpstr>Cont..</vt:lpstr>
      <vt:lpstr>Classification based on instruction length:</vt:lpstr>
      <vt:lpstr>Cont..</vt:lpstr>
      <vt:lpstr>Cont..</vt:lpstr>
      <vt:lpstr>Classification based on Addressing Modes in Instructions:</vt:lpstr>
      <vt:lpstr>Immediate Addressing:</vt:lpstr>
      <vt:lpstr>Memory Direct Addressing:</vt:lpstr>
      <vt:lpstr>Register Direct Addressing</vt:lpstr>
      <vt:lpstr>Implicit Addressing</vt:lpstr>
      <vt:lpstr> 5 group of instructions in 8085 up</vt:lpstr>
      <vt:lpstr>DATA TRANSFER INSTRUCTION</vt:lpstr>
      <vt:lpstr>Arithmetic Instructions:</vt:lpstr>
      <vt:lpstr>Logical instructions</vt:lpstr>
      <vt:lpstr>BRANCHING INSTRUCTIONS</vt:lpstr>
      <vt:lpstr>I/O and machine control instructions</vt:lpstr>
      <vt:lpstr>INSTRUCTION EXECUTION AND TIMING DIAGRAM:</vt:lpstr>
      <vt:lpstr>To execute a program, 8085 performs various operations as</vt:lpstr>
      <vt:lpstr>Assembly language programming for 8085up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8085 Microprocessor</dc:title>
  <dc:creator>HP</dc:creator>
  <cp:lastModifiedBy>HP</cp:lastModifiedBy>
  <cp:revision>52</cp:revision>
  <cp:lastPrinted>2022-11-10T06:09:05Z</cp:lastPrinted>
  <dcterms:created xsi:type="dcterms:W3CDTF">2022-10-30T09:59:17Z</dcterms:created>
  <dcterms:modified xsi:type="dcterms:W3CDTF">2022-12-01T07:04:30Z</dcterms:modified>
</cp:coreProperties>
</file>