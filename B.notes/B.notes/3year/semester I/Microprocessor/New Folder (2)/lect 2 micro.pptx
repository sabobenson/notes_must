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79" r:id="rId2"/>
    <p:sldId id="263" r:id="rId3"/>
    <p:sldId id="264" r:id="rId4"/>
    <p:sldId id="265" r:id="rId5"/>
    <p:sldId id="266" r:id="rId6"/>
    <p:sldId id="267" r:id="rId7"/>
    <p:sldId id="268" r:id="rId8"/>
    <p:sldId id="269" r:id="rId9"/>
    <p:sldId id="270" r:id="rId10"/>
    <p:sldId id="272" r:id="rId11"/>
    <p:sldId id="273" r:id="rId12"/>
    <p:sldId id="274" r:id="rId13"/>
    <p:sldId id="275" r:id="rId14"/>
    <p:sldId id="276" r:id="rId15"/>
    <p:sldId id="277" r:id="rId16"/>
    <p:sldId id="278" r:id="rId17"/>
    <p:sldId id="256" r:id="rId18"/>
    <p:sldId id="260" r:id="rId19"/>
    <p:sldId id="261" r:id="rId20"/>
    <p:sldId id="257" r:id="rId21"/>
    <p:sldId id="259" r:id="rId22"/>
    <p:sldId id="25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47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C58357-B6B4-4F32-83DB-75D412EC5BFE}" type="datetimeFigureOut">
              <a:rPr lang="en-US" smtClean="0"/>
              <a:t>11/13/2022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06F6CB-C00C-4FC4-919E-DEA11DF010ED}" type="slidenum">
              <a:rPr lang="en-US" smtClean="0"/>
              <a:t>‹#›</a:t>
            </a:fld>
            <a:endParaRPr lang="en-US"/>
          </a:p>
        </p:txBody>
      </p:sp>
    </p:spTree>
    <p:extLst>
      <p:ext uri="{BB962C8B-B14F-4D97-AF65-F5344CB8AC3E}">
        <p14:creationId xmlns:p14="http://schemas.microsoft.com/office/powerpoint/2010/main" val="3049065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8100D-3BA6-44C9-A4DC-991B71822AA5}" type="datetimeFigureOut">
              <a:rPr lang="en-US" smtClean="0"/>
              <a:t>11/13/2022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5E866-9773-41A6-AE28-29749D13343E}" type="slidenum">
              <a:rPr lang="en-US" smtClean="0"/>
              <a:t>‹#›</a:t>
            </a:fld>
            <a:endParaRPr lang="en-US"/>
          </a:p>
        </p:txBody>
      </p:sp>
    </p:spTree>
    <p:extLst>
      <p:ext uri="{BB962C8B-B14F-4D97-AF65-F5344CB8AC3E}">
        <p14:creationId xmlns:p14="http://schemas.microsoft.com/office/powerpoint/2010/main" val="2289830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BB2B89F-C098-4BD2-9A2E-D8694E790B10}"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2870231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B2B89F-C098-4BD2-9A2E-D8694E790B10}"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1885709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B2B89F-C098-4BD2-9A2E-D8694E790B10}"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406419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BB2B89F-C098-4BD2-9A2E-D8694E790B10}" type="datetimeFigureOut">
              <a:rPr lang="en-US" smtClean="0"/>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4153336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B2B89F-C098-4BD2-9A2E-D8694E790B10}" type="datetimeFigureOut">
              <a:rPr lang="en-US" smtClean="0"/>
              <a:t>11/13/2022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2433888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BB2B89F-C098-4BD2-9A2E-D8694E790B10}" type="datetimeFigureOut">
              <a:rPr lang="en-US" smtClean="0"/>
              <a:t>11/13/2022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160494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B2B89F-C098-4BD2-9A2E-D8694E790B10}" type="datetimeFigureOut">
              <a:rPr lang="en-US" smtClean="0"/>
              <a:t>11/13/2022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692786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B2B89F-C098-4BD2-9A2E-D8694E790B10}" type="datetimeFigureOut">
              <a:rPr lang="en-US" smtClean="0"/>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2093295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B2B89F-C098-4BD2-9A2E-D8694E790B10}" type="datetimeFigureOut">
              <a:rPr lang="en-US" smtClean="0"/>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2461816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B2B89F-C098-4BD2-9A2E-D8694E790B10}"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667196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B2B89F-C098-4BD2-9A2E-D8694E790B10}"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54DC-5013-418A-93E7-FAF0EA5A11DA}" type="slidenum">
              <a:rPr lang="en-US" smtClean="0"/>
              <a:t>‹#›</a:t>
            </a:fld>
            <a:endParaRPr lang="en-US"/>
          </a:p>
        </p:txBody>
      </p:sp>
    </p:spTree>
    <p:extLst>
      <p:ext uri="{BB962C8B-B14F-4D97-AF65-F5344CB8AC3E}">
        <p14:creationId xmlns:p14="http://schemas.microsoft.com/office/powerpoint/2010/main" val="2104028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B2B89F-C098-4BD2-9A2E-D8694E790B10}" type="datetimeFigureOut">
              <a:rPr lang="en-US" smtClean="0"/>
              <a:t>11/13/2022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754DC-5013-418A-93E7-FAF0EA5A11DA}" type="slidenum">
              <a:rPr lang="en-US" smtClean="0"/>
              <a:t>‹#›</a:t>
            </a:fld>
            <a:endParaRPr lang="en-US"/>
          </a:p>
        </p:txBody>
      </p:sp>
    </p:spTree>
    <p:extLst>
      <p:ext uri="{BB962C8B-B14F-4D97-AF65-F5344CB8AC3E}">
        <p14:creationId xmlns:p14="http://schemas.microsoft.com/office/powerpoint/2010/main" val="626473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en.wikipedia.org/wiki/8-bit" TargetMode="External"/><Relationship Id="rId2" Type="http://schemas.openxmlformats.org/officeDocument/2006/relationships/hyperlink" Target="http://en.wikipedia.org/wiki/Bit" TargetMode="External"/><Relationship Id="rId1" Type="http://schemas.openxmlformats.org/officeDocument/2006/relationships/slideLayout" Target="../slideLayouts/slideLayout2.xml"/><Relationship Id="rId4" Type="http://schemas.openxmlformats.org/officeDocument/2006/relationships/hyperlink" Target="http://en.wikipedia.org/wiki/32-b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01871" y="66884"/>
            <a:ext cx="10515600" cy="1500187"/>
          </a:xfrm>
        </p:spPr>
        <p:txBody>
          <a:bodyPr/>
          <a:lstStyle/>
          <a:p>
            <a:pPr algn="ctr"/>
            <a:r>
              <a:rPr lang="en-US" dirty="0">
                <a:solidFill>
                  <a:schemeClr val="accent1"/>
                </a:solidFill>
              </a:rPr>
              <a:t>ET 8304 microprocessor and </a:t>
            </a:r>
            <a:r>
              <a:rPr lang="en-US" dirty="0" smtClean="0">
                <a:solidFill>
                  <a:schemeClr val="accent1"/>
                </a:solidFill>
              </a:rPr>
              <a:t>interfacing</a:t>
            </a:r>
          </a:p>
          <a:p>
            <a:pPr algn="ctr"/>
            <a:endParaRPr lang="en-US" dirty="0">
              <a:solidFill>
                <a:srgbClr val="FF0000"/>
              </a:solidFill>
            </a:endParaRPr>
          </a:p>
        </p:txBody>
      </p:sp>
      <p:sp>
        <p:nvSpPr>
          <p:cNvPr id="4" name="Subtitle 4"/>
          <p:cNvSpPr txBox="1">
            <a:spLocks/>
          </p:cNvSpPr>
          <p:nvPr/>
        </p:nvSpPr>
        <p:spPr>
          <a:xfrm>
            <a:off x="3299059" y="3908651"/>
            <a:ext cx="6874844" cy="1648326"/>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MY" altLang="ar-EG" b="1" dirty="0" smtClean="0">
                <a:solidFill>
                  <a:schemeClr val="tx2"/>
                </a:solidFill>
                <a:latin typeface="Times New Roman" panose="02020603050405020304" pitchFamily="18" charset="0"/>
                <a:cs typeface="Times New Roman" panose="02020603050405020304" pitchFamily="18" charset="0"/>
              </a:rPr>
              <a:t>MBEYA UNIVERSITY OF SCIENCE AN TECHNOLOGY</a:t>
            </a:r>
          </a:p>
          <a:p>
            <a:pPr algn="ctr"/>
            <a:r>
              <a:rPr lang="en-MY" altLang="ar-EG" b="1" dirty="0" smtClean="0">
                <a:solidFill>
                  <a:schemeClr val="tx2"/>
                </a:solidFill>
                <a:latin typeface="Times New Roman" panose="02020603050405020304" pitchFamily="18" charset="0"/>
                <a:cs typeface="Times New Roman" panose="02020603050405020304" pitchFamily="18" charset="0"/>
              </a:rPr>
              <a:t>OCTOBER 2022</a:t>
            </a:r>
          </a:p>
          <a:p>
            <a:pPr algn="ctr"/>
            <a:endParaRPr lang="en-MY" altLang="ar-EG" b="1" dirty="0" smtClean="0">
              <a:solidFill>
                <a:schemeClr val="tx2"/>
              </a:solidFill>
              <a:latin typeface="Times New Roman" panose="02020603050405020304" pitchFamily="18" charset="0"/>
              <a:cs typeface="Times New Roman" panose="02020603050405020304" pitchFamily="18" charset="0"/>
            </a:endParaRPr>
          </a:p>
          <a:p>
            <a:pPr algn="ctr"/>
            <a:r>
              <a:rPr lang="en-MY" altLang="ar-EG" b="1" dirty="0" smtClean="0">
                <a:solidFill>
                  <a:schemeClr val="tx2"/>
                </a:solidFill>
                <a:latin typeface="Times New Roman" panose="02020603050405020304" pitchFamily="18" charset="0"/>
                <a:cs typeface="Times New Roman" panose="02020603050405020304" pitchFamily="18" charset="0"/>
              </a:rPr>
              <a:t>LECT 2</a:t>
            </a:r>
          </a:p>
        </p:txBody>
      </p:sp>
      <p:pic>
        <p:nvPicPr>
          <p:cNvPr id="5"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8114" y="1358633"/>
            <a:ext cx="2676733" cy="1736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7985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algn="ctr" eaLnBrk="1" hangingPunct="1"/>
            <a:r>
              <a:rPr lang="en-US" smtClean="0">
                <a:solidFill>
                  <a:srgbClr val="FF0000"/>
                </a:solidFill>
              </a:rPr>
              <a:t>INTERNAL STRUCTURE AND BASIC OPERATION OF MICROPROCESSOR</a:t>
            </a:r>
            <a:endParaRPr lang="en-MY" smtClean="0">
              <a:solidFill>
                <a:srgbClr val="FF0000"/>
              </a:solidFill>
            </a:endParaRPr>
          </a:p>
        </p:txBody>
      </p:sp>
      <p:sp>
        <p:nvSpPr>
          <p:cNvPr id="23555" name="Slide Number Placeholder 1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4DB813E-3FBF-45AC-B6D2-986C866DAC44}" type="slidenum">
              <a:rPr lang="fr-FR" altLang="ar-EG" sz="1400">
                <a:solidFill>
                  <a:srgbClr val="FFFFFF"/>
                </a:solidFill>
              </a:rPr>
              <a:pPr/>
              <a:t>2</a:t>
            </a:fld>
            <a:endParaRPr lang="fr-FR" altLang="ar-EG" sz="1400">
              <a:solidFill>
                <a:srgbClr val="FFFFFF"/>
              </a:solidFill>
            </a:endParaRPr>
          </a:p>
        </p:txBody>
      </p:sp>
      <p:grpSp>
        <p:nvGrpSpPr>
          <p:cNvPr id="23556" name="Group 4"/>
          <p:cNvGrpSpPr>
            <a:grpSpLocks/>
          </p:cNvGrpSpPr>
          <p:nvPr/>
        </p:nvGrpSpPr>
        <p:grpSpPr bwMode="auto">
          <a:xfrm>
            <a:off x="2238375" y="2428875"/>
            <a:ext cx="7391400" cy="3124200"/>
            <a:chOff x="3861" y="10984"/>
            <a:chExt cx="4707" cy="2700"/>
          </a:xfrm>
        </p:grpSpPr>
        <p:sp>
          <p:nvSpPr>
            <p:cNvPr id="23558" name="Text Box 5"/>
            <p:cNvSpPr txBox="1">
              <a:spLocks noChangeArrowheads="1"/>
            </p:cNvSpPr>
            <p:nvPr/>
          </p:nvSpPr>
          <p:spPr bwMode="auto">
            <a:xfrm>
              <a:off x="3861" y="10984"/>
              <a:ext cx="1260" cy="1440"/>
            </a:xfrm>
            <a:prstGeom prst="rect">
              <a:avLst/>
            </a:prstGeom>
            <a:solidFill>
              <a:srgbClr val="FFFFFF"/>
            </a:solidFill>
            <a:ln w="9525">
              <a:solidFill>
                <a:srgbClr val="000000"/>
              </a:solidFill>
              <a:miter lim="800000"/>
              <a:headEnd/>
              <a:tailEnd/>
            </a:ln>
          </p:spPr>
          <p:txBody>
            <a:bodyPr lIns="79608" tIns="39804" rIns="79608" bIns="39804"/>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ar-EG" sz="1200"/>
            </a:p>
            <a:p>
              <a:pPr algn="ctr" eaLnBrk="1" hangingPunct="1"/>
              <a:endParaRPr lang="en-US" altLang="ar-EG" sz="1200"/>
            </a:p>
            <a:p>
              <a:pPr algn="ctr" eaLnBrk="1" hangingPunct="1"/>
              <a:r>
                <a:rPr lang="en-US" altLang="ar-EG" sz="2400" b="1">
                  <a:solidFill>
                    <a:schemeClr val="accent2"/>
                  </a:solidFill>
                </a:rPr>
                <a:t>ALU</a:t>
              </a:r>
            </a:p>
          </p:txBody>
        </p:sp>
        <p:sp>
          <p:nvSpPr>
            <p:cNvPr id="23559" name="Text Box 6"/>
            <p:cNvSpPr txBox="1">
              <a:spLocks noChangeArrowheads="1"/>
            </p:cNvSpPr>
            <p:nvPr/>
          </p:nvSpPr>
          <p:spPr bwMode="auto">
            <a:xfrm>
              <a:off x="5121" y="10984"/>
              <a:ext cx="1260" cy="1440"/>
            </a:xfrm>
            <a:prstGeom prst="rect">
              <a:avLst/>
            </a:prstGeom>
            <a:solidFill>
              <a:srgbClr val="FFFFFF"/>
            </a:solidFill>
            <a:ln w="9525">
              <a:solidFill>
                <a:srgbClr val="000000"/>
              </a:solidFill>
              <a:miter lim="800000"/>
              <a:headEnd/>
              <a:tailEnd/>
            </a:ln>
          </p:spPr>
          <p:txBody>
            <a:bodyPr lIns="79608" tIns="39804" rIns="79608" bIns="39804"/>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ar-EG" sz="1200"/>
            </a:p>
            <a:p>
              <a:pPr algn="ctr" eaLnBrk="1" hangingPunct="1"/>
              <a:endParaRPr lang="en-US" altLang="ar-EG" sz="1200"/>
            </a:p>
            <a:p>
              <a:pPr algn="ctr" eaLnBrk="1" hangingPunct="1"/>
              <a:r>
                <a:rPr lang="en-US" altLang="ar-EG" sz="2400" b="1">
                  <a:solidFill>
                    <a:srgbClr val="7030A0"/>
                  </a:solidFill>
                </a:rPr>
                <a:t>Register Section</a:t>
              </a:r>
            </a:p>
          </p:txBody>
        </p:sp>
        <p:sp>
          <p:nvSpPr>
            <p:cNvPr id="23560" name="Text Box 7"/>
            <p:cNvSpPr txBox="1">
              <a:spLocks noChangeArrowheads="1"/>
            </p:cNvSpPr>
            <p:nvPr/>
          </p:nvSpPr>
          <p:spPr bwMode="auto">
            <a:xfrm>
              <a:off x="3861" y="12424"/>
              <a:ext cx="2520" cy="900"/>
            </a:xfrm>
            <a:prstGeom prst="rect">
              <a:avLst/>
            </a:prstGeom>
            <a:solidFill>
              <a:srgbClr val="FFFFFF"/>
            </a:solidFill>
            <a:ln w="9525">
              <a:solidFill>
                <a:srgbClr val="000000"/>
              </a:solidFill>
              <a:miter lim="800000"/>
              <a:headEnd/>
              <a:tailEnd/>
            </a:ln>
          </p:spPr>
          <p:txBody>
            <a:bodyPr lIns="79608" tIns="39804" rIns="79608" bIns="39804"/>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EG" sz="2400" b="1">
                  <a:solidFill>
                    <a:srgbClr val="00B050"/>
                  </a:solidFill>
                </a:rPr>
                <a:t>Control and timing section</a:t>
              </a:r>
            </a:p>
          </p:txBody>
        </p:sp>
        <p:sp>
          <p:nvSpPr>
            <p:cNvPr id="8" name="AutoShape 8"/>
            <p:cNvSpPr>
              <a:spLocks noChangeArrowheads="1"/>
            </p:cNvSpPr>
            <p:nvPr/>
          </p:nvSpPr>
          <p:spPr bwMode="auto">
            <a:xfrm>
              <a:off x="6408" y="10984"/>
              <a:ext cx="2133" cy="694"/>
            </a:xfrm>
            <a:prstGeom prst="rightArrow">
              <a:avLst>
                <a:gd name="adj1" fmla="val 50000"/>
                <a:gd name="adj2" fmla="val 76837"/>
              </a:avLst>
            </a:prstGeom>
            <a:solidFill>
              <a:schemeClr val="accent2">
                <a:lumMod val="20000"/>
                <a:lumOff val="80000"/>
              </a:schemeClr>
            </a:solidFill>
            <a:ln w="9525">
              <a:solidFill>
                <a:srgbClr val="000000"/>
              </a:solidFill>
              <a:miter lim="800000"/>
              <a:headEnd/>
              <a:tailEnd/>
            </a:ln>
            <a:effectLst/>
          </p:spPr>
          <p:txBody>
            <a:bodyPr lIns="79608" tIns="39804" rIns="79608" bIns="39804"/>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atin typeface="Tahoma" panose="020B0604030504040204" pitchFamily="34" charset="0"/>
              </a:endParaRPr>
            </a:p>
          </p:txBody>
        </p:sp>
        <p:sp>
          <p:nvSpPr>
            <p:cNvPr id="9" name="AutoShape 9"/>
            <p:cNvSpPr>
              <a:spLocks noChangeArrowheads="1"/>
            </p:cNvSpPr>
            <p:nvPr/>
          </p:nvSpPr>
          <p:spPr bwMode="auto">
            <a:xfrm>
              <a:off x="6408" y="11678"/>
              <a:ext cx="2160" cy="746"/>
            </a:xfrm>
            <a:prstGeom prst="leftRightArrow">
              <a:avLst>
                <a:gd name="adj1" fmla="val 50000"/>
                <a:gd name="adj2" fmla="val 57909"/>
              </a:avLst>
            </a:prstGeom>
            <a:solidFill>
              <a:schemeClr val="accent3">
                <a:lumMod val="20000"/>
                <a:lumOff val="80000"/>
              </a:schemeClr>
            </a:solidFill>
            <a:ln w="9525">
              <a:solidFill>
                <a:srgbClr val="000000"/>
              </a:solidFill>
              <a:miter lim="800000"/>
              <a:headEnd/>
              <a:tailEnd/>
            </a:ln>
            <a:effectLst/>
          </p:spPr>
          <p:txBody>
            <a:bodyPr lIns="79608" tIns="39804" rIns="79608" bIns="39804"/>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atin typeface="Tahoma" panose="020B0604030504040204" pitchFamily="34" charset="0"/>
              </a:endParaRPr>
            </a:p>
          </p:txBody>
        </p:sp>
        <p:sp>
          <p:nvSpPr>
            <p:cNvPr id="10" name="AutoShape 10"/>
            <p:cNvSpPr>
              <a:spLocks noChangeArrowheads="1"/>
            </p:cNvSpPr>
            <p:nvPr/>
          </p:nvSpPr>
          <p:spPr bwMode="auto">
            <a:xfrm>
              <a:off x="6381" y="12604"/>
              <a:ext cx="2149" cy="720"/>
            </a:xfrm>
            <a:prstGeom prst="leftRightArrow">
              <a:avLst>
                <a:gd name="adj1" fmla="val 50000"/>
                <a:gd name="adj2" fmla="val 60000"/>
              </a:avLst>
            </a:prstGeom>
            <a:solidFill>
              <a:schemeClr val="accent3">
                <a:lumMod val="20000"/>
                <a:lumOff val="80000"/>
              </a:schemeClr>
            </a:solidFill>
            <a:ln w="9525">
              <a:solidFill>
                <a:srgbClr val="000000"/>
              </a:solidFill>
              <a:miter lim="800000"/>
              <a:headEnd/>
              <a:tailEnd/>
            </a:ln>
            <a:effectLst/>
          </p:spPr>
          <p:txBody>
            <a:bodyPr lIns="79608" tIns="39804" rIns="79608" bIns="39804"/>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atin typeface="Tahoma" panose="020B0604030504040204" pitchFamily="34" charset="0"/>
              </a:endParaRPr>
            </a:p>
          </p:txBody>
        </p:sp>
        <p:sp>
          <p:nvSpPr>
            <p:cNvPr id="23564" name="Text Box 11"/>
            <p:cNvSpPr txBox="1">
              <a:spLocks noChangeArrowheads="1"/>
            </p:cNvSpPr>
            <p:nvPr/>
          </p:nvSpPr>
          <p:spPr bwMode="auto">
            <a:xfrm>
              <a:off x="6741" y="11164"/>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608" tIns="39804" rIns="79608" bIns="39804"/>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EG" sz="2400"/>
                <a:t>Address bus</a:t>
              </a:r>
            </a:p>
          </p:txBody>
        </p:sp>
        <p:sp>
          <p:nvSpPr>
            <p:cNvPr id="12" name="Text Box 12"/>
            <p:cNvSpPr txBox="1">
              <a:spLocks noChangeArrowheads="1"/>
            </p:cNvSpPr>
            <p:nvPr/>
          </p:nvSpPr>
          <p:spPr bwMode="auto">
            <a:xfrm>
              <a:off x="6741" y="11884"/>
              <a:ext cx="1260" cy="359"/>
            </a:xfrm>
            <a:prstGeom prst="rect">
              <a:avLst/>
            </a:prstGeom>
            <a:solidFill>
              <a:schemeClr val="accent3">
                <a:lumMod val="20000"/>
                <a:lumOff val="80000"/>
              </a:schemeClr>
            </a:solidFill>
            <a:ln w="9525">
              <a:noFill/>
              <a:miter lim="800000"/>
              <a:headEnd/>
              <a:tailEnd/>
            </a:ln>
            <a:effectLst/>
          </p:spPr>
          <p:txBody>
            <a:bodyPr lIns="79608" tIns="39804" rIns="79608" bIns="39804"/>
            <a:lstStyle/>
            <a:p>
              <a:pPr algn="ctr" defTabSz="896938">
                <a:defRPr/>
              </a:pPr>
              <a:r>
                <a:rPr lang="en-US" sz="2400" dirty="0">
                  <a:latin typeface="Arial" charset="0"/>
                </a:rPr>
                <a:t>Data bus</a:t>
              </a:r>
            </a:p>
          </p:txBody>
        </p:sp>
        <p:sp>
          <p:nvSpPr>
            <p:cNvPr id="23566" name="Text Box 13"/>
            <p:cNvSpPr txBox="1">
              <a:spLocks noChangeArrowheads="1"/>
            </p:cNvSpPr>
            <p:nvPr/>
          </p:nvSpPr>
          <p:spPr bwMode="auto">
            <a:xfrm>
              <a:off x="6741" y="12784"/>
              <a:ext cx="12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608" tIns="39804" rIns="79608" bIns="39804"/>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ar-EG" sz="2400"/>
                <a:t>Control bus</a:t>
              </a:r>
            </a:p>
          </p:txBody>
        </p:sp>
        <p:sp>
          <p:nvSpPr>
            <p:cNvPr id="23567" name="Text Box 14"/>
            <p:cNvSpPr txBox="1">
              <a:spLocks noChangeArrowheads="1"/>
            </p:cNvSpPr>
            <p:nvPr/>
          </p:nvSpPr>
          <p:spPr bwMode="auto">
            <a:xfrm>
              <a:off x="4041" y="13324"/>
              <a:ext cx="23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608" tIns="39804" rIns="79608" bIns="39804"/>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ar-EG"/>
            </a:p>
          </p:txBody>
        </p:sp>
      </p:grpSp>
      <p:sp>
        <p:nvSpPr>
          <p:cNvPr id="23557" name="Text Box 17"/>
          <p:cNvSpPr txBox="1">
            <a:spLocks noChangeArrowheads="1"/>
          </p:cNvSpPr>
          <p:nvPr/>
        </p:nvSpPr>
        <p:spPr bwMode="auto">
          <a:xfrm>
            <a:off x="2495551" y="5805488"/>
            <a:ext cx="6048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ar-EG" sz="2400" b="1"/>
              <a:t>Block diagram of a microprocessor</a:t>
            </a:r>
          </a:p>
        </p:txBody>
      </p:sp>
    </p:spTree>
    <p:extLst>
      <p:ext uri="{BB962C8B-B14F-4D97-AF65-F5344CB8AC3E}">
        <p14:creationId xmlns:p14="http://schemas.microsoft.com/office/powerpoint/2010/main" val="35113051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algn="ctr" eaLnBrk="1" hangingPunct="1"/>
            <a:r>
              <a:rPr lang="en-US" dirty="0" smtClean="0">
                <a:solidFill>
                  <a:srgbClr val="501BD3"/>
                </a:solidFill>
              </a:rPr>
              <a:t>ARITHMETIC AND LOGIC UNIT (ALU)</a:t>
            </a:r>
            <a:endParaRPr lang="en-MY" dirty="0" smtClean="0">
              <a:solidFill>
                <a:srgbClr val="501BD3"/>
              </a:solidFill>
            </a:endParaRPr>
          </a:p>
        </p:txBody>
      </p:sp>
      <p:sp>
        <p:nvSpPr>
          <p:cNvPr id="24579" name="Content Placeholder 2"/>
          <p:cNvSpPr>
            <a:spLocks noGrp="1"/>
          </p:cNvSpPr>
          <p:nvPr>
            <p:ph idx="1"/>
          </p:nvPr>
        </p:nvSpPr>
        <p:spPr>
          <a:xfrm>
            <a:off x="1981201" y="1412875"/>
            <a:ext cx="7643813" cy="5060950"/>
          </a:xfrm>
        </p:spPr>
        <p:txBody>
          <a:bodyPr/>
          <a:lstStyle/>
          <a:p>
            <a:pPr eaLnBrk="1" hangingPunct="1"/>
            <a:r>
              <a:rPr lang="en-MY" altLang="ar-EG" dirty="0" smtClean="0"/>
              <a:t>The component that performs the </a:t>
            </a:r>
            <a:r>
              <a:rPr lang="en-MY" altLang="ar-EG" dirty="0" smtClean="0">
                <a:solidFill>
                  <a:srgbClr val="FF0000"/>
                </a:solidFill>
              </a:rPr>
              <a:t>arithmetic</a:t>
            </a:r>
            <a:r>
              <a:rPr lang="en-MY" altLang="ar-EG" dirty="0" smtClean="0"/>
              <a:t> and </a:t>
            </a:r>
            <a:r>
              <a:rPr lang="en-MY" altLang="ar-EG" dirty="0" smtClean="0">
                <a:solidFill>
                  <a:srgbClr val="FF0000"/>
                </a:solidFill>
              </a:rPr>
              <a:t>logical operations</a:t>
            </a:r>
          </a:p>
          <a:p>
            <a:pPr eaLnBrk="1" hangingPunct="1"/>
            <a:endParaRPr lang="en-MY" altLang="ar-EG" dirty="0" smtClean="0">
              <a:solidFill>
                <a:srgbClr val="FF0000"/>
              </a:solidFill>
            </a:endParaRPr>
          </a:p>
          <a:p>
            <a:pPr eaLnBrk="1" hangingPunct="1"/>
            <a:r>
              <a:rPr lang="en-MY" altLang="ar-EG" dirty="0" smtClean="0"/>
              <a:t>the most important components in a microprocessor, and is typically the part of the processor that is designed first.</a:t>
            </a:r>
          </a:p>
          <a:p>
            <a:pPr eaLnBrk="1" hangingPunct="1"/>
            <a:endParaRPr lang="en-MY" altLang="ar-EG" dirty="0" smtClean="0"/>
          </a:p>
          <a:p>
            <a:pPr eaLnBrk="1" hangingPunct="1"/>
            <a:r>
              <a:rPr lang="en-MY" altLang="ar-EG" dirty="0" smtClean="0"/>
              <a:t>able to perform the basic logical operations (AND, OR), including the addition operation. </a:t>
            </a:r>
          </a:p>
        </p:txBody>
      </p:sp>
      <p:sp>
        <p:nvSpPr>
          <p:cNvPr id="2458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9BBD77-6862-45A0-BE4C-D02208A7F928}" type="slidenum">
              <a:rPr lang="fr-FR" altLang="ar-EG" sz="1400">
                <a:solidFill>
                  <a:srgbClr val="FFFFFF"/>
                </a:solidFill>
              </a:rPr>
              <a:pPr/>
              <a:t>3</a:t>
            </a:fld>
            <a:endParaRPr lang="fr-FR" altLang="ar-EG" sz="1400">
              <a:solidFill>
                <a:srgbClr val="FFFFFF"/>
              </a:solidFill>
            </a:endParaRPr>
          </a:p>
        </p:txBody>
      </p:sp>
    </p:spTree>
    <p:extLst>
      <p:ext uri="{BB962C8B-B14F-4D97-AF65-F5344CB8AC3E}">
        <p14:creationId xmlns:p14="http://schemas.microsoft.com/office/powerpoint/2010/main" val="5581742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algn="ctr" eaLnBrk="1" hangingPunct="1"/>
            <a:r>
              <a:rPr lang="en-US" smtClean="0">
                <a:solidFill>
                  <a:srgbClr val="501BD3"/>
                </a:solidFill>
              </a:rPr>
              <a:t>INTERNAL STRUCTURE OF ALU</a:t>
            </a:r>
            <a:endParaRPr lang="en-MY" smtClean="0">
              <a:solidFill>
                <a:srgbClr val="501BD3"/>
              </a:solidFill>
            </a:endParaRPr>
          </a:p>
        </p:txBody>
      </p:sp>
      <p:sp>
        <p:nvSpPr>
          <p:cNvPr id="25603" name="Slide Number Placeholder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FAE9B4-7E35-4622-A6BF-9F596726C52A}" type="slidenum">
              <a:rPr lang="fr-FR" altLang="ar-EG" sz="1400">
                <a:solidFill>
                  <a:srgbClr val="FFFFFF"/>
                </a:solidFill>
              </a:rPr>
              <a:pPr/>
              <a:t>4</a:t>
            </a:fld>
            <a:endParaRPr lang="fr-FR" altLang="ar-EG" sz="1400">
              <a:solidFill>
                <a:srgbClr val="FFFFFF"/>
              </a:solidFill>
            </a:endParaRPr>
          </a:p>
        </p:txBody>
      </p:sp>
      <p:pic>
        <p:nvPicPr>
          <p:cNvPr id="4098" name="Picture 2"/>
          <p:cNvPicPr>
            <a:picLocks noChangeAspect="1" noChangeArrowheads="1"/>
          </p:cNvPicPr>
          <p:nvPr/>
        </p:nvPicPr>
        <p:blipFill>
          <a:blip r:embed="rId2"/>
          <a:srcRect/>
          <a:stretch>
            <a:fillRect/>
          </a:stretch>
        </p:blipFill>
        <p:spPr bwMode="auto">
          <a:xfrm>
            <a:off x="1738282" y="1928802"/>
            <a:ext cx="3500462" cy="37104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099" name="Picture 3"/>
          <p:cNvPicPr>
            <a:picLocks noChangeAspect="1" noChangeArrowheads="1"/>
          </p:cNvPicPr>
          <p:nvPr/>
        </p:nvPicPr>
        <p:blipFill>
          <a:blip r:embed="rId3"/>
          <a:srcRect/>
          <a:stretch>
            <a:fillRect/>
          </a:stretch>
        </p:blipFill>
        <p:spPr bwMode="auto">
          <a:xfrm>
            <a:off x="5453058" y="1971690"/>
            <a:ext cx="4762500" cy="36004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5606" name="TextBox 5"/>
          <p:cNvSpPr txBox="1">
            <a:spLocks noChangeArrowheads="1"/>
          </p:cNvSpPr>
          <p:nvPr/>
        </p:nvSpPr>
        <p:spPr bwMode="auto">
          <a:xfrm>
            <a:off x="2309813" y="5786439"/>
            <a:ext cx="1492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a:solidFill>
                  <a:srgbClr val="FF0000"/>
                </a:solidFill>
              </a:rPr>
              <a:t>2 bits of ALU</a:t>
            </a:r>
            <a:endParaRPr lang="en-MY" altLang="ar-EG">
              <a:solidFill>
                <a:srgbClr val="FF0000"/>
              </a:solidFill>
            </a:endParaRPr>
          </a:p>
        </p:txBody>
      </p:sp>
      <p:sp>
        <p:nvSpPr>
          <p:cNvPr id="25607" name="TextBox 7"/>
          <p:cNvSpPr txBox="1">
            <a:spLocks noChangeArrowheads="1"/>
          </p:cNvSpPr>
          <p:nvPr/>
        </p:nvSpPr>
        <p:spPr bwMode="auto">
          <a:xfrm>
            <a:off x="7024688" y="5786439"/>
            <a:ext cx="1492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a:t>4 bits of ALU</a:t>
            </a:r>
            <a:endParaRPr lang="en-MY" altLang="ar-EG"/>
          </a:p>
        </p:txBody>
      </p:sp>
    </p:spTree>
    <p:extLst>
      <p:ext uri="{BB962C8B-B14F-4D97-AF65-F5344CB8AC3E}">
        <p14:creationId xmlns:p14="http://schemas.microsoft.com/office/powerpoint/2010/main" val="3360486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lgn="ctr" eaLnBrk="1" hangingPunct="1"/>
            <a:r>
              <a:rPr lang="en-US" dirty="0" smtClean="0">
                <a:solidFill>
                  <a:srgbClr val="501BD3"/>
                </a:solidFill>
              </a:rPr>
              <a:t>CONTROL UNIT</a:t>
            </a:r>
            <a:endParaRPr lang="en-MY" dirty="0" smtClean="0">
              <a:solidFill>
                <a:srgbClr val="501BD3"/>
              </a:solidFill>
            </a:endParaRPr>
          </a:p>
        </p:txBody>
      </p:sp>
      <p:sp>
        <p:nvSpPr>
          <p:cNvPr id="26627" name="Content Placeholder 2"/>
          <p:cNvSpPr>
            <a:spLocks noGrp="1"/>
          </p:cNvSpPr>
          <p:nvPr>
            <p:ph idx="1"/>
          </p:nvPr>
        </p:nvSpPr>
        <p:spPr/>
        <p:txBody>
          <a:bodyPr/>
          <a:lstStyle/>
          <a:p>
            <a:pPr eaLnBrk="1" hangingPunct="1"/>
            <a:r>
              <a:rPr lang="en-MY" altLang="ar-EG" dirty="0" smtClean="0"/>
              <a:t>The circuitry that </a:t>
            </a:r>
            <a:r>
              <a:rPr lang="en-MY" altLang="ar-EG" dirty="0" smtClean="0">
                <a:solidFill>
                  <a:srgbClr val="D31B35"/>
                </a:solidFill>
              </a:rPr>
              <a:t>controls the flow of information</a:t>
            </a:r>
            <a:r>
              <a:rPr lang="en-MY" altLang="ar-EG" dirty="0" smtClean="0"/>
              <a:t> through the processor, and coordinates the activities of the other units within it. </a:t>
            </a:r>
          </a:p>
          <a:p>
            <a:pPr eaLnBrk="1" hangingPunct="1"/>
            <a:endParaRPr lang="en-MY" altLang="ar-EG" dirty="0" smtClean="0"/>
          </a:p>
          <a:p>
            <a:pPr eaLnBrk="1" hangingPunct="1"/>
            <a:r>
              <a:rPr lang="en-MY" altLang="ar-EG" dirty="0" smtClean="0"/>
              <a:t>In a way, it is the </a:t>
            </a:r>
            <a:r>
              <a:rPr lang="en-MY" altLang="ar-EG" dirty="0" smtClean="0">
                <a:solidFill>
                  <a:srgbClr val="D31B35"/>
                </a:solidFill>
              </a:rPr>
              <a:t>"brain within the brain", </a:t>
            </a:r>
            <a:r>
              <a:rPr lang="en-MY" altLang="ar-EG" dirty="0" smtClean="0"/>
              <a:t>as it controls what happens inside the processor, which in turn controls the rest of the PC.</a:t>
            </a:r>
          </a:p>
          <a:p>
            <a:pPr eaLnBrk="1" hangingPunct="1"/>
            <a:endParaRPr lang="en-MY" altLang="ar-EG" dirty="0" smtClean="0"/>
          </a:p>
          <a:p>
            <a:pPr eaLnBrk="1" hangingPunct="1"/>
            <a:r>
              <a:rPr lang="en-MY" altLang="ar-EG" dirty="0" smtClean="0"/>
              <a:t>On a regular processor, the control unit performs the tasks of </a:t>
            </a:r>
            <a:r>
              <a:rPr lang="en-MY" altLang="ar-EG" dirty="0" smtClean="0">
                <a:solidFill>
                  <a:srgbClr val="00B050"/>
                </a:solidFill>
              </a:rPr>
              <a:t>fetching, decoding, managing execution </a:t>
            </a:r>
            <a:r>
              <a:rPr lang="en-MY" altLang="ar-EG" dirty="0" smtClean="0"/>
              <a:t>and then storing results.</a:t>
            </a:r>
          </a:p>
        </p:txBody>
      </p:sp>
      <p:sp>
        <p:nvSpPr>
          <p:cNvPr id="2662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589FE5-7E07-498E-8F24-88786E7202D1}" type="slidenum">
              <a:rPr lang="fr-FR" altLang="ar-EG" sz="1400">
                <a:solidFill>
                  <a:srgbClr val="FFFFFF"/>
                </a:solidFill>
              </a:rPr>
              <a:pPr/>
              <a:t>5</a:t>
            </a:fld>
            <a:endParaRPr lang="fr-FR" altLang="ar-EG" sz="1400">
              <a:solidFill>
                <a:srgbClr val="FFFFFF"/>
              </a:solidFill>
            </a:endParaRPr>
          </a:p>
        </p:txBody>
      </p:sp>
    </p:spTree>
    <p:extLst>
      <p:ext uri="{BB962C8B-B14F-4D97-AF65-F5344CB8AC3E}">
        <p14:creationId xmlns:p14="http://schemas.microsoft.com/office/powerpoint/2010/main" val="17046222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dirty="0" smtClean="0"/>
              <a:t>REGISTER SETS</a:t>
            </a:r>
            <a:endParaRPr lang="en-MY" dirty="0" smtClean="0"/>
          </a:p>
        </p:txBody>
      </p:sp>
      <p:sp>
        <p:nvSpPr>
          <p:cNvPr id="27651" name="Content Placeholder 2"/>
          <p:cNvSpPr>
            <a:spLocks noGrp="1"/>
          </p:cNvSpPr>
          <p:nvPr>
            <p:ph idx="1"/>
          </p:nvPr>
        </p:nvSpPr>
        <p:spPr>
          <a:xfrm>
            <a:off x="1992313" y="1412876"/>
            <a:ext cx="7643812" cy="4873625"/>
          </a:xfrm>
        </p:spPr>
        <p:txBody>
          <a:bodyPr>
            <a:normAutofit lnSpcReduction="10000"/>
          </a:bodyPr>
          <a:lstStyle/>
          <a:p>
            <a:pPr eaLnBrk="1" hangingPunct="1"/>
            <a:r>
              <a:rPr lang="en-MY" altLang="ar-EG" dirty="0" smtClean="0"/>
              <a:t>The register section/array consists completely of circuitry used to </a:t>
            </a:r>
            <a:r>
              <a:rPr lang="en-MY" altLang="ar-EG" b="1" dirty="0" smtClean="0"/>
              <a:t>temporarily store data or program codes until they </a:t>
            </a:r>
            <a:r>
              <a:rPr lang="en-MY" altLang="ar-EG" dirty="0" smtClean="0"/>
              <a:t>are sent to the ALU or to the control section or to memory. </a:t>
            </a:r>
          </a:p>
          <a:p>
            <a:pPr eaLnBrk="1" hangingPunct="1"/>
            <a:endParaRPr lang="en-MY" altLang="ar-EG" dirty="0" smtClean="0"/>
          </a:p>
          <a:p>
            <a:pPr eaLnBrk="1" hangingPunct="1"/>
            <a:r>
              <a:rPr lang="en-MY" altLang="ar-EG" dirty="0" smtClean="0"/>
              <a:t>The number of registers are different for any particular CPU and the more register a CPU have will result in easier programming tasks.</a:t>
            </a:r>
          </a:p>
          <a:p>
            <a:pPr eaLnBrk="1" hangingPunct="1"/>
            <a:endParaRPr lang="en-MY" altLang="ar-EG" dirty="0" smtClean="0"/>
          </a:p>
          <a:p>
            <a:pPr eaLnBrk="1" hangingPunct="1"/>
            <a:r>
              <a:rPr lang="en-US" altLang="ar-EG" dirty="0" smtClean="0"/>
              <a:t>Registers are normally measured by the number of </a:t>
            </a:r>
            <a:r>
              <a:rPr lang="en-US" altLang="ar-EG" dirty="0" smtClean="0">
                <a:hlinkClick r:id="rId2" tooltip="Bit"/>
              </a:rPr>
              <a:t>bits</a:t>
            </a:r>
            <a:r>
              <a:rPr lang="en-US" altLang="ar-EG" dirty="0" smtClean="0"/>
              <a:t> they can hold, for example, an "</a:t>
            </a:r>
            <a:r>
              <a:rPr lang="en-US" altLang="ar-EG" dirty="0" smtClean="0">
                <a:hlinkClick r:id="rId3" tooltip="8-bit"/>
              </a:rPr>
              <a:t>8-bit</a:t>
            </a:r>
            <a:r>
              <a:rPr lang="en-US" altLang="ar-EG" dirty="0" smtClean="0"/>
              <a:t> register" or a "</a:t>
            </a:r>
            <a:r>
              <a:rPr lang="en-US" altLang="ar-EG" dirty="0" smtClean="0">
                <a:hlinkClick r:id="rId4" tooltip="32-bit"/>
              </a:rPr>
              <a:t>32-bit</a:t>
            </a:r>
            <a:r>
              <a:rPr lang="en-US" altLang="ar-EG" dirty="0" smtClean="0"/>
              <a:t> register". </a:t>
            </a:r>
            <a:endParaRPr lang="en-MY" altLang="ar-EG" dirty="0" smtClean="0"/>
          </a:p>
        </p:txBody>
      </p:sp>
      <p:sp>
        <p:nvSpPr>
          <p:cNvPr id="2765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AF59D38-C453-4E5D-AFA5-F69A46D57F5E}" type="slidenum">
              <a:rPr lang="fr-FR" altLang="ar-EG" sz="1400">
                <a:solidFill>
                  <a:srgbClr val="FFFFFF"/>
                </a:solidFill>
              </a:rPr>
              <a:pPr/>
              <a:t>6</a:t>
            </a:fld>
            <a:endParaRPr lang="fr-FR" altLang="ar-EG" sz="1400">
              <a:solidFill>
                <a:srgbClr val="FFFFFF"/>
              </a:solidFill>
            </a:endParaRPr>
          </a:p>
        </p:txBody>
      </p:sp>
    </p:spTree>
    <p:extLst>
      <p:ext uri="{BB962C8B-B14F-4D97-AF65-F5344CB8AC3E}">
        <p14:creationId xmlns:p14="http://schemas.microsoft.com/office/powerpoint/2010/main" val="20558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2024063" y="-214313"/>
            <a:ext cx="7467600" cy="1143001"/>
          </a:xfrm>
        </p:spPr>
        <p:txBody>
          <a:bodyPr>
            <a:normAutofit fontScale="90000"/>
          </a:bodyPr>
          <a:lstStyle/>
          <a:p>
            <a:pPr eaLnBrk="1" hangingPunct="1"/>
            <a:r>
              <a:rPr lang="en-US" dirty="0" smtClean="0"/>
              <a:t>REGISTER IN MOTOROLA 68000 MICROPROCESSOR</a:t>
            </a:r>
            <a:endParaRPr lang="en-MY" dirty="0" smtClean="0"/>
          </a:p>
        </p:txBody>
      </p:sp>
      <p:sp>
        <p:nvSpPr>
          <p:cNvPr id="28675" name="Slide Number Placeholder 1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1FD60A-5391-49CF-A882-7EF8F732F694}" type="slidenum">
              <a:rPr lang="fr-FR" altLang="ar-EG" sz="1400">
                <a:solidFill>
                  <a:srgbClr val="FFFFFF"/>
                </a:solidFill>
              </a:rPr>
              <a:pPr/>
              <a:t>7</a:t>
            </a:fld>
            <a:endParaRPr lang="fr-FR" altLang="ar-EG" sz="1400">
              <a:solidFill>
                <a:srgbClr val="FFFFFF"/>
              </a:solidFill>
            </a:endParaRPr>
          </a:p>
        </p:txBody>
      </p:sp>
      <p:grpSp>
        <p:nvGrpSpPr>
          <p:cNvPr id="28676" name="Group 143"/>
          <p:cNvGrpSpPr>
            <a:grpSpLocks/>
          </p:cNvGrpSpPr>
          <p:nvPr/>
        </p:nvGrpSpPr>
        <p:grpSpPr bwMode="auto">
          <a:xfrm>
            <a:off x="2063750" y="981076"/>
            <a:ext cx="7575550" cy="5667375"/>
            <a:chOff x="1056" y="144"/>
            <a:chExt cx="4772" cy="3859"/>
          </a:xfrm>
        </p:grpSpPr>
        <p:sp>
          <p:nvSpPr>
            <p:cNvPr id="28677" name="Rectangle 144"/>
            <p:cNvSpPr>
              <a:spLocks noChangeArrowheads="1"/>
            </p:cNvSpPr>
            <p:nvPr/>
          </p:nvSpPr>
          <p:spPr bwMode="auto">
            <a:xfrm>
              <a:off x="3120" y="1344"/>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78" name="Rectangle 145"/>
            <p:cNvSpPr>
              <a:spLocks noChangeArrowheads="1"/>
            </p:cNvSpPr>
            <p:nvPr/>
          </p:nvSpPr>
          <p:spPr bwMode="auto">
            <a:xfrm>
              <a:off x="3120" y="1200"/>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79" name="Rectangle 146"/>
            <p:cNvSpPr>
              <a:spLocks noChangeArrowheads="1"/>
            </p:cNvSpPr>
            <p:nvPr/>
          </p:nvSpPr>
          <p:spPr bwMode="auto">
            <a:xfrm>
              <a:off x="3120" y="1056"/>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0" name="Rectangle 147"/>
            <p:cNvSpPr>
              <a:spLocks noChangeArrowheads="1"/>
            </p:cNvSpPr>
            <p:nvPr/>
          </p:nvSpPr>
          <p:spPr bwMode="auto">
            <a:xfrm>
              <a:off x="3120" y="912"/>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1" name="Rectangle 148"/>
            <p:cNvSpPr>
              <a:spLocks noChangeArrowheads="1"/>
            </p:cNvSpPr>
            <p:nvPr/>
          </p:nvSpPr>
          <p:spPr bwMode="auto">
            <a:xfrm>
              <a:off x="3120" y="768"/>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2" name="Rectangle 149"/>
            <p:cNvSpPr>
              <a:spLocks noChangeArrowheads="1"/>
            </p:cNvSpPr>
            <p:nvPr/>
          </p:nvSpPr>
          <p:spPr bwMode="auto">
            <a:xfrm>
              <a:off x="3120" y="624"/>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3" name="Rectangle 150"/>
            <p:cNvSpPr>
              <a:spLocks noChangeArrowheads="1"/>
            </p:cNvSpPr>
            <p:nvPr/>
          </p:nvSpPr>
          <p:spPr bwMode="auto">
            <a:xfrm>
              <a:off x="3120" y="480"/>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4" name="Rectangle 151"/>
            <p:cNvSpPr>
              <a:spLocks noChangeArrowheads="1"/>
            </p:cNvSpPr>
            <p:nvPr/>
          </p:nvSpPr>
          <p:spPr bwMode="auto">
            <a:xfrm>
              <a:off x="3120" y="336"/>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5" name="Rectangle 152"/>
            <p:cNvSpPr>
              <a:spLocks noChangeArrowheads="1"/>
            </p:cNvSpPr>
            <p:nvPr/>
          </p:nvSpPr>
          <p:spPr bwMode="auto">
            <a:xfrm>
              <a:off x="2448" y="1344"/>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6" name="Rectangle 153"/>
            <p:cNvSpPr>
              <a:spLocks noChangeArrowheads="1"/>
            </p:cNvSpPr>
            <p:nvPr/>
          </p:nvSpPr>
          <p:spPr bwMode="auto">
            <a:xfrm>
              <a:off x="2448" y="1200"/>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7" name="Rectangle 154"/>
            <p:cNvSpPr>
              <a:spLocks noChangeArrowheads="1"/>
            </p:cNvSpPr>
            <p:nvPr/>
          </p:nvSpPr>
          <p:spPr bwMode="auto">
            <a:xfrm>
              <a:off x="2448" y="1056"/>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8" name="Rectangle 155"/>
            <p:cNvSpPr>
              <a:spLocks noChangeArrowheads="1"/>
            </p:cNvSpPr>
            <p:nvPr/>
          </p:nvSpPr>
          <p:spPr bwMode="auto">
            <a:xfrm>
              <a:off x="2448" y="912"/>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89" name="Rectangle 156"/>
            <p:cNvSpPr>
              <a:spLocks noChangeArrowheads="1"/>
            </p:cNvSpPr>
            <p:nvPr/>
          </p:nvSpPr>
          <p:spPr bwMode="auto">
            <a:xfrm>
              <a:off x="2448" y="768"/>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0" name="Rectangle 157"/>
            <p:cNvSpPr>
              <a:spLocks noChangeArrowheads="1"/>
            </p:cNvSpPr>
            <p:nvPr/>
          </p:nvSpPr>
          <p:spPr bwMode="auto">
            <a:xfrm>
              <a:off x="2448" y="624"/>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1" name="Rectangle 158"/>
            <p:cNvSpPr>
              <a:spLocks noChangeArrowheads="1"/>
            </p:cNvSpPr>
            <p:nvPr/>
          </p:nvSpPr>
          <p:spPr bwMode="auto">
            <a:xfrm>
              <a:off x="2448" y="480"/>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2" name="Rectangle 159"/>
            <p:cNvSpPr>
              <a:spLocks noChangeArrowheads="1"/>
            </p:cNvSpPr>
            <p:nvPr/>
          </p:nvSpPr>
          <p:spPr bwMode="auto">
            <a:xfrm>
              <a:off x="2448" y="336"/>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3" name="Rectangle 160"/>
            <p:cNvSpPr>
              <a:spLocks noChangeArrowheads="1"/>
            </p:cNvSpPr>
            <p:nvPr/>
          </p:nvSpPr>
          <p:spPr bwMode="auto">
            <a:xfrm>
              <a:off x="1104" y="1344"/>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4" name="Rectangle 161"/>
            <p:cNvSpPr>
              <a:spLocks noChangeArrowheads="1"/>
            </p:cNvSpPr>
            <p:nvPr/>
          </p:nvSpPr>
          <p:spPr bwMode="auto">
            <a:xfrm>
              <a:off x="1104" y="1200"/>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5" name="Rectangle 162"/>
            <p:cNvSpPr>
              <a:spLocks noChangeArrowheads="1"/>
            </p:cNvSpPr>
            <p:nvPr/>
          </p:nvSpPr>
          <p:spPr bwMode="auto">
            <a:xfrm>
              <a:off x="1104" y="1056"/>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6" name="Rectangle 163"/>
            <p:cNvSpPr>
              <a:spLocks noChangeArrowheads="1"/>
            </p:cNvSpPr>
            <p:nvPr/>
          </p:nvSpPr>
          <p:spPr bwMode="auto">
            <a:xfrm>
              <a:off x="1104" y="912"/>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7" name="Rectangle 164"/>
            <p:cNvSpPr>
              <a:spLocks noChangeArrowheads="1"/>
            </p:cNvSpPr>
            <p:nvPr/>
          </p:nvSpPr>
          <p:spPr bwMode="auto">
            <a:xfrm>
              <a:off x="1104" y="768"/>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8" name="Rectangle 165"/>
            <p:cNvSpPr>
              <a:spLocks noChangeArrowheads="1"/>
            </p:cNvSpPr>
            <p:nvPr/>
          </p:nvSpPr>
          <p:spPr bwMode="auto">
            <a:xfrm>
              <a:off x="1104" y="624"/>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699" name="Rectangle 166"/>
            <p:cNvSpPr>
              <a:spLocks noChangeArrowheads="1"/>
            </p:cNvSpPr>
            <p:nvPr/>
          </p:nvSpPr>
          <p:spPr bwMode="auto">
            <a:xfrm>
              <a:off x="1104" y="480"/>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00" name="Rectangle 167"/>
            <p:cNvSpPr>
              <a:spLocks noChangeArrowheads="1"/>
            </p:cNvSpPr>
            <p:nvPr/>
          </p:nvSpPr>
          <p:spPr bwMode="auto">
            <a:xfrm>
              <a:off x="1104" y="336"/>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01" name="Line 168"/>
            <p:cNvSpPr>
              <a:spLocks noChangeShapeType="1"/>
            </p:cNvSpPr>
            <p:nvPr/>
          </p:nvSpPr>
          <p:spPr bwMode="auto">
            <a:xfrm>
              <a:off x="1104" y="336"/>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2" name="Line 169"/>
            <p:cNvSpPr>
              <a:spLocks noChangeShapeType="1"/>
            </p:cNvSpPr>
            <p:nvPr/>
          </p:nvSpPr>
          <p:spPr bwMode="auto">
            <a:xfrm>
              <a:off x="1104" y="1488"/>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3" name="Line 170"/>
            <p:cNvSpPr>
              <a:spLocks noChangeShapeType="1"/>
            </p:cNvSpPr>
            <p:nvPr/>
          </p:nvSpPr>
          <p:spPr bwMode="auto">
            <a:xfrm>
              <a:off x="1104" y="480"/>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4" name="Line 171"/>
            <p:cNvSpPr>
              <a:spLocks noChangeShapeType="1"/>
            </p:cNvSpPr>
            <p:nvPr/>
          </p:nvSpPr>
          <p:spPr bwMode="auto">
            <a:xfrm>
              <a:off x="1104" y="624"/>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5" name="Line 172"/>
            <p:cNvSpPr>
              <a:spLocks noChangeShapeType="1"/>
            </p:cNvSpPr>
            <p:nvPr/>
          </p:nvSpPr>
          <p:spPr bwMode="auto">
            <a:xfrm>
              <a:off x="1104" y="768"/>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6" name="Line 173"/>
            <p:cNvSpPr>
              <a:spLocks noChangeShapeType="1"/>
            </p:cNvSpPr>
            <p:nvPr/>
          </p:nvSpPr>
          <p:spPr bwMode="auto">
            <a:xfrm>
              <a:off x="1104" y="912"/>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7" name="Line 174"/>
            <p:cNvSpPr>
              <a:spLocks noChangeShapeType="1"/>
            </p:cNvSpPr>
            <p:nvPr/>
          </p:nvSpPr>
          <p:spPr bwMode="auto">
            <a:xfrm>
              <a:off x="1104" y="1056"/>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8" name="Line 175"/>
            <p:cNvSpPr>
              <a:spLocks noChangeShapeType="1"/>
            </p:cNvSpPr>
            <p:nvPr/>
          </p:nvSpPr>
          <p:spPr bwMode="auto">
            <a:xfrm>
              <a:off x="1104" y="1200"/>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176"/>
            <p:cNvSpPr>
              <a:spLocks noChangeShapeType="1"/>
            </p:cNvSpPr>
            <p:nvPr/>
          </p:nvSpPr>
          <p:spPr bwMode="auto">
            <a:xfrm>
              <a:off x="1104" y="1344"/>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177"/>
            <p:cNvSpPr>
              <a:spLocks noChangeShapeType="1"/>
            </p:cNvSpPr>
            <p:nvPr/>
          </p:nvSpPr>
          <p:spPr bwMode="auto">
            <a:xfrm>
              <a:off x="1104" y="336"/>
              <a:ext cx="0" cy="115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1" name="Line 178"/>
            <p:cNvSpPr>
              <a:spLocks noChangeShapeType="1"/>
            </p:cNvSpPr>
            <p:nvPr/>
          </p:nvSpPr>
          <p:spPr bwMode="auto">
            <a:xfrm>
              <a:off x="3864" y="336"/>
              <a:ext cx="0" cy="115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2" name="Line 179"/>
            <p:cNvSpPr>
              <a:spLocks noChangeShapeType="1"/>
            </p:cNvSpPr>
            <p:nvPr/>
          </p:nvSpPr>
          <p:spPr bwMode="auto">
            <a:xfrm>
              <a:off x="2448" y="336"/>
              <a:ext cx="0" cy="115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180"/>
            <p:cNvSpPr>
              <a:spLocks noChangeShapeType="1"/>
            </p:cNvSpPr>
            <p:nvPr/>
          </p:nvSpPr>
          <p:spPr bwMode="auto">
            <a:xfrm>
              <a:off x="3120" y="336"/>
              <a:ext cx="0" cy="115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8714" name="Rectangle 181"/>
            <p:cNvSpPr>
              <a:spLocks noChangeArrowheads="1"/>
            </p:cNvSpPr>
            <p:nvPr/>
          </p:nvSpPr>
          <p:spPr bwMode="auto">
            <a:xfrm>
              <a:off x="3120" y="2544"/>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15" name="Rectangle 182"/>
            <p:cNvSpPr>
              <a:spLocks noChangeArrowheads="1"/>
            </p:cNvSpPr>
            <p:nvPr/>
          </p:nvSpPr>
          <p:spPr bwMode="auto">
            <a:xfrm>
              <a:off x="3120" y="2400"/>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16" name="Rectangle 183"/>
            <p:cNvSpPr>
              <a:spLocks noChangeArrowheads="1"/>
            </p:cNvSpPr>
            <p:nvPr/>
          </p:nvSpPr>
          <p:spPr bwMode="auto">
            <a:xfrm>
              <a:off x="3120" y="2256"/>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17" name="Rectangle 184"/>
            <p:cNvSpPr>
              <a:spLocks noChangeArrowheads="1"/>
            </p:cNvSpPr>
            <p:nvPr/>
          </p:nvSpPr>
          <p:spPr bwMode="auto">
            <a:xfrm>
              <a:off x="3120" y="2112"/>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18" name="Rectangle 185"/>
            <p:cNvSpPr>
              <a:spLocks noChangeArrowheads="1"/>
            </p:cNvSpPr>
            <p:nvPr/>
          </p:nvSpPr>
          <p:spPr bwMode="auto">
            <a:xfrm>
              <a:off x="3120" y="1968"/>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19" name="Rectangle 186"/>
            <p:cNvSpPr>
              <a:spLocks noChangeArrowheads="1"/>
            </p:cNvSpPr>
            <p:nvPr/>
          </p:nvSpPr>
          <p:spPr bwMode="auto">
            <a:xfrm>
              <a:off x="3120" y="1824"/>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0" name="Rectangle 187"/>
            <p:cNvSpPr>
              <a:spLocks noChangeArrowheads="1"/>
            </p:cNvSpPr>
            <p:nvPr/>
          </p:nvSpPr>
          <p:spPr bwMode="auto">
            <a:xfrm>
              <a:off x="3120" y="1680"/>
              <a:ext cx="7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1" name="Rectangle 188"/>
            <p:cNvSpPr>
              <a:spLocks noChangeArrowheads="1"/>
            </p:cNvSpPr>
            <p:nvPr/>
          </p:nvSpPr>
          <p:spPr bwMode="auto">
            <a:xfrm>
              <a:off x="2448" y="2544"/>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2" name="Rectangle 189"/>
            <p:cNvSpPr>
              <a:spLocks noChangeArrowheads="1"/>
            </p:cNvSpPr>
            <p:nvPr/>
          </p:nvSpPr>
          <p:spPr bwMode="auto">
            <a:xfrm>
              <a:off x="2448" y="2400"/>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3" name="Rectangle 190"/>
            <p:cNvSpPr>
              <a:spLocks noChangeArrowheads="1"/>
            </p:cNvSpPr>
            <p:nvPr/>
          </p:nvSpPr>
          <p:spPr bwMode="auto">
            <a:xfrm>
              <a:off x="2448" y="2256"/>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4" name="Rectangle 191"/>
            <p:cNvSpPr>
              <a:spLocks noChangeArrowheads="1"/>
            </p:cNvSpPr>
            <p:nvPr/>
          </p:nvSpPr>
          <p:spPr bwMode="auto">
            <a:xfrm>
              <a:off x="2448" y="2112"/>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5" name="Rectangle 192"/>
            <p:cNvSpPr>
              <a:spLocks noChangeArrowheads="1"/>
            </p:cNvSpPr>
            <p:nvPr/>
          </p:nvSpPr>
          <p:spPr bwMode="auto">
            <a:xfrm>
              <a:off x="2448" y="1968"/>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6" name="Rectangle 193"/>
            <p:cNvSpPr>
              <a:spLocks noChangeArrowheads="1"/>
            </p:cNvSpPr>
            <p:nvPr/>
          </p:nvSpPr>
          <p:spPr bwMode="auto">
            <a:xfrm>
              <a:off x="2448" y="1824"/>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7" name="Rectangle 194"/>
            <p:cNvSpPr>
              <a:spLocks noChangeArrowheads="1"/>
            </p:cNvSpPr>
            <p:nvPr/>
          </p:nvSpPr>
          <p:spPr bwMode="auto">
            <a:xfrm>
              <a:off x="2448" y="1680"/>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8" name="Rectangle 195"/>
            <p:cNvSpPr>
              <a:spLocks noChangeArrowheads="1"/>
            </p:cNvSpPr>
            <p:nvPr/>
          </p:nvSpPr>
          <p:spPr bwMode="auto">
            <a:xfrm>
              <a:off x="1104" y="2544"/>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29" name="Rectangle 196"/>
            <p:cNvSpPr>
              <a:spLocks noChangeArrowheads="1"/>
            </p:cNvSpPr>
            <p:nvPr/>
          </p:nvSpPr>
          <p:spPr bwMode="auto">
            <a:xfrm>
              <a:off x="1104" y="2400"/>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30" name="Rectangle 197"/>
            <p:cNvSpPr>
              <a:spLocks noChangeArrowheads="1"/>
            </p:cNvSpPr>
            <p:nvPr/>
          </p:nvSpPr>
          <p:spPr bwMode="auto">
            <a:xfrm>
              <a:off x="1104" y="2256"/>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31" name="Rectangle 198"/>
            <p:cNvSpPr>
              <a:spLocks noChangeArrowheads="1"/>
            </p:cNvSpPr>
            <p:nvPr/>
          </p:nvSpPr>
          <p:spPr bwMode="auto">
            <a:xfrm>
              <a:off x="1104" y="2112"/>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32" name="Rectangle 199"/>
            <p:cNvSpPr>
              <a:spLocks noChangeArrowheads="1"/>
            </p:cNvSpPr>
            <p:nvPr/>
          </p:nvSpPr>
          <p:spPr bwMode="auto">
            <a:xfrm>
              <a:off x="1104" y="1968"/>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33" name="Rectangle 200"/>
            <p:cNvSpPr>
              <a:spLocks noChangeArrowheads="1"/>
            </p:cNvSpPr>
            <p:nvPr/>
          </p:nvSpPr>
          <p:spPr bwMode="auto">
            <a:xfrm>
              <a:off x="1104" y="1824"/>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34" name="Rectangle 201"/>
            <p:cNvSpPr>
              <a:spLocks noChangeArrowheads="1"/>
            </p:cNvSpPr>
            <p:nvPr/>
          </p:nvSpPr>
          <p:spPr bwMode="auto">
            <a:xfrm>
              <a:off x="1104" y="1680"/>
              <a:ext cx="13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35" name="Line 202"/>
            <p:cNvSpPr>
              <a:spLocks noChangeShapeType="1"/>
            </p:cNvSpPr>
            <p:nvPr/>
          </p:nvSpPr>
          <p:spPr bwMode="auto">
            <a:xfrm>
              <a:off x="1104" y="1680"/>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6" name="Line 203"/>
            <p:cNvSpPr>
              <a:spLocks noChangeShapeType="1"/>
            </p:cNvSpPr>
            <p:nvPr/>
          </p:nvSpPr>
          <p:spPr bwMode="auto">
            <a:xfrm>
              <a:off x="1104" y="2688"/>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7" name="Line 204"/>
            <p:cNvSpPr>
              <a:spLocks noChangeShapeType="1"/>
            </p:cNvSpPr>
            <p:nvPr/>
          </p:nvSpPr>
          <p:spPr bwMode="auto">
            <a:xfrm>
              <a:off x="1104" y="1824"/>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8" name="Line 205"/>
            <p:cNvSpPr>
              <a:spLocks noChangeShapeType="1"/>
            </p:cNvSpPr>
            <p:nvPr/>
          </p:nvSpPr>
          <p:spPr bwMode="auto">
            <a:xfrm>
              <a:off x="1104" y="1968"/>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9" name="Line 206"/>
            <p:cNvSpPr>
              <a:spLocks noChangeShapeType="1"/>
            </p:cNvSpPr>
            <p:nvPr/>
          </p:nvSpPr>
          <p:spPr bwMode="auto">
            <a:xfrm>
              <a:off x="1104" y="2112"/>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0" name="Line 207"/>
            <p:cNvSpPr>
              <a:spLocks noChangeShapeType="1"/>
            </p:cNvSpPr>
            <p:nvPr/>
          </p:nvSpPr>
          <p:spPr bwMode="auto">
            <a:xfrm>
              <a:off x="1104" y="2256"/>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1" name="Line 208"/>
            <p:cNvSpPr>
              <a:spLocks noChangeShapeType="1"/>
            </p:cNvSpPr>
            <p:nvPr/>
          </p:nvSpPr>
          <p:spPr bwMode="auto">
            <a:xfrm>
              <a:off x="1104" y="2400"/>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2" name="Line 209"/>
            <p:cNvSpPr>
              <a:spLocks noChangeShapeType="1"/>
            </p:cNvSpPr>
            <p:nvPr/>
          </p:nvSpPr>
          <p:spPr bwMode="auto">
            <a:xfrm>
              <a:off x="1104" y="2544"/>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3" name="Line 210"/>
            <p:cNvSpPr>
              <a:spLocks noChangeShapeType="1"/>
            </p:cNvSpPr>
            <p:nvPr/>
          </p:nvSpPr>
          <p:spPr bwMode="auto">
            <a:xfrm>
              <a:off x="1104" y="1680"/>
              <a:ext cx="0" cy="100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4" name="Line 211"/>
            <p:cNvSpPr>
              <a:spLocks noChangeShapeType="1"/>
            </p:cNvSpPr>
            <p:nvPr/>
          </p:nvSpPr>
          <p:spPr bwMode="auto">
            <a:xfrm>
              <a:off x="3864" y="1680"/>
              <a:ext cx="0" cy="100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5" name="Line 212"/>
            <p:cNvSpPr>
              <a:spLocks noChangeShapeType="1"/>
            </p:cNvSpPr>
            <p:nvPr/>
          </p:nvSpPr>
          <p:spPr bwMode="auto">
            <a:xfrm>
              <a:off x="2448" y="1680"/>
              <a:ext cx="0" cy="1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8746" name="Line 213"/>
            <p:cNvSpPr>
              <a:spLocks noChangeShapeType="1"/>
            </p:cNvSpPr>
            <p:nvPr/>
          </p:nvSpPr>
          <p:spPr bwMode="auto">
            <a:xfrm>
              <a:off x="3120" y="1680"/>
              <a:ext cx="0" cy="100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8747" name="Rectangle 214"/>
            <p:cNvSpPr>
              <a:spLocks noChangeArrowheads="1"/>
            </p:cNvSpPr>
            <p:nvPr/>
          </p:nvSpPr>
          <p:spPr bwMode="auto">
            <a:xfrm>
              <a:off x="1104" y="3177"/>
              <a:ext cx="276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chemeClr val="folHlink"/>
                </a:buClr>
                <a:buSzPct val="60000"/>
                <a:buFont typeface="Wingdings" panose="05000000000000000000" pitchFamily="2" charset="2"/>
                <a:buNone/>
              </a:pPr>
              <a:r>
                <a:rPr lang="en-US" altLang="ar-EG" sz="1100"/>
                <a:t>SUPERVISOR STACK POINTER</a:t>
              </a:r>
            </a:p>
          </p:txBody>
        </p:sp>
        <p:sp>
          <p:nvSpPr>
            <p:cNvPr id="28748" name="Rectangle 215"/>
            <p:cNvSpPr>
              <a:spLocks noChangeArrowheads="1"/>
            </p:cNvSpPr>
            <p:nvPr/>
          </p:nvSpPr>
          <p:spPr bwMode="auto">
            <a:xfrm>
              <a:off x="1104" y="3024"/>
              <a:ext cx="276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chemeClr val="folHlink"/>
                </a:buClr>
                <a:buSzPct val="60000"/>
                <a:buFont typeface="Wingdings" panose="05000000000000000000" pitchFamily="2" charset="2"/>
                <a:buNone/>
              </a:pPr>
              <a:r>
                <a:rPr lang="en-US" altLang="ar-EG" sz="1100"/>
                <a:t>USER STACK POINTER</a:t>
              </a:r>
            </a:p>
          </p:txBody>
        </p:sp>
        <p:sp>
          <p:nvSpPr>
            <p:cNvPr id="28749" name="Line 216"/>
            <p:cNvSpPr>
              <a:spLocks noChangeShapeType="1"/>
            </p:cNvSpPr>
            <p:nvPr/>
          </p:nvSpPr>
          <p:spPr bwMode="auto">
            <a:xfrm>
              <a:off x="1104" y="3024"/>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0" name="Line 217"/>
            <p:cNvSpPr>
              <a:spLocks noChangeShapeType="1"/>
            </p:cNvSpPr>
            <p:nvPr/>
          </p:nvSpPr>
          <p:spPr bwMode="auto">
            <a:xfrm>
              <a:off x="1104" y="3330"/>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1" name="Line 218"/>
            <p:cNvSpPr>
              <a:spLocks noChangeShapeType="1"/>
            </p:cNvSpPr>
            <p:nvPr/>
          </p:nvSpPr>
          <p:spPr bwMode="auto">
            <a:xfrm>
              <a:off x="1104" y="3177"/>
              <a:ext cx="27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2" name="Line 219"/>
            <p:cNvSpPr>
              <a:spLocks noChangeShapeType="1"/>
            </p:cNvSpPr>
            <p:nvPr/>
          </p:nvSpPr>
          <p:spPr bwMode="auto">
            <a:xfrm>
              <a:off x="1104" y="3024"/>
              <a:ext cx="0" cy="30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3" name="Line 220"/>
            <p:cNvSpPr>
              <a:spLocks noChangeShapeType="1"/>
            </p:cNvSpPr>
            <p:nvPr/>
          </p:nvSpPr>
          <p:spPr bwMode="auto">
            <a:xfrm>
              <a:off x="3864" y="3024"/>
              <a:ext cx="0" cy="30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4" name="Rectangle 221"/>
            <p:cNvSpPr>
              <a:spLocks noChangeArrowheads="1"/>
            </p:cNvSpPr>
            <p:nvPr/>
          </p:nvSpPr>
          <p:spPr bwMode="auto">
            <a:xfrm>
              <a:off x="1104" y="3504"/>
              <a:ext cx="27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60000"/>
                <a:buFont typeface="Wingdings" panose="05000000000000000000" pitchFamily="2" charset="2"/>
                <a:buNone/>
              </a:pPr>
              <a:endParaRPr lang="en-US" altLang="ar-EG" sz="800"/>
            </a:p>
          </p:txBody>
        </p:sp>
        <p:sp>
          <p:nvSpPr>
            <p:cNvPr id="28755" name="Line 222"/>
            <p:cNvSpPr>
              <a:spLocks noChangeShapeType="1"/>
            </p:cNvSpPr>
            <p:nvPr/>
          </p:nvSpPr>
          <p:spPr bwMode="auto">
            <a:xfrm>
              <a:off x="1104" y="3504"/>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6" name="Line 223"/>
            <p:cNvSpPr>
              <a:spLocks noChangeShapeType="1"/>
            </p:cNvSpPr>
            <p:nvPr/>
          </p:nvSpPr>
          <p:spPr bwMode="auto">
            <a:xfrm>
              <a:off x="1104" y="3648"/>
              <a:ext cx="27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7" name="Line 224"/>
            <p:cNvSpPr>
              <a:spLocks noChangeShapeType="1"/>
            </p:cNvSpPr>
            <p:nvPr/>
          </p:nvSpPr>
          <p:spPr bwMode="auto">
            <a:xfrm>
              <a:off x="1104" y="3504"/>
              <a:ext cx="0" cy="14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8" name="Line 225"/>
            <p:cNvSpPr>
              <a:spLocks noChangeShapeType="1"/>
            </p:cNvSpPr>
            <p:nvPr/>
          </p:nvSpPr>
          <p:spPr bwMode="auto">
            <a:xfrm>
              <a:off x="3864" y="3504"/>
              <a:ext cx="0" cy="14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9" name="Rectangle 226"/>
            <p:cNvSpPr>
              <a:spLocks noChangeArrowheads="1"/>
            </p:cNvSpPr>
            <p:nvPr/>
          </p:nvSpPr>
          <p:spPr bwMode="auto">
            <a:xfrm>
              <a:off x="3168" y="3792"/>
              <a:ext cx="69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chemeClr val="folHlink"/>
                </a:buClr>
                <a:buSzPct val="60000"/>
                <a:buFont typeface="Wingdings" panose="05000000000000000000" pitchFamily="2" charset="2"/>
                <a:buNone/>
              </a:pPr>
              <a:r>
                <a:rPr lang="en-US" altLang="ar-EG" sz="900"/>
                <a:t>USER VYTE</a:t>
              </a:r>
            </a:p>
          </p:txBody>
        </p:sp>
        <p:sp>
          <p:nvSpPr>
            <p:cNvPr id="28760" name="Rectangle 227"/>
            <p:cNvSpPr>
              <a:spLocks noChangeArrowheads="1"/>
            </p:cNvSpPr>
            <p:nvPr/>
          </p:nvSpPr>
          <p:spPr bwMode="auto">
            <a:xfrm>
              <a:off x="2544" y="3792"/>
              <a:ext cx="62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6938">
                <a:defRPr>
                  <a:solidFill>
                    <a:schemeClr val="tx1"/>
                  </a:solidFill>
                  <a:latin typeface="Arial" panose="020B0604020202020204" pitchFamily="34" charset="0"/>
                  <a:cs typeface="Arial" panose="020B0604020202020204" pitchFamily="34" charset="0"/>
                </a:defRPr>
              </a:lvl1pPr>
              <a:lvl2pPr marL="742950" indent="-285750" defTabSz="896938">
                <a:defRPr>
                  <a:solidFill>
                    <a:schemeClr val="tx1"/>
                  </a:solidFill>
                  <a:latin typeface="Arial" panose="020B0604020202020204" pitchFamily="34" charset="0"/>
                  <a:cs typeface="Arial" panose="020B0604020202020204" pitchFamily="34" charset="0"/>
                </a:defRPr>
              </a:lvl2pPr>
              <a:lvl3pPr marL="1143000" indent="-228600" defTabSz="896938">
                <a:defRPr>
                  <a:solidFill>
                    <a:schemeClr val="tx1"/>
                  </a:solidFill>
                  <a:latin typeface="Arial" panose="020B0604020202020204" pitchFamily="34" charset="0"/>
                  <a:cs typeface="Arial" panose="020B0604020202020204" pitchFamily="34" charset="0"/>
                </a:defRPr>
              </a:lvl3pPr>
              <a:lvl4pPr marL="1600200" indent="-228600" defTabSz="896938">
                <a:defRPr>
                  <a:solidFill>
                    <a:schemeClr val="tx1"/>
                  </a:solidFill>
                  <a:latin typeface="Arial" panose="020B0604020202020204" pitchFamily="34" charset="0"/>
                  <a:cs typeface="Arial" panose="020B0604020202020204" pitchFamily="34" charset="0"/>
                </a:defRPr>
              </a:lvl4pPr>
              <a:lvl5pPr marL="2057400" indent="-228600" defTabSz="896938">
                <a:defRPr>
                  <a:solidFill>
                    <a:schemeClr val="tx1"/>
                  </a:solidFill>
                  <a:latin typeface="Arial" panose="020B0604020202020204" pitchFamily="34" charset="0"/>
                  <a:cs typeface="Arial" panose="020B0604020202020204" pitchFamily="34" charset="0"/>
                </a:defRPr>
              </a:lvl5pPr>
              <a:lvl6pPr marL="25146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9693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20000"/>
                </a:spcBef>
                <a:buClr>
                  <a:schemeClr val="folHlink"/>
                </a:buClr>
                <a:buSzPct val="60000"/>
                <a:buFont typeface="Wingdings" panose="05000000000000000000" pitchFamily="2" charset="2"/>
                <a:buNone/>
              </a:pPr>
              <a:r>
                <a:rPr lang="en-US" altLang="ar-EG" sz="900"/>
                <a:t>SYSTEM BYTE</a:t>
              </a:r>
              <a:r>
                <a:rPr lang="en-US" altLang="ar-EG" sz="800"/>
                <a:t> </a:t>
              </a:r>
            </a:p>
          </p:txBody>
        </p:sp>
        <p:sp>
          <p:nvSpPr>
            <p:cNvPr id="28761" name="Line 228"/>
            <p:cNvSpPr>
              <a:spLocks noChangeShapeType="1"/>
            </p:cNvSpPr>
            <p:nvPr/>
          </p:nvSpPr>
          <p:spPr bwMode="auto">
            <a:xfrm>
              <a:off x="2544" y="3792"/>
              <a:ext cx="132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2" name="Line 229"/>
            <p:cNvSpPr>
              <a:spLocks noChangeShapeType="1"/>
            </p:cNvSpPr>
            <p:nvPr/>
          </p:nvSpPr>
          <p:spPr bwMode="auto">
            <a:xfrm>
              <a:off x="2544" y="3936"/>
              <a:ext cx="132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3" name="Line 230"/>
            <p:cNvSpPr>
              <a:spLocks noChangeShapeType="1"/>
            </p:cNvSpPr>
            <p:nvPr/>
          </p:nvSpPr>
          <p:spPr bwMode="auto">
            <a:xfrm>
              <a:off x="2544" y="3792"/>
              <a:ext cx="0" cy="14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4" name="Line 231"/>
            <p:cNvSpPr>
              <a:spLocks noChangeShapeType="1"/>
            </p:cNvSpPr>
            <p:nvPr/>
          </p:nvSpPr>
          <p:spPr bwMode="auto">
            <a:xfrm>
              <a:off x="3864" y="3792"/>
              <a:ext cx="0" cy="14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5" name="Line 232"/>
            <p:cNvSpPr>
              <a:spLocks noChangeShapeType="1"/>
            </p:cNvSpPr>
            <p:nvPr/>
          </p:nvSpPr>
          <p:spPr bwMode="auto">
            <a:xfrm>
              <a:off x="3168" y="3792"/>
              <a:ext cx="0" cy="14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8766" name="Text Box 233"/>
            <p:cNvSpPr txBox="1">
              <a:spLocks noChangeArrowheads="1"/>
            </p:cNvSpPr>
            <p:nvPr/>
          </p:nvSpPr>
          <p:spPr bwMode="auto">
            <a:xfrm>
              <a:off x="3878" y="263"/>
              <a:ext cx="11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ar-EG"/>
            </a:p>
          </p:txBody>
        </p:sp>
        <p:sp>
          <p:nvSpPr>
            <p:cNvPr id="28767" name="Text Box 234"/>
            <p:cNvSpPr txBox="1">
              <a:spLocks noChangeArrowheads="1"/>
            </p:cNvSpPr>
            <p:nvPr/>
          </p:nvSpPr>
          <p:spPr bwMode="auto">
            <a:xfrm>
              <a:off x="3869" y="336"/>
              <a:ext cx="259"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D0</a:t>
              </a:r>
            </a:p>
            <a:p>
              <a:pPr eaLnBrk="1" hangingPunct="1"/>
              <a:r>
                <a:rPr lang="en-US" altLang="ar-EG" sz="1400"/>
                <a:t>D1</a:t>
              </a:r>
            </a:p>
            <a:p>
              <a:pPr eaLnBrk="1" hangingPunct="1"/>
              <a:r>
                <a:rPr lang="en-US" altLang="ar-EG" sz="1400"/>
                <a:t>D2</a:t>
              </a:r>
            </a:p>
          </p:txBody>
        </p:sp>
        <p:sp>
          <p:nvSpPr>
            <p:cNvPr id="28768" name="Text Box 235"/>
            <p:cNvSpPr txBox="1">
              <a:spLocks noChangeArrowheads="1"/>
            </p:cNvSpPr>
            <p:nvPr/>
          </p:nvSpPr>
          <p:spPr bwMode="auto">
            <a:xfrm>
              <a:off x="3869" y="768"/>
              <a:ext cx="259"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D3</a:t>
              </a:r>
            </a:p>
            <a:p>
              <a:pPr eaLnBrk="1" hangingPunct="1"/>
              <a:r>
                <a:rPr lang="en-US" altLang="ar-EG" sz="1400"/>
                <a:t>D4</a:t>
              </a:r>
            </a:p>
            <a:p>
              <a:pPr eaLnBrk="1" hangingPunct="1"/>
              <a:r>
                <a:rPr lang="en-US" altLang="ar-EG" sz="1400"/>
                <a:t>D5</a:t>
              </a:r>
            </a:p>
          </p:txBody>
        </p:sp>
        <p:sp>
          <p:nvSpPr>
            <p:cNvPr id="28769" name="Text Box 236"/>
            <p:cNvSpPr txBox="1">
              <a:spLocks noChangeArrowheads="1"/>
            </p:cNvSpPr>
            <p:nvPr/>
          </p:nvSpPr>
          <p:spPr bwMode="auto">
            <a:xfrm>
              <a:off x="3869" y="1172"/>
              <a:ext cx="259"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D6</a:t>
              </a:r>
            </a:p>
            <a:p>
              <a:pPr eaLnBrk="1" hangingPunct="1"/>
              <a:r>
                <a:rPr lang="en-US" altLang="ar-EG" sz="1400"/>
                <a:t>D7</a:t>
              </a:r>
            </a:p>
          </p:txBody>
        </p:sp>
        <p:sp>
          <p:nvSpPr>
            <p:cNvPr id="28770" name="Text Box 237"/>
            <p:cNvSpPr txBox="1">
              <a:spLocks noChangeArrowheads="1"/>
            </p:cNvSpPr>
            <p:nvPr/>
          </p:nvSpPr>
          <p:spPr bwMode="auto">
            <a:xfrm>
              <a:off x="3926" y="1597"/>
              <a:ext cx="11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ar-EG"/>
            </a:p>
          </p:txBody>
        </p:sp>
        <p:sp>
          <p:nvSpPr>
            <p:cNvPr id="28771" name="Text Box 238"/>
            <p:cNvSpPr txBox="1">
              <a:spLocks noChangeArrowheads="1"/>
            </p:cNvSpPr>
            <p:nvPr/>
          </p:nvSpPr>
          <p:spPr bwMode="auto">
            <a:xfrm>
              <a:off x="3917" y="1670"/>
              <a:ext cx="259"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A0</a:t>
              </a:r>
            </a:p>
            <a:p>
              <a:pPr eaLnBrk="1" hangingPunct="1"/>
              <a:r>
                <a:rPr lang="en-US" altLang="ar-EG" sz="1400"/>
                <a:t>A1</a:t>
              </a:r>
            </a:p>
            <a:p>
              <a:pPr eaLnBrk="1" hangingPunct="1"/>
              <a:r>
                <a:rPr lang="en-US" altLang="ar-EG" sz="1400"/>
                <a:t>A2</a:t>
              </a:r>
            </a:p>
          </p:txBody>
        </p:sp>
        <p:sp>
          <p:nvSpPr>
            <p:cNvPr id="28772" name="Text Box 239"/>
            <p:cNvSpPr txBox="1">
              <a:spLocks noChangeArrowheads="1"/>
            </p:cNvSpPr>
            <p:nvPr/>
          </p:nvSpPr>
          <p:spPr bwMode="auto">
            <a:xfrm>
              <a:off x="3917" y="2102"/>
              <a:ext cx="259"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A3</a:t>
              </a:r>
            </a:p>
            <a:p>
              <a:pPr eaLnBrk="1" hangingPunct="1"/>
              <a:r>
                <a:rPr lang="en-US" altLang="ar-EG" sz="1400"/>
                <a:t>A4</a:t>
              </a:r>
            </a:p>
            <a:p>
              <a:pPr eaLnBrk="1" hangingPunct="1"/>
              <a:r>
                <a:rPr lang="en-US" altLang="ar-EG" sz="1400"/>
                <a:t>A5</a:t>
              </a:r>
            </a:p>
          </p:txBody>
        </p:sp>
        <p:sp>
          <p:nvSpPr>
            <p:cNvPr id="28773" name="Text Box 240"/>
            <p:cNvSpPr txBox="1">
              <a:spLocks noChangeArrowheads="1"/>
            </p:cNvSpPr>
            <p:nvPr/>
          </p:nvSpPr>
          <p:spPr bwMode="auto">
            <a:xfrm>
              <a:off x="3917" y="2553"/>
              <a:ext cx="25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A6</a:t>
              </a:r>
            </a:p>
            <a:p>
              <a:pPr eaLnBrk="1" hangingPunct="1"/>
              <a:r>
                <a:rPr lang="en-US" altLang="ar-EG" sz="1400"/>
                <a:t>A7</a:t>
              </a:r>
            </a:p>
          </p:txBody>
        </p:sp>
        <p:sp>
          <p:nvSpPr>
            <p:cNvPr id="28774" name="Text Box 241"/>
            <p:cNvSpPr txBox="1">
              <a:spLocks noChangeArrowheads="1"/>
            </p:cNvSpPr>
            <p:nvPr/>
          </p:nvSpPr>
          <p:spPr bwMode="auto">
            <a:xfrm>
              <a:off x="3878" y="3079"/>
              <a:ext cx="25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A7</a:t>
              </a:r>
            </a:p>
          </p:txBody>
        </p:sp>
        <p:sp>
          <p:nvSpPr>
            <p:cNvPr id="28775" name="Text Box 242"/>
            <p:cNvSpPr txBox="1">
              <a:spLocks noChangeArrowheads="1"/>
            </p:cNvSpPr>
            <p:nvPr/>
          </p:nvSpPr>
          <p:spPr bwMode="auto">
            <a:xfrm>
              <a:off x="3888" y="3456"/>
              <a:ext cx="272"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PC</a:t>
              </a:r>
            </a:p>
          </p:txBody>
        </p:sp>
        <p:sp>
          <p:nvSpPr>
            <p:cNvPr id="28776" name="Text Box 243"/>
            <p:cNvSpPr txBox="1">
              <a:spLocks noChangeArrowheads="1"/>
            </p:cNvSpPr>
            <p:nvPr/>
          </p:nvSpPr>
          <p:spPr bwMode="auto">
            <a:xfrm>
              <a:off x="3888" y="3744"/>
              <a:ext cx="27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sz="1400"/>
                <a:t>SR</a:t>
              </a:r>
            </a:p>
          </p:txBody>
        </p:sp>
        <p:sp>
          <p:nvSpPr>
            <p:cNvPr id="28777" name="Text Box 244"/>
            <p:cNvSpPr txBox="1">
              <a:spLocks noChangeArrowheads="1"/>
            </p:cNvSpPr>
            <p:nvPr/>
          </p:nvSpPr>
          <p:spPr bwMode="auto">
            <a:xfrm>
              <a:off x="1056" y="144"/>
              <a:ext cx="30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EG" sz="1400"/>
                <a:t>31                                  16  15              8  7                   0</a:t>
              </a:r>
            </a:p>
          </p:txBody>
        </p:sp>
        <p:sp>
          <p:nvSpPr>
            <p:cNvPr id="28778" name="Text Box 245"/>
            <p:cNvSpPr txBox="1">
              <a:spLocks noChangeArrowheads="1"/>
            </p:cNvSpPr>
            <p:nvPr/>
          </p:nvSpPr>
          <p:spPr bwMode="auto">
            <a:xfrm>
              <a:off x="1056" y="1536"/>
              <a:ext cx="30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EG" sz="1400"/>
                <a:t>31                                  16  15              8  7                   0</a:t>
              </a:r>
            </a:p>
          </p:txBody>
        </p:sp>
        <p:sp>
          <p:nvSpPr>
            <p:cNvPr id="28779" name="Text Box 246"/>
            <p:cNvSpPr txBox="1">
              <a:spLocks noChangeArrowheads="1"/>
            </p:cNvSpPr>
            <p:nvPr/>
          </p:nvSpPr>
          <p:spPr bwMode="auto">
            <a:xfrm>
              <a:off x="1056" y="3650"/>
              <a:ext cx="302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ar-EG" sz="1400"/>
                <a:t>                                             15              8  7                   0</a:t>
              </a:r>
            </a:p>
          </p:txBody>
        </p:sp>
        <p:sp>
          <p:nvSpPr>
            <p:cNvPr id="28780" name="Text Box 247"/>
            <p:cNvSpPr txBox="1">
              <a:spLocks noChangeArrowheads="1"/>
            </p:cNvSpPr>
            <p:nvPr/>
          </p:nvSpPr>
          <p:spPr bwMode="auto">
            <a:xfrm>
              <a:off x="4128" y="743"/>
              <a:ext cx="1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a:t>DATA REGISTERS</a:t>
              </a:r>
            </a:p>
          </p:txBody>
        </p:sp>
        <p:sp>
          <p:nvSpPr>
            <p:cNvPr id="28781" name="Text Box 248"/>
            <p:cNvSpPr txBox="1">
              <a:spLocks noChangeArrowheads="1"/>
            </p:cNvSpPr>
            <p:nvPr/>
          </p:nvSpPr>
          <p:spPr bwMode="auto">
            <a:xfrm>
              <a:off x="4128" y="2064"/>
              <a:ext cx="170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a:t>ADDRESS REGISTERS</a:t>
              </a:r>
            </a:p>
          </p:txBody>
        </p:sp>
        <p:sp>
          <p:nvSpPr>
            <p:cNvPr id="28782" name="Text Box 249"/>
            <p:cNvSpPr txBox="1">
              <a:spLocks noChangeArrowheads="1"/>
            </p:cNvSpPr>
            <p:nvPr/>
          </p:nvSpPr>
          <p:spPr bwMode="auto">
            <a:xfrm>
              <a:off x="4128" y="3033"/>
              <a:ext cx="127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a:t>STACK POINTER</a:t>
              </a:r>
            </a:p>
          </p:txBody>
        </p:sp>
        <p:sp>
          <p:nvSpPr>
            <p:cNvPr id="28783" name="Text Box 250"/>
            <p:cNvSpPr txBox="1">
              <a:spLocks noChangeArrowheads="1"/>
            </p:cNvSpPr>
            <p:nvPr/>
          </p:nvSpPr>
          <p:spPr bwMode="auto">
            <a:xfrm>
              <a:off x="4128" y="3465"/>
              <a:ext cx="152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a:t>PROGRAM CONTER</a:t>
              </a:r>
            </a:p>
          </p:txBody>
        </p:sp>
        <p:sp>
          <p:nvSpPr>
            <p:cNvPr id="28784" name="Text Box 251"/>
            <p:cNvSpPr txBox="1">
              <a:spLocks noChangeArrowheads="1"/>
            </p:cNvSpPr>
            <p:nvPr/>
          </p:nvSpPr>
          <p:spPr bwMode="auto">
            <a:xfrm>
              <a:off x="4128" y="3753"/>
              <a:ext cx="14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ar-EG"/>
                <a:t>STATUS REGISTER</a:t>
              </a:r>
            </a:p>
          </p:txBody>
        </p:sp>
      </p:grpSp>
    </p:spTree>
    <p:extLst>
      <p:ext uri="{BB962C8B-B14F-4D97-AF65-F5344CB8AC3E}">
        <p14:creationId xmlns:p14="http://schemas.microsoft.com/office/powerpoint/2010/main" val="13936784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smtClean="0">
                <a:solidFill>
                  <a:srgbClr val="7030A0"/>
                </a:solidFill>
              </a:rPr>
              <a:t>ACCUMULATOR</a:t>
            </a:r>
            <a:endParaRPr lang="en-MY" dirty="0" smtClean="0">
              <a:solidFill>
                <a:srgbClr val="7030A0"/>
              </a:solidFill>
            </a:endParaRPr>
          </a:p>
        </p:txBody>
      </p:sp>
      <p:sp>
        <p:nvSpPr>
          <p:cNvPr id="29699" name="Content Placeholder 2"/>
          <p:cNvSpPr>
            <a:spLocks noGrp="1"/>
          </p:cNvSpPr>
          <p:nvPr>
            <p:ph idx="1"/>
          </p:nvPr>
        </p:nvSpPr>
        <p:spPr/>
        <p:txBody>
          <a:bodyPr/>
          <a:lstStyle/>
          <a:p>
            <a:pPr eaLnBrk="1" hangingPunct="1"/>
            <a:r>
              <a:rPr lang="en-MY" altLang="ar-EG" dirty="0" smtClean="0"/>
              <a:t>a register in which </a:t>
            </a:r>
            <a:r>
              <a:rPr lang="en-MY" altLang="ar-EG" dirty="0" smtClean="0">
                <a:solidFill>
                  <a:srgbClr val="FF0000"/>
                </a:solidFill>
              </a:rPr>
              <a:t>intermediate arithmetic and logic results</a:t>
            </a:r>
            <a:r>
              <a:rPr lang="en-MY" altLang="ar-EG" dirty="0" smtClean="0"/>
              <a:t> are stored.</a:t>
            </a:r>
          </a:p>
          <a:p>
            <a:pPr eaLnBrk="1" hangingPunct="1"/>
            <a:r>
              <a:rPr lang="en-MY" altLang="ar-EG" dirty="0" smtClean="0"/>
              <a:t>example for accumulator use is summing a list of numbers. </a:t>
            </a:r>
          </a:p>
          <a:p>
            <a:pPr lvl="1" eaLnBrk="1" hangingPunct="1"/>
            <a:r>
              <a:rPr lang="en-MY" altLang="ar-EG" dirty="0" smtClean="0"/>
              <a:t>The accumulator is initially set to zero, then each number in turn is added to the value in the accumulator. </a:t>
            </a:r>
          </a:p>
          <a:p>
            <a:pPr lvl="1" eaLnBrk="1" hangingPunct="1"/>
            <a:r>
              <a:rPr lang="en-MY" altLang="ar-EG" dirty="0" smtClean="0">
                <a:solidFill>
                  <a:srgbClr val="501BD3"/>
                </a:solidFill>
              </a:rPr>
              <a:t>Only when all numbers have been added is the result held in the accumulator written to main memory or to another, non-accumulator, CPU register.</a:t>
            </a:r>
          </a:p>
          <a:p>
            <a:pPr eaLnBrk="1" hangingPunct="1"/>
            <a:endParaRPr lang="en-MY" altLang="ar-EG" dirty="0" smtClean="0"/>
          </a:p>
        </p:txBody>
      </p:sp>
      <p:sp>
        <p:nvSpPr>
          <p:cNvPr id="297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21FFF99-6BE7-47F3-B609-3EE5CBCA2724}" type="slidenum">
              <a:rPr lang="fr-FR" altLang="ar-EG" sz="1400">
                <a:solidFill>
                  <a:srgbClr val="FFFFFF"/>
                </a:solidFill>
              </a:rPr>
              <a:pPr/>
              <a:t>8</a:t>
            </a:fld>
            <a:endParaRPr lang="fr-FR" altLang="ar-EG" sz="1400">
              <a:solidFill>
                <a:srgbClr val="FFFFFF"/>
              </a:solidFill>
            </a:endParaRPr>
          </a:p>
        </p:txBody>
      </p:sp>
    </p:spTree>
    <p:extLst>
      <p:ext uri="{BB962C8B-B14F-4D97-AF65-F5344CB8AC3E}">
        <p14:creationId xmlns:p14="http://schemas.microsoft.com/office/powerpoint/2010/main" val="6566902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smtClean="0"/>
              <a:t>CONDITION CODE REGISTER (CCR) = </a:t>
            </a:r>
            <a:r>
              <a:rPr lang="en-US" dirty="0" smtClean="0">
                <a:solidFill>
                  <a:srgbClr val="501BD3"/>
                </a:solidFill>
              </a:rPr>
              <a:t>FLAGS</a:t>
            </a:r>
            <a:endParaRPr lang="en-MY" dirty="0" smtClean="0">
              <a:solidFill>
                <a:srgbClr val="501BD3"/>
              </a:solidFill>
            </a:endParaRPr>
          </a:p>
        </p:txBody>
      </p:sp>
      <p:sp>
        <p:nvSpPr>
          <p:cNvPr id="26627" name="Content Placeholder 2"/>
          <p:cNvSpPr>
            <a:spLocks noGrp="1"/>
          </p:cNvSpPr>
          <p:nvPr>
            <p:ph idx="1"/>
          </p:nvPr>
        </p:nvSpPr>
        <p:spPr/>
        <p:txBody>
          <a:bodyPr rtlCol="0">
            <a:normAutofit/>
          </a:bodyPr>
          <a:lstStyle/>
          <a:p>
            <a:pPr>
              <a:defRPr/>
            </a:pPr>
            <a:r>
              <a:rPr lang="en-MY" altLang="ar-EG" dirty="0" smtClean="0"/>
              <a:t>an </a:t>
            </a:r>
            <a:r>
              <a:rPr lang="en-MY" altLang="ar-EG" dirty="0" smtClean="0">
                <a:solidFill>
                  <a:srgbClr val="501BD3"/>
                </a:solidFill>
              </a:rPr>
              <a:t>8 bit register used to store the status of CPU</a:t>
            </a:r>
            <a:r>
              <a:rPr lang="en-MY" altLang="ar-EG" dirty="0" smtClean="0"/>
              <a:t>, such as </a:t>
            </a:r>
            <a:r>
              <a:rPr lang="en-MY" altLang="ar-EG" dirty="0" smtClean="0">
                <a:solidFill>
                  <a:srgbClr val="FF0000"/>
                </a:solidFill>
              </a:rPr>
              <a:t>carry</a:t>
            </a:r>
            <a:r>
              <a:rPr lang="en-MY" altLang="ar-EG" dirty="0" smtClean="0"/>
              <a:t>, zero, </a:t>
            </a:r>
            <a:r>
              <a:rPr lang="en-MY" altLang="ar-EG" dirty="0" smtClean="0">
                <a:solidFill>
                  <a:schemeClr val="accent6">
                    <a:lumMod val="75000"/>
                  </a:schemeClr>
                </a:solidFill>
              </a:rPr>
              <a:t>overflow and half carry</a:t>
            </a:r>
            <a:r>
              <a:rPr lang="en-MY" altLang="ar-EG" dirty="0" smtClean="0"/>
              <a:t>.</a:t>
            </a:r>
          </a:p>
          <a:p>
            <a:pPr>
              <a:defRPr/>
            </a:pPr>
            <a:endParaRPr lang="en-MY" altLang="ar-EG" dirty="0"/>
          </a:p>
          <a:p>
            <a:pPr>
              <a:defRPr/>
            </a:pPr>
            <a:endParaRPr lang="en-MY" altLang="ar-EG" dirty="0" smtClean="0"/>
          </a:p>
        </p:txBody>
      </p:sp>
      <p:sp>
        <p:nvSpPr>
          <p:cNvPr id="3072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CBC135-AA0C-4AE5-8C8C-BDD4AE9C8D28}" type="slidenum">
              <a:rPr lang="fr-FR" altLang="ar-EG" sz="1400">
                <a:solidFill>
                  <a:srgbClr val="FFFFFF"/>
                </a:solidFill>
              </a:rPr>
              <a:pPr/>
              <a:t>9</a:t>
            </a:fld>
            <a:endParaRPr lang="fr-FR" altLang="ar-EG" sz="1400">
              <a:solidFill>
                <a:srgbClr val="FFFFFF"/>
              </a:solidFill>
            </a:endParaRPr>
          </a:p>
        </p:txBody>
      </p:sp>
      <p:pic>
        <p:nvPicPr>
          <p:cNvPr id="2" name="Picture 1"/>
          <p:cNvPicPr>
            <a:picLocks noChangeAspect="1"/>
          </p:cNvPicPr>
          <p:nvPr/>
        </p:nvPicPr>
        <p:blipFill>
          <a:blip r:embed="rId2"/>
          <a:stretch>
            <a:fillRect/>
          </a:stretch>
        </p:blipFill>
        <p:spPr>
          <a:xfrm>
            <a:off x="2743200" y="2838450"/>
            <a:ext cx="6705600" cy="1181100"/>
          </a:xfrm>
          <a:prstGeom prst="rect">
            <a:avLst/>
          </a:prstGeom>
        </p:spPr>
      </p:pic>
    </p:spTree>
    <p:extLst>
      <p:ext uri="{BB962C8B-B14F-4D97-AF65-F5344CB8AC3E}">
        <p14:creationId xmlns:p14="http://schemas.microsoft.com/office/powerpoint/2010/main" val="21991345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smtClean="0">
                <a:solidFill>
                  <a:srgbClr val="501BD3"/>
                </a:solidFill>
              </a:rPr>
              <a:t>PROGRAM COUNTER (PC)</a:t>
            </a:r>
            <a:endParaRPr lang="en-MY" smtClean="0">
              <a:solidFill>
                <a:srgbClr val="501BD3"/>
              </a:solidFill>
            </a:endParaRPr>
          </a:p>
        </p:txBody>
      </p:sp>
      <p:sp>
        <p:nvSpPr>
          <p:cNvPr id="32771" name="Content Placeholder 2"/>
          <p:cNvSpPr>
            <a:spLocks noGrp="1"/>
          </p:cNvSpPr>
          <p:nvPr>
            <p:ph idx="1"/>
          </p:nvPr>
        </p:nvSpPr>
        <p:spPr/>
        <p:txBody>
          <a:bodyPr/>
          <a:lstStyle/>
          <a:p>
            <a:pPr eaLnBrk="1" hangingPunct="1"/>
            <a:r>
              <a:rPr lang="en-MY" altLang="ar-EG">
                <a:solidFill>
                  <a:srgbClr val="FF0000"/>
                </a:solidFill>
              </a:rPr>
              <a:t>a 16 bit register</a:t>
            </a:r>
            <a:r>
              <a:rPr lang="en-MY" altLang="ar-EG"/>
              <a:t>, used to store the next address of the operation code to be fetched by the CPU. </a:t>
            </a:r>
          </a:p>
          <a:p>
            <a:pPr eaLnBrk="1" hangingPunct="1"/>
            <a:r>
              <a:rPr lang="en-MY" altLang="ar-EG">
                <a:solidFill>
                  <a:srgbClr val="C00000"/>
                </a:solidFill>
              </a:rPr>
              <a:t>Not much use in programming, but as an indicator to user only</a:t>
            </a:r>
            <a:r>
              <a:rPr lang="en-MY" altLang="ar-EG"/>
              <a:t>.</a:t>
            </a:r>
          </a:p>
          <a:p>
            <a:pPr eaLnBrk="1" hangingPunct="1"/>
            <a:r>
              <a:rPr lang="en-MY" altLang="ar-EG"/>
              <a:t>Purpose of PC in a Microprocessor</a:t>
            </a:r>
          </a:p>
          <a:p>
            <a:pPr lvl="1" eaLnBrk="1" hangingPunct="1"/>
            <a:r>
              <a:rPr lang="en-MY" altLang="ar-EG" sz="2800"/>
              <a:t>to store address of </a:t>
            </a:r>
            <a:r>
              <a:rPr lang="en-MY" altLang="ar-EG" sz="2800">
                <a:solidFill>
                  <a:srgbClr val="501BD3"/>
                </a:solidFill>
              </a:rPr>
              <a:t>tos (top of stack)</a:t>
            </a:r>
          </a:p>
          <a:p>
            <a:pPr lvl="1" eaLnBrk="1" hangingPunct="1"/>
            <a:r>
              <a:rPr lang="en-MY" altLang="ar-EG" sz="2800"/>
              <a:t> to store address of next instruction to be executed.</a:t>
            </a:r>
          </a:p>
          <a:p>
            <a:pPr lvl="1" eaLnBrk="1" hangingPunct="1"/>
            <a:r>
              <a:rPr lang="en-MY" altLang="ar-EG" sz="2800">
                <a:solidFill>
                  <a:srgbClr val="7030A0"/>
                </a:solidFill>
              </a:rPr>
              <a:t>count the number of instructions</a:t>
            </a:r>
            <a:r>
              <a:rPr lang="en-MY" altLang="ar-EG" sz="2800"/>
              <a:t>.</a:t>
            </a:r>
          </a:p>
        </p:txBody>
      </p:sp>
      <p:sp>
        <p:nvSpPr>
          <p:cNvPr id="3277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CF0476-865B-4950-BD6F-FA53CCFFA27F}" type="slidenum">
              <a:rPr lang="fr-FR" altLang="ar-EG" sz="1400">
                <a:solidFill>
                  <a:srgbClr val="FFFFFF"/>
                </a:solidFill>
              </a:rPr>
              <a:pPr/>
              <a:t>10</a:t>
            </a:fld>
            <a:endParaRPr lang="fr-FR" altLang="ar-EG" sz="1400">
              <a:solidFill>
                <a:srgbClr val="FFFFFF"/>
              </a:solidFill>
            </a:endParaRPr>
          </a:p>
        </p:txBody>
      </p:sp>
    </p:spTree>
    <p:extLst>
      <p:ext uri="{BB962C8B-B14F-4D97-AF65-F5344CB8AC3E}">
        <p14:creationId xmlns:p14="http://schemas.microsoft.com/office/powerpoint/2010/main" val="24177179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smtClean="0"/>
              <a:t>STACK POINTER (SP)</a:t>
            </a:r>
            <a:endParaRPr lang="en-MY" smtClean="0"/>
          </a:p>
        </p:txBody>
      </p:sp>
      <p:sp>
        <p:nvSpPr>
          <p:cNvPr id="33795" name="Content Placeholder 2"/>
          <p:cNvSpPr>
            <a:spLocks noGrp="1"/>
          </p:cNvSpPr>
          <p:nvPr>
            <p:ph idx="1"/>
          </p:nvPr>
        </p:nvSpPr>
        <p:spPr/>
        <p:txBody>
          <a:bodyPr/>
          <a:lstStyle/>
          <a:p>
            <a:pPr eaLnBrk="1" hangingPunct="1"/>
            <a:r>
              <a:rPr lang="en-MY" altLang="ar-EG">
                <a:solidFill>
                  <a:srgbClr val="7030A0"/>
                </a:solidFill>
              </a:rPr>
              <a:t>The stack is configured as a data structure that grows downward from high memory to low memory. </a:t>
            </a:r>
          </a:p>
          <a:p>
            <a:pPr eaLnBrk="1" hangingPunct="1"/>
            <a:r>
              <a:rPr lang="en-MY" altLang="ar-EG"/>
              <a:t>At any given time, the </a:t>
            </a:r>
            <a:r>
              <a:rPr lang="en-MY" altLang="ar-EG">
                <a:solidFill>
                  <a:srgbClr val="D31B35"/>
                </a:solidFill>
              </a:rPr>
              <a:t>SP holds the 16-bit address of the next free location in the stack</a:t>
            </a:r>
            <a:r>
              <a:rPr lang="en-MY" altLang="ar-EG"/>
              <a:t>. </a:t>
            </a:r>
          </a:p>
          <a:p>
            <a:pPr eaLnBrk="1" hangingPunct="1"/>
            <a:r>
              <a:rPr lang="en-MY" altLang="ar-EG"/>
              <a:t>The stack </a:t>
            </a:r>
            <a:r>
              <a:rPr lang="en-MY" altLang="ar-EG">
                <a:solidFill>
                  <a:srgbClr val="0070C0"/>
                </a:solidFill>
              </a:rPr>
              <a:t>acts like any other stack when there is a subroutine call or on an interrupt</a:t>
            </a:r>
            <a:r>
              <a:rPr lang="en-MY" altLang="ar-EG"/>
              <a:t>. ie. pushing the return address on a jump, and retrieving it after the operation is complete to come back to its original location. </a:t>
            </a:r>
          </a:p>
        </p:txBody>
      </p:sp>
      <p:sp>
        <p:nvSpPr>
          <p:cNvPr id="337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BEB2324-0414-41B1-AEB7-8236C4D7404E}" type="slidenum">
              <a:rPr lang="fr-FR" altLang="ar-EG" sz="1400">
                <a:solidFill>
                  <a:srgbClr val="FFFFFF"/>
                </a:solidFill>
              </a:rPr>
              <a:pPr/>
              <a:t>11</a:t>
            </a:fld>
            <a:endParaRPr lang="fr-FR" altLang="ar-EG" sz="1400">
              <a:solidFill>
                <a:srgbClr val="FFFFFF"/>
              </a:solidFill>
            </a:endParaRPr>
          </a:p>
        </p:txBody>
      </p:sp>
    </p:spTree>
    <p:extLst>
      <p:ext uri="{BB962C8B-B14F-4D97-AF65-F5344CB8AC3E}">
        <p14:creationId xmlns:p14="http://schemas.microsoft.com/office/powerpoint/2010/main" val="1272834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smtClean="0"/>
              <a:t>DATA BUS</a:t>
            </a:r>
            <a:endParaRPr lang="en-MY" dirty="0" smtClean="0"/>
          </a:p>
        </p:txBody>
      </p:sp>
      <p:sp>
        <p:nvSpPr>
          <p:cNvPr id="34819" name="Content Placeholder 2"/>
          <p:cNvSpPr>
            <a:spLocks noGrp="1"/>
          </p:cNvSpPr>
          <p:nvPr>
            <p:ph idx="1"/>
          </p:nvPr>
        </p:nvSpPr>
        <p:spPr>
          <a:xfrm>
            <a:off x="1981200" y="1600201"/>
            <a:ext cx="7786688" cy="4873625"/>
          </a:xfrm>
        </p:spPr>
        <p:txBody>
          <a:bodyPr/>
          <a:lstStyle/>
          <a:p>
            <a:pPr eaLnBrk="1" hangingPunct="1"/>
            <a:r>
              <a:rPr lang="en-MY" altLang="ar-EG" dirty="0"/>
              <a:t>The data bus is </a:t>
            </a:r>
            <a:r>
              <a:rPr lang="en-MY" altLang="ar-EG" dirty="0">
                <a:solidFill>
                  <a:srgbClr val="C00000"/>
                </a:solidFill>
              </a:rPr>
              <a:t>'bi-directional</a:t>
            </a:r>
            <a:r>
              <a:rPr lang="en-MY" altLang="ar-EG" dirty="0"/>
              <a:t>' </a:t>
            </a:r>
          </a:p>
          <a:p>
            <a:pPr marL="742950" lvl="1" indent="-285750"/>
            <a:r>
              <a:rPr lang="en-MY" altLang="ar-EG" dirty="0"/>
              <a:t>data or instruction codes from memory or input/output. are transferred into the microprocessor </a:t>
            </a:r>
          </a:p>
          <a:p>
            <a:pPr marL="742950" lvl="1" indent="-285750"/>
            <a:r>
              <a:rPr lang="en-MY" altLang="ar-EG" dirty="0"/>
              <a:t>the result of an operation or computation is sent out from the microprocessor to the memory or input/output.</a:t>
            </a:r>
          </a:p>
          <a:p>
            <a:pPr eaLnBrk="1" hangingPunct="1"/>
            <a:r>
              <a:rPr lang="en-MY" altLang="ar-EG" dirty="0">
                <a:solidFill>
                  <a:srgbClr val="501BD3"/>
                </a:solidFill>
              </a:rPr>
              <a:t>Depending on the particular microprocessor</a:t>
            </a:r>
            <a:r>
              <a:rPr lang="en-MY" altLang="ar-EG" dirty="0"/>
              <a:t>, the data bus </a:t>
            </a:r>
            <a:r>
              <a:rPr lang="en-MY" altLang="ar-EG" dirty="0">
                <a:solidFill>
                  <a:srgbClr val="C00000"/>
                </a:solidFill>
              </a:rPr>
              <a:t>can handle 8 bit or 16 bit data</a:t>
            </a:r>
            <a:r>
              <a:rPr lang="en-MY" altLang="ar-EG" dirty="0"/>
              <a:t>.</a:t>
            </a:r>
          </a:p>
        </p:txBody>
      </p:sp>
      <p:sp>
        <p:nvSpPr>
          <p:cNvPr id="348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A832E8-846E-4680-AD16-4805FB9F8ACD}" type="slidenum">
              <a:rPr lang="fr-FR" altLang="ar-EG" sz="1400">
                <a:solidFill>
                  <a:srgbClr val="FFFFFF"/>
                </a:solidFill>
              </a:rPr>
              <a:pPr/>
              <a:t>12</a:t>
            </a:fld>
            <a:endParaRPr lang="fr-FR" altLang="ar-EG" sz="1400">
              <a:solidFill>
                <a:srgbClr val="FFFFFF"/>
              </a:solidFill>
            </a:endParaRPr>
          </a:p>
        </p:txBody>
      </p:sp>
    </p:spTree>
    <p:extLst>
      <p:ext uri="{BB962C8B-B14F-4D97-AF65-F5344CB8AC3E}">
        <p14:creationId xmlns:p14="http://schemas.microsoft.com/office/powerpoint/2010/main" val="24424011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ADDRESS BUS</a:t>
            </a:r>
            <a:endParaRPr lang="en-MY" dirty="0" smtClean="0"/>
          </a:p>
        </p:txBody>
      </p:sp>
      <p:sp>
        <p:nvSpPr>
          <p:cNvPr id="35843" name="Content Placeholder 2"/>
          <p:cNvSpPr>
            <a:spLocks noGrp="1"/>
          </p:cNvSpPr>
          <p:nvPr>
            <p:ph idx="1"/>
          </p:nvPr>
        </p:nvSpPr>
        <p:spPr/>
        <p:txBody>
          <a:bodyPr/>
          <a:lstStyle/>
          <a:p>
            <a:pPr eaLnBrk="1" hangingPunct="1"/>
            <a:r>
              <a:rPr lang="en-MY" altLang="ar-EG" dirty="0" smtClean="0"/>
              <a:t>The </a:t>
            </a:r>
            <a:r>
              <a:rPr lang="en-MY" altLang="ar-EG" dirty="0" smtClean="0">
                <a:solidFill>
                  <a:srgbClr val="C00000"/>
                </a:solidFill>
              </a:rPr>
              <a:t>address bus is '</a:t>
            </a:r>
            <a:r>
              <a:rPr lang="en-MY" altLang="ar-EG" b="1" dirty="0" smtClean="0">
                <a:solidFill>
                  <a:srgbClr val="C00000"/>
                </a:solidFill>
              </a:rPr>
              <a:t>unidirectional</a:t>
            </a:r>
            <a:r>
              <a:rPr lang="en-MY" altLang="ar-EG" dirty="0" smtClean="0">
                <a:solidFill>
                  <a:srgbClr val="C00000"/>
                </a:solidFill>
              </a:rPr>
              <a:t>', </a:t>
            </a:r>
            <a:r>
              <a:rPr lang="en-MY" altLang="ar-EG" dirty="0" smtClean="0"/>
              <a:t>over which the microprocessor </a:t>
            </a:r>
            <a:r>
              <a:rPr lang="en-MY" altLang="ar-EG" dirty="0" smtClean="0">
                <a:solidFill>
                  <a:srgbClr val="501BD3"/>
                </a:solidFill>
              </a:rPr>
              <a:t>sends an address code to the memory or input/output</a:t>
            </a:r>
            <a:r>
              <a:rPr lang="en-MY" altLang="ar-EG" dirty="0" smtClean="0"/>
              <a:t>. </a:t>
            </a:r>
          </a:p>
          <a:p>
            <a:pPr eaLnBrk="1" hangingPunct="1"/>
            <a:r>
              <a:rPr lang="en-MY" altLang="ar-EG" b="1" dirty="0" smtClean="0"/>
              <a:t>The size (width) of the address bus is specified by the number of bits it can handle.</a:t>
            </a:r>
          </a:p>
          <a:p>
            <a:pPr eaLnBrk="1" hangingPunct="1"/>
            <a:r>
              <a:rPr lang="en-MY" altLang="ar-EG" dirty="0" smtClean="0">
                <a:solidFill>
                  <a:srgbClr val="501BD3"/>
                </a:solidFill>
              </a:rPr>
              <a:t>The more bits there are in the address bus, the more memory locations a microprocessor can access. </a:t>
            </a:r>
          </a:p>
          <a:p>
            <a:pPr eaLnBrk="1" hangingPunct="1"/>
            <a:r>
              <a:rPr lang="en-MY" altLang="ar-EG" dirty="0" smtClean="0"/>
              <a:t>A </a:t>
            </a:r>
            <a:r>
              <a:rPr lang="en-MY" altLang="ar-EG" dirty="0" smtClean="0">
                <a:solidFill>
                  <a:srgbClr val="00B050"/>
                </a:solidFill>
              </a:rPr>
              <a:t>16 bit address</a:t>
            </a:r>
            <a:r>
              <a:rPr lang="en-MY" altLang="ar-EG" dirty="0" smtClean="0"/>
              <a:t> bus is capable of addressing </a:t>
            </a:r>
            <a:r>
              <a:rPr lang="en-MY" altLang="ar-EG" dirty="0" smtClean="0">
                <a:solidFill>
                  <a:srgbClr val="00B050"/>
                </a:solidFill>
              </a:rPr>
              <a:t>65,536 (64K) addresses</a:t>
            </a:r>
            <a:r>
              <a:rPr lang="en-MY" altLang="ar-EG" dirty="0" smtClean="0"/>
              <a:t>.</a:t>
            </a:r>
          </a:p>
        </p:txBody>
      </p:sp>
      <p:sp>
        <p:nvSpPr>
          <p:cNvPr id="358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29E7ED8-247A-4E68-854B-E2BE1307DCE9}" type="slidenum">
              <a:rPr lang="fr-FR" altLang="ar-EG" sz="1400">
                <a:solidFill>
                  <a:srgbClr val="FFFFFF"/>
                </a:solidFill>
              </a:rPr>
              <a:pPr/>
              <a:t>13</a:t>
            </a:fld>
            <a:endParaRPr lang="fr-FR" altLang="ar-EG" sz="1400">
              <a:solidFill>
                <a:srgbClr val="FFFFFF"/>
              </a:solidFill>
            </a:endParaRPr>
          </a:p>
        </p:txBody>
      </p:sp>
    </p:spTree>
    <p:extLst>
      <p:ext uri="{BB962C8B-B14F-4D97-AF65-F5344CB8AC3E}">
        <p14:creationId xmlns:p14="http://schemas.microsoft.com/office/powerpoint/2010/main" val="23812995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defRPr/>
            </a:pPr>
            <a:r>
              <a:rPr lang="en-US" dirty="0" smtClean="0">
                <a:solidFill>
                  <a:schemeClr val="accent1">
                    <a:lumMod val="75000"/>
                  </a:schemeClr>
                </a:solidFill>
              </a:rPr>
              <a:t>CONTROL BUS</a:t>
            </a:r>
            <a:endParaRPr lang="en-MY" dirty="0" smtClean="0">
              <a:solidFill>
                <a:schemeClr val="accent1">
                  <a:lumMod val="75000"/>
                </a:schemeClr>
              </a:solidFill>
            </a:endParaRPr>
          </a:p>
        </p:txBody>
      </p:sp>
      <p:sp>
        <p:nvSpPr>
          <p:cNvPr id="36867" name="Content Placeholder 2"/>
          <p:cNvSpPr>
            <a:spLocks noGrp="1"/>
          </p:cNvSpPr>
          <p:nvPr>
            <p:ph idx="1"/>
          </p:nvPr>
        </p:nvSpPr>
        <p:spPr/>
        <p:txBody>
          <a:bodyPr/>
          <a:lstStyle/>
          <a:p>
            <a:pPr eaLnBrk="1" hangingPunct="1"/>
            <a:r>
              <a:rPr lang="en-MY" altLang="ar-EG" dirty="0" smtClean="0"/>
              <a:t>The control bus is </a:t>
            </a:r>
            <a:r>
              <a:rPr lang="en-MY" altLang="ar-EG" dirty="0" smtClean="0">
                <a:solidFill>
                  <a:srgbClr val="FF0000"/>
                </a:solidFill>
              </a:rPr>
              <a:t>used by the microprocessor to send out or receive timing and control signals in order to coordinate and regulate its operation and to communicate with other devices, i.e. memory or input/output.</a:t>
            </a:r>
          </a:p>
        </p:txBody>
      </p:sp>
      <p:sp>
        <p:nvSpPr>
          <p:cNvPr id="3686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87097BD-5C73-4D72-9540-EEF6A8519C79}" type="slidenum">
              <a:rPr lang="fr-FR" altLang="ar-EG" sz="1400">
                <a:solidFill>
                  <a:srgbClr val="FFFFFF"/>
                </a:solidFill>
              </a:rPr>
              <a:pPr/>
              <a:t>14</a:t>
            </a:fld>
            <a:endParaRPr lang="fr-FR" altLang="ar-EG" sz="1400">
              <a:solidFill>
                <a:srgbClr val="FFFFFF"/>
              </a:solidFill>
            </a:endParaRPr>
          </a:p>
        </p:txBody>
      </p:sp>
    </p:spTree>
    <p:extLst>
      <p:ext uri="{BB962C8B-B14F-4D97-AF65-F5344CB8AC3E}">
        <p14:creationId xmlns:p14="http://schemas.microsoft.com/office/powerpoint/2010/main" val="39263243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smtClean="0">
                <a:solidFill>
                  <a:srgbClr val="FF0000"/>
                </a:solidFill>
              </a:rPr>
              <a:t>MICRO PROCESSOR CLOCK</a:t>
            </a:r>
            <a:endParaRPr lang="en-MY" smtClean="0">
              <a:solidFill>
                <a:srgbClr val="FF0000"/>
              </a:solidFill>
            </a:endParaRPr>
          </a:p>
        </p:txBody>
      </p:sp>
      <p:sp>
        <p:nvSpPr>
          <p:cNvPr id="37891" name="Content Placeholder 2"/>
          <p:cNvSpPr>
            <a:spLocks noGrp="1"/>
          </p:cNvSpPr>
          <p:nvPr>
            <p:ph idx="1"/>
          </p:nvPr>
        </p:nvSpPr>
        <p:spPr/>
        <p:txBody>
          <a:bodyPr/>
          <a:lstStyle/>
          <a:p>
            <a:pPr algn="just" eaLnBrk="1" hangingPunct="1">
              <a:lnSpc>
                <a:spcPct val="80000"/>
              </a:lnSpc>
            </a:pPr>
            <a:r>
              <a:rPr lang="en-MY" altLang="ar-EG" sz="3200"/>
              <a:t>Also called clock rate, the speed at which a microprocessor executes instructions. Every computer contains an internal clock that </a:t>
            </a:r>
            <a:r>
              <a:rPr lang="en-MY" altLang="ar-EG" sz="3200">
                <a:solidFill>
                  <a:schemeClr val="accent2"/>
                </a:solidFill>
              </a:rPr>
              <a:t>regulates the rate at which instructions are executed and synchronizes</a:t>
            </a:r>
            <a:r>
              <a:rPr lang="en-MY" altLang="ar-EG" sz="3200"/>
              <a:t> all the various computer components. </a:t>
            </a:r>
          </a:p>
          <a:p>
            <a:pPr algn="just" eaLnBrk="1" hangingPunct="1">
              <a:lnSpc>
                <a:spcPct val="80000"/>
              </a:lnSpc>
              <a:buFont typeface="Wingdings" panose="05000000000000000000" pitchFamily="2" charset="2"/>
              <a:buNone/>
            </a:pPr>
            <a:endParaRPr lang="en-MY" altLang="ar-EG" sz="3200"/>
          </a:p>
        </p:txBody>
      </p:sp>
      <p:sp>
        <p:nvSpPr>
          <p:cNvPr id="3789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450D3D0-0D95-45AF-869D-4A6CB000B3E5}" type="slidenum">
              <a:rPr lang="fr-FR" altLang="ar-EG" sz="1400">
                <a:solidFill>
                  <a:srgbClr val="FFFFFF"/>
                </a:solidFill>
              </a:rPr>
              <a:pPr/>
              <a:t>15</a:t>
            </a:fld>
            <a:endParaRPr lang="fr-FR" altLang="ar-EG" sz="1400">
              <a:solidFill>
                <a:srgbClr val="FFFFFF"/>
              </a:solidFill>
            </a:endParaRPr>
          </a:p>
        </p:txBody>
      </p:sp>
    </p:spTree>
    <p:extLst>
      <p:ext uri="{BB962C8B-B14F-4D97-AF65-F5344CB8AC3E}">
        <p14:creationId xmlns:p14="http://schemas.microsoft.com/office/powerpoint/2010/main" val="20477560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smtClean="0">
                <a:solidFill>
                  <a:srgbClr val="FF0000"/>
                </a:solidFill>
              </a:rPr>
              <a:t>EXAMPLES OF MICRO PROCESSOR</a:t>
            </a:r>
            <a:endParaRPr lang="en-MY" smtClean="0">
              <a:solidFill>
                <a:srgbClr val="FF0000"/>
              </a:solidFill>
            </a:endParaRPr>
          </a:p>
        </p:txBody>
      </p:sp>
      <p:sp>
        <p:nvSpPr>
          <p:cNvPr id="38915" name="Content Placeholder 2"/>
          <p:cNvSpPr>
            <a:spLocks noGrp="1"/>
          </p:cNvSpPr>
          <p:nvPr>
            <p:ph idx="1"/>
          </p:nvPr>
        </p:nvSpPr>
        <p:spPr/>
        <p:txBody>
          <a:bodyPr/>
          <a:lstStyle/>
          <a:p>
            <a:pPr eaLnBrk="1" hangingPunct="1"/>
            <a:r>
              <a:rPr lang="en-US" altLang="ar-EG" smtClean="0">
                <a:solidFill>
                  <a:srgbClr val="FF0000"/>
                </a:solidFill>
              </a:rPr>
              <a:t>Intel 8086</a:t>
            </a:r>
          </a:p>
          <a:p>
            <a:pPr eaLnBrk="1" hangingPunct="1"/>
            <a:r>
              <a:rPr lang="en-US" altLang="ar-EG" smtClean="0">
                <a:solidFill>
                  <a:srgbClr val="FF0000"/>
                </a:solidFill>
              </a:rPr>
              <a:t>Motorola 6800</a:t>
            </a:r>
          </a:p>
          <a:p>
            <a:pPr eaLnBrk="1" hangingPunct="1"/>
            <a:r>
              <a:rPr lang="en-US" altLang="ar-EG" smtClean="0">
                <a:solidFill>
                  <a:srgbClr val="FF0000"/>
                </a:solidFill>
              </a:rPr>
              <a:t>Zilog Z80</a:t>
            </a:r>
          </a:p>
          <a:p>
            <a:pPr eaLnBrk="1" hangingPunct="1"/>
            <a:endParaRPr lang="en-MY" altLang="ar-EG" smtClean="0"/>
          </a:p>
        </p:txBody>
      </p:sp>
      <p:sp>
        <p:nvSpPr>
          <p:cNvPr id="3891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802C6C4-450C-43C8-8BAA-560DF85E97A9}" type="slidenum">
              <a:rPr lang="fr-FR" altLang="ar-EG" sz="1400">
                <a:solidFill>
                  <a:srgbClr val="FFFFFF"/>
                </a:solidFill>
              </a:rPr>
              <a:pPr/>
              <a:t>16</a:t>
            </a:fld>
            <a:endParaRPr lang="fr-FR" altLang="ar-EG" sz="1400">
              <a:solidFill>
                <a:srgbClr val="FFFFFF"/>
              </a:solidFill>
            </a:endParaRPr>
          </a:p>
        </p:txBody>
      </p:sp>
    </p:spTree>
    <p:extLst>
      <p:ext uri="{BB962C8B-B14F-4D97-AF65-F5344CB8AC3E}">
        <p14:creationId xmlns:p14="http://schemas.microsoft.com/office/powerpoint/2010/main" val="17710650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28680"/>
            <a:ext cx="9144000" cy="1147871"/>
          </a:xfrm>
        </p:spPr>
        <p:txBody>
          <a:bodyPr>
            <a:normAutofit/>
          </a:bodyPr>
          <a:lstStyle/>
          <a:p>
            <a:r>
              <a:rPr lang="en-US" sz="6600" b="1" dirty="0" smtClean="0">
                <a:solidFill>
                  <a:srgbClr val="FF0000"/>
                </a:solidFill>
              </a:rPr>
              <a:t>8085 Microprocessor</a:t>
            </a:r>
            <a:endParaRPr lang="en-US" sz="6600" b="1" dirty="0">
              <a:solidFill>
                <a:srgbClr val="FF0000"/>
              </a:solidFill>
            </a:endParaRPr>
          </a:p>
        </p:txBody>
      </p:sp>
      <p:sp>
        <p:nvSpPr>
          <p:cNvPr id="3" name="Subtitle 2"/>
          <p:cNvSpPr>
            <a:spLocks noGrp="1"/>
          </p:cNvSpPr>
          <p:nvPr>
            <p:ph type="subTitle" idx="1"/>
          </p:nvPr>
        </p:nvSpPr>
        <p:spPr>
          <a:xfrm>
            <a:off x="173421" y="1718441"/>
            <a:ext cx="11745310" cy="4792718"/>
          </a:xfrm>
        </p:spPr>
        <p:txBody>
          <a:bodyPr>
            <a:normAutofit/>
          </a:bodyPr>
          <a:lstStyle/>
          <a:p>
            <a:pPr marL="342900" indent="-342900" algn="l">
              <a:buFont typeface="Arial" panose="020B0604020202020204" pitchFamily="34" charset="0"/>
              <a:buChar char="•"/>
            </a:pPr>
            <a:r>
              <a:rPr lang="en-US" sz="4000" dirty="0" smtClean="0">
                <a:solidFill>
                  <a:schemeClr val="tx2"/>
                </a:solidFill>
              </a:rPr>
              <a:t>Introduction</a:t>
            </a:r>
          </a:p>
          <a:p>
            <a:pPr marL="342900" indent="-342900" algn="l">
              <a:buFont typeface="Arial" panose="020B0604020202020204" pitchFamily="34" charset="0"/>
              <a:buChar char="•"/>
            </a:pPr>
            <a:r>
              <a:rPr lang="en-US" sz="4000" dirty="0" smtClean="0">
                <a:solidFill>
                  <a:schemeClr val="tx2"/>
                </a:solidFill>
              </a:rPr>
              <a:t>Overview of 8085 microprocessor</a:t>
            </a:r>
          </a:p>
          <a:p>
            <a:pPr marL="1485900" lvl="2" indent="-571500" algn="l">
              <a:buFont typeface="Wingdings" panose="05000000000000000000" pitchFamily="2" charset="2"/>
              <a:buChar char="Ø"/>
            </a:pPr>
            <a:r>
              <a:rPr lang="en-US" sz="3800" dirty="0" smtClean="0">
                <a:solidFill>
                  <a:schemeClr val="accent1"/>
                </a:solidFill>
              </a:rPr>
              <a:t>8085 Architecture </a:t>
            </a:r>
          </a:p>
          <a:p>
            <a:pPr marL="1485900" lvl="2" indent="-571500" algn="l">
              <a:buFont typeface="Wingdings" panose="05000000000000000000" pitchFamily="2" charset="2"/>
              <a:buChar char="Ø"/>
            </a:pPr>
            <a:r>
              <a:rPr lang="en-US" sz="3800" dirty="0" smtClean="0">
                <a:solidFill>
                  <a:schemeClr val="accent1"/>
                </a:solidFill>
              </a:rPr>
              <a:t>Pin Diagram</a:t>
            </a:r>
          </a:p>
          <a:p>
            <a:pPr marL="1485900" lvl="2" indent="-571500" algn="l">
              <a:buFont typeface="Wingdings" panose="05000000000000000000" pitchFamily="2" charset="2"/>
              <a:buChar char="Ø"/>
            </a:pPr>
            <a:r>
              <a:rPr lang="en-US" sz="3800" dirty="0" smtClean="0">
                <a:solidFill>
                  <a:schemeClr val="accent1"/>
                </a:solidFill>
              </a:rPr>
              <a:t>Functional Block Diagram</a:t>
            </a:r>
            <a:endParaRPr lang="en-US" sz="3800" dirty="0">
              <a:solidFill>
                <a:schemeClr val="accent1"/>
              </a:solidFill>
            </a:endParaRPr>
          </a:p>
        </p:txBody>
      </p:sp>
    </p:spTree>
    <p:extLst>
      <p:ext uri="{BB962C8B-B14F-4D97-AF65-F5344CB8AC3E}">
        <p14:creationId xmlns:p14="http://schemas.microsoft.com/office/powerpoint/2010/main" val="23361912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30165"/>
          </a:xfrm>
        </p:spPr>
        <p:txBody>
          <a:bodyPr/>
          <a:lstStyle/>
          <a:p>
            <a:r>
              <a:rPr lang="en-US" b="1" dirty="0">
                <a:solidFill>
                  <a:srgbClr val="C00000"/>
                </a:solidFill>
              </a:rPr>
              <a:t>I</a:t>
            </a:r>
            <a:r>
              <a:rPr lang="en-US" b="1" dirty="0" smtClean="0">
                <a:solidFill>
                  <a:srgbClr val="C00000"/>
                </a:solidFill>
              </a:rPr>
              <a:t>ntroduction</a:t>
            </a:r>
            <a:endParaRPr lang="en-US" b="1" dirty="0">
              <a:solidFill>
                <a:srgbClr val="C00000"/>
              </a:solidFill>
            </a:endParaRPr>
          </a:p>
        </p:txBody>
      </p:sp>
      <p:sp>
        <p:nvSpPr>
          <p:cNvPr id="3" name="Content Placeholder 2"/>
          <p:cNvSpPr>
            <a:spLocks noGrp="1"/>
          </p:cNvSpPr>
          <p:nvPr>
            <p:ph idx="1"/>
          </p:nvPr>
        </p:nvSpPr>
        <p:spPr>
          <a:xfrm>
            <a:off x="838200" y="772510"/>
            <a:ext cx="10515600" cy="6085490"/>
          </a:xfrm>
        </p:spPr>
        <p:txBody>
          <a:bodyPr>
            <a:normAutofit/>
          </a:bodyPr>
          <a:lstStyle/>
          <a:p>
            <a:r>
              <a:rPr lang="en-US" dirty="0" smtClean="0"/>
              <a:t>The  technological  revolution  brought  the  invention  of  micro-programmable  computer  on  microprocessor  chip</a:t>
            </a:r>
          </a:p>
          <a:p>
            <a:pPr lvl="1"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First  four  bit  microprocessor  chip </a:t>
            </a:r>
          </a:p>
          <a:p>
            <a:pPr lvl="1" algn="just">
              <a:buFont typeface="Wingdings" panose="05000000000000000000" pitchFamily="2" charset="2"/>
              <a:buChar char="Ø"/>
            </a:pPr>
            <a:r>
              <a:rPr lang="en-US" dirty="0" smtClean="0">
                <a:solidFill>
                  <a:schemeClr val="accent1"/>
                </a:solidFill>
                <a:latin typeface="Times New Roman" panose="02020603050405020304" pitchFamily="18" charset="0"/>
                <a:cs typeface="Times New Roman" panose="02020603050405020304" pitchFamily="18" charset="0"/>
              </a:rPr>
              <a:t>INTEL-4004 was developed by Intel Corporation of America in 1971. </a:t>
            </a:r>
          </a:p>
          <a:p>
            <a:pPr lvl="1" algn="just">
              <a:buFont typeface="Wingdings" panose="05000000000000000000" pitchFamily="2" charset="2"/>
              <a:buChar char="Ø"/>
            </a:pPr>
            <a:endParaRPr lang="en-US" dirty="0" smtClean="0">
              <a:solidFill>
                <a:schemeClr val="accent1"/>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dirty="0" smtClean="0">
                <a:solidFill>
                  <a:srgbClr val="7030A0"/>
                </a:solidFill>
                <a:latin typeface="Times New Roman" panose="02020603050405020304" pitchFamily="18" charset="0"/>
                <a:cs typeface="Times New Roman" panose="02020603050405020304" pitchFamily="18" charset="0"/>
              </a:rPr>
              <a:t>Intel introduced in 1972 an 8-bit microprocessor 8008 and in 1973 another 8-bit microprocessor 8080. </a:t>
            </a:r>
            <a:r>
              <a:rPr lang="en-US" dirty="0" smtClean="0">
                <a:latin typeface="Times New Roman" panose="02020603050405020304" pitchFamily="18" charset="0"/>
                <a:cs typeface="Times New Roman" panose="02020603050405020304" pitchFamily="18" charset="0"/>
              </a:rPr>
              <a:t>The microprocessor 8080 was the most popular microprocessor of the early 70s. </a:t>
            </a:r>
            <a:r>
              <a:rPr lang="en-US" dirty="0" smtClean="0">
                <a:solidFill>
                  <a:srgbClr val="FF0000"/>
                </a:solidFill>
                <a:latin typeface="Times New Roman" panose="02020603050405020304" pitchFamily="18" charset="0"/>
                <a:cs typeface="Times New Roman" panose="02020603050405020304" pitchFamily="18" charset="0"/>
              </a:rPr>
              <a:t>In the year 1974,  Intel  developed  a  40  pin  microprocessor  chip  8085,  </a:t>
            </a:r>
            <a:r>
              <a:rPr lang="en-US" dirty="0" smtClean="0">
                <a:latin typeface="Times New Roman" panose="02020603050405020304" pitchFamily="18" charset="0"/>
                <a:cs typeface="Times New Roman" panose="02020603050405020304" pitchFamily="18" charset="0"/>
              </a:rPr>
              <a:t>which  was  the  enhanced version  of  8080.  </a:t>
            </a:r>
          </a:p>
          <a:p>
            <a:pPr lvl="1"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Intel  8080  microprocessor  was  not  in  fact  a  complete  CPU  on  a  chip because the clock and controller were on separate chip. Further, it utilizes two separate power supplies. The 8085 microprocessor has the advantages over 8080 that it has on-chip clock and control circuit. It needs only one power supply of +5 volts.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00405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 OF 8085 MICROPROCESSOR</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solidFill>
                  <a:schemeClr val="accent1"/>
                </a:solidFill>
              </a:rPr>
              <a:t>Intel 8085, an 8-bit microprocessor is available in the form of 40 Pin dual in line IC package. It is fabricated on a single LSI chip. It operates on +5 V </a:t>
            </a:r>
            <a:r>
              <a:rPr lang="en-US" dirty="0" err="1" smtClean="0">
                <a:solidFill>
                  <a:schemeClr val="accent1"/>
                </a:solidFill>
              </a:rPr>
              <a:t>d.c.</a:t>
            </a:r>
            <a:r>
              <a:rPr lang="en-US" dirty="0" smtClean="0">
                <a:solidFill>
                  <a:schemeClr val="accent1"/>
                </a:solidFill>
              </a:rPr>
              <a:t> supply. </a:t>
            </a:r>
          </a:p>
          <a:p>
            <a:r>
              <a:rPr lang="en-US" dirty="0" smtClean="0"/>
              <a:t>The  clock  speed  used  in  this  microprocessor  is  about  3  MHZ.</a:t>
            </a:r>
          </a:p>
          <a:p>
            <a:r>
              <a:rPr lang="en-US" dirty="0" smtClean="0">
                <a:solidFill>
                  <a:schemeClr val="tx2"/>
                </a:solidFill>
              </a:rPr>
              <a:t>General  Purpose  8-bit microprocessor  is  capable  of  addressing  up  to  64  K  bytes  (i.e. 2^16= 655362 bytes) of  memory.</a:t>
            </a:r>
            <a:endParaRPr lang="en-US" dirty="0">
              <a:solidFill>
                <a:schemeClr val="tx2"/>
              </a:solidFill>
            </a:endParaRPr>
          </a:p>
        </p:txBody>
      </p:sp>
    </p:spTree>
    <p:extLst>
      <p:ext uri="{BB962C8B-B14F-4D97-AF65-F5344CB8AC3E}">
        <p14:creationId xmlns:p14="http://schemas.microsoft.com/office/powerpoint/2010/main" val="24636085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functional components of 8085A microprocessor</a:t>
            </a:r>
            <a:endParaRPr lang="en-US" dirty="0"/>
          </a:p>
        </p:txBody>
      </p:sp>
      <p:sp>
        <p:nvSpPr>
          <p:cNvPr id="3" name="Content Placeholder 2"/>
          <p:cNvSpPr>
            <a:spLocks noGrp="1"/>
          </p:cNvSpPr>
          <p:nvPr>
            <p:ph idx="1"/>
          </p:nvPr>
        </p:nvSpPr>
        <p:spPr/>
        <p:txBody>
          <a:bodyPr/>
          <a:lstStyle/>
          <a:p>
            <a:pPr marL="571500" indent="-571500">
              <a:buFont typeface="+mj-lt"/>
              <a:buAutoNum type="romanUcPeriod"/>
            </a:pPr>
            <a:r>
              <a:rPr lang="en-US" dirty="0" smtClean="0"/>
              <a:t>Register Section </a:t>
            </a:r>
          </a:p>
          <a:p>
            <a:pPr marL="571500" indent="-571500">
              <a:buFont typeface="+mj-lt"/>
              <a:buAutoNum type="romanUcPeriod"/>
            </a:pPr>
            <a:r>
              <a:rPr lang="en-US" dirty="0" smtClean="0"/>
              <a:t>Arithmetic and Logic Unit </a:t>
            </a:r>
          </a:p>
          <a:p>
            <a:pPr marL="571500" indent="-571500">
              <a:buFont typeface="+mj-lt"/>
              <a:buAutoNum type="romanUcPeriod"/>
            </a:pPr>
            <a:r>
              <a:rPr lang="en-US" dirty="0" smtClean="0"/>
              <a:t>Timing and Control Section </a:t>
            </a:r>
          </a:p>
          <a:p>
            <a:pPr marL="571500" indent="-571500">
              <a:buFont typeface="+mj-lt"/>
              <a:buAutoNum type="romanUcPeriod"/>
            </a:pPr>
            <a:r>
              <a:rPr lang="en-US" dirty="0" smtClean="0"/>
              <a:t>Interrupt Control </a:t>
            </a:r>
          </a:p>
          <a:p>
            <a:pPr marL="571500" indent="-571500">
              <a:buFont typeface="+mj-lt"/>
              <a:buAutoNum type="romanUcPeriod"/>
            </a:pPr>
            <a:r>
              <a:rPr lang="en-US" dirty="0" smtClean="0"/>
              <a:t>Serial Input / Output Control</a:t>
            </a:r>
            <a:endParaRPr lang="en-US" dirty="0"/>
          </a:p>
        </p:txBody>
      </p:sp>
    </p:spTree>
    <p:extLst>
      <p:ext uri="{BB962C8B-B14F-4D97-AF65-F5344CB8AC3E}">
        <p14:creationId xmlns:p14="http://schemas.microsoft.com/office/powerpoint/2010/main" val="14266028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877"/>
            <a:ext cx="10515600" cy="407385"/>
          </a:xfrm>
        </p:spPr>
        <p:txBody>
          <a:bodyPr>
            <a:normAutofit fontScale="90000"/>
          </a:bodyPr>
          <a:lstStyle/>
          <a:p>
            <a:r>
              <a:rPr lang="en-US" dirty="0" smtClean="0"/>
              <a:t>Pin Diagram 8085 microprocessor</a:t>
            </a:r>
            <a:endParaRPr lang="en-US" dirty="0"/>
          </a:p>
        </p:txBody>
      </p:sp>
      <p:pic>
        <p:nvPicPr>
          <p:cNvPr id="4" name="Picture 3"/>
          <p:cNvPicPr>
            <a:picLocks noChangeAspect="1"/>
          </p:cNvPicPr>
          <p:nvPr/>
        </p:nvPicPr>
        <p:blipFill>
          <a:blip r:embed="rId2"/>
          <a:stretch>
            <a:fillRect/>
          </a:stretch>
        </p:blipFill>
        <p:spPr>
          <a:xfrm>
            <a:off x="507124" y="520262"/>
            <a:ext cx="11684876" cy="6229307"/>
          </a:xfrm>
          <a:prstGeom prst="rect">
            <a:avLst/>
          </a:prstGeom>
        </p:spPr>
      </p:pic>
    </p:spTree>
    <p:extLst>
      <p:ext uri="{BB962C8B-B14F-4D97-AF65-F5344CB8AC3E}">
        <p14:creationId xmlns:p14="http://schemas.microsoft.com/office/powerpoint/2010/main" val="15347700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0174"/>
            <a:ext cx="10515600" cy="486213"/>
          </a:xfrm>
        </p:spPr>
        <p:txBody>
          <a:bodyPr>
            <a:normAutofit fontScale="90000"/>
          </a:bodyPr>
          <a:lstStyle/>
          <a:p>
            <a:pPr lvl="2" algn="l" rtl="0">
              <a:lnSpc>
                <a:spcPct val="90000"/>
              </a:lnSpc>
              <a:spcBef>
                <a:spcPct val="0"/>
              </a:spcBef>
            </a:pPr>
            <a:r>
              <a:rPr lang="en-US" sz="3800" b="1" dirty="0" smtClean="0">
                <a:solidFill>
                  <a:schemeClr val="accent1"/>
                </a:solidFill>
              </a:rPr>
              <a:t>8085 Architecture </a:t>
            </a:r>
            <a:br>
              <a:rPr lang="en-US" sz="3800" b="1" dirty="0" smtClean="0">
                <a:solidFill>
                  <a:schemeClr val="accent1"/>
                </a:solidFill>
              </a:rPr>
            </a:br>
            <a:endParaRPr lang="en-US" b="1" dirty="0"/>
          </a:p>
        </p:txBody>
      </p:sp>
      <p:pic>
        <p:nvPicPr>
          <p:cNvPr id="4" name="Picture 3"/>
          <p:cNvPicPr>
            <a:picLocks noChangeAspect="1"/>
          </p:cNvPicPr>
          <p:nvPr/>
        </p:nvPicPr>
        <p:blipFill>
          <a:blip r:embed="rId2"/>
          <a:stretch>
            <a:fillRect/>
          </a:stretch>
        </p:blipFill>
        <p:spPr>
          <a:xfrm rot="5400000">
            <a:off x="2947075" y="-2246603"/>
            <a:ext cx="6351933" cy="12137915"/>
          </a:xfrm>
          <a:prstGeom prst="rect">
            <a:avLst/>
          </a:prstGeom>
        </p:spPr>
      </p:pic>
    </p:spTree>
    <p:extLst>
      <p:ext uri="{BB962C8B-B14F-4D97-AF65-F5344CB8AC3E}">
        <p14:creationId xmlns:p14="http://schemas.microsoft.com/office/powerpoint/2010/main" val="13287013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2925</TotalTime>
  <Words>1098</Words>
  <Application>Microsoft Office PowerPoint</Application>
  <PresentationFormat>Widescreen</PresentationFormat>
  <Paragraphs>147</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Tahoma</vt:lpstr>
      <vt:lpstr>Times New Roman</vt:lpstr>
      <vt:lpstr>Wingdings</vt:lpstr>
      <vt:lpstr>Office Theme</vt:lpstr>
      <vt:lpstr>PowerPoint Presentation</vt:lpstr>
      <vt:lpstr>INTERNAL STRUCTURE AND BASIC OPERATION OF MICROPROCESSOR</vt:lpstr>
      <vt:lpstr>ARITHMETIC AND LOGIC UNIT (ALU)</vt:lpstr>
      <vt:lpstr>INTERNAL STRUCTURE OF ALU</vt:lpstr>
      <vt:lpstr>CONTROL UNIT</vt:lpstr>
      <vt:lpstr>REGISTER SETS</vt:lpstr>
      <vt:lpstr>REGISTER IN MOTOROLA 68000 MICROPROCESSOR</vt:lpstr>
      <vt:lpstr>ACCUMULATOR</vt:lpstr>
      <vt:lpstr>CONDITION CODE REGISTER (CCR) = FLAGS</vt:lpstr>
      <vt:lpstr>PROGRAM COUNTER (PC)</vt:lpstr>
      <vt:lpstr>STACK POINTER (SP)</vt:lpstr>
      <vt:lpstr>DATA BUS</vt:lpstr>
      <vt:lpstr>ADDRESS BUS</vt:lpstr>
      <vt:lpstr>CONTROL BUS</vt:lpstr>
      <vt:lpstr>MICRO PROCESSOR CLOCK</vt:lpstr>
      <vt:lpstr>EXAMPLES OF MICRO PROCESSOR</vt:lpstr>
      <vt:lpstr>8085 Microprocessor</vt:lpstr>
      <vt:lpstr>Introduction</vt:lpstr>
      <vt:lpstr>ARCHITECTURE OF 8085 MICROPROCESSOR </vt:lpstr>
      <vt:lpstr>main functional components of 8085A microprocessor</vt:lpstr>
      <vt:lpstr>Pin Diagram 8085 microprocessor</vt:lpstr>
      <vt:lpstr>8085 Architecture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8085 Microprocessor</dc:title>
  <dc:creator>HP</dc:creator>
  <cp:lastModifiedBy>HP</cp:lastModifiedBy>
  <cp:revision>16</cp:revision>
  <cp:lastPrinted>2022-11-10T06:09:05Z</cp:lastPrinted>
  <dcterms:created xsi:type="dcterms:W3CDTF">2022-10-30T09:59:17Z</dcterms:created>
  <dcterms:modified xsi:type="dcterms:W3CDTF">2022-11-13T07:54:39Z</dcterms:modified>
</cp:coreProperties>
</file>