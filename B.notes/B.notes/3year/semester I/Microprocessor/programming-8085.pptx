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5940" y="1634490"/>
            <a:ext cx="3420745" cy="4436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2870" y="1634490"/>
            <a:ext cx="3529329" cy="4643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5800" y="2129789"/>
            <a:ext cx="7772400" cy="1470660"/>
          </a:xfrm>
          <a:custGeom>
            <a:avLst/>
            <a:gdLst/>
            <a:ahLst/>
            <a:cxnLst/>
            <a:rect l="l" t="t" r="r" b="b"/>
            <a:pathLst>
              <a:path w="7772400" h="1470660">
                <a:moveTo>
                  <a:pt x="7772400" y="0"/>
                </a:moveTo>
                <a:lnTo>
                  <a:pt x="0" y="0"/>
                </a:lnTo>
                <a:lnTo>
                  <a:pt x="0" y="1470660"/>
                </a:lnTo>
                <a:lnTo>
                  <a:pt x="3886200" y="1470660"/>
                </a:lnTo>
                <a:lnTo>
                  <a:pt x="7772400" y="1470660"/>
                </a:lnTo>
                <a:lnTo>
                  <a:pt x="77724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200" y="274320"/>
            <a:ext cx="8229600" cy="1143000"/>
          </a:xfrm>
          <a:custGeom>
            <a:avLst/>
            <a:gdLst/>
            <a:ahLst/>
            <a:cxnLst/>
            <a:rect l="l" t="t" r="r" b="b"/>
            <a:pathLst>
              <a:path w="8229600" h="1143000">
                <a:moveTo>
                  <a:pt x="8229600" y="0"/>
                </a:moveTo>
                <a:lnTo>
                  <a:pt x="0" y="0"/>
                </a:lnTo>
                <a:lnTo>
                  <a:pt x="0" y="1143000"/>
                </a:lnTo>
                <a:lnTo>
                  <a:pt x="4114800" y="1143000"/>
                </a:lnTo>
                <a:lnTo>
                  <a:pt x="8229600" y="1143000"/>
                </a:lnTo>
                <a:lnTo>
                  <a:pt x="82296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101600"/>
            <a:ext cx="7962900" cy="1488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7050" y="3346450"/>
            <a:ext cx="8020050" cy="2537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0710" y="2181859"/>
            <a:ext cx="5397500" cy="13665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3670">
              <a:lnSpc>
                <a:spcPct val="100000"/>
              </a:lnSpc>
              <a:spcBef>
                <a:spcPts val="100"/>
              </a:spcBef>
            </a:pPr>
            <a:r>
              <a:rPr dirty="0" sz="4400" b="0">
                <a:latin typeface="Arial MT"/>
                <a:cs typeface="Arial MT"/>
              </a:rPr>
              <a:t>Assembly </a:t>
            </a:r>
            <a:r>
              <a:rPr dirty="0" sz="4400" spc="-10" b="0">
                <a:latin typeface="Arial MT"/>
                <a:cs typeface="Arial MT"/>
              </a:rPr>
              <a:t>Language </a:t>
            </a:r>
            <a:r>
              <a:rPr dirty="0" sz="4400" spc="-1210" b="0"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Programming</a:t>
            </a:r>
            <a:r>
              <a:rPr dirty="0" sz="4400" spc="-45" b="0"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of</a:t>
            </a:r>
            <a:r>
              <a:rPr dirty="0" sz="4400" spc="-45" b="0"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8085</a:t>
            </a:r>
            <a:endParaRPr sz="4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7840"/>
            <a:ext cx="160972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4400" spc="-490" b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</a:t>
            </a:r>
            <a:r>
              <a:rPr dirty="0" u="heavy" sz="4400" spc="-10" b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</a:t>
            </a:r>
            <a:r>
              <a:rPr dirty="0" u="heavy" sz="4400" spc="-5" b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</a:t>
            </a:r>
            <a:r>
              <a:rPr dirty="0" u="heavy" sz="4400" spc="5" b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</a:t>
            </a:r>
            <a:r>
              <a:rPr dirty="0" u="heavy" sz="4400" b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cs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31619"/>
            <a:ext cx="6950709" cy="3576320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919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dirty="0" sz="3200" spc="-5">
                <a:latin typeface="Arial MT"/>
                <a:cs typeface="Arial MT"/>
              </a:rPr>
              <a:t>Introduction</a:t>
            </a:r>
            <a:endParaRPr sz="3200">
              <a:latin typeface="Arial MT"/>
              <a:cs typeface="Arial MT"/>
            </a:endParaRPr>
          </a:p>
          <a:p>
            <a:pPr marL="622300" indent="-609600">
              <a:lnSpc>
                <a:spcPct val="100000"/>
              </a:lnSpc>
              <a:spcBef>
                <a:spcPts val="819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dirty="0" sz="3200" spc="-5">
                <a:latin typeface="Arial MT"/>
                <a:cs typeface="Arial MT"/>
              </a:rPr>
              <a:t>Programming model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of</a:t>
            </a:r>
            <a:r>
              <a:rPr dirty="0" sz="3200" spc="35"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333398"/>
                </a:solidFill>
                <a:latin typeface="Arial MT"/>
                <a:cs typeface="Arial MT"/>
              </a:rPr>
              <a:t>8085</a:t>
            </a:r>
            <a:endParaRPr sz="3200">
              <a:latin typeface="Arial MT"/>
              <a:cs typeface="Arial MT"/>
            </a:endParaRPr>
          </a:p>
          <a:p>
            <a:pPr marL="622300" indent="-609600">
              <a:lnSpc>
                <a:spcPct val="100000"/>
              </a:lnSpc>
              <a:spcBef>
                <a:spcPts val="819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dirty="0" sz="3200" spc="-5">
                <a:latin typeface="Arial MT"/>
                <a:cs typeface="Arial MT"/>
              </a:rPr>
              <a:t>Instruction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set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of</a:t>
            </a:r>
            <a:r>
              <a:rPr dirty="0" sz="3200" spc="40"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333398"/>
                </a:solidFill>
                <a:latin typeface="Arial MT"/>
                <a:cs typeface="Arial MT"/>
              </a:rPr>
              <a:t>8085</a:t>
            </a:r>
            <a:endParaRPr sz="3200">
              <a:latin typeface="Arial MT"/>
              <a:cs typeface="Arial MT"/>
            </a:endParaRPr>
          </a:p>
          <a:p>
            <a:pPr marL="622300" indent="-609600">
              <a:lnSpc>
                <a:spcPct val="100000"/>
              </a:lnSpc>
              <a:spcBef>
                <a:spcPts val="819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dirty="0" sz="3200" spc="-5">
                <a:latin typeface="Arial MT"/>
                <a:cs typeface="Arial MT"/>
              </a:rPr>
              <a:t>Example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Programs</a:t>
            </a:r>
            <a:endParaRPr sz="3200">
              <a:latin typeface="Arial MT"/>
              <a:cs typeface="Arial MT"/>
            </a:endParaRPr>
          </a:p>
          <a:p>
            <a:pPr marL="622300" indent="-609600">
              <a:lnSpc>
                <a:spcPct val="100000"/>
              </a:lnSpc>
              <a:spcBef>
                <a:spcPts val="819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dirty="0" sz="3200">
                <a:latin typeface="Arial MT"/>
                <a:cs typeface="Arial MT"/>
              </a:rPr>
              <a:t>Addressing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modes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of</a:t>
            </a:r>
            <a:r>
              <a:rPr dirty="0" sz="3200" spc="30"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333398"/>
                </a:solidFill>
                <a:latin typeface="Arial MT"/>
                <a:cs typeface="Arial MT"/>
              </a:rPr>
              <a:t>8085</a:t>
            </a:r>
            <a:endParaRPr sz="3200">
              <a:latin typeface="Arial MT"/>
              <a:cs typeface="Arial MT"/>
            </a:endParaRPr>
          </a:p>
          <a:p>
            <a:pPr marL="622300" indent="-609600">
              <a:lnSpc>
                <a:spcPct val="100000"/>
              </a:lnSpc>
              <a:spcBef>
                <a:spcPts val="819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dirty="0" sz="3200" spc="-5">
                <a:latin typeface="Arial MT"/>
                <a:cs typeface="Arial MT"/>
              </a:rPr>
              <a:t>Instruction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&amp;</a:t>
            </a:r>
            <a:r>
              <a:rPr dirty="0" sz="3200" spc="-5">
                <a:latin typeface="Arial MT"/>
                <a:cs typeface="Arial MT"/>
              </a:rPr>
              <a:t> Data Formats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of</a:t>
            </a:r>
            <a:r>
              <a:rPr dirty="0" sz="3200" spc="90"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333398"/>
                </a:solidFill>
                <a:latin typeface="Arial MT"/>
                <a:cs typeface="Arial MT"/>
              </a:rPr>
              <a:t>8085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00800" y="2362200"/>
            <a:ext cx="533400" cy="228600"/>
            <a:chOff x="6400800" y="2362200"/>
            <a:chExt cx="533400" cy="228600"/>
          </a:xfrm>
        </p:grpSpPr>
        <p:sp>
          <p:nvSpPr>
            <p:cNvPr id="5" name="object 5"/>
            <p:cNvSpPr/>
            <p:nvPr/>
          </p:nvSpPr>
          <p:spPr>
            <a:xfrm>
              <a:off x="6400800" y="2362200"/>
              <a:ext cx="533400" cy="228600"/>
            </a:xfrm>
            <a:custGeom>
              <a:avLst/>
              <a:gdLst/>
              <a:ahLst/>
              <a:cxnLst/>
              <a:rect l="l" t="t" r="r" b="b"/>
              <a:pathLst>
                <a:path w="533400" h="228600">
                  <a:moveTo>
                    <a:pt x="0" y="0"/>
                  </a:moveTo>
                  <a:lnTo>
                    <a:pt x="533400" y="0"/>
                  </a:lnTo>
                  <a:lnTo>
                    <a:pt x="5334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400800" y="2362200"/>
              <a:ext cx="533400" cy="13970"/>
            </a:xfrm>
            <a:custGeom>
              <a:avLst/>
              <a:gdLst/>
              <a:ahLst/>
              <a:cxnLst/>
              <a:rect l="l" t="t" r="r" b="b"/>
              <a:pathLst>
                <a:path w="533400" h="13969">
                  <a:moveTo>
                    <a:pt x="533400" y="0"/>
                  </a:moveTo>
                  <a:lnTo>
                    <a:pt x="0" y="0"/>
                  </a:lnTo>
                  <a:lnTo>
                    <a:pt x="15239" y="13970"/>
                  </a:lnTo>
                  <a:lnTo>
                    <a:pt x="518159" y="1397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C7E5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918959" y="2362200"/>
              <a:ext cx="15240" cy="228600"/>
            </a:xfrm>
            <a:custGeom>
              <a:avLst/>
              <a:gdLst/>
              <a:ahLst/>
              <a:cxnLst/>
              <a:rect l="l" t="t" r="r" b="b"/>
              <a:pathLst>
                <a:path w="15240" h="228600">
                  <a:moveTo>
                    <a:pt x="15240" y="0"/>
                  </a:moveTo>
                  <a:lnTo>
                    <a:pt x="0" y="13970"/>
                  </a:lnTo>
                  <a:lnTo>
                    <a:pt x="0" y="213360"/>
                  </a:lnTo>
                  <a:lnTo>
                    <a:pt x="15240" y="228600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6F85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400800" y="2575559"/>
              <a:ext cx="533400" cy="15240"/>
            </a:xfrm>
            <a:custGeom>
              <a:avLst/>
              <a:gdLst/>
              <a:ahLst/>
              <a:cxnLst/>
              <a:rect l="l" t="t" r="r" b="b"/>
              <a:pathLst>
                <a:path w="533400" h="15239">
                  <a:moveTo>
                    <a:pt x="518159" y="0"/>
                  </a:moveTo>
                  <a:lnTo>
                    <a:pt x="15239" y="0"/>
                  </a:lnTo>
                  <a:lnTo>
                    <a:pt x="0" y="15239"/>
                  </a:lnTo>
                  <a:lnTo>
                    <a:pt x="533400" y="15239"/>
                  </a:lnTo>
                  <a:lnTo>
                    <a:pt x="518159" y="0"/>
                  </a:lnTo>
                  <a:close/>
                </a:path>
              </a:pathLst>
            </a:custGeom>
            <a:solidFill>
              <a:srgbClr val="95B2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400800" y="2362200"/>
              <a:ext cx="15240" cy="228600"/>
            </a:xfrm>
            <a:custGeom>
              <a:avLst/>
              <a:gdLst/>
              <a:ahLst/>
              <a:cxnLst/>
              <a:rect l="l" t="t" r="r" b="b"/>
              <a:pathLst>
                <a:path w="15239" h="228600">
                  <a:moveTo>
                    <a:pt x="0" y="0"/>
                  </a:moveTo>
                  <a:lnTo>
                    <a:pt x="0" y="228600"/>
                  </a:lnTo>
                  <a:lnTo>
                    <a:pt x="15239" y="213360"/>
                  </a:lnTo>
                  <a:lnTo>
                    <a:pt x="15239" y="139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EB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593839" y="2401569"/>
              <a:ext cx="147320" cy="148590"/>
            </a:xfrm>
            <a:custGeom>
              <a:avLst/>
              <a:gdLst/>
              <a:ahLst/>
              <a:cxnLst/>
              <a:rect l="l" t="t" r="r" b="b"/>
              <a:pathLst>
                <a:path w="147320" h="148589">
                  <a:moveTo>
                    <a:pt x="0" y="0"/>
                  </a:moveTo>
                  <a:lnTo>
                    <a:pt x="0" y="148589"/>
                  </a:lnTo>
                  <a:lnTo>
                    <a:pt x="147319" y="74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858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5410200" y="2971800"/>
            <a:ext cx="533400" cy="228600"/>
            <a:chOff x="5410200" y="2971800"/>
            <a:chExt cx="533400" cy="228600"/>
          </a:xfrm>
        </p:grpSpPr>
        <p:sp>
          <p:nvSpPr>
            <p:cNvPr id="12" name="object 12"/>
            <p:cNvSpPr/>
            <p:nvPr/>
          </p:nvSpPr>
          <p:spPr>
            <a:xfrm>
              <a:off x="5410200" y="2971800"/>
              <a:ext cx="533400" cy="228600"/>
            </a:xfrm>
            <a:custGeom>
              <a:avLst/>
              <a:gdLst/>
              <a:ahLst/>
              <a:cxnLst/>
              <a:rect l="l" t="t" r="r" b="b"/>
              <a:pathLst>
                <a:path w="533400" h="228600">
                  <a:moveTo>
                    <a:pt x="0" y="0"/>
                  </a:moveTo>
                  <a:lnTo>
                    <a:pt x="533400" y="0"/>
                  </a:lnTo>
                  <a:lnTo>
                    <a:pt x="5334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410200" y="2971800"/>
              <a:ext cx="533400" cy="13970"/>
            </a:xfrm>
            <a:custGeom>
              <a:avLst/>
              <a:gdLst/>
              <a:ahLst/>
              <a:cxnLst/>
              <a:rect l="l" t="t" r="r" b="b"/>
              <a:pathLst>
                <a:path w="533400" h="13969">
                  <a:moveTo>
                    <a:pt x="533400" y="0"/>
                  </a:moveTo>
                  <a:lnTo>
                    <a:pt x="0" y="0"/>
                  </a:lnTo>
                  <a:lnTo>
                    <a:pt x="15239" y="13970"/>
                  </a:lnTo>
                  <a:lnTo>
                    <a:pt x="518160" y="1397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C7E5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928359" y="2971800"/>
              <a:ext cx="15240" cy="228600"/>
            </a:xfrm>
            <a:custGeom>
              <a:avLst/>
              <a:gdLst/>
              <a:ahLst/>
              <a:cxnLst/>
              <a:rect l="l" t="t" r="r" b="b"/>
              <a:pathLst>
                <a:path w="15239" h="228600">
                  <a:moveTo>
                    <a:pt x="15239" y="0"/>
                  </a:moveTo>
                  <a:lnTo>
                    <a:pt x="0" y="13970"/>
                  </a:lnTo>
                  <a:lnTo>
                    <a:pt x="0" y="213360"/>
                  </a:lnTo>
                  <a:lnTo>
                    <a:pt x="15239" y="228600"/>
                  </a:lnTo>
                  <a:lnTo>
                    <a:pt x="15239" y="0"/>
                  </a:lnTo>
                  <a:close/>
                </a:path>
              </a:pathLst>
            </a:custGeom>
            <a:solidFill>
              <a:srgbClr val="6F85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410200" y="3185159"/>
              <a:ext cx="533400" cy="15240"/>
            </a:xfrm>
            <a:custGeom>
              <a:avLst/>
              <a:gdLst/>
              <a:ahLst/>
              <a:cxnLst/>
              <a:rect l="l" t="t" r="r" b="b"/>
              <a:pathLst>
                <a:path w="533400" h="15239">
                  <a:moveTo>
                    <a:pt x="518160" y="0"/>
                  </a:moveTo>
                  <a:lnTo>
                    <a:pt x="15239" y="0"/>
                  </a:lnTo>
                  <a:lnTo>
                    <a:pt x="0" y="15239"/>
                  </a:lnTo>
                  <a:lnTo>
                    <a:pt x="533400" y="15239"/>
                  </a:lnTo>
                  <a:lnTo>
                    <a:pt x="518160" y="0"/>
                  </a:lnTo>
                  <a:close/>
                </a:path>
              </a:pathLst>
            </a:custGeom>
            <a:solidFill>
              <a:srgbClr val="95B2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410200" y="2971800"/>
              <a:ext cx="15240" cy="228600"/>
            </a:xfrm>
            <a:custGeom>
              <a:avLst/>
              <a:gdLst/>
              <a:ahLst/>
              <a:cxnLst/>
              <a:rect l="l" t="t" r="r" b="b"/>
              <a:pathLst>
                <a:path w="15239" h="228600">
                  <a:moveTo>
                    <a:pt x="0" y="0"/>
                  </a:moveTo>
                  <a:lnTo>
                    <a:pt x="0" y="228600"/>
                  </a:lnTo>
                  <a:lnTo>
                    <a:pt x="15239" y="213360"/>
                  </a:lnTo>
                  <a:lnTo>
                    <a:pt x="15239" y="139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EB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603239" y="3011169"/>
              <a:ext cx="147320" cy="148590"/>
            </a:xfrm>
            <a:custGeom>
              <a:avLst/>
              <a:gdLst/>
              <a:ahLst/>
              <a:cxnLst/>
              <a:rect l="l" t="t" r="r" b="b"/>
              <a:pathLst>
                <a:path w="147320" h="148589">
                  <a:moveTo>
                    <a:pt x="0" y="0"/>
                  </a:moveTo>
                  <a:lnTo>
                    <a:pt x="0" y="148589"/>
                  </a:lnTo>
                  <a:lnTo>
                    <a:pt x="147320" y="74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858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6172200" y="4114800"/>
            <a:ext cx="457200" cy="228600"/>
            <a:chOff x="6172200" y="4114800"/>
            <a:chExt cx="457200" cy="228600"/>
          </a:xfrm>
        </p:grpSpPr>
        <p:sp>
          <p:nvSpPr>
            <p:cNvPr id="19" name="object 19"/>
            <p:cNvSpPr/>
            <p:nvPr/>
          </p:nvSpPr>
          <p:spPr>
            <a:xfrm>
              <a:off x="6172200" y="4114800"/>
              <a:ext cx="457200" cy="228600"/>
            </a:xfrm>
            <a:custGeom>
              <a:avLst/>
              <a:gdLst/>
              <a:ahLst/>
              <a:cxnLst/>
              <a:rect l="l" t="t" r="r" b="b"/>
              <a:pathLst>
                <a:path w="457200" h="228600">
                  <a:moveTo>
                    <a:pt x="0" y="0"/>
                  </a:moveTo>
                  <a:lnTo>
                    <a:pt x="457200" y="0"/>
                  </a:lnTo>
                  <a:lnTo>
                    <a:pt x="4572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172200" y="4114800"/>
              <a:ext cx="457200" cy="13970"/>
            </a:xfrm>
            <a:custGeom>
              <a:avLst/>
              <a:gdLst/>
              <a:ahLst/>
              <a:cxnLst/>
              <a:rect l="l" t="t" r="r" b="b"/>
              <a:pathLst>
                <a:path w="457200" h="13970">
                  <a:moveTo>
                    <a:pt x="457200" y="0"/>
                  </a:moveTo>
                  <a:lnTo>
                    <a:pt x="0" y="0"/>
                  </a:lnTo>
                  <a:lnTo>
                    <a:pt x="15239" y="13969"/>
                  </a:lnTo>
                  <a:lnTo>
                    <a:pt x="441959" y="13969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C7E5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614159" y="4114800"/>
              <a:ext cx="15240" cy="228600"/>
            </a:xfrm>
            <a:custGeom>
              <a:avLst/>
              <a:gdLst/>
              <a:ahLst/>
              <a:cxnLst/>
              <a:rect l="l" t="t" r="r" b="b"/>
              <a:pathLst>
                <a:path w="15240" h="228600">
                  <a:moveTo>
                    <a:pt x="15240" y="0"/>
                  </a:moveTo>
                  <a:lnTo>
                    <a:pt x="0" y="13969"/>
                  </a:lnTo>
                  <a:lnTo>
                    <a:pt x="0" y="213360"/>
                  </a:lnTo>
                  <a:lnTo>
                    <a:pt x="15240" y="228600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6F85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172200" y="4328159"/>
              <a:ext cx="457200" cy="15240"/>
            </a:xfrm>
            <a:custGeom>
              <a:avLst/>
              <a:gdLst/>
              <a:ahLst/>
              <a:cxnLst/>
              <a:rect l="l" t="t" r="r" b="b"/>
              <a:pathLst>
                <a:path w="457200" h="15239">
                  <a:moveTo>
                    <a:pt x="441959" y="0"/>
                  </a:moveTo>
                  <a:lnTo>
                    <a:pt x="15239" y="0"/>
                  </a:lnTo>
                  <a:lnTo>
                    <a:pt x="0" y="15239"/>
                  </a:lnTo>
                  <a:lnTo>
                    <a:pt x="457200" y="15239"/>
                  </a:lnTo>
                  <a:lnTo>
                    <a:pt x="441959" y="0"/>
                  </a:lnTo>
                  <a:close/>
                </a:path>
              </a:pathLst>
            </a:custGeom>
            <a:solidFill>
              <a:srgbClr val="95B2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172200" y="4114800"/>
              <a:ext cx="15240" cy="228600"/>
            </a:xfrm>
            <a:custGeom>
              <a:avLst/>
              <a:gdLst/>
              <a:ahLst/>
              <a:cxnLst/>
              <a:rect l="l" t="t" r="r" b="b"/>
              <a:pathLst>
                <a:path w="15239" h="228600">
                  <a:moveTo>
                    <a:pt x="0" y="0"/>
                  </a:moveTo>
                  <a:lnTo>
                    <a:pt x="0" y="228600"/>
                  </a:lnTo>
                  <a:lnTo>
                    <a:pt x="15239" y="213360"/>
                  </a:lnTo>
                  <a:lnTo>
                    <a:pt x="15239" y="139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EB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327139" y="4154169"/>
              <a:ext cx="147320" cy="148590"/>
            </a:xfrm>
            <a:custGeom>
              <a:avLst/>
              <a:gdLst/>
              <a:ahLst/>
              <a:cxnLst/>
              <a:rect l="l" t="t" r="r" b="b"/>
              <a:pathLst>
                <a:path w="147320" h="148589">
                  <a:moveTo>
                    <a:pt x="0" y="0"/>
                  </a:moveTo>
                  <a:lnTo>
                    <a:pt x="0" y="148589"/>
                  </a:lnTo>
                  <a:lnTo>
                    <a:pt x="147320" y="74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858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7620000" y="4648200"/>
            <a:ext cx="457200" cy="228600"/>
            <a:chOff x="7620000" y="4648200"/>
            <a:chExt cx="457200" cy="228600"/>
          </a:xfrm>
        </p:grpSpPr>
        <p:sp>
          <p:nvSpPr>
            <p:cNvPr id="26" name="object 26"/>
            <p:cNvSpPr/>
            <p:nvPr/>
          </p:nvSpPr>
          <p:spPr>
            <a:xfrm>
              <a:off x="7620000" y="4648200"/>
              <a:ext cx="457200" cy="228600"/>
            </a:xfrm>
            <a:custGeom>
              <a:avLst/>
              <a:gdLst/>
              <a:ahLst/>
              <a:cxnLst/>
              <a:rect l="l" t="t" r="r" b="b"/>
              <a:pathLst>
                <a:path w="457200" h="228600">
                  <a:moveTo>
                    <a:pt x="0" y="0"/>
                  </a:moveTo>
                  <a:lnTo>
                    <a:pt x="457200" y="0"/>
                  </a:lnTo>
                  <a:lnTo>
                    <a:pt x="4572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620000" y="4648200"/>
              <a:ext cx="457200" cy="13970"/>
            </a:xfrm>
            <a:custGeom>
              <a:avLst/>
              <a:gdLst/>
              <a:ahLst/>
              <a:cxnLst/>
              <a:rect l="l" t="t" r="r" b="b"/>
              <a:pathLst>
                <a:path w="457200" h="13970">
                  <a:moveTo>
                    <a:pt x="457200" y="0"/>
                  </a:moveTo>
                  <a:lnTo>
                    <a:pt x="0" y="0"/>
                  </a:lnTo>
                  <a:lnTo>
                    <a:pt x="15240" y="13969"/>
                  </a:lnTo>
                  <a:lnTo>
                    <a:pt x="441959" y="13969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C7E5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061959" y="4648200"/>
              <a:ext cx="15240" cy="228600"/>
            </a:xfrm>
            <a:custGeom>
              <a:avLst/>
              <a:gdLst/>
              <a:ahLst/>
              <a:cxnLst/>
              <a:rect l="l" t="t" r="r" b="b"/>
              <a:pathLst>
                <a:path w="15240" h="228600">
                  <a:moveTo>
                    <a:pt x="15240" y="0"/>
                  </a:moveTo>
                  <a:lnTo>
                    <a:pt x="0" y="13969"/>
                  </a:lnTo>
                  <a:lnTo>
                    <a:pt x="0" y="213360"/>
                  </a:lnTo>
                  <a:lnTo>
                    <a:pt x="15240" y="228600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6F85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620000" y="4861559"/>
              <a:ext cx="457200" cy="15240"/>
            </a:xfrm>
            <a:custGeom>
              <a:avLst/>
              <a:gdLst/>
              <a:ahLst/>
              <a:cxnLst/>
              <a:rect l="l" t="t" r="r" b="b"/>
              <a:pathLst>
                <a:path w="457200" h="15239">
                  <a:moveTo>
                    <a:pt x="441959" y="0"/>
                  </a:moveTo>
                  <a:lnTo>
                    <a:pt x="15240" y="0"/>
                  </a:lnTo>
                  <a:lnTo>
                    <a:pt x="0" y="15239"/>
                  </a:lnTo>
                  <a:lnTo>
                    <a:pt x="457200" y="15239"/>
                  </a:lnTo>
                  <a:lnTo>
                    <a:pt x="441959" y="0"/>
                  </a:lnTo>
                  <a:close/>
                </a:path>
              </a:pathLst>
            </a:custGeom>
            <a:solidFill>
              <a:srgbClr val="95B2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7620000" y="4648200"/>
              <a:ext cx="15240" cy="228600"/>
            </a:xfrm>
            <a:custGeom>
              <a:avLst/>
              <a:gdLst/>
              <a:ahLst/>
              <a:cxnLst/>
              <a:rect l="l" t="t" r="r" b="b"/>
              <a:pathLst>
                <a:path w="15240" h="228600">
                  <a:moveTo>
                    <a:pt x="0" y="0"/>
                  </a:moveTo>
                  <a:lnTo>
                    <a:pt x="0" y="228600"/>
                  </a:lnTo>
                  <a:lnTo>
                    <a:pt x="15240" y="213360"/>
                  </a:lnTo>
                  <a:lnTo>
                    <a:pt x="15240" y="139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EB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774939" y="4687569"/>
              <a:ext cx="147320" cy="148590"/>
            </a:xfrm>
            <a:custGeom>
              <a:avLst/>
              <a:gdLst/>
              <a:ahLst/>
              <a:cxnLst/>
              <a:rect l="l" t="t" r="r" b="b"/>
              <a:pathLst>
                <a:path w="147320" h="148589">
                  <a:moveTo>
                    <a:pt x="0" y="0"/>
                  </a:moveTo>
                  <a:lnTo>
                    <a:pt x="0" y="148589"/>
                  </a:lnTo>
                  <a:lnTo>
                    <a:pt x="147319" y="74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858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/>
          <p:cNvGrpSpPr/>
          <p:nvPr/>
        </p:nvGrpSpPr>
        <p:grpSpPr>
          <a:xfrm>
            <a:off x="4800600" y="3581400"/>
            <a:ext cx="457200" cy="228600"/>
            <a:chOff x="4800600" y="3581400"/>
            <a:chExt cx="457200" cy="228600"/>
          </a:xfrm>
        </p:grpSpPr>
        <p:sp>
          <p:nvSpPr>
            <p:cNvPr id="33" name="object 33"/>
            <p:cNvSpPr/>
            <p:nvPr/>
          </p:nvSpPr>
          <p:spPr>
            <a:xfrm>
              <a:off x="4800600" y="3581400"/>
              <a:ext cx="457200" cy="228600"/>
            </a:xfrm>
            <a:custGeom>
              <a:avLst/>
              <a:gdLst/>
              <a:ahLst/>
              <a:cxnLst/>
              <a:rect l="l" t="t" r="r" b="b"/>
              <a:pathLst>
                <a:path w="457200" h="228600">
                  <a:moveTo>
                    <a:pt x="0" y="0"/>
                  </a:moveTo>
                  <a:lnTo>
                    <a:pt x="457200" y="0"/>
                  </a:lnTo>
                  <a:lnTo>
                    <a:pt x="4572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800600" y="3581400"/>
              <a:ext cx="457200" cy="13970"/>
            </a:xfrm>
            <a:custGeom>
              <a:avLst/>
              <a:gdLst/>
              <a:ahLst/>
              <a:cxnLst/>
              <a:rect l="l" t="t" r="r" b="b"/>
              <a:pathLst>
                <a:path w="457200" h="13970">
                  <a:moveTo>
                    <a:pt x="457200" y="0"/>
                  </a:moveTo>
                  <a:lnTo>
                    <a:pt x="0" y="0"/>
                  </a:lnTo>
                  <a:lnTo>
                    <a:pt x="15239" y="13970"/>
                  </a:lnTo>
                  <a:lnTo>
                    <a:pt x="441960" y="1397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C7E5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242559" y="3581400"/>
              <a:ext cx="15240" cy="228600"/>
            </a:xfrm>
            <a:custGeom>
              <a:avLst/>
              <a:gdLst/>
              <a:ahLst/>
              <a:cxnLst/>
              <a:rect l="l" t="t" r="r" b="b"/>
              <a:pathLst>
                <a:path w="15239" h="228600">
                  <a:moveTo>
                    <a:pt x="15239" y="0"/>
                  </a:moveTo>
                  <a:lnTo>
                    <a:pt x="0" y="13970"/>
                  </a:lnTo>
                  <a:lnTo>
                    <a:pt x="0" y="213360"/>
                  </a:lnTo>
                  <a:lnTo>
                    <a:pt x="15239" y="228600"/>
                  </a:lnTo>
                  <a:lnTo>
                    <a:pt x="15239" y="0"/>
                  </a:lnTo>
                  <a:close/>
                </a:path>
              </a:pathLst>
            </a:custGeom>
            <a:solidFill>
              <a:srgbClr val="6F85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800600" y="3794759"/>
              <a:ext cx="457200" cy="15240"/>
            </a:xfrm>
            <a:custGeom>
              <a:avLst/>
              <a:gdLst/>
              <a:ahLst/>
              <a:cxnLst/>
              <a:rect l="l" t="t" r="r" b="b"/>
              <a:pathLst>
                <a:path w="457200" h="15239">
                  <a:moveTo>
                    <a:pt x="441960" y="0"/>
                  </a:moveTo>
                  <a:lnTo>
                    <a:pt x="15239" y="0"/>
                  </a:lnTo>
                  <a:lnTo>
                    <a:pt x="0" y="15239"/>
                  </a:lnTo>
                  <a:lnTo>
                    <a:pt x="457200" y="15239"/>
                  </a:lnTo>
                  <a:lnTo>
                    <a:pt x="441960" y="0"/>
                  </a:lnTo>
                  <a:close/>
                </a:path>
              </a:pathLst>
            </a:custGeom>
            <a:solidFill>
              <a:srgbClr val="95B2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800600" y="3581400"/>
              <a:ext cx="15240" cy="228600"/>
            </a:xfrm>
            <a:custGeom>
              <a:avLst/>
              <a:gdLst/>
              <a:ahLst/>
              <a:cxnLst/>
              <a:rect l="l" t="t" r="r" b="b"/>
              <a:pathLst>
                <a:path w="15239" h="228600">
                  <a:moveTo>
                    <a:pt x="0" y="0"/>
                  </a:moveTo>
                  <a:lnTo>
                    <a:pt x="0" y="228600"/>
                  </a:lnTo>
                  <a:lnTo>
                    <a:pt x="15239" y="213360"/>
                  </a:lnTo>
                  <a:lnTo>
                    <a:pt x="15239" y="139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EB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955539" y="3620769"/>
              <a:ext cx="147320" cy="148590"/>
            </a:xfrm>
            <a:custGeom>
              <a:avLst/>
              <a:gdLst/>
              <a:ahLst/>
              <a:cxnLst/>
              <a:rect l="l" t="t" r="r" b="b"/>
              <a:pathLst>
                <a:path w="147320" h="148589">
                  <a:moveTo>
                    <a:pt x="0" y="0"/>
                  </a:moveTo>
                  <a:lnTo>
                    <a:pt x="0" y="148589"/>
                  </a:lnTo>
                  <a:lnTo>
                    <a:pt x="147320" y="73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8587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7650" y="497840"/>
            <a:ext cx="356679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 b="0">
                <a:solidFill>
                  <a:srgbClr val="FF3300"/>
                </a:solidFill>
                <a:latin typeface="Arial MT"/>
                <a:cs typeface="Arial MT"/>
              </a:rPr>
              <a:t>1.</a:t>
            </a:r>
            <a:r>
              <a:rPr dirty="0" sz="4400" spc="-75" b="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Introduction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34490"/>
            <a:ext cx="7964805" cy="3285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>
                <a:latin typeface="Arial MT"/>
                <a:cs typeface="Arial MT"/>
              </a:rPr>
              <a:t>A </a:t>
            </a:r>
            <a:r>
              <a:rPr dirty="0" sz="2800" spc="-5">
                <a:solidFill>
                  <a:srgbClr val="333398"/>
                </a:solidFill>
                <a:latin typeface="Arial MT"/>
                <a:cs typeface="Arial MT"/>
              </a:rPr>
              <a:t>microprocessor </a:t>
            </a:r>
            <a:r>
              <a:rPr dirty="0" sz="2800" spc="-5">
                <a:latin typeface="Arial MT"/>
                <a:cs typeface="Arial MT"/>
              </a:rPr>
              <a:t>executes instructions given by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the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user</a:t>
            </a:r>
            <a:endParaRPr sz="2800">
              <a:latin typeface="Arial MT"/>
              <a:cs typeface="Arial MT"/>
            </a:endParaRPr>
          </a:p>
          <a:p>
            <a:pPr marL="355600" marR="383540" indent="-342900">
              <a:lnSpc>
                <a:spcPct val="100000"/>
              </a:lnSpc>
              <a:spcBef>
                <a:spcPts val="72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Arial MT"/>
                <a:cs typeface="Arial MT"/>
              </a:rPr>
              <a:t>Instructions should be in</a:t>
            </a:r>
            <a:r>
              <a:rPr dirty="0" sz="2800">
                <a:latin typeface="Arial MT"/>
                <a:cs typeface="Arial MT"/>
              </a:rPr>
              <a:t> a</a:t>
            </a:r>
            <a:r>
              <a:rPr dirty="0" sz="2800" spc="-5">
                <a:latin typeface="Arial MT"/>
                <a:cs typeface="Arial MT"/>
              </a:rPr>
              <a:t> language known </a:t>
            </a:r>
            <a:r>
              <a:rPr dirty="0" sz="2800">
                <a:latin typeface="Arial MT"/>
                <a:cs typeface="Arial MT"/>
              </a:rPr>
              <a:t>to </a:t>
            </a:r>
            <a:r>
              <a:rPr dirty="0" sz="2800" spc="-76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the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333398"/>
                </a:solidFill>
                <a:latin typeface="Arial MT"/>
                <a:cs typeface="Arial MT"/>
              </a:rPr>
              <a:t>microprocessor</a:t>
            </a:r>
            <a:endParaRPr sz="2800">
              <a:latin typeface="Arial MT"/>
              <a:cs typeface="Arial MT"/>
            </a:endParaRPr>
          </a:p>
          <a:p>
            <a:pPr marL="355600" marR="10160" indent="-342900">
              <a:lnSpc>
                <a:spcPct val="100000"/>
              </a:lnSpc>
              <a:spcBef>
                <a:spcPts val="72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solidFill>
                  <a:srgbClr val="333398"/>
                </a:solidFill>
                <a:latin typeface="Arial MT"/>
                <a:cs typeface="Arial MT"/>
              </a:rPr>
              <a:t>Microprocessor</a:t>
            </a:r>
            <a:r>
              <a:rPr dirty="0" sz="2800" spc="20">
                <a:solidFill>
                  <a:srgbClr val="333398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understands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the language of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0’s </a:t>
            </a:r>
            <a:r>
              <a:rPr dirty="0" sz="2800" spc="-76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and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1’s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only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1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Arial MT"/>
                <a:cs typeface="Arial MT"/>
              </a:rPr>
              <a:t>This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language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is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called</a:t>
            </a:r>
            <a:r>
              <a:rPr dirty="0" sz="2800" spc="20">
                <a:latin typeface="Arial MT"/>
                <a:cs typeface="Arial MT"/>
              </a:rPr>
              <a:t> </a:t>
            </a:r>
            <a:r>
              <a:rPr dirty="0" sz="2800" spc="-5" b="1">
                <a:latin typeface="Arial"/>
                <a:cs typeface="Arial"/>
              </a:rPr>
              <a:t>Machine</a:t>
            </a:r>
            <a:r>
              <a:rPr dirty="0" sz="2800" spc="-15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Language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32708"/>
            <a:ext cx="7473315" cy="3021965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1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Arial MT"/>
                <a:cs typeface="Arial MT"/>
              </a:rPr>
              <a:t>F</a:t>
            </a:r>
            <a:r>
              <a:rPr dirty="0" sz="3200" spc="-5">
                <a:latin typeface="Arial MT"/>
                <a:cs typeface="Arial MT"/>
              </a:rPr>
              <a:t>or</a:t>
            </a:r>
            <a:r>
              <a:rPr dirty="0" sz="3200" spc="-9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e.g.</a:t>
            </a:r>
            <a:endParaRPr sz="32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710"/>
              </a:spcBef>
            </a:pPr>
            <a:r>
              <a:rPr dirty="0" sz="2800" spc="-5">
                <a:latin typeface="Arial MT"/>
                <a:cs typeface="Arial MT"/>
              </a:rPr>
              <a:t>01001111</a:t>
            </a:r>
            <a:endParaRPr sz="2800">
              <a:latin typeface="Arial MT"/>
              <a:cs typeface="Arial MT"/>
            </a:endParaRPr>
          </a:p>
          <a:p>
            <a:pPr lvl="1" marL="755650" marR="182245" indent="-285750">
              <a:lnSpc>
                <a:spcPct val="1006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dirty="0" sz="2800">
                <a:latin typeface="Arial MT"/>
                <a:cs typeface="Arial MT"/>
              </a:rPr>
              <a:t>Is a valid </a:t>
            </a:r>
            <a:r>
              <a:rPr dirty="0" sz="2800" spc="-5">
                <a:latin typeface="Arial MT"/>
                <a:cs typeface="Arial MT"/>
              </a:rPr>
              <a:t>machine language instruction of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333398"/>
                </a:solidFill>
                <a:latin typeface="Arial MT"/>
                <a:cs typeface="Arial MT"/>
              </a:rPr>
              <a:t>8085</a:t>
            </a:r>
            <a:endParaRPr sz="2800">
              <a:latin typeface="Arial MT"/>
              <a:cs typeface="Arial MT"/>
            </a:endParaRPr>
          </a:p>
          <a:p>
            <a:pPr lvl="1" marL="755650" marR="5080" indent="-285750">
              <a:lnSpc>
                <a:spcPct val="100000"/>
              </a:lnSpc>
              <a:spcBef>
                <a:spcPts val="700"/>
              </a:spcBef>
              <a:buChar char="–"/>
              <a:tabLst>
                <a:tab pos="755650" algn="l"/>
              </a:tabLst>
            </a:pPr>
            <a:r>
              <a:rPr dirty="0" sz="2800">
                <a:latin typeface="Arial MT"/>
                <a:cs typeface="Arial MT"/>
              </a:rPr>
              <a:t>It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copies</a:t>
            </a:r>
            <a:r>
              <a:rPr dirty="0" sz="2800" spc="-5">
                <a:latin typeface="Arial MT"/>
                <a:cs typeface="Arial MT"/>
              </a:rPr>
              <a:t> the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contents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of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one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of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the internal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registers</a:t>
            </a:r>
            <a:r>
              <a:rPr dirty="0" sz="2800" spc="-5">
                <a:latin typeface="Arial MT"/>
                <a:cs typeface="Arial MT"/>
              </a:rPr>
              <a:t> of</a:t>
            </a:r>
            <a:r>
              <a:rPr dirty="0" sz="2800" spc="10"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333398"/>
                </a:solidFill>
                <a:latin typeface="Arial MT"/>
                <a:cs typeface="Arial MT"/>
              </a:rPr>
              <a:t>8085</a:t>
            </a:r>
            <a:r>
              <a:rPr dirty="0" sz="2800" spc="10">
                <a:solidFill>
                  <a:srgbClr val="333398"/>
                </a:solidFill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another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2209800"/>
            <a:ext cx="2209800" cy="2971800"/>
          </a:xfrm>
          <a:custGeom>
            <a:avLst/>
            <a:gdLst/>
            <a:ahLst/>
            <a:cxnLst/>
            <a:rect l="l" t="t" r="r" b="b"/>
            <a:pathLst>
              <a:path w="2209800" h="2971800">
                <a:moveTo>
                  <a:pt x="2209800" y="0"/>
                </a:moveTo>
                <a:lnTo>
                  <a:pt x="0" y="0"/>
                </a:lnTo>
                <a:lnTo>
                  <a:pt x="0" y="2971800"/>
                </a:lnTo>
                <a:lnTo>
                  <a:pt x="1104900" y="2971800"/>
                </a:lnTo>
                <a:lnTo>
                  <a:pt x="2209800" y="2971800"/>
                </a:lnTo>
                <a:lnTo>
                  <a:pt x="2209800" y="0"/>
                </a:lnTo>
                <a:close/>
              </a:path>
            </a:pathLst>
          </a:custGeom>
          <a:solidFill>
            <a:srgbClr val="98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57200" y="274320"/>
            <a:ext cx="8229600" cy="1143000"/>
          </a:xfrm>
          <a:custGeom>
            <a:avLst/>
            <a:gdLst/>
            <a:ahLst/>
            <a:cxnLst/>
            <a:rect l="l" t="t" r="r" b="b"/>
            <a:pathLst>
              <a:path w="8229600" h="1143000">
                <a:moveTo>
                  <a:pt x="8229600" y="0"/>
                </a:moveTo>
                <a:lnTo>
                  <a:pt x="0" y="0"/>
                </a:lnTo>
                <a:lnTo>
                  <a:pt x="0" y="1143000"/>
                </a:lnTo>
                <a:lnTo>
                  <a:pt x="4114800" y="1143000"/>
                </a:lnTo>
                <a:lnTo>
                  <a:pt x="8229600" y="1143000"/>
                </a:lnTo>
                <a:lnTo>
                  <a:pt x="82296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307340"/>
            <a:ext cx="7214870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000125" algn="l"/>
                <a:tab pos="1929764" algn="l"/>
                <a:tab pos="4748530" algn="l"/>
              </a:tabLst>
            </a:pPr>
            <a:r>
              <a:rPr dirty="0" sz="4000" b="0">
                <a:latin typeface="Arial MT"/>
                <a:cs typeface="Arial MT"/>
              </a:rPr>
              <a:t>A</a:t>
            </a:r>
            <a:r>
              <a:rPr dirty="0" sz="4000" spc="-240" b="0">
                <a:latin typeface="Arial MT"/>
                <a:cs typeface="Arial MT"/>
              </a:rPr>
              <a:t> </a:t>
            </a:r>
            <a:r>
              <a:rPr dirty="0" sz="4000" spc="-5" b="0">
                <a:latin typeface="Arial MT"/>
                <a:cs typeface="Arial MT"/>
              </a:rPr>
              <a:t>Machine language	program</a:t>
            </a:r>
            <a:r>
              <a:rPr dirty="0" sz="4000" spc="-100" b="0">
                <a:latin typeface="Arial MT"/>
                <a:cs typeface="Arial MT"/>
              </a:rPr>
              <a:t> </a:t>
            </a:r>
            <a:r>
              <a:rPr dirty="0" sz="4000" b="0">
                <a:latin typeface="Arial MT"/>
                <a:cs typeface="Arial MT"/>
              </a:rPr>
              <a:t>to </a:t>
            </a:r>
            <a:r>
              <a:rPr dirty="0" sz="4000" spc="-1095" b="0">
                <a:latin typeface="Arial MT"/>
                <a:cs typeface="Arial MT"/>
              </a:rPr>
              <a:t> </a:t>
            </a:r>
            <a:r>
              <a:rPr dirty="0" sz="4000" spc="-5" b="0">
                <a:latin typeface="Arial MT"/>
                <a:cs typeface="Arial MT"/>
              </a:rPr>
              <a:t>add	</a:t>
            </a:r>
            <a:r>
              <a:rPr dirty="0" sz="4000" spc="-10" b="0">
                <a:latin typeface="Arial MT"/>
                <a:cs typeface="Arial MT"/>
              </a:rPr>
              <a:t>two	numbers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2209800"/>
            <a:ext cx="2209800" cy="29718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wrap="square" lIns="0" tIns="63500" rIns="0" bIns="0" rtlCol="0" vert="horz">
            <a:spAutoFit/>
          </a:bodyPr>
          <a:lstStyle/>
          <a:p>
            <a:pPr marL="167640">
              <a:lnSpc>
                <a:spcPct val="100000"/>
              </a:lnSpc>
              <a:spcBef>
                <a:spcPts val="500"/>
              </a:spcBef>
            </a:pPr>
            <a:r>
              <a:rPr dirty="0" sz="3200">
                <a:latin typeface="Arial MT"/>
                <a:cs typeface="Arial MT"/>
              </a:rPr>
              <a:t>00111110</a:t>
            </a:r>
            <a:endParaRPr sz="3200">
              <a:latin typeface="Arial MT"/>
              <a:cs typeface="Arial MT"/>
            </a:endParaRPr>
          </a:p>
          <a:p>
            <a:pPr marL="167640">
              <a:lnSpc>
                <a:spcPct val="100000"/>
              </a:lnSpc>
              <a:spcBef>
                <a:spcPts val="819"/>
              </a:spcBef>
            </a:pPr>
            <a:r>
              <a:rPr dirty="0" sz="3200">
                <a:latin typeface="Arial MT"/>
                <a:cs typeface="Arial MT"/>
              </a:rPr>
              <a:t>00000010</a:t>
            </a:r>
            <a:endParaRPr sz="3200">
              <a:latin typeface="Arial MT"/>
              <a:cs typeface="Arial MT"/>
            </a:endParaRPr>
          </a:p>
          <a:p>
            <a:pPr marL="167640">
              <a:lnSpc>
                <a:spcPct val="100000"/>
              </a:lnSpc>
              <a:spcBef>
                <a:spcPts val="720"/>
              </a:spcBef>
            </a:pPr>
            <a:r>
              <a:rPr dirty="0" sz="3200">
                <a:latin typeface="Arial MT"/>
                <a:cs typeface="Arial MT"/>
              </a:rPr>
              <a:t>00000110</a:t>
            </a:r>
            <a:endParaRPr sz="3200">
              <a:latin typeface="Arial MT"/>
              <a:cs typeface="Arial MT"/>
            </a:endParaRPr>
          </a:p>
          <a:p>
            <a:pPr marL="167640">
              <a:lnSpc>
                <a:spcPct val="100000"/>
              </a:lnSpc>
              <a:spcBef>
                <a:spcPts val="819"/>
              </a:spcBef>
            </a:pPr>
            <a:r>
              <a:rPr dirty="0" sz="3200">
                <a:latin typeface="Arial MT"/>
                <a:cs typeface="Arial MT"/>
              </a:rPr>
              <a:t>00000100</a:t>
            </a:r>
            <a:endParaRPr sz="3200">
              <a:latin typeface="Arial MT"/>
              <a:cs typeface="Arial MT"/>
            </a:endParaRPr>
          </a:p>
          <a:p>
            <a:pPr marL="167640">
              <a:lnSpc>
                <a:spcPct val="100000"/>
              </a:lnSpc>
              <a:spcBef>
                <a:spcPts val="820"/>
              </a:spcBef>
            </a:pPr>
            <a:r>
              <a:rPr dirty="0" sz="3200">
                <a:latin typeface="Arial MT"/>
                <a:cs typeface="Arial MT"/>
              </a:rPr>
              <a:t>10000000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9140" y="2311400"/>
            <a:ext cx="44342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Arial MT"/>
                <a:cs typeface="Arial MT"/>
              </a:rPr>
              <a:t>;Copy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value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2H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register</a:t>
            </a:r>
            <a:r>
              <a:rPr dirty="0" sz="2800" spc="-1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79140" y="3482340"/>
            <a:ext cx="44538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Arial MT"/>
                <a:cs typeface="Arial MT"/>
              </a:rPr>
              <a:t>;Copy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value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4H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register </a:t>
            </a:r>
            <a:r>
              <a:rPr dirty="0" sz="2800"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79140" y="4615179"/>
            <a:ext cx="1805939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>
                <a:latin typeface="Arial MT"/>
                <a:cs typeface="Arial MT"/>
              </a:rPr>
              <a:t>;A</a:t>
            </a:r>
            <a:r>
              <a:rPr dirty="0" sz="3200" spc="-204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=</a:t>
            </a:r>
            <a:r>
              <a:rPr dirty="0" sz="3200" spc="-21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</a:t>
            </a:r>
            <a:r>
              <a:rPr dirty="0" sz="3200" spc="-204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+</a:t>
            </a:r>
            <a:r>
              <a:rPr dirty="0" sz="3200" spc="-4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B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460" y="497840"/>
            <a:ext cx="711644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 b="0">
                <a:latin typeface="Arial MT"/>
                <a:cs typeface="Arial MT"/>
              </a:rPr>
              <a:t>Assembly </a:t>
            </a:r>
            <a:r>
              <a:rPr dirty="0" sz="4400" spc="-10" b="0">
                <a:latin typeface="Arial MT"/>
                <a:cs typeface="Arial MT"/>
              </a:rPr>
              <a:t>Language</a:t>
            </a:r>
            <a:r>
              <a:rPr dirty="0" sz="4400" spc="-15" b="0"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of</a:t>
            </a:r>
            <a:r>
              <a:rPr dirty="0" sz="4400" spc="60" b="0">
                <a:latin typeface="Arial MT"/>
                <a:cs typeface="Arial MT"/>
              </a:rPr>
              <a:t> </a:t>
            </a:r>
            <a:r>
              <a:rPr dirty="0" sz="4400" spc="-10" b="0">
                <a:solidFill>
                  <a:srgbClr val="333398"/>
                </a:solidFill>
                <a:latin typeface="Arial MT"/>
                <a:cs typeface="Arial MT"/>
              </a:rPr>
              <a:t>8085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35759"/>
            <a:ext cx="7489825" cy="159512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355600" marR="5080" indent="-342900">
              <a:lnSpc>
                <a:spcPct val="100499"/>
              </a:lnSpc>
              <a:spcBef>
                <a:spcPts val="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Arial MT"/>
                <a:cs typeface="Arial MT"/>
              </a:rPr>
              <a:t>It </a:t>
            </a:r>
            <a:r>
              <a:rPr dirty="0" sz="3200">
                <a:latin typeface="Arial MT"/>
                <a:cs typeface="Arial MT"/>
              </a:rPr>
              <a:t>uses </a:t>
            </a:r>
            <a:r>
              <a:rPr dirty="0" sz="3200" spc="-5">
                <a:latin typeface="Arial MT"/>
                <a:cs typeface="Arial MT"/>
              </a:rPr>
              <a:t>English like </a:t>
            </a:r>
            <a:r>
              <a:rPr dirty="0" sz="3200">
                <a:latin typeface="Arial MT"/>
                <a:cs typeface="Arial MT"/>
              </a:rPr>
              <a:t>words </a:t>
            </a:r>
            <a:r>
              <a:rPr dirty="0" sz="3200" spc="-5">
                <a:latin typeface="Arial MT"/>
                <a:cs typeface="Arial MT"/>
              </a:rPr>
              <a:t>to </a:t>
            </a:r>
            <a:r>
              <a:rPr dirty="0" sz="3200">
                <a:latin typeface="Arial MT"/>
                <a:cs typeface="Arial MT"/>
              </a:rPr>
              <a:t>convey </a:t>
            </a:r>
            <a:r>
              <a:rPr dirty="0" sz="3200" spc="-5">
                <a:latin typeface="Arial MT"/>
                <a:cs typeface="Arial MT"/>
              </a:rPr>
              <a:t>the </a:t>
            </a:r>
            <a:r>
              <a:rPr dirty="0" sz="3200" spc="-87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action/meaning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called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as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MNEMONICS</a:t>
            </a:r>
            <a:endParaRPr sz="3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819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Arial MT"/>
                <a:cs typeface="Arial MT"/>
              </a:rPr>
              <a:t>For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e.g.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3205480"/>
            <a:ext cx="1120140" cy="157480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10"/>
              </a:spcBef>
              <a:buChar char="–"/>
              <a:tabLst>
                <a:tab pos="298450" algn="l"/>
              </a:tabLst>
            </a:pPr>
            <a:r>
              <a:rPr dirty="0" sz="2800" spc="-5">
                <a:solidFill>
                  <a:srgbClr val="333398"/>
                </a:solidFill>
                <a:latin typeface="Arial MT"/>
                <a:cs typeface="Arial MT"/>
              </a:rPr>
              <a:t>M</a:t>
            </a:r>
            <a:r>
              <a:rPr dirty="0" sz="2800" spc="-10">
                <a:solidFill>
                  <a:srgbClr val="333398"/>
                </a:solidFill>
                <a:latin typeface="Arial MT"/>
                <a:cs typeface="Arial MT"/>
              </a:rPr>
              <a:t>O</a:t>
            </a:r>
            <a:r>
              <a:rPr dirty="0" sz="2800">
                <a:solidFill>
                  <a:srgbClr val="333398"/>
                </a:solidFill>
                <a:latin typeface="Arial MT"/>
                <a:cs typeface="Arial MT"/>
              </a:rPr>
              <a:t>V</a:t>
            </a:r>
            <a:endParaRPr sz="2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710"/>
              </a:spcBef>
              <a:buChar char="–"/>
              <a:tabLst>
                <a:tab pos="298450" algn="l"/>
              </a:tabLst>
            </a:pPr>
            <a:r>
              <a:rPr dirty="0" sz="2800" spc="-10">
                <a:solidFill>
                  <a:srgbClr val="333398"/>
                </a:solidFill>
                <a:latin typeface="Arial MT"/>
                <a:cs typeface="Arial MT"/>
              </a:rPr>
              <a:t>ADD</a:t>
            </a:r>
            <a:endParaRPr sz="2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700"/>
              </a:spcBef>
              <a:buChar char="–"/>
              <a:tabLst>
                <a:tab pos="298450" algn="l"/>
              </a:tabLst>
            </a:pPr>
            <a:r>
              <a:rPr dirty="0" sz="2800" spc="-10">
                <a:solidFill>
                  <a:srgbClr val="333398"/>
                </a:solidFill>
                <a:latin typeface="Arial MT"/>
                <a:cs typeface="Arial MT"/>
              </a:rPr>
              <a:t>SUB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9140" y="3205480"/>
            <a:ext cx="3743325" cy="1574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1100"/>
              </a:lnSpc>
              <a:spcBef>
                <a:spcPts val="100"/>
              </a:spcBef>
            </a:pPr>
            <a:r>
              <a:rPr dirty="0" sz="2800">
                <a:latin typeface="Arial MT"/>
                <a:cs typeface="Arial MT"/>
              </a:rPr>
              <a:t>to </a:t>
            </a:r>
            <a:r>
              <a:rPr dirty="0" sz="2800" spc="-5">
                <a:latin typeface="Arial MT"/>
                <a:cs typeface="Arial MT"/>
              </a:rPr>
              <a:t>indicate data transfer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add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two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values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subtract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two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values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2527" y="1671727"/>
            <a:ext cx="6486525" cy="1609725"/>
            <a:chOff x="452527" y="1671727"/>
            <a:chExt cx="6486525" cy="1609725"/>
          </a:xfrm>
        </p:grpSpPr>
        <p:sp>
          <p:nvSpPr>
            <p:cNvPr id="3" name="object 3"/>
            <p:cNvSpPr/>
            <p:nvPr/>
          </p:nvSpPr>
          <p:spPr>
            <a:xfrm>
              <a:off x="457199" y="1676399"/>
              <a:ext cx="6477000" cy="1600200"/>
            </a:xfrm>
            <a:custGeom>
              <a:avLst/>
              <a:gdLst/>
              <a:ahLst/>
              <a:cxnLst/>
              <a:rect l="l" t="t" r="r" b="b"/>
              <a:pathLst>
                <a:path w="6477000" h="1600200">
                  <a:moveTo>
                    <a:pt x="6477000" y="0"/>
                  </a:moveTo>
                  <a:lnTo>
                    <a:pt x="0" y="0"/>
                  </a:lnTo>
                  <a:lnTo>
                    <a:pt x="0" y="1600200"/>
                  </a:lnTo>
                  <a:lnTo>
                    <a:pt x="3238500" y="1600200"/>
                  </a:lnTo>
                  <a:lnTo>
                    <a:pt x="6477000" y="1600200"/>
                  </a:lnTo>
                  <a:lnTo>
                    <a:pt x="64770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457199" y="1676399"/>
              <a:ext cx="6477000" cy="1600200"/>
            </a:xfrm>
            <a:custGeom>
              <a:avLst/>
              <a:gdLst/>
              <a:ahLst/>
              <a:cxnLst/>
              <a:rect l="l" t="t" r="r" b="b"/>
              <a:pathLst>
                <a:path w="6477000" h="1600200">
                  <a:moveTo>
                    <a:pt x="3238500" y="1600200"/>
                  </a:moveTo>
                  <a:lnTo>
                    <a:pt x="0" y="1600200"/>
                  </a:lnTo>
                  <a:lnTo>
                    <a:pt x="0" y="0"/>
                  </a:lnTo>
                  <a:lnTo>
                    <a:pt x="6477000" y="0"/>
                  </a:lnTo>
                  <a:lnTo>
                    <a:pt x="6477000" y="1600200"/>
                  </a:lnTo>
                  <a:lnTo>
                    <a:pt x="3238500" y="1600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457200" y="274320"/>
            <a:ext cx="8229600" cy="1143000"/>
          </a:xfrm>
          <a:custGeom>
            <a:avLst/>
            <a:gdLst/>
            <a:ahLst/>
            <a:cxnLst/>
            <a:rect l="l" t="t" r="r" b="b"/>
            <a:pathLst>
              <a:path w="8229600" h="1143000">
                <a:moveTo>
                  <a:pt x="8229600" y="0"/>
                </a:moveTo>
                <a:lnTo>
                  <a:pt x="0" y="0"/>
                </a:lnTo>
                <a:lnTo>
                  <a:pt x="0" y="1143000"/>
                </a:lnTo>
                <a:lnTo>
                  <a:pt x="4114800" y="1143000"/>
                </a:lnTo>
                <a:lnTo>
                  <a:pt x="8229600" y="1143000"/>
                </a:lnTo>
                <a:lnTo>
                  <a:pt x="82296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5940" y="307340"/>
            <a:ext cx="8034020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4581525" algn="l"/>
              </a:tabLst>
            </a:pPr>
            <a:r>
              <a:rPr dirty="0" sz="4000" spc="-5" b="0">
                <a:latin typeface="Arial MT"/>
                <a:cs typeface="Arial MT"/>
              </a:rPr>
              <a:t>Assembly</a:t>
            </a:r>
            <a:r>
              <a:rPr dirty="0" sz="4000" spc="15" b="0">
                <a:latin typeface="Arial MT"/>
                <a:cs typeface="Arial MT"/>
              </a:rPr>
              <a:t> </a:t>
            </a:r>
            <a:r>
              <a:rPr dirty="0" sz="4000" spc="-5" b="0">
                <a:latin typeface="Arial MT"/>
                <a:cs typeface="Arial MT"/>
              </a:rPr>
              <a:t>language	program</a:t>
            </a:r>
            <a:r>
              <a:rPr dirty="0" sz="4000" spc="-55" b="0">
                <a:latin typeface="Arial MT"/>
                <a:cs typeface="Arial MT"/>
              </a:rPr>
              <a:t> </a:t>
            </a:r>
            <a:r>
              <a:rPr dirty="0" sz="4000" b="0">
                <a:latin typeface="Arial MT"/>
                <a:cs typeface="Arial MT"/>
              </a:rPr>
              <a:t>to</a:t>
            </a:r>
            <a:r>
              <a:rPr dirty="0" sz="4000" spc="-55" b="0">
                <a:latin typeface="Arial MT"/>
                <a:cs typeface="Arial MT"/>
              </a:rPr>
              <a:t> </a:t>
            </a:r>
            <a:r>
              <a:rPr dirty="0" sz="4000" spc="-5" b="0">
                <a:latin typeface="Arial MT"/>
                <a:cs typeface="Arial MT"/>
              </a:rPr>
              <a:t>add </a:t>
            </a:r>
            <a:r>
              <a:rPr dirty="0" sz="4000" spc="-1100" b="0">
                <a:latin typeface="Arial MT"/>
                <a:cs typeface="Arial MT"/>
              </a:rPr>
              <a:t> </a:t>
            </a:r>
            <a:r>
              <a:rPr dirty="0" sz="4000" spc="-5" b="0">
                <a:latin typeface="Arial MT"/>
                <a:cs typeface="Arial MT"/>
              </a:rPr>
              <a:t>two</a:t>
            </a:r>
            <a:r>
              <a:rPr dirty="0" sz="4000" spc="-15" b="0">
                <a:latin typeface="Arial MT"/>
                <a:cs typeface="Arial MT"/>
              </a:rPr>
              <a:t> </a:t>
            </a:r>
            <a:r>
              <a:rPr dirty="0" sz="4000" spc="-5" b="0">
                <a:latin typeface="Arial MT"/>
                <a:cs typeface="Arial MT"/>
              </a:rPr>
              <a:t>numbers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1667509"/>
            <a:ext cx="7785100" cy="4495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1506855">
              <a:lnSpc>
                <a:spcPct val="121000"/>
              </a:lnSpc>
              <a:spcBef>
                <a:spcPts val="95"/>
              </a:spcBef>
              <a:tabLst>
                <a:tab pos="2755265" algn="l"/>
              </a:tabLst>
            </a:pPr>
            <a:r>
              <a:rPr dirty="0" sz="2800" spc="-5">
                <a:solidFill>
                  <a:srgbClr val="333398"/>
                </a:solidFill>
                <a:latin typeface="Arial MT"/>
                <a:cs typeface="Arial MT"/>
              </a:rPr>
              <a:t>MVI </a:t>
            </a:r>
            <a:r>
              <a:rPr dirty="0" sz="2800" spc="-5">
                <a:solidFill>
                  <a:srgbClr val="D50092"/>
                </a:solidFill>
                <a:latin typeface="Arial MT"/>
                <a:cs typeface="Arial MT"/>
              </a:rPr>
              <a:t>A</a:t>
            </a:r>
            <a:r>
              <a:rPr dirty="0" sz="2800" spc="-5">
                <a:latin typeface="Arial MT"/>
                <a:cs typeface="Arial MT"/>
              </a:rPr>
              <a:t>, 2H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;Copy </a:t>
            </a:r>
            <a:r>
              <a:rPr dirty="0" sz="2800">
                <a:latin typeface="Arial MT"/>
                <a:cs typeface="Arial MT"/>
              </a:rPr>
              <a:t>value </a:t>
            </a:r>
            <a:r>
              <a:rPr dirty="0" sz="2800" spc="-5">
                <a:latin typeface="Arial MT"/>
                <a:cs typeface="Arial MT"/>
              </a:rPr>
              <a:t>2H </a:t>
            </a:r>
            <a:r>
              <a:rPr dirty="0" sz="2800">
                <a:latin typeface="Arial MT"/>
                <a:cs typeface="Arial MT"/>
              </a:rPr>
              <a:t>in </a:t>
            </a:r>
            <a:r>
              <a:rPr dirty="0" sz="2800" spc="-5">
                <a:latin typeface="Arial MT"/>
                <a:cs typeface="Arial MT"/>
              </a:rPr>
              <a:t>register </a:t>
            </a:r>
            <a:r>
              <a:rPr dirty="0" sz="2800">
                <a:latin typeface="Arial MT"/>
                <a:cs typeface="Arial MT"/>
              </a:rPr>
              <a:t>A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333398"/>
                </a:solidFill>
                <a:latin typeface="Arial MT"/>
                <a:cs typeface="Arial MT"/>
              </a:rPr>
              <a:t>MVI </a:t>
            </a:r>
            <a:r>
              <a:rPr dirty="0" sz="2800" spc="-5">
                <a:solidFill>
                  <a:srgbClr val="D50092"/>
                </a:solidFill>
                <a:latin typeface="Arial MT"/>
                <a:cs typeface="Arial MT"/>
              </a:rPr>
              <a:t>B</a:t>
            </a:r>
            <a:r>
              <a:rPr dirty="0" sz="2800" spc="-5">
                <a:latin typeface="Arial MT"/>
                <a:cs typeface="Arial MT"/>
              </a:rPr>
              <a:t>, 4H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;Copy </a:t>
            </a:r>
            <a:r>
              <a:rPr dirty="0" sz="2800">
                <a:latin typeface="Arial MT"/>
                <a:cs typeface="Arial MT"/>
              </a:rPr>
              <a:t>value </a:t>
            </a:r>
            <a:r>
              <a:rPr dirty="0" sz="2800" spc="-5">
                <a:latin typeface="Arial MT"/>
                <a:cs typeface="Arial MT"/>
              </a:rPr>
              <a:t>4H </a:t>
            </a:r>
            <a:r>
              <a:rPr dirty="0" sz="2800">
                <a:latin typeface="Arial MT"/>
                <a:cs typeface="Arial MT"/>
              </a:rPr>
              <a:t>in </a:t>
            </a:r>
            <a:r>
              <a:rPr dirty="0" sz="2800" spc="-5">
                <a:latin typeface="Arial MT"/>
                <a:cs typeface="Arial MT"/>
              </a:rPr>
              <a:t>register </a:t>
            </a:r>
            <a:r>
              <a:rPr dirty="0" sz="2800">
                <a:latin typeface="Arial MT"/>
                <a:cs typeface="Arial MT"/>
              </a:rPr>
              <a:t>B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333398"/>
                </a:solidFill>
                <a:latin typeface="Arial MT"/>
                <a:cs typeface="Arial MT"/>
              </a:rPr>
              <a:t>ADD</a:t>
            </a:r>
            <a:r>
              <a:rPr dirty="0" sz="2800">
                <a:solidFill>
                  <a:srgbClr val="333398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D50092"/>
                </a:solidFill>
                <a:latin typeface="Arial MT"/>
                <a:cs typeface="Arial MT"/>
              </a:rPr>
              <a:t>B	</a:t>
            </a:r>
            <a:r>
              <a:rPr dirty="0" sz="2800">
                <a:latin typeface="Arial MT"/>
                <a:cs typeface="Arial MT"/>
              </a:rPr>
              <a:t>;A</a:t>
            </a:r>
            <a:r>
              <a:rPr dirty="0" sz="2800" spc="-1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=</a:t>
            </a:r>
            <a:r>
              <a:rPr dirty="0" sz="2800" spc="-1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+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800" spc="-5">
                <a:latin typeface="Arial MT"/>
                <a:cs typeface="Arial MT"/>
              </a:rPr>
              <a:t>Note:</a:t>
            </a:r>
            <a:endParaRPr sz="2800">
              <a:latin typeface="Arial MT"/>
              <a:cs typeface="Arial MT"/>
            </a:endParaRPr>
          </a:p>
          <a:p>
            <a:pPr marL="355600" marR="1035050" indent="-342900">
              <a:lnSpc>
                <a:spcPct val="100000"/>
              </a:lnSpc>
              <a:spcBef>
                <a:spcPts val="71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Arial MT"/>
                <a:cs typeface="Arial MT"/>
              </a:rPr>
              <a:t>Assembly language is </a:t>
            </a:r>
            <a:r>
              <a:rPr dirty="0" sz="2800">
                <a:latin typeface="Arial MT"/>
                <a:cs typeface="Arial MT"/>
              </a:rPr>
              <a:t>specific </a:t>
            </a:r>
            <a:r>
              <a:rPr dirty="0" sz="2800" spc="-5">
                <a:latin typeface="Arial MT"/>
                <a:cs typeface="Arial MT"/>
              </a:rPr>
              <a:t>to </a:t>
            </a:r>
            <a:r>
              <a:rPr dirty="0" sz="2800">
                <a:latin typeface="Arial MT"/>
                <a:cs typeface="Arial MT"/>
              </a:rPr>
              <a:t>a given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processor</a:t>
            </a:r>
            <a:endParaRPr sz="2800">
              <a:latin typeface="Arial MT"/>
              <a:cs typeface="Arial MT"/>
            </a:endParaRPr>
          </a:p>
          <a:p>
            <a:pPr marL="355600" marR="5080" indent="-342900">
              <a:lnSpc>
                <a:spcPct val="100299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10">
                <a:latin typeface="Arial MT"/>
                <a:cs typeface="Arial MT"/>
              </a:rPr>
              <a:t>For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e.g.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assembly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language of</a:t>
            </a:r>
            <a:r>
              <a:rPr dirty="0" sz="2800" spc="65"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333398"/>
                </a:solidFill>
                <a:latin typeface="Arial MT"/>
                <a:cs typeface="Arial MT"/>
              </a:rPr>
              <a:t>8085</a:t>
            </a:r>
            <a:r>
              <a:rPr dirty="0" sz="2800" spc="10">
                <a:solidFill>
                  <a:srgbClr val="333398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is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different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than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that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of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Motorola</a:t>
            </a:r>
            <a:r>
              <a:rPr dirty="0" sz="2800" spc="45"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333398"/>
                </a:solidFill>
                <a:latin typeface="Arial MT"/>
                <a:cs typeface="Arial MT"/>
              </a:rPr>
              <a:t>6800</a:t>
            </a:r>
            <a:r>
              <a:rPr dirty="0" sz="2800">
                <a:solidFill>
                  <a:srgbClr val="333398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333398"/>
                </a:solidFill>
                <a:latin typeface="Arial MT"/>
                <a:cs typeface="Arial MT"/>
              </a:rPr>
              <a:t>microprocessor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274320"/>
            <a:ext cx="8686800" cy="1143000"/>
          </a:xfrm>
          <a:custGeom>
            <a:avLst/>
            <a:gdLst/>
            <a:ahLst/>
            <a:cxnLst/>
            <a:rect l="l" t="t" r="r" b="b"/>
            <a:pathLst>
              <a:path w="8686800" h="1143000">
                <a:moveTo>
                  <a:pt x="8686800" y="0"/>
                </a:moveTo>
                <a:lnTo>
                  <a:pt x="0" y="0"/>
                </a:lnTo>
                <a:lnTo>
                  <a:pt x="0" y="1143000"/>
                </a:lnTo>
                <a:lnTo>
                  <a:pt x="4343400" y="1143000"/>
                </a:lnTo>
                <a:lnTo>
                  <a:pt x="8686800" y="1143000"/>
                </a:lnTo>
                <a:lnTo>
                  <a:pt x="86868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1309" y="619759"/>
            <a:ext cx="849503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 b="0">
                <a:solidFill>
                  <a:srgbClr val="333398"/>
                </a:solidFill>
                <a:latin typeface="Arial MT"/>
                <a:cs typeface="Arial MT"/>
              </a:rPr>
              <a:t>Microprocessor</a:t>
            </a:r>
            <a:r>
              <a:rPr dirty="0" spc="25" b="0">
                <a:solidFill>
                  <a:srgbClr val="333398"/>
                </a:solidFill>
                <a:latin typeface="Arial MT"/>
                <a:cs typeface="Arial MT"/>
              </a:rPr>
              <a:t> </a:t>
            </a:r>
            <a:r>
              <a:rPr dirty="0" spc="-5" b="0">
                <a:latin typeface="Arial MT"/>
                <a:cs typeface="Arial MT"/>
              </a:rPr>
              <a:t>understands</a:t>
            </a:r>
            <a:r>
              <a:rPr dirty="0" spc="15" b="0">
                <a:latin typeface="Arial MT"/>
                <a:cs typeface="Arial MT"/>
              </a:rPr>
              <a:t> </a:t>
            </a:r>
            <a:r>
              <a:rPr dirty="0" spc="-5" b="0">
                <a:latin typeface="Arial MT"/>
                <a:cs typeface="Arial MT"/>
              </a:rPr>
              <a:t>Machine</a:t>
            </a:r>
            <a:r>
              <a:rPr dirty="0" spc="10" b="0">
                <a:latin typeface="Arial MT"/>
                <a:cs typeface="Arial MT"/>
              </a:rPr>
              <a:t> </a:t>
            </a:r>
            <a:r>
              <a:rPr dirty="0" spc="-5" b="0">
                <a:latin typeface="Arial MT"/>
                <a:cs typeface="Arial MT"/>
              </a:rPr>
              <a:t>Language</a:t>
            </a:r>
            <a:r>
              <a:rPr dirty="0" spc="20" b="0">
                <a:latin typeface="Arial MT"/>
                <a:cs typeface="Arial MT"/>
              </a:rPr>
              <a:t> </a:t>
            </a:r>
            <a:r>
              <a:rPr dirty="0" spc="-5" b="0">
                <a:latin typeface="Arial MT"/>
                <a:cs typeface="Arial MT"/>
              </a:rPr>
              <a:t>only!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634490"/>
            <a:ext cx="7569834" cy="2252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solidFill>
                  <a:srgbClr val="333398"/>
                </a:solidFill>
                <a:latin typeface="Arial MT"/>
                <a:cs typeface="Arial MT"/>
              </a:rPr>
              <a:t>Microprocessor</a:t>
            </a:r>
            <a:r>
              <a:rPr dirty="0" sz="2800" spc="15">
                <a:solidFill>
                  <a:srgbClr val="333398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cannot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understand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5">
                <a:latin typeface="Arial MT"/>
                <a:cs typeface="Arial MT"/>
              </a:rPr>
              <a:t> program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written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in</a:t>
            </a:r>
            <a:r>
              <a:rPr dirty="0" sz="2800" spc="-16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Assembly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language</a:t>
            </a:r>
            <a:endParaRPr sz="2800">
              <a:latin typeface="Arial MT"/>
              <a:cs typeface="Arial MT"/>
            </a:endParaRPr>
          </a:p>
          <a:p>
            <a:pPr marL="355600" marR="423545" indent="-342900">
              <a:lnSpc>
                <a:spcPct val="100400"/>
              </a:lnSpc>
              <a:spcBef>
                <a:spcPts val="69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7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program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known as</a:t>
            </a:r>
            <a:r>
              <a:rPr dirty="0" sz="2800" spc="40">
                <a:latin typeface="Arial MT"/>
                <a:cs typeface="Arial MT"/>
              </a:rPr>
              <a:t> </a:t>
            </a:r>
            <a:r>
              <a:rPr dirty="0" sz="2800" spc="-10" b="1">
                <a:latin typeface="Arial"/>
                <a:cs typeface="Arial"/>
              </a:rPr>
              <a:t>Assembler</a:t>
            </a:r>
            <a:r>
              <a:rPr dirty="0" sz="2800" spc="10" b="1">
                <a:latin typeface="Arial"/>
                <a:cs typeface="Arial"/>
              </a:rPr>
              <a:t> </a:t>
            </a:r>
            <a:r>
              <a:rPr dirty="0" sz="2800" spc="-5">
                <a:latin typeface="Arial MT"/>
                <a:cs typeface="Arial MT"/>
              </a:rPr>
              <a:t>is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used </a:t>
            </a:r>
            <a:r>
              <a:rPr dirty="0" sz="2800">
                <a:latin typeface="Arial MT"/>
                <a:cs typeface="Arial MT"/>
              </a:rPr>
              <a:t>to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convert </a:t>
            </a:r>
            <a:r>
              <a:rPr dirty="0" sz="2800">
                <a:latin typeface="Arial MT"/>
                <a:cs typeface="Arial MT"/>
              </a:rPr>
              <a:t>a </a:t>
            </a:r>
            <a:r>
              <a:rPr dirty="0" sz="2800" spc="-5">
                <a:latin typeface="Arial MT"/>
                <a:cs typeface="Arial MT"/>
              </a:rPr>
              <a:t>Assembly language program to 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machine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language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5800" y="4648200"/>
            <a:ext cx="1828800" cy="1447800"/>
          </a:xfrm>
          <a:custGeom>
            <a:avLst/>
            <a:gdLst/>
            <a:ahLst/>
            <a:cxnLst/>
            <a:rect l="l" t="t" r="r" b="b"/>
            <a:pathLst>
              <a:path w="1828800" h="1447800">
                <a:moveTo>
                  <a:pt x="1828800" y="0"/>
                </a:moveTo>
                <a:lnTo>
                  <a:pt x="0" y="0"/>
                </a:lnTo>
                <a:lnTo>
                  <a:pt x="0" y="1447800"/>
                </a:lnTo>
                <a:lnTo>
                  <a:pt x="914400" y="1447800"/>
                </a:lnTo>
                <a:lnTo>
                  <a:pt x="1828800" y="1447800"/>
                </a:lnTo>
                <a:lnTo>
                  <a:pt x="1828800" y="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85800" y="4648200"/>
            <a:ext cx="1828800" cy="14478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wrap="square" lIns="0" tIns="175260" rIns="0" bIns="0" rtlCol="0" vert="horz">
            <a:spAutoFit/>
          </a:bodyPr>
          <a:lstStyle/>
          <a:p>
            <a:pPr algn="just" marL="237490" marR="230504" indent="16510">
              <a:lnSpc>
                <a:spcPct val="100000"/>
              </a:lnSpc>
              <a:spcBef>
                <a:spcPts val="1380"/>
              </a:spcBef>
            </a:pPr>
            <a:r>
              <a:rPr dirty="0" sz="2400" spc="-5">
                <a:latin typeface="Arial MT"/>
                <a:cs typeface="Arial MT"/>
              </a:rPr>
              <a:t>Assembly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</a:t>
            </a:r>
            <a:r>
              <a:rPr dirty="0" sz="2400" spc="-10">
                <a:latin typeface="Arial MT"/>
                <a:cs typeface="Arial MT"/>
              </a:rPr>
              <a:t>ang</a:t>
            </a:r>
            <a:r>
              <a:rPr dirty="0" sz="2400">
                <a:latin typeface="Arial MT"/>
                <a:cs typeface="Arial MT"/>
              </a:rPr>
              <a:t>u</a:t>
            </a:r>
            <a:r>
              <a:rPr dirty="0" sz="2400" spc="-15">
                <a:latin typeface="Arial MT"/>
                <a:cs typeface="Arial MT"/>
              </a:rPr>
              <a:t>a</a:t>
            </a:r>
            <a:r>
              <a:rPr dirty="0" sz="2400">
                <a:latin typeface="Arial MT"/>
                <a:cs typeface="Arial MT"/>
              </a:rPr>
              <a:t>ge  </a:t>
            </a:r>
            <a:r>
              <a:rPr dirty="0" sz="2400" spc="-5">
                <a:latin typeface="Arial MT"/>
                <a:cs typeface="Arial MT"/>
              </a:rPr>
              <a:t>Program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86025" y="4643437"/>
            <a:ext cx="2624455" cy="1457325"/>
            <a:chOff x="2486025" y="4643437"/>
            <a:chExt cx="2624455" cy="1457325"/>
          </a:xfrm>
        </p:grpSpPr>
        <p:sp>
          <p:nvSpPr>
            <p:cNvPr id="8" name="object 8"/>
            <p:cNvSpPr/>
            <p:nvPr/>
          </p:nvSpPr>
          <p:spPr>
            <a:xfrm>
              <a:off x="2514600" y="5410200"/>
              <a:ext cx="830580" cy="0"/>
            </a:xfrm>
            <a:custGeom>
              <a:avLst/>
              <a:gdLst/>
              <a:ahLst/>
              <a:cxnLst/>
              <a:rect l="l" t="t" r="r" b="b"/>
              <a:pathLst>
                <a:path w="830579" h="0">
                  <a:moveTo>
                    <a:pt x="0" y="0"/>
                  </a:moveTo>
                  <a:lnTo>
                    <a:pt x="830579" y="0"/>
                  </a:lnTo>
                </a:path>
              </a:pathLst>
            </a:custGeom>
            <a:ln w="57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333750" y="5323840"/>
              <a:ext cx="171450" cy="172720"/>
            </a:xfrm>
            <a:custGeom>
              <a:avLst/>
              <a:gdLst/>
              <a:ahLst/>
              <a:cxnLst/>
              <a:rect l="l" t="t" r="r" b="b"/>
              <a:pathLst>
                <a:path w="171450" h="172720">
                  <a:moveTo>
                    <a:pt x="0" y="0"/>
                  </a:moveTo>
                  <a:lnTo>
                    <a:pt x="0" y="172720"/>
                  </a:lnTo>
                  <a:lnTo>
                    <a:pt x="171450" y="86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429000" y="4648200"/>
              <a:ext cx="1676400" cy="1447800"/>
            </a:xfrm>
            <a:custGeom>
              <a:avLst/>
              <a:gdLst/>
              <a:ahLst/>
              <a:cxnLst/>
              <a:rect l="l" t="t" r="r" b="b"/>
              <a:pathLst>
                <a:path w="1676400" h="1447800">
                  <a:moveTo>
                    <a:pt x="1676400" y="0"/>
                  </a:moveTo>
                  <a:lnTo>
                    <a:pt x="0" y="0"/>
                  </a:lnTo>
                  <a:lnTo>
                    <a:pt x="0" y="1447800"/>
                  </a:lnTo>
                  <a:lnTo>
                    <a:pt x="838200" y="1447800"/>
                  </a:lnTo>
                  <a:lnTo>
                    <a:pt x="1676400" y="1447800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429000" y="4648200"/>
              <a:ext cx="1676400" cy="1447800"/>
            </a:xfrm>
            <a:custGeom>
              <a:avLst/>
              <a:gdLst/>
              <a:ahLst/>
              <a:cxnLst/>
              <a:rect l="l" t="t" r="r" b="b"/>
              <a:pathLst>
                <a:path w="1676400" h="1447800">
                  <a:moveTo>
                    <a:pt x="838200" y="1447800"/>
                  </a:moveTo>
                  <a:lnTo>
                    <a:pt x="0" y="1447800"/>
                  </a:lnTo>
                  <a:lnTo>
                    <a:pt x="0" y="0"/>
                  </a:lnTo>
                  <a:lnTo>
                    <a:pt x="1676400" y="0"/>
                  </a:lnTo>
                  <a:lnTo>
                    <a:pt x="1676400" y="1447800"/>
                  </a:lnTo>
                  <a:lnTo>
                    <a:pt x="838200" y="14478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3429000" y="4648200"/>
            <a:ext cx="1676400" cy="14478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 marL="254000" marR="112395" indent="-134620">
              <a:lnSpc>
                <a:spcPct val="100000"/>
              </a:lnSpc>
            </a:pPr>
            <a:r>
              <a:rPr dirty="0" sz="2400" spc="-15">
                <a:latin typeface="Arial MT"/>
                <a:cs typeface="Arial MT"/>
              </a:rPr>
              <a:t>A</a:t>
            </a:r>
            <a:r>
              <a:rPr dirty="0" sz="2400">
                <a:latin typeface="Arial MT"/>
                <a:cs typeface="Arial MT"/>
              </a:rPr>
              <a:t>ss</a:t>
            </a:r>
            <a:r>
              <a:rPr dirty="0" sz="2400" spc="-5">
                <a:latin typeface="Arial MT"/>
                <a:cs typeface="Arial MT"/>
              </a:rPr>
              <a:t>e</a:t>
            </a:r>
            <a:r>
              <a:rPr dirty="0" sz="2400" spc="5">
                <a:latin typeface="Arial MT"/>
                <a:cs typeface="Arial MT"/>
              </a:rPr>
              <a:t>m</a:t>
            </a:r>
            <a:r>
              <a:rPr dirty="0" sz="2400" spc="-10">
                <a:latin typeface="Arial MT"/>
                <a:cs typeface="Arial MT"/>
              </a:rPr>
              <a:t>b</a:t>
            </a:r>
            <a:r>
              <a:rPr dirty="0" sz="2400" spc="-5">
                <a:latin typeface="Arial MT"/>
                <a:cs typeface="Arial MT"/>
              </a:rPr>
              <a:t>l</a:t>
            </a:r>
            <a:r>
              <a:rPr dirty="0" sz="2400" spc="-10">
                <a:latin typeface="Arial MT"/>
                <a:cs typeface="Arial MT"/>
              </a:rPr>
              <a:t>e</a:t>
            </a:r>
            <a:r>
              <a:rPr dirty="0" sz="2400">
                <a:latin typeface="Arial MT"/>
                <a:cs typeface="Arial MT"/>
              </a:rPr>
              <a:t>r  </a:t>
            </a:r>
            <a:r>
              <a:rPr dirty="0" sz="2400" spc="-5">
                <a:latin typeface="Arial MT"/>
                <a:cs typeface="Arial MT"/>
              </a:rPr>
              <a:t>Program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05400" y="4648200"/>
            <a:ext cx="2667000" cy="1447800"/>
            <a:chOff x="5105400" y="4648200"/>
            <a:chExt cx="2667000" cy="1447800"/>
          </a:xfrm>
        </p:grpSpPr>
        <p:sp>
          <p:nvSpPr>
            <p:cNvPr id="14" name="object 14"/>
            <p:cNvSpPr/>
            <p:nvPr/>
          </p:nvSpPr>
          <p:spPr>
            <a:xfrm>
              <a:off x="5105400" y="5410200"/>
              <a:ext cx="830580" cy="0"/>
            </a:xfrm>
            <a:custGeom>
              <a:avLst/>
              <a:gdLst/>
              <a:ahLst/>
              <a:cxnLst/>
              <a:rect l="l" t="t" r="r" b="b"/>
              <a:pathLst>
                <a:path w="830579" h="0">
                  <a:moveTo>
                    <a:pt x="0" y="0"/>
                  </a:moveTo>
                  <a:lnTo>
                    <a:pt x="830579" y="0"/>
                  </a:lnTo>
                </a:path>
              </a:pathLst>
            </a:custGeom>
            <a:ln w="57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924550" y="5323840"/>
              <a:ext cx="171450" cy="172720"/>
            </a:xfrm>
            <a:custGeom>
              <a:avLst/>
              <a:gdLst/>
              <a:ahLst/>
              <a:cxnLst/>
              <a:rect l="l" t="t" r="r" b="b"/>
              <a:pathLst>
                <a:path w="171450" h="172720">
                  <a:moveTo>
                    <a:pt x="0" y="0"/>
                  </a:moveTo>
                  <a:lnTo>
                    <a:pt x="0" y="172720"/>
                  </a:lnTo>
                  <a:lnTo>
                    <a:pt x="171450" y="86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096000" y="4648200"/>
              <a:ext cx="1676400" cy="1447800"/>
            </a:xfrm>
            <a:custGeom>
              <a:avLst/>
              <a:gdLst/>
              <a:ahLst/>
              <a:cxnLst/>
              <a:rect l="l" t="t" r="r" b="b"/>
              <a:pathLst>
                <a:path w="1676400" h="1447800">
                  <a:moveTo>
                    <a:pt x="1676400" y="0"/>
                  </a:moveTo>
                  <a:lnTo>
                    <a:pt x="0" y="0"/>
                  </a:lnTo>
                  <a:lnTo>
                    <a:pt x="0" y="1447800"/>
                  </a:lnTo>
                  <a:lnTo>
                    <a:pt x="838200" y="1447800"/>
                  </a:lnTo>
                  <a:lnTo>
                    <a:pt x="1676400" y="1447800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096000" y="4648200"/>
            <a:ext cx="1676400" cy="14478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wrap="square" lIns="0" tIns="175260" rIns="0" bIns="0" rtlCol="0" vert="horz">
            <a:spAutoFit/>
          </a:bodyPr>
          <a:lstStyle/>
          <a:p>
            <a:pPr algn="ctr" marL="118110" marR="196850">
              <a:lnSpc>
                <a:spcPct val="100000"/>
              </a:lnSpc>
              <a:spcBef>
                <a:spcPts val="1380"/>
              </a:spcBef>
            </a:pPr>
            <a:r>
              <a:rPr dirty="0" sz="2400" spc="-5">
                <a:latin typeface="Arial MT"/>
                <a:cs typeface="Arial MT"/>
              </a:rPr>
              <a:t>Machine </a:t>
            </a:r>
            <a:r>
              <a:rPr dirty="0" sz="2400">
                <a:latin typeface="Arial MT"/>
                <a:cs typeface="Arial MT"/>
              </a:rPr>
              <a:t> L</a:t>
            </a:r>
            <a:r>
              <a:rPr dirty="0" sz="2400" spc="-10">
                <a:latin typeface="Arial MT"/>
                <a:cs typeface="Arial MT"/>
              </a:rPr>
              <a:t>ang</a:t>
            </a:r>
            <a:r>
              <a:rPr dirty="0" sz="2400">
                <a:latin typeface="Arial MT"/>
                <a:cs typeface="Arial MT"/>
              </a:rPr>
              <a:t>u</a:t>
            </a:r>
            <a:r>
              <a:rPr dirty="0" sz="2400" spc="-10">
                <a:latin typeface="Arial MT"/>
                <a:cs typeface="Arial MT"/>
              </a:rPr>
              <a:t>ag</a:t>
            </a:r>
            <a:r>
              <a:rPr dirty="0" sz="2400">
                <a:latin typeface="Arial MT"/>
                <a:cs typeface="Arial MT"/>
              </a:rPr>
              <a:t>e  </a:t>
            </a:r>
            <a:r>
              <a:rPr dirty="0" sz="2400" spc="-10">
                <a:latin typeface="Arial MT"/>
                <a:cs typeface="Arial MT"/>
              </a:rPr>
              <a:t>Code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069" y="497840"/>
            <a:ext cx="775843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 b="0">
                <a:latin typeface="Arial MT"/>
                <a:cs typeface="Arial MT"/>
              </a:rPr>
              <a:t>Low-level/High-level</a:t>
            </a:r>
            <a:r>
              <a:rPr dirty="0" sz="4400" spc="-50" b="0">
                <a:latin typeface="Arial MT"/>
                <a:cs typeface="Arial MT"/>
              </a:rPr>
              <a:t> </a:t>
            </a:r>
            <a:r>
              <a:rPr dirty="0" sz="4400" spc="-10" b="0">
                <a:latin typeface="Arial MT"/>
                <a:cs typeface="Arial MT"/>
              </a:rPr>
              <a:t>languages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240" y="1634490"/>
            <a:ext cx="7786370" cy="484505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368300" marR="17780" indent="-342900">
              <a:lnSpc>
                <a:spcPts val="3030"/>
              </a:lnSpc>
              <a:spcBef>
                <a:spcPts val="475"/>
              </a:spcBef>
              <a:buChar char="•"/>
              <a:tabLst>
                <a:tab pos="367665" algn="l"/>
                <a:tab pos="368300" algn="l"/>
              </a:tabLst>
            </a:pPr>
            <a:r>
              <a:rPr dirty="0" sz="2800" spc="-5">
                <a:latin typeface="Arial MT"/>
                <a:cs typeface="Arial MT"/>
              </a:rPr>
              <a:t>Machine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language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and</a:t>
            </a:r>
            <a:r>
              <a:rPr dirty="0" sz="2800" spc="-16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Assembly language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both</a:t>
            </a:r>
            <a:endParaRPr sz="2800">
              <a:latin typeface="Arial MT"/>
              <a:cs typeface="Arial MT"/>
            </a:endParaRPr>
          </a:p>
          <a:p>
            <a:pPr lvl="1" marL="768350" indent="-285750">
              <a:lnSpc>
                <a:spcPct val="100000"/>
              </a:lnSpc>
              <a:spcBef>
                <a:spcPts val="325"/>
              </a:spcBef>
              <a:buChar char="–"/>
              <a:tabLst>
                <a:tab pos="768350" algn="l"/>
              </a:tabLst>
            </a:pPr>
            <a:r>
              <a:rPr dirty="0" sz="2800" spc="-5">
                <a:latin typeface="Arial MT"/>
                <a:cs typeface="Arial MT"/>
              </a:rPr>
              <a:t>Microprocessor specific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(</a:t>
            </a:r>
            <a:r>
              <a:rPr dirty="0" sz="2400" b="1">
                <a:latin typeface="Arial"/>
                <a:cs typeface="Arial"/>
              </a:rPr>
              <a:t>Machine </a:t>
            </a:r>
            <a:r>
              <a:rPr dirty="0" sz="2400" spc="-5" b="1">
                <a:latin typeface="Arial"/>
                <a:cs typeface="Arial"/>
              </a:rPr>
              <a:t>dependent</a:t>
            </a:r>
            <a:r>
              <a:rPr dirty="0" sz="2800" spc="-5">
                <a:latin typeface="Arial MT"/>
                <a:cs typeface="Arial MT"/>
              </a:rPr>
              <a:t>)</a:t>
            </a:r>
            <a:endParaRPr sz="2800">
              <a:latin typeface="Arial MT"/>
              <a:cs typeface="Arial MT"/>
            </a:endParaRPr>
          </a:p>
          <a:p>
            <a:pPr marL="1396365">
              <a:lnSpc>
                <a:spcPct val="100000"/>
              </a:lnSpc>
              <a:spcBef>
                <a:spcPts val="270"/>
              </a:spcBef>
            </a:pPr>
            <a:r>
              <a:rPr dirty="0" sz="2000">
                <a:latin typeface="Arial MT"/>
                <a:cs typeface="Arial MT"/>
              </a:rPr>
              <a:t>so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they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are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5">
                <a:latin typeface="Arial MT"/>
                <a:cs typeface="Arial MT"/>
              </a:rPr>
              <a:t>called</a:t>
            </a:r>
            <a:endParaRPr sz="2000">
              <a:latin typeface="Arial MT"/>
              <a:cs typeface="Arial MT"/>
            </a:endParaRPr>
          </a:p>
          <a:p>
            <a:pPr lvl="1" marL="768350" indent="-285750">
              <a:lnSpc>
                <a:spcPct val="100000"/>
              </a:lnSpc>
              <a:spcBef>
                <a:spcPts val="380"/>
              </a:spcBef>
              <a:buChar char="–"/>
              <a:tabLst>
                <a:tab pos="768350" algn="l"/>
              </a:tabLst>
            </a:pPr>
            <a:r>
              <a:rPr dirty="0" sz="2800" spc="-5">
                <a:latin typeface="Arial MT"/>
                <a:cs typeface="Arial MT"/>
              </a:rPr>
              <a:t>Low-level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languages</a:t>
            </a:r>
            <a:endParaRPr sz="2800">
              <a:latin typeface="Arial MT"/>
              <a:cs typeface="Arial MT"/>
            </a:endParaRPr>
          </a:p>
          <a:p>
            <a:pPr marL="368300" indent="-342900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dirty="0" sz="2800" spc="-10" b="1">
                <a:latin typeface="Arial"/>
                <a:cs typeface="Arial"/>
              </a:rPr>
              <a:t>Machine</a:t>
            </a:r>
            <a:r>
              <a:rPr dirty="0" sz="2800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independent</a:t>
            </a:r>
            <a:r>
              <a:rPr dirty="0" sz="2800" spc="15" b="1">
                <a:latin typeface="Arial"/>
                <a:cs typeface="Arial"/>
              </a:rPr>
              <a:t> </a:t>
            </a:r>
            <a:r>
              <a:rPr dirty="0" sz="2800" spc="-5">
                <a:latin typeface="Arial MT"/>
                <a:cs typeface="Arial MT"/>
              </a:rPr>
              <a:t>languages</a:t>
            </a:r>
            <a:r>
              <a:rPr dirty="0" sz="2800">
                <a:latin typeface="Arial MT"/>
                <a:cs typeface="Arial MT"/>
              </a:rPr>
              <a:t> are</a:t>
            </a:r>
            <a:r>
              <a:rPr dirty="0" sz="2800" spc="-5">
                <a:latin typeface="Arial MT"/>
                <a:cs typeface="Arial MT"/>
              </a:rPr>
              <a:t> called</a:t>
            </a:r>
            <a:endParaRPr sz="2800">
              <a:latin typeface="Arial MT"/>
              <a:cs typeface="Arial MT"/>
            </a:endParaRPr>
          </a:p>
          <a:p>
            <a:pPr lvl="1" marL="768350" indent="-285750">
              <a:lnSpc>
                <a:spcPct val="100000"/>
              </a:lnSpc>
              <a:spcBef>
                <a:spcPts val="370"/>
              </a:spcBef>
              <a:buChar char="–"/>
              <a:tabLst>
                <a:tab pos="768350" algn="l"/>
              </a:tabLst>
            </a:pPr>
            <a:r>
              <a:rPr dirty="0" sz="2800" spc="-5">
                <a:latin typeface="Arial MT"/>
                <a:cs typeface="Arial MT"/>
              </a:rPr>
              <a:t>High-level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languages</a:t>
            </a:r>
            <a:endParaRPr sz="2800">
              <a:latin typeface="Arial MT"/>
              <a:cs typeface="Arial MT"/>
            </a:endParaRPr>
          </a:p>
          <a:p>
            <a:pPr lvl="1" marL="768350" indent="-285750">
              <a:lnSpc>
                <a:spcPct val="100000"/>
              </a:lnSpc>
              <a:spcBef>
                <a:spcPts val="370"/>
              </a:spcBef>
              <a:buChar char="–"/>
              <a:tabLst>
                <a:tab pos="768350" algn="l"/>
              </a:tabLst>
            </a:pPr>
            <a:r>
              <a:rPr dirty="0" sz="2800" spc="-10">
                <a:latin typeface="Arial MT"/>
                <a:cs typeface="Arial MT"/>
              </a:rPr>
              <a:t>For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e.g. </a:t>
            </a:r>
            <a:r>
              <a:rPr dirty="0" sz="2800" spc="-10">
                <a:latin typeface="Arial MT"/>
                <a:cs typeface="Arial MT"/>
              </a:rPr>
              <a:t>BASIC,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45">
                <a:latin typeface="Arial MT"/>
                <a:cs typeface="Arial MT"/>
              </a:rPr>
              <a:t>PASCAL,C++,C,JAVA,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etc.</a:t>
            </a:r>
            <a:endParaRPr sz="2800">
              <a:latin typeface="Arial MT"/>
              <a:cs typeface="Arial MT"/>
            </a:endParaRPr>
          </a:p>
          <a:p>
            <a:pPr lvl="1" marL="768350" marR="300990" indent="-285750">
              <a:lnSpc>
                <a:spcPct val="90400"/>
              </a:lnSpc>
              <a:spcBef>
                <a:spcPts val="685"/>
              </a:spcBef>
              <a:buChar char="–"/>
              <a:tabLst>
                <a:tab pos="768350" algn="l"/>
              </a:tabLst>
            </a:pP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7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software called</a:t>
            </a:r>
            <a:r>
              <a:rPr dirty="0" sz="2800" spc="30">
                <a:latin typeface="Arial MT"/>
                <a:cs typeface="Arial MT"/>
              </a:rPr>
              <a:t> </a:t>
            </a:r>
            <a:r>
              <a:rPr dirty="0" sz="3200" spc="-5" b="1">
                <a:latin typeface="Arial"/>
                <a:cs typeface="Arial"/>
              </a:rPr>
              <a:t>Compiler</a:t>
            </a:r>
            <a:r>
              <a:rPr dirty="0" sz="3200" spc="-95" b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is </a:t>
            </a:r>
            <a:r>
              <a:rPr dirty="0" sz="2800" spc="-5">
                <a:latin typeface="Arial MT"/>
                <a:cs typeface="Arial MT"/>
              </a:rPr>
              <a:t>required </a:t>
            </a:r>
            <a:r>
              <a:rPr dirty="0" sz="2800">
                <a:latin typeface="Arial MT"/>
                <a:cs typeface="Arial MT"/>
              </a:rPr>
              <a:t>to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convert</a:t>
            </a:r>
            <a:r>
              <a:rPr dirty="0" sz="2800">
                <a:latin typeface="Arial MT"/>
                <a:cs typeface="Arial MT"/>
              </a:rPr>
              <a:t> a</a:t>
            </a:r>
            <a:r>
              <a:rPr dirty="0" sz="2800" spc="-5">
                <a:latin typeface="Arial MT"/>
                <a:cs typeface="Arial MT"/>
              </a:rPr>
              <a:t> high-level language program </a:t>
            </a:r>
            <a:r>
              <a:rPr dirty="0" sz="2800">
                <a:latin typeface="Arial MT"/>
                <a:cs typeface="Arial MT"/>
              </a:rPr>
              <a:t>to 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machine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code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0090" y="497840"/>
            <a:ext cx="770382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 b="0">
                <a:solidFill>
                  <a:srgbClr val="FF0000"/>
                </a:solidFill>
                <a:latin typeface="Arial MT"/>
                <a:cs typeface="Arial MT"/>
              </a:rPr>
              <a:t>2.</a:t>
            </a:r>
            <a:r>
              <a:rPr dirty="0" sz="4400" spc="-25" b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Programming</a:t>
            </a:r>
            <a:r>
              <a:rPr dirty="0" sz="4400" spc="-20" b="0"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model</a:t>
            </a:r>
            <a:r>
              <a:rPr dirty="0" sz="4400" spc="-15" b="0"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of</a:t>
            </a:r>
            <a:r>
              <a:rPr dirty="0" sz="4400" spc="45" b="0">
                <a:latin typeface="Arial MT"/>
                <a:cs typeface="Arial MT"/>
              </a:rPr>
              <a:t> </a:t>
            </a:r>
            <a:r>
              <a:rPr dirty="0" sz="4400" spc="-5" b="0">
                <a:solidFill>
                  <a:srgbClr val="333398"/>
                </a:solidFill>
                <a:latin typeface="Arial MT"/>
                <a:cs typeface="Arial MT"/>
              </a:rPr>
              <a:t>8085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3400" y="1600200"/>
            <a:ext cx="5867400" cy="4800600"/>
          </a:xfrm>
          <a:custGeom>
            <a:avLst/>
            <a:gdLst/>
            <a:ahLst/>
            <a:cxnLst/>
            <a:rect l="l" t="t" r="r" b="b"/>
            <a:pathLst>
              <a:path w="5867400" h="4800600">
                <a:moveTo>
                  <a:pt x="2933700" y="4800600"/>
                </a:moveTo>
                <a:lnTo>
                  <a:pt x="0" y="4800600"/>
                </a:lnTo>
                <a:lnTo>
                  <a:pt x="0" y="0"/>
                </a:lnTo>
                <a:lnTo>
                  <a:pt x="5867400" y="0"/>
                </a:lnTo>
                <a:lnTo>
                  <a:pt x="5867400" y="4800600"/>
                </a:lnTo>
                <a:lnTo>
                  <a:pt x="2933700" y="4800600"/>
                </a:lnTo>
                <a:close/>
              </a:path>
              <a:path w="5867400" h="4800600">
                <a:moveTo>
                  <a:pt x="1558289" y="3839210"/>
                </a:moveTo>
                <a:lnTo>
                  <a:pt x="365759" y="3839210"/>
                </a:lnTo>
                <a:lnTo>
                  <a:pt x="365759" y="160020"/>
                </a:lnTo>
                <a:lnTo>
                  <a:pt x="2749550" y="160020"/>
                </a:lnTo>
                <a:lnTo>
                  <a:pt x="2749550" y="3839210"/>
                </a:lnTo>
                <a:lnTo>
                  <a:pt x="1558289" y="383921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3310" y="2078989"/>
            <a:ext cx="2016760" cy="480059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wrap="square" lIns="0" tIns="46990" rIns="0" bIns="0" rtlCol="0" vert="horz">
            <a:spAutoFit/>
          </a:bodyPr>
          <a:lstStyle/>
          <a:p>
            <a:pPr marL="309880">
              <a:lnSpc>
                <a:spcPct val="100000"/>
              </a:lnSpc>
              <a:spcBef>
                <a:spcPts val="370"/>
              </a:spcBef>
            </a:pPr>
            <a:r>
              <a:rPr dirty="0" sz="1800" spc="-5" b="1">
                <a:latin typeface="Arial"/>
                <a:cs typeface="Arial"/>
              </a:rPr>
              <a:t>Accumulator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3310" y="2879089"/>
            <a:ext cx="2016760" cy="480059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wrap="square" lIns="0" tIns="469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dirty="0" sz="2000" spc="-5" b="1">
                <a:latin typeface="Arial"/>
                <a:cs typeface="Arial"/>
              </a:rPr>
              <a:t>ALU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3310" y="3680459"/>
            <a:ext cx="2016760" cy="47879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wrap="square" lIns="0" tIns="469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dirty="0" sz="2000" spc="-5" b="1">
                <a:latin typeface="Arial"/>
                <a:cs typeface="Arial"/>
              </a:rPr>
              <a:t>Flags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3310" y="4480559"/>
            <a:ext cx="2016760" cy="64008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wrap="square" lIns="0" tIns="46990" rIns="0" bIns="0" rtlCol="0" vert="horz">
            <a:spAutoFit/>
          </a:bodyPr>
          <a:lstStyle/>
          <a:p>
            <a:pPr marL="550545" marR="412115" indent="-134620">
              <a:lnSpc>
                <a:spcPct val="100000"/>
              </a:lnSpc>
              <a:spcBef>
                <a:spcPts val="370"/>
              </a:spcBef>
            </a:pPr>
            <a:r>
              <a:rPr dirty="0" sz="1800" spc="5" b="1">
                <a:latin typeface="Arial"/>
                <a:cs typeface="Arial"/>
              </a:rPr>
              <a:t>I</a:t>
            </a:r>
            <a:r>
              <a:rPr dirty="0" sz="1800" spc="-5" b="1">
                <a:latin typeface="Arial"/>
                <a:cs typeface="Arial"/>
              </a:rPr>
              <a:t>nstruc</a:t>
            </a:r>
            <a:r>
              <a:rPr dirty="0" sz="1800" spc="-15" b="1">
                <a:latin typeface="Arial"/>
                <a:cs typeface="Arial"/>
              </a:rPr>
              <a:t>t</a:t>
            </a:r>
            <a:r>
              <a:rPr dirty="0" sz="1800" spc="5" b="1">
                <a:latin typeface="Arial"/>
                <a:cs typeface="Arial"/>
              </a:rPr>
              <a:t>i</a:t>
            </a:r>
            <a:r>
              <a:rPr dirty="0" sz="1800" spc="-5" b="1">
                <a:latin typeface="Arial"/>
                <a:cs typeface="Arial"/>
              </a:rPr>
              <a:t>on  </a:t>
            </a:r>
            <a:r>
              <a:rPr dirty="0" sz="1800" spc="-5" b="1">
                <a:latin typeface="Arial"/>
                <a:cs typeface="Arial"/>
              </a:rPr>
              <a:t>Decoder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32859" y="1760220"/>
            <a:ext cx="2383790" cy="3679190"/>
          </a:xfrm>
          <a:custGeom>
            <a:avLst/>
            <a:gdLst/>
            <a:ahLst/>
            <a:cxnLst/>
            <a:rect l="l" t="t" r="r" b="b"/>
            <a:pathLst>
              <a:path w="2383790" h="3679190">
                <a:moveTo>
                  <a:pt x="1192529" y="3679190"/>
                </a:moveTo>
                <a:lnTo>
                  <a:pt x="0" y="3679190"/>
                </a:lnTo>
                <a:lnTo>
                  <a:pt x="0" y="0"/>
                </a:lnTo>
                <a:lnTo>
                  <a:pt x="2383790" y="0"/>
                </a:lnTo>
                <a:lnTo>
                  <a:pt x="2383790" y="3679190"/>
                </a:lnTo>
                <a:lnTo>
                  <a:pt x="1192529" y="367919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017009" y="2559050"/>
            <a:ext cx="2016760" cy="480059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wrap="square" lIns="0" tIns="46990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370"/>
              </a:spcBef>
            </a:pPr>
            <a:r>
              <a:rPr dirty="0" sz="1800" spc="-10" b="1">
                <a:latin typeface="Arial"/>
                <a:cs typeface="Arial"/>
              </a:rPr>
              <a:t>Register</a:t>
            </a:r>
            <a:r>
              <a:rPr dirty="0" sz="1800" spc="-10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Array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17009" y="3519170"/>
            <a:ext cx="2016760" cy="960119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wrap="square" lIns="0" tIns="46990" rIns="0" bIns="0" rtlCol="0" vert="horz">
            <a:spAutoFit/>
          </a:bodyPr>
          <a:lstStyle/>
          <a:p>
            <a:pPr marL="488950" marR="137795" indent="-344170">
              <a:lnSpc>
                <a:spcPct val="100000"/>
              </a:lnSpc>
              <a:spcBef>
                <a:spcPts val="370"/>
              </a:spcBef>
            </a:pPr>
            <a:r>
              <a:rPr dirty="0" sz="1800" spc="-5" b="1">
                <a:latin typeface="Arial"/>
                <a:cs typeface="Arial"/>
              </a:rPr>
              <a:t>Memory</a:t>
            </a:r>
            <a:r>
              <a:rPr dirty="0" sz="1800" spc="-8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Pointer </a:t>
            </a:r>
            <a:r>
              <a:rPr dirty="0" sz="1800" spc="-484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Registers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3310" y="5600700"/>
            <a:ext cx="4950460" cy="47879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wrap="square" lIns="0" tIns="469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dirty="0" sz="2400" spc="-10" b="1">
                <a:latin typeface="Arial"/>
                <a:cs typeface="Arial"/>
              </a:rPr>
              <a:t>Timing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spc="-5" b="1">
                <a:latin typeface="Arial"/>
                <a:cs typeface="Arial"/>
              </a:rPr>
              <a:t>and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spc="-5" b="1">
                <a:latin typeface="Arial"/>
                <a:cs typeface="Arial"/>
              </a:rPr>
              <a:t>Control</a:t>
            </a:r>
            <a:r>
              <a:rPr dirty="0" sz="2400" spc="-10" b="1">
                <a:latin typeface="Arial"/>
                <a:cs typeface="Arial"/>
              </a:rPr>
              <a:t> </a:t>
            </a:r>
            <a:r>
              <a:rPr dirty="0" sz="2400" spc="-5" b="1">
                <a:latin typeface="Arial"/>
                <a:cs typeface="Arial"/>
              </a:rPr>
              <a:t>Unit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414770" y="1676400"/>
            <a:ext cx="1981200" cy="1447800"/>
          </a:xfrm>
          <a:custGeom>
            <a:avLst/>
            <a:gdLst/>
            <a:ahLst/>
            <a:cxnLst/>
            <a:rect l="l" t="t" r="r" b="b"/>
            <a:pathLst>
              <a:path w="1981200" h="1447800">
                <a:moveTo>
                  <a:pt x="0" y="361950"/>
                </a:moveTo>
                <a:lnTo>
                  <a:pt x="1485900" y="361950"/>
                </a:lnTo>
                <a:lnTo>
                  <a:pt x="1485900" y="0"/>
                </a:lnTo>
                <a:lnTo>
                  <a:pt x="1981200" y="723900"/>
                </a:lnTo>
                <a:lnTo>
                  <a:pt x="1485900" y="1447800"/>
                </a:lnTo>
                <a:lnTo>
                  <a:pt x="1485900" y="1085850"/>
                </a:lnTo>
                <a:lnTo>
                  <a:pt x="0" y="1085850"/>
                </a:lnTo>
                <a:lnTo>
                  <a:pt x="0" y="361950"/>
                </a:lnTo>
                <a:close/>
              </a:path>
              <a:path w="1981200" h="1447800">
                <a:moveTo>
                  <a:pt x="0" y="0"/>
                </a:moveTo>
                <a:lnTo>
                  <a:pt x="0" y="0"/>
                </a:lnTo>
              </a:path>
              <a:path w="1981200" h="1447800">
                <a:moveTo>
                  <a:pt x="1981200" y="1447800"/>
                </a:moveTo>
                <a:lnTo>
                  <a:pt x="1981200" y="14478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492240" y="2072640"/>
            <a:ext cx="14331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16-bit </a:t>
            </a:r>
            <a:r>
              <a:rPr dirty="0" sz="180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Address</a:t>
            </a:r>
            <a:r>
              <a:rPr dirty="0" sz="1800" spc="-10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Bus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14770" y="3352800"/>
            <a:ext cx="1905000" cy="1295400"/>
          </a:xfrm>
          <a:custGeom>
            <a:avLst/>
            <a:gdLst/>
            <a:ahLst/>
            <a:cxnLst/>
            <a:rect l="l" t="t" r="r" b="b"/>
            <a:pathLst>
              <a:path w="1905000" h="1295400">
                <a:moveTo>
                  <a:pt x="0" y="647700"/>
                </a:moveTo>
                <a:lnTo>
                  <a:pt x="379729" y="0"/>
                </a:lnTo>
                <a:lnTo>
                  <a:pt x="379729" y="322580"/>
                </a:lnTo>
                <a:lnTo>
                  <a:pt x="1525270" y="322580"/>
                </a:lnTo>
                <a:lnTo>
                  <a:pt x="1525270" y="0"/>
                </a:lnTo>
                <a:lnTo>
                  <a:pt x="1905000" y="647700"/>
                </a:lnTo>
                <a:lnTo>
                  <a:pt x="1525270" y="1295400"/>
                </a:lnTo>
                <a:lnTo>
                  <a:pt x="1525270" y="971550"/>
                </a:lnTo>
                <a:lnTo>
                  <a:pt x="379729" y="971550"/>
                </a:lnTo>
                <a:lnTo>
                  <a:pt x="379729" y="1295400"/>
                </a:lnTo>
                <a:lnTo>
                  <a:pt x="0" y="647700"/>
                </a:lnTo>
                <a:close/>
              </a:path>
              <a:path w="1905000" h="1295400">
                <a:moveTo>
                  <a:pt x="0" y="0"/>
                </a:moveTo>
                <a:lnTo>
                  <a:pt x="0" y="0"/>
                </a:lnTo>
              </a:path>
              <a:path w="1905000" h="1295400">
                <a:moveTo>
                  <a:pt x="1905000" y="1295400"/>
                </a:moveTo>
                <a:lnTo>
                  <a:pt x="1905000" y="12954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681469" y="3709670"/>
            <a:ext cx="1185545" cy="636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Arial"/>
                <a:cs typeface="Arial"/>
              </a:rPr>
              <a:t>8-bit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Data </a:t>
            </a:r>
            <a:r>
              <a:rPr dirty="0" sz="2000" spc="-5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Bus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414770" y="4876800"/>
            <a:ext cx="2057400" cy="1447800"/>
          </a:xfrm>
          <a:custGeom>
            <a:avLst/>
            <a:gdLst/>
            <a:ahLst/>
            <a:cxnLst/>
            <a:rect l="l" t="t" r="r" b="b"/>
            <a:pathLst>
              <a:path w="2057400" h="1447800">
                <a:moveTo>
                  <a:pt x="0" y="361950"/>
                </a:moveTo>
                <a:lnTo>
                  <a:pt x="1543050" y="361950"/>
                </a:lnTo>
                <a:lnTo>
                  <a:pt x="1543050" y="0"/>
                </a:lnTo>
                <a:lnTo>
                  <a:pt x="2057400" y="723900"/>
                </a:lnTo>
                <a:lnTo>
                  <a:pt x="1543050" y="1447800"/>
                </a:lnTo>
                <a:lnTo>
                  <a:pt x="1543050" y="1085850"/>
                </a:lnTo>
                <a:lnTo>
                  <a:pt x="0" y="1085850"/>
                </a:lnTo>
                <a:lnTo>
                  <a:pt x="0" y="361950"/>
                </a:lnTo>
                <a:close/>
              </a:path>
              <a:path w="2057400" h="1447800">
                <a:moveTo>
                  <a:pt x="0" y="0"/>
                </a:moveTo>
                <a:lnTo>
                  <a:pt x="0" y="0"/>
                </a:lnTo>
              </a:path>
              <a:path w="2057400" h="1447800">
                <a:moveTo>
                  <a:pt x="2057400" y="1447800"/>
                </a:moveTo>
                <a:lnTo>
                  <a:pt x="2057400" y="14478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492240" y="5547359"/>
            <a:ext cx="14795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Arial"/>
                <a:cs typeface="Arial"/>
              </a:rPr>
              <a:t>Control</a:t>
            </a:r>
            <a:r>
              <a:rPr dirty="0" sz="2000" spc="-9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Bus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740409"/>
            <a:ext cx="287782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 b="0">
                <a:solidFill>
                  <a:srgbClr val="D50092"/>
                </a:solidFill>
                <a:latin typeface="Times New Roman"/>
                <a:cs typeface="Times New Roman"/>
              </a:rPr>
              <a:t>A</a:t>
            </a:r>
            <a:r>
              <a:rPr dirty="0" spc="-5" b="0">
                <a:latin typeface="Times New Roman"/>
                <a:cs typeface="Times New Roman"/>
              </a:rPr>
              <a:t>ccumulator</a:t>
            </a:r>
            <a:r>
              <a:rPr dirty="0" spc="-9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(8-bit)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731009"/>
            <a:ext cx="12598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D50092"/>
                </a:solidFill>
                <a:latin typeface="Times New Roman"/>
                <a:cs typeface="Times New Roman"/>
              </a:rPr>
              <a:t>B</a:t>
            </a:r>
            <a:r>
              <a:rPr dirty="0" sz="2800" spc="-75">
                <a:solidFill>
                  <a:srgbClr val="D50092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(8-bit)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4669" y="2282190"/>
            <a:ext cx="128016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D50092"/>
                </a:solidFill>
                <a:latin typeface="Times New Roman"/>
                <a:cs typeface="Times New Roman"/>
              </a:rPr>
              <a:t>D</a:t>
            </a:r>
            <a:r>
              <a:rPr dirty="0" sz="2800" spc="-95">
                <a:solidFill>
                  <a:srgbClr val="D50092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(8-bit)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49470" y="2282190"/>
            <a:ext cx="12407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D50092"/>
                </a:solidFill>
                <a:latin typeface="Times New Roman"/>
                <a:cs typeface="Times New Roman"/>
              </a:rPr>
              <a:t>E</a:t>
            </a:r>
            <a:r>
              <a:rPr dirty="0" sz="2800" spc="-100">
                <a:solidFill>
                  <a:srgbClr val="D50092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(8-bit)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4669" y="2829559"/>
            <a:ext cx="128016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D50092"/>
                </a:solidFill>
                <a:latin typeface="Times New Roman"/>
                <a:cs typeface="Times New Roman"/>
              </a:rPr>
              <a:t>H</a:t>
            </a:r>
            <a:r>
              <a:rPr dirty="0" sz="2800" spc="-95">
                <a:solidFill>
                  <a:srgbClr val="D50092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(8-bit)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49470" y="2829559"/>
            <a:ext cx="12407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D50092"/>
                </a:solidFill>
                <a:latin typeface="Times New Roman"/>
                <a:cs typeface="Times New Roman"/>
              </a:rPr>
              <a:t>L</a:t>
            </a:r>
            <a:r>
              <a:rPr dirty="0" sz="2800" spc="-100">
                <a:solidFill>
                  <a:srgbClr val="D50092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(8-bit)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60929" y="3255009"/>
            <a:ext cx="44196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94640">
              <a:lnSpc>
                <a:spcPct val="128600"/>
              </a:lnSpc>
              <a:spcBef>
                <a:spcPts val="100"/>
              </a:spcBef>
            </a:pPr>
            <a:r>
              <a:rPr dirty="0" sz="2800" spc="-5">
                <a:latin typeface="Times New Roman"/>
                <a:cs typeface="Times New Roman"/>
              </a:rPr>
              <a:t>Stack </a:t>
            </a:r>
            <a:r>
              <a:rPr dirty="0" sz="2800">
                <a:latin typeface="Times New Roman"/>
                <a:cs typeface="Times New Roman"/>
              </a:rPr>
              <a:t>Pointer </a:t>
            </a:r>
            <a:r>
              <a:rPr dirty="0" sz="2800" spc="-5">
                <a:latin typeface="Times New Roman"/>
                <a:cs typeface="Times New Roman"/>
              </a:rPr>
              <a:t>(SP) </a:t>
            </a:r>
            <a:r>
              <a:rPr dirty="0" sz="2800">
                <a:latin typeface="Times New Roman"/>
                <a:cs typeface="Times New Roman"/>
              </a:rPr>
              <a:t>(16-bit) 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Program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Counter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(PC)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(16-bit)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4659" y="741680"/>
            <a:ext cx="8234680" cy="3909060"/>
            <a:chOff x="454659" y="741680"/>
            <a:chExt cx="8234680" cy="3909060"/>
          </a:xfrm>
        </p:grpSpPr>
        <p:sp>
          <p:nvSpPr>
            <p:cNvPr id="10" name="object 10"/>
            <p:cNvSpPr/>
            <p:nvPr/>
          </p:nvSpPr>
          <p:spPr>
            <a:xfrm>
              <a:off x="454660" y="741679"/>
              <a:ext cx="8234680" cy="3909060"/>
            </a:xfrm>
            <a:custGeom>
              <a:avLst/>
              <a:gdLst/>
              <a:ahLst/>
              <a:cxnLst/>
              <a:rect l="l" t="t" r="r" b="b"/>
              <a:pathLst>
                <a:path w="8234680" h="3909060">
                  <a:moveTo>
                    <a:pt x="8234680" y="0"/>
                  </a:moveTo>
                  <a:lnTo>
                    <a:pt x="8233410" y="0"/>
                  </a:lnTo>
                  <a:lnTo>
                    <a:pt x="8232140" y="0"/>
                  </a:lnTo>
                  <a:lnTo>
                    <a:pt x="8232140" y="2540"/>
                  </a:lnTo>
                  <a:lnTo>
                    <a:pt x="8232140" y="2640330"/>
                  </a:lnTo>
                  <a:lnTo>
                    <a:pt x="8230870" y="2641600"/>
                  </a:lnTo>
                  <a:lnTo>
                    <a:pt x="8230870" y="2640330"/>
                  </a:lnTo>
                  <a:lnTo>
                    <a:pt x="8232140" y="2640330"/>
                  </a:lnTo>
                  <a:lnTo>
                    <a:pt x="8232140" y="2094230"/>
                  </a:lnTo>
                  <a:lnTo>
                    <a:pt x="8230870" y="2094230"/>
                  </a:lnTo>
                  <a:lnTo>
                    <a:pt x="8230870" y="2091690"/>
                  </a:lnTo>
                  <a:lnTo>
                    <a:pt x="8232140" y="2091690"/>
                  </a:lnTo>
                  <a:lnTo>
                    <a:pt x="8232140" y="1546860"/>
                  </a:lnTo>
                  <a:lnTo>
                    <a:pt x="8230870" y="1546860"/>
                  </a:lnTo>
                  <a:lnTo>
                    <a:pt x="8230870" y="1544320"/>
                  </a:lnTo>
                  <a:lnTo>
                    <a:pt x="8230870" y="1543050"/>
                  </a:lnTo>
                  <a:lnTo>
                    <a:pt x="8232140" y="1544320"/>
                  </a:lnTo>
                  <a:lnTo>
                    <a:pt x="8232140" y="993140"/>
                  </a:lnTo>
                  <a:lnTo>
                    <a:pt x="8230870" y="995045"/>
                  </a:lnTo>
                  <a:lnTo>
                    <a:pt x="8230870" y="993140"/>
                  </a:lnTo>
                  <a:lnTo>
                    <a:pt x="8232140" y="993140"/>
                  </a:lnTo>
                  <a:lnTo>
                    <a:pt x="8232140" y="5080"/>
                  </a:lnTo>
                  <a:lnTo>
                    <a:pt x="8230870" y="5080"/>
                  </a:lnTo>
                  <a:lnTo>
                    <a:pt x="8230870" y="2540"/>
                  </a:lnTo>
                  <a:lnTo>
                    <a:pt x="8232140" y="2540"/>
                  </a:lnTo>
                  <a:lnTo>
                    <a:pt x="8232140" y="0"/>
                  </a:lnTo>
                  <a:lnTo>
                    <a:pt x="8229600" y="0"/>
                  </a:lnTo>
                  <a:lnTo>
                    <a:pt x="8229600" y="5080"/>
                  </a:lnTo>
                  <a:lnTo>
                    <a:pt x="8229600" y="990600"/>
                  </a:lnTo>
                  <a:lnTo>
                    <a:pt x="8229600" y="2636520"/>
                  </a:lnTo>
                  <a:lnTo>
                    <a:pt x="4119880" y="2636520"/>
                  </a:lnTo>
                  <a:lnTo>
                    <a:pt x="4119880" y="2094230"/>
                  </a:lnTo>
                  <a:lnTo>
                    <a:pt x="8229600" y="2094230"/>
                  </a:lnTo>
                  <a:lnTo>
                    <a:pt x="8229600" y="2089150"/>
                  </a:lnTo>
                  <a:lnTo>
                    <a:pt x="4119880" y="2089150"/>
                  </a:lnTo>
                  <a:lnTo>
                    <a:pt x="4119880" y="1546860"/>
                  </a:lnTo>
                  <a:lnTo>
                    <a:pt x="8229600" y="1546860"/>
                  </a:lnTo>
                  <a:lnTo>
                    <a:pt x="8229600" y="1541780"/>
                  </a:lnTo>
                  <a:lnTo>
                    <a:pt x="4119880" y="1541780"/>
                  </a:lnTo>
                  <a:lnTo>
                    <a:pt x="4119880" y="996950"/>
                  </a:lnTo>
                  <a:lnTo>
                    <a:pt x="8229600" y="996950"/>
                  </a:lnTo>
                  <a:lnTo>
                    <a:pt x="8229600" y="990600"/>
                  </a:lnTo>
                  <a:lnTo>
                    <a:pt x="4119880" y="990600"/>
                  </a:lnTo>
                  <a:lnTo>
                    <a:pt x="4119880" y="5080"/>
                  </a:lnTo>
                  <a:lnTo>
                    <a:pt x="8229600" y="5080"/>
                  </a:lnTo>
                  <a:lnTo>
                    <a:pt x="8229600" y="0"/>
                  </a:lnTo>
                  <a:lnTo>
                    <a:pt x="4119880" y="0"/>
                  </a:lnTo>
                  <a:lnTo>
                    <a:pt x="4118610" y="0"/>
                  </a:lnTo>
                  <a:lnTo>
                    <a:pt x="4117340" y="0"/>
                  </a:lnTo>
                  <a:lnTo>
                    <a:pt x="4117340" y="2540"/>
                  </a:lnTo>
                  <a:lnTo>
                    <a:pt x="4117340" y="993140"/>
                  </a:lnTo>
                  <a:lnTo>
                    <a:pt x="4117340" y="1544320"/>
                  </a:lnTo>
                  <a:lnTo>
                    <a:pt x="4117340" y="2091690"/>
                  </a:lnTo>
                  <a:lnTo>
                    <a:pt x="4116070" y="2092960"/>
                  </a:lnTo>
                  <a:lnTo>
                    <a:pt x="4116070" y="2091690"/>
                  </a:lnTo>
                  <a:lnTo>
                    <a:pt x="4117340" y="2091690"/>
                  </a:lnTo>
                  <a:lnTo>
                    <a:pt x="4117340" y="1544320"/>
                  </a:lnTo>
                  <a:lnTo>
                    <a:pt x="4116070" y="1545590"/>
                  </a:lnTo>
                  <a:lnTo>
                    <a:pt x="4116070" y="1544320"/>
                  </a:lnTo>
                  <a:lnTo>
                    <a:pt x="4116070" y="1543050"/>
                  </a:lnTo>
                  <a:lnTo>
                    <a:pt x="4117340" y="1544320"/>
                  </a:lnTo>
                  <a:lnTo>
                    <a:pt x="4117340" y="993140"/>
                  </a:lnTo>
                  <a:lnTo>
                    <a:pt x="4116070" y="995045"/>
                  </a:lnTo>
                  <a:lnTo>
                    <a:pt x="4116070" y="993140"/>
                  </a:lnTo>
                  <a:lnTo>
                    <a:pt x="4117340" y="993140"/>
                  </a:lnTo>
                  <a:lnTo>
                    <a:pt x="4117340" y="2540"/>
                  </a:lnTo>
                  <a:lnTo>
                    <a:pt x="4116070" y="3810"/>
                  </a:lnTo>
                  <a:lnTo>
                    <a:pt x="4116070" y="2540"/>
                  </a:lnTo>
                  <a:lnTo>
                    <a:pt x="4117340" y="2540"/>
                  </a:lnTo>
                  <a:lnTo>
                    <a:pt x="4117340" y="0"/>
                  </a:lnTo>
                  <a:lnTo>
                    <a:pt x="4116070" y="0"/>
                  </a:lnTo>
                  <a:lnTo>
                    <a:pt x="4114800" y="0"/>
                  </a:lnTo>
                  <a:lnTo>
                    <a:pt x="4114800" y="2636520"/>
                  </a:lnTo>
                  <a:lnTo>
                    <a:pt x="5080" y="2636520"/>
                  </a:lnTo>
                  <a:lnTo>
                    <a:pt x="5080" y="2094230"/>
                  </a:lnTo>
                  <a:lnTo>
                    <a:pt x="4114800" y="2094230"/>
                  </a:lnTo>
                  <a:lnTo>
                    <a:pt x="4114800" y="2089150"/>
                  </a:lnTo>
                  <a:lnTo>
                    <a:pt x="5080" y="2089150"/>
                  </a:lnTo>
                  <a:lnTo>
                    <a:pt x="5080" y="1546860"/>
                  </a:lnTo>
                  <a:lnTo>
                    <a:pt x="4114800" y="1546860"/>
                  </a:lnTo>
                  <a:lnTo>
                    <a:pt x="4114800" y="1541780"/>
                  </a:lnTo>
                  <a:lnTo>
                    <a:pt x="5080" y="1541780"/>
                  </a:lnTo>
                  <a:lnTo>
                    <a:pt x="5080" y="996950"/>
                  </a:lnTo>
                  <a:lnTo>
                    <a:pt x="4114800" y="996950"/>
                  </a:lnTo>
                  <a:lnTo>
                    <a:pt x="4114800" y="990600"/>
                  </a:lnTo>
                  <a:lnTo>
                    <a:pt x="5080" y="990600"/>
                  </a:lnTo>
                  <a:lnTo>
                    <a:pt x="5080" y="5080"/>
                  </a:lnTo>
                  <a:lnTo>
                    <a:pt x="4114800" y="5080"/>
                  </a:lnTo>
                  <a:lnTo>
                    <a:pt x="4114800" y="0"/>
                  </a:lnTo>
                  <a:lnTo>
                    <a:pt x="3810" y="0"/>
                  </a:lnTo>
                  <a:lnTo>
                    <a:pt x="3810" y="993140"/>
                  </a:lnTo>
                  <a:lnTo>
                    <a:pt x="3810" y="995045"/>
                  </a:lnTo>
                  <a:lnTo>
                    <a:pt x="3810" y="1543050"/>
                  </a:lnTo>
                  <a:lnTo>
                    <a:pt x="3810" y="1544320"/>
                  </a:lnTo>
                  <a:lnTo>
                    <a:pt x="3810" y="1546860"/>
                  </a:lnTo>
                  <a:lnTo>
                    <a:pt x="3797" y="2091690"/>
                  </a:lnTo>
                  <a:lnTo>
                    <a:pt x="3797" y="2094230"/>
                  </a:lnTo>
                  <a:lnTo>
                    <a:pt x="3797" y="2640330"/>
                  </a:lnTo>
                  <a:lnTo>
                    <a:pt x="3797" y="2641587"/>
                  </a:lnTo>
                  <a:lnTo>
                    <a:pt x="2540" y="2640330"/>
                  </a:lnTo>
                  <a:lnTo>
                    <a:pt x="3797" y="2640330"/>
                  </a:lnTo>
                  <a:lnTo>
                    <a:pt x="3797" y="2094230"/>
                  </a:lnTo>
                  <a:lnTo>
                    <a:pt x="2527" y="2094230"/>
                  </a:lnTo>
                  <a:lnTo>
                    <a:pt x="2527" y="2091690"/>
                  </a:lnTo>
                  <a:lnTo>
                    <a:pt x="3797" y="2091690"/>
                  </a:lnTo>
                  <a:lnTo>
                    <a:pt x="3797" y="1546860"/>
                  </a:lnTo>
                  <a:lnTo>
                    <a:pt x="2540" y="1546860"/>
                  </a:lnTo>
                  <a:lnTo>
                    <a:pt x="2540" y="1544320"/>
                  </a:lnTo>
                  <a:lnTo>
                    <a:pt x="3810" y="1543050"/>
                  </a:lnTo>
                  <a:lnTo>
                    <a:pt x="3810" y="995045"/>
                  </a:lnTo>
                  <a:lnTo>
                    <a:pt x="2540" y="993140"/>
                  </a:lnTo>
                  <a:lnTo>
                    <a:pt x="3810" y="993140"/>
                  </a:lnTo>
                  <a:lnTo>
                    <a:pt x="3810" y="0"/>
                  </a:lnTo>
                  <a:lnTo>
                    <a:pt x="3797" y="2540"/>
                  </a:lnTo>
                  <a:lnTo>
                    <a:pt x="3797" y="5080"/>
                  </a:lnTo>
                  <a:lnTo>
                    <a:pt x="2527" y="5080"/>
                  </a:lnTo>
                  <a:lnTo>
                    <a:pt x="2527" y="2540"/>
                  </a:lnTo>
                  <a:lnTo>
                    <a:pt x="3797" y="2540"/>
                  </a:lnTo>
                  <a:lnTo>
                    <a:pt x="3797" y="0"/>
                  </a:lnTo>
                  <a:lnTo>
                    <a:pt x="2527" y="0"/>
                  </a:lnTo>
                  <a:lnTo>
                    <a:pt x="1270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0" y="3909060"/>
                  </a:lnTo>
                  <a:lnTo>
                    <a:pt x="1270" y="3909060"/>
                  </a:lnTo>
                  <a:lnTo>
                    <a:pt x="8233410" y="3909060"/>
                  </a:lnTo>
                  <a:lnTo>
                    <a:pt x="8234680" y="3909060"/>
                  </a:lnTo>
                  <a:lnTo>
                    <a:pt x="8234680" y="3906520"/>
                  </a:lnTo>
                  <a:lnTo>
                    <a:pt x="8234680" y="3903980"/>
                  </a:lnTo>
                  <a:lnTo>
                    <a:pt x="8230870" y="3903980"/>
                  </a:lnTo>
                  <a:lnTo>
                    <a:pt x="5080" y="3903980"/>
                  </a:lnTo>
                  <a:lnTo>
                    <a:pt x="5080" y="3191510"/>
                  </a:lnTo>
                  <a:lnTo>
                    <a:pt x="2540" y="3191510"/>
                  </a:lnTo>
                  <a:lnTo>
                    <a:pt x="2540" y="3188970"/>
                  </a:lnTo>
                  <a:lnTo>
                    <a:pt x="5080" y="3186430"/>
                  </a:lnTo>
                  <a:lnTo>
                    <a:pt x="5080" y="2642870"/>
                  </a:lnTo>
                  <a:lnTo>
                    <a:pt x="4118597" y="2642870"/>
                  </a:lnTo>
                  <a:lnTo>
                    <a:pt x="4119880" y="2642870"/>
                  </a:lnTo>
                  <a:lnTo>
                    <a:pt x="8229600" y="2642870"/>
                  </a:lnTo>
                  <a:lnTo>
                    <a:pt x="8229600" y="3186430"/>
                  </a:lnTo>
                  <a:lnTo>
                    <a:pt x="8232140" y="3188970"/>
                  </a:lnTo>
                  <a:lnTo>
                    <a:pt x="8234680" y="3191510"/>
                  </a:lnTo>
                  <a:lnTo>
                    <a:pt x="8234680" y="2642870"/>
                  </a:lnTo>
                  <a:lnTo>
                    <a:pt x="8234680" y="5080"/>
                  </a:lnTo>
                  <a:lnTo>
                    <a:pt x="82346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8470" y="3928109"/>
              <a:ext cx="8230870" cy="720090"/>
            </a:xfrm>
            <a:custGeom>
              <a:avLst/>
              <a:gdLst/>
              <a:ahLst/>
              <a:cxnLst/>
              <a:rect l="l" t="t" r="r" b="b"/>
              <a:pathLst>
                <a:path w="8230870" h="720089">
                  <a:moveTo>
                    <a:pt x="8230870" y="0"/>
                  </a:moveTo>
                  <a:lnTo>
                    <a:pt x="8228330" y="0"/>
                  </a:lnTo>
                  <a:lnTo>
                    <a:pt x="8228330" y="5080"/>
                  </a:lnTo>
                  <a:lnTo>
                    <a:pt x="8227060" y="5080"/>
                  </a:lnTo>
                  <a:lnTo>
                    <a:pt x="8227060" y="2540"/>
                  </a:lnTo>
                  <a:lnTo>
                    <a:pt x="8227060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0" y="5080"/>
                  </a:lnTo>
                  <a:lnTo>
                    <a:pt x="8225790" y="5080"/>
                  </a:lnTo>
                  <a:lnTo>
                    <a:pt x="8225790" y="717550"/>
                  </a:lnTo>
                  <a:lnTo>
                    <a:pt x="8227060" y="717550"/>
                  </a:lnTo>
                  <a:lnTo>
                    <a:pt x="8227060" y="720090"/>
                  </a:lnTo>
                  <a:lnTo>
                    <a:pt x="8230870" y="720090"/>
                  </a:lnTo>
                  <a:lnTo>
                    <a:pt x="8230870" y="717550"/>
                  </a:lnTo>
                  <a:lnTo>
                    <a:pt x="8230870" y="5080"/>
                  </a:lnTo>
                  <a:lnTo>
                    <a:pt x="82308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649470" y="552731"/>
            <a:ext cx="2926715" cy="1630680"/>
          </a:xfrm>
          <a:prstGeom prst="rect">
            <a:avLst/>
          </a:prstGeom>
        </p:spPr>
        <p:txBody>
          <a:bodyPr wrap="square" lIns="0" tIns="200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dirty="0" sz="2800" spc="-5">
                <a:latin typeface="Times New Roman"/>
                <a:cs typeface="Times New Roman"/>
              </a:rPr>
              <a:t>Flag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Register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(8-bit)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  <a:tabLst>
                <a:tab pos="387985" algn="l"/>
                <a:tab pos="1456055" algn="l"/>
                <a:tab pos="2525395" algn="l"/>
              </a:tabLst>
            </a:pPr>
            <a:r>
              <a:rPr dirty="0" sz="1800" b="1">
                <a:latin typeface="Times New Roman"/>
                <a:cs typeface="Times New Roman"/>
              </a:rPr>
              <a:t>S	Z	</a:t>
            </a:r>
            <a:r>
              <a:rPr dirty="0" sz="1800" spc="-5" b="1">
                <a:latin typeface="Times New Roman"/>
                <a:cs typeface="Times New Roman"/>
              </a:rPr>
              <a:t>AC	</a:t>
            </a:r>
            <a:r>
              <a:rPr dirty="0" sz="1800" b="1">
                <a:latin typeface="Times New Roman"/>
                <a:cs typeface="Times New Roman"/>
              </a:rPr>
              <a:t>P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2800">
                <a:solidFill>
                  <a:srgbClr val="D50092"/>
                </a:solidFill>
                <a:latin typeface="Times New Roman"/>
                <a:cs typeface="Times New Roman"/>
              </a:rPr>
              <a:t>C</a:t>
            </a:r>
            <a:r>
              <a:rPr dirty="0" sz="2800" spc="-40">
                <a:solidFill>
                  <a:srgbClr val="D50092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(8-bit)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54669" y="1287779"/>
            <a:ext cx="355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Times New Roman"/>
                <a:cs typeface="Times New Roman"/>
              </a:rPr>
              <a:t>CY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662327" y="1275080"/>
            <a:ext cx="6027420" cy="4445000"/>
            <a:chOff x="2662327" y="1275080"/>
            <a:chExt cx="6027420" cy="4445000"/>
          </a:xfrm>
        </p:grpSpPr>
        <p:sp>
          <p:nvSpPr>
            <p:cNvPr id="15" name="object 15"/>
            <p:cNvSpPr/>
            <p:nvPr/>
          </p:nvSpPr>
          <p:spPr>
            <a:xfrm>
              <a:off x="4569460" y="1275079"/>
              <a:ext cx="4119879" cy="3117850"/>
            </a:xfrm>
            <a:custGeom>
              <a:avLst/>
              <a:gdLst/>
              <a:ahLst/>
              <a:cxnLst/>
              <a:rect l="l" t="t" r="r" b="b"/>
              <a:pathLst>
                <a:path w="4119879" h="3117850">
                  <a:moveTo>
                    <a:pt x="4119880" y="0"/>
                  </a:moveTo>
                  <a:lnTo>
                    <a:pt x="4114800" y="0"/>
                  </a:lnTo>
                  <a:lnTo>
                    <a:pt x="4114800" y="6350"/>
                  </a:lnTo>
                  <a:lnTo>
                    <a:pt x="4114800" y="3111500"/>
                  </a:lnTo>
                  <a:lnTo>
                    <a:pt x="3510280" y="3111500"/>
                  </a:lnTo>
                  <a:lnTo>
                    <a:pt x="3510280" y="6350"/>
                  </a:lnTo>
                  <a:lnTo>
                    <a:pt x="4114800" y="6350"/>
                  </a:lnTo>
                  <a:lnTo>
                    <a:pt x="4114800" y="0"/>
                  </a:lnTo>
                  <a:lnTo>
                    <a:pt x="3510280" y="0"/>
                  </a:lnTo>
                  <a:lnTo>
                    <a:pt x="3507740" y="0"/>
                  </a:lnTo>
                  <a:lnTo>
                    <a:pt x="3507740" y="3114040"/>
                  </a:lnTo>
                  <a:lnTo>
                    <a:pt x="3506470" y="3114040"/>
                  </a:lnTo>
                  <a:lnTo>
                    <a:pt x="3506470" y="3112770"/>
                  </a:lnTo>
                  <a:lnTo>
                    <a:pt x="3507740" y="3114040"/>
                  </a:lnTo>
                  <a:lnTo>
                    <a:pt x="3507740" y="0"/>
                  </a:lnTo>
                  <a:lnTo>
                    <a:pt x="3505200" y="0"/>
                  </a:lnTo>
                  <a:lnTo>
                    <a:pt x="3505200" y="6350"/>
                  </a:lnTo>
                  <a:lnTo>
                    <a:pt x="3505200" y="3111500"/>
                  </a:lnTo>
                  <a:lnTo>
                    <a:pt x="3051810" y="3111500"/>
                  </a:lnTo>
                  <a:lnTo>
                    <a:pt x="3051810" y="6350"/>
                  </a:lnTo>
                  <a:lnTo>
                    <a:pt x="3505200" y="6350"/>
                  </a:lnTo>
                  <a:lnTo>
                    <a:pt x="3505200" y="0"/>
                  </a:lnTo>
                  <a:lnTo>
                    <a:pt x="3051810" y="0"/>
                  </a:lnTo>
                  <a:lnTo>
                    <a:pt x="3050540" y="0"/>
                  </a:lnTo>
                  <a:lnTo>
                    <a:pt x="3050540" y="3112770"/>
                  </a:lnTo>
                  <a:lnTo>
                    <a:pt x="3050540" y="3114040"/>
                  </a:lnTo>
                  <a:lnTo>
                    <a:pt x="3049270" y="3114040"/>
                  </a:lnTo>
                  <a:lnTo>
                    <a:pt x="3050540" y="3112770"/>
                  </a:lnTo>
                  <a:lnTo>
                    <a:pt x="3050540" y="0"/>
                  </a:lnTo>
                  <a:lnTo>
                    <a:pt x="3045460" y="0"/>
                  </a:lnTo>
                  <a:lnTo>
                    <a:pt x="3045460" y="6350"/>
                  </a:lnTo>
                  <a:lnTo>
                    <a:pt x="3045460" y="3111500"/>
                  </a:lnTo>
                  <a:lnTo>
                    <a:pt x="2518410" y="3111500"/>
                  </a:lnTo>
                  <a:lnTo>
                    <a:pt x="2518410" y="6350"/>
                  </a:lnTo>
                  <a:lnTo>
                    <a:pt x="3045460" y="6350"/>
                  </a:lnTo>
                  <a:lnTo>
                    <a:pt x="3045460" y="0"/>
                  </a:lnTo>
                  <a:lnTo>
                    <a:pt x="2518410" y="0"/>
                  </a:lnTo>
                  <a:lnTo>
                    <a:pt x="2513330" y="0"/>
                  </a:lnTo>
                  <a:lnTo>
                    <a:pt x="2513330" y="6350"/>
                  </a:lnTo>
                  <a:lnTo>
                    <a:pt x="2513330" y="3111500"/>
                  </a:lnTo>
                  <a:lnTo>
                    <a:pt x="2062480" y="3111500"/>
                  </a:lnTo>
                  <a:lnTo>
                    <a:pt x="2062480" y="6350"/>
                  </a:lnTo>
                  <a:lnTo>
                    <a:pt x="2513330" y="6350"/>
                  </a:lnTo>
                  <a:lnTo>
                    <a:pt x="2513330" y="0"/>
                  </a:lnTo>
                  <a:lnTo>
                    <a:pt x="2062480" y="0"/>
                  </a:lnTo>
                  <a:lnTo>
                    <a:pt x="2059940" y="0"/>
                  </a:lnTo>
                  <a:lnTo>
                    <a:pt x="2059940" y="3114040"/>
                  </a:lnTo>
                  <a:lnTo>
                    <a:pt x="2058670" y="3114040"/>
                  </a:lnTo>
                  <a:lnTo>
                    <a:pt x="2058670" y="3112782"/>
                  </a:lnTo>
                  <a:lnTo>
                    <a:pt x="2059940" y="3114040"/>
                  </a:lnTo>
                  <a:lnTo>
                    <a:pt x="2059940" y="0"/>
                  </a:lnTo>
                  <a:lnTo>
                    <a:pt x="2057387" y="0"/>
                  </a:lnTo>
                  <a:lnTo>
                    <a:pt x="2057387" y="6350"/>
                  </a:lnTo>
                  <a:lnTo>
                    <a:pt x="2057387" y="3111500"/>
                  </a:lnTo>
                  <a:lnTo>
                    <a:pt x="1450340" y="3111500"/>
                  </a:lnTo>
                  <a:lnTo>
                    <a:pt x="1450340" y="6350"/>
                  </a:lnTo>
                  <a:lnTo>
                    <a:pt x="2057387" y="6350"/>
                  </a:lnTo>
                  <a:lnTo>
                    <a:pt x="2057387" y="0"/>
                  </a:lnTo>
                  <a:lnTo>
                    <a:pt x="1449070" y="0"/>
                  </a:lnTo>
                  <a:lnTo>
                    <a:pt x="1449070" y="3112770"/>
                  </a:lnTo>
                  <a:lnTo>
                    <a:pt x="1449070" y="3114040"/>
                  </a:lnTo>
                  <a:lnTo>
                    <a:pt x="1447800" y="3114040"/>
                  </a:lnTo>
                  <a:lnTo>
                    <a:pt x="1449070" y="3112770"/>
                  </a:lnTo>
                  <a:lnTo>
                    <a:pt x="1449070" y="0"/>
                  </a:lnTo>
                  <a:lnTo>
                    <a:pt x="1447800" y="0"/>
                  </a:lnTo>
                  <a:lnTo>
                    <a:pt x="1447800" y="2540"/>
                  </a:lnTo>
                  <a:lnTo>
                    <a:pt x="1445895" y="4445"/>
                  </a:lnTo>
                  <a:lnTo>
                    <a:pt x="1445895" y="2540"/>
                  </a:lnTo>
                  <a:lnTo>
                    <a:pt x="1447800" y="2540"/>
                  </a:lnTo>
                  <a:lnTo>
                    <a:pt x="1447800" y="0"/>
                  </a:lnTo>
                  <a:lnTo>
                    <a:pt x="1443990" y="0"/>
                  </a:lnTo>
                  <a:lnTo>
                    <a:pt x="1443990" y="6350"/>
                  </a:lnTo>
                  <a:lnTo>
                    <a:pt x="1443990" y="3111500"/>
                  </a:lnTo>
                  <a:lnTo>
                    <a:pt x="915670" y="3111500"/>
                  </a:lnTo>
                  <a:lnTo>
                    <a:pt x="915670" y="6350"/>
                  </a:lnTo>
                  <a:lnTo>
                    <a:pt x="1443990" y="6350"/>
                  </a:lnTo>
                  <a:lnTo>
                    <a:pt x="1443990" y="0"/>
                  </a:lnTo>
                  <a:lnTo>
                    <a:pt x="915670" y="0"/>
                  </a:lnTo>
                  <a:lnTo>
                    <a:pt x="913765" y="0"/>
                  </a:lnTo>
                  <a:lnTo>
                    <a:pt x="913765" y="2540"/>
                  </a:lnTo>
                  <a:lnTo>
                    <a:pt x="913765" y="4445"/>
                  </a:lnTo>
                  <a:lnTo>
                    <a:pt x="911860" y="2540"/>
                  </a:lnTo>
                  <a:lnTo>
                    <a:pt x="913765" y="2540"/>
                  </a:lnTo>
                  <a:lnTo>
                    <a:pt x="913765" y="0"/>
                  </a:lnTo>
                  <a:lnTo>
                    <a:pt x="910590" y="0"/>
                  </a:lnTo>
                  <a:lnTo>
                    <a:pt x="909320" y="0"/>
                  </a:lnTo>
                  <a:lnTo>
                    <a:pt x="909320" y="6350"/>
                  </a:lnTo>
                  <a:lnTo>
                    <a:pt x="909320" y="3111500"/>
                  </a:lnTo>
                  <a:lnTo>
                    <a:pt x="381000" y="3111500"/>
                  </a:lnTo>
                  <a:lnTo>
                    <a:pt x="381000" y="6350"/>
                  </a:lnTo>
                  <a:lnTo>
                    <a:pt x="909320" y="6350"/>
                  </a:lnTo>
                  <a:lnTo>
                    <a:pt x="909320" y="0"/>
                  </a:lnTo>
                  <a:lnTo>
                    <a:pt x="381000" y="0"/>
                  </a:lnTo>
                  <a:lnTo>
                    <a:pt x="375920" y="0"/>
                  </a:lnTo>
                  <a:lnTo>
                    <a:pt x="375920" y="6350"/>
                  </a:lnTo>
                  <a:lnTo>
                    <a:pt x="375920" y="3111500"/>
                  </a:lnTo>
                  <a:lnTo>
                    <a:pt x="5080" y="3111500"/>
                  </a:lnTo>
                  <a:lnTo>
                    <a:pt x="5080" y="6350"/>
                  </a:lnTo>
                  <a:lnTo>
                    <a:pt x="375920" y="6350"/>
                  </a:lnTo>
                  <a:lnTo>
                    <a:pt x="375920" y="0"/>
                  </a:lnTo>
                  <a:lnTo>
                    <a:pt x="0" y="0"/>
                  </a:lnTo>
                  <a:lnTo>
                    <a:pt x="0" y="3117850"/>
                  </a:lnTo>
                  <a:lnTo>
                    <a:pt x="375920" y="3117850"/>
                  </a:lnTo>
                  <a:lnTo>
                    <a:pt x="381000" y="3117850"/>
                  </a:lnTo>
                  <a:lnTo>
                    <a:pt x="4119880" y="3117850"/>
                  </a:lnTo>
                  <a:lnTo>
                    <a:pt x="41198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791200" y="4648200"/>
              <a:ext cx="685800" cy="1066800"/>
            </a:xfrm>
            <a:custGeom>
              <a:avLst/>
              <a:gdLst/>
              <a:ahLst/>
              <a:cxnLst/>
              <a:rect l="l" t="t" r="r" b="b"/>
              <a:pathLst>
                <a:path w="685800" h="1066800">
                  <a:moveTo>
                    <a:pt x="685800" y="800100"/>
                  </a:moveTo>
                  <a:lnTo>
                    <a:pt x="0" y="800100"/>
                  </a:lnTo>
                  <a:lnTo>
                    <a:pt x="342900" y="1066800"/>
                  </a:lnTo>
                  <a:lnTo>
                    <a:pt x="685800" y="800100"/>
                  </a:lnTo>
                  <a:close/>
                </a:path>
                <a:path w="685800" h="1066800">
                  <a:moveTo>
                    <a:pt x="514350" y="0"/>
                  </a:moveTo>
                  <a:lnTo>
                    <a:pt x="171450" y="0"/>
                  </a:lnTo>
                  <a:lnTo>
                    <a:pt x="171450" y="800100"/>
                  </a:lnTo>
                  <a:lnTo>
                    <a:pt x="514350" y="800100"/>
                  </a:lnTo>
                  <a:lnTo>
                    <a:pt x="51435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791200" y="4648200"/>
              <a:ext cx="685800" cy="1066800"/>
            </a:xfrm>
            <a:custGeom>
              <a:avLst/>
              <a:gdLst/>
              <a:ahLst/>
              <a:cxnLst/>
              <a:rect l="l" t="t" r="r" b="b"/>
              <a:pathLst>
                <a:path w="685800" h="1066800">
                  <a:moveTo>
                    <a:pt x="171450" y="0"/>
                  </a:moveTo>
                  <a:lnTo>
                    <a:pt x="171450" y="800100"/>
                  </a:lnTo>
                  <a:lnTo>
                    <a:pt x="0" y="800100"/>
                  </a:lnTo>
                  <a:lnTo>
                    <a:pt x="342900" y="1066800"/>
                  </a:lnTo>
                  <a:lnTo>
                    <a:pt x="685800" y="800100"/>
                  </a:lnTo>
                  <a:lnTo>
                    <a:pt x="514350" y="800100"/>
                  </a:lnTo>
                  <a:lnTo>
                    <a:pt x="514350" y="0"/>
                  </a:lnTo>
                  <a:lnTo>
                    <a:pt x="171450" y="0"/>
                  </a:lnTo>
                  <a:close/>
                </a:path>
                <a:path w="685800" h="1066800">
                  <a:moveTo>
                    <a:pt x="0" y="0"/>
                  </a:moveTo>
                  <a:lnTo>
                    <a:pt x="0" y="0"/>
                  </a:lnTo>
                </a:path>
                <a:path w="685800" h="1066800">
                  <a:moveTo>
                    <a:pt x="685800" y="1066800"/>
                  </a:moveTo>
                  <a:lnTo>
                    <a:pt x="685800" y="1066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66999" y="4648200"/>
              <a:ext cx="609600" cy="1066800"/>
            </a:xfrm>
            <a:custGeom>
              <a:avLst/>
              <a:gdLst/>
              <a:ahLst/>
              <a:cxnLst/>
              <a:rect l="l" t="t" r="r" b="b"/>
              <a:pathLst>
                <a:path w="609600" h="1066800">
                  <a:moveTo>
                    <a:pt x="609600" y="853440"/>
                  </a:moveTo>
                  <a:lnTo>
                    <a:pt x="0" y="853440"/>
                  </a:lnTo>
                  <a:lnTo>
                    <a:pt x="304800" y="1066800"/>
                  </a:lnTo>
                  <a:lnTo>
                    <a:pt x="609600" y="853440"/>
                  </a:lnTo>
                  <a:close/>
                </a:path>
                <a:path w="609600" h="1066800">
                  <a:moveTo>
                    <a:pt x="457200" y="212089"/>
                  </a:moveTo>
                  <a:lnTo>
                    <a:pt x="152400" y="212089"/>
                  </a:lnTo>
                  <a:lnTo>
                    <a:pt x="152400" y="853440"/>
                  </a:lnTo>
                  <a:lnTo>
                    <a:pt x="457200" y="853440"/>
                  </a:lnTo>
                  <a:lnTo>
                    <a:pt x="457200" y="212089"/>
                  </a:lnTo>
                  <a:close/>
                </a:path>
                <a:path w="609600" h="1066800">
                  <a:moveTo>
                    <a:pt x="304800" y="0"/>
                  </a:moveTo>
                  <a:lnTo>
                    <a:pt x="0" y="212089"/>
                  </a:lnTo>
                  <a:lnTo>
                    <a:pt x="609600" y="21208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666999" y="4648200"/>
              <a:ext cx="609600" cy="1066800"/>
            </a:xfrm>
            <a:custGeom>
              <a:avLst/>
              <a:gdLst/>
              <a:ahLst/>
              <a:cxnLst/>
              <a:rect l="l" t="t" r="r" b="b"/>
              <a:pathLst>
                <a:path w="609600" h="1066800">
                  <a:moveTo>
                    <a:pt x="0" y="212089"/>
                  </a:moveTo>
                  <a:lnTo>
                    <a:pt x="304800" y="0"/>
                  </a:lnTo>
                  <a:lnTo>
                    <a:pt x="609600" y="212089"/>
                  </a:lnTo>
                  <a:lnTo>
                    <a:pt x="457200" y="212089"/>
                  </a:lnTo>
                  <a:lnTo>
                    <a:pt x="457200" y="853440"/>
                  </a:lnTo>
                  <a:lnTo>
                    <a:pt x="609600" y="853440"/>
                  </a:lnTo>
                  <a:lnTo>
                    <a:pt x="304800" y="1066800"/>
                  </a:lnTo>
                  <a:lnTo>
                    <a:pt x="0" y="853440"/>
                  </a:lnTo>
                  <a:lnTo>
                    <a:pt x="152400" y="853440"/>
                  </a:lnTo>
                  <a:lnTo>
                    <a:pt x="152400" y="212089"/>
                  </a:lnTo>
                  <a:lnTo>
                    <a:pt x="0" y="212089"/>
                  </a:lnTo>
                  <a:close/>
                </a:path>
                <a:path w="609600" h="1066800">
                  <a:moveTo>
                    <a:pt x="0" y="0"/>
                  </a:moveTo>
                  <a:lnTo>
                    <a:pt x="0" y="0"/>
                  </a:lnTo>
                </a:path>
                <a:path w="609600" h="1066800">
                  <a:moveTo>
                    <a:pt x="609600" y="1066800"/>
                  </a:moveTo>
                  <a:lnTo>
                    <a:pt x="609600" y="1066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858000" y="4904740"/>
            <a:ext cx="1721485" cy="952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2100"/>
              </a:lnSpc>
              <a:spcBef>
                <a:spcPts val="100"/>
              </a:spcBef>
            </a:pPr>
            <a:r>
              <a:rPr dirty="0" sz="2000" b="1">
                <a:latin typeface="Arial"/>
                <a:cs typeface="Arial"/>
              </a:rPr>
              <a:t>16- </a:t>
            </a:r>
            <a:r>
              <a:rPr dirty="0" sz="2000" spc="-5" b="1">
                <a:latin typeface="Arial"/>
                <a:cs typeface="Arial"/>
              </a:rPr>
              <a:t>Lines </a:t>
            </a:r>
            <a:r>
              <a:rPr dirty="0" sz="2000" b="1">
                <a:latin typeface="Arial"/>
                <a:cs typeface="Arial"/>
              </a:rPr>
              <a:t> </a:t>
            </a:r>
            <a:r>
              <a:rPr dirty="0" sz="2000" spc="10" b="1">
                <a:latin typeface="Arial"/>
                <a:cs typeface="Arial"/>
              </a:rPr>
              <a:t>U</a:t>
            </a:r>
            <a:r>
              <a:rPr dirty="0" sz="2000" spc="-5" b="1">
                <a:latin typeface="Arial"/>
                <a:cs typeface="Arial"/>
              </a:rPr>
              <a:t>n</a:t>
            </a:r>
            <a:r>
              <a:rPr dirty="0" sz="2000" spc="-10" b="1">
                <a:latin typeface="Arial"/>
                <a:cs typeface="Arial"/>
              </a:rPr>
              <a:t>i</a:t>
            </a:r>
            <a:r>
              <a:rPr dirty="0" sz="2000" spc="5" b="1">
                <a:latin typeface="Arial"/>
                <a:cs typeface="Arial"/>
              </a:rPr>
              <a:t>d</a:t>
            </a:r>
            <a:r>
              <a:rPr dirty="0" sz="2000" spc="-10" b="1">
                <a:latin typeface="Arial"/>
                <a:cs typeface="Arial"/>
              </a:rPr>
              <a:t>i</a:t>
            </a:r>
            <a:r>
              <a:rPr dirty="0" sz="2000" spc="-5" b="1">
                <a:latin typeface="Arial"/>
                <a:cs typeface="Arial"/>
              </a:rPr>
              <a:t>re</a:t>
            </a:r>
            <a:r>
              <a:rPr dirty="0" sz="2000" spc="5" b="1">
                <a:latin typeface="Arial"/>
                <a:cs typeface="Arial"/>
              </a:rPr>
              <a:t>c</a:t>
            </a:r>
            <a:r>
              <a:rPr dirty="0" sz="2000" b="1">
                <a:latin typeface="Arial"/>
                <a:cs typeface="Arial"/>
              </a:rPr>
              <a:t>ti</a:t>
            </a:r>
            <a:r>
              <a:rPr dirty="0" sz="2000" spc="-5" b="1">
                <a:latin typeface="Arial"/>
                <a:cs typeface="Arial"/>
              </a:rPr>
              <a:t>on</a:t>
            </a:r>
            <a:r>
              <a:rPr dirty="0" sz="2000" b="1">
                <a:latin typeface="Arial"/>
                <a:cs typeface="Arial"/>
              </a:rPr>
              <a:t>al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0869" y="4904740"/>
            <a:ext cx="1565275" cy="952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2100"/>
              </a:lnSpc>
              <a:spcBef>
                <a:spcPts val="100"/>
              </a:spcBef>
            </a:pPr>
            <a:r>
              <a:rPr dirty="0" sz="2000" spc="-5" b="1">
                <a:latin typeface="Arial"/>
                <a:cs typeface="Arial"/>
              </a:rPr>
              <a:t>8- Lines </a:t>
            </a:r>
            <a:r>
              <a:rPr dirty="0" sz="2000" b="1">
                <a:latin typeface="Arial"/>
                <a:cs typeface="Arial"/>
              </a:rPr>
              <a:t> B</a:t>
            </a:r>
            <a:r>
              <a:rPr dirty="0" sz="2000" spc="-10" b="1">
                <a:latin typeface="Arial"/>
                <a:cs typeface="Arial"/>
              </a:rPr>
              <a:t>i</a:t>
            </a:r>
            <a:r>
              <a:rPr dirty="0" sz="2000" spc="5" b="1">
                <a:latin typeface="Arial"/>
                <a:cs typeface="Arial"/>
              </a:rPr>
              <a:t>d</a:t>
            </a:r>
            <a:r>
              <a:rPr dirty="0" sz="2000" spc="-10" b="1">
                <a:latin typeface="Arial"/>
                <a:cs typeface="Arial"/>
              </a:rPr>
              <a:t>i</a:t>
            </a:r>
            <a:r>
              <a:rPr dirty="0" sz="2000" spc="-5" b="1">
                <a:latin typeface="Arial"/>
                <a:cs typeface="Arial"/>
              </a:rPr>
              <a:t>re</a:t>
            </a:r>
            <a:r>
              <a:rPr dirty="0" sz="2000" spc="5" b="1">
                <a:latin typeface="Arial"/>
                <a:cs typeface="Arial"/>
              </a:rPr>
              <a:t>c</a:t>
            </a:r>
            <a:r>
              <a:rPr dirty="0" sz="2000" b="1">
                <a:latin typeface="Arial"/>
                <a:cs typeface="Arial"/>
              </a:rPr>
              <a:t>t</a:t>
            </a:r>
            <a:r>
              <a:rPr dirty="0" sz="2000" spc="-10" b="1">
                <a:latin typeface="Arial"/>
                <a:cs typeface="Arial"/>
              </a:rPr>
              <a:t>i</a:t>
            </a:r>
            <a:r>
              <a:rPr dirty="0" sz="2000" spc="5" b="1">
                <a:latin typeface="Arial"/>
                <a:cs typeface="Arial"/>
              </a:rPr>
              <a:t>o</a:t>
            </a:r>
            <a:r>
              <a:rPr dirty="0" sz="2000" spc="-5" b="1">
                <a:latin typeface="Arial"/>
                <a:cs typeface="Arial"/>
              </a:rPr>
              <a:t>n</a:t>
            </a:r>
            <a:r>
              <a:rPr dirty="0" sz="2000" b="1">
                <a:latin typeface="Arial"/>
                <a:cs typeface="Arial"/>
              </a:rPr>
              <a:t>al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240" y="579120"/>
            <a:ext cx="74447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 b="0">
                <a:latin typeface="Arial MT"/>
                <a:cs typeface="Arial MT"/>
              </a:rPr>
              <a:t>Overview:</a:t>
            </a:r>
            <a:r>
              <a:rPr dirty="0" sz="3600" spc="-10" b="0">
                <a:latin typeface="Arial MT"/>
                <a:cs typeface="Arial MT"/>
              </a:rPr>
              <a:t> </a:t>
            </a:r>
            <a:r>
              <a:rPr dirty="0" sz="3600" spc="-5" b="0">
                <a:solidFill>
                  <a:srgbClr val="333398"/>
                </a:solidFill>
                <a:latin typeface="Arial MT"/>
                <a:cs typeface="Arial MT"/>
              </a:rPr>
              <a:t>8085</a:t>
            </a:r>
            <a:r>
              <a:rPr dirty="0" sz="3600" spc="-10" b="0">
                <a:solidFill>
                  <a:srgbClr val="333398"/>
                </a:solidFill>
                <a:latin typeface="Arial MT"/>
                <a:cs typeface="Arial MT"/>
              </a:rPr>
              <a:t> </a:t>
            </a:r>
            <a:r>
              <a:rPr dirty="0" sz="3600" spc="-5" b="0">
                <a:latin typeface="Arial MT"/>
                <a:cs typeface="Arial MT"/>
              </a:rPr>
              <a:t>Programming</a:t>
            </a:r>
            <a:r>
              <a:rPr dirty="0" sz="3600" spc="-10" b="0">
                <a:latin typeface="Arial MT"/>
                <a:cs typeface="Arial MT"/>
              </a:rPr>
              <a:t> </a:t>
            </a:r>
            <a:r>
              <a:rPr dirty="0" sz="3600" spc="-5" b="0">
                <a:latin typeface="Arial MT"/>
                <a:cs typeface="Arial MT"/>
              </a:rPr>
              <a:t>model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139" y="1531619"/>
            <a:ext cx="6031865" cy="2984500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546100" indent="-533400">
              <a:lnSpc>
                <a:spcPct val="100000"/>
              </a:lnSpc>
              <a:spcBef>
                <a:spcPts val="919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3200" spc="-5">
                <a:latin typeface="Arial MT"/>
                <a:cs typeface="Arial MT"/>
              </a:rPr>
              <a:t>Six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general-purpose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Registers</a:t>
            </a:r>
            <a:endParaRPr sz="32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819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3200" spc="-5">
                <a:latin typeface="Arial MT"/>
                <a:cs typeface="Arial MT"/>
              </a:rPr>
              <a:t>Accumulator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Register</a:t>
            </a:r>
            <a:endParaRPr sz="32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819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3200" spc="-5">
                <a:latin typeface="Arial MT"/>
                <a:cs typeface="Arial MT"/>
              </a:rPr>
              <a:t>Flag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Register</a:t>
            </a:r>
            <a:endParaRPr sz="32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819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3200" spc="-5">
                <a:latin typeface="Arial MT"/>
                <a:cs typeface="Arial MT"/>
              </a:rPr>
              <a:t>Program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Counter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Register</a:t>
            </a:r>
            <a:endParaRPr sz="32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819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3200" spc="-5">
                <a:latin typeface="Arial MT"/>
                <a:cs typeface="Arial MT"/>
              </a:rPr>
              <a:t>Stack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Pointer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Register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024890"/>
            <a:ext cx="56502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1665" algn="l"/>
              </a:tabLst>
            </a:pPr>
            <a:r>
              <a:rPr dirty="0" sz="2800" spc="-5" b="1">
                <a:latin typeface="Arial"/>
                <a:cs typeface="Arial"/>
              </a:rPr>
              <a:t>1.	Six</a:t>
            </a:r>
            <a:r>
              <a:rPr dirty="0" sz="2800" spc="-10" b="1">
                <a:latin typeface="Arial"/>
                <a:cs typeface="Arial"/>
              </a:rPr>
              <a:t> general-purpose</a:t>
            </a:r>
            <a:r>
              <a:rPr dirty="0" sz="2800" spc="-5" b="1">
                <a:latin typeface="Arial"/>
                <a:cs typeface="Arial"/>
              </a:rPr>
              <a:t> registers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139" y="1431289"/>
            <a:ext cx="223520" cy="972819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2800">
                <a:solidFill>
                  <a:srgbClr val="D50092"/>
                </a:solidFill>
                <a:latin typeface="Arial MT"/>
                <a:cs typeface="Arial MT"/>
              </a:rPr>
              <a:t>–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6539" y="1451610"/>
            <a:ext cx="6177915" cy="135763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2800" spc="-5">
                <a:solidFill>
                  <a:srgbClr val="D50092"/>
                </a:solidFill>
                <a:latin typeface="Arial MT"/>
                <a:cs typeface="Arial MT"/>
              </a:rPr>
              <a:t>B,</a:t>
            </a:r>
            <a:r>
              <a:rPr dirty="0" sz="2800" spc="-15">
                <a:solidFill>
                  <a:srgbClr val="D50092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D50092"/>
                </a:solidFill>
                <a:latin typeface="Arial MT"/>
                <a:cs typeface="Arial MT"/>
              </a:rPr>
              <a:t>C,</a:t>
            </a:r>
            <a:r>
              <a:rPr dirty="0" sz="2800" spc="-15">
                <a:solidFill>
                  <a:srgbClr val="D50092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D50092"/>
                </a:solidFill>
                <a:latin typeface="Arial MT"/>
                <a:cs typeface="Arial MT"/>
              </a:rPr>
              <a:t>D,</a:t>
            </a:r>
            <a:r>
              <a:rPr dirty="0" sz="2800" spc="-15">
                <a:solidFill>
                  <a:srgbClr val="D50092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D50092"/>
                </a:solidFill>
                <a:latin typeface="Arial MT"/>
                <a:cs typeface="Arial MT"/>
              </a:rPr>
              <a:t>E,</a:t>
            </a:r>
            <a:r>
              <a:rPr dirty="0" sz="2800" spc="-10">
                <a:solidFill>
                  <a:srgbClr val="D50092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D50092"/>
                </a:solidFill>
                <a:latin typeface="Arial MT"/>
                <a:cs typeface="Arial MT"/>
              </a:rPr>
              <a:t>H,</a:t>
            </a:r>
            <a:r>
              <a:rPr dirty="0" sz="2800" spc="-15">
                <a:solidFill>
                  <a:srgbClr val="D50092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D50092"/>
                </a:solidFill>
                <a:latin typeface="Arial MT"/>
                <a:cs typeface="Arial MT"/>
              </a:rPr>
              <a:t>L</a:t>
            </a:r>
            <a:endParaRPr sz="2800">
              <a:latin typeface="Arial MT"/>
              <a:cs typeface="Arial MT"/>
            </a:endParaRPr>
          </a:p>
          <a:p>
            <a:pPr marL="12700" marR="5080">
              <a:lnSpc>
                <a:spcPts val="3030"/>
              </a:lnSpc>
              <a:spcBef>
                <a:spcPts val="745"/>
              </a:spcBef>
            </a:pPr>
            <a:r>
              <a:rPr dirty="0" sz="2800" spc="-5">
                <a:latin typeface="Arial MT"/>
                <a:cs typeface="Arial MT"/>
              </a:rPr>
              <a:t>Can be combined as register pairs </a:t>
            </a:r>
            <a:r>
              <a:rPr dirty="0" sz="2800">
                <a:latin typeface="Arial MT"/>
                <a:cs typeface="Arial MT"/>
              </a:rPr>
              <a:t>to 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perform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16-bit operations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10">
                <a:latin typeface="Arial MT"/>
                <a:cs typeface="Arial MT"/>
              </a:rPr>
              <a:t>(</a:t>
            </a:r>
            <a:r>
              <a:rPr dirty="0" sz="2800" spc="10">
                <a:solidFill>
                  <a:srgbClr val="D50092"/>
                </a:solidFill>
                <a:latin typeface="Arial MT"/>
                <a:cs typeface="Arial MT"/>
              </a:rPr>
              <a:t>BC,</a:t>
            </a:r>
            <a:r>
              <a:rPr dirty="0" sz="2800">
                <a:solidFill>
                  <a:srgbClr val="D50092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D50092"/>
                </a:solidFill>
                <a:latin typeface="Arial MT"/>
                <a:cs typeface="Arial MT"/>
              </a:rPr>
              <a:t>DE,</a:t>
            </a:r>
            <a:r>
              <a:rPr dirty="0" sz="2800" spc="-5">
                <a:solidFill>
                  <a:srgbClr val="D50092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D50092"/>
                </a:solidFill>
                <a:latin typeface="Arial MT"/>
                <a:cs typeface="Arial MT"/>
              </a:rPr>
              <a:t>HL</a:t>
            </a:r>
            <a:r>
              <a:rPr dirty="0" sz="2800">
                <a:latin typeface="Arial MT"/>
                <a:cs typeface="Arial MT"/>
              </a:rPr>
              <a:t>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830829"/>
            <a:ext cx="667956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1665" algn="l"/>
              </a:tabLst>
            </a:pPr>
            <a:r>
              <a:rPr dirty="0" sz="2800" spc="-5" b="1">
                <a:latin typeface="Arial"/>
                <a:cs typeface="Arial"/>
              </a:rPr>
              <a:t>2.	Accumulator</a:t>
            </a:r>
            <a:r>
              <a:rPr dirty="0" sz="2800" spc="-2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–</a:t>
            </a:r>
            <a:r>
              <a:rPr dirty="0" sz="2800" spc="-15" b="1">
                <a:latin typeface="Arial"/>
                <a:cs typeface="Arial"/>
              </a:rPr>
              <a:t> </a:t>
            </a:r>
            <a:r>
              <a:rPr dirty="0" sz="2800" spc="-5" b="1">
                <a:latin typeface="Arial"/>
                <a:cs typeface="Arial"/>
              </a:rPr>
              <a:t>identified</a:t>
            </a:r>
            <a:r>
              <a:rPr dirty="0" sz="2800" spc="-20" b="1">
                <a:latin typeface="Arial"/>
                <a:cs typeface="Arial"/>
              </a:rPr>
              <a:t> </a:t>
            </a:r>
            <a:r>
              <a:rPr dirty="0" sz="2800" spc="-5" b="1">
                <a:latin typeface="Arial"/>
                <a:cs typeface="Arial"/>
              </a:rPr>
              <a:t>by</a:t>
            </a:r>
            <a:r>
              <a:rPr dirty="0" sz="2800" spc="-15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name</a:t>
            </a:r>
            <a:r>
              <a:rPr dirty="0" sz="2800" spc="40" b="1"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D50092"/>
                </a:solidFill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139" y="3238500"/>
            <a:ext cx="223520" cy="1920239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6539" y="3257550"/>
            <a:ext cx="6666230" cy="2306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157730">
              <a:lnSpc>
                <a:spcPct val="111000"/>
              </a:lnSpc>
              <a:spcBef>
                <a:spcPts val="100"/>
              </a:spcBef>
            </a:pPr>
            <a:r>
              <a:rPr dirty="0" sz="2800" spc="-5">
                <a:latin typeface="Arial MT"/>
                <a:cs typeface="Arial MT"/>
              </a:rPr>
              <a:t>This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register is</a:t>
            </a:r>
            <a:r>
              <a:rPr dirty="0" sz="2800">
                <a:latin typeface="Arial MT"/>
                <a:cs typeface="Arial MT"/>
              </a:rPr>
              <a:t> a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part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of</a:t>
            </a:r>
            <a:r>
              <a:rPr dirty="0" sz="2800" spc="-15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ALU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8-bit data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storage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2800" spc="-5">
                <a:latin typeface="Arial MT"/>
                <a:cs typeface="Arial MT"/>
              </a:rPr>
              <a:t>Performs arithmetic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and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logical operations</a:t>
            </a:r>
            <a:endParaRPr sz="2800">
              <a:latin typeface="Arial MT"/>
              <a:cs typeface="Arial MT"/>
            </a:endParaRPr>
          </a:p>
          <a:p>
            <a:pPr marL="12700" marR="1346835">
              <a:lnSpc>
                <a:spcPts val="3040"/>
              </a:lnSpc>
              <a:spcBef>
                <a:spcPts val="735"/>
              </a:spcBef>
            </a:pPr>
            <a:r>
              <a:rPr dirty="0" sz="2800" spc="-5">
                <a:latin typeface="Arial MT"/>
                <a:cs typeface="Arial MT"/>
              </a:rPr>
              <a:t>Result of an operation </a:t>
            </a:r>
            <a:r>
              <a:rPr dirty="0" sz="2800">
                <a:latin typeface="Arial MT"/>
                <a:cs typeface="Arial MT"/>
              </a:rPr>
              <a:t>is </a:t>
            </a:r>
            <a:r>
              <a:rPr dirty="0" sz="2800" spc="-5">
                <a:latin typeface="Arial MT"/>
                <a:cs typeface="Arial MT"/>
              </a:rPr>
              <a:t>stored in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accumulator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102359"/>
            <a:ext cx="320992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1665" algn="l"/>
              </a:tabLst>
            </a:pPr>
            <a:r>
              <a:rPr dirty="0" sz="3200" spc="-5"/>
              <a:t>3.	Flag</a:t>
            </a:r>
            <a:r>
              <a:rPr dirty="0" sz="3200" spc="-105"/>
              <a:t> </a:t>
            </a:r>
            <a:r>
              <a:rPr dirty="0" sz="3200"/>
              <a:t>Register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93139" y="1569720"/>
            <a:ext cx="223520" cy="105918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6539" y="1591309"/>
            <a:ext cx="4176395" cy="1056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dirty="0" sz="2800" spc="-5">
                <a:latin typeface="Arial MT"/>
                <a:cs typeface="Arial MT"/>
              </a:rPr>
              <a:t>This is also </a:t>
            </a:r>
            <a:r>
              <a:rPr dirty="0" sz="2800">
                <a:latin typeface="Arial MT"/>
                <a:cs typeface="Arial MT"/>
              </a:rPr>
              <a:t>a part </a:t>
            </a:r>
            <a:r>
              <a:rPr dirty="0" sz="2800" spc="-5">
                <a:latin typeface="Arial MT"/>
                <a:cs typeface="Arial MT"/>
              </a:rPr>
              <a:t>of ALU 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8085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has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five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flags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named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0339" y="2604770"/>
            <a:ext cx="150495" cy="260731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2800"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800"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2800"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2800"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2800"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7539" y="2622550"/>
            <a:ext cx="4057650" cy="26085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1606550">
              <a:lnSpc>
                <a:spcPct val="121000"/>
              </a:lnSpc>
              <a:spcBef>
                <a:spcPts val="105"/>
              </a:spcBef>
            </a:pPr>
            <a:r>
              <a:rPr dirty="0" sz="2800" spc="-5" b="1">
                <a:latin typeface="Arial"/>
                <a:cs typeface="Arial"/>
              </a:rPr>
              <a:t>Zero </a:t>
            </a:r>
            <a:r>
              <a:rPr dirty="0" sz="2800">
                <a:latin typeface="Arial MT"/>
                <a:cs typeface="Arial MT"/>
              </a:rPr>
              <a:t>flag </a:t>
            </a:r>
            <a:r>
              <a:rPr dirty="0" sz="2800" spc="-5">
                <a:latin typeface="Arial MT"/>
                <a:cs typeface="Arial MT"/>
              </a:rPr>
              <a:t>(Z) 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 b="1">
                <a:latin typeface="Arial"/>
                <a:cs typeface="Arial"/>
              </a:rPr>
              <a:t>Carry</a:t>
            </a:r>
            <a:r>
              <a:rPr dirty="0" sz="2800" spc="-35" b="1">
                <a:latin typeface="Arial"/>
                <a:cs typeface="Arial"/>
              </a:rPr>
              <a:t> </a:t>
            </a:r>
            <a:r>
              <a:rPr dirty="0" sz="2800" spc="-5">
                <a:latin typeface="Arial MT"/>
                <a:cs typeface="Arial MT"/>
              </a:rPr>
              <a:t>flag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(CY)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10" b="1">
                <a:latin typeface="Arial"/>
                <a:cs typeface="Arial"/>
              </a:rPr>
              <a:t>Sign </a:t>
            </a:r>
            <a:r>
              <a:rPr dirty="0" sz="2800" spc="-5">
                <a:latin typeface="Arial MT"/>
                <a:cs typeface="Arial MT"/>
              </a:rPr>
              <a:t>flag (S) 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 b="1">
                <a:latin typeface="Arial"/>
                <a:cs typeface="Arial"/>
              </a:rPr>
              <a:t>Parity</a:t>
            </a:r>
            <a:r>
              <a:rPr dirty="0" sz="2800" spc="-15" b="1">
                <a:latin typeface="Arial"/>
                <a:cs typeface="Arial"/>
              </a:rPr>
              <a:t> </a:t>
            </a:r>
            <a:r>
              <a:rPr dirty="0" sz="2800" spc="-5">
                <a:latin typeface="Arial MT"/>
                <a:cs typeface="Arial MT"/>
              </a:rPr>
              <a:t>flag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(P)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2800" spc="-5" b="1">
                <a:latin typeface="Arial"/>
                <a:cs typeface="Arial"/>
              </a:rPr>
              <a:t>Auxiliary</a:t>
            </a:r>
            <a:r>
              <a:rPr dirty="0" sz="2800" spc="-35" b="1">
                <a:latin typeface="Arial"/>
                <a:cs typeface="Arial"/>
              </a:rPr>
              <a:t> </a:t>
            </a:r>
            <a:r>
              <a:rPr dirty="0" sz="2800" spc="-5" b="1">
                <a:latin typeface="Arial"/>
                <a:cs typeface="Arial"/>
              </a:rPr>
              <a:t>Carry</a:t>
            </a:r>
            <a:r>
              <a:rPr dirty="0" sz="2800" b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flag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(AC)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44320"/>
            <a:ext cx="7545070" cy="343789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Arial MT"/>
                <a:cs typeface="Arial MT"/>
              </a:rPr>
              <a:t>T</a:t>
            </a:r>
            <a:r>
              <a:rPr dirty="0" sz="2800" spc="-5">
                <a:latin typeface="Arial MT"/>
                <a:cs typeface="Arial MT"/>
              </a:rPr>
              <a:t>hese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flags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five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flip-flops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flag</a:t>
            </a:r>
            <a:r>
              <a:rPr dirty="0" sz="2800" spc="-5">
                <a:latin typeface="Arial MT"/>
                <a:cs typeface="Arial MT"/>
              </a:rPr>
              <a:t> register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1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Arial MT"/>
                <a:cs typeface="Arial MT"/>
              </a:rPr>
              <a:t>Execution of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an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arithmetic/logic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operation </a:t>
            </a:r>
            <a:r>
              <a:rPr dirty="0" sz="2800">
                <a:latin typeface="Arial MT"/>
                <a:cs typeface="Arial MT"/>
              </a:rPr>
              <a:t>can</a:t>
            </a:r>
            <a:endParaRPr sz="2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20"/>
              </a:spcBef>
            </a:pPr>
            <a:r>
              <a:rPr dirty="0" sz="3200" b="1">
                <a:latin typeface="Arial"/>
                <a:cs typeface="Arial"/>
              </a:rPr>
              <a:t>set</a:t>
            </a:r>
            <a:r>
              <a:rPr dirty="0" sz="3200" spc="-125" b="1">
                <a:latin typeface="Arial"/>
                <a:cs typeface="Arial"/>
              </a:rPr>
              <a:t> </a:t>
            </a:r>
            <a:r>
              <a:rPr dirty="0" sz="2800" spc="-5">
                <a:latin typeface="Arial MT"/>
                <a:cs typeface="Arial MT"/>
              </a:rPr>
              <a:t>or </a:t>
            </a:r>
            <a:r>
              <a:rPr dirty="0" sz="3200" b="1">
                <a:latin typeface="Arial"/>
                <a:cs typeface="Arial"/>
              </a:rPr>
              <a:t>reset</a:t>
            </a:r>
            <a:r>
              <a:rPr dirty="0" sz="3200" spc="-105" b="1">
                <a:latin typeface="Arial"/>
                <a:cs typeface="Arial"/>
              </a:rPr>
              <a:t> </a:t>
            </a:r>
            <a:r>
              <a:rPr dirty="0" sz="2800" spc="-5">
                <a:latin typeface="Arial MT"/>
                <a:cs typeface="Arial MT"/>
              </a:rPr>
              <a:t>these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flags</a:t>
            </a:r>
            <a:endParaRPr sz="2800">
              <a:latin typeface="Arial MT"/>
              <a:cs typeface="Arial MT"/>
            </a:endParaRPr>
          </a:p>
          <a:p>
            <a:pPr marL="355600" marR="81915" indent="-342900">
              <a:lnSpc>
                <a:spcPct val="100000"/>
              </a:lnSpc>
              <a:spcBef>
                <a:spcPts val="71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Arial MT"/>
                <a:cs typeface="Arial MT"/>
              </a:rPr>
              <a:t>Condition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of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flags </a:t>
            </a:r>
            <a:r>
              <a:rPr dirty="0" sz="2800">
                <a:latin typeface="Arial MT"/>
                <a:cs typeface="Arial MT"/>
              </a:rPr>
              <a:t>(set </a:t>
            </a:r>
            <a:r>
              <a:rPr dirty="0" sz="2800" spc="-5">
                <a:latin typeface="Arial MT"/>
                <a:cs typeface="Arial MT"/>
              </a:rPr>
              <a:t>or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reset) </a:t>
            </a:r>
            <a:r>
              <a:rPr dirty="0" sz="2800">
                <a:latin typeface="Arial MT"/>
                <a:cs typeface="Arial MT"/>
              </a:rPr>
              <a:t>can</a:t>
            </a:r>
            <a:r>
              <a:rPr dirty="0" sz="2800" spc="-5">
                <a:latin typeface="Arial MT"/>
                <a:cs typeface="Arial MT"/>
              </a:rPr>
              <a:t> be tested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through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software instructions</a:t>
            </a:r>
            <a:endParaRPr sz="2800">
              <a:latin typeface="Arial MT"/>
              <a:cs typeface="Arial MT"/>
            </a:endParaRPr>
          </a:p>
          <a:p>
            <a:pPr marL="355600" marR="674370" indent="-342900">
              <a:lnSpc>
                <a:spcPct val="100000"/>
              </a:lnSpc>
              <a:spcBef>
                <a:spcPts val="71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solidFill>
                  <a:srgbClr val="333398"/>
                </a:solidFill>
                <a:latin typeface="Arial MT"/>
                <a:cs typeface="Arial MT"/>
              </a:rPr>
              <a:t>8085</a:t>
            </a:r>
            <a:r>
              <a:rPr dirty="0" sz="2800" spc="5">
                <a:solidFill>
                  <a:srgbClr val="333398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uses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these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flags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in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decision-making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process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023619"/>
            <a:ext cx="7922259" cy="4787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Arial"/>
              <a:buAutoNum type="arabicPeriod" startAt="4"/>
              <a:tabLst>
                <a:tab pos="389890" algn="l"/>
              </a:tabLst>
            </a:pPr>
            <a:r>
              <a:rPr dirty="0" sz="2750" spc="15" b="1">
                <a:latin typeface="Arial"/>
                <a:cs typeface="Arial"/>
              </a:rPr>
              <a:t>P</a:t>
            </a:r>
            <a:r>
              <a:rPr dirty="0" sz="2750" spc="15" b="1">
                <a:latin typeface="Arial"/>
                <a:cs typeface="Arial"/>
              </a:rPr>
              <a:t>rogram</a:t>
            </a:r>
            <a:r>
              <a:rPr dirty="0" sz="2750" spc="-35" b="1">
                <a:latin typeface="Arial"/>
                <a:cs typeface="Arial"/>
              </a:rPr>
              <a:t> </a:t>
            </a:r>
            <a:r>
              <a:rPr dirty="0" sz="2750" spc="15" b="1">
                <a:latin typeface="Arial"/>
                <a:cs typeface="Arial"/>
              </a:rPr>
              <a:t>Counter</a:t>
            </a:r>
            <a:r>
              <a:rPr dirty="0" sz="2750" spc="-35" b="1">
                <a:latin typeface="Arial"/>
                <a:cs typeface="Arial"/>
              </a:rPr>
              <a:t> </a:t>
            </a:r>
            <a:r>
              <a:rPr dirty="0" sz="2750" spc="10" b="1">
                <a:latin typeface="Arial"/>
                <a:cs typeface="Arial"/>
              </a:rPr>
              <a:t>(PC)</a:t>
            </a:r>
            <a:endParaRPr sz="2750">
              <a:latin typeface="Arial"/>
              <a:cs typeface="Arial"/>
            </a:endParaRPr>
          </a:p>
          <a:p>
            <a:pPr lvl="1" marL="803910" indent="-339725">
              <a:lnSpc>
                <a:spcPct val="100000"/>
              </a:lnSpc>
              <a:spcBef>
                <a:spcPts val="60"/>
              </a:spcBef>
              <a:buChar char="–"/>
              <a:tabLst>
                <a:tab pos="803910" algn="l"/>
              </a:tabLst>
            </a:pPr>
            <a:r>
              <a:rPr dirty="0" sz="2750" spc="20">
                <a:latin typeface="Arial MT"/>
                <a:cs typeface="Arial MT"/>
              </a:rPr>
              <a:t>A</a:t>
            </a:r>
            <a:r>
              <a:rPr dirty="0" sz="2750" spc="-150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16-bit</a:t>
            </a:r>
            <a:r>
              <a:rPr dirty="0" sz="2750" spc="-20">
                <a:latin typeface="Arial MT"/>
                <a:cs typeface="Arial MT"/>
              </a:rPr>
              <a:t> </a:t>
            </a:r>
            <a:r>
              <a:rPr dirty="0" sz="2750" spc="15">
                <a:latin typeface="Arial MT"/>
                <a:cs typeface="Arial MT"/>
              </a:rPr>
              <a:t>memory</a:t>
            </a:r>
            <a:r>
              <a:rPr dirty="0" sz="2750" spc="-5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pointer</a:t>
            </a:r>
            <a:r>
              <a:rPr dirty="0" sz="2750" spc="-5">
                <a:latin typeface="Arial MT"/>
                <a:cs typeface="Arial MT"/>
              </a:rPr>
              <a:t> </a:t>
            </a:r>
            <a:r>
              <a:rPr dirty="0" sz="2750" spc="5">
                <a:latin typeface="Arial MT"/>
                <a:cs typeface="Arial MT"/>
              </a:rPr>
              <a:t>register</a:t>
            </a:r>
            <a:endParaRPr sz="2750">
              <a:latin typeface="Arial MT"/>
              <a:cs typeface="Arial MT"/>
            </a:endParaRPr>
          </a:p>
          <a:p>
            <a:pPr lvl="1" marL="803910" marR="850265" indent="-339090">
              <a:lnSpc>
                <a:spcPts val="2670"/>
              </a:lnSpc>
              <a:spcBef>
                <a:spcPts val="665"/>
              </a:spcBef>
              <a:buChar char="–"/>
              <a:tabLst>
                <a:tab pos="803910" algn="l"/>
              </a:tabLst>
            </a:pPr>
            <a:r>
              <a:rPr dirty="0" sz="2750" spc="20">
                <a:latin typeface="Arial MT"/>
                <a:cs typeface="Arial MT"/>
              </a:rPr>
              <a:t>Used</a:t>
            </a:r>
            <a:r>
              <a:rPr dirty="0" sz="2750" spc="-15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to</a:t>
            </a:r>
            <a:r>
              <a:rPr dirty="0" sz="2750" spc="-5">
                <a:latin typeface="Arial MT"/>
                <a:cs typeface="Arial MT"/>
              </a:rPr>
              <a:t> </a:t>
            </a:r>
            <a:r>
              <a:rPr dirty="0" sz="2750" spc="15">
                <a:latin typeface="Arial MT"/>
                <a:cs typeface="Arial MT"/>
              </a:rPr>
              <a:t>sequence</a:t>
            </a:r>
            <a:r>
              <a:rPr dirty="0" sz="2750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execution</a:t>
            </a:r>
            <a:r>
              <a:rPr dirty="0" sz="2750" spc="-15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of</a:t>
            </a:r>
            <a:r>
              <a:rPr dirty="0" sz="2750" spc="-5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program </a:t>
            </a:r>
            <a:r>
              <a:rPr dirty="0" sz="2750" spc="-750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instructions</a:t>
            </a:r>
            <a:endParaRPr sz="2750">
              <a:latin typeface="Arial MT"/>
              <a:cs typeface="Arial MT"/>
            </a:endParaRPr>
          </a:p>
          <a:p>
            <a:pPr lvl="1" marL="803910" indent="-339725">
              <a:lnSpc>
                <a:spcPct val="100000"/>
              </a:lnSpc>
              <a:spcBef>
                <a:spcPts val="75"/>
              </a:spcBef>
              <a:buChar char="–"/>
              <a:tabLst>
                <a:tab pos="803910" algn="l"/>
              </a:tabLst>
            </a:pPr>
            <a:r>
              <a:rPr dirty="0" sz="2750" spc="10">
                <a:latin typeface="Arial MT"/>
                <a:cs typeface="Arial MT"/>
              </a:rPr>
              <a:t>Stores</a:t>
            </a:r>
            <a:r>
              <a:rPr dirty="0" sz="2750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address</a:t>
            </a:r>
            <a:r>
              <a:rPr dirty="0" sz="2750" spc="5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of</a:t>
            </a:r>
            <a:r>
              <a:rPr dirty="0" sz="2750" spc="-15">
                <a:latin typeface="Arial MT"/>
                <a:cs typeface="Arial MT"/>
              </a:rPr>
              <a:t> </a:t>
            </a:r>
            <a:r>
              <a:rPr dirty="0" sz="2750" spc="15">
                <a:latin typeface="Arial MT"/>
                <a:cs typeface="Arial MT"/>
              </a:rPr>
              <a:t>a</a:t>
            </a:r>
            <a:r>
              <a:rPr dirty="0" sz="2750" spc="5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memory</a:t>
            </a:r>
            <a:r>
              <a:rPr dirty="0" sz="2750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location</a:t>
            </a:r>
            <a:endParaRPr sz="2750">
              <a:latin typeface="Arial MT"/>
              <a:cs typeface="Arial MT"/>
            </a:endParaRPr>
          </a:p>
          <a:p>
            <a:pPr lvl="2" marL="1218565" marR="5080" indent="-300990">
              <a:lnSpc>
                <a:spcPts val="2670"/>
              </a:lnSpc>
              <a:spcBef>
                <a:spcPts val="660"/>
              </a:spcBef>
              <a:buChar char="•"/>
              <a:tabLst>
                <a:tab pos="1218565" algn="l"/>
                <a:tab pos="1219200" algn="l"/>
              </a:tabLst>
            </a:pPr>
            <a:r>
              <a:rPr dirty="0" sz="2750" spc="15">
                <a:latin typeface="Arial MT"/>
                <a:cs typeface="Arial MT"/>
              </a:rPr>
              <a:t>where</a:t>
            </a:r>
            <a:r>
              <a:rPr dirty="0" sz="2750" spc="-5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next</a:t>
            </a:r>
            <a:r>
              <a:rPr dirty="0" sz="2750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instruction</a:t>
            </a:r>
            <a:r>
              <a:rPr dirty="0" sz="2750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byte</a:t>
            </a:r>
            <a:r>
              <a:rPr dirty="0" sz="2750" spc="-5">
                <a:latin typeface="Arial MT"/>
                <a:cs typeface="Arial MT"/>
              </a:rPr>
              <a:t> </a:t>
            </a:r>
            <a:r>
              <a:rPr dirty="0" sz="2750" spc="15">
                <a:latin typeface="Arial MT"/>
                <a:cs typeface="Arial MT"/>
              </a:rPr>
              <a:t>is</a:t>
            </a:r>
            <a:r>
              <a:rPr dirty="0" sz="2750">
                <a:latin typeface="Arial MT"/>
                <a:cs typeface="Arial MT"/>
              </a:rPr>
              <a:t> </a:t>
            </a:r>
            <a:r>
              <a:rPr dirty="0" sz="2750" spc="5">
                <a:latin typeface="Arial MT"/>
                <a:cs typeface="Arial MT"/>
              </a:rPr>
              <a:t>to</a:t>
            </a:r>
            <a:r>
              <a:rPr dirty="0" sz="2750">
                <a:latin typeface="Arial MT"/>
                <a:cs typeface="Arial MT"/>
              </a:rPr>
              <a:t> </a:t>
            </a:r>
            <a:r>
              <a:rPr dirty="0" sz="2750" spc="15">
                <a:latin typeface="Arial MT"/>
                <a:cs typeface="Arial MT"/>
              </a:rPr>
              <a:t>be</a:t>
            </a:r>
            <a:r>
              <a:rPr dirty="0" sz="2750" spc="-5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fetched </a:t>
            </a:r>
            <a:r>
              <a:rPr dirty="0" sz="2750" spc="-750">
                <a:latin typeface="Arial MT"/>
                <a:cs typeface="Arial MT"/>
              </a:rPr>
              <a:t> </a:t>
            </a:r>
            <a:r>
              <a:rPr dirty="0" sz="2750" spc="15">
                <a:latin typeface="Arial MT"/>
                <a:cs typeface="Arial MT"/>
              </a:rPr>
              <a:t>by</a:t>
            </a:r>
            <a:r>
              <a:rPr dirty="0" sz="2750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the</a:t>
            </a:r>
            <a:r>
              <a:rPr dirty="0" sz="2750">
                <a:latin typeface="Arial MT"/>
                <a:cs typeface="Arial MT"/>
              </a:rPr>
              <a:t> </a:t>
            </a:r>
            <a:r>
              <a:rPr dirty="0" sz="2750" spc="10">
                <a:solidFill>
                  <a:srgbClr val="333398"/>
                </a:solidFill>
                <a:latin typeface="Arial MT"/>
                <a:cs typeface="Arial MT"/>
              </a:rPr>
              <a:t>8085</a:t>
            </a:r>
            <a:endParaRPr sz="2750">
              <a:latin typeface="Arial MT"/>
              <a:cs typeface="Arial MT"/>
            </a:endParaRPr>
          </a:p>
          <a:p>
            <a:pPr lvl="1" marL="803910" marR="1323975" indent="-339090">
              <a:lnSpc>
                <a:spcPts val="2670"/>
              </a:lnSpc>
              <a:spcBef>
                <a:spcPts val="695"/>
              </a:spcBef>
              <a:buChar char="–"/>
              <a:tabLst>
                <a:tab pos="803910" algn="l"/>
              </a:tabLst>
            </a:pPr>
            <a:r>
              <a:rPr dirty="0" sz="2750" spc="15">
                <a:latin typeface="Arial MT"/>
                <a:cs typeface="Arial MT"/>
              </a:rPr>
              <a:t>when</a:t>
            </a:r>
            <a:r>
              <a:rPr dirty="0" sz="2750" spc="-5">
                <a:latin typeface="Arial MT"/>
                <a:cs typeface="Arial MT"/>
              </a:rPr>
              <a:t> </a:t>
            </a:r>
            <a:r>
              <a:rPr dirty="0" sz="2750" spc="10">
                <a:solidFill>
                  <a:srgbClr val="333398"/>
                </a:solidFill>
                <a:latin typeface="Arial MT"/>
                <a:cs typeface="Arial MT"/>
              </a:rPr>
              <a:t>8085</a:t>
            </a:r>
            <a:r>
              <a:rPr dirty="0" sz="2750">
                <a:solidFill>
                  <a:srgbClr val="333398"/>
                </a:solidFill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gets</a:t>
            </a:r>
            <a:r>
              <a:rPr dirty="0" sz="2750" spc="-10">
                <a:latin typeface="Arial MT"/>
                <a:cs typeface="Arial MT"/>
              </a:rPr>
              <a:t> </a:t>
            </a:r>
            <a:r>
              <a:rPr dirty="0" sz="2750" spc="15">
                <a:latin typeface="Arial MT"/>
                <a:cs typeface="Arial MT"/>
              </a:rPr>
              <a:t>busy</a:t>
            </a:r>
            <a:r>
              <a:rPr dirty="0" sz="2750" spc="-5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to</a:t>
            </a:r>
            <a:r>
              <a:rPr dirty="0" sz="2750" spc="-15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fetch</a:t>
            </a:r>
            <a:r>
              <a:rPr dirty="0" sz="2750" spc="-5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current </a:t>
            </a:r>
            <a:r>
              <a:rPr dirty="0" sz="2750" spc="-750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instruction</a:t>
            </a:r>
            <a:r>
              <a:rPr dirty="0" sz="2750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from</a:t>
            </a:r>
            <a:r>
              <a:rPr dirty="0" sz="2750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memory</a:t>
            </a:r>
            <a:endParaRPr sz="2750">
              <a:latin typeface="Arial MT"/>
              <a:cs typeface="Arial MT"/>
            </a:endParaRPr>
          </a:p>
          <a:p>
            <a:pPr lvl="2" marL="1219200" indent="-300990">
              <a:lnSpc>
                <a:spcPct val="100000"/>
              </a:lnSpc>
              <a:spcBef>
                <a:spcPts val="65"/>
              </a:spcBef>
              <a:buChar char="•"/>
              <a:tabLst>
                <a:tab pos="1218565" algn="l"/>
                <a:tab pos="1219200" algn="l"/>
              </a:tabLst>
            </a:pPr>
            <a:r>
              <a:rPr dirty="0" sz="2750" spc="20">
                <a:latin typeface="Arial MT"/>
                <a:cs typeface="Arial MT"/>
              </a:rPr>
              <a:t>PC</a:t>
            </a:r>
            <a:r>
              <a:rPr dirty="0" sz="2750" spc="-10">
                <a:latin typeface="Arial MT"/>
                <a:cs typeface="Arial MT"/>
              </a:rPr>
              <a:t> </a:t>
            </a:r>
            <a:r>
              <a:rPr dirty="0" sz="2750" spc="15">
                <a:latin typeface="Arial MT"/>
                <a:cs typeface="Arial MT"/>
              </a:rPr>
              <a:t>is</a:t>
            </a:r>
            <a:r>
              <a:rPr dirty="0" sz="2750" spc="-5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incremented</a:t>
            </a:r>
            <a:r>
              <a:rPr dirty="0" sz="2750" spc="-5">
                <a:latin typeface="Arial MT"/>
                <a:cs typeface="Arial MT"/>
              </a:rPr>
              <a:t> </a:t>
            </a:r>
            <a:r>
              <a:rPr dirty="0" sz="2750" spc="15">
                <a:latin typeface="Arial MT"/>
                <a:cs typeface="Arial MT"/>
              </a:rPr>
              <a:t>by</a:t>
            </a:r>
            <a:r>
              <a:rPr dirty="0" sz="2750" spc="-10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one</a:t>
            </a:r>
            <a:endParaRPr sz="2750">
              <a:latin typeface="Arial MT"/>
              <a:cs typeface="Arial MT"/>
            </a:endParaRPr>
          </a:p>
          <a:p>
            <a:pPr lvl="2" marL="1218565" marR="280035" indent="-300990">
              <a:lnSpc>
                <a:spcPts val="2660"/>
              </a:lnSpc>
              <a:spcBef>
                <a:spcPts val="680"/>
              </a:spcBef>
              <a:buChar char="•"/>
              <a:tabLst>
                <a:tab pos="1218565" algn="l"/>
                <a:tab pos="1219200" algn="l"/>
              </a:tabLst>
            </a:pPr>
            <a:r>
              <a:rPr dirty="0" sz="2750" spc="20">
                <a:latin typeface="Arial MT"/>
                <a:cs typeface="Arial MT"/>
              </a:rPr>
              <a:t>PC</a:t>
            </a:r>
            <a:r>
              <a:rPr dirty="0" sz="2750">
                <a:latin typeface="Arial MT"/>
                <a:cs typeface="Arial MT"/>
              </a:rPr>
              <a:t> </a:t>
            </a:r>
            <a:r>
              <a:rPr dirty="0" sz="2750" spc="15">
                <a:latin typeface="Arial MT"/>
                <a:cs typeface="Arial MT"/>
              </a:rPr>
              <a:t>is</a:t>
            </a:r>
            <a:r>
              <a:rPr dirty="0" sz="2750" spc="5">
                <a:latin typeface="Arial MT"/>
                <a:cs typeface="Arial MT"/>
              </a:rPr>
              <a:t> </a:t>
            </a:r>
            <a:r>
              <a:rPr dirty="0" sz="2750" spc="15">
                <a:latin typeface="Arial MT"/>
                <a:cs typeface="Arial MT"/>
              </a:rPr>
              <a:t>now</a:t>
            </a:r>
            <a:r>
              <a:rPr dirty="0" sz="2750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pointing</a:t>
            </a:r>
            <a:r>
              <a:rPr dirty="0" sz="2750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to</a:t>
            </a:r>
            <a:r>
              <a:rPr dirty="0" sz="2750">
                <a:latin typeface="Arial MT"/>
                <a:cs typeface="Arial MT"/>
              </a:rPr>
              <a:t> </a:t>
            </a:r>
            <a:r>
              <a:rPr dirty="0" sz="2750" spc="5">
                <a:latin typeface="Arial MT"/>
                <a:cs typeface="Arial MT"/>
              </a:rPr>
              <a:t>the </a:t>
            </a:r>
            <a:r>
              <a:rPr dirty="0" sz="2750" spc="10">
                <a:latin typeface="Arial MT"/>
                <a:cs typeface="Arial MT"/>
              </a:rPr>
              <a:t>address</a:t>
            </a:r>
            <a:r>
              <a:rPr dirty="0" sz="2750" spc="5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of</a:t>
            </a:r>
            <a:r>
              <a:rPr dirty="0" sz="2750" spc="-15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next </a:t>
            </a:r>
            <a:r>
              <a:rPr dirty="0" sz="2750" spc="-750">
                <a:latin typeface="Arial MT"/>
                <a:cs typeface="Arial MT"/>
              </a:rPr>
              <a:t> </a:t>
            </a:r>
            <a:r>
              <a:rPr dirty="0" sz="2750" spc="10">
                <a:latin typeface="Arial MT"/>
                <a:cs typeface="Arial MT"/>
              </a:rPr>
              <a:t>instruction</a:t>
            </a:r>
            <a:endParaRPr sz="2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5159"/>
            <a:ext cx="497332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1665" algn="l"/>
              </a:tabLst>
            </a:pPr>
            <a:r>
              <a:rPr dirty="0" sz="3200" spc="-5"/>
              <a:t>5.	</a:t>
            </a:r>
            <a:r>
              <a:rPr dirty="0" sz="3200"/>
              <a:t>Stack</a:t>
            </a:r>
            <a:r>
              <a:rPr dirty="0" sz="3200" spc="-25"/>
              <a:t> </a:t>
            </a:r>
            <a:r>
              <a:rPr dirty="0" sz="3200" spc="-5"/>
              <a:t>Pointer</a:t>
            </a:r>
            <a:r>
              <a:rPr dirty="0" sz="3200" spc="-30"/>
              <a:t> </a:t>
            </a:r>
            <a:r>
              <a:rPr dirty="0" sz="3200" spc="-5"/>
              <a:t>Register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93139" y="1112520"/>
            <a:ext cx="223520" cy="157607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6539" y="1134109"/>
            <a:ext cx="6867525" cy="2001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29335">
              <a:lnSpc>
                <a:spcPct val="120800"/>
              </a:lnSpc>
              <a:spcBef>
                <a:spcPts val="100"/>
              </a:spcBef>
            </a:pPr>
            <a:r>
              <a:rPr dirty="0" sz="2800">
                <a:latin typeface="Arial MT"/>
                <a:cs typeface="Arial MT"/>
              </a:rPr>
              <a:t>a </a:t>
            </a:r>
            <a:r>
              <a:rPr dirty="0" sz="2800" spc="-5">
                <a:latin typeface="Arial MT"/>
                <a:cs typeface="Arial MT"/>
              </a:rPr>
              <a:t>16-bit memory pointer register 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Points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location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in</a:t>
            </a:r>
            <a:r>
              <a:rPr dirty="0" sz="2800" spc="35">
                <a:latin typeface="Arial MT"/>
                <a:cs typeface="Arial MT"/>
              </a:rPr>
              <a:t> </a:t>
            </a:r>
            <a:r>
              <a:rPr dirty="0" sz="2800" spc="-5" b="1">
                <a:latin typeface="Arial"/>
                <a:cs typeface="Arial"/>
              </a:rPr>
              <a:t>Stack</a:t>
            </a:r>
            <a:r>
              <a:rPr dirty="0" sz="2800" spc="5" b="1">
                <a:latin typeface="Arial"/>
                <a:cs typeface="Arial"/>
              </a:rPr>
              <a:t> </a:t>
            </a:r>
            <a:r>
              <a:rPr dirty="0" sz="2800" spc="-5">
                <a:latin typeface="Arial MT"/>
                <a:cs typeface="Arial MT"/>
              </a:rPr>
              <a:t>memory</a:t>
            </a:r>
            <a:endParaRPr sz="2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710"/>
              </a:spcBef>
            </a:pPr>
            <a:r>
              <a:rPr dirty="0" sz="2800" spc="-5">
                <a:latin typeface="Arial MT"/>
                <a:cs typeface="Arial MT"/>
              </a:rPr>
              <a:t>Beginning of </a:t>
            </a:r>
            <a:r>
              <a:rPr dirty="0" sz="2800">
                <a:latin typeface="Arial MT"/>
                <a:cs typeface="Arial MT"/>
              </a:rPr>
              <a:t>the </a:t>
            </a:r>
            <a:r>
              <a:rPr dirty="0" sz="2800" spc="-5">
                <a:latin typeface="Arial MT"/>
                <a:cs typeface="Arial MT"/>
              </a:rPr>
              <a:t>stack is defined by loading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16-bit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address</a:t>
            </a:r>
            <a:r>
              <a:rPr dirty="0" sz="2800">
                <a:latin typeface="Arial MT"/>
                <a:cs typeface="Arial MT"/>
              </a:rPr>
              <a:t> in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stack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pointer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register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7810" y="497840"/>
            <a:ext cx="608076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09925" algn="l"/>
              </a:tabLst>
            </a:pPr>
            <a:r>
              <a:rPr dirty="0" sz="4400" spc="-5" b="0">
                <a:solidFill>
                  <a:srgbClr val="FF0000"/>
                </a:solidFill>
                <a:latin typeface="Arial MT"/>
                <a:cs typeface="Arial MT"/>
              </a:rPr>
              <a:t>3.</a:t>
            </a:r>
            <a:r>
              <a:rPr dirty="0" sz="4400" spc="-5" b="0">
                <a:latin typeface="Arial MT"/>
                <a:cs typeface="Arial MT"/>
              </a:rPr>
              <a:t>Instruction	Set</a:t>
            </a:r>
            <a:r>
              <a:rPr dirty="0" sz="4400" spc="-50" b="0"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of</a:t>
            </a:r>
            <a:r>
              <a:rPr dirty="0" sz="4400" spc="-40" b="0"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8085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14170"/>
            <a:ext cx="15049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539" y="1634490"/>
            <a:ext cx="17849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Arial MT"/>
                <a:cs typeface="Arial MT"/>
              </a:rPr>
              <a:t>Consists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of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2040889"/>
            <a:ext cx="223520" cy="105918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6539" y="2062479"/>
            <a:ext cx="4912360" cy="1056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dirty="0" sz="2800" spc="-5">
                <a:latin typeface="Arial MT"/>
                <a:cs typeface="Arial MT"/>
              </a:rPr>
              <a:t>74 operation </a:t>
            </a:r>
            <a:r>
              <a:rPr dirty="0" sz="2800">
                <a:latin typeface="Arial MT"/>
                <a:cs typeface="Arial MT"/>
              </a:rPr>
              <a:t>codes, e.g. </a:t>
            </a:r>
            <a:r>
              <a:rPr dirty="0" sz="2800" spc="-5">
                <a:solidFill>
                  <a:srgbClr val="333398"/>
                </a:solidFill>
                <a:latin typeface="Arial MT"/>
                <a:cs typeface="Arial MT"/>
              </a:rPr>
              <a:t>MOV </a:t>
            </a:r>
            <a:r>
              <a:rPr dirty="0" sz="2800">
                <a:solidFill>
                  <a:srgbClr val="333398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246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Instructions,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e.g.</a:t>
            </a:r>
            <a:r>
              <a:rPr dirty="0" sz="2800" spc="30"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333398"/>
                </a:solidFill>
                <a:latin typeface="Arial MT"/>
                <a:cs typeface="Arial MT"/>
              </a:rPr>
              <a:t>MOV</a:t>
            </a:r>
            <a:r>
              <a:rPr dirty="0" sz="2800" spc="-20">
                <a:solidFill>
                  <a:srgbClr val="333398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D50092"/>
                </a:solidFill>
                <a:latin typeface="Arial MT"/>
                <a:cs typeface="Arial MT"/>
              </a:rPr>
              <a:t>A</a:t>
            </a:r>
            <a:r>
              <a:rPr dirty="0" sz="2800" spc="-5">
                <a:latin typeface="Arial MT"/>
                <a:cs typeface="Arial MT"/>
              </a:rPr>
              <a:t>,</a:t>
            </a:r>
            <a:r>
              <a:rPr dirty="0" sz="2800" spc="-5">
                <a:solidFill>
                  <a:srgbClr val="D50092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3164840"/>
            <a:ext cx="15049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333398"/>
                </a:solidFill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3139" y="3093720"/>
            <a:ext cx="6071870" cy="312547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810"/>
              </a:spcBef>
            </a:pPr>
            <a:r>
              <a:rPr dirty="0" sz="2800" spc="-5">
                <a:solidFill>
                  <a:srgbClr val="333398"/>
                </a:solidFill>
                <a:latin typeface="Arial MT"/>
                <a:cs typeface="Arial MT"/>
              </a:rPr>
              <a:t>8085</a:t>
            </a:r>
            <a:r>
              <a:rPr dirty="0" sz="2800" spc="5">
                <a:solidFill>
                  <a:srgbClr val="333398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instructions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can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be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classified as</a:t>
            </a:r>
            <a:endParaRPr sz="28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5" b="1">
                <a:latin typeface="Arial"/>
                <a:cs typeface="Arial"/>
              </a:rPr>
              <a:t>Data</a:t>
            </a:r>
            <a:r>
              <a:rPr dirty="0" sz="2800" spc="-25" b="1">
                <a:latin typeface="Arial"/>
                <a:cs typeface="Arial"/>
              </a:rPr>
              <a:t> Transfer</a:t>
            </a:r>
            <a:r>
              <a:rPr dirty="0" sz="2800" spc="-20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(Copy)</a:t>
            </a:r>
            <a:endParaRPr sz="28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5" b="1">
                <a:latin typeface="Arial"/>
                <a:cs typeface="Arial"/>
              </a:rPr>
              <a:t>Arithmetic</a:t>
            </a:r>
            <a:endParaRPr sz="28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10" b="1">
                <a:latin typeface="Arial"/>
                <a:cs typeface="Arial"/>
              </a:rPr>
              <a:t>Logical</a:t>
            </a:r>
            <a:r>
              <a:rPr dirty="0" sz="2800" spc="-20" b="1">
                <a:latin typeface="Arial"/>
                <a:cs typeface="Arial"/>
              </a:rPr>
              <a:t> </a:t>
            </a:r>
            <a:r>
              <a:rPr dirty="0" sz="2800" spc="-5" b="1">
                <a:latin typeface="Arial"/>
                <a:cs typeface="Arial"/>
              </a:rPr>
              <a:t>and</a:t>
            </a:r>
            <a:r>
              <a:rPr dirty="0" sz="2800" spc="-20" b="1">
                <a:latin typeface="Arial"/>
                <a:cs typeface="Arial"/>
              </a:rPr>
              <a:t> </a:t>
            </a:r>
            <a:r>
              <a:rPr dirty="0" sz="2800" spc="-5" b="1">
                <a:latin typeface="Arial"/>
                <a:cs typeface="Arial"/>
              </a:rPr>
              <a:t>Bit</a:t>
            </a:r>
            <a:r>
              <a:rPr dirty="0" sz="2800" spc="-10" b="1">
                <a:latin typeface="Arial"/>
                <a:cs typeface="Arial"/>
              </a:rPr>
              <a:t> </a:t>
            </a:r>
            <a:r>
              <a:rPr dirty="0" sz="2800" spc="-5" b="1">
                <a:latin typeface="Arial"/>
                <a:cs typeface="Arial"/>
              </a:rPr>
              <a:t>manipulation</a:t>
            </a:r>
            <a:endParaRPr sz="28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10" b="1">
                <a:latin typeface="Arial"/>
                <a:cs typeface="Arial"/>
              </a:rPr>
              <a:t>Branch</a:t>
            </a:r>
            <a:endParaRPr sz="28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10" b="1">
                <a:latin typeface="Arial"/>
                <a:cs typeface="Arial"/>
              </a:rPr>
              <a:t>Machine</a:t>
            </a:r>
            <a:r>
              <a:rPr dirty="0" sz="2800" spc="-25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Control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274320"/>
            <a:ext cx="8534400" cy="1143000"/>
          </a:xfrm>
          <a:custGeom>
            <a:avLst/>
            <a:gdLst/>
            <a:ahLst/>
            <a:cxnLst/>
            <a:rect l="l" t="t" r="r" b="b"/>
            <a:pathLst>
              <a:path w="8534400" h="1143000">
                <a:moveTo>
                  <a:pt x="8534400" y="0"/>
                </a:moveTo>
                <a:lnTo>
                  <a:pt x="0" y="0"/>
                </a:lnTo>
                <a:lnTo>
                  <a:pt x="0" y="1143000"/>
                </a:lnTo>
                <a:lnTo>
                  <a:pt x="4267200" y="1143000"/>
                </a:lnTo>
                <a:lnTo>
                  <a:pt x="8534400" y="1143000"/>
                </a:lnTo>
                <a:lnTo>
                  <a:pt x="85344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3230" y="528320"/>
            <a:ext cx="794639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5" b="0">
                <a:latin typeface="Arial MT"/>
                <a:cs typeface="Arial MT"/>
              </a:rPr>
              <a:t>1. Data</a:t>
            </a:r>
            <a:r>
              <a:rPr dirty="0" sz="4000" spc="-95" b="0">
                <a:latin typeface="Arial MT"/>
                <a:cs typeface="Arial MT"/>
              </a:rPr>
              <a:t> </a:t>
            </a:r>
            <a:r>
              <a:rPr dirty="0" sz="4000" spc="-25" b="0">
                <a:latin typeface="Arial MT"/>
                <a:cs typeface="Arial MT"/>
              </a:rPr>
              <a:t>Transfer</a:t>
            </a:r>
            <a:r>
              <a:rPr dirty="0" sz="4000" spc="-10" b="0">
                <a:latin typeface="Arial MT"/>
                <a:cs typeface="Arial MT"/>
              </a:rPr>
              <a:t> </a:t>
            </a:r>
            <a:r>
              <a:rPr dirty="0" sz="4000" spc="-5" b="0">
                <a:latin typeface="Arial MT"/>
                <a:cs typeface="Arial MT"/>
              </a:rPr>
              <a:t>(Copy) </a:t>
            </a:r>
            <a:r>
              <a:rPr dirty="0" sz="4000" spc="-10" b="0">
                <a:latin typeface="Arial MT"/>
                <a:cs typeface="Arial MT"/>
              </a:rPr>
              <a:t>Operations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1544320"/>
            <a:ext cx="6788150" cy="398145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546100" indent="-533400">
              <a:lnSpc>
                <a:spcPct val="100000"/>
              </a:lnSpc>
              <a:spcBef>
                <a:spcPts val="81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10" b="1">
                <a:latin typeface="Arial"/>
                <a:cs typeface="Arial"/>
              </a:rPr>
              <a:t>Load</a:t>
            </a:r>
            <a:r>
              <a:rPr dirty="0" sz="2800" spc="-15" b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8-bit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number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35"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D50092"/>
                </a:solidFill>
                <a:latin typeface="Arial MT"/>
                <a:cs typeface="Arial MT"/>
              </a:rPr>
              <a:t>R</a:t>
            </a:r>
            <a:r>
              <a:rPr dirty="0" sz="2800" spc="-5">
                <a:latin typeface="Arial MT"/>
                <a:cs typeface="Arial MT"/>
              </a:rPr>
              <a:t>egister</a:t>
            </a:r>
            <a:endParaRPr sz="28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10" b="1">
                <a:latin typeface="Arial"/>
                <a:cs typeface="Arial"/>
              </a:rPr>
              <a:t>Copy </a:t>
            </a:r>
            <a:r>
              <a:rPr dirty="0" sz="2800">
                <a:latin typeface="Arial MT"/>
                <a:cs typeface="Arial MT"/>
              </a:rPr>
              <a:t>from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D50092"/>
                </a:solidFill>
                <a:latin typeface="Arial MT"/>
                <a:cs typeface="Arial MT"/>
              </a:rPr>
              <a:t>R</a:t>
            </a:r>
            <a:r>
              <a:rPr dirty="0" sz="2800" spc="-5">
                <a:latin typeface="Arial MT"/>
                <a:cs typeface="Arial MT"/>
              </a:rPr>
              <a:t>egister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to</a:t>
            </a:r>
            <a:r>
              <a:rPr dirty="0" sz="2800" spc="20"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D50092"/>
                </a:solidFill>
                <a:latin typeface="Arial MT"/>
                <a:cs typeface="Arial MT"/>
              </a:rPr>
              <a:t>R</a:t>
            </a:r>
            <a:r>
              <a:rPr dirty="0" sz="2800" spc="-5">
                <a:latin typeface="Arial MT"/>
                <a:cs typeface="Arial MT"/>
              </a:rPr>
              <a:t>egister</a:t>
            </a:r>
            <a:endParaRPr sz="28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10" b="1">
                <a:latin typeface="Arial"/>
                <a:cs typeface="Arial"/>
              </a:rPr>
              <a:t>Copy </a:t>
            </a:r>
            <a:r>
              <a:rPr dirty="0" sz="2800" spc="-5">
                <a:latin typeface="Arial MT"/>
                <a:cs typeface="Arial MT"/>
              </a:rPr>
              <a:t>between</a:t>
            </a:r>
            <a:r>
              <a:rPr dirty="0" sz="2800" spc="10"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D50092"/>
                </a:solidFill>
                <a:latin typeface="Arial MT"/>
                <a:cs typeface="Arial MT"/>
              </a:rPr>
              <a:t>R</a:t>
            </a:r>
            <a:r>
              <a:rPr dirty="0" sz="2800" spc="-5">
                <a:latin typeface="Arial MT"/>
                <a:cs typeface="Arial MT"/>
              </a:rPr>
              <a:t>egister and</a:t>
            </a:r>
            <a:r>
              <a:rPr dirty="0" sz="2800" spc="15"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FF0000"/>
                </a:solidFill>
                <a:latin typeface="Arial MT"/>
                <a:cs typeface="Arial MT"/>
              </a:rPr>
              <a:t>Memory</a:t>
            </a:r>
            <a:endParaRPr sz="2800">
              <a:latin typeface="Arial MT"/>
              <a:cs typeface="Arial MT"/>
            </a:endParaRPr>
          </a:p>
          <a:p>
            <a:pPr marL="546100" marR="400685" indent="-53340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10" b="1">
                <a:latin typeface="Arial"/>
                <a:cs typeface="Arial"/>
              </a:rPr>
              <a:t>Copy </a:t>
            </a:r>
            <a:r>
              <a:rPr dirty="0" sz="2800" spc="-5">
                <a:latin typeface="Arial MT"/>
                <a:cs typeface="Arial MT"/>
              </a:rPr>
              <a:t>between</a:t>
            </a:r>
            <a:r>
              <a:rPr dirty="0" sz="2800" spc="10"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FFFF00"/>
                </a:solidFill>
                <a:latin typeface="Arial MT"/>
                <a:cs typeface="Arial MT"/>
              </a:rPr>
              <a:t>Input</a:t>
            </a:r>
            <a:r>
              <a:rPr dirty="0" sz="2800" spc="-5">
                <a:latin typeface="Arial MT"/>
                <a:cs typeface="Arial MT"/>
              </a:rPr>
              <a:t>/</a:t>
            </a:r>
            <a:r>
              <a:rPr dirty="0" sz="2800" spc="-5">
                <a:solidFill>
                  <a:srgbClr val="009800"/>
                </a:solidFill>
                <a:latin typeface="Arial MT"/>
                <a:cs typeface="Arial MT"/>
              </a:rPr>
              <a:t>Output</a:t>
            </a:r>
            <a:r>
              <a:rPr dirty="0" sz="2800">
                <a:solidFill>
                  <a:srgbClr val="009800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Port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D50092"/>
                </a:solidFill>
                <a:latin typeface="Arial MT"/>
                <a:cs typeface="Arial MT"/>
              </a:rPr>
              <a:t>A</a:t>
            </a:r>
            <a:r>
              <a:rPr dirty="0" sz="2800" spc="-5">
                <a:latin typeface="Arial MT"/>
                <a:cs typeface="Arial MT"/>
              </a:rPr>
              <a:t>ccumulator</a:t>
            </a:r>
            <a:endParaRPr sz="28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10" b="1">
                <a:latin typeface="Arial"/>
                <a:cs typeface="Arial"/>
              </a:rPr>
              <a:t>Load</a:t>
            </a:r>
            <a:r>
              <a:rPr dirty="0" sz="2800" spc="-15" b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16-bit number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45"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D50092"/>
                </a:solidFill>
                <a:latin typeface="Arial MT"/>
                <a:cs typeface="Arial MT"/>
              </a:rPr>
              <a:t>R</a:t>
            </a:r>
            <a:r>
              <a:rPr dirty="0" sz="2800" spc="-5">
                <a:latin typeface="Arial MT"/>
                <a:cs typeface="Arial MT"/>
              </a:rPr>
              <a:t>egister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pair</a:t>
            </a:r>
            <a:endParaRPr sz="2800">
              <a:latin typeface="Arial MT"/>
              <a:cs typeface="Arial MT"/>
            </a:endParaRPr>
          </a:p>
          <a:p>
            <a:pPr marL="546100" marR="109220" indent="-53340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10" b="1">
                <a:latin typeface="Arial"/>
                <a:cs typeface="Arial"/>
              </a:rPr>
              <a:t>Copy </a:t>
            </a:r>
            <a:r>
              <a:rPr dirty="0" sz="2800" spc="-5">
                <a:latin typeface="Arial MT"/>
                <a:cs typeface="Arial MT"/>
              </a:rPr>
              <a:t>between</a:t>
            </a:r>
            <a:r>
              <a:rPr dirty="0" sz="2800" spc="10"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D50092"/>
                </a:solidFill>
                <a:latin typeface="Arial MT"/>
                <a:cs typeface="Arial MT"/>
              </a:rPr>
              <a:t>R</a:t>
            </a:r>
            <a:r>
              <a:rPr dirty="0" sz="2800" spc="-5">
                <a:latin typeface="Arial MT"/>
                <a:cs typeface="Arial MT"/>
              </a:rPr>
              <a:t>egister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pair and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Stack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FF0000"/>
                </a:solidFill>
                <a:latin typeface="Arial MT"/>
                <a:cs typeface="Arial MT"/>
              </a:rPr>
              <a:t>memory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03050" y="589279"/>
            <a:ext cx="13843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Arial"/>
                <a:cs typeface="Arial"/>
              </a:rPr>
              <a:t>/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0550" y="101600"/>
            <a:ext cx="5810250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/>
              <a:t>Example</a:t>
            </a:r>
            <a:r>
              <a:rPr dirty="0" sz="3200" spc="-25"/>
              <a:t> </a:t>
            </a:r>
            <a:r>
              <a:rPr dirty="0" sz="3200"/>
              <a:t>Data</a:t>
            </a:r>
            <a:r>
              <a:rPr dirty="0" sz="3200" spc="-20"/>
              <a:t> </a:t>
            </a:r>
            <a:r>
              <a:rPr dirty="0" sz="3200" spc="-25"/>
              <a:t>Transfer </a:t>
            </a:r>
            <a:r>
              <a:rPr dirty="0" sz="3200"/>
              <a:t>(Copy)</a:t>
            </a:r>
            <a:endParaRPr sz="3200"/>
          </a:p>
          <a:p>
            <a:pPr marL="2816860" marR="589280" indent="249554">
              <a:lnSpc>
                <a:spcPct val="100000"/>
              </a:lnSpc>
            </a:pPr>
            <a:r>
              <a:rPr dirty="0" sz="3200" spc="-5"/>
              <a:t>O</a:t>
            </a:r>
            <a:r>
              <a:rPr dirty="0" sz="3200"/>
              <a:t>p</a:t>
            </a:r>
            <a:r>
              <a:rPr dirty="0" sz="3200" spc="5"/>
              <a:t>e</a:t>
            </a:r>
            <a:r>
              <a:rPr dirty="0" sz="3200" spc="-10"/>
              <a:t>r</a:t>
            </a:r>
            <a:r>
              <a:rPr dirty="0" sz="3200" spc="5"/>
              <a:t>a</a:t>
            </a:r>
            <a:r>
              <a:rPr dirty="0" sz="3200"/>
              <a:t>ti</a:t>
            </a:r>
            <a:r>
              <a:rPr dirty="0" sz="3200" spc="-5"/>
              <a:t>o</a:t>
            </a:r>
            <a:r>
              <a:rPr dirty="0" sz="3200"/>
              <a:t>ns  </a:t>
            </a:r>
            <a:r>
              <a:rPr dirty="0" sz="3200" spc="-5"/>
              <a:t>Instructions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993139" y="1634490"/>
            <a:ext cx="4019550" cy="437134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469900" marR="5080" indent="-457200">
              <a:lnSpc>
                <a:spcPct val="100699"/>
              </a:lnSpc>
              <a:spcBef>
                <a:spcPts val="8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400" spc="-5" b="1">
                <a:latin typeface="Arial"/>
                <a:cs typeface="Arial"/>
              </a:rPr>
              <a:t>Load </a:t>
            </a:r>
            <a:r>
              <a:rPr dirty="0" sz="2400">
                <a:latin typeface="Arial MT"/>
                <a:cs typeface="Arial MT"/>
              </a:rPr>
              <a:t>a </a:t>
            </a:r>
            <a:r>
              <a:rPr dirty="0" sz="2400" spc="-5">
                <a:latin typeface="Arial MT"/>
                <a:cs typeface="Arial MT"/>
              </a:rPr>
              <a:t>8-bit </a:t>
            </a:r>
            <a:r>
              <a:rPr dirty="0" sz="2400" spc="-10">
                <a:latin typeface="Arial MT"/>
                <a:cs typeface="Arial MT"/>
              </a:rPr>
              <a:t>number </a:t>
            </a:r>
            <a:r>
              <a:rPr dirty="0" sz="2400">
                <a:latin typeface="Arial MT"/>
                <a:cs typeface="Arial MT"/>
              </a:rPr>
              <a:t>4F </a:t>
            </a:r>
            <a:r>
              <a:rPr dirty="0" sz="2400" spc="-5">
                <a:latin typeface="Arial MT"/>
                <a:cs typeface="Arial MT"/>
              </a:rPr>
              <a:t>in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register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D50092"/>
                </a:solidFill>
                <a:latin typeface="Arial MT"/>
                <a:cs typeface="Arial MT"/>
              </a:rPr>
              <a:t>B</a:t>
            </a:r>
            <a:endParaRPr sz="2400">
              <a:latin typeface="Arial MT"/>
              <a:cs typeface="Arial MT"/>
            </a:endParaRPr>
          </a:p>
          <a:p>
            <a:pPr marL="469900" marR="238125" indent="-457200">
              <a:lnSpc>
                <a:spcPct val="100000"/>
              </a:lnSpc>
              <a:spcBef>
                <a:spcPts val="61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400" spc="-10" b="1">
                <a:latin typeface="Arial"/>
                <a:cs typeface="Arial"/>
              </a:rPr>
              <a:t>Copy </a:t>
            </a:r>
            <a:r>
              <a:rPr dirty="0" sz="2400" spc="-5">
                <a:latin typeface="Arial MT"/>
                <a:cs typeface="Arial MT"/>
              </a:rPr>
              <a:t>from Register </a:t>
            </a:r>
            <a:r>
              <a:rPr dirty="0" sz="2400">
                <a:solidFill>
                  <a:srgbClr val="D50092"/>
                </a:solidFill>
                <a:latin typeface="Arial MT"/>
                <a:cs typeface="Arial MT"/>
              </a:rPr>
              <a:t>B </a:t>
            </a:r>
            <a:r>
              <a:rPr dirty="0" sz="2400">
                <a:latin typeface="Arial MT"/>
                <a:cs typeface="Arial MT"/>
              </a:rPr>
              <a:t>to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Register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D50092"/>
                </a:solidFill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  <a:p>
            <a:pPr marL="469900" marR="256540" indent="-457200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400" spc="-5" b="1">
                <a:latin typeface="Arial"/>
                <a:cs typeface="Arial"/>
              </a:rPr>
              <a:t>Load </a:t>
            </a:r>
            <a:r>
              <a:rPr dirty="0" sz="2400">
                <a:latin typeface="Arial MT"/>
                <a:cs typeface="Arial MT"/>
              </a:rPr>
              <a:t>a </a:t>
            </a:r>
            <a:r>
              <a:rPr dirty="0" sz="2400" spc="-5">
                <a:latin typeface="Arial MT"/>
                <a:cs typeface="Arial MT"/>
              </a:rPr>
              <a:t>16-bit </a:t>
            </a:r>
            <a:r>
              <a:rPr dirty="0" sz="2400" spc="-10">
                <a:latin typeface="Arial MT"/>
                <a:cs typeface="Arial MT"/>
              </a:rPr>
              <a:t>number 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2050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in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Register </a:t>
            </a:r>
            <a:r>
              <a:rPr dirty="0" sz="2400" spc="-10">
                <a:latin typeface="Arial MT"/>
                <a:cs typeface="Arial MT"/>
              </a:rPr>
              <a:t>pair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D50092"/>
                </a:solidFill>
                <a:latin typeface="Arial MT"/>
                <a:cs typeface="Arial MT"/>
              </a:rPr>
              <a:t>HL</a:t>
            </a:r>
            <a:endParaRPr sz="2400">
              <a:latin typeface="Arial MT"/>
              <a:cs typeface="Arial MT"/>
            </a:endParaRPr>
          </a:p>
          <a:p>
            <a:pPr marL="469900" marR="238125" indent="-457200">
              <a:lnSpc>
                <a:spcPct val="100699"/>
              </a:lnSpc>
              <a:spcBef>
                <a:spcPts val="6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400" spc="-10" b="1">
                <a:latin typeface="Arial"/>
                <a:cs typeface="Arial"/>
              </a:rPr>
              <a:t>Copy </a:t>
            </a:r>
            <a:r>
              <a:rPr dirty="0" sz="2400" spc="-5">
                <a:latin typeface="Arial MT"/>
                <a:cs typeface="Arial MT"/>
              </a:rPr>
              <a:t>from Register </a:t>
            </a:r>
            <a:r>
              <a:rPr dirty="0" sz="2400">
                <a:solidFill>
                  <a:srgbClr val="D50092"/>
                </a:solidFill>
                <a:latin typeface="Arial MT"/>
                <a:cs typeface="Arial MT"/>
              </a:rPr>
              <a:t>B </a:t>
            </a:r>
            <a:r>
              <a:rPr dirty="0" sz="2400">
                <a:latin typeface="Arial MT"/>
                <a:cs typeface="Arial MT"/>
              </a:rPr>
              <a:t>to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Arial MT"/>
                <a:cs typeface="Arial MT"/>
              </a:rPr>
              <a:t>Memory</a:t>
            </a:r>
            <a:r>
              <a:rPr dirty="0" sz="2400" spc="-1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Address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2050</a:t>
            </a:r>
            <a:endParaRPr sz="2400">
              <a:latin typeface="Arial MT"/>
              <a:cs typeface="Arial MT"/>
            </a:endParaRPr>
          </a:p>
          <a:p>
            <a:pPr marL="469900" marR="626745" indent="-457200">
              <a:lnSpc>
                <a:spcPct val="100499"/>
              </a:lnSpc>
              <a:spcBef>
                <a:spcPts val="59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400" spc="-10" b="1">
                <a:latin typeface="Arial"/>
                <a:cs typeface="Arial"/>
              </a:rPr>
              <a:t>Copy</a:t>
            </a:r>
            <a:r>
              <a:rPr dirty="0" sz="2400" spc="-5" b="1">
                <a:latin typeface="Arial"/>
                <a:cs typeface="Arial"/>
              </a:rPr>
              <a:t> </a:t>
            </a:r>
            <a:r>
              <a:rPr dirty="0" sz="2400" spc="-10">
                <a:latin typeface="Arial MT"/>
                <a:cs typeface="Arial MT"/>
              </a:rPr>
              <a:t>between 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00"/>
                </a:solidFill>
                <a:latin typeface="Arial MT"/>
                <a:cs typeface="Arial MT"/>
              </a:rPr>
              <a:t>Input</a:t>
            </a:r>
            <a:r>
              <a:rPr dirty="0" sz="2400" spc="-5">
                <a:latin typeface="Arial MT"/>
                <a:cs typeface="Arial MT"/>
              </a:rPr>
              <a:t>/</a:t>
            </a:r>
            <a:r>
              <a:rPr dirty="0" sz="2400" spc="-5">
                <a:solidFill>
                  <a:srgbClr val="009800"/>
                </a:solidFill>
                <a:latin typeface="Arial MT"/>
                <a:cs typeface="Arial MT"/>
              </a:rPr>
              <a:t>Output </a:t>
            </a:r>
            <a:r>
              <a:rPr dirty="0" sz="2400" spc="-5">
                <a:latin typeface="Arial MT"/>
                <a:cs typeface="Arial MT"/>
              </a:rPr>
              <a:t>Port </a:t>
            </a:r>
            <a:r>
              <a:rPr dirty="0" sz="2400" spc="-10">
                <a:latin typeface="Arial MT"/>
                <a:cs typeface="Arial MT"/>
              </a:rPr>
              <a:t>and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D50092"/>
                </a:solidFill>
                <a:latin typeface="Arial MT"/>
                <a:cs typeface="Arial MT"/>
              </a:rPr>
              <a:t>A</a:t>
            </a:r>
            <a:r>
              <a:rPr dirty="0" sz="2400" spc="-5">
                <a:latin typeface="Arial MT"/>
                <a:cs typeface="Arial MT"/>
              </a:rPr>
              <a:t>ccumulator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22340" y="1634490"/>
            <a:ext cx="16179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333398"/>
                </a:solidFill>
                <a:latin typeface="Arial"/>
                <a:cs typeface="Arial"/>
              </a:rPr>
              <a:t>MVI</a:t>
            </a:r>
            <a:r>
              <a:rPr dirty="0" sz="2400" spc="-35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D50092"/>
                </a:solidFill>
                <a:latin typeface="Arial"/>
                <a:cs typeface="Arial"/>
              </a:rPr>
              <a:t>B</a:t>
            </a:r>
            <a:r>
              <a:rPr dirty="0" sz="2400" spc="-5" b="1">
                <a:latin typeface="Arial"/>
                <a:cs typeface="Arial"/>
              </a:rPr>
              <a:t>,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4FH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22340" y="2522220"/>
            <a:ext cx="13303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333398"/>
                </a:solidFill>
                <a:latin typeface="Arial"/>
                <a:cs typeface="Arial"/>
              </a:rPr>
              <a:t>MOV</a:t>
            </a:r>
            <a:r>
              <a:rPr dirty="0" sz="2400" spc="-80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D50092"/>
                </a:solidFill>
                <a:latin typeface="Arial"/>
                <a:cs typeface="Arial"/>
              </a:rPr>
              <a:t>A</a:t>
            </a:r>
            <a:r>
              <a:rPr dirty="0" sz="2400" spc="-5" b="1">
                <a:latin typeface="Arial"/>
                <a:cs typeface="Arial"/>
              </a:rPr>
              <a:t>,</a:t>
            </a:r>
            <a:r>
              <a:rPr dirty="0" sz="2400" spc="-5" b="1">
                <a:solidFill>
                  <a:srgbClr val="D50092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22340" y="3336290"/>
            <a:ext cx="18713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333398"/>
                </a:solidFill>
                <a:latin typeface="Arial"/>
                <a:cs typeface="Arial"/>
              </a:rPr>
              <a:t>LXI</a:t>
            </a:r>
            <a:r>
              <a:rPr dirty="0" sz="2400" spc="-20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D50092"/>
                </a:solidFill>
                <a:latin typeface="Arial"/>
                <a:cs typeface="Arial"/>
              </a:rPr>
              <a:t>H</a:t>
            </a:r>
            <a:r>
              <a:rPr dirty="0" sz="2400" spc="-10" b="1">
                <a:latin typeface="Arial"/>
                <a:cs typeface="Arial"/>
              </a:rPr>
              <a:t>,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2050H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22340" y="4222750"/>
            <a:ext cx="13658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333398"/>
                </a:solidFill>
                <a:latin typeface="Arial"/>
                <a:cs typeface="Arial"/>
              </a:rPr>
              <a:t>MOV</a:t>
            </a:r>
            <a:r>
              <a:rPr dirty="0" sz="2400" spc="-80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dirty="0" sz="2400" b="1">
                <a:latin typeface="Arial"/>
                <a:cs typeface="Arial"/>
              </a:rPr>
              <a:t>,</a:t>
            </a:r>
            <a:r>
              <a:rPr dirty="0" sz="2400" b="1">
                <a:solidFill>
                  <a:srgbClr val="D50092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22340" y="4959350"/>
            <a:ext cx="1311910" cy="911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333398"/>
                </a:solidFill>
                <a:latin typeface="Arial"/>
                <a:cs typeface="Arial"/>
              </a:rPr>
              <a:t>OUT</a:t>
            </a:r>
            <a:r>
              <a:rPr dirty="0" sz="2400" spc="-90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latin typeface="Arial"/>
                <a:cs typeface="Arial"/>
              </a:rPr>
              <a:t>01H </a:t>
            </a:r>
            <a:r>
              <a:rPr dirty="0" sz="2400" spc="-650" b="1"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333398"/>
                </a:solidFill>
                <a:latin typeface="Arial"/>
                <a:cs typeface="Arial"/>
              </a:rPr>
              <a:t>IN</a:t>
            </a:r>
            <a:r>
              <a:rPr dirty="0" sz="2400" spc="-20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latin typeface="Arial"/>
                <a:cs typeface="Arial"/>
              </a:rPr>
              <a:t>07H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86400" y="1676400"/>
            <a:ext cx="0" cy="4343400"/>
          </a:xfrm>
          <a:custGeom>
            <a:avLst/>
            <a:gdLst/>
            <a:ahLst/>
            <a:cxnLst/>
            <a:rect l="l" t="t" r="r" b="b"/>
            <a:pathLst>
              <a:path w="0" h="4343400">
                <a:moveTo>
                  <a:pt x="0" y="0"/>
                </a:moveTo>
                <a:lnTo>
                  <a:pt x="0" y="4343400"/>
                </a:lnTo>
              </a:path>
            </a:pathLst>
          </a:custGeom>
          <a:ln w="3809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274320"/>
            <a:ext cx="8534400" cy="1143000"/>
          </a:xfrm>
          <a:custGeom>
            <a:avLst/>
            <a:gdLst/>
            <a:ahLst/>
            <a:cxnLst/>
            <a:rect l="l" t="t" r="r" b="b"/>
            <a:pathLst>
              <a:path w="8534400" h="1143000">
                <a:moveTo>
                  <a:pt x="8534400" y="0"/>
                </a:moveTo>
                <a:lnTo>
                  <a:pt x="0" y="0"/>
                </a:lnTo>
                <a:lnTo>
                  <a:pt x="0" y="1143000"/>
                </a:lnTo>
                <a:lnTo>
                  <a:pt x="4267200" y="1143000"/>
                </a:lnTo>
                <a:lnTo>
                  <a:pt x="8534400" y="1143000"/>
                </a:lnTo>
                <a:lnTo>
                  <a:pt x="85344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22400" y="497840"/>
            <a:ext cx="598424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 b="0">
                <a:latin typeface="Arial MT"/>
                <a:cs typeface="Arial MT"/>
              </a:rPr>
              <a:t>2.</a:t>
            </a:r>
            <a:r>
              <a:rPr dirty="0" sz="4400" spc="-275" b="0"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Arithmetic</a:t>
            </a:r>
            <a:r>
              <a:rPr dirty="0" sz="4400" spc="-15" b="0"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Operations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1544320"/>
            <a:ext cx="6685280" cy="157480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546100" indent="-533400">
              <a:lnSpc>
                <a:spcPct val="100000"/>
              </a:lnSpc>
              <a:spcBef>
                <a:spcPts val="81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10" b="1">
                <a:latin typeface="Arial"/>
                <a:cs typeface="Arial"/>
              </a:rPr>
              <a:t>Addition</a:t>
            </a:r>
            <a:r>
              <a:rPr dirty="0" sz="2800" spc="-15" b="1">
                <a:latin typeface="Arial"/>
                <a:cs typeface="Arial"/>
              </a:rPr>
              <a:t> </a:t>
            </a:r>
            <a:r>
              <a:rPr dirty="0" sz="2800" spc="5">
                <a:latin typeface="Arial MT"/>
                <a:cs typeface="Arial MT"/>
              </a:rPr>
              <a:t>of</a:t>
            </a:r>
            <a:r>
              <a:rPr dirty="0" sz="2800" spc="-5">
                <a:latin typeface="Arial MT"/>
                <a:cs typeface="Arial MT"/>
              </a:rPr>
              <a:t> two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8-bit numbers</a:t>
            </a:r>
            <a:endParaRPr sz="28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5" b="1">
                <a:latin typeface="Arial"/>
                <a:cs typeface="Arial"/>
              </a:rPr>
              <a:t>Subtraction </a:t>
            </a:r>
            <a:r>
              <a:rPr dirty="0" sz="2800" spc="-5">
                <a:latin typeface="Arial MT"/>
                <a:cs typeface="Arial MT"/>
              </a:rPr>
              <a:t>of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two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8-bit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numbers</a:t>
            </a:r>
            <a:endParaRPr sz="28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5" b="1">
                <a:latin typeface="Arial"/>
                <a:cs typeface="Arial"/>
              </a:rPr>
              <a:t>Increment/</a:t>
            </a:r>
            <a:r>
              <a:rPr dirty="0" sz="2800" spc="-10" b="1">
                <a:latin typeface="Arial"/>
                <a:cs typeface="Arial"/>
              </a:rPr>
              <a:t> Decrement</a:t>
            </a:r>
            <a:r>
              <a:rPr dirty="0" sz="2800" spc="25" b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8-bit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number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8175" y="345440"/>
            <a:ext cx="6746875" cy="1000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858519">
              <a:lnSpc>
                <a:spcPct val="100000"/>
              </a:lnSpc>
              <a:spcBef>
                <a:spcPts val="100"/>
              </a:spcBef>
              <a:tabLst>
                <a:tab pos="3171190" algn="l"/>
                <a:tab pos="4407535" algn="l"/>
              </a:tabLst>
            </a:pPr>
            <a:r>
              <a:rPr dirty="0" sz="3200" spc="-5"/>
              <a:t>Example Arithmetic </a:t>
            </a:r>
            <a:r>
              <a:rPr dirty="0" sz="3200"/>
              <a:t> </a:t>
            </a:r>
            <a:r>
              <a:rPr dirty="0" sz="3200" spc="-5"/>
              <a:t>O</a:t>
            </a:r>
            <a:r>
              <a:rPr dirty="0" sz="3200"/>
              <a:t>p</a:t>
            </a:r>
            <a:r>
              <a:rPr dirty="0" sz="3200" spc="5"/>
              <a:t>e</a:t>
            </a:r>
            <a:r>
              <a:rPr dirty="0" sz="3200"/>
              <a:t>r</a:t>
            </a:r>
            <a:r>
              <a:rPr dirty="0" sz="3200" spc="-5"/>
              <a:t>atio</a:t>
            </a:r>
            <a:r>
              <a:rPr dirty="0" sz="3200"/>
              <a:t>ns	/	</a:t>
            </a:r>
            <a:r>
              <a:rPr dirty="0" sz="3200" spc="-5"/>
              <a:t>I</a:t>
            </a:r>
            <a:r>
              <a:rPr dirty="0" sz="3200" spc="-10"/>
              <a:t>n</a:t>
            </a:r>
            <a:r>
              <a:rPr dirty="0" sz="3200" spc="5"/>
              <a:t>s</a:t>
            </a:r>
            <a:r>
              <a:rPr dirty="0" sz="3200"/>
              <a:t>tr</a:t>
            </a:r>
            <a:r>
              <a:rPr dirty="0" sz="3200" spc="-10"/>
              <a:t>u</a:t>
            </a:r>
            <a:r>
              <a:rPr dirty="0" sz="3200" spc="5"/>
              <a:t>c</a:t>
            </a:r>
            <a:r>
              <a:rPr dirty="0" sz="3200"/>
              <a:t>t</a:t>
            </a:r>
            <a:r>
              <a:rPr dirty="0" sz="3200" spc="-10"/>
              <a:t>i</a:t>
            </a:r>
            <a:r>
              <a:rPr dirty="0" sz="3200"/>
              <a:t>ons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93139" y="1634490"/>
            <a:ext cx="4511675" cy="481457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469900" marR="411480" indent="-457200">
              <a:lnSpc>
                <a:spcPct val="100699"/>
              </a:lnSpc>
              <a:spcBef>
                <a:spcPts val="8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400" spc="-5" b="1">
                <a:latin typeface="Arial"/>
                <a:cs typeface="Arial"/>
              </a:rPr>
              <a:t>Add</a:t>
            </a:r>
            <a:r>
              <a:rPr dirty="0" sz="2400" spc="-1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8-bit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number 32H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D50092"/>
                </a:solidFill>
                <a:latin typeface="Arial MT"/>
                <a:cs typeface="Arial MT"/>
              </a:rPr>
              <a:t>A</a:t>
            </a:r>
            <a:r>
              <a:rPr dirty="0" sz="2400" spc="-5">
                <a:latin typeface="Arial MT"/>
                <a:cs typeface="Arial MT"/>
              </a:rPr>
              <a:t>ccumulator</a:t>
            </a:r>
            <a:endParaRPr sz="2400">
              <a:latin typeface="Arial MT"/>
              <a:cs typeface="Arial MT"/>
            </a:endParaRPr>
          </a:p>
          <a:p>
            <a:pPr marL="469900" marR="17780" indent="-457200">
              <a:lnSpc>
                <a:spcPct val="100000"/>
              </a:lnSpc>
              <a:spcBef>
                <a:spcPts val="61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400" spc="-5" b="1">
                <a:latin typeface="Arial"/>
                <a:cs typeface="Arial"/>
              </a:rPr>
              <a:t>Add </a:t>
            </a:r>
            <a:r>
              <a:rPr dirty="0" sz="2400" spc="-5">
                <a:latin typeface="Arial MT"/>
                <a:cs typeface="Arial MT"/>
              </a:rPr>
              <a:t>contents of Register </a:t>
            </a:r>
            <a:r>
              <a:rPr dirty="0" sz="2400">
                <a:solidFill>
                  <a:srgbClr val="D50092"/>
                </a:solidFill>
                <a:latin typeface="Arial MT"/>
                <a:cs typeface="Arial MT"/>
              </a:rPr>
              <a:t>B </a:t>
            </a:r>
            <a:r>
              <a:rPr dirty="0" sz="2400">
                <a:latin typeface="Arial MT"/>
                <a:cs typeface="Arial MT"/>
              </a:rPr>
              <a:t>to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D50092"/>
                </a:solidFill>
                <a:latin typeface="Arial MT"/>
                <a:cs typeface="Arial MT"/>
              </a:rPr>
              <a:t>A</a:t>
            </a:r>
            <a:r>
              <a:rPr dirty="0" sz="2400" spc="-5">
                <a:latin typeface="Arial MT"/>
                <a:cs typeface="Arial MT"/>
              </a:rPr>
              <a:t>ccumulator</a:t>
            </a:r>
            <a:endParaRPr sz="2400">
              <a:latin typeface="Arial MT"/>
              <a:cs typeface="Arial MT"/>
            </a:endParaRPr>
          </a:p>
          <a:p>
            <a:pPr marL="469900" marR="106045" indent="-457200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400" spc="-5" b="1">
                <a:latin typeface="Arial"/>
                <a:cs typeface="Arial"/>
              </a:rPr>
              <a:t>Subtract </a:t>
            </a:r>
            <a:r>
              <a:rPr dirty="0" sz="2400">
                <a:latin typeface="Arial MT"/>
                <a:cs typeface="Arial MT"/>
              </a:rPr>
              <a:t>a </a:t>
            </a:r>
            <a:r>
              <a:rPr dirty="0" sz="2400" spc="-5">
                <a:latin typeface="Arial MT"/>
                <a:cs typeface="Arial MT"/>
              </a:rPr>
              <a:t>8-bit </a:t>
            </a:r>
            <a:r>
              <a:rPr dirty="0" sz="2400" spc="-10">
                <a:latin typeface="Arial MT"/>
                <a:cs typeface="Arial MT"/>
              </a:rPr>
              <a:t>number </a:t>
            </a:r>
            <a:r>
              <a:rPr dirty="0" sz="2400" spc="-5">
                <a:latin typeface="Arial MT"/>
                <a:cs typeface="Arial MT"/>
              </a:rPr>
              <a:t>32H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from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D50092"/>
                </a:solidFill>
                <a:latin typeface="Arial MT"/>
                <a:cs typeface="Arial MT"/>
              </a:rPr>
              <a:t>A</a:t>
            </a:r>
            <a:r>
              <a:rPr dirty="0" sz="2400" spc="-5">
                <a:latin typeface="Arial MT"/>
                <a:cs typeface="Arial MT"/>
              </a:rPr>
              <a:t>ccumulator</a:t>
            </a:r>
            <a:endParaRPr sz="2400">
              <a:latin typeface="Arial MT"/>
              <a:cs typeface="Arial MT"/>
            </a:endParaRPr>
          </a:p>
          <a:p>
            <a:pPr marL="469900" marR="5080" indent="-457200">
              <a:lnSpc>
                <a:spcPct val="100699"/>
              </a:lnSpc>
              <a:spcBef>
                <a:spcPts val="6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400" spc="-5" b="1">
                <a:latin typeface="Arial"/>
                <a:cs typeface="Arial"/>
              </a:rPr>
              <a:t>Subtract </a:t>
            </a:r>
            <a:r>
              <a:rPr dirty="0" sz="2400" spc="-5">
                <a:latin typeface="Arial MT"/>
                <a:cs typeface="Arial MT"/>
              </a:rPr>
              <a:t>contents of Register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D50092"/>
                </a:solidFill>
                <a:latin typeface="Arial MT"/>
                <a:cs typeface="Arial MT"/>
              </a:rPr>
              <a:t>C</a:t>
            </a:r>
            <a:r>
              <a:rPr dirty="0" sz="2400" spc="-10">
                <a:solidFill>
                  <a:srgbClr val="D50092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from</a:t>
            </a:r>
            <a:r>
              <a:rPr dirty="0" sz="2400" spc="15"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D50092"/>
                </a:solidFill>
                <a:latin typeface="Arial MT"/>
                <a:cs typeface="Arial MT"/>
              </a:rPr>
              <a:t>A</a:t>
            </a:r>
            <a:r>
              <a:rPr dirty="0" sz="2400" spc="-5">
                <a:latin typeface="Arial MT"/>
                <a:cs typeface="Arial MT"/>
              </a:rPr>
              <a:t>ccumulator</a:t>
            </a:r>
            <a:endParaRPr sz="2400">
              <a:latin typeface="Arial MT"/>
              <a:cs typeface="Arial MT"/>
            </a:endParaRPr>
          </a:p>
          <a:p>
            <a:pPr marL="469900" marR="494030" indent="-457200">
              <a:lnSpc>
                <a:spcPct val="100299"/>
              </a:lnSpc>
              <a:spcBef>
                <a:spcPts val="6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400" spc="-5" b="1">
                <a:latin typeface="Arial"/>
                <a:cs typeface="Arial"/>
              </a:rPr>
              <a:t>Increment</a:t>
            </a:r>
            <a:r>
              <a:rPr dirty="0" sz="2400" spc="-2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contents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 </a:t>
            </a:r>
            <a:r>
              <a:rPr dirty="0" sz="2400" spc="-65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Register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D50092"/>
                </a:solidFill>
                <a:latin typeface="Arial MT"/>
                <a:cs typeface="Arial MT"/>
              </a:rPr>
              <a:t>D</a:t>
            </a:r>
            <a:r>
              <a:rPr dirty="0" sz="2400" spc="-5">
                <a:solidFill>
                  <a:srgbClr val="D50092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by</a:t>
            </a:r>
            <a:r>
              <a:rPr dirty="0" sz="2400">
                <a:latin typeface="Arial MT"/>
                <a:cs typeface="Arial MT"/>
              </a:rPr>
              <a:t> 1</a:t>
            </a:r>
            <a:endParaRPr sz="2400">
              <a:latin typeface="Arial MT"/>
              <a:cs typeface="Arial MT"/>
            </a:endParaRPr>
          </a:p>
          <a:p>
            <a:pPr marL="469900" marR="377190" indent="-457200">
              <a:lnSpc>
                <a:spcPct val="100699"/>
              </a:lnSpc>
              <a:spcBef>
                <a:spcPts val="59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400" spc="-10" b="1">
                <a:latin typeface="Arial"/>
                <a:cs typeface="Arial"/>
              </a:rPr>
              <a:t>Decrement </a:t>
            </a:r>
            <a:r>
              <a:rPr dirty="0" sz="2400" spc="-5">
                <a:latin typeface="Arial MT"/>
                <a:cs typeface="Arial MT"/>
              </a:rPr>
              <a:t>the contents of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Register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D50092"/>
                </a:solidFill>
                <a:latin typeface="Arial MT"/>
                <a:cs typeface="Arial MT"/>
              </a:rPr>
              <a:t>E</a:t>
            </a:r>
            <a:r>
              <a:rPr dirty="0" sz="2400" spc="-10">
                <a:solidFill>
                  <a:srgbClr val="D50092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by </a:t>
            </a:r>
            <a:r>
              <a:rPr dirty="0" sz="240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60540" y="1634490"/>
            <a:ext cx="11925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333398"/>
                </a:solidFill>
                <a:latin typeface="Arial"/>
                <a:cs typeface="Arial"/>
              </a:rPr>
              <a:t>ADI</a:t>
            </a:r>
            <a:r>
              <a:rPr dirty="0" sz="2400" spc="-60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32H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0540" y="2514600"/>
            <a:ext cx="9899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333398"/>
                </a:solidFill>
                <a:latin typeface="Arial"/>
                <a:cs typeface="Arial"/>
              </a:rPr>
              <a:t>ADD</a:t>
            </a:r>
            <a:r>
              <a:rPr dirty="0" sz="2400" spc="-75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D50092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60540" y="3327400"/>
            <a:ext cx="11760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333398"/>
                </a:solidFill>
                <a:latin typeface="Arial"/>
                <a:cs typeface="Arial"/>
              </a:rPr>
              <a:t>SUI</a:t>
            </a:r>
            <a:r>
              <a:rPr dirty="0" sz="2400" spc="-60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32H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60540" y="4140200"/>
            <a:ext cx="9721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333398"/>
                </a:solidFill>
                <a:latin typeface="Arial"/>
                <a:cs typeface="Arial"/>
              </a:rPr>
              <a:t>SUB</a:t>
            </a:r>
            <a:r>
              <a:rPr dirty="0" sz="2400" spc="-80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D50092"/>
                </a:solidFill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60540" y="4921250"/>
            <a:ext cx="85534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333398"/>
                </a:solidFill>
                <a:latin typeface="Arial"/>
                <a:cs typeface="Arial"/>
              </a:rPr>
              <a:t>INR</a:t>
            </a:r>
            <a:r>
              <a:rPr dirty="0" sz="2400" spc="-80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D50092"/>
                </a:solidFill>
                <a:latin typeface="Arial"/>
                <a:cs typeface="Arial"/>
              </a:rPr>
              <a:t>D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60540" y="5684520"/>
            <a:ext cx="9734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333398"/>
                </a:solidFill>
                <a:latin typeface="Arial"/>
                <a:cs typeface="Arial"/>
              </a:rPr>
              <a:t>DCR</a:t>
            </a:r>
            <a:r>
              <a:rPr dirty="0" sz="2400" spc="-75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D50092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24600" y="1676400"/>
            <a:ext cx="0" cy="4724400"/>
          </a:xfrm>
          <a:custGeom>
            <a:avLst/>
            <a:gdLst/>
            <a:ahLst/>
            <a:cxnLst/>
            <a:rect l="l" t="t" r="r" b="b"/>
            <a:pathLst>
              <a:path w="0" h="4724400">
                <a:moveTo>
                  <a:pt x="0" y="0"/>
                </a:moveTo>
                <a:lnTo>
                  <a:pt x="0" y="4724400"/>
                </a:lnTo>
              </a:path>
            </a:pathLst>
          </a:custGeom>
          <a:ln w="3809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274320"/>
            <a:ext cx="8534400" cy="1143000"/>
          </a:xfrm>
          <a:custGeom>
            <a:avLst/>
            <a:gdLst/>
            <a:ahLst/>
            <a:cxnLst/>
            <a:rect l="l" t="t" r="r" b="b"/>
            <a:pathLst>
              <a:path w="8534400" h="1143000">
                <a:moveTo>
                  <a:pt x="8534400" y="0"/>
                </a:moveTo>
                <a:lnTo>
                  <a:pt x="0" y="0"/>
                </a:lnTo>
                <a:lnTo>
                  <a:pt x="0" y="1143000"/>
                </a:lnTo>
                <a:lnTo>
                  <a:pt x="4267200" y="1143000"/>
                </a:lnTo>
                <a:lnTo>
                  <a:pt x="8534400" y="1143000"/>
                </a:lnTo>
                <a:lnTo>
                  <a:pt x="85344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4620" rIns="0" bIns="0" rtlCol="0" vert="horz">
            <a:spAutoFit/>
          </a:bodyPr>
          <a:lstStyle/>
          <a:p>
            <a:pPr marL="2586355" marR="5080" indent="-1960880">
              <a:lnSpc>
                <a:spcPct val="100000"/>
              </a:lnSpc>
              <a:spcBef>
                <a:spcPts val="100"/>
              </a:spcBef>
            </a:pPr>
            <a:r>
              <a:rPr dirty="0" sz="4000" spc="-5" b="0">
                <a:latin typeface="Arial MT"/>
                <a:cs typeface="Arial MT"/>
              </a:rPr>
              <a:t>3.</a:t>
            </a:r>
            <a:r>
              <a:rPr dirty="0" sz="4000" spc="-25" b="0">
                <a:latin typeface="Arial MT"/>
                <a:cs typeface="Arial MT"/>
              </a:rPr>
              <a:t> </a:t>
            </a:r>
            <a:r>
              <a:rPr dirty="0" sz="4000" spc="-5" b="0">
                <a:latin typeface="Arial MT"/>
                <a:cs typeface="Arial MT"/>
              </a:rPr>
              <a:t>Logical</a:t>
            </a:r>
            <a:r>
              <a:rPr dirty="0" sz="4000" spc="-20" b="0">
                <a:latin typeface="Arial MT"/>
                <a:cs typeface="Arial MT"/>
              </a:rPr>
              <a:t> </a:t>
            </a:r>
            <a:r>
              <a:rPr dirty="0" sz="4000" b="0">
                <a:latin typeface="Arial MT"/>
                <a:cs typeface="Arial MT"/>
              </a:rPr>
              <a:t>&amp;</a:t>
            </a:r>
            <a:r>
              <a:rPr dirty="0" sz="4000" spc="-30" b="0">
                <a:latin typeface="Arial MT"/>
                <a:cs typeface="Arial MT"/>
              </a:rPr>
              <a:t> </a:t>
            </a:r>
            <a:r>
              <a:rPr dirty="0" sz="4000" spc="-5" b="0">
                <a:latin typeface="Arial MT"/>
                <a:cs typeface="Arial MT"/>
              </a:rPr>
              <a:t>Bit</a:t>
            </a:r>
            <a:r>
              <a:rPr dirty="0" sz="4000" spc="-20" b="0">
                <a:latin typeface="Arial MT"/>
                <a:cs typeface="Arial MT"/>
              </a:rPr>
              <a:t> </a:t>
            </a:r>
            <a:r>
              <a:rPr dirty="0" sz="4000" spc="-5" b="0">
                <a:latin typeface="Arial MT"/>
                <a:cs typeface="Arial MT"/>
              </a:rPr>
              <a:t>Manipulation </a:t>
            </a:r>
            <a:r>
              <a:rPr dirty="0" sz="4000" spc="-1095" b="0">
                <a:latin typeface="Arial MT"/>
                <a:cs typeface="Arial MT"/>
              </a:rPr>
              <a:t> </a:t>
            </a:r>
            <a:r>
              <a:rPr dirty="0" sz="4000" spc="-10" b="0">
                <a:latin typeface="Arial MT"/>
                <a:cs typeface="Arial MT"/>
              </a:rPr>
              <a:t>Operations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1544320"/>
            <a:ext cx="5993130" cy="312547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546100" indent="-533400">
              <a:lnSpc>
                <a:spcPct val="100000"/>
              </a:lnSpc>
              <a:spcBef>
                <a:spcPts val="81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10" b="1">
                <a:latin typeface="Arial"/>
                <a:cs typeface="Arial"/>
              </a:rPr>
              <a:t>AND</a:t>
            </a:r>
            <a:r>
              <a:rPr dirty="0" sz="2800" spc="-20" b="1">
                <a:latin typeface="Arial"/>
                <a:cs typeface="Arial"/>
              </a:rPr>
              <a:t> </a:t>
            </a:r>
            <a:r>
              <a:rPr dirty="0" sz="2800" spc="-5">
                <a:latin typeface="Arial MT"/>
                <a:cs typeface="Arial MT"/>
              </a:rPr>
              <a:t>two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8-bit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numbers</a:t>
            </a:r>
            <a:endParaRPr sz="28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5" b="1">
                <a:latin typeface="Arial"/>
                <a:cs typeface="Arial"/>
              </a:rPr>
              <a:t>OR</a:t>
            </a:r>
            <a:r>
              <a:rPr dirty="0" sz="2800" spc="-35" b="1">
                <a:latin typeface="Arial"/>
                <a:cs typeface="Arial"/>
              </a:rPr>
              <a:t> </a:t>
            </a:r>
            <a:r>
              <a:rPr dirty="0" sz="2800" spc="-5">
                <a:latin typeface="Arial MT"/>
                <a:cs typeface="Arial MT"/>
              </a:rPr>
              <a:t>two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8-bit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numbers</a:t>
            </a:r>
            <a:endParaRPr sz="28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5" b="1">
                <a:latin typeface="Arial"/>
                <a:cs typeface="Arial"/>
              </a:rPr>
              <a:t>Exclusive-OR </a:t>
            </a:r>
            <a:r>
              <a:rPr dirty="0" sz="2800" spc="-5">
                <a:latin typeface="Arial MT"/>
                <a:cs typeface="Arial MT"/>
              </a:rPr>
              <a:t>two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8-bit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numbers</a:t>
            </a:r>
            <a:endParaRPr sz="28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10" b="1">
                <a:latin typeface="Arial"/>
                <a:cs typeface="Arial"/>
              </a:rPr>
              <a:t>Compare</a:t>
            </a:r>
            <a:r>
              <a:rPr dirty="0" sz="2800" spc="5" b="1">
                <a:latin typeface="Arial"/>
                <a:cs typeface="Arial"/>
              </a:rPr>
              <a:t> </a:t>
            </a:r>
            <a:r>
              <a:rPr dirty="0" sz="2800" spc="-5">
                <a:latin typeface="Arial MT"/>
                <a:cs typeface="Arial MT"/>
              </a:rPr>
              <a:t>two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8-bit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numbers</a:t>
            </a:r>
            <a:endParaRPr sz="28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10" b="1">
                <a:latin typeface="Arial"/>
                <a:cs typeface="Arial"/>
              </a:rPr>
              <a:t>Complement</a:t>
            </a:r>
            <a:endParaRPr sz="28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5" b="1">
                <a:latin typeface="Arial"/>
                <a:cs typeface="Arial"/>
              </a:rPr>
              <a:t>Rotate</a:t>
            </a:r>
            <a:r>
              <a:rPr dirty="0" sz="2800" b="1">
                <a:latin typeface="Arial"/>
                <a:cs typeface="Arial"/>
              </a:rPr>
              <a:t> </a:t>
            </a:r>
            <a:r>
              <a:rPr dirty="0" sz="2800" spc="-5">
                <a:latin typeface="Arial MT"/>
                <a:cs typeface="Arial MT"/>
              </a:rPr>
              <a:t>Left/Right</a:t>
            </a:r>
            <a:r>
              <a:rPr dirty="0" sz="2800" spc="-16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Accumulator bits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1250" y="345440"/>
            <a:ext cx="7443470" cy="1000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9295" marR="5080" indent="-697230">
              <a:lnSpc>
                <a:spcPct val="100000"/>
              </a:lnSpc>
              <a:spcBef>
                <a:spcPts val="100"/>
              </a:spcBef>
              <a:tabLst>
                <a:tab pos="3867785" algn="l"/>
                <a:tab pos="5104130" algn="l"/>
              </a:tabLst>
            </a:pPr>
            <a:r>
              <a:rPr dirty="0" sz="3200" spc="-5"/>
              <a:t>Example Logical </a:t>
            </a:r>
            <a:r>
              <a:rPr dirty="0" sz="3200"/>
              <a:t>&amp; </a:t>
            </a:r>
            <a:r>
              <a:rPr dirty="0" sz="3200" spc="-5"/>
              <a:t>Bit Manipulation </a:t>
            </a:r>
            <a:r>
              <a:rPr dirty="0" sz="3200"/>
              <a:t> </a:t>
            </a:r>
            <a:r>
              <a:rPr dirty="0" sz="3200" spc="-5"/>
              <a:t>O</a:t>
            </a:r>
            <a:r>
              <a:rPr dirty="0" sz="3200"/>
              <a:t>p</a:t>
            </a:r>
            <a:r>
              <a:rPr dirty="0" sz="3200" spc="5"/>
              <a:t>e</a:t>
            </a:r>
            <a:r>
              <a:rPr dirty="0" sz="3200"/>
              <a:t>r</a:t>
            </a:r>
            <a:r>
              <a:rPr dirty="0" sz="3200" spc="-5"/>
              <a:t>atio</a:t>
            </a:r>
            <a:r>
              <a:rPr dirty="0" sz="3200"/>
              <a:t>ns	/	</a:t>
            </a:r>
            <a:r>
              <a:rPr dirty="0" sz="3200" spc="-5"/>
              <a:t>I</a:t>
            </a:r>
            <a:r>
              <a:rPr dirty="0" sz="3200" spc="-10"/>
              <a:t>n</a:t>
            </a:r>
            <a:r>
              <a:rPr dirty="0" sz="3200" spc="5"/>
              <a:t>s</a:t>
            </a:r>
            <a:r>
              <a:rPr dirty="0" sz="3200"/>
              <a:t>tr</a:t>
            </a:r>
            <a:r>
              <a:rPr dirty="0" sz="3200" spc="-10"/>
              <a:t>u</a:t>
            </a:r>
            <a:r>
              <a:rPr dirty="0" sz="3200" spc="5"/>
              <a:t>c</a:t>
            </a:r>
            <a:r>
              <a:rPr dirty="0" sz="3200"/>
              <a:t>t</a:t>
            </a:r>
            <a:r>
              <a:rPr dirty="0" sz="3200" spc="-10"/>
              <a:t>i</a:t>
            </a:r>
            <a:r>
              <a:rPr dirty="0" sz="3200"/>
              <a:t>ons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93139" y="1635759"/>
            <a:ext cx="4657725" cy="4419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69900" marR="426720" indent="-457200">
              <a:lnSpc>
                <a:spcPct val="100299"/>
              </a:lnSpc>
              <a:spcBef>
                <a:spcPts val="9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600" spc="-5">
                <a:latin typeface="Arial MT"/>
                <a:cs typeface="Arial MT"/>
              </a:rPr>
              <a:t>Logically </a:t>
            </a:r>
            <a:r>
              <a:rPr dirty="0" sz="2600" b="1">
                <a:latin typeface="Arial"/>
                <a:cs typeface="Arial"/>
              </a:rPr>
              <a:t>AND </a:t>
            </a:r>
            <a:r>
              <a:rPr dirty="0" sz="2600">
                <a:latin typeface="Arial MT"/>
                <a:cs typeface="Arial MT"/>
              </a:rPr>
              <a:t>Register </a:t>
            </a:r>
            <a:r>
              <a:rPr dirty="0" sz="2600">
                <a:solidFill>
                  <a:srgbClr val="D50092"/>
                </a:solidFill>
                <a:latin typeface="Arial MT"/>
                <a:cs typeface="Arial MT"/>
              </a:rPr>
              <a:t>H </a:t>
            </a:r>
            <a:r>
              <a:rPr dirty="0" sz="2600" spc="-710">
                <a:solidFill>
                  <a:srgbClr val="D50092"/>
                </a:solidFill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with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D50092"/>
                </a:solidFill>
                <a:latin typeface="Arial MT"/>
                <a:cs typeface="Arial MT"/>
              </a:rPr>
              <a:t>A</a:t>
            </a:r>
            <a:r>
              <a:rPr dirty="0" sz="2600">
                <a:latin typeface="Arial MT"/>
                <a:cs typeface="Arial MT"/>
              </a:rPr>
              <a:t>ccumulator</a:t>
            </a:r>
            <a:endParaRPr sz="2600">
              <a:latin typeface="Arial MT"/>
              <a:cs typeface="Arial MT"/>
            </a:endParaRPr>
          </a:p>
          <a:p>
            <a:pPr marL="469900" marR="23495" indent="-457200">
              <a:lnSpc>
                <a:spcPct val="100600"/>
              </a:lnSpc>
              <a:spcBef>
                <a:spcPts val="65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600" spc="-5">
                <a:latin typeface="Arial MT"/>
                <a:cs typeface="Arial MT"/>
              </a:rPr>
              <a:t>Logically </a:t>
            </a:r>
            <a:r>
              <a:rPr dirty="0" sz="2600" b="1">
                <a:latin typeface="Arial"/>
                <a:cs typeface="Arial"/>
              </a:rPr>
              <a:t>OR </a:t>
            </a:r>
            <a:r>
              <a:rPr dirty="0" sz="2600">
                <a:latin typeface="Arial MT"/>
                <a:cs typeface="Arial MT"/>
              </a:rPr>
              <a:t>Register </a:t>
            </a:r>
            <a:r>
              <a:rPr dirty="0" sz="2600">
                <a:solidFill>
                  <a:srgbClr val="D50092"/>
                </a:solidFill>
                <a:latin typeface="Arial MT"/>
                <a:cs typeface="Arial MT"/>
              </a:rPr>
              <a:t>L </a:t>
            </a:r>
            <a:r>
              <a:rPr dirty="0" sz="2600" spc="-5">
                <a:latin typeface="Arial MT"/>
                <a:cs typeface="Arial MT"/>
              </a:rPr>
              <a:t>with </a:t>
            </a:r>
            <a:r>
              <a:rPr dirty="0" sz="2600" spc="-710"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D50092"/>
                </a:solidFill>
                <a:latin typeface="Arial MT"/>
                <a:cs typeface="Arial MT"/>
              </a:rPr>
              <a:t>A</a:t>
            </a:r>
            <a:r>
              <a:rPr dirty="0" sz="2600">
                <a:latin typeface="Arial MT"/>
                <a:cs typeface="Arial MT"/>
              </a:rPr>
              <a:t>ccumulator</a:t>
            </a:r>
            <a:endParaRPr sz="2600">
              <a:latin typeface="Arial MT"/>
              <a:cs typeface="Arial MT"/>
            </a:endParaRPr>
          </a:p>
          <a:p>
            <a:pPr marL="469900" marR="445134" indent="-457200">
              <a:lnSpc>
                <a:spcPct val="100299"/>
              </a:lnSpc>
              <a:spcBef>
                <a:spcPts val="66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600" spc="-5">
                <a:latin typeface="Arial MT"/>
                <a:cs typeface="Arial MT"/>
              </a:rPr>
              <a:t>Logically </a:t>
            </a:r>
            <a:r>
              <a:rPr dirty="0" sz="2600" b="1">
                <a:latin typeface="Arial"/>
                <a:cs typeface="Arial"/>
              </a:rPr>
              <a:t>XOR </a:t>
            </a:r>
            <a:r>
              <a:rPr dirty="0" sz="2600">
                <a:latin typeface="Arial MT"/>
                <a:cs typeface="Arial MT"/>
              </a:rPr>
              <a:t>Register </a:t>
            </a:r>
            <a:r>
              <a:rPr dirty="0" sz="2600">
                <a:solidFill>
                  <a:srgbClr val="D50092"/>
                </a:solidFill>
                <a:latin typeface="Arial MT"/>
                <a:cs typeface="Arial MT"/>
              </a:rPr>
              <a:t>B </a:t>
            </a:r>
            <a:r>
              <a:rPr dirty="0" sz="2600" spc="-710">
                <a:solidFill>
                  <a:srgbClr val="D50092"/>
                </a:solidFill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with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D50092"/>
                </a:solidFill>
                <a:latin typeface="Arial MT"/>
                <a:cs typeface="Arial MT"/>
              </a:rPr>
              <a:t>A</a:t>
            </a:r>
            <a:r>
              <a:rPr dirty="0" sz="2600">
                <a:latin typeface="Arial MT"/>
                <a:cs typeface="Arial MT"/>
              </a:rPr>
              <a:t>ccumulator</a:t>
            </a:r>
            <a:endParaRPr sz="2600">
              <a:latin typeface="Arial MT"/>
              <a:cs typeface="Arial MT"/>
            </a:endParaRPr>
          </a:p>
          <a:p>
            <a:pPr marL="469900" marR="5080" indent="-457200">
              <a:lnSpc>
                <a:spcPct val="100600"/>
              </a:lnSpc>
              <a:spcBef>
                <a:spcPts val="65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600" b="1">
                <a:latin typeface="Arial"/>
                <a:cs typeface="Arial"/>
              </a:rPr>
              <a:t>Compare </a:t>
            </a:r>
            <a:r>
              <a:rPr dirty="0" sz="2600">
                <a:latin typeface="Arial MT"/>
                <a:cs typeface="Arial MT"/>
              </a:rPr>
              <a:t>contents of </a:t>
            </a:r>
            <a:r>
              <a:rPr dirty="0" sz="2600" spc="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Register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D50092"/>
                </a:solidFill>
                <a:latin typeface="Arial MT"/>
                <a:cs typeface="Arial MT"/>
              </a:rPr>
              <a:t>C</a:t>
            </a:r>
            <a:r>
              <a:rPr dirty="0" sz="2600" spc="-25">
                <a:solidFill>
                  <a:srgbClr val="D50092"/>
                </a:solidFill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with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D50092"/>
                </a:solidFill>
                <a:latin typeface="Arial MT"/>
                <a:cs typeface="Arial MT"/>
              </a:rPr>
              <a:t>A</a:t>
            </a:r>
            <a:r>
              <a:rPr dirty="0" sz="2600">
                <a:latin typeface="Arial MT"/>
                <a:cs typeface="Arial MT"/>
              </a:rPr>
              <a:t>ccumulator</a:t>
            </a:r>
            <a:endParaRPr sz="26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600" b="1">
                <a:latin typeface="Arial"/>
                <a:cs typeface="Arial"/>
              </a:rPr>
              <a:t>Complement</a:t>
            </a:r>
            <a:r>
              <a:rPr dirty="0" sz="2600" spc="-30" b="1"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D50092"/>
                </a:solidFill>
                <a:latin typeface="Arial MT"/>
                <a:cs typeface="Arial MT"/>
              </a:rPr>
              <a:t>A</a:t>
            </a:r>
            <a:r>
              <a:rPr dirty="0" sz="2600">
                <a:latin typeface="Arial MT"/>
                <a:cs typeface="Arial MT"/>
              </a:rPr>
              <a:t>ccumulator</a:t>
            </a:r>
            <a:endParaRPr sz="26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600" b="1">
                <a:latin typeface="Arial"/>
                <a:cs typeface="Arial"/>
              </a:rPr>
              <a:t>Rotate</a:t>
            </a:r>
            <a:r>
              <a:rPr dirty="0" sz="2600" spc="-25" b="1"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D50092"/>
                </a:solidFill>
                <a:latin typeface="Arial MT"/>
                <a:cs typeface="Arial MT"/>
              </a:rPr>
              <a:t>A</a:t>
            </a:r>
            <a:r>
              <a:rPr dirty="0" sz="2600">
                <a:latin typeface="Arial MT"/>
                <a:cs typeface="Arial MT"/>
              </a:rPr>
              <a:t>ccumulator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Left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60540" y="1634490"/>
            <a:ext cx="9899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333398"/>
                </a:solidFill>
                <a:latin typeface="Arial"/>
                <a:cs typeface="Arial"/>
              </a:rPr>
              <a:t>ANA</a:t>
            </a:r>
            <a:r>
              <a:rPr dirty="0" sz="2400" spc="-75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D50092"/>
                </a:solidFill>
                <a:latin typeface="Arial"/>
                <a:cs typeface="Arial"/>
              </a:rPr>
              <a:t>H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0540" y="2583179"/>
            <a:ext cx="9740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333398"/>
                </a:solidFill>
                <a:latin typeface="Arial"/>
                <a:cs typeface="Arial"/>
              </a:rPr>
              <a:t>ORA</a:t>
            </a:r>
            <a:r>
              <a:rPr dirty="0" sz="2400" spc="-80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D50092"/>
                </a:solidFill>
                <a:latin typeface="Arial"/>
                <a:cs typeface="Arial"/>
              </a:rPr>
              <a:t>L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60540" y="3464559"/>
            <a:ext cx="9607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" b="1">
                <a:solidFill>
                  <a:srgbClr val="333398"/>
                </a:solidFill>
                <a:latin typeface="Arial"/>
                <a:cs typeface="Arial"/>
              </a:rPr>
              <a:t>X</a:t>
            </a:r>
            <a:r>
              <a:rPr dirty="0" sz="2400" spc="-5" b="1">
                <a:solidFill>
                  <a:srgbClr val="333398"/>
                </a:solidFill>
                <a:latin typeface="Arial"/>
                <a:cs typeface="Arial"/>
              </a:rPr>
              <a:t>R</a:t>
            </a:r>
            <a:r>
              <a:rPr dirty="0" sz="2400" b="1">
                <a:solidFill>
                  <a:srgbClr val="333398"/>
                </a:solidFill>
                <a:latin typeface="Arial"/>
                <a:cs typeface="Arial"/>
              </a:rPr>
              <a:t>A</a:t>
            </a:r>
            <a:r>
              <a:rPr dirty="0" sz="2400" spc="-90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D50092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60540" y="4344670"/>
            <a:ext cx="100139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333398"/>
                </a:solidFill>
                <a:latin typeface="Arial"/>
                <a:cs typeface="Arial"/>
              </a:rPr>
              <a:t>CMP</a:t>
            </a:r>
            <a:r>
              <a:rPr dirty="0" sz="2400" spc="-130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D50092"/>
                </a:solidFill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60540" y="5118100"/>
            <a:ext cx="719455" cy="9728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95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333398"/>
                </a:solidFill>
                <a:latin typeface="Arial"/>
                <a:cs typeface="Arial"/>
              </a:rPr>
              <a:t>C</a:t>
            </a:r>
            <a:r>
              <a:rPr dirty="0" sz="2400" b="1">
                <a:solidFill>
                  <a:srgbClr val="333398"/>
                </a:solidFill>
                <a:latin typeface="Arial"/>
                <a:cs typeface="Arial"/>
              </a:rPr>
              <a:t>MA  </a:t>
            </a:r>
            <a:r>
              <a:rPr dirty="0" sz="2400" spc="-10" b="1">
                <a:solidFill>
                  <a:srgbClr val="333398"/>
                </a:solidFill>
                <a:latin typeface="Arial"/>
                <a:cs typeface="Arial"/>
              </a:rPr>
              <a:t>RAL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24600" y="1676400"/>
            <a:ext cx="0" cy="4724400"/>
          </a:xfrm>
          <a:custGeom>
            <a:avLst/>
            <a:gdLst/>
            <a:ahLst/>
            <a:cxnLst/>
            <a:rect l="l" t="t" r="r" b="b"/>
            <a:pathLst>
              <a:path w="0" h="4724400">
                <a:moveTo>
                  <a:pt x="0" y="0"/>
                </a:moveTo>
                <a:lnTo>
                  <a:pt x="0" y="4724400"/>
                </a:lnTo>
              </a:path>
            </a:pathLst>
          </a:custGeom>
          <a:ln w="3809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274320"/>
            <a:ext cx="8534400" cy="1143000"/>
          </a:xfrm>
          <a:custGeom>
            <a:avLst/>
            <a:gdLst/>
            <a:ahLst/>
            <a:cxnLst/>
            <a:rect l="l" t="t" r="r" b="b"/>
            <a:pathLst>
              <a:path w="8534400" h="1143000">
                <a:moveTo>
                  <a:pt x="8534400" y="0"/>
                </a:moveTo>
                <a:lnTo>
                  <a:pt x="0" y="0"/>
                </a:lnTo>
                <a:lnTo>
                  <a:pt x="0" y="1143000"/>
                </a:lnTo>
                <a:lnTo>
                  <a:pt x="4267200" y="1143000"/>
                </a:lnTo>
                <a:lnTo>
                  <a:pt x="8534400" y="1143000"/>
                </a:lnTo>
                <a:lnTo>
                  <a:pt x="85344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90650" y="497840"/>
            <a:ext cx="604901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 b="0">
                <a:latin typeface="Arial MT"/>
                <a:cs typeface="Arial MT"/>
              </a:rPr>
              <a:t>4.</a:t>
            </a:r>
            <a:r>
              <a:rPr dirty="0" sz="4400" spc="-45" b="0"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Branching</a:t>
            </a:r>
            <a:r>
              <a:rPr dirty="0" sz="4400" spc="-45" b="0"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Operations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9839" y="1634490"/>
            <a:ext cx="714502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" marR="5080" indent="-1778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Arial MT"/>
                <a:cs typeface="Arial MT"/>
              </a:rPr>
              <a:t>These operations </a:t>
            </a:r>
            <a:r>
              <a:rPr dirty="0" sz="2800">
                <a:latin typeface="Arial MT"/>
                <a:cs typeface="Arial MT"/>
              </a:rPr>
              <a:t>are </a:t>
            </a:r>
            <a:r>
              <a:rPr dirty="0" sz="2800" spc="-5">
                <a:latin typeface="Arial MT"/>
                <a:cs typeface="Arial MT"/>
              </a:rPr>
              <a:t>used </a:t>
            </a:r>
            <a:r>
              <a:rPr dirty="0" sz="2800">
                <a:latin typeface="Arial MT"/>
                <a:cs typeface="Arial MT"/>
              </a:rPr>
              <a:t>to control </a:t>
            </a:r>
            <a:r>
              <a:rPr dirty="0" sz="2800" spc="-5">
                <a:latin typeface="Arial MT"/>
                <a:cs typeface="Arial MT"/>
              </a:rPr>
              <a:t>the flow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of program execution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800" spc="-5" b="1">
                <a:latin typeface="Arial"/>
                <a:cs typeface="Arial"/>
              </a:rPr>
              <a:t>1.Jumps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69719" y="2989580"/>
            <a:ext cx="132715" cy="91186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240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240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13939" y="3006089"/>
            <a:ext cx="2763520" cy="911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100"/>
              </a:spcBef>
            </a:pPr>
            <a:r>
              <a:rPr dirty="0" sz="2400" spc="-10">
                <a:latin typeface="Arial MT"/>
                <a:cs typeface="Arial MT"/>
              </a:rPr>
              <a:t>Conditional </a:t>
            </a:r>
            <a:r>
              <a:rPr dirty="0" sz="2400" spc="-5">
                <a:latin typeface="Arial MT"/>
                <a:cs typeface="Arial MT"/>
              </a:rPr>
              <a:t>jumps 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Unconditional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jumps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9839" y="3982720"/>
            <a:ext cx="255333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 b="1">
                <a:latin typeface="Arial"/>
                <a:cs typeface="Arial"/>
              </a:rPr>
              <a:t>2.Call</a:t>
            </a:r>
            <a:r>
              <a:rPr dirty="0" sz="2800" spc="-40" b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&amp;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5" b="1">
                <a:latin typeface="Arial"/>
                <a:cs typeface="Arial"/>
              </a:rPr>
              <a:t>Return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9719" y="4391659"/>
            <a:ext cx="132715" cy="91440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240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3939" y="4409440"/>
            <a:ext cx="3761104" cy="911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100"/>
              </a:spcBef>
            </a:pPr>
            <a:r>
              <a:rPr dirty="0" sz="2400" spc="-10">
                <a:latin typeface="Arial MT"/>
                <a:cs typeface="Arial MT"/>
              </a:rPr>
              <a:t>Conditional Call </a:t>
            </a:r>
            <a:r>
              <a:rPr dirty="0" sz="2400">
                <a:latin typeface="Arial MT"/>
                <a:cs typeface="Arial MT"/>
              </a:rPr>
              <a:t>&amp; </a:t>
            </a:r>
            <a:r>
              <a:rPr dirty="0" sz="2400" spc="-5">
                <a:latin typeface="Arial MT"/>
                <a:cs typeface="Arial MT"/>
              </a:rPr>
              <a:t>Return 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Unconditional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Call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&amp;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Return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9379" y="345440"/>
            <a:ext cx="38207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/>
              <a:t>Example</a:t>
            </a:r>
            <a:r>
              <a:rPr dirty="0" sz="3200" spc="-95"/>
              <a:t> </a:t>
            </a:r>
            <a:r>
              <a:rPr dirty="0" sz="3200"/>
              <a:t>Branching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93139" y="833120"/>
            <a:ext cx="7561580" cy="1192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27405">
              <a:lnSpc>
                <a:spcPct val="100000"/>
              </a:lnSpc>
              <a:spcBef>
                <a:spcPts val="100"/>
              </a:spcBef>
              <a:tabLst>
                <a:tab pos="3985895" algn="l"/>
                <a:tab pos="5222240" algn="l"/>
              </a:tabLst>
            </a:pPr>
            <a:r>
              <a:rPr dirty="0" sz="3200" spc="-5" b="1">
                <a:latin typeface="Arial"/>
                <a:cs typeface="Arial"/>
              </a:rPr>
              <a:t>Operations	</a:t>
            </a:r>
            <a:r>
              <a:rPr dirty="0" sz="3200" b="1">
                <a:latin typeface="Arial"/>
                <a:cs typeface="Arial"/>
              </a:rPr>
              <a:t>/	</a:t>
            </a:r>
            <a:r>
              <a:rPr dirty="0" sz="3200" spc="-5" b="1">
                <a:latin typeface="Arial"/>
                <a:cs typeface="Arial"/>
              </a:rPr>
              <a:t>Instructions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70"/>
              </a:spcBef>
              <a:tabLst>
                <a:tab pos="469265" algn="l"/>
              </a:tabLst>
            </a:pPr>
            <a:r>
              <a:rPr dirty="0" sz="2400" b="1">
                <a:latin typeface="Arial"/>
                <a:cs typeface="Arial"/>
              </a:rPr>
              <a:t>1.	</a:t>
            </a:r>
            <a:r>
              <a:rPr dirty="0" sz="2400" spc="-10" b="1">
                <a:latin typeface="Arial"/>
                <a:cs typeface="Arial"/>
              </a:rPr>
              <a:t>Ju</a:t>
            </a:r>
            <a:r>
              <a:rPr dirty="0" sz="2400" b="1">
                <a:latin typeface="Arial"/>
                <a:cs typeface="Arial"/>
              </a:rPr>
              <a:t>mp</a:t>
            </a:r>
            <a:r>
              <a:rPr dirty="0" sz="2400" spc="1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 </a:t>
            </a:r>
            <a:r>
              <a:rPr dirty="0" sz="2400" spc="-10">
                <a:latin typeface="Arial MT"/>
                <a:cs typeface="Arial MT"/>
              </a:rPr>
              <a:t>16</a:t>
            </a:r>
            <a:r>
              <a:rPr dirty="0" sz="2400">
                <a:latin typeface="Arial MT"/>
                <a:cs typeface="Arial MT"/>
              </a:rPr>
              <a:t>-b</a:t>
            </a:r>
            <a:r>
              <a:rPr dirty="0" sz="2400" spc="-5">
                <a:latin typeface="Arial MT"/>
                <a:cs typeface="Arial MT"/>
              </a:rPr>
              <a:t>i</a:t>
            </a:r>
            <a:r>
              <a:rPr dirty="0" sz="2400">
                <a:latin typeface="Arial MT"/>
                <a:cs typeface="Arial MT"/>
              </a:rPr>
              <a:t>t</a:t>
            </a:r>
            <a:r>
              <a:rPr dirty="0" sz="2400" spc="-15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</a:t>
            </a:r>
            <a:r>
              <a:rPr dirty="0" sz="2400" spc="-10">
                <a:latin typeface="Arial MT"/>
                <a:cs typeface="Arial MT"/>
              </a:rPr>
              <a:t>d</a:t>
            </a:r>
            <a:r>
              <a:rPr dirty="0" sz="2400">
                <a:latin typeface="Arial MT"/>
                <a:cs typeface="Arial MT"/>
              </a:rPr>
              <a:t>dr</a:t>
            </a:r>
            <a:r>
              <a:rPr dirty="0" sz="2400" spc="-5">
                <a:latin typeface="Arial MT"/>
                <a:cs typeface="Arial MT"/>
              </a:rPr>
              <a:t>e</a:t>
            </a:r>
            <a:r>
              <a:rPr dirty="0" sz="2400">
                <a:latin typeface="Arial MT"/>
                <a:cs typeface="Arial MT"/>
              </a:rPr>
              <a:t>ss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1925320"/>
            <a:ext cx="4663440" cy="3421379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710"/>
              </a:spcBef>
            </a:pPr>
            <a:r>
              <a:rPr dirty="0" sz="2400" spc="-10">
                <a:latin typeface="Arial MT"/>
                <a:cs typeface="Arial MT"/>
              </a:rPr>
              <a:t>2080H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if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 b="1">
                <a:latin typeface="Arial"/>
                <a:cs typeface="Arial"/>
              </a:rPr>
              <a:t>C</a:t>
            </a:r>
            <a:r>
              <a:rPr dirty="0" sz="2400" spc="-5">
                <a:latin typeface="Arial MT"/>
                <a:cs typeface="Arial MT"/>
              </a:rPr>
              <a:t>arry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flag is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10" b="1">
                <a:latin typeface="Arial"/>
                <a:cs typeface="Arial"/>
              </a:rPr>
              <a:t>SET</a:t>
            </a:r>
            <a:endParaRPr sz="24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10"/>
              </a:spcBef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2400" spc="-10">
                <a:latin typeface="Arial MT"/>
                <a:cs typeface="Arial MT"/>
              </a:rPr>
              <a:t>Unconditional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 b="1">
                <a:latin typeface="Arial"/>
                <a:cs typeface="Arial"/>
              </a:rPr>
              <a:t>Jump</a:t>
            </a:r>
            <a:endParaRPr sz="2400">
              <a:latin typeface="Arial"/>
              <a:cs typeface="Arial"/>
            </a:endParaRPr>
          </a:p>
          <a:p>
            <a:pPr marL="469900" marR="5080" indent="-457200">
              <a:lnSpc>
                <a:spcPct val="100699"/>
              </a:lnSpc>
              <a:spcBef>
                <a:spcPts val="590"/>
              </a:spcBef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2400" spc="-5" b="1">
                <a:latin typeface="Arial"/>
                <a:cs typeface="Arial"/>
              </a:rPr>
              <a:t>Call </a:t>
            </a:r>
            <a:r>
              <a:rPr dirty="0" sz="2400">
                <a:latin typeface="Arial MT"/>
                <a:cs typeface="Arial MT"/>
              </a:rPr>
              <a:t>a </a:t>
            </a:r>
            <a:r>
              <a:rPr dirty="0" sz="2400" spc="-5">
                <a:latin typeface="Arial MT"/>
                <a:cs typeface="Arial MT"/>
              </a:rPr>
              <a:t>subroutine with its 16-bit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Address</a:t>
            </a:r>
            <a:endParaRPr sz="24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610"/>
              </a:spcBef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2400" spc="-5" b="1">
                <a:latin typeface="Arial"/>
                <a:cs typeface="Arial"/>
              </a:rPr>
              <a:t>Return</a:t>
            </a:r>
            <a:r>
              <a:rPr dirty="0" sz="2400" spc="-15" b="1">
                <a:latin typeface="Arial"/>
                <a:cs typeface="Arial"/>
              </a:rPr>
              <a:t> </a:t>
            </a:r>
            <a:r>
              <a:rPr dirty="0" sz="2400" spc="-5" b="1">
                <a:latin typeface="Arial"/>
                <a:cs typeface="Arial"/>
              </a:rPr>
              <a:t>back</a:t>
            </a:r>
            <a:r>
              <a:rPr dirty="0" sz="2400" spc="-1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the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Call</a:t>
            </a:r>
            <a:endParaRPr sz="2400">
              <a:latin typeface="Arial MT"/>
              <a:cs typeface="Arial MT"/>
            </a:endParaRPr>
          </a:p>
          <a:p>
            <a:pPr marL="469900" marR="5080" indent="-457200">
              <a:lnSpc>
                <a:spcPct val="100000"/>
              </a:lnSpc>
              <a:spcBef>
                <a:spcPts val="610"/>
              </a:spcBef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2400" spc="-5" b="1">
                <a:latin typeface="Arial"/>
                <a:cs typeface="Arial"/>
              </a:rPr>
              <a:t>Call </a:t>
            </a:r>
            <a:r>
              <a:rPr dirty="0" sz="2400">
                <a:latin typeface="Arial MT"/>
                <a:cs typeface="Arial MT"/>
              </a:rPr>
              <a:t>a </a:t>
            </a:r>
            <a:r>
              <a:rPr dirty="0" sz="2400" spc="-5">
                <a:latin typeface="Arial MT"/>
                <a:cs typeface="Arial MT"/>
              </a:rPr>
              <a:t>subroutine with its 16-bit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Address</a:t>
            </a:r>
            <a:r>
              <a:rPr dirty="0" sz="2400" spc="-10">
                <a:latin typeface="Arial MT"/>
                <a:cs typeface="Arial MT"/>
              </a:rPr>
              <a:t> if</a:t>
            </a:r>
            <a:r>
              <a:rPr dirty="0" sz="2400" spc="15">
                <a:latin typeface="Arial MT"/>
                <a:cs typeface="Arial MT"/>
              </a:rPr>
              <a:t> </a:t>
            </a:r>
            <a:r>
              <a:rPr dirty="0" sz="2400" spc="-5" b="1">
                <a:latin typeface="Arial"/>
                <a:cs typeface="Arial"/>
              </a:rPr>
              <a:t>C</a:t>
            </a:r>
            <a:r>
              <a:rPr dirty="0" sz="2400" spc="-5">
                <a:latin typeface="Arial MT"/>
                <a:cs typeface="Arial MT"/>
              </a:rPr>
              <a:t>arry flag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is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10" b="1">
                <a:latin typeface="Arial"/>
                <a:cs typeface="Arial"/>
              </a:rPr>
              <a:t>RESET</a:t>
            </a:r>
            <a:endParaRPr sz="24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30"/>
              </a:spcBef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2400" spc="-5" b="1">
                <a:latin typeface="Arial"/>
                <a:cs typeface="Arial"/>
              </a:rPr>
              <a:t>Return </a:t>
            </a:r>
            <a:r>
              <a:rPr dirty="0" sz="2400" spc="-5">
                <a:latin typeface="Arial MT"/>
                <a:cs typeface="Arial MT"/>
              </a:rPr>
              <a:t>if </a:t>
            </a:r>
            <a:r>
              <a:rPr dirty="0" sz="2400" spc="-5" b="1">
                <a:latin typeface="Arial"/>
                <a:cs typeface="Arial"/>
              </a:rPr>
              <a:t>Z</a:t>
            </a:r>
            <a:r>
              <a:rPr dirty="0" sz="2400" spc="-5">
                <a:latin typeface="Arial MT"/>
                <a:cs typeface="Arial MT"/>
              </a:rPr>
              <a:t>ero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flag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is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10" b="1">
                <a:latin typeface="Arial"/>
                <a:cs typeface="Arial"/>
              </a:rPr>
              <a:t>SET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0540" y="1710690"/>
            <a:ext cx="13957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333398"/>
                </a:solidFill>
                <a:latin typeface="Arial"/>
                <a:cs typeface="Arial"/>
              </a:rPr>
              <a:t>JC</a:t>
            </a:r>
            <a:r>
              <a:rPr dirty="0" sz="2400" spc="-75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2080H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60540" y="2330450"/>
            <a:ext cx="1811020" cy="10109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7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333398"/>
                </a:solidFill>
                <a:latin typeface="Arial"/>
                <a:cs typeface="Arial"/>
              </a:rPr>
              <a:t>JMP </a:t>
            </a:r>
            <a:r>
              <a:rPr dirty="0" sz="2400" spc="-10" b="1">
                <a:latin typeface="Arial"/>
                <a:cs typeface="Arial"/>
              </a:rPr>
              <a:t>2050H </a:t>
            </a:r>
            <a:r>
              <a:rPr dirty="0" sz="2400" spc="-5" b="1"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333398"/>
                </a:solidFill>
                <a:latin typeface="Arial"/>
                <a:cs typeface="Arial"/>
              </a:rPr>
              <a:t>CALL</a:t>
            </a:r>
            <a:r>
              <a:rPr dirty="0" sz="2400" spc="-135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3050H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60540" y="3620769"/>
            <a:ext cx="1665605" cy="97536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400" spc="-10" b="1">
                <a:solidFill>
                  <a:srgbClr val="333398"/>
                </a:solidFill>
                <a:latin typeface="Arial"/>
                <a:cs typeface="Arial"/>
              </a:rPr>
              <a:t>RET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2400" spc="-10" b="1">
                <a:solidFill>
                  <a:srgbClr val="333398"/>
                </a:solidFill>
                <a:latin typeface="Arial"/>
                <a:cs typeface="Arial"/>
              </a:rPr>
              <a:t>CNC</a:t>
            </a:r>
            <a:r>
              <a:rPr dirty="0" sz="2400" spc="-80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333398"/>
                </a:solidFill>
                <a:latin typeface="Arial"/>
                <a:cs typeface="Arial"/>
              </a:rPr>
              <a:t>3050</a:t>
            </a:r>
            <a:r>
              <a:rPr dirty="0" sz="2400" spc="-5" b="1">
                <a:latin typeface="Arial"/>
                <a:cs typeface="Arial"/>
              </a:rPr>
              <a:t>H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60540" y="4968240"/>
            <a:ext cx="431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333398"/>
                </a:solidFill>
                <a:latin typeface="Arial"/>
                <a:cs typeface="Arial"/>
              </a:rPr>
              <a:t>R</a:t>
            </a:r>
            <a:r>
              <a:rPr dirty="0" sz="2400" b="1">
                <a:solidFill>
                  <a:srgbClr val="333398"/>
                </a:solidFill>
                <a:latin typeface="Arial"/>
                <a:cs typeface="Arial"/>
              </a:rPr>
              <a:t>Z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24600" y="1676400"/>
            <a:ext cx="0" cy="4724400"/>
          </a:xfrm>
          <a:custGeom>
            <a:avLst/>
            <a:gdLst/>
            <a:ahLst/>
            <a:cxnLst/>
            <a:rect l="l" t="t" r="r" b="b"/>
            <a:pathLst>
              <a:path w="0" h="4724400">
                <a:moveTo>
                  <a:pt x="0" y="0"/>
                </a:moveTo>
                <a:lnTo>
                  <a:pt x="0" y="4724400"/>
                </a:lnTo>
              </a:path>
            </a:pathLst>
          </a:custGeom>
          <a:ln w="3809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274320"/>
            <a:ext cx="8534400" cy="1143000"/>
          </a:xfrm>
          <a:custGeom>
            <a:avLst/>
            <a:gdLst/>
            <a:ahLst/>
            <a:cxnLst/>
            <a:rect l="l" t="t" r="r" b="b"/>
            <a:pathLst>
              <a:path w="8534400" h="1143000">
                <a:moveTo>
                  <a:pt x="8534400" y="0"/>
                </a:moveTo>
                <a:lnTo>
                  <a:pt x="0" y="0"/>
                </a:lnTo>
                <a:lnTo>
                  <a:pt x="0" y="1143000"/>
                </a:lnTo>
                <a:lnTo>
                  <a:pt x="4267200" y="1143000"/>
                </a:lnTo>
                <a:lnTo>
                  <a:pt x="8534400" y="1143000"/>
                </a:lnTo>
                <a:lnTo>
                  <a:pt x="85344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9909" y="497840"/>
            <a:ext cx="772604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 b="0">
                <a:latin typeface="Arial MT"/>
                <a:cs typeface="Arial MT"/>
              </a:rPr>
              <a:t>5.</a:t>
            </a:r>
            <a:r>
              <a:rPr dirty="0" sz="4400" spc="-20" b="0"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Machine</a:t>
            </a:r>
            <a:r>
              <a:rPr dirty="0" sz="4400" spc="-25" b="0"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Control</a:t>
            </a:r>
            <a:r>
              <a:rPr dirty="0" sz="4400" spc="-25" b="0"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Instructions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9839" y="1634490"/>
            <a:ext cx="7040245" cy="880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" marR="5080" indent="-1778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Arial MT"/>
                <a:cs typeface="Arial MT"/>
              </a:rPr>
              <a:t>These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instructions </a:t>
            </a:r>
            <a:r>
              <a:rPr dirty="0" sz="2800" spc="-15">
                <a:latin typeface="Arial MT"/>
                <a:cs typeface="Arial MT"/>
              </a:rPr>
              <a:t>affect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operation</a:t>
            </a:r>
            <a:r>
              <a:rPr dirty="0" sz="2800" spc="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of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the </a:t>
            </a:r>
            <a:r>
              <a:rPr dirty="0" sz="2800" spc="-76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processor.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For</a:t>
            </a:r>
            <a:r>
              <a:rPr dirty="0" sz="2800">
                <a:latin typeface="Arial MT"/>
                <a:cs typeface="Arial MT"/>
              </a:rPr>
              <a:t> e.g.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9839" y="2490470"/>
            <a:ext cx="793750" cy="1056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dirty="0" sz="2800" spc="-75">
                <a:solidFill>
                  <a:srgbClr val="333398"/>
                </a:solidFill>
                <a:latin typeface="Arial MT"/>
                <a:cs typeface="Arial MT"/>
              </a:rPr>
              <a:t>HLT </a:t>
            </a:r>
            <a:r>
              <a:rPr dirty="0" sz="2800" spc="-70">
                <a:solidFill>
                  <a:srgbClr val="333398"/>
                </a:solidFill>
                <a:latin typeface="Arial MT"/>
                <a:cs typeface="Arial MT"/>
              </a:rPr>
              <a:t> </a:t>
            </a:r>
            <a:r>
              <a:rPr dirty="0" sz="2800" spc="-15">
                <a:solidFill>
                  <a:srgbClr val="333398"/>
                </a:solidFill>
                <a:latin typeface="Arial MT"/>
                <a:cs typeface="Arial MT"/>
              </a:rPr>
              <a:t>N</a:t>
            </a:r>
            <a:r>
              <a:rPr dirty="0" sz="2800" spc="-10">
                <a:solidFill>
                  <a:srgbClr val="333398"/>
                </a:solidFill>
                <a:latin typeface="Arial MT"/>
                <a:cs typeface="Arial MT"/>
              </a:rPr>
              <a:t>O</a:t>
            </a:r>
            <a:r>
              <a:rPr dirty="0" sz="2800">
                <a:solidFill>
                  <a:srgbClr val="333398"/>
                </a:solidFill>
                <a:latin typeface="Arial MT"/>
                <a:cs typeface="Arial MT"/>
              </a:rPr>
              <a:t>P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9140" y="2490470"/>
            <a:ext cx="4650740" cy="105664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2800" spc="-5">
                <a:latin typeface="Arial MT"/>
                <a:cs typeface="Arial MT"/>
              </a:rPr>
              <a:t>Stop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program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execution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800" spc="-10">
                <a:latin typeface="Arial MT"/>
                <a:cs typeface="Arial MT"/>
              </a:rPr>
              <a:t>Do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not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perform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any operation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0090" y="467359"/>
            <a:ext cx="769302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15">
                <a:solidFill>
                  <a:srgbClr val="FF0000"/>
                </a:solidFill>
              </a:rPr>
              <a:t>4</a:t>
            </a:r>
            <a:r>
              <a:rPr dirty="0" sz="4800">
                <a:solidFill>
                  <a:srgbClr val="FF0000"/>
                </a:solidFill>
              </a:rPr>
              <a:t>.</a:t>
            </a:r>
            <a:r>
              <a:rPr dirty="0" sz="4800" spc="-450">
                <a:solidFill>
                  <a:srgbClr val="FF0000"/>
                </a:solidFill>
              </a:rPr>
              <a:t> </a:t>
            </a:r>
            <a:r>
              <a:rPr dirty="0" sz="3200" spc="-65" b="0">
                <a:latin typeface="Arial MT"/>
                <a:cs typeface="Arial MT"/>
              </a:rPr>
              <a:t>W</a:t>
            </a:r>
            <a:r>
              <a:rPr dirty="0" sz="3200" b="0">
                <a:latin typeface="Arial MT"/>
                <a:cs typeface="Arial MT"/>
              </a:rPr>
              <a:t>riting a</a:t>
            </a:r>
            <a:r>
              <a:rPr dirty="0" sz="3200" spc="-175" b="0">
                <a:latin typeface="Arial MT"/>
                <a:cs typeface="Arial MT"/>
              </a:rPr>
              <a:t> </a:t>
            </a:r>
            <a:r>
              <a:rPr dirty="0" sz="3200" spc="-5" b="0">
                <a:latin typeface="Arial MT"/>
                <a:cs typeface="Arial MT"/>
              </a:rPr>
              <a:t>A</a:t>
            </a:r>
            <a:r>
              <a:rPr dirty="0" sz="3200" b="0">
                <a:latin typeface="Arial MT"/>
                <a:cs typeface="Arial MT"/>
              </a:rPr>
              <a:t>s</a:t>
            </a:r>
            <a:r>
              <a:rPr dirty="0" sz="3200" spc="5" b="0">
                <a:latin typeface="Arial MT"/>
                <a:cs typeface="Arial MT"/>
              </a:rPr>
              <a:t>se</a:t>
            </a:r>
            <a:r>
              <a:rPr dirty="0" sz="3200" spc="-10" b="0">
                <a:latin typeface="Arial MT"/>
                <a:cs typeface="Arial MT"/>
              </a:rPr>
              <a:t>m</a:t>
            </a:r>
            <a:r>
              <a:rPr dirty="0" sz="3200" spc="5" b="0">
                <a:latin typeface="Arial MT"/>
                <a:cs typeface="Arial MT"/>
              </a:rPr>
              <a:t>b</a:t>
            </a:r>
            <a:r>
              <a:rPr dirty="0" sz="3200" spc="-5" b="0">
                <a:latin typeface="Arial MT"/>
                <a:cs typeface="Arial MT"/>
              </a:rPr>
              <a:t>l</a:t>
            </a:r>
            <a:r>
              <a:rPr dirty="0" sz="3200" b="0">
                <a:latin typeface="Arial MT"/>
                <a:cs typeface="Arial MT"/>
              </a:rPr>
              <a:t>y</a:t>
            </a:r>
            <a:r>
              <a:rPr dirty="0" sz="3200" spc="-5" b="0">
                <a:latin typeface="Arial MT"/>
                <a:cs typeface="Arial MT"/>
              </a:rPr>
              <a:t> </a:t>
            </a:r>
            <a:r>
              <a:rPr dirty="0" sz="3200" spc="5" b="0">
                <a:latin typeface="Arial MT"/>
                <a:cs typeface="Arial MT"/>
              </a:rPr>
              <a:t>Lang</a:t>
            </a:r>
            <a:r>
              <a:rPr dirty="0" sz="3200" spc="-5" b="0">
                <a:latin typeface="Arial MT"/>
                <a:cs typeface="Arial MT"/>
              </a:rPr>
              <a:t>u</a:t>
            </a:r>
            <a:r>
              <a:rPr dirty="0" sz="3200" spc="5" b="0">
                <a:latin typeface="Arial MT"/>
                <a:cs typeface="Arial MT"/>
              </a:rPr>
              <a:t>ag</a:t>
            </a:r>
            <a:r>
              <a:rPr dirty="0" sz="3200" b="0">
                <a:latin typeface="Arial MT"/>
                <a:cs typeface="Arial MT"/>
              </a:rPr>
              <a:t>e</a:t>
            </a:r>
            <a:r>
              <a:rPr dirty="0" sz="3200" spc="-5" b="0">
                <a:latin typeface="Arial MT"/>
                <a:cs typeface="Arial MT"/>
              </a:rPr>
              <a:t> </a:t>
            </a:r>
            <a:r>
              <a:rPr dirty="0" sz="3200" b="0">
                <a:latin typeface="Arial MT"/>
                <a:cs typeface="Arial MT"/>
              </a:rPr>
              <a:t>Pr</a:t>
            </a:r>
            <a:r>
              <a:rPr dirty="0" sz="3200" spc="5" b="0">
                <a:latin typeface="Arial MT"/>
                <a:cs typeface="Arial MT"/>
              </a:rPr>
              <a:t>og</a:t>
            </a:r>
            <a:r>
              <a:rPr dirty="0" sz="3200" spc="-10" b="0">
                <a:latin typeface="Arial MT"/>
                <a:cs typeface="Arial MT"/>
              </a:rPr>
              <a:t>r</a:t>
            </a:r>
            <a:r>
              <a:rPr dirty="0" sz="3200" spc="5" b="0">
                <a:latin typeface="Arial MT"/>
                <a:cs typeface="Arial MT"/>
              </a:rPr>
              <a:t>a</a:t>
            </a:r>
            <a:r>
              <a:rPr dirty="0" sz="3200" b="0">
                <a:latin typeface="Arial MT"/>
                <a:cs typeface="Arial MT"/>
              </a:rPr>
              <a:t>m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2123439"/>
            <a:ext cx="6624320" cy="372110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>
                <a:latin typeface="Arial MT"/>
                <a:cs typeface="Arial MT"/>
              </a:rPr>
              <a:t>Steps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to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write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program</a:t>
            </a:r>
            <a:endParaRPr sz="3200">
              <a:latin typeface="Arial MT"/>
              <a:cs typeface="Arial MT"/>
            </a:endParaRPr>
          </a:p>
          <a:p>
            <a:pPr lvl="1" marL="755650" indent="-285750">
              <a:lnSpc>
                <a:spcPct val="100000"/>
              </a:lnSpc>
              <a:spcBef>
                <a:spcPts val="430"/>
              </a:spcBef>
              <a:buChar char="–"/>
              <a:tabLst>
                <a:tab pos="755650" algn="l"/>
              </a:tabLst>
            </a:pPr>
            <a:r>
              <a:rPr dirty="0" sz="3200">
                <a:solidFill>
                  <a:srgbClr val="FF0000"/>
                </a:solidFill>
                <a:latin typeface="Arial MT"/>
                <a:cs typeface="Arial MT"/>
              </a:rPr>
              <a:t>Analyze</a:t>
            </a:r>
            <a:r>
              <a:rPr dirty="0" sz="3200" spc="-1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the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problem</a:t>
            </a:r>
            <a:endParaRPr sz="3200">
              <a:latin typeface="Arial MT"/>
              <a:cs typeface="Arial MT"/>
            </a:endParaRPr>
          </a:p>
          <a:p>
            <a:pPr lvl="1" marL="755650" indent="-285750">
              <a:lnSpc>
                <a:spcPct val="100000"/>
              </a:lnSpc>
              <a:spcBef>
                <a:spcPts val="430"/>
              </a:spcBef>
              <a:buChar char="–"/>
              <a:tabLst>
                <a:tab pos="755650" algn="l"/>
              </a:tabLst>
            </a:pPr>
            <a:r>
              <a:rPr dirty="0" sz="3200">
                <a:latin typeface="Arial MT"/>
                <a:cs typeface="Arial MT"/>
              </a:rPr>
              <a:t>Develop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program</a:t>
            </a:r>
            <a:r>
              <a:rPr dirty="0" sz="3200" spc="15">
                <a:latin typeface="Arial MT"/>
                <a:cs typeface="Arial MT"/>
              </a:rPr>
              <a:t> </a:t>
            </a:r>
            <a:r>
              <a:rPr dirty="0" sz="3200" spc="-5">
                <a:solidFill>
                  <a:srgbClr val="FF0000"/>
                </a:solidFill>
                <a:latin typeface="Arial MT"/>
                <a:cs typeface="Arial MT"/>
              </a:rPr>
              <a:t>Logic</a:t>
            </a:r>
            <a:endParaRPr sz="3200">
              <a:latin typeface="Arial MT"/>
              <a:cs typeface="Arial MT"/>
            </a:endParaRPr>
          </a:p>
          <a:p>
            <a:pPr lvl="1" marL="755650" indent="-285750">
              <a:lnSpc>
                <a:spcPct val="100000"/>
              </a:lnSpc>
              <a:spcBef>
                <a:spcPts val="430"/>
              </a:spcBef>
              <a:buChar char="–"/>
              <a:tabLst>
                <a:tab pos="755650" algn="l"/>
              </a:tabLst>
            </a:pPr>
            <a:r>
              <a:rPr dirty="0" sz="3200" spc="-15">
                <a:latin typeface="Arial MT"/>
                <a:cs typeface="Arial MT"/>
              </a:rPr>
              <a:t>Write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an </a:t>
            </a:r>
            <a:r>
              <a:rPr dirty="0" sz="3200" spc="-5">
                <a:solidFill>
                  <a:srgbClr val="FF0000"/>
                </a:solidFill>
                <a:latin typeface="Arial MT"/>
                <a:cs typeface="Arial MT"/>
              </a:rPr>
              <a:t>Algorithm</a:t>
            </a:r>
            <a:endParaRPr sz="3200">
              <a:latin typeface="Arial MT"/>
              <a:cs typeface="Arial MT"/>
            </a:endParaRPr>
          </a:p>
          <a:p>
            <a:pPr lvl="1" marL="755650" indent="-285750">
              <a:lnSpc>
                <a:spcPct val="100000"/>
              </a:lnSpc>
              <a:spcBef>
                <a:spcPts val="440"/>
              </a:spcBef>
              <a:buChar char="–"/>
              <a:tabLst>
                <a:tab pos="755650" algn="l"/>
              </a:tabLst>
            </a:pPr>
            <a:r>
              <a:rPr dirty="0" sz="3200">
                <a:latin typeface="Arial MT"/>
                <a:cs typeface="Arial MT"/>
              </a:rPr>
              <a:t>Make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 </a:t>
            </a:r>
            <a:r>
              <a:rPr dirty="0" sz="3200" spc="-5">
                <a:solidFill>
                  <a:srgbClr val="FF0000"/>
                </a:solidFill>
                <a:latin typeface="Arial MT"/>
                <a:cs typeface="Arial MT"/>
              </a:rPr>
              <a:t>Flowchart</a:t>
            </a:r>
            <a:endParaRPr sz="3200">
              <a:latin typeface="Arial MT"/>
              <a:cs typeface="Arial MT"/>
            </a:endParaRPr>
          </a:p>
          <a:p>
            <a:pPr lvl="1" marL="755650" marR="5080" indent="-285750">
              <a:lnSpc>
                <a:spcPts val="3470"/>
              </a:lnSpc>
              <a:spcBef>
                <a:spcPts val="855"/>
              </a:spcBef>
              <a:buChar char="–"/>
              <a:tabLst>
                <a:tab pos="755650" algn="l"/>
              </a:tabLst>
            </a:pPr>
            <a:r>
              <a:rPr dirty="0" sz="3200" spc="-15">
                <a:latin typeface="Arial MT"/>
                <a:cs typeface="Arial MT"/>
              </a:rPr>
              <a:t>Write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program</a:t>
            </a:r>
            <a:r>
              <a:rPr dirty="0" sz="3200" spc="15">
                <a:latin typeface="Arial MT"/>
                <a:cs typeface="Arial MT"/>
              </a:rPr>
              <a:t> </a:t>
            </a:r>
            <a:r>
              <a:rPr dirty="0" sz="3200" spc="-5">
                <a:solidFill>
                  <a:srgbClr val="FF0000"/>
                </a:solidFill>
                <a:latin typeface="Arial MT"/>
                <a:cs typeface="Arial MT"/>
              </a:rPr>
              <a:t>Instructions</a:t>
            </a:r>
            <a:r>
              <a:rPr dirty="0" sz="3200" spc="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using </a:t>
            </a:r>
            <a:r>
              <a:rPr dirty="0" sz="3200" spc="-87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Assembly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language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of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8085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06400"/>
            <a:ext cx="7995284" cy="878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5" b="0">
                <a:latin typeface="Arial MT"/>
                <a:cs typeface="Arial MT"/>
              </a:rPr>
              <a:t>Program</a:t>
            </a:r>
            <a:r>
              <a:rPr dirty="0" spc="5" b="0">
                <a:latin typeface="Arial MT"/>
                <a:cs typeface="Arial MT"/>
              </a:rPr>
              <a:t> </a:t>
            </a:r>
            <a:r>
              <a:rPr dirty="0" spc="-5" b="0">
                <a:solidFill>
                  <a:srgbClr val="333398"/>
                </a:solidFill>
                <a:latin typeface="Arial MT"/>
                <a:cs typeface="Arial MT"/>
              </a:rPr>
              <a:t>8085</a:t>
            </a:r>
            <a:r>
              <a:rPr dirty="0" spc="5" b="0">
                <a:solidFill>
                  <a:srgbClr val="333398"/>
                </a:solidFill>
                <a:latin typeface="Arial MT"/>
                <a:cs typeface="Arial MT"/>
              </a:rPr>
              <a:t> </a:t>
            </a:r>
            <a:r>
              <a:rPr dirty="0" spc="-5" b="0">
                <a:latin typeface="Arial MT"/>
                <a:cs typeface="Arial MT"/>
              </a:rPr>
              <a:t>in</a:t>
            </a:r>
            <a:r>
              <a:rPr dirty="0" spc="-155" b="0">
                <a:latin typeface="Arial MT"/>
                <a:cs typeface="Arial MT"/>
              </a:rPr>
              <a:t> </a:t>
            </a:r>
            <a:r>
              <a:rPr dirty="0" spc="-5" b="0">
                <a:latin typeface="Arial MT"/>
                <a:cs typeface="Arial MT"/>
              </a:rPr>
              <a:t>Assembly language</a:t>
            </a:r>
            <a:r>
              <a:rPr dirty="0" spc="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to</a:t>
            </a:r>
            <a:r>
              <a:rPr dirty="0" spc="-1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add</a:t>
            </a:r>
            <a:r>
              <a:rPr dirty="0" spc="5" b="0">
                <a:latin typeface="Arial MT"/>
                <a:cs typeface="Arial MT"/>
              </a:rPr>
              <a:t> </a:t>
            </a:r>
            <a:r>
              <a:rPr dirty="0" spc="-5" b="0">
                <a:latin typeface="Arial MT"/>
                <a:cs typeface="Arial MT"/>
              </a:rPr>
              <a:t>two</a:t>
            </a:r>
            <a:r>
              <a:rPr dirty="0" spc="-10" b="0">
                <a:latin typeface="Arial MT"/>
                <a:cs typeface="Arial MT"/>
              </a:rPr>
              <a:t> </a:t>
            </a:r>
            <a:r>
              <a:rPr dirty="0" spc="-5" b="0">
                <a:latin typeface="Arial MT"/>
                <a:cs typeface="Arial MT"/>
              </a:rPr>
              <a:t>8- </a:t>
            </a:r>
            <a:r>
              <a:rPr dirty="0" spc="-765" b="0">
                <a:latin typeface="Arial MT"/>
                <a:cs typeface="Arial MT"/>
              </a:rPr>
              <a:t> </a:t>
            </a:r>
            <a:r>
              <a:rPr dirty="0" spc="-5" b="0">
                <a:latin typeface="Arial MT"/>
                <a:cs typeface="Arial MT"/>
              </a:rPr>
              <a:t>bit</a:t>
            </a:r>
            <a:r>
              <a:rPr dirty="0" b="0">
                <a:latin typeface="Arial MT"/>
                <a:cs typeface="Arial MT"/>
              </a:rPr>
              <a:t> </a:t>
            </a:r>
            <a:r>
              <a:rPr dirty="0" spc="-5" b="0">
                <a:latin typeface="Arial MT"/>
                <a:cs typeface="Arial MT"/>
              </a:rPr>
              <a:t>numbers</a:t>
            </a:r>
            <a:r>
              <a:rPr dirty="0" b="0">
                <a:latin typeface="Arial MT"/>
                <a:cs typeface="Arial MT"/>
              </a:rPr>
              <a:t> </a:t>
            </a:r>
            <a:r>
              <a:rPr dirty="0" spc="-5" b="0">
                <a:latin typeface="Arial MT"/>
                <a:cs typeface="Arial MT"/>
              </a:rPr>
              <a:t>and store 8-bit</a:t>
            </a:r>
            <a:r>
              <a:rPr dirty="0" b="0">
                <a:latin typeface="Arial MT"/>
                <a:cs typeface="Arial MT"/>
              </a:rPr>
              <a:t> </a:t>
            </a:r>
            <a:r>
              <a:rPr dirty="0" spc="-5" b="0">
                <a:latin typeface="Arial MT"/>
                <a:cs typeface="Arial MT"/>
              </a:rPr>
              <a:t>result</a:t>
            </a:r>
            <a:r>
              <a:rPr dirty="0" spc="5" b="0">
                <a:latin typeface="Arial MT"/>
                <a:cs typeface="Arial MT"/>
              </a:rPr>
              <a:t> </a:t>
            </a:r>
            <a:r>
              <a:rPr dirty="0" spc="-5" b="0">
                <a:latin typeface="Arial MT"/>
                <a:cs typeface="Arial MT"/>
              </a:rPr>
              <a:t>in register</a:t>
            </a:r>
            <a:r>
              <a:rPr dirty="0" spc="105" b="0">
                <a:latin typeface="Arial MT"/>
                <a:cs typeface="Arial MT"/>
              </a:rPr>
              <a:t> </a:t>
            </a:r>
            <a:r>
              <a:rPr dirty="0" spc="-5" b="0">
                <a:solidFill>
                  <a:srgbClr val="D50092"/>
                </a:solidFill>
                <a:latin typeface="Arial MT"/>
                <a:cs typeface="Arial MT"/>
              </a:rPr>
              <a:t>C</a:t>
            </a:r>
            <a:r>
              <a:rPr dirty="0" spc="-5" b="0">
                <a:latin typeface="Arial MT"/>
                <a:cs typeface="Arial MT"/>
              </a:rPr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2708"/>
            <a:ext cx="7399020" cy="1725295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910"/>
              </a:spcBef>
              <a:buClr>
                <a:srgbClr val="000000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dirty="0" sz="3200">
                <a:solidFill>
                  <a:srgbClr val="FF0000"/>
                </a:solidFill>
                <a:latin typeface="Arial MT"/>
                <a:cs typeface="Arial MT"/>
              </a:rPr>
              <a:t>Analyze</a:t>
            </a:r>
            <a:r>
              <a:rPr dirty="0" sz="32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3200" spc="-5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dirty="0" sz="32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0000"/>
                </a:solidFill>
                <a:latin typeface="Arial MT"/>
                <a:cs typeface="Arial MT"/>
              </a:rPr>
              <a:t>problem</a:t>
            </a:r>
            <a:endParaRPr sz="32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710"/>
              </a:spcBef>
              <a:tabLst>
                <a:tab pos="1002665" algn="l"/>
              </a:tabLst>
            </a:pPr>
            <a:r>
              <a:rPr dirty="0" baseline="2976" sz="4200">
                <a:latin typeface="Arial MT"/>
                <a:cs typeface="Arial MT"/>
              </a:rPr>
              <a:t>–	</a:t>
            </a:r>
            <a:r>
              <a:rPr dirty="0" sz="2800" spc="-5">
                <a:latin typeface="Arial MT"/>
                <a:cs typeface="Arial MT"/>
              </a:rPr>
              <a:t>Addition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of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two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8-bit numbers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be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done</a:t>
            </a:r>
            <a:endParaRPr sz="2800">
              <a:latin typeface="Arial MT"/>
              <a:cs typeface="Arial MT"/>
            </a:endParaRPr>
          </a:p>
          <a:p>
            <a:pPr marL="622300" indent="-60960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AutoNum type="arabicPeriod" startAt="2"/>
              <a:tabLst>
                <a:tab pos="621665" algn="l"/>
                <a:tab pos="622300" algn="l"/>
              </a:tabLst>
            </a:pPr>
            <a:r>
              <a:rPr dirty="0" sz="3200" spc="-5">
                <a:solidFill>
                  <a:srgbClr val="FF0000"/>
                </a:solidFill>
                <a:latin typeface="Arial MT"/>
                <a:cs typeface="Arial MT"/>
              </a:rPr>
              <a:t>Program</a:t>
            </a:r>
            <a:r>
              <a:rPr dirty="0" sz="32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3200" spc="-5">
                <a:solidFill>
                  <a:srgbClr val="FF0000"/>
                </a:solidFill>
                <a:latin typeface="Arial MT"/>
                <a:cs typeface="Arial MT"/>
              </a:rPr>
              <a:t>Logic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3211830"/>
            <a:ext cx="223520" cy="157480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6539" y="3233420"/>
            <a:ext cx="3866515" cy="157353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2800" spc="-5">
                <a:latin typeface="Arial MT"/>
                <a:cs typeface="Arial MT"/>
              </a:rPr>
              <a:t>Add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two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numbers</a:t>
            </a:r>
            <a:endParaRPr sz="2800">
              <a:latin typeface="Arial MT"/>
              <a:cs typeface="Arial MT"/>
            </a:endParaRPr>
          </a:p>
          <a:p>
            <a:pPr marL="12700" marR="5080">
              <a:lnSpc>
                <a:spcPts val="4070"/>
              </a:lnSpc>
              <a:spcBef>
                <a:spcPts val="90"/>
              </a:spcBef>
            </a:pPr>
            <a:r>
              <a:rPr dirty="0" sz="2800" spc="-5">
                <a:latin typeface="Arial MT"/>
                <a:cs typeface="Arial MT"/>
              </a:rPr>
              <a:t>Store </a:t>
            </a:r>
            <a:r>
              <a:rPr dirty="0" sz="2800">
                <a:latin typeface="Arial MT"/>
                <a:cs typeface="Arial MT"/>
              </a:rPr>
              <a:t>result </a:t>
            </a:r>
            <a:r>
              <a:rPr dirty="0" sz="2800" spc="-5">
                <a:latin typeface="Arial MT"/>
                <a:cs typeface="Arial MT"/>
              </a:rPr>
              <a:t>in register </a:t>
            </a:r>
            <a:r>
              <a:rPr dirty="0" sz="2800">
                <a:solidFill>
                  <a:srgbClr val="D50092"/>
                </a:solidFill>
                <a:latin typeface="Arial MT"/>
                <a:cs typeface="Arial MT"/>
              </a:rPr>
              <a:t>C </a:t>
            </a:r>
            <a:r>
              <a:rPr dirty="0" sz="2800" spc="-765">
                <a:solidFill>
                  <a:srgbClr val="D50092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Example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260090" y="4918104"/>
          <a:ext cx="3447415" cy="1430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4055"/>
                <a:gridCol w="1483359"/>
              </a:tblGrid>
              <a:tr h="457080">
                <a:tc>
                  <a:txBody>
                    <a:bodyPr/>
                    <a:lstStyle/>
                    <a:p>
                      <a:pPr algn="r" marR="144780">
                        <a:lnSpc>
                          <a:spcPts val="3095"/>
                        </a:lnSpc>
                      </a:pPr>
                      <a:r>
                        <a:rPr dirty="0" sz="2800" spc="-5">
                          <a:latin typeface="Arial MT"/>
                          <a:cs typeface="Arial MT"/>
                        </a:rPr>
                        <a:t>10011001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3095"/>
                        </a:lnSpc>
                      </a:pPr>
                      <a:r>
                        <a:rPr dirty="0" sz="2800" spc="-5">
                          <a:latin typeface="Arial MT"/>
                          <a:cs typeface="Arial MT"/>
                        </a:rPr>
                        <a:t>(99H)</a:t>
                      </a:r>
                      <a:r>
                        <a:rPr dirty="0" sz="28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>
                          <a:solidFill>
                            <a:srgbClr val="D50092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516255">
                <a:tc>
                  <a:txBody>
                    <a:bodyPr/>
                    <a:lstStyle/>
                    <a:p>
                      <a:pPr algn="r" marR="1358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2800" spc="-10">
                          <a:latin typeface="Arial MT"/>
                          <a:cs typeface="Arial MT"/>
                        </a:rPr>
                        <a:t>+00111001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26034"/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2800" spc="-5">
                          <a:latin typeface="Arial MT"/>
                          <a:cs typeface="Arial MT"/>
                        </a:rPr>
                        <a:t>(39H)</a:t>
                      </a:r>
                      <a:r>
                        <a:rPr dirty="0" sz="28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>
                          <a:solidFill>
                            <a:srgbClr val="D50092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26034"/>
                </a:tc>
              </a:tr>
              <a:tr h="456445">
                <a:tc>
                  <a:txBody>
                    <a:bodyPr/>
                    <a:lstStyle/>
                    <a:p>
                      <a:pPr algn="r" marR="144780">
                        <a:lnSpc>
                          <a:spcPts val="3295"/>
                        </a:lnSpc>
                        <a:spcBef>
                          <a:spcPts val="200"/>
                        </a:spcBef>
                      </a:pPr>
                      <a:r>
                        <a:rPr dirty="0" sz="2800" spc="-5">
                          <a:latin typeface="Arial MT"/>
                          <a:cs typeface="Arial MT"/>
                        </a:rPr>
                        <a:t>11010010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3295"/>
                        </a:lnSpc>
                        <a:spcBef>
                          <a:spcPts val="200"/>
                        </a:spcBef>
                      </a:pPr>
                      <a:r>
                        <a:rPr dirty="0" sz="2800" spc="-10">
                          <a:latin typeface="Arial MT"/>
                          <a:cs typeface="Arial MT"/>
                        </a:rPr>
                        <a:t>(D2H)</a:t>
                      </a:r>
                      <a:r>
                        <a:rPr dirty="0" sz="2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>
                          <a:solidFill>
                            <a:srgbClr val="D50092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25400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34490"/>
            <a:ext cx="32651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465" algn="l"/>
              </a:tabLst>
            </a:pPr>
            <a:r>
              <a:rPr dirty="0" sz="2800" spc="-5">
                <a:solidFill>
                  <a:srgbClr val="FFFF00"/>
                </a:solidFill>
                <a:latin typeface="Arial MT"/>
                <a:cs typeface="Arial MT"/>
              </a:rPr>
              <a:t>1.	Get</a:t>
            </a:r>
            <a:r>
              <a:rPr dirty="0" sz="2800" spc="-45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FFFF00"/>
                </a:solidFill>
                <a:latin typeface="Arial MT"/>
                <a:cs typeface="Arial MT"/>
              </a:rPr>
              <a:t>two</a:t>
            </a:r>
            <a:r>
              <a:rPr dirty="0" sz="2800" spc="-4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FFFF00"/>
                </a:solidFill>
                <a:latin typeface="Arial MT"/>
                <a:cs typeface="Arial MT"/>
              </a:rPr>
              <a:t>numbers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2762250"/>
            <a:ext cx="2377440" cy="251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6100" indent="-533400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545465" algn="l"/>
                <a:tab pos="546100" algn="l"/>
              </a:tabLst>
            </a:pPr>
            <a:r>
              <a:rPr dirty="0" sz="2800" spc="-5">
                <a:solidFill>
                  <a:srgbClr val="333398"/>
                </a:solidFill>
                <a:latin typeface="Arial MT"/>
                <a:cs typeface="Arial MT"/>
              </a:rPr>
              <a:t>Add</a:t>
            </a:r>
            <a:r>
              <a:rPr dirty="0" sz="2800" spc="-50">
                <a:solidFill>
                  <a:srgbClr val="333398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333398"/>
                </a:solidFill>
                <a:latin typeface="Arial MT"/>
                <a:cs typeface="Arial MT"/>
              </a:rPr>
              <a:t>them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AutoNum type="arabicPeriod" startAt="2"/>
            </a:pPr>
            <a:endParaRPr sz="31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2665"/>
              </a:spcBef>
              <a:buAutoNum type="arabicPeriod" startAt="2"/>
              <a:tabLst>
                <a:tab pos="545465" algn="l"/>
                <a:tab pos="546100" algn="l"/>
              </a:tabLst>
            </a:pPr>
            <a:r>
              <a:rPr dirty="0" sz="2800" spc="-5">
                <a:solidFill>
                  <a:srgbClr val="009800"/>
                </a:solidFill>
                <a:latin typeface="Arial MT"/>
                <a:cs typeface="Arial MT"/>
              </a:rPr>
              <a:t>Store</a:t>
            </a:r>
            <a:r>
              <a:rPr dirty="0" sz="2800" spc="-90">
                <a:solidFill>
                  <a:srgbClr val="009800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009800"/>
                </a:solidFill>
                <a:latin typeface="Arial MT"/>
                <a:cs typeface="Arial MT"/>
              </a:rPr>
              <a:t>result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AutoNum type="arabicPeriod" startAt="2"/>
            </a:pPr>
            <a:endParaRPr sz="285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buAutoNum type="arabicPeriod" startAt="2"/>
              <a:tabLst>
                <a:tab pos="545465" algn="l"/>
                <a:tab pos="546100" algn="l"/>
              </a:tabLst>
            </a:pPr>
            <a:r>
              <a:rPr dirty="0" sz="2800" spc="-5">
                <a:solidFill>
                  <a:srgbClr val="FF0000"/>
                </a:solidFill>
                <a:latin typeface="Arial MT"/>
                <a:cs typeface="Arial MT"/>
              </a:rPr>
              <a:t>Stop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267200" y="1600200"/>
            <a:ext cx="4724400" cy="3810000"/>
            <a:chOff x="4267200" y="1600200"/>
            <a:chExt cx="4724400" cy="3810000"/>
          </a:xfrm>
        </p:grpSpPr>
        <p:sp>
          <p:nvSpPr>
            <p:cNvPr id="5" name="object 5"/>
            <p:cNvSpPr/>
            <p:nvPr/>
          </p:nvSpPr>
          <p:spPr>
            <a:xfrm>
              <a:off x="4267200" y="1600200"/>
              <a:ext cx="4724400" cy="1219200"/>
            </a:xfrm>
            <a:custGeom>
              <a:avLst/>
              <a:gdLst/>
              <a:ahLst/>
              <a:cxnLst/>
              <a:rect l="l" t="t" r="r" b="b"/>
              <a:pathLst>
                <a:path w="4724400" h="1219200">
                  <a:moveTo>
                    <a:pt x="472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2362200" y="1219200"/>
                  </a:lnTo>
                  <a:lnTo>
                    <a:pt x="4724400" y="1219200"/>
                  </a:lnTo>
                  <a:lnTo>
                    <a:pt x="47244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267200" y="2819400"/>
              <a:ext cx="4724400" cy="1219200"/>
            </a:xfrm>
            <a:custGeom>
              <a:avLst/>
              <a:gdLst/>
              <a:ahLst/>
              <a:cxnLst/>
              <a:rect l="l" t="t" r="r" b="b"/>
              <a:pathLst>
                <a:path w="4724400" h="1219200">
                  <a:moveTo>
                    <a:pt x="47244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2362200" y="1219200"/>
                  </a:lnTo>
                  <a:lnTo>
                    <a:pt x="4724400" y="1219200"/>
                  </a:lnTo>
                  <a:lnTo>
                    <a:pt x="472440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267200" y="4038600"/>
              <a:ext cx="4724400" cy="685800"/>
            </a:xfrm>
            <a:custGeom>
              <a:avLst/>
              <a:gdLst/>
              <a:ahLst/>
              <a:cxnLst/>
              <a:rect l="l" t="t" r="r" b="b"/>
              <a:pathLst>
                <a:path w="4724400" h="685800">
                  <a:moveTo>
                    <a:pt x="47244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2362200" y="685800"/>
                  </a:lnTo>
                  <a:lnTo>
                    <a:pt x="4724400" y="685800"/>
                  </a:lnTo>
                  <a:lnTo>
                    <a:pt x="4724400" y="0"/>
                  </a:lnTo>
                  <a:close/>
                </a:path>
              </a:pathLst>
            </a:custGeom>
            <a:solidFill>
              <a:srgbClr val="3398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267200" y="4724400"/>
              <a:ext cx="4724400" cy="685800"/>
            </a:xfrm>
            <a:custGeom>
              <a:avLst/>
              <a:gdLst/>
              <a:ahLst/>
              <a:cxnLst/>
              <a:rect l="l" t="t" r="r" b="b"/>
              <a:pathLst>
                <a:path w="4724400" h="685800">
                  <a:moveTo>
                    <a:pt x="47244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2362200" y="685800"/>
                  </a:lnTo>
                  <a:lnTo>
                    <a:pt x="4724400" y="685800"/>
                  </a:lnTo>
                  <a:lnTo>
                    <a:pt x="4724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331970" y="1545590"/>
            <a:ext cx="4303395" cy="366522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369570" indent="-343535">
              <a:lnSpc>
                <a:spcPct val="100000"/>
              </a:lnSpc>
              <a:spcBef>
                <a:spcPts val="800"/>
              </a:spcBef>
              <a:buChar char="•"/>
              <a:tabLst>
                <a:tab pos="368935" algn="l"/>
                <a:tab pos="369570" algn="l"/>
              </a:tabLst>
            </a:pPr>
            <a:r>
              <a:rPr dirty="0" sz="2800" spc="-5">
                <a:latin typeface="Arial MT"/>
                <a:cs typeface="Arial MT"/>
              </a:rPr>
              <a:t>Load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10">
                <a:latin typeface="Arial MT"/>
                <a:cs typeface="Arial MT"/>
              </a:rPr>
              <a:t>1</a:t>
            </a:r>
            <a:r>
              <a:rPr dirty="0" baseline="17361" sz="2400" spc="15">
                <a:latin typeface="Arial MT"/>
                <a:cs typeface="Arial MT"/>
              </a:rPr>
              <a:t>st</a:t>
            </a:r>
            <a:r>
              <a:rPr dirty="0" baseline="17361" sz="2400" spc="487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no.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in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register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</a:t>
            </a:r>
            <a:endParaRPr sz="2800">
              <a:latin typeface="Arial MT"/>
              <a:cs typeface="Arial MT"/>
            </a:endParaRPr>
          </a:p>
          <a:p>
            <a:pPr marL="369570" indent="-343535">
              <a:lnSpc>
                <a:spcPct val="100000"/>
              </a:lnSpc>
              <a:spcBef>
                <a:spcPts val="700"/>
              </a:spcBef>
              <a:buChar char="•"/>
              <a:tabLst>
                <a:tab pos="368935" algn="l"/>
                <a:tab pos="369570" algn="l"/>
              </a:tabLst>
            </a:pPr>
            <a:r>
              <a:rPr dirty="0" sz="2800" spc="-5">
                <a:latin typeface="Arial MT"/>
                <a:cs typeface="Arial MT"/>
              </a:rPr>
              <a:t>Load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10">
                <a:latin typeface="Arial MT"/>
                <a:cs typeface="Arial MT"/>
              </a:rPr>
              <a:t>2</a:t>
            </a:r>
            <a:r>
              <a:rPr dirty="0" baseline="17361" sz="2400" spc="15">
                <a:latin typeface="Arial MT"/>
                <a:cs typeface="Arial MT"/>
              </a:rPr>
              <a:t>nd</a:t>
            </a:r>
            <a:r>
              <a:rPr dirty="0" baseline="17361" sz="2400" spc="472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no. in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register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</a:t>
            </a:r>
            <a:endParaRPr sz="2800">
              <a:latin typeface="Arial MT"/>
              <a:cs typeface="Arial MT"/>
            </a:endParaRPr>
          </a:p>
          <a:p>
            <a:pPr marL="368300" indent="-342900">
              <a:lnSpc>
                <a:spcPct val="100000"/>
              </a:lnSpc>
              <a:spcBef>
                <a:spcPts val="2180"/>
              </a:spcBef>
              <a:buChar char="•"/>
              <a:tabLst>
                <a:tab pos="367665" algn="l"/>
                <a:tab pos="368300" algn="l"/>
              </a:tabLst>
            </a:pPr>
            <a:r>
              <a:rPr dirty="0" sz="2800" spc="-10">
                <a:latin typeface="Arial MT"/>
                <a:cs typeface="Arial MT"/>
              </a:rPr>
              <a:t>Copy </a:t>
            </a:r>
            <a:r>
              <a:rPr dirty="0" sz="2800" spc="-5">
                <a:latin typeface="Arial MT"/>
                <a:cs typeface="Arial MT"/>
              </a:rPr>
              <a:t>register </a:t>
            </a:r>
            <a:r>
              <a:rPr dirty="0" sz="2800">
                <a:latin typeface="Arial MT"/>
                <a:cs typeface="Arial MT"/>
              </a:rPr>
              <a:t>D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1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  <a:p>
            <a:pPr marL="36830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67665" algn="l"/>
                <a:tab pos="368300" algn="l"/>
              </a:tabLst>
            </a:pPr>
            <a:r>
              <a:rPr dirty="0" sz="2800" spc="-5">
                <a:latin typeface="Arial MT"/>
                <a:cs typeface="Arial MT"/>
              </a:rPr>
              <a:t>Add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register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1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  <a:p>
            <a:pPr marL="368300" indent="-342900">
              <a:lnSpc>
                <a:spcPct val="100000"/>
              </a:lnSpc>
              <a:spcBef>
                <a:spcPts val="2180"/>
              </a:spcBef>
              <a:buChar char="•"/>
              <a:tabLst>
                <a:tab pos="367665" algn="l"/>
                <a:tab pos="368300" algn="l"/>
              </a:tabLst>
            </a:pPr>
            <a:r>
              <a:rPr dirty="0" sz="2800" spc="-10">
                <a:latin typeface="Arial MT"/>
                <a:cs typeface="Arial MT"/>
              </a:rPr>
              <a:t>Copy</a:t>
            </a:r>
            <a:r>
              <a:rPr dirty="0" sz="2800" spc="-1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7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to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register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</a:t>
            </a:r>
            <a:endParaRPr sz="2800">
              <a:latin typeface="Arial MT"/>
              <a:cs typeface="Arial MT"/>
            </a:endParaRPr>
          </a:p>
          <a:p>
            <a:pPr marL="368300" indent="-342900">
              <a:lnSpc>
                <a:spcPct val="100000"/>
              </a:lnSpc>
              <a:spcBef>
                <a:spcPts val="2040"/>
              </a:spcBef>
              <a:buChar char="•"/>
              <a:tabLst>
                <a:tab pos="367665" algn="l"/>
                <a:tab pos="368300" algn="l"/>
              </a:tabLst>
            </a:pPr>
            <a:r>
              <a:rPr dirty="0" sz="2800" spc="-5">
                <a:latin typeface="Arial MT"/>
                <a:cs typeface="Arial MT"/>
              </a:rPr>
              <a:t>Stop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processing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1000" y="228600"/>
            <a:ext cx="3505200" cy="1143000"/>
          </a:xfrm>
          <a:custGeom>
            <a:avLst/>
            <a:gdLst/>
            <a:ahLst/>
            <a:cxnLst/>
            <a:rect l="l" t="t" r="r" b="b"/>
            <a:pathLst>
              <a:path w="3505200" h="1143000">
                <a:moveTo>
                  <a:pt x="3505200" y="0"/>
                </a:moveTo>
                <a:lnTo>
                  <a:pt x="0" y="0"/>
                </a:lnTo>
                <a:lnTo>
                  <a:pt x="0" y="1143000"/>
                </a:lnTo>
                <a:lnTo>
                  <a:pt x="1752600" y="1143000"/>
                </a:lnTo>
                <a:lnTo>
                  <a:pt x="3505200" y="1143000"/>
                </a:lnTo>
                <a:lnTo>
                  <a:pt x="35052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43890" y="452120"/>
            <a:ext cx="2975610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>
                <a:latin typeface="Arial MT"/>
                <a:cs typeface="Arial MT"/>
              </a:rPr>
              <a:t>3</a:t>
            </a:r>
            <a:r>
              <a:rPr dirty="0" sz="4400">
                <a:latin typeface="Arial MT"/>
                <a:cs typeface="Arial MT"/>
              </a:rPr>
              <a:t>.</a:t>
            </a:r>
            <a:r>
              <a:rPr dirty="0" sz="4400" spc="-254">
                <a:latin typeface="Arial MT"/>
                <a:cs typeface="Arial MT"/>
              </a:rPr>
              <a:t> </a:t>
            </a:r>
            <a:r>
              <a:rPr dirty="0" sz="440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4400" spc="5">
                <a:solidFill>
                  <a:srgbClr val="FF0000"/>
                </a:solidFill>
                <a:latin typeface="Arial MT"/>
                <a:cs typeface="Arial MT"/>
              </a:rPr>
              <a:t>l</a:t>
            </a:r>
            <a:r>
              <a:rPr dirty="0" sz="4400" spc="-5">
                <a:solidFill>
                  <a:srgbClr val="FF0000"/>
                </a:solidFill>
                <a:latin typeface="Arial MT"/>
                <a:cs typeface="Arial MT"/>
              </a:rPr>
              <a:t>g</a:t>
            </a:r>
            <a:r>
              <a:rPr dirty="0" sz="4400" spc="-10">
                <a:solidFill>
                  <a:srgbClr val="FF0000"/>
                </a:solidFill>
                <a:latin typeface="Arial MT"/>
                <a:cs typeface="Arial MT"/>
              </a:rPr>
              <a:t>o</a:t>
            </a:r>
            <a:r>
              <a:rPr dirty="0" sz="4400">
                <a:solidFill>
                  <a:srgbClr val="FF0000"/>
                </a:solidFill>
                <a:latin typeface="Arial MT"/>
                <a:cs typeface="Arial MT"/>
              </a:rPr>
              <a:t>ri</a:t>
            </a:r>
            <a:r>
              <a:rPr dirty="0" sz="4400" spc="5">
                <a:solidFill>
                  <a:srgbClr val="FF0000"/>
                </a:solidFill>
                <a:latin typeface="Arial MT"/>
                <a:cs typeface="Arial MT"/>
              </a:rPr>
              <a:t>t</a:t>
            </a:r>
            <a:r>
              <a:rPr dirty="0" sz="4400" spc="-10">
                <a:solidFill>
                  <a:srgbClr val="FF0000"/>
                </a:solidFill>
                <a:latin typeface="Arial MT"/>
                <a:cs typeface="Arial MT"/>
              </a:rPr>
              <a:t>h</a:t>
            </a:r>
            <a:r>
              <a:rPr dirty="0" sz="4400">
                <a:solidFill>
                  <a:srgbClr val="FF0000"/>
                </a:solidFill>
                <a:latin typeface="Arial MT"/>
                <a:cs typeface="Arial MT"/>
              </a:rPr>
              <a:t>m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191000" y="259079"/>
            <a:ext cx="4495800" cy="1143000"/>
          </a:xfrm>
          <a:custGeom>
            <a:avLst/>
            <a:gdLst/>
            <a:ahLst/>
            <a:cxnLst/>
            <a:rect l="l" t="t" r="r" b="b"/>
            <a:pathLst>
              <a:path w="4495800" h="1143000">
                <a:moveTo>
                  <a:pt x="4495800" y="0"/>
                </a:moveTo>
                <a:lnTo>
                  <a:pt x="0" y="0"/>
                </a:lnTo>
                <a:lnTo>
                  <a:pt x="0" y="1143000"/>
                </a:lnTo>
                <a:lnTo>
                  <a:pt x="2247900" y="1143000"/>
                </a:lnTo>
                <a:lnTo>
                  <a:pt x="4495800" y="1143000"/>
                </a:lnTo>
                <a:lnTo>
                  <a:pt x="44958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0020" rIns="0" bIns="0" rtlCol="0" vert="horz">
            <a:spAutoFit/>
          </a:bodyPr>
          <a:lstStyle/>
          <a:p>
            <a:pPr marL="4832350" marR="5080" indent="-721360">
              <a:lnSpc>
                <a:spcPct val="110400"/>
              </a:lnSpc>
              <a:spcBef>
                <a:spcPts val="100"/>
              </a:spcBef>
            </a:pPr>
            <a:r>
              <a:rPr dirty="0" sz="3200" spc="-15" b="0">
                <a:latin typeface="Arial MT"/>
                <a:cs typeface="Arial MT"/>
              </a:rPr>
              <a:t>Translation </a:t>
            </a:r>
            <a:r>
              <a:rPr dirty="0" sz="3200" spc="-5" b="0">
                <a:latin typeface="Arial MT"/>
                <a:cs typeface="Arial MT"/>
              </a:rPr>
              <a:t>to </a:t>
            </a:r>
            <a:r>
              <a:rPr dirty="0" sz="3200" b="0">
                <a:latin typeface="Arial MT"/>
                <a:cs typeface="Arial MT"/>
              </a:rPr>
              <a:t>8085 </a:t>
            </a:r>
            <a:r>
              <a:rPr dirty="0" sz="3200" spc="-880" b="0">
                <a:latin typeface="Arial MT"/>
                <a:cs typeface="Arial MT"/>
              </a:rPr>
              <a:t> </a:t>
            </a:r>
            <a:r>
              <a:rPr dirty="0" sz="3200" b="0">
                <a:latin typeface="Arial MT"/>
                <a:cs typeface="Arial MT"/>
              </a:rPr>
              <a:t>operations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74320"/>
            <a:ext cx="8229600" cy="716280"/>
          </a:xfrm>
          <a:custGeom>
            <a:avLst/>
            <a:gdLst/>
            <a:ahLst/>
            <a:cxnLst/>
            <a:rect l="l" t="t" r="r" b="b"/>
            <a:pathLst>
              <a:path w="8229600" h="716280">
                <a:moveTo>
                  <a:pt x="8229600" y="0"/>
                </a:moveTo>
                <a:lnTo>
                  <a:pt x="0" y="0"/>
                </a:lnTo>
                <a:lnTo>
                  <a:pt x="0" y="716279"/>
                </a:lnTo>
                <a:lnTo>
                  <a:pt x="4114800" y="716279"/>
                </a:lnTo>
                <a:lnTo>
                  <a:pt x="8229600" y="716279"/>
                </a:lnTo>
                <a:lnTo>
                  <a:pt x="82296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74570" y="314959"/>
            <a:ext cx="459295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81885" algn="l"/>
              </a:tabLst>
            </a:pPr>
            <a:r>
              <a:rPr dirty="0" sz="4000" spc="-5" b="0">
                <a:latin typeface="Arial MT"/>
                <a:cs typeface="Arial MT"/>
              </a:rPr>
              <a:t>4</a:t>
            </a:r>
            <a:r>
              <a:rPr dirty="0" sz="4000" b="0">
                <a:latin typeface="Arial MT"/>
                <a:cs typeface="Arial MT"/>
              </a:rPr>
              <a:t>. </a:t>
            </a:r>
            <a:r>
              <a:rPr dirty="0" sz="4000" spc="-15" b="0">
                <a:solidFill>
                  <a:srgbClr val="FF0000"/>
                </a:solidFill>
                <a:latin typeface="Arial MT"/>
                <a:cs typeface="Arial MT"/>
              </a:rPr>
              <a:t>M</a:t>
            </a:r>
            <a:r>
              <a:rPr dirty="0" sz="4000" spc="-5" b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4000" b="0">
                <a:solidFill>
                  <a:srgbClr val="FF0000"/>
                </a:solidFill>
                <a:latin typeface="Arial MT"/>
                <a:cs typeface="Arial MT"/>
              </a:rPr>
              <a:t>ke a	</a:t>
            </a:r>
            <a:r>
              <a:rPr dirty="0" sz="4000" spc="-5" b="0">
                <a:solidFill>
                  <a:srgbClr val="FF0000"/>
                </a:solidFill>
                <a:latin typeface="Arial MT"/>
                <a:cs typeface="Arial MT"/>
              </a:rPr>
              <a:t>F</a:t>
            </a:r>
            <a:r>
              <a:rPr dirty="0" sz="4000" spc="-15" b="0">
                <a:solidFill>
                  <a:srgbClr val="FF0000"/>
                </a:solidFill>
                <a:latin typeface="Arial MT"/>
                <a:cs typeface="Arial MT"/>
              </a:rPr>
              <a:t>l</a:t>
            </a:r>
            <a:r>
              <a:rPr dirty="0" sz="4000" spc="-5" b="0">
                <a:solidFill>
                  <a:srgbClr val="FF0000"/>
                </a:solidFill>
                <a:latin typeface="Arial MT"/>
                <a:cs typeface="Arial MT"/>
              </a:rPr>
              <a:t>o</a:t>
            </a:r>
            <a:r>
              <a:rPr dirty="0" sz="4000" spc="-10" b="0">
                <a:solidFill>
                  <a:srgbClr val="FF0000"/>
                </a:solidFill>
                <a:latin typeface="Arial MT"/>
                <a:cs typeface="Arial MT"/>
              </a:rPr>
              <a:t>w</a:t>
            </a:r>
            <a:r>
              <a:rPr dirty="0" sz="4000" spc="5" b="0">
                <a:solidFill>
                  <a:srgbClr val="FF0000"/>
                </a:solidFill>
                <a:latin typeface="Arial MT"/>
                <a:cs typeface="Arial MT"/>
              </a:rPr>
              <a:t>c</a:t>
            </a:r>
            <a:r>
              <a:rPr dirty="0" sz="4000" spc="-5" b="0">
                <a:solidFill>
                  <a:srgbClr val="FF0000"/>
                </a:solidFill>
                <a:latin typeface="Arial MT"/>
                <a:cs typeface="Arial MT"/>
              </a:rPr>
              <a:t>har</a:t>
            </a:r>
            <a:r>
              <a:rPr dirty="0" sz="4000" b="0">
                <a:solidFill>
                  <a:srgbClr val="FF0000"/>
                </a:solidFill>
                <a:latin typeface="Arial MT"/>
                <a:cs typeface="Arial MT"/>
              </a:rPr>
              <a:t>t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66837" y="1290637"/>
            <a:ext cx="1304925" cy="466725"/>
            <a:chOff x="1366837" y="1290637"/>
            <a:chExt cx="1304925" cy="466725"/>
          </a:xfrm>
        </p:grpSpPr>
        <p:sp>
          <p:nvSpPr>
            <p:cNvPr id="5" name="object 5"/>
            <p:cNvSpPr/>
            <p:nvPr/>
          </p:nvSpPr>
          <p:spPr>
            <a:xfrm>
              <a:off x="1371600" y="1295400"/>
              <a:ext cx="1295400" cy="457200"/>
            </a:xfrm>
            <a:custGeom>
              <a:avLst/>
              <a:gdLst/>
              <a:ahLst/>
              <a:cxnLst/>
              <a:rect l="l" t="t" r="r" b="b"/>
              <a:pathLst>
                <a:path w="1295400" h="457200">
                  <a:moveTo>
                    <a:pt x="1087120" y="0"/>
                  </a:moveTo>
                  <a:lnTo>
                    <a:pt x="208280" y="0"/>
                  </a:lnTo>
                  <a:lnTo>
                    <a:pt x="163952" y="6664"/>
                  </a:lnTo>
                  <a:lnTo>
                    <a:pt x="121446" y="25325"/>
                  </a:lnTo>
                  <a:lnTo>
                    <a:pt x="82583" y="53984"/>
                  </a:lnTo>
                  <a:lnTo>
                    <a:pt x="49185" y="90640"/>
                  </a:lnTo>
                  <a:lnTo>
                    <a:pt x="23074" y="133294"/>
                  </a:lnTo>
                  <a:lnTo>
                    <a:pt x="6072" y="179947"/>
                  </a:lnTo>
                  <a:lnTo>
                    <a:pt x="0" y="228600"/>
                  </a:lnTo>
                  <a:lnTo>
                    <a:pt x="6072" y="277252"/>
                  </a:lnTo>
                  <a:lnTo>
                    <a:pt x="23074" y="323905"/>
                  </a:lnTo>
                  <a:lnTo>
                    <a:pt x="49185" y="366559"/>
                  </a:lnTo>
                  <a:lnTo>
                    <a:pt x="82583" y="403215"/>
                  </a:lnTo>
                  <a:lnTo>
                    <a:pt x="121446" y="431874"/>
                  </a:lnTo>
                  <a:lnTo>
                    <a:pt x="163952" y="450535"/>
                  </a:lnTo>
                  <a:lnTo>
                    <a:pt x="208280" y="457200"/>
                  </a:lnTo>
                  <a:lnTo>
                    <a:pt x="1087120" y="457200"/>
                  </a:lnTo>
                  <a:lnTo>
                    <a:pt x="1131447" y="450535"/>
                  </a:lnTo>
                  <a:lnTo>
                    <a:pt x="1173953" y="431874"/>
                  </a:lnTo>
                  <a:lnTo>
                    <a:pt x="1212816" y="403215"/>
                  </a:lnTo>
                  <a:lnTo>
                    <a:pt x="1246214" y="366559"/>
                  </a:lnTo>
                  <a:lnTo>
                    <a:pt x="1272325" y="323905"/>
                  </a:lnTo>
                  <a:lnTo>
                    <a:pt x="1289327" y="277252"/>
                  </a:lnTo>
                  <a:lnTo>
                    <a:pt x="1295400" y="228600"/>
                  </a:lnTo>
                  <a:lnTo>
                    <a:pt x="1289327" y="179947"/>
                  </a:lnTo>
                  <a:lnTo>
                    <a:pt x="1272325" y="133294"/>
                  </a:lnTo>
                  <a:lnTo>
                    <a:pt x="1246214" y="90640"/>
                  </a:lnTo>
                  <a:lnTo>
                    <a:pt x="1212816" y="53984"/>
                  </a:lnTo>
                  <a:lnTo>
                    <a:pt x="1173953" y="25325"/>
                  </a:lnTo>
                  <a:lnTo>
                    <a:pt x="1131447" y="6664"/>
                  </a:lnTo>
                  <a:lnTo>
                    <a:pt x="108712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71600" y="1295400"/>
              <a:ext cx="1295400" cy="457200"/>
            </a:xfrm>
            <a:custGeom>
              <a:avLst/>
              <a:gdLst/>
              <a:ahLst/>
              <a:cxnLst/>
              <a:rect l="l" t="t" r="r" b="b"/>
              <a:pathLst>
                <a:path w="1295400" h="457200">
                  <a:moveTo>
                    <a:pt x="208280" y="457200"/>
                  </a:moveTo>
                  <a:lnTo>
                    <a:pt x="163952" y="450535"/>
                  </a:lnTo>
                  <a:lnTo>
                    <a:pt x="121446" y="431874"/>
                  </a:lnTo>
                  <a:lnTo>
                    <a:pt x="82583" y="403215"/>
                  </a:lnTo>
                  <a:lnTo>
                    <a:pt x="49185" y="366559"/>
                  </a:lnTo>
                  <a:lnTo>
                    <a:pt x="23074" y="323905"/>
                  </a:lnTo>
                  <a:lnTo>
                    <a:pt x="6072" y="277252"/>
                  </a:lnTo>
                  <a:lnTo>
                    <a:pt x="0" y="228600"/>
                  </a:lnTo>
                  <a:lnTo>
                    <a:pt x="6072" y="179947"/>
                  </a:lnTo>
                  <a:lnTo>
                    <a:pt x="23074" y="133294"/>
                  </a:lnTo>
                  <a:lnTo>
                    <a:pt x="49185" y="90640"/>
                  </a:lnTo>
                  <a:lnTo>
                    <a:pt x="82583" y="53984"/>
                  </a:lnTo>
                  <a:lnTo>
                    <a:pt x="121446" y="25325"/>
                  </a:lnTo>
                  <a:lnTo>
                    <a:pt x="163952" y="6664"/>
                  </a:lnTo>
                  <a:lnTo>
                    <a:pt x="208280" y="0"/>
                  </a:lnTo>
                  <a:lnTo>
                    <a:pt x="1087120" y="0"/>
                  </a:lnTo>
                  <a:lnTo>
                    <a:pt x="1131447" y="6664"/>
                  </a:lnTo>
                  <a:lnTo>
                    <a:pt x="1173953" y="25325"/>
                  </a:lnTo>
                  <a:lnTo>
                    <a:pt x="1212816" y="53984"/>
                  </a:lnTo>
                  <a:lnTo>
                    <a:pt x="1246214" y="90640"/>
                  </a:lnTo>
                  <a:lnTo>
                    <a:pt x="1272325" y="133294"/>
                  </a:lnTo>
                  <a:lnTo>
                    <a:pt x="1289327" y="179947"/>
                  </a:lnTo>
                  <a:lnTo>
                    <a:pt x="1295400" y="228600"/>
                  </a:lnTo>
                  <a:lnTo>
                    <a:pt x="1289327" y="277252"/>
                  </a:lnTo>
                  <a:lnTo>
                    <a:pt x="1272325" y="323905"/>
                  </a:lnTo>
                  <a:lnTo>
                    <a:pt x="1246214" y="366559"/>
                  </a:lnTo>
                  <a:lnTo>
                    <a:pt x="1212816" y="403215"/>
                  </a:lnTo>
                  <a:lnTo>
                    <a:pt x="1173953" y="431874"/>
                  </a:lnTo>
                  <a:lnTo>
                    <a:pt x="1131447" y="450535"/>
                  </a:lnTo>
                  <a:lnTo>
                    <a:pt x="1087120" y="457200"/>
                  </a:lnTo>
                  <a:lnTo>
                    <a:pt x="208280" y="457200"/>
                  </a:lnTo>
                  <a:close/>
                </a:path>
                <a:path w="1295400" h="457200">
                  <a:moveTo>
                    <a:pt x="0" y="0"/>
                  </a:moveTo>
                  <a:lnTo>
                    <a:pt x="0" y="0"/>
                  </a:lnTo>
                </a:path>
                <a:path w="1295400" h="457200">
                  <a:moveTo>
                    <a:pt x="1295400" y="457200"/>
                  </a:moveTo>
                  <a:lnTo>
                    <a:pt x="12954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658620" y="1328420"/>
            <a:ext cx="7194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Arial"/>
                <a:cs typeface="Arial"/>
              </a:rPr>
              <a:t>S</a:t>
            </a:r>
            <a:r>
              <a:rPr dirty="0" sz="2400" spc="5" b="1">
                <a:latin typeface="Arial"/>
                <a:cs typeface="Arial"/>
              </a:rPr>
              <a:t>t</a:t>
            </a:r>
            <a:r>
              <a:rPr dirty="0" sz="2400" spc="-10" b="1">
                <a:latin typeface="Arial"/>
                <a:cs typeface="Arial"/>
              </a:rPr>
              <a:t>ar</a:t>
            </a:r>
            <a:r>
              <a:rPr dirty="0" sz="2400" b="1">
                <a:latin typeface="Arial"/>
                <a:cs typeface="Arial"/>
              </a:rPr>
              <a:t>t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0037" y="2128837"/>
            <a:ext cx="3590925" cy="542925"/>
            <a:chOff x="300037" y="2128837"/>
            <a:chExt cx="3590925" cy="542925"/>
          </a:xfrm>
        </p:grpSpPr>
        <p:sp>
          <p:nvSpPr>
            <p:cNvPr id="9" name="object 9"/>
            <p:cNvSpPr/>
            <p:nvPr/>
          </p:nvSpPr>
          <p:spPr>
            <a:xfrm>
              <a:off x="304800" y="2133600"/>
              <a:ext cx="3581400" cy="533400"/>
            </a:xfrm>
            <a:custGeom>
              <a:avLst/>
              <a:gdLst/>
              <a:ahLst/>
              <a:cxnLst/>
              <a:rect l="l" t="t" r="r" b="b"/>
              <a:pathLst>
                <a:path w="3581400" h="533400">
                  <a:moveTo>
                    <a:pt x="3581400" y="0"/>
                  </a:moveTo>
                  <a:lnTo>
                    <a:pt x="701040" y="0"/>
                  </a:lnTo>
                  <a:lnTo>
                    <a:pt x="0" y="533400"/>
                  </a:lnTo>
                  <a:lnTo>
                    <a:pt x="2880360" y="533400"/>
                  </a:lnTo>
                  <a:lnTo>
                    <a:pt x="35814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4800" y="2133600"/>
              <a:ext cx="3581400" cy="533400"/>
            </a:xfrm>
            <a:custGeom>
              <a:avLst/>
              <a:gdLst/>
              <a:ahLst/>
              <a:cxnLst/>
              <a:rect l="l" t="t" r="r" b="b"/>
              <a:pathLst>
                <a:path w="3581400" h="533400">
                  <a:moveTo>
                    <a:pt x="701040" y="0"/>
                  </a:moveTo>
                  <a:lnTo>
                    <a:pt x="3581400" y="0"/>
                  </a:lnTo>
                  <a:lnTo>
                    <a:pt x="2880360" y="533400"/>
                  </a:lnTo>
                  <a:lnTo>
                    <a:pt x="0" y="533400"/>
                  </a:lnTo>
                  <a:lnTo>
                    <a:pt x="701040" y="0"/>
                  </a:lnTo>
                  <a:close/>
                </a:path>
                <a:path w="3581400" h="533400">
                  <a:moveTo>
                    <a:pt x="0" y="0"/>
                  </a:moveTo>
                  <a:lnTo>
                    <a:pt x="0" y="0"/>
                  </a:lnTo>
                </a:path>
                <a:path w="3581400" h="533400">
                  <a:moveTo>
                    <a:pt x="3581400" y="533400"/>
                  </a:moveTo>
                  <a:lnTo>
                    <a:pt x="3581400" y="5334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45819" y="2235200"/>
            <a:ext cx="2426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Arial"/>
                <a:cs typeface="Arial"/>
              </a:rPr>
              <a:t>Load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Registers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D,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6800" y="3048000"/>
            <a:ext cx="1828800" cy="457200"/>
          </a:xfrm>
          <a:prstGeom prst="rect">
            <a:avLst/>
          </a:prstGeom>
          <a:solidFill>
            <a:srgbClr val="BADFE2"/>
          </a:solidFill>
          <a:ln w="9344">
            <a:solidFill>
              <a:srgbClr val="000000"/>
            </a:solidFill>
          </a:ln>
        </p:spPr>
        <p:txBody>
          <a:bodyPr wrap="square" lIns="0" tIns="76200" rIns="0" bIns="0" rtlCol="0" vert="horz">
            <a:spAutoFit/>
          </a:bodyPr>
          <a:lstStyle/>
          <a:p>
            <a:pPr marL="191135">
              <a:lnSpc>
                <a:spcPct val="100000"/>
              </a:lnSpc>
              <a:spcBef>
                <a:spcPts val="600"/>
              </a:spcBef>
            </a:pPr>
            <a:r>
              <a:rPr dirty="0" sz="2000" b="1">
                <a:latin typeface="Arial"/>
                <a:cs typeface="Arial"/>
              </a:rPr>
              <a:t>Copy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D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to</a:t>
            </a:r>
            <a:r>
              <a:rPr dirty="0" sz="2000" spc="-114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6800" y="3886200"/>
            <a:ext cx="1828800" cy="457200"/>
          </a:xfrm>
          <a:prstGeom prst="rect">
            <a:avLst/>
          </a:prstGeom>
          <a:solidFill>
            <a:srgbClr val="BADFE2"/>
          </a:solidFill>
          <a:ln w="9344">
            <a:solidFill>
              <a:srgbClr val="000000"/>
            </a:solidFill>
          </a:ln>
        </p:spPr>
        <p:txBody>
          <a:bodyPr wrap="square" lIns="0" tIns="76200" rIns="0" bIns="0" rtlCol="0" vert="horz">
            <a:spAutoFit/>
          </a:bodyPr>
          <a:lstStyle/>
          <a:p>
            <a:pPr marL="168275">
              <a:lnSpc>
                <a:spcPct val="100000"/>
              </a:lnSpc>
              <a:spcBef>
                <a:spcPts val="600"/>
              </a:spcBef>
            </a:pPr>
            <a:r>
              <a:rPr dirty="0" sz="2000" b="1">
                <a:latin typeface="Arial"/>
                <a:cs typeface="Arial"/>
              </a:rPr>
              <a:t>Add</a:t>
            </a:r>
            <a:r>
              <a:rPr dirty="0" sz="2000" spc="-114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</a:t>
            </a:r>
            <a:r>
              <a:rPr dirty="0" sz="2000" spc="-10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and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6800" y="4724400"/>
            <a:ext cx="1828800" cy="457200"/>
          </a:xfrm>
          <a:prstGeom prst="rect">
            <a:avLst/>
          </a:prstGeom>
          <a:solidFill>
            <a:srgbClr val="BADFE2"/>
          </a:solidFill>
          <a:ln w="9344">
            <a:solidFill>
              <a:srgbClr val="000000"/>
            </a:solidFill>
          </a:ln>
        </p:spPr>
        <p:txBody>
          <a:bodyPr wrap="square" lIns="0" tIns="76200" rIns="0" bIns="0" rtlCol="0" vert="horz">
            <a:spAutoFit/>
          </a:bodyPr>
          <a:lstStyle/>
          <a:p>
            <a:pPr marL="196850">
              <a:lnSpc>
                <a:spcPct val="100000"/>
              </a:lnSpc>
              <a:spcBef>
                <a:spcPts val="600"/>
              </a:spcBef>
            </a:pPr>
            <a:r>
              <a:rPr dirty="0" sz="2000" b="1">
                <a:latin typeface="Arial"/>
                <a:cs typeface="Arial"/>
              </a:rPr>
              <a:t>Copy</a:t>
            </a:r>
            <a:r>
              <a:rPr dirty="0" sz="2000" spc="-114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</a:t>
            </a:r>
            <a:r>
              <a:rPr dirty="0" sz="2000" spc="-10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to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290637" y="5557837"/>
            <a:ext cx="1304925" cy="466725"/>
            <a:chOff x="1290637" y="5557837"/>
            <a:chExt cx="1304925" cy="466725"/>
          </a:xfrm>
        </p:grpSpPr>
        <p:sp>
          <p:nvSpPr>
            <p:cNvPr id="16" name="object 16"/>
            <p:cNvSpPr/>
            <p:nvPr/>
          </p:nvSpPr>
          <p:spPr>
            <a:xfrm>
              <a:off x="1295400" y="5562600"/>
              <a:ext cx="1295400" cy="457200"/>
            </a:xfrm>
            <a:custGeom>
              <a:avLst/>
              <a:gdLst/>
              <a:ahLst/>
              <a:cxnLst/>
              <a:rect l="l" t="t" r="r" b="b"/>
              <a:pathLst>
                <a:path w="1295400" h="457200">
                  <a:moveTo>
                    <a:pt x="1087120" y="0"/>
                  </a:moveTo>
                  <a:lnTo>
                    <a:pt x="207009" y="0"/>
                  </a:lnTo>
                  <a:lnTo>
                    <a:pt x="163152" y="6664"/>
                  </a:lnTo>
                  <a:lnTo>
                    <a:pt x="120983" y="25325"/>
                  </a:lnTo>
                  <a:lnTo>
                    <a:pt x="82346" y="53984"/>
                  </a:lnTo>
                  <a:lnTo>
                    <a:pt x="49085" y="90640"/>
                  </a:lnTo>
                  <a:lnTo>
                    <a:pt x="23045" y="133294"/>
                  </a:lnTo>
                  <a:lnTo>
                    <a:pt x="6068" y="179947"/>
                  </a:lnTo>
                  <a:lnTo>
                    <a:pt x="0" y="228600"/>
                  </a:lnTo>
                  <a:lnTo>
                    <a:pt x="6068" y="277252"/>
                  </a:lnTo>
                  <a:lnTo>
                    <a:pt x="23045" y="323905"/>
                  </a:lnTo>
                  <a:lnTo>
                    <a:pt x="49085" y="366559"/>
                  </a:lnTo>
                  <a:lnTo>
                    <a:pt x="82346" y="403215"/>
                  </a:lnTo>
                  <a:lnTo>
                    <a:pt x="120983" y="431874"/>
                  </a:lnTo>
                  <a:lnTo>
                    <a:pt x="163152" y="450535"/>
                  </a:lnTo>
                  <a:lnTo>
                    <a:pt x="207009" y="457200"/>
                  </a:lnTo>
                  <a:lnTo>
                    <a:pt x="1087120" y="457200"/>
                  </a:lnTo>
                  <a:lnTo>
                    <a:pt x="1131447" y="450535"/>
                  </a:lnTo>
                  <a:lnTo>
                    <a:pt x="1173953" y="431874"/>
                  </a:lnTo>
                  <a:lnTo>
                    <a:pt x="1212816" y="403215"/>
                  </a:lnTo>
                  <a:lnTo>
                    <a:pt x="1246214" y="366559"/>
                  </a:lnTo>
                  <a:lnTo>
                    <a:pt x="1272325" y="323905"/>
                  </a:lnTo>
                  <a:lnTo>
                    <a:pt x="1289327" y="277252"/>
                  </a:lnTo>
                  <a:lnTo>
                    <a:pt x="1295400" y="228600"/>
                  </a:lnTo>
                  <a:lnTo>
                    <a:pt x="1289327" y="179947"/>
                  </a:lnTo>
                  <a:lnTo>
                    <a:pt x="1272325" y="133294"/>
                  </a:lnTo>
                  <a:lnTo>
                    <a:pt x="1246214" y="90640"/>
                  </a:lnTo>
                  <a:lnTo>
                    <a:pt x="1212816" y="53984"/>
                  </a:lnTo>
                  <a:lnTo>
                    <a:pt x="1173953" y="25325"/>
                  </a:lnTo>
                  <a:lnTo>
                    <a:pt x="1131447" y="6664"/>
                  </a:lnTo>
                  <a:lnTo>
                    <a:pt x="108712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295400" y="5562600"/>
              <a:ext cx="1295400" cy="457200"/>
            </a:xfrm>
            <a:custGeom>
              <a:avLst/>
              <a:gdLst/>
              <a:ahLst/>
              <a:cxnLst/>
              <a:rect l="l" t="t" r="r" b="b"/>
              <a:pathLst>
                <a:path w="1295400" h="457200">
                  <a:moveTo>
                    <a:pt x="207009" y="457200"/>
                  </a:moveTo>
                  <a:lnTo>
                    <a:pt x="163152" y="450535"/>
                  </a:lnTo>
                  <a:lnTo>
                    <a:pt x="120983" y="431874"/>
                  </a:lnTo>
                  <a:lnTo>
                    <a:pt x="82346" y="403215"/>
                  </a:lnTo>
                  <a:lnTo>
                    <a:pt x="49085" y="366559"/>
                  </a:lnTo>
                  <a:lnTo>
                    <a:pt x="23045" y="323905"/>
                  </a:lnTo>
                  <a:lnTo>
                    <a:pt x="6068" y="277252"/>
                  </a:lnTo>
                  <a:lnTo>
                    <a:pt x="0" y="228600"/>
                  </a:lnTo>
                  <a:lnTo>
                    <a:pt x="6068" y="179947"/>
                  </a:lnTo>
                  <a:lnTo>
                    <a:pt x="23045" y="133294"/>
                  </a:lnTo>
                  <a:lnTo>
                    <a:pt x="49085" y="90640"/>
                  </a:lnTo>
                  <a:lnTo>
                    <a:pt x="82346" y="53984"/>
                  </a:lnTo>
                  <a:lnTo>
                    <a:pt x="120983" y="25325"/>
                  </a:lnTo>
                  <a:lnTo>
                    <a:pt x="163152" y="6664"/>
                  </a:lnTo>
                  <a:lnTo>
                    <a:pt x="207009" y="0"/>
                  </a:lnTo>
                  <a:lnTo>
                    <a:pt x="1087120" y="0"/>
                  </a:lnTo>
                  <a:lnTo>
                    <a:pt x="1131447" y="6664"/>
                  </a:lnTo>
                  <a:lnTo>
                    <a:pt x="1173953" y="25325"/>
                  </a:lnTo>
                  <a:lnTo>
                    <a:pt x="1212816" y="53984"/>
                  </a:lnTo>
                  <a:lnTo>
                    <a:pt x="1246214" y="90640"/>
                  </a:lnTo>
                  <a:lnTo>
                    <a:pt x="1272325" y="133294"/>
                  </a:lnTo>
                  <a:lnTo>
                    <a:pt x="1289327" y="179947"/>
                  </a:lnTo>
                  <a:lnTo>
                    <a:pt x="1295400" y="228600"/>
                  </a:lnTo>
                  <a:lnTo>
                    <a:pt x="1289327" y="277252"/>
                  </a:lnTo>
                  <a:lnTo>
                    <a:pt x="1272325" y="323905"/>
                  </a:lnTo>
                  <a:lnTo>
                    <a:pt x="1246214" y="366559"/>
                  </a:lnTo>
                  <a:lnTo>
                    <a:pt x="1212816" y="403215"/>
                  </a:lnTo>
                  <a:lnTo>
                    <a:pt x="1173953" y="431874"/>
                  </a:lnTo>
                  <a:lnTo>
                    <a:pt x="1131447" y="450535"/>
                  </a:lnTo>
                  <a:lnTo>
                    <a:pt x="1087120" y="457200"/>
                  </a:lnTo>
                  <a:lnTo>
                    <a:pt x="207009" y="457200"/>
                  </a:lnTo>
                  <a:close/>
                </a:path>
                <a:path w="1295400" h="457200">
                  <a:moveTo>
                    <a:pt x="0" y="0"/>
                  </a:moveTo>
                  <a:lnTo>
                    <a:pt x="0" y="0"/>
                  </a:lnTo>
                </a:path>
                <a:path w="1295400" h="457200">
                  <a:moveTo>
                    <a:pt x="1295400" y="457200"/>
                  </a:moveTo>
                  <a:lnTo>
                    <a:pt x="12954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591310" y="5595620"/>
            <a:ext cx="702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Arial"/>
                <a:cs typeface="Arial"/>
              </a:rPr>
              <a:t>St</a:t>
            </a:r>
            <a:r>
              <a:rPr dirty="0" sz="2400" b="1">
                <a:latin typeface="Arial"/>
                <a:cs typeface="Arial"/>
              </a:rPr>
              <a:t>op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267200" y="1676400"/>
            <a:ext cx="4724400" cy="1219200"/>
          </a:xfrm>
          <a:custGeom>
            <a:avLst/>
            <a:gdLst/>
            <a:ahLst/>
            <a:cxnLst/>
            <a:rect l="l" t="t" r="r" b="b"/>
            <a:pathLst>
              <a:path w="4724400" h="1219200">
                <a:moveTo>
                  <a:pt x="4724400" y="0"/>
                </a:moveTo>
                <a:lnTo>
                  <a:pt x="0" y="0"/>
                </a:lnTo>
                <a:lnTo>
                  <a:pt x="0" y="1219200"/>
                </a:lnTo>
                <a:lnTo>
                  <a:pt x="2362200" y="1219200"/>
                </a:lnTo>
                <a:lnTo>
                  <a:pt x="4724400" y="1219200"/>
                </a:lnTo>
                <a:lnTo>
                  <a:pt x="47244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319270" y="1621790"/>
            <a:ext cx="4328160" cy="105664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80365" algn="l"/>
                <a:tab pos="381000" algn="l"/>
              </a:tabLst>
            </a:pPr>
            <a:r>
              <a:rPr dirty="0" sz="2800" spc="-5">
                <a:latin typeface="Arial MT"/>
                <a:cs typeface="Arial MT"/>
              </a:rPr>
              <a:t>Load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10">
                <a:latin typeface="Arial MT"/>
                <a:cs typeface="Arial MT"/>
              </a:rPr>
              <a:t>1</a:t>
            </a:r>
            <a:r>
              <a:rPr dirty="0" baseline="29513" sz="2400" spc="15">
                <a:latin typeface="Arial MT"/>
                <a:cs typeface="Arial MT"/>
              </a:rPr>
              <a:t>st</a:t>
            </a:r>
            <a:r>
              <a:rPr dirty="0" baseline="29513" sz="2400" spc="494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no.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in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register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</a:t>
            </a:r>
            <a:endParaRPr sz="2800">
              <a:latin typeface="Arial MT"/>
              <a:cs typeface="Arial MT"/>
            </a:endParaRPr>
          </a:p>
          <a:p>
            <a:pPr marL="38100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80365" algn="l"/>
                <a:tab pos="381000" algn="l"/>
              </a:tabLst>
            </a:pPr>
            <a:r>
              <a:rPr dirty="0" sz="2800" spc="-5">
                <a:latin typeface="Arial MT"/>
                <a:cs typeface="Arial MT"/>
              </a:rPr>
              <a:t>Load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 spc="10">
                <a:latin typeface="Arial MT"/>
                <a:cs typeface="Arial MT"/>
              </a:rPr>
              <a:t>2</a:t>
            </a:r>
            <a:r>
              <a:rPr dirty="0" baseline="29513" sz="2400" spc="15">
                <a:latin typeface="Arial MT"/>
                <a:cs typeface="Arial MT"/>
              </a:rPr>
              <a:t>nd</a:t>
            </a:r>
            <a:r>
              <a:rPr dirty="0" baseline="29513" sz="2400" spc="472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no.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in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register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267200" y="3048000"/>
            <a:ext cx="4724400" cy="1219200"/>
          </a:xfrm>
          <a:custGeom>
            <a:avLst/>
            <a:gdLst/>
            <a:ahLst/>
            <a:cxnLst/>
            <a:rect l="l" t="t" r="r" b="b"/>
            <a:pathLst>
              <a:path w="4724400" h="1219200">
                <a:moveTo>
                  <a:pt x="4724400" y="0"/>
                </a:moveTo>
                <a:lnTo>
                  <a:pt x="0" y="0"/>
                </a:lnTo>
                <a:lnTo>
                  <a:pt x="0" y="1219200"/>
                </a:lnTo>
                <a:lnTo>
                  <a:pt x="2362200" y="1219200"/>
                </a:lnTo>
                <a:lnTo>
                  <a:pt x="4724400" y="1219200"/>
                </a:lnTo>
                <a:lnTo>
                  <a:pt x="47244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344670" y="2993390"/>
            <a:ext cx="3550920" cy="105664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10">
                <a:latin typeface="Arial MT"/>
                <a:cs typeface="Arial MT"/>
              </a:rPr>
              <a:t>Copy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register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1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Arial MT"/>
                <a:cs typeface="Arial MT"/>
              </a:rPr>
              <a:t>Add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register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1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267200" y="4572000"/>
            <a:ext cx="4724400" cy="685800"/>
          </a:xfrm>
          <a:custGeom>
            <a:avLst/>
            <a:gdLst/>
            <a:ahLst/>
            <a:cxnLst/>
            <a:rect l="l" t="t" r="r" b="b"/>
            <a:pathLst>
              <a:path w="4724400" h="685800">
                <a:moveTo>
                  <a:pt x="4724400" y="0"/>
                </a:moveTo>
                <a:lnTo>
                  <a:pt x="0" y="0"/>
                </a:lnTo>
                <a:lnTo>
                  <a:pt x="0" y="685800"/>
                </a:lnTo>
                <a:lnTo>
                  <a:pt x="2362200" y="685800"/>
                </a:lnTo>
                <a:lnTo>
                  <a:pt x="4724400" y="685800"/>
                </a:lnTo>
                <a:lnTo>
                  <a:pt x="4724400" y="0"/>
                </a:lnTo>
                <a:close/>
              </a:path>
            </a:pathLst>
          </a:custGeom>
          <a:solidFill>
            <a:srgbClr val="3398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267200" y="5334000"/>
            <a:ext cx="4724400" cy="685800"/>
          </a:xfrm>
          <a:custGeom>
            <a:avLst/>
            <a:gdLst/>
            <a:ahLst/>
            <a:cxnLst/>
            <a:rect l="l" t="t" r="r" b="b"/>
            <a:pathLst>
              <a:path w="4724400" h="685800">
                <a:moveTo>
                  <a:pt x="4724400" y="0"/>
                </a:moveTo>
                <a:lnTo>
                  <a:pt x="0" y="0"/>
                </a:lnTo>
                <a:lnTo>
                  <a:pt x="0" y="685800"/>
                </a:lnTo>
                <a:lnTo>
                  <a:pt x="2362200" y="685800"/>
                </a:lnTo>
                <a:lnTo>
                  <a:pt x="4724400" y="685800"/>
                </a:lnTo>
                <a:lnTo>
                  <a:pt x="4724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344670" y="4606290"/>
            <a:ext cx="3529329" cy="1214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10">
                <a:latin typeface="Arial MT"/>
                <a:cs typeface="Arial MT"/>
              </a:rPr>
              <a:t>Copy</a:t>
            </a:r>
            <a:r>
              <a:rPr dirty="0" sz="2800" spc="-1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7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to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register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264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Arial MT"/>
                <a:cs typeface="Arial MT"/>
              </a:rPr>
              <a:t>Stop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processing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924050" y="1752600"/>
            <a:ext cx="114300" cy="1295400"/>
            <a:chOff x="1924050" y="1752600"/>
            <a:chExt cx="114300" cy="1295400"/>
          </a:xfrm>
        </p:grpSpPr>
        <p:sp>
          <p:nvSpPr>
            <p:cNvPr id="27" name="object 27"/>
            <p:cNvSpPr/>
            <p:nvPr/>
          </p:nvSpPr>
          <p:spPr>
            <a:xfrm>
              <a:off x="1981200" y="1752600"/>
              <a:ext cx="0" cy="274320"/>
            </a:xfrm>
            <a:custGeom>
              <a:avLst/>
              <a:gdLst/>
              <a:ahLst/>
              <a:cxnLst/>
              <a:rect l="l" t="t" r="r" b="b"/>
              <a:pathLst>
                <a:path w="0" h="274319">
                  <a:moveTo>
                    <a:pt x="0" y="0"/>
                  </a:moveTo>
                  <a:lnTo>
                    <a:pt x="0" y="274320"/>
                  </a:lnTo>
                </a:path>
              </a:pathLst>
            </a:custGeom>
            <a:ln w="3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924050" y="20193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981200" y="2667000"/>
              <a:ext cx="0" cy="274320"/>
            </a:xfrm>
            <a:custGeom>
              <a:avLst/>
              <a:gdLst/>
              <a:ahLst/>
              <a:cxnLst/>
              <a:rect l="l" t="t" r="r" b="b"/>
              <a:pathLst>
                <a:path w="0" h="274319">
                  <a:moveTo>
                    <a:pt x="0" y="0"/>
                  </a:moveTo>
                  <a:lnTo>
                    <a:pt x="0" y="274320"/>
                  </a:lnTo>
                </a:path>
              </a:pathLst>
            </a:custGeom>
            <a:ln w="3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924050" y="29337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/>
          <p:cNvGrpSpPr/>
          <p:nvPr/>
        </p:nvGrpSpPr>
        <p:grpSpPr>
          <a:xfrm>
            <a:off x="1924050" y="3505200"/>
            <a:ext cx="114300" cy="381000"/>
            <a:chOff x="1924050" y="3505200"/>
            <a:chExt cx="114300" cy="381000"/>
          </a:xfrm>
        </p:grpSpPr>
        <p:sp>
          <p:nvSpPr>
            <p:cNvPr id="32" name="object 32"/>
            <p:cNvSpPr/>
            <p:nvPr/>
          </p:nvSpPr>
          <p:spPr>
            <a:xfrm>
              <a:off x="1981200" y="3505200"/>
              <a:ext cx="0" cy="274320"/>
            </a:xfrm>
            <a:custGeom>
              <a:avLst/>
              <a:gdLst/>
              <a:ahLst/>
              <a:cxnLst/>
              <a:rect l="l" t="t" r="r" b="b"/>
              <a:pathLst>
                <a:path w="0" h="274320">
                  <a:moveTo>
                    <a:pt x="0" y="0"/>
                  </a:moveTo>
                  <a:lnTo>
                    <a:pt x="0" y="274319"/>
                  </a:lnTo>
                </a:path>
              </a:pathLst>
            </a:custGeom>
            <a:ln w="3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924050" y="37719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/>
          <p:cNvGrpSpPr/>
          <p:nvPr/>
        </p:nvGrpSpPr>
        <p:grpSpPr>
          <a:xfrm>
            <a:off x="1924050" y="4343400"/>
            <a:ext cx="114300" cy="381000"/>
            <a:chOff x="1924050" y="4343400"/>
            <a:chExt cx="114300" cy="381000"/>
          </a:xfrm>
        </p:grpSpPr>
        <p:sp>
          <p:nvSpPr>
            <p:cNvPr id="35" name="object 35"/>
            <p:cNvSpPr/>
            <p:nvPr/>
          </p:nvSpPr>
          <p:spPr>
            <a:xfrm>
              <a:off x="1981200" y="4343400"/>
              <a:ext cx="0" cy="274320"/>
            </a:xfrm>
            <a:custGeom>
              <a:avLst/>
              <a:gdLst/>
              <a:ahLst/>
              <a:cxnLst/>
              <a:rect l="l" t="t" r="r" b="b"/>
              <a:pathLst>
                <a:path w="0" h="274320">
                  <a:moveTo>
                    <a:pt x="0" y="0"/>
                  </a:moveTo>
                  <a:lnTo>
                    <a:pt x="0" y="274319"/>
                  </a:lnTo>
                </a:path>
              </a:pathLst>
            </a:custGeom>
            <a:ln w="3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924050" y="46101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/>
          <p:cNvGrpSpPr/>
          <p:nvPr/>
        </p:nvGrpSpPr>
        <p:grpSpPr>
          <a:xfrm>
            <a:off x="1924050" y="5181600"/>
            <a:ext cx="114300" cy="381000"/>
            <a:chOff x="1924050" y="5181600"/>
            <a:chExt cx="114300" cy="381000"/>
          </a:xfrm>
        </p:grpSpPr>
        <p:sp>
          <p:nvSpPr>
            <p:cNvPr id="38" name="object 38"/>
            <p:cNvSpPr/>
            <p:nvPr/>
          </p:nvSpPr>
          <p:spPr>
            <a:xfrm>
              <a:off x="1981200" y="5181600"/>
              <a:ext cx="0" cy="274320"/>
            </a:xfrm>
            <a:custGeom>
              <a:avLst/>
              <a:gdLst/>
              <a:ahLst/>
              <a:cxnLst/>
              <a:rect l="l" t="t" r="r" b="b"/>
              <a:pathLst>
                <a:path w="0" h="274320">
                  <a:moveTo>
                    <a:pt x="0" y="0"/>
                  </a:moveTo>
                  <a:lnTo>
                    <a:pt x="0" y="274319"/>
                  </a:lnTo>
                </a:path>
              </a:pathLst>
            </a:custGeom>
            <a:ln w="3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924050" y="54483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67400" y="1676400"/>
            <a:ext cx="2819400" cy="4876800"/>
          </a:xfrm>
          <a:custGeom>
            <a:avLst/>
            <a:gdLst/>
            <a:ahLst/>
            <a:cxnLst/>
            <a:rect l="l" t="t" r="r" b="b"/>
            <a:pathLst>
              <a:path w="2819400" h="4876800">
                <a:moveTo>
                  <a:pt x="2819400" y="0"/>
                </a:moveTo>
                <a:lnTo>
                  <a:pt x="0" y="0"/>
                </a:lnTo>
                <a:lnTo>
                  <a:pt x="0" y="4876800"/>
                </a:lnTo>
                <a:lnTo>
                  <a:pt x="1409700" y="4876800"/>
                </a:lnTo>
                <a:lnTo>
                  <a:pt x="2819400" y="4876800"/>
                </a:lnTo>
                <a:lnTo>
                  <a:pt x="2819400" y="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57200" y="274320"/>
            <a:ext cx="8229600" cy="1143000"/>
          </a:xfrm>
          <a:custGeom>
            <a:avLst/>
            <a:gdLst/>
            <a:ahLst/>
            <a:cxnLst/>
            <a:rect l="l" t="t" r="r" b="b"/>
            <a:pathLst>
              <a:path w="8229600" h="1143000">
                <a:moveTo>
                  <a:pt x="8229600" y="0"/>
                </a:moveTo>
                <a:lnTo>
                  <a:pt x="0" y="0"/>
                </a:lnTo>
                <a:lnTo>
                  <a:pt x="0" y="1143000"/>
                </a:lnTo>
                <a:lnTo>
                  <a:pt x="4114800" y="1143000"/>
                </a:lnTo>
                <a:lnTo>
                  <a:pt x="8229600" y="1143000"/>
                </a:lnTo>
                <a:lnTo>
                  <a:pt x="82296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9119" y="497840"/>
            <a:ext cx="7976234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 b="0">
                <a:latin typeface="Arial MT"/>
                <a:cs typeface="Arial MT"/>
              </a:rPr>
              <a:t>5.</a:t>
            </a:r>
            <a:r>
              <a:rPr dirty="0" sz="4400" spc="-254" b="0"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Assembly</a:t>
            </a:r>
            <a:r>
              <a:rPr dirty="0" sz="4400" b="0">
                <a:latin typeface="Arial MT"/>
                <a:cs typeface="Arial MT"/>
              </a:rPr>
              <a:t> </a:t>
            </a:r>
            <a:r>
              <a:rPr dirty="0" sz="4400" spc="-10" b="0">
                <a:latin typeface="Arial MT"/>
                <a:cs typeface="Arial MT"/>
              </a:rPr>
              <a:t>Language </a:t>
            </a:r>
            <a:r>
              <a:rPr dirty="0" sz="4400" spc="-5" b="0">
                <a:latin typeface="Arial MT"/>
                <a:cs typeface="Arial MT"/>
              </a:rPr>
              <a:t>Program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634490"/>
            <a:ext cx="32651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465" algn="l"/>
              </a:tabLst>
            </a:pPr>
            <a:r>
              <a:rPr dirty="0" sz="2800" spc="-5">
                <a:latin typeface="Arial MT"/>
                <a:cs typeface="Arial MT"/>
              </a:rPr>
              <a:t>1.	Get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two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numbers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7200" y="2057400"/>
            <a:ext cx="4572000" cy="990600"/>
          </a:xfrm>
          <a:custGeom>
            <a:avLst/>
            <a:gdLst/>
            <a:ahLst/>
            <a:cxnLst/>
            <a:rect l="l" t="t" r="r" b="b"/>
            <a:pathLst>
              <a:path w="4572000" h="990600">
                <a:moveTo>
                  <a:pt x="4572000" y="0"/>
                </a:moveTo>
                <a:lnTo>
                  <a:pt x="0" y="0"/>
                </a:lnTo>
                <a:lnTo>
                  <a:pt x="0" y="990600"/>
                </a:lnTo>
                <a:lnTo>
                  <a:pt x="2286000" y="990600"/>
                </a:lnTo>
                <a:lnTo>
                  <a:pt x="4572000" y="990600"/>
                </a:lnTo>
                <a:lnTo>
                  <a:pt x="45720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09269" y="2015490"/>
            <a:ext cx="3970020" cy="909319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571500" indent="-533400">
              <a:lnSpc>
                <a:spcPct val="100000"/>
              </a:lnSpc>
              <a:spcBef>
                <a:spcPts val="700"/>
              </a:spcBef>
              <a:buAutoNum type="alphaLcParenR"/>
              <a:tabLst>
                <a:tab pos="570865" algn="l"/>
                <a:tab pos="571500" algn="l"/>
              </a:tabLst>
            </a:pPr>
            <a:r>
              <a:rPr dirty="0" sz="2400" spc="-10">
                <a:latin typeface="Arial MT"/>
                <a:cs typeface="Arial MT"/>
              </a:rPr>
              <a:t>Load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1</a:t>
            </a:r>
            <a:r>
              <a:rPr dirty="0" baseline="27777" sz="2100" spc="-7">
                <a:latin typeface="Arial MT"/>
                <a:cs typeface="Arial MT"/>
              </a:rPr>
              <a:t>st</a:t>
            </a:r>
            <a:r>
              <a:rPr dirty="0" baseline="27777" sz="2100" spc="382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no.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in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register</a:t>
            </a:r>
            <a:r>
              <a:rPr dirty="0" sz="2400">
                <a:latin typeface="Arial MT"/>
                <a:cs typeface="Arial MT"/>
              </a:rPr>
              <a:t> D</a:t>
            </a:r>
            <a:endParaRPr sz="2400">
              <a:latin typeface="Arial MT"/>
              <a:cs typeface="Arial MT"/>
            </a:endParaRPr>
          </a:p>
          <a:p>
            <a:pPr marL="571500" indent="-533400">
              <a:lnSpc>
                <a:spcPct val="100000"/>
              </a:lnSpc>
              <a:spcBef>
                <a:spcPts val="600"/>
              </a:spcBef>
              <a:buAutoNum type="alphaLcParenR"/>
              <a:tabLst>
                <a:tab pos="570865" algn="l"/>
                <a:tab pos="571500" algn="l"/>
              </a:tabLst>
            </a:pPr>
            <a:r>
              <a:rPr dirty="0" sz="2400" spc="-10">
                <a:latin typeface="Arial MT"/>
                <a:cs typeface="Arial MT"/>
              </a:rPr>
              <a:t>Load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2</a:t>
            </a:r>
            <a:r>
              <a:rPr dirty="0" baseline="27777" sz="2100" spc="-7">
                <a:latin typeface="Arial MT"/>
                <a:cs typeface="Arial MT"/>
              </a:rPr>
              <a:t>nd</a:t>
            </a:r>
            <a:r>
              <a:rPr dirty="0" baseline="27777" sz="2100" spc="40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no.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in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register </a:t>
            </a:r>
            <a:r>
              <a:rPr dirty="0" sz="2400">
                <a:latin typeface="Arial MT"/>
                <a:cs typeface="Arial MT"/>
              </a:rPr>
              <a:t>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7200" y="3429000"/>
            <a:ext cx="4572000" cy="990600"/>
          </a:xfrm>
          <a:custGeom>
            <a:avLst/>
            <a:gdLst/>
            <a:ahLst/>
            <a:cxnLst/>
            <a:rect l="l" t="t" r="r" b="b"/>
            <a:pathLst>
              <a:path w="4572000" h="990600">
                <a:moveTo>
                  <a:pt x="4572000" y="0"/>
                </a:moveTo>
                <a:lnTo>
                  <a:pt x="0" y="0"/>
                </a:lnTo>
                <a:lnTo>
                  <a:pt x="0" y="990600"/>
                </a:lnTo>
                <a:lnTo>
                  <a:pt x="2286000" y="990600"/>
                </a:lnTo>
                <a:lnTo>
                  <a:pt x="4572000" y="990600"/>
                </a:lnTo>
                <a:lnTo>
                  <a:pt x="45720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7200" y="4800600"/>
            <a:ext cx="4572000" cy="533400"/>
          </a:xfrm>
          <a:custGeom>
            <a:avLst/>
            <a:gdLst/>
            <a:ahLst/>
            <a:cxnLst/>
            <a:rect l="l" t="t" r="r" b="b"/>
            <a:pathLst>
              <a:path w="4572000" h="533400">
                <a:moveTo>
                  <a:pt x="4572000" y="0"/>
                </a:moveTo>
                <a:lnTo>
                  <a:pt x="0" y="0"/>
                </a:lnTo>
                <a:lnTo>
                  <a:pt x="0" y="533400"/>
                </a:lnTo>
                <a:lnTo>
                  <a:pt x="2286000" y="533400"/>
                </a:lnTo>
                <a:lnTo>
                  <a:pt x="4572000" y="533400"/>
                </a:lnTo>
                <a:lnTo>
                  <a:pt x="4572000" y="0"/>
                </a:lnTo>
                <a:close/>
              </a:path>
            </a:pathLst>
          </a:custGeom>
          <a:solidFill>
            <a:srgbClr val="3398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34669" y="3081020"/>
            <a:ext cx="3283585" cy="2145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ts val="3185"/>
              </a:lnSpc>
              <a:spcBef>
                <a:spcPts val="100"/>
              </a:spcBef>
              <a:tabLst>
                <a:tab pos="546735" algn="l"/>
              </a:tabLst>
            </a:pPr>
            <a:r>
              <a:rPr dirty="0" sz="2800" spc="-5">
                <a:latin typeface="Arial MT"/>
                <a:cs typeface="Arial MT"/>
              </a:rPr>
              <a:t>2.	Add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them</a:t>
            </a:r>
            <a:endParaRPr sz="2800">
              <a:latin typeface="Arial MT"/>
              <a:cs typeface="Arial MT"/>
            </a:endParaRPr>
          </a:p>
          <a:p>
            <a:pPr marL="546100" indent="-533400">
              <a:lnSpc>
                <a:spcPts val="2705"/>
              </a:lnSpc>
              <a:buAutoNum type="alphaLcParenR"/>
              <a:tabLst>
                <a:tab pos="545465" algn="l"/>
                <a:tab pos="546100" algn="l"/>
              </a:tabLst>
            </a:pPr>
            <a:r>
              <a:rPr dirty="0" sz="2400" spc="-10">
                <a:latin typeface="Arial MT"/>
                <a:cs typeface="Arial MT"/>
              </a:rPr>
              <a:t>Copy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register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1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600"/>
              </a:spcBef>
              <a:buAutoNum type="alphaLcParenR"/>
              <a:tabLst>
                <a:tab pos="545465" algn="l"/>
                <a:tab pos="546100" algn="l"/>
              </a:tabLst>
            </a:pPr>
            <a:r>
              <a:rPr dirty="0" sz="2400" spc="-15">
                <a:latin typeface="Arial MT"/>
                <a:cs typeface="Arial MT"/>
              </a:rPr>
              <a:t>A</a:t>
            </a:r>
            <a:r>
              <a:rPr dirty="0" sz="2400" spc="-10">
                <a:latin typeface="Arial MT"/>
                <a:cs typeface="Arial MT"/>
              </a:rPr>
              <a:t>d</a:t>
            </a:r>
            <a:r>
              <a:rPr dirty="0" sz="2400">
                <a:latin typeface="Arial MT"/>
                <a:cs typeface="Arial MT"/>
              </a:rPr>
              <a:t>d r</a:t>
            </a:r>
            <a:r>
              <a:rPr dirty="0" sz="2400" spc="-5">
                <a:latin typeface="Arial MT"/>
                <a:cs typeface="Arial MT"/>
              </a:rPr>
              <a:t>e</a:t>
            </a:r>
            <a:r>
              <a:rPr dirty="0" sz="2400">
                <a:latin typeface="Arial MT"/>
                <a:cs typeface="Arial MT"/>
              </a:rPr>
              <a:t>g</a:t>
            </a:r>
            <a:r>
              <a:rPr dirty="0" sz="2400" spc="-5">
                <a:latin typeface="Arial MT"/>
                <a:cs typeface="Arial MT"/>
              </a:rPr>
              <a:t>i</a:t>
            </a:r>
            <a:r>
              <a:rPr dirty="0" sz="2400" spc="-10">
                <a:latin typeface="Arial MT"/>
                <a:cs typeface="Arial MT"/>
              </a:rPr>
              <a:t>s</a:t>
            </a:r>
            <a:r>
              <a:rPr dirty="0" sz="2400" spc="10">
                <a:latin typeface="Arial MT"/>
                <a:cs typeface="Arial MT"/>
              </a:rPr>
              <a:t>t</a:t>
            </a:r>
            <a:r>
              <a:rPr dirty="0" sz="2400" spc="-10">
                <a:latin typeface="Arial MT"/>
                <a:cs typeface="Arial MT"/>
              </a:rPr>
              <a:t>e</a:t>
            </a:r>
            <a:r>
              <a:rPr dirty="0" sz="2400">
                <a:latin typeface="Arial MT"/>
                <a:cs typeface="Arial MT"/>
              </a:rPr>
              <a:t>r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10">
                <a:latin typeface="Arial MT"/>
                <a:cs typeface="Arial MT"/>
              </a:rPr>
              <a:t>t</a:t>
            </a:r>
            <a:r>
              <a:rPr dirty="0" sz="2400">
                <a:latin typeface="Arial MT"/>
                <a:cs typeface="Arial MT"/>
              </a:rPr>
              <a:t>o</a:t>
            </a:r>
            <a:r>
              <a:rPr dirty="0" sz="2400" spc="-1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  <a:p>
            <a:pPr marL="13970">
              <a:lnSpc>
                <a:spcPts val="2890"/>
              </a:lnSpc>
              <a:spcBef>
                <a:spcPts val="2020"/>
              </a:spcBef>
              <a:tabLst>
                <a:tab pos="546735" algn="l"/>
              </a:tabLst>
            </a:pPr>
            <a:r>
              <a:rPr dirty="0" sz="2800" spc="-5">
                <a:latin typeface="Arial MT"/>
                <a:cs typeface="Arial MT"/>
              </a:rPr>
              <a:t>3.	Store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result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ts val="2410"/>
              </a:lnSpc>
              <a:tabLst>
                <a:tab pos="545465" algn="l"/>
              </a:tabLst>
            </a:pPr>
            <a:r>
              <a:rPr dirty="0" sz="2400" spc="-10">
                <a:latin typeface="Arial MT"/>
                <a:cs typeface="Arial MT"/>
              </a:rPr>
              <a:t>a</a:t>
            </a:r>
            <a:r>
              <a:rPr dirty="0" sz="2400">
                <a:latin typeface="Arial MT"/>
                <a:cs typeface="Arial MT"/>
              </a:rPr>
              <a:t>)	</a:t>
            </a:r>
            <a:r>
              <a:rPr dirty="0" sz="2400" spc="-5">
                <a:latin typeface="Arial MT"/>
                <a:cs typeface="Arial MT"/>
              </a:rPr>
              <a:t>C</a:t>
            </a:r>
            <a:r>
              <a:rPr dirty="0" sz="2400" spc="-10">
                <a:latin typeface="Arial MT"/>
                <a:cs typeface="Arial MT"/>
              </a:rPr>
              <a:t>op</a:t>
            </a:r>
            <a:r>
              <a:rPr dirty="0" sz="2400">
                <a:latin typeface="Arial MT"/>
                <a:cs typeface="Arial MT"/>
              </a:rPr>
              <a:t>y</a:t>
            </a:r>
            <a:r>
              <a:rPr dirty="0" sz="2400" spc="-1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1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 r</a:t>
            </a:r>
            <a:r>
              <a:rPr dirty="0" sz="2400" spc="-5">
                <a:latin typeface="Arial MT"/>
                <a:cs typeface="Arial MT"/>
              </a:rPr>
              <a:t>e</a:t>
            </a:r>
            <a:r>
              <a:rPr dirty="0" sz="2400">
                <a:latin typeface="Arial MT"/>
                <a:cs typeface="Arial MT"/>
              </a:rPr>
              <a:t>g</a:t>
            </a:r>
            <a:r>
              <a:rPr dirty="0" sz="2400" spc="-15">
                <a:latin typeface="Arial MT"/>
                <a:cs typeface="Arial MT"/>
              </a:rPr>
              <a:t>i</a:t>
            </a:r>
            <a:r>
              <a:rPr dirty="0" sz="2400">
                <a:latin typeface="Arial MT"/>
                <a:cs typeface="Arial MT"/>
              </a:rPr>
              <a:t>ster C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7200" y="5867400"/>
            <a:ext cx="4572000" cy="457200"/>
          </a:xfrm>
          <a:custGeom>
            <a:avLst/>
            <a:gdLst/>
            <a:ahLst/>
            <a:cxnLst/>
            <a:rect l="l" t="t" r="r" b="b"/>
            <a:pathLst>
              <a:path w="4572000" h="457200">
                <a:moveTo>
                  <a:pt x="4572000" y="0"/>
                </a:moveTo>
                <a:lnTo>
                  <a:pt x="0" y="0"/>
                </a:lnTo>
                <a:lnTo>
                  <a:pt x="0" y="457200"/>
                </a:lnTo>
                <a:lnTo>
                  <a:pt x="2286000" y="457200"/>
                </a:lnTo>
                <a:lnTo>
                  <a:pt x="4572000" y="457200"/>
                </a:lnTo>
                <a:lnTo>
                  <a:pt x="45720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34669" y="5487670"/>
            <a:ext cx="2741295" cy="805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ts val="3310"/>
              </a:lnSpc>
              <a:spcBef>
                <a:spcPts val="100"/>
              </a:spcBef>
              <a:tabLst>
                <a:tab pos="546735" algn="l"/>
              </a:tabLst>
            </a:pPr>
            <a:r>
              <a:rPr dirty="0" sz="2800" spc="-5">
                <a:latin typeface="Arial MT"/>
                <a:cs typeface="Arial MT"/>
              </a:rPr>
              <a:t>4.	Stop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ts val="2830"/>
              </a:lnSpc>
              <a:tabLst>
                <a:tab pos="545465" algn="l"/>
              </a:tabLst>
            </a:pPr>
            <a:r>
              <a:rPr dirty="0" sz="2400" spc="-5">
                <a:latin typeface="Arial MT"/>
                <a:cs typeface="Arial MT"/>
              </a:rPr>
              <a:t>a)	Stop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processing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248400" y="2057400"/>
            <a:ext cx="2057400" cy="990600"/>
          </a:xfrm>
          <a:custGeom>
            <a:avLst/>
            <a:gdLst/>
            <a:ahLst/>
            <a:cxnLst/>
            <a:rect l="l" t="t" r="r" b="b"/>
            <a:pathLst>
              <a:path w="2057400" h="990600">
                <a:moveTo>
                  <a:pt x="2057400" y="0"/>
                </a:moveTo>
                <a:lnTo>
                  <a:pt x="0" y="0"/>
                </a:lnTo>
                <a:lnTo>
                  <a:pt x="0" y="990600"/>
                </a:lnTo>
                <a:lnTo>
                  <a:pt x="1028700" y="990600"/>
                </a:lnTo>
                <a:lnTo>
                  <a:pt x="2057400" y="990600"/>
                </a:lnTo>
                <a:lnTo>
                  <a:pt x="20574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248400" y="3429000"/>
            <a:ext cx="2057400" cy="990600"/>
          </a:xfrm>
          <a:custGeom>
            <a:avLst/>
            <a:gdLst/>
            <a:ahLst/>
            <a:cxnLst/>
            <a:rect l="l" t="t" r="r" b="b"/>
            <a:pathLst>
              <a:path w="2057400" h="990600">
                <a:moveTo>
                  <a:pt x="2057400" y="0"/>
                </a:moveTo>
                <a:lnTo>
                  <a:pt x="0" y="0"/>
                </a:lnTo>
                <a:lnTo>
                  <a:pt x="0" y="990600"/>
                </a:lnTo>
                <a:lnTo>
                  <a:pt x="1028700" y="990600"/>
                </a:lnTo>
                <a:lnTo>
                  <a:pt x="2057400" y="990600"/>
                </a:lnTo>
                <a:lnTo>
                  <a:pt x="20574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248400" y="4800600"/>
            <a:ext cx="2057400" cy="533400"/>
          </a:xfrm>
          <a:custGeom>
            <a:avLst/>
            <a:gdLst/>
            <a:ahLst/>
            <a:cxnLst/>
            <a:rect l="l" t="t" r="r" b="b"/>
            <a:pathLst>
              <a:path w="2057400" h="533400">
                <a:moveTo>
                  <a:pt x="2057400" y="0"/>
                </a:moveTo>
                <a:lnTo>
                  <a:pt x="0" y="0"/>
                </a:lnTo>
                <a:lnTo>
                  <a:pt x="0" y="533400"/>
                </a:lnTo>
                <a:lnTo>
                  <a:pt x="1028700" y="533400"/>
                </a:lnTo>
                <a:lnTo>
                  <a:pt x="2057400" y="533400"/>
                </a:lnTo>
                <a:lnTo>
                  <a:pt x="2057400" y="0"/>
                </a:lnTo>
                <a:close/>
              </a:path>
            </a:pathLst>
          </a:custGeom>
          <a:solidFill>
            <a:srgbClr val="3398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248400" y="5867400"/>
            <a:ext cx="2057400" cy="457200"/>
          </a:xfrm>
          <a:custGeom>
            <a:avLst/>
            <a:gdLst/>
            <a:ahLst/>
            <a:cxnLst/>
            <a:rect l="l" t="t" r="r" b="b"/>
            <a:pathLst>
              <a:path w="2057400" h="457200">
                <a:moveTo>
                  <a:pt x="2057400" y="0"/>
                </a:moveTo>
                <a:lnTo>
                  <a:pt x="0" y="0"/>
                </a:lnTo>
                <a:lnTo>
                  <a:pt x="0" y="457200"/>
                </a:lnTo>
                <a:lnTo>
                  <a:pt x="1028700" y="457200"/>
                </a:lnTo>
                <a:lnTo>
                  <a:pt x="2057400" y="457200"/>
                </a:lnTo>
                <a:lnTo>
                  <a:pt x="2057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867400" y="1676400"/>
            <a:ext cx="2819400" cy="4876800"/>
          </a:xfrm>
          <a:prstGeom prst="rect">
            <a:avLst/>
          </a:prstGeom>
          <a:ln w="28393">
            <a:solidFill>
              <a:srgbClr val="FF00FF"/>
            </a:solidFill>
          </a:ln>
        </p:spPr>
        <p:txBody>
          <a:bodyPr wrap="square" lIns="0" tIns="339090" rIns="0" bIns="0" rtlCol="0" vert="horz">
            <a:spAutoFit/>
          </a:bodyPr>
          <a:lstStyle/>
          <a:p>
            <a:pPr marL="471170" marR="702945">
              <a:lnSpc>
                <a:spcPct val="120800"/>
              </a:lnSpc>
              <a:spcBef>
                <a:spcPts val="2670"/>
              </a:spcBef>
            </a:pPr>
            <a:r>
              <a:rPr dirty="0" sz="2800" spc="-10">
                <a:latin typeface="Arial MT"/>
                <a:cs typeface="Arial MT"/>
              </a:rPr>
              <a:t>MVI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D,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2H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MVI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E,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5">
                <a:latin typeface="Arial MT"/>
                <a:cs typeface="Arial MT"/>
              </a:rPr>
              <a:t>3H</a:t>
            </a:r>
            <a:endParaRPr sz="2800">
              <a:latin typeface="Arial MT"/>
              <a:cs typeface="Arial MT"/>
            </a:endParaRPr>
          </a:p>
          <a:p>
            <a:pPr marL="471170" marR="763270">
              <a:lnSpc>
                <a:spcPct val="120800"/>
              </a:lnSpc>
              <a:spcBef>
                <a:spcPts val="2680"/>
              </a:spcBef>
            </a:pPr>
            <a:r>
              <a:rPr dirty="0" sz="2800" spc="-15">
                <a:latin typeface="Arial MT"/>
                <a:cs typeface="Arial MT"/>
              </a:rPr>
              <a:t>M</a:t>
            </a:r>
            <a:r>
              <a:rPr dirty="0" sz="2800">
                <a:latin typeface="Arial MT"/>
                <a:cs typeface="Arial MT"/>
              </a:rPr>
              <a:t>OV</a:t>
            </a:r>
            <a:r>
              <a:rPr dirty="0" sz="2800" spc="-1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</a:t>
            </a:r>
            <a:r>
              <a:rPr dirty="0" sz="2800">
                <a:latin typeface="Arial MT"/>
                <a:cs typeface="Arial MT"/>
              </a:rPr>
              <a:t>, D  </a:t>
            </a:r>
            <a:r>
              <a:rPr dirty="0" sz="2800" spc="-10">
                <a:latin typeface="Arial MT"/>
                <a:cs typeface="Arial MT"/>
              </a:rPr>
              <a:t>ADD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00">
              <a:latin typeface="Arial MT"/>
              <a:cs typeface="Arial MT"/>
            </a:endParaRPr>
          </a:p>
          <a:p>
            <a:pPr marL="471170">
              <a:lnSpc>
                <a:spcPct val="100000"/>
              </a:lnSpc>
            </a:pPr>
            <a:r>
              <a:rPr dirty="0" sz="2800" spc="-5">
                <a:latin typeface="Arial MT"/>
                <a:cs typeface="Arial MT"/>
              </a:rPr>
              <a:t>MOV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C,</a:t>
            </a:r>
            <a:r>
              <a:rPr dirty="0" sz="2800" spc="-1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350">
              <a:latin typeface="Arial MT"/>
              <a:cs typeface="Arial MT"/>
            </a:endParaRPr>
          </a:p>
          <a:p>
            <a:pPr marL="471170">
              <a:lnSpc>
                <a:spcPct val="100000"/>
              </a:lnSpc>
            </a:pPr>
            <a:r>
              <a:rPr dirty="0" sz="2800" spc="-75">
                <a:latin typeface="Arial MT"/>
                <a:cs typeface="Arial MT"/>
              </a:rPr>
              <a:t>HLT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06400"/>
            <a:ext cx="7989570" cy="878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5" b="0">
                <a:latin typeface="Arial MT"/>
                <a:cs typeface="Arial MT"/>
              </a:rPr>
              <a:t>Program</a:t>
            </a:r>
            <a:r>
              <a:rPr dirty="0" spc="-15" b="0">
                <a:latin typeface="Arial MT"/>
                <a:cs typeface="Arial MT"/>
              </a:rPr>
              <a:t> </a:t>
            </a:r>
            <a:r>
              <a:rPr dirty="0" spc="-5" b="0">
                <a:latin typeface="Arial MT"/>
                <a:cs typeface="Arial MT"/>
              </a:rPr>
              <a:t>8085</a:t>
            </a:r>
            <a:r>
              <a:rPr dirty="0" spc="-1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in</a:t>
            </a:r>
            <a:r>
              <a:rPr dirty="0" spc="-160" b="0">
                <a:latin typeface="Arial MT"/>
                <a:cs typeface="Arial MT"/>
              </a:rPr>
              <a:t> </a:t>
            </a:r>
            <a:r>
              <a:rPr dirty="0" spc="-5" b="0">
                <a:latin typeface="Arial MT"/>
                <a:cs typeface="Arial MT"/>
              </a:rPr>
              <a:t>Assembly language</a:t>
            </a:r>
            <a:r>
              <a:rPr dirty="0" spc="-1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to</a:t>
            </a:r>
            <a:r>
              <a:rPr dirty="0" spc="-10" b="0">
                <a:latin typeface="Arial MT"/>
                <a:cs typeface="Arial MT"/>
              </a:rPr>
              <a:t> </a:t>
            </a:r>
            <a:r>
              <a:rPr dirty="0" spc="-5" b="0">
                <a:latin typeface="Arial MT"/>
                <a:cs typeface="Arial MT"/>
              </a:rPr>
              <a:t>add</a:t>
            </a:r>
            <a:r>
              <a:rPr dirty="0" spc="5" b="0">
                <a:latin typeface="Arial MT"/>
                <a:cs typeface="Arial MT"/>
              </a:rPr>
              <a:t> </a:t>
            </a:r>
            <a:r>
              <a:rPr dirty="0" spc="-5" b="0">
                <a:latin typeface="Arial MT"/>
                <a:cs typeface="Arial MT"/>
              </a:rPr>
              <a:t>two</a:t>
            </a:r>
            <a:r>
              <a:rPr dirty="0" spc="-10" b="0">
                <a:latin typeface="Arial MT"/>
                <a:cs typeface="Arial MT"/>
              </a:rPr>
              <a:t> </a:t>
            </a:r>
            <a:r>
              <a:rPr dirty="0" spc="-5" b="0">
                <a:latin typeface="Arial MT"/>
                <a:cs typeface="Arial MT"/>
              </a:rPr>
              <a:t>8- </a:t>
            </a:r>
            <a:r>
              <a:rPr dirty="0" spc="-765" b="0">
                <a:latin typeface="Arial MT"/>
                <a:cs typeface="Arial MT"/>
              </a:rPr>
              <a:t> </a:t>
            </a:r>
            <a:r>
              <a:rPr dirty="0" spc="-5" b="0">
                <a:latin typeface="Arial MT"/>
                <a:cs typeface="Arial MT"/>
              </a:rPr>
              <a:t>bit numbers.</a:t>
            </a:r>
            <a:r>
              <a:rPr dirty="0" b="0">
                <a:latin typeface="Arial MT"/>
                <a:cs typeface="Arial MT"/>
              </a:rPr>
              <a:t> </a:t>
            </a:r>
            <a:r>
              <a:rPr dirty="0" spc="-5" b="0">
                <a:latin typeface="Arial MT"/>
                <a:cs typeface="Arial MT"/>
              </a:rPr>
              <a:t>Result</a:t>
            </a:r>
            <a:r>
              <a:rPr dirty="0" b="0">
                <a:latin typeface="Arial MT"/>
                <a:cs typeface="Arial MT"/>
              </a:rPr>
              <a:t> can </a:t>
            </a:r>
            <a:r>
              <a:rPr dirty="0" spc="-5" b="0">
                <a:latin typeface="Arial MT"/>
                <a:cs typeface="Arial MT"/>
              </a:rPr>
              <a:t>be more</a:t>
            </a:r>
            <a:r>
              <a:rPr dirty="0" spc="-1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than</a:t>
            </a:r>
            <a:r>
              <a:rPr dirty="0" spc="-5" b="0">
                <a:latin typeface="Arial MT"/>
                <a:cs typeface="Arial MT"/>
              </a:rPr>
              <a:t> 8-bits.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35759"/>
            <a:ext cx="434403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1665" algn="l"/>
              </a:tabLst>
            </a:pPr>
            <a:r>
              <a:rPr dirty="0" sz="3200" spc="-5">
                <a:solidFill>
                  <a:srgbClr val="FF0000"/>
                </a:solidFill>
                <a:latin typeface="Arial MT"/>
                <a:cs typeface="Arial MT"/>
              </a:rPr>
              <a:t>1.	</a:t>
            </a:r>
            <a:r>
              <a:rPr dirty="0" sz="3200">
                <a:solidFill>
                  <a:srgbClr val="FF0000"/>
                </a:solidFill>
                <a:latin typeface="Arial MT"/>
                <a:cs typeface="Arial MT"/>
              </a:rPr>
              <a:t>Analyze</a:t>
            </a:r>
            <a:r>
              <a:rPr dirty="0" sz="32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3200" spc="-5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dirty="0" sz="320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0000"/>
                </a:solidFill>
                <a:latin typeface="Arial MT"/>
                <a:cs typeface="Arial MT"/>
              </a:rPr>
              <a:t>problem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3138170"/>
            <a:ext cx="2235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2213609"/>
            <a:ext cx="7299959" cy="1397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46100" marR="5080" indent="-533400">
              <a:lnSpc>
                <a:spcPct val="100299"/>
              </a:lnSpc>
              <a:spcBef>
                <a:spcPts val="90"/>
              </a:spcBef>
              <a:tabLst>
                <a:tab pos="545465" algn="l"/>
              </a:tabLst>
            </a:pPr>
            <a:r>
              <a:rPr dirty="0" baseline="2976" sz="4200">
                <a:latin typeface="Arial MT"/>
                <a:cs typeface="Arial MT"/>
              </a:rPr>
              <a:t>–	</a:t>
            </a:r>
            <a:r>
              <a:rPr dirty="0" sz="2800" spc="-5">
                <a:latin typeface="Arial MT"/>
                <a:cs typeface="Arial MT"/>
              </a:rPr>
              <a:t>Result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of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addition of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two 8-bit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numbers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can </a:t>
            </a:r>
            <a:r>
              <a:rPr dirty="0" sz="2800" spc="-76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be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9-bit</a:t>
            </a:r>
            <a:endParaRPr sz="2800">
              <a:latin typeface="Arial MT"/>
              <a:cs typeface="Arial MT"/>
            </a:endParaRPr>
          </a:p>
          <a:p>
            <a:pPr marL="546100">
              <a:lnSpc>
                <a:spcPct val="100000"/>
              </a:lnSpc>
              <a:spcBef>
                <a:spcPts val="710"/>
              </a:spcBef>
            </a:pPr>
            <a:r>
              <a:rPr dirty="0" sz="2800" spc="-5">
                <a:latin typeface="Arial MT"/>
                <a:cs typeface="Arial MT"/>
              </a:rPr>
              <a:t>Example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9140" y="3583940"/>
            <a:ext cx="1814195" cy="105918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algn="r" marR="13335">
              <a:lnSpc>
                <a:spcPct val="100000"/>
              </a:lnSpc>
              <a:spcBef>
                <a:spcPts val="810"/>
              </a:spcBef>
            </a:pPr>
            <a:r>
              <a:rPr dirty="0" sz="2800" spc="-5">
                <a:latin typeface="Arial MT"/>
                <a:cs typeface="Arial MT"/>
              </a:rPr>
              <a:t>10011001</a:t>
            </a:r>
            <a:endParaRPr sz="28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710"/>
              </a:spcBef>
            </a:pPr>
            <a:r>
              <a:rPr dirty="0" sz="2800" spc="-10">
                <a:latin typeface="Arial MT"/>
                <a:cs typeface="Arial MT"/>
              </a:rPr>
              <a:t>+10011001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5105" y="3583940"/>
            <a:ext cx="1265555" cy="105918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800" spc="-5">
                <a:latin typeface="Arial MT"/>
                <a:cs typeface="Arial MT"/>
              </a:rPr>
              <a:t>(99H)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D50092"/>
                </a:solidFill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  <a:p>
            <a:pPr marL="20955">
              <a:lnSpc>
                <a:spcPct val="100000"/>
              </a:lnSpc>
              <a:spcBef>
                <a:spcPts val="710"/>
              </a:spcBef>
            </a:pPr>
            <a:r>
              <a:rPr dirty="0" sz="2800" spc="-5">
                <a:latin typeface="Arial MT"/>
                <a:cs typeface="Arial MT"/>
              </a:rPr>
              <a:t>(99H)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D50092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01139" y="4617720"/>
            <a:ext cx="6851650" cy="105918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algn="ctr" marR="293370">
              <a:lnSpc>
                <a:spcPct val="100000"/>
              </a:lnSpc>
              <a:spcBef>
                <a:spcPts val="810"/>
              </a:spcBef>
            </a:pPr>
            <a:r>
              <a:rPr dirty="0" sz="2800" spc="-5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dirty="0" sz="2800" spc="-5">
                <a:latin typeface="Arial MT"/>
                <a:cs typeface="Arial MT"/>
              </a:rPr>
              <a:t>00110010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(</a:t>
            </a:r>
            <a:r>
              <a:rPr dirty="0" sz="280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r>
              <a:rPr dirty="0" sz="2800">
                <a:latin typeface="Arial MT"/>
                <a:cs typeface="Arial MT"/>
              </a:rPr>
              <a:t>32H)</a:t>
            </a:r>
            <a:endParaRPr sz="2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dirty="0" sz="2800" spc="-10">
                <a:latin typeface="Arial MT"/>
                <a:cs typeface="Arial MT"/>
              </a:rPr>
              <a:t>The </a:t>
            </a:r>
            <a:r>
              <a:rPr dirty="0" sz="2800" spc="10">
                <a:latin typeface="Arial MT"/>
                <a:cs typeface="Arial MT"/>
              </a:rPr>
              <a:t>9</a:t>
            </a:r>
            <a:r>
              <a:rPr dirty="0" baseline="17361" sz="2400" spc="15">
                <a:latin typeface="Arial MT"/>
                <a:cs typeface="Arial MT"/>
              </a:rPr>
              <a:t>th</a:t>
            </a:r>
            <a:r>
              <a:rPr dirty="0" baseline="17361" sz="2400" spc="48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bit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in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the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result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is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called </a:t>
            </a:r>
            <a:r>
              <a:rPr dirty="0" sz="2800" spc="-20">
                <a:latin typeface="Arial MT"/>
                <a:cs typeface="Arial MT"/>
              </a:rPr>
              <a:t>CARRY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bit.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3139" y="5204459"/>
            <a:ext cx="2235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Arial MT"/>
                <a:cs typeface="Arial MT"/>
              </a:rPr>
              <a:t>–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71727" y="5481727"/>
            <a:ext cx="466725" cy="542925"/>
            <a:chOff x="1671727" y="5481727"/>
            <a:chExt cx="466725" cy="542925"/>
          </a:xfrm>
        </p:grpSpPr>
        <p:sp>
          <p:nvSpPr>
            <p:cNvPr id="3" name="object 3"/>
            <p:cNvSpPr/>
            <p:nvPr/>
          </p:nvSpPr>
          <p:spPr>
            <a:xfrm>
              <a:off x="1676399" y="5486400"/>
              <a:ext cx="457200" cy="533400"/>
            </a:xfrm>
            <a:custGeom>
              <a:avLst/>
              <a:gdLst/>
              <a:ahLst/>
              <a:cxnLst/>
              <a:rect l="l" t="t" r="r" b="b"/>
              <a:pathLst>
                <a:path w="457200" h="533400">
                  <a:moveTo>
                    <a:pt x="4572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228600" y="533400"/>
                  </a:lnTo>
                  <a:lnTo>
                    <a:pt x="457200" y="5334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76399" y="5486400"/>
              <a:ext cx="457200" cy="533400"/>
            </a:xfrm>
            <a:custGeom>
              <a:avLst/>
              <a:gdLst/>
              <a:ahLst/>
              <a:cxnLst/>
              <a:rect l="l" t="t" r="r" b="b"/>
              <a:pathLst>
                <a:path w="457200" h="533400">
                  <a:moveTo>
                    <a:pt x="228600" y="533400"/>
                  </a:moveTo>
                  <a:lnTo>
                    <a:pt x="0" y="5334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533400"/>
                  </a:lnTo>
                  <a:lnTo>
                    <a:pt x="228600" y="5334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76399" y="5486400"/>
              <a:ext cx="457200" cy="533400"/>
            </a:xfrm>
            <a:custGeom>
              <a:avLst/>
              <a:gdLst/>
              <a:ahLst/>
              <a:cxnLst/>
              <a:rect l="l" t="t" r="r" b="b"/>
              <a:pathLst>
                <a:path w="457200" h="533400">
                  <a:moveTo>
                    <a:pt x="4572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228600" y="533400"/>
                  </a:lnTo>
                  <a:lnTo>
                    <a:pt x="457200" y="5334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676399" y="5486400"/>
              <a:ext cx="457200" cy="533400"/>
            </a:xfrm>
            <a:custGeom>
              <a:avLst/>
              <a:gdLst/>
              <a:ahLst/>
              <a:cxnLst/>
              <a:rect l="l" t="t" r="r" b="b"/>
              <a:pathLst>
                <a:path w="457200" h="533400">
                  <a:moveTo>
                    <a:pt x="228600" y="533400"/>
                  </a:moveTo>
                  <a:lnTo>
                    <a:pt x="0" y="533400"/>
                  </a:lnTo>
                  <a:lnTo>
                    <a:pt x="0" y="0"/>
                  </a:lnTo>
                  <a:lnTo>
                    <a:pt x="457200" y="0"/>
                  </a:lnTo>
                  <a:lnTo>
                    <a:pt x="457200" y="533400"/>
                  </a:lnTo>
                  <a:lnTo>
                    <a:pt x="228600" y="5334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35940" y="465908"/>
            <a:ext cx="7169784" cy="2165985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1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>
                <a:latin typeface="Arial MT"/>
                <a:cs typeface="Arial MT"/>
              </a:rPr>
              <a:t>H</a:t>
            </a:r>
            <a:r>
              <a:rPr dirty="0" sz="3200">
                <a:latin typeface="Arial MT"/>
                <a:cs typeface="Arial MT"/>
              </a:rPr>
              <a:t>ow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8085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does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it?</a:t>
            </a:r>
            <a:endParaRPr sz="3200">
              <a:latin typeface="Arial MT"/>
              <a:cs typeface="Arial MT"/>
            </a:endParaRPr>
          </a:p>
          <a:p>
            <a:pPr lvl="1" marL="755650" indent="-285750">
              <a:lnSpc>
                <a:spcPct val="100000"/>
              </a:lnSpc>
              <a:spcBef>
                <a:spcPts val="710"/>
              </a:spcBef>
              <a:buChar char="–"/>
              <a:tabLst>
                <a:tab pos="755650" algn="l"/>
              </a:tabLst>
            </a:pPr>
            <a:r>
              <a:rPr dirty="0" sz="2800" spc="-5">
                <a:latin typeface="Arial MT"/>
                <a:cs typeface="Arial MT"/>
              </a:rPr>
              <a:t>Adds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register</a:t>
            </a:r>
            <a:r>
              <a:rPr dirty="0" sz="2800" spc="10"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D50092"/>
                </a:solidFill>
                <a:latin typeface="Arial MT"/>
                <a:cs typeface="Arial MT"/>
              </a:rPr>
              <a:t>A</a:t>
            </a:r>
            <a:r>
              <a:rPr dirty="0" sz="2800" spc="-20">
                <a:solidFill>
                  <a:srgbClr val="D50092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and </a:t>
            </a:r>
            <a:r>
              <a:rPr dirty="0" sz="2800">
                <a:solidFill>
                  <a:srgbClr val="D50092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  <a:p>
            <a:pPr lvl="1" marL="755650" indent="-285750">
              <a:lnSpc>
                <a:spcPct val="100000"/>
              </a:lnSpc>
              <a:spcBef>
                <a:spcPts val="700"/>
              </a:spcBef>
              <a:buChar char="–"/>
              <a:tabLst>
                <a:tab pos="755650" algn="l"/>
              </a:tabLst>
            </a:pPr>
            <a:r>
              <a:rPr dirty="0" sz="2800" spc="-5">
                <a:latin typeface="Arial MT"/>
                <a:cs typeface="Arial MT"/>
              </a:rPr>
              <a:t>Stores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8-bit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result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25"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D50092"/>
                </a:solidFill>
                <a:latin typeface="Arial MT"/>
                <a:cs typeface="Arial MT"/>
              </a:rPr>
              <a:t>A</a:t>
            </a:r>
            <a:endParaRPr sz="2800">
              <a:latin typeface="Arial MT"/>
              <a:cs typeface="Arial MT"/>
            </a:endParaRPr>
          </a:p>
          <a:p>
            <a:pPr lvl="1" marL="755650" indent="-285750">
              <a:lnSpc>
                <a:spcPct val="100000"/>
              </a:lnSpc>
              <a:spcBef>
                <a:spcPts val="710"/>
              </a:spcBef>
              <a:buChar char="–"/>
              <a:tabLst>
                <a:tab pos="755650" algn="l"/>
              </a:tabLst>
            </a:pPr>
            <a:r>
              <a:rPr dirty="0" sz="2800" spc="-10">
                <a:latin typeface="Arial MT"/>
                <a:cs typeface="Arial MT"/>
              </a:rPr>
              <a:t>SETS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carry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flag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(CY)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indicate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carry </a:t>
            </a:r>
            <a:r>
              <a:rPr dirty="0" sz="2800" spc="-5">
                <a:latin typeface="Arial MT"/>
                <a:cs typeface="Arial MT"/>
              </a:rPr>
              <a:t>bit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62200" y="3276600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1524000" y="0"/>
                </a:moveTo>
                <a:lnTo>
                  <a:pt x="0" y="0"/>
                </a:lnTo>
                <a:lnTo>
                  <a:pt x="0" y="533400"/>
                </a:lnTo>
                <a:lnTo>
                  <a:pt x="762000" y="533400"/>
                </a:lnTo>
                <a:lnTo>
                  <a:pt x="1524000" y="533400"/>
                </a:lnTo>
                <a:lnTo>
                  <a:pt x="1524000" y="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362200" y="3276600"/>
            <a:ext cx="1524000" cy="5334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wrap="square" lIns="0" tIns="83820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660"/>
              </a:spcBef>
            </a:pPr>
            <a:r>
              <a:rPr dirty="0" sz="2400" spc="-10" b="1">
                <a:latin typeface="Arial"/>
                <a:cs typeface="Arial"/>
              </a:rPr>
              <a:t>10011001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62200" y="4419600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1524000" y="0"/>
                </a:moveTo>
                <a:lnTo>
                  <a:pt x="0" y="0"/>
                </a:lnTo>
                <a:lnTo>
                  <a:pt x="0" y="533400"/>
                </a:lnTo>
                <a:lnTo>
                  <a:pt x="762000" y="533400"/>
                </a:lnTo>
                <a:lnTo>
                  <a:pt x="1524000" y="533400"/>
                </a:lnTo>
                <a:lnTo>
                  <a:pt x="1524000" y="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362200" y="4419600"/>
            <a:ext cx="1524000" cy="5334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wrap="square" lIns="0" tIns="83820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660"/>
              </a:spcBef>
            </a:pPr>
            <a:r>
              <a:rPr dirty="0" sz="2400" spc="-10" b="1">
                <a:latin typeface="Arial"/>
                <a:cs typeface="Arial"/>
              </a:rPr>
              <a:t>10011001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59070" y="3204210"/>
            <a:ext cx="282575" cy="171577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2800" b="1">
                <a:solidFill>
                  <a:srgbClr val="D50092"/>
                </a:solidFill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b="1">
                <a:solidFill>
                  <a:srgbClr val="D50092"/>
                </a:solidFill>
                <a:latin typeface="Arial"/>
                <a:cs typeface="Arial"/>
              </a:rPr>
              <a:t>+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dirty="0" sz="2800" b="1">
                <a:solidFill>
                  <a:srgbClr val="D50092"/>
                </a:solidFill>
                <a:latin typeface="Arial"/>
                <a:cs typeface="Arial"/>
              </a:rPr>
              <a:t>B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92270" y="3310890"/>
            <a:ext cx="5835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Arial"/>
                <a:cs typeface="Arial"/>
              </a:rPr>
              <a:t>99</a:t>
            </a:r>
            <a:r>
              <a:rPr dirty="0" sz="2400" b="1">
                <a:latin typeface="Arial"/>
                <a:cs typeface="Arial"/>
              </a:rPr>
              <a:t>H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92270" y="4530090"/>
            <a:ext cx="5835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Arial"/>
                <a:cs typeface="Arial"/>
              </a:rPr>
              <a:t>99</a:t>
            </a:r>
            <a:r>
              <a:rPr dirty="0" sz="2400" b="1">
                <a:latin typeface="Arial"/>
                <a:cs typeface="Arial"/>
              </a:rPr>
              <a:t>H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62200" y="5486400"/>
            <a:ext cx="1524000" cy="533400"/>
          </a:xfrm>
          <a:custGeom>
            <a:avLst/>
            <a:gdLst/>
            <a:ahLst/>
            <a:cxnLst/>
            <a:rect l="l" t="t" r="r" b="b"/>
            <a:pathLst>
              <a:path w="1524000" h="533400">
                <a:moveTo>
                  <a:pt x="1524000" y="0"/>
                </a:moveTo>
                <a:lnTo>
                  <a:pt x="0" y="0"/>
                </a:lnTo>
                <a:lnTo>
                  <a:pt x="0" y="533400"/>
                </a:lnTo>
                <a:lnTo>
                  <a:pt x="762000" y="533400"/>
                </a:lnTo>
                <a:lnTo>
                  <a:pt x="1524000" y="533400"/>
                </a:lnTo>
                <a:lnTo>
                  <a:pt x="1524000" y="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362200" y="5486400"/>
            <a:ext cx="1524000" cy="5334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wrap="square" lIns="0" tIns="83820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660"/>
              </a:spcBef>
            </a:pPr>
            <a:r>
              <a:rPr dirty="0" sz="2400" spc="-520" b="1">
                <a:latin typeface="Arial"/>
                <a:cs typeface="Arial"/>
              </a:rPr>
              <a:t>1000111000101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59070" y="5520690"/>
            <a:ext cx="2825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D50092"/>
                </a:solidFill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77670" y="6206490"/>
            <a:ext cx="447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" b="1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90600" y="5257800"/>
            <a:ext cx="4876800" cy="0"/>
          </a:xfrm>
          <a:custGeom>
            <a:avLst/>
            <a:gdLst/>
            <a:ahLst/>
            <a:cxnLst/>
            <a:rect l="l" t="t" r="r" b="b"/>
            <a:pathLst>
              <a:path w="4876800" h="0">
                <a:moveTo>
                  <a:pt x="0" y="0"/>
                </a:moveTo>
                <a:lnTo>
                  <a:pt x="487680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204970" y="5562262"/>
            <a:ext cx="558165" cy="3409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655"/>
              </a:lnSpc>
            </a:pPr>
            <a:r>
              <a:rPr dirty="0" sz="2400" spc="-10" b="1">
                <a:latin typeface="Arial"/>
                <a:cs typeface="Arial"/>
              </a:rPr>
              <a:t>99</a:t>
            </a:r>
            <a:r>
              <a:rPr dirty="0" sz="2400" b="1">
                <a:latin typeface="Arial"/>
                <a:cs typeface="Arial"/>
              </a:rPr>
              <a:t>H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114800" y="5486400"/>
            <a:ext cx="838200" cy="459740"/>
          </a:xfrm>
          <a:custGeom>
            <a:avLst/>
            <a:gdLst/>
            <a:ahLst/>
            <a:cxnLst/>
            <a:rect l="l" t="t" r="r" b="b"/>
            <a:pathLst>
              <a:path w="838200" h="459739">
                <a:moveTo>
                  <a:pt x="0" y="0"/>
                </a:moveTo>
                <a:lnTo>
                  <a:pt x="838200" y="0"/>
                </a:lnTo>
                <a:lnTo>
                  <a:pt x="838200" y="459740"/>
                </a:lnTo>
                <a:lnTo>
                  <a:pt x="0" y="45974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781810" y="5520690"/>
            <a:ext cx="30194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422525" algn="l"/>
              </a:tabLst>
            </a:pPr>
            <a:r>
              <a:rPr dirty="0" baseline="-6944" sz="3600" spc="-1005" b="1">
                <a:solidFill>
                  <a:srgbClr val="FF0000"/>
                </a:solidFill>
                <a:latin typeface="Arial"/>
                <a:cs typeface="Arial"/>
              </a:rPr>
              <a:t>10	</a:t>
            </a:r>
            <a:r>
              <a:rPr dirty="0" sz="2400" spc="-10" b="1">
                <a:latin typeface="Arial"/>
                <a:cs typeface="Arial"/>
              </a:rPr>
              <a:t>32H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93700"/>
            <a:ext cx="16827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Arial MT"/>
                <a:cs typeface="Arial MT"/>
              </a:rPr>
              <a:t>•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5539" y="416559"/>
            <a:ext cx="605663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0">
                <a:latin typeface="Arial MT"/>
                <a:cs typeface="Arial MT"/>
              </a:rPr>
              <a:t>Storing</a:t>
            </a:r>
            <a:r>
              <a:rPr dirty="0" sz="3200" spc="-20" b="0">
                <a:latin typeface="Arial MT"/>
                <a:cs typeface="Arial MT"/>
              </a:rPr>
              <a:t> </a:t>
            </a:r>
            <a:r>
              <a:rPr dirty="0" sz="3200" b="0">
                <a:latin typeface="Arial MT"/>
                <a:cs typeface="Arial MT"/>
              </a:rPr>
              <a:t>result</a:t>
            </a:r>
            <a:r>
              <a:rPr dirty="0" sz="3200" spc="-15" b="0">
                <a:latin typeface="Arial MT"/>
                <a:cs typeface="Arial MT"/>
              </a:rPr>
              <a:t> </a:t>
            </a:r>
            <a:r>
              <a:rPr dirty="0" sz="3200" spc="-5" b="0">
                <a:latin typeface="Arial MT"/>
                <a:cs typeface="Arial MT"/>
              </a:rPr>
              <a:t>in</a:t>
            </a:r>
            <a:r>
              <a:rPr dirty="0" sz="3200" spc="-15" b="0">
                <a:latin typeface="Arial MT"/>
                <a:cs typeface="Arial MT"/>
              </a:rPr>
              <a:t> </a:t>
            </a:r>
            <a:r>
              <a:rPr dirty="0" sz="3200" spc="-5" b="0">
                <a:latin typeface="Arial MT"/>
                <a:cs typeface="Arial MT"/>
              </a:rPr>
              <a:t>Register</a:t>
            </a:r>
            <a:r>
              <a:rPr dirty="0" sz="3200" spc="-20" b="0">
                <a:latin typeface="Arial MT"/>
                <a:cs typeface="Arial MT"/>
              </a:rPr>
              <a:t> </a:t>
            </a:r>
            <a:r>
              <a:rPr dirty="0" sz="3200" spc="-5" b="0">
                <a:latin typeface="Arial MT"/>
                <a:cs typeface="Arial MT"/>
              </a:rPr>
              <a:t>memory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52800" y="1738629"/>
            <a:ext cx="1524000" cy="532130"/>
          </a:xfrm>
          <a:custGeom>
            <a:avLst/>
            <a:gdLst/>
            <a:ahLst/>
            <a:cxnLst/>
            <a:rect l="l" t="t" r="r" b="b"/>
            <a:pathLst>
              <a:path w="1524000" h="532130">
                <a:moveTo>
                  <a:pt x="1524000" y="0"/>
                </a:moveTo>
                <a:lnTo>
                  <a:pt x="0" y="0"/>
                </a:lnTo>
                <a:lnTo>
                  <a:pt x="0" y="532130"/>
                </a:lnTo>
                <a:lnTo>
                  <a:pt x="762000" y="532130"/>
                </a:lnTo>
                <a:lnTo>
                  <a:pt x="1524000" y="532130"/>
                </a:lnTo>
                <a:lnTo>
                  <a:pt x="1524000" y="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352800" y="1738629"/>
            <a:ext cx="1524000" cy="53213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wrap="square" lIns="0" tIns="83820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660"/>
              </a:spcBef>
            </a:pPr>
            <a:r>
              <a:rPr dirty="0" sz="2400" spc="-10" b="1">
                <a:latin typeface="Arial"/>
                <a:cs typeface="Arial"/>
              </a:rPr>
              <a:t>10011001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63670" y="1177290"/>
            <a:ext cx="2825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D50092"/>
                </a:solidFill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82870" y="1772920"/>
            <a:ext cx="5835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Arial"/>
                <a:cs typeface="Arial"/>
              </a:rPr>
              <a:t>32</a:t>
            </a:r>
            <a:r>
              <a:rPr dirty="0" sz="2400" b="1">
                <a:latin typeface="Arial"/>
                <a:cs typeface="Arial"/>
              </a:rPr>
              <a:t>H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67000" y="1738629"/>
            <a:ext cx="457200" cy="532130"/>
          </a:xfrm>
          <a:custGeom>
            <a:avLst/>
            <a:gdLst/>
            <a:ahLst/>
            <a:cxnLst/>
            <a:rect l="l" t="t" r="r" b="b"/>
            <a:pathLst>
              <a:path w="457200" h="532130">
                <a:moveTo>
                  <a:pt x="457200" y="0"/>
                </a:moveTo>
                <a:lnTo>
                  <a:pt x="0" y="0"/>
                </a:lnTo>
                <a:lnTo>
                  <a:pt x="0" y="532130"/>
                </a:lnTo>
                <a:lnTo>
                  <a:pt x="228600" y="532130"/>
                </a:lnTo>
                <a:lnTo>
                  <a:pt x="457200" y="532130"/>
                </a:lnTo>
                <a:lnTo>
                  <a:pt x="457200" y="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667000" y="1738629"/>
            <a:ext cx="457200" cy="53213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wrap="square" lIns="0" tIns="83820" rIns="0" bIns="0" rtlCol="0" vert="horz">
            <a:spAutoFit/>
          </a:bodyPr>
          <a:lstStyle/>
          <a:p>
            <a:pPr marL="143510">
              <a:lnSpc>
                <a:spcPct val="100000"/>
              </a:lnSpc>
              <a:spcBef>
                <a:spcPts val="660"/>
              </a:spcBef>
            </a:pP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44470" y="1238250"/>
            <a:ext cx="448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76600" y="3110229"/>
            <a:ext cx="1676400" cy="532130"/>
          </a:xfrm>
          <a:custGeom>
            <a:avLst/>
            <a:gdLst/>
            <a:ahLst/>
            <a:cxnLst/>
            <a:rect l="l" t="t" r="r" b="b"/>
            <a:pathLst>
              <a:path w="1676400" h="532129">
                <a:moveTo>
                  <a:pt x="1676400" y="0"/>
                </a:moveTo>
                <a:lnTo>
                  <a:pt x="0" y="0"/>
                </a:lnTo>
                <a:lnTo>
                  <a:pt x="0" y="532130"/>
                </a:lnTo>
                <a:lnTo>
                  <a:pt x="838200" y="532130"/>
                </a:lnTo>
                <a:lnTo>
                  <a:pt x="1676400" y="532130"/>
                </a:lnTo>
                <a:lnTo>
                  <a:pt x="1676400" y="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276600" y="3110229"/>
            <a:ext cx="1676400" cy="53213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wrap="square" lIns="0" tIns="83820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660"/>
              </a:spcBef>
            </a:pPr>
            <a:r>
              <a:rPr dirty="0" sz="2400" spc="-5" b="1">
                <a:latin typeface="Arial"/>
                <a:cs typeface="Arial"/>
              </a:rPr>
              <a:t>Register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D50092"/>
                </a:solidFill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981450" y="2348229"/>
            <a:ext cx="114300" cy="685800"/>
            <a:chOff x="3981450" y="2348229"/>
            <a:chExt cx="114300" cy="685800"/>
          </a:xfrm>
        </p:grpSpPr>
        <p:sp>
          <p:nvSpPr>
            <p:cNvPr id="14" name="object 14"/>
            <p:cNvSpPr/>
            <p:nvPr/>
          </p:nvSpPr>
          <p:spPr>
            <a:xfrm>
              <a:off x="4038600" y="2348229"/>
              <a:ext cx="0" cy="579120"/>
            </a:xfrm>
            <a:custGeom>
              <a:avLst/>
              <a:gdLst/>
              <a:ahLst/>
              <a:cxnLst/>
              <a:rect l="l" t="t" r="r" b="b"/>
              <a:pathLst>
                <a:path w="0" h="579119">
                  <a:moveTo>
                    <a:pt x="0" y="0"/>
                  </a:moveTo>
                  <a:lnTo>
                    <a:pt x="0" y="579120"/>
                  </a:lnTo>
                </a:path>
              </a:pathLst>
            </a:custGeom>
            <a:ln w="3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981450" y="291972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1371600" y="3110229"/>
            <a:ext cx="1676400" cy="532130"/>
          </a:xfrm>
          <a:custGeom>
            <a:avLst/>
            <a:gdLst/>
            <a:ahLst/>
            <a:cxnLst/>
            <a:rect l="l" t="t" r="r" b="b"/>
            <a:pathLst>
              <a:path w="1676400" h="532129">
                <a:moveTo>
                  <a:pt x="1676400" y="0"/>
                </a:moveTo>
                <a:lnTo>
                  <a:pt x="0" y="0"/>
                </a:lnTo>
                <a:lnTo>
                  <a:pt x="0" y="532130"/>
                </a:lnTo>
                <a:lnTo>
                  <a:pt x="838200" y="532130"/>
                </a:lnTo>
                <a:lnTo>
                  <a:pt x="1676400" y="532130"/>
                </a:lnTo>
                <a:lnTo>
                  <a:pt x="1676400" y="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371600" y="3110229"/>
            <a:ext cx="1676400" cy="53213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wrap="square" lIns="0" tIns="83820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660"/>
              </a:spcBef>
            </a:pPr>
            <a:r>
              <a:rPr dirty="0" sz="2400" spc="-5" b="1">
                <a:latin typeface="Arial"/>
                <a:cs typeface="Arial"/>
              </a:rPr>
              <a:t>Register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D50092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762250" y="2348229"/>
            <a:ext cx="114300" cy="685800"/>
            <a:chOff x="2762250" y="2348229"/>
            <a:chExt cx="114300" cy="685800"/>
          </a:xfrm>
        </p:grpSpPr>
        <p:sp>
          <p:nvSpPr>
            <p:cNvPr id="19" name="object 19"/>
            <p:cNvSpPr/>
            <p:nvPr/>
          </p:nvSpPr>
          <p:spPr>
            <a:xfrm>
              <a:off x="2819400" y="2348229"/>
              <a:ext cx="0" cy="579120"/>
            </a:xfrm>
            <a:custGeom>
              <a:avLst/>
              <a:gdLst/>
              <a:ahLst/>
              <a:cxnLst/>
              <a:rect l="l" t="t" r="r" b="b"/>
              <a:pathLst>
                <a:path w="0" h="579119">
                  <a:moveTo>
                    <a:pt x="0" y="0"/>
                  </a:moveTo>
                  <a:lnTo>
                    <a:pt x="0" y="579120"/>
                  </a:lnTo>
                </a:path>
              </a:pathLst>
            </a:custGeom>
            <a:ln w="3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762250" y="291972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34669" y="4124959"/>
            <a:ext cx="3706495" cy="2232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76530">
              <a:lnSpc>
                <a:spcPct val="120600"/>
              </a:lnSpc>
              <a:spcBef>
                <a:spcPts val="95"/>
              </a:spcBef>
            </a:pPr>
            <a:r>
              <a:rPr dirty="0" u="heavy" sz="32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Step-1</a:t>
            </a:r>
            <a:r>
              <a:rPr dirty="0" sz="3200" spc="-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Copy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D50092"/>
                </a:solidFill>
                <a:latin typeface="Arial MT"/>
                <a:cs typeface="Arial MT"/>
              </a:rPr>
              <a:t>A</a:t>
            </a:r>
            <a:r>
              <a:rPr dirty="0" sz="3200" spc="-25">
                <a:solidFill>
                  <a:srgbClr val="D50092"/>
                </a:solidFill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to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D50092"/>
                </a:solidFill>
                <a:latin typeface="Arial MT"/>
                <a:cs typeface="Arial MT"/>
              </a:rPr>
              <a:t>C </a:t>
            </a:r>
            <a:r>
              <a:rPr dirty="0" sz="3200" spc="-875">
                <a:solidFill>
                  <a:srgbClr val="D50092"/>
                </a:solidFill>
                <a:latin typeface="Arial MT"/>
                <a:cs typeface="Arial MT"/>
              </a:rPr>
              <a:t> </a:t>
            </a:r>
            <a:r>
              <a:rPr dirty="0" u="heavy" sz="32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Step-2</a:t>
            </a:r>
            <a:endParaRPr sz="3200">
              <a:latin typeface="Arial MT"/>
              <a:cs typeface="Arial MT"/>
            </a:endParaRPr>
          </a:p>
          <a:p>
            <a:pPr marL="1003300" indent="-534035">
              <a:lnSpc>
                <a:spcPct val="100000"/>
              </a:lnSpc>
              <a:spcBef>
                <a:spcPts val="700"/>
              </a:spcBef>
              <a:buAutoNum type="alphaLcParenR"/>
              <a:tabLst>
                <a:tab pos="1002665" algn="l"/>
                <a:tab pos="1003300" algn="l"/>
              </a:tabLst>
            </a:pPr>
            <a:r>
              <a:rPr dirty="0" sz="2800" spc="-5">
                <a:latin typeface="Arial MT"/>
                <a:cs typeface="Arial MT"/>
              </a:rPr>
              <a:t>Clear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register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D50092"/>
                </a:solidFill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  <a:p>
            <a:pPr marL="1003300" indent="-534035">
              <a:lnSpc>
                <a:spcPct val="100000"/>
              </a:lnSpc>
              <a:spcBef>
                <a:spcPts val="700"/>
              </a:spcBef>
              <a:buAutoNum type="alphaLcParenR"/>
              <a:tabLst>
                <a:tab pos="1002665" algn="l"/>
                <a:tab pos="1003300" algn="l"/>
              </a:tabLst>
            </a:pPr>
            <a:r>
              <a:rPr dirty="0" sz="2800" spc="-5">
                <a:latin typeface="Arial MT"/>
                <a:cs typeface="Arial MT"/>
              </a:rPr>
              <a:t>Increment </a:t>
            </a:r>
            <a:r>
              <a:rPr dirty="0" sz="2800">
                <a:solidFill>
                  <a:srgbClr val="D50092"/>
                </a:solidFill>
                <a:latin typeface="Arial MT"/>
                <a:cs typeface="Arial MT"/>
              </a:rPr>
              <a:t>B</a:t>
            </a:r>
            <a:r>
              <a:rPr dirty="0" sz="2800" spc="-45">
                <a:solidFill>
                  <a:srgbClr val="D50092"/>
                </a:solidFill>
                <a:latin typeface="Arial MT"/>
                <a:cs typeface="Arial MT"/>
              </a:rPr>
              <a:t> </a:t>
            </a:r>
            <a:r>
              <a:rPr dirty="0" sz="2800" spc="5">
                <a:latin typeface="Arial MT"/>
                <a:cs typeface="Arial MT"/>
              </a:rPr>
              <a:t>by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1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74320"/>
            <a:ext cx="8229600" cy="944880"/>
          </a:xfrm>
          <a:custGeom>
            <a:avLst/>
            <a:gdLst/>
            <a:ahLst/>
            <a:cxnLst/>
            <a:rect l="l" t="t" r="r" b="b"/>
            <a:pathLst>
              <a:path w="8229600" h="944880">
                <a:moveTo>
                  <a:pt x="8229600" y="0"/>
                </a:moveTo>
                <a:lnTo>
                  <a:pt x="0" y="0"/>
                </a:lnTo>
                <a:lnTo>
                  <a:pt x="0" y="944879"/>
                </a:lnTo>
                <a:lnTo>
                  <a:pt x="4114800" y="944879"/>
                </a:lnTo>
                <a:lnTo>
                  <a:pt x="8229600" y="944879"/>
                </a:lnTo>
                <a:lnTo>
                  <a:pt x="82296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551179"/>
            <a:ext cx="302450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2.</a:t>
            </a:r>
            <a:r>
              <a:rPr dirty="0" sz="3200" spc="300"/>
              <a:t> </a:t>
            </a:r>
            <a:r>
              <a:rPr dirty="0" spc="-10">
                <a:solidFill>
                  <a:srgbClr val="FF0000"/>
                </a:solidFill>
              </a:rPr>
              <a:t>Program</a:t>
            </a:r>
            <a:r>
              <a:rPr dirty="0" spc="-20">
                <a:solidFill>
                  <a:srgbClr val="FF0000"/>
                </a:solidFill>
              </a:rPr>
              <a:t> </a:t>
            </a:r>
            <a:r>
              <a:rPr dirty="0" spc="-10">
                <a:solidFill>
                  <a:srgbClr val="FF0000"/>
                </a:solidFill>
              </a:rPr>
              <a:t>Logic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535940" y="1544320"/>
            <a:ext cx="4944745" cy="260858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81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dirty="0" sz="2800" spc="-5">
                <a:latin typeface="Arial MT"/>
                <a:cs typeface="Arial MT"/>
              </a:rPr>
              <a:t>Add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two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numbers</a:t>
            </a:r>
            <a:endParaRPr sz="2800">
              <a:latin typeface="Arial MT"/>
              <a:cs typeface="Arial MT"/>
            </a:endParaRPr>
          </a:p>
          <a:p>
            <a:pPr marL="622300" indent="-60960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dirty="0" sz="2800" spc="-5">
                <a:latin typeface="Arial MT"/>
                <a:cs typeface="Arial MT"/>
              </a:rPr>
              <a:t>Copy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8-bit result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1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</a:t>
            </a:r>
            <a:endParaRPr sz="2800">
              <a:latin typeface="Arial MT"/>
              <a:cs typeface="Arial MT"/>
            </a:endParaRPr>
          </a:p>
          <a:p>
            <a:pPr marL="622300" indent="-6096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dirty="0" sz="2800">
                <a:latin typeface="Arial MT"/>
                <a:cs typeface="Arial MT"/>
              </a:rPr>
              <a:t>If</a:t>
            </a:r>
            <a:r>
              <a:rPr dirty="0" sz="2800" spc="-20">
                <a:latin typeface="Arial MT"/>
                <a:cs typeface="Arial MT"/>
              </a:rPr>
              <a:t> CARRY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is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generated</a:t>
            </a:r>
            <a:endParaRPr sz="2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710"/>
              </a:spcBef>
              <a:tabLst>
                <a:tab pos="1002665" algn="l"/>
              </a:tabLst>
            </a:pPr>
            <a:r>
              <a:rPr dirty="0" baseline="2976" sz="4200">
                <a:latin typeface="Arial MT"/>
                <a:cs typeface="Arial MT"/>
              </a:rPr>
              <a:t>–	</a:t>
            </a:r>
            <a:r>
              <a:rPr dirty="0" sz="2800" spc="-5">
                <a:latin typeface="Arial MT"/>
                <a:cs typeface="Arial MT"/>
              </a:rPr>
              <a:t>Handle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it</a:t>
            </a:r>
            <a:endParaRPr sz="2800">
              <a:latin typeface="Arial MT"/>
              <a:cs typeface="Arial MT"/>
            </a:endParaRPr>
          </a:p>
          <a:p>
            <a:pPr marL="622300" indent="-609600">
              <a:lnSpc>
                <a:spcPct val="100000"/>
              </a:lnSpc>
              <a:spcBef>
                <a:spcPts val="710"/>
              </a:spcBef>
              <a:buAutoNum type="arabicPeriod" startAt="4"/>
              <a:tabLst>
                <a:tab pos="621665" algn="l"/>
                <a:tab pos="622300" algn="l"/>
              </a:tabLst>
            </a:pPr>
            <a:r>
              <a:rPr dirty="0" sz="2800" spc="-5">
                <a:latin typeface="Arial MT"/>
                <a:cs typeface="Arial MT"/>
              </a:rPr>
              <a:t>Result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in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register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pair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BC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546100" marR="40005" indent="-533400">
              <a:lnSpc>
                <a:spcPct val="100699"/>
              </a:lnSpc>
              <a:spcBef>
                <a:spcPts val="80"/>
              </a:spcBef>
              <a:buClr>
                <a:srgbClr val="FFFF00"/>
              </a:buClr>
              <a:buFont typeface="Arial MT"/>
              <a:buAutoNum type="arabicPeriod"/>
              <a:tabLst>
                <a:tab pos="545465" algn="l"/>
                <a:tab pos="546100" algn="l"/>
              </a:tabLst>
            </a:pPr>
            <a:r>
              <a:rPr dirty="0" spc="-10"/>
              <a:t>L</a:t>
            </a:r>
            <a:r>
              <a:rPr dirty="0" spc="-10"/>
              <a:t>oad </a:t>
            </a:r>
            <a:r>
              <a:rPr dirty="0" spc="-5"/>
              <a:t>two numbers in </a:t>
            </a:r>
            <a:r>
              <a:rPr dirty="0" spc="-660"/>
              <a:t> </a:t>
            </a:r>
            <a:r>
              <a:rPr dirty="0" spc="-5"/>
              <a:t>registers</a:t>
            </a:r>
            <a:r>
              <a:rPr dirty="0" spc="-10"/>
              <a:t> </a:t>
            </a:r>
            <a:r>
              <a:rPr dirty="0" spc="-5"/>
              <a:t>D,</a:t>
            </a:r>
            <a:r>
              <a:rPr dirty="0" spc="5"/>
              <a:t> </a:t>
            </a:r>
            <a:r>
              <a:rPr dirty="0"/>
              <a:t>E</a:t>
            </a:r>
          </a:p>
          <a:p>
            <a:pPr marL="546100" indent="-533400">
              <a:lnSpc>
                <a:spcPct val="100000"/>
              </a:lnSpc>
              <a:spcBef>
                <a:spcPts val="164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pc="-5">
                <a:solidFill>
                  <a:srgbClr val="333398"/>
                </a:solidFill>
              </a:rPr>
              <a:t>Add</a:t>
            </a:r>
            <a:r>
              <a:rPr dirty="0" spc="-50">
                <a:solidFill>
                  <a:srgbClr val="333398"/>
                </a:solidFill>
              </a:rPr>
              <a:t> </a:t>
            </a:r>
            <a:r>
              <a:rPr dirty="0" spc="-5">
                <a:solidFill>
                  <a:srgbClr val="333398"/>
                </a:solidFill>
              </a:rPr>
              <a:t>them</a:t>
            </a:r>
          </a:p>
          <a:p>
            <a:pPr>
              <a:lnSpc>
                <a:spcPct val="100000"/>
              </a:lnSpc>
              <a:spcBef>
                <a:spcPts val="25"/>
              </a:spcBef>
              <a:buAutoNum type="arabicPeriod"/>
            </a:pPr>
            <a:endParaRPr sz="3550"/>
          </a:p>
          <a:p>
            <a:pPr marL="546100" indent="-533400">
              <a:lnSpc>
                <a:spcPct val="100000"/>
              </a:lnSpc>
              <a:buAutoNum type="arabicPeriod"/>
              <a:tabLst>
                <a:tab pos="545465" algn="l"/>
                <a:tab pos="546100" algn="l"/>
              </a:tabLst>
            </a:pPr>
            <a:r>
              <a:rPr dirty="0" spc="-5">
                <a:solidFill>
                  <a:srgbClr val="009800"/>
                </a:solidFill>
              </a:rPr>
              <a:t>Store</a:t>
            </a:r>
            <a:r>
              <a:rPr dirty="0" spc="-15">
                <a:solidFill>
                  <a:srgbClr val="009800"/>
                </a:solidFill>
              </a:rPr>
              <a:t> </a:t>
            </a:r>
            <a:r>
              <a:rPr dirty="0">
                <a:solidFill>
                  <a:srgbClr val="009800"/>
                </a:solidFill>
              </a:rPr>
              <a:t>8</a:t>
            </a:r>
            <a:r>
              <a:rPr dirty="0" spc="-20">
                <a:solidFill>
                  <a:srgbClr val="009800"/>
                </a:solidFill>
              </a:rPr>
              <a:t> </a:t>
            </a:r>
            <a:r>
              <a:rPr dirty="0" spc="-5">
                <a:solidFill>
                  <a:srgbClr val="009800"/>
                </a:solidFill>
              </a:rPr>
              <a:t>bit</a:t>
            </a:r>
            <a:r>
              <a:rPr dirty="0" spc="-10">
                <a:solidFill>
                  <a:srgbClr val="009800"/>
                </a:solidFill>
              </a:rPr>
              <a:t> </a:t>
            </a:r>
            <a:r>
              <a:rPr dirty="0" spc="-5">
                <a:solidFill>
                  <a:srgbClr val="009800"/>
                </a:solidFill>
              </a:rPr>
              <a:t>result</a:t>
            </a:r>
            <a:r>
              <a:rPr dirty="0" spc="-15">
                <a:solidFill>
                  <a:srgbClr val="009800"/>
                </a:solidFill>
              </a:rPr>
              <a:t> </a:t>
            </a:r>
            <a:r>
              <a:rPr dirty="0" spc="-5">
                <a:solidFill>
                  <a:srgbClr val="009800"/>
                </a:solidFill>
              </a:rPr>
              <a:t>in</a:t>
            </a:r>
            <a:r>
              <a:rPr dirty="0" spc="-10">
                <a:solidFill>
                  <a:srgbClr val="009800"/>
                </a:solidFill>
              </a:rPr>
              <a:t> </a:t>
            </a:r>
            <a:r>
              <a:rPr dirty="0">
                <a:solidFill>
                  <a:srgbClr val="009800"/>
                </a:solidFill>
              </a:rPr>
              <a:t>C</a:t>
            </a:r>
          </a:p>
          <a:p>
            <a:pPr marL="546100" indent="-533400">
              <a:lnSpc>
                <a:spcPct val="100000"/>
              </a:lnSpc>
              <a:spcBef>
                <a:spcPts val="61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pc="-5">
                <a:solidFill>
                  <a:srgbClr val="333398"/>
                </a:solidFill>
              </a:rPr>
              <a:t>Check</a:t>
            </a:r>
            <a:r>
              <a:rPr dirty="0" spc="-25">
                <a:solidFill>
                  <a:srgbClr val="333398"/>
                </a:solidFill>
              </a:rPr>
              <a:t> </a:t>
            </a:r>
            <a:r>
              <a:rPr dirty="0" spc="-20">
                <a:solidFill>
                  <a:srgbClr val="333398"/>
                </a:solidFill>
              </a:rPr>
              <a:t>CARRY</a:t>
            </a:r>
            <a:r>
              <a:rPr dirty="0" spc="-70">
                <a:solidFill>
                  <a:srgbClr val="333398"/>
                </a:solidFill>
              </a:rPr>
              <a:t> </a:t>
            </a:r>
            <a:r>
              <a:rPr dirty="0" spc="-5">
                <a:solidFill>
                  <a:srgbClr val="333398"/>
                </a:solidFill>
              </a:rPr>
              <a:t>flag</a:t>
            </a:r>
          </a:p>
          <a:p>
            <a:pPr marL="546100" indent="-533400">
              <a:lnSpc>
                <a:spcPct val="100000"/>
              </a:lnSpc>
              <a:spcBef>
                <a:spcPts val="61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>
                <a:solidFill>
                  <a:srgbClr val="333398"/>
                </a:solidFill>
              </a:rPr>
              <a:t>If</a:t>
            </a:r>
            <a:r>
              <a:rPr dirty="0" spc="-20">
                <a:solidFill>
                  <a:srgbClr val="333398"/>
                </a:solidFill>
              </a:rPr>
              <a:t> </a:t>
            </a:r>
            <a:r>
              <a:rPr dirty="0" spc="-15">
                <a:solidFill>
                  <a:srgbClr val="333398"/>
                </a:solidFill>
              </a:rPr>
              <a:t>CARRY</a:t>
            </a:r>
            <a:r>
              <a:rPr dirty="0" spc="-70">
                <a:solidFill>
                  <a:srgbClr val="333398"/>
                </a:solidFill>
              </a:rPr>
              <a:t> </a:t>
            </a:r>
            <a:r>
              <a:rPr dirty="0" spc="-5">
                <a:solidFill>
                  <a:srgbClr val="333398"/>
                </a:solidFill>
              </a:rPr>
              <a:t>flag</a:t>
            </a:r>
            <a:r>
              <a:rPr dirty="0" spc="-20">
                <a:solidFill>
                  <a:srgbClr val="333398"/>
                </a:solidFill>
              </a:rPr>
              <a:t> </a:t>
            </a:r>
            <a:r>
              <a:rPr dirty="0" spc="-5">
                <a:solidFill>
                  <a:srgbClr val="333398"/>
                </a:solidFill>
              </a:rPr>
              <a:t>is</a:t>
            </a:r>
            <a:r>
              <a:rPr dirty="0" spc="-20">
                <a:solidFill>
                  <a:srgbClr val="333398"/>
                </a:solidFill>
              </a:rPr>
              <a:t> </a:t>
            </a:r>
            <a:r>
              <a:rPr dirty="0" spc="-10">
                <a:solidFill>
                  <a:srgbClr val="333398"/>
                </a:solidFill>
              </a:rPr>
              <a:t>SET</a:t>
            </a:r>
          </a:p>
          <a:p>
            <a:pPr lvl="1" marL="927100" marR="299085" indent="-457200">
              <a:lnSpc>
                <a:spcPct val="100699"/>
              </a:lnSpc>
              <a:spcBef>
                <a:spcPts val="590"/>
              </a:spcBef>
              <a:buChar char="•"/>
              <a:tabLst>
                <a:tab pos="926465" algn="l"/>
                <a:tab pos="927100" algn="l"/>
              </a:tabLst>
            </a:pPr>
            <a:r>
              <a:rPr dirty="0" sz="2400" spc="-5">
                <a:solidFill>
                  <a:srgbClr val="009800"/>
                </a:solidFill>
                <a:latin typeface="Arial MT"/>
                <a:cs typeface="Arial MT"/>
              </a:rPr>
              <a:t>Store</a:t>
            </a:r>
            <a:r>
              <a:rPr dirty="0" sz="2400" spc="-40">
                <a:solidFill>
                  <a:srgbClr val="009800"/>
                </a:solidFill>
                <a:latin typeface="Arial MT"/>
                <a:cs typeface="Arial MT"/>
              </a:rPr>
              <a:t> </a:t>
            </a:r>
            <a:r>
              <a:rPr dirty="0" sz="2400" spc="-20">
                <a:solidFill>
                  <a:srgbClr val="009800"/>
                </a:solidFill>
                <a:latin typeface="Arial MT"/>
                <a:cs typeface="Arial MT"/>
              </a:rPr>
              <a:t>CARRY</a:t>
            </a:r>
            <a:r>
              <a:rPr dirty="0" sz="2400" spc="-75">
                <a:solidFill>
                  <a:srgbClr val="0098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009800"/>
                </a:solidFill>
                <a:latin typeface="Arial MT"/>
                <a:cs typeface="Arial MT"/>
              </a:rPr>
              <a:t>in </a:t>
            </a:r>
            <a:r>
              <a:rPr dirty="0" sz="2400" spc="-650">
                <a:solidFill>
                  <a:srgbClr val="0098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009800"/>
                </a:solidFill>
                <a:latin typeface="Arial MT"/>
                <a:cs typeface="Arial MT"/>
              </a:rPr>
              <a:t>register</a:t>
            </a:r>
            <a:r>
              <a:rPr dirty="0" sz="2400">
                <a:solidFill>
                  <a:srgbClr val="009800"/>
                </a:solidFill>
                <a:latin typeface="Arial MT"/>
                <a:cs typeface="Arial MT"/>
              </a:rPr>
              <a:t> B</a:t>
            </a:r>
            <a:endParaRPr sz="24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5">
                <a:solidFill>
                  <a:srgbClr val="FF0000"/>
                </a:solidFill>
              </a:rPr>
              <a:t>Stop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5105400" y="1600200"/>
            <a:ext cx="3886200" cy="609600"/>
          </a:xfrm>
          <a:custGeom>
            <a:avLst/>
            <a:gdLst/>
            <a:ahLst/>
            <a:cxnLst/>
            <a:rect l="l" t="t" r="r" b="b"/>
            <a:pathLst>
              <a:path w="3886200" h="609600">
                <a:moveTo>
                  <a:pt x="3886200" y="0"/>
                </a:moveTo>
                <a:lnTo>
                  <a:pt x="0" y="0"/>
                </a:lnTo>
                <a:lnTo>
                  <a:pt x="0" y="609600"/>
                </a:lnTo>
                <a:lnTo>
                  <a:pt x="1943100" y="609600"/>
                </a:lnTo>
                <a:lnTo>
                  <a:pt x="3886200" y="609600"/>
                </a:lnTo>
                <a:lnTo>
                  <a:pt x="38862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1000" y="228600"/>
            <a:ext cx="3505200" cy="1143000"/>
          </a:xfrm>
          <a:custGeom>
            <a:avLst/>
            <a:gdLst/>
            <a:ahLst/>
            <a:cxnLst/>
            <a:rect l="l" t="t" r="r" b="b"/>
            <a:pathLst>
              <a:path w="3505200" h="1143000">
                <a:moveTo>
                  <a:pt x="3505200" y="0"/>
                </a:moveTo>
                <a:lnTo>
                  <a:pt x="0" y="0"/>
                </a:lnTo>
                <a:lnTo>
                  <a:pt x="0" y="1143000"/>
                </a:lnTo>
                <a:lnTo>
                  <a:pt x="1752600" y="1143000"/>
                </a:lnTo>
                <a:lnTo>
                  <a:pt x="3505200" y="1143000"/>
                </a:lnTo>
                <a:lnTo>
                  <a:pt x="35052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90930" y="574040"/>
            <a:ext cx="20847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 b="1">
                <a:latin typeface="Arial"/>
                <a:cs typeface="Arial"/>
              </a:rPr>
              <a:t>3.</a:t>
            </a:r>
            <a:r>
              <a:rPr dirty="0" sz="2800" spc="-185" b="1">
                <a:latin typeface="Arial"/>
                <a:cs typeface="Arial"/>
              </a:rPr>
              <a:t> </a:t>
            </a:r>
            <a:r>
              <a:rPr dirty="0" sz="2800" spc="-5" b="1">
                <a:solidFill>
                  <a:srgbClr val="FF0000"/>
                </a:solidFill>
                <a:latin typeface="Arial"/>
                <a:cs typeface="Arial"/>
              </a:rPr>
              <a:t>Algorithm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91000" y="259079"/>
            <a:ext cx="4495800" cy="1143000"/>
          </a:xfrm>
          <a:custGeom>
            <a:avLst/>
            <a:gdLst/>
            <a:ahLst/>
            <a:cxnLst/>
            <a:rect l="l" t="t" r="r" b="b"/>
            <a:pathLst>
              <a:path w="4495800" h="1143000">
                <a:moveTo>
                  <a:pt x="4495800" y="0"/>
                </a:moveTo>
                <a:lnTo>
                  <a:pt x="0" y="0"/>
                </a:lnTo>
                <a:lnTo>
                  <a:pt x="0" y="1143000"/>
                </a:lnTo>
                <a:lnTo>
                  <a:pt x="2247900" y="1143000"/>
                </a:lnTo>
                <a:lnTo>
                  <a:pt x="4495800" y="1143000"/>
                </a:lnTo>
                <a:lnTo>
                  <a:pt x="44958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0979" rIns="0" bIns="0" rtlCol="0" vert="horz">
            <a:spAutoFit/>
          </a:bodyPr>
          <a:lstStyle/>
          <a:p>
            <a:pPr marL="4959350" marR="5080" indent="-628650">
              <a:lnSpc>
                <a:spcPct val="111900"/>
              </a:lnSpc>
              <a:spcBef>
                <a:spcPts val="100"/>
              </a:spcBef>
            </a:pPr>
            <a:r>
              <a:rPr dirty="0" spc="-15" b="0">
                <a:latin typeface="Arial MT"/>
                <a:cs typeface="Arial MT"/>
              </a:rPr>
              <a:t>Translation</a:t>
            </a:r>
            <a:r>
              <a:rPr dirty="0" spc="-4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to</a:t>
            </a:r>
            <a:r>
              <a:rPr dirty="0" spc="-45" b="0">
                <a:latin typeface="Arial MT"/>
                <a:cs typeface="Arial MT"/>
              </a:rPr>
              <a:t> </a:t>
            </a:r>
            <a:r>
              <a:rPr dirty="0" spc="-5" b="0">
                <a:latin typeface="Arial MT"/>
                <a:cs typeface="Arial MT"/>
              </a:rPr>
              <a:t>8085 </a:t>
            </a:r>
            <a:r>
              <a:rPr dirty="0" spc="-76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operations</a:t>
            </a:r>
          </a:p>
        </p:txBody>
      </p:sp>
      <p:sp>
        <p:nvSpPr>
          <p:cNvPr id="8" name="object 8"/>
          <p:cNvSpPr/>
          <p:nvPr/>
        </p:nvSpPr>
        <p:spPr>
          <a:xfrm>
            <a:off x="5105400" y="2362200"/>
            <a:ext cx="3886200" cy="838200"/>
          </a:xfrm>
          <a:custGeom>
            <a:avLst/>
            <a:gdLst/>
            <a:ahLst/>
            <a:cxnLst/>
            <a:rect l="l" t="t" r="r" b="b"/>
            <a:pathLst>
              <a:path w="3886200" h="838200">
                <a:moveTo>
                  <a:pt x="3886200" y="0"/>
                </a:moveTo>
                <a:lnTo>
                  <a:pt x="0" y="0"/>
                </a:lnTo>
                <a:lnTo>
                  <a:pt x="0" y="838200"/>
                </a:lnTo>
                <a:lnTo>
                  <a:pt x="1943100" y="838200"/>
                </a:lnTo>
                <a:lnTo>
                  <a:pt x="3886200" y="838200"/>
                </a:lnTo>
                <a:lnTo>
                  <a:pt x="38862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182870" y="2305050"/>
            <a:ext cx="132715" cy="909319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40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40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05400" y="3247389"/>
            <a:ext cx="3886200" cy="3229610"/>
            <a:chOff x="5105400" y="3247389"/>
            <a:chExt cx="3886200" cy="3229610"/>
          </a:xfrm>
        </p:grpSpPr>
        <p:sp>
          <p:nvSpPr>
            <p:cNvPr id="11" name="object 11"/>
            <p:cNvSpPr/>
            <p:nvPr/>
          </p:nvSpPr>
          <p:spPr>
            <a:xfrm>
              <a:off x="5105400" y="3247389"/>
              <a:ext cx="3886200" cy="685800"/>
            </a:xfrm>
            <a:custGeom>
              <a:avLst/>
              <a:gdLst/>
              <a:ahLst/>
              <a:cxnLst/>
              <a:rect l="l" t="t" r="r" b="b"/>
              <a:pathLst>
                <a:path w="3886200" h="685800">
                  <a:moveTo>
                    <a:pt x="38862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1943100" y="685800"/>
                  </a:lnTo>
                  <a:lnTo>
                    <a:pt x="3886200" y="685800"/>
                  </a:lnTo>
                  <a:lnTo>
                    <a:pt x="3886200" y="0"/>
                  </a:lnTo>
                  <a:close/>
                </a:path>
              </a:pathLst>
            </a:custGeom>
            <a:solidFill>
              <a:srgbClr val="3398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105400" y="3962399"/>
              <a:ext cx="3886200" cy="914400"/>
            </a:xfrm>
            <a:custGeom>
              <a:avLst/>
              <a:gdLst/>
              <a:ahLst/>
              <a:cxnLst/>
              <a:rect l="l" t="t" r="r" b="b"/>
              <a:pathLst>
                <a:path w="3886200" h="914400">
                  <a:moveTo>
                    <a:pt x="38862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943100" y="914400"/>
                  </a:lnTo>
                  <a:lnTo>
                    <a:pt x="3886200" y="914400"/>
                  </a:lnTo>
                  <a:lnTo>
                    <a:pt x="388620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105400" y="5791200"/>
              <a:ext cx="3886200" cy="685800"/>
            </a:xfrm>
            <a:custGeom>
              <a:avLst/>
              <a:gdLst/>
              <a:ahLst/>
              <a:cxnLst/>
              <a:rect l="l" t="t" r="r" b="b"/>
              <a:pathLst>
                <a:path w="3886200" h="685800">
                  <a:moveTo>
                    <a:pt x="38862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1943100" y="685800"/>
                  </a:lnTo>
                  <a:lnTo>
                    <a:pt x="3886200" y="685800"/>
                  </a:lnTo>
                  <a:lnTo>
                    <a:pt x="38862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105400" y="4921250"/>
              <a:ext cx="3886200" cy="838200"/>
            </a:xfrm>
            <a:custGeom>
              <a:avLst/>
              <a:gdLst/>
              <a:ahLst/>
              <a:cxnLst/>
              <a:rect l="l" t="t" r="r" b="b"/>
              <a:pathLst>
                <a:path w="3886200" h="838200">
                  <a:moveTo>
                    <a:pt x="3886200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943100" y="838200"/>
                  </a:lnTo>
                  <a:lnTo>
                    <a:pt x="3886200" y="838200"/>
                  </a:lnTo>
                  <a:lnTo>
                    <a:pt x="3886200" y="0"/>
                  </a:lnTo>
                  <a:close/>
                </a:path>
              </a:pathLst>
            </a:custGeom>
            <a:solidFill>
              <a:srgbClr val="3398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182870" y="4864100"/>
            <a:ext cx="132715" cy="909319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40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40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105400" y="3200400"/>
            <a:ext cx="3886200" cy="685800"/>
          </a:xfrm>
          <a:custGeom>
            <a:avLst/>
            <a:gdLst/>
            <a:ahLst/>
            <a:cxnLst/>
            <a:rect l="l" t="t" r="r" b="b"/>
            <a:pathLst>
              <a:path w="3886200" h="685800">
                <a:moveTo>
                  <a:pt x="3886200" y="0"/>
                </a:moveTo>
                <a:lnTo>
                  <a:pt x="0" y="0"/>
                </a:lnTo>
                <a:lnTo>
                  <a:pt x="0" y="685800"/>
                </a:lnTo>
                <a:lnTo>
                  <a:pt x="1943100" y="685800"/>
                </a:lnTo>
                <a:lnTo>
                  <a:pt x="3886200" y="685800"/>
                </a:lnTo>
                <a:lnTo>
                  <a:pt x="3886200" y="0"/>
                </a:lnTo>
                <a:close/>
              </a:path>
            </a:pathLst>
          </a:custGeom>
          <a:solidFill>
            <a:srgbClr val="3398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687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6235" algn="l"/>
                <a:tab pos="356870" algn="l"/>
              </a:tabLst>
            </a:pPr>
            <a:r>
              <a:rPr dirty="0" sz="2400" spc="-10"/>
              <a:t>Load</a:t>
            </a:r>
            <a:r>
              <a:rPr dirty="0" sz="2400" spc="-15"/>
              <a:t> </a:t>
            </a:r>
            <a:r>
              <a:rPr dirty="0" sz="2400" spc="-5"/>
              <a:t>registers</a:t>
            </a:r>
            <a:r>
              <a:rPr dirty="0" sz="2400" spc="-15"/>
              <a:t> </a:t>
            </a:r>
            <a:r>
              <a:rPr dirty="0" sz="2400" spc="-5"/>
              <a:t>D,</a:t>
            </a:r>
            <a:r>
              <a:rPr dirty="0" sz="2400" spc="-15"/>
              <a:t> </a:t>
            </a:r>
            <a:r>
              <a:rPr dirty="0" sz="2400"/>
              <a:t>E</a:t>
            </a:r>
            <a:endParaRPr sz="2400"/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/>
          </a:p>
          <a:p>
            <a:pPr marL="355600" marR="441325">
              <a:lnSpc>
                <a:spcPct val="120800"/>
              </a:lnSpc>
            </a:pPr>
            <a:r>
              <a:rPr dirty="0" spc="-10"/>
              <a:t>Copy</a:t>
            </a:r>
            <a:r>
              <a:rPr dirty="0" spc="-20"/>
              <a:t> </a:t>
            </a:r>
            <a:r>
              <a:rPr dirty="0" spc="-5"/>
              <a:t>register </a:t>
            </a:r>
            <a:r>
              <a:rPr dirty="0"/>
              <a:t>D</a:t>
            </a:r>
            <a:r>
              <a:rPr dirty="0" spc="-35"/>
              <a:t> </a:t>
            </a:r>
            <a:r>
              <a:rPr dirty="0" spc="5"/>
              <a:t>to</a:t>
            </a:r>
            <a:r>
              <a:rPr dirty="0" spc="-155"/>
              <a:t> </a:t>
            </a:r>
            <a:r>
              <a:rPr dirty="0"/>
              <a:t>A </a:t>
            </a:r>
            <a:r>
              <a:rPr dirty="0" spc="-655"/>
              <a:t> </a:t>
            </a:r>
            <a:r>
              <a:rPr dirty="0" spc="-10"/>
              <a:t>Add</a:t>
            </a:r>
            <a:r>
              <a:rPr dirty="0" spc="-15"/>
              <a:t> </a:t>
            </a:r>
            <a:r>
              <a:rPr dirty="0" spc="-5"/>
              <a:t>register</a:t>
            </a:r>
            <a:r>
              <a:rPr dirty="0" spc="-10"/>
              <a:t> </a:t>
            </a:r>
            <a:r>
              <a:rPr dirty="0"/>
              <a:t>E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155"/>
              <a:t> </a:t>
            </a:r>
            <a:r>
              <a:rPr dirty="0"/>
              <a:t>A</a:t>
            </a: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15" b="1">
                <a:latin typeface="Arial"/>
                <a:cs typeface="Arial"/>
              </a:rPr>
              <a:t>C</a:t>
            </a:r>
            <a:r>
              <a:rPr dirty="0" sz="2800" spc="-165" b="1">
                <a:latin typeface="Arial"/>
                <a:cs typeface="Arial"/>
              </a:rPr>
              <a:t>op</a:t>
            </a:r>
            <a:r>
              <a:rPr dirty="0" sz="2800" spc="-145" b="1">
                <a:latin typeface="Arial"/>
                <a:cs typeface="Arial"/>
              </a:rPr>
              <a:t>y</a:t>
            </a:r>
            <a:r>
              <a:rPr dirty="0" sz="2800" spc="-150" b="1">
                <a:latin typeface="Arial"/>
                <a:cs typeface="Arial"/>
              </a:rPr>
              <a:t> </a:t>
            </a:r>
            <a:r>
              <a:rPr dirty="0" sz="2800" spc="-155" b="1">
                <a:latin typeface="Arial"/>
                <a:cs typeface="Arial"/>
              </a:rPr>
              <a:t>A</a:t>
            </a:r>
            <a:r>
              <a:rPr dirty="0" sz="2800" spc="-170" b="1">
                <a:latin typeface="Arial"/>
                <a:cs typeface="Arial"/>
              </a:rPr>
              <a:t> </a:t>
            </a:r>
            <a:r>
              <a:rPr dirty="0" sz="2800" spc="-155" b="1">
                <a:latin typeface="Arial"/>
                <a:cs typeface="Arial"/>
              </a:rPr>
              <a:t>t</a:t>
            </a:r>
            <a:r>
              <a:rPr dirty="0" sz="2800" spc="-155" b="1">
                <a:latin typeface="Arial"/>
                <a:cs typeface="Arial"/>
              </a:rPr>
              <a:t>o</a:t>
            </a:r>
            <a:r>
              <a:rPr dirty="0" sz="2800" spc="-5" b="1">
                <a:latin typeface="Arial"/>
                <a:cs typeface="Arial"/>
              </a:rPr>
              <a:t> </a:t>
            </a:r>
            <a:r>
              <a:rPr dirty="0" sz="2800" spc="-155" b="1">
                <a:latin typeface="Arial"/>
                <a:cs typeface="Arial"/>
              </a:rPr>
              <a:t>r</a:t>
            </a:r>
            <a:r>
              <a:rPr dirty="0" sz="2800" spc="-110" b="1">
                <a:latin typeface="Arial"/>
                <a:cs typeface="Arial"/>
              </a:rPr>
              <a:t>egi</a:t>
            </a:r>
            <a:r>
              <a:rPr dirty="0" sz="2800" spc="-155" b="1">
                <a:latin typeface="Arial"/>
                <a:cs typeface="Arial"/>
              </a:rPr>
              <a:t>s</a:t>
            </a:r>
            <a:r>
              <a:rPr dirty="0" sz="2800" spc="-155" b="1">
                <a:latin typeface="Arial"/>
                <a:cs typeface="Arial"/>
              </a:rPr>
              <a:t>t</a:t>
            </a:r>
            <a:r>
              <a:rPr dirty="0" sz="2800" spc="-100" b="1">
                <a:latin typeface="Arial"/>
                <a:cs typeface="Arial"/>
              </a:rPr>
              <a:t>e</a:t>
            </a:r>
            <a:r>
              <a:rPr dirty="0" sz="2800" spc="-65" b="1">
                <a:latin typeface="Arial"/>
                <a:cs typeface="Arial"/>
              </a:rPr>
              <a:t>r</a:t>
            </a:r>
            <a:r>
              <a:rPr dirty="0" sz="2800" spc="-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C</a:t>
            </a:r>
            <a:endParaRPr sz="2800">
              <a:latin typeface="Arial"/>
              <a:cs typeface="Arial"/>
            </a:endParaRPr>
          </a:p>
          <a:p>
            <a:pPr marL="355600" marR="398145" indent="-342900">
              <a:lnSpc>
                <a:spcPct val="100000"/>
              </a:lnSpc>
              <a:spcBef>
                <a:spcPts val="264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/>
              <a:t>Use Conditional </a:t>
            </a:r>
            <a:r>
              <a:rPr dirty="0" sz="2800"/>
              <a:t> </a:t>
            </a:r>
            <a:r>
              <a:rPr dirty="0" sz="2800" spc="-5"/>
              <a:t>Jump</a:t>
            </a:r>
            <a:r>
              <a:rPr dirty="0" sz="2800" spc="-60"/>
              <a:t> </a:t>
            </a:r>
            <a:r>
              <a:rPr dirty="0" sz="2800" spc="-5"/>
              <a:t>instructions</a:t>
            </a:r>
            <a:endParaRPr sz="2800"/>
          </a:p>
          <a:p>
            <a:pPr marL="355600" marR="1049655">
              <a:lnSpc>
                <a:spcPct val="120800"/>
              </a:lnSpc>
              <a:spcBef>
                <a:spcPts val="234"/>
              </a:spcBef>
            </a:pPr>
            <a:r>
              <a:rPr dirty="0" spc="-10"/>
              <a:t>Clear</a:t>
            </a:r>
            <a:r>
              <a:rPr dirty="0" spc="-35"/>
              <a:t> </a:t>
            </a:r>
            <a:r>
              <a:rPr dirty="0" spc="-5"/>
              <a:t>register</a:t>
            </a:r>
            <a:r>
              <a:rPr dirty="0" spc="-25"/>
              <a:t> </a:t>
            </a:r>
            <a:r>
              <a:rPr dirty="0"/>
              <a:t>B </a:t>
            </a:r>
            <a:r>
              <a:rPr dirty="0" spc="-650"/>
              <a:t> </a:t>
            </a:r>
            <a:r>
              <a:rPr dirty="0" spc="-5"/>
              <a:t>Increment </a:t>
            </a:r>
            <a:r>
              <a:rPr dirty="0"/>
              <a:t>B</a:t>
            </a:r>
          </a:p>
          <a:p>
            <a:pPr marL="355600" indent="-342900">
              <a:lnSpc>
                <a:spcPct val="100000"/>
              </a:lnSpc>
              <a:spcBef>
                <a:spcPts val="489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/>
              <a:t>Stop</a:t>
            </a:r>
            <a:r>
              <a:rPr dirty="0" sz="2800" spc="-55"/>
              <a:t> </a:t>
            </a:r>
            <a:r>
              <a:rPr dirty="0" sz="2800"/>
              <a:t>processing</a:t>
            </a:r>
            <a:endParaRPr sz="2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74320"/>
            <a:ext cx="8229600" cy="716280"/>
          </a:xfrm>
          <a:custGeom>
            <a:avLst/>
            <a:gdLst/>
            <a:ahLst/>
            <a:cxnLst/>
            <a:rect l="l" t="t" r="r" b="b"/>
            <a:pathLst>
              <a:path w="8229600" h="716280">
                <a:moveTo>
                  <a:pt x="8229600" y="0"/>
                </a:moveTo>
                <a:lnTo>
                  <a:pt x="0" y="0"/>
                </a:lnTo>
                <a:lnTo>
                  <a:pt x="0" y="716279"/>
                </a:lnTo>
                <a:lnTo>
                  <a:pt x="4114800" y="716279"/>
                </a:lnTo>
                <a:lnTo>
                  <a:pt x="8229600" y="716279"/>
                </a:lnTo>
                <a:lnTo>
                  <a:pt x="82296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74570" y="314959"/>
            <a:ext cx="459295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81885" algn="l"/>
              </a:tabLst>
            </a:pPr>
            <a:r>
              <a:rPr dirty="0" sz="4000" spc="-5" b="0">
                <a:latin typeface="Arial MT"/>
                <a:cs typeface="Arial MT"/>
              </a:rPr>
              <a:t>4</a:t>
            </a:r>
            <a:r>
              <a:rPr dirty="0" sz="4000" b="0">
                <a:latin typeface="Arial MT"/>
                <a:cs typeface="Arial MT"/>
              </a:rPr>
              <a:t>. </a:t>
            </a:r>
            <a:r>
              <a:rPr dirty="0" sz="4000" spc="-15" b="0">
                <a:solidFill>
                  <a:srgbClr val="FF0000"/>
                </a:solidFill>
                <a:latin typeface="Arial MT"/>
                <a:cs typeface="Arial MT"/>
              </a:rPr>
              <a:t>M</a:t>
            </a:r>
            <a:r>
              <a:rPr dirty="0" sz="4000" spc="-5" b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4000" b="0">
                <a:solidFill>
                  <a:srgbClr val="FF0000"/>
                </a:solidFill>
                <a:latin typeface="Arial MT"/>
                <a:cs typeface="Arial MT"/>
              </a:rPr>
              <a:t>ke a	</a:t>
            </a:r>
            <a:r>
              <a:rPr dirty="0" sz="4000" spc="-5" b="0">
                <a:solidFill>
                  <a:srgbClr val="FF0000"/>
                </a:solidFill>
                <a:latin typeface="Arial MT"/>
                <a:cs typeface="Arial MT"/>
              </a:rPr>
              <a:t>F</a:t>
            </a:r>
            <a:r>
              <a:rPr dirty="0" sz="4000" spc="-15" b="0">
                <a:solidFill>
                  <a:srgbClr val="FF0000"/>
                </a:solidFill>
                <a:latin typeface="Arial MT"/>
                <a:cs typeface="Arial MT"/>
              </a:rPr>
              <a:t>l</a:t>
            </a:r>
            <a:r>
              <a:rPr dirty="0" sz="4000" spc="-5" b="0">
                <a:solidFill>
                  <a:srgbClr val="FF0000"/>
                </a:solidFill>
                <a:latin typeface="Arial MT"/>
                <a:cs typeface="Arial MT"/>
              </a:rPr>
              <a:t>o</a:t>
            </a:r>
            <a:r>
              <a:rPr dirty="0" sz="4000" spc="-10" b="0">
                <a:solidFill>
                  <a:srgbClr val="FF0000"/>
                </a:solidFill>
                <a:latin typeface="Arial MT"/>
                <a:cs typeface="Arial MT"/>
              </a:rPr>
              <a:t>w</a:t>
            </a:r>
            <a:r>
              <a:rPr dirty="0" sz="4000" spc="5" b="0">
                <a:solidFill>
                  <a:srgbClr val="FF0000"/>
                </a:solidFill>
                <a:latin typeface="Arial MT"/>
                <a:cs typeface="Arial MT"/>
              </a:rPr>
              <a:t>c</a:t>
            </a:r>
            <a:r>
              <a:rPr dirty="0" sz="4000" spc="-5" b="0">
                <a:solidFill>
                  <a:srgbClr val="FF0000"/>
                </a:solidFill>
                <a:latin typeface="Arial MT"/>
                <a:cs typeface="Arial MT"/>
              </a:rPr>
              <a:t>har</a:t>
            </a:r>
            <a:r>
              <a:rPr dirty="0" sz="4000" b="0">
                <a:solidFill>
                  <a:srgbClr val="FF0000"/>
                </a:solidFill>
                <a:latin typeface="Arial MT"/>
                <a:cs typeface="Arial MT"/>
              </a:rPr>
              <a:t>t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66837" y="1290637"/>
            <a:ext cx="1304925" cy="466725"/>
            <a:chOff x="1366837" y="1290637"/>
            <a:chExt cx="1304925" cy="466725"/>
          </a:xfrm>
        </p:grpSpPr>
        <p:sp>
          <p:nvSpPr>
            <p:cNvPr id="5" name="object 5"/>
            <p:cNvSpPr/>
            <p:nvPr/>
          </p:nvSpPr>
          <p:spPr>
            <a:xfrm>
              <a:off x="1371600" y="1295400"/>
              <a:ext cx="1295400" cy="457200"/>
            </a:xfrm>
            <a:custGeom>
              <a:avLst/>
              <a:gdLst/>
              <a:ahLst/>
              <a:cxnLst/>
              <a:rect l="l" t="t" r="r" b="b"/>
              <a:pathLst>
                <a:path w="1295400" h="457200">
                  <a:moveTo>
                    <a:pt x="1087120" y="0"/>
                  </a:moveTo>
                  <a:lnTo>
                    <a:pt x="208280" y="0"/>
                  </a:lnTo>
                  <a:lnTo>
                    <a:pt x="163952" y="6664"/>
                  </a:lnTo>
                  <a:lnTo>
                    <a:pt x="121446" y="25325"/>
                  </a:lnTo>
                  <a:lnTo>
                    <a:pt x="82583" y="53984"/>
                  </a:lnTo>
                  <a:lnTo>
                    <a:pt x="49185" y="90640"/>
                  </a:lnTo>
                  <a:lnTo>
                    <a:pt x="23074" y="133294"/>
                  </a:lnTo>
                  <a:lnTo>
                    <a:pt x="6072" y="179947"/>
                  </a:lnTo>
                  <a:lnTo>
                    <a:pt x="0" y="228600"/>
                  </a:lnTo>
                  <a:lnTo>
                    <a:pt x="6072" y="277252"/>
                  </a:lnTo>
                  <a:lnTo>
                    <a:pt x="23074" y="323905"/>
                  </a:lnTo>
                  <a:lnTo>
                    <a:pt x="49185" y="366559"/>
                  </a:lnTo>
                  <a:lnTo>
                    <a:pt x="82583" y="403215"/>
                  </a:lnTo>
                  <a:lnTo>
                    <a:pt x="121446" y="431874"/>
                  </a:lnTo>
                  <a:lnTo>
                    <a:pt x="163952" y="450535"/>
                  </a:lnTo>
                  <a:lnTo>
                    <a:pt x="208280" y="457200"/>
                  </a:lnTo>
                  <a:lnTo>
                    <a:pt x="1087120" y="457200"/>
                  </a:lnTo>
                  <a:lnTo>
                    <a:pt x="1131447" y="450535"/>
                  </a:lnTo>
                  <a:lnTo>
                    <a:pt x="1173953" y="431874"/>
                  </a:lnTo>
                  <a:lnTo>
                    <a:pt x="1212816" y="403215"/>
                  </a:lnTo>
                  <a:lnTo>
                    <a:pt x="1246214" y="366559"/>
                  </a:lnTo>
                  <a:lnTo>
                    <a:pt x="1272325" y="323905"/>
                  </a:lnTo>
                  <a:lnTo>
                    <a:pt x="1289327" y="277252"/>
                  </a:lnTo>
                  <a:lnTo>
                    <a:pt x="1295400" y="228600"/>
                  </a:lnTo>
                  <a:lnTo>
                    <a:pt x="1289327" y="179947"/>
                  </a:lnTo>
                  <a:lnTo>
                    <a:pt x="1272325" y="133294"/>
                  </a:lnTo>
                  <a:lnTo>
                    <a:pt x="1246214" y="90640"/>
                  </a:lnTo>
                  <a:lnTo>
                    <a:pt x="1212816" y="53984"/>
                  </a:lnTo>
                  <a:lnTo>
                    <a:pt x="1173953" y="25325"/>
                  </a:lnTo>
                  <a:lnTo>
                    <a:pt x="1131447" y="6664"/>
                  </a:lnTo>
                  <a:lnTo>
                    <a:pt x="108712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71600" y="1295400"/>
              <a:ext cx="1295400" cy="457200"/>
            </a:xfrm>
            <a:custGeom>
              <a:avLst/>
              <a:gdLst/>
              <a:ahLst/>
              <a:cxnLst/>
              <a:rect l="l" t="t" r="r" b="b"/>
              <a:pathLst>
                <a:path w="1295400" h="457200">
                  <a:moveTo>
                    <a:pt x="208280" y="457200"/>
                  </a:moveTo>
                  <a:lnTo>
                    <a:pt x="163952" y="450535"/>
                  </a:lnTo>
                  <a:lnTo>
                    <a:pt x="121446" y="431874"/>
                  </a:lnTo>
                  <a:lnTo>
                    <a:pt x="82583" y="403215"/>
                  </a:lnTo>
                  <a:lnTo>
                    <a:pt x="49185" y="366559"/>
                  </a:lnTo>
                  <a:lnTo>
                    <a:pt x="23074" y="323905"/>
                  </a:lnTo>
                  <a:lnTo>
                    <a:pt x="6072" y="277252"/>
                  </a:lnTo>
                  <a:lnTo>
                    <a:pt x="0" y="228600"/>
                  </a:lnTo>
                  <a:lnTo>
                    <a:pt x="6072" y="179947"/>
                  </a:lnTo>
                  <a:lnTo>
                    <a:pt x="23074" y="133294"/>
                  </a:lnTo>
                  <a:lnTo>
                    <a:pt x="49185" y="90640"/>
                  </a:lnTo>
                  <a:lnTo>
                    <a:pt x="82583" y="53984"/>
                  </a:lnTo>
                  <a:lnTo>
                    <a:pt x="121446" y="25325"/>
                  </a:lnTo>
                  <a:lnTo>
                    <a:pt x="163952" y="6664"/>
                  </a:lnTo>
                  <a:lnTo>
                    <a:pt x="208280" y="0"/>
                  </a:lnTo>
                  <a:lnTo>
                    <a:pt x="1087120" y="0"/>
                  </a:lnTo>
                  <a:lnTo>
                    <a:pt x="1131447" y="6664"/>
                  </a:lnTo>
                  <a:lnTo>
                    <a:pt x="1173953" y="25325"/>
                  </a:lnTo>
                  <a:lnTo>
                    <a:pt x="1212816" y="53984"/>
                  </a:lnTo>
                  <a:lnTo>
                    <a:pt x="1246214" y="90640"/>
                  </a:lnTo>
                  <a:lnTo>
                    <a:pt x="1272325" y="133294"/>
                  </a:lnTo>
                  <a:lnTo>
                    <a:pt x="1289327" y="179947"/>
                  </a:lnTo>
                  <a:lnTo>
                    <a:pt x="1295400" y="228600"/>
                  </a:lnTo>
                  <a:lnTo>
                    <a:pt x="1289327" y="277252"/>
                  </a:lnTo>
                  <a:lnTo>
                    <a:pt x="1272325" y="323905"/>
                  </a:lnTo>
                  <a:lnTo>
                    <a:pt x="1246214" y="366559"/>
                  </a:lnTo>
                  <a:lnTo>
                    <a:pt x="1212816" y="403215"/>
                  </a:lnTo>
                  <a:lnTo>
                    <a:pt x="1173953" y="431874"/>
                  </a:lnTo>
                  <a:lnTo>
                    <a:pt x="1131447" y="450535"/>
                  </a:lnTo>
                  <a:lnTo>
                    <a:pt x="1087120" y="457200"/>
                  </a:lnTo>
                  <a:lnTo>
                    <a:pt x="208280" y="457200"/>
                  </a:lnTo>
                  <a:close/>
                </a:path>
                <a:path w="1295400" h="457200">
                  <a:moveTo>
                    <a:pt x="0" y="0"/>
                  </a:moveTo>
                  <a:lnTo>
                    <a:pt x="0" y="0"/>
                  </a:lnTo>
                </a:path>
                <a:path w="1295400" h="457200">
                  <a:moveTo>
                    <a:pt x="1295400" y="457200"/>
                  </a:moveTo>
                  <a:lnTo>
                    <a:pt x="12954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658620" y="1328420"/>
            <a:ext cx="7194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Arial"/>
                <a:cs typeface="Arial"/>
              </a:rPr>
              <a:t>S</a:t>
            </a:r>
            <a:r>
              <a:rPr dirty="0" sz="2400" spc="5" b="1">
                <a:latin typeface="Arial"/>
                <a:cs typeface="Arial"/>
              </a:rPr>
              <a:t>t</a:t>
            </a:r>
            <a:r>
              <a:rPr dirty="0" sz="2400" spc="-10" b="1">
                <a:latin typeface="Arial"/>
                <a:cs typeface="Arial"/>
              </a:rPr>
              <a:t>ar</a:t>
            </a:r>
            <a:r>
              <a:rPr dirty="0" sz="2400" b="1">
                <a:latin typeface="Arial"/>
                <a:cs typeface="Arial"/>
              </a:rPr>
              <a:t>t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0037" y="2128837"/>
            <a:ext cx="3590925" cy="542925"/>
            <a:chOff x="300037" y="2128837"/>
            <a:chExt cx="3590925" cy="542925"/>
          </a:xfrm>
        </p:grpSpPr>
        <p:sp>
          <p:nvSpPr>
            <p:cNvPr id="9" name="object 9"/>
            <p:cNvSpPr/>
            <p:nvPr/>
          </p:nvSpPr>
          <p:spPr>
            <a:xfrm>
              <a:off x="304800" y="2133600"/>
              <a:ext cx="3581400" cy="533400"/>
            </a:xfrm>
            <a:custGeom>
              <a:avLst/>
              <a:gdLst/>
              <a:ahLst/>
              <a:cxnLst/>
              <a:rect l="l" t="t" r="r" b="b"/>
              <a:pathLst>
                <a:path w="3581400" h="533400">
                  <a:moveTo>
                    <a:pt x="3581400" y="0"/>
                  </a:moveTo>
                  <a:lnTo>
                    <a:pt x="701040" y="0"/>
                  </a:lnTo>
                  <a:lnTo>
                    <a:pt x="0" y="533400"/>
                  </a:lnTo>
                  <a:lnTo>
                    <a:pt x="2880360" y="533400"/>
                  </a:lnTo>
                  <a:lnTo>
                    <a:pt x="35814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4800" y="2133600"/>
              <a:ext cx="3581400" cy="533400"/>
            </a:xfrm>
            <a:custGeom>
              <a:avLst/>
              <a:gdLst/>
              <a:ahLst/>
              <a:cxnLst/>
              <a:rect l="l" t="t" r="r" b="b"/>
              <a:pathLst>
                <a:path w="3581400" h="533400">
                  <a:moveTo>
                    <a:pt x="701040" y="0"/>
                  </a:moveTo>
                  <a:lnTo>
                    <a:pt x="3581400" y="0"/>
                  </a:lnTo>
                  <a:lnTo>
                    <a:pt x="2880360" y="533400"/>
                  </a:lnTo>
                  <a:lnTo>
                    <a:pt x="0" y="533400"/>
                  </a:lnTo>
                  <a:lnTo>
                    <a:pt x="701040" y="0"/>
                  </a:lnTo>
                  <a:close/>
                </a:path>
                <a:path w="3581400" h="533400">
                  <a:moveTo>
                    <a:pt x="0" y="0"/>
                  </a:moveTo>
                  <a:lnTo>
                    <a:pt x="0" y="0"/>
                  </a:lnTo>
                </a:path>
                <a:path w="3581400" h="533400">
                  <a:moveTo>
                    <a:pt x="3581400" y="533400"/>
                  </a:moveTo>
                  <a:lnTo>
                    <a:pt x="3581400" y="5334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45819" y="2235200"/>
            <a:ext cx="2426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Arial"/>
                <a:cs typeface="Arial"/>
              </a:rPr>
              <a:t>Load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Registers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D,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6800" y="3048000"/>
            <a:ext cx="1828800" cy="457200"/>
          </a:xfrm>
          <a:prstGeom prst="rect">
            <a:avLst/>
          </a:prstGeom>
          <a:solidFill>
            <a:srgbClr val="BADFE2"/>
          </a:solidFill>
          <a:ln w="9344">
            <a:solidFill>
              <a:srgbClr val="000000"/>
            </a:solidFill>
          </a:ln>
        </p:spPr>
        <p:txBody>
          <a:bodyPr wrap="square" lIns="0" tIns="76200" rIns="0" bIns="0" rtlCol="0" vert="horz">
            <a:spAutoFit/>
          </a:bodyPr>
          <a:lstStyle/>
          <a:p>
            <a:pPr marL="191135">
              <a:lnSpc>
                <a:spcPct val="100000"/>
              </a:lnSpc>
              <a:spcBef>
                <a:spcPts val="600"/>
              </a:spcBef>
            </a:pPr>
            <a:r>
              <a:rPr dirty="0" sz="2000" b="1">
                <a:latin typeface="Arial"/>
                <a:cs typeface="Arial"/>
              </a:rPr>
              <a:t>Copy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D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to</a:t>
            </a:r>
            <a:r>
              <a:rPr dirty="0" sz="2000" spc="-114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6800" y="3886200"/>
            <a:ext cx="1828800" cy="457200"/>
          </a:xfrm>
          <a:prstGeom prst="rect">
            <a:avLst/>
          </a:prstGeom>
          <a:solidFill>
            <a:srgbClr val="BADFE2"/>
          </a:solidFill>
          <a:ln w="9344">
            <a:solidFill>
              <a:srgbClr val="000000"/>
            </a:solidFill>
          </a:ln>
        </p:spPr>
        <p:txBody>
          <a:bodyPr wrap="square" lIns="0" tIns="76200" rIns="0" bIns="0" rtlCol="0" vert="horz">
            <a:spAutoFit/>
          </a:bodyPr>
          <a:lstStyle/>
          <a:p>
            <a:pPr marL="168275">
              <a:lnSpc>
                <a:spcPct val="100000"/>
              </a:lnSpc>
              <a:spcBef>
                <a:spcPts val="600"/>
              </a:spcBef>
            </a:pPr>
            <a:r>
              <a:rPr dirty="0" sz="2000" b="1">
                <a:latin typeface="Arial"/>
                <a:cs typeface="Arial"/>
              </a:rPr>
              <a:t>Add</a:t>
            </a:r>
            <a:r>
              <a:rPr dirty="0" sz="2000" spc="-114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</a:t>
            </a:r>
            <a:r>
              <a:rPr dirty="0" sz="2000" spc="-10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and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6800" y="4724400"/>
            <a:ext cx="1828800" cy="457200"/>
          </a:xfrm>
          <a:prstGeom prst="rect">
            <a:avLst/>
          </a:prstGeom>
          <a:solidFill>
            <a:srgbClr val="BADFE2"/>
          </a:solidFill>
          <a:ln w="9344">
            <a:solidFill>
              <a:srgbClr val="000000"/>
            </a:solidFill>
          </a:ln>
        </p:spPr>
        <p:txBody>
          <a:bodyPr wrap="square" lIns="0" tIns="76200" rIns="0" bIns="0" rtlCol="0" vert="horz">
            <a:spAutoFit/>
          </a:bodyPr>
          <a:lstStyle/>
          <a:p>
            <a:pPr marL="196850">
              <a:lnSpc>
                <a:spcPct val="100000"/>
              </a:lnSpc>
              <a:spcBef>
                <a:spcPts val="600"/>
              </a:spcBef>
            </a:pPr>
            <a:r>
              <a:rPr dirty="0" sz="2000" b="1">
                <a:latin typeface="Arial"/>
                <a:cs typeface="Arial"/>
              </a:rPr>
              <a:t>Copy</a:t>
            </a:r>
            <a:r>
              <a:rPr dirty="0" sz="2000" spc="-114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</a:t>
            </a:r>
            <a:r>
              <a:rPr dirty="0" sz="2000" spc="-10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to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948237" y="4948237"/>
            <a:ext cx="1304925" cy="466725"/>
            <a:chOff x="4948237" y="4948237"/>
            <a:chExt cx="1304925" cy="466725"/>
          </a:xfrm>
        </p:grpSpPr>
        <p:sp>
          <p:nvSpPr>
            <p:cNvPr id="16" name="object 16"/>
            <p:cNvSpPr/>
            <p:nvPr/>
          </p:nvSpPr>
          <p:spPr>
            <a:xfrm>
              <a:off x="4953000" y="4953000"/>
              <a:ext cx="1295400" cy="457200"/>
            </a:xfrm>
            <a:custGeom>
              <a:avLst/>
              <a:gdLst/>
              <a:ahLst/>
              <a:cxnLst/>
              <a:rect l="l" t="t" r="r" b="b"/>
              <a:pathLst>
                <a:path w="1295400" h="457200">
                  <a:moveTo>
                    <a:pt x="1087120" y="0"/>
                  </a:moveTo>
                  <a:lnTo>
                    <a:pt x="207010" y="0"/>
                  </a:lnTo>
                  <a:lnTo>
                    <a:pt x="163152" y="6664"/>
                  </a:lnTo>
                  <a:lnTo>
                    <a:pt x="120983" y="25325"/>
                  </a:lnTo>
                  <a:lnTo>
                    <a:pt x="82346" y="53984"/>
                  </a:lnTo>
                  <a:lnTo>
                    <a:pt x="49085" y="90640"/>
                  </a:lnTo>
                  <a:lnTo>
                    <a:pt x="23045" y="133294"/>
                  </a:lnTo>
                  <a:lnTo>
                    <a:pt x="6068" y="179947"/>
                  </a:lnTo>
                  <a:lnTo>
                    <a:pt x="0" y="228600"/>
                  </a:lnTo>
                  <a:lnTo>
                    <a:pt x="6068" y="277252"/>
                  </a:lnTo>
                  <a:lnTo>
                    <a:pt x="23045" y="323905"/>
                  </a:lnTo>
                  <a:lnTo>
                    <a:pt x="49085" y="366559"/>
                  </a:lnTo>
                  <a:lnTo>
                    <a:pt x="82346" y="403215"/>
                  </a:lnTo>
                  <a:lnTo>
                    <a:pt x="120983" y="431874"/>
                  </a:lnTo>
                  <a:lnTo>
                    <a:pt x="163152" y="450535"/>
                  </a:lnTo>
                  <a:lnTo>
                    <a:pt x="207010" y="457200"/>
                  </a:lnTo>
                  <a:lnTo>
                    <a:pt x="1087120" y="457200"/>
                  </a:lnTo>
                  <a:lnTo>
                    <a:pt x="1131447" y="450535"/>
                  </a:lnTo>
                  <a:lnTo>
                    <a:pt x="1173953" y="431874"/>
                  </a:lnTo>
                  <a:lnTo>
                    <a:pt x="1212816" y="403215"/>
                  </a:lnTo>
                  <a:lnTo>
                    <a:pt x="1246214" y="366559"/>
                  </a:lnTo>
                  <a:lnTo>
                    <a:pt x="1272325" y="323905"/>
                  </a:lnTo>
                  <a:lnTo>
                    <a:pt x="1289327" y="277252"/>
                  </a:lnTo>
                  <a:lnTo>
                    <a:pt x="1295400" y="228600"/>
                  </a:lnTo>
                  <a:lnTo>
                    <a:pt x="1289327" y="179947"/>
                  </a:lnTo>
                  <a:lnTo>
                    <a:pt x="1272325" y="133294"/>
                  </a:lnTo>
                  <a:lnTo>
                    <a:pt x="1246214" y="90640"/>
                  </a:lnTo>
                  <a:lnTo>
                    <a:pt x="1212816" y="53984"/>
                  </a:lnTo>
                  <a:lnTo>
                    <a:pt x="1173953" y="25325"/>
                  </a:lnTo>
                  <a:lnTo>
                    <a:pt x="1131447" y="6664"/>
                  </a:lnTo>
                  <a:lnTo>
                    <a:pt x="108712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953000" y="4953000"/>
              <a:ext cx="1295400" cy="457200"/>
            </a:xfrm>
            <a:custGeom>
              <a:avLst/>
              <a:gdLst/>
              <a:ahLst/>
              <a:cxnLst/>
              <a:rect l="l" t="t" r="r" b="b"/>
              <a:pathLst>
                <a:path w="1295400" h="457200">
                  <a:moveTo>
                    <a:pt x="207010" y="457200"/>
                  </a:moveTo>
                  <a:lnTo>
                    <a:pt x="163152" y="450535"/>
                  </a:lnTo>
                  <a:lnTo>
                    <a:pt x="120983" y="431874"/>
                  </a:lnTo>
                  <a:lnTo>
                    <a:pt x="82346" y="403215"/>
                  </a:lnTo>
                  <a:lnTo>
                    <a:pt x="49085" y="366559"/>
                  </a:lnTo>
                  <a:lnTo>
                    <a:pt x="23045" y="323905"/>
                  </a:lnTo>
                  <a:lnTo>
                    <a:pt x="6068" y="277252"/>
                  </a:lnTo>
                  <a:lnTo>
                    <a:pt x="0" y="228600"/>
                  </a:lnTo>
                  <a:lnTo>
                    <a:pt x="6068" y="179947"/>
                  </a:lnTo>
                  <a:lnTo>
                    <a:pt x="23045" y="133294"/>
                  </a:lnTo>
                  <a:lnTo>
                    <a:pt x="49085" y="90640"/>
                  </a:lnTo>
                  <a:lnTo>
                    <a:pt x="82346" y="53984"/>
                  </a:lnTo>
                  <a:lnTo>
                    <a:pt x="120983" y="25325"/>
                  </a:lnTo>
                  <a:lnTo>
                    <a:pt x="163152" y="6664"/>
                  </a:lnTo>
                  <a:lnTo>
                    <a:pt x="207010" y="0"/>
                  </a:lnTo>
                  <a:lnTo>
                    <a:pt x="1087120" y="0"/>
                  </a:lnTo>
                  <a:lnTo>
                    <a:pt x="1131447" y="6664"/>
                  </a:lnTo>
                  <a:lnTo>
                    <a:pt x="1173953" y="25325"/>
                  </a:lnTo>
                  <a:lnTo>
                    <a:pt x="1212816" y="53984"/>
                  </a:lnTo>
                  <a:lnTo>
                    <a:pt x="1246214" y="90640"/>
                  </a:lnTo>
                  <a:lnTo>
                    <a:pt x="1272325" y="133294"/>
                  </a:lnTo>
                  <a:lnTo>
                    <a:pt x="1289327" y="179947"/>
                  </a:lnTo>
                  <a:lnTo>
                    <a:pt x="1295400" y="228600"/>
                  </a:lnTo>
                  <a:lnTo>
                    <a:pt x="1289327" y="277252"/>
                  </a:lnTo>
                  <a:lnTo>
                    <a:pt x="1272325" y="323905"/>
                  </a:lnTo>
                  <a:lnTo>
                    <a:pt x="1246214" y="366559"/>
                  </a:lnTo>
                  <a:lnTo>
                    <a:pt x="1212816" y="403215"/>
                  </a:lnTo>
                  <a:lnTo>
                    <a:pt x="1173953" y="431874"/>
                  </a:lnTo>
                  <a:lnTo>
                    <a:pt x="1131447" y="450535"/>
                  </a:lnTo>
                  <a:lnTo>
                    <a:pt x="1087120" y="457200"/>
                  </a:lnTo>
                  <a:lnTo>
                    <a:pt x="207010" y="457200"/>
                  </a:lnTo>
                  <a:close/>
                </a:path>
                <a:path w="1295400" h="457200">
                  <a:moveTo>
                    <a:pt x="0" y="0"/>
                  </a:moveTo>
                  <a:lnTo>
                    <a:pt x="0" y="0"/>
                  </a:lnTo>
                </a:path>
                <a:path w="1295400" h="457200">
                  <a:moveTo>
                    <a:pt x="1295400" y="457200"/>
                  </a:moveTo>
                  <a:lnTo>
                    <a:pt x="1295400" y="4572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248909" y="4986020"/>
            <a:ext cx="702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Arial"/>
                <a:cs typeface="Arial"/>
              </a:rPr>
              <a:t>St</a:t>
            </a:r>
            <a:r>
              <a:rPr dirty="0" sz="2400" b="1">
                <a:latin typeface="Arial"/>
                <a:cs typeface="Arial"/>
              </a:rPr>
              <a:t>op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924050" y="1752600"/>
            <a:ext cx="114300" cy="1295400"/>
            <a:chOff x="1924050" y="1752600"/>
            <a:chExt cx="114300" cy="1295400"/>
          </a:xfrm>
        </p:grpSpPr>
        <p:sp>
          <p:nvSpPr>
            <p:cNvPr id="20" name="object 20"/>
            <p:cNvSpPr/>
            <p:nvPr/>
          </p:nvSpPr>
          <p:spPr>
            <a:xfrm>
              <a:off x="1981200" y="1752600"/>
              <a:ext cx="0" cy="274320"/>
            </a:xfrm>
            <a:custGeom>
              <a:avLst/>
              <a:gdLst/>
              <a:ahLst/>
              <a:cxnLst/>
              <a:rect l="l" t="t" r="r" b="b"/>
              <a:pathLst>
                <a:path w="0" h="274319">
                  <a:moveTo>
                    <a:pt x="0" y="0"/>
                  </a:moveTo>
                  <a:lnTo>
                    <a:pt x="0" y="274320"/>
                  </a:lnTo>
                </a:path>
              </a:pathLst>
            </a:custGeom>
            <a:ln w="3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924050" y="20193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981200" y="2667000"/>
              <a:ext cx="0" cy="274320"/>
            </a:xfrm>
            <a:custGeom>
              <a:avLst/>
              <a:gdLst/>
              <a:ahLst/>
              <a:cxnLst/>
              <a:rect l="l" t="t" r="r" b="b"/>
              <a:pathLst>
                <a:path w="0" h="274319">
                  <a:moveTo>
                    <a:pt x="0" y="0"/>
                  </a:moveTo>
                  <a:lnTo>
                    <a:pt x="0" y="274320"/>
                  </a:lnTo>
                </a:path>
              </a:pathLst>
            </a:custGeom>
            <a:ln w="3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924050" y="29337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1924050" y="3505200"/>
            <a:ext cx="114300" cy="381000"/>
            <a:chOff x="1924050" y="3505200"/>
            <a:chExt cx="114300" cy="381000"/>
          </a:xfrm>
        </p:grpSpPr>
        <p:sp>
          <p:nvSpPr>
            <p:cNvPr id="25" name="object 25"/>
            <p:cNvSpPr/>
            <p:nvPr/>
          </p:nvSpPr>
          <p:spPr>
            <a:xfrm>
              <a:off x="1981200" y="3505200"/>
              <a:ext cx="0" cy="274320"/>
            </a:xfrm>
            <a:custGeom>
              <a:avLst/>
              <a:gdLst/>
              <a:ahLst/>
              <a:cxnLst/>
              <a:rect l="l" t="t" r="r" b="b"/>
              <a:pathLst>
                <a:path w="0" h="274320">
                  <a:moveTo>
                    <a:pt x="0" y="0"/>
                  </a:moveTo>
                  <a:lnTo>
                    <a:pt x="0" y="274319"/>
                  </a:lnTo>
                </a:path>
              </a:pathLst>
            </a:custGeom>
            <a:ln w="3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924050" y="37719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/>
          <p:cNvGrpSpPr/>
          <p:nvPr/>
        </p:nvGrpSpPr>
        <p:grpSpPr>
          <a:xfrm>
            <a:off x="1924050" y="4343400"/>
            <a:ext cx="114300" cy="381000"/>
            <a:chOff x="1924050" y="4343400"/>
            <a:chExt cx="114300" cy="381000"/>
          </a:xfrm>
        </p:grpSpPr>
        <p:sp>
          <p:nvSpPr>
            <p:cNvPr id="28" name="object 28"/>
            <p:cNvSpPr/>
            <p:nvPr/>
          </p:nvSpPr>
          <p:spPr>
            <a:xfrm>
              <a:off x="1981200" y="4343400"/>
              <a:ext cx="0" cy="274320"/>
            </a:xfrm>
            <a:custGeom>
              <a:avLst/>
              <a:gdLst/>
              <a:ahLst/>
              <a:cxnLst/>
              <a:rect l="l" t="t" r="r" b="b"/>
              <a:pathLst>
                <a:path w="0" h="274320">
                  <a:moveTo>
                    <a:pt x="0" y="0"/>
                  </a:moveTo>
                  <a:lnTo>
                    <a:pt x="0" y="274319"/>
                  </a:lnTo>
                </a:path>
              </a:pathLst>
            </a:custGeom>
            <a:ln w="3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924050" y="46101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1779677" y="5181600"/>
            <a:ext cx="390525" cy="690880"/>
            <a:chOff x="1779677" y="5181600"/>
            <a:chExt cx="390525" cy="690880"/>
          </a:xfrm>
        </p:grpSpPr>
        <p:sp>
          <p:nvSpPr>
            <p:cNvPr id="31" name="object 31"/>
            <p:cNvSpPr/>
            <p:nvPr/>
          </p:nvSpPr>
          <p:spPr>
            <a:xfrm>
              <a:off x="1981199" y="5181600"/>
              <a:ext cx="0" cy="274320"/>
            </a:xfrm>
            <a:custGeom>
              <a:avLst/>
              <a:gdLst/>
              <a:ahLst/>
              <a:cxnLst/>
              <a:rect l="l" t="t" r="r" b="b"/>
              <a:pathLst>
                <a:path w="0" h="274320">
                  <a:moveTo>
                    <a:pt x="0" y="0"/>
                  </a:moveTo>
                  <a:lnTo>
                    <a:pt x="0" y="274319"/>
                  </a:lnTo>
                </a:path>
              </a:pathLst>
            </a:custGeom>
            <a:ln w="3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924049" y="54483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784349" y="55626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190500" y="0"/>
                  </a:moveTo>
                  <a:lnTo>
                    <a:pt x="138906" y="5291"/>
                  </a:lnTo>
                  <a:lnTo>
                    <a:pt x="93133" y="20320"/>
                  </a:lnTo>
                  <a:lnTo>
                    <a:pt x="54768" y="43815"/>
                  </a:lnTo>
                  <a:lnTo>
                    <a:pt x="25400" y="74506"/>
                  </a:lnTo>
                  <a:lnTo>
                    <a:pt x="6614" y="111125"/>
                  </a:lnTo>
                  <a:lnTo>
                    <a:pt x="0" y="152400"/>
                  </a:lnTo>
                  <a:lnTo>
                    <a:pt x="6614" y="193675"/>
                  </a:lnTo>
                  <a:lnTo>
                    <a:pt x="25400" y="230293"/>
                  </a:lnTo>
                  <a:lnTo>
                    <a:pt x="54768" y="260985"/>
                  </a:lnTo>
                  <a:lnTo>
                    <a:pt x="93133" y="284480"/>
                  </a:lnTo>
                  <a:lnTo>
                    <a:pt x="138906" y="299508"/>
                  </a:lnTo>
                  <a:lnTo>
                    <a:pt x="190500" y="304800"/>
                  </a:lnTo>
                  <a:lnTo>
                    <a:pt x="242093" y="299508"/>
                  </a:lnTo>
                  <a:lnTo>
                    <a:pt x="287866" y="284480"/>
                  </a:lnTo>
                  <a:lnTo>
                    <a:pt x="326231" y="260985"/>
                  </a:lnTo>
                  <a:lnTo>
                    <a:pt x="355600" y="230293"/>
                  </a:lnTo>
                  <a:lnTo>
                    <a:pt x="374385" y="193675"/>
                  </a:lnTo>
                  <a:lnTo>
                    <a:pt x="381000" y="152400"/>
                  </a:lnTo>
                  <a:lnTo>
                    <a:pt x="374385" y="111125"/>
                  </a:lnTo>
                  <a:lnTo>
                    <a:pt x="355600" y="74506"/>
                  </a:lnTo>
                  <a:lnTo>
                    <a:pt x="326231" y="43815"/>
                  </a:lnTo>
                  <a:lnTo>
                    <a:pt x="287866" y="20320"/>
                  </a:lnTo>
                  <a:lnTo>
                    <a:pt x="242093" y="5291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784349" y="55626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190500" y="0"/>
                  </a:moveTo>
                  <a:lnTo>
                    <a:pt x="242093" y="5291"/>
                  </a:lnTo>
                  <a:lnTo>
                    <a:pt x="287866" y="20320"/>
                  </a:lnTo>
                  <a:lnTo>
                    <a:pt x="326231" y="43815"/>
                  </a:lnTo>
                  <a:lnTo>
                    <a:pt x="355600" y="74506"/>
                  </a:lnTo>
                  <a:lnTo>
                    <a:pt x="374385" y="111125"/>
                  </a:lnTo>
                  <a:lnTo>
                    <a:pt x="381000" y="152400"/>
                  </a:lnTo>
                  <a:lnTo>
                    <a:pt x="374385" y="193675"/>
                  </a:lnTo>
                  <a:lnTo>
                    <a:pt x="355600" y="230293"/>
                  </a:lnTo>
                  <a:lnTo>
                    <a:pt x="326231" y="260985"/>
                  </a:lnTo>
                  <a:lnTo>
                    <a:pt x="287866" y="284480"/>
                  </a:lnTo>
                  <a:lnTo>
                    <a:pt x="242093" y="299508"/>
                  </a:lnTo>
                  <a:lnTo>
                    <a:pt x="190500" y="304800"/>
                  </a:lnTo>
                  <a:lnTo>
                    <a:pt x="138906" y="299508"/>
                  </a:lnTo>
                  <a:lnTo>
                    <a:pt x="93133" y="284479"/>
                  </a:lnTo>
                  <a:lnTo>
                    <a:pt x="54768" y="260984"/>
                  </a:lnTo>
                  <a:lnTo>
                    <a:pt x="25400" y="230293"/>
                  </a:lnTo>
                  <a:lnTo>
                    <a:pt x="6614" y="193674"/>
                  </a:lnTo>
                  <a:lnTo>
                    <a:pt x="0" y="152400"/>
                  </a:lnTo>
                  <a:lnTo>
                    <a:pt x="6614" y="111125"/>
                  </a:lnTo>
                  <a:lnTo>
                    <a:pt x="25400" y="74506"/>
                  </a:lnTo>
                  <a:lnTo>
                    <a:pt x="54768" y="43814"/>
                  </a:lnTo>
                  <a:lnTo>
                    <a:pt x="93133" y="20319"/>
                  </a:lnTo>
                  <a:lnTo>
                    <a:pt x="138906" y="5291"/>
                  </a:lnTo>
                  <a:lnTo>
                    <a:pt x="190500" y="0"/>
                  </a:lnTo>
                  <a:close/>
                </a:path>
                <a:path w="381000" h="304800">
                  <a:moveTo>
                    <a:pt x="0" y="0"/>
                  </a:moveTo>
                  <a:lnTo>
                    <a:pt x="0" y="0"/>
                  </a:lnTo>
                </a:path>
                <a:path w="381000" h="304800">
                  <a:moveTo>
                    <a:pt x="381000" y="304800"/>
                  </a:moveTo>
                  <a:lnTo>
                    <a:pt x="3810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4719637" y="1138237"/>
            <a:ext cx="1762125" cy="2371725"/>
            <a:chOff x="4719637" y="1138237"/>
            <a:chExt cx="1762125" cy="2371725"/>
          </a:xfrm>
        </p:grpSpPr>
        <p:sp>
          <p:nvSpPr>
            <p:cNvPr id="36" name="object 36"/>
            <p:cNvSpPr/>
            <p:nvPr/>
          </p:nvSpPr>
          <p:spPr>
            <a:xfrm>
              <a:off x="4724400" y="1828800"/>
              <a:ext cx="1752600" cy="1676400"/>
            </a:xfrm>
            <a:custGeom>
              <a:avLst/>
              <a:gdLst/>
              <a:ahLst/>
              <a:cxnLst/>
              <a:rect l="l" t="t" r="r" b="b"/>
              <a:pathLst>
                <a:path w="1752600" h="1676400">
                  <a:moveTo>
                    <a:pt x="876300" y="0"/>
                  </a:moveTo>
                  <a:lnTo>
                    <a:pt x="0" y="838200"/>
                  </a:lnTo>
                  <a:lnTo>
                    <a:pt x="876300" y="1676400"/>
                  </a:lnTo>
                  <a:lnTo>
                    <a:pt x="1752600" y="838200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724400" y="1828800"/>
              <a:ext cx="1752600" cy="1676400"/>
            </a:xfrm>
            <a:custGeom>
              <a:avLst/>
              <a:gdLst/>
              <a:ahLst/>
              <a:cxnLst/>
              <a:rect l="l" t="t" r="r" b="b"/>
              <a:pathLst>
                <a:path w="1752600" h="1676400">
                  <a:moveTo>
                    <a:pt x="0" y="838200"/>
                  </a:moveTo>
                  <a:lnTo>
                    <a:pt x="876300" y="0"/>
                  </a:lnTo>
                  <a:lnTo>
                    <a:pt x="1752600" y="838200"/>
                  </a:lnTo>
                  <a:lnTo>
                    <a:pt x="876300" y="1676400"/>
                  </a:lnTo>
                  <a:lnTo>
                    <a:pt x="0" y="838200"/>
                  </a:lnTo>
                  <a:close/>
                </a:path>
                <a:path w="1752600" h="1676400">
                  <a:moveTo>
                    <a:pt x="0" y="0"/>
                  </a:moveTo>
                  <a:lnTo>
                    <a:pt x="0" y="0"/>
                  </a:lnTo>
                </a:path>
                <a:path w="1752600" h="1676400">
                  <a:moveTo>
                    <a:pt x="1752600" y="1676400"/>
                  </a:moveTo>
                  <a:lnTo>
                    <a:pt x="1752600" y="16764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410200" y="11430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190500" y="0"/>
                  </a:moveTo>
                  <a:lnTo>
                    <a:pt x="138906" y="5291"/>
                  </a:lnTo>
                  <a:lnTo>
                    <a:pt x="93133" y="20320"/>
                  </a:lnTo>
                  <a:lnTo>
                    <a:pt x="54768" y="43815"/>
                  </a:lnTo>
                  <a:lnTo>
                    <a:pt x="25399" y="74506"/>
                  </a:lnTo>
                  <a:lnTo>
                    <a:pt x="6614" y="111125"/>
                  </a:lnTo>
                  <a:lnTo>
                    <a:pt x="0" y="152400"/>
                  </a:lnTo>
                  <a:lnTo>
                    <a:pt x="6614" y="193675"/>
                  </a:lnTo>
                  <a:lnTo>
                    <a:pt x="25400" y="230293"/>
                  </a:lnTo>
                  <a:lnTo>
                    <a:pt x="54768" y="260985"/>
                  </a:lnTo>
                  <a:lnTo>
                    <a:pt x="93133" y="284480"/>
                  </a:lnTo>
                  <a:lnTo>
                    <a:pt x="138906" y="299508"/>
                  </a:lnTo>
                  <a:lnTo>
                    <a:pt x="190500" y="304800"/>
                  </a:lnTo>
                  <a:lnTo>
                    <a:pt x="242093" y="299508"/>
                  </a:lnTo>
                  <a:lnTo>
                    <a:pt x="287866" y="284480"/>
                  </a:lnTo>
                  <a:lnTo>
                    <a:pt x="326231" y="260985"/>
                  </a:lnTo>
                  <a:lnTo>
                    <a:pt x="355600" y="230293"/>
                  </a:lnTo>
                  <a:lnTo>
                    <a:pt x="374385" y="193675"/>
                  </a:lnTo>
                  <a:lnTo>
                    <a:pt x="381000" y="152400"/>
                  </a:lnTo>
                  <a:lnTo>
                    <a:pt x="374385" y="111125"/>
                  </a:lnTo>
                  <a:lnTo>
                    <a:pt x="355600" y="74506"/>
                  </a:lnTo>
                  <a:lnTo>
                    <a:pt x="326231" y="43815"/>
                  </a:lnTo>
                  <a:lnTo>
                    <a:pt x="287866" y="20320"/>
                  </a:lnTo>
                  <a:lnTo>
                    <a:pt x="242093" y="5291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410200" y="114300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190500" y="0"/>
                  </a:moveTo>
                  <a:lnTo>
                    <a:pt x="242093" y="5291"/>
                  </a:lnTo>
                  <a:lnTo>
                    <a:pt x="287866" y="20320"/>
                  </a:lnTo>
                  <a:lnTo>
                    <a:pt x="326231" y="43815"/>
                  </a:lnTo>
                  <a:lnTo>
                    <a:pt x="355600" y="74506"/>
                  </a:lnTo>
                  <a:lnTo>
                    <a:pt x="374385" y="111125"/>
                  </a:lnTo>
                  <a:lnTo>
                    <a:pt x="381000" y="152400"/>
                  </a:lnTo>
                  <a:lnTo>
                    <a:pt x="374385" y="193675"/>
                  </a:lnTo>
                  <a:lnTo>
                    <a:pt x="355600" y="230293"/>
                  </a:lnTo>
                  <a:lnTo>
                    <a:pt x="326231" y="260985"/>
                  </a:lnTo>
                  <a:lnTo>
                    <a:pt x="287866" y="284480"/>
                  </a:lnTo>
                  <a:lnTo>
                    <a:pt x="242093" y="299508"/>
                  </a:lnTo>
                  <a:lnTo>
                    <a:pt x="190500" y="304800"/>
                  </a:lnTo>
                  <a:lnTo>
                    <a:pt x="138906" y="299508"/>
                  </a:lnTo>
                  <a:lnTo>
                    <a:pt x="93133" y="284479"/>
                  </a:lnTo>
                  <a:lnTo>
                    <a:pt x="54768" y="260984"/>
                  </a:lnTo>
                  <a:lnTo>
                    <a:pt x="25400" y="230293"/>
                  </a:lnTo>
                  <a:lnTo>
                    <a:pt x="6614" y="193674"/>
                  </a:lnTo>
                  <a:lnTo>
                    <a:pt x="0" y="152400"/>
                  </a:lnTo>
                  <a:lnTo>
                    <a:pt x="6614" y="111125"/>
                  </a:lnTo>
                  <a:lnTo>
                    <a:pt x="25400" y="74506"/>
                  </a:lnTo>
                  <a:lnTo>
                    <a:pt x="54768" y="43814"/>
                  </a:lnTo>
                  <a:lnTo>
                    <a:pt x="93133" y="20319"/>
                  </a:lnTo>
                  <a:lnTo>
                    <a:pt x="138906" y="5291"/>
                  </a:lnTo>
                  <a:lnTo>
                    <a:pt x="190500" y="0"/>
                  </a:lnTo>
                  <a:close/>
                </a:path>
                <a:path w="381000" h="304800">
                  <a:moveTo>
                    <a:pt x="0" y="0"/>
                  </a:moveTo>
                  <a:lnTo>
                    <a:pt x="0" y="0"/>
                  </a:lnTo>
                </a:path>
                <a:path w="381000" h="304800">
                  <a:moveTo>
                    <a:pt x="381000" y="304800"/>
                  </a:moveTo>
                  <a:lnTo>
                    <a:pt x="381000" y="30480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5091429" y="2235200"/>
            <a:ext cx="101663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93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If </a:t>
            </a:r>
            <a:r>
              <a:rPr dirty="0" sz="1800" spc="5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CARRY 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NOT</a:t>
            </a:r>
            <a:r>
              <a:rPr dirty="0" sz="1800" spc="-8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SET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086600" y="2438400"/>
            <a:ext cx="1447800" cy="457200"/>
          </a:xfrm>
          <a:prstGeom prst="rect">
            <a:avLst/>
          </a:prstGeom>
          <a:solidFill>
            <a:srgbClr val="BADFE2"/>
          </a:solidFill>
          <a:ln w="9344">
            <a:solidFill>
              <a:srgbClr val="000000"/>
            </a:solidFill>
          </a:ln>
        </p:spPr>
        <p:txBody>
          <a:bodyPr wrap="square" lIns="0" tIns="76200" rIns="0" bIns="0" rtlCol="0" vert="horz">
            <a:spAutoFit/>
          </a:bodyPr>
          <a:lstStyle/>
          <a:p>
            <a:pPr marL="277495">
              <a:lnSpc>
                <a:spcPct val="100000"/>
              </a:lnSpc>
              <a:spcBef>
                <a:spcPts val="600"/>
              </a:spcBef>
            </a:pPr>
            <a:r>
              <a:rPr dirty="0" sz="2000" b="1">
                <a:latin typeface="Arial"/>
                <a:cs typeface="Arial"/>
              </a:rPr>
              <a:t>Clear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B</a:t>
            </a:r>
            <a:endParaRPr sz="2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858000" y="3276600"/>
            <a:ext cx="1828800" cy="457200"/>
          </a:xfrm>
          <a:prstGeom prst="rect">
            <a:avLst/>
          </a:prstGeom>
          <a:solidFill>
            <a:srgbClr val="BADFE2"/>
          </a:solidFill>
          <a:ln w="9344">
            <a:solidFill>
              <a:srgbClr val="000000"/>
            </a:solidFill>
          </a:ln>
        </p:spPr>
        <p:txBody>
          <a:bodyPr wrap="square" lIns="0" tIns="76200" rIns="0" bIns="0" rtlCol="0" vert="horz">
            <a:spAutoFit/>
          </a:bodyPr>
          <a:lstStyle/>
          <a:p>
            <a:pPr marL="179070">
              <a:lnSpc>
                <a:spcPct val="100000"/>
              </a:lnSpc>
              <a:spcBef>
                <a:spcPts val="600"/>
              </a:spcBef>
            </a:pPr>
            <a:r>
              <a:rPr dirty="0" sz="2000" spc="-5" b="1">
                <a:latin typeface="Arial"/>
                <a:cs typeface="Arial"/>
              </a:rPr>
              <a:t>Increment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B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715250" y="2895600"/>
            <a:ext cx="114300" cy="381000"/>
            <a:chOff x="7715250" y="2895600"/>
            <a:chExt cx="114300" cy="381000"/>
          </a:xfrm>
        </p:grpSpPr>
        <p:sp>
          <p:nvSpPr>
            <p:cNvPr id="44" name="object 44"/>
            <p:cNvSpPr/>
            <p:nvPr/>
          </p:nvSpPr>
          <p:spPr>
            <a:xfrm>
              <a:off x="7772400" y="2895600"/>
              <a:ext cx="0" cy="274320"/>
            </a:xfrm>
            <a:custGeom>
              <a:avLst/>
              <a:gdLst/>
              <a:ahLst/>
              <a:cxnLst/>
              <a:rect l="l" t="t" r="r" b="b"/>
              <a:pathLst>
                <a:path w="0" h="274319">
                  <a:moveTo>
                    <a:pt x="0" y="0"/>
                  </a:moveTo>
                  <a:lnTo>
                    <a:pt x="0" y="274320"/>
                  </a:lnTo>
                </a:path>
              </a:pathLst>
            </a:custGeom>
            <a:ln w="3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7715250" y="31623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" name="object 46"/>
          <p:cNvGrpSpPr/>
          <p:nvPr/>
        </p:nvGrpSpPr>
        <p:grpSpPr>
          <a:xfrm>
            <a:off x="5537200" y="1464310"/>
            <a:ext cx="2254250" cy="3488690"/>
            <a:chOff x="5537200" y="1464310"/>
            <a:chExt cx="2254250" cy="3488690"/>
          </a:xfrm>
        </p:grpSpPr>
        <p:sp>
          <p:nvSpPr>
            <p:cNvPr id="47" name="object 47"/>
            <p:cNvSpPr/>
            <p:nvPr/>
          </p:nvSpPr>
          <p:spPr>
            <a:xfrm>
              <a:off x="6477000" y="2667000"/>
              <a:ext cx="502920" cy="0"/>
            </a:xfrm>
            <a:custGeom>
              <a:avLst/>
              <a:gdLst/>
              <a:ahLst/>
              <a:cxnLst/>
              <a:rect l="l" t="t" r="r" b="b"/>
              <a:pathLst>
                <a:path w="502920" h="0">
                  <a:moveTo>
                    <a:pt x="0" y="0"/>
                  </a:moveTo>
                  <a:lnTo>
                    <a:pt x="502920" y="0"/>
                  </a:lnTo>
                </a:path>
              </a:pathLst>
            </a:custGeom>
            <a:ln w="3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972300" y="26098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594350" y="3505200"/>
              <a:ext cx="0" cy="1341120"/>
            </a:xfrm>
            <a:custGeom>
              <a:avLst/>
              <a:gdLst/>
              <a:ahLst/>
              <a:cxnLst/>
              <a:rect l="l" t="t" r="r" b="b"/>
              <a:pathLst>
                <a:path w="0" h="1341120">
                  <a:moveTo>
                    <a:pt x="0" y="0"/>
                  </a:moveTo>
                  <a:lnTo>
                    <a:pt x="0" y="1341120"/>
                  </a:lnTo>
                </a:path>
              </a:pathLst>
            </a:custGeom>
            <a:ln w="3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537200" y="48387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7772400" y="3733800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w="0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3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669279" y="4419600"/>
              <a:ext cx="2103120" cy="0"/>
            </a:xfrm>
            <a:custGeom>
              <a:avLst/>
              <a:gdLst/>
              <a:ahLst/>
              <a:cxnLst/>
              <a:rect l="l" t="t" r="r" b="b"/>
              <a:pathLst>
                <a:path w="2103120" h="0">
                  <a:moveTo>
                    <a:pt x="2103120" y="0"/>
                  </a:moveTo>
                  <a:lnTo>
                    <a:pt x="0" y="0"/>
                  </a:lnTo>
                </a:path>
              </a:pathLst>
            </a:custGeom>
            <a:ln w="3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562600" y="43624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594350" y="1464310"/>
              <a:ext cx="0" cy="273050"/>
            </a:xfrm>
            <a:custGeom>
              <a:avLst/>
              <a:gdLst/>
              <a:ahLst/>
              <a:cxnLst/>
              <a:rect l="l" t="t" r="r" b="b"/>
              <a:pathLst>
                <a:path w="0" h="273050">
                  <a:moveTo>
                    <a:pt x="0" y="0"/>
                  </a:moveTo>
                  <a:lnTo>
                    <a:pt x="0" y="273050"/>
                  </a:lnTo>
                </a:path>
              </a:pathLst>
            </a:custGeom>
            <a:ln w="3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537200" y="172974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6400800" y="2152650"/>
            <a:ext cx="67564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" b="1">
                <a:latin typeface="Arial"/>
                <a:cs typeface="Arial"/>
              </a:rPr>
              <a:t>Fa</a:t>
            </a:r>
            <a:r>
              <a:rPr dirty="0" sz="2000" spc="-10" b="1">
                <a:latin typeface="Arial"/>
                <a:cs typeface="Arial"/>
              </a:rPr>
              <a:t>l</a:t>
            </a:r>
            <a:r>
              <a:rPr dirty="0" sz="2000" spc="-5" b="1">
                <a:latin typeface="Arial"/>
                <a:cs typeface="Arial"/>
              </a:rPr>
              <a:t>s</a:t>
            </a:r>
            <a:r>
              <a:rPr dirty="0" sz="2000" b="1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954270" y="3539490"/>
            <a:ext cx="56134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25" b="1">
                <a:latin typeface="Arial"/>
                <a:cs typeface="Arial"/>
              </a:rPr>
              <a:t>T</a:t>
            </a:r>
            <a:r>
              <a:rPr dirty="0" sz="2000" spc="-5" b="1">
                <a:latin typeface="Arial"/>
                <a:cs typeface="Arial"/>
              </a:rPr>
              <a:t>r</a:t>
            </a:r>
            <a:r>
              <a:rPr dirty="0" sz="2000" spc="5" b="1">
                <a:latin typeface="Arial"/>
                <a:cs typeface="Arial"/>
              </a:rPr>
              <a:t>u</a:t>
            </a:r>
            <a:r>
              <a:rPr dirty="0" sz="2000" b="1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29200" y="1524000"/>
            <a:ext cx="3657600" cy="5105400"/>
          </a:xfrm>
          <a:custGeom>
            <a:avLst/>
            <a:gdLst/>
            <a:ahLst/>
            <a:cxnLst/>
            <a:rect l="l" t="t" r="r" b="b"/>
            <a:pathLst>
              <a:path w="3657600" h="5105400">
                <a:moveTo>
                  <a:pt x="3657600" y="0"/>
                </a:moveTo>
                <a:lnTo>
                  <a:pt x="0" y="0"/>
                </a:lnTo>
                <a:lnTo>
                  <a:pt x="0" y="5105400"/>
                </a:lnTo>
                <a:lnTo>
                  <a:pt x="1828800" y="5105400"/>
                </a:lnTo>
                <a:lnTo>
                  <a:pt x="3657600" y="5105400"/>
                </a:lnTo>
                <a:lnTo>
                  <a:pt x="3657600" y="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57200" y="274320"/>
            <a:ext cx="8229600" cy="1143000"/>
          </a:xfrm>
          <a:custGeom>
            <a:avLst/>
            <a:gdLst/>
            <a:ahLst/>
            <a:cxnLst/>
            <a:rect l="l" t="t" r="r" b="b"/>
            <a:pathLst>
              <a:path w="8229600" h="1143000">
                <a:moveTo>
                  <a:pt x="8229600" y="0"/>
                </a:moveTo>
                <a:lnTo>
                  <a:pt x="0" y="0"/>
                </a:lnTo>
                <a:lnTo>
                  <a:pt x="0" y="1143000"/>
                </a:lnTo>
                <a:lnTo>
                  <a:pt x="4114800" y="1143000"/>
                </a:lnTo>
                <a:lnTo>
                  <a:pt x="8229600" y="1143000"/>
                </a:lnTo>
                <a:lnTo>
                  <a:pt x="82296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9119" y="497840"/>
            <a:ext cx="7976234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 b="0">
                <a:latin typeface="Arial MT"/>
                <a:cs typeface="Arial MT"/>
              </a:rPr>
              <a:t>5.</a:t>
            </a:r>
            <a:r>
              <a:rPr dirty="0" sz="4400" spc="-254" b="0"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Assembly</a:t>
            </a:r>
            <a:r>
              <a:rPr dirty="0" sz="4400" b="0">
                <a:latin typeface="Arial MT"/>
                <a:cs typeface="Arial MT"/>
              </a:rPr>
              <a:t> </a:t>
            </a:r>
            <a:r>
              <a:rPr dirty="0" sz="4400" spc="-10" b="0">
                <a:latin typeface="Arial MT"/>
                <a:cs typeface="Arial MT"/>
              </a:rPr>
              <a:t>Language </a:t>
            </a:r>
            <a:r>
              <a:rPr dirty="0" sz="4400" spc="-5" b="0">
                <a:latin typeface="Arial MT"/>
                <a:cs typeface="Arial MT"/>
              </a:rPr>
              <a:t>Program</a:t>
            </a:r>
            <a:endParaRPr sz="44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48400" y="1600200"/>
            <a:ext cx="2057400" cy="4876800"/>
            <a:chOff x="6248400" y="1600200"/>
            <a:chExt cx="2057400" cy="4876800"/>
          </a:xfrm>
        </p:grpSpPr>
        <p:sp>
          <p:nvSpPr>
            <p:cNvPr id="6" name="object 6"/>
            <p:cNvSpPr/>
            <p:nvPr/>
          </p:nvSpPr>
          <p:spPr>
            <a:xfrm>
              <a:off x="6248400" y="1600200"/>
              <a:ext cx="2057400" cy="990600"/>
            </a:xfrm>
            <a:custGeom>
              <a:avLst/>
              <a:gdLst/>
              <a:ahLst/>
              <a:cxnLst/>
              <a:rect l="l" t="t" r="r" b="b"/>
              <a:pathLst>
                <a:path w="2057400" h="990600">
                  <a:moveTo>
                    <a:pt x="20574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1028700" y="990600"/>
                  </a:lnTo>
                  <a:lnTo>
                    <a:pt x="2057400" y="990600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248400" y="2590800"/>
              <a:ext cx="2057400" cy="990600"/>
            </a:xfrm>
            <a:custGeom>
              <a:avLst/>
              <a:gdLst/>
              <a:ahLst/>
              <a:cxnLst/>
              <a:rect l="l" t="t" r="r" b="b"/>
              <a:pathLst>
                <a:path w="2057400" h="990600">
                  <a:moveTo>
                    <a:pt x="20574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1028700" y="990600"/>
                  </a:lnTo>
                  <a:lnTo>
                    <a:pt x="2057400" y="990600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248400" y="3581400"/>
              <a:ext cx="2057400" cy="533400"/>
            </a:xfrm>
            <a:custGeom>
              <a:avLst/>
              <a:gdLst/>
              <a:ahLst/>
              <a:cxnLst/>
              <a:rect l="l" t="t" r="r" b="b"/>
              <a:pathLst>
                <a:path w="2057400" h="533400">
                  <a:moveTo>
                    <a:pt x="20574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028700" y="533400"/>
                  </a:lnTo>
                  <a:lnTo>
                    <a:pt x="2057400" y="533400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3398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248400" y="4114800"/>
              <a:ext cx="2057400" cy="762000"/>
            </a:xfrm>
            <a:custGeom>
              <a:avLst/>
              <a:gdLst/>
              <a:ahLst/>
              <a:cxnLst/>
              <a:rect l="l" t="t" r="r" b="b"/>
              <a:pathLst>
                <a:path w="2057400" h="762000">
                  <a:moveTo>
                    <a:pt x="2057400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1028700" y="762000"/>
                  </a:lnTo>
                  <a:lnTo>
                    <a:pt x="2057400" y="762000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248400" y="5867400"/>
              <a:ext cx="2057400" cy="609600"/>
            </a:xfrm>
            <a:custGeom>
              <a:avLst/>
              <a:gdLst/>
              <a:ahLst/>
              <a:cxnLst/>
              <a:rect l="l" t="t" r="r" b="b"/>
              <a:pathLst>
                <a:path w="2057400" h="609600">
                  <a:moveTo>
                    <a:pt x="20574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1028700" y="609600"/>
                  </a:lnTo>
                  <a:lnTo>
                    <a:pt x="2057400" y="609600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248400" y="4876800"/>
              <a:ext cx="2057400" cy="990600"/>
            </a:xfrm>
            <a:custGeom>
              <a:avLst/>
              <a:gdLst/>
              <a:ahLst/>
              <a:cxnLst/>
              <a:rect l="l" t="t" r="r" b="b"/>
              <a:pathLst>
                <a:path w="2057400" h="990600">
                  <a:moveTo>
                    <a:pt x="20574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1028700" y="990600"/>
                  </a:lnTo>
                  <a:lnTo>
                    <a:pt x="2057400" y="990600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3398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029200" y="1524000"/>
            <a:ext cx="3657600" cy="5105400"/>
          </a:xfrm>
          <a:prstGeom prst="rect">
            <a:avLst/>
          </a:prstGeom>
          <a:ln w="28393">
            <a:solidFill>
              <a:srgbClr val="FF00FF"/>
            </a:solidFill>
          </a:ln>
        </p:spPr>
        <p:txBody>
          <a:bodyPr wrap="square" lIns="0" tIns="46355" rIns="0" bIns="0" rtlCol="0" vert="horz">
            <a:spAutoFit/>
          </a:bodyPr>
          <a:lstStyle/>
          <a:p>
            <a:pPr marL="1309370" marR="702945">
              <a:lnSpc>
                <a:spcPct val="117900"/>
              </a:lnSpc>
              <a:spcBef>
                <a:spcPts val="365"/>
              </a:spcBef>
            </a:pPr>
            <a:r>
              <a:rPr dirty="0" sz="2800" spc="-10">
                <a:latin typeface="Arial MT"/>
                <a:cs typeface="Arial MT"/>
              </a:rPr>
              <a:t>MVI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D,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2H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MVI E, </a:t>
            </a:r>
            <a:r>
              <a:rPr dirty="0" sz="2800" spc="5">
                <a:latin typeface="Arial MT"/>
                <a:cs typeface="Arial MT"/>
              </a:rPr>
              <a:t>3H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15">
                <a:latin typeface="Arial MT"/>
                <a:cs typeface="Arial MT"/>
              </a:rPr>
              <a:t>M</a:t>
            </a:r>
            <a:r>
              <a:rPr dirty="0" sz="2800">
                <a:latin typeface="Arial MT"/>
                <a:cs typeface="Arial MT"/>
              </a:rPr>
              <a:t>OV</a:t>
            </a:r>
            <a:r>
              <a:rPr dirty="0" sz="2800" spc="-1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</a:t>
            </a:r>
            <a:r>
              <a:rPr dirty="0" sz="2800">
                <a:latin typeface="Arial MT"/>
                <a:cs typeface="Arial MT"/>
              </a:rPr>
              <a:t>, D  </a:t>
            </a:r>
            <a:r>
              <a:rPr dirty="0" sz="2800" spc="-10">
                <a:latin typeface="Arial MT"/>
                <a:cs typeface="Arial MT"/>
              </a:rPr>
              <a:t>ADD </a:t>
            </a:r>
            <a:r>
              <a:rPr dirty="0" sz="2800">
                <a:latin typeface="Arial MT"/>
                <a:cs typeface="Arial MT"/>
              </a:rPr>
              <a:t>E 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MOV </a:t>
            </a:r>
            <a:r>
              <a:rPr dirty="0" sz="2800" spc="-10">
                <a:latin typeface="Arial MT"/>
                <a:cs typeface="Arial MT"/>
              </a:rPr>
              <a:t>C, </a:t>
            </a:r>
            <a:r>
              <a:rPr dirty="0" sz="2800">
                <a:latin typeface="Arial MT"/>
                <a:cs typeface="Arial MT"/>
              </a:rPr>
              <a:t>A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JNC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END</a:t>
            </a:r>
            <a:endParaRPr sz="2800">
              <a:latin typeface="Arial MT"/>
              <a:cs typeface="Arial MT"/>
            </a:endParaRPr>
          </a:p>
          <a:p>
            <a:pPr marL="1309370" marR="721995">
              <a:lnSpc>
                <a:spcPct val="120500"/>
              </a:lnSpc>
              <a:spcBef>
                <a:spcPts val="1955"/>
              </a:spcBef>
            </a:pPr>
            <a:r>
              <a:rPr dirty="0" sz="2800" spc="-10">
                <a:latin typeface="Arial MT"/>
                <a:cs typeface="Arial MT"/>
              </a:rPr>
              <a:t>MVI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B,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5">
                <a:latin typeface="Arial MT"/>
                <a:cs typeface="Arial MT"/>
              </a:rPr>
              <a:t>0H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INR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</a:t>
            </a:r>
            <a:endParaRPr sz="2800">
              <a:latin typeface="Arial MT"/>
              <a:cs typeface="Arial MT"/>
            </a:endParaRPr>
          </a:p>
          <a:p>
            <a:pPr marL="394970">
              <a:lnSpc>
                <a:spcPct val="100000"/>
              </a:lnSpc>
              <a:spcBef>
                <a:spcPts val="590"/>
              </a:spcBef>
              <a:tabLst>
                <a:tab pos="1308735" algn="l"/>
              </a:tabLst>
            </a:pPr>
            <a:r>
              <a:rPr dirty="0" sz="2400" spc="-10" b="1">
                <a:latin typeface="Arial"/>
                <a:cs typeface="Arial"/>
              </a:rPr>
              <a:t>END:	</a:t>
            </a:r>
            <a:r>
              <a:rPr dirty="0" baseline="3968" sz="4200" spc="-112">
                <a:latin typeface="Arial MT"/>
                <a:cs typeface="Arial MT"/>
              </a:rPr>
              <a:t>HLT</a:t>
            </a:r>
            <a:endParaRPr baseline="3968" sz="42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33400" y="1600200"/>
            <a:ext cx="3886200" cy="609600"/>
          </a:xfrm>
          <a:custGeom>
            <a:avLst/>
            <a:gdLst/>
            <a:ahLst/>
            <a:cxnLst/>
            <a:rect l="l" t="t" r="r" b="b"/>
            <a:pathLst>
              <a:path w="3886200" h="609600">
                <a:moveTo>
                  <a:pt x="3886200" y="0"/>
                </a:moveTo>
                <a:lnTo>
                  <a:pt x="0" y="0"/>
                </a:lnTo>
                <a:lnTo>
                  <a:pt x="0" y="609600"/>
                </a:lnTo>
                <a:lnTo>
                  <a:pt x="1943100" y="609600"/>
                </a:lnTo>
                <a:lnTo>
                  <a:pt x="3886200" y="609600"/>
                </a:lnTo>
                <a:lnTo>
                  <a:pt x="38862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10869" y="1634490"/>
            <a:ext cx="29749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400" spc="-10">
                <a:latin typeface="Arial MT"/>
                <a:cs typeface="Arial MT"/>
              </a:rPr>
              <a:t>Load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registers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D,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33400" y="2362200"/>
            <a:ext cx="3886200" cy="838200"/>
          </a:xfrm>
          <a:custGeom>
            <a:avLst/>
            <a:gdLst/>
            <a:ahLst/>
            <a:cxnLst/>
            <a:rect l="l" t="t" r="r" b="b"/>
            <a:pathLst>
              <a:path w="3886200" h="838200">
                <a:moveTo>
                  <a:pt x="3886200" y="0"/>
                </a:moveTo>
                <a:lnTo>
                  <a:pt x="0" y="0"/>
                </a:lnTo>
                <a:lnTo>
                  <a:pt x="0" y="838200"/>
                </a:lnTo>
                <a:lnTo>
                  <a:pt x="1943100" y="838200"/>
                </a:lnTo>
                <a:lnTo>
                  <a:pt x="3886200" y="838200"/>
                </a:lnTo>
                <a:lnTo>
                  <a:pt x="38862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10869" y="2305050"/>
            <a:ext cx="132715" cy="909319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40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40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53769" y="2320290"/>
            <a:ext cx="2750185" cy="9093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dirty="0" sz="2400" spc="-10">
                <a:latin typeface="Arial MT"/>
                <a:cs typeface="Arial MT"/>
              </a:rPr>
              <a:t>Copy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register </a:t>
            </a:r>
            <a:r>
              <a:rPr dirty="0" sz="2400">
                <a:latin typeface="Arial MT"/>
                <a:cs typeface="Arial MT"/>
              </a:rPr>
              <a:t>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5">
                <a:latin typeface="Arial MT"/>
                <a:cs typeface="Arial MT"/>
              </a:rPr>
              <a:t>to</a:t>
            </a:r>
            <a:r>
              <a:rPr dirty="0" sz="2400" spc="-1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Add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register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1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3400" y="3247389"/>
            <a:ext cx="3886200" cy="3229610"/>
            <a:chOff x="533400" y="3247389"/>
            <a:chExt cx="3886200" cy="3229610"/>
          </a:xfrm>
        </p:grpSpPr>
        <p:sp>
          <p:nvSpPr>
            <p:cNvPr id="19" name="object 19"/>
            <p:cNvSpPr/>
            <p:nvPr/>
          </p:nvSpPr>
          <p:spPr>
            <a:xfrm>
              <a:off x="533400" y="3247389"/>
              <a:ext cx="3886200" cy="685800"/>
            </a:xfrm>
            <a:custGeom>
              <a:avLst/>
              <a:gdLst/>
              <a:ahLst/>
              <a:cxnLst/>
              <a:rect l="l" t="t" r="r" b="b"/>
              <a:pathLst>
                <a:path w="3886200" h="685800">
                  <a:moveTo>
                    <a:pt x="38862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1943100" y="685800"/>
                  </a:lnTo>
                  <a:lnTo>
                    <a:pt x="3886200" y="685800"/>
                  </a:lnTo>
                  <a:lnTo>
                    <a:pt x="3886200" y="0"/>
                  </a:lnTo>
                  <a:close/>
                </a:path>
              </a:pathLst>
            </a:custGeom>
            <a:solidFill>
              <a:srgbClr val="3398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33400" y="5791200"/>
              <a:ext cx="3886200" cy="685800"/>
            </a:xfrm>
            <a:custGeom>
              <a:avLst/>
              <a:gdLst/>
              <a:ahLst/>
              <a:cxnLst/>
              <a:rect l="l" t="t" r="r" b="b"/>
              <a:pathLst>
                <a:path w="3886200" h="685800">
                  <a:moveTo>
                    <a:pt x="38862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1943100" y="685800"/>
                  </a:lnTo>
                  <a:lnTo>
                    <a:pt x="3886200" y="685800"/>
                  </a:lnTo>
                  <a:lnTo>
                    <a:pt x="38862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10869" y="5825490"/>
            <a:ext cx="29197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Arial MT"/>
                <a:cs typeface="Arial MT"/>
              </a:rPr>
              <a:t>Stop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processing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33400" y="3962400"/>
            <a:ext cx="3886200" cy="1797050"/>
            <a:chOff x="533400" y="3962400"/>
            <a:chExt cx="3886200" cy="1797050"/>
          </a:xfrm>
        </p:grpSpPr>
        <p:sp>
          <p:nvSpPr>
            <p:cNvPr id="23" name="object 23"/>
            <p:cNvSpPr/>
            <p:nvPr/>
          </p:nvSpPr>
          <p:spPr>
            <a:xfrm>
              <a:off x="533400" y="3962400"/>
              <a:ext cx="3886200" cy="914400"/>
            </a:xfrm>
            <a:custGeom>
              <a:avLst/>
              <a:gdLst/>
              <a:ahLst/>
              <a:cxnLst/>
              <a:rect l="l" t="t" r="r" b="b"/>
              <a:pathLst>
                <a:path w="3886200" h="914400">
                  <a:moveTo>
                    <a:pt x="38862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943100" y="914400"/>
                  </a:lnTo>
                  <a:lnTo>
                    <a:pt x="3886200" y="914400"/>
                  </a:lnTo>
                  <a:lnTo>
                    <a:pt x="388620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33400" y="4921250"/>
              <a:ext cx="3886200" cy="838200"/>
            </a:xfrm>
            <a:custGeom>
              <a:avLst/>
              <a:gdLst/>
              <a:ahLst/>
              <a:cxnLst/>
              <a:rect l="l" t="t" r="r" b="b"/>
              <a:pathLst>
                <a:path w="3886200" h="838200">
                  <a:moveTo>
                    <a:pt x="3886200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943100" y="838200"/>
                  </a:lnTo>
                  <a:lnTo>
                    <a:pt x="3886200" y="838200"/>
                  </a:lnTo>
                  <a:lnTo>
                    <a:pt x="3886200" y="0"/>
                  </a:lnTo>
                  <a:close/>
                </a:path>
              </a:pathLst>
            </a:custGeom>
            <a:solidFill>
              <a:srgbClr val="3398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10869" y="4864100"/>
            <a:ext cx="132715" cy="909319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40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40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53769" y="4879339"/>
            <a:ext cx="2141220" cy="9093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dirty="0" sz="2400" spc="-10">
                <a:latin typeface="Arial MT"/>
                <a:cs typeface="Arial MT"/>
              </a:rPr>
              <a:t>Clear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register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 </a:t>
            </a:r>
            <a:r>
              <a:rPr dirty="0" sz="2400" spc="-65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Increment </a:t>
            </a:r>
            <a:r>
              <a:rPr dirty="0" sz="2400">
                <a:latin typeface="Arial MT"/>
                <a:cs typeface="Arial MT"/>
              </a:rPr>
              <a:t>B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33400" y="3200400"/>
            <a:ext cx="3886200" cy="685800"/>
          </a:xfrm>
          <a:custGeom>
            <a:avLst/>
            <a:gdLst/>
            <a:ahLst/>
            <a:cxnLst/>
            <a:rect l="l" t="t" r="r" b="b"/>
            <a:pathLst>
              <a:path w="3886200" h="685800">
                <a:moveTo>
                  <a:pt x="3886200" y="0"/>
                </a:moveTo>
                <a:lnTo>
                  <a:pt x="0" y="0"/>
                </a:lnTo>
                <a:lnTo>
                  <a:pt x="0" y="685800"/>
                </a:lnTo>
                <a:lnTo>
                  <a:pt x="1943100" y="685800"/>
                </a:lnTo>
                <a:lnTo>
                  <a:pt x="3886200" y="685800"/>
                </a:lnTo>
                <a:lnTo>
                  <a:pt x="3886200" y="0"/>
                </a:lnTo>
                <a:close/>
              </a:path>
            </a:pathLst>
          </a:custGeom>
          <a:solidFill>
            <a:srgbClr val="3398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10869" y="3234690"/>
            <a:ext cx="3529329" cy="1640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15" b="1">
                <a:latin typeface="Arial"/>
                <a:cs typeface="Arial"/>
              </a:rPr>
              <a:t>C</a:t>
            </a:r>
            <a:r>
              <a:rPr dirty="0" sz="2800" spc="-165" b="1">
                <a:latin typeface="Arial"/>
                <a:cs typeface="Arial"/>
              </a:rPr>
              <a:t>op</a:t>
            </a:r>
            <a:r>
              <a:rPr dirty="0" sz="2800" spc="-145" b="1">
                <a:latin typeface="Arial"/>
                <a:cs typeface="Arial"/>
              </a:rPr>
              <a:t>y</a:t>
            </a:r>
            <a:r>
              <a:rPr dirty="0" sz="2800" spc="-150" b="1">
                <a:latin typeface="Arial"/>
                <a:cs typeface="Arial"/>
              </a:rPr>
              <a:t> </a:t>
            </a:r>
            <a:r>
              <a:rPr dirty="0" sz="2800" spc="-155" b="1">
                <a:latin typeface="Arial"/>
                <a:cs typeface="Arial"/>
              </a:rPr>
              <a:t>A</a:t>
            </a:r>
            <a:r>
              <a:rPr dirty="0" sz="2800" spc="-170" b="1">
                <a:latin typeface="Arial"/>
                <a:cs typeface="Arial"/>
              </a:rPr>
              <a:t> </a:t>
            </a:r>
            <a:r>
              <a:rPr dirty="0" sz="2800" spc="-155" b="1">
                <a:latin typeface="Arial"/>
                <a:cs typeface="Arial"/>
              </a:rPr>
              <a:t>t</a:t>
            </a:r>
            <a:r>
              <a:rPr dirty="0" sz="2800" spc="-155" b="1">
                <a:latin typeface="Arial"/>
                <a:cs typeface="Arial"/>
              </a:rPr>
              <a:t>o</a:t>
            </a:r>
            <a:r>
              <a:rPr dirty="0" sz="2800" spc="-5" b="1">
                <a:latin typeface="Arial"/>
                <a:cs typeface="Arial"/>
              </a:rPr>
              <a:t> </a:t>
            </a:r>
            <a:r>
              <a:rPr dirty="0" sz="2800" spc="-155" b="1">
                <a:latin typeface="Arial"/>
                <a:cs typeface="Arial"/>
              </a:rPr>
              <a:t>r</a:t>
            </a:r>
            <a:r>
              <a:rPr dirty="0" sz="2800" spc="-110" b="1">
                <a:latin typeface="Arial"/>
                <a:cs typeface="Arial"/>
              </a:rPr>
              <a:t>egi</a:t>
            </a:r>
            <a:r>
              <a:rPr dirty="0" sz="2800" spc="-155" b="1">
                <a:latin typeface="Arial"/>
                <a:cs typeface="Arial"/>
              </a:rPr>
              <a:t>s</a:t>
            </a:r>
            <a:r>
              <a:rPr dirty="0" sz="2800" spc="-155" b="1">
                <a:latin typeface="Arial"/>
                <a:cs typeface="Arial"/>
              </a:rPr>
              <a:t>t</a:t>
            </a:r>
            <a:r>
              <a:rPr dirty="0" sz="2800" spc="-100" b="1">
                <a:latin typeface="Arial"/>
                <a:cs typeface="Arial"/>
              </a:rPr>
              <a:t>e</a:t>
            </a:r>
            <a:r>
              <a:rPr dirty="0" sz="2800" spc="-65" b="1">
                <a:latin typeface="Arial"/>
                <a:cs typeface="Arial"/>
              </a:rPr>
              <a:t>r</a:t>
            </a:r>
            <a:r>
              <a:rPr dirty="0" sz="2800" spc="-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C</a:t>
            </a:r>
            <a:endParaRPr sz="2800">
              <a:latin typeface="Arial"/>
              <a:cs typeface="Arial"/>
            </a:endParaRPr>
          </a:p>
          <a:p>
            <a:pPr marL="354965" marR="398145" indent="-342900">
              <a:lnSpc>
                <a:spcPct val="100000"/>
              </a:lnSpc>
              <a:spcBef>
                <a:spcPts val="264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Arial MT"/>
                <a:cs typeface="Arial MT"/>
              </a:rPr>
              <a:t>Use Conditional 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Jump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instructions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7260" y="497840"/>
            <a:ext cx="7261859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 b="0">
                <a:solidFill>
                  <a:srgbClr val="FF0000"/>
                </a:solidFill>
                <a:latin typeface="Arial MT"/>
                <a:cs typeface="Arial MT"/>
              </a:rPr>
              <a:t>4.</a:t>
            </a:r>
            <a:r>
              <a:rPr dirty="0" sz="4400" spc="-270" b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Addressing</a:t>
            </a:r>
            <a:r>
              <a:rPr dirty="0" sz="4400" spc="-20" b="0"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Modes</a:t>
            </a:r>
            <a:r>
              <a:rPr dirty="0" sz="4400" spc="-10" b="0"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of</a:t>
            </a:r>
            <a:r>
              <a:rPr dirty="0" sz="4400" spc="-20" b="0"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8085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634490"/>
            <a:ext cx="8198484" cy="220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Arial MT"/>
                <a:cs typeface="Arial MT"/>
              </a:rPr>
              <a:t>Format of</a:t>
            </a:r>
            <a:r>
              <a:rPr dirty="0" sz="2800">
                <a:latin typeface="Arial MT"/>
                <a:cs typeface="Arial MT"/>
              </a:rPr>
              <a:t> a</a:t>
            </a:r>
            <a:r>
              <a:rPr dirty="0" sz="2800" spc="-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typical</a:t>
            </a:r>
            <a:r>
              <a:rPr dirty="0" sz="2800" spc="-15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Assembly</a:t>
            </a:r>
            <a:r>
              <a:rPr dirty="0" sz="28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language</a:t>
            </a:r>
            <a:r>
              <a:rPr dirty="0" sz="2800" spc="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instruction </a:t>
            </a:r>
            <a:r>
              <a:rPr dirty="0" sz="2800" spc="-76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is</a:t>
            </a:r>
            <a:r>
              <a:rPr dirty="0" sz="2800">
                <a:latin typeface="Arial MT"/>
                <a:cs typeface="Arial MT"/>
              </a:rPr>
              <a:t> given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below-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2400" spc="-5">
                <a:latin typeface="Arial MT"/>
                <a:cs typeface="Arial MT"/>
              </a:rPr>
              <a:t>[</a:t>
            </a:r>
            <a:r>
              <a:rPr dirty="0" sz="2400" spc="-5" b="1">
                <a:solidFill>
                  <a:srgbClr val="FFFF00"/>
                </a:solidFill>
                <a:latin typeface="Arial"/>
                <a:cs typeface="Arial"/>
              </a:rPr>
              <a:t>Label:</a:t>
            </a:r>
            <a:r>
              <a:rPr dirty="0" sz="2400" spc="-5">
                <a:latin typeface="Arial MT"/>
                <a:cs typeface="Arial MT"/>
              </a:rPr>
              <a:t>]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 b="1">
                <a:solidFill>
                  <a:srgbClr val="333398"/>
                </a:solidFill>
                <a:latin typeface="Arial"/>
                <a:cs typeface="Arial"/>
              </a:rPr>
              <a:t>Mnemonic</a:t>
            </a:r>
            <a:r>
              <a:rPr dirty="0" sz="2400" spc="5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spc="-5">
                <a:latin typeface="Arial MT"/>
                <a:cs typeface="Arial MT"/>
              </a:rPr>
              <a:t>[</a:t>
            </a:r>
            <a:r>
              <a:rPr dirty="0" sz="2400" spc="-5" b="1">
                <a:solidFill>
                  <a:srgbClr val="D50092"/>
                </a:solidFill>
                <a:latin typeface="Arial"/>
                <a:cs typeface="Arial"/>
              </a:rPr>
              <a:t>Operands</a:t>
            </a:r>
            <a:r>
              <a:rPr dirty="0" sz="2400" spc="-5">
                <a:latin typeface="Arial MT"/>
                <a:cs typeface="Arial MT"/>
              </a:rPr>
              <a:t>]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[</a:t>
            </a:r>
            <a:r>
              <a:rPr dirty="0" sz="2400" spc="-5" b="1">
                <a:solidFill>
                  <a:srgbClr val="009800"/>
                </a:solidFill>
                <a:latin typeface="Arial"/>
                <a:cs typeface="Arial"/>
              </a:rPr>
              <a:t>;comments</a:t>
            </a:r>
            <a:r>
              <a:rPr dirty="0" sz="2400" spc="-5">
                <a:latin typeface="Arial MT"/>
                <a:cs typeface="Arial MT"/>
              </a:rPr>
              <a:t>]</a:t>
            </a:r>
            <a:endParaRPr sz="2400">
              <a:latin typeface="Arial MT"/>
              <a:cs typeface="Arial MT"/>
            </a:endParaRPr>
          </a:p>
          <a:p>
            <a:pPr marL="1182370">
              <a:lnSpc>
                <a:spcPct val="100000"/>
              </a:lnSpc>
              <a:spcBef>
                <a:spcPts val="610"/>
              </a:spcBef>
            </a:pPr>
            <a:r>
              <a:rPr dirty="0" sz="2400" spc="-65" b="1">
                <a:solidFill>
                  <a:srgbClr val="333398"/>
                </a:solidFill>
                <a:latin typeface="Arial"/>
                <a:cs typeface="Arial"/>
              </a:rPr>
              <a:t>HLT</a:t>
            </a:r>
            <a:endParaRPr sz="2400">
              <a:latin typeface="Arial"/>
              <a:cs typeface="Arial"/>
            </a:endParaRPr>
          </a:p>
          <a:p>
            <a:pPr marL="1182370">
              <a:lnSpc>
                <a:spcPct val="100000"/>
              </a:lnSpc>
              <a:spcBef>
                <a:spcPts val="610"/>
              </a:spcBef>
            </a:pPr>
            <a:r>
              <a:rPr dirty="0" sz="2400" spc="-5" b="1">
                <a:solidFill>
                  <a:srgbClr val="333398"/>
                </a:solidFill>
                <a:latin typeface="Arial"/>
                <a:cs typeface="Arial"/>
              </a:rPr>
              <a:t>MVI</a:t>
            </a:r>
            <a:r>
              <a:rPr dirty="0" sz="2400" spc="-10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D50092"/>
                </a:solidFill>
                <a:latin typeface="Arial"/>
                <a:cs typeface="Arial"/>
              </a:rPr>
              <a:t>A</a:t>
            </a:r>
            <a:r>
              <a:rPr dirty="0" sz="2400" spc="-5" b="1">
                <a:latin typeface="Arial"/>
                <a:cs typeface="Arial"/>
              </a:rPr>
              <a:t>,</a:t>
            </a:r>
            <a:r>
              <a:rPr dirty="0" sz="2400" spc="-20" b="1"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D50092"/>
                </a:solidFill>
                <a:latin typeface="Arial"/>
                <a:cs typeface="Arial"/>
              </a:rPr>
              <a:t>20H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7010" y="3897629"/>
            <a:ext cx="14509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333398"/>
                </a:solidFill>
                <a:latin typeface="Arial"/>
                <a:cs typeface="Arial"/>
              </a:rPr>
              <a:t>MOV</a:t>
            </a:r>
            <a:r>
              <a:rPr dirty="0" sz="2400" spc="-40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D50092"/>
                </a:solidFill>
                <a:latin typeface="Arial"/>
                <a:cs typeface="Arial"/>
              </a:rPr>
              <a:t>M</a:t>
            </a:r>
            <a:r>
              <a:rPr dirty="0" sz="2400" b="1">
                <a:latin typeface="Arial"/>
                <a:cs typeface="Arial"/>
              </a:rPr>
              <a:t>,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D50092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20008" y="3897629"/>
            <a:ext cx="5240020" cy="7581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21590">
              <a:lnSpc>
                <a:spcPct val="100299"/>
              </a:lnSpc>
              <a:spcBef>
                <a:spcPts val="90"/>
              </a:spcBef>
            </a:pPr>
            <a:r>
              <a:rPr dirty="0" sz="2400" spc="-5" b="1">
                <a:solidFill>
                  <a:srgbClr val="009800"/>
                </a:solidFill>
                <a:latin typeface="Arial"/>
                <a:cs typeface="Arial"/>
              </a:rPr>
              <a:t>;Copy </a:t>
            </a:r>
            <a:r>
              <a:rPr dirty="0" sz="2400" b="1">
                <a:solidFill>
                  <a:srgbClr val="009800"/>
                </a:solidFill>
                <a:latin typeface="Arial"/>
                <a:cs typeface="Arial"/>
              </a:rPr>
              <a:t>A to </a:t>
            </a:r>
            <a:r>
              <a:rPr dirty="0" sz="2400" spc="-5" b="1">
                <a:solidFill>
                  <a:srgbClr val="009800"/>
                </a:solidFill>
                <a:latin typeface="Arial"/>
                <a:cs typeface="Arial"/>
              </a:rPr>
              <a:t>memory location whose </a:t>
            </a:r>
            <a:r>
              <a:rPr dirty="0" sz="2400" b="1">
                <a:solidFill>
                  <a:srgbClr val="00980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9800"/>
                </a:solidFill>
                <a:latin typeface="Arial"/>
                <a:cs typeface="Arial"/>
              </a:rPr>
              <a:t>address </a:t>
            </a:r>
            <a:r>
              <a:rPr dirty="0" sz="2400" b="1">
                <a:solidFill>
                  <a:srgbClr val="009800"/>
                </a:solidFill>
                <a:latin typeface="Arial"/>
                <a:cs typeface="Arial"/>
              </a:rPr>
              <a:t>is</a:t>
            </a:r>
            <a:r>
              <a:rPr dirty="0" sz="2400" spc="-10" b="1">
                <a:solidFill>
                  <a:srgbClr val="009800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009800"/>
                </a:solidFill>
                <a:latin typeface="Arial"/>
                <a:cs typeface="Arial"/>
              </a:rPr>
              <a:t>stored </a:t>
            </a:r>
            <a:r>
              <a:rPr dirty="0" sz="2400" b="1">
                <a:solidFill>
                  <a:srgbClr val="009800"/>
                </a:solidFill>
                <a:latin typeface="Arial"/>
                <a:cs typeface="Arial"/>
              </a:rPr>
              <a:t>in</a:t>
            </a:r>
            <a:r>
              <a:rPr dirty="0" sz="2400" spc="-15" b="1">
                <a:solidFill>
                  <a:srgbClr val="009800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009800"/>
                </a:solidFill>
                <a:latin typeface="Arial"/>
                <a:cs typeface="Arial"/>
              </a:rPr>
              <a:t>register pair HL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2429" y="4707890"/>
            <a:ext cx="7653655" cy="759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47445" algn="l"/>
              </a:tabLst>
            </a:pPr>
            <a:r>
              <a:rPr dirty="0" sz="2400" spc="-5" b="1">
                <a:solidFill>
                  <a:srgbClr val="FFFF00"/>
                </a:solidFill>
                <a:latin typeface="Arial"/>
                <a:cs typeface="Arial"/>
              </a:rPr>
              <a:t>LOAD:	</a:t>
            </a:r>
            <a:r>
              <a:rPr dirty="0" sz="2400" spc="-5" b="1">
                <a:solidFill>
                  <a:srgbClr val="333398"/>
                </a:solidFill>
                <a:latin typeface="Arial"/>
                <a:cs typeface="Arial"/>
              </a:rPr>
              <a:t>LDA</a:t>
            </a:r>
            <a:r>
              <a:rPr dirty="0" sz="2400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D50092"/>
                </a:solidFill>
                <a:latin typeface="Arial"/>
                <a:cs typeface="Arial"/>
              </a:rPr>
              <a:t>2050H</a:t>
            </a:r>
            <a:r>
              <a:rPr dirty="0" sz="2400" spc="-15" b="1">
                <a:solidFill>
                  <a:srgbClr val="D50092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009800"/>
                </a:solidFill>
                <a:latin typeface="Arial"/>
                <a:cs typeface="Arial"/>
              </a:rPr>
              <a:t>;Load</a:t>
            </a:r>
            <a:r>
              <a:rPr dirty="0" sz="2400" spc="-105" b="1">
                <a:solidFill>
                  <a:srgbClr val="0098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9800"/>
                </a:solidFill>
                <a:latin typeface="Arial"/>
                <a:cs typeface="Arial"/>
              </a:rPr>
              <a:t>A</a:t>
            </a:r>
            <a:r>
              <a:rPr dirty="0" sz="2400" spc="-110" b="1">
                <a:solidFill>
                  <a:srgbClr val="0098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9800"/>
                </a:solidFill>
                <a:latin typeface="Arial"/>
                <a:cs typeface="Arial"/>
              </a:rPr>
              <a:t>with</a:t>
            </a:r>
            <a:r>
              <a:rPr dirty="0" sz="2400" spc="-10" b="1">
                <a:solidFill>
                  <a:srgbClr val="009800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009800"/>
                </a:solidFill>
                <a:latin typeface="Arial"/>
                <a:cs typeface="Arial"/>
              </a:rPr>
              <a:t>contents</a:t>
            </a:r>
            <a:r>
              <a:rPr dirty="0" sz="2400" spc="-15" b="1">
                <a:solidFill>
                  <a:srgbClr val="0098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9800"/>
                </a:solidFill>
                <a:latin typeface="Arial"/>
                <a:cs typeface="Arial"/>
              </a:rPr>
              <a:t>of</a:t>
            </a:r>
            <a:r>
              <a:rPr dirty="0" sz="2400" spc="-10" b="1">
                <a:solidFill>
                  <a:srgbClr val="009800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009800"/>
                </a:solidFill>
                <a:latin typeface="Arial"/>
                <a:cs typeface="Arial"/>
              </a:rPr>
              <a:t>memory</a:t>
            </a:r>
            <a:endParaRPr sz="2400">
              <a:latin typeface="Arial"/>
              <a:cs typeface="Arial"/>
            </a:endParaRPr>
          </a:p>
          <a:p>
            <a:pPr marL="2839720">
              <a:lnSpc>
                <a:spcPct val="100000"/>
              </a:lnSpc>
              <a:spcBef>
                <a:spcPts val="20"/>
              </a:spcBef>
            </a:pPr>
            <a:r>
              <a:rPr dirty="0" sz="2400" spc="-5" b="1">
                <a:solidFill>
                  <a:srgbClr val="009800"/>
                </a:solidFill>
                <a:latin typeface="Arial"/>
                <a:cs typeface="Arial"/>
              </a:rPr>
              <a:t>location</a:t>
            </a:r>
            <a:r>
              <a:rPr dirty="0" sz="2400" spc="-10" b="1">
                <a:solidFill>
                  <a:srgbClr val="0098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9800"/>
                </a:solidFill>
                <a:latin typeface="Arial"/>
                <a:cs typeface="Arial"/>
              </a:rPr>
              <a:t>with</a:t>
            </a:r>
            <a:r>
              <a:rPr dirty="0" sz="2400" spc="-5" b="1">
                <a:solidFill>
                  <a:srgbClr val="00980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9800"/>
                </a:solidFill>
                <a:latin typeface="Arial"/>
                <a:cs typeface="Arial"/>
              </a:rPr>
              <a:t>address 2050H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2429" y="5519420"/>
            <a:ext cx="2108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46175" algn="l"/>
              </a:tabLst>
            </a:pPr>
            <a:r>
              <a:rPr dirty="0" sz="2400" spc="-10" b="1">
                <a:solidFill>
                  <a:srgbClr val="FFFF00"/>
                </a:solidFill>
                <a:latin typeface="Arial"/>
                <a:cs typeface="Arial"/>
              </a:rPr>
              <a:t>READ:	</a:t>
            </a:r>
            <a:r>
              <a:rPr dirty="0" sz="2400" b="1">
                <a:solidFill>
                  <a:srgbClr val="333398"/>
                </a:solidFill>
                <a:latin typeface="Arial"/>
                <a:cs typeface="Arial"/>
              </a:rPr>
              <a:t>IN</a:t>
            </a:r>
            <a:r>
              <a:rPr dirty="0" sz="2400" spc="-85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D50092"/>
                </a:solidFill>
                <a:latin typeface="Arial"/>
                <a:cs typeface="Arial"/>
              </a:rPr>
              <a:t>07H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20008" y="5519420"/>
            <a:ext cx="4546600" cy="7581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90"/>
              </a:spcBef>
            </a:pPr>
            <a:r>
              <a:rPr dirty="0" sz="2400" spc="-5" b="1">
                <a:solidFill>
                  <a:srgbClr val="009800"/>
                </a:solidFill>
                <a:latin typeface="Arial"/>
                <a:cs typeface="Arial"/>
              </a:rPr>
              <a:t>;Read data from Input port </a:t>
            </a:r>
            <a:r>
              <a:rPr dirty="0" sz="2400" b="1">
                <a:solidFill>
                  <a:srgbClr val="009800"/>
                </a:solidFill>
                <a:latin typeface="Arial"/>
                <a:cs typeface="Arial"/>
              </a:rPr>
              <a:t>with </a:t>
            </a:r>
            <a:r>
              <a:rPr dirty="0" sz="2400" spc="-655" b="1">
                <a:solidFill>
                  <a:srgbClr val="00980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9800"/>
                </a:solidFill>
                <a:latin typeface="Arial"/>
                <a:cs typeface="Arial"/>
              </a:rPr>
              <a:t>address</a:t>
            </a:r>
            <a:r>
              <a:rPr dirty="0" sz="2400" spc="-5" b="1">
                <a:solidFill>
                  <a:srgbClr val="00980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9800"/>
                </a:solidFill>
                <a:latin typeface="Arial"/>
                <a:cs typeface="Arial"/>
              </a:rPr>
              <a:t>07H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231900"/>
            <a:ext cx="16827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Arial MT"/>
                <a:cs typeface="Arial MT"/>
              </a:rPr>
              <a:t>•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5539" y="1254759"/>
            <a:ext cx="7039609" cy="1003300"/>
          </a:xfrm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80"/>
              </a:spcBef>
            </a:pPr>
            <a:r>
              <a:rPr dirty="0" sz="3200" spc="-5" b="0">
                <a:latin typeface="Arial MT"/>
                <a:cs typeface="Arial MT"/>
              </a:rPr>
              <a:t>The </a:t>
            </a:r>
            <a:r>
              <a:rPr dirty="0" sz="3200" b="0">
                <a:latin typeface="Arial MT"/>
                <a:cs typeface="Arial MT"/>
              </a:rPr>
              <a:t>various </a:t>
            </a:r>
            <a:r>
              <a:rPr dirty="0" sz="3200" spc="-5" b="0">
                <a:latin typeface="Arial MT"/>
                <a:cs typeface="Arial MT"/>
              </a:rPr>
              <a:t>formats </a:t>
            </a:r>
            <a:r>
              <a:rPr dirty="0" sz="3200" b="0">
                <a:latin typeface="Arial MT"/>
                <a:cs typeface="Arial MT"/>
              </a:rPr>
              <a:t>of specifying </a:t>
            </a:r>
            <a:r>
              <a:rPr dirty="0" sz="3200" spc="5" b="0">
                <a:latin typeface="Arial MT"/>
                <a:cs typeface="Arial MT"/>
              </a:rPr>
              <a:t> </a:t>
            </a:r>
            <a:r>
              <a:rPr dirty="0" sz="3200" b="0">
                <a:latin typeface="Arial MT"/>
                <a:cs typeface="Arial MT"/>
              </a:rPr>
              <a:t>operands</a:t>
            </a:r>
            <a:r>
              <a:rPr dirty="0" sz="3200" spc="-15" b="0">
                <a:latin typeface="Arial MT"/>
                <a:cs typeface="Arial MT"/>
              </a:rPr>
              <a:t> </a:t>
            </a:r>
            <a:r>
              <a:rPr dirty="0" sz="3200" b="0">
                <a:latin typeface="Arial MT"/>
                <a:cs typeface="Arial MT"/>
              </a:rPr>
              <a:t>are</a:t>
            </a:r>
            <a:r>
              <a:rPr dirty="0" sz="3200" spc="-15" b="0">
                <a:latin typeface="Arial MT"/>
                <a:cs typeface="Arial MT"/>
              </a:rPr>
              <a:t> </a:t>
            </a:r>
            <a:r>
              <a:rPr dirty="0" sz="3200" spc="-5" b="0">
                <a:latin typeface="Arial MT"/>
                <a:cs typeface="Arial MT"/>
              </a:rPr>
              <a:t>called</a:t>
            </a:r>
            <a:r>
              <a:rPr dirty="0" sz="3200" spc="-10" b="0">
                <a:latin typeface="Arial MT"/>
                <a:cs typeface="Arial MT"/>
              </a:rPr>
              <a:t> </a:t>
            </a:r>
            <a:r>
              <a:rPr dirty="0" sz="3200" b="0">
                <a:latin typeface="Arial MT"/>
                <a:cs typeface="Arial MT"/>
              </a:rPr>
              <a:t>addressing</a:t>
            </a:r>
            <a:r>
              <a:rPr dirty="0" sz="3200" spc="-10" b="0">
                <a:latin typeface="Arial MT"/>
                <a:cs typeface="Arial MT"/>
              </a:rPr>
              <a:t> </a:t>
            </a:r>
            <a:r>
              <a:rPr dirty="0" sz="3200" b="0">
                <a:latin typeface="Arial MT"/>
                <a:cs typeface="Arial MT"/>
              </a:rPr>
              <a:t>modes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313940"/>
            <a:ext cx="16827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Arial MT"/>
                <a:cs typeface="Arial MT"/>
              </a:rPr>
              <a:t>•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2233748"/>
            <a:ext cx="5019675" cy="2682875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910"/>
              </a:spcBef>
            </a:pPr>
            <a:r>
              <a:rPr dirty="0" sz="3200">
                <a:latin typeface="Arial MT"/>
                <a:cs typeface="Arial MT"/>
              </a:rPr>
              <a:t>Addressing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modes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of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8085</a:t>
            </a:r>
            <a:endParaRPr sz="32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5">
                <a:solidFill>
                  <a:srgbClr val="FF0000"/>
                </a:solidFill>
                <a:latin typeface="Arial MT"/>
                <a:cs typeface="Arial MT"/>
              </a:rPr>
              <a:t>Register</a:t>
            </a:r>
            <a:r>
              <a:rPr dirty="0" sz="2800" spc="-17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Addressing</a:t>
            </a:r>
            <a:endParaRPr sz="28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5">
                <a:solidFill>
                  <a:srgbClr val="FF0000"/>
                </a:solidFill>
                <a:latin typeface="Arial MT"/>
                <a:cs typeface="Arial MT"/>
              </a:rPr>
              <a:t>Immediate</a:t>
            </a:r>
            <a:r>
              <a:rPr dirty="0" sz="2800" spc="-17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Addressing</a:t>
            </a:r>
            <a:endParaRPr sz="28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5">
                <a:solidFill>
                  <a:srgbClr val="FF0000"/>
                </a:solidFill>
                <a:latin typeface="Arial MT"/>
                <a:cs typeface="Arial MT"/>
              </a:rPr>
              <a:t>Memory</a:t>
            </a:r>
            <a:r>
              <a:rPr dirty="0" sz="2800" spc="-17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Addressing</a:t>
            </a:r>
            <a:endParaRPr sz="28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545465" algn="l"/>
                <a:tab pos="546100" algn="l"/>
              </a:tabLst>
            </a:pPr>
            <a:r>
              <a:rPr dirty="0" sz="2800" spc="-5">
                <a:solidFill>
                  <a:srgbClr val="FF0000"/>
                </a:solidFill>
                <a:latin typeface="Arial MT"/>
                <a:cs typeface="Arial MT"/>
              </a:rPr>
              <a:t>Input</a:t>
            </a:r>
            <a:r>
              <a:rPr dirty="0" sz="2800" spc="-5">
                <a:latin typeface="Arial MT"/>
                <a:cs typeface="Arial MT"/>
              </a:rPr>
              <a:t>/</a:t>
            </a:r>
            <a:r>
              <a:rPr dirty="0" sz="2800" spc="-5">
                <a:solidFill>
                  <a:srgbClr val="FF0000"/>
                </a:solidFill>
                <a:latin typeface="Arial MT"/>
                <a:cs typeface="Arial MT"/>
              </a:rPr>
              <a:t>Output</a:t>
            </a:r>
            <a:r>
              <a:rPr dirty="0" sz="2800" spc="-17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Addressing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4979" y="497840"/>
            <a:ext cx="564896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 b="0">
                <a:latin typeface="Arial MT"/>
                <a:cs typeface="Arial MT"/>
              </a:rPr>
              <a:t>1.</a:t>
            </a:r>
            <a:r>
              <a:rPr dirty="0" sz="4400" spc="-30" b="0">
                <a:latin typeface="Arial MT"/>
                <a:cs typeface="Arial MT"/>
              </a:rPr>
              <a:t> </a:t>
            </a:r>
            <a:r>
              <a:rPr dirty="0" sz="4400" spc="-5" b="0">
                <a:solidFill>
                  <a:srgbClr val="FF0000"/>
                </a:solidFill>
                <a:latin typeface="Arial MT"/>
                <a:cs typeface="Arial MT"/>
              </a:rPr>
              <a:t>Register</a:t>
            </a:r>
            <a:r>
              <a:rPr dirty="0" sz="4400" spc="-275" b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Addressing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35759"/>
            <a:ext cx="7897495" cy="277876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355600" marR="5080" indent="-342900">
              <a:lnSpc>
                <a:spcPct val="100499"/>
              </a:lnSpc>
              <a:spcBef>
                <a:spcPts val="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>
                <a:latin typeface="Arial MT"/>
                <a:cs typeface="Arial MT"/>
              </a:rPr>
              <a:t>Operands </a:t>
            </a:r>
            <a:r>
              <a:rPr dirty="0" sz="3200" spc="-5">
                <a:latin typeface="Arial MT"/>
                <a:cs typeface="Arial MT"/>
              </a:rPr>
              <a:t>are</a:t>
            </a:r>
            <a:r>
              <a:rPr dirty="0" sz="3200">
                <a:latin typeface="Arial MT"/>
                <a:cs typeface="Arial MT"/>
              </a:rPr>
              <a:t> one</a:t>
            </a:r>
            <a:r>
              <a:rPr dirty="0" sz="3200" spc="-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of</a:t>
            </a:r>
            <a:r>
              <a:rPr dirty="0" sz="3200" spc="-5">
                <a:latin typeface="Arial MT"/>
                <a:cs typeface="Arial MT"/>
              </a:rPr>
              <a:t> the</a:t>
            </a:r>
            <a:r>
              <a:rPr dirty="0" sz="320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internal registers </a:t>
            </a:r>
            <a:r>
              <a:rPr dirty="0" sz="3200" spc="-869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of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8085</a:t>
            </a:r>
            <a:endParaRPr sz="3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819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>
                <a:latin typeface="Arial MT"/>
                <a:cs typeface="Arial MT"/>
              </a:rPr>
              <a:t>Examples-</a:t>
            </a:r>
            <a:endParaRPr sz="3200">
              <a:latin typeface="Arial MT"/>
              <a:cs typeface="Arial MT"/>
            </a:endParaRPr>
          </a:p>
          <a:p>
            <a:pPr marL="927100" marR="5110480">
              <a:lnSpc>
                <a:spcPts val="4660"/>
              </a:lnSpc>
              <a:spcBef>
                <a:spcPts val="100"/>
              </a:spcBef>
            </a:pPr>
            <a:r>
              <a:rPr dirty="0" sz="3200" spc="-5" b="1">
                <a:solidFill>
                  <a:srgbClr val="333398"/>
                </a:solidFill>
                <a:latin typeface="Arial"/>
                <a:cs typeface="Arial"/>
              </a:rPr>
              <a:t>MOV</a:t>
            </a:r>
            <a:r>
              <a:rPr dirty="0" sz="3200" spc="-45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D50092"/>
                </a:solidFill>
                <a:latin typeface="Arial"/>
                <a:cs typeface="Arial"/>
              </a:rPr>
              <a:t>A</a:t>
            </a:r>
            <a:r>
              <a:rPr dirty="0" sz="3200" b="1">
                <a:latin typeface="Arial"/>
                <a:cs typeface="Arial"/>
              </a:rPr>
              <a:t>,</a:t>
            </a:r>
            <a:r>
              <a:rPr dirty="0" sz="3200" spc="-50" b="1"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D50092"/>
                </a:solidFill>
                <a:latin typeface="Arial"/>
                <a:cs typeface="Arial"/>
              </a:rPr>
              <a:t>B </a:t>
            </a:r>
            <a:r>
              <a:rPr dirty="0" sz="3200" spc="-875" b="1">
                <a:solidFill>
                  <a:srgbClr val="D50092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333398"/>
                </a:solidFill>
                <a:latin typeface="Arial"/>
                <a:cs typeface="Arial"/>
              </a:rPr>
              <a:t>ADD</a:t>
            </a:r>
            <a:r>
              <a:rPr dirty="0" sz="3200" spc="-20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D50092"/>
                </a:solidFill>
                <a:latin typeface="Arial"/>
                <a:cs typeface="Arial"/>
              </a:rPr>
              <a:t>C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0819" y="497840"/>
            <a:ext cx="617918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 b="0">
                <a:latin typeface="Arial MT"/>
                <a:cs typeface="Arial MT"/>
              </a:rPr>
              <a:t>2.</a:t>
            </a:r>
            <a:r>
              <a:rPr dirty="0" sz="4400" spc="-30" b="0">
                <a:latin typeface="Arial MT"/>
                <a:cs typeface="Arial MT"/>
              </a:rPr>
              <a:t> </a:t>
            </a:r>
            <a:r>
              <a:rPr dirty="0" sz="4400" spc="-5" b="0">
                <a:solidFill>
                  <a:srgbClr val="FF0000"/>
                </a:solidFill>
                <a:latin typeface="Arial MT"/>
                <a:cs typeface="Arial MT"/>
              </a:rPr>
              <a:t>Immediate</a:t>
            </a:r>
            <a:r>
              <a:rPr dirty="0" sz="4400" spc="-250" b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Addressing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35759"/>
            <a:ext cx="6713220" cy="396240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355600" marR="5080" indent="-342900">
              <a:lnSpc>
                <a:spcPct val="100499"/>
              </a:lnSpc>
              <a:spcBef>
                <a:spcPts val="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0">
                <a:latin typeface="Arial MT"/>
                <a:cs typeface="Arial MT"/>
              </a:rPr>
              <a:t>Value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of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the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operand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is </a:t>
            </a:r>
            <a:r>
              <a:rPr dirty="0" sz="3200">
                <a:latin typeface="Arial MT"/>
                <a:cs typeface="Arial MT"/>
              </a:rPr>
              <a:t>given</a:t>
            </a:r>
            <a:r>
              <a:rPr dirty="0" sz="3200" spc="-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in</a:t>
            </a:r>
            <a:r>
              <a:rPr dirty="0" sz="3200" spc="-5">
                <a:latin typeface="Arial MT"/>
                <a:cs typeface="Arial MT"/>
              </a:rPr>
              <a:t> the </a:t>
            </a:r>
            <a:r>
              <a:rPr dirty="0" sz="3200" spc="-87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instruction</a:t>
            </a:r>
            <a:r>
              <a:rPr dirty="0" sz="3200" spc="-5">
                <a:latin typeface="Arial MT"/>
                <a:cs typeface="Arial MT"/>
              </a:rPr>
              <a:t> itself</a:t>
            </a:r>
            <a:endParaRPr sz="3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819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>
                <a:latin typeface="Arial MT"/>
                <a:cs typeface="Arial MT"/>
              </a:rPr>
              <a:t>Example-</a:t>
            </a:r>
            <a:endParaRPr sz="3200">
              <a:latin typeface="Arial MT"/>
              <a:cs typeface="Arial MT"/>
            </a:endParaRPr>
          </a:p>
          <a:p>
            <a:pPr marL="927100" marR="3314065">
              <a:lnSpc>
                <a:spcPts val="4660"/>
              </a:lnSpc>
              <a:spcBef>
                <a:spcPts val="290"/>
              </a:spcBef>
            </a:pPr>
            <a:r>
              <a:rPr dirty="0" sz="3200" spc="-5" b="1">
                <a:solidFill>
                  <a:srgbClr val="333398"/>
                </a:solidFill>
                <a:latin typeface="Arial"/>
                <a:cs typeface="Arial"/>
              </a:rPr>
              <a:t>MVI </a:t>
            </a:r>
            <a:r>
              <a:rPr dirty="0" sz="3200" b="1">
                <a:solidFill>
                  <a:srgbClr val="D50092"/>
                </a:solidFill>
                <a:latin typeface="Arial"/>
                <a:cs typeface="Arial"/>
              </a:rPr>
              <a:t>A</a:t>
            </a:r>
            <a:r>
              <a:rPr dirty="0" sz="3200" b="1">
                <a:latin typeface="Arial"/>
                <a:cs typeface="Arial"/>
              </a:rPr>
              <a:t>, 20H </a:t>
            </a:r>
            <a:r>
              <a:rPr dirty="0" sz="3200" spc="5" b="1">
                <a:latin typeface="Arial"/>
                <a:cs typeface="Arial"/>
              </a:rPr>
              <a:t> </a:t>
            </a:r>
            <a:r>
              <a:rPr dirty="0" sz="3200" spc="-5" b="1">
                <a:solidFill>
                  <a:srgbClr val="333398"/>
                </a:solidFill>
                <a:latin typeface="Arial"/>
                <a:cs typeface="Arial"/>
              </a:rPr>
              <a:t>LXI</a:t>
            </a:r>
            <a:r>
              <a:rPr dirty="0" sz="3200" spc="-45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D50092"/>
                </a:solidFill>
                <a:latin typeface="Arial"/>
                <a:cs typeface="Arial"/>
              </a:rPr>
              <a:t>H</a:t>
            </a:r>
            <a:r>
              <a:rPr dirty="0" sz="3200" b="1">
                <a:latin typeface="Arial"/>
                <a:cs typeface="Arial"/>
              </a:rPr>
              <a:t>,</a:t>
            </a:r>
            <a:r>
              <a:rPr dirty="0" sz="3200" spc="-50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2050H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333398"/>
                </a:solidFill>
                <a:latin typeface="Arial"/>
                <a:cs typeface="Arial"/>
              </a:rPr>
              <a:t>ADI</a:t>
            </a:r>
            <a:r>
              <a:rPr dirty="0" sz="3200" spc="-20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30H</a:t>
            </a:r>
            <a:endParaRPr sz="3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30"/>
              </a:spcBef>
            </a:pPr>
            <a:r>
              <a:rPr dirty="0" sz="3200" spc="-5" b="1">
                <a:solidFill>
                  <a:srgbClr val="333398"/>
                </a:solidFill>
                <a:latin typeface="Arial"/>
                <a:cs typeface="Arial"/>
              </a:rPr>
              <a:t>SUI</a:t>
            </a:r>
            <a:r>
              <a:rPr dirty="0" sz="3200" spc="-85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10H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6729" y="497840"/>
            <a:ext cx="558736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 b="0">
                <a:latin typeface="Arial MT"/>
                <a:cs typeface="Arial MT"/>
              </a:rPr>
              <a:t>3.</a:t>
            </a:r>
            <a:r>
              <a:rPr dirty="0" sz="4400" spc="-50" b="0">
                <a:latin typeface="Arial MT"/>
                <a:cs typeface="Arial MT"/>
              </a:rPr>
              <a:t> </a:t>
            </a:r>
            <a:r>
              <a:rPr dirty="0" sz="4400" b="0">
                <a:solidFill>
                  <a:srgbClr val="FF0000"/>
                </a:solidFill>
                <a:latin typeface="Arial MT"/>
                <a:cs typeface="Arial MT"/>
              </a:rPr>
              <a:t>Memory</a:t>
            </a:r>
            <a:r>
              <a:rPr dirty="0" sz="4400" spc="-260" b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Addressing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31619"/>
            <a:ext cx="7919084" cy="3223260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19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>
                <a:latin typeface="Arial MT"/>
                <a:cs typeface="Arial MT"/>
              </a:rPr>
              <a:t>One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of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the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operands</a:t>
            </a:r>
            <a:r>
              <a:rPr dirty="0" sz="3200" spc="-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is</a:t>
            </a:r>
            <a:r>
              <a:rPr dirty="0" sz="3200" spc="-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memory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location</a:t>
            </a:r>
            <a:endParaRPr sz="3200">
              <a:latin typeface="Arial MT"/>
              <a:cs typeface="Arial MT"/>
            </a:endParaRPr>
          </a:p>
          <a:p>
            <a:pPr marL="355600" marR="107950" indent="-342900">
              <a:lnSpc>
                <a:spcPct val="100499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>
                <a:latin typeface="Arial MT"/>
                <a:cs typeface="Arial MT"/>
              </a:rPr>
              <a:t>Depending </a:t>
            </a:r>
            <a:r>
              <a:rPr dirty="0" sz="3200" spc="-5">
                <a:latin typeface="Arial MT"/>
                <a:cs typeface="Arial MT"/>
              </a:rPr>
              <a:t>on </a:t>
            </a:r>
            <a:r>
              <a:rPr dirty="0" sz="3200">
                <a:latin typeface="Arial MT"/>
                <a:cs typeface="Arial MT"/>
              </a:rPr>
              <a:t>how address </a:t>
            </a:r>
            <a:r>
              <a:rPr dirty="0" sz="3200" spc="-5">
                <a:latin typeface="Arial MT"/>
                <a:cs typeface="Arial MT"/>
              </a:rPr>
              <a:t>of memory </a:t>
            </a:r>
            <a:r>
              <a:rPr dirty="0" sz="320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location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is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specified,</a:t>
            </a:r>
            <a:r>
              <a:rPr dirty="0" sz="3200" spc="30">
                <a:latin typeface="Arial MT"/>
                <a:cs typeface="Arial MT"/>
              </a:rPr>
              <a:t> </a:t>
            </a:r>
            <a:r>
              <a:rPr dirty="0" sz="3200" spc="-5" b="1">
                <a:solidFill>
                  <a:srgbClr val="FF0000"/>
                </a:solidFill>
                <a:latin typeface="Arial"/>
                <a:cs typeface="Arial"/>
              </a:rPr>
              <a:t>memory</a:t>
            </a:r>
            <a:r>
              <a:rPr dirty="0" sz="32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3200">
                <a:latin typeface="Arial MT"/>
                <a:cs typeface="Arial MT"/>
              </a:rPr>
              <a:t>addressing </a:t>
            </a:r>
            <a:r>
              <a:rPr dirty="0" sz="3200" spc="-87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is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of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two</a:t>
            </a:r>
            <a:r>
              <a:rPr dirty="0" sz="3200">
                <a:latin typeface="Arial MT"/>
                <a:cs typeface="Arial MT"/>
              </a:rPr>
              <a:t> types</a:t>
            </a:r>
            <a:endParaRPr sz="3200">
              <a:latin typeface="Arial MT"/>
              <a:cs typeface="Arial MT"/>
            </a:endParaRPr>
          </a:p>
          <a:p>
            <a:pPr lvl="1" marL="755650" indent="-285750">
              <a:lnSpc>
                <a:spcPct val="100000"/>
              </a:lnSpc>
              <a:spcBef>
                <a:spcPts val="710"/>
              </a:spcBef>
              <a:buFont typeface="Arial MT"/>
              <a:buChar char="–"/>
              <a:tabLst>
                <a:tab pos="755650" algn="l"/>
              </a:tabLst>
            </a:pPr>
            <a:r>
              <a:rPr dirty="0" sz="2800" spc="-5" b="1">
                <a:solidFill>
                  <a:srgbClr val="FF0000"/>
                </a:solidFill>
                <a:latin typeface="Arial"/>
                <a:cs typeface="Arial"/>
              </a:rPr>
              <a:t>Direct</a:t>
            </a:r>
            <a:r>
              <a:rPr dirty="0" sz="2800" spc="-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spc="-5">
                <a:latin typeface="Arial MT"/>
                <a:cs typeface="Arial MT"/>
              </a:rPr>
              <a:t>addressing</a:t>
            </a:r>
            <a:endParaRPr sz="2800">
              <a:latin typeface="Arial MT"/>
              <a:cs typeface="Arial MT"/>
            </a:endParaRPr>
          </a:p>
          <a:p>
            <a:pPr lvl="1" marL="755650" indent="-285750">
              <a:lnSpc>
                <a:spcPct val="100000"/>
              </a:lnSpc>
              <a:spcBef>
                <a:spcPts val="710"/>
              </a:spcBef>
              <a:buFont typeface="Arial MT"/>
              <a:buChar char="–"/>
              <a:tabLst>
                <a:tab pos="755650" algn="l"/>
              </a:tabLst>
            </a:pPr>
            <a:r>
              <a:rPr dirty="0" sz="2800" spc="-5" b="1">
                <a:solidFill>
                  <a:srgbClr val="FF0000"/>
                </a:solidFill>
                <a:latin typeface="Arial"/>
                <a:cs typeface="Arial"/>
              </a:rPr>
              <a:t>Indirect</a:t>
            </a:r>
            <a:r>
              <a:rPr dirty="0" sz="280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800" spc="-5">
                <a:latin typeface="Arial MT"/>
                <a:cs typeface="Arial MT"/>
              </a:rPr>
              <a:t>addressing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1970" y="497840"/>
            <a:ext cx="555498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 b="0">
                <a:latin typeface="Arial MT"/>
                <a:cs typeface="Arial MT"/>
              </a:rPr>
              <a:t>3(a)</a:t>
            </a:r>
            <a:r>
              <a:rPr dirty="0" sz="4400" spc="-30" b="0">
                <a:latin typeface="Arial MT"/>
                <a:cs typeface="Arial MT"/>
              </a:rPr>
              <a:t> </a:t>
            </a:r>
            <a:r>
              <a:rPr dirty="0" sz="4400" spc="-5" b="0">
                <a:solidFill>
                  <a:srgbClr val="FF0000"/>
                </a:solidFill>
                <a:latin typeface="Arial MT"/>
                <a:cs typeface="Arial MT"/>
              </a:rPr>
              <a:t>Direct</a:t>
            </a:r>
            <a:r>
              <a:rPr dirty="0" sz="4400" spc="-275" b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Addressing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35759"/>
            <a:ext cx="7815580" cy="360934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355600" marR="218440" indent="-342900">
              <a:lnSpc>
                <a:spcPct val="100499"/>
              </a:lnSpc>
              <a:spcBef>
                <a:spcPts val="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>
                <a:solidFill>
                  <a:srgbClr val="FF0000"/>
                </a:solidFill>
                <a:latin typeface="Arial MT"/>
                <a:cs typeface="Arial MT"/>
              </a:rPr>
              <a:t>16-bit</a:t>
            </a:r>
            <a:r>
              <a:rPr dirty="0" sz="3200" spc="-18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Address </a:t>
            </a:r>
            <a:r>
              <a:rPr dirty="0" sz="3200" spc="-5">
                <a:latin typeface="Arial MT"/>
                <a:cs typeface="Arial MT"/>
              </a:rPr>
              <a:t>of the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memory</a:t>
            </a:r>
            <a:r>
              <a:rPr dirty="0" sz="320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location is </a:t>
            </a:r>
            <a:r>
              <a:rPr dirty="0" sz="3200" spc="-87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specified</a:t>
            </a:r>
            <a:r>
              <a:rPr dirty="0" sz="320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in the</a:t>
            </a:r>
            <a:r>
              <a:rPr dirty="0" sz="320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instruction</a:t>
            </a:r>
            <a:r>
              <a:rPr dirty="0" sz="320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directly</a:t>
            </a:r>
            <a:endParaRPr sz="3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819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>
                <a:latin typeface="Arial MT"/>
                <a:cs typeface="Arial MT"/>
              </a:rPr>
              <a:t>Examples-</a:t>
            </a:r>
            <a:endParaRPr sz="32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720"/>
              </a:spcBef>
            </a:pPr>
            <a:r>
              <a:rPr dirty="0" sz="3200" spc="-5" b="1">
                <a:solidFill>
                  <a:srgbClr val="333398"/>
                </a:solidFill>
                <a:latin typeface="Arial"/>
                <a:cs typeface="Arial"/>
              </a:rPr>
              <a:t>LDA </a:t>
            </a:r>
            <a:r>
              <a:rPr dirty="0" sz="3200" spc="5" b="1">
                <a:solidFill>
                  <a:srgbClr val="FF0000"/>
                </a:solidFill>
                <a:latin typeface="Arial"/>
                <a:cs typeface="Arial"/>
              </a:rPr>
              <a:t>2050</a:t>
            </a:r>
            <a:r>
              <a:rPr dirty="0" sz="3200" spc="5" b="1">
                <a:latin typeface="Arial"/>
                <a:cs typeface="Arial"/>
              </a:rPr>
              <a:t>H</a:t>
            </a:r>
            <a:r>
              <a:rPr dirty="0" sz="3200" b="1">
                <a:latin typeface="Arial"/>
                <a:cs typeface="Arial"/>
              </a:rPr>
              <a:t> </a:t>
            </a:r>
            <a:r>
              <a:rPr dirty="0" sz="2800" spc="-5" b="1">
                <a:solidFill>
                  <a:srgbClr val="009800"/>
                </a:solidFill>
                <a:latin typeface="Arial"/>
                <a:cs typeface="Arial"/>
              </a:rPr>
              <a:t>;</a:t>
            </a:r>
            <a:r>
              <a:rPr dirty="0" sz="2800" spc="-5">
                <a:solidFill>
                  <a:srgbClr val="009800"/>
                </a:solidFill>
                <a:latin typeface="Arial MT"/>
                <a:cs typeface="Arial MT"/>
              </a:rPr>
              <a:t>load</a:t>
            </a:r>
            <a:r>
              <a:rPr dirty="0" sz="2800" spc="-160">
                <a:solidFill>
                  <a:srgbClr val="009800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009800"/>
                </a:solidFill>
                <a:latin typeface="Arial MT"/>
                <a:cs typeface="Arial MT"/>
              </a:rPr>
              <a:t>A</a:t>
            </a:r>
            <a:r>
              <a:rPr dirty="0" sz="2800" spc="-160">
                <a:solidFill>
                  <a:srgbClr val="009800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009800"/>
                </a:solidFill>
                <a:latin typeface="Arial MT"/>
                <a:cs typeface="Arial MT"/>
              </a:rPr>
              <a:t>with</a:t>
            </a:r>
            <a:r>
              <a:rPr dirty="0" sz="2800">
                <a:solidFill>
                  <a:srgbClr val="009800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009800"/>
                </a:solidFill>
                <a:latin typeface="Arial MT"/>
                <a:cs typeface="Arial MT"/>
              </a:rPr>
              <a:t>contents</a:t>
            </a:r>
            <a:r>
              <a:rPr dirty="0" sz="2800">
                <a:solidFill>
                  <a:srgbClr val="009800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009800"/>
                </a:solidFill>
                <a:latin typeface="Arial MT"/>
                <a:cs typeface="Arial MT"/>
              </a:rPr>
              <a:t>of</a:t>
            </a:r>
            <a:r>
              <a:rPr dirty="0" sz="2800">
                <a:solidFill>
                  <a:srgbClr val="009800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009800"/>
                </a:solidFill>
                <a:latin typeface="Arial MT"/>
                <a:cs typeface="Arial MT"/>
              </a:rPr>
              <a:t>memory</a:t>
            </a:r>
            <a:endParaRPr sz="2800">
              <a:latin typeface="Arial MT"/>
              <a:cs typeface="Arial MT"/>
            </a:endParaRPr>
          </a:p>
          <a:p>
            <a:pPr marL="2755900">
              <a:lnSpc>
                <a:spcPct val="100000"/>
              </a:lnSpc>
              <a:spcBef>
                <a:spcPts val="10"/>
              </a:spcBef>
            </a:pPr>
            <a:r>
              <a:rPr dirty="0" sz="2800" spc="-5">
                <a:solidFill>
                  <a:srgbClr val="009800"/>
                </a:solidFill>
                <a:latin typeface="Arial MT"/>
                <a:cs typeface="Arial MT"/>
              </a:rPr>
              <a:t>location</a:t>
            </a:r>
            <a:r>
              <a:rPr dirty="0" sz="2800" spc="-15">
                <a:solidFill>
                  <a:srgbClr val="009800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009800"/>
                </a:solidFill>
                <a:latin typeface="Arial MT"/>
                <a:cs typeface="Arial MT"/>
              </a:rPr>
              <a:t>with</a:t>
            </a:r>
            <a:r>
              <a:rPr dirty="0" sz="2800" spc="-15">
                <a:solidFill>
                  <a:srgbClr val="009800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009800"/>
                </a:solidFill>
                <a:latin typeface="Arial MT"/>
                <a:cs typeface="Arial MT"/>
              </a:rPr>
              <a:t>address</a:t>
            </a:r>
            <a:r>
              <a:rPr dirty="0" sz="2800" spc="-10">
                <a:solidFill>
                  <a:srgbClr val="009800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009800"/>
                </a:solidFill>
                <a:latin typeface="Arial MT"/>
                <a:cs typeface="Arial MT"/>
              </a:rPr>
              <a:t>2050H</a:t>
            </a:r>
            <a:endParaRPr sz="2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710"/>
              </a:spcBef>
            </a:pPr>
            <a:r>
              <a:rPr dirty="0" sz="3200" spc="-85" b="1">
                <a:solidFill>
                  <a:srgbClr val="333398"/>
                </a:solidFill>
                <a:latin typeface="Arial"/>
                <a:cs typeface="Arial"/>
              </a:rPr>
              <a:t>STA</a:t>
            </a:r>
            <a:r>
              <a:rPr dirty="0" sz="3200" spc="-5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3200" spc="5" b="1">
                <a:solidFill>
                  <a:srgbClr val="FF0000"/>
                </a:solidFill>
                <a:latin typeface="Arial"/>
                <a:cs typeface="Arial"/>
              </a:rPr>
              <a:t>3050</a:t>
            </a:r>
            <a:r>
              <a:rPr dirty="0" sz="3200" spc="5" b="1">
                <a:latin typeface="Arial"/>
                <a:cs typeface="Arial"/>
              </a:rPr>
              <a:t>H</a:t>
            </a:r>
            <a:r>
              <a:rPr dirty="0" sz="3200" spc="-5" b="1">
                <a:latin typeface="Arial"/>
                <a:cs typeface="Arial"/>
              </a:rPr>
              <a:t> </a:t>
            </a:r>
            <a:r>
              <a:rPr dirty="0" sz="2800" spc="-5" b="1">
                <a:solidFill>
                  <a:srgbClr val="009800"/>
                </a:solidFill>
                <a:latin typeface="Arial"/>
                <a:cs typeface="Arial"/>
              </a:rPr>
              <a:t>;store</a:t>
            </a:r>
            <a:r>
              <a:rPr dirty="0" sz="2800" spc="-150" b="1">
                <a:solidFill>
                  <a:srgbClr val="009800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009800"/>
                </a:solidFill>
                <a:latin typeface="Arial MT"/>
                <a:cs typeface="Arial MT"/>
              </a:rPr>
              <a:t>A</a:t>
            </a:r>
            <a:r>
              <a:rPr dirty="0" sz="2800" spc="-175">
                <a:solidFill>
                  <a:srgbClr val="009800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009800"/>
                </a:solidFill>
                <a:latin typeface="Arial MT"/>
                <a:cs typeface="Arial MT"/>
              </a:rPr>
              <a:t>with contents of</a:t>
            </a:r>
            <a:r>
              <a:rPr dirty="0" sz="2800">
                <a:solidFill>
                  <a:srgbClr val="009800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009800"/>
                </a:solidFill>
                <a:latin typeface="Arial MT"/>
                <a:cs typeface="Arial MT"/>
              </a:rPr>
              <a:t>memory</a:t>
            </a:r>
            <a:endParaRPr sz="2800">
              <a:latin typeface="Arial MT"/>
              <a:cs typeface="Arial MT"/>
            </a:endParaRPr>
          </a:p>
          <a:p>
            <a:pPr marL="2755900">
              <a:lnSpc>
                <a:spcPct val="100000"/>
              </a:lnSpc>
              <a:spcBef>
                <a:spcPts val="20"/>
              </a:spcBef>
            </a:pPr>
            <a:r>
              <a:rPr dirty="0" sz="2800" spc="-5">
                <a:solidFill>
                  <a:srgbClr val="009800"/>
                </a:solidFill>
                <a:latin typeface="Arial MT"/>
                <a:cs typeface="Arial MT"/>
              </a:rPr>
              <a:t>location</a:t>
            </a:r>
            <a:r>
              <a:rPr dirty="0" sz="2800" spc="-15">
                <a:solidFill>
                  <a:srgbClr val="009800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009800"/>
                </a:solidFill>
                <a:latin typeface="Arial MT"/>
                <a:cs typeface="Arial MT"/>
              </a:rPr>
              <a:t>with</a:t>
            </a:r>
            <a:r>
              <a:rPr dirty="0" sz="2800" spc="-15">
                <a:solidFill>
                  <a:srgbClr val="009800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009800"/>
                </a:solidFill>
                <a:latin typeface="Arial MT"/>
                <a:cs typeface="Arial MT"/>
              </a:rPr>
              <a:t>address</a:t>
            </a:r>
            <a:r>
              <a:rPr dirty="0" sz="2800" spc="-10">
                <a:solidFill>
                  <a:srgbClr val="009800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009800"/>
                </a:solidFill>
                <a:latin typeface="Arial MT"/>
                <a:cs typeface="Arial MT"/>
              </a:rPr>
              <a:t>3050H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5280" y="497840"/>
            <a:ext cx="592836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 b="0">
                <a:latin typeface="Arial MT"/>
                <a:cs typeface="Arial MT"/>
              </a:rPr>
              <a:t>3(b)</a:t>
            </a:r>
            <a:r>
              <a:rPr dirty="0" sz="4400" spc="-35" b="0">
                <a:latin typeface="Arial MT"/>
                <a:cs typeface="Arial MT"/>
              </a:rPr>
              <a:t> </a:t>
            </a:r>
            <a:r>
              <a:rPr dirty="0" sz="4400" spc="-5" b="0">
                <a:solidFill>
                  <a:srgbClr val="FF0000"/>
                </a:solidFill>
                <a:latin typeface="Arial MT"/>
                <a:cs typeface="Arial MT"/>
              </a:rPr>
              <a:t>Indirect</a:t>
            </a:r>
            <a:r>
              <a:rPr dirty="0" sz="4400" spc="-265" b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Addressing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35759"/>
            <a:ext cx="7944484" cy="380365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just" marL="355600" marR="52705" indent="-342900">
              <a:lnSpc>
                <a:spcPct val="100499"/>
              </a:lnSpc>
              <a:spcBef>
                <a:spcPts val="80"/>
              </a:spcBef>
              <a:buChar char="•"/>
              <a:tabLst>
                <a:tab pos="355600" algn="l"/>
              </a:tabLst>
            </a:pPr>
            <a:r>
              <a:rPr dirty="0" sz="3200">
                <a:latin typeface="Arial MT"/>
                <a:cs typeface="Arial MT"/>
              </a:rPr>
              <a:t>A</a:t>
            </a:r>
            <a:r>
              <a:rPr dirty="0" sz="3200" spc="-185">
                <a:latin typeface="Arial MT"/>
                <a:cs typeface="Arial MT"/>
              </a:rPr>
              <a:t> </a:t>
            </a:r>
            <a:r>
              <a:rPr dirty="0" sz="3200" spc="-5">
                <a:solidFill>
                  <a:srgbClr val="FF0000"/>
                </a:solidFill>
                <a:latin typeface="Arial MT"/>
                <a:cs typeface="Arial MT"/>
              </a:rPr>
              <a:t>memory</a:t>
            </a:r>
            <a:r>
              <a:rPr dirty="0" sz="3200" spc="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3200" spc="-5">
                <a:solidFill>
                  <a:srgbClr val="FF0000"/>
                </a:solidFill>
                <a:latin typeface="Arial MT"/>
                <a:cs typeface="Arial MT"/>
              </a:rPr>
              <a:t>pointer</a:t>
            </a:r>
            <a:r>
              <a:rPr dirty="0" sz="3200" spc="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register </a:t>
            </a:r>
            <a:r>
              <a:rPr dirty="0" sz="3200" spc="-10">
                <a:latin typeface="Arial MT"/>
                <a:cs typeface="Arial MT"/>
              </a:rPr>
              <a:t>is</a:t>
            </a:r>
            <a:r>
              <a:rPr dirty="0" sz="3200" spc="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used</a:t>
            </a:r>
            <a:r>
              <a:rPr dirty="0" sz="3200" spc="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to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store </a:t>
            </a:r>
            <a:r>
              <a:rPr dirty="0" sz="3200" spc="-87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the </a:t>
            </a:r>
            <a:r>
              <a:rPr dirty="0" sz="3200">
                <a:latin typeface="Arial MT"/>
                <a:cs typeface="Arial MT"/>
              </a:rPr>
              <a:t>address </a:t>
            </a:r>
            <a:r>
              <a:rPr dirty="0" sz="3200" spc="-5">
                <a:latin typeface="Arial MT"/>
                <a:cs typeface="Arial MT"/>
              </a:rPr>
              <a:t>of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the</a:t>
            </a:r>
            <a:r>
              <a:rPr dirty="0" sz="320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memory</a:t>
            </a:r>
            <a:r>
              <a:rPr dirty="0" sz="320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location</a:t>
            </a:r>
            <a:endParaRPr sz="3200">
              <a:latin typeface="Arial MT"/>
              <a:cs typeface="Arial MT"/>
            </a:endParaRPr>
          </a:p>
          <a:p>
            <a:pPr algn="just" marL="355600" indent="-342900">
              <a:lnSpc>
                <a:spcPct val="100000"/>
              </a:lnSpc>
              <a:spcBef>
                <a:spcPts val="819"/>
              </a:spcBef>
              <a:buChar char="•"/>
              <a:tabLst>
                <a:tab pos="355600" algn="l"/>
              </a:tabLst>
            </a:pPr>
            <a:r>
              <a:rPr dirty="0" sz="3200">
                <a:latin typeface="Arial MT"/>
                <a:cs typeface="Arial MT"/>
              </a:rPr>
              <a:t>Example-</a:t>
            </a:r>
            <a:endParaRPr sz="3200">
              <a:latin typeface="Arial MT"/>
              <a:cs typeface="Arial MT"/>
            </a:endParaRPr>
          </a:p>
          <a:p>
            <a:pPr algn="just" marL="2434590" marR="5080" indent="-2079625">
              <a:lnSpc>
                <a:spcPct val="100000"/>
              </a:lnSpc>
              <a:spcBef>
                <a:spcPts val="720"/>
              </a:spcBef>
            </a:pPr>
            <a:r>
              <a:rPr dirty="0" sz="3200" spc="-5" b="1">
                <a:solidFill>
                  <a:srgbClr val="333398"/>
                </a:solidFill>
                <a:latin typeface="Arial"/>
                <a:cs typeface="Arial"/>
              </a:rPr>
              <a:t>MOV </a:t>
            </a:r>
            <a:r>
              <a:rPr dirty="0" sz="3200" b="1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dirty="0" sz="3200" b="1">
                <a:latin typeface="Arial"/>
                <a:cs typeface="Arial"/>
              </a:rPr>
              <a:t>, </a:t>
            </a:r>
            <a:r>
              <a:rPr dirty="0" sz="3200" b="1">
                <a:solidFill>
                  <a:srgbClr val="D50092"/>
                </a:solidFill>
                <a:latin typeface="Arial"/>
                <a:cs typeface="Arial"/>
              </a:rPr>
              <a:t>A </a:t>
            </a:r>
            <a:r>
              <a:rPr dirty="0" sz="2800">
                <a:solidFill>
                  <a:srgbClr val="009800"/>
                </a:solidFill>
                <a:latin typeface="Arial MT"/>
                <a:cs typeface="Arial MT"/>
              </a:rPr>
              <a:t>;copy </a:t>
            </a:r>
            <a:r>
              <a:rPr dirty="0" sz="2800" spc="-5">
                <a:solidFill>
                  <a:srgbClr val="009800"/>
                </a:solidFill>
                <a:latin typeface="Arial MT"/>
                <a:cs typeface="Arial MT"/>
              </a:rPr>
              <a:t>register </a:t>
            </a:r>
            <a:r>
              <a:rPr dirty="0" sz="2800">
                <a:solidFill>
                  <a:srgbClr val="009800"/>
                </a:solidFill>
                <a:latin typeface="Arial MT"/>
                <a:cs typeface="Arial MT"/>
              </a:rPr>
              <a:t>A to </a:t>
            </a:r>
            <a:r>
              <a:rPr dirty="0" sz="2800" spc="-5">
                <a:solidFill>
                  <a:srgbClr val="009800"/>
                </a:solidFill>
                <a:latin typeface="Arial MT"/>
                <a:cs typeface="Arial MT"/>
              </a:rPr>
              <a:t>memory location </a:t>
            </a:r>
            <a:r>
              <a:rPr dirty="0" sz="2800" spc="-770">
                <a:solidFill>
                  <a:srgbClr val="009800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009800"/>
                </a:solidFill>
                <a:latin typeface="Arial MT"/>
                <a:cs typeface="Arial MT"/>
              </a:rPr>
              <a:t>whose address is stored in register </a:t>
            </a:r>
            <a:r>
              <a:rPr dirty="0" sz="2800" spc="-765">
                <a:solidFill>
                  <a:srgbClr val="009800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009800"/>
                </a:solidFill>
                <a:latin typeface="Arial MT"/>
                <a:cs typeface="Arial MT"/>
              </a:rPr>
              <a:t>pair</a:t>
            </a:r>
            <a:r>
              <a:rPr dirty="0" sz="2800">
                <a:solidFill>
                  <a:srgbClr val="009800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009800"/>
                </a:solidFill>
                <a:latin typeface="Arial MT"/>
                <a:cs typeface="Arial MT"/>
              </a:rPr>
              <a:t>HL</a:t>
            </a:r>
            <a:endParaRPr sz="2800">
              <a:latin typeface="Arial MT"/>
              <a:cs typeface="Arial MT"/>
            </a:endParaRPr>
          </a:p>
          <a:p>
            <a:pPr algn="ctr" marR="457200">
              <a:lnSpc>
                <a:spcPct val="100000"/>
              </a:lnSpc>
              <a:spcBef>
                <a:spcPts val="2750"/>
              </a:spcBef>
              <a:tabLst>
                <a:tab pos="837565" algn="l"/>
              </a:tabLst>
            </a:pPr>
            <a:r>
              <a:rPr dirty="0" sz="2800" b="1">
                <a:solidFill>
                  <a:srgbClr val="D50092"/>
                </a:solidFill>
                <a:latin typeface="Arial"/>
                <a:cs typeface="Arial"/>
              </a:rPr>
              <a:t>H	L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71600" y="5486400"/>
            <a:ext cx="914400" cy="533400"/>
          </a:xfrm>
          <a:custGeom>
            <a:avLst/>
            <a:gdLst/>
            <a:ahLst/>
            <a:cxnLst/>
            <a:rect l="l" t="t" r="r" b="b"/>
            <a:pathLst>
              <a:path w="914400" h="533400">
                <a:moveTo>
                  <a:pt x="914400" y="0"/>
                </a:moveTo>
                <a:lnTo>
                  <a:pt x="0" y="0"/>
                </a:lnTo>
                <a:lnTo>
                  <a:pt x="0" y="533400"/>
                </a:lnTo>
                <a:lnTo>
                  <a:pt x="457200" y="533400"/>
                </a:lnTo>
                <a:lnTo>
                  <a:pt x="914400" y="533400"/>
                </a:lnTo>
                <a:lnTo>
                  <a:pt x="914400" y="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71600" y="5486400"/>
            <a:ext cx="914400" cy="5334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wrap="square" lIns="0" tIns="83820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660"/>
              </a:spcBef>
            </a:pPr>
            <a:r>
              <a:rPr dirty="0" sz="2400" spc="-10" b="1">
                <a:latin typeface="Arial"/>
                <a:cs typeface="Arial"/>
              </a:rPr>
              <a:t>30H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9469" y="5520690"/>
            <a:ext cx="2825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D50092"/>
                </a:solidFill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52800" y="5486400"/>
            <a:ext cx="914400" cy="533400"/>
          </a:xfrm>
          <a:custGeom>
            <a:avLst/>
            <a:gdLst/>
            <a:ahLst/>
            <a:cxnLst/>
            <a:rect l="l" t="t" r="r" b="b"/>
            <a:pathLst>
              <a:path w="914400" h="533400">
                <a:moveTo>
                  <a:pt x="914400" y="0"/>
                </a:moveTo>
                <a:lnTo>
                  <a:pt x="0" y="0"/>
                </a:lnTo>
                <a:lnTo>
                  <a:pt x="0" y="533400"/>
                </a:lnTo>
                <a:lnTo>
                  <a:pt x="457200" y="533400"/>
                </a:lnTo>
                <a:lnTo>
                  <a:pt x="914400" y="533400"/>
                </a:lnTo>
                <a:lnTo>
                  <a:pt x="914400" y="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352800" y="5486400"/>
            <a:ext cx="914400" cy="5334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wrap="square" lIns="0" tIns="83820" rIns="0" bIns="0" rtlCol="0" vert="horz">
            <a:spAutoFit/>
          </a:bodyPr>
          <a:lstStyle/>
          <a:p>
            <a:pPr marL="179070">
              <a:lnSpc>
                <a:spcPct val="100000"/>
              </a:lnSpc>
              <a:spcBef>
                <a:spcPts val="660"/>
              </a:spcBef>
            </a:pPr>
            <a:r>
              <a:rPr dirty="0" sz="2400" spc="-10" b="1">
                <a:latin typeface="Arial"/>
                <a:cs typeface="Arial"/>
              </a:rPr>
              <a:t>20H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267200" y="5486400"/>
            <a:ext cx="914400" cy="533400"/>
          </a:xfrm>
          <a:custGeom>
            <a:avLst/>
            <a:gdLst/>
            <a:ahLst/>
            <a:cxnLst/>
            <a:rect l="l" t="t" r="r" b="b"/>
            <a:pathLst>
              <a:path w="914400" h="533400">
                <a:moveTo>
                  <a:pt x="914400" y="0"/>
                </a:moveTo>
                <a:lnTo>
                  <a:pt x="0" y="0"/>
                </a:lnTo>
                <a:lnTo>
                  <a:pt x="0" y="533400"/>
                </a:lnTo>
                <a:lnTo>
                  <a:pt x="457200" y="533400"/>
                </a:lnTo>
                <a:lnTo>
                  <a:pt x="914400" y="533400"/>
                </a:lnTo>
                <a:lnTo>
                  <a:pt x="914400" y="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267200" y="5486400"/>
            <a:ext cx="914400" cy="5334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wrap="square" lIns="0" tIns="83820" rIns="0" bIns="0" rtlCol="0" vert="horz">
            <a:spAutoFit/>
          </a:bodyPr>
          <a:lstStyle/>
          <a:p>
            <a:pPr marL="179070">
              <a:lnSpc>
                <a:spcPct val="100000"/>
              </a:lnSpc>
              <a:spcBef>
                <a:spcPts val="660"/>
              </a:spcBef>
            </a:pPr>
            <a:r>
              <a:rPr dirty="0" sz="2400" spc="-10" b="1">
                <a:latin typeface="Arial"/>
                <a:cs typeface="Arial"/>
              </a:rPr>
              <a:t>50H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620000" y="5486400"/>
            <a:ext cx="914400" cy="533400"/>
          </a:xfrm>
          <a:custGeom>
            <a:avLst/>
            <a:gdLst/>
            <a:ahLst/>
            <a:cxnLst/>
            <a:rect l="l" t="t" r="r" b="b"/>
            <a:pathLst>
              <a:path w="914400" h="533400">
                <a:moveTo>
                  <a:pt x="914400" y="0"/>
                </a:moveTo>
                <a:lnTo>
                  <a:pt x="0" y="0"/>
                </a:lnTo>
                <a:lnTo>
                  <a:pt x="0" y="533400"/>
                </a:lnTo>
                <a:lnTo>
                  <a:pt x="457200" y="533400"/>
                </a:lnTo>
                <a:lnTo>
                  <a:pt x="914400" y="533400"/>
                </a:lnTo>
                <a:lnTo>
                  <a:pt x="914400" y="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620000" y="5486400"/>
            <a:ext cx="914400" cy="5334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wrap="square" lIns="0" tIns="83820" rIns="0" bIns="0" rtlCol="0" vert="horz">
            <a:spAutoFit/>
          </a:bodyPr>
          <a:lstStyle/>
          <a:p>
            <a:pPr marL="179070">
              <a:lnSpc>
                <a:spcPct val="100000"/>
              </a:lnSpc>
              <a:spcBef>
                <a:spcPts val="660"/>
              </a:spcBef>
            </a:pPr>
            <a:r>
              <a:rPr dirty="0" sz="2400" spc="-10" b="1">
                <a:latin typeface="Arial"/>
                <a:cs typeface="Arial"/>
              </a:rPr>
              <a:t>30H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78270" y="5534659"/>
            <a:ext cx="107315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 b="1">
                <a:latin typeface="Arial"/>
                <a:cs typeface="Arial"/>
              </a:rPr>
              <a:t>2050H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334000" y="5706109"/>
            <a:ext cx="990600" cy="171450"/>
            <a:chOff x="5334000" y="5706109"/>
            <a:chExt cx="990600" cy="171450"/>
          </a:xfrm>
        </p:grpSpPr>
        <p:sp>
          <p:nvSpPr>
            <p:cNvPr id="15" name="object 15"/>
            <p:cNvSpPr/>
            <p:nvPr/>
          </p:nvSpPr>
          <p:spPr>
            <a:xfrm>
              <a:off x="5334000" y="5791199"/>
              <a:ext cx="830580" cy="0"/>
            </a:xfrm>
            <a:custGeom>
              <a:avLst/>
              <a:gdLst/>
              <a:ahLst/>
              <a:cxnLst/>
              <a:rect l="l" t="t" r="r" b="b"/>
              <a:pathLst>
                <a:path w="830579" h="0">
                  <a:moveTo>
                    <a:pt x="0" y="0"/>
                  </a:moveTo>
                  <a:lnTo>
                    <a:pt x="830579" y="0"/>
                  </a:lnTo>
                </a:path>
              </a:pathLst>
            </a:custGeom>
            <a:ln w="5714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53150" y="5706109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0" y="0"/>
                  </a:moveTo>
                  <a:lnTo>
                    <a:pt x="0" y="171449"/>
                  </a:lnTo>
                  <a:lnTo>
                    <a:pt x="171450" y="850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1815466" y="6111240"/>
            <a:ext cx="6331585" cy="318135"/>
            <a:chOff x="1815466" y="6111240"/>
            <a:chExt cx="6331585" cy="318135"/>
          </a:xfrm>
        </p:grpSpPr>
        <p:sp>
          <p:nvSpPr>
            <p:cNvPr id="18" name="object 18"/>
            <p:cNvSpPr/>
            <p:nvPr/>
          </p:nvSpPr>
          <p:spPr>
            <a:xfrm>
              <a:off x="1828799" y="6111240"/>
              <a:ext cx="6248400" cy="304800"/>
            </a:xfrm>
            <a:custGeom>
              <a:avLst/>
              <a:gdLst/>
              <a:ahLst/>
              <a:cxnLst/>
              <a:rect l="l" t="t" r="r" b="b"/>
              <a:pathLst>
                <a:path w="6248400" h="304800">
                  <a:moveTo>
                    <a:pt x="15239" y="0"/>
                  </a:moveTo>
                  <a:lnTo>
                    <a:pt x="15239" y="304800"/>
                  </a:lnTo>
                </a:path>
                <a:path w="6248400" h="304800">
                  <a:moveTo>
                    <a:pt x="0" y="289560"/>
                  </a:moveTo>
                  <a:lnTo>
                    <a:pt x="6248400" y="289560"/>
                  </a:lnTo>
                </a:path>
              </a:pathLst>
            </a:custGeom>
            <a:ln w="57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061960" y="6271260"/>
              <a:ext cx="0" cy="144780"/>
            </a:xfrm>
            <a:custGeom>
              <a:avLst/>
              <a:gdLst/>
              <a:ahLst/>
              <a:cxnLst/>
              <a:rect l="l" t="t" r="r" b="b"/>
              <a:pathLst>
                <a:path w="0" h="144779">
                  <a:moveTo>
                    <a:pt x="0" y="144779"/>
                  </a:moveTo>
                  <a:lnTo>
                    <a:pt x="0" y="0"/>
                  </a:lnTo>
                </a:path>
              </a:pathLst>
            </a:custGeom>
            <a:ln w="57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975599" y="611124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6359" y="0"/>
                  </a:moveTo>
                  <a:lnTo>
                    <a:pt x="0" y="171450"/>
                  </a:lnTo>
                  <a:lnTo>
                    <a:pt x="171450" y="171450"/>
                  </a:lnTo>
                  <a:lnTo>
                    <a:pt x="863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8410" y="497840"/>
            <a:ext cx="664146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 b="0">
                <a:latin typeface="Arial MT"/>
                <a:cs typeface="Arial MT"/>
              </a:rPr>
              <a:t>4.</a:t>
            </a:r>
            <a:r>
              <a:rPr dirty="0" sz="4400" spc="-35" b="0">
                <a:latin typeface="Arial MT"/>
                <a:cs typeface="Arial MT"/>
              </a:rPr>
              <a:t> </a:t>
            </a:r>
            <a:r>
              <a:rPr dirty="0" sz="4400" spc="-5" b="0">
                <a:solidFill>
                  <a:srgbClr val="FF0000"/>
                </a:solidFill>
                <a:latin typeface="Arial MT"/>
                <a:cs typeface="Arial MT"/>
              </a:rPr>
              <a:t>Input</a:t>
            </a:r>
            <a:r>
              <a:rPr dirty="0" sz="4400" spc="-5" b="0">
                <a:latin typeface="Arial MT"/>
                <a:cs typeface="Arial MT"/>
              </a:rPr>
              <a:t>/</a:t>
            </a:r>
            <a:r>
              <a:rPr dirty="0" sz="4400" spc="-5" b="0">
                <a:solidFill>
                  <a:srgbClr val="FF0000"/>
                </a:solidFill>
                <a:latin typeface="Arial MT"/>
                <a:cs typeface="Arial MT"/>
              </a:rPr>
              <a:t>Output</a:t>
            </a:r>
            <a:r>
              <a:rPr dirty="0" sz="4400" spc="-250" b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Addressing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35759"/>
            <a:ext cx="6470015" cy="277876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355600" marR="5080" indent="-342900">
              <a:lnSpc>
                <a:spcPct val="100499"/>
              </a:lnSpc>
              <a:spcBef>
                <a:spcPts val="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>
                <a:solidFill>
                  <a:srgbClr val="FF0000"/>
                </a:solidFill>
                <a:latin typeface="Arial MT"/>
                <a:cs typeface="Arial MT"/>
              </a:rPr>
              <a:t>8-bit </a:t>
            </a:r>
            <a:r>
              <a:rPr dirty="0" sz="3200">
                <a:latin typeface="Arial MT"/>
                <a:cs typeface="Arial MT"/>
              </a:rPr>
              <a:t>address of </a:t>
            </a:r>
            <a:r>
              <a:rPr dirty="0" sz="3200" spc="-5">
                <a:latin typeface="Arial MT"/>
                <a:cs typeface="Arial MT"/>
              </a:rPr>
              <a:t>the </a:t>
            </a:r>
            <a:r>
              <a:rPr dirty="0" sz="3200">
                <a:latin typeface="Arial MT"/>
                <a:cs typeface="Arial MT"/>
              </a:rPr>
              <a:t>port </a:t>
            </a:r>
            <a:r>
              <a:rPr dirty="0" sz="3200" spc="-10">
                <a:latin typeface="Arial MT"/>
                <a:cs typeface="Arial MT"/>
              </a:rPr>
              <a:t>is </a:t>
            </a:r>
            <a:r>
              <a:rPr dirty="0" sz="3200" spc="-5">
                <a:latin typeface="Arial MT"/>
                <a:cs typeface="Arial MT"/>
              </a:rPr>
              <a:t>directly </a:t>
            </a:r>
            <a:r>
              <a:rPr dirty="0" sz="3200" spc="-87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specified in the</a:t>
            </a:r>
            <a:r>
              <a:rPr dirty="0" sz="320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instruction</a:t>
            </a:r>
            <a:endParaRPr sz="3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819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>
                <a:latin typeface="Arial MT"/>
                <a:cs typeface="Arial MT"/>
              </a:rPr>
              <a:t>Examples-</a:t>
            </a:r>
            <a:endParaRPr sz="3200">
              <a:latin typeface="Arial MT"/>
              <a:cs typeface="Arial MT"/>
            </a:endParaRPr>
          </a:p>
          <a:p>
            <a:pPr marL="927100" marR="3816350">
              <a:lnSpc>
                <a:spcPts val="4660"/>
              </a:lnSpc>
              <a:spcBef>
                <a:spcPts val="100"/>
              </a:spcBef>
            </a:pPr>
            <a:r>
              <a:rPr dirty="0" sz="3200" spc="-5" b="1">
                <a:solidFill>
                  <a:srgbClr val="333398"/>
                </a:solidFill>
                <a:latin typeface="Arial"/>
                <a:cs typeface="Arial"/>
              </a:rPr>
              <a:t>IN </a:t>
            </a:r>
            <a:r>
              <a:rPr dirty="0" sz="3200" spc="-5" b="1">
                <a:latin typeface="Arial"/>
                <a:cs typeface="Arial"/>
              </a:rPr>
              <a:t>07H </a:t>
            </a:r>
            <a:r>
              <a:rPr dirty="0" sz="3200" b="1">
                <a:latin typeface="Arial"/>
                <a:cs typeface="Arial"/>
              </a:rPr>
              <a:t> </a:t>
            </a:r>
            <a:r>
              <a:rPr dirty="0" sz="3200" spc="-5" b="1">
                <a:solidFill>
                  <a:srgbClr val="333398"/>
                </a:solidFill>
                <a:latin typeface="Arial"/>
                <a:cs typeface="Arial"/>
              </a:rPr>
              <a:t>OUT</a:t>
            </a:r>
            <a:r>
              <a:rPr dirty="0" sz="3200" spc="-75" b="1">
                <a:solidFill>
                  <a:srgbClr val="333398"/>
                </a:solidFill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21H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2019" y="497840"/>
            <a:ext cx="728980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 b="0">
                <a:solidFill>
                  <a:srgbClr val="FF0000"/>
                </a:solidFill>
                <a:latin typeface="Arial MT"/>
                <a:cs typeface="Arial MT"/>
              </a:rPr>
              <a:t>5.</a:t>
            </a:r>
            <a:r>
              <a:rPr dirty="0" sz="4400" spc="-15" b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Instruction</a:t>
            </a:r>
            <a:r>
              <a:rPr dirty="0" sz="4400" spc="-20" b="0">
                <a:latin typeface="Arial MT"/>
                <a:cs typeface="Arial MT"/>
              </a:rPr>
              <a:t> </a:t>
            </a:r>
            <a:r>
              <a:rPr dirty="0" sz="4400" b="0">
                <a:latin typeface="Arial MT"/>
                <a:cs typeface="Arial MT"/>
              </a:rPr>
              <a:t>&amp;</a:t>
            </a:r>
            <a:r>
              <a:rPr dirty="0" sz="4400" spc="-5" b="0">
                <a:latin typeface="Arial MT"/>
                <a:cs typeface="Arial MT"/>
              </a:rPr>
              <a:t> Data</a:t>
            </a:r>
            <a:r>
              <a:rPr dirty="0" sz="4400" spc="-15" b="0"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Formats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35759"/>
            <a:ext cx="6697980" cy="255270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80"/>
              </a:spcBef>
            </a:pPr>
            <a:r>
              <a:rPr dirty="0" sz="3200">
                <a:latin typeface="Arial MT"/>
                <a:cs typeface="Arial MT"/>
              </a:rPr>
              <a:t>8085 </a:t>
            </a:r>
            <a:r>
              <a:rPr dirty="0" sz="3200" spc="-5">
                <a:latin typeface="Arial MT"/>
                <a:cs typeface="Arial MT"/>
              </a:rPr>
              <a:t>Instruction </a:t>
            </a:r>
            <a:r>
              <a:rPr dirty="0" sz="3200">
                <a:latin typeface="Arial MT"/>
                <a:cs typeface="Arial MT"/>
              </a:rPr>
              <a:t>set can be classified </a:t>
            </a:r>
            <a:r>
              <a:rPr dirty="0" sz="3200" spc="-87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according</a:t>
            </a:r>
            <a:r>
              <a:rPr dirty="0" sz="3200" spc="-5">
                <a:latin typeface="Arial MT"/>
                <a:cs typeface="Arial MT"/>
              </a:rPr>
              <a:t> to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size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(in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bytes)</a:t>
            </a:r>
            <a:r>
              <a:rPr dirty="0" sz="3200" spc="-1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as</a:t>
            </a:r>
            <a:endParaRPr sz="3200">
              <a:latin typeface="Arial MT"/>
              <a:cs typeface="Arial MT"/>
            </a:endParaRPr>
          </a:p>
          <a:p>
            <a:pPr marL="1282700" indent="-53340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1282065" algn="l"/>
                <a:tab pos="1282700" algn="l"/>
              </a:tabLst>
            </a:pPr>
            <a:r>
              <a:rPr dirty="0" sz="2800" spc="-5">
                <a:latin typeface="Arial MT"/>
                <a:cs typeface="Arial MT"/>
              </a:rPr>
              <a:t>1-byte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Instructions</a:t>
            </a:r>
            <a:endParaRPr sz="2800">
              <a:latin typeface="Arial MT"/>
              <a:cs typeface="Arial MT"/>
            </a:endParaRPr>
          </a:p>
          <a:p>
            <a:pPr marL="1282700" indent="-53340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1282065" algn="l"/>
                <a:tab pos="1282700" algn="l"/>
              </a:tabLst>
            </a:pPr>
            <a:r>
              <a:rPr dirty="0" sz="2800" spc="-5">
                <a:latin typeface="Arial MT"/>
                <a:cs typeface="Arial MT"/>
              </a:rPr>
              <a:t>2-byte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Instructions</a:t>
            </a:r>
            <a:endParaRPr sz="2800">
              <a:latin typeface="Arial MT"/>
              <a:cs typeface="Arial MT"/>
            </a:endParaRPr>
          </a:p>
          <a:p>
            <a:pPr marL="1282700" indent="-533400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1282065" algn="l"/>
                <a:tab pos="1282700" algn="l"/>
              </a:tabLst>
            </a:pPr>
            <a:r>
              <a:rPr dirty="0" sz="2800" spc="-5">
                <a:latin typeface="Arial MT"/>
                <a:cs typeface="Arial MT"/>
              </a:rPr>
              <a:t>3-byte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Instructions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0039" y="497840"/>
            <a:ext cx="595503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86735" algn="l"/>
              </a:tabLst>
            </a:pPr>
            <a:r>
              <a:rPr dirty="0" sz="4400" spc="-5" b="0">
                <a:latin typeface="Arial MT"/>
                <a:cs typeface="Arial MT"/>
              </a:rPr>
              <a:t>1.</a:t>
            </a:r>
            <a:r>
              <a:rPr dirty="0" sz="4400" spc="5" b="0"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One-byte	Instructions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44320"/>
            <a:ext cx="7919720" cy="105918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Arial MT"/>
                <a:cs typeface="Arial MT"/>
              </a:rPr>
              <a:t>Includes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Opcode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and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Operand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the same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byte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1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Arial MT"/>
                <a:cs typeface="Arial MT"/>
              </a:rPr>
              <a:t>Examples-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27050" y="3346450"/>
          <a:ext cx="8020050" cy="2537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0250"/>
                <a:gridCol w="2000250"/>
                <a:gridCol w="2000250"/>
                <a:gridCol w="2000250"/>
              </a:tblGrid>
              <a:tr h="4571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2400" spc="-5" b="1">
                          <a:latin typeface="Arial"/>
                          <a:cs typeface="Arial"/>
                        </a:rPr>
                        <a:t>Opcode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2400" spc="-5" b="1">
                          <a:latin typeface="Arial"/>
                          <a:cs typeface="Arial"/>
                        </a:rPr>
                        <a:t>Operand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2400" spc="-5" b="1">
                          <a:latin typeface="Arial"/>
                          <a:cs typeface="Arial"/>
                        </a:rPr>
                        <a:t>Binary</a:t>
                      </a:r>
                      <a:r>
                        <a:rPr dirty="0" sz="24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 b="1">
                          <a:latin typeface="Arial"/>
                          <a:cs typeface="Arial"/>
                        </a:rPr>
                        <a:t>Code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2400" spc="-5" b="1">
                          <a:latin typeface="Arial"/>
                          <a:cs typeface="Arial"/>
                        </a:rPr>
                        <a:t>Hex</a:t>
                      </a:r>
                      <a:r>
                        <a:rPr dirty="0" sz="24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 b="1">
                          <a:latin typeface="Arial"/>
                          <a:cs typeface="Arial"/>
                        </a:rPr>
                        <a:t>Code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879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800" spc="-5" b="1">
                          <a:solidFill>
                            <a:srgbClr val="333398"/>
                          </a:solidFill>
                          <a:latin typeface="Arial"/>
                          <a:cs typeface="Arial"/>
                        </a:rPr>
                        <a:t>MOV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800" spc="-5" b="1">
                          <a:solidFill>
                            <a:srgbClr val="D50092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28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b="1">
                          <a:solidFill>
                            <a:srgbClr val="D50092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114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800" spc="-5">
                          <a:latin typeface="Arial MT"/>
                          <a:cs typeface="Arial MT"/>
                        </a:rPr>
                        <a:t>0100</a:t>
                      </a:r>
                      <a:r>
                        <a:rPr dirty="0" sz="28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>
                          <a:latin typeface="Arial MT"/>
                          <a:cs typeface="Arial MT"/>
                        </a:rPr>
                        <a:t>1111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14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800" spc="-5" b="1">
                          <a:latin typeface="Arial"/>
                          <a:cs typeface="Arial"/>
                        </a:rPr>
                        <a:t>4F</a:t>
                      </a:r>
                      <a:r>
                        <a:rPr dirty="0" sz="2800" spc="-5">
                          <a:latin typeface="Arial MT"/>
                          <a:cs typeface="Arial MT"/>
                        </a:rPr>
                        <a:t>H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143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800" spc="-10" b="1">
                          <a:solidFill>
                            <a:srgbClr val="333398"/>
                          </a:solidFill>
                          <a:latin typeface="Arial"/>
                          <a:cs typeface="Arial"/>
                        </a:rPr>
                        <a:t>ADD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800" b="1">
                          <a:solidFill>
                            <a:srgbClr val="D50092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120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800" spc="-5">
                          <a:latin typeface="Arial MT"/>
                          <a:cs typeface="Arial MT"/>
                        </a:rPr>
                        <a:t>1000</a:t>
                      </a:r>
                      <a:r>
                        <a:rPr dirty="0" sz="28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>
                          <a:latin typeface="Arial MT"/>
                          <a:cs typeface="Arial MT"/>
                        </a:rPr>
                        <a:t>0000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20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800" b="1">
                          <a:latin typeface="Arial"/>
                          <a:cs typeface="Arial"/>
                        </a:rPr>
                        <a:t>80</a:t>
                      </a:r>
                      <a:r>
                        <a:rPr dirty="0" sz="2800">
                          <a:latin typeface="Arial MT"/>
                          <a:cs typeface="Arial MT"/>
                        </a:rPr>
                        <a:t>H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206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879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800" spc="-80" b="1">
                          <a:solidFill>
                            <a:srgbClr val="333398"/>
                          </a:solidFill>
                          <a:latin typeface="Arial"/>
                          <a:cs typeface="Arial"/>
                        </a:rPr>
                        <a:t>HLT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800" spc="-5">
                          <a:latin typeface="Arial MT"/>
                          <a:cs typeface="Arial MT"/>
                        </a:rPr>
                        <a:t>0111</a:t>
                      </a:r>
                      <a:r>
                        <a:rPr dirty="0" sz="28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>
                          <a:latin typeface="Arial MT"/>
                          <a:cs typeface="Arial MT"/>
                        </a:rPr>
                        <a:t>0110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20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800" b="1">
                          <a:latin typeface="Arial"/>
                          <a:cs typeface="Arial"/>
                        </a:rPr>
                        <a:t>76</a:t>
                      </a:r>
                      <a:r>
                        <a:rPr dirty="0" sz="2800">
                          <a:latin typeface="Arial MT"/>
                          <a:cs typeface="Arial MT"/>
                        </a:rPr>
                        <a:t>H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206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1630" y="497840"/>
            <a:ext cx="591248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 b="0">
                <a:latin typeface="Arial MT"/>
                <a:cs typeface="Arial MT"/>
              </a:rPr>
              <a:t>1.</a:t>
            </a:r>
            <a:r>
              <a:rPr dirty="0" sz="4400" spc="-120" b="0">
                <a:latin typeface="Arial MT"/>
                <a:cs typeface="Arial MT"/>
              </a:rPr>
              <a:t> </a:t>
            </a:r>
            <a:r>
              <a:rPr dirty="0" sz="4400" spc="-35" b="0">
                <a:latin typeface="Arial MT"/>
                <a:cs typeface="Arial MT"/>
              </a:rPr>
              <a:t>Two-byte </a:t>
            </a:r>
            <a:r>
              <a:rPr dirty="0" sz="4400" spc="-5" b="0">
                <a:latin typeface="Arial MT"/>
                <a:cs typeface="Arial MT"/>
              </a:rPr>
              <a:t>Instructions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45590"/>
            <a:ext cx="5922645" cy="157353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Arial MT"/>
                <a:cs typeface="Arial MT"/>
              </a:rPr>
              <a:t>First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byte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specifies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Operation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Code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Arial MT"/>
                <a:cs typeface="Arial MT"/>
              </a:rPr>
              <a:t>Second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byte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specifies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Operand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1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Arial MT"/>
                <a:cs typeface="Arial MT"/>
              </a:rPr>
              <a:t>Examples-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27050" y="3346450"/>
          <a:ext cx="8020050" cy="2537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0250"/>
                <a:gridCol w="2000250"/>
                <a:gridCol w="2000250"/>
                <a:gridCol w="2000250"/>
              </a:tblGrid>
              <a:tr h="4571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2400" spc="-5" b="1">
                          <a:latin typeface="Arial"/>
                          <a:cs typeface="Arial"/>
                        </a:rPr>
                        <a:t>Opcode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2400" spc="-5" b="1">
                          <a:latin typeface="Arial"/>
                          <a:cs typeface="Arial"/>
                        </a:rPr>
                        <a:t>Operand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2400" spc="-5" b="1">
                          <a:latin typeface="Arial"/>
                          <a:cs typeface="Arial"/>
                        </a:rPr>
                        <a:t>Binary</a:t>
                      </a:r>
                      <a:r>
                        <a:rPr dirty="0" sz="24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 b="1">
                          <a:latin typeface="Arial"/>
                          <a:cs typeface="Arial"/>
                        </a:rPr>
                        <a:t>Code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2400" spc="-5" b="1">
                          <a:latin typeface="Arial"/>
                          <a:cs typeface="Arial"/>
                        </a:rPr>
                        <a:t>Hex</a:t>
                      </a:r>
                      <a:r>
                        <a:rPr dirty="0" sz="24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 b="1">
                          <a:latin typeface="Arial"/>
                          <a:cs typeface="Arial"/>
                        </a:rPr>
                        <a:t>Code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6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800" spc="-5" b="1">
                          <a:solidFill>
                            <a:srgbClr val="333398"/>
                          </a:solidFill>
                          <a:latin typeface="Arial"/>
                          <a:cs typeface="Arial"/>
                        </a:rPr>
                        <a:t>MVI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800" spc="-5" b="1">
                          <a:solidFill>
                            <a:srgbClr val="D50092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28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b="1">
                          <a:latin typeface="Arial"/>
                          <a:cs typeface="Arial"/>
                        </a:rPr>
                        <a:t>32H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114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800" spc="-5">
                          <a:latin typeface="Arial MT"/>
                          <a:cs typeface="Arial MT"/>
                        </a:rPr>
                        <a:t>0011</a:t>
                      </a:r>
                      <a:r>
                        <a:rPr dirty="0" sz="28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>
                          <a:latin typeface="Arial MT"/>
                          <a:cs typeface="Arial MT"/>
                        </a:rPr>
                        <a:t>1110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14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800" spc="-5" b="1">
                          <a:latin typeface="Arial"/>
                          <a:cs typeface="Arial"/>
                        </a:rPr>
                        <a:t>3E</a:t>
                      </a:r>
                      <a:r>
                        <a:rPr dirty="0" sz="2800" spc="-5">
                          <a:latin typeface="Arial MT"/>
                          <a:cs typeface="Arial MT"/>
                        </a:rPr>
                        <a:t>H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143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5468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800" spc="-5">
                          <a:latin typeface="Arial MT"/>
                          <a:cs typeface="Arial MT"/>
                        </a:rPr>
                        <a:t>0011</a:t>
                      </a:r>
                      <a:r>
                        <a:rPr dirty="0" sz="28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>
                          <a:latin typeface="Arial MT"/>
                          <a:cs typeface="Arial MT"/>
                        </a:rPr>
                        <a:t>0010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800" b="1">
                          <a:latin typeface="Arial"/>
                          <a:cs typeface="Arial"/>
                        </a:rPr>
                        <a:t>32</a:t>
                      </a:r>
                      <a:r>
                        <a:rPr dirty="0" sz="2800">
                          <a:latin typeface="Arial MT"/>
                          <a:cs typeface="Arial MT"/>
                        </a:rPr>
                        <a:t>H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6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800" spc="-5" b="1">
                          <a:solidFill>
                            <a:srgbClr val="333398"/>
                          </a:solidFill>
                          <a:latin typeface="Arial"/>
                          <a:cs typeface="Arial"/>
                        </a:rPr>
                        <a:t>MVI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800" spc="-10" b="1">
                          <a:solidFill>
                            <a:srgbClr val="D50092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dirty="0" sz="2800" spc="-10" b="1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28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F2H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114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800" spc="-5">
                          <a:latin typeface="Arial MT"/>
                          <a:cs typeface="Arial MT"/>
                        </a:rPr>
                        <a:t>0000</a:t>
                      </a:r>
                      <a:r>
                        <a:rPr dirty="0" sz="28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>
                          <a:latin typeface="Arial MT"/>
                          <a:cs typeface="Arial MT"/>
                        </a:rPr>
                        <a:t>0110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14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800" b="1">
                          <a:latin typeface="Arial"/>
                          <a:cs typeface="Arial"/>
                        </a:rPr>
                        <a:t>06</a:t>
                      </a:r>
                      <a:r>
                        <a:rPr dirty="0" sz="2800">
                          <a:latin typeface="Arial MT"/>
                          <a:cs typeface="Arial MT"/>
                        </a:rPr>
                        <a:t>H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143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5468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800" spc="-5">
                          <a:latin typeface="Arial MT"/>
                          <a:cs typeface="Arial MT"/>
                        </a:rPr>
                        <a:t>1111</a:t>
                      </a:r>
                      <a:r>
                        <a:rPr dirty="0" sz="28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>
                          <a:latin typeface="Arial MT"/>
                          <a:cs typeface="Arial MT"/>
                        </a:rPr>
                        <a:t>0010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800" spc="-5" b="1">
                          <a:latin typeface="Arial"/>
                          <a:cs typeface="Arial"/>
                        </a:rPr>
                        <a:t>F2</a:t>
                      </a:r>
                      <a:r>
                        <a:rPr dirty="0" sz="2800" spc="-5">
                          <a:latin typeface="Arial MT"/>
                          <a:cs typeface="Arial MT"/>
                        </a:rPr>
                        <a:t>H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3189" y="497840"/>
            <a:ext cx="634492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 b="0">
                <a:latin typeface="Arial MT"/>
                <a:cs typeface="Arial MT"/>
              </a:rPr>
              <a:t>1.</a:t>
            </a:r>
            <a:r>
              <a:rPr dirty="0" sz="4400" spc="-100" b="0">
                <a:latin typeface="Arial MT"/>
                <a:cs typeface="Arial MT"/>
              </a:rPr>
              <a:t> </a:t>
            </a:r>
            <a:r>
              <a:rPr dirty="0" sz="4400" spc="-10" b="0">
                <a:latin typeface="Arial MT"/>
                <a:cs typeface="Arial MT"/>
              </a:rPr>
              <a:t>Three-byte</a:t>
            </a:r>
            <a:r>
              <a:rPr dirty="0" sz="4400" spc="-25" b="0">
                <a:latin typeface="Arial MT"/>
                <a:cs typeface="Arial MT"/>
              </a:rPr>
              <a:t> </a:t>
            </a:r>
            <a:r>
              <a:rPr dirty="0" sz="4400" spc="-5" b="0">
                <a:latin typeface="Arial MT"/>
                <a:cs typeface="Arial MT"/>
              </a:rPr>
              <a:t>Instructions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45590"/>
            <a:ext cx="6546215" cy="157353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Arial MT"/>
                <a:cs typeface="Arial MT"/>
              </a:rPr>
              <a:t>First byte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specifies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Operation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Code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Arial MT"/>
                <a:cs typeface="Arial MT"/>
              </a:rPr>
              <a:t>Second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&amp;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Third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byte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specifies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Operand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1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Arial MT"/>
                <a:cs typeface="Arial MT"/>
              </a:rPr>
              <a:t>Examples-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27050" y="3194050"/>
          <a:ext cx="8020050" cy="35674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0250"/>
                <a:gridCol w="2000250"/>
                <a:gridCol w="2000250"/>
                <a:gridCol w="2000250"/>
              </a:tblGrid>
              <a:tr h="4578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2400" spc="-5" b="1">
                          <a:latin typeface="Arial"/>
                          <a:cs typeface="Arial"/>
                        </a:rPr>
                        <a:t>Opcode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2400" spc="-5" b="1">
                          <a:latin typeface="Arial"/>
                          <a:cs typeface="Arial"/>
                        </a:rPr>
                        <a:t>Operand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2400" spc="-5" b="1">
                          <a:latin typeface="Arial"/>
                          <a:cs typeface="Arial"/>
                        </a:rPr>
                        <a:t>Binary</a:t>
                      </a:r>
                      <a:r>
                        <a:rPr dirty="0" sz="24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 b="1">
                          <a:latin typeface="Arial"/>
                          <a:cs typeface="Arial"/>
                        </a:rPr>
                        <a:t>Code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2400" spc="-5" b="1">
                          <a:latin typeface="Arial"/>
                          <a:cs typeface="Arial"/>
                        </a:rPr>
                        <a:t>Hex</a:t>
                      </a:r>
                      <a:r>
                        <a:rPr dirty="0" sz="24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 b="1">
                          <a:latin typeface="Arial"/>
                          <a:cs typeface="Arial"/>
                        </a:rPr>
                        <a:t>Code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6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800" spc="-5" b="1">
                          <a:solidFill>
                            <a:srgbClr val="333398"/>
                          </a:solidFill>
                          <a:latin typeface="Arial"/>
                          <a:cs typeface="Arial"/>
                        </a:rPr>
                        <a:t>LXI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800" spc="-10" b="1">
                          <a:solidFill>
                            <a:srgbClr val="D50092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dirty="0" sz="2800" spc="-10" b="1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28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2050H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800" spc="-5">
                          <a:latin typeface="Arial MT"/>
                          <a:cs typeface="Arial MT"/>
                        </a:rPr>
                        <a:t>0010</a:t>
                      </a:r>
                      <a:r>
                        <a:rPr dirty="0" sz="28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>
                          <a:latin typeface="Arial MT"/>
                          <a:cs typeface="Arial MT"/>
                        </a:rPr>
                        <a:t>0001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800" b="1">
                          <a:latin typeface="Arial"/>
                          <a:cs typeface="Arial"/>
                        </a:rPr>
                        <a:t>21</a:t>
                      </a:r>
                      <a:r>
                        <a:rPr dirty="0" sz="2800">
                          <a:latin typeface="Arial MT"/>
                          <a:cs typeface="Arial MT"/>
                        </a:rPr>
                        <a:t>H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4864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800" spc="-5">
                          <a:latin typeface="Arial MT"/>
                          <a:cs typeface="Arial MT"/>
                        </a:rPr>
                        <a:t>0101</a:t>
                      </a:r>
                      <a:r>
                        <a:rPr dirty="0" sz="28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>
                          <a:latin typeface="Arial MT"/>
                          <a:cs typeface="Arial MT"/>
                        </a:rPr>
                        <a:t>0000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800" b="1">
                          <a:latin typeface="Arial"/>
                          <a:cs typeface="Arial"/>
                        </a:rPr>
                        <a:t>50</a:t>
                      </a:r>
                      <a:r>
                        <a:rPr dirty="0" sz="2800">
                          <a:latin typeface="Arial MT"/>
                          <a:cs typeface="Arial MT"/>
                        </a:rPr>
                        <a:t>H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5753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800" spc="-5">
                          <a:latin typeface="Arial MT"/>
                          <a:cs typeface="Arial MT"/>
                        </a:rPr>
                        <a:t>0010</a:t>
                      </a:r>
                      <a:r>
                        <a:rPr dirty="0" sz="28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>
                          <a:latin typeface="Arial MT"/>
                          <a:cs typeface="Arial MT"/>
                        </a:rPr>
                        <a:t>0000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800" b="1">
                          <a:latin typeface="Arial"/>
                          <a:cs typeface="Arial"/>
                        </a:rPr>
                        <a:t>20</a:t>
                      </a:r>
                      <a:r>
                        <a:rPr dirty="0" sz="2800">
                          <a:latin typeface="Arial MT"/>
                          <a:cs typeface="Arial MT"/>
                        </a:rPr>
                        <a:t>H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759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800" spc="-10" b="1">
                          <a:solidFill>
                            <a:srgbClr val="333398"/>
                          </a:solidFill>
                          <a:latin typeface="Arial"/>
                          <a:cs typeface="Arial"/>
                        </a:rPr>
                        <a:t>LDA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800" spc="-5" b="1">
                          <a:latin typeface="Arial"/>
                          <a:cs typeface="Arial"/>
                        </a:rPr>
                        <a:t>3070H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120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800" spc="-5">
                          <a:latin typeface="Arial MT"/>
                          <a:cs typeface="Arial MT"/>
                        </a:rPr>
                        <a:t>0011</a:t>
                      </a:r>
                      <a:r>
                        <a:rPr dirty="0" sz="28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>
                          <a:latin typeface="Arial MT"/>
                          <a:cs typeface="Arial MT"/>
                        </a:rPr>
                        <a:t>1010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20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800" spc="-5" b="1">
                          <a:latin typeface="Arial"/>
                          <a:cs typeface="Arial"/>
                        </a:rPr>
                        <a:t>3A</a:t>
                      </a:r>
                      <a:r>
                        <a:rPr dirty="0" sz="2800" spc="-5">
                          <a:latin typeface="Arial MT"/>
                          <a:cs typeface="Arial MT"/>
                        </a:rPr>
                        <a:t>H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206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4864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800" spc="-5">
                          <a:latin typeface="Arial MT"/>
                          <a:cs typeface="Arial MT"/>
                        </a:rPr>
                        <a:t>0111</a:t>
                      </a:r>
                      <a:r>
                        <a:rPr dirty="0" sz="28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>
                          <a:latin typeface="Arial MT"/>
                          <a:cs typeface="Arial MT"/>
                        </a:rPr>
                        <a:t>0000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800" b="1">
                          <a:latin typeface="Arial"/>
                          <a:cs typeface="Arial"/>
                        </a:rPr>
                        <a:t>70</a:t>
                      </a:r>
                      <a:r>
                        <a:rPr dirty="0" sz="2800">
                          <a:latin typeface="Arial MT"/>
                          <a:cs typeface="Arial MT"/>
                        </a:rPr>
                        <a:t>H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5747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800" spc="-5">
                          <a:latin typeface="Arial MT"/>
                          <a:cs typeface="Arial MT"/>
                        </a:rPr>
                        <a:t>0011</a:t>
                      </a:r>
                      <a:r>
                        <a:rPr dirty="0" sz="28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>
                          <a:latin typeface="Arial MT"/>
                          <a:cs typeface="Arial MT"/>
                        </a:rPr>
                        <a:t>0000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2800" b="1">
                          <a:latin typeface="Arial"/>
                          <a:cs typeface="Arial"/>
                        </a:rPr>
                        <a:t>30</a:t>
                      </a:r>
                      <a:r>
                        <a:rPr dirty="0" sz="2800">
                          <a:latin typeface="Arial MT"/>
                          <a:cs typeface="Arial MT"/>
                        </a:rPr>
                        <a:t>H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1079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3659" rIns="0" bIns="0" rtlCol="0" vert="horz">
            <a:spAutoFit/>
          </a:bodyPr>
          <a:lstStyle/>
          <a:p>
            <a:pPr marL="798830" marR="5080" indent="-690880">
              <a:lnSpc>
                <a:spcPct val="135700"/>
              </a:lnSpc>
              <a:spcBef>
                <a:spcPts val="100"/>
              </a:spcBef>
            </a:pPr>
            <a:r>
              <a:rPr dirty="0" spc="-5"/>
              <a:t>Separate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 spc="-5"/>
              <a:t>digits </a:t>
            </a:r>
            <a:r>
              <a:rPr dirty="0" spc="-10"/>
              <a:t>of</a:t>
            </a:r>
            <a:r>
              <a:rPr dirty="0" spc="5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 spc="-10"/>
              <a:t>hexadecimal</a:t>
            </a:r>
            <a:r>
              <a:rPr dirty="0"/>
              <a:t> </a:t>
            </a:r>
            <a:r>
              <a:rPr dirty="0" spc="-10"/>
              <a:t>numbers </a:t>
            </a:r>
            <a:r>
              <a:rPr dirty="0" spc="-765"/>
              <a:t> </a:t>
            </a:r>
            <a:r>
              <a:rPr dirty="0" spc="-5"/>
              <a:t>and</a:t>
            </a:r>
            <a:r>
              <a:rPr dirty="0" spc="-10"/>
              <a:t> </a:t>
            </a:r>
            <a:r>
              <a:rPr dirty="0" spc="-5"/>
              <a:t>store</a:t>
            </a:r>
            <a:r>
              <a:rPr dirty="0" spc="-10"/>
              <a:t> </a:t>
            </a:r>
            <a:r>
              <a:rPr dirty="0"/>
              <a:t>it in</a:t>
            </a:r>
            <a:r>
              <a:rPr dirty="0" spc="-20"/>
              <a:t> </a:t>
            </a:r>
            <a:r>
              <a:rPr dirty="0" spc="-5"/>
              <a:t>two</a:t>
            </a:r>
            <a:r>
              <a:rPr dirty="0" spc="-20"/>
              <a:t> </a:t>
            </a:r>
            <a:r>
              <a:rPr dirty="0" spc="-5"/>
              <a:t>different</a:t>
            </a:r>
            <a:r>
              <a:rPr dirty="0"/>
              <a:t> </a:t>
            </a:r>
            <a:r>
              <a:rPr dirty="0" spc="-5"/>
              <a:t>locations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16890" y="1659552"/>
          <a:ext cx="6885305" cy="3471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2040"/>
                <a:gridCol w="3427729"/>
                <a:gridCol w="1106169"/>
              </a:tblGrid>
              <a:tr h="801950">
                <a:tc>
                  <a:txBody>
                    <a:bodyPr/>
                    <a:lstStyle/>
                    <a:p>
                      <a:pPr marL="374650" indent="-342900">
                        <a:lnSpc>
                          <a:spcPts val="2785"/>
                        </a:lnSpc>
                        <a:buChar char="•"/>
                        <a:tabLst>
                          <a:tab pos="374015" algn="l"/>
                          <a:tab pos="374650" algn="l"/>
                        </a:tabLst>
                      </a:pPr>
                      <a:r>
                        <a:rPr dirty="0" sz="2400" spc="-10">
                          <a:latin typeface="Arial MT"/>
                          <a:cs typeface="Arial MT"/>
                        </a:rPr>
                        <a:t>L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D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2400" spc="-1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2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200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H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374650" indent="-342900">
                        <a:lnSpc>
                          <a:spcPct val="100000"/>
                        </a:lnSpc>
                        <a:spcBef>
                          <a:spcPts val="320"/>
                        </a:spcBef>
                        <a:buChar char="•"/>
                        <a:tabLst>
                          <a:tab pos="374015" algn="l"/>
                          <a:tab pos="374650" algn="l"/>
                          <a:tab pos="1050925" algn="l"/>
                        </a:tabLst>
                      </a:pPr>
                      <a:r>
                        <a:rPr dirty="0" sz="2400" spc="-10">
                          <a:latin typeface="Arial MT"/>
                          <a:cs typeface="Arial MT"/>
                        </a:rPr>
                        <a:t>ANI	F0H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2909">
                        <a:lnSpc>
                          <a:spcPts val="2785"/>
                        </a:lnSpc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;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Get the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packed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BCD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422909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;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Mask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lower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nibble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785"/>
                        </a:lnSpc>
                      </a:pPr>
                      <a:r>
                        <a:rPr dirty="0" sz="2400" spc="-5">
                          <a:latin typeface="Arial MT"/>
                          <a:cs typeface="Arial MT"/>
                        </a:rPr>
                        <a:t>number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4740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019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2800" spc="-5">
                          <a:latin typeface="Arial MT"/>
                          <a:cs typeface="Arial MT"/>
                        </a:rPr>
                        <a:t>0100</a:t>
                      </a:r>
                      <a:r>
                        <a:rPr dirty="0" sz="28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>
                          <a:latin typeface="Arial MT"/>
                          <a:cs typeface="Arial MT"/>
                        </a:rPr>
                        <a:t>0101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r" marR="488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2800" spc="-5">
                          <a:latin typeface="Arial MT"/>
                          <a:cs typeface="Arial MT"/>
                        </a:rPr>
                        <a:t>45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4445"/>
                </a:tc>
              </a:tr>
              <a:tr h="7392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019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2800" spc="-5">
                          <a:latin typeface="Arial MT"/>
                          <a:cs typeface="Arial MT"/>
                        </a:rPr>
                        <a:t>1111</a:t>
                      </a:r>
                      <a:r>
                        <a:rPr dirty="0" sz="28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>
                          <a:latin typeface="Arial MT"/>
                          <a:cs typeface="Arial MT"/>
                        </a:rPr>
                        <a:t>0000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4445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1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2800" spc="-10">
                          <a:latin typeface="Arial MT"/>
                          <a:cs typeface="Arial MT"/>
                        </a:rPr>
                        <a:t>F0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4445"/>
                </a:tc>
              </a:tr>
              <a:tr h="10747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74650" indent="-342900">
                        <a:lnSpc>
                          <a:spcPct val="100000"/>
                        </a:lnSpc>
                        <a:spcBef>
                          <a:spcPts val="2135"/>
                        </a:spcBef>
                        <a:buChar char="•"/>
                        <a:tabLst>
                          <a:tab pos="374015" algn="l"/>
                          <a:tab pos="374650" algn="l"/>
                        </a:tabLst>
                      </a:pPr>
                      <a:r>
                        <a:rPr dirty="0" sz="2400" spc="-10">
                          <a:latin typeface="Arial MT"/>
                          <a:cs typeface="Arial MT"/>
                        </a:rPr>
                        <a:t>RRC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01955">
                        <a:lnSpc>
                          <a:spcPct val="100000"/>
                        </a:lnSpc>
                        <a:spcBef>
                          <a:spcPts val="1675"/>
                        </a:spcBef>
                      </a:pPr>
                      <a:r>
                        <a:rPr dirty="0" sz="2800" spc="-5">
                          <a:solidFill>
                            <a:srgbClr val="D50092"/>
                          </a:solidFill>
                          <a:latin typeface="Arial MT"/>
                          <a:cs typeface="Arial MT"/>
                        </a:rPr>
                        <a:t>0100</a:t>
                      </a:r>
                      <a:r>
                        <a:rPr dirty="0" sz="2800" spc="-50">
                          <a:solidFill>
                            <a:srgbClr val="D5009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>
                          <a:solidFill>
                            <a:srgbClr val="D50092"/>
                          </a:solidFill>
                          <a:latin typeface="Arial MT"/>
                          <a:cs typeface="Arial MT"/>
                        </a:rPr>
                        <a:t>0000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212725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48895">
                        <a:lnSpc>
                          <a:spcPct val="100000"/>
                        </a:lnSpc>
                        <a:spcBef>
                          <a:spcPts val="1675"/>
                        </a:spcBef>
                      </a:pPr>
                      <a:r>
                        <a:rPr dirty="0" sz="2800" spc="-5">
                          <a:latin typeface="Arial MT"/>
                          <a:cs typeface="Arial MT"/>
                        </a:rPr>
                        <a:t>40</a:t>
                      </a:r>
                      <a:endParaRPr sz="2800">
                        <a:latin typeface="Arial MT"/>
                        <a:cs typeface="Arial MT"/>
                      </a:endParaRPr>
                    </a:p>
                  </a:txBody>
                  <a:tcPr marL="0" marR="0" marB="0" marT="212725"/>
                </a:tc>
              </a:tr>
              <a:tr h="381079">
                <a:tc>
                  <a:txBody>
                    <a:bodyPr/>
                    <a:lstStyle/>
                    <a:p>
                      <a:pPr marL="374650" indent="-342900">
                        <a:lnSpc>
                          <a:spcPts val="2810"/>
                        </a:lnSpc>
                        <a:spcBef>
                          <a:spcPts val="90"/>
                        </a:spcBef>
                        <a:buChar char="•"/>
                        <a:tabLst>
                          <a:tab pos="374015" algn="l"/>
                          <a:tab pos="374650" algn="l"/>
                        </a:tabLst>
                      </a:pPr>
                      <a:r>
                        <a:rPr dirty="0" sz="2400" spc="-10">
                          <a:latin typeface="Arial MT"/>
                          <a:cs typeface="Arial MT"/>
                        </a:rPr>
                        <a:t>RRC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1143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35940" y="5099050"/>
            <a:ext cx="132715" cy="83820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240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240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5115559"/>
            <a:ext cx="683895" cy="838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dirty="0" sz="2400" spc="-5">
                <a:latin typeface="Arial MT"/>
                <a:cs typeface="Arial MT"/>
              </a:rPr>
              <a:t>R</a:t>
            </a:r>
            <a:r>
              <a:rPr dirty="0" sz="2400" spc="-15">
                <a:latin typeface="Arial MT"/>
                <a:cs typeface="Arial MT"/>
              </a:rPr>
              <a:t>R</a:t>
            </a:r>
            <a:r>
              <a:rPr dirty="0" sz="2400">
                <a:latin typeface="Arial MT"/>
                <a:cs typeface="Arial MT"/>
              </a:rPr>
              <a:t>C  </a:t>
            </a:r>
            <a:r>
              <a:rPr dirty="0" sz="2400" spc="-5">
                <a:latin typeface="Arial MT"/>
                <a:cs typeface="Arial MT"/>
              </a:rPr>
              <a:t>R</a:t>
            </a:r>
            <a:r>
              <a:rPr dirty="0" sz="2400" spc="-15">
                <a:latin typeface="Arial MT"/>
                <a:cs typeface="Arial MT"/>
              </a:rPr>
              <a:t>R</a:t>
            </a:r>
            <a:r>
              <a:rPr dirty="0" sz="2400">
                <a:latin typeface="Arial MT"/>
                <a:cs typeface="Arial MT"/>
              </a:rPr>
              <a:t>C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9140" y="5115559"/>
            <a:ext cx="4794250" cy="83820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2400">
                <a:latin typeface="Arial MT"/>
                <a:cs typeface="Arial MT"/>
              </a:rPr>
              <a:t>;</a:t>
            </a:r>
            <a:r>
              <a:rPr dirty="0" sz="2400" spc="-1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Adjust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higher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digit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as</a:t>
            </a:r>
            <a:r>
              <a:rPr dirty="0" sz="2400">
                <a:latin typeface="Arial MT"/>
                <a:cs typeface="Arial MT"/>
              </a:rPr>
              <a:t> a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lower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digit.</a:t>
            </a:r>
            <a:endParaRPr sz="2400">
              <a:latin typeface="Arial MT"/>
              <a:cs typeface="Arial MT"/>
            </a:endParaRPr>
          </a:p>
          <a:p>
            <a:pPr marL="182880">
              <a:lnSpc>
                <a:spcPct val="100000"/>
              </a:lnSpc>
              <a:spcBef>
                <a:spcPts val="320"/>
              </a:spcBef>
            </a:pPr>
            <a:r>
              <a:rPr dirty="0" sz="2400" spc="-5">
                <a:solidFill>
                  <a:srgbClr val="D50092"/>
                </a:solidFill>
                <a:latin typeface="Arial MT"/>
                <a:cs typeface="Arial MT"/>
              </a:rPr>
              <a:t>0000</a:t>
            </a:r>
            <a:r>
              <a:rPr dirty="0" sz="2400" spc="-20">
                <a:solidFill>
                  <a:srgbClr val="D50092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D50092"/>
                </a:solidFill>
                <a:latin typeface="Arial MT"/>
                <a:cs typeface="Arial MT"/>
              </a:rPr>
              <a:t>0100</a:t>
            </a:r>
            <a:r>
              <a:rPr dirty="0" sz="2400" spc="-10">
                <a:solidFill>
                  <a:srgbClr val="D50092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after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4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rotations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5070" y="497840"/>
            <a:ext cx="167132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 b="0">
                <a:latin typeface="Arial MT"/>
                <a:cs typeface="Arial MT"/>
              </a:rPr>
              <a:t>Contd.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87500"/>
            <a:ext cx="2185035" cy="972819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7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10">
                <a:latin typeface="Arial MT"/>
                <a:cs typeface="Arial MT"/>
              </a:rPr>
              <a:t>S</a:t>
            </a:r>
            <a:r>
              <a:rPr dirty="0" sz="2800" spc="-225">
                <a:latin typeface="Arial MT"/>
                <a:cs typeface="Arial MT"/>
              </a:rPr>
              <a:t>T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7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2300H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37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Arial MT"/>
                <a:cs typeface="Arial MT"/>
              </a:rPr>
              <a:t>LD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7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2200H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9140" y="1587500"/>
            <a:ext cx="4074160" cy="972819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2800">
                <a:latin typeface="Arial MT"/>
                <a:cs typeface="Arial MT"/>
              </a:rPr>
              <a:t>;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Store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the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partial result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2800">
                <a:latin typeface="Arial MT"/>
                <a:cs typeface="Arial MT"/>
              </a:rPr>
              <a:t>;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Get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the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original </a:t>
            </a:r>
            <a:r>
              <a:rPr dirty="0" sz="2800" spc="-10">
                <a:latin typeface="Arial MT"/>
                <a:cs typeface="Arial MT"/>
              </a:rPr>
              <a:t>BCD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no.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534919"/>
            <a:ext cx="5363845" cy="144653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7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10">
                <a:latin typeface="Arial MT"/>
                <a:cs typeface="Arial MT"/>
              </a:rPr>
              <a:t>ANI</a:t>
            </a:r>
            <a:r>
              <a:rPr dirty="0" sz="2800" spc="-5">
                <a:latin typeface="Arial MT"/>
                <a:cs typeface="Arial MT"/>
              </a:rPr>
              <a:t> 0FH</a:t>
            </a:r>
            <a:r>
              <a:rPr dirty="0" sz="2800" spc="1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;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Mask</a:t>
            </a:r>
            <a:r>
              <a:rPr dirty="0" sz="2800" spc="-1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higher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nibble</a:t>
            </a:r>
            <a:endParaRPr sz="2800">
              <a:latin typeface="Arial MT"/>
              <a:cs typeface="Arial MT"/>
            </a:endParaRPr>
          </a:p>
          <a:p>
            <a:pPr marL="3670300">
              <a:lnSpc>
                <a:spcPct val="100000"/>
              </a:lnSpc>
              <a:spcBef>
                <a:spcPts val="370"/>
              </a:spcBef>
            </a:pPr>
            <a:r>
              <a:rPr dirty="0" sz="2800" spc="-5">
                <a:latin typeface="Arial MT"/>
                <a:cs typeface="Arial MT"/>
              </a:rPr>
              <a:t>0100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0100</a:t>
            </a:r>
            <a:endParaRPr sz="2800">
              <a:latin typeface="Arial MT"/>
              <a:cs typeface="Arial MT"/>
            </a:endParaRPr>
          </a:p>
          <a:p>
            <a:pPr marL="3670300">
              <a:lnSpc>
                <a:spcPct val="100000"/>
              </a:lnSpc>
              <a:spcBef>
                <a:spcPts val="370"/>
              </a:spcBef>
            </a:pPr>
            <a:r>
              <a:rPr dirty="0" sz="2800" spc="-5">
                <a:latin typeface="Arial MT"/>
                <a:cs typeface="Arial MT"/>
              </a:rPr>
              <a:t>0000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1111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36740" y="3008630"/>
            <a:ext cx="440690" cy="972819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2800" spc="-5">
                <a:latin typeface="Arial MT"/>
                <a:cs typeface="Arial MT"/>
              </a:rPr>
              <a:t>45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2800" spc="-5">
                <a:latin typeface="Arial MT"/>
                <a:cs typeface="Arial MT"/>
              </a:rPr>
              <a:t>0F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06240" y="4276750"/>
            <a:ext cx="1779905" cy="0"/>
          </a:xfrm>
          <a:custGeom>
            <a:avLst/>
            <a:gdLst/>
            <a:ahLst/>
            <a:cxnLst/>
            <a:rect l="l" t="t" r="r" b="b"/>
            <a:pathLst>
              <a:path w="1779904" h="0">
                <a:moveTo>
                  <a:pt x="0" y="0"/>
                </a:moveTo>
                <a:lnTo>
                  <a:pt x="1779780" y="0"/>
                </a:lnTo>
              </a:path>
            </a:pathLst>
          </a:custGeom>
          <a:ln w="2773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279140" y="4429759"/>
            <a:ext cx="4820285" cy="144653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927100">
              <a:lnSpc>
                <a:spcPct val="100000"/>
              </a:lnSpc>
              <a:spcBef>
                <a:spcPts val="470"/>
              </a:spcBef>
              <a:tabLst>
                <a:tab pos="3669665" algn="l"/>
              </a:tabLst>
            </a:pPr>
            <a:r>
              <a:rPr dirty="0" sz="2800" spc="-5">
                <a:solidFill>
                  <a:srgbClr val="D50092"/>
                </a:solidFill>
                <a:latin typeface="Arial MT"/>
                <a:cs typeface="Arial MT"/>
              </a:rPr>
              <a:t>0000 0100	05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2800">
                <a:latin typeface="Arial MT"/>
                <a:cs typeface="Arial MT"/>
              </a:rPr>
              <a:t>;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Store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the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result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2800">
                <a:latin typeface="Arial MT"/>
                <a:cs typeface="Arial MT"/>
              </a:rPr>
              <a:t>;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40">
                <a:latin typeface="Arial MT"/>
                <a:cs typeface="Arial MT"/>
              </a:rPr>
              <a:t>Terminate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program</a:t>
            </a:r>
            <a:r>
              <a:rPr dirty="0" sz="2800" spc="-2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execution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4903470"/>
            <a:ext cx="2156460" cy="972819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7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10">
                <a:latin typeface="Arial MT"/>
                <a:cs typeface="Arial MT"/>
              </a:rPr>
              <a:t>S</a:t>
            </a:r>
            <a:r>
              <a:rPr dirty="0" sz="2800" spc="-225">
                <a:latin typeface="Arial MT"/>
                <a:cs typeface="Arial MT"/>
              </a:rPr>
              <a:t>T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70">
                <a:latin typeface="Arial MT"/>
                <a:cs typeface="Arial MT"/>
              </a:rPr>
              <a:t> </a:t>
            </a:r>
            <a:r>
              <a:rPr dirty="0" sz="2800" spc="-5">
                <a:latin typeface="Arial MT"/>
                <a:cs typeface="Arial MT"/>
              </a:rPr>
              <a:t>2301H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37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75">
                <a:latin typeface="Arial MT"/>
                <a:cs typeface="Arial MT"/>
              </a:rPr>
              <a:t>HLT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6920" y="497840"/>
            <a:ext cx="508444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92120" algn="l"/>
              </a:tabLst>
            </a:pPr>
            <a:r>
              <a:rPr dirty="0" sz="4400" spc="-5"/>
              <a:t>Block</a:t>
            </a:r>
            <a:r>
              <a:rPr dirty="0" sz="4400"/>
              <a:t> </a:t>
            </a:r>
            <a:r>
              <a:rPr dirty="0" sz="4400" spc="-5"/>
              <a:t>data	</a:t>
            </a:r>
            <a:r>
              <a:rPr dirty="0" sz="4400" spc="-10"/>
              <a:t>transfer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51000"/>
            <a:ext cx="1149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0339" y="1634490"/>
            <a:ext cx="16332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MVI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0AH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31160" y="1634490"/>
            <a:ext cx="5050155" cy="1869439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00965" marR="116839" indent="-86360">
              <a:lnSpc>
                <a:spcPct val="101000"/>
              </a:lnSpc>
              <a:spcBef>
                <a:spcPts val="70"/>
              </a:spcBef>
            </a:pPr>
            <a:r>
              <a:rPr dirty="0" sz="2400">
                <a:latin typeface="Arial MT"/>
                <a:cs typeface="Arial MT"/>
              </a:rPr>
              <a:t>;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Initialize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counter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i.e</a:t>
            </a:r>
            <a:r>
              <a:rPr dirty="0" sz="2400" spc="-10">
                <a:latin typeface="Arial MT"/>
                <a:cs typeface="Arial MT"/>
              </a:rPr>
              <a:t> no.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of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bytes 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Store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count in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Register C, ie ten</a:t>
            </a:r>
            <a:endParaRPr sz="2400">
              <a:latin typeface="Arial MT"/>
              <a:cs typeface="Arial MT"/>
            </a:endParaRPr>
          </a:p>
          <a:p>
            <a:pPr marL="187325" marR="560705" indent="-175260">
              <a:lnSpc>
                <a:spcPct val="101000"/>
              </a:lnSpc>
            </a:pPr>
            <a:r>
              <a:rPr dirty="0" sz="2400">
                <a:latin typeface="Arial MT"/>
                <a:cs typeface="Arial MT"/>
              </a:rPr>
              <a:t>; </a:t>
            </a:r>
            <a:r>
              <a:rPr dirty="0" sz="2400" spc="-5">
                <a:latin typeface="Arial MT"/>
                <a:cs typeface="Arial MT"/>
              </a:rPr>
              <a:t>Initialize source memory pointer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Data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Starts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from 2200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location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2400">
                <a:latin typeface="Arial MT"/>
                <a:cs typeface="Arial MT"/>
              </a:rPr>
              <a:t>;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Initialize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destination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memory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pointer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2357120"/>
            <a:ext cx="1327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0339" y="2373629"/>
            <a:ext cx="18529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 MT"/>
                <a:cs typeface="Arial MT"/>
              </a:rPr>
              <a:t>LXI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H,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2200H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3097529"/>
            <a:ext cx="1327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50339" y="3112770"/>
            <a:ext cx="18529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 MT"/>
                <a:cs typeface="Arial MT"/>
              </a:rPr>
              <a:t>LXI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D,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2300H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3853179"/>
            <a:ext cx="23279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dirty="0" sz="2400" spc="-5">
                <a:latin typeface="Arial MT"/>
                <a:cs typeface="Arial MT"/>
              </a:rPr>
              <a:t>B</a:t>
            </a:r>
            <a:r>
              <a:rPr dirty="0" sz="2400" spc="-15">
                <a:latin typeface="Arial MT"/>
                <a:cs typeface="Arial MT"/>
              </a:rPr>
              <a:t>K</a:t>
            </a:r>
            <a:r>
              <a:rPr dirty="0" sz="2400">
                <a:latin typeface="Arial MT"/>
                <a:cs typeface="Arial MT"/>
              </a:rPr>
              <a:t>:	MOV</a:t>
            </a:r>
            <a:r>
              <a:rPr dirty="0" sz="2400" spc="-145">
                <a:latin typeface="Arial MT"/>
                <a:cs typeface="Arial MT"/>
              </a:rPr>
              <a:t> </a:t>
            </a:r>
            <a:r>
              <a:rPr dirty="0" sz="2400" spc="-15">
                <a:latin typeface="Arial MT"/>
                <a:cs typeface="Arial MT"/>
              </a:rPr>
              <a:t>A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33343" y="3853179"/>
            <a:ext cx="5023485" cy="1718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;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Get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byte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from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source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memory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block</a:t>
            </a:r>
            <a:endParaRPr sz="2400">
              <a:latin typeface="Arial MT"/>
              <a:cs typeface="Arial MT"/>
            </a:endParaRPr>
          </a:p>
          <a:p>
            <a:pPr marL="184785">
              <a:lnSpc>
                <a:spcPct val="100000"/>
              </a:lnSpc>
              <a:spcBef>
                <a:spcPts val="30"/>
              </a:spcBef>
            </a:pPr>
            <a:r>
              <a:rPr dirty="0" sz="2400" spc="-5">
                <a:latin typeface="Arial MT"/>
                <a:cs typeface="Arial MT"/>
              </a:rPr>
              <a:t>i.e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2200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15">
                <a:latin typeface="Arial MT"/>
                <a:cs typeface="Arial MT"/>
              </a:rPr>
              <a:t>accumulator.</a:t>
            </a:r>
            <a:endParaRPr sz="2400">
              <a:latin typeface="Arial MT"/>
              <a:cs typeface="Arial MT"/>
            </a:endParaRPr>
          </a:p>
          <a:p>
            <a:pPr marL="182880" marR="109855" indent="-170815">
              <a:lnSpc>
                <a:spcPct val="80400"/>
              </a:lnSpc>
              <a:spcBef>
                <a:spcPts val="595"/>
              </a:spcBef>
            </a:pPr>
            <a:r>
              <a:rPr dirty="0" sz="2400">
                <a:latin typeface="Arial MT"/>
                <a:cs typeface="Arial MT"/>
              </a:rPr>
              <a:t>; </a:t>
            </a:r>
            <a:r>
              <a:rPr dirty="0" sz="2400" spc="-5">
                <a:latin typeface="Arial MT"/>
                <a:cs typeface="Arial MT"/>
              </a:rPr>
              <a:t>Store byte in </a:t>
            </a:r>
            <a:r>
              <a:rPr dirty="0" sz="2400">
                <a:latin typeface="Arial MT"/>
                <a:cs typeface="Arial MT"/>
              </a:rPr>
              <a:t>the </a:t>
            </a:r>
            <a:r>
              <a:rPr dirty="0" sz="2400" spc="-5">
                <a:latin typeface="Arial MT"/>
                <a:cs typeface="Arial MT"/>
              </a:rPr>
              <a:t>destination 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memory block i.e 2300 </a:t>
            </a:r>
            <a:r>
              <a:rPr dirty="0" sz="2400">
                <a:latin typeface="Arial MT"/>
                <a:cs typeface="Arial MT"/>
              </a:rPr>
              <a:t>as </a:t>
            </a:r>
            <a:r>
              <a:rPr dirty="0" sz="2400" spc="-5">
                <a:latin typeface="Arial MT"/>
                <a:cs typeface="Arial MT"/>
              </a:rPr>
              <a:t>stored in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D-E </a:t>
            </a:r>
            <a:r>
              <a:rPr dirty="0" sz="2400" spc="-10">
                <a:latin typeface="Arial MT"/>
                <a:cs typeface="Arial MT"/>
              </a:rPr>
              <a:t>pair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40" y="4575809"/>
            <a:ext cx="1327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50339" y="4592320"/>
            <a:ext cx="11004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5">
                <a:latin typeface="Arial MT"/>
                <a:cs typeface="Arial MT"/>
              </a:rPr>
              <a:t>STAX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5940" y="5844540"/>
            <a:ext cx="1149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5070" y="497840"/>
            <a:ext cx="167132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5" b="0">
                <a:latin typeface="Arial MT"/>
                <a:cs typeface="Arial MT"/>
              </a:rPr>
              <a:t>Contd.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34489"/>
            <a:ext cx="1569720" cy="173799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345440" marR="5080" indent="-332740">
              <a:lnSpc>
                <a:spcPts val="2990"/>
              </a:lnSpc>
              <a:spcBef>
                <a:spcPts val="815"/>
              </a:spcBef>
              <a:buChar char="•"/>
              <a:tabLst>
                <a:tab pos="344805" algn="l"/>
                <a:tab pos="345440" algn="l"/>
              </a:tabLst>
            </a:pPr>
            <a:r>
              <a:rPr dirty="0" sz="3100" spc="5">
                <a:latin typeface="Arial MT"/>
                <a:cs typeface="Arial MT"/>
              </a:rPr>
              <a:t>INX H </a:t>
            </a:r>
            <a:r>
              <a:rPr dirty="0" sz="3100" spc="10">
                <a:latin typeface="Arial MT"/>
                <a:cs typeface="Arial MT"/>
              </a:rPr>
              <a:t> </a:t>
            </a:r>
            <a:r>
              <a:rPr dirty="0" sz="3100" spc="10">
                <a:latin typeface="Arial MT"/>
                <a:cs typeface="Arial MT"/>
              </a:rPr>
              <a:t>po</a:t>
            </a:r>
            <a:r>
              <a:rPr dirty="0" sz="3100" spc="-5">
                <a:latin typeface="Arial MT"/>
                <a:cs typeface="Arial MT"/>
              </a:rPr>
              <a:t>i</a:t>
            </a:r>
            <a:r>
              <a:rPr dirty="0" sz="3100" spc="10">
                <a:latin typeface="Arial MT"/>
                <a:cs typeface="Arial MT"/>
              </a:rPr>
              <a:t>n</a:t>
            </a:r>
            <a:r>
              <a:rPr dirty="0" sz="3100">
                <a:latin typeface="Arial MT"/>
                <a:cs typeface="Arial MT"/>
              </a:rPr>
              <a:t>t</a:t>
            </a:r>
            <a:r>
              <a:rPr dirty="0" sz="3100" spc="10">
                <a:latin typeface="Arial MT"/>
                <a:cs typeface="Arial MT"/>
              </a:rPr>
              <a:t>e</a:t>
            </a:r>
            <a:r>
              <a:rPr dirty="0" sz="3100">
                <a:latin typeface="Arial MT"/>
                <a:cs typeface="Arial MT"/>
              </a:rPr>
              <a:t>r</a:t>
            </a:r>
            <a:endParaRPr sz="3100">
              <a:latin typeface="Arial MT"/>
              <a:cs typeface="Arial MT"/>
            </a:endParaRPr>
          </a:p>
          <a:p>
            <a:pPr marL="345440" marR="5080" indent="-332740">
              <a:lnSpc>
                <a:spcPts val="2990"/>
              </a:lnSpc>
              <a:spcBef>
                <a:spcPts val="780"/>
              </a:spcBef>
              <a:buChar char="•"/>
              <a:tabLst>
                <a:tab pos="344805" algn="l"/>
                <a:tab pos="345440" algn="l"/>
              </a:tabLst>
            </a:pPr>
            <a:r>
              <a:rPr dirty="0" sz="3100" spc="5">
                <a:latin typeface="Arial MT"/>
                <a:cs typeface="Arial MT"/>
              </a:rPr>
              <a:t>INX D </a:t>
            </a:r>
            <a:r>
              <a:rPr dirty="0" sz="3100" spc="10">
                <a:latin typeface="Arial MT"/>
                <a:cs typeface="Arial MT"/>
              </a:rPr>
              <a:t> </a:t>
            </a:r>
            <a:r>
              <a:rPr dirty="0" sz="3100" spc="10">
                <a:latin typeface="Arial MT"/>
                <a:cs typeface="Arial MT"/>
              </a:rPr>
              <a:t>po</a:t>
            </a:r>
            <a:r>
              <a:rPr dirty="0" sz="3100" spc="-5">
                <a:latin typeface="Arial MT"/>
                <a:cs typeface="Arial MT"/>
              </a:rPr>
              <a:t>i</a:t>
            </a:r>
            <a:r>
              <a:rPr dirty="0" sz="3100" spc="10">
                <a:latin typeface="Arial MT"/>
                <a:cs typeface="Arial MT"/>
              </a:rPr>
              <a:t>n</a:t>
            </a:r>
            <a:r>
              <a:rPr dirty="0" sz="3100">
                <a:latin typeface="Arial MT"/>
                <a:cs typeface="Arial MT"/>
              </a:rPr>
              <a:t>t</a:t>
            </a:r>
            <a:r>
              <a:rPr dirty="0" sz="3100" spc="10">
                <a:latin typeface="Arial MT"/>
                <a:cs typeface="Arial MT"/>
              </a:rPr>
              <a:t>e</a:t>
            </a:r>
            <a:r>
              <a:rPr dirty="0" sz="3100">
                <a:latin typeface="Arial MT"/>
                <a:cs typeface="Arial MT"/>
              </a:rPr>
              <a:t>r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08860" y="1634489"/>
            <a:ext cx="5890895" cy="135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100">
                <a:latin typeface="Arial MT"/>
                <a:cs typeface="Arial MT"/>
              </a:rPr>
              <a:t>;</a:t>
            </a:r>
            <a:r>
              <a:rPr dirty="0" sz="3100" spc="-15">
                <a:latin typeface="Arial MT"/>
                <a:cs typeface="Arial MT"/>
              </a:rPr>
              <a:t> </a:t>
            </a:r>
            <a:r>
              <a:rPr dirty="0" sz="3100" spc="5">
                <a:latin typeface="Arial MT"/>
                <a:cs typeface="Arial MT"/>
              </a:rPr>
              <a:t>Increment</a:t>
            </a:r>
            <a:r>
              <a:rPr dirty="0" sz="3100" spc="-15">
                <a:latin typeface="Arial MT"/>
                <a:cs typeface="Arial MT"/>
              </a:rPr>
              <a:t> </a:t>
            </a:r>
            <a:r>
              <a:rPr dirty="0" sz="3100" spc="5">
                <a:latin typeface="Arial MT"/>
                <a:cs typeface="Arial MT"/>
              </a:rPr>
              <a:t>source</a:t>
            </a:r>
            <a:r>
              <a:rPr dirty="0" sz="3100">
                <a:latin typeface="Arial MT"/>
                <a:cs typeface="Arial MT"/>
              </a:rPr>
              <a:t> </a:t>
            </a:r>
            <a:r>
              <a:rPr dirty="0" sz="3100" spc="10">
                <a:latin typeface="Arial MT"/>
                <a:cs typeface="Arial MT"/>
              </a:rPr>
              <a:t>memory</a:t>
            </a:r>
            <a:endParaRPr sz="3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40"/>
              </a:spcBef>
              <a:tabLst>
                <a:tab pos="4446905" algn="l"/>
              </a:tabLst>
            </a:pPr>
            <a:r>
              <a:rPr dirty="0" sz="3100">
                <a:latin typeface="Arial MT"/>
                <a:cs typeface="Arial MT"/>
              </a:rPr>
              <a:t>;</a:t>
            </a:r>
            <a:r>
              <a:rPr dirty="0" sz="3100">
                <a:latin typeface="Arial MT"/>
                <a:cs typeface="Arial MT"/>
              </a:rPr>
              <a:t> </a:t>
            </a:r>
            <a:r>
              <a:rPr dirty="0" sz="3100" spc="-5">
                <a:latin typeface="Arial MT"/>
                <a:cs typeface="Arial MT"/>
              </a:rPr>
              <a:t>I</a:t>
            </a:r>
            <a:r>
              <a:rPr dirty="0" sz="3100" spc="5">
                <a:latin typeface="Arial MT"/>
                <a:cs typeface="Arial MT"/>
              </a:rPr>
              <a:t>n</a:t>
            </a:r>
            <a:r>
              <a:rPr dirty="0" sz="3100" spc="15">
                <a:latin typeface="Arial MT"/>
                <a:cs typeface="Arial MT"/>
              </a:rPr>
              <a:t>c</a:t>
            </a:r>
            <a:r>
              <a:rPr dirty="0" sz="3100">
                <a:latin typeface="Arial MT"/>
                <a:cs typeface="Arial MT"/>
              </a:rPr>
              <a:t>r</a:t>
            </a:r>
            <a:r>
              <a:rPr dirty="0" sz="3100" spc="10">
                <a:latin typeface="Arial MT"/>
                <a:cs typeface="Arial MT"/>
              </a:rPr>
              <a:t>emen</a:t>
            </a:r>
            <a:r>
              <a:rPr dirty="0" sz="3100">
                <a:latin typeface="Arial MT"/>
                <a:cs typeface="Arial MT"/>
              </a:rPr>
              <a:t>t</a:t>
            </a:r>
            <a:r>
              <a:rPr dirty="0" sz="3100">
                <a:latin typeface="Arial MT"/>
                <a:cs typeface="Arial MT"/>
              </a:rPr>
              <a:t> </a:t>
            </a:r>
            <a:r>
              <a:rPr dirty="0" sz="3100" spc="10">
                <a:latin typeface="Arial MT"/>
                <a:cs typeface="Arial MT"/>
              </a:rPr>
              <a:t>de</a:t>
            </a:r>
            <a:r>
              <a:rPr dirty="0" sz="3100" spc="5">
                <a:latin typeface="Arial MT"/>
                <a:cs typeface="Arial MT"/>
              </a:rPr>
              <a:t>s</a:t>
            </a:r>
            <a:r>
              <a:rPr dirty="0" sz="3100" spc="-5">
                <a:latin typeface="Arial MT"/>
                <a:cs typeface="Arial MT"/>
              </a:rPr>
              <a:t>t</a:t>
            </a:r>
            <a:r>
              <a:rPr dirty="0" sz="3100">
                <a:latin typeface="Arial MT"/>
                <a:cs typeface="Arial MT"/>
              </a:rPr>
              <a:t>i</a:t>
            </a:r>
            <a:r>
              <a:rPr dirty="0" sz="3100" spc="10">
                <a:latin typeface="Arial MT"/>
                <a:cs typeface="Arial MT"/>
              </a:rPr>
              <a:t>na</a:t>
            </a:r>
            <a:r>
              <a:rPr dirty="0" sz="3100" spc="-5">
                <a:latin typeface="Arial MT"/>
                <a:cs typeface="Arial MT"/>
              </a:rPr>
              <a:t>t</a:t>
            </a:r>
            <a:r>
              <a:rPr dirty="0" sz="3100">
                <a:latin typeface="Arial MT"/>
                <a:cs typeface="Arial MT"/>
              </a:rPr>
              <a:t>i</a:t>
            </a:r>
            <a:r>
              <a:rPr dirty="0" sz="3100" spc="10">
                <a:latin typeface="Arial MT"/>
                <a:cs typeface="Arial MT"/>
              </a:rPr>
              <a:t>o</a:t>
            </a:r>
            <a:r>
              <a:rPr dirty="0" sz="3100" spc="5">
                <a:latin typeface="Arial MT"/>
                <a:cs typeface="Arial MT"/>
              </a:rPr>
              <a:t>n</a:t>
            </a:r>
            <a:r>
              <a:rPr dirty="0" sz="3100">
                <a:latin typeface="Arial MT"/>
                <a:cs typeface="Arial MT"/>
              </a:rPr>
              <a:t>	</a:t>
            </a:r>
            <a:r>
              <a:rPr dirty="0" sz="3100" spc="20">
                <a:latin typeface="Arial MT"/>
                <a:cs typeface="Arial MT"/>
              </a:rPr>
              <a:t>m</a:t>
            </a:r>
            <a:r>
              <a:rPr dirty="0" sz="3100" spc="10">
                <a:latin typeface="Arial MT"/>
                <a:cs typeface="Arial MT"/>
              </a:rPr>
              <a:t>emo</a:t>
            </a:r>
            <a:r>
              <a:rPr dirty="0" sz="3100">
                <a:latin typeface="Arial MT"/>
                <a:cs typeface="Arial MT"/>
              </a:rPr>
              <a:t>ry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351529"/>
            <a:ext cx="7282815" cy="241363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344805" marR="1759585" indent="-344805">
              <a:lnSpc>
                <a:spcPct val="101299"/>
              </a:lnSpc>
              <a:spcBef>
                <a:spcPts val="60"/>
              </a:spcBef>
              <a:buChar char="•"/>
              <a:tabLst>
                <a:tab pos="344805" algn="l"/>
                <a:tab pos="345440" algn="l"/>
                <a:tab pos="1784985" algn="l"/>
              </a:tabLst>
            </a:pPr>
            <a:r>
              <a:rPr dirty="0" sz="3100" spc="5">
                <a:latin typeface="Arial MT"/>
                <a:cs typeface="Arial MT"/>
              </a:rPr>
              <a:t>DCR</a:t>
            </a:r>
            <a:r>
              <a:rPr dirty="0" sz="3100" spc="20">
                <a:latin typeface="Arial MT"/>
                <a:cs typeface="Arial MT"/>
              </a:rPr>
              <a:t> </a:t>
            </a:r>
            <a:r>
              <a:rPr dirty="0" sz="3100" spc="5">
                <a:latin typeface="Arial MT"/>
                <a:cs typeface="Arial MT"/>
              </a:rPr>
              <a:t>C	</a:t>
            </a:r>
            <a:r>
              <a:rPr dirty="0" sz="3100">
                <a:latin typeface="Arial MT"/>
                <a:cs typeface="Arial MT"/>
              </a:rPr>
              <a:t>; </a:t>
            </a:r>
            <a:r>
              <a:rPr dirty="0" sz="3100" spc="10">
                <a:latin typeface="Arial MT"/>
                <a:cs typeface="Arial MT"/>
              </a:rPr>
              <a:t>Decrement </a:t>
            </a:r>
            <a:r>
              <a:rPr dirty="0" sz="3100" spc="5">
                <a:latin typeface="Arial MT"/>
                <a:cs typeface="Arial MT"/>
              </a:rPr>
              <a:t>counter </a:t>
            </a:r>
            <a:r>
              <a:rPr dirty="0" sz="3100" spc="10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to</a:t>
            </a:r>
            <a:r>
              <a:rPr dirty="0" sz="3100" spc="-10">
                <a:latin typeface="Arial MT"/>
                <a:cs typeface="Arial MT"/>
              </a:rPr>
              <a:t> </a:t>
            </a:r>
            <a:r>
              <a:rPr dirty="0" sz="3100" spc="5">
                <a:latin typeface="Arial MT"/>
                <a:cs typeface="Arial MT"/>
              </a:rPr>
              <a:t>keep</a:t>
            </a:r>
            <a:r>
              <a:rPr dirty="0" sz="3100" spc="-5">
                <a:latin typeface="Arial MT"/>
                <a:cs typeface="Arial MT"/>
              </a:rPr>
              <a:t> </a:t>
            </a:r>
            <a:r>
              <a:rPr dirty="0" sz="3100" spc="5">
                <a:latin typeface="Arial MT"/>
                <a:cs typeface="Arial MT"/>
              </a:rPr>
              <a:t>track</a:t>
            </a:r>
            <a:r>
              <a:rPr dirty="0" sz="3100" spc="-10">
                <a:latin typeface="Arial MT"/>
                <a:cs typeface="Arial MT"/>
              </a:rPr>
              <a:t> </a:t>
            </a:r>
            <a:r>
              <a:rPr dirty="0" sz="3100" spc="5">
                <a:latin typeface="Arial MT"/>
                <a:cs typeface="Arial MT"/>
              </a:rPr>
              <a:t>of</a:t>
            </a:r>
            <a:r>
              <a:rPr dirty="0" sz="3100" spc="-10">
                <a:latin typeface="Arial MT"/>
                <a:cs typeface="Arial MT"/>
              </a:rPr>
              <a:t> </a:t>
            </a:r>
            <a:r>
              <a:rPr dirty="0" sz="3100" spc="5">
                <a:latin typeface="Arial MT"/>
                <a:cs typeface="Arial MT"/>
              </a:rPr>
              <a:t>bytes</a:t>
            </a:r>
            <a:r>
              <a:rPr dirty="0" sz="3100" spc="-10">
                <a:latin typeface="Arial MT"/>
                <a:cs typeface="Arial MT"/>
              </a:rPr>
              <a:t> </a:t>
            </a:r>
            <a:r>
              <a:rPr dirty="0" sz="3100" spc="5">
                <a:latin typeface="Arial MT"/>
                <a:cs typeface="Arial MT"/>
              </a:rPr>
              <a:t>moved</a:t>
            </a:r>
            <a:endParaRPr sz="3100">
              <a:latin typeface="Arial MT"/>
              <a:cs typeface="Arial MT"/>
            </a:endParaRPr>
          </a:p>
          <a:p>
            <a:pPr marL="345440" indent="-332740">
              <a:lnSpc>
                <a:spcPct val="100000"/>
              </a:lnSpc>
              <a:spcBef>
                <a:spcPts val="40"/>
              </a:spcBef>
              <a:buChar char="•"/>
              <a:tabLst>
                <a:tab pos="344805" algn="l"/>
                <a:tab pos="345440" algn="l"/>
                <a:tab pos="2672715" algn="l"/>
                <a:tab pos="4761230" algn="l"/>
              </a:tabLst>
            </a:pPr>
            <a:r>
              <a:rPr dirty="0" sz="3100">
                <a:latin typeface="Arial MT"/>
                <a:cs typeface="Arial MT"/>
              </a:rPr>
              <a:t>JNZ</a:t>
            </a:r>
            <a:r>
              <a:rPr dirty="0" sz="3100" spc="10">
                <a:latin typeface="Arial MT"/>
                <a:cs typeface="Arial MT"/>
              </a:rPr>
              <a:t> </a:t>
            </a:r>
            <a:r>
              <a:rPr dirty="0" sz="3100" spc="5">
                <a:latin typeface="Arial MT"/>
                <a:cs typeface="Arial MT"/>
              </a:rPr>
              <a:t>BK	</a:t>
            </a:r>
            <a:r>
              <a:rPr dirty="0" sz="3100">
                <a:latin typeface="Arial MT"/>
                <a:cs typeface="Arial MT"/>
              </a:rPr>
              <a:t>; </a:t>
            </a:r>
            <a:r>
              <a:rPr dirty="0" sz="3100" spc="-5">
                <a:latin typeface="Arial MT"/>
                <a:cs typeface="Arial MT"/>
              </a:rPr>
              <a:t>If</a:t>
            </a:r>
            <a:r>
              <a:rPr dirty="0" sz="3100" spc="5">
                <a:latin typeface="Arial MT"/>
                <a:cs typeface="Arial MT"/>
              </a:rPr>
              <a:t> counter	0</a:t>
            </a:r>
            <a:r>
              <a:rPr dirty="0" sz="3100" spc="-15">
                <a:latin typeface="Arial MT"/>
                <a:cs typeface="Arial MT"/>
              </a:rPr>
              <a:t> </a:t>
            </a:r>
            <a:r>
              <a:rPr dirty="0" sz="3100" spc="5">
                <a:latin typeface="Arial MT"/>
                <a:cs typeface="Arial MT"/>
              </a:rPr>
              <a:t>repeat</a:t>
            </a:r>
            <a:r>
              <a:rPr dirty="0" sz="3100" spc="-25">
                <a:latin typeface="Arial MT"/>
                <a:cs typeface="Arial MT"/>
              </a:rPr>
              <a:t> </a:t>
            </a:r>
            <a:r>
              <a:rPr dirty="0" sz="3100">
                <a:latin typeface="Arial MT"/>
                <a:cs typeface="Arial MT"/>
              </a:rPr>
              <a:t>steps</a:t>
            </a:r>
            <a:endParaRPr sz="3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3300">
              <a:latin typeface="Arial MT"/>
              <a:cs typeface="Arial MT"/>
            </a:endParaRPr>
          </a:p>
          <a:p>
            <a:pPr marL="345440" indent="-332740">
              <a:lnSpc>
                <a:spcPct val="100000"/>
              </a:lnSpc>
              <a:buChar char="•"/>
              <a:tabLst>
                <a:tab pos="344805" algn="l"/>
                <a:tab pos="345440" algn="l"/>
                <a:tab pos="1784985" algn="l"/>
              </a:tabLst>
            </a:pPr>
            <a:r>
              <a:rPr dirty="0" sz="3100" spc="-75">
                <a:latin typeface="Arial MT"/>
                <a:cs typeface="Arial MT"/>
              </a:rPr>
              <a:t>HLT	</a:t>
            </a:r>
            <a:r>
              <a:rPr dirty="0" sz="3100">
                <a:latin typeface="Arial MT"/>
                <a:cs typeface="Arial MT"/>
              </a:rPr>
              <a:t>;</a:t>
            </a:r>
            <a:r>
              <a:rPr dirty="0" sz="3100" spc="-80">
                <a:latin typeface="Arial MT"/>
                <a:cs typeface="Arial MT"/>
              </a:rPr>
              <a:t> </a:t>
            </a:r>
            <a:r>
              <a:rPr dirty="0" sz="3100" spc="-30">
                <a:latin typeface="Arial MT"/>
                <a:cs typeface="Arial MT"/>
              </a:rPr>
              <a:t>Terminate</a:t>
            </a:r>
            <a:r>
              <a:rPr dirty="0" sz="3100" spc="-20">
                <a:latin typeface="Arial MT"/>
                <a:cs typeface="Arial MT"/>
              </a:rPr>
              <a:t> </a:t>
            </a:r>
            <a:r>
              <a:rPr dirty="0" sz="3100" spc="5">
                <a:latin typeface="Arial MT"/>
                <a:cs typeface="Arial MT"/>
              </a:rPr>
              <a:t>program</a:t>
            </a:r>
            <a:endParaRPr sz="3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Compaq</dc:creator>
  <dc:title>Assembly Language Programming of 8085</dc:title>
  <dcterms:created xsi:type="dcterms:W3CDTF">2023-11-28T08:22:09Z</dcterms:created>
  <dcterms:modified xsi:type="dcterms:W3CDTF">2023-11-28T08:22:09Z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2015-06-01T00:00:00Z</vt:filetime>
  </property>
  <property fmtid="{D5CDD505-2E9C-101B-9397-08002B2CF9AE}" pid="3" name="Creator">
    <vt:lpwstr>Impress</vt:lpwstr>
  </property>
  <property fmtid="{D5CDD505-2E9C-101B-9397-08002B2CF9AE}" pid="4" name="LastSaved">
    <vt:filetime>2015-06-01T00:00:00Z</vt:filetime>
  </property>
</Properties>
</file>