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CFA4B-07B3-41DE-B7CE-F75D1A8C79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7E66F-478E-448B-A427-30EAA6B2C7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F27917A-997E-4ABB-BCF8-7B2450CE6D87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043790-6CE6-4C36-A6B4-901FFA568D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688964"/>
            <a:ext cx="9144000" cy="116903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1524000"/>
            <a:ext cx="8229600" cy="1173162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/>
              <a:t>Uniform plane wave </a:t>
            </a:r>
            <a:r>
              <a:rPr lang="en-US" b="1" dirty="0" smtClean="0"/>
              <a:t>L3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34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Polarization of Uniform Plane Waves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3340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 smtClean="0"/>
                  <a:t>The </a:t>
                </a:r>
                <a:r>
                  <a:rPr lang="en-US" b="1" dirty="0" smtClean="0"/>
                  <a:t>polarization of uniform plane waves </a:t>
                </a:r>
                <a:r>
                  <a:rPr lang="en-US" dirty="0" smtClean="0"/>
                  <a:t>is defined as time varying behavior of </a:t>
                </a:r>
                <a:r>
                  <a:rPr lang="en-US" dirty="0"/>
                  <a:t>the electric field intensity vector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at some fixed point in space, along the direction of </a:t>
                </a:r>
                <a:r>
                  <a:rPr lang="en-US" dirty="0" smtClean="0"/>
                  <a:t>propagation </a:t>
                </a:r>
              </a:p>
              <a:p>
                <a:pPr marL="0" indent="0" algn="ctr">
                  <a:buNone/>
                </a:pPr>
                <a:r>
                  <a:rPr lang="en-US" b="1" dirty="0" smtClean="0"/>
                  <a:t>Types of polarization of a uniform plane wave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Linear polarization 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Elliptical polarization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 Circular polarization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dirty="0" smtClean="0"/>
                  <a:t>In other words</a:t>
                </a:r>
                <a:r>
                  <a:rPr lang="en-US" dirty="0"/>
                  <a:t>, </a:t>
                </a:r>
                <a:r>
                  <a:rPr lang="en-US" dirty="0" smtClean="0"/>
                  <a:t>the polarization is nothing but </a:t>
                </a:r>
                <a:r>
                  <a:rPr lang="en-US" dirty="0"/>
                  <a:t>away </a:t>
                </a:r>
                <a:r>
                  <a:rPr lang="en-US" dirty="0" smtClean="0"/>
                  <a:t>in which the magnitude </a:t>
                </a:r>
                <a:r>
                  <a:rPr lang="en-US" dirty="0"/>
                  <a:t>and </a:t>
                </a:r>
                <a:r>
                  <a:rPr lang="en-US" dirty="0" smtClean="0"/>
                  <a:t>direction of </a:t>
                </a:r>
                <a:r>
                  <a:rPr lang="en-US" dirty="0"/>
                  <a:t>the electric </a:t>
                </a:r>
                <a:r>
                  <a:rPr lang="en-US" dirty="0" smtClean="0"/>
                  <a:t>field  varies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334000"/>
              </a:xfrm>
              <a:blipFill>
                <a:blip r:embed="rId2"/>
                <a:stretch>
                  <a:fillRect l="-1259" t="-1829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019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dirty="0" smtClean="0"/>
                  <a:t>Linear Polarization</a:t>
                </a:r>
              </a:p>
              <a:p>
                <a:pPr algn="just"/>
                <a:r>
                  <a:rPr lang="en-US" dirty="0"/>
                  <a:t>Consider that </a:t>
                </a:r>
                <a:r>
                  <a:rPr lang="en-US" dirty="0" smtClean="0"/>
                  <a:t>the electric field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has only x-component and y-component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</m:oMath>
                </a14:m>
                <a:r>
                  <a:rPr lang="en-US" dirty="0" smtClean="0"/>
                  <a:t> is zero </a:t>
                </a:r>
              </a:p>
              <a:p>
                <a:pPr algn="just"/>
                <a:r>
                  <a:rPr lang="en-US" dirty="0" smtClean="0"/>
                  <a:t>Then </a:t>
                </a:r>
                <a:r>
                  <a:rPr lang="en-US" dirty="0"/>
                  <a:t>looking from the direction of propagation, the wave is said to be </a:t>
                </a:r>
                <a:r>
                  <a:rPr lang="en-US" b="1" dirty="0">
                    <a:solidFill>
                      <a:srgbClr val="FF0000"/>
                    </a:solidFill>
                  </a:rPr>
                  <a:t>linearly polarized in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x-direction</a:t>
                </a:r>
                <a:endParaRPr lang="en-US" dirty="0" smtClean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dirty="0" smtClean="0"/>
                  <a:t> </a:t>
                </a:r>
                <a:r>
                  <a:rPr lang="en-US" dirty="0"/>
                  <a:t>Similarly if only the y-component 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present and </a:t>
                </a:r>
                <a:r>
                  <a:rPr lang="en-US" dirty="0" smtClean="0"/>
                  <a:t>x-component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is zero then the wave is said to be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linearly polarized in y-direction</a:t>
                </a:r>
              </a:p>
              <a:p>
                <a:pPr algn="just"/>
                <a:r>
                  <a:rPr lang="en-US" dirty="0"/>
                  <a:t>Let us assume that both the components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are present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endParaRPr lang="en-US" b="1" dirty="0" smtClean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dirty="0" smtClean="0"/>
                  <a:t>The electric field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the resultant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the direction of it depends on the relative magnitude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019800"/>
              </a:xfrm>
              <a:blipFill>
                <a:blip r:embed="rId2"/>
                <a:stretch>
                  <a:fillRect l="-889" t="-810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3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229600" cy="5943600"/>
              </a:xfrm>
            </p:spPr>
            <p:txBody>
              <a:bodyPr/>
              <a:lstStyle/>
              <a:p>
                <a:pPr lvl="0" algn="just">
                  <a:buClr>
                    <a:srgbClr val="0BD0D9"/>
                  </a:buClr>
                </a:pPr>
                <a:r>
                  <a:rPr lang="en-US" b="1" dirty="0" smtClean="0">
                    <a:solidFill>
                      <a:prstClr val="black"/>
                    </a:solidFill>
                  </a:rPr>
                  <a:t>Linear Polarization</a:t>
                </a:r>
              </a:p>
              <a:p>
                <a:r>
                  <a:rPr lang="en-US" dirty="0" smtClean="0"/>
                  <a:t>The angle made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with x-axis </a:t>
                </a:r>
                <a:r>
                  <a:rPr lang="en-US" dirty="0"/>
                  <a:t>is </a:t>
                </a:r>
                <a:r>
                  <a:rPr lang="en-US" dirty="0" smtClean="0"/>
                  <a:t>given by,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algn="just"/>
                <a:r>
                  <a:rPr lang="en-US" dirty="0" smtClean="0"/>
                  <a:t>The resultant </a:t>
                </a:r>
                <a:r>
                  <a:rPr lang="en-US" dirty="0"/>
                  <a:t>vector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:r>
                  <a:rPr lang="en-US" dirty="0"/>
                  <a:t>is oriented </a:t>
                </a:r>
                <a:r>
                  <a:rPr lang="en-US" dirty="0" smtClean="0"/>
                  <a:t>in a direction which is constant with time</a:t>
                </a:r>
                <a:r>
                  <a:rPr lang="en-US" dirty="0"/>
                  <a:t>, thus </a:t>
                </a:r>
                <a:r>
                  <a:rPr lang="en-US" dirty="0" smtClean="0"/>
                  <a:t>the wave is said to be </a:t>
                </a:r>
                <a:r>
                  <a:rPr lang="en-US" b="1" dirty="0" smtClean="0"/>
                  <a:t>linearly polarized</a:t>
                </a:r>
              </a:p>
              <a:p>
                <a:pPr algn="just"/>
                <a:r>
                  <a:rPr lang="en-US" dirty="0" smtClean="0"/>
                  <a:t>Thus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components are </a:t>
                </a:r>
                <a:r>
                  <a:rPr lang="en-US" dirty="0" smtClean="0"/>
                  <a:t>in phase with </a:t>
                </a:r>
                <a:r>
                  <a:rPr lang="en-US" dirty="0"/>
                  <a:t>either equal or unequal amplitudes, for a </a:t>
                </a:r>
                <a:r>
                  <a:rPr lang="en-US" dirty="0" smtClean="0"/>
                  <a:t>uniform plane wave </a:t>
                </a:r>
                <a:r>
                  <a:rPr lang="en-US" dirty="0"/>
                  <a:t>travelling in z-direction, the polarization is linear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229600" cy="5943600"/>
              </a:xfrm>
              <a:blipFill>
                <a:blip r:embed="rId2"/>
                <a:stretch>
                  <a:fillRect l="-889" t="-923" r="-1333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79149"/>
            <a:ext cx="3200400" cy="16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5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229600" cy="571500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 smtClean="0"/>
                  <a:t>Elliptical Polarization</a:t>
                </a:r>
              </a:p>
              <a:p>
                <a:pPr algn="just"/>
                <a:r>
                  <a:rPr lang="en-US" dirty="0"/>
                  <a:t>Consider that the electric field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has both the </a:t>
                </a:r>
                <a:r>
                  <a:rPr lang="en-US" dirty="0" smtClean="0"/>
                  <a:t>components which are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not having same amplitudes </a:t>
                </a:r>
                <a:r>
                  <a:rPr lang="en-US" dirty="0" smtClean="0"/>
                  <a:t>and are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not in phase</a:t>
                </a:r>
              </a:p>
              <a:p>
                <a:pPr algn="just"/>
                <a:r>
                  <a:rPr lang="en-US" dirty="0"/>
                  <a:t>As </a:t>
                </a:r>
                <a:r>
                  <a:rPr lang="en-US" dirty="0" smtClean="0"/>
                  <a:t>the wave propagates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will have maximum and minimum amplitudes at different instants of time depending on the relative amplitudes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at any instant of </a:t>
                </a:r>
                <a:r>
                  <a:rPr lang="en-US" dirty="0" smtClean="0"/>
                  <a:t>time</a:t>
                </a:r>
              </a:p>
              <a:p>
                <a:pPr algn="just"/>
                <a:r>
                  <a:rPr lang="en-US" dirty="0"/>
                  <a:t>In </a:t>
                </a:r>
                <a:r>
                  <a:rPr lang="en-US" dirty="0" smtClean="0"/>
                  <a:t>other words</a:t>
                </a:r>
                <a:r>
                  <a:rPr lang="en-US" dirty="0"/>
                  <a:t>, </a:t>
                </a:r>
                <a:r>
                  <a:rPr lang="en-US" dirty="0" smtClean="0"/>
                  <a:t>the direction of </a:t>
                </a:r>
                <a:r>
                  <a:rPr lang="en-US" dirty="0"/>
                  <a:t>the resultant </a:t>
                </a:r>
                <a:r>
                  <a:rPr lang="en-US" dirty="0" smtClean="0"/>
                  <a:t>field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varies with time</a:t>
                </a:r>
              </a:p>
              <a:p>
                <a:pPr algn="just"/>
                <a:r>
                  <a:rPr lang="en-US" dirty="0" smtClean="0"/>
                  <a:t>If the locus of the end points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traced, it </a:t>
                </a:r>
                <a:r>
                  <a:rPr lang="en-US" dirty="0" smtClean="0"/>
                  <a:t>is observed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moves elliptically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229600" cy="5715000"/>
              </a:xfrm>
              <a:blipFill>
                <a:blip r:embed="rId2"/>
                <a:stretch>
                  <a:fillRect l="-889" t="-853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3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/>
          <a:lstStyle/>
          <a:p>
            <a:pPr lvl="0">
              <a:buClr>
                <a:srgbClr val="0BD0D9"/>
              </a:buClr>
            </a:pPr>
            <a:r>
              <a:rPr lang="en-US" b="1" dirty="0">
                <a:solidFill>
                  <a:prstClr val="black"/>
                </a:solidFill>
              </a:rPr>
              <a:t>Elliptical Polarization</a:t>
            </a:r>
          </a:p>
          <a:p>
            <a:pPr lvl="0" algn="just">
              <a:buClr>
                <a:srgbClr val="0BD0D9"/>
              </a:buClr>
            </a:pPr>
            <a:r>
              <a:rPr lang="en-US" dirty="0">
                <a:solidFill>
                  <a:prstClr val="black"/>
                </a:solidFill>
              </a:rPr>
              <a:t>Then such a wave is said to be </a:t>
            </a:r>
            <a:r>
              <a:rPr lang="en-US" b="1" dirty="0">
                <a:solidFill>
                  <a:srgbClr val="FF0000"/>
                </a:solidFill>
              </a:rPr>
              <a:t>elliptically polarized</a:t>
            </a:r>
            <a:r>
              <a:rPr lang="en-US" dirty="0">
                <a:solidFill>
                  <a:prstClr val="black"/>
                </a:solidFill>
              </a:rPr>
              <a:t> as shown in the figure below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981199"/>
            <a:ext cx="4114800" cy="416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5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7200"/>
                <a:ext cx="8458200" cy="5867400"/>
              </a:xfrm>
            </p:spPr>
            <p:txBody>
              <a:bodyPr/>
              <a:lstStyle/>
              <a:p>
                <a:pPr lvl="0">
                  <a:buClr>
                    <a:srgbClr val="0BD0D9"/>
                  </a:buClr>
                </a:pPr>
                <a:r>
                  <a:rPr lang="en-US" b="1" dirty="0" smtClean="0">
                    <a:solidFill>
                      <a:prstClr val="black"/>
                    </a:solidFill>
                  </a:rPr>
                  <a:t>Elliptical Polarization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With 90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b="1" dirty="0" smtClean="0"/>
                  <a:t>-phase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b="1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b="1" dirty="0" smtClean="0"/>
                  <a:t> ;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The major axis of an ellipse lies along y-axis </a:t>
                </a:r>
                <a:r>
                  <a:rPr lang="en-US" dirty="0"/>
                  <a:t>if </a:t>
                </a:r>
                <a:r>
                  <a:rPr lang="en-US" dirty="0" smtClean="0"/>
                  <a:t>the amplitude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is greater </a:t>
                </a:r>
                <a:r>
                  <a:rPr lang="en-US" dirty="0"/>
                  <a:t>than </a:t>
                </a:r>
                <a:r>
                  <a:rPr lang="en-US" dirty="0" smtClean="0"/>
                  <a:t>that of the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 The major axis of an ellipse lies along x-axis</a:t>
                </a:r>
                <a:r>
                  <a:rPr lang="en-US" dirty="0"/>
                  <a:t>, if </a:t>
                </a:r>
                <a:r>
                  <a:rPr lang="en-US" dirty="0" smtClean="0"/>
                  <a:t>the amplitude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is greater </a:t>
                </a:r>
                <a:r>
                  <a:rPr lang="en-US" dirty="0"/>
                  <a:t>than </a:t>
                </a:r>
                <a:r>
                  <a:rPr lang="en-US" dirty="0" smtClean="0"/>
                  <a:t>that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dirty="0" smtClean="0"/>
                  <a:t>Thus when </a:t>
                </a:r>
                <a:r>
                  <a:rPr lang="en-US" dirty="0"/>
                  <a:t>the components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of </a:t>
                </a:r>
                <a:r>
                  <a:rPr lang="en-US" dirty="0"/>
                  <a:t>unequal amplitudes have a constant, non-zero phase difference between two, for a </a:t>
                </a:r>
                <a:r>
                  <a:rPr lang="en-US" dirty="0" smtClean="0"/>
                  <a:t>uniform plane </a:t>
                </a:r>
                <a:r>
                  <a:rPr lang="en-US" dirty="0"/>
                  <a:t>wave travelling in z-direction, </a:t>
                </a:r>
                <a:r>
                  <a:rPr lang="en-US" dirty="0" smtClean="0"/>
                  <a:t>the polarization is elliptical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7200"/>
                <a:ext cx="8458200" cy="5867400"/>
              </a:xfrm>
              <a:blipFill>
                <a:blip r:embed="rId2"/>
                <a:stretch>
                  <a:fillRect l="-1297" t="-831" r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8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</p:spPr>
            <p:txBody>
              <a:bodyPr/>
              <a:lstStyle/>
              <a:p>
                <a:r>
                  <a:rPr lang="en-US" b="1" dirty="0" smtClean="0"/>
                  <a:t>Circular Polarization</a:t>
                </a:r>
              </a:p>
              <a:p>
                <a:pPr algn="just"/>
                <a:r>
                  <a:rPr lang="en-US" dirty="0" smtClean="0"/>
                  <a:t>Let us </a:t>
                </a:r>
                <a:r>
                  <a:rPr lang="en-US" dirty="0"/>
                  <a:t>consider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has two components,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of equal </a:t>
                </a:r>
                <a:r>
                  <a:rPr lang="en-US" dirty="0" smtClean="0"/>
                  <a:t>amplitude but </a:t>
                </a:r>
                <a:r>
                  <a:rPr lang="en-US" dirty="0"/>
                  <a:t>the phase difference between them is exactly </a:t>
                </a:r>
                <a:r>
                  <a:rPr lang="en-US" dirty="0" smtClean="0"/>
                  <a:t>90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en-US" dirty="0"/>
                  <a:t>At any instant of time, when the amplitude of any one of the component is maximum, then the amplitude of the remaining component becomes </a:t>
                </a:r>
                <a:r>
                  <a:rPr lang="en-US" dirty="0" smtClean="0"/>
                  <a:t>zero</a:t>
                </a:r>
              </a:p>
              <a:p>
                <a:pPr algn="just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projected on a plane </a:t>
                </a:r>
                <a:r>
                  <a:rPr lang="en-US" dirty="0"/>
                  <a:t>perpendicular </a:t>
                </a:r>
                <a:r>
                  <a:rPr lang="en-US" dirty="0" smtClean="0"/>
                  <a:t>to the direction of propagation</a:t>
                </a:r>
                <a:r>
                  <a:rPr lang="en-US" dirty="0"/>
                  <a:t>, </a:t>
                </a:r>
                <a:r>
                  <a:rPr lang="en-US" dirty="0" smtClean="0"/>
                  <a:t>then the locus of all such points is a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circle </a:t>
                </a:r>
                <a:r>
                  <a:rPr lang="en-US" dirty="0" smtClean="0"/>
                  <a:t>with the Centre on z-axis</a:t>
                </a:r>
              </a:p>
              <a:p>
                <a:pPr algn="just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having components in both x and y-directions, we can write,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  <a:blipFill>
                <a:blip r:embed="rId2"/>
                <a:stretch>
                  <a:fillRect l="-865" t="-810" r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5533204"/>
            <a:ext cx="8216045" cy="82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3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</p:spPr>
            <p:txBody>
              <a:bodyPr/>
              <a:lstStyle/>
              <a:p>
                <a:pPr algn="just">
                  <a:buClr>
                    <a:srgbClr val="0BD0D9"/>
                  </a:buClr>
                </a:pPr>
                <a:r>
                  <a:rPr lang="en-US" b="1" dirty="0" smtClean="0"/>
                  <a:t>Circular Polarization</a:t>
                </a:r>
              </a:p>
              <a:p>
                <a:pPr algn="just">
                  <a:buClr>
                    <a:srgbClr val="0BD0D9"/>
                  </a:buClr>
                </a:pPr>
                <a:r>
                  <a:rPr lang="en-US" dirty="0" smtClean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is having components in both x and y-directions, we can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write</a:t>
                </a:r>
              </a:p>
              <a:p>
                <a:pPr algn="just">
                  <a:buClr>
                    <a:srgbClr val="0BD0D9"/>
                  </a:buClr>
                </a:pPr>
                <a:endParaRPr lang="en-US" dirty="0">
                  <a:solidFill>
                    <a:prstClr val="black"/>
                  </a:solidFill>
                </a:endParaRPr>
              </a:p>
              <a:p>
                <a:pPr algn="just">
                  <a:buClr>
                    <a:srgbClr val="0BD0D9"/>
                  </a:buClr>
                </a:pPr>
                <a:endParaRPr lang="en-US" dirty="0" smtClean="0">
                  <a:solidFill>
                    <a:prstClr val="black"/>
                  </a:solidFill>
                </a:endParaRPr>
              </a:p>
              <a:p>
                <a:pPr marL="0" indent="0" algn="just">
                  <a:buClr>
                    <a:srgbClr val="0BD0D9"/>
                  </a:buClr>
                  <a:buNone/>
                </a:pPr>
                <a:endParaRPr lang="en-US" dirty="0" smtClean="0"/>
              </a:p>
              <a:p>
                <a:pPr marL="0" indent="0" algn="just">
                  <a:buClr>
                    <a:srgbClr val="0BD0D9"/>
                  </a:buClr>
                  <a:buNone/>
                </a:pPr>
                <a:r>
                  <a:rPr lang="en-US" dirty="0" smtClean="0"/>
                  <a:t>Any electric wave has two components </a:t>
                </a:r>
                <a:r>
                  <a:rPr lang="en-US" dirty="0"/>
                  <a:t>;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US" dirty="0" smtClean="0"/>
                  <a:t>Forward travelling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 sin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US" dirty="0" smtClean="0"/>
                  <a:t>Backward travelling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)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Thus when two </a:t>
                </a:r>
                <a:r>
                  <a:rPr lang="en-US" dirty="0" smtClean="0"/>
                  <a:t>components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of </a:t>
                </a:r>
                <a:r>
                  <a:rPr lang="en-US" b="1" dirty="0">
                    <a:solidFill>
                      <a:srgbClr val="FF0000"/>
                    </a:solidFill>
                  </a:rPr>
                  <a:t>equal amplitudes </a:t>
                </a:r>
                <a:r>
                  <a:rPr lang="en-US" dirty="0"/>
                  <a:t>have a constant,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non-zero phase difference of 90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b="1" dirty="0" smtClean="0"/>
                  <a:t>-</a:t>
                </a:r>
                <a:r>
                  <a:rPr lang="en-US" dirty="0" smtClean="0"/>
                  <a:t>between </a:t>
                </a:r>
                <a:r>
                  <a:rPr lang="en-US" dirty="0"/>
                  <a:t>them, for a </a:t>
                </a:r>
                <a:r>
                  <a:rPr lang="en-US" dirty="0" smtClean="0"/>
                  <a:t>uniform plane </a:t>
                </a:r>
                <a:r>
                  <a:rPr lang="en-US" dirty="0"/>
                  <a:t>wave, the </a:t>
                </a:r>
                <a:r>
                  <a:rPr lang="en-US" dirty="0" smtClean="0"/>
                  <a:t>polarization is</a:t>
                </a:r>
                <a:r>
                  <a:rPr lang="en-US" b="1" dirty="0" smtClean="0"/>
                  <a:t> circular</a:t>
                </a:r>
                <a:endParaRPr lang="en-US" b="1" dirty="0"/>
              </a:p>
              <a:p>
                <a:pPr marL="571500" indent="-571500">
                  <a:buFont typeface="+mj-lt"/>
                  <a:buAutoNum type="romanL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  <a:blipFill>
                <a:blip r:embed="rId2"/>
                <a:stretch>
                  <a:fillRect l="-1297" t="-810" r="-1225" b="-1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729174"/>
            <a:ext cx="7772401" cy="131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0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9906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Conditions for the Polarization of a Sinusoidal Wave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610600" cy="5334000"/>
              </a:xfrm>
            </p:spPr>
            <p:txBody>
              <a:bodyPr/>
              <a:lstStyle/>
              <a:p>
                <a:r>
                  <a:rPr lang="en-US" dirty="0" smtClean="0"/>
                  <a:t>Time varying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given by,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algn="just"/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be the phase </a:t>
                </a:r>
                <a:r>
                  <a:rPr lang="en-US" dirty="0" smtClean="0"/>
                  <a:t>difference between the two components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algn="just"/>
                <a:r>
                  <a:rPr lang="en-US" dirty="0" smtClean="0"/>
                  <a:t>The two components can be expressed in phasor form as,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610600" cy="5334000"/>
              </a:xfrm>
              <a:blipFill>
                <a:blip r:embed="rId2"/>
                <a:stretch>
                  <a:fillRect l="-849" t="-1029" r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5893"/>
            <a:ext cx="5257800" cy="11634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352439"/>
            <a:ext cx="5333999" cy="197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7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4617B"/>
                </a:solidFill>
              </a:rPr>
              <a:t>Conditions for the Polarization of a Sinusoidal Wave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410200"/>
              </a:xfrm>
            </p:spPr>
            <p:txBody>
              <a:bodyPr/>
              <a:lstStyle/>
              <a:p>
                <a:r>
                  <a:rPr lang="en-US" dirty="0" smtClean="0"/>
                  <a:t>As the electric field vector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dirty="0" smtClean="0"/>
                  <a:t> is the resultant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, we can write,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410200"/>
              </a:xfrm>
              <a:blipFill>
                <a:blip r:embed="rId2"/>
                <a:stretch>
                  <a:fillRect l="-889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898088"/>
            <a:ext cx="7696201" cy="1911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983182"/>
            <a:ext cx="6477000" cy="235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9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534400" cy="5943600"/>
          </a:xfrm>
        </p:spPr>
        <p:txBody>
          <a:bodyPr/>
          <a:lstStyle/>
          <a:p>
            <a:r>
              <a:rPr lang="en-US" dirty="0" smtClean="0"/>
              <a:t>From equations above, we can write,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12" y="1066800"/>
            <a:ext cx="774188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9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/>
          <a:lstStyle/>
          <a:p>
            <a:r>
              <a:rPr lang="en-US" dirty="0" smtClean="0"/>
              <a:t>Also,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57779"/>
            <a:ext cx="7391400" cy="26236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853379"/>
            <a:ext cx="7098799" cy="227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0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6096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Squaring both the sides,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Simplifying above equation,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dirty="0"/>
              <a:t>Above equation is the equation for </a:t>
            </a:r>
            <a:r>
              <a:rPr lang="en-US" b="1" dirty="0">
                <a:solidFill>
                  <a:srgbClr val="FF0000"/>
                </a:solidFill>
              </a:rPr>
              <a:t>polarization of sinusoidal </a:t>
            </a:r>
            <a:r>
              <a:rPr lang="en-US" b="1" dirty="0" smtClean="0">
                <a:solidFill>
                  <a:srgbClr val="FF0000"/>
                </a:solidFill>
              </a:rPr>
              <a:t>wave</a:t>
            </a:r>
          </a:p>
          <a:p>
            <a:pPr algn="just"/>
            <a:r>
              <a:rPr lang="en-US" dirty="0"/>
              <a:t>By applying different conditions </a:t>
            </a:r>
            <a:r>
              <a:rPr lang="en-US" dirty="0" smtClean="0"/>
              <a:t>to equation for the polarization of sinusoidal wave, we get different types of the polarization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730682"/>
            <a:ext cx="7190257" cy="1707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2908731"/>
            <a:ext cx="7004087" cy="128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5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534400" cy="6019800"/>
              </a:xfrm>
            </p:spPr>
            <p:txBody>
              <a:bodyPr/>
              <a:lstStyle/>
              <a:p>
                <a:r>
                  <a:rPr lang="en-US" dirty="0" smtClean="0"/>
                  <a:t>Condition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 smtClean="0"/>
                  <a:t> components are in phase i.e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=</a:t>
                </a:r>
                <a:r>
                  <a:rPr lang="en-US" dirty="0"/>
                  <a:t>0</a:t>
                </a:r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 wave </a:t>
                </a:r>
                <a:r>
                  <a:rPr lang="en-US" dirty="0"/>
                  <a:t>is </a:t>
                </a:r>
                <a:r>
                  <a:rPr lang="en-US" dirty="0" smtClean="0"/>
                  <a:t>said to be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linearly polarized wave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534400" cy="6019800"/>
              </a:xfrm>
              <a:blipFill>
                <a:blip r:embed="rId2"/>
                <a:stretch>
                  <a:fillRect l="-857" t="-607" r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399"/>
            <a:ext cx="8153400" cy="452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534400" cy="6019800"/>
              </a:xfrm>
            </p:spPr>
            <p:txBody>
              <a:bodyPr/>
              <a:lstStyle/>
              <a:p>
                <a:r>
                  <a:rPr lang="en-US" b="1" dirty="0" smtClean="0"/>
                  <a:t>Condition2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r>
                  <a:rPr lang="en-US" dirty="0" smtClean="0"/>
                  <a:t> components of unequal amplitudes with a phase difference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/>
                  <a:t> 0. </a:t>
                </a:r>
              </a:p>
              <a:p>
                <a:r>
                  <a:rPr lang="en-US" dirty="0" smtClean="0"/>
                  <a:t>Let us assume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𝛑</m:t>
                            </m:r>
                          </m:e>
                          <m:sup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𝐜</m:t>
                            </m:r>
                          </m:sup>
                        </m:sSup>
                      </m:num>
                      <m:den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dirty="0" smtClean="0"/>
              </a:p>
              <a:p>
                <a:r>
                  <a:rPr lang="en-US" dirty="0" smtClean="0"/>
                  <a:t>Then equation becomes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equation is said to be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elliptically polarized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US" b="1" dirty="0" smtClean="0"/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534400" cy="6019800"/>
              </a:xfrm>
              <a:blipFill>
                <a:blip r:embed="rId2"/>
                <a:stretch>
                  <a:fillRect l="-857" t="-607" b="-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553786"/>
            <a:ext cx="7924801" cy="308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8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 smtClean="0"/>
                  <a:t>Condition3: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r>
                  <a:rPr lang="en-US" dirty="0" smtClean="0"/>
                  <a:t> components of </a:t>
                </a:r>
                <a:r>
                  <a:rPr lang="en-US" dirty="0"/>
                  <a:t>equal </a:t>
                </a:r>
                <a:r>
                  <a:rPr lang="en-US" dirty="0" smtClean="0"/>
                  <a:t>amplitude with the phase difference between two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Let </a:t>
                </a:r>
                <a:r>
                  <a:rPr lang="en-US" dirty="0" smtClean="0"/>
                  <a:t>the amplitude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dirty="0" smtClean="0"/>
                  <a:t> be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Thus the wave</a:t>
                </a:r>
                <a:r>
                  <a:rPr lang="en-US" dirty="0" smtClean="0"/>
                  <a:t>, with the components specified in the condition is said to be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circularly polarized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458200" cy="6019800"/>
              </a:xfrm>
              <a:blipFill>
                <a:blip r:embed="rId2"/>
                <a:stretch>
                  <a:fillRect l="-865" t="-1215" r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75" y="1979507"/>
            <a:ext cx="5915825" cy="312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4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1282</TotalTime>
  <Words>181</Words>
  <Application>Microsoft Office PowerPoint</Application>
  <PresentationFormat>On-screen Show (4:3)</PresentationFormat>
  <Paragraphs>135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Cambria Math</vt:lpstr>
      <vt:lpstr>Constantia</vt:lpstr>
      <vt:lpstr>Wingdings 2</vt:lpstr>
      <vt:lpstr>Flow</vt:lpstr>
      <vt:lpstr> Uniform plane wave L3</vt:lpstr>
      <vt:lpstr>Polarization of Uniform Plane Waves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Conditions for the Polarization of a Sinusoidal Wave</vt:lpstr>
      <vt:lpstr>Conditions for the Polarization of a Sinusoidal Wave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user</cp:lastModifiedBy>
  <cp:revision>108</cp:revision>
  <dcterms:created xsi:type="dcterms:W3CDTF">2006-08-16T00:00:00Z</dcterms:created>
  <dcterms:modified xsi:type="dcterms:W3CDTF">2024-12-05T12:25:01Z</dcterms:modified>
</cp:coreProperties>
</file>