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7"/>
  </p:notesMasterIdLst>
  <p:handoutMasterIdLst>
    <p:handoutMasterId r:id="rId18"/>
  </p:handout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CFA4B-07B3-41DE-B7CE-F75D1A8C793B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47E66F-478E-448B-A427-30EAA6B2C70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F27917A-997E-4ABB-BCF8-7B2450CE6D87}" type="datetimeFigureOut">
              <a:rPr lang="en-US" smtClean="0"/>
              <a:pPr/>
              <a:t>11/26/2024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7043790-6CE6-4C36-A6B4-901FFA568D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85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E5BD45-B5A0-4654-B232-F8508C108E1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484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688964"/>
            <a:ext cx="9144000" cy="1169036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09600" y="1524000"/>
            <a:ext cx="8229600" cy="1173162"/>
          </a:xfrm>
        </p:spPr>
        <p:txBody>
          <a:bodyPr/>
          <a:lstStyle/>
          <a:p>
            <a:pPr algn="ctr"/>
            <a:r>
              <a:rPr lang="en-US" dirty="0" smtClean="0"/>
              <a:t> </a:t>
            </a:r>
            <a:r>
              <a:rPr lang="en-US" b="1" dirty="0"/>
              <a:t>TRANSMISSION LINES</a:t>
            </a:r>
            <a:r>
              <a:rPr lang="en-US" b="1" dirty="0" smtClean="0"/>
              <a:t> L4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234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610600" cy="5943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Transmission lines are used to transmit electric energy and signals from </a:t>
            </a:r>
            <a:r>
              <a:rPr lang="en-US" dirty="0" smtClean="0"/>
              <a:t>one point </a:t>
            </a:r>
            <a:r>
              <a:rPr lang="en-US" dirty="0"/>
              <a:t>to another, specifically from a source to a </a:t>
            </a:r>
            <a:r>
              <a:rPr lang="en-US" dirty="0" smtClean="0"/>
              <a:t>load</a:t>
            </a:r>
            <a:endParaRPr lang="en-US" dirty="0"/>
          </a:p>
          <a:p>
            <a:pPr algn="just"/>
            <a:r>
              <a:rPr lang="en-US" dirty="0"/>
              <a:t>This may include </a:t>
            </a:r>
            <a:r>
              <a:rPr lang="en-US" dirty="0" smtClean="0"/>
              <a:t>the connection </a:t>
            </a:r>
            <a:r>
              <a:rPr lang="en-US" dirty="0"/>
              <a:t>between a transmitter and an antenna, connections between </a:t>
            </a:r>
            <a:r>
              <a:rPr lang="en-US" dirty="0" smtClean="0"/>
              <a:t>computers </a:t>
            </a:r>
            <a:r>
              <a:rPr lang="en-US" dirty="0"/>
              <a:t>in a network, or between a hydroelectric generating plant and a </a:t>
            </a:r>
            <a:r>
              <a:rPr lang="en-US" dirty="0" smtClean="0"/>
              <a:t>substation several </a:t>
            </a:r>
            <a:r>
              <a:rPr lang="en-US" dirty="0"/>
              <a:t>hundred miles </a:t>
            </a:r>
            <a:r>
              <a:rPr lang="en-US" dirty="0" smtClean="0"/>
              <a:t>away</a:t>
            </a:r>
          </a:p>
          <a:p>
            <a:pPr algn="just"/>
            <a:r>
              <a:rPr lang="en-US" dirty="0"/>
              <a:t>The source may be a </a:t>
            </a:r>
            <a:r>
              <a:rPr lang="en-US" b="1" dirty="0">
                <a:solidFill>
                  <a:srgbClr val="FF0000"/>
                </a:solidFill>
              </a:rPr>
              <a:t>hydroelectric generator</a:t>
            </a:r>
            <a:r>
              <a:rPr lang="en-US" dirty="0"/>
              <a:t>, a </a:t>
            </a:r>
            <a:r>
              <a:rPr lang="en-US" b="1" dirty="0">
                <a:solidFill>
                  <a:srgbClr val="FF0000"/>
                </a:solidFill>
              </a:rPr>
              <a:t>transmitter</a:t>
            </a:r>
            <a:r>
              <a:rPr lang="en-US" dirty="0"/>
              <a:t>, or an </a:t>
            </a:r>
            <a:r>
              <a:rPr lang="en-US" b="1" dirty="0" smtClean="0">
                <a:solidFill>
                  <a:srgbClr val="FF0000"/>
                </a:solidFill>
              </a:rPr>
              <a:t>oscillator</a:t>
            </a:r>
            <a:endParaRPr lang="en-US" dirty="0" smtClean="0"/>
          </a:p>
          <a:p>
            <a:pPr algn="just"/>
            <a:r>
              <a:rPr lang="en-US" dirty="0" smtClean="0"/>
              <a:t>The load </a:t>
            </a:r>
            <a:r>
              <a:rPr lang="en-US" dirty="0"/>
              <a:t>may be a </a:t>
            </a:r>
            <a:r>
              <a:rPr lang="en-US" b="1" dirty="0">
                <a:solidFill>
                  <a:srgbClr val="FF0000"/>
                </a:solidFill>
              </a:rPr>
              <a:t>factory</a:t>
            </a:r>
            <a:r>
              <a:rPr lang="en-US" dirty="0"/>
              <a:t>, an</a:t>
            </a:r>
            <a:r>
              <a:rPr lang="en-US" b="1" dirty="0">
                <a:solidFill>
                  <a:srgbClr val="FF0000"/>
                </a:solidFill>
              </a:rPr>
              <a:t> antenna</a:t>
            </a:r>
            <a:r>
              <a:rPr lang="en-US" dirty="0"/>
              <a:t>, or an </a:t>
            </a:r>
            <a:r>
              <a:rPr lang="en-US" b="1" dirty="0" smtClean="0">
                <a:solidFill>
                  <a:srgbClr val="FF0000"/>
                </a:solidFill>
              </a:rPr>
              <a:t>oscilloscope</a:t>
            </a:r>
          </a:p>
          <a:p>
            <a:pPr algn="just"/>
            <a:r>
              <a:rPr lang="en-US" dirty="0"/>
              <a:t>T</a:t>
            </a:r>
            <a:r>
              <a:rPr lang="en-US" dirty="0" smtClean="0"/>
              <a:t>ransmission </a:t>
            </a:r>
            <a:r>
              <a:rPr lang="en-US" dirty="0"/>
              <a:t>lines include</a:t>
            </a:r>
            <a:r>
              <a:rPr lang="en-US" b="1" dirty="0">
                <a:solidFill>
                  <a:srgbClr val="00B050"/>
                </a:solidFill>
              </a:rPr>
              <a:t> coaxial cable</a:t>
            </a:r>
            <a:r>
              <a:rPr lang="en-US" dirty="0"/>
              <a:t>, a </a:t>
            </a:r>
            <a:r>
              <a:rPr lang="en-US" b="1" dirty="0">
                <a:solidFill>
                  <a:schemeClr val="accent4"/>
                </a:solidFill>
              </a:rPr>
              <a:t>two-wire</a:t>
            </a:r>
            <a:r>
              <a:rPr lang="en-US" dirty="0"/>
              <a:t> </a:t>
            </a:r>
            <a:r>
              <a:rPr lang="en-US" b="1" dirty="0">
                <a:solidFill>
                  <a:schemeClr val="accent4"/>
                </a:solidFill>
              </a:rPr>
              <a:t>line</a:t>
            </a:r>
            <a:r>
              <a:rPr lang="en-US" dirty="0"/>
              <a:t>, a </a:t>
            </a:r>
            <a:r>
              <a:rPr lang="en-US" b="1" dirty="0">
                <a:solidFill>
                  <a:schemeClr val="accent4"/>
                </a:solidFill>
              </a:rPr>
              <a:t>parallel-plate or planar line</a:t>
            </a:r>
            <a:r>
              <a:rPr lang="en-US" dirty="0"/>
              <a:t>, a</a:t>
            </a:r>
            <a:r>
              <a:rPr lang="en-US" b="1" dirty="0">
                <a:solidFill>
                  <a:schemeClr val="accent4"/>
                </a:solidFill>
              </a:rPr>
              <a:t> wire above the conducting plane</a:t>
            </a:r>
            <a:r>
              <a:rPr lang="en-US" dirty="0"/>
              <a:t>, and a </a:t>
            </a:r>
            <a:r>
              <a:rPr lang="en-US" b="1" dirty="0">
                <a:solidFill>
                  <a:schemeClr val="accent4"/>
                </a:solidFill>
              </a:rPr>
              <a:t>microstrip 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7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458200" cy="6096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TRANSMISSION LINE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382000" cy="4800600"/>
          </a:xfrm>
        </p:spPr>
        <p:txBody>
          <a:bodyPr/>
          <a:lstStyle/>
          <a:p>
            <a:pPr algn="just"/>
            <a:r>
              <a:rPr lang="en-US" dirty="0"/>
              <a:t>It is customary and convenient to describe a transmission line in terms of its line </a:t>
            </a:r>
            <a:r>
              <a:rPr lang="en-US" dirty="0" smtClean="0"/>
              <a:t>parameters</a:t>
            </a:r>
            <a:r>
              <a:rPr lang="en-US" dirty="0"/>
              <a:t>, which are its </a:t>
            </a:r>
            <a:r>
              <a:rPr lang="en-US" b="1" dirty="0">
                <a:solidFill>
                  <a:schemeClr val="accent4"/>
                </a:solidFill>
              </a:rPr>
              <a:t>resistance per unit length R,</a:t>
            </a:r>
            <a:r>
              <a:rPr lang="en-US" dirty="0"/>
              <a:t> </a:t>
            </a:r>
            <a:r>
              <a:rPr lang="en-US" b="1" dirty="0">
                <a:solidFill>
                  <a:schemeClr val="accent4"/>
                </a:solidFill>
              </a:rPr>
              <a:t>inductance per unit length L, conductance per unit length G,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4"/>
                </a:solidFill>
              </a:rPr>
              <a:t>capacitance per unit length </a:t>
            </a:r>
            <a:r>
              <a:rPr lang="en-US" b="1" dirty="0" smtClean="0">
                <a:solidFill>
                  <a:schemeClr val="accent4"/>
                </a:solidFill>
              </a:rPr>
              <a:t>C</a:t>
            </a:r>
          </a:p>
          <a:p>
            <a:pPr algn="just"/>
            <a:r>
              <a:rPr lang="en-US" dirty="0"/>
              <a:t>Each of the </a:t>
            </a:r>
            <a:r>
              <a:rPr lang="en-US" dirty="0" smtClean="0"/>
              <a:t>lines has </a:t>
            </a:r>
            <a:r>
              <a:rPr lang="en-US" dirty="0"/>
              <a:t>specific formulas for finding R, L, G, and </a:t>
            </a:r>
            <a:r>
              <a:rPr lang="en-US" dirty="0" smtClean="0"/>
              <a:t>C</a:t>
            </a:r>
          </a:p>
          <a:p>
            <a:pPr algn="just"/>
            <a:r>
              <a:rPr lang="en-US" dirty="0"/>
              <a:t>For coaxial, two-wire, and planar lines, the formulas for calculating the values of R, L, G, and C are provided in Table </a:t>
            </a:r>
            <a:r>
              <a:rPr lang="en-US" dirty="0" smtClean="0"/>
              <a:t>1</a:t>
            </a:r>
          </a:p>
          <a:p>
            <a:pPr algn="just"/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86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0"/>
                <a:ext cx="8458200" cy="65532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 smtClean="0"/>
                  <a:t>It should be noted that</a:t>
                </a:r>
              </a:p>
              <a:p>
                <a:pPr marL="571500" indent="-571500" algn="just">
                  <a:buFont typeface="+mj-lt"/>
                  <a:buAutoNum type="romanLcPeriod"/>
                </a:pPr>
                <a:r>
                  <a:rPr lang="en-US" dirty="0"/>
                  <a:t>The line parameters R, L, G, and C are not discrete or lumped but distributed as shown in Figure </a:t>
                </a:r>
                <a:r>
                  <a:rPr lang="en-US" dirty="0" smtClean="0"/>
                  <a:t>1.2. </a:t>
                </a:r>
                <a:r>
                  <a:rPr lang="en-US" dirty="0"/>
                  <a:t>By this we mean that the parameters are uniformly </a:t>
                </a:r>
                <a:r>
                  <a:rPr lang="en-US" b="1" dirty="0" smtClean="0">
                    <a:solidFill>
                      <a:schemeClr val="accent4"/>
                    </a:solidFill>
                  </a:rPr>
                  <a:t>distributed </a:t>
                </a:r>
                <a:r>
                  <a:rPr lang="en-US" dirty="0"/>
                  <a:t>along the entire length of the </a:t>
                </a:r>
                <a:r>
                  <a:rPr lang="en-US" dirty="0" smtClean="0"/>
                  <a:t>line</a:t>
                </a:r>
              </a:p>
              <a:p>
                <a:pPr marL="571500" indent="-571500" algn="just">
                  <a:buFont typeface="+mj-lt"/>
                  <a:buAutoNum type="romanLcPeriod"/>
                </a:pPr>
                <a:r>
                  <a:rPr lang="en-US" dirty="0" smtClean="0"/>
                  <a:t>For </a:t>
                </a:r>
                <a:r>
                  <a:rPr lang="en-US" dirty="0"/>
                  <a:t>each line, the conductors are characterized </a:t>
                </a:r>
                <a:r>
                  <a:rPr lang="en-US" dirty="0" smtClean="0"/>
                  <a:t>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 smtClean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and the </a:t>
                </a:r>
                <a:r>
                  <a:rPr lang="en-US" dirty="0" smtClean="0"/>
                  <a:t>homogeneous </a:t>
                </a:r>
                <a:r>
                  <a:rPr lang="en-US" dirty="0"/>
                  <a:t>dielectric separating the conductors is characterized by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 smtClean="0"/>
                  <a:t>, and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dirty="0" smtClean="0"/>
              </a:p>
              <a:p>
                <a:pPr marL="571500" indent="-571500" algn="just">
                  <a:buFont typeface="+mj-lt"/>
                  <a:buAutoNum type="romanLcPeriod"/>
                </a:pPr>
                <a:r>
                  <a:rPr lang="en-US" dirty="0"/>
                  <a:t>G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dirty="0" smtClean="0"/>
                  <a:t>; </a:t>
                </a:r>
                <a:r>
                  <a:rPr lang="en-US" dirty="0"/>
                  <a:t>R is the ac resistance per unit length of the conductors comprising the line and G is the conductance per unit length due to the dielectric medium separating the </a:t>
                </a:r>
                <a:r>
                  <a:rPr lang="en-US" dirty="0" smtClean="0"/>
                  <a:t>conductors</a:t>
                </a:r>
              </a:p>
              <a:p>
                <a:pPr marL="571500" indent="-571500" algn="just">
                  <a:buFont typeface="+mj-lt"/>
                  <a:buAutoNum type="romanLcPeriod"/>
                </a:pPr>
                <a:r>
                  <a:rPr lang="en-US" dirty="0" smtClean="0"/>
                  <a:t>The </a:t>
                </a:r>
                <a:r>
                  <a:rPr lang="en-US" dirty="0"/>
                  <a:t>external inductance per unit length; that is, L = </a:t>
                </a:r>
                <a:r>
                  <a:rPr lang="en-US" dirty="0" smtClean="0"/>
                  <a:t>L ext</a:t>
                </a:r>
                <a:r>
                  <a:rPr lang="en-US" dirty="0"/>
                  <a:t>. The effects of internal inductance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 smtClean="0"/>
                  <a:t> (=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r>
                  <a:rPr lang="en-US" dirty="0" smtClean="0"/>
                  <a:t> ) </a:t>
                </a:r>
                <a:r>
                  <a:rPr lang="en-US" dirty="0"/>
                  <a:t>are negligible as high frequencies at which most communication systems operate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0"/>
                <a:ext cx="8458200" cy="6553200"/>
              </a:xfrm>
              <a:blipFill>
                <a:blip r:embed="rId2"/>
                <a:stretch>
                  <a:fillRect l="-1225" t="-1395" r="-1225" b="-1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36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534400" cy="6019800"/>
          </a:xfrm>
        </p:spPr>
        <p:txBody>
          <a:bodyPr/>
          <a:lstStyle/>
          <a:p>
            <a:pPr marL="571500" indent="-571500">
              <a:buFont typeface="+mj-lt"/>
              <a:buAutoNum type="romanLcPeriod" startAt="5"/>
            </a:pPr>
            <a:r>
              <a:rPr lang="en-US" dirty="0"/>
              <a:t>For each line</a:t>
            </a:r>
            <a:r>
              <a:rPr lang="en-US" dirty="0" smtClean="0"/>
              <a:t>,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/>
              <a:t>Distributed Line Parameters at High Frequencies</a:t>
            </a:r>
            <a:endParaRPr lang="en-US" b="1" dirty="0" smtClean="0"/>
          </a:p>
          <a:p>
            <a:pPr marL="571500" indent="-571500">
              <a:buFont typeface="+mj-lt"/>
              <a:buAutoNum type="romanLcPeriod" startAt="5"/>
            </a:pPr>
            <a:endParaRPr lang="en-US" dirty="0"/>
          </a:p>
          <a:p>
            <a:pPr marL="571500" indent="-571500">
              <a:buFont typeface="+mj-lt"/>
              <a:buAutoNum type="romanLcPeriod" startAt="5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667504"/>
            <a:ext cx="4114800" cy="10205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26965"/>
            <a:ext cx="7443722" cy="435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62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610600" cy="6096000"/>
          </a:xfrm>
        </p:spPr>
        <p:txBody>
          <a:bodyPr/>
          <a:lstStyle/>
          <a:p>
            <a:pPr algn="just"/>
            <a:r>
              <a:rPr lang="en-US" dirty="0"/>
              <a:t>Since we are already familiar with the basic characteristics of wave </a:t>
            </a:r>
            <a:r>
              <a:rPr lang="en-US" dirty="0" smtClean="0"/>
              <a:t>propagation, </a:t>
            </a:r>
            <a:r>
              <a:rPr lang="en-US" dirty="0"/>
              <a:t>let us turn immediately to the case of sinusoidal time variation, and </a:t>
            </a:r>
            <a:r>
              <a:rPr lang="en-US" dirty="0" smtClean="0"/>
              <a:t>use the </a:t>
            </a:r>
            <a:r>
              <a:rPr lang="en-US" dirty="0"/>
              <a:t>notation for complex </a:t>
            </a:r>
            <a:r>
              <a:rPr lang="en-US" dirty="0" smtClean="0"/>
              <a:t>quantities</a:t>
            </a:r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981200"/>
            <a:ext cx="7848601" cy="9625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43764"/>
            <a:ext cx="8332878" cy="299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75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81000"/>
                <a:ext cx="8534400" cy="5943600"/>
              </a:xfrm>
            </p:spPr>
            <p:txBody>
              <a:bodyPr/>
              <a:lstStyle/>
              <a:p>
                <a:r>
                  <a:rPr lang="en-US" dirty="0" smtClean="0"/>
                  <a:t>Now write the voltage equation around the perimeter of the circuit above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en-US" dirty="0"/>
                  <a:t>As we let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approach zero,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en-US" dirty="0" smtClean="0"/>
                  <a:t>also </a:t>
                </a:r>
                <a:r>
                  <a:rPr lang="en-US" dirty="0"/>
                  <a:t>approaches zero, and the second term </a:t>
                </a:r>
                <a:r>
                  <a:rPr lang="en-US" dirty="0" smtClean="0"/>
                  <a:t>on the </a:t>
                </a:r>
                <a:r>
                  <a:rPr lang="en-US" dirty="0"/>
                  <a:t>right </a:t>
                </a:r>
                <a:r>
                  <a:rPr lang="en-US" dirty="0" smtClean="0"/>
                  <a:t>vanishes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81000"/>
                <a:ext cx="8534400" cy="5943600"/>
              </a:xfrm>
              <a:blipFill>
                <a:blip r:embed="rId2"/>
                <a:stretch>
                  <a:fillRect l="-857" t="-923" r="-1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219200"/>
            <a:ext cx="8229600" cy="17546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4045898"/>
            <a:ext cx="6044341" cy="213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78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534400" cy="6019800"/>
          </a:xfrm>
        </p:spPr>
        <p:txBody>
          <a:bodyPr/>
          <a:lstStyle/>
          <a:p>
            <a:r>
              <a:rPr lang="en-US" dirty="0" smtClean="0"/>
              <a:t>Second equation for current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From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77" y="914400"/>
            <a:ext cx="7127527" cy="2438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9" y="3388658"/>
            <a:ext cx="5761659" cy="11071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4531658"/>
            <a:ext cx="5006442" cy="182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440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09600"/>
                <a:ext cx="8229600" cy="5715000"/>
              </a:xfrm>
            </p:spPr>
            <p:txBody>
              <a:bodyPr/>
              <a:lstStyle/>
              <a:p>
                <a:r>
                  <a:rPr lang="en-US" dirty="0" smtClean="0"/>
                  <a:t>Similarly, from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r>
                  <a:rPr lang="en-US" dirty="0" smtClean="0"/>
                  <a:t>Carefully comparing the above four equations </a:t>
                </a:r>
              </a:p>
              <a:p>
                <a:pPr marL="0" indent="0">
                  <a:buNone/>
                </a:pPr>
                <a:r>
                  <a:rPr lang="en-US" b="1" dirty="0" smtClean="0"/>
                  <a:t>Propagation constant (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b="1" dirty="0" smtClean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09600"/>
                <a:ext cx="8229600" cy="5715000"/>
              </a:xfrm>
              <a:blipFill>
                <a:blip r:embed="rId2"/>
                <a:stretch>
                  <a:fillRect l="-1333" t="-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7643"/>
            <a:ext cx="6258094" cy="11359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194214"/>
            <a:ext cx="5105400" cy="15332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1" y="4867770"/>
            <a:ext cx="5638800" cy="148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9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81000"/>
                <a:ext cx="8534400" cy="5943600"/>
              </a:xfrm>
            </p:spPr>
            <p:txBody>
              <a:bodyPr/>
              <a:lstStyle/>
              <a:p>
                <a:r>
                  <a:rPr lang="en-US" b="1" dirty="0" smtClean="0"/>
                  <a:t>Wavelength (</a:t>
                </a:r>
                <a14:m>
                  <m:oMath xmlns:m="http://schemas.openxmlformats.org/officeDocument/2006/math">
                    <m:r>
                      <a:rPr lang="el-GR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 dirty="0" smtClean="0"/>
                  <a:t>)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r>
                  <a:rPr lang="en-US" b="1" dirty="0" smtClean="0"/>
                  <a:t>Phase velocity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b="1" dirty="0" smtClean="0"/>
                  <a:t>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81000"/>
                <a:ext cx="8534400" cy="5943600"/>
              </a:xfrm>
              <a:blipFill>
                <a:blip r:embed="rId2"/>
                <a:stretch>
                  <a:fillRect l="-857" t="-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84330"/>
            <a:ext cx="1828800" cy="12254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1" y="2971800"/>
            <a:ext cx="1828799" cy="11710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945" y="4288464"/>
            <a:ext cx="2522455" cy="142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863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28600"/>
                <a:ext cx="8458200" cy="6096000"/>
              </a:xfrm>
            </p:spPr>
            <p:txBody>
              <a:bodyPr/>
              <a:lstStyle/>
              <a:p>
                <a:r>
                  <a:rPr lang="en-US" b="1" dirty="0" smtClean="0"/>
                  <a:t>Characteristic impedance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𝑶</m:t>
                        </m:r>
                      </m:sub>
                    </m:sSub>
                  </m:oMath>
                </a14:m>
                <a:r>
                  <a:rPr lang="en-US" b="1" dirty="0" smtClean="0"/>
                  <a:t>)</a:t>
                </a:r>
              </a:p>
              <a:p>
                <a:endParaRPr lang="en-US" b="1" dirty="0"/>
              </a:p>
              <a:p>
                <a:endParaRPr lang="en-US" b="1" dirty="0" smtClean="0"/>
              </a:p>
              <a:p>
                <a:endParaRPr lang="en-US" b="1" dirty="0"/>
              </a:p>
              <a:p>
                <a:endParaRPr lang="en-US" b="1" dirty="0" smtClean="0"/>
              </a:p>
              <a:p>
                <a:endParaRPr lang="en-US" b="1" dirty="0"/>
              </a:p>
              <a:p>
                <a:endParaRPr lang="en-US" b="1" dirty="0" smtClean="0"/>
              </a:p>
              <a:p>
                <a:endParaRPr lang="en-US" b="1" dirty="0"/>
              </a:p>
              <a:p>
                <a:pPr marL="0" indent="0">
                  <a:buNone/>
                </a:pPr>
                <a:r>
                  <a:rPr lang="en-US" b="1" dirty="0" smtClean="0"/>
                  <a:t>Reflection coefficient (</a:t>
                </a:r>
                <a:r>
                  <a:rPr lang="az-Cyrl-AZ" b="1" dirty="0" smtClean="0"/>
                  <a:t>Г</a:t>
                </a:r>
                <a:r>
                  <a:rPr lang="en-US" b="1" dirty="0" smtClean="0"/>
                  <a:t>)</a:t>
                </a:r>
              </a:p>
              <a:p>
                <a:pPr marL="0" indent="0">
                  <a:buNone/>
                </a:pPr>
                <a:endParaRPr lang="en-US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28600"/>
                <a:ext cx="8458200" cy="6096000"/>
              </a:xfrm>
              <a:blipFill>
                <a:blip r:embed="rId2"/>
                <a:stretch>
                  <a:fillRect l="-1297" t="-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873180"/>
            <a:ext cx="3200399" cy="30670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584808"/>
            <a:ext cx="6688425" cy="151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193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85800"/>
                <a:ext cx="8077200" cy="5638800"/>
              </a:xfrm>
            </p:spPr>
            <p:txBody>
              <a:bodyPr/>
              <a:lstStyle/>
              <a:p>
                <a:r>
                  <a:rPr lang="en-US" b="1" dirty="0" smtClean="0"/>
                  <a:t>Standing wave ratio (SWR)</a:t>
                </a:r>
              </a:p>
              <a:p>
                <a:endParaRPr lang="en-US" b="1" dirty="0"/>
              </a:p>
              <a:p>
                <a:endParaRPr lang="en-US" b="1" dirty="0" smtClean="0"/>
              </a:p>
              <a:p>
                <a:endParaRPr lang="en-US" b="1" dirty="0"/>
              </a:p>
              <a:p>
                <a:endParaRPr lang="en-US" b="1" dirty="0" smtClean="0"/>
              </a:p>
              <a:p>
                <a:endParaRPr lang="en-US" b="1" dirty="0"/>
              </a:p>
              <a:p>
                <a:r>
                  <a:rPr lang="en-US" b="1" dirty="0" smtClean="0"/>
                  <a:t>Input impedance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𝒊𝒏</m:t>
                        </m:r>
                      </m:sub>
                    </m:sSub>
                  </m:oMath>
                </a14:m>
                <a:r>
                  <a:rPr lang="en-US" b="1" dirty="0" smtClean="0"/>
                  <a:t>)</a:t>
                </a:r>
              </a:p>
              <a:p>
                <a:endParaRPr lang="en-US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85800"/>
                <a:ext cx="8077200" cy="5638800"/>
              </a:xfrm>
              <a:blipFill>
                <a:blip r:embed="rId2"/>
                <a:stretch>
                  <a:fillRect l="-906" t="-9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1" y="1371599"/>
            <a:ext cx="3702960" cy="19812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868" y="4114800"/>
            <a:ext cx="8132688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28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533400"/>
                <a:ext cx="8458200" cy="5791200"/>
              </a:xfrm>
            </p:spPr>
            <p:txBody>
              <a:bodyPr/>
              <a:lstStyle/>
              <a:p>
                <a:pPr algn="just"/>
                <a:r>
                  <a:rPr lang="en-US" dirty="0" smtClean="0"/>
                  <a:t>We often </a:t>
                </a:r>
                <a:r>
                  <a:rPr lang="en-US" dirty="0"/>
                  <a:t>terminate a transmission line at z = 0 with a load impedance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which </a:t>
                </a:r>
                <a:r>
                  <a:rPr lang="en-US" dirty="0" smtClean="0"/>
                  <a:t>may represent </a:t>
                </a:r>
                <a:r>
                  <a:rPr lang="en-US" dirty="0"/>
                  <a:t>an antenna, the input circuit of a television receiver, or an amplifier </a:t>
                </a:r>
                <a:r>
                  <a:rPr lang="en-US" dirty="0" smtClean="0"/>
                  <a:t>on a </a:t>
                </a:r>
                <a:r>
                  <a:rPr lang="en-US" dirty="0"/>
                  <a:t>telephone </a:t>
                </a:r>
                <a:r>
                  <a:rPr lang="en-US" dirty="0" smtClean="0"/>
                  <a:t>line </a:t>
                </a:r>
              </a:p>
              <a:p>
                <a:pPr algn="just"/>
                <a:r>
                  <a:rPr lang="en-US" dirty="0" smtClean="0"/>
                  <a:t>The </a:t>
                </a:r>
                <a:r>
                  <a:rPr lang="en-US" dirty="0"/>
                  <a:t>input impedance at z = </a:t>
                </a:r>
                <a:r>
                  <a:rPr lang="en-US" dirty="0" smtClean="0"/>
                  <a:t>-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is then written simply </a:t>
                </a:r>
                <a:r>
                  <a:rPr lang="en-US" dirty="0" smtClean="0"/>
                  <a:t>as</a:t>
                </a:r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533400"/>
                <a:ext cx="8458200" cy="5791200"/>
              </a:xfrm>
              <a:blipFill>
                <a:blip r:embed="rId2"/>
                <a:stretch>
                  <a:fillRect l="-865" t="-947" r="-1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43" y="2895600"/>
            <a:ext cx="807395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85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5791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 smtClean="0"/>
              <a:t>Transmission </a:t>
            </a:r>
            <a:r>
              <a:rPr lang="en-US" sz="2800" b="1" dirty="0"/>
              <a:t>Line Characteristics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1171620"/>
            <a:ext cx="7543800" cy="333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0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534400" cy="6019800"/>
          </a:xfrm>
        </p:spPr>
        <p:txBody>
          <a:bodyPr/>
          <a:lstStyle/>
          <a:p>
            <a:r>
              <a:rPr lang="en-US" b="1" dirty="0" smtClean="0"/>
              <a:t>Example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457200" y="1066800"/>
                <a:ext cx="7696200" cy="40318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3200" dirty="0" smtClean="0"/>
                  <a:t>A lossless transmission line is 80 cm long and operates at a frequency of 600 MHz. The line </a:t>
                </a:r>
                <a:r>
                  <a:rPr lang="en-US" sz="3200" dirty="0"/>
                  <a:t>parameters are L = 0.25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3200" dirty="0" smtClean="0"/>
                  <a:t>H/m </a:t>
                </a:r>
                <a:r>
                  <a:rPr lang="en-US" sz="3200" dirty="0"/>
                  <a:t>and C = 100 pF/m. Find the </a:t>
                </a:r>
                <a:endParaRPr lang="en-US" sz="3200" dirty="0" smtClean="0"/>
              </a:p>
              <a:p>
                <a:pPr marL="571500" indent="-571500" algn="just">
                  <a:buFont typeface="+mj-lt"/>
                  <a:buAutoNum type="romanLcPeriod"/>
                </a:pPr>
                <a:r>
                  <a:rPr lang="en-US" sz="3200" dirty="0" smtClean="0"/>
                  <a:t>characteristic impedance</a:t>
                </a:r>
                <a:r>
                  <a:rPr lang="en-US" sz="3200" dirty="0"/>
                  <a:t>, </a:t>
                </a:r>
              </a:p>
              <a:p>
                <a:pPr marL="571500" indent="-571500" algn="just">
                  <a:buFont typeface="+mj-lt"/>
                  <a:buAutoNum type="romanLcPeriod"/>
                </a:pPr>
                <a:r>
                  <a:rPr lang="en-US" sz="3200" dirty="0" smtClean="0"/>
                  <a:t> </a:t>
                </a:r>
                <a:r>
                  <a:rPr lang="en-US" sz="3200" dirty="0"/>
                  <a:t>phase constant, </a:t>
                </a:r>
              </a:p>
              <a:p>
                <a:pPr marL="571500" indent="-571500" algn="just">
                  <a:buFont typeface="+mj-lt"/>
                  <a:buAutoNum type="romanLcPeriod"/>
                </a:pPr>
                <a:r>
                  <a:rPr lang="en-US" sz="3200" dirty="0" smtClean="0"/>
                  <a:t> </a:t>
                </a:r>
                <a:r>
                  <a:rPr lang="en-US" sz="3200" dirty="0"/>
                  <a:t>velocity on the line, and </a:t>
                </a:r>
              </a:p>
              <a:p>
                <a:pPr marL="571500" indent="-571500" algn="just">
                  <a:buFont typeface="+mj-lt"/>
                  <a:buAutoNum type="romanLcPeriod"/>
                </a:pPr>
                <a:r>
                  <a:rPr lang="en-US" sz="3200" dirty="0" smtClean="0"/>
                  <a:t> </a:t>
                </a:r>
                <a:r>
                  <a:rPr lang="en-US" sz="3200" dirty="0"/>
                  <a:t>input impedance </a:t>
                </a:r>
                <a:r>
                  <a:rPr lang="en-US" sz="3200" dirty="0" smtClean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3200" dirty="0" smtClean="0"/>
                  <a:t> = </a:t>
                </a:r>
                <a:r>
                  <a:rPr lang="en-US" sz="3200" dirty="0"/>
                  <a:t>100 </a:t>
                </a:r>
                <a:r>
                  <a:rPr lang="el-GR" sz="3200" dirty="0" smtClean="0"/>
                  <a:t>Ω</a:t>
                </a:r>
                <a:r>
                  <a:rPr lang="en-US" sz="3200" dirty="0" smtClean="0"/>
                  <a:t>.</a:t>
                </a:r>
                <a:endParaRPr lang="en-US" sz="3200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66800"/>
                <a:ext cx="7696200" cy="4031873"/>
              </a:xfrm>
              <a:prstGeom prst="rect">
                <a:avLst/>
              </a:prstGeom>
              <a:blipFill>
                <a:blip r:embed="rId2"/>
                <a:stretch>
                  <a:fillRect l="-2059" t="-1967" r="-1900" b="-4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5600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1433</TotalTime>
  <Words>454</Words>
  <Application>Microsoft Office PowerPoint</Application>
  <PresentationFormat>On-screen Show (4:3)</PresentationFormat>
  <Paragraphs>94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Cambria Math</vt:lpstr>
      <vt:lpstr>Constantia</vt:lpstr>
      <vt:lpstr>Wingdings 2</vt:lpstr>
      <vt:lpstr>Flow</vt:lpstr>
      <vt:lpstr> TRANSMISSION LINES L4</vt:lpstr>
      <vt:lpstr>PowerPoint Presentation</vt:lpstr>
      <vt:lpstr>TRANSMISSION LINE PARAMETERS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user</cp:lastModifiedBy>
  <cp:revision>128</cp:revision>
  <dcterms:created xsi:type="dcterms:W3CDTF">2006-08-16T00:00:00Z</dcterms:created>
  <dcterms:modified xsi:type="dcterms:W3CDTF">2024-11-26T13:42:51Z</dcterms:modified>
</cp:coreProperties>
</file>