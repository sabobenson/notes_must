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305" r:id="rId2"/>
    <p:sldId id="306" r:id="rId3"/>
    <p:sldId id="307" r:id="rId4"/>
    <p:sldId id="308" r:id="rId5"/>
    <p:sldId id="309" r:id="rId6"/>
    <p:sldId id="320" r:id="rId7"/>
    <p:sldId id="322" r:id="rId8"/>
    <p:sldId id="323" r:id="rId9"/>
    <p:sldId id="325" r:id="rId10"/>
    <p:sldId id="326" r:id="rId11"/>
    <p:sldId id="334" r:id="rId12"/>
    <p:sldId id="335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46" r:id="rId24"/>
    <p:sldId id="347" r:id="rId25"/>
    <p:sldId id="348" r:id="rId26"/>
    <p:sldId id="361" r:id="rId27"/>
    <p:sldId id="362" r:id="rId28"/>
    <p:sldId id="363" r:id="rId29"/>
    <p:sldId id="365" r:id="rId30"/>
    <p:sldId id="366" r:id="rId31"/>
    <p:sldId id="393" r:id="rId32"/>
    <p:sldId id="394" r:id="rId33"/>
    <p:sldId id="396" r:id="rId34"/>
    <p:sldId id="397" r:id="rId35"/>
    <p:sldId id="398" r:id="rId36"/>
    <p:sldId id="399" r:id="rId37"/>
    <p:sldId id="400" r:id="rId38"/>
    <p:sldId id="401" r:id="rId39"/>
    <p:sldId id="402" r:id="rId40"/>
    <p:sldId id="403" r:id="rId41"/>
    <p:sldId id="404" r:id="rId42"/>
    <p:sldId id="405" r:id="rId43"/>
    <p:sldId id="406" r:id="rId44"/>
    <p:sldId id="407" r:id="rId45"/>
    <p:sldId id="258" r:id="rId46"/>
    <p:sldId id="259" r:id="rId47"/>
    <p:sldId id="260" r:id="rId48"/>
    <p:sldId id="261" r:id="rId49"/>
    <p:sldId id="262" r:id="rId50"/>
    <p:sldId id="263" r:id="rId51"/>
    <p:sldId id="264" r:id="rId52"/>
    <p:sldId id="265" r:id="rId53"/>
    <p:sldId id="266" r:id="rId54"/>
    <p:sldId id="267" r:id="rId55"/>
    <p:sldId id="268" r:id="rId56"/>
    <p:sldId id="269" r:id="rId57"/>
    <p:sldId id="270" r:id="rId58"/>
    <p:sldId id="271" r:id="rId59"/>
    <p:sldId id="272" r:id="rId60"/>
    <p:sldId id="273" r:id="rId61"/>
    <p:sldId id="274" r:id="rId62"/>
    <p:sldId id="275" r:id="rId63"/>
    <p:sldId id="276" r:id="rId64"/>
    <p:sldId id="302" r:id="rId65"/>
    <p:sldId id="303" r:id="rId6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E6810-86F7-4423-A62E-EA85523C93C5}" type="datetimeFigureOut">
              <a:rPr lang="en-US" smtClean="0"/>
              <a:t>12/4/2024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747C3-CAD1-4D77-B16E-8BCF7976F9A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F5DE-5969-4F41-B227-C8205C113AF9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F77E9-40FD-47F8-A2A8-DD9EBF7E85BE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C4EA7-A4BE-4A64-B6F5-FAF20C91AAFC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6CFE-EEE7-4ED2-9E21-AB6E635C97AE}" type="datetime1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D63A0-AD89-4465-8858-4EF4F3A4C5A6}" type="datetime1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F6C97-A957-49D0-902F-95B67991FB42}" type="datetime1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6868D-2BB2-416F-B1C6-1EA24EF78019}" type="datetime1">
              <a:rPr lang="en-US" smtClean="0"/>
              <a:t>12/4/2024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5D49-5E8C-462A-A672-160BFA3F98CB}" type="datetime1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F4CAA-E643-4A43-90DC-68AEC6F601A2}" type="datetime1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E8979-0F31-4B2B-9375-B8EC5AF6A80F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C1824-1916-4D76-9E55-AE7A8272AE5B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3D41B-3BDC-4AB6-A652-7D4FC43E1178}" type="datetime1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gif"/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3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1800" y="3124200"/>
            <a:ext cx="4191000" cy="503686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lang="en-GB" sz="3200" spc="-9" dirty="0" smtClean="0">
                <a:solidFill>
                  <a:srgbClr val="323299"/>
                </a:solidFill>
              </a:rPr>
              <a:t>OPTICAL SOURCES</a:t>
            </a:r>
            <a:endParaRPr sz="3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365461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2600107" marR="4454" indent="-2070063">
              <a:spcBef>
                <a:spcPts val="88"/>
              </a:spcBef>
            </a:pPr>
            <a:r>
              <a:rPr dirty="0"/>
              <a:t>Considerations</a:t>
            </a:r>
            <a:r>
              <a:rPr spc="-136" dirty="0"/>
              <a:t> </a:t>
            </a:r>
            <a:r>
              <a:rPr dirty="0"/>
              <a:t>with</a:t>
            </a:r>
            <a:r>
              <a:rPr spc="-127" dirty="0"/>
              <a:t> </a:t>
            </a:r>
            <a:r>
              <a:rPr spc="-9" dirty="0"/>
              <a:t>Optical Sources</a:t>
            </a:r>
          </a:p>
        </p:txBody>
      </p:sp>
      <p:sp>
        <p:nvSpPr>
          <p:cNvPr id="3" name="object 3"/>
          <p:cNvSpPr/>
          <p:nvPr/>
        </p:nvSpPr>
        <p:spPr>
          <a:xfrm>
            <a:off x="661904" y="3428769"/>
            <a:ext cx="7819097" cy="3112034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3" y="3428993"/>
                </a:moveTo>
                <a:lnTo>
                  <a:pt x="9143993" y="0"/>
                </a:lnTo>
                <a:lnTo>
                  <a:pt x="0" y="0"/>
                </a:lnTo>
                <a:lnTo>
                  <a:pt x="0" y="3428993"/>
                </a:lnTo>
                <a:lnTo>
                  <a:pt x="9143993" y="342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21229" y="1868688"/>
            <a:ext cx="6504512" cy="4118875"/>
          </a:xfrm>
          <a:prstGeom prst="rect">
            <a:avLst/>
          </a:prstGeom>
        </p:spPr>
        <p:txBody>
          <a:bodyPr vert="horz" wrap="square" lIns="0" tIns="96321" rIns="0" bIns="0" rtlCol="0">
            <a:spAutoFit/>
          </a:bodyPr>
          <a:lstStyle/>
          <a:p>
            <a:pPr marL="311233" indent="-300098" algn="just">
              <a:spcBef>
                <a:spcPts val="758"/>
              </a:spcBef>
              <a:buChar char="•"/>
              <a:tabLst>
                <a:tab pos="311233" algn="l"/>
              </a:tabLst>
            </a:pPr>
            <a:r>
              <a:rPr sz="2800" dirty="0">
                <a:latin typeface="Arial"/>
                <a:cs typeface="Arial"/>
              </a:rPr>
              <a:t>Physical</a:t>
            </a:r>
            <a:r>
              <a:rPr sz="2800" spc="-57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dimensions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48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suit</a:t>
            </a:r>
            <a:r>
              <a:rPr sz="2800" spc="-31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39" dirty="0">
                <a:latin typeface="Arial"/>
                <a:cs typeface="Arial"/>
              </a:rPr>
              <a:t> </a:t>
            </a:r>
            <a:r>
              <a:rPr sz="2800" spc="-9" dirty="0">
                <a:latin typeface="Arial"/>
                <a:cs typeface="Arial"/>
              </a:rPr>
              <a:t>fiber</a:t>
            </a:r>
            <a:endParaRPr sz="2800">
              <a:latin typeface="Arial"/>
              <a:cs typeface="Arial"/>
            </a:endParaRPr>
          </a:p>
          <a:p>
            <a:pPr marL="311233" indent="-300098" algn="just">
              <a:spcBef>
                <a:spcPts val="675"/>
              </a:spcBef>
              <a:buChar char="•"/>
              <a:tabLst>
                <a:tab pos="311233" algn="l"/>
              </a:tabLst>
            </a:pPr>
            <a:r>
              <a:rPr sz="2800" dirty="0">
                <a:latin typeface="Arial"/>
                <a:cs typeface="Arial"/>
              </a:rPr>
              <a:t>Narrow</a:t>
            </a:r>
            <a:r>
              <a:rPr sz="2800" spc="-66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radiation</a:t>
            </a:r>
            <a:r>
              <a:rPr sz="2800" spc="-4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pattern</a:t>
            </a:r>
            <a:r>
              <a:rPr sz="2800" spc="-53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(beam</a:t>
            </a:r>
            <a:r>
              <a:rPr sz="2800" spc="-53" dirty="0">
                <a:latin typeface="Arial"/>
                <a:cs typeface="Arial"/>
              </a:rPr>
              <a:t> </a:t>
            </a:r>
            <a:r>
              <a:rPr sz="2800" spc="-9" dirty="0">
                <a:latin typeface="Arial"/>
                <a:cs typeface="Arial"/>
              </a:rPr>
              <a:t>width)</a:t>
            </a:r>
            <a:endParaRPr sz="2800">
              <a:latin typeface="Arial"/>
              <a:cs typeface="Arial"/>
            </a:endParaRPr>
          </a:p>
          <a:p>
            <a:pPr marL="311233" marR="4454" indent="-300655" algn="just">
              <a:spcBef>
                <a:spcPts val="671"/>
              </a:spcBef>
              <a:buChar char="•"/>
              <a:tabLst>
                <a:tab pos="311233" algn="l"/>
              </a:tabLst>
            </a:pPr>
            <a:r>
              <a:rPr sz="2800" dirty="0">
                <a:latin typeface="Arial"/>
                <a:cs typeface="Arial"/>
              </a:rPr>
              <a:t>Linearity</a:t>
            </a:r>
            <a:r>
              <a:rPr sz="2800" spc="-61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(output</a:t>
            </a:r>
            <a:r>
              <a:rPr sz="2800" spc="-57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light</a:t>
            </a:r>
            <a:r>
              <a:rPr sz="2800" spc="-39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power</a:t>
            </a:r>
            <a:r>
              <a:rPr sz="2800" spc="-53" dirty="0">
                <a:latin typeface="Arial"/>
                <a:cs typeface="Arial"/>
              </a:rPr>
              <a:t> </a:t>
            </a:r>
            <a:r>
              <a:rPr sz="2800" spc="-9" dirty="0">
                <a:latin typeface="Arial"/>
                <a:cs typeface="Arial"/>
              </a:rPr>
              <a:t>proportional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39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driving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9" dirty="0">
                <a:latin typeface="Arial"/>
                <a:cs typeface="Arial"/>
              </a:rPr>
              <a:t>current)</a:t>
            </a:r>
            <a:endParaRPr sz="2800">
              <a:latin typeface="Arial"/>
              <a:cs typeface="Arial"/>
            </a:endParaRPr>
          </a:p>
          <a:p>
            <a:pPr marL="311233" marR="1051735" indent="-300655" algn="just">
              <a:spcBef>
                <a:spcPts val="675"/>
              </a:spcBef>
              <a:buChar char="•"/>
              <a:tabLst>
                <a:tab pos="311233" algn="l"/>
              </a:tabLst>
            </a:pPr>
            <a:r>
              <a:rPr sz="2800" dirty="0">
                <a:latin typeface="Arial"/>
                <a:cs typeface="Arial"/>
              </a:rPr>
              <a:t>Ability</a:t>
            </a:r>
            <a:r>
              <a:rPr sz="2800" spc="-48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4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</a:t>
            </a:r>
            <a:r>
              <a:rPr sz="2800" spc="-48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directly</a:t>
            </a:r>
            <a:r>
              <a:rPr sz="2800" spc="-4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modulated</a:t>
            </a:r>
            <a:r>
              <a:rPr sz="2800" spc="-53" dirty="0">
                <a:latin typeface="Arial"/>
                <a:cs typeface="Arial"/>
              </a:rPr>
              <a:t> </a:t>
            </a:r>
            <a:r>
              <a:rPr sz="2800" spc="-22" dirty="0">
                <a:latin typeface="Arial"/>
                <a:cs typeface="Arial"/>
              </a:rPr>
              <a:t>by </a:t>
            </a:r>
            <a:r>
              <a:rPr sz="2800" dirty="0">
                <a:latin typeface="Arial"/>
                <a:cs typeface="Arial"/>
              </a:rPr>
              <a:t>varying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driving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9" dirty="0">
                <a:latin typeface="Arial"/>
                <a:cs typeface="Arial"/>
              </a:rPr>
              <a:t>current</a:t>
            </a:r>
            <a:endParaRPr sz="2800">
              <a:latin typeface="Arial"/>
              <a:cs typeface="Arial"/>
            </a:endParaRPr>
          </a:p>
          <a:p>
            <a:pPr marL="311233" indent="-300098" algn="just">
              <a:spcBef>
                <a:spcPts val="675"/>
              </a:spcBef>
              <a:buChar char="•"/>
              <a:tabLst>
                <a:tab pos="311233" algn="l"/>
              </a:tabLst>
            </a:pPr>
            <a:r>
              <a:rPr sz="2800" dirty="0">
                <a:latin typeface="Arial"/>
                <a:cs typeface="Arial"/>
              </a:rPr>
              <a:t>Fast</a:t>
            </a:r>
            <a:r>
              <a:rPr sz="2800" spc="-48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response</a:t>
            </a:r>
            <a:r>
              <a:rPr sz="2800" spc="-57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time</a:t>
            </a:r>
            <a:r>
              <a:rPr sz="2800" spc="-13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(wide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9" dirty="0">
                <a:latin typeface="Arial"/>
                <a:cs typeface="Arial"/>
              </a:rPr>
              <a:t>band)</a:t>
            </a:r>
            <a:endParaRPr sz="2800">
              <a:latin typeface="Arial"/>
              <a:cs typeface="Arial"/>
            </a:endParaRPr>
          </a:p>
          <a:p>
            <a:pPr marL="311233" indent="-300098" algn="just">
              <a:spcBef>
                <a:spcPts val="671"/>
              </a:spcBef>
              <a:buChar char="•"/>
              <a:tabLst>
                <a:tab pos="311233" algn="l"/>
              </a:tabLst>
            </a:pPr>
            <a:r>
              <a:rPr sz="2800" dirty="0">
                <a:latin typeface="Arial"/>
                <a:cs typeface="Arial"/>
              </a:rPr>
              <a:t>Adequate</a:t>
            </a:r>
            <a:r>
              <a:rPr sz="2800" spc="-53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output</a:t>
            </a:r>
            <a:r>
              <a:rPr sz="2800" spc="-53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power</a:t>
            </a:r>
            <a:r>
              <a:rPr sz="2800" spc="-48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into</a:t>
            </a:r>
            <a:r>
              <a:rPr sz="2800" spc="-4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44" dirty="0">
                <a:latin typeface="Arial"/>
                <a:cs typeface="Arial"/>
              </a:rPr>
              <a:t> </a:t>
            </a:r>
            <a:r>
              <a:rPr sz="2800" spc="-9" dirty="0">
                <a:latin typeface="Arial"/>
                <a:cs typeface="Arial"/>
              </a:rPr>
              <a:t>fiber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985202"/>
          </a:xfrm>
          <a:prstGeom prst="rect">
            <a:avLst/>
          </a:prstGeom>
        </p:spPr>
        <p:txBody>
          <a:bodyPr vert="horz" wrap="square" lIns="0" tIns="305114" rIns="0" bIns="0" rtlCol="0">
            <a:spAutoFit/>
          </a:bodyPr>
          <a:lstStyle/>
          <a:p>
            <a:pPr marL="1618525">
              <a:spcBef>
                <a:spcPts val="88"/>
              </a:spcBef>
            </a:pPr>
            <a:r>
              <a:rPr spc="-9" dirty="0"/>
              <a:t>Considerations…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5990" y="2151682"/>
            <a:ext cx="5830114" cy="4061070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311233" indent="-300098">
              <a:spcBef>
                <a:spcPts val="88"/>
              </a:spcBef>
              <a:buChar char="•"/>
              <a:tabLst>
                <a:tab pos="311233" algn="l"/>
              </a:tabLst>
            </a:pPr>
            <a:r>
              <a:rPr sz="2800" dirty="0">
                <a:latin typeface="Arial"/>
                <a:cs typeface="Arial"/>
              </a:rPr>
              <a:t>Narrow</a:t>
            </a:r>
            <a:r>
              <a:rPr sz="2800" spc="-53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spectral</a:t>
            </a:r>
            <a:r>
              <a:rPr sz="2800" spc="-39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width</a:t>
            </a:r>
            <a:r>
              <a:rPr sz="2800" spc="-39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(or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line</a:t>
            </a:r>
            <a:r>
              <a:rPr sz="2800" spc="-18" dirty="0">
                <a:latin typeface="Arial"/>
                <a:cs typeface="Arial"/>
              </a:rPr>
              <a:t> </a:t>
            </a:r>
            <a:r>
              <a:rPr sz="2800" spc="-9" dirty="0">
                <a:latin typeface="Arial"/>
                <a:cs typeface="Arial"/>
              </a:rPr>
              <a:t>width)</a:t>
            </a:r>
            <a:endParaRPr sz="2800">
              <a:latin typeface="Arial"/>
              <a:cs typeface="Arial"/>
            </a:endParaRPr>
          </a:p>
          <a:p>
            <a:pPr>
              <a:spcBef>
                <a:spcPts val="1491"/>
              </a:spcBef>
              <a:buFont typeface="Arial"/>
              <a:buChar char="•"/>
            </a:pPr>
            <a:endParaRPr sz="2800">
              <a:latin typeface="Arial"/>
              <a:cs typeface="Arial"/>
            </a:endParaRPr>
          </a:p>
          <a:p>
            <a:pPr marL="311233" indent="-300098">
              <a:buChar char="•"/>
              <a:tabLst>
                <a:tab pos="311233" algn="l"/>
              </a:tabLst>
            </a:pPr>
            <a:r>
              <a:rPr sz="2800" dirty="0">
                <a:latin typeface="Arial"/>
                <a:cs typeface="Arial"/>
              </a:rPr>
              <a:t>Stability</a:t>
            </a:r>
            <a:r>
              <a:rPr sz="2800" spc="-61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57" dirty="0">
                <a:latin typeface="Arial"/>
                <a:cs typeface="Arial"/>
              </a:rPr>
              <a:t> </a:t>
            </a:r>
            <a:r>
              <a:rPr sz="2800" spc="-9" dirty="0">
                <a:latin typeface="Arial"/>
                <a:cs typeface="Arial"/>
              </a:rPr>
              <a:t>efficiency</a:t>
            </a:r>
            <a:endParaRPr sz="2800">
              <a:latin typeface="Arial"/>
              <a:cs typeface="Arial"/>
            </a:endParaRPr>
          </a:p>
          <a:p>
            <a:pPr>
              <a:spcBef>
                <a:spcPts val="1486"/>
              </a:spcBef>
              <a:buFont typeface="Arial"/>
              <a:buChar char="•"/>
            </a:pPr>
            <a:endParaRPr sz="2800">
              <a:latin typeface="Arial"/>
              <a:cs typeface="Arial"/>
            </a:endParaRPr>
          </a:p>
          <a:p>
            <a:pPr marL="311233" indent="-300098">
              <a:buChar char="•"/>
              <a:tabLst>
                <a:tab pos="311233" algn="l"/>
              </a:tabLst>
            </a:pPr>
            <a:r>
              <a:rPr sz="2800" dirty="0">
                <a:latin typeface="Arial"/>
                <a:cs typeface="Arial"/>
              </a:rPr>
              <a:t>Driving</a:t>
            </a:r>
            <a:r>
              <a:rPr sz="2800" spc="-57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circuit</a:t>
            </a:r>
            <a:r>
              <a:rPr sz="2800" spc="-39" dirty="0">
                <a:latin typeface="Arial"/>
                <a:cs typeface="Arial"/>
              </a:rPr>
              <a:t> </a:t>
            </a:r>
            <a:r>
              <a:rPr sz="2800" spc="-9" dirty="0">
                <a:latin typeface="Arial"/>
                <a:cs typeface="Arial"/>
              </a:rPr>
              <a:t>issues</a:t>
            </a:r>
            <a:endParaRPr sz="2800">
              <a:latin typeface="Arial"/>
              <a:cs typeface="Arial"/>
            </a:endParaRPr>
          </a:p>
          <a:p>
            <a:pPr>
              <a:spcBef>
                <a:spcPts val="1486"/>
              </a:spcBef>
              <a:buFont typeface="Arial"/>
              <a:buChar char="•"/>
            </a:pPr>
            <a:endParaRPr sz="2800">
              <a:latin typeface="Arial"/>
              <a:cs typeface="Arial"/>
            </a:endParaRPr>
          </a:p>
          <a:p>
            <a:pPr marL="311233" indent="-300098">
              <a:buChar char="•"/>
              <a:tabLst>
                <a:tab pos="311233" algn="l"/>
              </a:tabLst>
            </a:pPr>
            <a:r>
              <a:rPr sz="2800" dirty="0">
                <a:latin typeface="Arial"/>
                <a:cs typeface="Arial"/>
              </a:rPr>
              <a:t>Reliability</a:t>
            </a:r>
            <a:r>
              <a:rPr sz="2800" spc="-53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8" dirty="0">
                <a:latin typeface="Arial"/>
                <a:cs typeface="Arial"/>
              </a:rPr>
              <a:t>cost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1" y="512673"/>
            <a:ext cx="7162800" cy="1365461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492695" marR="4454" indent="-1482116">
              <a:spcBef>
                <a:spcPts val="88"/>
              </a:spcBef>
            </a:pPr>
            <a:r>
              <a:rPr b="1" dirty="0">
                <a:solidFill>
                  <a:srgbClr val="323299"/>
                </a:solidFill>
                <a:latin typeface="Arial"/>
                <a:cs typeface="Arial"/>
              </a:rPr>
              <a:t>Semiconductor</a:t>
            </a:r>
            <a:r>
              <a:rPr b="1" spc="-162" dirty="0">
                <a:solidFill>
                  <a:srgbClr val="323299"/>
                </a:solidFill>
                <a:latin typeface="Arial"/>
                <a:cs typeface="Arial"/>
              </a:rPr>
              <a:t> </a:t>
            </a:r>
            <a:r>
              <a:rPr b="1" spc="-9" dirty="0">
                <a:solidFill>
                  <a:srgbClr val="323299"/>
                </a:solidFill>
                <a:latin typeface="Arial"/>
                <a:cs typeface="Arial"/>
              </a:rPr>
              <a:t>Light 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2024435"/>
            <a:ext cx="8153400" cy="4011778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311233" marR="212685" indent="-300655" algn="just">
              <a:spcBef>
                <a:spcPts val="83"/>
              </a:spcBef>
              <a:buChar char="•"/>
              <a:tabLst>
                <a:tab pos="311233" algn="l"/>
                <a:tab pos="4645115" algn="l"/>
              </a:tabLst>
            </a:pPr>
            <a:r>
              <a:rPr sz="2500" dirty="0">
                <a:latin typeface="Arial"/>
                <a:cs typeface="Arial"/>
              </a:rPr>
              <a:t>A</a:t>
            </a:r>
            <a:r>
              <a:rPr sz="2500" spc="-48" dirty="0"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CC0000"/>
                </a:solidFill>
                <a:latin typeface="Arial"/>
                <a:cs typeface="Arial"/>
              </a:rPr>
              <a:t>PN</a:t>
            </a:r>
            <a:r>
              <a:rPr sz="2500" spc="-39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junction</a:t>
            </a:r>
            <a:r>
              <a:rPr sz="2500" spc="-31" dirty="0"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CC9900"/>
                </a:solidFill>
                <a:latin typeface="Arial"/>
                <a:cs typeface="Arial"/>
              </a:rPr>
              <a:t>(that</a:t>
            </a:r>
            <a:r>
              <a:rPr sz="2500" spc="-39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CC9900"/>
                </a:solidFill>
                <a:latin typeface="Arial"/>
                <a:cs typeface="Arial"/>
              </a:rPr>
              <a:t>consists</a:t>
            </a:r>
            <a:r>
              <a:rPr sz="2500" spc="-39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2500" spc="-22" dirty="0">
                <a:solidFill>
                  <a:srgbClr val="CC9900"/>
                </a:solidFill>
                <a:latin typeface="Arial"/>
                <a:cs typeface="Arial"/>
              </a:rPr>
              <a:t>of</a:t>
            </a:r>
            <a:r>
              <a:rPr sz="2500" dirty="0">
                <a:solidFill>
                  <a:srgbClr val="CC9900"/>
                </a:solidFill>
                <a:latin typeface="Arial"/>
                <a:cs typeface="Arial"/>
              </a:rPr>
              <a:t>	direct</a:t>
            </a:r>
            <a:r>
              <a:rPr sz="2500" spc="-53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CC9900"/>
                </a:solidFill>
                <a:latin typeface="Arial"/>
                <a:cs typeface="Arial"/>
              </a:rPr>
              <a:t>band</a:t>
            </a:r>
            <a:r>
              <a:rPr sz="2500" spc="-26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2500" spc="-22" dirty="0">
                <a:solidFill>
                  <a:srgbClr val="CC9900"/>
                </a:solidFill>
                <a:latin typeface="Arial"/>
                <a:cs typeface="Arial"/>
              </a:rPr>
              <a:t>gap </a:t>
            </a:r>
            <a:r>
              <a:rPr sz="2500" dirty="0">
                <a:solidFill>
                  <a:srgbClr val="CC9900"/>
                </a:solidFill>
                <a:latin typeface="Arial"/>
                <a:cs typeface="Arial"/>
              </a:rPr>
              <a:t>semiconductor</a:t>
            </a:r>
            <a:r>
              <a:rPr sz="2500" spc="-61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CC9900"/>
                </a:solidFill>
                <a:latin typeface="Arial"/>
                <a:cs typeface="Arial"/>
              </a:rPr>
              <a:t>materials)</a:t>
            </a:r>
            <a:r>
              <a:rPr sz="2500" spc="-39" dirty="0">
                <a:solidFill>
                  <a:srgbClr val="CC9900"/>
                </a:solidFill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acts</a:t>
            </a:r>
            <a:r>
              <a:rPr sz="2500" spc="-61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as</a:t>
            </a:r>
            <a:r>
              <a:rPr sz="2500" spc="-5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the</a:t>
            </a:r>
            <a:r>
              <a:rPr sz="2500" spc="-48" dirty="0">
                <a:latin typeface="Arial"/>
                <a:cs typeface="Arial"/>
              </a:rPr>
              <a:t> </a:t>
            </a:r>
            <a:r>
              <a:rPr sz="2500" i="1" dirty="0">
                <a:solidFill>
                  <a:srgbClr val="CC0000"/>
                </a:solidFill>
                <a:latin typeface="Arial"/>
                <a:cs typeface="Arial"/>
              </a:rPr>
              <a:t>active</a:t>
            </a:r>
            <a:r>
              <a:rPr sz="2500" i="1" spc="-61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500" spc="-22" dirty="0">
                <a:latin typeface="Arial"/>
                <a:cs typeface="Arial"/>
              </a:rPr>
              <a:t>or </a:t>
            </a:r>
            <a:r>
              <a:rPr sz="2500" i="1" dirty="0">
                <a:solidFill>
                  <a:srgbClr val="CC0000"/>
                </a:solidFill>
                <a:latin typeface="Arial"/>
                <a:cs typeface="Arial"/>
              </a:rPr>
              <a:t>recombination</a:t>
            </a:r>
            <a:r>
              <a:rPr sz="2500" i="1" spc="-118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500" spc="-9" dirty="0">
                <a:latin typeface="Arial"/>
                <a:cs typeface="Arial"/>
              </a:rPr>
              <a:t>region.</a:t>
            </a:r>
            <a:endParaRPr sz="2500">
              <a:latin typeface="Arial"/>
              <a:cs typeface="Arial"/>
            </a:endParaRPr>
          </a:p>
          <a:p>
            <a:pPr marL="311233" marR="82958" indent="-300655" algn="just">
              <a:spcBef>
                <a:spcPts val="587"/>
              </a:spcBef>
              <a:buChar char="•"/>
              <a:tabLst>
                <a:tab pos="311233" algn="l"/>
              </a:tabLst>
            </a:pPr>
            <a:r>
              <a:rPr sz="2500" dirty="0">
                <a:latin typeface="Arial"/>
                <a:cs typeface="Arial"/>
              </a:rPr>
              <a:t>When</a:t>
            </a:r>
            <a:r>
              <a:rPr sz="2500" spc="-4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the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PN</a:t>
            </a:r>
            <a:r>
              <a:rPr sz="2500" spc="-39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junction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is</a:t>
            </a:r>
            <a:r>
              <a:rPr sz="2500" spc="-39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forward</a:t>
            </a:r>
            <a:r>
              <a:rPr sz="2500" spc="-26" dirty="0">
                <a:latin typeface="Arial"/>
                <a:cs typeface="Arial"/>
              </a:rPr>
              <a:t> </a:t>
            </a:r>
            <a:r>
              <a:rPr sz="2500" spc="-9" dirty="0">
                <a:latin typeface="Arial"/>
                <a:cs typeface="Arial"/>
              </a:rPr>
              <a:t>biased, </a:t>
            </a:r>
            <a:r>
              <a:rPr sz="2500" dirty="0">
                <a:latin typeface="Arial"/>
                <a:cs typeface="Arial"/>
              </a:rPr>
              <a:t>electrons</a:t>
            </a:r>
            <a:r>
              <a:rPr sz="2500" spc="-61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and</a:t>
            </a:r>
            <a:r>
              <a:rPr sz="2500" spc="-5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holes</a:t>
            </a:r>
            <a:r>
              <a:rPr sz="2500" spc="-5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recombine</a:t>
            </a:r>
            <a:r>
              <a:rPr sz="2500" spc="-4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either</a:t>
            </a:r>
            <a:r>
              <a:rPr sz="2500" spc="-53" dirty="0">
                <a:latin typeface="Arial"/>
                <a:cs typeface="Arial"/>
              </a:rPr>
              <a:t> </a:t>
            </a:r>
            <a:r>
              <a:rPr sz="2500" i="1" spc="-9" dirty="0">
                <a:solidFill>
                  <a:srgbClr val="CC0000"/>
                </a:solidFill>
                <a:latin typeface="Arial"/>
                <a:cs typeface="Arial"/>
              </a:rPr>
              <a:t>radiatively </a:t>
            </a:r>
            <a:r>
              <a:rPr sz="2500" dirty="0">
                <a:latin typeface="Arial"/>
                <a:cs typeface="Arial"/>
              </a:rPr>
              <a:t>(emitting</a:t>
            </a:r>
            <a:r>
              <a:rPr sz="2500" spc="-5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photons)</a:t>
            </a:r>
            <a:r>
              <a:rPr sz="2500" spc="-48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or</a:t>
            </a:r>
            <a:r>
              <a:rPr sz="2500" spc="-44" dirty="0">
                <a:latin typeface="Arial"/>
                <a:cs typeface="Arial"/>
              </a:rPr>
              <a:t> </a:t>
            </a:r>
            <a:r>
              <a:rPr sz="2500" i="1" spc="-18" dirty="0">
                <a:solidFill>
                  <a:srgbClr val="CC0000"/>
                </a:solidFill>
                <a:latin typeface="Arial"/>
                <a:cs typeface="Arial"/>
              </a:rPr>
              <a:t>non-</a:t>
            </a:r>
            <a:r>
              <a:rPr sz="2500" i="1" dirty="0">
                <a:solidFill>
                  <a:srgbClr val="CC0000"/>
                </a:solidFill>
                <a:latin typeface="Arial"/>
                <a:cs typeface="Arial"/>
              </a:rPr>
              <a:t>radiatively</a:t>
            </a:r>
            <a:r>
              <a:rPr sz="2500" i="1" spc="-35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500" spc="-9" dirty="0">
                <a:latin typeface="Arial"/>
                <a:cs typeface="Arial"/>
              </a:rPr>
              <a:t>(emitting </a:t>
            </a:r>
            <a:r>
              <a:rPr sz="2500" dirty="0">
                <a:latin typeface="Arial"/>
                <a:cs typeface="Arial"/>
              </a:rPr>
              <a:t>heat).</a:t>
            </a:r>
            <a:r>
              <a:rPr sz="2500" spc="-5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This</a:t>
            </a:r>
            <a:r>
              <a:rPr sz="2500" spc="-2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is</a:t>
            </a:r>
            <a:r>
              <a:rPr sz="2500" spc="-4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simple</a:t>
            </a:r>
            <a:r>
              <a:rPr sz="2500" spc="-2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LED</a:t>
            </a:r>
            <a:r>
              <a:rPr sz="2500" spc="-44" dirty="0">
                <a:latin typeface="Arial"/>
                <a:cs typeface="Arial"/>
              </a:rPr>
              <a:t> </a:t>
            </a:r>
            <a:r>
              <a:rPr sz="2500" spc="-9" dirty="0">
                <a:latin typeface="Arial"/>
                <a:cs typeface="Arial"/>
              </a:rPr>
              <a:t>operation.</a:t>
            </a:r>
            <a:endParaRPr sz="2500">
              <a:latin typeface="Arial"/>
              <a:cs typeface="Arial"/>
            </a:endParaRPr>
          </a:p>
          <a:p>
            <a:pPr marL="311233" marR="4454" indent="-300655" algn="just">
              <a:spcBef>
                <a:spcPts val="592"/>
              </a:spcBef>
              <a:buChar char="•"/>
              <a:tabLst>
                <a:tab pos="311233" algn="l"/>
              </a:tabLst>
            </a:pPr>
            <a:r>
              <a:rPr sz="2500" dirty="0">
                <a:latin typeface="Arial"/>
                <a:cs typeface="Arial"/>
              </a:rPr>
              <a:t>In</a:t>
            </a:r>
            <a:r>
              <a:rPr sz="2500" spc="-5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</a:t>
            </a:r>
            <a:r>
              <a:rPr sz="2500" spc="-31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LASER,</a:t>
            </a:r>
            <a:r>
              <a:rPr sz="2500" spc="-22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the</a:t>
            </a:r>
            <a:r>
              <a:rPr sz="2500" spc="-31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photon</a:t>
            </a:r>
            <a:r>
              <a:rPr sz="2500" spc="-31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is</a:t>
            </a:r>
            <a:r>
              <a:rPr sz="2500" spc="-39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further</a:t>
            </a:r>
            <a:r>
              <a:rPr sz="2500" spc="-31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processed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in</a:t>
            </a:r>
            <a:r>
              <a:rPr sz="2500" spc="-31" dirty="0">
                <a:latin typeface="Arial"/>
                <a:cs typeface="Arial"/>
              </a:rPr>
              <a:t> </a:t>
            </a:r>
            <a:r>
              <a:rPr sz="2500" spc="-44" dirty="0">
                <a:latin typeface="Arial"/>
                <a:cs typeface="Arial"/>
              </a:rPr>
              <a:t>a </a:t>
            </a:r>
            <a:r>
              <a:rPr sz="2500" dirty="0">
                <a:latin typeface="Arial"/>
                <a:cs typeface="Arial"/>
              </a:rPr>
              <a:t>resonance</a:t>
            </a:r>
            <a:r>
              <a:rPr sz="2500" spc="-5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cavity</a:t>
            </a:r>
            <a:r>
              <a:rPr sz="2500" spc="-5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to</a:t>
            </a:r>
            <a:r>
              <a:rPr sz="2500" spc="-48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achieve</a:t>
            </a:r>
            <a:r>
              <a:rPr sz="2500" spc="-4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</a:t>
            </a:r>
            <a:r>
              <a:rPr sz="2500" spc="-44" dirty="0">
                <a:latin typeface="Arial"/>
                <a:cs typeface="Arial"/>
              </a:rPr>
              <a:t> </a:t>
            </a:r>
            <a:r>
              <a:rPr sz="2500" i="1" dirty="0">
                <a:solidFill>
                  <a:srgbClr val="CC0000"/>
                </a:solidFill>
                <a:latin typeface="Arial"/>
                <a:cs typeface="Arial"/>
              </a:rPr>
              <a:t>coherent,</a:t>
            </a:r>
            <a:r>
              <a:rPr sz="2500" i="1" spc="-53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500" i="1" spc="-9" dirty="0">
                <a:solidFill>
                  <a:srgbClr val="CC0000"/>
                </a:solidFill>
                <a:latin typeface="Arial"/>
                <a:cs typeface="Arial"/>
              </a:rPr>
              <a:t>highly </a:t>
            </a:r>
            <a:r>
              <a:rPr sz="2500" i="1" dirty="0">
                <a:solidFill>
                  <a:srgbClr val="CC0000"/>
                </a:solidFill>
                <a:latin typeface="Arial"/>
                <a:cs typeface="Arial"/>
              </a:rPr>
              <a:t>directional</a:t>
            </a:r>
            <a:r>
              <a:rPr sz="2500" i="1" spc="-66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optical</a:t>
            </a:r>
            <a:r>
              <a:rPr sz="2500" spc="-5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beam</a:t>
            </a:r>
            <a:r>
              <a:rPr sz="2500" spc="-4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with</a:t>
            </a:r>
            <a:r>
              <a:rPr sz="2500" spc="-53" dirty="0">
                <a:latin typeface="Arial"/>
                <a:cs typeface="Arial"/>
              </a:rPr>
              <a:t> </a:t>
            </a:r>
            <a:r>
              <a:rPr sz="2500" i="1" dirty="0">
                <a:solidFill>
                  <a:srgbClr val="CC0000"/>
                </a:solidFill>
                <a:latin typeface="Arial"/>
                <a:cs typeface="Arial"/>
              </a:rPr>
              <a:t>narrow</a:t>
            </a:r>
            <a:r>
              <a:rPr sz="2500" i="1" spc="-48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2500" i="1" spc="-9" dirty="0">
                <a:solidFill>
                  <a:srgbClr val="CC0000"/>
                </a:solidFill>
                <a:latin typeface="Arial"/>
                <a:cs typeface="Arial"/>
              </a:rPr>
              <a:t>linewidth.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31376"/>
          </a:xfrm>
          <a:prstGeom prst="rect">
            <a:avLst/>
          </a:prstGeom>
        </p:spPr>
        <p:txBody>
          <a:bodyPr vert="horz" wrap="square" lIns="0" tIns="152776" rIns="0" bIns="0" rtlCol="0">
            <a:spAutoFit/>
          </a:bodyPr>
          <a:lstStyle/>
          <a:p>
            <a:pPr marL="868558">
              <a:spcBef>
                <a:spcPts val="88"/>
              </a:spcBef>
            </a:pPr>
            <a:r>
              <a:rPr dirty="0"/>
              <a:t>LED</a:t>
            </a:r>
            <a:r>
              <a:rPr spc="-48" dirty="0"/>
              <a:t> </a:t>
            </a:r>
            <a:r>
              <a:rPr dirty="0"/>
              <a:t>vs.</a:t>
            </a:r>
            <a:r>
              <a:rPr spc="-61" dirty="0"/>
              <a:t> </a:t>
            </a:r>
            <a:r>
              <a:rPr dirty="0"/>
              <a:t>laser</a:t>
            </a:r>
            <a:r>
              <a:rPr spc="-57" dirty="0"/>
              <a:t> </a:t>
            </a:r>
            <a:r>
              <a:rPr dirty="0"/>
              <a:t>spectral</a:t>
            </a:r>
            <a:r>
              <a:rPr spc="-66" dirty="0"/>
              <a:t> </a:t>
            </a:r>
            <a:r>
              <a:rPr spc="-9" dirty="0"/>
              <a:t>width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8753" y="2371598"/>
            <a:ext cx="2176315" cy="595458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 marR="4454">
              <a:spcBef>
                <a:spcPts val="83"/>
              </a:spcBef>
            </a:pPr>
            <a:r>
              <a:rPr sz="1900" spc="-9" dirty="0">
                <a:solidFill>
                  <a:srgbClr val="FF0065"/>
                </a:solidFill>
                <a:latin typeface="Times New Roman"/>
                <a:cs typeface="Times New Roman"/>
              </a:rPr>
              <a:t>Single-</a:t>
            </a:r>
            <a:r>
              <a:rPr sz="1900" dirty="0">
                <a:solidFill>
                  <a:srgbClr val="FF0065"/>
                </a:solidFill>
                <a:latin typeface="Times New Roman"/>
                <a:cs typeface="Times New Roman"/>
              </a:rPr>
              <a:t>frequency</a:t>
            </a:r>
            <a:r>
              <a:rPr sz="1900" spc="-39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1900" spc="-18" dirty="0">
                <a:solidFill>
                  <a:srgbClr val="FF0065"/>
                </a:solidFill>
                <a:latin typeface="Times New Roman"/>
                <a:cs typeface="Times New Roman"/>
              </a:rPr>
              <a:t>laser </a:t>
            </a:r>
            <a:r>
              <a:rPr sz="1900" dirty="0">
                <a:solidFill>
                  <a:srgbClr val="FF0065"/>
                </a:solidFill>
                <a:latin typeface="Times New Roman"/>
                <a:cs typeface="Times New Roman"/>
              </a:rPr>
              <a:t>(&lt;0.04</a:t>
            </a:r>
            <a:r>
              <a:rPr sz="1900" spc="-57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1900" spc="-22" dirty="0">
                <a:solidFill>
                  <a:srgbClr val="FF0065"/>
                </a:solidFill>
                <a:latin typeface="Times New Roman"/>
                <a:cs typeface="Times New Roman"/>
              </a:rPr>
              <a:t>nm)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04445" y="2098202"/>
            <a:ext cx="6515914" cy="3986285"/>
            <a:chOff x="1993254" y="2311908"/>
            <a:chExt cx="7620000" cy="4392295"/>
          </a:xfrm>
        </p:grpSpPr>
        <p:sp>
          <p:nvSpPr>
            <p:cNvPr id="5" name="object 5"/>
            <p:cNvSpPr/>
            <p:nvPr/>
          </p:nvSpPr>
          <p:spPr>
            <a:xfrm>
              <a:off x="5664823" y="3196209"/>
              <a:ext cx="154305" cy="582295"/>
            </a:xfrm>
            <a:custGeom>
              <a:avLst/>
              <a:gdLst/>
              <a:ahLst/>
              <a:cxnLst/>
              <a:rect l="l" t="t" r="r" b="b"/>
              <a:pathLst>
                <a:path w="154304" h="582295">
                  <a:moveTo>
                    <a:pt x="77471" y="103666"/>
                  </a:moveTo>
                  <a:lnTo>
                    <a:pt x="66077" y="59127"/>
                  </a:lnTo>
                  <a:lnTo>
                    <a:pt x="51563" y="30098"/>
                  </a:lnTo>
                  <a:lnTo>
                    <a:pt x="51563" y="46862"/>
                  </a:lnTo>
                  <a:lnTo>
                    <a:pt x="36323" y="112394"/>
                  </a:lnTo>
                  <a:lnTo>
                    <a:pt x="36323" y="115442"/>
                  </a:lnTo>
                  <a:lnTo>
                    <a:pt x="19559" y="286130"/>
                  </a:lnTo>
                  <a:lnTo>
                    <a:pt x="4319" y="385190"/>
                  </a:lnTo>
                  <a:lnTo>
                    <a:pt x="2795" y="385190"/>
                  </a:lnTo>
                  <a:lnTo>
                    <a:pt x="2795" y="493394"/>
                  </a:lnTo>
                  <a:lnTo>
                    <a:pt x="0" y="581786"/>
                  </a:lnTo>
                  <a:lnTo>
                    <a:pt x="38148" y="581786"/>
                  </a:lnTo>
                  <a:lnTo>
                    <a:pt x="40895" y="494918"/>
                  </a:lnTo>
                  <a:lnTo>
                    <a:pt x="40895" y="391286"/>
                  </a:lnTo>
                  <a:lnTo>
                    <a:pt x="57659" y="292226"/>
                  </a:lnTo>
                  <a:lnTo>
                    <a:pt x="72899" y="120014"/>
                  </a:lnTo>
                  <a:lnTo>
                    <a:pt x="72899" y="121538"/>
                  </a:lnTo>
                  <a:lnTo>
                    <a:pt x="77471" y="103666"/>
                  </a:lnTo>
                  <a:close/>
                </a:path>
                <a:path w="154304" h="582295">
                  <a:moveTo>
                    <a:pt x="89663" y="19430"/>
                  </a:moveTo>
                  <a:lnTo>
                    <a:pt x="83709" y="4857"/>
                  </a:lnTo>
                  <a:lnTo>
                    <a:pt x="70613" y="0"/>
                  </a:lnTo>
                  <a:lnTo>
                    <a:pt x="57516" y="4857"/>
                  </a:lnTo>
                  <a:lnTo>
                    <a:pt x="51563" y="19430"/>
                  </a:lnTo>
                  <a:lnTo>
                    <a:pt x="86615" y="19430"/>
                  </a:lnTo>
                  <a:lnTo>
                    <a:pt x="86615" y="17906"/>
                  </a:lnTo>
                  <a:lnTo>
                    <a:pt x="87472" y="19430"/>
                  </a:lnTo>
                  <a:lnTo>
                    <a:pt x="89663" y="19430"/>
                  </a:lnTo>
                  <a:close/>
                </a:path>
                <a:path w="154304" h="582295">
                  <a:moveTo>
                    <a:pt x="89663" y="56006"/>
                  </a:moveTo>
                  <a:lnTo>
                    <a:pt x="89663" y="27050"/>
                  </a:lnTo>
                  <a:lnTo>
                    <a:pt x="87123" y="19430"/>
                  </a:lnTo>
                  <a:lnTo>
                    <a:pt x="51563" y="19430"/>
                  </a:lnTo>
                  <a:lnTo>
                    <a:pt x="51563" y="30098"/>
                  </a:lnTo>
                  <a:lnTo>
                    <a:pt x="65279" y="57530"/>
                  </a:lnTo>
                  <a:lnTo>
                    <a:pt x="65279" y="56006"/>
                  </a:lnTo>
                  <a:lnTo>
                    <a:pt x="66803" y="60578"/>
                  </a:lnTo>
                  <a:lnTo>
                    <a:pt x="66803" y="61964"/>
                  </a:lnTo>
                  <a:lnTo>
                    <a:pt x="77471" y="103666"/>
                  </a:lnTo>
                  <a:lnTo>
                    <a:pt x="89663" y="56006"/>
                  </a:lnTo>
                  <a:close/>
                </a:path>
                <a:path w="154304" h="582295">
                  <a:moveTo>
                    <a:pt x="66803" y="60578"/>
                  </a:moveTo>
                  <a:lnTo>
                    <a:pt x="65279" y="56006"/>
                  </a:lnTo>
                  <a:lnTo>
                    <a:pt x="66077" y="59127"/>
                  </a:lnTo>
                  <a:lnTo>
                    <a:pt x="66803" y="60578"/>
                  </a:lnTo>
                  <a:close/>
                </a:path>
                <a:path w="154304" h="582295">
                  <a:moveTo>
                    <a:pt x="66077" y="59127"/>
                  </a:moveTo>
                  <a:lnTo>
                    <a:pt x="65279" y="56006"/>
                  </a:lnTo>
                  <a:lnTo>
                    <a:pt x="65279" y="57530"/>
                  </a:lnTo>
                  <a:lnTo>
                    <a:pt x="66077" y="59127"/>
                  </a:lnTo>
                  <a:close/>
                </a:path>
                <a:path w="154304" h="582295">
                  <a:moveTo>
                    <a:pt x="66803" y="61964"/>
                  </a:moveTo>
                  <a:lnTo>
                    <a:pt x="66803" y="60578"/>
                  </a:lnTo>
                  <a:lnTo>
                    <a:pt x="66077" y="59127"/>
                  </a:lnTo>
                  <a:lnTo>
                    <a:pt x="66803" y="61964"/>
                  </a:lnTo>
                  <a:close/>
                </a:path>
                <a:path w="154304" h="582295">
                  <a:moveTo>
                    <a:pt x="89663" y="213117"/>
                  </a:moveTo>
                  <a:lnTo>
                    <a:pt x="89663" y="56006"/>
                  </a:lnTo>
                  <a:lnTo>
                    <a:pt x="77471" y="103666"/>
                  </a:lnTo>
                  <a:lnTo>
                    <a:pt x="82043" y="121538"/>
                  </a:lnTo>
                  <a:lnTo>
                    <a:pt x="82043" y="135532"/>
                  </a:lnTo>
                  <a:lnTo>
                    <a:pt x="89663" y="213117"/>
                  </a:lnTo>
                  <a:close/>
                </a:path>
                <a:path w="154304" h="582295">
                  <a:moveTo>
                    <a:pt x="82043" y="135532"/>
                  </a:moveTo>
                  <a:lnTo>
                    <a:pt x="82043" y="121538"/>
                  </a:lnTo>
                  <a:lnTo>
                    <a:pt x="80519" y="120014"/>
                  </a:lnTo>
                  <a:lnTo>
                    <a:pt x="82043" y="135532"/>
                  </a:lnTo>
                  <a:close/>
                </a:path>
                <a:path w="154304" h="582295">
                  <a:moveTo>
                    <a:pt x="87472" y="19430"/>
                  </a:moveTo>
                  <a:lnTo>
                    <a:pt x="86615" y="17906"/>
                  </a:lnTo>
                  <a:lnTo>
                    <a:pt x="87123" y="19430"/>
                  </a:lnTo>
                  <a:lnTo>
                    <a:pt x="87472" y="19430"/>
                  </a:lnTo>
                  <a:close/>
                </a:path>
                <a:path w="154304" h="582295">
                  <a:moveTo>
                    <a:pt x="87123" y="19430"/>
                  </a:moveTo>
                  <a:lnTo>
                    <a:pt x="86615" y="17906"/>
                  </a:lnTo>
                  <a:lnTo>
                    <a:pt x="86615" y="19430"/>
                  </a:lnTo>
                  <a:lnTo>
                    <a:pt x="87123" y="19430"/>
                  </a:lnTo>
                  <a:close/>
                </a:path>
                <a:path w="154304" h="582295">
                  <a:moveTo>
                    <a:pt x="153808" y="581786"/>
                  </a:moveTo>
                  <a:lnTo>
                    <a:pt x="150622" y="491870"/>
                  </a:lnTo>
                  <a:lnTo>
                    <a:pt x="135383" y="385190"/>
                  </a:lnTo>
                  <a:lnTo>
                    <a:pt x="135383" y="287654"/>
                  </a:lnTo>
                  <a:lnTo>
                    <a:pt x="118619" y="115442"/>
                  </a:lnTo>
                  <a:lnTo>
                    <a:pt x="118619" y="112394"/>
                  </a:lnTo>
                  <a:lnTo>
                    <a:pt x="101855" y="46862"/>
                  </a:lnTo>
                  <a:lnTo>
                    <a:pt x="101855" y="43814"/>
                  </a:lnTo>
                  <a:lnTo>
                    <a:pt x="100331" y="42290"/>
                  </a:lnTo>
                  <a:lnTo>
                    <a:pt x="87472" y="19430"/>
                  </a:lnTo>
                  <a:lnTo>
                    <a:pt x="87123" y="19430"/>
                  </a:lnTo>
                  <a:lnTo>
                    <a:pt x="89663" y="27050"/>
                  </a:lnTo>
                  <a:lnTo>
                    <a:pt x="89663" y="213117"/>
                  </a:lnTo>
                  <a:lnTo>
                    <a:pt x="97283" y="290702"/>
                  </a:lnTo>
                  <a:lnTo>
                    <a:pt x="97283" y="389762"/>
                  </a:lnTo>
                  <a:lnTo>
                    <a:pt x="114047" y="497966"/>
                  </a:lnTo>
                  <a:lnTo>
                    <a:pt x="116718" y="581786"/>
                  </a:lnTo>
                  <a:lnTo>
                    <a:pt x="153808" y="581786"/>
                  </a:lnTo>
                  <a:close/>
                </a:path>
                <a:path w="154304" h="582295">
                  <a:moveTo>
                    <a:pt x="89663" y="23325"/>
                  </a:moveTo>
                  <a:lnTo>
                    <a:pt x="89663" y="19430"/>
                  </a:lnTo>
                  <a:lnTo>
                    <a:pt x="87472" y="19430"/>
                  </a:lnTo>
                  <a:lnTo>
                    <a:pt x="89663" y="233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55426" y="3196209"/>
              <a:ext cx="160020" cy="582295"/>
            </a:xfrm>
            <a:custGeom>
              <a:avLst/>
              <a:gdLst/>
              <a:ahLst/>
              <a:cxnLst/>
              <a:rect l="l" t="t" r="r" b="b"/>
              <a:pathLst>
                <a:path w="160020" h="582295">
                  <a:moveTo>
                    <a:pt x="33527" y="340994"/>
                  </a:moveTo>
                  <a:lnTo>
                    <a:pt x="18287" y="359282"/>
                  </a:lnTo>
                  <a:lnTo>
                    <a:pt x="15239" y="362330"/>
                  </a:lnTo>
                  <a:lnTo>
                    <a:pt x="12191" y="366902"/>
                  </a:lnTo>
                  <a:lnTo>
                    <a:pt x="12191" y="465962"/>
                  </a:lnTo>
                  <a:lnTo>
                    <a:pt x="0" y="555878"/>
                  </a:lnTo>
                  <a:lnTo>
                    <a:pt x="0" y="581786"/>
                  </a:lnTo>
                  <a:lnTo>
                    <a:pt x="28955" y="581786"/>
                  </a:lnTo>
                  <a:lnTo>
                    <a:pt x="28955" y="354710"/>
                  </a:lnTo>
                  <a:lnTo>
                    <a:pt x="33527" y="340994"/>
                  </a:lnTo>
                  <a:close/>
                </a:path>
                <a:path w="160020" h="582295">
                  <a:moveTo>
                    <a:pt x="45719" y="94106"/>
                  </a:moveTo>
                  <a:lnTo>
                    <a:pt x="30479" y="135254"/>
                  </a:lnTo>
                  <a:lnTo>
                    <a:pt x="28955" y="136778"/>
                  </a:lnTo>
                  <a:lnTo>
                    <a:pt x="28955" y="346481"/>
                  </a:lnTo>
                  <a:lnTo>
                    <a:pt x="33527" y="340994"/>
                  </a:lnTo>
                  <a:lnTo>
                    <a:pt x="33527" y="581786"/>
                  </a:lnTo>
                  <a:lnTo>
                    <a:pt x="36575" y="581786"/>
                  </a:lnTo>
                  <a:lnTo>
                    <a:pt x="36575" y="561974"/>
                  </a:lnTo>
                  <a:lnTo>
                    <a:pt x="44195" y="512021"/>
                  </a:lnTo>
                  <a:lnTo>
                    <a:pt x="44195" y="100202"/>
                  </a:lnTo>
                  <a:lnTo>
                    <a:pt x="45719" y="94106"/>
                  </a:lnTo>
                  <a:close/>
                </a:path>
                <a:path w="160020" h="582295">
                  <a:moveTo>
                    <a:pt x="33527" y="581786"/>
                  </a:moveTo>
                  <a:lnTo>
                    <a:pt x="33527" y="340994"/>
                  </a:lnTo>
                  <a:lnTo>
                    <a:pt x="28955" y="354710"/>
                  </a:lnTo>
                  <a:lnTo>
                    <a:pt x="28955" y="581786"/>
                  </a:lnTo>
                  <a:lnTo>
                    <a:pt x="33527" y="581786"/>
                  </a:lnTo>
                  <a:close/>
                </a:path>
                <a:path w="160020" h="582295">
                  <a:moveTo>
                    <a:pt x="38099" y="581786"/>
                  </a:moveTo>
                  <a:lnTo>
                    <a:pt x="38099" y="558926"/>
                  </a:lnTo>
                  <a:lnTo>
                    <a:pt x="36575" y="561974"/>
                  </a:lnTo>
                  <a:lnTo>
                    <a:pt x="36575" y="581786"/>
                  </a:lnTo>
                  <a:lnTo>
                    <a:pt x="38099" y="581786"/>
                  </a:lnTo>
                  <a:close/>
                </a:path>
                <a:path w="160020" h="582295">
                  <a:moveTo>
                    <a:pt x="64007" y="59054"/>
                  </a:moveTo>
                  <a:lnTo>
                    <a:pt x="48767" y="83438"/>
                  </a:lnTo>
                  <a:lnTo>
                    <a:pt x="45719" y="86486"/>
                  </a:lnTo>
                  <a:lnTo>
                    <a:pt x="44195" y="89534"/>
                  </a:lnTo>
                  <a:lnTo>
                    <a:pt x="44195" y="98221"/>
                  </a:lnTo>
                  <a:lnTo>
                    <a:pt x="45719" y="94106"/>
                  </a:lnTo>
                  <a:lnTo>
                    <a:pt x="45719" y="385190"/>
                  </a:lnTo>
                  <a:lnTo>
                    <a:pt x="50291" y="371474"/>
                  </a:lnTo>
                  <a:lnTo>
                    <a:pt x="50291" y="380618"/>
                  </a:lnTo>
                  <a:lnTo>
                    <a:pt x="60959" y="369950"/>
                  </a:lnTo>
                  <a:lnTo>
                    <a:pt x="60959" y="68198"/>
                  </a:lnTo>
                  <a:lnTo>
                    <a:pt x="64007" y="59054"/>
                  </a:lnTo>
                  <a:close/>
                </a:path>
                <a:path w="160020" h="582295">
                  <a:moveTo>
                    <a:pt x="50291" y="472058"/>
                  </a:moveTo>
                  <a:lnTo>
                    <a:pt x="50291" y="380618"/>
                  </a:lnTo>
                  <a:lnTo>
                    <a:pt x="45719" y="385190"/>
                  </a:lnTo>
                  <a:lnTo>
                    <a:pt x="45719" y="94106"/>
                  </a:lnTo>
                  <a:lnTo>
                    <a:pt x="44195" y="100202"/>
                  </a:lnTo>
                  <a:lnTo>
                    <a:pt x="44195" y="512021"/>
                  </a:lnTo>
                  <a:lnTo>
                    <a:pt x="50291" y="472058"/>
                  </a:lnTo>
                  <a:close/>
                </a:path>
                <a:path w="160020" h="582295">
                  <a:moveTo>
                    <a:pt x="50291" y="380618"/>
                  </a:moveTo>
                  <a:lnTo>
                    <a:pt x="50291" y="371474"/>
                  </a:lnTo>
                  <a:lnTo>
                    <a:pt x="45719" y="385190"/>
                  </a:lnTo>
                  <a:lnTo>
                    <a:pt x="50291" y="380618"/>
                  </a:lnTo>
                  <a:close/>
                </a:path>
                <a:path w="160020" h="582295">
                  <a:moveTo>
                    <a:pt x="97717" y="16145"/>
                  </a:moveTo>
                  <a:lnTo>
                    <a:pt x="93106" y="4857"/>
                  </a:lnTo>
                  <a:lnTo>
                    <a:pt x="80009" y="0"/>
                  </a:lnTo>
                  <a:lnTo>
                    <a:pt x="66913" y="4857"/>
                  </a:lnTo>
                  <a:lnTo>
                    <a:pt x="60959" y="19430"/>
                  </a:lnTo>
                  <a:lnTo>
                    <a:pt x="89915" y="19430"/>
                  </a:lnTo>
                  <a:lnTo>
                    <a:pt x="89915" y="11810"/>
                  </a:lnTo>
                  <a:lnTo>
                    <a:pt x="97717" y="16145"/>
                  </a:lnTo>
                  <a:close/>
                </a:path>
                <a:path w="160020" h="582295">
                  <a:moveTo>
                    <a:pt x="99059" y="72770"/>
                  </a:moveTo>
                  <a:lnTo>
                    <a:pt x="99059" y="27050"/>
                  </a:lnTo>
                  <a:lnTo>
                    <a:pt x="94487" y="19430"/>
                  </a:lnTo>
                  <a:lnTo>
                    <a:pt x="60959" y="19430"/>
                  </a:lnTo>
                  <a:lnTo>
                    <a:pt x="60959" y="34670"/>
                  </a:lnTo>
                  <a:lnTo>
                    <a:pt x="64007" y="40766"/>
                  </a:lnTo>
                  <a:lnTo>
                    <a:pt x="70103" y="43814"/>
                  </a:lnTo>
                  <a:lnTo>
                    <a:pt x="74675" y="46354"/>
                  </a:lnTo>
                  <a:lnTo>
                    <a:pt x="74675" y="36194"/>
                  </a:lnTo>
                  <a:lnTo>
                    <a:pt x="83819" y="51434"/>
                  </a:lnTo>
                  <a:lnTo>
                    <a:pt x="83819" y="96600"/>
                  </a:lnTo>
                  <a:lnTo>
                    <a:pt x="96011" y="78866"/>
                  </a:lnTo>
                  <a:lnTo>
                    <a:pt x="99059" y="72770"/>
                  </a:lnTo>
                  <a:close/>
                </a:path>
                <a:path w="160020" h="582295">
                  <a:moveTo>
                    <a:pt x="83819" y="96600"/>
                  </a:moveTo>
                  <a:lnTo>
                    <a:pt x="83819" y="51434"/>
                  </a:lnTo>
                  <a:lnTo>
                    <a:pt x="70103" y="43814"/>
                  </a:lnTo>
                  <a:lnTo>
                    <a:pt x="64007" y="40766"/>
                  </a:lnTo>
                  <a:lnTo>
                    <a:pt x="60959" y="34670"/>
                  </a:lnTo>
                  <a:lnTo>
                    <a:pt x="60959" y="63931"/>
                  </a:lnTo>
                  <a:lnTo>
                    <a:pt x="64007" y="59054"/>
                  </a:lnTo>
                  <a:lnTo>
                    <a:pt x="64007" y="366140"/>
                  </a:lnTo>
                  <a:lnTo>
                    <a:pt x="65531" y="363854"/>
                  </a:lnTo>
                  <a:lnTo>
                    <a:pt x="65531" y="148970"/>
                  </a:lnTo>
                  <a:lnTo>
                    <a:pt x="67055" y="141350"/>
                  </a:lnTo>
                  <a:lnTo>
                    <a:pt x="67055" y="145230"/>
                  </a:lnTo>
                  <a:lnTo>
                    <a:pt x="74675" y="126526"/>
                  </a:lnTo>
                  <a:lnTo>
                    <a:pt x="74675" y="104774"/>
                  </a:lnTo>
                  <a:lnTo>
                    <a:pt x="76199" y="107822"/>
                  </a:lnTo>
                  <a:lnTo>
                    <a:pt x="79102" y="115660"/>
                  </a:lnTo>
                  <a:lnTo>
                    <a:pt x="79247" y="115304"/>
                  </a:lnTo>
                  <a:lnTo>
                    <a:pt x="79247" y="103250"/>
                  </a:lnTo>
                  <a:lnTo>
                    <a:pt x="82295" y="92582"/>
                  </a:lnTo>
                  <a:lnTo>
                    <a:pt x="82295" y="98817"/>
                  </a:lnTo>
                  <a:lnTo>
                    <a:pt x="83819" y="96600"/>
                  </a:lnTo>
                  <a:close/>
                </a:path>
                <a:path w="160020" h="582295">
                  <a:moveTo>
                    <a:pt x="64007" y="366140"/>
                  </a:moveTo>
                  <a:lnTo>
                    <a:pt x="64007" y="59054"/>
                  </a:lnTo>
                  <a:lnTo>
                    <a:pt x="60959" y="68198"/>
                  </a:lnTo>
                  <a:lnTo>
                    <a:pt x="60959" y="369950"/>
                  </a:lnTo>
                  <a:lnTo>
                    <a:pt x="62483" y="368426"/>
                  </a:lnTo>
                  <a:lnTo>
                    <a:pt x="64007" y="366140"/>
                  </a:lnTo>
                  <a:close/>
                </a:path>
                <a:path w="160020" h="582295">
                  <a:moveTo>
                    <a:pt x="67055" y="145230"/>
                  </a:moveTo>
                  <a:lnTo>
                    <a:pt x="67055" y="141350"/>
                  </a:lnTo>
                  <a:lnTo>
                    <a:pt x="65531" y="148970"/>
                  </a:lnTo>
                  <a:lnTo>
                    <a:pt x="67055" y="145230"/>
                  </a:lnTo>
                  <a:close/>
                </a:path>
                <a:path w="160020" h="582295">
                  <a:moveTo>
                    <a:pt x="67055" y="359282"/>
                  </a:moveTo>
                  <a:lnTo>
                    <a:pt x="67055" y="145230"/>
                  </a:lnTo>
                  <a:lnTo>
                    <a:pt x="65531" y="148970"/>
                  </a:lnTo>
                  <a:lnTo>
                    <a:pt x="65531" y="363854"/>
                  </a:lnTo>
                  <a:lnTo>
                    <a:pt x="67055" y="359282"/>
                  </a:lnTo>
                  <a:close/>
                </a:path>
                <a:path w="160020" h="582295">
                  <a:moveTo>
                    <a:pt x="83819" y="51434"/>
                  </a:moveTo>
                  <a:lnTo>
                    <a:pt x="74675" y="36194"/>
                  </a:lnTo>
                  <a:lnTo>
                    <a:pt x="74675" y="46354"/>
                  </a:lnTo>
                  <a:lnTo>
                    <a:pt x="83819" y="51434"/>
                  </a:lnTo>
                  <a:close/>
                </a:path>
                <a:path w="160020" h="582295">
                  <a:moveTo>
                    <a:pt x="79102" y="115660"/>
                  </a:moveTo>
                  <a:lnTo>
                    <a:pt x="76199" y="107822"/>
                  </a:lnTo>
                  <a:lnTo>
                    <a:pt x="74675" y="104774"/>
                  </a:lnTo>
                  <a:lnTo>
                    <a:pt x="74675" y="126526"/>
                  </a:lnTo>
                  <a:lnTo>
                    <a:pt x="79102" y="115660"/>
                  </a:lnTo>
                  <a:close/>
                </a:path>
                <a:path w="160020" h="582295">
                  <a:moveTo>
                    <a:pt x="82295" y="124282"/>
                  </a:moveTo>
                  <a:lnTo>
                    <a:pt x="82295" y="107822"/>
                  </a:lnTo>
                  <a:lnTo>
                    <a:pt x="79102" y="115660"/>
                  </a:lnTo>
                  <a:lnTo>
                    <a:pt x="82295" y="124282"/>
                  </a:lnTo>
                  <a:close/>
                </a:path>
                <a:path w="160020" h="582295">
                  <a:moveTo>
                    <a:pt x="82295" y="98817"/>
                  </a:moveTo>
                  <a:lnTo>
                    <a:pt x="82295" y="92582"/>
                  </a:lnTo>
                  <a:lnTo>
                    <a:pt x="79247" y="103250"/>
                  </a:lnTo>
                  <a:lnTo>
                    <a:pt x="82295" y="98817"/>
                  </a:lnTo>
                  <a:close/>
                </a:path>
                <a:path w="160020" h="582295">
                  <a:moveTo>
                    <a:pt x="99059" y="208406"/>
                  </a:moveTo>
                  <a:lnTo>
                    <a:pt x="99059" y="72770"/>
                  </a:lnTo>
                  <a:lnTo>
                    <a:pt x="96011" y="78866"/>
                  </a:lnTo>
                  <a:lnTo>
                    <a:pt x="79247" y="103250"/>
                  </a:lnTo>
                  <a:lnTo>
                    <a:pt x="79247" y="115304"/>
                  </a:lnTo>
                  <a:lnTo>
                    <a:pt x="82295" y="107822"/>
                  </a:lnTo>
                  <a:lnTo>
                    <a:pt x="82295" y="124282"/>
                  </a:lnTo>
                  <a:lnTo>
                    <a:pt x="89915" y="144856"/>
                  </a:lnTo>
                  <a:lnTo>
                    <a:pt x="89915" y="141350"/>
                  </a:lnTo>
                  <a:lnTo>
                    <a:pt x="91439" y="148970"/>
                  </a:lnTo>
                  <a:lnTo>
                    <a:pt x="91439" y="179450"/>
                  </a:lnTo>
                  <a:lnTo>
                    <a:pt x="99059" y="208406"/>
                  </a:lnTo>
                  <a:close/>
                </a:path>
                <a:path w="160020" h="582295">
                  <a:moveTo>
                    <a:pt x="99059" y="19430"/>
                  </a:moveTo>
                  <a:lnTo>
                    <a:pt x="97717" y="16145"/>
                  </a:lnTo>
                  <a:lnTo>
                    <a:pt x="89915" y="11810"/>
                  </a:lnTo>
                  <a:lnTo>
                    <a:pt x="94487" y="19430"/>
                  </a:lnTo>
                  <a:lnTo>
                    <a:pt x="99059" y="19430"/>
                  </a:lnTo>
                  <a:close/>
                </a:path>
                <a:path w="160020" h="582295">
                  <a:moveTo>
                    <a:pt x="94487" y="19430"/>
                  </a:moveTo>
                  <a:lnTo>
                    <a:pt x="89915" y="11810"/>
                  </a:lnTo>
                  <a:lnTo>
                    <a:pt x="89915" y="19430"/>
                  </a:lnTo>
                  <a:lnTo>
                    <a:pt x="94487" y="19430"/>
                  </a:lnTo>
                  <a:close/>
                </a:path>
                <a:path w="160020" h="582295">
                  <a:moveTo>
                    <a:pt x="91439" y="148970"/>
                  </a:moveTo>
                  <a:lnTo>
                    <a:pt x="89915" y="141350"/>
                  </a:lnTo>
                  <a:lnTo>
                    <a:pt x="89915" y="144856"/>
                  </a:lnTo>
                  <a:lnTo>
                    <a:pt x="91439" y="148970"/>
                  </a:lnTo>
                  <a:close/>
                </a:path>
                <a:path w="160020" h="582295">
                  <a:moveTo>
                    <a:pt x="91439" y="177926"/>
                  </a:moveTo>
                  <a:lnTo>
                    <a:pt x="91439" y="148970"/>
                  </a:lnTo>
                  <a:lnTo>
                    <a:pt x="89915" y="144856"/>
                  </a:lnTo>
                  <a:lnTo>
                    <a:pt x="89915" y="176402"/>
                  </a:lnTo>
                  <a:lnTo>
                    <a:pt x="91439" y="177926"/>
                  </a:lnTo>
                  <a:close/>
                </a:path>
                <a:path w="160020" h="582295">
                  <a:moveTo>
                    <a:pt x="99059" y="27050"/>
                  </a:moveTo>
                  <a:lnTo>
                    <a:pt x="99059" y="19430"/>
                  </a:lnTo>
                  <a:lnTo>
                    <a:pt x="94487" y="19430"/>
                  </a:lnTo>
                  <a:lnTo>
                    <a:pt x="99059" y="27050"/>
                  </a:lnTo>
                  <a:close/>
                </a:path>
                <a:path w="160020" h="582295">
                  <a:moveTo>
                    <a:pt x="112775" y="97847"/>
                  </a:moveTo>
                  <a:lnTo>
                    <a:pt x="112775" y="30098"/>
                  </a:lnTo>
                  <a:lnTo>
                    <a:pt x="109727" y="24002"/>
                  </a:lnTo>
                  <a:lnTo>
                    <a:pt x="103631" y="19430"/>
                  </a:lnTo>
                  <a:lnTo>
                    <a:pt x="97717" y="16145"/>
                  </a:lnTo>
                  <a:lnTo>
                    <a:pt x="99059" y="19430"/>
                  </a:lnTo>
                  <a:lnTo>
                    <a:pt x="99059" y="208406"/>
                  </a:lnTo>
                  <a:lnTo>
                    <a:pt x="106679" y="237362"/>
                  </a:lnTo>
                  <a:lnTo>
                    <a:pt x="106679" y="472058"/>
                  </a:lnTo>
                  <a:lnTo>
                    <a:pt x="111251" y="496581"/>
                  </a:lnTo>
                  <a:lnTo>
                    <a:pt x="111251" y="94106"/>
                  </a:lnTo>
                  <a:lnTo>
                    <a:pt x="112775" y="97847"/>
                  </a:lnTo>
                  <a:close/>
                </a:path>
                <a:path w="160020" h="582295">
                  <a:moveTo>
                    <a:pt x="160019" y="581786"/>
                  </a:moveTo>
                  <a:lnTo>
                    <a:pt x="160019" y="555878"/>
                  </a:lnTo>
                  <a:lnTo>
                    <a:pt x="144779" y="465962"/>
                  </a:lnTo>
                  <a:lnTo>
                    <a:pt x="144779" y="228218"/>
                  </a:lnTo>
                  <a:lnTo>
                    <a:pt x="143255" y="226694"/>
                  </a:lnTo>
                  <a:lnTo>
                    <a:pt x="128015" y="168782"/>
                  </a:lnTo>
                  <a:lnTo>
                    <a:pt x="128015" y="135254"/>
                  </a:lnTo>
                  <a:lnTo>
                    <a:pt x="111251" y="94106"/>
                  </a:lnTo>
                  <a:lnTo>
                    <a:pt x="112775" y="100202"/>
                  </a:lnTo>
                  <a:lnTo>
                    <a:pt x="112775" y="504755"/>
                  </a:lnTo>
                  <a:lnTo>
                    <a:pt x="123443" y="561974"/>
                  </a:lnTo>
                  <a:lnTo>
                    <a:pt x="123443" y="581786"/>
                  </a:lnTo>
                  <a:lnTo>
                    <a:pt x="160019" y="581786"/>
                  </a:lnTo>
                  <a:close/>
                </a:path>
                <a:path w="160020" h="582295">
                  <a:moveTo>
                    <a:pt x="112775" y="504755"/>
                  </a:moveTo>
                  <a:lnTo>
                    <a:pt x="112775" y="100202"/>
                  </a:lnTo>
                  <a:lnTo>
                    <a:pt x="111251" y="94106"/>
                  </a:lnTo>
                  <a:lnTo>
                    <a:pt x="111251" y="496581"/>
                  </a:lnTo>
                  <a:lnTo>
                    <a:pt x="112775" y="504755"/>
                  </a:lnTo>
                  <a:close/>
                </a:path>
                <a:path w="160020" h="582295">
                  <a:moveTo>
                    <a:pt x="123443" y="581786"/>
                  </a:moveTo>
                  <a:lnTo>
                    <a:pt x="123443" y="561974"/>
                  </a:lnTo>
                  <a:lnTo>
                    <a:pt x="121919" y="558926"/>
                  </a:lnTo>
                  <a:lnTo>
                    <a:pt x="121919" y="581786"/>
                  </a:lnTo>
                  <a:lnTo>
                    <a:pt x="123443" y="581786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16384" y="2311920"/>
              <a:ext cx="38100" cy="1466215"/>
            </a:xfrm>
            <a:custGeom>
              <a:avLst/>
              <a:gdLst/>
              <a:ahLst/>
              <a:cxnLst/>
              <a:rect l="l" t="t" r="r" b="b"/>
              <a:pathLst>
                <a:path w="38100" h="1466214">
                  <a:moveTo>
                    <a:pt x="38100" y="18288"/>
                  </a:moveTo>
                  <a:lnTo>
                    <a:pt x="32143" y="4572"/>
                  </a:lnTo>
                  <a:lnTo>
                    <a:pt x="19050" y="0"/>
                  </a:lnTo>
                  <a:lnTo>
                    <a:pt x="5943" y="4572"/>
                  </a:lnTo>
                  <a:lnTo>
                    <a:pt x="0" y="18288"/>
                  </a:lnTo>
                  <a:lnTo>
                    <a:pt x="0" y="1466088"/>
                  </a:lnTo>
                  <a:lnTo>
                    <a:pt x="38100" y="1466088"/>
                  </a:lnTo>
                  <a:lnTo>
                    <a:pt x="38100" y="18288"/>
                  </a:lnTo>
                  <a:close/>
                </a:path>
              </a:pathLst>
            </a:custGeom>
            <a:solidFill>
              <a:srgbClr val="DD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59415" y="2647188"/>
              <a:ext cx="207264" cy="10515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625202" y="2607563"/>
              <a:ext cx="1094740" cy="111760"/>
            </a:xfrm>
            <a:custGeom>
              <a:avLst/>
              <a:gdLst/>
              <a:ahLst/>
              <a:cxnLst/>
              <a:rect l="l" t="t" r="r" b="b"/>
              <a:pathLst>
                <a:path w="1094739" h="111760">
                  <a:moveTo>
                    <a:pt x="1094231" y="73151"/>
                  </a:moveTo>
                  <a:lnTo>
                    <a:pt x="1523" y="0"/>
                  </a:lnTo>
                  <a:lnTo>
                    <a:pt x="0" y="38099"/>
                  </a:lnTo>
                  <a:lnTo>
                    <a:pt x="1092707" y="111251"/>
                  </a:lnTo>
                  <a:lnTo>
                    <a:pt x="1094231" y="73151"/>
                  </a:lnTo>
                  <a:close/>
                </a:path>
              </a:pathLst>
            </a:custGeom>
            <a:solidFill>
              <a:srgbClr val="FF00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65111" y="5507736"/>
              <a:ext cx="6669405" cy="1140460"/>
            </a:xfrm>
            <a:custGeom>
              <a:avLst/>
              <a:gdLst/>
              <a:ahLst/>
              <a:cxnLst/>
              <a:rect l="l" t="t" r="r" b="b"/>
              <a:pathLst>
                <a:path w="6669405" h="1140459">
                  <a:moveTo>
                    <a:pt x="6669024" y="1106424"/>
                  </a:moveTo>
                  <a:lnTo>
                    <a:pt x="6438900" y="976884"/>
                  </a:lnTo>
                  <a:lnTo>
                    <a:pt x="6252972" y="861060"/>
                  </a:lnTo>
                  <a:lnTo>
                    <a:pt x="6161532" y="812292"/>
                  </a:lnTo>
                  <a:lnTo>
                    <a:pt x="6067044" y="755904"/>
                  </a:lnTo>
                  <a:lnTo>
                    <a:pt x="5835396" y="632460"/>
                  </a:lnTo>
                  <a:lnTo>
                    <a:pt x="5576316" y="501396"/>
                  </a:lnTo>
                  <a:lnTo>
                    <a:pt x="5375148" y="387096"/>
                  </a:lnTo>
                  <a:lnTo>
                    <a:pt x="5373624" y="385572"/>
                  </a:lnTo>
                  <a:lnTo>
                    <a:pt x="5372100" y="385572"/>
                  </a:lnTo>
                  <a:lnTo>
                    <a:pt x="5077968" y="277368"/>
                  </a:lnTo>
                  <a:lnTo>
                    <a:pt x="4846320" y="213360"/>
                  </a:lnTo>
                  <a:lnTo>
                    <a:pt x="4584192" y="153924"/>
                  </a:lnTo>
                  <a:lnTo>
                    <a:pt x="4213860" y="89916"/>
                  </a:lnTo>
                  <a:lnTo>
                    <a:pt x="4014216" y="56388"/>
                  </a:lnTo>
                  <a:lnTo>
                    <a:pt x="3750564" y="32004"/>
                  </a:lnTo>
                  <a:lnTo>
                    <a:pt x="3566160" y="7620"/>
                  </a:lnTo>
                  <a:lnTo>
                    <a:pt x="3334512" y="0"/>
                  </a:lnTo>
                  <a:lnTo>
                    <a:pt x="3177540" y="0"/>
                  </a:lnTo>
                  <a:lnTo>
                    <a:pt x="3069336" y="7620"/>
                  </a:lnTo>
                  <a:lnTo>
                    <a:pt x="2916936" y="30480"/>
                  </a:lnTo>
                  <a:lnTo>
                    <a:pt x="2746248" y="39624"/>
                  </a:lnTo>
                  <a:lnTo>
                    <a:pt x="2622804" y="57912"/>
                  </a:lnTo>
                  <a:lnTo>
                    <a:pt x="2407920" y="89916"/>
                  </a:lnTo>
                  <a:lnTo>
                    <a:pt x="2237232" y="123444"/>
                  </a:lnTo>
                  <a:lnTo>
                    <a:pt x="2083308" y="153924"/>
                  </a:lnTo>
                  <a:lnTo>
                    <a:pt x="1912620" y="179832"/>
                  </a:lnTo>
                  <a:lnTo>
                    <a:pt x="1773936" y="213360"/>
                  </a:lnTo>
                  <a:lnTo>
                    <a:pt x="1556004" y="277368"/>
                  </a:lnTo>
                  <a:lnTo>
                    <a:pt x="1385316" y="336804"/>
                  </a:lnTo>
                  <a:lnTo>
                    <a:pt x="1263396" y="387096"/>
                  </a:lnTo>
                  <a:lnTo>
                    <a:pt x="1060704" y="501396"/>
                  </a:lnTo>
                  <a:lnTo>
                    <a:pt x="832104" y="632460"/>
                  </a:lnTo>
                  <a:lnTo>
                    <a:pt x="569976" y="755904"/>
                  </a:lnTo>
                  <a:lnTo>
                    <a:pt x="367284" y="862584"/>
                  </a:lnTo>
                  <a:lnTo>
                    <a:pt x="198120" y="978408"/>
                  </a:lnTo>
                  <a:lnTo>
                    <a:pt x="0" y="1107948"/>
                  </a:lnTo>
                  <a:lnTo>
                    <a:pt x="19812" y="1139952"/>
                  </a:lnTo>
                  <a:lnTo>
                    <a:pt x="219456" y="1008888"/>
                  </a:lnTo>
                  <a:lnTo>
                    <a:pt x="388620" y="893064"/>
                  </a:lnTo>
                  <a:lnTo>
                    <a:pt x="588264" y="789432"/>
                  </a:lnTo>
                  <a:lnTo>
                    <a:pt x="847344" y="665988"/>
                  </a:lnTo>
                  <a:lnTo>
                    <a:pt x="1080516" y="534924"/>
                  </a:lnTo>
                  <a:lnTo>
                    <a:pt x="1281684" y="420624"/>
                  </a:lnTo>
                  <a:lnTo>
                    <a:pt x="1400556" y="371856"/>
                  </a:lnTo>
                  <a:lnTo>
                    <a:pt x="1568196" y="313944"/>
                  </a:lnTo>
                  <a:lnTo>
                    <a:pt x="1784604" y="249936"/>
                  </a:lnTo>
                  <a:lnTo>
                    <a:pt x="1921764" y="217932"/>
                  </a:lnTo>
                  <a:lnTo>
                    <a:pt x="2089404" y="192024"/>
                  </a:lnTo>
                  <a:lnTo>
                    <a:pt x="2244852" y="160020"/>
                  </a:lnTo>
                  <a:lnTo>
                    <a:pt x="2414016" y="128016"/>
                  </a:lnTo>
                  <a:lnTo>
                    <a:pt x="2628900" y="94488"/>
                  </a:lnTo>
                  <a:lnTo>
                    <a:pt x="2752344" y="77724"/>
                  </a:lnTo>
                  <a:lnTo>
                    <a:pt x="2919984" y="68580"/>
                  </a:lnTo>
                  <a:lnTo>
                    <a:pt x="3073908" y="44196"/>
                  </a:lnTo>
                  <a:lnTo>
                    <a:pt x="3180588" y="38100"/>
                  </a:lnTo>
                  <a:lnTo>
                    <a:pt x="3334512" y="38100"/>
                  </a:lnTo>
                  <a:lnTo>
                    <a:pt x="3564636" y="45720"/>
                  </a:lnTo>
                  <a:lnTo>
                    <a:pt x="3745992" y="68580"/>
                  </a:lnTo>
                  <a:lnTo>
                    <a:pt x="4009644" y="94488"/>
                  </a:lnTo>
                  <a:lnTo>
                    <a:pt x="4207764" y="128016"/>
                  </a:lnTo>
                  <a:lnTo>
                    <a:pt x="4578096" y="192024"/>
                  </a:lnTo>
                  <a:lnTo>
                    <a:pt x="4837176" y="249936"/>
                  </a:lnTo>
                  <a:lnTo>
                    <a:pt x="5067300" y="313944"/>
                  </a:lnTo>
                  <a:lnTo>
                    <a:pt x="5358384" y="420624"/>
                  </a:lnTo>
                  <a:lnTo>
                    <a:pt x="5358384" y="422342"/>
                  </a:lnTo>
                  <a:lnTo>
                    <a:pt x="5558028" y="534924"/>
                  </a:lnTo>
                  <a:lnTo>
                    <a:pt x="5818632" y="665988"/>
                  </a:lnTo>
                  <a:lnTo>
                    <a:pt x="6048756" y="789432"/>
                  </a:lnTo>
                  <a:lnTo>
                    <a:pt x="6141720" y="845820"/>
                  </a:lnTo>
                  <a:lnTo>
                    <a:pt x="6234684" y="894588"/>
                  </a:lnTo>
                  <a:lnTo>
                    <a:pt x="6419088" y="1010412"/>
                  </a:lnTo>
                  <a:lnTo>
                    <a:pt x="6650736" y="1139952"/>
                  </a:lnTo>
                  <a:lnTo>
                    <a:pt x="6669024" y="1106424"/>
                  </a:lnTo>
                  <a:close/>
                </a:path>
                <a:path w="6669405" h="1140459">
                  <a:moveTo>
                    <a:pt x="5358384" y="422342"/>
                  </a:moveTo>
                  <a:lnTo>
                    <a:pt x="5358384" y="420624"/>
                  </a:lnTo>
                  <a:lnTo>
                    <a:pt x="5355336" y="420624"/>
                  </a:lnTo>
                  <a:lnTo>
                    <a:pt x="5358384" y="422342"/>
                  </a:lnTo>
                  <a:close/>
                </a:path>
              </a:pathLst>
            </a:custGeom>
            <a:solidFill>
              <a:srgbClr val="BA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77702" y="3777996"/>
              <a:ext cx="314325" cy="2903220"/>
            </a:xfrm>
            <a:custGeom>
              <a:avLst/>
              <a:gdLst/>
              <a:ahLst/>
              <a:cxnLst/>
              <a:rect l="l" t="t" r="r" b="b"/>
              <a:pathLst>
                <a:path w="314325" h="2903220">
                  <a:moveTo>
                    <a:pt x="125269" y="0"/>
                  </a:moveTo>
                  <a:lnTo>
                    <a:pt x="87120" y="0"/>
                  </a:lnTo>
                  <a:lnTo>
                    <a:pt x="77723" y="297179"/>
                  </a:lnTo>
                  <a:lnTo>
                    <a:pt x="44195" y="1001267"/>
                  </a:lnTo>
                  <a:lnTo>
                    <a:pt x="44195" y="1409699"/>
                  </a:lnTo>
                  <a:lnTo>
                    <a:pt x="0" y="2499359"/>
                  </a:lnTo>
                  <a:lnTo>
                    <a:pt x="0" y="2901695"/>
                  </a:lnTo>
                  <a:lnTo>
                    <a:pt x="38099" y="2901695"/>
                  </a:lnTo>
                  <a:lnTo>
                    <a:pt x="38099" y="2499359"/>
                  </a:lnTo>
                  <a:lnTo>
                    <a:pt x="82295" y="1411223"/>
                  </a:lnTo>
                  <a:lnTo>
                    <a:pt x="82295" y="1001267"/>
                  </a:lnTo>
                  <a:lnTo>
                    <a:pt x="115823" y="298703"/>
                  </a:lnTo>
                  <a:lnTo>
                    <a:pt x="125269" y="0"/>
                  </a:lnTo>
                  <a:close/>
                </a:path>
                <a:path w="314325" h="2903220">
                  <a:moveTo>
                    <a:pt x="313943" y="2900171"/>
                  </a:moveTo>
                  <a:lnTo>
                    <a:pt x="297179" y="2688335"/>
                  </a:lnTo>
                  <a:lnTo>
                    <a:pt x="297179" y="2147315"/>
                  </a:lnTo>
                  <a:lnTo>
                    <a:pt x="283463" y="1796795"/>
                  </a:lnTo>
                  <a:lnTo>
                    <a:pt x="283463" y="1408175"/>
                  </a:lnTo>
                  <a:lnTo>
                    <a:pt x="268223" y="1296923"/>
                  </a:lnTo>
                  <a:lnTo>
                    <a:pt x="268223" y="647699"/>
                  </a:lnTo>
                  <a:lnTo>
                    <a:pt x="251459" y="297179"/>
                  </a:lnTo>
                  <a:lnTo>
                    <a:pt x="240929" y="0"/>
                  </a:lnTo>
                  <a:lnTo>
                    <a:pt x="203839" y="0"/>
                  </a:lnTo>
                  <a:lnTo>
                    <a:pt x="213359" y="298703"/>
                  </a:lnTo>
                  <a:lnTo>
                    <a:pt x="230123" y="649223"/>
                  </a:lnTo>
                  <a:lnTo>
                    <a:pt x="230123" y="1296923"/>
                  </a:lnTo>
                  <a:lnTo>
                    <a:pt x="246887" y="1412747"/>
                  </a:lnTo>
                  <a:lnTo>
                    <a:pt x="246887" y="1835911"/>
                  </a:lnTo>
                  <a:lnTo>
                    <a:pt x="259079" y="2148839"/>
                  </a:lnTo>
                  <a:lnTo>
                    <a:pt x="259079" y="2688335"/>
                  </a:lnTo>
                  <a:lnTo>
                    <a:pt x="275843" y="2903219"/>
                  </a:lnTo>
                  <a:lnTo>
                    <a:pt x="313943" y="2900171"/>
                  </a:lnTo>
                  <a:close/>
                </a:path>
                <a:path w="314325" h="2903220">
                  <a:moveTo>
                    <a:pt x="246887" y="1835911"/>
                  </a:moveTo>
                  <a:lnTo>
                    <a:pt x="246887" y="1412747"/>
                  </a:lnTo>
                  <a:lnTo>
                    <a:pt x="245363" y="1796795"/>
                  </a:lnTo>
                  <a:lnTo>
                    <a:pt x="246887" y="18359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77702" y="3777996"/>
              <a:ext cx="312420" cy="2905125"/>
            </a:xfrm>
            <a:custGeom>
              <a:avLst/>
              <a:gdLst/>
              <a:ahLst/>
              <a:cxnLst/>
              <a:rect l="l" t="t" r="r" b="b"/>
              <a:pathLst>
                <a:path w="312420" h="2905125">
                  <a:moveTo>
                    <a:pt x="16763" y="2901695"/>
                  </a:moveTo>
                  <a:lnTo>
                    <a:pt x="16763" y="2371343"/>
                  </a:lnTo>
                  <a:lnTo>
                    <a:pt x="0" y="2430779"/>
                  </a:lnTo>
                  <a:lnTo>
                    <a:pt x="0" y="2901695"/>
                  </a:lnTo>
                  <a:lnTo>
                    <a:pt x="16763" y="2901695"/>
                  </a:lnTo>
                  <a:close/>
                </a:path>
                <a:path w="312420" h="2905125">
                  <a:moveTo>
                    <a:pt x="115823" y="355091"/>
                  </a:moveTo>
                  <a:lnTo>
                    <a:pt x="115823" y="0"/>
                  </a:lnTo>
                  <a:lnTo>
                    <a:pt x="77723" y="0"/>
                  </a:lnTo>
                  <a:lnTo>
                    <a:pt x="77723" y="417575"/>
                  </a:lnTo>
                  <a:lnTo>
                    <a:pt x="60959" y="534923"/>
                  </a:lnTo>
                  <a:lnTo>
                    <a:pt x="60959" y="873251"/>
                  </a:lnTo>
                  <a:lnTo>
                    <a:pt x="45719" y="931163"/>
                  </a:lnTo>
                  <a:lnTo>
                    <a:pt x="45719" y="932687"/>
                  </a:lnTo>
                  <a:lnTo>
                    <a:pt x="44195" y="934211"/>
                  </a:lnTo>
                  <a:lnTo>
                    <a:pt x="44195" y="1327403"/>
                  </a:lnTo>
                  <a:lnTo>
                    <a:pt x="28955" y="1476755"/>
                  </a:lnTo>
                  <a:lnTo>
                    <a:pt x="28955" y="1917191"/>
                  </a:lnTo>
                  <a:lnTo>
                    <a:pt x="15239" y="2033015"/>
                  </a:lnTo>
                  <a:lnTo>
                    <a:pt x="15239" y="2375915"/>
                  </a:lnTo>
                  <a:lnTo>
                    <a:pt x="16763" y="2371343"/>
                  </a:lnTo>
                  <a:lnTo>
                    <a:pt x="16763" y="2901695"/>
                  </a:lnTo>
                  <a:lnTo>
                    <a:pt x="36575" y="2901695"/>
                  </a:lnTo>
                  <a:lnTo>
                    <a:pt x="36575" y="2439923"/>
                  </a:lnTo>
                  <a:lnTo>
                    <a:pt x="53339" y="2382011"/>
                  </a:lnTo>
                  <a:lnTo>
                    <a:pt x="53339" y="2033015"/>
                  </a:lnTo>
                  <a:lnTo>
                    <a:pt x="67055" y="1921763"/>
                  </a:lnTo>
                  <a:lnTo>
                    <a:pt x="67055" y="1476755"/>
                  </a:lnTo>
                  <a:lnTo>
                    <a:pt x="82295" y="1331975"/>
                  </a:lnTo>
                  <a:lnTo>
                    <a:pt x="82295" y="941831"/>
                  </a:lnTo>
                  <a:lnTo>
                    <a:pt x="99059" y="883919"/>
                  </a:lnTo>
                  <a:lnTo>
                    <a:pt x="99059" y="534923"/>
                  </a:lnTo>
                  <a:lnTo>
                    <a:pt x="114299" y="423671"/>
                  </a:lnTo>
                  <a:lnTo>
                    <a:pt x="115823" y="355091"/>
                  </a:lnTo>
                  <a:close/>
                </a:path>
                <a:path w="312420" h="2905125">
                  <a:moveTo>
                    <a:pt x="38099" y="2901695"/>
                  </a:moveTo>
                  <a:lnTo>
                    <a:pt x="38099" y="2435351"/>
                  </a:lnTo>
                  <a:lnTo>
                    <a:pt x="36575" y="2439923"/>
                  </a:lnTo>
                  <a:lnTo>
                    <a:pt x="36575" y="2901695"/>
                  </a:lnTo>
                  <a:lnTo>
                    <a:pt x="38099" y="2901695"/>
                  </a:lnTo>
                  <a:close/>
                </a:path>
                <a:path w="312420" h="2905125">
                  <a:moveTo>
                    <a:pt x="312419" y="2897123"/>
                  </a:moveTo>
                  <a:lnTo>
                    <a:pt x="297179" y="2823971"/>
                  </a:lnTo>
                  <a:lnTo>
                    <a:pt x="297179" y="1915667"/>
                  </a:lnTo>
                  <a:lnTo>
                    <a:pt x="283463" y="1850135"/>
                  </a:lnTo>
                  <a:lnTo>
                    <a:pt x="283463" y="1473707"/>
                  </a:lnTo>
                  <a:lnTo>
                    <a:pt x="268223" y="1328927"/>
                  </a:lnTo>
                  <a:lnTo>
                    <a:pt x="268223" y="417575"/>
                  </a:lnTo>
                  <a:lnTo>
                    <a:pt x="266699" y="416051"/>
                  </a:lnTo>
                  <a:lnTo>
                    <a:pt x="251459" y="350519"/>
                  </a:lnTo>
                  <a:lnTo>
                    <a:pt x="251459" y="181355"/>
                  </a:lnTo>
                  <a:lnTo>
                    <a:pt x="237743" y="51815"/>
                  </a:lnTo>
                  <a:lnTo>
                    <a:pt x="237743" y="0"/>
                  </a:lnTo>
                  <a:lnTo>
                    <a:pt x="199643" y="0"/>
                  </a:lnTo>
                  <a:lnTo>
                    <a:pt x="199643" y="51815"/>
                  </a:lnTo>
                  <a:lnTo>
                    <a:pt x="213359" y="184403"/>
                  </a:lnTo>
                  <a:lnTo>
                    <a:pt x="213359" y="358139"/>
                  </a:lnTo>
                  <a:lnTo>
                    <a:pt x="214883" y="359663"/>
                  </a:lnTo>
                  <a:lnTo>
                    <a:pt x="230123" y="425195"/>
                  </a:lnTo>
                  <a:lnTo>
                    <a:pt x="230123" y="1328927"/>
                  </a:lnTo>
                  <a:lnTo>
                    <a:pt x="245363" y="1478279"/>
                  </a:lnTo>
                  <a:lnTo>
                    <a:pt x="245363" y="1856231"/>
                  </a:lnTo>
                  <a:lnTo>
                    <a:pt x="246887" y="1857755"/>
                  </a:lnTo>
                  <a:lnTo>
                    <a:pt x="259079" y="1923287"/>
                  </a:lnTo>
                  <a:lnTo>
                    <a:pt x="259079" y="2831591"/>
                  </a:lnTo>
                  <a:lnTo>
                    <a:pt x="275843" y="2904743"/>
                  </a:lnTo>
                  <a:lnTo>
                    <a:pt x="312419" y="2897123"/>
                  </a:lnTo>
                  <a:close/>
                </a:path>
              </a:pathLst>
            </a:custGeom>
            <a:solidFill>
              <a:srgbClr val="3232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16384" y="3778008"/>
              <a:ext cx="38100" cy="2926080"/>
            </a:xfrm>
            <a:custGeom>
              <a:avLst/>
              <a:gdLst/>
              <a:ahLst/>
              <a:cxnLst/>
              <a:rect l="l" t="t" r="r" b="b"/>
              <a:pathLst>
                <a:path w="38100" h="2926079">
                  <a:moveTo>
                    <a:pt x="38100" y="0"/>
                  </a:moveTo>
                  <a:lnTo>
                    <a:pt x="0" y="0"/>
                  </a:lnTo>
                  <a:lnTo>
                    <a:pt x="0" y="2901696"/>
                  </a:lnTo>
                  <a:lnTo>
                    <a:pt x="0" y="2926080"/>
                  </a:lnTo>
                  <a:lnTo>
                    <a:pt x="38100" y="2926080"/>
                  </a:lnTo>
                  <a:lnTo>
                    <a:pt x="38100" y="2901696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D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93254" y="6659879"/>
              <a:ext cx="7620000" cy="40005"/>
            </a:xfrm>
            <a:custGeom>
              <a:avLst/>
              <a:gdLst/>
              <a:ahLst/>
              <a:cxnLst/>
              <a:rect l="l" t="t" r="r" b="b"/>
              <a:pathLst>
                <a:path w="7620000" h="40004">
                  <a:moveTo>
                    <a:pt x="7619999" y="38099"/>
                  </a:moveTo>
                  <a:lnTo>
                    <a:pt x="7619999" y="0"/>
                  </a:lnTo>
                  <a:lnTo>
                    <a:pt x="0" y="1523"/>
                  </a:lnTo>
                  <a:lnTo>
                    <a:pt x="0" y="39623"/>
                  </a:lnTo>
                  <a:lnTo>
                    <a:pt x="7619999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9643" y="4539996"/>
              <a:ext cx="227076" cy="13411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893170" y="4413503"/>
              <a:ext cx="754380" cy="247015"/>
            </a:xfrm>
            <a:custGeom>
              <a:avLst/>
              <a:gdLst/>
              <a:ahLst/>
              <a:cxnLst/>
              <a:rect l="l" t="t" r="r" b="b"/>
              <a:pathLst>
                <a:path w="754379" h="247014">
                  <a:moveTo>
                    <a:pt x="754379" y="36575"/>
                  </a:moveTo>
                  <a:lnTo>
                    <a:pt x="743711" y="0"/>
                  </a:lnTo>
                  <a:lnTo>
                    <a:pt x="0" y="210311"/>
                  </a:lnTo>
                  <a:lnTo>
                    <a:pt x="10667" y="246887"/>
                  </a:lnTo>
                  <a:lnTo>
                    <a:pt x="754379" y="36575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188729" y="2283079"/>
            <a:ext cx="2931075" cy="887846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 marR="4454">
              <a:spcBef>
                <a:spcPts val="83"/>
              </a:spcBef>
            </a:pPr>
            <a:r>
              <a:rPr sz="1900" dirty="0">
                <a:latin typeface="Times New Roman"/>
                <a:cs typeface="Times New Roman"/>
              </a:rPr>
              <a:t>Laser</a:t>
            </a:r>
            <a:r>
              <a:rPr sz="1900" spc="-31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output</a:t>
            </a:r>
            <a:r>
              <a:rPr sz="1900" spc="-39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-4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many</a:t>
            </a:r>
            <a:r>
              <a:rPr sz="1900" spc="-4" dirty="0">
                <a:latin typeface="Times New Roman"/>
                <a:cs typeface="Times New Roman"/>
              </a:rPr>
              <a:t> </a:t>
            </a:r>
            <a:r>
              <a:rPr sz="1900" spc="-18" dirty="0">
                <a:latin typeface="Times New Roman"/>
                <a:cs typeface="Times New Roman"/>
              </a:rPr>
              <a:t>times </a:t>
            </a:r>
            <a:r>
              <a:rPr sz="1900" dirty="0">
                <a:latin typeface="Times New Roman"/>
                <a:cs typeface="Times New Roman"/>
              </a:rPr>
              <a:t>higher</a:t>
            </a:r>
            <a:r>
              <a:rPr sz="1900" spc="-4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than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LED</a:t>
            </a:r>
            <a:r>
              <a:rPr sz="1900" spc="-26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output;</a:t>
            </a:r>
            <a:r>
              <a:rPr sz="1900" spc="-39" dirty="0">
                <a:latin typeface="Times New Roman"/>
                <a:cs typeface="Times New Roman"/>
              </a:rPr>
              <a:t> </a:t>
            </a:r>
            <a:r>
              <a:rPr sz="1900" spc="-18" dirty="0">
                <a:latin typeface="Times New Roman"/>
                <a:cs typeface="Times New Roman"/>
              </a:rPr>
              <a:t>they </a:t>
            </a:r>
            <a:r>
              <a:rPr sz="1900" dirty="0">
                <a:latin typeface="Times New Roman"/>
                <a:cs typeface="Times New Roman"/>
              </a:rPr>
              <a:t>would</a:t>
            </a:r>
            <a:r>
              <a:rPr sz="1900" spc="-48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not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show</a:t>
            </a:r>
            <a:r>
              <a:rPr sz="1900" spc="-31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on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same</a:t>
            </a:r>
            <a:r>
              <a:rPr sz="1900" spc="-13" dirty="0">
                <a:latin typeface="Times New Roman"/>
                <a:cs typeface="Times New Roman"/>
              </a:rPr>
              <a:t> </a:t>
            </a:r>
            <a:r>
              <a:rPr sz="1900" spc="-18" dirty="0">
                <a:latin typeface="Times New Roman"/>
                <a:cs typeface="Times New Roman"/>
              </a:rPr>
              <a:t>scale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33459" y="3877822"/>
            <a:ext cx="1387890" cy="595458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 marR="4454">
              <a:spcBef>
                <a:spcPts val="83"/>
              </a:spcBef>
            </a:pPr>
            <a:r>
              <a:rPr sz="1900" dirty="0">
                <a:solidFill>
                  <a:srgbClr val="0000FF"/>
                </a:solidFill>
                <a:latin typeface="Times New Roman"/>
                <a:cs typeface="Times New Roman"/>
              </a:rPr>
              <a:t>Standard</a:t>
            </a:r>
            <a:r>
              <a:rPr sz="1900" spc="-57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900" spc="-18" dirty="0">
                <a:solidFill>
                  <a:srgbClr val="0000FF"/>
                </a:solidFill>
                <a:latin typeface="Times New Roman"/>
                <a:cs typeface="Times New Roman"/>
              </a:rPr>
              <a:t>laser </a:t>
            </a:r>
            <a:r>
              <a:rPr sz="1900" spc="-9" dirty="0">
                <a:solidFill>
                  <a:srgbClr val="0000FF"/>
                </a:solidFill>
                <a:latin typeface="Times New Roman"/>
                <a:cs typeface="Times New Roman"/>
              </a:rPr>
              <a:t>(1-</a:t>
            </a:r>
            <a:r>
              <a:rPr sz="1900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900" spc="-18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FF"/>
                </a:solidFill>
                <a:latin typeface="Times New Roman"/>
                <a:cs typeface="Times New Roman"/>
              </a:rPr>
              <a:t>nm</a:t>
            </a:r>
            <a:r>
              <a:rPr sz="1900" spc="-13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900" spc="-18" dirty="0">
                <a:solidFill>
                  <a:srgbClr val="0000FF"/>
                </a:solidFill>
                <a:latin typeface="Times New Roman"/>
                <a:cs typeface="Times New Roman"/>
              </a:rPr>
              <a:t>wide)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00304" y="5443521"/>
            <a:ext cx="3715157" cy="1185363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612957">
              <a:spcBef>
                <a:spcPts val="83"/>
              </a:spcBef>
            </a:pPr>
            <a:r>
              <a:rPr sz="1900" dirty="0">
                <a:solidFill>
                  <a:srgbClr val="007F00"/>
                </a:solidFill>
                <a:latin typeface="Times New Roman"/>
                <a:cs typeface="Times New Roman"/>
              </a:rPr>
              <a:t>LED</a:t>
            </a:r>
            <a:r>
              <a:rPr sz="1900" spc="-22" dirty="0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sz="1900" spc="-9" dirty="0">
                <a:solidFill>
                  <a:srgbClr val="007F00"/>
                </a:solidFill>
                <a:latin typeface="Times New Roman"/>
                <a:cs typeface="Times New Roman"/>
              </a:rPr>
              <a:t>(30-</a:t>
            </a:r>
            <a:r>
              <a:rPr sz="1900" dirty="0">
                <a:solidFill>
                  <a:srgbClr val="007F00"/>
                </a:solidFill>
                <a:latin typeface="Times New Roman"/>
                <a:cs typeface="Times New Roman"/>
              </a:rPr>
              <a:t>50</a:t>
            </a:r>
            <a:r>
              <a:rPr sz="1900" spc="-18" dirty="0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7F00"/>
                </a:solidFill>
                <a:latin typeface="Times New Roman"/>
                <a:cs typeface="Times New Roman"/>
              </a:rPr>
              <a:t>nm</a:t>
            </a:r>
            <a:r>
              <a:rPr sz="1900" spc="-22" dirty="0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sz="1900" spc="-18" dirty="0">
                <a:solidFill>
                  <a:srgbClr val="007F00"/>
                </a:solidFill>
                <a:latin typeface="Times New Roman"/>
                <a:cs typeface="Times New Roman"/>
              </a:rPr>
              <a:t>wide)</a:t>
            </a:r>
            <a:endParaRPr sz="1900">
              <a:latin typeface="Times New Roman"/>
              <a:cs typeface="Times New Roman"/>
            </a:endParaRPr>
          </a:p>
          <a:p>
            <a:pPr>
              <a:spcBef>
                <a:spcPts val="364"/>
              </a:spcBef>
            </a:pPr>
            <a:endParaRPr sz="1900">
              <a:latin typeface="Times New Roman"/>
              <a:cs typeface="Times New Roman"/>
            </a:endParaRPr>
          </a:p>
          <a:p>
            <a:pPr marL="11135"/>
            <a:r>
              <a:rPr sz="1600" spc="-9" dirty="0">
                <a:latin typeface="Times New Roman"/>
                <a:cs typeface="Times New Roman"/>
              </a:rPr>
              <a:t>Wavelength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8002" y="725674"/>
            <a:ext cx="3945386" cy="395403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>
              <a:spcBef>
                <a:spcPts val="83"/>
              </a:spcBef>
            </a:pPr>
            <a:r>
              <a:rPr sz="2500" spc="-9" dirty="0">
                <a:solidFill>
                  <a:srgbClr val="323299"/>
                </a:solidFill>
              </a:rPr>
              <a:t>Light-</a:t>
            </a:r>
            <a:r>
              <a:rPr sz="2500" dirty="0">
                <a:solidFill>
                  <a:srgbClr val="323299"/>
                </a:solidFill>
              </a:rPr>
              <a:t>Emitting</a:t>
            </a:r>
            <a:r>
              <a:rPr sz="2500" spc="-57" dirty="0">
                <a:solidFill>
                  <a:srgbClr val="323299"/>
                </a:solidFill>
              </a:rPr>
              <a:t> </a:t>
            </a:r>
            <a:r>
              <a:rPr sz="2500" dirty="0">
                <a:solidFill>
                  <a:srgbClr val="323299"/>
                </a:solidFill>
              </a:rPr>
              <a:t>Diodes</a:t>
            </a:r>
            <a:r>
              <a:rPr sz="2500" spc="-57" dirty="0">
                <a:solidFill>
                  <a:srgbClr val="323299"/>
                </a:solidFill>
              </a:rPr>
              <a:t> </a:t>
            </a:r>
            <a:r>
              <a:rPr sz="2500" spc="-9" dirty="0">
                <a:solidFill>
                  <a:srgbClr val="323299"/>
                </a:solidFill>
              </a:rPr>
              <a:t>(LEDs)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533401" y="1515444"/>
            <a:ext cx="8153400" cy="2849200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311233" marR="4454" indent="-300655" algn="just">
              <a:lnSpc>
                <a:spcPct val="200000"/>
              </a:lnSpc>
              <a:spcBef>
                <a:spcPts val="88"/>
              </a:spcBef>
              <a:buChar char="•"/>
              <a:tabLst>
                <a:tab pos="311233" algn="l"/>
              </a:tabLst>
            </a:pPr>
            <a:r>
              <a:rPr dirty="0">
                <a:latin typeface="Arial"/>
                <a:cs typeface="Arial"/>
              </a:rPr>
              <a:t>For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photonic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communications</a:t>
            </a:r>
            <a:r>
              <a:rPr spc="-5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requiring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data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rate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100-200</a:t>
            </a:r>
            <a:r>
              <a:rPr spc="-48" dirty="0">
                <a:latin typeface="Arial"/>
                <a:cs typeface="Arial"/>
              </a:rPr>
              <a:t> </a:t>
            </a:r>
            <a:r>
              <a:rPr spc="-18" dirty="0">
                <a:latin typeface="Arial"/>
                <a:cs typeface="Arial"/>
              </a:rPr>
              <a:t>Mb/s </a:t>
            </a:r>
            <a:r>
              <a:rPr dirty="0">
                <a:latin typeface="Arial"/>
                <a:cs typeface="Arial"/>
              </a:rPr>
              <a:t>with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multimode</a:t>
            </a:r>
            <a:r>
              <a:rPr spc="-4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fiber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with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tens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microwatts,</a:t>
            </a:r>
            <a:r>
              <a:rPr spc="-6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LEDs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are</a:t>
            </a:r>
            <a:r>
              <a:rPr spc="-31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usually </a:t>
            </a:r>
            <a:r>
              <a:rPr dirty="0">
                <a:latin typeface="Arial"/>
                <a:cs typeface="Arial"/>
              </a:rPr>
              <a:t>the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best</a:t>
            </a:r>
            <a:r>
              <a:rPr spc="-26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choice.</a:t>
            </a:r>
            <a:endParaRPr>
              <a:latin typeface="Arial"/>
              <a:cs typeface="Arial"/>
            </a:endParaRPr>
          </a:p>
          <a:p>
            <a:pPr marL="311233" indent="-300098" algn="just">
              <a:lnSpc>
                <a:spcPct val="200000"/>
              </a:lnSpc>
              <a:spcBef>
                <a:spcPts val="421"/>
              </a:spcBef>
              <a:buChar char="•"/>
              <a:tabLst>
                <a:tab pos="311233" algn="l"/>
              </a:tabLst>
            </a:pPr>
            <a:r>
              <a:rPr dirty="0">
                <a:latin typeface="Arial"/>
                <a:cs typeface="Arial"/>
              </a:rPr>
              <a:t>LED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configurations</a:t>
            </a:r>
            <a:r>
              <a:rPr spc="-57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being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used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photonic</a:t>
            </a:r>
            <a:r>
              <a:rPr spc="-39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communications:</a:t>
            </a:r>
            <a:endParaRPr>
              <a:latin typeface="Arial"/>
              <a:cs typeface="Arial"/>
            </a:endParaRPr>
          </a:p>
          <a:p>
            <a:pPr marL="573471" lvl="1" indent="-257784" algn="just">
              <a:lnSpc>
                <a:spcPct val="200000"/>
              </a:lnSpc>
              <a:spcBef>
                <a:spcPts val="421"/>
              </a:spcBef>
              <a:buAutoNum type="arabicPlain"/>
              <a:tabLst>
                <a:tab pos="573471" algn="l"/>
              </a:tabLst>
            </a:pPr>
            <a:r>
              <a:rPr dirty="0">
                <a:latin typeface="Arial"/>
                <a:cs typeface="Arial"/>
              </a:rPr>
              <a:t>Surface</a:t>
            </a:r>
            <a:r>
              <a:rPr spc="-5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Emitters</a:t>
            </a:r>
            <a:r>
              <a:rPr spc="-4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(Front</a:t>
            </a:r>
            <a:r>
              <a:rPr spc="-53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Emitters)</a:t>
            </a:r>
            <a:endParaRPr>
              <a:latin typeface="Arial"/>
              <a:cs typeface="Arial"/>
            </a:endParaRPr>
          </a:p>
          <a:p>
            <a:pPr marL="573471" lvl="1" indent="-257784" algn="just">
              <a:lnSpc>
                <a:spcPct val="200000"/>
              </a:lnSpc>
              <a:spcBef>
                <a:spcPts val="421"/>
              </a:spcBef>
              <a:buAutoNum type="arabicPlain"/>
              <a:tabLst>
                <a:tab pos="573471" algn="l"/>
              </a:tabLst>
            </a:pPr>
            <a:r>
              <a:rPr dirty="0">
                <a:latin typeface="Arial"/>
                <a:cs typeface="Arial"/>
              </a:rPr>
              <a:t>Edge</a:t>
            </a:r>
            <a:r>
              <a:rPr spc="-31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Emitters</a:t>
            </a:r>
            <a:endParaRPr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63911"/>
          </a:xfrm>
          <a:prstGeom prst="rect">
            <a:avLst/>
          </a:prstGeom>
        </p:spPr>
        <p:txBody>
          <a:bodyPr vert="horz" wrap="square" lIns="0" tIns="276490" rIns="0" bIns="0" rtlCol="0">
            <a:spAutoFit/>
          </a:bodyPr>
          <a:lstStyle/>
          <a:p>
            <a:pPr marL="2000467">
              <a:spcBef>
                <a:spcPts val="83"/>
              </a:spcBef>
            </a:pPr>
            <a:r>
              <a:rPr sz="2500" spc="-9" dirty="0">
                <a:solidFill>
                  <a:srgbClr val="323299"/>
                </a:solidFill>
              </a:rPr>
              <a:t>Surface-</a:t>
            </a:r>
            <a:r>
              <a:rPr sz="2500" dirty="0">
                <a:solidFill>
                  <a:srgbClr val="323299"/>
                </a:solidFill>
              </a:rPr>
              <a:t>Emitting</a:t>
            </a:r>
            <a:r>
              <a:rPr sz="2500" spc="-48" dirty="0">
                <a:solidFill>
                  <a:srgbClr val="323299"/>
                </a:solidFill>
              </a:rPr>
              <a:t> </a:t>
            </a:r>
            <a:r>
              <a:rPr sz="2500" spc="-22" dirty="0">
                <a:solidFill>
                  <a:srgbClr val="323299"/>
                </a:solidFill>
              </a:rPr>
              <a:t>LED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9299" y="1630705"/>
            <a:ext cx="5864323" cy="32157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9362" y="6303825"/>
            <a:ext cx="2580845" cy="118966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33406">
              <a:spcBef>
                <a:spcPts val="88"/>
              </a:spcBef>
            </a:pPr>
            <a:r>
              <a:rPr sz="700" dirty="0">
                <a:latin typeface="Arial"/>
                <a:cs typeface="Arial"/>
              </a:rPr>
              <a:t>Optical Fiber</a:t>
            </a:r>
            <a:r>
              <a:rPr sz="700" spc="26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communications,</a:t>
            </a:r>
            <a:r>
              <a:rPr sz="700" spc="-18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3</a:t>
            </a:r>
            <a:r>
              <a:rPr sz="700" baseline="27777" dirty="0">
                <a:latin typeface="Arial"/>
                <a:cs typeface="Arial"/>
              </a:rPr>
              <a:t>rd</a:t>
            </a:r>
            <a:r>
              <a:rPr sz="700" spc="157" baseline="27777" dirty="0">
                <a:latin typeface="Arial"/>
                <a:cs typeface="Arial"/>
              </a:rPr>
              <a:t> </a:t>
            </a:r>
            <a:r>
              <a:rPr sz="700" spc="-9" dirty="0">
                <a:latin typeface="Arial"/>
                <a:cs typeface="Arial"/>
              </a:rPr>
              <a:t>ed.,G.Keiser,McGrawHill,</a:t>
            </a:r>
            <a:r>
              <a:rPr sz="700" spc="9" dirty="0">
                <a:latin typeface="Arial"/>
                <a:cs typeface="Arial"/>
              </a:rPr>
              <a:t> </a:t>
            </a:r>
            <a:r>
              <a:rPr sz="700" spc="-18" dirty="0">
                <a:latin typeface="Arial"/>
                <a:cs typeface="Arial"/>
              </a:rPr>
              <a:t>2000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4237" y="5395111"/>
            <a:ext cx="7137098" cy="1119239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dirty="0">
                <a:latin typeface="Times New Roman"/>
                <a:cs typeface="Times New Roman"/>
              </a:rPr>
              <a:t>Schematic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1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high-radiance</a:t>
            </a:r>
            <a:r>
              <a:rPr spc="-53" dirty="0">
                <a:latin typeface="Times New Roman"/>
                <a:cs typeface="Times New Roman"/>
              </a:rPr>
              <a:t> </a:t>
            </a:r>
            <a:r>
              <a:rPr spc="-9" dirty="0">
                <a:latin typeface="Times New Roman"/>
                <a:cs typeface="Times New Roman"/>
              </a:rPr>
              <a:t>surface-</a:t>
            </a:r>
            <a:r>
              <a:rPr dirty="0">
                <a:latin typeface="Times New Roman"/>
                <a:cs typeface="Times New Roman"/>
              </a:rPr>
              <a:t>emitting</a:t>
            </a:r>
            <a:r>
              <a:rPr spc="-57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LED.</a:t>
            </a:r>
            <a:r>
              <a:rPr spc="-4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22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active</a:t>
            </a:r>
            <a:r>
              <a:rPr spc="-1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region</a:t>
            </a:r>
            <a:r>
              <a:rPr spc="-3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</a:t>
            </a:r>
            <a:r>
              <a:rPr spc="-22" dirty="0">
                <a:latin typeface="Times New Roman"/>
                <a:cs typeface="Times New Roman"/>
              </a:rPr>
              <a:t> </a:t>
            </a:r>
            <a:r>
              <a:rPr spc="-9" dirty="0">
                <a:latin typeface="Times New Roman"/>
                <a:cs typeface="Times New Roman"/>
              </a:rPr>
              <a:t>limitted</a:t>
            </a:r>
            <a:endParaRPr>
              <a:latin typeface="Times New Roman"/>
              <a:cs typeface="Times New Roman"/>
            </a:endParaRPr>
          </a:p>
          <a:p>
            <a:pPr marL="11135"/>
            <a:r>
              <a:rPr dirty="0">
                <a:latin typeface="Times New Roman"/>
                <a:cs typeface="Times New Roman"/>
              </a:rPr>
              <a:t>to</a:t>
            </a:r>
            <a:r>
              <a:rPr spc="-22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13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circular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cross</a:t>
            </a:r>
            <a:r>
              <a:rPr spc="-22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section</a:t>
            </a:r>
            <a:r>
              <a:rPr spc="-31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that</a:t>
            </a:r>
            <a:r>
              <a:rPr spc="-22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has</a:t>
            </a:r>
            <a:r>
              <a:rPr spc="-22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</a:t>
            </a:r>
            <a:r>
              <a:rPr spc="-13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area</a:t>
            </a:r>
            <a:r>
              <a:rPr spc="-13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compatible</a:t>
            </a:r>
            <a:r>
              <a:rPr spc="-26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with</a:t>
            </a:r>
            <a:r>
              <a:rPr spc="-13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13" dirty="0">
                <a:latin typeface="Times New Roman"/>
                <a:cs typeface="Times New Roman"/>
              </a:rPr>
              <a:t> </a:t>
            </a:r>
            <a:r>
              <a:rPr spc="-9" dirty="0">
                <a:latin typeface="Times New Roman"/>
                <a:cs typeface="Times New Roman"/>
              </a:rPr>
              <a:t>fiber-</a:t>
            </a:r>
            <a:r>
              <a:rPr dirty="0">
                <a:latin typeface="Times New Roman"/>
                <a:cs typeface="Times New Roman"/>
              </a:rPr>
              <a:t>core</a:t>
            </a:r>
            <a:r>
              <a:rPr spc="-61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end</a:t>
            </a:r>
            <a:r>
              <a:rPr spc="-18" dirty="0">
                <a:latin typeface="Times New Roman"/>
                <a:cs typeface="Times New Roman"/>
              </a:rPr>
              <a:t> </a:t>
            </a:r>
            <a:r>
              <a:rPr spc="-9" dirty="0">
                <a:latin typeface="Times New Roman"/>
                <a:cs typeface="Times New Roman"/>
              </a:rPr>
              <a:t>face.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97643"/>
          </a:xfrm>
          <a:prstGeom prst="rect">
            <a:avLst/>
          </a:prstGeom>
        </p:spPr>
        <p:txBody>
          <a:bodyPr vert="horz" wrap="square" lIns="0" tIns="309896" rIns="0" bIns="0" rtlCol="0">
            <a:spAutoFit/>
          </a:bodyPr>
          <a:lstStyle/>
          <a:p>
            <a:pPr marL="2174179">
              <a:spcBef>
                <a:spcPts val="83"/>
              </a:spcBef>
            </a:pPr>
            <a:r>
              <a:rPr sz="2500" spc="-9" dirty="0">
                <a:solidFill>
                  <a:srgbClr val="323299"/>
                </a:solidFill>
              </a:rPr>
              <a:t>Edge-</a:t>
            </a:r>
            <a:r>
              <a:rPr sz="2500" dirty="0">
                <a:solidFill>
                  <a:srgbClr val="323299"/>
                </a:solidFill>
              </a:rPr>
              <a:t>Emitting</a:t>
            </a:r>
            <a:r>
              <a:rPr sz="2500" spc="-57" dirty="0">
                <a:solidFill>
                  <a:srgbClr val="323299"/>
                </a:solidFill>
              </a:rPr>
              <a:t> </a:t>
            </a:r>
            <a:r>
              <a:rPr sz="2500" spc="-22" dirty="0">
                <a:solidFill>
                  <a:srgbClr val="323299"/>
                </a:solidFill>
              </a:rPr>
              <a:t>LED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8024" y="1699861"/>
            <a:ext cx="6909475" cy="37178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9235" y="5330104"/>
            <a:ext cx="6876462" cy="565242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dirty="0">
                <a:latin typeface="Times New Roman"/>
                <a:cs typeface="Times New Roman"/>
              </a:rPr>
              <a:t>Schematic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1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</a:t>
            </a:r>
            <a:r>
              <a:rPr spc="-1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edge-emitting</a:t>
            </a:r>
            <a:r>
              <a:rPr spc="-4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double</a:t>
            </a:r>
            <a:r>
              <a:rPr spc="-4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heterojunction</a:t>
            </a:r>
            <a:r>
              <a:rPr spc="-57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LED.</a:t>
            </a:r>
            <a:r>
              <a:rPr spc="-4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22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output</a:t>
            </a:r>
            <a:r>
              <a:rPr spc="-4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beam</a:t>
            </a:r>
            <a:r>
              <a:rPr spc="-26" dirty="0">
                <a:latin typeface="Times New Roman"/>
                <a:cs typeface="Times New Roman"/>
              </a:rPr>
              <a:t> </a:t>
            </a:r>
            <a:r>
              <a:rPr spc="-22" dirty="0">
                <a:latin typeface="Times New Roman"/>
                <a:cs typeface="Times New Roman"/>
              </a:rPr>
              <a:t>is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32806" y="5742276"/>
            <a:ext cx="102083" cy="183894"/>
          </a:xfrm>
          <a:prstGeom prst="rect">
            <a:avLst/>
          </a:prstGeom>
        </p:spPr>
        <p:txBody>
          <a:bodyPr vert="horz" wrap="square" lIns="0" tIns="14476" rIns="0" bIns="0" rtlCol="0">
            <a:spAutoFit/>
          </a:bodyPr>
          <a:lstStyle/>
          <a:p>
            <a:pPr marL="11135">
              <a:spcBef>
                <a:spcPts val="114"/>
              </a:spcBef>
            </a:pPr>
            <a:r>
              <a:rPr sz="1100" i="1" spc="-22" dirty="0">
                <a:latin typeface="Times New Roman"/>
                <a:cs typeface="Times New Roman"/>
              </a:rPr>
              <a:t>||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9235" y="5594977"/>
            <a:ext cx="7523709" cy="566928"/>
          </a:xfrm>
          <a:prstGeom prst="rect">
            <a:avLst/>
          </a:prstGeom>
        </p:spPr>
        <p:txBody>
          <a:bodyPr vert="horz" wrap="square" lIns="0" tIns="12805" rIns="0" bIns="0" rtlCol="0">
            <a:spAutoFit/>
          </a:bodyPr>
          <a:lstStyle/>
          <a:p>
            <a:pPr marL="11135">
              <a:spcBef>
                <a:spcPts val="100"/>
              </a:spcBef>
              <a:tabLst>
                <a:tab pos="3531579" algn="l"/>
              </a:tabLst>
            </a:pPr>
            <a:r>
              <a:rPr dirty="0">
                <a:latin typeface="Times New Roman"/>
                <a:cs typeface="Times New Roman"/>
              </a:rPr>
              <a:t>Lambertian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</a:t>
            </a:r>
            <a:r>
              <a:rPr spc="-13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13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plane</a:t>
            </a:r>
            <a:r>
              <a:rPr spc="-31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26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junction</a:t>
            </a:r>
            <a:r>
              <a:rPr spc="-39" dirty="0">
                <a:latin typeface="Times New Roman"/>
                <a:cs typeface="Times New Roman"/>
              </a:rPr>
              <a:t> </a:t>
            </a:r>
            <a:r>
              <a:rPr spc="-22" dirty="0">
                <a:latin typeface="Times New Roman"/>
                <a:cs typeface="Times New Roman"/>
              </a:rPr>
              <a:t>(</a:t>
            </a:r>
            <a:r>
              <a:rPr i="1" spc="-22" dirty="0">
                <a:latin typeface="Symbol"/>
                <a:cs typeface="Symbol"/>
              </a:rPr>
              <a:t></a:t>
            </a:r>
            <a:r>
              <a:rPr dirty="0">
                <a:latin typeface="Times New Roman"/>
                <a:cs typeface="Times New Roman"/>
              </a:rPr>
              <a:t>	=</a:t>
            </a:r>
            <a:r>
              <a:rPr spc="-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120º)</a:t>
            </a:r>
            <a:r>
              <a:rPr spc="-26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1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highly</a:t>
            </a:r>
            <a:r>
              <a:rPr spc="-26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directional</a:t>
            </a:r>
            <a:r>
              <a:rPr spc="-4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perpendicular</a:t>
            </a:r>
            <a:r>
              <a:rPr spc="-48" dirty="0">
                <a:latin typeface="Times New Roman"/>
                <a:cs typeface="Times New Roman"/>
              </a:rPr>
              <a:t> </a:t>
            </a:r>
            <a:r>
              <a:rPr spc="-22" dirty="0">
                <a:latin typeface="Times New Roman"/>
                <a:cs typeface="Times New Roman"/>
              </a:rPr>
              <a:t>to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7519" y="5871602"/>
            <a:ext cx="6722794" cy="828538"/>
          </a:xfrm>
          <a:prstGeom prst="rect">
            <a:avLst/>
          </a:prstGeom>
        </p:spPr>
        <p:txBody>
          <a:bodyPr vert="horz" wrap="square" lIns="0" tIns="12805" rIns="0" bIns="0" rtlCol="0">
            <a:spAutoFit/>
          </a:bodyPr>
          <a:lstStyle/>
          <a:p>
            <a:pPr marL="33406"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pn</a:t>
            </a:r>
            <a:r>
              <a:rPr spc="-3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junction</a:t>
            </a:r>
            <a:r>
              <a:rPr spc="-4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</a:t>
            </a:r>
            <a:r>
              <a:rPr i="1" dirty="0">
                <a:latin typeface="Symbol"/>
                <a:cs typeface="Symbol"/>
              </a:rPr>
              <a:t></a:t>
            </a:r>
            <a:r>
              <a:rPr sz="1700" baseline="-21367" dirty="0">
                <a:latin typeface="FreeSerif"/>
                <a:cs typeface="FreeSerif"/>
              </a:rPr>
              <a:t>⊥</a:t>
            </a:r>
            <a:r>
              <a:rPr sz="1700" spc="183" baseline="-21367" dirty="0">
                <a:latin typeface="FreeSerif"/>
                <a:cs typeface="FreeSerif"/>
              </a:rPr>
              <a:t> </a:t>
            </a:r>
            <a:r>
              <a:rPr dirty="0">
                <a:latin typeface="Times New Roman"/>
                <a:cs typeface="Times New Roman"/>
              </a:rPr>
              <a:t>=</a:t>
            </a:r>
            <a:r>
              <a:rPr spc="-26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30º)</a:t>
            </a:r>
            <a:r>
              <a:rPr spc="-26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.</a:t>
            </a:r>
            <a:r>
              <a:rPr spc="381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They</a:t>
            </a:r>
            <a:r>
              <a:rPr spc="-22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have</a:t>
            </a:r>
            <a:r>
              <a:rPr spc="-1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high</a:t>
            </a:r>
            <a:r>
              <a:rPr spc="-3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quantum</a:t>
            </a:r>
            <a:r>
              <a:rPr spc="-4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efficiency</a:t>
            </a:r>
            <a:r>
              <a:rPr spc="-4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&amp;</a:t>
            </a:r>
            <a:r>
              <a:rPr spc="-1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fast</a:t>
            </a:r>
            <a:r>
              <a:rPr spc="-26" dirty="0">
                <a:latin typeface="Times New Roman"/>
                <a:cs typeface="Times New Roman"/>
              </a:rPr>
              <a:t> </a:t>
            </a:r>
            <a:r>
              <a:rPr spc="-9" dirty="0">
                <a:latin typeface="Times New Roman"/>
                <a:cs typeface="Times New Roman"/>
              </a:rPr>
              <a:t>response.</a:t>
            </a:r>
            <a:endParaRPr>
              <a:latin typeface="Times New Roman"/>
              <a:cs typeface="Times New Roman"/>
            </a:endParaRPr>
          </a:p>
          <a:p>
            <a:pPr marL="2905772">
              <a:spcBef>
                <a:spcPts val="1065"/>
              </a:spcBef>
            </a:pPr>
            <a:r>
              <a:rPr sz="700" dirty="0">
                <a:latin typeface="Arial"/>
                <a:cs typeface="Arial"/>
              </a:rPr>
              <a:t>Optical Fiber</a:t>
            </a:r>
            <a:r>
              <a:rPr sz="700" spc="26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communications,</a:t>
            </a:r>
            <a:r>
              <a:rPr sz="700" spc="-18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3</a:t>
            </a:r>
            <a:r>
              <a:rPr sz="700" baseline="27777" dirty="0">
                <a:latin typeface="Arial"/>
                <a:cs typeface="Arial"/>
              </a:rPr>
              <a:t>rd</a:t>
            </a:r>
            <a:r>
              <a:rPr sz="700" spc="157" baseline="27777" dirty="0">
                <a:latin typeface="Arial"/>
                <a:cs typeface="Arial"/>
              </a:rPr>
              <a:t> </a:t>
            </a:r>
            <a:r>
              <a:rPr sz="700" spc="-9" dirty="0">
                <a:latin typeface="Arial"/>
                <a:cs typeface="Arial"/>
              </a:rPr>
              <a:t>ed.,G.Keiser,McGrawHill,</a:t>
            </a:r>
            <a:r>
              <a:rPr sz="700" spc="9" dirty="0">
                <a:latin typeface="Arial"/>
                <a:cs typeface="Arial"/>
              </a:rPr>
              <a:t> </a:t>
            </a:r>
            <a:r>
              <a:rPr sz="700" spc="-18" dirty="0">
                <a:latin typeface="Arial"/>
                <a:cs typeface="Arial"/>
              </a:rPr>
              <a:t>2000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0891" y="939143"/>
            <a:ext cx="4652362" cy="497925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509362" y="6303825"/>
            <a:ext cx="2580845" cy="118966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33406">
              <a:spcBef>
                <a:spcPts val="88"/>
              </a:spcBef>
            </a:pPr>
            <a:r>
              <a:rPr sz="700" dirty="0">
                <a:latin typeface="Arial"/>
                <a:cs typeface="Arial"/>
              </a:rPr>
              <a:t>Optical Fiber</a:t>
            </a:r>
            <a:r>
              <a:rPr sz="700" spc="26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communications,</a:t>
            </a:r>
            <a:r>
              <a:rPr sz="700" spc="-18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3</a:t>
            </a:r>
            <a:r>
              <a:rPr sz="700" baseline="27777" dirty="0">
                <a:latin typeface="Arial"/>
                <a:cs typeface="Arial"/>
              </a:rPr>
              <a:t>rd</a:t>
            </a:r>
            <a:r>
              <a:rPr sz="700" spc="157" baseline="27777" dirty="0">
                <a:latin typeface="Arial"/>
                <a:cs typeface="Arial"/>
              </a:rPr>
              <a:t> </a:t>
            </a:r>
            <a:r>
              <a:rPr sz="700" spc="-9" dirty="0">
                <a:latin typeface="Arial"/>
                <a:cs typeface="Arial"/>
              </a:rPr>
              <a:t>ed.,G.Keiser,McGrawHill,</a:t>
            </a:r>
            <a:r>
              <a:rPr sz="700" spc="9" dirty="0">
                <a:latin typeface="Arial"/>
                <a:cs typeface="Arial"/>
              </a:rPr>
              <a:t> </a:t>
            </a:r>
            <a:r>
              <a:rPr sz="700" spc="-18" dirty="0">
                <a:latin typeface="Arial"/>
                <a:cs typeface="Arial"/>
              </a:rPr>
              <a:t>2000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6925"/>
          </a:xfrm>
          <a:prstGeom prst="rect">
            <a:avLst/>
          </a:prstGeom>
        </p:spPr>
        <p:txBody>
          <a:bodyPr vert="horz" wrap="square" lIns="0" tIns="249765" rIns="0" bIns="0" rtlCol="0">
            <a:spAutoFit/>
          </a:bodyPr>
          <a:lstStyle/>
          <a:p>
            <a:pPr marL="1583447">
              <a:spcBef>
                <a:spcPts val="83"/>
              </a:spcBef>
            </a:pPr>
            <a:r>
              <a:rPr sz="2500" dirty="0">
                <a:solidFill>
                  <a:srgbClr val="323299"/>
                </a:solidFill>
              </a:rPr>
              <a:t>Spectral</a:t>
            </a:r>
            <a:r>
              <a:rPr sz="2500" spc="-48" dirty="0">
                <a:solidFill>
                  <a:srgbClr val="323299"/>
                </a:solidFill>
              </a:rPr>
              <a:t> </a:t>
            </a:r>
            <a:r>
              <a:rPr sz="2500" dirty="0">
                <a:solidFill>
                  <a:srgbClr val="323299"/>
                </a:solidFill>
              </a:rPr>
              <a:t>width</a:t>
            </a:r>
            <a:r>
              <a:rPr sz="2500" spc="-31" dirty="0">
                <a:solidFill>
                  <a:srgbClr val="323299"/>
                </a:solidFill>
              </a:rPr>
              <a:t> </a:t>
            </a:r>
            <a:r>
              <a:rPr sz="2500" dirty="0">
                <a:solidFill>
                  <a:srgbClr val="323299"/>
                </a:solidFill>
              </a:rPr>
              <a:t>of</a:t>
            </a:r>
            <a:r>
              <a:rPr sz="2500" spc="-35" dirty="0">
                <a:solidFill>
                  <a:srgbClr val="323299"/>
                </a:solidFill>
              </a:rPr>
              <a:t> </a:t>
            </a:r>
            <a:r>
              <a:rPr sz="2500" dirty="0">
                <a:solidFill>
                  <a:srgbClr val="323299"/>
                </a:solidFill>
              </a:rPr>
              <a:t>LED</a:t>
            </a:r>
            <a:r>
              <a:rPr sz="2500" spc="-44" dirty="0">
                <a:solidFill>
                  <a:srgbClr val="323299"/>
                </a:solidFill>
              </a:rPr>
              <a:t> </a:t>
            </a:r>
            <a:r>
              <a:rPr sz="2500" spc="-9" dirty="0">
                <a:solidFill>
                  <a:srgbClr val="323299"/>
                </a:solidFill>
              </a:rPr>
              <a:t>types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4140" y="2322268"/>
            <a:ext cx="5994641" cy="32821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09362" y="6303825"/>
            <a:ext cx="2580845" cy="118966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33406">
              <a:spcBef>
                <a:spcPts val="88"/>
              </a:spcBef>
            </a:pPr>
            <a:r>
              <a:rPr sz="700" dirty="0">
                <a:latin typeface="Arial"/>
                <a:cs typeface="Arial"/>
              </a:rPr>
              <a:t>Optical Fiber</a:t>
            </a:r>
            <a:r>
              <a:rPr sz="700" spc="26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communications,</a:t>
            </a:r>
            <a:r>
              <a:rPr sz="700" spc="-18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3</a:t>
            </a:r>
            <a:r>
              <a:rPr sz="700" baseline="27777" dirty="0">
                <a:latin typeface="Arial"/>
                <a:cs typeface="Arial"/>
              </a:rPr>
              <a:t>rd</a:t>
            </a:r>
            <a:r>
              <a:rPr sz="700" spc="157" baseline="27777" dirty="0">
                <a:latin typeface="Arial"/>
                <a:cs typeface="Arial"/>
              </a:rPr>
              <a:t> </a:t>
            </a:r>
            <a:r>
              <a:rPr sz="700" spc="-9" dirty="0">
                <a:latin typeface="Arial"/>
                <a:cs typeface="Arial"/>
              </a:rPr>
              <a:t>ed.,G.Keiser,McGrawHill,</a:t>
            </a:r>
            <a:r>
              <a:rPr sz="700" spc="9" dirty="0">
                <a:latin typeface="Arial"/>
                <a:cs typeface="Arial"/>
              </a:rPr>
              <a:t> </a:t>
            </a:r>
            <a:r>
              <a:rPr sz="700" spc="-18" dirty="0">
                <a:latin typeface="Arial"/>
                <a:cs typeface="Arial"/>
              </a:rPr>
              <a:t>2000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6361" y="754725"/>
            <a:ext cx="7090401" cy="1365461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dirty="0"/>
              <a:t>Drawbacks</a:t>
            </a:r>
            <a:r>
              <a:rPr spc="-96" dirty="0"/>
              <a:t> </a:t>
            </a:r>
            <a:r>
              <a:rPr dirty="0"/>
              <a:t>&amp;</a:t>
            </a:r>
            <a:r>
              <a:rPr spc="-70" dirty="0"/>
              <a:t> </a:t>
            </a:r>
            <a:r>
              <a:rPr dirty="0"/>
              <a:t>Advantages</a:t>
            </a:r>
            <a:r>
              <a:rPr spc="-75" dirty="0"/>
              <a:t> </a:t>
            </a:r>
            <a:r>
              <a:rPr dirty="0"/>
              <a:t>of</a:t>
            </a:r>
            <a:r>
              <a:rPr spc="-66" dirty="0"/>
              <a:t> </a:t>
            </a:r>
            <a:r>
              <a:rPr spc="-22" dirty="0"/>
              <a:t>LED</a:t>
            </a:r>
          </a:p>
        </p:txBody>
      </p:sp>
      <p:sp>
        <p:nvSpPr>
          <p:cNvPr id="3" name="object 3"/>
          <p:cNvSpPr/>
          <p:nvPr/>
        </p:nvSpPr>
        <p:spPr>
          <a:xfrm>
            <a:off x="661904" y="3428769"/>
            <a:ext cx="7819097" cy="3112034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3" y="3428993"/>
                </a:moveTo>
                <a:lnTo>
                  <a:pt x="9143993" y="0"/>
                </a:lnTo>
                <a:lnTo>
                  <a:pt x="0" y="0"/>
                </a:lnTo>
                <a:lnTo>
                  <a:pt x="0" y="3428993"/>
                </a:lnTo>
                <a:lnTo>
                  <a:pt x="9143993" y="342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17932" y="1545044"/>
            <a:ext cx="6272654" cy="4693392"/>
          </a:xfrm>
          <a:prstGeom prst="rect">
            <a:avLst/>
          </a:prstGeom>
        </p:spPr>
        <p:txBody>
          <a:bodyPr vert="horz" wrap="square" lIns="0" tIns="96321" rIns="0" bIns="0" rtlCol="0">
            <a:spAutoFit/>
          </a:bodyPr>
          <a:lstStyle/>
          <a:p>
            <a:pPr marL="11135">
              <a:spcBef>
                <a:spcPts val="758"/>
              </a:spcBef>
            </a:pPr>
            <a:r>
              <a:rPr sz="2800" b="1" spc="-9" dirty="0">
                <a:solidFill>
                  <a:srgbClr val="99CC00"/>
                </a:solidFill>
                <a:latin typeface="Arial"/>
                <a:cs typeface="Arial"/>
              </a:rPr>
              <a:t>Drawbacks</a:t>
            </a:r>
            <a:endParaRPr sz="2800">
              <a:latin typeface="Arial"/>
              <a:cs typeface="Arial"/>
            </a:endParaRPr>
          </a:p>
          <a:p>
            <a:pPr marL="311233" indent="-300098">
              <a:spcBef>
                <a:spcPts val="675"/>
              </a:spcBef>
              <a:buChar char="•"/>
              <a:tabLst>
                <a:tab pos="311233" algn="l"/>
              </a:tabLst>
            </a:pPr>
            <a:r>
              <a:rPr sz="2800" dirty="0">
                <a:latin typeface="Arial"/>
                <a:cs typeface="Arial"/>
              </a:rPr>
              <a:t>Large</a:t>
            </a:r>
            <a:r>
              <a:rPr sz="2800" spc="-48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line</a:t>
            </a:r>
            <a:r>
              <a:rPr sz="2800" spc="-18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width</a:t>
            </a:r>
            <a:r>
              <a:rPr sz="2800" spc="-26" dirty="0">
                <a:latin typeface="Arial"/>
                <a:cs typeface="Arial"/>
              </a:rPr>
              <a:t> </a:t>
            </a:r>
            <a:r>
              <a:rPr sz="2800" spc="-9" dirty="0">
                <a:latin typeface="Arial"/>
                <a:cs typeface="Arial"/>
              </a:rPr>
              <a:t>(30-</a:t>
            </a:r>
            <a:r>
              <a:rPr sz="2800" dirty="0">
                <a:latin typeface="Arial"/>
                <a:cs typeface="Arial"/>
              </a:rPr>
              <a:t>40</a:t>
            </a:r>
            <a:r>
              <a:rPr sz="2800" spc="-48" dirty="0">
                <a:latin typeface="Arial"/>
                <a:cs typeface="Arial"/>
              </a:rPr>
              <a:t> </a:t>
            </a:r>
            <a:r>
              <a:rPr sz="2800" spc="-22" dirty="0">
                <a:latin typeface="Arial"/>
                <a:cs typeface="Arial"/>
              </a:rPr>
              <a:t>nm)</a:t>
            </a:r>
            <a:endParaRPr sz="2800">
              <a:latin typeface="Arial"/>
              <a:cs typeface="Arial"/>
            </a:endParaRPr>
          </a:p>
          <a:p>
            <a:pPr marL="311233" marR="4454" indent="-300655">
              <a:spcBef>
                <a:spcPts val="671"/>
              </a:spcBef>
              <a:buChar char="•"/>
              <a:tabLst>
                <a:tab pos="311233" algn="l"/>
              </a:tabLst>
            </a:pPr>
            <a:r>
              <a:rPr sz="2800" dirty="0">
                <a:latin typeface="Arial"/>
                <a:cs typeface="Arial"/>
              </a:rPr>
              <a:t>Large</a:t>
            </a:r>
            <a:r>
              <a:rPr sz="2800" spc="-57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beam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width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(Low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coupling</a:t>
            </a:r>
            <a:r>
              <a:rPr sz="2800" spc="-4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2" dirty="0">
                <a:latin typeface="Arial"/>
                <a:cs typeface="Arial"/>
              </a:rPr>
              <a:t>the </a:t>
            </a:r>
            <a:r>
              <a:rPr sz="2800" spc="-9" dirty="0">
                <a:latin typeface="Arial"/>
                <a:cs typeface="Arial"/>
              </a:rPr>
              <a:t>fiber)</a:t>
            </a:r>
            <a:endParaRPr sz="2800">
              <a:latin typeface="Arial"/>
              <a:cs typeface="Arial"/>
            </a:endParaRPr>
          </a:p>
          <a:p>
            <a:pPr marL="311233" indent="-300098">
              <a:spcBef>
                <a:spcPts val="675"/>
              </a:spcBef>
              <a:buChar char="•"/>
              <a:tabLst>
                <a:tab pos="311233" algn="l"/>
              </a:tabLst>
            </a:pPr>
            <a:r>
              <a:rPr sz="2800" dirty="0">
                <a:latin typeface="Arial"/>
                <a:cs typeface="Arial"/>
              </a:rPr>
              <a:t>Low</a:t>
            </a:r>
            <a:r>
              <a:rPr sz="2800" spc="-53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output</a:t>
            </a:r>
            <a:r>
              <a:rPr sz="2800" spc="-31" dirty="0">
                <a:latin typeface="Arial"/>
                <a:cs typeface="Arial"/>
              </a:rPr>
              <a:t> </a:t>
            </a:r>
            <a:r>
              <a:rPr sz="2800" spc="-9" dirty="0">
                <a:latin typeface="Arial"/>
                <a:cs typeface="Arial"/>
              </a:rPr>
              <a:t>power</a:t>
            </a:r>
            <a:endParaRPr sz="2800">
              <a:latin typeface="Arial"/>
              <a:cs typeface="Arial"/>
            </a:endParaRPr>
          </a:p>
          <a:p>
            <a:pPr marL="311233" indent="-300098">
              <a:spcBef>
                <a:spcPts val="675"/>
              </a:spcBef>
              <a:buChar char="•"/>
              <a:tabLst>
                <a:tab pos="311233" algn="l"/>
              </a:tabLst>
            </a:pPr>
            <a:r>
              <a:rPr sz="2800" dirty="0">
                <a:latin typeface="Arial"/>
                <a:cs typeface="Arial"/>
              </a:rPr>
              <a:t>Low</a:t>
            </a:r>
            <a:r>
              <a:rPr sz="2800" spc="-48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E/O</a:t>
            </a:r>
            <a:r>
              <a:rPr sz="2800" spc="-26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conversion</a:t>
            </a:r>
            <a:r>
              <a:rPr sz="2800" spc="-66" dirty="0">
                <a:latin typeface="Arial"/>
                <a:cs typeface="Arial"/>
              </a:rPr>
              <a:t> </a:t>
            </a:r>
            <a:r>
              <a:rPr sz="2800" spc="-9" dirty="0">
                <a:latin typeface="Arial"/>
                <a:cs typeface="Arial"/>
              </a:rPr>
              <a:t>efficiency</a:t>
            </a:r>
            <a:endParaRPr sz="2800">
              <a:latin typeface="Arial"/>
              <a:cs typeface="Arial"/>
            </a:endParaRPr>
          </a:p>
          <a:p>
            <a:pPr marL="11135">
              <a:spcBef>
                <a:spcPts val="671"/>
              </a:spcBef>
            </a:pPr>
            <a:r>
              <a:rPr sz="2800" b="1" spc="-9" dirty="0">
                <a:solidFill>
                  <a:srgbClr val="99CC00"/>
                </a:solidFill>
                <a:latin typeface="Arial"/>
                <a:cs typeface="Arial"/>
              </a:rPr>
              <a:t>Advantages</a:t>
            </a:r>
            <a:endParaRPr sz="2800">
              <a:latin typeface="Arial"/>
              <a:cs typeface="Arial"/>
            </a:endParaRPr>
          </a:p>
          <a:p>
            <a:pPr marL="311233" indent="-300098">
              <a:spcBef>
                <a:spcPts val="675"/>
              </a:spcBef>
              <a:buChar char="•"/>
              <a:tabLst>
                <a:tab pos="311233" algn="l"/>
              </a:tabLst>
            </a:pPr>
            <a:r>
              <a:rPr sz="2800" spc="-9" dirty="0">
                <a:latin typeface="Arial"/>
                <a:cs typeface="Arial"/>
              </a:rPr>
              <a:t>Robust</a:t>
            </a:r>
            <a:endParaRPr sz="2800">
              <a:latin typeface="Arial"/>
              <a:cs typeface="Arial"/>
            </a:endParaRPr>
          </a:p>
          <a:p>
            <a:pPr marL="311233" indent="-300098">
              <a:spcBef>
                <a:spcPts val="671"/>
              </a:spcBef>
              <a:buChar char="•"/>
              <a:tabLst>
                <a:tab pos="311233" algn="l"/>
              </a:tabLst>
            </a:pPr>
            <a:r>
              <a:rPr sz="2800" spc="-9" dirty="0">
                <a:latin typeface="Arial"/>
                <a:cs typeface="Arial"/>
              </a:rPr>
              <a:t>Linear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0200" y="381000"/>
            <a:ext cx="5827400" cy="719130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>
              <a:spcBef>
                <a:spcPts val="88"/>
              </a:spcBef>
            </a:pPr>
            <a:r>
              <a:rPr sz="2800" spc="-9" dirty="0">
                <a:solidFill>
                  <a:srgbClr val="323299"/>
                </a:solidFill>
              </a:rPr>
              <a:t>LASER</a:t>
            </a:r>
            <a:endParaRPr sz="2800"/>
          </a:p>
          <a:p>
            <a:pPr>
              <a:spcBef>
                <a:spcPts val="35"/>
              </a:spcBef>
            </a:pPr>
            <a:r>
              <a:rPr sz="1800" dirty="0">
                <a:solidFill>
                  <a:srgbClr val="323299"/>
                </a:solidFill>
              </a:rPr>
              <a:t>(Light</a:t>
            </a:r>
            <a:r>
              <a:rPr sz="1800" spc="-66" dirty="0">
                <a:solidFill>
                  <a:srgbClr val="323299"/>
                </a:solidFill>
              </a:rPr>
              <a:t> </a:t>
            </a:r>
            <a:r>
              <a:rPr sz="1800" dirty="0">
                <a:solidFill>
                  <a:srgbClr val="323299"/>
                </a:solidFill>
              </a:rPr>
              <a:t>Amplification</a:t>
            </a:r>
            <a:r>
              <a:rPr sz="1800" spc="-26" dirty="0">
                <a:solidFill>
                  <a:srgbClr val="323299"/>
                </a:solidFill>
              </a:rPr>
              <a:t> </a:t>
            </a:r>
            <a:r>
              <a:rPr sz="1800" dirty="0">
                <a:solidFill>
                  <a:srgbClr val="323299"/>
                </a:solidFill>
              </a:rPr>
              <a:t>by</a:t>
            </a:r>
            <a:r>
              <a:rPr sz="1800" spc="-35" dirty="0">
                <a:solidFill>
                  <a:srgbClr val="323299"/>
                </a:solidFill>
              </a:rPr>
              <a:t> </a:t>
            </a:r>
            <a:r>
              <a:rPr sz="1800" dirty="0">
                <a:solidFill>
                  <a:srgbClr val="323299"/>
                </a:solidFill>
              </a:rPr>
              <a:t>the</a:t>
            </a:r>
            <a:r>
              <a:rPr sz="1800" spc="-35" dirty="0">
                <a:solidFill>
                  <a:srgbClr val="323299"/>
                </a:solidFill>
              </a:rPr>
              <a:t> </a:t>
            </a:r>
            <a:r>
              <a:rPr sz="1800" dirty="0">
                <a:solidFill>
                  <a:srgbClr val="323299"/>
                </a:solidFill>
              </a:rPr>
              <a:t>Stimulated</a:t>
            </a:r>
            <a:r>
              <a:rPr sz="1800" spc="-39" dirty="0">
                <a:solidFill>
                  <a:srgbClr val="323299"/>
                </a:solidFill>
              </a:rPr>
              <a:t> </a:t>
            </a:r>
            <a:r>
              <a:rPr sz="1800" dirty="0">
                <a:solidFill>
                  <a:srgbClr val="323299"/>
                </a:solidFill>
              </a:rPr>
              <a:t>Emission</a:t>
            </a:r>
            <a:r>
              <a:rPr sz="1800" spc="-35" dirty="0">
                <a:solidFill>
                  <a:srgbClr val="323299"/>
                </a:solidFill>
              </a:rPr>
              <a:t> </a:t>
            </a:r>
            <a:r>
              <a:rPr sz="1800" dirty="0">
                <a:solidFill>
                  <a:srgbClr val="323299"/>
                </a:solidFill>
              </a:rPr>
              <a:t>of</a:t>
            </a:r>
            <a:r>
              <a:rPr sz="1800" spc="-35" dirty="0">
                <a:solidFill>
                  <a:srgbClr val="323299"/>
                </a:solidFill>
              </a:rPr>
              <a:t> </a:t>
            </a:r>
            <a:r>
              <a:rPr sz="1800" spc="-9" dirty="0">
                <a:solidFill>
                  <a:srgbClr val="323299"/>
                </a:solidFill>
              </a:rPr>
              <a:t>Radiation)</a:t>
            </a:r>
            <a:endParaRPr sz="1800"/>
          </a:p>
        </p:txBody>
      </p:sp>
      <p:sp>
        <p:nvSpPr>
          <p:cNvPr id="3" name="object 3"/>
          <p:cNvSpPr/>
          <p:nvPr/>
        </p:nvSpPr>
        <p:spPr>
          <a:xfrm>
            <a:off x="661904" y="3428769"/>
            <a:ext cx="7819097" cy="3112034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3" y="3428993"/>
                </a:moveTo>
                <a:lnTo>
                  <a:pt x="9143993" y="0"/>
                </a:lnTo>
                <a:lnTo>
                  <a:pt x="0" y="0"/>
                </a:lnTo>
                <a:lnTo>
                  <a:pt x="0" y="3428993"/>
                </a:lnTo>
                <a:lnTo>
                  <a:pt x="9143993" y="342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8600" y="1371601"/>
            <a:ext cx="8610599" cy="5253705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311233" marR="248319" indent="-300655" algn="just">
              <a:lnSpc>
                <a:spcPct val="150000"/>
              </a:lnSpc>
              <a:spcBef>
                <a:spcPts val="88"/>
              </a:spcBef>
              <a:buChar char="•"/>
              <a:tabLst>
                <a:tab pos="311233" algn="l"/>
              </a:tabLst>
            </a:pPr>
            <a:r>
              <a:rPr dirty="0">
                <a:latin typeface="Arial"/>
                <a:cs typeface="Arial"/>
              </a:rPr>
              <a:t>Laser</a:t>
            </a:r>
            <a:r>
              <a:rPr spc="-5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is</a:t>
            </a:r>
            <a:r>
              <a:rPr spc="-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optical</a:t>
            </a:r>
            <a:r>
              <a:rPr spc="-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oscillator.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It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comprises</a:t>
            </a:r>
            <a:r>
              <a:rPr spc="-4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resonant</a:t>
            </a:r>
            <a:r>
              <a:rPr spc="-44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optical </a:t>
            </a:r>
            <a:r>
              <a:rPr dirty="0">
                <a:latin typeface="Arial"/>
                <a:cs typeface="Arial"/>
              </a:rPr>
              <a:t>amplifier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whose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output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is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fed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back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into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its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input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with</a:t>
            </a:r>
            <a:r>
              <a:rPr spc="-26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matching </a:t>
            </a:r>
            <a:r>
              <a:rPr dirty="0">
                <a:latin typeface="Arial"/>
                <a:cs typeface="Arial"/>
              </a:rPr>
              <a:t>phase.</a:t>
            </a:r>
            <a:r>
              <a:rPr spc="-5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Any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oscillator</a:t>
            </a:r>
            <a:r>
              <a:rPr spc="-35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contains:</a:t>
            </a:r>
            <a:endParaRPr>
              <a:latin typeface="Arial"/>
              <a:cs typeface="Arial"/>
            </a:endParaRPr>
          </a:p>
          <a:p>
            <a:pPr marL="573471" lvl="1" indent="-257784" algn="just">
              <a:lnSpc>
                <a:spcPct val="150000"/>
              </a:lnSpc>
              <a:spcBef>
                <a:spcPts val="421"/>
              </a:spcBef>
              <a:buAutoNum type="arabicPlain"/>
              <a:tabLst>
                <a:tab pos="573471" algn="l"/>
              </a:tabLst>
            </a:pPr>
            <a:r>
              <a:rPr dirty="0">
                <a:latin typeface="Arial"/>
                <a:cs typeface="Arial"/>
              </a:rPr>
              <a:t>An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amplifier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with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22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gain-</a:t>
            </a:r>
            <a:r>
              <a:rPr dirty="0">
                <a:latin typeface="Arial"/>
                <a:cs typeface="Arial"/>
              </a:rPr>
              <a:t>saturated</a:t>
            </a:r>
            <a:r>
              <a:rPr spc="-57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mechanism</a:t>
            </a:r>
            <a:endParaRPr>
              <a:latin typeface="Arial"/>
              <a:cs typeface="Arial"/>
            </a:endParaRPr>
          </a:p>
          <a:p>
            <a:pPr marL="573471" lvl="1" indent="-257784" algn="just">
              <a:lnSpc>
                <a:spcPct val="150000"/>
              </a:lnSpc>
              <a:spcBef>
                <a:spcPts val="421"/>
              </a:spcBef>
              <a:buAutoNum type="arabicPlain"/>
              <a:tabLst>
                <a:tab pos="573471" algn="l"/>
              </a:tabLst>
            </a:pPr>
            <a:r>
              <a:rPr dirty="0">
                <a:latin typeface="Arial"/>
                <a:cs typeface="Arial"/>
              </a:rPr>
              <a:t>A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feedback</a:t>
            </a:r>
            <a:r>
              <a:rPr spc="-35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system</a:t>
            </a:r>
            <a:endParaRPr>
              <a:latin typeface="Arial"/>
              <a:cs typeface="Arial"/>
            </a:endParaRPr>
          </a:p>
          <a:p>
            <a:pPr marL="573471" lvl="1" indent="-257784" algn="just">
              <a:lnSpc>
                <a:spcPct val="150000"/>
              </a:lnSpc>
              <a:spcBef>
                <a:spcPts val="421"/>
              </a:spcBef>
              <a:buAutoNum type="arabicPlain"/>
              <a:tabLst>
                <a:tab pos="573471" algn="l"/>
              </a:tabLst>
            </a:pPr>
            <a:r>
              <a:rPr dirty="0">
                <a:latin typeface="Arial"/>
                <a:cs typeface="Arial"/>
              </a:rPr>
              <a:t>A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frequency</a:t>
            </a:r>
            <a:r>
              <a:rPr spc="-5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selection</a:t>
            </a:r>
            <a:r>
              <a:rPr spc="-39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mechanism</a:t>
            </a:r>
            <a:endParaRPr>
              <a:latin typeface="Arial"/>
              <a:cs typeface="Arial"/>
            </a:endParaRPr>
          </a:p>
          <a:p>
            <a:pPr marL="573471" lvl="1" indent="-257784" algn="just">
              <a:lnSpc>
                <a:spcPct val="150000"/>
              </a:lnSpc>
              <a:spcBef>
                <a:spcPts val="421"/>
              </a:spcBef>
              <a:buAutoNum type="arabicPlain"/>
              <a:tabLst>
                <a:tab pos="573471" algn="l"/>
              </a:tabLst>
            </a:pPr>
            <a:r>
              <a:rPr dirty="0">
                <a:latin typeface="Arial"/>
                <a:cs typeface="Arial"/>
              </a:rPr>
              <a:t>An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output</a:t>
            </a:r>
            <a:r>
              <a:rPr spc="-4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coupling</a:t>
            </a:r>
            <a:r>
              <a:rPr spc="-26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scheme</a:t>
            </a:r>
            <a:endParaRPr>
              <a:latin typeface="Arial"/>
              <a:cs typeface="Arial"/>
            </a:endParaRPr>
          </a:p>
          <a:p>
            <a:pPr marL="311233" marR="4454" indent="-300655" algn="just">
              <a:lnSpc>
                <a:spcPct val="150000"/>
              </a:lnSpc>
              <a:spcBef>
                <a:spcPts val="421"/>
              </a:spcBef>
              <a:buChar char="•"/>
              <a:tabLst>
                <a:tab pos="311233" algn="l"/>
              </a:tabLst>
            </a:pPr>
            <a:r>
              <a:rPr dirty="0">
                <a:latin typeface="Arial"/>
                <a:cs typeface="Arial"/>
              </a:rPr>
              <a:t>In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laser,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amplifier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is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pumped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active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medium,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such</a:t>
            </a:r>
            <a:r>
              <a:rPr spc="-35" dirty="0">
                <a:latin typeface="Arial"/>
                <a:cs typeface="Arial"/>
              </a:rPr>
              <a:t> </a:t>
            </a:r>
            <a:r>
              <a:rPr spc="-22" dirty="0">
                <a:latin typeface="Arial"/>
                <a:cs typeface="Arial"/>
              </a:rPr>
              <a:t>as </a:t>
            </a:r>
            <a:r>
              <a:rPr dirty="0">
                <a:latin typeface="Arial"/>
                <a:cs typeface="Arial"/>
              </a:rPr>
              <a:t>biased</a:t>
            </a:r>
            <a:r>
              <a:rPr spc="-4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semiconductor</a:t>
            </a:r>
            <a:r>
              <a:rPr spc="-4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region,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feedback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can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be</a:t>
            </a:r>
            <a:r>
              <a:rPr spc="-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obtained</a:t>
            </a:r>
            <a:r>
              <a:rPr spc="-31" dirty="0">
                <a:latin typeface="Arial"/>
                <a:cs typeface="Arial"/>
              </a:rPr>
              <a:t> by </a:t>
            </a:r>
            <a:r>
              <a:rPr dirty="0">
                <a:latin typeface="Arial"/>
                <a:cs typeface="Arial"/>
              </a:rPr>
              <a:t>placing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active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medium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optical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resonator,</a:t>
            </a:r>
            <a:r>
              <a:rPr spc="-6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such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as</a:t>
            </a:r>
            <a:r>
              <a:rPr spc="-18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Fabry- </a:t>
            </a:r>
            <a:r>
              <a:rPr dirty="0">
                <a:latin typeface="Arial"/>
                <a:cs typeface="Arial"/>
              </a:rPr>
              <a:t>Perot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structure,</a:t>
            </a:r>
            <a:r>
              <a:rPr spc="-6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two</a:t>
            </a:r>
            <a:r>
              <a:rPr spc="-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mirrors</a:t>
            </a:r>
            <a:r>
              <a:rPr spc="-4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separated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by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prescribed</a:t>
            </a:r>
            <a:r>
              <a:rPr spc="-48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distance. </a:t>
            </a:r>
            <a:r>
              <a:rPr dirty="0">
                <a:latin typeface="Arial"/>
                <a:cs typeface="Arial"/>
              </a:rPr>
              <a:t>Frequency</a:t>
            </a:r>
            <a:r>
              <a:rPr spc="-6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selection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is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achieved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by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resonant</a:t>
            </a:r>
            <a:r>
              <a:rPr spc="-6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amplifier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-26" dirty="0">
                <a:latin typeface="Arial"/>
                <a:cs typeface="Arial"/>
              </a:rPr>
              <a:t> </a:t>
            </a:r>
            <a:r>
              <a:rPr spc="-22" dirty="0">
                <a:latin typeface="Arial"/>
                <a:cs typeface="Arial"/>
              </a:rPr>
              <a:t>by </a:t>
            </a:r>
            <a:r>
              <a:rPr dirty="0">
                <a:latin typeface="Arial"/>
                <a:cs typeface="Arial"/>
              </a:rPr>
              <a:t>the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resonators,</a:t>
            </a:r>
            <a:r>
              <a:rPr spc="-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which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admits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certain</a:t>
            </a:r>
            <a:r>
              <a:rPr spc="-4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modes.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Output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coupling</a:t>
            </a:r>
            <a:r>
              <a:rPr spc="-22" dirty="0">
                <a:latin typeface="Arial"/>
                <a:cs typeface="Arial"/>
              </a:rPr>
              <a:t> is </a:t>
            </a:r>
            <a:r>
              <a:rPr dirty="0">
                <a:latin typeface="Arial"/>
                <a:cs typeface="Arial"/>
              </a:rPr>
              <a:t>accomplished</a:t>
            </a:r>
            <a:r>
              <a:rPr spc="-5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by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making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one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resonator</a:t>
            </a:r>
            <a:r>
              <a:rPr spc="-4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mirrors</a:t>
            </a:r>
            <a:r>
              <a:rPr spc="-35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partially transmitting.</a:t>
            </a:r>
            <a:endParaRPr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9950" y="729823"/>
            <a:ext cx="5382688" cy="442131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2800" dirty="0">
                <a:solidFill>
                  <a:srgbClr val="323299"/>
                </a:solidFill>
              </a:rPr>
              <a:t>Lasing</a:t>
            </a:r>
            <a:r>
              <a:rPr sz="2800" spc="-53" dirty="0">
                <a:solidFill>
                  <a:srgbClr val="323299"/>
                </a:solidFill>
              </a:rPr>
              <a:t> </a:t>
            </a:r>
            <a:r>
              <a:rPr sz="2800" dirty="0">
                <a:solidFill>
                  <a:srgbClr val="323299"/>
                </a:solidFill>
              </a:rPr>
              <a:t>in</a:t>
            </a:r>
            <a:r>
              <a:rPr sz="2800" spc="-13" dirty="0">
                <a:solidFill>
                  <a:srgbClr val="323299"/>
                </a:solidFill>
              </a:rPr>
              <a:t> </a:t>
            </a:r>
            <a:r>
              <a:rPr sz="2800" dirty="0">
                <a:solidFill>
                  <a:srgbClr val="323299"/>
                </a:solidFill>
              </a:rPr>
              <a:t>a</a:t>
            </a:r>
            <a:r>
              <a:rPr sz="2800" spc="-39" dirty="0">
                <a:solidFill>
                  <a:srgbClr val="323299"/>
                </a:solidFill>
              </a:rPr>
              <a:t> </a:t>
            </a:r>
            <a:r>
              <a:rPr sz="2800" dirty="0">
                <a:solidFill>
                  <a:srgbClr val="323299"/>
                </a:solidFill>
              </a:rPr>
              <a:t>pumped</a:t>
            </a:r>
            <a:r>
              <a:rPr sz="2800" spc="-26" dirty="0">
                <a:solidFill>
                  <a:srgbClr val="323299"/>
                </a:solidFill>
              </a:rPr>
              <a:t> </a:t>
            </a:r>
            <a:r>
              <a:rPr sz="2800" dirty="0">
                <a:solidFill>
                  <a:srgbClr val="323299"/>
                </a:solidFill>
              </a:rPr>
              <a:t>active</a:t>
            </a:r>
            <a:r>
              <a:rPr sz="2800" spc="-39" dirty="0">
                <a:solidFill>
                  <a:srgbClr val="323299"/>
                </a:solidFill>
              </a:rPr>
              <a:t> </a:t>
            </a:r>
            <a:r>
              <a:rPr sz="2800" spc="-9" dirty="0">
                <a:solidFill>
                  <a:srgbClr val="323299"/>
                </a:solidFill>
              </a:rPr>
              <a:t>medium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315671" y="1639926"/>
            <a:ext cx="6339442" cy="3476295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311233" marR="10022" indent="-300655" algn="just">
              <a:spcBef>
                <a:spcPts val="88"/>
              </a:spcBef>
              <a:buChar char="•"/>
              <a:tabLst>
                <a:tab pos="311233" algn="l"/>
              </a:tabLst>
            </a:pPr>
            <a:r>
              <a:rPr dirty="0">
                <a:latin typeface="Arial"/>
                <a:cs typeface="Arial"/>
              </a:rPr>
              <a:t>In</a:t>
            </a:r>
            <a:r>
              <a:rPr spc="-4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thermal</a:t>
            </a:r>
            <a:r>
              <a:rPr spc="-4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equilibrium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stimulated</a:t>
            </a:r>
            <a:r>
              <a:rPr spc="-4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emission</a:t>
            </a:r>
            <a:r>
              <a:rPr spc="-4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is</a:t>
            </a:r>
            <a:r>
              <a:rPr spc="-22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essentially </a:t>
            </a:r>
            <a:r>
              <a:rPr dirty="0">
                <a:latin typeface="Arial"/>
                <a:cs typeface="Arial"/>
              </a:rPr>
              <a:t>negligible,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since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density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electrons</a:t>
            </a:r>
            <a:r>
              <a:rPr spc="-4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excited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state</a:t>
            </a:r>
            <a:r>
              <a:rPr spc="-39" dirty="0">
                <a:latin typeface="Arial"/>
                <a:cs typeface="Arial"/>
              </a:rPr>
              <a:t> </a:t>
            </a:r>
            <a:r>
              <a:rPr spc="-22" dirty="0">
                <a:latin typeface="Arial"/>
                <a:cs typeface="Arial"/>
              </a:rPr>
              <a:t>is </a:t>
            </a:r>
            <a:r>
              <a:rPr dirty="0">
                <a:latin typeface="Arial"/>
                <a:cs typeface="Arial"/>
              </a:rPr>
              <a:t>very</a:t>
            </a:r>
            <a:r>
              <a:rPr spc="-4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small,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optical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emission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is</a:t>
            </a:r>
            <a:r>
              <a:rPr spc="-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mainly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because</a:t>
            </a:r>
            <a:r>
              <a:rPr spc="-4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31" dirty="0">
                <a:latin typeface="Arial"/>
                <a:cs typeface="Arial"/>
              </a:rPr>
              <a:t> </a:t>
            </a:r>
            <a:r>
              <a:rPr spc="-22" dirty="0">
                <a:latin typeface="Arial"/>
                <a:cs typeface="Arial"/>
              </a:rPr>
              <a:t>the </a:t>
            </a:r>
            <a:r>
              <a:rPr dirty="0">
                <a:latin typeface="Arial"/>
                <a:cs typeface="Arial"/>
              </a:rPr>
              <a:t>spontaneous</a:t>
            </a:r>
            <a:r>
              <a:rPr spc="-7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emission.</a:t>
            </a:r>
            <a:r>
              <a:rPr spc="-57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Stimulated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emission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will</a:t>
            </a:r>
            <a:r>
              <a:rPr spc="-22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exceed </a:t>
            </a:r>
            <a:r>
              <a:rPr dirty="0">
                <a:latin typeface="Arial"/>
                <a:cs typeface="Arial"/>
              </a:rPr>
              <a:t>absorption</a:t>
            </a:r>
            <a:r>
              <a:rPr spc="-57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only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if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population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excited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states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is</a:t>
            </a:r>
            <a:r>
              <a:rPr spc="-9" dirty="0">
                <a:latin typeface="Arial"/>
                <a:cs typeface="Arial"/>
              </a:rPr>
              <a:t> greater </a:t>
            </a:r>
            <a:r>
              <a:rPr dirty="0">
                <a:latin typeface="Arial"/>
                <a:cs typeface="Arial"/>
              </a:rPr>
              <a:t>than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that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ground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state.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This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condition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is</a:t>
            </a:r>
            <a:r>
              <a:rPr spc="-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known</a:t>
            </a:r>
            <a:r>
              <a:rPr spc="-31" dirty="0">
                <a:latin typeface="Arial"/>
                <a:cs typeface="Arial"/>
              </a:rPr>
              <a:t> </a:t>
            </a:r>
            <a:r>
              <a:rPr spc="-22" dirty="0">
                <a:latin typeface="Arial"/>
                <a:cs typeface="Arial"/>
              </a:rPr>
              <a:t>as </a:t>
            </a:r>
            <a:r>
              <a:rPr b="1" spc="-9" dirty="0">
                <a:latin typeface="Arial"/>
                <a:cs typeface="Arial"/>
              </a:rPr>
              <a:t>Population</a:t>
            </a:r>
            <a:r>
              <a:rPr b="1" spc="-57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Inversion</a:t>
            </a:r>
            <a:r>
              <a:rPr dirty="0">
                <a:latin typeface="Arial"/>
                <a:cs typeface="Arial"/>
              </a:rPr>
              <a:t>.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Population</a:t>
            </a:r>
            <a:r>
              <a:rPr spc="-4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inversion</a:t>
            </a:r>
            <a:r>
              <a:rPr spc="-4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is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achieved</a:t>
            </a:r>
            <a:r>
              <a:rPr spc="-44" dirty="0">
                <a:latin typeface="Arial"/>
                <a:cs typeface="Arial"/>
              </a:rPr>
              <a:t> </a:t>
            </a:r>
            <a:r>
              <a:rPr spc="-31" dirty="0">
                <a:latin typeface="Arial"/>
                <a:cs typeface="Arial"/>
              </a:rPr>
              <a:t>by </a:t>
            </a:r>
            <a:r>
              <a:rPr dirty="0">
                <a:latin typeface="Arial"/>
                <a:cs typeface="Arial"/>
              </a:rPr>
              <a:t>various</a:t>
            </a:r>
            <a:r>
              <a:rPr spc="-8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pumping</a:t>
            </a:r>
            <a:r>
              <a:rPr b="1" spc="-57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techniques.</a:t>
            </a:r>
            <a:endParaRPr>
              <a:latin typeface="Arial"/>
              <a:cs typeface="Arial"/>
            </a:endParaRPr>
          </a:p>
          <a:p>
            <a:pPr algn="just">
              <a:spcBef>
                <a:spcPts val="929"/>
              </a:spcBef>
              <a:buFont typeface="Arial"/>
              <a:buChar char="•"/>
            </a:pPr>
            <a:endParaRPr>
              <a:latin typeface="Arial"/>
              <a:cs typeface="Arial"/>
            </a:endParaRPr>
          </a:p>
          <a:p>
            <a:pPr marL="311233" marR="4454" indent="-300655" algn="just">
              <a:spcBef>
                <a:spcPts val="4"/>
              </a:spcBef>
              <a:buChar char="•"/>
              <a:tabLst>
                <a:tab pos="311233" algn="l"/>
              </a:tabLst>
            </a:pPr>
            <a:r>
              <a:rPr dirty="0">
                <a:latin typeface="Arial"/>
                <a:cs typeface="Arial"/>
              </a:rPr>
              <a:t>In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semiconductor</a:t>
            </a:r>
            <a:r>
              <a:rPr spc="-6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laser,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population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inversion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is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accomplished </a:t>
            </a:r>
            <a:r>
              <a:rPr dirty="0">
                <a:latin typeface="Arial"/>
                <a:cs typeface="Arial"/>
              </a:rPr>
              <a:t>by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injecting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electrons</a:t>
            </a:r>
            <a:r>
              <a:rPr spc="-4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into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material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fill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lower</a:t>
            </a:r>
            <a:r>
              <a:rPr spc="-26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energy </a:t>
            </a:r>
            <a:r>
              <a:rPr dirty="0">
                <a:latin typeface="Arial"/>
                <a:cs typeface="Arial"/>
              </a:rPr>
              <a:t>states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conduction</a:t>
            </a:r>
            <a:r>
              <a:rPr spc="-39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band.</a:t>
            </a:r>
            <a:endParaRPr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7868" y="591511"/>
            <a:ext cx="3646740" cy="442131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2800" dirty="0">
                <a:solidFill>
                  <a:srgbClr val="323299"/>
                </a:solidFill>
              </a:rPr>
              <a:t>Pumped</a:t>
            </a:r>
            <a:r>
              <a:rPr sz="2800" spc="-53" dirty="0">
                <a:solidFill>
                  <a:srgbClr val="323299"/>
                </a:solidFill>
              </a:rPr>
              <a:t> </a:t>
            </a:r>
            <a:r>
              <a:rPr sz="2800" dirty="0">
                <a:solidFill>
                  <a:srgbClr val="323299"/>
                </a:solidFill>
              </a:rPr>
              <a:t>active</a:t>
            </a:r>
            <a:r>
              <a:rPr sz="2800" spc="-66" dirty="0">
                <a:solidFill>
                  <a:srgbClr val="323299"/>
                </a:solidFill>
              </a:rPr>
              <a:t> </a:t>
            </a:r>
            <a:r>
              <a:rPr sz="2800" spc="-9" dirty="0">
                <a:solidFill>
                  <a:srgbClr val="323299"/>
                </a:solidFill>
              </a:rPr>
              <a:t>medium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315671" y="1184048"/>
            <a:ext cx="3777058" cy="1629747"/>
          </a:xfrm>
          <a:prstGeom prst="rect">
            <a:avLst/>
          </a:prstGeom>
        </p:spPr>
        <p:txBody>
          <a:bodyPr vert="horz" wrap="square" lIns="0" tIns="64585" rIns="0" bIns="0" rtlCol="0">
            <a:spAutoFit/>
          </a:bodyPr>
          <a:lstStyle/>
          <a:p>
            <a:pPr marL="311233" indent="-300098">
              <a:spcBef>
                <a:spcPts val="509"/>
              </a:spcBef>
              <a:buChar char="•"/>
              <a:tabLst>
                <a:tab pos="311233" algn="l"/>
              </a:tabLst>
            </a:pPr>
            <a:r>
              <a:rPr dirty="0">
                <a:latin typeface="Arial"/>
                <a:cs typeface="Arial"/>
              </a:rPr>
              <a:t>Three</a:t>
            </a:r>
            <a:r>
              <a:rPr spc="-4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main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process</a:t>
            </a:r>
            <a:r>
              <a:rPr spc="-4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for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laser</a:t>
            </a:r>
            <a:r>
              <a:rPr spc="-18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action:</a:t>
            </a:r>
            <a:endParaRPr>
              <a:latin typeface="Arial"/>
              <a:cs typeface="Arial"/>
            </a:endParaRPr>
          </a:p>
          <a:p>
            <a:pPr marL="511670" lvl="1" indent="-257784">
              <a:spcBef>
                <a:spcPts val="421"/>
              </a:spcBef>
              <a:buAutoNum type="arabicPlain"/>
              <a:tabLst>
                <a:tab pos="511670" algn="l"/>
              </a:tabLst>
            </a:pPr>
            <a:r>
              <a:rPr dirty="0">
                <a:latin typeface="Arial"/>
                <a:cs typeface="Arial"/>
              </a:rPr>
              <a:t>Photon</a:t>
            </a:r>
            <a:r>
              <a:rPr spc="-35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absorption</a:t>
            </a:r>
            <a:endParaRPr>
              <a:latin typeface="Arial"/>
              <a:cs typeface="Arial"/>
            </a:endParaRPr>
          </a:p>
          <a:p>
            <a:pPr marL="511670" lvl="1" indent="-257784">
              <a:spcBef>
                <a:spcPts val="421"/>
              </a:spcBef>
              <a:buAutoNum type="arabicPlain"/>
              <a:tabLst>
                <a:tab pos="511670" algn="l"/>
              </a:tabLst>
            </a:pPr>
            <a:r>
              <a:rPr dirty="0">
                <a:latin typeface="Arial"/>
                <a:cs typeface="Arial"/>
              </a:rPr>
              <a:t>Spontaneous</a:t>
            </a:r>
            <a:r>
              <a:rPr spc="-53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emission</a:t>
            </a:r>
            <a:endParaRPr>
              <a:latin typeface="Arial"/>
              <a:cs typeface="Arial"/>
            </a:endParaRPr>
          </a:p>
          <a:p>
            <a:pPr marL="511670" lvl="1" indent="-257784">
              <a:spcBef>
                <a:spcPts val="421"/>
              </a:spcBef>
              <a:buAutoNum type="arabicPlain"/>
              <a:tabLst>
                <a:tab pos="511670" algn="l"/>
              </a:tabLst>
            </a:pPr>
            <a:r>
              <a:rPr dirty="0">
                <a:latin typeface="Arial"/>
                <a:cs typeface="Arial"/>
              </a:rPr>
              <a:t>Stimulated</a:t>
            </a:r>
            <a:r>
              <a:rPr spc="-70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emission</a:t>
            </a:r>
            <a:endParaRPr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6908" y="2586445"/>
            <a:ext cx="7167506" cy="188381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43200" y="6303824"/>
            <a:ext cx="4724400" cy="195910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33406" algn="just">
              <a:spcBef>
                <a:spcPts val="88"/>
              </a:spcBef>
            </a:pPr>
            <a:r>
              <a:rPr sz="1200" dirty="0">
                <a:latin typeface="Arial"/>
                <a:cs typeface="Arial"/>
              </a:rPr>
              <a:t>Optical Fiber</a:t>
            </a:r>
            <a:r>
              <a:rPr sz="1200" spc="26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communications,</a:t>
            </a:r>
            <a:r>
              <a:rPr sz="1200" spc="-18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3</a:t>
            </a:r>
            <a:r>
              <a:rPr sz="1200" baseline="27777" dirty="0">
                <a:latin typeface="Arial"/>
                <a:cs typeface="Arial"/>
              </a:rPr>
              <a:t>rd</a:t>
            </a:r>
            <a:r>
              <a:rPr sz="1200" spc="157" baseline="27777" dirty="0">
                <a:latin typeface="Arial"/>
                <a:cs typeface="Arial"/>
              </a:rPr>
              <a:t> </a:t>
            </a:r>
            <a:r>
              <a:rPr sz="1200" spc="-9" dirty="0">
                <a:latin typeface="Arial"/>
                <a:cs typeface="Arial"/>
              </a:rPr>
              <a:t>ed.,G.Keiser,McGrawHill,</a:t>
            </a:r>
            <a:r>
              <a:rPr sz="1200" spc="9" dirty="0">
                <a:latin typeface="Arial"/>
                <a:cs typeface="Arial"/>
              </a:rPr>
              <a:t> </a:t>
            </a:r>
            <a:r>
              <a:rPr sz="1200" spc="-18" dirty="0">
                <a:latin typeface="Arial"/>
                <a:cs typeface="Arial"/>
              </a:rPr>
              <a:t>2000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1681" y="4550022"/>
            <a:ext cx="1932512" cy="1934286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 marR="4454">
              <a:spcBef>
                <a:spcPts val="83"/>
              </a:spcBef>
            </a:pPr>
            <a:r>
              <a:rPr sz="2500" b="1" spc="-9" dirty="0">
                <a:latin typeface="Times New Roman"/>
                <a:cs typeface="Times New Roman"/>
              </a:rPr>
              <a:t>Energy </a:t>
            </a:r>
            <a:r>
              <a:rPr sz="2500" b="1" dirty="0">
                <a:latin typeface="Times New Roman"/>
                <a:cs typeface="Times New Roman"/>
              </a:rPr>
              <a:t>absorbed</a:t>
            </a:r>
            <a:r>
              <a:rPr sz="2500" b="1" spc="-79" dirty="0">
                <a:latin typeface="Times New Roman"/>
                <a:cs typeface="Times New Roman"/>
              </a:rPr>
              <a:t> </a:t>
            </a:r>
            <a:r>
              <a:rPr sz="2500" b="1" spc="-18" dirty="0">
                <a:latin typeface="Times New Roman"/>
                <a:cs typeface="Times New Roman"/>
              </a:rPr>
              <a:t>from </a:t>
            </a:r>
            <a:r>
              <a:rPr sz="2500" b="1" dirty="0">
                <a:latin typeface="Times New Roman"/>
                <a:cs typeface="Times New Roman"/>
              </a:rPr>
              <a:t>the</a:t>
            </a:r>
            <a:r>
              <a:rPr sz="2500" b="1" spc="-35" dirty="0">
                <a:latin typeface="Times New Roman"/>
                <a:cs typeface="Times New Roman"/>
              </a:rPr>
              <a:t> </a:t>
            </a:r>
            <a:r>
              <a:rPr sz="2500" b="1" spc="-9" dirty="0">
                <a:latin typeface="Times New Roman"/>
                <a:cs typeface="Times New Roman"/>
              </a:rPr>
              <a:t>incoming photon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9218" y="4472014"/>
            <a:ext cx="1235852" cy="1741682"/>
          </a:xfrm>
          <a:prstGeom prst="rect">
            <a:avLst/>
          </a:prstGeom>
        </p:spPr>
        <p:txBody>
          <a:bodyPr vert="horz" wrap="square" lIns="0" tIns="48438" rIns="0" bIns="0" rtlCol="0">
            <a:spAutoFit/>
          </a:bodyPr>
          <a:lstStyle/>
          <a:p>
            <a:pPr marL="11135" marR="4454">
              <a:lnSpc>
                <a:spcPct val="110000"/>
              </a:lnSpc>
              <a:spcBef>
                <a:spcPts val="381"/>
              </a:spcBef>
            </a:pPr>
            <a:r>
              <a:rPr sz="2500" b="1" spc="-9" dirty="0">
                <a:latin typeface="Times New Roman"/>
                <a:cs typeface="Times New Roman"/>
              </a:rPr>
              <a:t>Random </a:t>
            </a:r>
            <a:r>
              <a:rPr sz="2500" b="1" dirty="0">
                <a:latin typeface="Times New Roman"/>
                <a:cs typeface="Times New Roman"/>
              </a:rPr>
              <a:t>release</a:t>
            </a:r>
            <a:r>
              <a:rPr sz="2500" b="1" spc="-105" dirty="0">
                <a:latin typeface="Times New Roman"/>
                <a:cs typeface="Times New Roman"/>
              </a:rPr>
              <a:t> </a:t>
            </a:r>
            <a:r>
              <a:rPr sz="2500" b="1" spc="-22" dirty="0">
                <a:latin typeface="Times New Roman"/>
                <a:cs typeface="Times New Roman"/>
              </a:rPr>
              <a:t>of </a:t>
            </a:r>
            <a:r>
              <a:rPr sz="2500" b="1" spc="-9" dirty="0">
                <a:latin typeface="Times New Roman"/>
                <a:cs typeface="Times New Roman"/>
              </a:rPr>
              <a:t>energy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38059" y="4550022"/>
            <a:ext cx="1235852" cy="1595732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 marR="4454" algn="just">
              <a:spcBef>
                <a:spcPts val="83"/>
              </a:spcBef>
            </a:pPr>
            <a:r>
              <a:rPr sz="2500" b="1" spc="-9" dirty="0">
                <a:latin typeface="Times New Roman"/>
                <a:cs typeface="Times New Roman"/>
              </a:rPr>
              <a:t>Coherent </a:t>
            </a:r>
            <a:r>
              <a:rPr sz="2500" b="1" dirty="0">
                <a:latin typeface="Times New Roman"/>
                <a:cs typeface="Times New Roman"/>
              </a:rPr>
              <a:t>release</a:t>
            </a:r>
            <a:r>
              <a:rPr sz="2500" b="1" spc="-105" dirty="0">
                <a:latin typeface="Times New Roman"/>
                <a:cs typeface="Times New Roman"/>
              </a:rPr>
              <a:t> </a:t>
            </a:r>
            <a:r>
              <a:rPr sz="2500" b="1" spc="-22" dirty="0">
                <a:latin typeface="Times New Roman"/>
                <a:cs typeface="Times New Roman"/>
              </a:rPr>
              <a:t>of </a:t>
            </a:r>
            <a:r>
              <a:rPr sz="2500" b="1" spc="-9" dirty="0">
                <a:latin typeface="Times New Roman"/>
                <a:cs typeface="Times New Roman"/>
              </a:rPr>
              <a:t>energy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9235" y="338399"/>
            <a:ext cx="3150445" cy="780124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>
              <a:spcBef>
                <a:spcPts val="83"/>
              </a:spcBef>
            </a:pPr>
            <a:r>
              <a:rPr sz="2500" b="1" dirty="0">
                <a:latin typeface="Arial"/>
                <a:cs typeface="Arial"/>
              </a:rPr>
              <a:t>Howling</a:t>
            </a:r>
            <a:r>
              <a:rPr sz="2500" b="1" spc="-70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Dog</a:t>
            </a:r>
            <a:r>
              <a:rPr sz="2500" b="1" spc="-145" dirty="0">
                <a:latin typeface="Arial"/>
                <a:cs typeface="Arial"/>
              </a:rPr>
              <a:t> </a:t>
            </a:r>
            <a:r>
              <a:rPr sz="2500" b="1" spc="-9" dirty="0">
                <a:latin typeface="Arial"/>
                <a:cs typeface="Arial"/>
              </a:rPr>
              <a:t>Analogy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4092" y="800824"/>
            <a:ext cx="7737105" cy="5624136"/>
            <a:chOff x="870174" y="882389"/>
            <a:chExt cx="9048115" cy="61969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0174" y="1057655"/>
              <a:ext cx="8855663" cy="27203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860654" y="882389"/>
              <a:ext cx="2057400" cy="914400"/>
            </a:xfrm>
            <a:custGeom>
              <a:avLst/>
              <a:gdLst/>
              <a:ahLst/>
              <a:cxnLst/>
              <a:rect l="l" t="t" r="r" b="b"/>
              <a:pathLst>
                <a:path w="2057400" h="914400">
                  <a:moveTo>
                    <a:pt x="2057399" y="914399"/>
                  </a:moveTo>
                  <a:lnTo>
                    <a:pt x="2057399" y="0"/>
                  </a:lnTo>
                  <a:lnTo>
                    <a:pt x="0" y="0"/>
                  </a:lnTo>
                  <a:lnTo>
                    <a:pt x="0" y="914399"/>
                  </a:lnTo>
                  <a:lnTo>
                    <a:pt x="2057399" y="914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04" y="3777995"/>
              <a:ext cx="8807609" cy="330132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7584" y="500224"/>
            <a:ext cx="6054913" cy="1087900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 marR="4454">
              <a:spcBef>
                <a:spcPts val="83"/>
              </a:spcBef>
            </a:pPr>
            <a:r>
              <a:rPr sz="3500" dirty="0">
                <a:solidFill>
                  <a:srgbClr val="CC0000"/>
                </a:solidFill>
              </a:rPr>
              <a:t>In</a:t>
            </a:r>
            <a:r>
              <a:rPr sz="3500" spc="-110" dirty="0">
                <a:solidFill>
                  <a:srgbClr val="CC0000"/>
                </a:solidFill>
              </a:rPr>
              <a:t> </a:t>
            </a:r>
            <a:r>
              <a:rPr sz="3500" dirty="0">
                <a:solidFill>
                  <a:srgbClr val="CC0000"/>
                </a:solidFill>
              </a:rPr>
              <a:t>Stimulated</a:t>
            </a:r>
            <a:r>
              <a:rPr sz="3500" spc="-83" dirty="0">
                <a:solidFill>
                  <a:srgbClr val="CC0000"/>
                </a:solidFill>
              </a:rPr>
              <a:t> </a:t>
            </a:r>
            <a:r>
              <a:rPr sz="3500" dirty="0">
                <a:solidFill>
                  <a:srgbClr val="CC0000"/>
                </a:solidFill>
              </a:rPr>
              <a:t>Emission</a:t>
            </a:r>
            <a:r>
              <a:rPr sz="3500" spc="-100" dirty="0">
                <a:solidFill>
                  <a:srgbClr val="CC0000"/>
                </a:solidFill>
              </a:rPr>
              <a:t> </a:t>
            </a:r>
            <a:r>
              <a:rPr sz="3500" spc="-9" dirty="0">
                <a:solidFill>
                  <a:srgbClr val="CC0000"/>
                </a:solidFill>
              </a:rPr>
              <a:t>incident </a:t>
            </a:r>
            <a:r>
              <a:rPr sz="3500" dirty="0">
                <a:solidFill>
                  <a:srgbClr val="CC0000"/>
                </a:solidFill>
              </a:rPr>
              <a:t>and</a:t>
            </a:r>
            <a:r>
              <a:rPr sz="3500" spc="-127" dirty="0">
                <a:solidFill>
                  <a:srgbClr val="CC0000"/>
                </a:solidFill>
              </a:rPr>
              <a:t> </a:t>
            </a:r>
            <a:r>
              <a:rPr sz="3500" dirty="0">
                <a:solidFill>
                  <a:srgbClr val="CC0000"/>
                </a:solidFill>
              </a:rPr>
              <a:t>stimulated</a:t>
            </a:r>
            <a:r>
              <a:rPr sz="3500" spc="-114" dirty="0">
                <a:solidFill>
                  <a:srgbClr val="CC0000"/>
                </a:solidFill>
              </a:rPr>
              <a:t> </a:t>
            </a:r>
            <a:r>
              <a:rPr sz="3500" dirty="0">
                <a:solidFill>
                  <a:srgbClr val="CC0000"/>
                </a:solidFill>
              </a:rPr>
              <a:t>photons</a:t>
            </a:r>
            <a:r>
              <a:rPr sz="3500" spc="-100" dirty="0">
                <a:solidFill>
                  <a:srgbClr val="CC0000"/>
                </a:solidFill>
              </a:rPr>
              <a:t> </a:t>
            </a:r>
            <a:r>
              <a:rPr sz="3500" spc="-18" dirty="0">
                <a:solidFill>
                  <a:srgbClr val="CC0000"/>
                </a:solidFill>
              </a:rPr>
              <a:t>will have</a:t>
            </a:r>
            <a:endParaRPr sz="3500"/>
          </a:p>
        </p:txBody>
      </p:sp>
      <p:sp>
        <p:nvSpPr>
          <p:cNvPr id="3" name="object 3"/>
          <p:cNvSpPr/>
          <p:nvPr/>
        </p:nvSpPr>
        <p:spPr>
          <a:xfrm>
            <a:off x="661904" y="3428769"/>
            <a:ext cx="7819097" cy="3112034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3" y="3428993"/>
                </a:moveTo>
                <a:lnTo>
                  <a:pt x="9143993" y="0"/>
                </a:lnTo>
                <a:lnTo>
                  <a:pt x="0" y="0"/>
                </a:lnTo>
                <a:lnTo>
                  <a:pt x="0" y="3428993"/>
                </a:lnTo>
                <a:lnTo>
                  <a:pt x="9143993" y="34289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0194" y="2479482"/>
            <a:ext cx="6301974" cy="4420143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311233" marR="537281" indent="-300655">
              <a:spcBef>
                <a:spcPts val="88"/>
              </a:spcBef>
              <a:buChar char="•"/>
              <a:tabLst>
                <a:tab pos="311233" algn="l"/>
              </a:tabLst>
            </a:pPr>
            <a:r>
              <a:rPr sz="3200" dirty="0">
                <a:latin typeface="Arial"/>
                <a:cs typeface="Arial"/>
              </a:rPr>
              <a:t>Identical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CC0000"/>
                </a:solidFill>
                <a:latin typeface="Arial"/>
                <a:cs typeface="Arial"/>
              </a:rPr>
              <a:t>energy</a:t>
            </a:r>
            <a:r>
              <a:rPr sz="3200" spc="-26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3200" spc="1612" dirty="0">
                <a:latin typeface="Noto Sans Symbols2"/>
                <a:cs typeface="Noto Sans Symbols2"/>
              </a:rPr>
              <a:t>🡪</a:t>
            </a:r>
            <a:r>
              <a:rPr sz="3200" spc="39" dirty="0">
                <a:latin typeface="Noto Sans Symbols2"/>
                <a:cs typeface="Noto Sans Symbols2"/>
              </a:rPr>
              <a:t> </a:t>
            </a:r>
            <a:r>
              <a:rPr sz="3200" spc="-9" dirty="0">
                <a:latin typeface="Arial"/>
                <a:cs typeface="Arial"/>
              </a:rPr>
              <a:t>Identical </a:t>
            </a:r>
            <a:r>
              <a:rPr sz="3200" dirty="0">
                <a:latin typeface="Arial"/>
                <a:cs typeface="Arial"/>
              </a:rPr>
              <a:t>wavelength</a:t>
            </a:r>
            <a:r>
              <a:rPr sz="3200" spc="-79" dirty="0">
                <a:latin typeface="Arial"/>
                <a:cs typeface="Arial"/>
              </a:rPr>
              <a:t> </a:t>
            </a:r>
            <a:r>
              <a:rPr sz="3200" spc="513" dirty="0">
                <a:latin typeface="Noto Sans Symbols2"/>
                <a:cs typeface="Noto Sans Symbols2"/>
              </a:rPr>
              <a:t>🡪</a:t>
            </a:r>
            <a:r>
              <a:rPr sz="3200" spc="18" dirty="0">
                <a:latin typeface="Noto Sans Symbols2"/>
                <a:cs typeface="Noto Sans Symbols2"/>
              </a:rPr>
              <a:t> </a:t>
            </a:r>
            <a:r>
              <a:rPr sz="3200" dirty="0">
                <a:latin typeface="Arial"/>
                <a:cs typeface="Arial"/>
              </a:rPr>
              <a:t>Narrow</a:t>
            </a:r>
            <a:r>
              <a:rPr sz="3200" spc="-44" dirty="0">
                <a:latin typeface="Arial"/>
                <a:cs typeface="Arial"/>
              </a:rPr>
              <a:t> </a:t>
            </a:r>
            <a:r>
              <a:rPr sz="3200" spc="-9" dirty="0">
                <a:latin typeface="Arial"/>
                <a:cs typeface="Arial"/>
              </a:rPr>
              <a:t>linewidth</a:t>
            </a:r>
            <a:endParaRPr sz="3200">
              <a:latin typeface="Arial"/>
              <a:cs typeface="Arial"/>
            </a:endParaRPr>
          </a:p>
          <a:p>
            <a:pPr marL="311233" marR="4454" indent="-300655">
              <a:spcBef>
                <a:spcPts val="754"/>
              </a:spcBef>
              <a:buChar char="•"/>
              <a:tabLst>
                <a:tab pos="311233" algn="l"/>
              </a:tabLst>
            </a:pPr>
            <a:r>
              <a:rPr sz="3200" dirty="0">
                <a:latin typeface="Arial"/>
                <a:cs typeface="Arial"/>
              </a:rPr>
              <a:t>Identical</a:t>
            </a:r>
            <a:r>
              <a:rPr sz="3200" spc="-53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CC0000"/>
                </a:solidFill>
                <a:latin typeface="Arial"/>
                <a:cs typeface="Arial"/>
              </a:rPr>
              <a:t>direction</a:t>
            </a:r>
            <a:r>
              <a:rPr sz="3200" spc="-44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3200" spc="513" dirty="0">
                <a:latin typeface="Noto Sans Symbols2"/>
                <a:cs typeface="Noto Sans Symbols2"/>
              </a:rPr>
              <a:t>🡪</a:t>
            </a:r>
            <a:r>
              <a:rPr sz="3200" spc="22" dirty="0">
                <a:latin typeface="Noto Sans Symbols2"/>
                <a:cs typeface="Noto Sans Symbols2"/>
              </a:rPr>
              <a:t> </a:t>
            </a:r>
            <a:r>
              <a:rPr sz="3200" dirty="0">
                <a:latin typeface="Arial"/>
                <a:cs typeface="Arial"/>
              </a:rPr>
              <a:t>Narrow</a:t>
            </a:r>
            <a:r>
              <a:rPr sz="3200" spc="-39" dirty="0">
                <a:latin typeface="Arial"/>
                <a:cs typeface="Arial"/>
              </a:rPr>
              <a:t> </a:t>
            </a:r>
            <a:r>
              <a:rPr sz="3200" spc="-18" dirty="0">
                <a:latin typeface="Arial"/>
                <a:cs typeface="Arial"/>
              </a:rPr>
              <a:t>beam </a:t>
            </a:r>
            <a:r>
              <a:rPr sz="3200" spc="-9" dirty="0">
                <a:latin typeface="Arial"/>
                <a:cs typeface="Arial"/>
              </a:rPr>
              <a:t>width</a:t>
            </a:r>
            <a:endParaRPr sz="3200">
              <a:latin typeface="Arial"/>
              <a:cs typeface="Arial"/>
            </a:endParaRPr>
          </a:p>
          <a:p>
            <a:pPr marL="311233" indent="-300098">
              <a:spcBef>
                <a:spcPts val="758"/>
              </a:spcBef>
              <a:buChar char="•"/>
              <a:tabLst>
                <a:tab pos="311233" algn="l"/>
              </a:tabLst>
            </a:pPr>
            <a:r>
              <a:rPr sz="3200" dirty="0">
                <a:latin typeface="Arial"/>
                <a:cs typeface="Arial"/>
              </a:rPr>
              <a:t>Identical</a:t>
            </a:r>
            <a:r>
              <a:rPr sz="3200" spc="-39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CC0000"/>
                </a:solidFill>
                <a:latin typeface="Arial"/>
                <a:cs typeface="Arial"/>
              </a:rPr>
              <a:t>phase</a:t>
            </a:r>
            <a:r>
              <a:rPr sz="3200" spc="-26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3200" spc="513" dirty="0">
                <a:latin typeface="Noto Sans Symbols2"/>
                <a:cs typeface="Noto Sans Symbols2"/>
              </a:rPr>
              <a:t>🡪</a:t>
            </a:r>
            <a:r>
              <a:rPr sz="3200" spc="39" dirty="0">
                <a:latin typeface="Noto Sans Symbols2"/>
                <a:cs typeface="Noto Sans Symbols2"/>
              </a:rPr>
              <a:t> </a:t>
            </a:r>
            <a:r>
              <a:rPr sz="3200" dirty="0">
                <a:latin typeface="Arial"/>
                <a:cs typeface="Arial"/>
              </a:rPr>
              <a:t>Coherence</a:t>
            </a:r>
            <a:r>
              <a:rPr sz="3200" spc="-39" dirty="0">
                <a:latin typeface="Arial"/>
                <a:cs typeface="Arial"/>
              </a:rPr>
              <a:t> </a:t>
            </a:r>
            <a:r>
              <a:rPr sz="3200" spc="-22" dirty="0">
                <a:latin typeface="Arial"/>
                <a:cs typeface="Arial"/>
              </a:rPr>
              <a:t>and</a:t>
            </a:r>
            <a:endParaRPr sz="3200">
              <a:latin typeface="Arial"/>
              <a:cs typeface="Arial"/>
            </a:endParaRPr>
          </a:p>
          <a:p>
            <a:pPr marL="311233" indent="-300098">
              <a:spcBef>
                <a:spcPts val="758"/>
              </a:spcBef>
              <a:buChar char="•"/>
              <a:tabLst>
                <a:tab pos="311233" algn="l"/>
              </a:tabLst>
            </a:pPr>
            <a:r>
              <a:rPr sz="3200" dirty="0">
                <a:latin typeface="Arial"/>
                <a:cs typeface="Arial"/>
              </a:rPr>
              <a:t>Identical</a:t>
            </a:r>
            <a:r>
              <a:rPr sz="3200" spc="-48" dirty="0">
                <a:latin typeface="Arial"/>
                <a:cs typeface="Arial"/>
              </a:rPr>
              <a:t> </a:t>
            </a:r>
            <a:r>
              <a:rPr sz="3200" spc="-9" dirty="0">
                <a:solidFill>
                  <a:srgbClr val="CC0000"/>
                </a:solidFill>
                <a:latin typeface="Arial"/>
                <a:cs typeface="Arial"/>
              </a:rPr>
              <a:t>polarization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079653"/>
          </a:xfrm>
          <a:prstGeom prst="rect">
            <a:avLst/>
          </a:prstGeom>
        </p:spPr>
        <p:txBody>
          <a:bodyPr vert="horz" wrap="square" lIns="0" tIns="398651" rIns="0" bIns="0" rtlCol="0">
            <a:spAutoFit/>
          </a:bodyPr>
          <a:lstStyle/>
          <a:p>
            <a:pPr marL="1306734">
              <a:spcBef>
                <a:spcPts val="88"/>
              </a:spcBef>
            </a:pPr>
            <a:r>
              <a:rPr dirty="0"/>
              <a:t>Stimulated</a:t>
            </a:r>
            <a:r>
              <a:rPr spc="-184" dirty="0"/>
              <a:t> </a:t>
            </a:r>
            <a:r>
              <a:rPr spc="-9" dirty="0"/>
              <a:t>Emission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820" y="1493777"/>
            <a:ext cx="7815177" cy="50470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4807" y="663894"/>
            <a:ext cx="6644916" cy="12254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5820" y="2255879"/>
            <a:ext cx="7815177" cy="42849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4783" y="660667"/>
            <a:ext cx="3550630" cy="442131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2800" spc="-9" dirty="0">
                <a:solidFill>
                  <a:srgbClr val="323299"/>
                </a:solidFill>
              </a:rPr>
              <a:t>Fabry-</a:t>
            </a:r>
            <a:r>
              <a:rPr sz="2800" dirty="0">
                <a:solidFill>
                  <a:srgbClr val="323299"/>
                </a:solidFill>
              </a:rPr>
              <a:t>Perot</a:t>
            </a:r>
            <a:r>
              <a:rPr sz="2800" spc="-57" dirty="0">
                <a:solidFill>
                  <a:srgbClr val="323299"/>
                </a:solidFill>
              </a:rPr>
              <a:t> </a:t>
            </a:r>
            <a:r>
              <a:rPr sz="2800" spc="-9" dirty="0">
                <a:solidFill>
                  <a:srgbClr val="323299"/>
                </a:solidFill>
              </a:rPr>
              <a:t>Resonator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045454" y="1469623"/>
            <a:ext cx="115114" cy="196472"/>
          </a:xfrm>
          <a:prstGeom prst="rect">
            <a:avLst/>
          </a:prstGeom>
        </p:spPr>
        <p:txBody>
          <a:bodyPr vert="horz" wrap="square" lIns="0" tIns="11692" rIns="0" bIns="0" rtlCol="0">
            <a:spAutoFit/>
          </a:bodyPr>
          <a:lstStyle/>
          <a:p>
            <a:pPr marL="11135">
              <a:spcBef>
                <a:spcPts val="92"/>
              </a:spcBef>
            </a:pPr>
            <a:r>
              <a:rPr sz="1200" i="1" spc="-44" dirty="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16784" y="2309180"/>
            <a:ext cx="115114" cy="196472"/>
          </a:xfrm>
          <a:prstGeom prst="rect">
            <a:avLst/>
          </a:prstGeom>
        </p:spPr>
        <p:txBody>
          <a:bodyPr vert="horz" wrap="square" lIns="0" tIns="11692" rIns="0" bIns="0" rtlCol="0">
            <a:spAutoFit/>
          </a:bodyPr>
          <a:lstStyle/>
          <a:p>
            <a:pPr marL="11135">
              <a:spcBef>
                <a:spcPts val="92"/>
              </a:spcBef>
            </a:pPr>
            <a:r>
              <a:rPr sz="1200" i="1" spc="-44" dirty="0"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03627" y="1582527"/>
            <a:ext cx="1525810" cy="1105348"/>
            <a:chOff x="1641464" y="1743710"/>
            <a:chExt cx="1784350" cy="1217930"/>
          </a:xfrm>
        </p:grpSpPr>
        <p:sp>
          <p:nvSpPr>
            <p:cNvPr id="6" name="object 6"/>
            <p:cNvSpPr/>
            <p:nvPr/>
          </p:nvSpPr>
          <p:spPr>
            <a:xfrm>
              <a:off x="1753984" y="2863595"/>
              <a:ext cx="1655445" cy="97790"/>
            </a:xfrm>
            <a:custGeom>
              <a:avLst/>
              <a:gdLst/>
              <a:ahLst/>
              <a:cxnLst/>
              <a:rect l="l" t="t" r="r" b="b"/>
              <a:pathLst>
                <a:path w="1655445" h="97789">
                  <a:moveTo>
                    <a:pt x="146304" y="0"/>
                  </a:moveTo>
                  <a:lnTo>
                    <a:pt x="0" y="65532"/>
                  </a:lnTo>
                  <a:lnTo>
                    <a:pt x="146304" y="97536"/>
                  </a:lnTo>
                  <a:lnTo>
                    <a:pt x="65532" y="48768"/>
                  </a:lnTo>
                  <a:lnTo>
                    <a:pt x="146304" y="0"/>
                  </a:lnTo>
                  <a:close/>
                </a:path>
                <a:path w="1655445" h="97789">
                  <a:moveTo>
                    <a:pt x="1655064" y="65532"/>
                  </a:moveTo>
                  <a:lnTo>
                    <a:pt x="1493520" y="0"/>
                  </a:lnTo>
                  <a:lnTo>
                    <a:pt x="1574292" y="48768"/>
                  </a:lnTo>
                  <a:lnTo>
                    <a:pt x="1493520" y="97536"/>
                  </a:lnTo>
                  <a:lnTo>
                    <a:pt x="1655064" y="6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19518" y="2912363"/>
              <a:ext cx="1508760" cy="0"/>
            </a:xfrm>
            <a:custGeom>
              <a:avLst/>
              <a:gdLst/>
              <a:ahLst/>
              <a:cxnLst/>
              <a:rect l="l" t="t" r="r" b="b"/>
              <a:pathLst>
                <a:path w="1508760">
                  <a:moveTo>
                    <a:pt x="0" y="0"/>
                  </a:moveTo>
                  <a:lnTo>
                    <a:pt x="649223" y="0"/>
                  </a:lnTo>
                </a:path>
                <a:path w="1508760">
                  <a:moveTo>
                    <a:pt x="893063" y="0"/>
                  </a:moveTo>
                  <a:lnTo>
                    <a:pt x="1508759" y="0"/>
                  </a:lnTo>
                </a:path>
              </a:pathLst>
            </a:custGeom>
            <a:ln w="1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00290" y="1940052"/>
              <a:ext cx="1363980" cy="291465"/>
            </a:xfrm>
            <a:custGeom>
              <a:avLst/>
              <a:gdLst/>
              <a:ahLst/>
              <a:cxnLst/>
              <a:rect l="l" t="t" r="r" b="b"/>
              <a:pathLst>
                <a:path w="1363979" h="291464">
                  <a:moveTo>
                    <a:pt x="1363979" y="291083"/>
                  </a:moveTo>
                  <a:lnTo>
                    <a:pt x="0" y="291083"/>
                  </a:lnTo>
                </a:path>
                <a:path w="1363979" h="291464">
                  <a:moveTo>
                    <a:pt x="1363979" y="0"/>
                  </a:moveTo>
                  <a:lnTo>
                    <a:pt x="275843" y="0"/>
                  </a:lnTo>
                </a:path>
              </a:pathLst>
            </a:custGeom>
            <a:ln w="32445">
              <a:solidFill>
                <a:srgbClr val="32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41403" y="1883172"/>
              <a:ext cx="130522" cy="9699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2319" y="2174256"/>
              <a:ext cx="128998" cy="9699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46523" y="1923829"/>
              <a:ext cx="178749" cy="2915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70750" y="2231136"/>
              <a:ext cx="828040" cy="276225"/>
            </a:xfrm>
            <a:custGeom>
              <a:avLst/>
              <a:gdLst/>
              <a:ahLst/>
              <a:cxnLst/>
              <a:rect l="l" t="t" r="r" b="b"/>
              <a:pathLst>
                <a:path w="828039" h="276225">
                  <a:moveTo>
                    <a:pt x="146303" y="0"/>
                  </a:moveTo>
                  <a:lnTo>
                    <a:pt x="100071" y="6242"/>
                  </a:lnTo>
                  <a:lnTo>
                    <a:pt x="59911" y="23603"/>
                  </a:lnTo>
                  <a:lnTo>
                    <a:pt x="28236" y="50035"/>
                  </a:lnTo>
                  <a:lnTo>
                    <a:pt x="7461" y="83490"/>
                  </a:lnTo>
                  <a:lnTo>
                    <a:pt x="0" y="121919"/>
                  </a:lnTo>
                  <a:lnTo>
                    <a:pt x="0" y="123443"/>
                  </a:lnTo>
                  <a:lnTo>
                    <a:pt x="0" y="124967"/>
                  </a:lnTo>
                  <a:lnTo>
                    <a:pt x="0" y="123443"/>
                  </a:lnTo>
                  <a:lnTo>
                    <a:pt x="7461" y="166384"/>
                  </a:lnTo>
                  <a:lnTo>
                    <a:pt x="28236" y="203984"/>
                  </a:lnTo>
                  <a:lnTo>
                    <a:pt x="59911" y="233830"/>
                  </a:lnTo>
                  <a:lnTo>
                    <a:pt x="100071" y="253508"/>
                  </a:lnTo>
                  <a:lnTo>
                    <a:pt x="146303" y="260603"/>
                  </a:lnTo>
                </a:path>
                <a:path w="828039" h="276225">
                  <a:moveTo>
                    <a:pt x="827531" y="275843"/>
                  </a:moveTo>
                  <a:lnTo>
                    <a:pt x="146303" y="275843"/>
                  </a:lnTo>
                </a:path>
              </a:pathLst>
            </a:custGeom>
            <a:ln w="32445">
              <a:solidFill>
                <a:srgbClr val="32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41403" y="2450100"/>
              <a:ext cx="130522" cy="9851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57974" y="1760220"/>
              <a:ext cx="96011" cy="115214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657974" y="1760220"/>
              <a:ext cx="96520" cy="1152525"/>
            </a:xfrm>
            <a:custGeom>
              <a:avLst/>
              <a:gdLst/>
              <a:ahLst/>
              <a:cxnLst/>
              <a:rect l="l" t="t" r="r" b="b"/>
              <a:pathLst>
                <a:path w="96519" h="1152525">
                  <a:moveTo>
                    <a:pt x="0" y="0"/>
                  </a:moveTo>
                  <a:lnTo>
                    <a:pt x="0" y="1152143"/>
                  </a:lnTo>
                  <a:lnTo>
                    <a:pt x="96011" y="1152143"/>
                  </a:lnTo>
                  <a:lnTo>
                    <a:pt x="96011" y="0"/>
                  </a:lnTo>
                  <a:lnTo>
                    <a:pt x="0" y="0"/>
                  </a:lnTo>
                  <a:close/>
                </a:path>
              </a:pathLst>
            </a:custGeom>
            <a:ln w="32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712582" y="1940052"/>
              <a:ext cx="0" cy="600710"/>
            </a:xfrm>
            <a:custGeom>
              <a:avLst/>
              <a:gdLst/>
              <a:ahLst/>
              <a:cxnLst/>
              <a:rect l="l" t="t" r="r" b="b"/>
              <a:pathLst>
                <a:path h="600710">
                  <a:moveTo>
                    <a:pt x="0" y="0"/>
                  </a:moveTo>
                  <a:lnTo>
                    <a:pt x="0" y="47243"/>
                  </a:lnTo>
                </a:path>
                <a:path h="600710">
                  <a:moveTo>
                    <a:pt x="0" y="80771"/>
                  </a:moveTo>
                  <a:lnTo>
                    <a:pt x="0" y="129539"/>
                  </a:lnTo>
                </a:path>
                <a:path h="600710">
                  <a:moveTo>
                    <a:pt x="0" y="178307"/>
                  </a:moveTo>
                  <a:lnTo>
                    <a:pt x="0" y="227075"/>
                  </a:lnTo>
                </a:path>
                <a:path h="600710">
                  <a:moveTo>
                    <a:pt x="0" y="275843"/>
                  </a:moveTo>
                  <a:lnTo>
                    <a:pt x="0" y="323087"/>
                  </a:lnTo>
                </a:path>
                <a:path h="600710">
                  <a:moveTo>
                    <a:pt x="0" y="371855"/>
                  </a:moveTo>
                  <a:lnTo>
                    <a:pt x="0" y="420623"/>
                  </a:lnTo>
                </a:path>
                <a:path h="600710">
                  <a:moveTo>
                    <a:pt x="0" y="469391"/>
                  </a:moveTo>
                  <a:lnTo>
                    <a:pt x="0" y="502919"/>
                  </a:lnTo>
                </a:path>
                <a:path h="600710">
                  <a:moveTo>
                    <a:pt x="0" y="551687"/>
                  </a:moveTo>
                  <a:lnTo>
                    <a:pt x="0" y="600455"/>
                  </a:lnTo>
                </a:path>
              </a:pathLst>
            </a:custGeom>
            <a:ln w="32445">
              <a:solidFill>
                <a:srgbClr val="32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27559" y="1883172"/>
              <a:ext cx="130522" cy="11223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08943" y="2159016"/>
              <a:ext cx="128998" cy="11223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25707" y="2450100"/>
              <a:ext cx="128998" cy="113758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114521" y="2544311"/>
            <a:ext cx="106970" cy="196472"/>
          </a:xfrm>
          <a:prstGeom prst="rect">
            <a:avLst/>
          </a:prstGeom>
        </p:spPr>
        <p:txBody>
          <a:bodyPr vert="horz" wrap="square" lIns="0" tIns="11692" rIns="0" bIns="0" rtlCol="0">
            <a:spAutoFit/>
          </a:bodyPr>
          <a:lstStyle/>
          <a:p>
            <a:pPr marL="11135">
              <a:spcBef>
                <a:spcPts val="92"/>
              </a:spcBef>
            </a:pPr>
            <a:r>
              <a:rPr sz="1200" i="1" spc="-44" dirty="0"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861290" y="1582787"/>
            <a:ext cx="1179924" cy="1075381"/>
            <a:chOff x="2176675" y="1743997"/>
            <a:chExt cx="1379855" cy="1184910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80087" y="1890792"/>
              <a:ext cx="80230" cy="6499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25814" y="1760220"/>
              <a:ext cx="114299" cy="115214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425814" y="1760220"/>
              <a:ext cx="114300" cy="1152525"/>
            </a:xfrm>
            <a:custGeom>
              <a:avLst/>
              <a:gdLst/>
              <a:ahLst/>
              <a:cxnLst/>
              <a:rect l="l" t="t" r="r" b="b"/>
              <a:pathLst>
                <a:path w="114300" h="1152525">
                  <a:moveTo>
                    <a:pt x="114299" y="0"/>
                  </a:moveTo>
                  <a:lnTo>
                    <a:pt x="0" y="0"/>
                  </a:lnTo>
                  <a:lnTo>
                    <a:pt x="0" y="1152143"/>
                  </a:lnTo>
                  <a:lnTo>
                    <a:pt x="112775" y="1152143"/>
                  </a:lnTo>
                  <a:lnTo>
                    <a:pt x="114299" y="0"/>
                  </a:lnTo>
                  <a:close/>
                </a:path>
              </a:pathLst>
            </a:custGeom>
            <a:ln w="32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88198" y="2482595"/>
              <a:ext cx="48895" cy="33655"/>
            </a:xfrm>
            <a:custGeom>
              <a:avLst/>
              <a:gdLst/>
              <a:ahLst/>
              <a:cxnLst/>
              <a:rect l="l" t="t" r="r" b="b"/>
              <a:pathLst>
                <a:path w="48894" h="33655">
                  <a:moveTo>
                    <a:pt x="48767" y="16763"/>
                  </a:moveTo>
                  <a:lnTo>
                    <a:pt x="46672" y="10286"/>
                  </a:lnTo>
                  <a:lnTo>
                    <a:pt x="41147" y="4952"/>
                  </a:lnTo>
                  <a:lnTo>
                    <a:pt x="33337" y="1333"/>
                  </a:lnTo>
                  <a:lnTo>
                    <a:pt x="24383" y="0"/>
                  </a:lnTo>
                  <a:lnTo>
                    <a:pt x="14787" y="1333"/>
                  </a:lnTo>
                  <a:lnTo>
                    <a:pt x="7048" y="4952"/>
                  </a:lnTo>
                  <a:lnTo>
                    <a:pt x="1881" y="10286"/>
                  </a:lnTo>
                  <a:lnTo>
                    <a:pt x="0" y="16763"/>
                  </a:lnTo>
                  <a:lnTo>
                    <a:pt x="1881" y="23240"/>
                  </a:lnTo>
                  <a:lnTo>
                    <a:pt x="7048" y="28574"/>
                  </a:lnTo>
                  <a:lnTo>
                    <a:pt x="14787" y="32194"/>
                  </a:lnTo>
                  <a:lnTo>
                    <a:pt x="24383" y="33527"/>
                  </a:lnTo>
                  <a:lnTo>
                    <a:pt x="33337" y="32194"/>
                  </a:lnTo>
                  <a:lnTo>
                    <a:pt x="41147" y="28574"/>
                  </a:lnTo>
                  <a:lnTo>
                    <a:pt x="46672" y="23240"/>
                  </a:lnTo>
                  <a:lnTo>
                    <a:pt x="48767" y="16763"/>
                  </a:lnTo>
                  <a:close/>
                </a:path>
              </a:pathLst>
            </a:custGeom>
            <a:solidFill>
              <a:srgbClr val="323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88198" y="2482595"/>
              <a:ext cx="48895" cy="33655"/>
            </a:xfrm>
            <a:custGeom>
              <a:avLst/>
              <a:gdLst/>
              <a:ahLst/>
              <a:cxnLst/>
              <a:rect l="l" t="t" r="r" b="b"/>
              <a:pathLst>
                <a:path w="48894" h="33655">
                  <a:moveTo>
                    <a:pt x="48767" y="16763"/>
                  </a:moveTo>
                  <a:lnTo>
                    <a:pt x="46672" y="10286"/>
                  </a:lnTo>
                  <a:lnTo>
                    <a:pt x="41147" y="4952"/>
                  </a:lnTo>
                  <a:lnTo>
                    <a:pt x="33337" y="1333"/>
                  </a:lnTo>
                  <a:lnTo>
                    <a:pt x="24383" y="0"/>
                  </a:lnTo>
                  <a:lnTo>
                    <a:pt x="14787" y="1333"/>
                  </a:lnTo>
                  <a:lnTo>
                    <a:pt x="7048" y="4952"/>
                  </a:lnTo>
                  <a:lnTo>
                    <a:pt x="1881" y="10286"/>
                  </a:lnTo>
                  <a:lnTo>
                    <a:pt x="0" y="16763"/>
                  </a:lnTo>
                  <a:lnTo>
                    <a:pt x="1881" y="23240"/>
                  </a:lnTo>
                  <a:lnTo>
                    <a:pt x="7048" y="28574"/>
                  </a:lnTo>
                  <a:lnTo>
                    <a:pt x="14787" y="32194"/>
                  </a:lnTo>
                  <a:lnTo>
                    <a:pt x="24383" y="33527"/>
                  </a:lnTo>
                  <a:lnTo>
                    <a:pt x="33337" y="32194"/>
                  </a:lnTo>
                  <a:lnTo>
                    <a:pt x="41147" y="28574"/>
                  </a:lnTo>
                  <a:lnTo>
                    <a:pt x="46672" y="23240"/>
                  </a:lnTo>
                  <a:lnTo>
                    <a:pt x="48767" y="16763"/>
                  </a:lnTo>
                  <a:close/>
                </a:path>
              </a:pathLst>
            </a:custGeom>
            <a:ln w="16222">
              <a:solidFill>
                <a:srgbClr val="32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192898" y="1857756"/>
              <a:ext cx="340360" cy="730250"/>
            </a:xfrm>
            <a:custGeom>
              <a:avLst/>
              <a:gdLst/>
              <a:ahLst/>
              <a:cxnLst/>
              <a:rect l="l" t="t" r="r" b="b"/>
              <a:pathLst>
                <a:path w="340360" h="730250">
                  <a:moveTo>
                    <a:pt x="0" y="82295"/>
                  </a:moveTo>
                  <a:lnTo>
                    <a:pt x="16763" y="48767"/>
                  </a:lnTo>
                  <a:lnTo>
                    <a:pt x="32003" y="16763"/>
                  </a:lnTo>
                  <a:lnTo>
                    <a:pt x="64007" y="0"/>
                  </a:lnTo>
                  <a:lnTo>
                    <a:pt x="80771" y="0"/>
                  </a:lnTo>
                  <a:lnTo>
                    <a:pt x="112775" y="0"/>
                  </a:lnTo>
                  <a:lnTo>
                    <a:pt x="129539" y="16763"/>
                  </a:lnTo>
                  <a:lnTo>
                    <a:pt x="146303" y="48767"/>
                  </a:lnTo>
                  <a:lnTo>
                    <a:pt x="178307" y="82295"/>
                  </a:lnTo>
                  <a:lnTo>
                    <a:pt x="195071" y="114299"/>
                  </a:lnTo>
                  <a:lnTo>
                    <a:pt x="210311" y="146303"/>
                  </a:lnTo>
                  <a:lnTo>
                    <a:pt x="243839" y="163067"/>
                  </a:lnTo>
                  <a:lnTo>
                    <a:pt x="259079" y="163067"/>
                  </a:lnTo>
                  <a:lnTo>
                    <a:pt x="275843" y="163067"/>
                  </a:lnTo>
                  <a:lnTo>
                    <a:pt x="307847" y="146303"/>
                  </a:lnTo>
                  <a:lnTo>
                    <a:pt x="324611" y="114299"/>
                  </a:lnTo>
                  <a:lnTo>
                    <a:pt x="339851" y="82295"/>
                  </a:lnTo>
                </a:path>
                <a:path w="340360" h="730250">
                  <a:moveTo>
                    <a:pt x="0" y="649223"/>
                  </a:moveTo>
                  <a:lnTo>
                    <a:pt x="16763" y="617219"/>
                  </a:lnTo>
                  <a:lnTo>
                    <a:pt x="32003" y="585215"/>
                  </a:lnTo>
                  <a:lnTo>
                    <a:pt x="64007" y="568451"/>
                  </a:lnTo>
                  <a:lnTo>
                    <a:pt x="80771" y="568451"/>
                  </a:lnTo>
                  <a:lnTo>
                    <a:pt x="112775" y="568451"/>
                  </a:lnTo>
                  <a:lnTo>
                    <a:pt x="129539" y="585215"/>
                  </a:lnTo>
                  <a:lnTo>
                    <a:pt x="146303" y="617219"/>
                  </a:lnTo>
                  <a:lnTo>
                    <a:pt x="178307" y="649223"/>
                  </a:lnTo>
                  <a:lnTo>
                    <a:pt x="195071" y="682751"/>
                  </a:lnTo>
                  <a:lnTo>
                    <a:pt x="210311" y="714755"/>
                  </a:lnTo>
                  <a:lnTo>
                    <a:pt x="243839" y="729995"/>
                  </a:lnTo>
                  <a:lnTo>
                    <a:pt x="259079" y="729995"/>
                  </a:lnTo>
                  <a:lnTo>
                    <a:pt x="275843" y="729995"/>
                  </a:lnTo>
                  <a:lnTo>
                    <a:pt x="307847" y="714755"/>
                  </a:lnTo>
                  <a:lnTo>
                    <a:pt x="324611" y="682751"/>
                  </a:lnTo>
                  <a:lnTo>
                    <a:pt x="339851" y="649223"/>
                  </a:lnTo>
                </a:path>
              </a:pathLst>
            </a:custGeom>
            <a:ln w="32445">
              <a:solidFill>
                <a:srgbClr val="32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365192" y="1277368"/>
            <a:ext cx="149323" cy="196472"/>
          </a:xfrm>
          <a:prstGeom prst="rect">
            <a:avLst/>
          </a:prstGeom>
        </p:spPr>
        <p:txBody>
          <a:bodyPr vert="horz" wrap="square" lIns="0" tIns="11692" rIns="0" bIns="0" rtlCol="0">
            <a:spAutoFit/>
          </a:bodyPr>
          <a:lstStyle/>
          <a:p>
            <a:pPr marL="11135">
              <a:spcBef>
                <a:spcPts val="92"/>
              </a:spcBef>
            </a:pPr>
            <a:r>
              <a:rPr sz="1200" i="1" spc="-44" dirty="0">
                <a:latin typeface="Times New Roman"/>
                <a:cs typeface="Times New Roman"/>
              </a:rPr>
              <a:t>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90295" y="1380541"/>
            <a:ext cx="70589" cy="133793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>
              <a:spcBef>
                <a:spcPts val="83"/>
              </a:spcBef>
            </a:pPr>
            <a:r>
              <a:rPr sz="800" spc="-44" dirty="0">
                <a:latin typeface="Times New Roman"/>
                <a:cs typeface="Times New Roman"/>
              </a:rPr>
              <a:t>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18579" y="1277368"/>
            <a:ext cx="149323" cy="196472"/>
          </a:xfrm>
          <a:prstGeom prst="rect">
            <a:avLst/>
          </a:prstGeom>
        </p:spPr>
        <p:txBody>
          <a:bodyPr vert="horz" wrap="square" lIns="0" tIns="11692" rIns="0" bIns="0" rtlCol="0">
            <a:spAutoFit/>
          </a:bodyPr>
          <a:lstStyle/>
          <a:p>
            <a:pPr marL="11135">
              <a:spcBef>
                <a:spcPts val="92"/>
              </a:spcBef>
            </a:pPr>
            <a:r>
              <a:rPr sz="1200" i="1" spc="-44" dirty="0">
                <a:latin typeface="Times New Roman"/>
                <a:cs typeface="Times New Roman"/>
              </a:rPr>
              <a:t>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043681" y="1380541"/>
            <a:ext cx="70589" cy="133793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11135">
              <a:spcBef>
                <a:spcPts val="83"/>
              </a:spcBef>
            </a:pPr>
            <a:r>
              <a:rPr sz="800" spc="-44" dirty="0">
                <a:latin typeface="Times New Roman"/>
                <a:cs typeface="Times New Roman"/>
              </a:rPr>
              <a:t>2</a:t>
            </a:r>
            <a:endParaRPr sz="8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595581" y="1642001"/>
            <a:ext cx="1429157" cy="958391"/>
            <a:chOff x="4204832" y="1809241"/>
            <a:chExt cx="1671320" cy="1056005"/>
          </a:xfrm>
        </p:grpSpPr>
        <p:sp>
          <p:nvSpPr>
            <p:cNvPr id="33" name="object 33"/>
            <p:cNvSpPr/>
            <p:nvPr/>
          </p:nvSpPr>
          <p:spPr>
            <a:xfrm>
              <a:off x="4221342" y="2653283"/>
              <a:ext cx="1621790" cy="195580"/>
            </a:xfrm>
            <a:custGeom>
              <a:avLst/>
              <a:gdLst/>
              <a:ahLst/>
              <a:cxnLst/>
              <a:rect l="l" t="t" r="r" b="b"/>
              <a:pathLst>
                <a:path w="1621789" h="195580">
                  <a:moveTo>
                    <a:pt x="0" y="80771"/>
                  </a:moveTo>
                  <a:lnTo>
                    <a:pt x="15239" y="65531"/>
                  </a:lnTo>
                  <a:lnTo>
                    <a:pt x="15239" y="48767"/>
                  </a:lnTo>
                  <a:lnTo>
                    <a:pt x="32003" y="48767"/>
                  </a:lnTo>
                  <a:lnTo>
                    <a:pt x="32003" y="32003"/>
                  </a:lnTo>
                  <a:lnTo>
                    <a:pt x="48767" y="32003"/>
                  </a:lnTo>
                  <a:lnTo>
                    <a:pt x="48767" y="16763"/>
                  </a:lnTo>
                  <a:lnTo>
                    <a:pt x="64007" y="16763"/>
                  </a:lnTo>
                  <a:lnTo>
                    <a:pt x="64007" y="0"/>
                  </a:lnTo>
                  <a:lnTo>
                    <a:pt x="80771" y="0"/>
                  </a:lnTo>
                  <a:lnTo>
                    <a:pt x="96011" y="0"/>
                  </a:lnTo>
                  <a:lnTo>
                    <a:pt x="112775" y="0"/>
                  </a:lnTo>
                  <a:lnTo>
                    <a:pt x="129539" y="0"/>
                  </a:lnTo>
                  <a:lnTo>
                    <a:pt x="129539" y="16763"/>
                  </a:lnTo>
                  <a:lnTo>
                    <a:pt x="144779" y="16763"/>
                  </a:lnTo>
                  <a:lnTo>
                    <a:pt x="144779" y="32003"/>
                  </a:lnTo>
                  <a:lnTo>
                    <a:pt x="161543" y="32003"/>
                  </a:lnTo>
                  <a:lnTo>
                    <a:pt x="161543" y="48767"/>
                  </a:lnTo>
                  <a:lnTo>
                    <a:pt x="178307" y="48767"/>
                  </a:lnTo>
                  <a:lnTo>
                    <a:pt x="178307" y="65531"/>
                  </a:lnTo>
                  <a:lnTo>
                    <a:pt x="178307" y="80771"/>
                  </a:lnTo>
                  <a:lnTo>
                    <a:pt x="193547" y="80771"/>
                  </a:lnTo>
                  <a:lnTo>
                    <a:pt x="193547" y="97535"/>
                  </a:lnTo>
                  <a:lnTo>
                    <a:pt x="210311" y="97535"/>
                  </a:lnTo>
                  <a:lnTo>
                    <a:pt x="210311" y="114299"/>
                  </a:lnTo>
                  <a:lnTo>
                    <a:pt x="227075" y="114299"/>
                  </a:lnTo>
                  <a:lnTo>
                    <a:pt x="227075" y="129539"/>
                  </a:lnTo>
                  <a:lnTo>
                    <a:pt x="227075" y="146303"/>
                  </a:lnTo>
                  <a:lnTo>
                    <a:pt x="242315" y="146303"/>
                  </a:lnTo>
                  <a:lnTo>
                    <a:pt x="242315" y="163067"/>
                  </a:lnTo>
                  <a:lnTo>
                    <a:pt x="259079" y="163067"/>
                  </a:lnTo>
                  <a:lnTo>
                    <a:pt x="275843" y="163067"/>
                  </a:lnTo>
                  <a:lnTo>
                    <a:pt x="275843" y="178307"/>
                  </a:lnTo>
                  <a:lnTo>
                    <a:pt x="291083" y="178307"/>
                  </a:lnTo>
                  <a:lnTo>
                    <a:pt x="307847" y="178307"/>
                  </a:lnTo>
                  <a:lnTo>
                    <a:pt x="324611" y="178307"/>
                  </a:lnTo>
                  <a:lnTo>
                    <a:pt x="339851" y="163067"/>
                  </a:lnTo>
                  <a:lnTo>
                    <a:pt x="356615" y="163067"/>
                  </a:lnTo>
                  <a:lnTo>
                    <a:pt x="356615" y="146303"/>
                  </a:lnTo>
                  <a:lnTo>
                    <a:pt x="371855" y="146303"/>
                  </a:lnTo>
                  <a:lnTo>
                    <a:pt x="371855" y="129539"/>
                  </a:lnTo>
                  <a:lnTo>
                    <a:pt x="388619" y="114299"/>
                  </a:lnTo>
                  <a:lnTo>
                    <a:pt x="388619" y="97535"/>
                  </a:lnTo>
                  <a:lnTo>
                    <a:pt x="405383" y="97535"/>
                  </a:lnTo>
                  <a:lnTo>
                    <a:pt x="405383" y="80771"/>
                  </a:lnTo>
                  <a:lnTo>
                    <a:pt x="420623" y="80771"/>
                  </a:lnTo>
                  <a:lnTo>
                    <a:pt x="420623" y="65531"/>
                  </a:lnTo>
                  <a:lnTo>
                    <a:pt x="420623" y="48767"/>
                  </a:lnTo>
                  <a:lnTo>
                    <a:pt x="437387" y="48767"/>
                  </a:lnTo>
                  <a:lnTo>
                    <a:pt x="437387" y="32003"/>
                  </a:lnTo>
                  <a:lnTo>
                    <a:pt x="454151" y="32003"/>
                  </a:lnTo>
                  <a:lnTo>
                    <a:pt x="454151" y="16763"/>
                  </a:lnTo>
                  <a:lnTo>
                    <a:pt x="469391" y="16763"/>
                  </a:lnTo>
                  <a:lnTo>
                    <a:pt x="469391" y="0"/>
                  </a:lnTo>
                  <a:lnTo>
                    <a:pt x="486155" y="0"/>
                  </a:lnTo>
                  <a:lnTo>
                    <a:pt x="502919" y="0"/>
                  </a:lnTo>
                  <a:lnTo>
                    <a:pt x="518159" y="0"/>
                  </a:lnTo>
                  <a:lnTo>
                    <a:pt x="534923" y="0"/>
                  </a:lnTo>
                  <a:lnTo>
                    <a:pt x="534923" y="16763"/>
                  </a:lnTo>
                  <a:lnTo>
                    <a:pt x="551687" y="16763"/>
                  </a:lnTo>
                  <a:lnTo>
                    <a:pt x="551687" y="32003"/>
                  </a:lnTo>
                  <a:lnTo>
                    <a:pt x="566927" y="32003"/>
                  </a:lnTo>
                  <a:lnTo>
                    <a:pt x="566927" y="48767"/>
                  </a:lnTo>
                  <a:lnTo>
                    <a:pt x="583691" y="48767"/>
                  </a:lnTo>
                  <a:lnTo>
                    <a:pt x="583691" y="65531"/>
                  </a:lnTo>
                  <a:lnTo>
                    <a:pt x="600455" y="80771"/>
                  </a:lnTo>
                  <a:lnTo>
                    <a:pt x="600455" y="97535"/>
                  </a:lnTo>
                  <a:lnTo>
                    <a:pt x="615695" y="97535"/>
                  </a:lnTo>
                  <a:lnTo>
                    <a:pt x="615695" y="114299"/>
                  </a:lnTo>
                  <a:lnTo>
                    <a:pt x="632459" y="114299"/>
                  </a:lnTo>
                  <a:lnTo>
                    <a:pt x="632459" y="129539"/>
                  </a:lnTo>
                  <a:lnTo>
                    <a:pt x="647699" y="129539"/>
                  </a:lnTo>
                  <a:lnTo>
                    <a:pt x="647699" y="146303"/>
                  </a:lnTo>
                  <a:lnTo>
                    <a:pt x="664463" y="163067"/>
                  </a:lnTo>
                  <a:lnTo>
                    <a:pt x="681227" y="163067"/>
                  </a:lnTo>
                  <a:lnTo>
                    <a:pt x="681227" y="178307"/>
                  </a:lnTo>
                  <a:lnTo>
                    <a:pt x="696467" y="178307"/>
                  </a:lnTo>
                  <a:lnTo>
                    <a:pt x="713231" y="178307"/>
                  </a:lnTo>
                  <a:lnTo>
                    <a:pt x="729995" y="178307"/>
                  </a:lnTo>
                  <a:lnTo>
                    <a:pt x="745235" y="178307"/>
                  </a:lnTo>
                  <a:lnTo>
                    <a:pt x="745235" y="163067"/>
                  </a:lnTo>
                  <a:lnTo>
                    <a:pt x="761999" y="163067"/>
                  </a:lnTo>
                  <a:lnTo>
                    <a:pt x="761999" y="146303"/>
                  </a:lnTo>
                  <a:lnTo>
                    <a:pt x="778763" y="146303"/>
                  </a:lnTo>
                  <a:lnTo>
                    <a:pt x="778763" y="129539"/>
                  </a:lnTo>
                  <a:lnTo>
                    <a:pt x="794003" y="129539"/>
                  </a:lnTo>
                  <a:lnTo>
                    <a:pt x="794003" y="114299"/>
                  </a:lnTo>
                  <a:lnTo>
                    <a:pt x="810767" y="97535"/>
                  </a:lnTo>
                  <a:lnTo>
                    <a:pt x="827531" y="80771"/>
                  </a:lnTo>
                  <a:lnTo>
                    <a:pt x="827531" y="65531"/>
                  </a:lnTo>
                  <a:lnTo>
                    <a:pt x="842771" y="65531"/>
                  </a:lnTo>
                  <a:lnTo>
                    <a:pt x="842771" y="48767"/>
                  </a:lnTo>
                  <a:lnTo>
                    <a:pt x="859535" y="32003"/>
                  </a:lnTo>
                  <a:lnTo>
                    <a:pt x="874775" y="32003"/>
                  </a:lnTo>
                  <a:lnTo>
                    <a:pt x="874775" y="16763"/>
                  </a:lnTo>
                  <a:lnTo>
                    <a:pt x="891539" y="16763"/>
                  </a:lnTo>
                  <a:lnTo>
                    <a:pt x="908303" y="16763"/>
                  </a:lnTo>
                  <a:lnTo>
                    <a:pt x="923543" y="16763"/>
                  </a:lnTo>
                  <a:lnTo>
                    <a:pt x="940307" y="32003"/>
                  </a:lnTo>
                  <a:lnTo>
                    <a:pt x="957071" y="32003"/>
                  </a:lnTo>
                  <a:lnTo>
                    <a:pt x="957071" y="48767"/>
                  </a:lnTo>
                  <a:lnTo>
                    <a:pt x="972311" y="48767"/>
                  </a:lnTo>
                  <a:lnTo>
                    <a:pt x="972311" y="65531"/>
                  </a:lnTo>
                  <a:lnTo>
                    <a:pt x="989075" y="65531"/>
                  </a:lnTo>
                  <a:lnTo>
                    <a:pt x="989075" y="80771"/>
                  </a:lnTo>
                  <a:lnTo>
                    <a:pt x="989075" y="97535"/>
                  </a:lnTo>
                  <a:lnTo>
                    <a:pt x="1005839" y="97535"/>
                  </a:lnTo>
                  <a:lnTo>
                    <a:pt x="1005839" y="114299"/>
                  </a:lnTo>
                  <a:lnTo>
                    <a:pt x="1021079" y="114299"/>
                  </a:lnTo>
                  <a:lnTo>
                    <a:pt x="1021079" y="129539"/>
                  </a:lnTo>
                  <a:lnTo>
                    <a:pt x="1037843" y="146303"/>
                  </a:lnTo>
                  <a:lnTo>
                    <a:pt x="1037843" y="163067"/>
                  </a:lnTo>
                  <a:lnTo>
                    <a:pt x="1054607" y="163067"/>
                  </a:lnTo>
                  <a:lnTo>
                    <a:pt x="1054607" y="178307"/>
                  </a:lnTo>
                  <a:lnTo>
                    <a:pt x="1069847" y="178307"/>
                  </a:lnTo>
                  <a:lnTo>
                    <a:pt x="1086611" y="195071"/>
                  </a:lnTo>
                  <a:lnTo>
                    <a:pt x="1103375" y="195071"/>
                  </a:lnTo>
                  <a:lnTo>
                    <a:pt x="1118615" y="195071"/>
                  </a:lnTo>
                  <a:lnTo>
                    <a:pt x="1135379" y="195071"/>
                  </a:lnTo>
                  <a:lnTo>
                    <a:pt x="1135379" y="178307"/>
                  </a:lnTo>
                  <a:lnTo>
                    <a:pt x="1150619" y="178307"/>
                  </a:lnTo>
                  <a:lnTo>
                    <a:pt x="1167383" y="163067"/>
                  </a:lnTo>
                  <a:lnTo>
                    <a:pt x="1184147" y="146303"/>
                  </a:lnTo>
                  <a:lnTo>
                    <a:pt x="1184147" y="129539"/>
                  </a:lnTo>
                  <a:lnTo>
                    <a:pt x="1199387" y="129539"/>
                  </a:lnTo>
                  <a:lnTo>
                    <a:pt x="1199387" y="114299"/>
                  </a:lnTo>
                  <a:lnTo>
                    <a:pt x="1216151" y="114299"/>
                  </a:lnTo>
                  <a:lnTo>
                    <a:pt x="1216151" y="97535"/>
                  </a:lnTo>
                  <a:lnTo>
                    <a:pt x="1232915" y="80771"/>
                  </a:lnTo>
                  <a:lnTo>
                    <a:pt x="1232915" y="65531"/>
                  </a:lnTo>
                  <a:lnTo>
                    <a:pt x="1248155" y="65531"/>
                  </a:lnTo>
                  <a:lnTo>
                    <a:pt x="1248155" y="48767"/>
                  </a:lnTo>
                  <a:lnTo>
                    <a:pt x="1264919" y="48767"/>
                  </a:lnTo>
                  <a:lnTo>
                    <a:pt x="1264919" y="32003"/>
                  </a:lnTo>
                  <a:lnTo>
                    <a:pt x="1281683" y="32003"/>
                  </a:lnTo>
                  <a:lnTo>
                    <a:pt x="1281683" y="16763"/>
                  </a:lnTo>
                  <a:lnTo>
                    <a:pt x="1296923" y="16763"/>
                  </a:lnTo>
                  <a:lnTo>
                    <a:pt x="1313687" y="16763"/>
                  </a:lnTo>
                  <a:lnTo>
                    <a:pt x="1330451" y="16763"/>
                  </a:lnTo>
                  <a:lnTo>
                    <a:pt x="1345691" y="16763"/>
                  </a:lnTo>
                  <a:lnTo>
                    <a:pt x="1345691" y="32003"/>
                  </a:lnTo>
                  <a:lnTo>
                    <a:pt x="1362455" y="32003"/>
                  </a:lnTo>
                  <a:lnTo>
                    <a:pt x="1362455" y="48767"/>
                  </a:lnTo>
                  <a:lnTo>
                    <a:pt x="1377695" y="48767"/>
                  </a:lnTo>
                  <a:lnTo>
                    <a:pt x="1377695" y="65531"/>
                  </a:lnTo>
                  <a:lnTo>
                    <a:pt x="1394459" y="65531"/>
                  </a:lnTo>
                  <a:lnTo>
                    <a:pt x="1394459" y="80771"/>
                  </a:lnTo>
                  <a:lnTo>
                    <a:pt x="1411223" y="97535"/>
                  </a:lnTo>
                  <a:lnTo>
                    <a:pt x="1411223" y="114299"/>
                  </a:lnTo>
                  <a:lnTo>
                    <a:pt x="1426463" y="114299"/>
                  </a:lnTo>
                  <a:lnTo>
                    <a:pt x="1426463" y="129539"/>
                  </a:lnTo>
                  <a:lnTo>
                    <a:pt x="1443227" y="129539"/>
                  </a:lnTo>
                  <a:lnTo>
                    <a:pt x="1443227" y="146303"/>
                  </a:lnTo>
                  <a:lnTo>
                    <a:pt x="1459991" y="163067"/>
                  </a:lnTo>
                  <a:lnTo>
                    <a:pt x="1475231" y="178307"/>
                  </a:lnTo>
                  <a:lnTo>
                    <a:pt x="1491995" y="178307"/>
                  </a:lnTo>
                  <a:lnTo>
                    <a:pt x="1491995" y="195071"/>
                  </a:lnTo>
                  <a:lnTo>
                    <a:pt x="1508759" y="195071"/>
                  </a:lnTo>
                  <a:lnTo>
                    <a:pt x="1523999" y="195071"/>
                  </a:lnTo>
                  <a:lnTo>
                    <a:pt x="1540763" y="195071"/>
                  </a:lnTo>
                  <a:lnTo>
                    <a:pt x="1557527" y="178307"/>
                  </a:lnTo>
                  <a:lnTo>
                    <a:pt x="1572767" y="178307"/>
                  </a:lnTo>
                  <a:lnTo>
                    <a:pt x="1572767" y="163067"/>
                  </a:lnTo>
                  <a:lnTo>
                    <a:pt x="1589531" y="163067"/>
                  </a:lnTo>
                  <a:lnTo>
                    <a:pt x="1589531" y="146303"/>
                  </a:lnTo>
                  <a:lnTo>
                    <a:pt x="1606295" y="129539"/>
                  </a:lnTo>
                  <a:lnTo>
                    <a:pt x="1621535" y="114299"/>
                  </a:lnTo>
                </a:path>
              </a:pathLst>
            </a:custGeom>
            <a:ln w="32445">
              <a:solidFill>
                <a:srgbClr val="00AA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21342" y="1825751"/>
              <a:ext cx="1638300" cy="161925"/>
            </a:xfrm>
            <a:custGeom>
              <a:avLst/>
              <a:gdLst/>
              <a:ahLst/>
              <a:cxnLst/>
              <a:rect l="l" t="t" r="r" b="b"/>
              <a:pathLst>
                <a:path w="1638300" h="161925">
                  <a:moveTo>
                    <a:pt x="0" y="129539"/>
                  </a:moveTo>
                  <a:lnTo>
                    <a:pt x="210311" y="65531"/>
                  </a:lnTo>
                  <a:lnTo>
                    <a:pt x="420623" y="32003"/>
                  </a:lnTo>
                  <a:lnTo>
                    <a:pt x="632459" y="0"/>
                  </a:lnTo>
                  <a:lnTo>
                    <a:pt x="827531" y="0"/>
                  </a:lnTo>
                  <a:lnTo>
                    <a:pt x="1037843" y="0"/>
                  </a:lnTo>
                  <a:lnTo>
                    <a:pt x="1232915" y="32003"/>
                  </a:lnTo>
                  <a:lnTo>
                    <a:pt x="1443227" y="80771"/>
                  </a:lnTo>
                  <a:lnTo>
                    <a:pt x="1638299" y="161543"/>
                  </a:lnTo>
                </a:path>
              </a:pathLst>
            </a:custGeom>
            <a:ln w="32445">
              <a:solidFill>
                <a:srgbClr val="EE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221342" y="2231135"/>
              <a:ext cx="1638300" cy="163195"/>
            </a:xfrm>
            <a:custGeom>
              <a:avLst/>
              <a:gdLst/>
              <a:ahLst/>
              <a:cxnLst/>
              <a:rect l="l" t="t" r="r" b="b"/>
              <a:pathLst>
                <a:path w="1638300" h="163194">
                  <a:moveTo>
                    <a:pt x="0" y="80771"/>
                  </a:moveTo>
                  <a:lnTo>
                    <a:pt x="112775" y="48767"/>
                  </a:lnTo>
                  <a:lnTo>
                    <a:pt x="227075" y="32003"/>
                  </a:lnTo>
                  <a:lnTo>
                    <a:pt x="324611" y="16763"/>
                  </a:lnTo>
                  <a:lnTo>
                    <a:pt x="437387" y="0"/>
                  </a:lnTo>
                  <a:lnTo>
                    <a:pt x="534923" y="0"/>
                  </a:lnTo>
                  <a:lnTo>
                    <a:pt x="632459" y="16763"/>
                  </a:lnTo>
                  <a:lnTo>
                    <a:pt x="729995" y="48767"/>
                  </a:lnTo>
                  <a:lnTo>
                    <a:pt x="827531" y="80771"/>
                  </a:lnTo>
                  <a:lnTo>
                    <a:pt x="923543" y="114299"/>
                  </a:lnTo>
                  <a:lnTo>
                    <a:pt x="1021079" y="129539"/>
                  </a:lnTo>
                  <a:lnTo>
                    <a:pt x="1118615" y="146303"/>
                  </a:lnTo>
                  <a:lnTo>
                    <a:pt x="1216151" y="163067"/>
                  </a:lnTo>
                  <a:lnTo>
                    <a:pt x="1313687" y="146303"/>
                  </a:lnTo>
                  <a:lnTo>
                    <a:pt x="1426463" y="129539"/>
                  </a:lnTo>
                  <a:lnTo>
                    <a:pt x="1523999" y="114299"/>
                  </a:lnTo>
                  <a:lnTo>
                    <a:pt x="1638299" y="80771"/>
                  </a:lnTo>
                </a:path>
              </a:pathLst>
            </a:custGeom>
            <a:ln w="32445">
              <a:solidFill>
                <a:srgbClr val="323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88270" y="1987295"/>
              <a:ext cx="715010" cy="195580"/>
            </a:xfrm>
            <a:custGeom>
              <a:avLst/>
              <a:gdLst/>
              <a:ahLst/>
              <a:cxnLst/>
              <a:rect l="l" t="t" r="r" b="b"/>
              <a:pathLst>
                <a:path w="715010" h="195580">
                  <a:moveTo>
                    <a:pt x="714755" y="195071"/>
                  </a:moveTo>
                  <a:lnTo>
                    <a:pt x="714755" y="0"/>
                  </a:lnTo>
                  <a:lnTo>
                    <a:pt x="0" y="0"/>
                  </a:lnTo>
                  <a:lnTo>
                    <a:pt x="0" y="195071"/>
                  </a:lnTo>
                  <a:lnTo>
                    <a:pt x="714755" y="1950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139668" y="1352057"/>
            <a:ext cx="370864" cy="196472"/>
          </a:xfrm>
          <a:prstGeom prst="rect">
            <a:avLst/>
          </a:prstGeom>
        </p:spPr>
        <p:txBody>
          <a:bodyPr vert="horz" wrap="square" lIns="0" tIns="11692" rIns="0" bIns="0" rtlCol="0">
            <a:spAutoFit/>
          </a:bodyPr>
          <a:lstStyle/>
          <a:p>
            <a:pPr marL="11135">
              <a:spcBef>
                <a:spcPts val="92"/>
              </a:spcBef>
            </a:pPr>
            <a:r>
              <a:rPr sz="1200" i="1" dirty="0">
                <a:solidFill>
                  <a:srgbClr val="EE0000"/>
                </a:solidFill>
                <a:latin typeface="Times New Roman"/>
                <a:cs typeface="Times New Roman"/>
              </a:rPr>
              <a:t>m </a:t>
            </a:r>
            <a:r>
              <a:rPr sz="1200" dirty="0">
                <a:solidFill>
                  <a:srgbClr val="EE0000"/>
                </a:solidFill>
                <a:latin typeface="Times New Roman"/>
                <a:cs typeface="Times New Roman"/>
              </a:rPr>
              <a:t>=</a:t>
            </a:r>
            <a:r>
              <a:rPr sz="1200" spc="-4" dirty="0">
                <a:solidFill>
                  <a:srgbClr val="EE0000"/>
                </a:solidFill>
                <a:latin typeface="Times New Roman"/>
                <a:cs typeface="Times New Roman"/>
              </a:rPr>
              <a:t> </a:t>
            </a:r>
            <a:r>
              <a:rPr sz="1200" spc="-44" dirty="0">
                <a:solidFill>
                  <a:srgbClr val="EE0000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97966" y="1764229"/>
            <a:ext cx="371950" cy="196472"/>
          </a:xfrm>
          <a:prstGeom prst="rect">
            <a:avLst/>
          </a:prstGeom>
        </p:spPr>
        <p:txBody>
          <a:bodyPr vert="horz" wrap="square" lIns="0" tIns="11692" rIns="0" bIns="0" rtlCol="0">
            <a:spAutoFit/>
          </a:bodyPr>
          <a:lstStyle/>
          <a:p>
            <a:pPr marL="11135">
              <a:spcBef>
                <a:spcPts val="92"/>
              </a:spcBef>
            </a:pPr>
            <a:r>
              <a:rPr sz="1200" i="1" dirty="0">
                <a:solidFill>
                  <a:srgbClr val="0000EE"/>
                </a:solidFill>
                <a:latin typeface="Times New Roman"/>
                <a:cs typeface="Times New Roman"/>
              </a:rPr>
              <a:t>m </a:t>
            </a:r>
            <a:r>
              <a:rPr sz="1200" dirty="0">
                <a:solidFill>
                  <a:srgbClr val="0000EE"/>
                </a:solidFill>
                <a:latin typeface="Times New Roman"/>
                <a:cs typeface="Times New Roman"/>
              </a:rPr>
              <a:t>=</a:t>
            </a:r>
            <a:r>
              <a:rPr sz="1200" spc="-4" dirty="0">
                <a:solidFill>
                  <a:srgbClr val="0000EE"/>
                </a:solidFill>
                <a:latin typeface="Times New Roman"/>
                <a:cs typeface="Times New Roman"/>
              </a:rPr>
              <a:t> </a:t>
            </a:r>
            <a:r>
              <a:rPr sz="1200" spc="-53" dirty="0">
                <a:solidFill>
                  <a:srgbClr val="0000EE"/>
                </a:solidFill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084933" y="2559525"/>
            <a:ext cx="370864" cy="196472"/>
          </a:xfrm>
          <a:prstGeom prst="rect">
            <a:avLst/>
          </a:prstGeom>
        </p:spPr>
        <p:txBody>
          <a:bodyPr vert="horz" wrap="square" lIns="0" tIns="11692" rIns="0" bIns="0" rtlCol="0">
            <a:spAutoFit/>
          </a:bodyPr>
          <a:lstStyle/>
          <a:p>
            <a:pPr marL="11135">
              <a:spcBef>
                <a:spcPts val="92"/>
              </a:spcBef>
            </a:pPr>
            <a:r>
              <a:rPr sz="1200" i="1" dirty="0">
                <a:solidFill>
                  <a:srgbClr val="00AA00"/>
                </a:solidFill>
                <a:latin typeface="Times New Roman"/>
                <a:cs typeface="Times New Roman"/>
              </a:rPr>
              <a:t>m </a:t>
            </a:r>
            <a:r>
              <a:rPr sz="1200" dirty="0">
                <a:solidFill>
                  <a:srgbClr val="00AA00"/>
                </a:solidFill>
                <a:latin typeface="Times New Roman"/>
                <a:cs typeface="Times New Roman"/>
              </a:rPr>
              <a:t>=</a:t>
            </a:r>
            <a:r>
              <a:rPr sz="1200" spc="-4" dirty="0">
                <a:solidFill>
                  <a:srgbClr val="00AA00"/>
                </a:solidFill>
                <a:latin typeface="Times New Roman"/>
                <a:cs typeface="Times New Roman"/>
              </a:rPr>
              <a:t> </a:t>
            </a:r>
            <a:r>
              <a:rPr sz="1200" spc="-44" dirty="0">
                <a:solidFill>
                  <a:srgbClr val="00AA00"/>
                </a:solidFill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482372" y="1450898"/>
            <a:ext cx="2358761" cy="1303596"/>
            <a:chOff x="6411330" y="1598675"/>
            <a:chExt cx="2758440" cy="1436370"/>
          </a:xfrm>
        </p:grpSpPr>
        <p:sp>
          <p:nvSpPr>
            <p:cNvPr id="41" name="object 41"/>
            <p:cNvSpPr/>
            <p:nvPr/>
          </p:nvSpPr>
          <p:spPr>
            <a:xfrm>
              <a:off x="6411330" y="1598675"/>
              <a:ext cx="178435" cy="227329"/>
            </a:xfrm>
            <a:custGeom>
              <a:avLst/>
              <a:gdLst/>
              <a:ahLst/>
              <a:cxnLst/>
              <a:rect l="l" t="t" r="r" b="b"/>
              <a:pathLst>
                <a:path w="178434" h="227330">
                  <a:moveTo>
                    <a:pt x="178307" y="227075"/>
                  </a:moveTo>
                  <a:lnTo>
                    <a:pt x="97535" y="0"/>
                  </a:lnTo>
                  <a:lnTo>
                    <a:pt x="0" y="227075"/>
                  </a:lnTo>
                  <a:lnTo>
                    <a:pt x="97535" y="112775"/>
                  </a:lnTo>
                  <a:lnTo>
                    <a:pt x="178307" y="2270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508866" y="1711451"/>
              <a:ext cx="0" cy="1217930"/>
            </a:xfrm>
            <a:custGeom>
              <a:avLst/>
              <a:gdLst/>
              <a:ahLst/>
              <a:cxnLst/>
              <a:rect l="l" t="t" r="r" b="b"/>
              <a:pathLst>
                <a:path h="1217930">
                  <a:moveTo>
                    <a:pt x="0" y="1217675"/>
                  </a:moveTo>
                  <a:lnTo>
                    <a:pt x="0" y="0"/>
                  </a:lnTo>
                </a:path>
              </a:pathLst>
            </a:custGeom>
            <a:ln w="32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925930" y="2831591"/>
              <a:ext cx="243840" cy="178435"/>
            </a:xfrm>
            <a:custGeom>
              <a:avLst/>
              <a:gdLst/>
              <a:ahLst/>
              <a:cxnLst/>
              <a:rect l="l" t="t" r="r" b="b"/>
              <a:pathLst>
                <a:path w="243840" h="178435">
                  <a:moveTo>
                    <a:pt x="243839" y="97535"/>
                  </a:moveTo>
                  <a:lnTo>
                    <a:pt x="0" y="0"/>
                  </a:lnTo>
                  <a:lnTo>
                    <a:pt x="112775" y="97535"/>
                  </a:lnTo>
                  <a:lnTo>
                    <a:pt x="0" y="178307"/>
                  </a:lnTo>
                  <a:lnTo>
                    <a:pt x="243839" y="975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508866" y="2929127"/>
              <a:ext cx="2546985" cy="0"/>
            </a:xfrm>
            <a:custGeom>
              <a:avLst/>
              <a:gdLst/>
              <a:ahLst/>
              <a:cxnLst/>
              <a:rect l="l" t="t" r="r" b="b"/>
              <a:pathLst>
                <a:path w="2546984">
                  <a:moveTo>
                    <a:pt x="0" y="0"/>
                  </a:moveTo>
                  <a:lnTo>
                    <a:pt x="2546603" y="0"/>
                  </a:lnTo>
                </a:path>
              </a:pathLst>
            </a:custGeom>
            <a:ln w="32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557634" y="1808987"/>
              <a:ext cx="762000" cy="1088390"/>
            </a:xfrm>
            <a:custGeom>
              <a:avLst/>
              <a:gdLst/>
              <a:ahLst/>
              <a:cxnLst/>
              <a:rect l="l" t="t" r="r" b="b"/>
              <a:pathLst>
                <a:path w="762000" h="1088389">
                  <a:moveTo>
                    <a:pt x="761999" y="1088135"/>
                  </a:moveTo>
                  <a:lnTo>
                    <a:pt x="664463" y="1071371"/>
                  </a:lnTo>
                  <a:lnTo>
                    <a:pt x="583691" y="1054607"/>
                  </a:lnTo>
                  <a:lnTo>
                    <a:pt x="518159" y="1039367"/>
                  </a:lnTo>
                  <a:lnTo>
                    <a:pt x="486155" y="1022603"/>
                  </a:lnTo>
                  <a:lnTo>
                    <a:pt x="486155" y="1007363"/>
                  </a:lnTo>
                  <a:lnTo>
                    <a:pt x="469391" y="973835"/>
                  </a:lnTo>
                  <a:lnTo>
                    <a:pt x="469391" y="941831"/>
                  </a:lnTo>
                  <a:lnTo>
                    <a:pt x="454151" y="876299"/>
                  </a:lnTo>
                  <a:lnTo>
                    <a:pt x="454151" y="731519"/>
                  </a:lnTo>
                  <a:lnTo>
                    <a:pt x="437387" y="633983"/>
                  </a:lnTo>
                  <a:lnTo>
                    <a:pt x="437387" y="324611"/>
                  </a:lnTo>
                  <a:lnTo>
                    <a:pt x="420623" y="243839"/>
                  </a:lnTo>
                  <a:lnTo>
                    <a:pt x="420623" y="33527"/>
                  </a:lnTo>
                  <a:lnTo>
                    <a:pt x="405383" y="16763"/>
                  </a:lnTo>
                  <a:lnTo>
                    <a:pt x="405383" y="0"/>
                  </a:lnTo>
                  <a:lnTo>
                    <a:pt x="388619" y="0"/>
                  </a:lnTo>
                  <a:lnTo>
                    <a:pt x="388619" y="65531"/>
                  </a:lnTo>
                  <a:lnTo>
                    <a:pt x="371855" y="114299"/>
                  </a:lnTo>
                  <a:lnTo>
                    <a:pt x="371855" y="324611"/>
                  </a:lnTo>
                  <a:lnTo>
                    <a:pt x="356615" y="422147"/>
                  </a:lnTo>
                  <a:lnTo>
                    <a:pt x="356615" y="536447"/>
                  </a:lnTo>
                  <a:lnTo>
                    <a:pt x="339851" y="633983"/>
                  </a:lnTo>
                  <a:lnTo>
                    <a:pt x="339851" y="731519"/>
                  </a:lnTo>
                  <a:lnTo>
                    <a:pt x="324611" y="812291"/>
                  </a:lnTo>
                  <a:lnTo>
                    <a:pt x="324611" y="876299"/>
                  </a:lnTo>
                  <a:lnTo>
                    <a:pt x="307847" y="941831"/>
                  </a:lnTo>
                  <a:lnTo>
                    <a:pt x="291083" y="990599"/>
                  </a:lnTo>
                  <a:lnTo>
                    <a:pt x="291083" y="1007363"/>
                  </a:lnTo>
                  <a:lnTo>
                    <a:pt x="275843" y="1039367"/>
                  </a:lnTo>
                  <a:lnTo>
                    <a:pt x="227075" y="1054607"/>
                  </a:lnTo>
                  <a:lnTo>
                    <a:pt x="178307" y="1071371"/>
                  </a:lnTo>
                  <a:lnTo>
                    <a:pt x="0" y="1071371"/>
                  </a:lnTo>
                  <a:lnTo>
                    <a:pt x="761999" y="108813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557634" y="1808987"/>
              <a:ext cx="762000" cy="1088390"/>
            </a:xfrm>
            <a:custGeom>
              <a:avLst/>
              <a:gdLst/>
              <a:ahLst/>
              <a:cxnLst/>
              <a:rect l="l" t="t" r="r" b="b"/>
              <a:pathLst>
                <a:path w="762000" h="1088389">
                  <a:moveTo>
                    <a:pt x="0" y="1071371"/>
                  </a:moveTo>
                  <a:lnTo>
                    <a:pt x="96011" y="1071371"/>
                  </a:lnTo>
                  <a:lnTo>
                    <a:pt x="178307" y="1071371"/>
                  </a:lnTo>
                  <a:lnTo>
                    <a:pt x="227075" y="1054607"/>
                  </a:lnTo>
                  <a:lnTo>
                    <a:pt x="275843" y="1039367"/>
                  </a:lnTo>
                  <a:lnTo>
                    <a:pt x="291083" y="1007363"/>
                  </a:lnTo>
                  <a:lnTo>
                    <a:pt x="291083" y="990599"/>
                  </a:lnTo>
                  <a:lnTo>
                    <a:pt x="307847" y="941831"/>
                  </a:lnTo>
                  <a:lnTo>
                    <a:pt x="324611" y="876299"/>
                  </a:lnTo>
                  <a:lnTo>
                    <a:pt x="324611" y="812291"/>
                  </a:lnTo>
                  <a:lnTo>
                    <a:pt x="339851" y="731519"/>
                  </a:lnTo>
                  <a:lnTo>
                    <a:pt x="339851" y="633983"/>
                  </a:lnTo>
                  <a:lnTo>
                    <a:pt x="356615" y="536447"/>
                  </a:lnTo>
                  <a:lnTo>
                    <a:pt x="356615" y="422147"/>
                  </a:lnTo>
                  <a:lnTo>
                    <a:pt x="371855" y="324611"/>
                  </a:lnTo>
                  <a:lnTo>
                    <a:pt x="371855" y="243839"/>
                  </a:lnTo>
                  <a:lnTo>
                    <a:pt x="371855" y="178307"/>
                  </a:lnTo>
                  <a:lnTo>
                    <a:pt x="371855" y="114299"/>
                  </a:lnTo>
                  <a:lnTo>
                    <a:pt x="388619" y="65531"/>
                  </a:lnTo>
                  <a:lnTo>
                    <a:pt x="388619" y="33527"/>
                  </a:lnTo>
                  <a:lnTo>
                    <a:pt x="388619" y="16763"/>
                  </a:lnTo>
                  <a:lnTo>
                    <a:pt x="388619" y="0"/>
                  </a:lnTo>
                  <a:lnTo>
                    <a:pt x="405383" y="0"/>
                  </a:lnTo>
                  <a:lnTo>
                    <a:pt x="405383" y="16763"/>
                  </a:lnTo>
                  <a:lnTo>
                    <a:pt x="420623" y="33527"/>
                  </a:lnTo>
                  <a:lnTo>
                    <a:pt x="420623" y="65531"/>
                  </a:lnTo>
                  <a:lnTo>
                    <a:pt x="420623" y="114299"/>
                  </a:lnTo>
                  <a:lnTo>
                    <a:pt x="420623" y="178307"/>
                  </a:lnTo>
                  <a:lnTo>
                    <a:pt x="420623" y="243839"/>
                  </a:lnTo>
                  <a:lnTo>
                    <a:pt x="437387" y="324611"/>
                  </a:lnTo>
                  <a:lnTo>
                    <a:pt x="437387" y="422147"/>
                  </a:lnTo>
                  <a:lnTo>
                    <a:pt x="437387" y="519683"/>
                  </a:lnTo>
                  <a:lnTo>
                    <a:pt x="437387" y="633983"/>
                  </a:lnTo>
                  <a:lnTo>
                    <a:pt x="454151" y="731519"/>
                  </a:lnTo>
                  <a:lnTo>
                    <a:pt x="454151" y="812291"/>
                  </a:lnTo>
                  <a:lnTo>
                    <a:pt x="454151" y="876299"/>
                  </a:lnTo>
                  <a:lnTo>
                    <a:pt x="469391" y="941831"/>
                  </a:lnTo>
                  <a:lnTo>
                    <a:pt x="469391" y="973835"/>
                  </a:lnTo>
                  <a:lnTo>
                    <a:pt x="486155" y="1007363"/>
                  </a:lnTo>
                  <a:lnTo>
                    <a:pt x="486155" y="1022603"/>
                  </a:lnTo>
                  <a:lnTo>
                    <a:pt x="518159" y="1039367"/>
                  </a:lnTo>
                  <a:lnTo>
                    <a:pt x="583691" y="1054607"/>
                  </a:lnTo>
                  <a:lnTo>
                    <a:pt x="664463" y="1071371"/>
                  </a:lnTo>
                  <a:lnTo>
                    <a:pt x="761999" y="1088135"/>
                  </a:lnTo>
                </a:path>
              </a:pathLst>
            </a:custGeom>
            <a:ln w="1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336398" y="1808987"/>
              <a:ext cx="745490" cy="1088390"/>
            </a:xfrm>
            <a:custGeom>
              <a:avLst/>
              <a:gdLst/>
              <a:ahLst/>
              <a:cxnLst/>
              <a:rect l="l" t="t" r="r" b="b"/>
              <a:pathLst>
                <a:path w="745490" h="1088389">
                  <a:moveTo>
                    <a:pt x="745235" y="1088135"/>
                  </a:moveTo>
                  <a:lnTo>
                    <a:pt x="647699" y="1071371"/>
                  </a:lnTo>
                  <a:lnTo>
                    <a:pt x="566927" y="1071371"/>
                  </a:lnTo>
                  <a:lnTo>
                    <a:pt x="518159" y="1054607"/>
                  </a:lnTo>
                  <a:lnTo>
                    <a:pt x="486155" y="1022603"/>
                  </a:lnTo>
                  <a:lnTo>
                    <a:pt x="469391" y="1007363"/>
                  </a:lnTo>
                  <a:lnTo>
                    <a:pt x="469391" y="990599"/>
                  </a:lnTo>
                  <a:lnTo>
                    <a:pt x="454151" y="941831"/>
                  </a:lnTo>
                  <a:lnTo>
                    <a:pt x="454151" y="876299"/>
                  </a:lnTo>
                  <a:lnTo>
                    <a:pt x="437387" y="812291"/>
                  </a:lnTo>
                  <a:lnTo>
                    <a:pt x="437387" y="633983"/>
                  </a:lnTo>
                  <a:lnTo>
                    <a:pt x="420623" y="536447"/>
                  </a:lnTo>
                  <a:lnTo>
                    <a:pt x="420623" y="178307"/>
                  </a:lnTo>
                  <a:lnTo>
                    <a:pt x="405383" y="114299"/>
                  </a:lnTo>
                  <a:lnTo>
                    <a:pt x="405383" y="33527"/>
                  </a:lnTo>
                  <a:lnTo>
                    <a:pt x="388619" y="0"/>
                  </a:lnTo>
                  <a:lnTo>
                    <a:pt x="371855" y="33527"/>
                  </a:lnTo>
                  <a:lnTo>
                    <a:pt x="371855" y="114299"/>
                  </a:lnTo>
                  <a:lnTo>
                    <a:pt x="356615" y="178307"/>
                  </a:lnTo>
                  <a:lnTo>
                    <a:pt x="356615" y="422147"/>
                  </a:lnTo>
                  <a:lnTo>
                    <a:pt x="339851" y="536447"/>
                  </a:lnTo>
                  <a:lnTo>
                    <a:pt x="339851" y="649223"/>
                  </a:lnTo>
                  <a:lnTo>
                    <a:pt x="324611" y="731519"/>
                  </a:lnTo>
                  <a:lnTo>
                    <a:pt x="324611" y="812291"/>
                  </a:lnTo>
                  <a:lnTo>
                    <a:pt x="307847" y="893063"/>
                  </a:lnTo>
                  <a:lnTo>
                    <a:pt x="307847" y="941831"/>
                  </a:lnTo>
                  <a:lnTo>
                    <a:pt x="291083" y="990599"/>
                  </a:lnTo>
                  <a:lnTo>
                    <a:pt x="259079" y="1039367"/>
                  </a:lnTo>
                  <a:lnTo>
                    <a:pt x="161543" y="1071371"/>
                  </a:lnTo>
                  <a:lnTo>
                    <a:pt x="80771" y="1088135"/>
                  </a:lnTo>
                  <a:lnTo>
                    <a:pt x="0" y="1088135"/>
                  </a:lnTo>
                  <a:lnTo>
                    <a:pt x="745235" y="108813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336398" y="1808987"/>
              <a:ext cx="745490" cy="1088390"/>
            </a:xfrm>
            <a:custGeom>
              <a:avLst/>
              <a:gdLst/>
              <a:ahLst/>
              <a:cxnLst/>
              <a:rect l="l" t="t" r="r" b="b"/>
              <a:pathLst>
                <a:path w="745490" h="1088389">
                  <a:moveTo>
                    <a:pt x="0" y="1088135"/>
                  </a:moveTo>
                  <a:lnTo>
                    <a:pt x="80771" y="1088135"/>
                  </a:lnTo>
                  <a:lnTo>
                    <a:pt x="161543" y="1071371"/>
                  </a:lnTo>
                  <a:lnTo>
                    <a:pt x="227075" y="1054607"/>
                  </a:lnTo>
                  <a:lnTo>
                    <a:pt x="275843" y="1022603"/>
                  </a:lnTo>
                  <a:lnTo>
                    <a:pt x="307847" y="941831"/>
                  </a:lnTo>
                  <a:lnTo>
                    <a:pt x="307847" y="893063"/>
                  </a:lnTo>
                  <a:lnTo>
                    <a:pt x="324611" y="812291"/>
                  </a:lnTo>
                  <a:lnTo>
                    <a:pt x="324611" y="731519"/>
                  </a:lnTo>
                  <a:lnTo>
                    <a:pt x="339851" y="649223"/>
                  </a:lnTo>
                  <a:lnTo>
                    <a:pt x="339851" y="536447"/>
                  </a:lnTo>
                  <a:lnTo>
                    <a:pt x="356615" y="422147"/>
                  </a:lnTo>
                  <a:lnTo>
                    <a:pt x="356615" y="324611"/>
                  </a:lnTo>
                  <a:lnTo>
                    <a:pt x="356615" y="243839"/>
                  </a:lnTo>
                  <a:lnTo>
                    <a:pt x="356615" y="178307"/>
                  </a:lnTo>
                  <a:lnTo>
                    <a:pt x="371855" y="114299"/>
                  </a:lnTo>
                  <a:lnTo>
                    <a:pt x="371855" y="82295"/>
                  </a:lnTo>
                  <a:lnTo>
                    <a:pt x="371855" y="48767"/>
                  </a:lnTo>
                  <a:lnTo>
                    <a:pt x="371855" y="33527"/>
                  </a:lnTo>
                  <a:lnTo>
                    <a:pt x="388619" y="0"/>
                  </a:lnTo>
                  <a:lnTo>
                    <a:pt x="405383" y="33527"/>
                  </a:lnTo>
                  <a:lnTo>
                    <a:pt x="405383" y="48767"/>
                  </a:lnTo>
                  <a:lnTo>
                    <a:pt x="405383" y="82295"/>
                  </a:lnTo>
                  <a:lnTo>
                    <a:pt x="405383" y="114299"/>
                  </a:lnTo>
                  <a:lnTo>
                    <a:pt x="420623" y="178307"/>
                  </a:lnTo>
                  <a:lnTo>
                    <a:pt x="420623" y="243839"/>
                  </a:lnTo>
                  <a:lnTo>
                    <a:pt x="420623" y="324611"/>
                  </a:lnTo>
                  <a:lnTo>
                    <a:pt x="420623" y="422147"/>
                  </a:lnTo>
                  <a:lnTo>
                    <a:pt x="420623" y="536447"/>
                  </a:lnTo>
                  <a:lnTo>
                    <a:pt x="437387" y="633983"/>
                  </a:lnTo>
                  <a:lnTo>
                    <a:pt x="437387" y="731519"/>
                  </a:lnTo>
                  <a:lnTo>
                    <a:pt x="437387" y="812291"/>
                  </a:lnTo>
                  <a:lnTo>
                    <a:pt x="454151" y="876299"/>
                  </a:lnTo>
                  <a:lnTo>
                    <a:pt x="454151" y="941831"/>
                  </a:lnTo>
                  <a:lnTo>
                    <a:pt x="469391" y="990599"/>
                  </a:lnTo>
                  <a:lnTo>
                    <a:pt x="469391" y="1007363"/>
                  </a:lnTo>
                  <a:lnTo>
                    <a:pt x="486155" y="1022603"/>
                  </a:lnTo>
                  <a:lnTo>
                    <a:pt x="518159" y="1054607"/>
                  </a:lnTo>
                  <a:lnTo>
                    <a:pt x="566927" y="1071371"/>
                  </a:lnTo>
                  <a:lnTo>
                    <a:pt x="647699" y="1071371"/>
                  </a:lnTo>
                  <a:lnTo>
                    <a:pt x="745235" y="1088135"/>
                  </a:lnTo>
                </a:path>
              </a:pathLst>
            </a:custGeom>
            <a:ln w="1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081634" y="1808987"/>
              <a:ext cx="763905" cy="1088390"/>
            </a:xfrm>
            <a:custGeom>
              <a:avLst/>
              <a:gdLst/>
              <a:ahLst/>
              <a:cxnLst/>
              <a:rect l="l" t="t" r="r" b="b"/>
              <a:pathLst>
                <a:path w="763904" h="1088389">
                  <a:moveTo>
                    <a:pt x="763523" y="1088135"/>
                  </a:moveTo>
                  <a:lnTo>
                    <a:pt x="649223" y="1088135"/>
                  </a:lnTo>
                  <a:lnTo>
                    <a:pt x="568451" y="1071371"/>
                  </a:lnTo>
                  <a:lnTo>
                    <a:pt x="519683" y="1054607"/>
                  </a:lnTo>
                  <a:lnTo>
                    <a:pt x="470915" y="1022603"/>
                  </a:lnTo>
                  <a:lnTo>
                    <a:pt x="470915" y="990599"/>
                  </a:lnTo>
                  <a:lnTo>
                    <a:pt x="454151" y="941831"/>
                  </a:lnTo>
                  <a:lnTo>
                    <a:pt x="454151" y="812291"/>
                  </a:lnTo>
                  <a:lnTo>
                    <a:pt x="438911" y="731519"/>
                  </a:lnTo>
                  <a:lnTo>
                    <a:pt x="438911" y="536447"/>
                  </a:lnTo>
                  <a:lnTo>
                    <a:pt x="422147" y="422147"/>
                  </a:lnTo>
                  <a:lnTo>
                    <a:pt x="422147" y="131063"/>
                  </a:lnTo>
                  <a:lnTo>
                    <a:pt x="405383" y="82295"/>
                  </a:lnTo>
                  <a:lnTo>
                    <a:pt x="405383" y="16763"/>
                  </a:lnTo>
                  <a:lnTo>
                    <a:pt x="390143" y="0"/>
                  </a:lnTo>
                  <a:lnTo>
                    <a:pt x="390143" y="33527"/>
                  </a:lnTo>
                  <a:lnTo>
                    <a:pt x="373379" y="48767"/>
                  </a:lnTo>
                  <a:lnTo>
                    <a:pt x="373379" y="178307"/>
                  </a:lnTo>
                  <a:lnTo>
                    <a:pt x="358139" y="260603"/>
                  </a:lnTo>
                  <a:lnTo>
                    <a:pt x="358139" y="536447"/>
                  </a:lnTo>
                  <a:lnTo>
                    <a:pt x="341375" y="649223"/>
                  </a:lnTo>
                  <a:lnTo>
                    <a:pt x="341375" y="746759"/>
                  </a:lnTo>
                  <a:lnTo>
                    <a:pt x="324611" y="827531"/>
                  </a:lnTo>
                  <a:lnTo>
                    <a:pt x="324611" y="893063"/>
                  </a:lnTo>
                  <a:lnTo>
                    <a:pt x="309371" y="941831"/>
                  </a:lnTo>
                  <a:lnTo>
                    <a:pt x="292607" y="990599"/>
                  </a:lnTo>
                  <a:lnTo>
                    <a:pt x="260603" y="1039367"/>
                  </a:lnTo>
                  <a:lnTo>
                    <a:pt x="163067" y="1071371"/>
                  </a:lnTo>
                  <a:lnTo>
                    <a:pt x="97535" y="1088135"/>
                  </a:lnTo>
                  <a:lnTo>
                    <a:pt x="0" y="1088135"/>
                  </a:lnTo>
                  <a:lnTo>
                    <a:pt x="763523" y="108813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081634" y="1808987"/>
              <a:ext cx="763905" cy="1088390"/>
            </a:xfrm>
            <a:custGeom>
              <a:avLst/>
              <a:gdLst/>
              <a:ahLst/>
              <a:cxnLst/>
              <a:rect l="l" t="t" r="r" b="b"/>
              <a:pathLst>
                <a:path w="763904" h="1088389">
                  <a:moveTo>
                    <a:pt x="0" y="1088135"/>
                  </a:moveTo>
                  <a:lnTo>
                    <a:pt x="97535" y="1088135"/>
                  </a:lnTo>
                  <a:lnTo>
                    <a:pt x="163067" y="1071371"/>
                  </a:lnTo>
                  <a:lnTo>
                    <a:pt x="227075" y="1054607"/>
                  </a:lnTo>
                  <a:lnTo>
                    <a:pt x="275843" y="1022603"/>
                  </a:lnTo>
                  <a:lnTo>
                    <a:pt x="309371" y="941831"/>
                  </a:lnTo>
                  <a:lnTo>
                    <a:pt x="324611" y="893063"/>
                  </a:lnTo>
                  <a:lnTo>
                    <a:pt x="324611" y="827531"/>
                  </a:lnTo>
                  <a:lnTo>
                    <a:pt x="341375" y="746759"/>
                  </a:lnTo>
                  <a:lnTo>
                    <a:pt x="341375" y="649223"/>
                  </a:lnTo>
                  <a:lnTo>
                    <a:pt x="358139" y="536447"/>
                  </a:lnTo>
                  <a:lnTo>
                    <a:pt x="358139" y="438911"/>
                  </a:lnTo>
                  <a:lnTo>
                    <a:pt x="358139" y="341375"/>
                  </a:lnTo>
                  <a:lnTo>
                    <a:pt x="358139" y="260603"/>
                  </a:lnTo>
                  <a:lnTo>
                    <a:pt x="373379" y="178307"/>
                  </a:lnTo>
                  <a:lnTo>
                    <a:pt x="373379" y="131063"/>
                  </a:lnTo>
                  <a:lnTo>
                    <a:pt x="373379" y="82295"/>
                  </a:lnTo>
                  <a:lnTo>
                    <a:pt x="373379" y="48767"/>
                  </a:lnTo>
                  <a:lnTo>
                    <a:pt x="390143" y="33527"/>
                  </a:lnTo>
                  <a:lnTo>
                    <a:pt x="390143" y="16763"/>
                  </a:lnTo>
                  <a:lnTo>
                    <a:pt x="390143" y="0"/>
                  </a:lnTo>
                  <a:lnTo>
                    <a:pt x="405383" y="16763"/>
                  </a:lnTo>
                  <a:lnTo>
                    <a:pt x="405383" y="33527"/>
                  </a:lnTo>
                  <a:lnTo>
                    <a:pt x="405383" y="48767"/>
                  </a:lnTo>
                  <a:lnTo>
                    <a:pt x="405383" y="82295"/>
                  </a:lnTo>
                  <a:lnTo>
                    <a:pt x="422147" y="131063"/>
                  </a:lnTo>
                  <a:lnTo>
                    <a:pt x="422147" y="178307"/>
                  </a:lnTo>
                  <a:lnTo>
                    <a:pt x="422147" y="260603"/>
                  </a:lnTo>
                  <a:lnTo>
                    <a:pt x="422147" y="341375"/>
                  </a:lnTo>
                  <a:lnTo>
                    <a:pt x="422147" y="422147"/>
                  </a:lnTo>
                  <a:lnTo>
                    <a:pt x="438911" y="536447"/>
                  </a:lnTo>
                  <a:lnTo>
                    <a:pt x="438911" y="649223"/>
                  </a:lnTo>
                  <a:lnTo>
                    <a:pt x="438911" y="731519"/>
                  </a:lnTo>
                  <a:lnTo>
                    <a:pt x="454151" y="812291"/>
                  </a:lnTo>
                  <a:lnTo>
                    <a:pt x="454151" y="893063"/>
                  </a:lnTo>
                  <a:lnTo>
                    <a:pt x="454151" y="941831"/>
                  </a:lnTo>
                  <a:lnTo>
                    <a:pt x="470915" y="990599"/>
                  </a:lnTo>
                  <a:lnTo>
                    <a:pt x="470915" y="1022603"/>
                  </a:lnTo>
                  <a:lnTo>
                    <a:pt x="487679" y="1039367"/>
                  </a:lnTo>
                  <a:lnTo>
                    <a:pt x="519683" y="1054607"/>
                  </a:lnTo>
                  <a:lnTo>
                    <a:pt x="568451" y="1071371"/>
                  </a:lnTo>
                  <a:lnTo>
                    <a:pt x="649223" y="1088135"/>
                  </a:lnTo>
                  <a:lnTo>
                    <a:pt x="763523" y="1088135"/>
                  </a:lnTo>
                </a:path>
              </a:pathLst>
            </a:custGeom>
            <a:ln w="1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276706" y="2328671"/>
              <a:ext cx="146685" cy="97790"/>
            </a:xfrm>
            <a:custGeom>
              <a:avLst/>
              <a:gdLst/>
              <a:ahLst/>
              <a:cxnLst/>
              <a:rect l="l" t="t" r="r" b="b"/>
              <a:pathLst>
                <a:path w="146684" h="97789">
                  <a:moveTo>
                    <a:pt x="146303" y="65531"/>
                  </a:moveTo>
                  <a:lnTo>
                    <a:pt x="0" y="0"/>
                  </a:lnTo>
                  <a:lnTo>
                    <a:pt x="80771" y="48767"/>
                  </a:lnTo>
                  <a:lnTo>
                    <a:pt x="0" y="97535"/>
                  </a:lnTo>
                  <a:lnTo>
                    <a:pt x="146303" y="655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115162" y="2377439"/>
              <a:ext cx="242570" cy="0"/>
            </a:xfrm>
            <a:custGeom>
              <a:avLst/>
              <a:gdLst/>
              <a:ahLst/>
              <a:cxnLst/>
              <a:rect l="l" t="t" r="r" b="b"/>
              <a:pathLst>
                <a:path w="242570">
                  <a:moveTo>
                    <a:pt x="242315" y="0"/>
                  </a:moveTo>
                  <a:lnTo>
                    <a:pt x="0" y="0"/>
                  </a:lnTo>
                </a:path>
              </a:pathLst>
            </a:custGeom>
            <a:ln w="1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520546" y="2328671"/>
              <a:ext cx="129539" cy="97790"/>
            </a:xfrm>
            <a:custGeom>
              <a:avLst/>
              <a:gdLst/>
              <a:ahLst/>
              <a:cxnLst/>
              <a:rect l="l" t="t" r="r" b="b"/>
              <a:pathLst>
                <a:path w="129540" h="97789">
                  <a:moveTo>
                    <a:pt x="129539" y="97535"/>
                  </a:moveTo>
                  <a:lnTo>
                    <a:pt x="64007" y="48767"/>
                  </a:lnTo>
                  <a:lnTo>
                    <a:pt x="129539" y="0"/>
                  </a:lnTo>
                  <a:lnTo>
                    <a:pt x="0" y="65531"/>
                  </a:lnTo>
                  <a:lnTo>
                    <a:pt x="129539" y="975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963018" y="2377439"/>
              <a:ext cx="1849120" cy="649605"/>
            </a:xfrm>
            <a:custGeom>
              <a:avLst/>
              <a:gdLst/>
              <a:ahLst/>
              <a:cxnLst/>
              <a:rect l="l" t="t" r="r" b="b"/>
              <a:pathLst>
                <a:path w="1849120" h="649605">
                  <a:moveTo>
                    <a:pt x="1848611" y="0"/>
                  </a:moveTo>
                  <a:lnTo>
                    <a:pt x="1621535" y="0"/>
                  </a:lnTo>
                </a:path>
                <a:path w="1849120" h="649605">
                  <a:moveTo>
                    <a:pt x="778763" y="551687"/>
                  </a:moveTo>
                  <a:lnTo>
                    <a:pt x="778763" y="649223"/>
                  </a:lnTo>
                </a:path>
                <a:path w="1849120" h="649605">
                  <a:moveTo>
                    <a:pt x="1523999" y="551687"/>
                  </a:moveTo>
                  <a:lnTo>
                    <a:pt x="1523999" y="649223"/>
                  </a:lnTo>
                </a:path>
                <a:path w="1849120" h="649605">
                  <a:moveTo>
                    <a:pt x="0" y="551687"/>
                  </a:moveTo>
                  <a:lnTo>
                    <a:pt x="0" y="632459"/>
                  </a:lnTo>
                </a:path>
              </a:pathLst>
            </a:custGeom>
            <a:ln w="1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5097506" y="1175017"/>
            <a:ext cx="1100647" cy="196472"/>
          </a:xfrm>
          <a:prstGeom prst="rect">
            <a:avLst/>
          </a:prstGeom>
        </p:spPr>
        <p:txBody>
          <a:bodyPr vert="horz" wrap="square" lIns="0" tIns="11692" rIns="0" bIns="0" rtlCol="0">
            <a:spAutoFit/>
          </a:bodyPr>
          <a:lstStyle/>
          <a:p>
            <a:pPr marL="11135">
              <a:spcBef>
                <a:spcPts val="92"/>
              </a:spcBef>
            </a:pPr>
            <a:r>
              <a:rPr sz="1200" dirty="0">
                <a:latin typeface="Times New Roman"/>
                <a:cs typeface="Times New Roman"/>
              </a:rPr>
              <a:t>Relative</a:t>
            </a:r>
            <a:r>
              <a:rPr sz="1200" spc="-22" dirty="0">
                <a:latin typeface="Times New Roman"/>
                <a:cs typeface="Times New Roman"/>
              </a:rPr>
              <a:t> </a:t>
            </a:r>
            <a:r>
              <a:rPr sz="1200" spc="-9" dirty="0">
                <a:latin typeface="Times New Roman"/>
                <a:cs typeface="Times New Roman"/>
              </a:rPr>
              <a:t>intensity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886317" y="2506042"/>
            <a:ext cx="110228" cy="215235"/>
          </a:xfrm>
          <a:prstGeom prst="rect">
            <a:avLst/>
          </a:prstGeom>
        </p:spPr>
        <p:txBody>
          <a:bodyPr vert="horz" wrap="square" lIns="0" tIns="15033" rIns="0" bIns="0" rtlCol="0">
            <a:spAutoFit/>
          </a:bodyPr>
          <a:lstStyle/>
          <a:p>
            <a:pPr marL="11135">
              <a:spcBef>
                <a:spcPts val="118"/>
              </a:spcBef>
            </a:pPr>
            <a:r>
              <a:rPr sz="1300" i="1" spc="-44" dirty="0">
                <a:latin typeface="DejaVu Sans Mono"/>
                <a:cs typeface="DejaVu Sans Mono"/>
              </a:rPr>
              <a:t>υ</a:t>
            </a:r>
            <a:endParaRPr sz="1300">
              <a:latin typeface="DejaVu Sans Mono"/>
              <a:cs typeface="DejaVu Sans Mono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532744" y="2712128"/>
            <a:ext cx="234030" cy="558918"/>
          </a:xfrm>
          <a:prstGeom prst="rect">
            <a:avLst/>
          </a:prstGeom>
        </p:spPr>
        <p:txBody>
          <a:bodyPr vert="horz" wrap="square" lIns="0" tIns="15033" rIns="0" bIns="0" rtlCol="0">
            <a:spAutoFit/>
          </a:bodyPr>
          <a:lstStyle/>
          <a:p>
            <a:pPr marL="33406">
              <a:spcBef>
                <a:spcPts val="118"/>
              </a:spcBef>
            </a:pPr>
            <a:r>
              <a:rPr sz="1300" i="1" spc="-22" dirty="0">
                <a:latin typeface="DejaVu Sans Mono"/>
                <a:cs typeface="DejaVu Sans Mono"/>
              </a:rPr>
              <a:t>υ</a:t>
            </a:r>
            <a:r>
              <a:rPr sz="1200" i="1" spc="-32" baseline="-24691" dirty="0">
                <a:latin typeface="Times New Roman"/>
                <a:cs typeface="Times New Roman"/>
              </a:rPr>
              <a:t>m</a:t>
            </a:r>
            <a:endParaRPr sz="1200" baseline="-24691">
              <a:latin typeface="Times New Roman"/>
              <a:cs typeface="Times New Roman"/>
            </a:endParaRPr>
          </a:p>
          <a:p>
            <a:pPr>
              <a:spcBef>
                <a:spcPts val="320"/>
              </a:spcBef>
            </a:pPr>
            <a:endParaRPr sz="800">
              <a:latin typeface="Times New Roman"/>
              <a:cs typeface="Times New Roman"/>
            </a:endParaRPr>
          </a:p>
          <a:p>
            <a:pPr marL="33406"/>
            <a:r>
              <a:rPr sz="1100" b="1" spc="-22" dirty="0">
                <a:latin typeface="Arial"/>
                <a:cs typeface="Arial"/>
              </a:rPr>
              <a:t>(c)</a:t>
            </a:r>
            <a:endParaRPr sz="11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170000" y="2756388"/>
            <a:ext cx="406159" cy="210105"/>
          </a:xfrm>
          <a:prstGeom prst="rect">
            <a:avLst/>
          </a:prstGeom>
        </p:spPr>
        <p:txBody>
          <a:bodyPr vert="horz" wrap="square" lIns="0" tIns="15033" rIns="0" bIns="0" rtlCol="0">
            <a:spAutoFit/>
          </a:bodyPr>
          <a:lstStyle/>
          <a:p>
            <a:pPr marL="33406">
              <a:spcBef>
                <a:spcPts val="118"/>
              </a:spcBef>
            </a:pPr>
            <a:r>
              <a:rPr sz="1900" i="1" baseline="15325" dirty="0">
                <a:latin typeface="DejaVu Sans Mono"/>
                <a:cs typeface="DejaVu Sans Mono"/>
              </a:rPr>
              <a:t>υ</a:t>
            </a:r>
            <a:r>
              <a:rPr sz="800" i="1" dirty="0">
                <a:latin typeface="Times New Roman"/>
                <a:cs typeface="Times New Roman"/>
              </a:rPr>
              <a:t>m</a:t>
            </a:r>
            <a:r>
              <a:rPr sz="800" i="1" spc="70" dirty="0">
                <a:latin typeface="Times New Roman"/>
                <a:cs typeface="Times New Roman"/>
              </a:rPr>
              <a:t> </a:t>
            </a:r>
            <a:r>
              <a:rPr sz="800" dirty="0">
                <a:latin typeface="Times New Roman"/>
                <a:cs typeface="Times New Roman"/>
              </a:rPr>
              <a:t>+</a:t>
            </a:r>
            <a:r>
              <a:rPr sz="800" spc="88" dirty="0">
                <a:latin typeface="Times New Roman"/>
                <a:cs typeface="Times New Roman"/>
              </a:rPr>
              <a:t> </a:t>
            </a:r>
            <a:r>
              <a:rPr sz="800" spc="-44" dirty="0">
                <a:latin typeface="Times New Roman"/>
                <a:cs typeface="Times New Roman"/>
              </a:rPr>
              <a:t>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838149" y="2756388"/>
            <a:ext cx="378466" cy="210105"/>
          </a:xfrm>
          <a:prstGeom prst="rect">
            <a:avLst/>
          </a:prstGeom>
        </p:spPr>
        <p:txBody>
          <a:bodyPr vert="horz" wrap="square" lIns="0" tIns="15033" rIns="0" bIns="0" rtlCol="0">
            <a:spAutoFit/>
          </a:bodyPr>
          <a:lstStyle/>
          <a:p>
            <a:pPr marL="33406">
              <a:spcBef>
                <a:spcPts val="118"/>
              </a:spcBef>
            </a:pPr>
            <a:r>
              <a:rPr sz="1900" i="1" baseline="15325" dirty="0">
                <a:latin typeface="DejaVu Sans Mono"/>
                <a:cs typeface="DejaVu Sans Mono"/>
              </a:rPr>
              <a:t>υ</a:t>
            </a:r>
            <a:r>
              <a:rPr sz="800" i="1" dirty="0">
                <a:latin typeface="Times New Roman"/>
                <a:cs typeface="Times New Roman"/>
              </a:rPr>
              <a:t>m</a:t>
            </a:r>
            <a:r>
              <a:rPr sz="800" i="1" spc="70" dirty="0">
                <a:latin typeface="Times New Roman"/>
                <a:cs typeface="Times New Roman"/>
              </a:rPr>
              <a:t> </a:t>
            </a:r>
            <a:r>
              <a:rPr sz="800" dirty="0">
                <a:latin typeface="Times New Roman"/>
                <a:cs typeface="Times New Roman"/>
              </a:rPr>
              <a:t>-</a:t>
            </a:r>
            <a:r>
              <a:rPr sz="800" spc="57" dirty="0">
                <a:latin typeface="Times New Roman"/>
                <a:cs typeface="Times New Roman"/>
              </a:rPr>
              <a:t> </a:t>
            </a:r>
            <a:r>
              <a:rPr sz="800" spc="-44" dirty="0">
                <a:latin typeface="Times New Roman"/>
                <a:cs typeface="Times New Roman"/>
              </a:rPr>
              <a:t>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072706" y="3059732"/>
            <a:ext cx="190590" cy="183332"/>
          </a:xfrm>
          <a:prstGeom prst="rect">
            <a:avLst/>
          </a:prstGeom>
        </p:spPr>
        <p:txBody>
          <a:bodyPr vert="horz" wrap="square" lIns="0" tIns="13919" rIns="0" bIns="0" rtlCol="0">
            <a:spAutoFit/>
          </a:bodyPr>
          <a:lstStyle/>
          <a:p>
            <a:pPr marL="11135">
              <a:spcBef>
                <a:spcPts val="110"/>
              </a:spcBef>
            </a:pPr>
            <a:r>
              <a:rPr sz="1100" b="1" spc="-22" dirty="0">
                <a:latin typeface="Arial"/>
                <a:cs typeface="Arial"/>
              </a:rPr>
              <a:t>(a)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3498087" y="1582787"/>
            <a:ext cx="1623005" cy="1075381"/>
            <a:chOff x="4090819" y="1743997"/>
            <a:chExt cx="1898014" cy="1184910"/>
          </a:xfrm>
        </p:grpSpPr>
        <p:pic>
          <p:nvPicPr>
            <p:cNvPr id="62" name="object 6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07042" y="1760220"/>
              <a:ext cx="97535" cy="1152143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4107042" y="1760220"/>
              <a:ext cx="97790" cy="1152525"/>
            </a:xfrm>
            <a:custGeom>
              <a:avLst/>
              <a:gdLst/>
              <a:ahLst/>
              <a:cxnLst/>
              <a:rect l="l" t="t" r="r" b="b"/>
              <a:pathLst>
                <a:path w="97789" h="1152525">
                  <a:moveTo>
                    <a:pt x="0" y="0"/>
                  </a:moveTo>
                  <a:lnTo>
                    <a:pt x="0" y="1152143"/>
                  </a:lnTo>
                  <a:lnTo>
                    <a:pt x="97535" y="1152143"/>
                  </a:lnTo>
                  <a:lnTo>
                    <a:pt x="97535" y="0"/>
                  </a:lnTo>
                  <a:lnTo>
                    <a:pt x="0" y="0"/>
                  </a:lnTo>
                  <a:close/>
                </a:path>
              </a:pathLst>
            </a:custGeom>
            <a:ln w="32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59642" y="1760220"/>
              <a:ext cx="112775" cy="1152143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5859642" y="1760220"/>
              <a:ext cx="113030" cy="1152525"/>
            </a:xfrm>
            <a:custGeom>
              <a:avLst/>
              <a:gdLst/>
              <a:ahLst/>
              <a:cxnLst/>
              <a:rect l="l" t="t" r="r" b="b"/>
              <a:pathLst>
                <a:path w="113029" h="1152525">
                  <a:moveTo>
                    <a:pt x="0" y="0"/>
                  </a:moveTo>
                  <a:lnTo>
                    <a:pt x="0" y="1152143"/>
                  </a:lnTo>
                  <a:lnTo>
                    <a:pt x="112775" y="1152143"/>
                  </a:lnTo>
                  <a:lnTo>
                    <a:pt x="112775" y="0"/>
                  </a:lnTo>
                  <a:lnTo>
                    <a:pt x="0" y="0"/>
                  </a:lnTo>
                  <a:close/>
                </a:path>
              </a:pathLst>
            </a:custGeom>
            <a:ln w="324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" name="object 66"/>
          <p:cNvGrpSpPr/>
          <p:nvPr/>
        </p:nvGrpSpPr>
        <p:grpSpPr>
          <a:xfrm>
            <a:off x="5586084" y="1620578"/>
            <a:ext cx="1984639" cy="750922"/>
            <a:chOff x="6532615" y="1785636"/>
            <a:chExt cx="2320925" cy="827405"/>
          </a:xfrm>
        </p:grpSpPr>
        <p:sp>
          <p:nvSpPr>
            <p:cNvPr id="67" name="object 67"/>
            <p:cNvSpPr/>
            <p:nvPr/>
          </p:nvSpPr>
          <p:spPr>
            <a:xfrm>
              <a:off x="6540870" y="1955292"/>
              <a:ext cx="341630" cy="632460"/>
            </a:xfrm>
            <a:custGeom>
              <a:avLst/>
              <a:gdLst/>
              <a:ahLst/>
              <a:cxnLst/>
              <a:rect l="l" t="t" r="r" b="b"/>
              <a:pathLst>
                <a:path w="341629" h="632460">
                  <a:moveTo>
                    <a:pt x="0" y="632459"/>
                  </a:moveTo>
                  <a:lnTo>
                    <a:pt x="48767" y="632459"/>
                  </a:lnTo>
                </a:path>
                <a:path w="341629" h="632460">
                  <a:moveTo>
                    <a:pt x="97535" y="617219"/>
                  </a:moveTo>
                  <a:lnTo>
                    <a:pt x="129539" y="600455"/>
                  </a:lnTo>
                </a:path>
                <a:path w="341629" h="632460">
                  <a:moveTo>
                    <a:pt x="161543" y="568451"/>
                  </a:moveTo>
                  <a:lnTo>
                    <a:pt x="195071" y="536447"/>
                  </a:lnTo>
                  <a:lnTo>
                    <a:pt x="195071" y="536447"/>
                  </a:lnTo>
                </a:path>
                <a:path w="341629" h="632460">
                  <a:moveTo>
                    <a:pt x="210311" y="487679"/>
                  </a:moveTo>
                  <a:lnTo>
                    <a:pt x="227075" y="454151"/>
                  </a:lnTo>
                  <a:lnTo>
                    <a:pt x="227075" y="454151"/>
                  </a:lnTo>
                </a:path>
                <a:path w="341629" h="632460">
                  <a:moveTo>
                    <a:pt x="243839" y="405383"/>
                  </a:moveTo>
                  <a:lnTo>
                    <a:pt x="259079" y="356615"/>
                  </a:lnTo>
                  <a:lnTo>
                    <a:pt x="259079" y="356615"/>
                  </a:lnTo>
                </a:path>
                <a:path w="341629" h="632460">
                  <a:moveTo>
                    <a:pt x="275843" y="307847"/>
                  </a:moveTo>
                  <a:lnTo>
                    <a:pt x="275843" y="260603"/>
                  </a:lnTo>
                </a:path>
                <a:path w="341629" h="632460">
                  <a:moveTo>
                    <a:pt x="292607" y="227075"/>
                  </a:moveTo>
                  <a:lnTo>
                    <a:pt x="292607" y="178307"/>
                  </a:lnTo>
                </a:path>
                <a:path w="341629" h="632460">
                  <a:moveTo>
                    <a:pt x="307847" y="129539"/>
                  </a:moveTo>
                  <a:lnTo>
                    <a:pt x="324611" y="80771"/>
                  </a:lnTo>
                  <a:lnTo>
                    <a:pt x="324611" y="80771"/>
                  </a:lnTo>
                </a:path>
                <a:path w="341629" h="632460">
                  <a:moveTo>
                    <a:pt x="324611" y="32003"/>
                  </a:moveTo>
                  <a:lnTo>
                    <a:pt x="341375" y="0"/>
                  </a:lnTo>
                </a:path>
              </a:pathLst>
            </a:custGeom>
            <a:ln w="1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89375" y="1785636"/>
              <a:ext cx="162526" cy="194530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7043790" y="1857756"/>
              <a:ext cx="632460" cy="730250"/>
            </a:xfrm>
            <a:custGeom>
              <a:avLst/>
              <a:gdLst/>
              <a:ahLst/>
              <a:cxnLst/>
              <a:rect l="l" t="t" r="r" b="b"/>
              <a:pathLst>
                <a:path w="632459" h="730250">
                  <a:moveTo>
                    <a:pt x="0" y="163067"/>
                  </a:moveTo>
                  <a:lnTo>
                    <a:pt x="0" y="178307"/>
                  </a:lnTo>
                  <a:lnTo>
                    <a:pt x="16763" y="211835"/>
                  </a:lnTo>
                </a:path>
                <a:path w="632459" h="730250">
                  <a:moveTo>
                    <a:pt x="16763" y="260603"/>
                  </a:moveTo>
                  <a:lnTo>
                    <a:pt x="16763" y="309371"/>
                  </a:lnTo>
                </a:path>
                <a:path w="632459" h="730250">
                  <a:moveTo>
                    <a:pt x="32003" y="358139"/>
                  </a:moveTo>
                  <a:lnTo>
                    <a:pt x="32003" y="390143"/>
                  </a:lnTo>
                </a:path>
                <a:path w="632459" h="730250">
                  <a:moveTo>
                    <a:pt x="48767" y="438911"/>
                  </a:moveTo>
                  <a:lnTo>
                    <a:pt x="48767" y="454151"/>
                  </a:lnTo>
                  <a:lnTo>
                    <a:pt x="65531" y="487679"/>
                  </a:lnTo>
                </a:path>
                <a:path w="632459" h="730250">
                  <a:moveTo>
                    <a:pt x="65531" y="536447"/>
                  </a:moveTo>
                  <a:lnTo>
                    <a:pt x="80771" y="568451"/>
                  </a:lnTo>
                  <a:lnTo>
                    <a:pt x="80771" y="585215"/>
                  </a:lnTo>
                </a:path>
                <a:path w="632459" h="730250">
                  <a:moveTo>
                    <a:pt x="97535" y="617219"/>
                  </a:moveTo>
                  <a:lnTo>
                    <a:pt x="97535" y="633983"/>
                  </a:lnTo>
                  <a:lnTo>
                    <a:pt x="129539" y="665987"/>
                  </a:lnTo>
                </a:path>
                <a:path w="632459" h="730250">
                  <a:moveTo>
                    <a:pt x="161543" y="697991"/>
                  </a:moveTo>
                  <a:lnTo>
                    <a:pt x="195071" y="714755"/>
                  </a:lnTo>
                </a:path>
                <a:path w="632459" h="730250">
                  <a:moveTo>
                    <a:pt x="243839" y="729995"/>
                  </a:moveTo>
                  <a:lnTo>
                    <a:pt x="275843" y="729995"/>
                  </a:lnTo>
                  <a:lnTo>
                    <a:pt x="307847" y="729995"/>
                  </a:lnTo>
                </a:path>
                <a:path w="632459" h="730250">
                  <a:moveTo>
                    <a:pt x="356615" y="714755"/>
                  </a:moveTo>
                  <a:lnTo>
                    <a:pt x="405383" y="697991"/>
                  </a:lnTo>
                </a:path>
                <a:path w="632459" h="730250">
                  <a:moveTo>
                    <a:pt x="437387" y="665987"/>
                  </a:moveTo>
                  <a:lnTo>
                    <a:pt x="470915" y="633983"/>
                  </a:lnTo>
                  <a:lnTo>
                    <a:pt x="470915" y="633983"/>
                  </a:lnTo>
                </a:path>
                <a:path w="632459" h="730250">
                  <a:moveTo>
                    <a:pt x="486155" y="585215"/>
                  </a:moveTo>
                  <a:lnTo>
                    <a:pt x="502919" y="551687"/>
                  </a:lnTo>
                  <a:lnTo>
                    <a:pt x="502919" y="536447"/>
                  </a:lnTo>
                </a:path>
                <a:path w="632459" h="730250">
                  <a:moveTo>
                    <a:pt x="519683" y="502919"/>
                  </a:moveTo>
                  <a:lnTo>
                    <a:pt x="519683" y="454151"/>
                  </a:lnTo>
                  <a:lnTo>
                    <a:pt x="519683" y="454151"/>
                  </a:lnTo>
                </a:path>
                <a:path w="632459" h="730250">
                  <a:moveTo>
                    <a:pt x="534923" y="405383"/>
                  </a:moveTo>
                  <a:lnTo>
                    <a:pt x="551687" y="358139"/>
                  </a:lnTo>
                </a:path>
                <a:path w="632459" h="730250">
                  <a:moveTo>
                    <a:pt x="551687" y="309371"/>
                  </a:moveTo>
                  <a:lnTo>
                    <a:pt x="568451" y="275843"/>
                  </a:lnTo>
                </a:path>
                <a:path w="632459" h="730250">
                  <a:moveTo>
                    <a:pt x="583691" y="227075"/>
                  </a:moveTo>
                  <a:lnTo>
                    <a:pt x="583691" y="178307"/>
                  </a:lnTo>
                  <a:lnTo>
                    <a:pt x="583691" y="178307"/>
                  </a:lnTo>
                </a:path>
                <a:path w="632459" h="730250">
                  <a:moveTo>
                    <a:pt x="600455" y="129539"/>
                  </a:moveTo>
                  <a:lnTo>
                    <a:pt x="617219" y="82295"/>
                  </a:lnTo>
                </a:path>
                <a:path w="632459" h="730250">
                  <a:moveTo>
                    <a:pt x="617219" y="48767"/>
                  </a:moveTo>
                  <a:lnTo>
                    <a:pt x="632459" y="0"/>
                  </a:lnTo>
                </a:path>
                <a:path w="632459" h="730250">
                  <a:moveTo>
                    <a:pt x="632459" y="16763"/>
                  </a:moveTo>
                  <a:lnTo>
                    <a:pt x="632459" y="0"/>
                  </a:lnTo>
                </a:path>
              </a:pathLst>
            </a:custGeom>
            <a:ln w="1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00143" y="1785636"/>
              <a:ext cx="113758" cy="194530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7822554" y="1955292"/>
              <a:ext cx="584200" cy="649605"/>
            </a:xfrm>
            <a:custGeom>
              <a:avLst/>
              <a:gdLst/>
              <a:ahLst/>
              <a:cxnLst/>
              <a:rect l="l" t="t" r="r" b="b"/>
              <a:pathLst>
                <a:path w="584200" h="649605">
                  <a:moveTo>
                    <a:pt x="0" y="65531"/>
                  </a:moveTo>
                  <a:lnTo>
                    <a:pt x="0" y="80771"/>
                  </a:lnTo>
                  <a:lnTo>
                    <a:pt x="0" y="114299"/>
                  </a:lnTo>
                </a:path>
                <a:path w="584200" h="649605">
                  <a:moveTo>
                    <a:pt x="0" y="163067"/>
                  </a:moveTo>
                  <a:lnTo>
                    <a:pt x="16763" y="211835"/>
                  </a:lnTo>
                </a:path>
                <a:path w="584200" h="649605">
                  <a:moveTo>
                    <a:pt x="16763" y="243839"/>
                  </a:moveTo>
                  <a:lnTo>
                    <a:pt x="32003" y="292607"/>
                  </a:lnTo>
                </a:path>
                <a:path w="584200" h="649605">
                  <a:moveTo>
                    <a:pt x="32003" y="341375"/>
                  </a:moveTo>
                  <a:lnTo>
                    <a:pt x="48767" y="356615"/>
                  </a:lnTo>
                  <a:lnTo>
                    <a:pt x="48767" y="390143"/>
                  </a:lnTo>
                </a:path>
                <a:path w="584200" h="649605">
                  <a:moveTo>
                    <a:pt x="65531" y="438911"/>
                  </a:moveTo>
                  <a:lnTo>
                    <a:pt x="65531" y="454151"/>
                  </a:lnTo>
                  <a:lnTo>
                    <a:pt x="80771" y="487679"/>
                  </a:lnTo>
                </a:path>
                <a:path w="584200" h="649605">
                  <a:moveTo>
                    <a:pt x="97535" y="519683"/>
                  </a:moveTo>
                  <a:lnTo>
                    <a:pt x="97535" y="536447"/>
                  </a:lnTo>
                  <a:lnTo>
                    <a:pt x="112775" y="568451"/>
                  </a:lnTo>
                </a:path>
                <a:path w="584200" h="649605">
                  <a:moveTo>
                    <a:pt x="146303" y="600455"/>
                  </a:moveTo>
                  <a:lnTo>
                    <a:pt x="195071" y="617219"/>
                  </a:lnTo>
                </a:path>
                <a:path w="584200" h="649605">
                  <a:moveTo>
                    <a:pt x="243839" y="632459"/>
                  </a:moveTo>
                  <a:lnTo>
                    <a:pt x="275843" y="632459"/>
                  </a:lnTo>
                </a:path>
                <a:path w="584200" h="649605">
                  <a:moveTo>
                    <a:pt x="243839" y="649223"/>
                  </a:moveTo>
                  <a:lnTo>
                    <a:pt x="292607" y="632459"/>
                  </a:lnTo>
                </a:path>
                <a:path w="584200" h="649605">
                  <a:moveTo>
                    <a:pt x="324611" y="632459"/>
                  </a:moveTo>
                  <a:lnTo>
                    <a:pt x="373379" y="600455"/>
                  </a:lnTo>
                </a:path>
                <a:path w="584200" h="649605">
                  <a:moveTo>
                    <a:pt x="405383" y="568451"/>
                  </a:moveTo>
                  <a:lnTo>
                    <a:pt x="437387" y="536447"/>
                  </a:lnTo>
                  <a:lnTo>
                    <a:pt x="437387" y="536447"/>
                  </a:lnTo>
                </a:path>
                <a:path w="584200" h="649605">
                  <a:moveTo>
                    <a:pt x="454151" y="487679"/>
                  </a:moveTo>
                  <a:lnTo>
                    <a:pt x="470915" y="470915"/>
                  </a:lnTo>
                  <a:lnTo>
                    <a:pt x="470915" y="454151"/>
                  </a:lnTo>
                </a:path>
                <a:path w="584200" h="649605">
                  <a:moveTo>
                    <a:pt x="486155" y="405383"/>
                  </a:moveTo>
                  <a:lnTo>
                    <a:pt x="502919" y="356615"/>
                  </a:lnTo>
                  <a:lnTo>
                    <a:pt x="502919" y="356615"/>
                  </a:lnTo>
                </a:path>
                <a:path w="584200" h="649605">
                  <a:moveTo>
                    <a:pt x="502919" y="307847"/>
                  </a:moveTo>
                  <a:lnTo>
                    <a:pt x="519683" y="275843"/>
                  </a:lnTo>
                </a:path>
                <a:path w="584200" h="649605">
                  <a:moveTo>
                    <a:pt x="534923" y="227075"/>
                  </a:moveTo>
                  <a:lnTo>
                    <a:pt x="534923" y="178307"/>
                  </a:lnTo>
                </a:path>
                <a:path w="584200" h="649605">
                  <a:moveTo>
                    <a:pt x="551687" y="129539"/>
                  </a:moveTo>
                  <a:lnTo>
                    <a:pt x="551687" y="97535"/>
                  </a:lnTo>
                  <a:lnTo>
                    <a:pt x="551687" y="80771"/>
                  </a:lnTo>
                </a:path>
                <a:path w="584200" h="649605">
                  <a:moveTo>
                    <a:pt x="568451" y="48767"/>
                  </a:moveTo>
                  <a:lnTo>
                    <a:pt x="583691" y="0"/>
                  </a:lnTo>
                </a:path>
              </a:pathLst>
            </a:custGeom>
            <a:ln w="1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14899" y="1785636"/>
              <a:ext cx="128998" cy="128998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8552551" y="1940052"/>
              <a:ext cx="292735" cy="647700"/>
            </a:xfrm>
            <a:custGeom>
              <a:avLst/>
              <a:gdLst/>
              <a:ahLst/>
              <a:cxnLst/>
              <a:rect l="l" t="t" r="r" b="b"/>
              <a:pathLst>
                <a:path w="292734" h="647700">
                  <a:moveTo>
                    <a:pt x="0" y="0"/>
                  </a:moveTo>
                  <a:lnTo>
                    <a:pt x="0" y="0"/>
                  </a:lnTo>
                  <a:lnTo>
                    <a:pt x="0" y="47243"/>
                  </a:lnTo>
                </a:path>
                <a:path w="292734" h="647700">
                  <a:moveTo>
                    <a:pt x="16763" y="80771"/>
                  </a:moveTo>
                  <a:lnTo>
                    <a:pt x="16763" y="96011"/>
                  </a:lnTo>
                  <a:lnTo>
                    <a:pt x="16763" y="129539"/>
                  </a:lnTo>
                </a:path>
                <a:path w="292734" h="647700">
                  <a:moveTo>
                    <a:pt x="32003" y="178307"/>
                  </a:moveTo>
                  <a:lnTo>
                    <a:pt x="32003" y="227075"/>
                  </a:lnTo>
                </a:path>
                <a:path w="292734" h="647700">
                  <a:moveTo>
                    <a:pt x="48767" y="275843"/>
                  </a:moveTo>
                  <a:lnTo>
                    <a:pt x="48767" y="323087"/>
                  </a:lnTo>
                </a:path>
                <a:path w="292734" h="647700">
                  <a:moveTo>
                    <a:pt x="65531" y="356615"/>
                  </a:moveTo>
                  <a:lnTo>
                    <a:pt x="65531" y="371855"/>
                  </a:lnTo>
                  <a:lnTo>
                    <a:pt x="65531" y="405383"/>
                  </a:lnTo>
                </a:path>
                <a:path w="292734" h="647700">
                  <a:moveTo>
                    <a:pt x="80771" y="454151"/>
                  </a:moveTo>
                  <a:lnTo>
                    <a:pt x="80771" y="486155"/>
                  </a:lnTo>
                  <a:lnTo>
                    <a:pt x="97535" y="502919"/>
                  </a:lnTo>
                </a:path>
                <a:path w="292734" h="647700">
                  <a:moveTo>
                    <a:pt x="114299" y="551687"/>
                  </a:moveTo>
                  <a:lnTo>
                    <a:pt x="114299" y="551687"/>
                  </a:lnTo>
                  <a:lnTo>
                    <a:pt x="129539" y="583691"/>
                  </a:lnTo>
                </a:path>
                <a:path w="292734" h="647700">
                  <a:moveTo>
                    <a:pt x="178307" y="615695"/>
                  </a:moveTo>
                  <a:lnTo>
                    <a:pt x="210311" y="632459"/>
                  </a:lnTo>
                </a:path>
                <a:path w="292734" h="647700">
                  <a:moveTo>
                    <a:pt x="259079" y="647699"/>
                  </a:moveTo>
                  <a:lnTo>
                    <a:pt x="292607" y="647699"/>
                  </a:lnTo>
                </a:path>
                <a:path w="292734" h="647700">
                  <a:moveTo>
                    <a:pt x="48767" y="323087"/>
                  </a:moveTo>
                  <a:lnTo>
                    <a:pt x="227075" y="144779"/>
                  </a:lnTo>
                </a:path>
              </a:pathLst>
            </a:custGeom>
            <a:ln w="1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7530982" y="1677332"/>
            <a:ext cx="529961" cy="556008"/>
          </a:xfrm>
          <a:prstGeom prst="rect">
            <a:avLst/>
          </a:prstGeom>
        </p:spPr>
        <p:txBody>
          <a:bodyPr vert="horz" wrap="square" lIns="0" tIns="80731" rIns="0" bIns="0" rtlCol="0">
            <a:spAutoFit/>
          </a:bodyPr>
          <a:lstStyle/>
          <a:p>
            <a:pPr marL="33406">
              <a:spcBef>
                <a:spcPts val="636"/>
              </a:spcBef>
            </a:pPr>
            <a:r>
              <a:rPr sz="1200" i="1" dirty="0">
                <a:latin typeface="Arial"/>
                <a:cs typeface="Arial"/>
              </a:rPr>
              <a:t>R</a:t>
            </a:r>
            <a:r>
              <a:rPr sz="1200" i="1" spc="-1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~</a:t>
            </a:r>
            <a:r>
              <a:rPr sz="1200" spc="26" dirty="0">
                <a:latin typeface="Arial"/>
                <a:cs typeface="Arial"/>
              </a:rPr>
              <a:t> </a:t>
            </a:r>
            <a:r>
              <a:rPr sz="1200" spc="-22" dirty="0">
                <a:latin typeface="Times New Roman"/>
                <a:cs typeface="Times New Roman"/>
              </a:rPr>
              <a:t>0.4</a:t>
            </a:r>
            <a:endParaRPr sz="1200">
              <a:latin typeface="Times New Roman"/>
              <a:cs typeface="Times New Roman"/>
            </a:endParaRPr>
          </a:p>
          <a:p>
            <a:pPr marL="47882">
              <a:spcBef>
                <a:spcPts val="609"/>
              </a:spcBef>
            </a:pPr>
            <a:r>
              <a:rPr sz="1300" i="1" spc="-22" dirty="0">
                <a:latin typeface="DejaVu Sans Mono"/>
                <a:cs typeface="DejaVu Sans Mono"/>
              </a:rPr>
              <a:t>δυ</a:t>
            </a:r>
            <a:r>
              <a:rPr sz="1200" i="1" spc="-32" baseline="-24691" dirty="0">
                <a:latin typeface="Times New Roman"/>
                <a:cs typeface="Times New Roman"/>
              </a:rPr>
              <a:t>m</a:t>
            </a:r>
            <a:endParaRPr sz="1200" baseline="-24691">
              <a:latin typeface="Times New Roman"/>
              <a:cs typeface="Times New Roman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5468038" y="1479944"/>
            <a:ext cx="2032422" cy="479484"/>
            <a:chOff x="6394566" y="1630679"/>
            <a:chExt cx="2376805" cy="528320"/>
          </a:xfrm>
        </p:grpSpPr>
        <p:sp>
          <p:nvSpPr>
            <p:cNvPr id="76" name="object 76"/>
            <p:cNvSpPr/>
            <p:nvPr/>
          </p:nvSpPr>
          <p:spPr>
            <a:xfrm>
              <a:off x="6394566" y="1808987"/>
              <a:ext cx="2368550" cy="341630"/>
            </a:xfrm>
            <a:custGeom>
              <a:avLst/>
              <a:gdLst/>
              <a:ahLst/>
              <a:cxnLst/>
              <a:rect l="l" t="t" r="r" b="b"/>
              <a:pathLst>
                <a:path w="2368550" h="341630">
                  <a:moveTo>
                    <a:pt x="2077211" y="341375"/>
                  </a:moveTo>
                  <a:lnTo>
                    <a:pt x="2368295" y="48767"/>
                  </a:lnTo>
                </a:path>
                <a:path w="2368550" h="341630">
                  <a:moveTo>
                    <a:pt x="0" y="0"/>
                  </a:moveTo>
                  <a:lnTo>
                    <a:pt x="114299" y="0"/>
                  </a:lnTo>
                </a:path>
              </a:pathLst>
            </a:custGeom>
            <a:ln w="1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946252" y="1711451"/>
              <a:ext cx="795655" cy="97790"/>
            </a:xfrm>
            <a:custGeom>
              <a:avLst/>
              <a:gdLst/>
              <a:ahLst/>
              <a:cxnLst/>
              <a:rect l="l" t="t" r="r" b="b"/>
              <a:pathLst>
                <a:path w="795654" h="97789">
                  <a:moveTo>
                    <a:pt x="129540" y="0"/>
                  </a:moveTo>
                  <a:lnTo>
                    <a:pt x="0" y="48768"/>
                  </a:lnTo>
                  <a:lnTo>
                    <a:pt x="129540" y="97536"/>
                  </a:lnTo>
                  <a:lnTo>
                    <a:pt x="65532" y="48768"/>
                  </a:lnTo>
                  <a:lnTo>
                    <a:pt x="129540" y="0"/>
                  </a:lnTo>
                  <a:close/>
                </a:path>
                <a:path w="795654" h="97789">
                  <a:moveTo>
                    <a:pt x="795528" y="48768"/>
                  </a:moveTo>
                  <a:lnTo>
                    <a:pt x="649224" y="0"/>
                  </a:lnTo>
                  <a:lnTo>
                    <a:pt x="729996" y="48768"/>
                  </a:lnTo>
                  <a:lnTo>
                    <a:pt x="649224" y="97536"/>
                  </a:lnTo>
                  <a:lnTo>
                    <a:pt x="795528" y="487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011786" y="1760219"/>
              <a:ext cx="664845" cy="0"/>
            </a:xfrm>
            <a:custGeom>
              <a:avLst/>
              <a:gdLst/>
              <a:ahLst/>
              <a:cxnLst/>
              <a:rect l="l" t="t" r="r" b="b"/>
              <a:pathLst>
                <a:path w="664845">
                  <a:moveTo>
                    <a:pt x="0" y="0"/>
                  </a:moveTo>
                  <a:lnTo>
                    <a:pt x="178307" y="0"/>
                  </a:lnTo>
                </a:path>
                <a:path w="664845">
                  <a:moveTo>
                    <a:pt x="502919" y="0"/>
                  </a:moveTo>
                  <a:lnTo>
                    <a:pt x="664463" y="0"/>
                  </a:lnTo>
                </a:path>
              </a:pathLst>
            </a:custGeom>
            <a:ln w="162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190094" y="1630679"/>
              <a:ext cx="325120" cy="243840"/>
            </a:xfrm>
            <a:custGeom>
              <a:avLst/>
              <a:gdLst/>
              <a:ahLst/>
              <a:cxnLst/>
              <a:rect l="l" t="t" r="r" b="b"/>
              <a:pathLst>
                <a:path w="325120" h="243839">
                  <a:moveTo>
                    <a:pt x="324611" y="243839"/>
                  </a:moveTo>
                  <a:lnTo>
                    <a:pt x="324611" y="0"/>
                  </a:lnTo>
                  <a:lnTo>
                    <a:pt x="0" y="0"/>
                  </a:lnTo>
                  <a:lnTo>
                    <a:pt x="0" y="243839"/>
                  </a:lnTo>
                  <a:lnTo>
                    <a:pt x="324611" y="2438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7552701" y="1513883"/>
            <a:ext cx="486522" cy="196472"/>
          </a:xfrm>
          <a:prstGeom prst="rect">
            <a:avLst/>
          </a:prstGeom>
        </p:spPr>
        <p:txBody>
          <a:bodyPr vert="horz" wrap="square" lIns="0" tIns="11692" rIns="0" bIns="0" rtlCol="0">
            <a:spAutoFit/>
          </a:bodyPr>
          <a:lstStyle/>
          <a:p>
            <a:pPr marL="11135">
              <a:spcBef>
                <a:spcPts val="92"/>
              </a:spcBef>
            </a:pPr>
            <a:r>
              <a:rPr sz="1200" i="1" dirty="0">
                <a:latin typeface="Arial"/>
                <a:cs typeface="Arial"/>
              </a:rPr>
              <a:t>R</a:t>
            </a:r>
            <a:r>
              <a:rPr sz="1200" i="1" spc="-1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~</a:t>
            </a:r>
            <a:r>
              <a:rPr sz="1200" spc="26" dirty="0">
                <a:latin typeface="Arial"/>
                <a:cs typeface="Arial"/>
              </a:rPr>
              <a:t> </a:t>
            </a:r>
            <a:r>
              <a:rPr sz="1200" spc="-22" dirty="0">
                <a:latin typeface="Times New Roman"/>
                <a:cs typeface="Times New Roman"/>
              </a:rPr>
              <a:t>0.8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333382" y="1527714"/>
            <a:ext cx="98282" cy="196472"/>
          </a:xfrm>
          <a:prstGeom prst="rect">
            <a:avLst/>
          </a:prstGeom>
        </p:spPr>
        <p:txBody>
          <a:bodyPr vert="horz" wrap="square" lIns="0" tIns="11692" rIns="0" bIns="0" rtlCol="0">
            <a:spAutoFit/>
          </a:bodyPr>
          <a:lstStyle/>
          <a:p>
            <a:pPr marL="11135">
              <a:spcBef>
                <a:spcPts val="92"/>
              </a:spcBef>
            </a:pPr>
            <a:r>
              <a:rPr sz="1200" spc="-44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130061" y="1474231"/>
            <a:ext cx="175930" cy="215235"/>
          </a:xfrm>
          <a:prstGeom prst="rect">
            <a:avLst/>
          </a:prstGeom>
        </p:spPr>
        <p:txBody>
          <a:bodyPr vert="horz" wrap="square" lIns="0" tIns="15033" rIns="0" bIns="0" rtlCol="0">
            <a:spAutoFit/>
          </a:bodyPr>
          <a:lstStyle/>
          <a:p>
            <a:pPr marL="33406">
              <a:spcBef>
                <a:spcPts val="118"/>
              </a:spcBef>
            </a:pPr>
            <a:r>
              <a:rPr sz="1300" i="1" spc="-22" dirty="0">
                <a:latin typeface="DejaVu Sans Mono"/>
                <a:cs typeface="DejaVu Sans Mono"/>
              </a:rPr>
              <a:t>υ</a:t>
            </a:r>
            <a:r>
              <a:rPr sz="1200" i="1" spc="-32" baseline="-24691" dirty="0">
                <a:latin typeface="Times New Roman"/>
                <a:cs typeface="Times New Roman"/>
              </a:rPr>
              <a:t>f</a:t>
            </a:r>
            <a:endParaRPr sz="1200" baseline="-24691">
              <a:latin typeface="Times New Roman"/>
              <a:cs typeface="Times New Roman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661904" y="3428769"/>
            <a:ext cx="7819097" cy="3112034"/>
            <a:chOff x="774060" y="3777996"/>
            <a:chExt cx="9144000" cy="3429000"/>
          </a:xfrm>
        </p:grpSpPr>
        <p:sp>
          <p:nvSpPr>
            <p:cNvPr id="84" name="object 84"/>
            <p:cNvSpPr/>
            <p:nvPr/>
          </p:nvSpPr>
          <p:spPr>
            <a:xfrm>
              <a:off x="774060" y="3777996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3993" y="3428993"/>
                  </a:moveTo>
                  <a:lnTo>
                    <a:pt x="9143993" y="0"/>
                  </a:lnTo>
                  <a:lnTo>
                    <a:pt x="0" y="0"/>
                  </a:lnTo>
                  <a:lnTo>
                    <a:pt x="0" y="3428993"/>
                  </a:lnTo>
                  <a:lnTo>
                    <a:pt x="9143993" y="34289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312782" y="5967983"/>
              <a:ext cx="2519680" cy="0"/>
            </a:xfrm>
            <a:custGeom>
              <a:avLst/>
              <a:gdLst/>
              <a:ahLst/>
              <a:cxnLst/>
              <a:rect l="l" t="t" r="r" b="b"/>
              <a:pathLst>
                <a:path w="2519679">
                  <a:moveTo>
                    <a:pt x="0" y="0"/>
                  </a:moveTo>
                  <a:lnTo>
                    <a:pt x="2519171" y="0"/>
                  </a:lnTo>
                </a:path>
              </a:pathLst>
            </a:custGeom>
            <a:ln w="120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3669652" y="5412658"/>
            <a:ext cx="2194234" cy="626235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33406">
              <a:spcBef>
                <a:spcPts val="83"/>
              </a:spcBef>
            </a:pPr>
            <a:r>
              <a:rPr sz="2000" dirty="0">
                <a:latin typeface="Times New Roman"/>
                <a:cs typeface="Times New Roman"/>
              </a:rPr>
              <a:t>(1</a:t>
            </a:r>
            <a:r>
              <a:rPr sz="2000" dirty="0">
                <a:latin typeface="FreeSerif"/>
                <a:cs typeface="FreeSerif"/>
              </a:rPr>
              <a:t>−</a:t>
            </a:r>
            <a:r>
              <a:rPr sz="2000" spc="-57" dirty="0">
                <a:latin typeface="FreeSerif"/>
                <a:cs typeface="FreeSerif"/>
              </a:rPr>
              <a:t> </a:t>
            </a:r>
            <a:r>
              <a:rPr sz="2000" i="1" spc="53" dirty="0">
                <a:latin typeface="Times New Roman"/>
                <a:cs typeface="Times New Roman"/>
              </a:rPr>
              <a:t>R</a:t>
            </a:r>
            <a:r>
              <a:rPr sz="2000" spc="53" dirty="0">
                <a:latin typeface="Times New Roman"/>
                <a:cs typeface="Times New Roman"/>
              </a:rPr>
              <a:t>)</a:t>
            </a:r>
            <a:r>
              <a:rPr sz="1700" spc="78" baseline="42735" dirty="0">
                <a:latin typeface="Times New Roman"/>
                <a:cs typeface="Times New Roman"/>
              </a:rPr>
              <a:t>2</a:t>
            </a:r>
            <a:r>
              <a:rPr sz="1700" spc="460" baseline="42735" dirty="0">
                <a:latin typeface="Times New Roman"/>
                <a:cs typeface="Times New Roman"/>
              </a:rPr>
              <a:t> </a:t>
            </a:r>
            <a:r>
              <a:rPr sz="2000" spc="-53" dirty="0">
                <a:latin typeface="FreeSerif"/>
                <a:cs typeface="FreeSerif"/>
              </a:rPr>
              <a:t>+</a:t>
            </a:r>
            <a:r>
              <a:rPr sz="2000" spc="-92" dirty="0">
                <a:latin typeface="FreeSerif"/>
                <a:cs typeface="FreeSerif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</a:t>
            </a:r>
            <a:r>
              <a:rPr sz="2000" i="1" dirty="0">
                <a:latin typeface="Times New Roman"/>
                <a:cs typeface="Times New Roman"/>
              </a:rPr>
              <a:t>R</a:t>
            </a:r>
            <a:r>
              <a:rPr sz="2000" i="1" spc="-228" dirty="0">
                <a:latin typeface="Times New Roman"/>
                <a:cs typeface="Times New Roman"/>
              </a:rPr>
              <a:t> </a:t>
            </a:r>
            <a:r>
              <a:rPr sz="2000" spc="-18" dirty="0">
                <a:latin typeface="Times New Roman"/>
                <a:cs typeface="Times New Roman"/>
              </a:rPr>
              <a:t>sin</a:t>
            </a:r>
            <a:r>
              <a:rPr sz="2000" spc="-307" dirty="0">
                <a:latin typeface="Times New Roman"/>
                <a:cs typeface="Times New Roman"/>
              </a:rPr>
              <a:t> </a:t>
            </a:r>
            <a:r>
              <a:rPr sz="1700" baseline="42735" dirty="0">
                <a:latin typeface="Times New Roman"/>
                <a:cs typeface="Times New Roman"/>
              </a:rPr>
              <a:t>2</a:t>
            </a:r>
            <a:r>
              <a:rPr sz="1700" spc="-59" baseline="42735" dirty="0">
                <a:latin typeface="Times New Roman"/>
                <a:cs typeface="Times New Roman"/>
              </a:rPr>
              <a:t> </a:t>
            </a:r>
            <a:r>
              <a:rPr sz="2000" spc="-18" dirty="0">
                <a:latin typeface="Times New Roman"/>
                <a:cs typeface="Times New Roman"/>
              </a:rPr>
              <a:t>(</a:t>
            </a:r>
            <a:r>
              <a:rPr sz="2000" i="1" spc="-18" dirty="0">
                <a:latin typeface="Times New Roman"/>
                <a:cs typeface="Times New Roman"/>
              </a:rPr>
              <a:t>kL</a:t>
            </a:r>
            <a:r>
              <a:rPr sz="2000" spc="-18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980306" y="3574816"/>
            <a:ext cx="7016554" cy="1757667"/>
          </a:xfrm>
          <a:prstGeom prst="rect">
            <a:avLst/>
          </a:prstGeom>
        </p:spPr>
        <p:txBody>
          <a:bodyPr vert="horz" wrap="square" lIns="0" tIns="26168" rIns="0" bIns="0" rtlCol="0">
            <a:spAutoFit/>
          </a:bodyPr>
          <a:lstStyle/>
          <a:p>
            <a:pPr marL="22271" marR="15590">
              <a:lnSpc>
                <a:spcPct val="95400"/>
              </a:lnSpc>
              <a:spcBef>
                <a:spcPts val="206"/>
              </a:spcBef>
            </a:pPr>
            <a:r>
              <a:rPr sz="1500" dirty="0">
                <a:latin typeface="Times New Roman"/>
                <a:cs typeface="Times New Roman"/>
              </a:rPr>
              <a:t>Schematic</a:t>
            </a:r>
            <a:r>
              <a:rPr sz="1500" spc="61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illustration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61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Fabry-Perot</a:t>
            </a:r>
            <a:r>
              <a:rPr sz="1500" spc="61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optical</a:t>
            </a:r>
            <a:r>
              <a:rPr sz="1500" spc="66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cavity</a:t>
            </a:r>
            <a:r>
              <a:rPr sz="1500" spc="96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its</a:t>
            </a:r>
            <a:r>
              <a:rPr sz="1500" spc="66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properties.</a:t>
            </a:r>
            <a:r>
              <a:rPr sz="1500" spc="61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(a)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spc="-9" dirty="0">
                <a:latin typeface="Times New Roman"/>
                <a:cs typeface="Times New Roman"/>
              </a:rPr>
              <a:t>Reflected </a:t>
            </a:r>
            <a:r>
              <a:rPr sz="1500" dirty="0">
                <a:latin typeface="Times New Roman"/>
                <a:cs typeface="Times New Roman"/>
              </a:rPr>
              <a:t>waves</a:t>
            </a:r>
            <a:r>
              <a:rPr sz="1500" spc="61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interfere.</a:t>
            </a:r>
            <a:r>
              <a:rPr sz="1500" spc="61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(b)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Only</a:t>
            </a:r>
            <a:r>
              <a:rPr sz="1500" spc="96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standing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EM</a:t>
            </a:r>
            <a:r>
              <a:rPr sz="1500" spc="57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waves,</a:t>
            </a:r>
            <a:r>
              <a:rPr sz="1500" spc="61" dirty="0">
                <a:latin typeface="Times New Roman"/>
                <a:cs typeface="Times New Roman"/>
              </a:rPr>
              <a:t> </a:t>
            </a:r>
            <a:r>
              <a:rPr sz="1500" i="1" dirty="0">
                <a:latin typeface="Times New Roman"/>
                <a:cs typeface="Times New Roman"/>
              </a:rPr>
              <a:t>modes,</a:t>
            </a:r>
            <a:r>
              <a:rPr sz="1500" i="1" spc="39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certain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wavelengths</a:t>
            </a:r>
            <a:r>
              <a:rPr sz="1500" spc="66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</a:t>
            </a:r>
            <a:r>
              <a:rPr sz="1500" spc="61" dirty="0">
                <a:latin typeface="Times New Roman"/>
                <a:cs typeface="Times New Roman"/>
              </a:rPr>
              <a:t> </a:t>
            </a:r>
            <a:r>
              <a:rPr sz="1500" spc="-9" dirty="0">
                <a:latin typeface="Times New Roman"/>
                <a:cs typeface="Times New Roman"/>
              </a:rPr>
              <a:t>allowed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61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53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cavity.</a:t>
            </a:r>
            <a:r>
              <a:rPr sz="1500" spc="57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(c)</a:t>
            </a:r>
            <a:r>
              <a:rPr sz="1500" spc="61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Intensity</a:t>
            </a:r>
            <a:r>
              <a:rPr sz="1500" spc="92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vs.</a:t>
            </a:r>
            <a:r>
              <a:rPr sz="1500" spc="53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frequency</a:t>
            </a:r>
            <a:r>
              <a:rPr sz="1500" spc="88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66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various</a:t>
            </a:r>
            <a:r>
              <a:rPr sz="1500" spc="61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modes.</a:t>
            </a:r>
            <a:r>
              <a:rPr sz="1500" spc="-18" dirty="0">
                <a:latin typeface="Times New Roman"/>
                <a:cs typeface="Times New Roman"/>
              </a:rPr>
              <a:t> </a:t>
            </a:r>
            <a:r>
              <a:rPr sz="1500" i="1" dirty="0">
                <a:latin typeface="Arial"/>
                <a:cs typeface="Arial"/>
              </a:rPr>
              <a:t>R</a:t>
            </a:r>
            <a:r>
              <a:rPr sz="1500" i="1" spc="-4" dirty="0">
                <a:latin typeface="Arial"/>
                <a:cs typeface="Arial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57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mirror</a:t>
            </a:r>
            <a:r>
              <a:rPr sz="1500" spc="66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reflectance</a:t>
            </a:r>
            <a:r>
              <a:rPr sz="1500" spc="53" dirty="0">
                <a:latin typeface="Times New Roman"/>
                <a:cs typeface="Times New Roman"/>
              </a:rPr>
              <a:t> </a:t>
            </a:r>
            <a:r>
              <a:rPr sz="1500" spc="-22" dirty="0">
                <a:latin typeface="Times New Roman"/>
                <a:cs typeface="Times New Roman"/>
              </a:rPr>
              <a:t>and </a:t>
            </a:r>
            <a:r>
              <a:rPr sz="1500" dirty="0">
                <a:latin typeface="Times New Roman"/>
                <a:cs typeface="Times New Roman"/>
              </a:rPr>
              <a:t>lower </a:t>
            </a:r>
            <a:r>
              <a:rPr sz="1500" i="1" dirty="0">
                <a:latin typeface="Arial"/>
                <a:cs typeface="Arial"/>
              </a:rPr>
              <a:t>R</a:t>
            </a:r>
            <a:r>
              <a:rPr sz="1500" i="1" spc="4" dirty="0">
                <a:latin typeface="Arial"/>
                <a:cs typeface="Arial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means</a:t>
            </a:r>
            <a:r>
              <a:rPr sz="1500" spc="53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higher</a:t>
            </a:r>
            <a:r>
              <a:rPr sz="1500" spc="61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loss</a:t>
            </a:r>
            <a:r>
              <a:rPr sz="1500" spc="57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4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53" dirty="0">
                <a:latin typeface="Times New Roman"/>
                <a:cs typeface="Times New Roman"/>
              </a:rPr>
              <a:t> </a:t>
            </a:r>
            <a:r>
              <a:rPr sz="1500" spc="-9" dirty="0">
                <a:latin typeface="Times New Roman"/>
                <a:cs typeface="Times New Roman"/>
              </a:rPr>
              <a:t>cavity.</a:t>
            </a:r>
            <a:endParaRPr sz="1500">
              <a:latin typeface="Times New Roman"/>
              <a:cs typeface="Times New Roman"/>
            </a:endParaRPr>
          </a:p>
          <a:p>
            <a:pPr marL="35633">
              <a:spcBef>
                <a:spcPts val="1512"/>
              </a:spcBef>
            </a:pPr>
            <a:r>
              <a:rPr sz="1300" dirty="0">
                <a:latin typeface="Times New Roman"/>
                <a:cs typeface="Times New Roman"/>
              </a:rPr>
              <a:t>©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1999</a:t>
            </a:r>
            <a:r>
              <a:rPr sz="1300" spc="79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S.O.</a:t>
            </a:r>
            <a:r>
              <a:rPr sz="1300" spc="79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Kasap,</a:t>
            </a:r>
            <a:r>
              <a:rPr sz="1300" spc="4" dirty="0">
                <a:latin typeface="Times New Roman"/>
                <a:cs typeface="Times New Roman"/>
              </a:rPr>
              <a:t> </a:t>
            </a:r>
            <a:r>
              <a:rPr sz="1300" i="1" dirty="0">
                <a:latin typeface="Times New Roman"/>
                <a:cs typeface="Times New Roman"/>
              </a:rPr>
              <a:t>Optoelectronics</a:t>
            </a:r>
            <a:r>
              <a:rPr sz="1300" i="1" spc="83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(Prentice</a:t>
            </a:r>
            <a:r>
              <a:rPr sz="1300" spc="83" dirty="0">
                <a:latin typeface="Times New Roman"/>
                <a:cs typeface="Times New Roman"/>
              </a:rPr>
              <a:t> </a:t>
            </a:r>
            <a:r>
              <a:rPr sz="1300" spc="-9" dirty="0">
                <a:latin typeface="Times New Roman"/>
                <a:cs typeface="Times New Roman"/>
              </a:rPr>
              <a:t>Hall)</a:t>
            </a:r>
            <a:endParaRPr sz="1300">
              <a:latin typeface="Times New Roman"/>
              <a:cs typeface="Times New Roman"/>
            </a:endParaRPr>
          </a:p>
          <a:p>
            <a:pPr marL="545076" algn="ctr">
              <a:spcBef>
                <a:spcPts val="899"/>
              </a:spcBef>
            </a:pPr>
            <a:r>
              <a:rPr sz="2000" dirty="0">
                <a:latin typeface="Times New Roman"/>
                <a:cs typeface="Times New Roman"/>
              </a:rPr>
              <a:t>(1</a:t>
            </a:r>
            <a:r>
              <a:rPr sz="2000" dirty="0">
                <a:latin typeface="FreeSerif"/>
                <a:cs typeface="FreeSerif"/>
              </a:rPr>
              <a:t>−</a:t>
            </a:r>
            <a:r>
              <a:rPr sz="2000" spc="-35" dirty="0">
                <a:latin typeface="FreeSerif"/>
                <a:cs typeface="FreeSerif"/>
              </a:rPr>
              <a:t> </a:t>
            </a:r>
            <a:r>
              <a:rPr sz="2000" i="1" spc="35" dirty="0">
                <a:latin typeface="Times New Roman"/>
                <a:cs typeface="Times New Roman"/>
              </a:rPr>
              <a:t>R</a:t>
            </a:r>
            <a:r>
              <a:rPr sz="2000" spc="35" dirty="0">
                <a:latin typeface="Times New Roman"/>
                <a:cs typeface="Times New Roman"/>
              </a:rPr>
              <a:t>)</a:t>
            </a:r>
            <a:r>
              <a:rPr sz="1700" spc="53" baseline="42735" dirty="0">
                <a:latin typeface="Times New Roman"/>
                <a:cs typeface="Times New Roman"/>
              </a:rPr>
              <a:t>2</a:t>
            </a:r>
            <a:endParaRPr sz="1700" baseline="42735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629713" y="5272963"/>
            <a:ext cx="1025171" cy="318459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33406">
              <a:spcBef>
                <a:spcPts val="83"/>
              </a:spcBef>
            </a:pPr>
            <a:r>
              <a:rPr sz="3000" i="1" baseline="14492" dirty="0">
                <a:latin typeface="Times New Roman"/>
                <a:cs typeface="Times New Roman"/>
              </a:rPr>
              <a:t>I</a:t>
            </a:r>
            <a:r>
              <a:rPr sz="1100" i="1" dirty="0">
                <a:latin typeface="Times New Roman"/>
                <a:cs typeface="Times New Roman"/>
              </a:rPr>
              <a:t>trans</a:t>
            </a:r>
            <a:r>
              <a:rPr sz="1100" i="1" spc="100" dirty="0">
                <a:latin typeface="Times New Roman"/>
                <a:cs typeface="Times New Roman"/>
              </a:rPr>
              <a:t>  </a:t>
            </a:r>
            <a:r>
              <a:rPr sz="3000" baseline="14492" dirty="0">
                <a:latin typeface="FreeSerif"/>
                <a:cs typeface="FreeSerif"/>
              </a:rPr>
              <a:t>=</a:t>
            </a:r>
            <a:r>
              <a:rPr sz="3000" spc="111" baseline="14492" dirty="0">
                <a:latin typeface="FreeSerif"/>
                <a:cs typeface="FreeSerif"/>
              </a:rPr>
              <a:t> </a:t>
            </a:r>
            <a:r>
              <a:rPr sz="3000" i="1" spc="-26" baseline="14492" dirty="0">
                <a:latin typeface="Times New Roman"/>
                <a:cs typeface="Times New Roman"/>
              </a:rPr>
              <a:t>I</a:t>
            </a:r>
            <a:r>
              <a:rPr sz="1100" i="1" spc="-18" dirty="0">
                <a:latin typeface="Times New Roman"/>
                <a:cs typeface="Times New Roman"/>
              </a:rPr>
              <a:t>inc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753392" y="5285845"/>
            <a:ext cx="348058" cy="180521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1100" spc="-9" dirty="0">
                <a:latin typeface="Times New Roman"/>
                <a:cs typeface="Times New Roman"/>
              </a:rPr>
              <a:t>[4-</a:t>
            </a:r>
            <a:r>
              <a:rPr sz="1100" spc="-22" dirty="0">
                <a:latin typeface="Times New Roman"/>
                <a:cs typeface="Times New Roman"/>
              </a:rPr>
              <a:t>18]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302639" y="5814199"/>
            <a:ext cx="3741221" cy="195910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1200" i="1" dirty="0">
                <a:latin typeface="Times New Roman"/>
                <a:cs typeface="Times New Roman"/>
              </a:rPr>
              <a:t>R:</a:t>
            </a:r>
            <a:r>
              <a:rPr sz="1200" i="1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reflectance</a:t>
            </a:r>
            <a:r>
              <a:rPr sz="1200" spc="-26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3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3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optical</a:t>
            </a:r>
            <a:r>
              <a:rPr sz="1200" spc="-31" dirty="0">
                <a:latin typeface="Times New Roman"/>
                <a:cs typeface="Times New Roman"/>
              </a:rPr>
              <a:t> </a:t>
            </a:r>
            <a:r>
              <a:rPr sz="1200" spc="-9" dirty="0">
                <a:latin typeface="Times New Roman"/>
                <a:cs typeface="Times New Roman"/>
              </a:rPr>
              <a:t>intensity,</a:t>
            </a:r>
            <a:r>
              <a:rPr sz="1200" spc="-26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k</a:t>
            </a:r>
            <a:r>
              <a:rPr sz="1200" dirty="0">
                <a:latin typeface="Times New Roman"/>
                <a:cs typeface="Times New Roman"/>
              </a:rPr>
              <a:t>: optical</a:t>
            </a:r>
            <a:r>
              <a:rPr sz="1200" spc="-31" dirty="0">
                <a:latin typeface="Times New Roman"/>
                <a:cs typeface="Times New Roman"/>
              </a:rPr>
              <a:t> </a:t>
            </a:r>
            <a:r>
              <a:rPr sz="1200" spc="-9" dirty="0">
                <a:latin typeface="Times New Roman"/>
                <a:cs typeface="Times New Roman"/>
              </a:rPr>
              <a:t>wavenumber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506779" y="3074946"/>
            <a:ext cx="3263387" cy="688599"/>
          </a:xfrm>
          <a:prstGeom prst="rect">
            <a:avLst/>
          </a:prstGeom>
        </p:spPr>
        <p:txBody>
          <a:bodyPr vert="horz" wrap="square" lIns="0" tIns="13919" rIns="0" bIns="0" rtlCol="0">
            <a:spAutoFit/>
          </a:bodyPr>
          <a:lstStyle/>
          <a:p>
            <a:pPr marL="376932" algn="ctr">
              <a:spcBef>
                <a:spcPts val="110"/>
              </a:spcBef>
            </a:pPr>
            <a:r>
              <a:rPr sz="1100" b="1" spc="-22" dirty="0">
                <a:latin typeface="Arial"/>
                <a:cs typeface="Arial"/>
              </a:rPr>
              <a:t>(b)</a:t>
            </a:r>
            <a:endParaRPr sz="1100">
              <a:latin typeface="Arial"/>
              <a:cs typeface="Arial"/>
            </a:endParaRPr>
          </a:p>
          <a:p>
            <a:pPr marL="11135">
              <a:spcBef>
                <a:spcPts val="105"/>
              </a:spcBef>
              <a:tabLst>
                <a:tab pos="2417487" algn="l"/>
              </a:tabLst>
            </a:pPr>
            <a:r>
              <a:rPr sz="1600" dirty="0">
                <a:latin typeface="Times New Roman"/>
                <a:cs typeface="Times New Roman"/>
              </a:rPr>
              <a:t>Resonant</a:t>
            </a:r>
            <a:r>
              <a:rPr sz="1600" spc="-3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modes</a:t>
            </a:r>
            <a:r>
              <a:rPr sz="1600" spc="-17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:</a:t>
            </a:r>
            <a:r>
              <a:rPr sz="1600" spc="-17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kL </a:t>
            </a:r>
            <a:r>
              <a:rPr sz="1600" dirty="0">
                <a:latin typeface="FreeSerif"/>
                <a:cs typeface="FreeSerif"/>
              </a:rPr>
              <a:t>=</a:t>
            </a:r>
            <a:r>
              <a:rPr sz="1600" spc="13" dirty="0">
                <a:latin typeface="FreeSerif"/>
                <a:cs typeface="FreeSerif"/>
              </a:rPr>
              <a:t> </a:t>
            </a:r>
            <a:r>
              <a:rPr sz="1600" i="1" spc="-44" dirty="0">
                <a:latin typeface="Times New Roman"/>
                <a:cs typeface="Times New Roman"/>
              </a:rPr>
              <a:t>m</a:t>
            </a:r>
            <a:r>
              <a:rPr sz="1600" i="1" dirty="0">
                <a:latin typeface="Times New Roman"/>
                <a:cs typeface="Times New Roman"/>
              </a:rPr>
              <a:t>	m</a:t>
            </a:r>
            <a:r>
              <a:rPr sz="1600" i="1" spc="-18" dirty="0">
                <a:latin typeface="Times New Roman"/>
                <a:cs typeface="Times New Roman"/>
              </a:rPr>
              <a:t> </a:t>
            </a:r>
            <a:r>
              <a:rPr sz="1600" spc="-18" dirty="0">
                <a:latin typeface="FreeSerif"/>
                <a:cs typeface="FreeSerif"/>
              </a:rPr>
              <a:t>=</a:t>
            </a:r>
            <a:r>
              <a:rPr sz="1600" spc="-206" dirty="0">
                <a:latin typeface="FreeSerif"/>
                <a:cs typeface="FreeSerif"/>
              </a:rPr>
              <a:t> </a:t>
            </a:r>
            <a:r>
              <a:rPr sz="1600" spc="-9" dirty="0">
                <a:latin typeface="Times New Roman"/>
                <a:cs typeface="Times New Roman"/>
              </a:rPr>
              <a:t>1,2,3,..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985202"/>
          </a:xfrm>
          <a:prstGeom prst="rect">
            <a:avLst/>
          </a:prstGeom>
        </p:spPr>
        <p:txBody>
          <a:bodyPr vert="horz" wrap="square" lIns="0" tIns="305114" rIns="0" bIns="0" rtlCol="0">
            <a:spAutoFit/>
          </a:bodyPr>
          <a:lstStyle/>
          <a:p>
            <a:pPr marL="1579551">
              <a:spcBef>
                <a:spcPts val="88"/>
              </a:spcBef>
            </a:pPr>
            <a:r>
              <a:rPr dirty="0"/>
              <a:t>Mirror</a:t>
            </a:r>
            <a:r>
              <a:rPr spc="-66" dirty="0"/>
              <a:t> </a:t>
            </a:r>
            <a:r>
              <a:rPr spc="-9" dirty="0"/>
              <a:t>Reflections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820" y="2323652"/>
            <a:ext cx="7815177" cy="22863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77259"/>
          </a:xfrm>
          <a:prstGeom prst="rect">
            <a:avLst/>
          </a:prstGeom>
        </p:spPr>
        <p:txBody>
          <a:bodyPr vert="horz" wrap="square" lIns="0" tIns="198215" rIns="0" bIns="0" rtlCol="0">
            <a:spAutoFit/>
          </a:bodyPr>
          <a:lstStyle/>
          <a:p>
            <a:pPr marL="1322881">
              <a:spcBef>
                <a:spcPts val="88"/>
              </a:spcBef>
            </a:pPr>
            <a:r>
              <a:rPr dirty="0"/>
              <a:t>How</a:t>
            </a:r>
            <a:r>
              <a:rPr spc="-66" dirty="0"/>
              <a:t> </a:t>
            </a:r>
            <a:r>
              <a:rPr dirty="0"/>
              <a:t>a</a:t>
            </a:r>
            <a:r>
              <a:rPr spc="-31" dirty="0"/>
              <a:t> </a:t>
            </a:r>
            <a:r>
              <a:rPr dirty="0"/>
              <a:t>Laser</a:t>
            </a:r>
            <a:r>
              <a:rPr spc="-53" dirty="0"/>
              <a:t> </a:t>
            </a:r>
            <a:r>
              <a:rPr spc="-9" dirty="0"/>
              <a:t>Works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820" y="1633472"/>
            <a:ext cx="7472440" cy="49073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4910" y="695245"/>
            <a:ext cx="1892873" cy="442131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2800" dirty="0">
                <a:solidFill>
                  <a:srgbClr val="323299"/>
                </a:solidFill>
              </a:rPr>
              <a:t>Laser</a:t>
            </a:r>
            <a:r>
              <a:rPr sz="2800" spc="-44" dirty="0">
                <a:solidFill>
                  <a:srgbClr val="323299"/>
                </a:solidFill>
              </a:rPr>
              <a:t> </a:t>
            </a:r>
            <a:r>
              <a:rPr sz="2800" spc="-18" dirty="0">
                <a:solidFill>
                  <a:srgbClr val="323299"/>
                </a:solidFill>
              </a:rPr>
              <a:t>Diode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315671" y="1309359"/>
            <a:ext cx="6414375" cy="1543929"/>
          </a:xfrm>
          <a:prstGeom prst="rect">
            <a:avLst/>
          </a:prstGeom>
        </p:spPr>
        <p:txBody>
          <a:bodyPr vert="horz" wrap="square" lIns="0" tIns="5568" rIns="0" bIns="0" rtlCol="0">
            <a:spAutoFit/>
          </a:bodyPr>
          <a:lstStyle/>
          <a:p>
            <a:pPr marL="311233" marR="4454" indent="-300655">
              <a:lnSpc>
                <a:spcPct val="102200"/>
              </a:lnSpc>
              <a:spcBef>
                <a:spcPts val="44"/>
              </a:spcBef>
              <a:buChar char="•"/>
              <a:tabLst>
                <a:tab pos="311233" algn="l"/>
                <a:tab pos="5277047" algn="l"/>
              </a:tabLst>
            </a:pPr>
            <a:r>
              <a:rPr sz="1600" dirty="0">
                <a:latin typeface="Arial"/>
                <a:cs typeface="Arial"/>
              </a:rPr>
              <a:t>Laser</a:t>
            </a:r>
            <a:r>
              <a:rPr sz="1600" spc="-18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diode</a:t>
            </a:r>
            <a:r>
              <a:rPr sz="1600" spc="-4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1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an</a:t>
            </a:r>
            <a:r>
              <a:rPr sz="1600" spc="-18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improved LED,</a:t>
            </a:r>
            <a:r>
              <a:rPr sz="1600" spc="-9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18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8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sense</a:t>
            </a:r>
            <a:r>
              <a:rPr sz="1600" spc="-4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18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uses</a:t>
            </a:r>
            <a:r>
              <a:rPr sz="1600" spc="-4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stimulated </a:t>
            </a:r>
            <a:r>
              <a:rPr sz="1600" dirty="0">
                <a:latin typeface="Arial"/>
                <a:cs typeface="Arial"/>
              </a:rPr>
              <a:t>emission</a:t>
            </a:r>
            <a:r>
              <a:rPr sz="1600" spc="-5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</a:t>
            </a:r>
            <a:r>
              <a:rPr sz="1600" spc="-26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semiconductor</a:t>
            </a:r>
            <a:r>
              <a:rPr sz="1600" spc="-26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from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optical</a:t>
            </a:r>
            <a:r>
              <a:rPr sz="1600" spc="-31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transitions</a:t>
            </a:r>
            <a:r>
              <a:rPr sz="1600" spc="-26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between</a:t>
            </a:r>
            <a:r>
              <a:rPr sz="1600" spc="-4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distribution </a:t>
            </a:r>
            <a:r>
              <a:rPr sz="1600" dirty="0">
                <a:latin typeface="Arial"/>
                <a:cs typeface="Arial"/>
              </a:rPr>
              <a:t>energy</a:t>
            </a:r>
            <a:r>
              <a:rPr sz="1600" spc="-22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states</a:t>
            </a:r>
            <a:r>
              <a:rPr sz="1600" spc="-18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2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6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valence and</a:t>
            </a:r>
            <a:r>
              <a:rPr sz="1600" spc="-22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conduction</a:t>
            </a:r>
            <a:r>
              <a:rPr sz="1600" spc="-4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bands</a:t>
            </a:r>
            <a:r>
              <a:rPr sz="1600" spc="-4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with</a:t>
            </a:r>
            <a:r>
              <a:rPr sz="1600" spc="9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optical </a:t>
            </a:r>
            <a:r>
              <a:rPr sz="1600" dirty="0">
                <a:latin typeface="Arial"/>
                <a:cs typeface="Arial"/>
              </a:rPr>
              <a:t>resonator</a:t>
            </a:r>
            <a:r>
              <a:rPr sz="1600" spc="-31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structure</a:t>
            </a:r>
            <a:r>
              <a:rPr sz="1600" spc="-22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such</a:t>
            </a:r>
            <a:r>
              <a:rPr sz="1600" spc="-22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as</a:t>
            </a:r>
            <a:r>
              <a:rPr sz="1600" spc="-18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Fabry-</a:t>
            </a:r>
            <a:r>
              <a:rPr sz="1600" dirty="0">
                <a:latin typeface="Arial"/>
                <a:cs typeface="Arial"/>
              </a:rPr>
              <a:t>Perot</a:t>
            </a:r>
            <a:r>
              <a:rPr sz="1600" spc="18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resonator</a:t>
            </a:r>
            <a:r>
              <a:rPr sz="1600" spc="-4" dirty="0">
                <a:latin typeface="Arial"/>
                <a:cs typeface="Arial"/>
              </a:rPr>
              <a:t> </a:t>
            </a:r>
            <a:r>
              <a:rPr sz="1600" spc="-18" dirty="0">
                <a:latin typeface="Arial"/>
                <a:cs typeface="Arial"/>
              </a:rPr>
              <a:t>with</a:t>
            </a:r>
            <a:r>
              <a:rPr sz="1600" dirty="0">
                <a:latin typeface="Arial"/>
                <a:cs typeface="Arial"/>
              </a:rPr>
              <a:t>	both</a:t>
            </a:r>
            <a:r>
              <a:rPr sz="1600" spc="-22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optical </a:t>
            </a:r>
            <a:r>
              <a:rPr sz="1600" dirty="0">
                <a:latin typeface="Arial"/>
                <a:cs typeface="Arial"/>
              </a:rPr>
              <a:t>and</a:t>
            </a:r>
            <a:r>
              <a:rPr sz="1600" spc="-26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carrier</a:t>
            </a:r>
            <a:r>
              <a:rPr sz="1600" spc="-22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confinements.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911" y="2645919"/>
            <a:ext cx="7481572" cy="36168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509362" y="6303825"/>
            <a:ext cx="2580845" cy="118966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33406">
              <a:spcBef>
                <a:spcPts val="88"/>
              </a:spcBef>
            </a:pPr>
            <a:r>
              <a:rPr sz="700" dirty="0">
                <a:latin typeface="Arial"/>
                <a:cs typeface="Arial"/>
              </a:rPr>
              <a:t>Optical Fiber</a:t>
            </a:r>
            <a:r>
              <a:rPr sz="700" spc="26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communications,</a:t>
            </a:r>
            <a:r>
              <a:rPr sz="700" spc="-18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3</a:t>
            </a:r>
            <a:r>
              <a:rPr sz="700" baseline="27777" dirty="0">
                <a:latin typeface="Arial"/>
                <a:cs typeface="Arial"/>
              </a:rPr>
              <a:t>rd</a:t>
            </a:r>
            <a:r>
              <a:rPr sz="700" spc="157" baseline="27777" dirty="0">
                <a:latin typeface="Arial"/>
                <a:cs typeface="Arial"/>
              </a:rPr>
              <a:t> </a:t>
            </a:r>
            <a:r>
              <a:rPr sz="700" spc="-9" dirty="0">
                <a:latin typeface="Arial"/>
                <a:cs typeface="Arial"/>
              </a:rPr>
              <a:t>ed.,G.Keiser,McGrawHill,</a:t>
            </a:r>
            <a:r>
              <a:rPr sz="700" spc="9" dirty="0">
                <a:latin typeface="Arial"/>
                <a:cs typeface="Arial"/>
              </a:rPr>
              <a:t> </a:t>
            </a:r>
            <a:r>
              <a:rPr sz="700" spc="-18" dirty="0">
                <a:latin typeface="Arial"/>
                <a:cs typeface="Arial"/>
              </a:rPr>
              <a:t>2000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126" y="695245"/>
            <a:ext cx="4286386" cy="442131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2800" dirty="0">
                <a:solidFill>
                  <a:srgbClr val="323299"/>
                </a:solidFill>
              </a:rPr>
              <a:t>Laser</a:t>
            </a:r>
            <a:r>
              <a:rPr sz="2800" spc="-48" dirty="0">
                <a:solidFill>
                  <a:srgbClr val="323299"/>
                </a:solidFill>
              </a:rPr>
              <a:t> </a:t>
            </a:r>
            <a:r>
              <a:rPr sz="2800" dirty="0">
                <a:solidFill>
                  <a:srgbClr val="323299"/>
                </a:solidFill>
              </a:rPr>
              <a:t>Diode</a:t>
            </a:r>
            <a:r>
              <a:rPr sz="2800" spc="-44" dirty="0">
                <a:solidFill>
                  <a:srgbClr val="323299"/>
                </a:solidFill>
              </a:rPr>
              <a:t> </a:t>
            </a:r>
            <a:r>
              <a:rPr sz="2800" spc="-9" dirty="0">
                <a:solidFill>
                  <a:srgbClr val="323299"/>
                </a:solidFill>
              </a:rPr>
              <a:t>Characteristics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315671" y="1654311"/>
            <a:ext cx="6481706" cy="3825219"/>
          </a:xfrm>
          <a:prstGeom prst="rect">
            <a:avLst/>
          </a:prstGeom>
        </p:spPr>
        <p:txBody>
          <a:bodyPr vert="horz" wrap="square" lIns="0" tIns="64585" rIns="0" bIns="0" rtlCol="0">
            <a:spAutoFit/>
          </a:bodyPr>
          <a:lstStyle/>
          <a:p>
            <a:pPr marL="311233" indent="-300098">
              <a:spcBef>
                <a:spcPts val="509"/>
              </a:spcBef>
              <a:buChar char="•"/>
              <a:tabLst>
                <a:tab pos="311233" algn="l"/>
              </a:tabLst>
            </a:pPr>
            <a:r>
              <a:rPr dirty="0">
                <a:latin typeface="Arial"/>
                <a:cs typeface="Arial"/>
              </a:rPr>
              <a:t>Nanosecond</a:t>
            </a:r>
            <a:r>
              <a:rPr spc="-6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&amp;</a:t>
            </a:r>
            <a:r>
              <a:rPr spc="-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even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picosecond</a:t>
            </a:r>
            <a:r>
              <a:rPr spc="-5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response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time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(GHz</a:t>
            </a:r>
            <a:r>
              <a:rPr spc="-26" dirty="0">
                <a:latin typeface="Arial"/>
                <a:cs typeface="Arial"/>
              </a:rPr>
              <a:t> </a:t>
            </a:r>
            <a:r>
              <a:rPr spc="-22" dirty="0">
                <a:latin typeface="Arial"/>
                <a:cs typeface="Arial"/>
              </a:rPr>
              <a:t>BW)</a:t>
            </a:r>
            <a:endParaRPr>
              <a:latin typeface="Arial"/>
              <a:cs typeface="Arial"/>
            </a:endParaRPr>
          </a:p>
          <a:p>
            <a:pPr marL="311233" indent="-300098">
              <a:spcBef>
                <a:spcPts val="421"/>
              </a:spcBef>
              <a:buChar char="•"/>
              <a:tabLst>
                <a:tab pos="311233" algn="l"/>
              </a:tabLst>
            </a:pPr>
            <a:r>
              <a:rPr dirty="0">
                <a:latin typeface="Arial"/>
                <a:cs typeface="Arial"/>
              </a:rPr>
              <a:t>Spectral</a:t>
            </a:r>
            <a:r>
              <a:rPr spc="-4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width</a:t>
            </a:r>
            <a:r>
              <a:rPr spc="-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order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nm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or</a:t>
            </a:r>
            <a:r>
              <a:rPr spc="-18" dirty="0">
                <a:latin typeface="Arial"/>
                <a:cs typeface="Arial"/>
              </a:rPr>
              <a:t> less</a:t>
            </a:r>
            <a:endParaRPr>
              <a:latin typeface="Arial"/>
              <a:cs typeface="Arial"/>
            </a:endParaRPr>
          </a:p>
          <a:p>
            <a:pPr marL="311233" indent="-300098">
              <a:spcBef>
                <a:spcPts val="421"/>
              </a:spcBef>
              <a:buChar char="•"/>
              <a:tabLst>
                <a:tab pos="311233" algn="l"/>
              </a:tabLst>
            </a:pPr>
            <a:r>
              <a:rPr dirty="0">
                <a:latin typeface="Arial"/>
                <a:cs typeface="Arial"/>
              </a:rPr>
              <a:t>High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output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power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(tens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31" dirty="0">
                <a:latin typeface="Arial"/>
                <a:cs typeface="Arial"/>
              </a:rPr>
              <a:t> </a:t>
            </a:r>
            <a:r>
              <a:rPr spc="-22" dirty="0">
                <a:latin typeface="Arial"/>
                <a:cs typeface="Arial"/>
              </a:rPr>
              <a:t>mW)</a:t>
            </a:r>
            <a:endParaRPr>
              <a:latin typeface="Arial"/>
              <a:cs typeface="Arial"/>
            </a:endParaRPr>
          </a:p>
          <a:p>
            <a:pPr marL="311233" indent="-300098">
              <a:spcBef>
                <a:spcPts val="421"/>
              </a:spcBef>
              <a:buChar char="•"/>
              <a:tabLst>
                <a:tab pos="311233" algn="l"/>
              </a:tabLst>
            </a:pPr>
            <a:r>
              <a:rPr dirty="0">
                <a:latin typeface="Arial"/>
                <a:cs typeface="Arial"/>
              </a:rPr>
              <a:t>Narrow</a:t>
            </a:r>
            <a:r>
              <a:rPr spc="-57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beam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(good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coupling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single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mode</a:t>
            </a:r>
            <a:r>
              <a:rPr spc="-22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fibers)</a:t>
            </a:r>
            <a:endParaRPr>
              <a:latin typeface="Arial"/>
              <a:cs typeface="Arial"/>
            </a:endParaRPr>
          </a:p>
          <a:p>
            <a:pPr>
              <a:spcBef>
                <a:spcPts val="925"/>
              </a:spcBef>
              <a:buFont typeface="Arial"/>
              <a:buChar char="•"/>
            </a:pPr>
            <a:endParaRPr>
              <a:latin typeface="Arial"/>
              <a:cs typeface="Arial"/>
            </a:endParaRPr>
          </a:p>
          <a:p>
            <a:pPr marL="311233" marR="699857" indent="-300655">
              <a:spcBef>
                <a:spcPts val="4"/>
              </a:spcBef>
              <a:buChar char="•"/>
              <a:tabLst>
                <a:tab pos="311233" algn="l"/>
              </a:tabLst>
            </a:pPr>
            <a:r>
              <a:rPr dirty="0">
                <a:latin typeface="Arial"/>
                <a:cs typeface="Arial"/>
              </a:rPr>
              <a:t>Laser</a:t>
            </a:r>
            <a:r>
              <a:rPr spc="-57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diodes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have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three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distinct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radiation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modes</a:t>
            </a:r>
            <a:r>
              <a:rPr spc="-31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namely, </a:t>
            </a:r>
            <a:r>
              <a:rPr dirty="0">
                <a:solidFill>
                  <a:srgbClr val="323299"/>
                </a:solidFill>
                <a:latin typeface="Arial"/>
                <a:cs typeface="Arial"/>
              </a:rPr>
              <a:t>longitudinal,</a:t>
            </a:r>
            <a:r>
              <a:rPr spc="-53" dirty="0">
                <a:solidFill>
                  <a:srgbClr val="32329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323299"/>
                </a:solidFill>
                <a:latin typeface="Arial"/>
                <a:cs typeface="Arial"/>
              </a:rPr>
              <a:t>lateral</a:t>
            </a:r>
            <a:r>
              <a:rPr spc="-35" dirty="0">
                <a:solidFill>
                  <a:srgbClr val="32329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323299"/>
                </a:solidFill>
                <a:latin typeface="Arial"/>
                <a:cs typeface="Arial"/>
              </a:rPr>
              <a:t>and</a:t>
            </a:r>
            <a:r>
              <a:rPr spc="-35" dirty="0">
                <a:solidFill>
                  <a:srgbClr val="323299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323299"/>
                </a:solidFill>
                <a:latin typeface="Arial"/>
                <a:cs typeface="Arial"/>
              </a:rPr>
              <a:t>transverse</a:t>
            </a:r>
            <a:r>
              <a:rPr spc="-61" dirty="0">
                <a:solidFill>
                  <a:srgbClr val="323299"/>
                </a:solidFill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modes.</a:t>
            </a:r>
            <a:endParaRPr>
              <a:latin typeface="Arial"/>
              <a:cs typeface="Arial"/>
            </a:endParaRPr>
          </a:p>
          <a:p>
            <a:pPr>
              <a:spcBef>
                <a:spcPts val="925"/>
              </a:spcBef>
              <a:buFont typeface="Arial"/>
              <a:buChar char="•"/>
            </a:pPr>
            <a:endParaRPr>
              <a:latin typeface="Arial"/>
              <a:cs typeface="Arial"/>
            </a:endParaRPr>
          </a:p>
          <a:p>
            <a:pPr marL="311233" marR="4454" indent="-300655">
              <a:spcBef>
                <a:spcPts val="4"/>
              </a:spcBef>
              <a:buChar char="•"/>
              <a:tabLst>
                <a:tab pos="311233" algn="l"/>
              </a:tabLst>
            </a:pPr>
            <a:r>
              <a:rPr dirty="0">
                <a:latin typeface="Arial"/>
                <a:cs typeface="Arial"/>
              </a:rPr>
              <a:t>In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laser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diodes,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end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mirrors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provide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strong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optical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feedback</a:t>
            </a:r>
            <a:r>
              <a:rPr spc="-39" dirty="0">
                <a:latin typeface="Arial"/>
                <a:cs typeface="Arial"/>
              </a:rPr>
              <a:t> </a:t>
            </a:r>
            <a:r>
              <a:rPr spc="-22" dirty="0">
                <a:latin typeface="Arial"/>
                <a:cs typeface="Arial"/>
              </a:rPr>
              <a:t>in </a:t>
            </a:r>
            <a:r>
              <a:rPr dirty="0">
                <a:latin typeface="Arial"/>
                <a:cs typeface="Arial"/>
              </a:rPr>
              <a:t>longitudinal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direction,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so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by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roughening</a:t>
            </a:r>
            <a:r>
              <a:rPr spc="-4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edges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-26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cleaving </a:t>
            </a:r>
            <a:r>
              <a:rPr dirty="0">
                <a:latin typeface="Arial"/>
                <a:cs typeface="Arial"/>
              </a:rPr>
              <a:t>the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facets,</a:t>
            </a:r>
            <a:r>
              <a:rPr spc="-5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radiation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can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be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achieved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longitudinal</a:t>
            </a:r>
            <a:r>
              <a:rPr spc="-18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direction </a:t>
            </a:r>
            <a:r>
              <a:rPr dirty="0">
                <a:latin typeface="Arial"/>
                <a:cs typeface="Arial"/>
              </a:rPr>
              <a:t>rather</a:t>
            </a:r>
            <a:r>
              <a:rPr spc="-57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than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lateral</a:t>
            </a:r>
            <a:r>
              <a:rPr spc="-31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direction.</a:t>
            </a:r>
            <a:endParaRPr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3062" y="591511"/>
            <a:ext cx="5403322" cy="442131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2800" dirty="0">
                <a:solidFill>
                  <a:srgbClr val="323299"/>
                </a:solidFill>
              </a:rPr>
              <a:t>DFB(Distributed</a:t>
            </a:r>
            <a:r>
              <a:rPr sz="2800" spc="-110" dirty="0">
                <a:solidFill>
                  <a:srgbClr val="323299"/>
                </a:solidFill>
              </a:rPr>
              <a:t> </a:t>
            </a:r>
            <a:r>
              <a:rPr sz="2800" dirty="0">
                <a:solidFill>
                  <a:srgbClr val="323299"/>
                </a:solidFill>
              </a:rPr>
              <a:t>FeedBack)</a:t>
            </a:r>
            <a:r>
              <a:rPr sz="2800" spc="-100" dirty="0">
                <a:solidFill>
                  <a:srgbClr val="323299"/>
                </a:solidFill>
              </a:rPr>
              <a:t> </a:t>
            </a:r>
            <a:r>
              <a:rPr sz="2800" spc="-9" dirty="0">
                <a:solidFill>
                  <a:srgbClr val="323299"/>
                </a:solidFill>
              </a:rPr>
              <a:t>Lasers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315671" y="1240202"/>
            <a:ext cx="6490394" cy="749907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311233" marR="4454" indent="-300655">
              <a:spcBef>
                <a:spcPts val="88"/>
              </a:spcBef>
              <a:buChar char="•"/>
              <a:tabLst>
                <a:tab pos="311233" algn="l"/>
              </a:tabLst>
            </a:pPr>
            <a:r>
              <a:rPr sz="1600" dirty="0">
                <a:latin typeface="Arial"/>
                <a:cs typeface="Arial"/>
              </a:rPr>
              <a:t>In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DFB</a:t>
            </a:r>
            <a:r>
              <a:rPr sz="1600" spc="-26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lasers, the</a:t>
            </a:r>
            <a:r>
              <a:rPr sz="1600" spc="-18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optical</a:t>
            </a:r>
            <a:r>
              <a:rPr sz="1600" spc="-4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resonator structure</a:t>
            </a:r>
            <a:r>
              <a:rPr sz="1600" spc="-18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1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due</a:t>
            </a:r>
            <a:r>
              <a:rPr sz="1600" spc="-18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to</a:t>
            </a:r>
            <a:r>
              <a:rPr sz="1600" spc="-18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18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incorporation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6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Bragg</a:t>
            </a:r>
            <a:r>
              <a:rPr sz="1600" spc="-22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grating</a:t>
            </a:r>
            <a:r>
              <a:rPr sz="1600" spc="-1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or</a:t>
            </a:r>
            <a:r>
              <a:rPr sz="1600" spc="-18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periodic</a:t>
            </a:r>
            <a:r>
              <a:rPr sz="1600" spc="4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variations</a:t>
            </a:r>
            <a:r>
              <a:rPr sz="1600" spc="-9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6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refractive</a:t>
            </a:r>
            <a:r>
              <a:rPr sz="1600" spc="-22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index</a:t>
            </a:r>
            <a:r>
              <a:rPr sz="1600" spc="-4" dirty="0">
                <a:latin typeface="Arial"/>
                <a:cs typeface="Arial"/>
              </a:rPr>
              <a:t> </a:t>
            </a:r>
            <a:r>
              <a:rPr sz="1600" spc="-18" dirty="0">
                <a:latin typeface="Arial"/>
                <a:cs typeface="Arial"/>
              </a:rPr>
              <a:t>into </a:t>
            </a:r>
            <a:r>
              <a:rPr sz="1600" dirty="0">
                <a:latin typeface="Arial"/>
                <a:cs typeface="Arial"/>
              </a:rPr>
              <a:t>multilayer</a:t>
            </a:r>
            <a:r>
              <a:rPr sz="1600" spc="-4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structure</a:t>
            </a:r>
            <a:r>
              <a:rPr sz="1600" spc="-22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along</a:t>
            </a:r>
            <a:r>
              <a:rPr sz="1600" spc="-9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2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length</a:t>
            </a:r>
            <a:r>
              <a:rPr sz="1600" spc="-1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26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26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diode.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4355" y="2197786"/>
            <a:ext cx="6124960" cy="313693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62407" y="5657905"/>
            <a:ext cx="5332190" cy="1024342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33406">
              <a:spcBef>
                <a:spcPts val="88"/>
              </a:spcBef>
            </a:pP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61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optical</a:t>
            </a:r>
            <a:r>
              <a:rPr sz="1600" b="1" spc="-39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feedback</a:t>
            </a:r>
            <a:r>
              <a:rPr sz="1600" b="1" spc="-22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is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provided</a:t>
            </a:r>
            <a:r>
              <a:rPr sz="1600" b="1" spc="-9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by</a:t>
            </a:r>
            <a:r>
              <a:rPr sz="1600" b="1" spc="-44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fiber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Bragg</a:t>
            </a:r>
            <a:r>
              <a:rPr sz="1600" b="1" spc="-26" dirty="0">
                <a:latin typeface="Arial"/>
                <a:cs typeface="Arial"/>
              </a:rPr>
              <a:t> </a:t>
            </a:r>
            <a:r>
              <a:rPr sz="1600" b="1" spc="-9" dirty="0">
                <a:latin typeface="Arial"/>
                <a:cs typeface="Arial"/>
              </a:rPr>
              <a:t>Gratings</a:t>
            </a:r>
            <a:endParaRPr sz="1600">
              <a:latin typeface="Arial"/>
              <a:cs typeface="Arial"/>
            </a:endParaRPr>
          </a:p>
          <a:p>
            <a:pPr marL="33406"/>
            <a:r>
              <a:rPr sz="1600" spc="254" dirty="0">
                <a:latin typeface="Noto Sans Symbols2"/>
                <a:cs typeface="Noto Sans Symbols2"/>
              </a:rPr>
              <a:t>🡪</a:t>
            </a:r>
            <a:r>
              <a:rPr sz="1600" spc="-9" dirty="0">
                <a:latin typeface="Noto Sans Symbols2"/>
                <a:cs typeface="Noto Sans Symbols2"/>
              </a:rPr>
              <a:t> </a:t>
            </a:r>
            <a:r>
              <a:rPr sz="1600" b="1" dirty="0">
                <a:latin typeface="Arial"/>
                <a:cs typeface="Arial"/>
              </a:rPr>
              <a:t>Only</a:t>
            </a:r>
            <a:r>
              <a:rPr sz="1600" b="1" spc="-39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one</a:t>
            </a:r>
            <a:r>
              <a:rPr sz="1600" b="1" spc="-39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wavelength</a:t>
            </a:r>
            <a:r>
              <a:rPr sz="1600" b="1" spc="-44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get</a:t>
            </a:r>
            <a:r>
              <a:rPr sz="1600" b="1" spc="-26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positive</a:t>
            </a:r>
            <a:r>
              <a:rPr sz="1600" b="1" spc="-9" dirty="0">
                <a:latin typeface="Arial"/>
                <a:cs typeface="Arial"/>
              </a:rPr>
              <a:t> feedback</a:t>
            </a:r>
            <a:endParaRPr sz="1600">
              <a:latin typeface="Arial"/>
              <a:cs typeface="Arial"/>
            </a:endParaRPr>
          </a:p>
          <a:p>
            <a:pPr marL="2029419">
              <a:spcBef>
                <a:spcPts val="1127"/>
              </a:spcBef>
            </a:pPr>
            <a:r>
              <a:rPr sz="700" dirty="0">
                <a:latin typeface="Arial"/>
                <a:cs typeface="Arial"/>
              </a:rPr>
              <a:t>Optical Fiber</a:t>
            </a:r>
            <a:r>
              <a:rPr sz="700" spc="26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communications,</a:t>
            </a:r>
            <a:r>
              <a:rPr sz="700" spc="-18" dirty="0">
                <a:latin typeface="Arial"/>
                <a:cs typeface="Arial"/>
              </a:rPr>
              <a:t> </a:t>
            </a:r>
            <a:r>
              <a:rPr sz="700" dirty="0">
                <a:latin typeface="Arial"/>
                <a:cs typeface="Arial"/>
              </a:rPr>
              <a:t>3</a:t>
            </a:r>
            <a:r>
              <a:rPr sz="700" baseline="27777" dirty="0">
                <a:latin typeface="Arial"/>
                <a:cs typeface="Arial"/>
              </a:rPr>
              <a:t>rd</a:t>
            </a:r>
            <a:r>
              <a:rPr sz="700" spc="157" baseline="27777" dirty="0">
                <a:latin typeface="Arial"/>
                <a:cs typeface="Arial"/>
              </a:rPr>
              <a:t> </a:t>
            </a:r>
            <a:r>
              <a:rPr sz="700" spc="-9" dirty="0">
                <a:latin typeface="Arial"/>
                <a:cs typeface="Arial"/>
              </a:rPr>
              <a:t>ed.,G.Keiser,McGrawHill,</a:t>
            </a:r>
            <a:r>
              <a:rPr sz="700" spc="9" dirty="0">
                <a:latin typeface="Arial"/>
                <a:cs typeface="Arial"/>
              </a:rPr>
              <a:t> </a:t>
            </a:r>
            <a:r>
              <a:rPr sz="700" spc="-18" dirty="0">
                <a:latin typeface="Arial"/>
                <a:cs typeface="Arial"/>
              </a:rPr>
              <a:t>2000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343" y="660667"/>
            <a:ext cx="5517894" cy="442131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2800" dirty="0">
                <a:solidFill>
                  <a:srgbClr val="323299"/>
                </a:solidFill>
              </a:rPr>
              <a:t>Laser</a:t>
            </a:r>
            <a:r>
              <a:rPr sz="2800" spc="-53" dirty="0">
                <a:solidFill>
                  <a:srgbClr val="323299"/>
                </a:solidFill>
              </a:rPr>
              <a:t> </a:t>
            </a:r>
            <a:r>
              <a:rPr sz="2800" dirty="0">
                <a:solidFill>
                  <a:srgbClr val="323299"/>
                </a:solidFill>
              </a:rPr>
              <a:t>Operation</a:t>
            </a:r>
            <a:r>
              <a:rPr sz="2800" spc="-61" dirty="0">
                <a:solidFill>
                  <a:srgbClr val="323299"/>
                </a:solidFill>
              </a:rPr>
              <a:t> </a:t>
            </a:r>
            <a:r>
              <a:rPr sz="2800" dirty="0">
                <a:solidFill>
                  <a:srgbClr val="323299"/>
                </a:solidFill>
              </a:rPr>
              <a:t>&amp;</a:t>
            </a:r>
            <a:r>
              <a:rPr sz="2800" spc="-39" dirty="0">
                <a:solidFill>
                  <a:srgbClr val="323299"/>
                </a:solidFill>
              </a:rPr>
              <a:t> </a:t>
            </a:r>
            <a:r>
              <a:rPr sz="2800" dirty="0">
                <a:solidFill>
                  <a:srgbClr val="323299"/>
                </a:solidFill>
              </a:rPr>
              <a:t>Lasing</a:t>
            </a:r>
            <a:r>
              <a:rPr sz="2800" spc="-39" dirty="0">
                <a:solidFill>
                  <a:srgbClr val="323299"/>
                </a:solidFill>
              </a:rPr>
              <a:t> </a:t>
            </a:r>
            <a:r>
              <a:rPr sz="2800" spc="-9" dirty="0">
                <a:solidFill>
                  <a:srgbClr val="323299"/>
                </a:solidFill>
              </a:rPr>
              <a:t>Condition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315671" y="1377132"/>
            <a:ext cx="6490937" cy="1119239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311233" marR="4454" indent="-300655">
              <a:spcBef>
                <a:spcPts val="88"/>
              </a:spcBef>
              <a:buChar char="•"/>
              <a:tabLst>
                <a:tab pos="311233" algn="l"/>
                <a:tab pos="5975791" algn="l"/>
              </a:tabLst>
            </a:pPr>
            <a:r>
              <a:rPr dirty="0">
                <a:latin typeface="Arial"/>
                <a:cs typeface="Arial"/>
              </a:rPr>
              <a:t>To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determine</a:t>
            </a:r>
            <a:r>
              <a:rPr spc="-4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lasing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condition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resonant</a:t>
            </a:r>
            <a:r>
              <a:rPr spc="-4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frequencies,</a:t>
            </a:r>
            <a:r>
              <a:rPr spc="-61" dirty="0">
                <a:latin typeface="Arial"/>
                <a:cs typeface="Arial"/>
              </a:rPr>
              <a:t> </a:t>
            </a:r>
            <a:r>
              <a:rPr spc="-22" dirty="0">
                <a:latin typeface="Arial"/>
                <a:cs typeface="Arial"/>
              </a:rPr>
              <a:t>we </a:t>
            </a:r>
            <a:r>
              <a:rPr dirty="0">
                <a:latin typeface="Arial"/>
                <a:cs typeface="Arial"/>
              </a:rPr>
              <a:t>should</a:t>
            </a:r>
            <a:r>
              <a:rPr spc="-4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focus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on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optical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wave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propagation</a:t>
            </a:r>
            <a:r>
              <a:rPr spc="-4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along</a:t>
            </a:r>
            <a:r>
              <a:rPr spc="-22" dirty="0">
                <a:latin typeface="Arial"/>
                <a:cs typeface="Arial"/>
              </a:rPr>
              <a:t> the </a:t>
            </a:r>
            <a:r>
              <a:rPr dirty="0">
                <a:latin typeface="Arial"/>
                <a:cs typeface="Arial"/>
              </a:rPr>
              <a:t>longitudinal</a:t>
            </a:r>
            <a:r>
              <a:rPr spc="-4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direction,</a:t>
            </a:r>
            <a:r>
              <a:rPr spc="-57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z</a:t>
            </a:r>
            <a:r>
              <a:rPr dirty="0">
                <a:latin typeface="Arial"/>
                <a:cs typeface="Arial"/>
              </a:rPr>
              <a:t>-axis.</a:t>
            </a:r>
            <a:r>
              <a:rPr spc="-5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optical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field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intensity,</a:t>
            </a:r>
            <a:r>
              <a:rPr spc="-44" dirty="0">
                <a:latin typeface="Arial"/>
                <a:cs typeface="Arial"/>
              </a:rPr>
              <a:t> </a:t>
            </a:r>
            <a:r>
              <a:rPr i="1" spc="-22" dirty="0">
                <a:latin typeface="Arial"/>
                <a:cs typeface="Arial"/>
              </a:rPr>
              <a:t>I</a:t>
            </a:r>
            <a:r>
              <a:rPr spc="-22" dirty="0">
                <a:latin typeface="Arial"/>
                <a:cs typeface="Arial"/>
              </a:rPr>
              <a:t>,</a:t>
            </a:r>
            <a:r>
              <a:rPr dirty="0">
                <a:latin typeface="Arial"/>
                <a:cs typeface="Arial"/>
              </a:rPr>
              <a:t>	can</a:t>
            </a:r>
            <a:r>
              <a:rPr spc="-22" dirty="0">
                <a:latin typeface="Arial"/>
                <a:cs typeface="Arial"/>
              </a:rPr>
              <a:t> be </a:t>
            </a:r>
            <a:r>
              <a:rPr dirty="0">
                <a:latin typeface="Arial"/>
                <a:cs typeface="Arial"/>
              </a:rPr>
              <a:t>written</a:t>
            </a:r>
            <a:r>
              <a:rPr spc="-66" dirty="0">
                <a:latin typeface="Arial"/>
                <a:cs typeface="Arial"/>
              </a:rPr>
              <a:t> </a:t>
            </a:r>
            <a:r>
              <a:rPr spc="-22" dirty="0">
                <a:latin typeface="Arial"/>
                <a:cs typeface="Arial"/>
              </a:rPr>
              <a:t>as:</a:t>
            </a:r>
            <a:endParaRPr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65032" y="2598896"/>
            <a:ext cx="2302290" cy="544723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33406">
              <a:spcBef>
                <a:spcPts val="88"/>
              </a:spcBef>
            </a:pPr>
            <a:r>
              <a:rPr sz="2200" i="1" spc="-9" dirty="0">
                <a:latin typeface="Times New Roman"/>
                <a:cs typeface="Times New Roman"/>
              </a:rPr>
              <a:t>I</a:t>
            </a:r>
            <a:r>
              <a:rPr sz="2200" i="1" spc="-219" dirty="0">
                <a:latin typeface="Times New Roman"/>
                <a:cs typeface="Times New Roman"/>
              </a:rPr>
              <a:t> </a:t>
            </a:r>
            <a:r>
              <a:rPr sz="2200" spc="-9" dirty="0">
                <a:latin typeface="Times New Roman"/>
                <a:cs typeface="Times New Roman"/>
              </a:rPr>
              <a:t>(</a:t>
            </a:r>
            <a:r>
              <a:rPr sz="2200" spc="-329" dirty="0">
                <a:latin typeface="Times New Roman"/>
                <a:cs typeface="Times New Roman"/>
              </a:rPr>
              <a:t> </a:t>
            </a:r>
            <a:r>
              <a:rPr sz="2200" i="1" spc="57" dirty="0">
                <a:latin typeface="Times New Roman"/>
                <a:cs typeface="Times New Roman"/>
              </a:rPr>
              <a:t>z</a:t>
            </a:r>
            <a:r>
              <a:rPr sz="2200" spc="57" dirty="0">
                <a:latin typeface="Times New Roman"/>
                <a:cs typeface="Times New Roman"/>
              </a:rPr>
              <a:t>,</a:t>
            </a:r>
            <a:r>
              <a:rPr sz="2200" spc="-302" dirty="0">
                <a:latin typeface="Times New Roman"/>
                <a:cs typeface="Times New Roman"/>
              </a:rPr>
              <a:t> </a:t>
            </a:r>
            <a:r>
              <a:rPr sz="2200" i="1" spc="-9" dirty="0">
                <a:latin typeface="Times New Roman"/>
                <a:cs typeface="Times New Roman"/>
              </a:rPr>
              <a:t>t</a:t>
            </a:r>
            <a:r>
              <a:rPr sz="2200" i="1" spc="-3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spc="3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FreeSerif"/>
                <a:cs typeface="FreeSerif"/>
              </a:rPr>
              <a:t>=</a:t>
            </a:r>
            <a:r>
              <a:rPr sz="2200" spc="145" dirty="0">
                <a:latin typeface="FreeSerif"/>
                <a:cs typeface="FreeSerif"/>
              </a:rPr>
              <a:t> </a:t>
            </a:r>
            <a:r>
              <a:rPr sz="2200" i="1" spc="-9" dirty="0">
                <a:latin typeface="Times New Roman"/>
                <a:cs typeface="Times New Roman"/>
              </a:rPr>
              <a:t>I</a:t>
            </a:r>
            <a:r>
              <a:rPr sz="2200" i="1" spc="-219" dirty="0">
                <a:latin typeface="Times New Roman"/>
                <a:cs typeface="Times New Roman"/>
              </a:rPr>
              <a:t> </a:t>
            </a:r>
            <a:r>
              <a:rPr sz="2200" spc="-9" dirty="0">
                <a:latin typeface="Times New Roman"/>
                <a:cs typeface="Times New Roman"/>
              </a:rPr>
              <a:t>(</a:t>
            </a:r>
            <a:r>
              <a:rPr sz="2200" spc="-324" dirty="0">
                <a:latin typeface="Times New Roman"/>
                <a:cs typeface="Times New Roman"/>
              </a:rPr>
              <a:t> </a:t>
            </a:r>
            <a:r>
              <a:rPr sz="2200" i="1" spc="61" dirty="0">
                <a:latin typeface="Times New Roman"/>
                <a:cs typeface="Times New Roman"/>
              </a:rPr>
              <a:t>z</a:t>
            </a:r>
            <a:r>
              <a:rPr sz="2200" spc="61" dirty="0">
                <a:latin typeface="Times New Roman"/>
                <a:cs typeface="Times New Roman"/>
              </a:rPr>
              <a:t>)</a:t>
            </a:r>
            <a:r>
              <a:rPr sz="2200" i="1" spc="61" dirty="0">
                <a:latin typeface="Times New Roman"/>
                <a:cs typeface="Times New Roman"/>
              </a:rPr>
              <a:t>e</a:t>
            </a:r>
            <a:r>
              <a:rPr sz="2200" i="1" spc="-136" dirty="0">
                <a:latin typeface="Times New Roman"/>
                <a:cs typeface="Times New Roman"/>
              </a:rPr>
              <a:t> </a:t>
            </a:r>
            <a:r>
              <a:rPr sz="1900" i="1" baseline="42145" dirty="0">
                <a:latin typeface="Times New Roman"/>
                <a:cs typeface="Times New Roman"/>
              </a:rPr>
              <a:t>j</a:t>
            </a:r>
            <a:r>
              <a:rPr sz="1900" i="1" spc="-237" baseline="42145" dirty="0">
                <a:latin typeface="Times New Roman"/>
                <a:cs typeface="Times New Roman"/>
              </a:rPr>
              <a:t> </a:t>
            </a:r>
            <a:r>
              <a:rPr sz="1900" baseline="42145" dirty="0">
                <a:latin typeface="Times New Roman"/>
                <a:cs typeface="Times New Roman"/>
              </a:rPr>
              <a:t>(</a:t>
            </a:r>
            <a:r>
              <a:rPr sz="2000" i="1" baseline="39426" dirty="0">
                <a:latin typeface="DejaVu Sans Mono"/>
                <a:cs typeface="DejaVu Sans Mono"/>
              </a:rPr>
              <a:t>ω</a:t>
            </a:r>
            <a:r>
              <a:rPr sz="1900" i="1" baseline="42145" dirty="0">
                <a:latin typeface="Times New Roman"/>
                <a:cs typeface="Times New Roman"/>
              </a:rPr>
              <a:t>t</a:t>
            </a:r>
            <a:r>
              <a:rPr sz="1900" i="1" spc="-217" baseline="42145" dirty="0">
                <a:latin typeface="Times New Roman"/>
                <a:cs typeface="Times New Roman"/>
              </a:rPr>
              <a:t> </a:t>
            </a:r>
            <a:r>
              <a:rPr sz="1900" spc="105" baseline="42145" dirty="0">
                <a:latin typeface="FreeSerif"/>
                <a:cs typeface="FreeSerif"/>
              </a:rPr>
              <a:t>−</a:t>
            </a:r>
            <a:r>
              <a:rPr sz="1900" spc="-249" baseline="42145" dirty="0">
                <a:latin typeface="FreeSerif"/>
                <a:cs typeface="FreeSerif"/>
              </a:rPr>
              <a:t> </a:t>
            </a:r>
            <a:r>
              <a:rPr sz="2000" i="1" spc="-66" baseline="39426" dirty="0">
                <a:latin typeface="DejaVu Sans Mono"/>
                <a:cs typeface="DejaVu Sans Mono"/>
              </a:rPr>
              <a:t>β</a:t>
            </a:r>
            <a:r>
              <a:rPr sz="1900" i="1" spc="-66" baseline="42145" dirty="0">
                <a:latin typeface="Times New Roman"/>
                <a:cs typeface="Times New Roman"/>
              </a:rPr>
              <a:t>z</a:t>
            </a:r>
            <a:r>
              <a:rPr sz="1900" i="1" spc="-223" baseline="42145" dirty="0">
                <a:latin typeface="Times New Roman"/>
                <a:cs typeface="Times New Roman"/>
              </a:rPr>
              <a:t> </a:t>
            </a:r>
            <a:r>
              <a:rPr sz="1900" spc="-66" baseline="42145" dirty="0">
                <a:latin typeface="Times New Roman"/>
                <a:cs typeface="Times New Roman"/>
              </a:rPr>
              <a:t>)</a:t>
            </a:r>
            <a:endParaRPr sz="1900" baseline="42145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66116" y="2740894"/>
            <a:ext cx="348058" cy="180521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1100" spc="-9" dirty="0">
                <a:latin typeface="Times New Roman"/>
                <a:cs typeface="Times New Roman"/>
              </a:rPr>
              <a:t>[4-</a:t>
            </a:r>
            <a:r>
              <a:rPr sz="1100" spc="-22" dirty="0">
                <a:latin typeface="Times New Roman"/>
                <a:cs typeface="Times New Roman"/>
              </a:rPr>
              <a:t>19]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5671" y="3534808"/>
            <a:ext cx="6527860" cy="3135176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311233" marR="43428" indent="-300655">
              <a:spcBef>
                <a:spcPts val="88"/>
              </a:spcBef>
              <a:buChar char="•"/>
              <a:tabLst>
                <a:tab pos="311233" algn="l"/>
              </a:tabLst>
            </a:pPr>
            <a:r>
              <a:rPr dirty="0">
                <a:latin typeface="Arial"/>
                <a:cs typeface="Arial"/>
              </a:rPr>
              <a:t>Lasing</a:t>
            </a:r>
            <a:r>
              <a:rPr spc="-5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is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condition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at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which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light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amplification</a:t>
            </a:r>
            <a:r>
              <a:rPr spc="-31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becomes </a:t>
            </a:r>
            <a:r>
              <a:rPr dirty="0">
                <a:latin typeface="Arial"/>
                <a:cs typeface="Arial"/>
              </a:rPr>
              <a:t>possible</a:t>
            </a:r>
            <a:r>
              <a:rPr spc="-5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by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virtue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population</a:t>
            </a:r>
            <a:r>
              <a:rPr spc="-4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inversion.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Then,</a:t>
            </a:r>
            <a:r>
              <a:rPr spc="-35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stimulated </a:t>
            </a:r>
            <a:r>
              <a:rPr dirty="0">
                <a:latin typeface="Arial"/>
                <a:cs typeface="Arial"/>
              </a:rPr>
              <a:t>emission</a:t>
            </a:r>
            <a:r>
              <a:rPr spc="-4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rate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into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given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EM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mode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is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proportional</a:t>
            </a:r>
            <a:r>
              <a:rPr spc="-5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22" dirty="0">
                <a:latin typeface="Arial"/>
                <a:cs typeface="Arial"/>
              </a:rPr>
              <a:t>the </a:t>
            </a:r>
            <a:r>
              <a:rPr dirty="0">
                <a:latin typeface="Arial"/>
                <a:cs typeface="Arial"/>
              </a:rPr>
              <a:t>intensity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optical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radiation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that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mode.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this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case,</a:t>
            </a:r>
            <a:r>
              <a:rPr spc="-39" dirty="0">
                <a:latin typeface="Arial"/>
                <a:cs typeface="Arial"/>
              </a:rPr>
              <a:t> </a:t>
            </a:r>
            <a:r>
              <a:rPr spc="-22" dirty="0">
                <a:latin typeface="Arial"/>
                <a:cs typeface="Arial"/>
              </a:rPr>
              <a:t>the </a:t>
            </a:r>
            <a:r>
              <a:rPr dirty="0">
                <a:latin typeface="Arial"/>
                <a:cs typeface="Arial"/>
              </a:rPr>
              <a:t>loss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gain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optical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field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optical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path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determine</a:t>
            </a:r>
            <a:r>
              <a:rPr spc="-48" dirty="0">
                <a:latin typeface="Arial"/>
                <a:cs typeface="Arial"/>
              </a:rPr>
              <a:t> </a:t>
            </a:r>
            <a:r>
              <a:rPr spc="-22" dirty="0">
                <a:latin typeface="Arial"/>
                <a:cs typeface="Arial"/>
              </a:rPr>
              <a:t>the</a:t>
            </a:r>
            <a:endParaRPr>
              <a:latin typeface="Arial"/>
              <a:cs typeface="Arial"/>
            </a:endParaRPr>
          </a:p>
          <a:p>
            <a:pPr marL="311233">
              <a:lnSpc>
                <a:spcPts val="2148"/>
              </a:lnSpc>
            </a:pPr>
            <a:r>
              <a:rPr dirty="0">
                <a:latin typeface="Arial"/>
                <a:cs typeface="Arial"/>
              </a:rPr>
              <a:t>lasing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condition.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radiation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intensity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photon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at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energy</a:t>
            </a:r>
            <a:r>
              <a:rPr spc="250" dirty="0">
                <a:latin typeface="Arial"/>
                <a:cs typeface="Arial"/>
              </a:rPr>
              <a:t> </a:t>
            </a:r>
            <a:r>
              <a:rPr sz="3200" i="1" spc="-32" baseline="-4629" dirty="0">
                <a:latin typeface="Times New Roman"/>
                <a:cs typeface="Times New Roman"/>
              </a:rPr>
              <a:t>h</a:t>
            </a:r>
            <a:r>
              <a:rPr sz="3300" i="1" spc="-32" baseline="-4444" dirty="0">
                <a:latin typeface="DejaVu Sans Mono"/>
                <a:cs typeface="DejaVu Sans Mono"/>
              </a:rPr>
              <a:t>ν</a:t>
            </a:r>
            <a:endParaRPr sz="3300" baseline="-4444">
              <a:latin typeface="DejaVu Sans Mono"/>
              <a:cs typeface="DejaVu Sans Mono"/>
            </a:endParaRPr>
          </a:p>
          <a:p>
            <a:pPr marL="311233" marR="164803">
              <a:lnSpc>
                <a:spcPts val="2104"/>
              </a:lnSpc>
              <a:spcBef>
                <a:spcPts val="26"/>
              </a:spcBef>
            </a:pPr>
            <a:r>
              <a:rPr dirty="0">
                <a:latin typeface="Arial"/>
                <a:cs typeface="Arial"/>
              </a:rPr>
              <a:t>varies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exponentially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with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distance</a:t>
            </a:r>
            <a:r>
              <a:rPr spc="-4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z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amplified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by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factor</a:t>
            </a:r>
            <a:r>
              <a:rPr spc="-48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g</a:t>
            </a:r>
            <a:r>
              <a:rPr dirty="0">
                <a:latin typeface="Arial"/>
                <a:cs typeface="Arial"/>
              </a:rPr>
              <a:t>,</a:t>
            </a:r>
            <a:r>
              <a:rPr spc="-22" dirty="0">
                <a:latin typeface="Arial"/>
                <a:cs typeface="Arial"/>
              </a:rPr>
              <a:t> and </a:t>
            </a:r>
            <a:r>
              <a:rPr dirty="0">
                <a:latin typeface="Arial"/>
                <a:cs typeface="Arial"/>
              </a:rPr>
              <a:t>attenuated</a:t>
            </a:r>
            <a:r>
              <a:rPr spc="-5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by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factor</a:t>
            </a:r>
            <a:r>
              <a:rPr spc="22" dirty="0">
                <a:latin typeface="Arial"/>
                <a:cs typeface="Arial"/>
              </a:rPr>
              <a:t> </a:t>
            </a:r>
            <a:r>
              <a:rPr sz="3100" i="1" strike="sngStrike" baseline="-4728" dirty="0">
                <a:latin typeface="DejaVu Sans Mono"/>
                <a:cs typeface="DejaVu Sans Mono"/>
              </a:rPr>
              <a:t>α</a:t>
            </a:r>
            <a:r>
              <a:rPr sz="3100" i="1" spc="519" baseline="-4728" dirty="0">
                <a:latin typeface="DejaVu Sans Mono"/>
                <a:cs typeface="DejaVu Sans Mono"/>
              </a:rPr>
              <a:t> </a:t>
            </a:r>
            <a:r>
              <a:rPr dirty="0">
                <a:latin typeface="Arial"/>
                <a:cs typeface="Arial"/>
              </a:rPr>
              <a:t>according</a:t>
            </a:r>
            <a:r>
              <a:rPr spc="-57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following</a:t>
            </a:r>
            <a:r>
              <a:rPr spc="-13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relationship:</a:t>
            </a:r>
            <a:endParaRPr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2706" y="674498"/>
            <a:ext cx="2914785" cy="442131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2800" dirty="0">
                <a:solidFill>
                  <a:srgbClr val="323299"/>
                </a:solidFill>
              </a:rPr>
              <a:t>Single</a:t>
            </a:r>
            <a:r>
              <a:rPr sz="2800" spc="-53" dirty="0">
                <a:solidFill>
                  <a:srgbClr val="323299"/>
                </a:solidFill>
              </a:rPr>
              <a:t> </a:t>
            </a:r>
            <a:r>
              <a:rPr sz="2800" dirty="0">
                <a:solidFill>
                  <a:srgbClr val="323299"/>
                </a:solidFill>
              </a:rPr>
              <a:t>Mode</a:t>
            </a:r>
            <a:r>
              <a:rPr sz="2800" spc="-61" dirty="0">
                <a:solidFill>
                  <a:srgbClr val="323299"/>
                </a:solidFill>
              </a:rPr>
              <a:t> </a:t>
            </a:r>
            <a:r>
              <a:rPr sz="2800" spc="-9" dirty="0">
                <a:solidFill>
                  <a:srgbClr val="323299"/>
                </a:solidFill>
              </a:rPr>
              <a:t>Laser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315671" y="1361917"/>
            <a:ext cx="6433380" cy="5630731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311233" marR="187631" indent="-300655">
              <a:spcBef>
                <a:spcPts val="88"/>
              </a:spcBef>
              <a:buChar char="•"/>
              <a:tabLst>
                <a:tab pos="311233" algn="l"/>
              </a:tabLst>
            </a:pPr>
            <a:r>
              <a:rPr sz="2100" dirty="0">
                <a:latin typeface="Arial"/>
                <a:cs typeface="Arial"/>
              </a:rPr>
              <a:t>Single</a:t>
            </a:r>
            <a:r>
              <a:rPr sz="2100" spc="-39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mode</a:t>
            </a:r>
            <a:r>
              <a:rPr sz="2100" spc="-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laser</a:t>
            </a:r>
            <a:r>
              <a:rPr sz="2100" spc="-39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is</a:t>
            </a:r>
            <a:r>
              <a:rPr sz="2100" spc="-39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mostly</a:t>
            </a:r>
            <a:r>
              <a:rPr sz="2100" spc="-44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based</a:t>
            </a:r>
            <a:r>
              <a:rPr sz="2100" spc="-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on</a:t>
            </a:r>
            <a:r>
              <a:rPr sz="2100" spc="-48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-53" dirty="0">
                <a:latin typeface="Arial"/>
                <a:cs typeface="Arial"/>
              </a:rPr>
              <a:t> </a:t>
            </a:r>
            <a:r>
              <a:rPr sz="2100" spc="-9" dirty="0">
                <a:latin typeface="Arial"/>
                <a:cs typeface="Arial"/>
              </a:rPr>
              <a:t>index- </a:t>
            </a:r>
            <a:r>
              <a:rPr sz="2100" dirty="0">
                <a:latin typeface="Arial"/>
                <a:cs typeface="Arial"/>
              </a:rPr>
              <a:t>guided</a:t>
            </a:r>
            <a:r>
              <a:rPr sz="2100" spc="-48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structure</a:t>
            </a:r>
            <a:r>
              <a:rPr sz="2100" spc="-61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that</a:t>
            </a:r>
            <a:r>
              <a:rPr sz="2100" spc="-7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supports</a:t>
            </a:r>
            <a:r>
              <a:rPr sz="2100" spc="-48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only</a:t>
            </a:r>
            <a:r>
              <a:rPr sz="2100" spc="-44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-61" dirty="0">
                <a:latin typeface="Arial"/>
                <a:cs typeface="Arial"/>
              </a:rPr>
              <a:t> </a:t>
            </a:r>
            <a:r>
              <a:rPr sz="2100" spc="-9" dirty="0">
                <a:latin typeface="Arial"/>
                <a:cs typeface="Arial"/>
              </a:rPr>
              <a:t>fundamental </a:t>
            </a:r>
            <a:r>
              <a:rPr sz="2100" dirty="0">
                <a:latin typeface="Arial"/>
                <a:cs typeface="Arial"/>
              </a:rPr>
              <a:t>transverse</a:t>
            </a:r>
            <a:r>
              <a:rPr sz="2100" spc="-83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mode</a:t>
            </a:r>
            <a:r>
              <a:rPr sz="2100" spc="-7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and</a:t>
            </a:r>
            <a:r>
              <a:rPr sz="2100" spc="-7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-7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fundamental</a:t>
            </a:r>
            <a:r>
              <a:rPr sz="2100" spc="-70" dirty="0">
                <a:latin typeface="Arial"/>
                <a:cs typeface="Arial"/>
              </a:rPr>
              <a:t> </a:t>
            </a:r>
            <a:r>
              <a:rPr sz="2100" spc="-9" dirty="0">
                <a:latin typeface="Arial"/>
                <a:cs typeface="Arial"/>
              </a:rPr>
              <a:t>longitudinal </a:t>
            </a:r>
            <a:r>
              <a:rPr sz="2100" dirty="0">
                <a:latin typeface="Arial"/>
                <a:cs typeface="Arial"/>
              </a:rPr>
              <a:t>mode.</a:t>
            </a:r>
            <a:r>
              <a:rPr sz="2100" spc="-61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In</a:t>
            </a:r>
            <a:r>
              <a:rPr sz="2100" spc="-57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order</a:t>
            </a:r>
            <a:r>
              <a:rPr sz="2100" spc="-39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to</a:t>
            </a:r>
            <a:r>
              <a:rPr sz="2100" spc="-57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make</a:t>
            </a:r>
            <a:r>
              <a:rPr sz="2100" spc="-48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single</a:t>
            </a:r>
            <a:r>
              <a:rPr sz="2100" spc="-26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mode</a:t>
            </a:r>
            <a:r>
              <a:rPr sz="2100" spc="-48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laser</a:t>
            </a:r>
            <a:r>
              <a:rPr sz="2100" spc="-31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we</a:t>
            </a:r>
            <a:r>
              <a:rPr sz="2100" spc="-48" dirty="0">
                <a:latin typeface="Arial"/>
                <a:cs typeface="Arial"/>
              </a:rPr>
              <a:t> </a:t>
            </a:r>
            <a:r>
              <a:rPr sz="2100" spc="-18" dirty="0">
                <a:latin typeface="Arial"/>
                <a:cs typeface="Arial"/>
              </a:rPr>
              <a:t>have </a:t>
            </a:r>
            <a:r>
              <a:rPr sz="2100" dirty="0">
                <a:latin typeface="Arial"/>
                <a:cs typeface="Arial"/>
              </a:rPr>
              <a:t>four</a:t>
            </a:r>
            <a:r>
              <a:rPr sz="2100" spc="-53" dirty="0">
                <a:latin typeface="Arial"/>
                <a:cs typeface="Arial"/>
              </a:rPr>
              <a:t> </a:t>
            </a:r>
            <a:r>
              <a:rPr sz="2100" spc="-9" dirty="0">
                <a:latin typeface="Arial"/>
                <a:cs typeface="Arial"/>
              </a:rPr>
              <a:t>options:</a:t>
            </a:r>
            <a:endParaRPr sz="2100">
              <a:latin typeface="Arial"/>
              <a:cs typeface="Arial"/>
            </a:endParaRPr>
          </a:p>
          <a:p>
            <a:pPr marL="311233" marR="66255" lvl="1" indent="376932">
              <a:spcBef>
                <a:spcPts val="504"/>
              </a:spcBef>
              <a:buAutoNum type="arabicPlain"/>
              <a:tabLst>
                <a:tab pos="688165" algn="l"/>
              </a:tabLst>
            </a:pPr>
            <a:r>
              <a:rPr sz="2100" dirty="0">
                <a:latin typeface="Arial"/>
                <a:cs typeface="Arial"/>
              </a:rPr>
              <a:t>Reducing</a:t>
            </a:r>
            <a:r>
              <a:rPr sz="2100" spc="-18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-39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length</a:t>
            </a:r>
            <a:r>
              <a:rPr sz="2100" spc="-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of</a:t>
            </a:r>
            <a:r>
              <a:rPr sz="2100" spc="-48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-53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cavity</a:t>
            </a:r>
            <a:r>
              <a:rPr sz="2100" spc="-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to</a:t>
            </a:r>
            <a:r>
              <a:rPr sz="2100" spc="-53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-53" dirty="0">
                <a:latin typeface="Arial"/>
                <a:cs typeface="Arial"/>
              </a:rPr>
              <a:t> </a:t>
            </a:r>
            <a:r>
              <a:rPr sz="2100" spc="-9" dirty="0">
                <a:latin typeface="Arial"/>
                <a:cs typeface="Arial"/>
              </a:rPr>
              <a:t>point </a:t>
            </a:r>
            <a:r>
              <a:rPr sz="2100" dirty="0">
                <a:latin typeface="Arial"/>
                <a:cs typeface="Arial"/>
              </a:rPr>
              <a:t>where</a:t>
            </a:r>
            <a:r>
              <a:rPr sz="2100" spc="-57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-61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frequency</a:t>
            </a:r>
            <a:r>
              <a:rPr sz="2100" spc="-44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separation</a:t>
            </a:r>
            <a:r>
              <a:rPr sz="2100" spc="-48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given</a:t>
            </a:r>
            <a:r>
              <a:rPr sz="2100" spc="-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in</a:t>
            </a:r>
            <a:r>
              <a:rPr sz="2100" spc="-57" dirty="0">
                <a:latin typeface="Arial"/>
                <a:cs typeface="Arial"/>
              </a:rPr>
              <a:t> </a:t>
            </a:r>
            <a:r>
              <a:rPr sz="2100" spc="-18" dirty="0">
                <a:latin typeface="Arial"/>
                <a:cs typeface="Arial"/>
              </a:rPr>
              <a:t>eq[4-</a:t>
            </a:r>
            <a:r>
              <a:rPr sz="2100" dirty="0">
                <a:latin typeface="Arial"/>
                <a:cs typeface="Arial"/>
              </a:rPr>
              <a:t>31]</a:t>
            </a:r>
            <a:r>
              <a:rPr sz="2100" spc="-44" dirty="0">
                <a:latin typeface="Arial"/>
                <a:cs typeface="Arial"/>
              </a:rPr>
              <a:t> </a:t>
            </a:r>
            <a:r>
              <a:rPr sz="2100" spc="-22" dirty="0">
                <a:latin typeface="Arial"/>
                <a:cs typeface="Arial"/>
              </a:rPr>
              <a:t>of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-70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adjacent</a:t>
            </a:r>
            <a:r>
              <a:rPr sz="2100" spc="-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modes</a:t>
            </a:r>
            <a:r>
              <a:rPr sz="2100" spc="-44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is</a:t>
            </a:r>
            <a:r>
              <a:rPr sz="2100" spc="-44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larger</a:t>
            </a:r>
            <a:r>
              <a:rPr sz="2100" spc="-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than</a:t>
            </a:r>
            <a:r>
              <a:rPr sz="2100" spc="-48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the</a:t>
            </a:r>
            <a:r>
              <a:rPr sz="2100" spc="-57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laser</a:t>
            </a:r>
            <a:r>
              <a:rPr sz="2100" spc="-35" dirty="0">
                <a:latin typeface="Arial"/>
                <a:cs typeface="Arial"/>
              </a:rPr>
              <a:t> </a:t>
            </a:r>
            <a:r>
              <a:rPr sz="2100" spc="-9" dirty="0">
                <a:latin typeface="Arial"/>
                <a:cs typeface="Arial"/>
              </a:rPr>
              <a:t>transition </a:t>
            </a:r>
            <a:r>
              <a:rPr sz="2100" dirty="0">
                <a:latin typeface="Arial"/>
                <a:cs typeface="Arial"/>
              </a:rPr>
              <a:t>line</a:t>
            </a:r>
            <a:r>
              <a:rPr sz="2100" spc="-39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width.</a:t>
            </a:r>
            <a:r>
              <a:rPr sz="2100" spc="-39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This</a:t>
            </a:r>
            <a:r>
              <a:rPr sz="2100" spc="-44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is</a:t>
            </a:r>
            <a:r>
              <a:rPr sz="2100" spc="-44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hard</a:t>
            </a:r>
            <a:r>
              <a:rPr sz="2100" spc="-48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to</a:t>
            </a:r>
            <a:r>
              <a:rPr sz="2100" spc="-53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handle</a:t>
            </a:r>
            <a:r>
              <a:rPr sz="2100" spc="-22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for</a:t>
            </a:r>
            <a:r>
              <a:rPr sz="2100" spc="-57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fabrication</a:t>
            </a:r>
            <a:r>
              <a:rPr sz="2100" spc="-39" dirty="0">
                <a:latin typeface="Arial"/>
                <a:cs typeface="Arial"/>
              </a:rPr>
              <a:t> </a:t>
            </a:r>
            <a:r>
              <a:rPr sz="2100" spc="-22" dirty="0">
                <a:latin typeface="Arial"/>
                <a:cs typeface="Arial"/>
              </a:rPr>
              <a:t>and </a:t>
            </a:r>
            <a:r>
              <a:rPr sz="2100" dirty="0">
                <a:latin typeface="Arial"/>
                <a:cs typeface="Arial"/>
              </a:rPr>
              <a:t>results</a:t>
            </a:r>
            <a:r>
              <a:rPr sz="2100" spc="-57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in</a:t>
            </a:r>
            <a:r>
              <a:rPr sz="2100" spc="-44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low</a:t>
            </a:r>
            <a:r>
              <a:rPr sz="2100" spc="-31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output</a:t>
            </a:r>
            <a:r>
              <a:rPr sz="2100" spc="-53" dirty="0">
                <a:latin typeface="Arial"/>
                <a:cs typeface="Arial"/>
              </a:rPr>
              <a:t> </a:t>
            </a:r>
            <a:r>
              <a:rPr sz="2100" spc="-9" dirty="0">
                <a:latin typeface="Arial"/>
                <a:cs typeface="Arial"/>
              </a:rPr>
              <a:t>power.</a:t>
            </a:r>
            <a:endParaRPr sz="2100">
              <a:latin typeface="Arial"/>
              <a:cs typeface="Arial"/>
            </a:endParaRPr>
          </a:p>
          <a:p>
            <a:pPr marL="688165" lvl="1" indent="-310120">
              <a:spcBef>
                <a:spcPts val="504"/>
              </a:spcBef>
              <a:buFont typeface="Arial"/>
              <a:buAutoNum type="arabicPlain"/>
              <a:tabLst>
                <a:tab pos="688165" algn="l"/>
              </a:tabLst>
            </a:pPr>
            <a:r>
              <a:rPr sz="2100" b="1" spc="-9" dirty="0">
                <a:latin typeface="Arial"/>
                <a:cs typeface="Arial"/>
              </a:rPr>
              <a:t>Vertical-</a:t>
            </a:r>
            <a:r>
              <a:rPr sz="2100" b="1" dirty="0">
                <a:latin typeface="Arial"/>
                <a:cs typeface="Arial"/>
              </a:rPr>
              <a:t>Cavity</a:t>
            </a:r>
            <a:r>
              <a:rPr sz="2100" b="1" spc="-61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Surface</a:t>
            </a:r>
            <a:r>
              <a:rPr sz="2100" b="1" spc="-48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Emitting</a:t>
            </a:r>
            <a:r>
              <a:rPr sz="2100" b="1" spc="-88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laser</a:t>
            </a:r>
            <a:r>
              <a:rPr sz="2100" b="1" spc="-57" dirty="0">
                <a:latin typeface="Arial"/>
                <a:cs typeface="Arial"/>
              </a:rPr>
              <a:t> </a:t>
            </a:r>
            <a:r>
              <a:rPr sz="2100" b="1" spc="-9" dirty="0">
                <a:latin typeface="Arial"/>
                <a:cs typeface="Arial"/>
              </a:rPr>
              <a:t>(VCSEL)</a:t>
            </a:r>
            <a:endParaRPr sz="2100">
              <a:latin typeface="Arial"/>
              <a:cs typeface="Arial"/>
            </a:endParaRPr>
          </a:p>
          <a:p>
            <a:pPr marL="688165" lvl="1" indent="-310120">
              <a:spcBef>
                <a:spcPts val="504"/>
              </a:spcBef>
              <a:buAutoNum type="arabicPlain"/>
              <a:tabLst>
                <a:tab pos="688165" algn="l"/>
              </a:tabLst>
            </a:pPr>
            <a:r>
              <a:rPr sz="2100" dirty="0">
                <a:latin typeface="Arial"/>
                <a:cs typeface="Arial"/>
              </a:rPr>
              <a:t>Structures</a:t>
            </a:r>
            <a:r>
              <a:rPr sz="2100" spc="-61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with</a:t>
            </a:r>
            <a:r>
              <a:rPr sz="2100" spc="-39" dirty="0">
                <a:latin typeface="Arial"/>
                <a:cs typeface="Arial"/>
              </a:rPr>
              <a:t> </a:t>
            </a:r>
            <a:r>
              <a:rPr sz="2100" spc="-18" dirty="0">
                <a:latin typeface="Arial"/>
                <a:cs typeface="Arial"/>
              </a:rPr>
              <a:t>built-</a:t>
            </a:r>
            <a:r>
              <a:rPr sz="2100" dirty="0">
                <a:latin typeface="Arial"/>
                <a:cs typeface="Arial"/>
              </a:rPr>
              <a:t>in</a:t>
            </a:r>
            <a:r>
              <a:rPr sz="2100" spc="-44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frequency</a:t>
            </a:r>
            <a:r>
              <a:rPr sz="2100" spc="-35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selective</a:t>
            </a:r>
            <a:r>
              <a:rPr sz="2100" spc="-44" dirty="0">
                <a:latin typeface="Arial"/>
                <a:cs typeface="Arial"/>
              </a:rPr>
              <a:t> </a:t>
            </a:r>
            <a:r>
              <a:rPr sz="2100" spc="-9" dirty="0">
                <a:latin typeface="Arial"/>
                <a:cs typeface="Arial"/>
              </a:rPr>
              <a:t>grating</a:t>
            </a:r>
            <a:endParaRPr sz="2100">
              <a:latin typeface="Arial"/>
              <a:cs typeface="Arial"/>
            </a:endParaRPr>
          </a:p>
          <a:p>
            <a:pPr marL="688165" lvl="1" indent="-310120">
              <a:spcBef>
                <a:spcPts val="504"/>
              </a:spcBef>
              <a:buAutoNum type="arabicPlain"/>
              <a:tabLst>
                <a:tab pos="688165" algn="l"/>
              </a:tabLst>
            </a:pPr>
            <a:r>
              <a:rPr sz="2100" dirty="0">
                <a:latin typeface="Arial"/>
                <a:cs typeface="Arial"/>
              </a:rPr>
              <a:t>tunable</a:t>
            </a:r>
            <a:r>
              <a:rPr sz="2100" spc="-53" dirty="0">
                <a:latin typeface="Arial"/>
                <a:cs typeface="Arial"/>
              </a:rPr>
              <a:t> </a:t>
            </a:r>
            <a:r>
              <a:rPr sz="2100" dirty="0">
                <a:latin typeface="Arial"/>
                <a:cs typeface="Arial"/>
              </a:rPr>
              <a:t>laser</a:t>
            </a:r>
            <a:r>
              <a:rPr sz="2100" spc="-61" dirty="0">
                <a:latin typeface="Arial"/>
                <a:cs typeface="Arial"/>
              </a:rPr>
              <a:t> </a:t>
            </a:r>
            <a:r>
              <a:rPr sz="2100" spc="-9" dirty="0">
                <a:latin typeface="Arial"/>
                <a:cs typeface="Arial"/>
              </a:rPr>
              <a:t>diodes</a:t>
            </a:r>
            <a:endParaRPr sz="2100">
              <a:latin typeface="Arial"/>
              <a:cs typeface="Arial"/>
            </a:endParaRPr>
          </a:p>
          <a:p>
            <a:pPr marL="11135">
              <a:spcBef>
                <a:spcPts val="424"/>
              </a:spcBef>
            </a:pPr>
            <a:r>
              <a:rPr spc="-44" dirty="0">
                <a:latin typeface="Arial"/>
                <a:cs typeface="Arial"/>
              </a:rPr>
              <a:t>.</a:t>
            </a:r>
            <a:endParaRPr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442131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2850095">
              <a:spcBef>
                <a:spcPts val="88"/>
              </a:spcBef>
            </a:pPr>
            <a:r>
              <a:rPr sz="2800" spc="-9" dirty="0">
                <a:solidFill>
                  <a:srgbClr val="323299"/>
                </a:solidFill>
              </a:rPr>
              <a:t>VCSEL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661910" y="1160442"/>
            <a:ext cx="7819097" cy="5380360"/>
            <a:chOff x="774067" y="1278635"/>
            <a:chExt cx="9144000" cy="59283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4067" y="1278635"/>
              <a:ext cx="4776215" cy="33192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93797" y="4207763"/>
              <a:ext cx="5224256" cy="2999231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1540" y="645452"/>
            <a:ext cx="4076790" cy="980740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97434" marR="4454" indent="-86856">
              <a:spcBef>
                <a:spcPts val="88"/>
              </a:spcBef>
            </a:pPr>
            <a:r>
              <a:rPr sz="2100" spc="-18" dirty="0">
                <a:solidFill>
                  <a:srgbClr val="323299"/>
                </a:solidFill>
                <a:latin typeface="Arial"/>
                <a:cs typeface="Arial"/>
              </a:rPr>
              <a:t>Frequency-</a:t>
            </a:r>
            <a:r>
              <a:rPr sz="2100" dirty="0">
                <a:solidFill>
                  <a:srgbClr val="323299"/>
                </a:solidFill>
                <a:latin typeface="Arial"/>
                <a:cs typeface="Arial"/>
              </a:rPr>
              <a:t>Selective</a:t>
            </a:r>
            <a:r>
              <a:rPr sz="2100" spc="-26" dirty="0">
                <a:solidFill>
                  <a:srgbClr val="32329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323299"/>
                </a:solidFill>
                <a:latin typeface="Arial"/>
                <a:cs typeface="Arial"/>
              </a:rPr>
              <a:t>Laser</a:t>
            </a:r>
            <a:r>
              <a:rPr sz="2100" spc="-31" dirty="0">
                <a:solidFill>
                  <a:srgbClr val="323299"/>
                </a:solidFill>
                <a:latin typeface="Arial"/>
                <a:cs typeface="Arial"/>
              </a:rPr>
              <a:t> </a:t>
            </a:r>
            <a:r>
              <a:rPr sz="2100" spc="-9" dirty="0">
                <a:solidFill>
                  <a:srgbClr val="323299"/>
                </a:solidFill>
                <a:latin typeface="Arial"/>
                <a:cs typeface="Arial"/>
              </a:rPr>
              <a:t>Diodes: </a:t>
            </a:r>
            <a:r>
              <a:rPr sz="2100" dirty="0">
                <a:solidFill>
                  <a:srgbClr val="323299"/>
                </a:solidFill>
                <a:latin typeface="Arial"/>
                <a:cs typeface="Arial"/>
              </a:rPr>
              <a:t>Distributed</a:t>
            </a:r>
            <a:r>
              <a:rPr sz="2100" spc="-57" dirty="0">
                <a:solidFill>
                  <a:srgbClr val="32329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323299"/>
                </a:solidFill>
                <a:latin typeface="Arial"/>
                <a:cs typeface="Arial"/>
              </a:rPr>
              <a:t>Feedback</a:t>
            </a:r>
            <a:r>
              <a:rPr sz="2100" spc="-66" dirty="0">
                <a:solidFill>
                  <a:srgbClr val="32329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323299"/>
                </a:solidFill>
                <a:latin typeface="Arial"/>
                <a:cs typeface="Arial"/>
              </a:rPr>
              <a:t>(DFB)</a:t>
            </a:r>
            <a:r>
              <a:rPr sz="2100" spc="-66" dirty="0">
                <a:solidFill>
                  <a:srgbClr val="323299"/>
                </a:solidFill>
                <a:latin typeface="Arial"/>
                <a:cs typeface="Arial"/>
              </a:rPr>
              <a:t> </a:t>
            </a:r>
            <a:r>
              <a:rPr sz="2100" spc="-9" dirty="0">
                <a:solidFill>
                  <a:srgbClr val="323299"/>
                </a:solidFill>
                <a:latin typeface="Arial"/>
                <a:cs typeface="Arial"/>
              </a:rPr>
              <a:t>Laser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380" y="1542769"/>
            <a:ext cx="7504112" cy="1885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89116" y="2456431"/>
            <a:ext cx="439281" cy="281078"/>
          </a:xfrm>
          <a:prstGeom prst="rect">
            <a:avLst/>
          </a:prstGeom>
          <a:solidFill>
            <a:srgbClr val="BAE0E3"/>
          </a:solidFill>
        </p:spPr>
        <p:txBody>
          <a:bodyPr vert="horz" wrap="square" lIns="0" tIns="34520" rIns="0" bIns="0" rtlCol="0">
            <a:spAutoFit/>
          </a:bodyPr>
          <a:lstStyle/>
          <a:p>
            <a:pPr marL="80175">
              <a:spcBef>
                <a:spcPts val="272"/>
              </a:spcBef>
            </a:pPr>
            <a:r>
              <a:rPr sz="1600" spc="-44" dirty="0">
                <a:latin typeface="Symbol"/>
                <a:cs typeface="Symbol"/>
              </a:rPr>
              <a:t>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03275" y="5420471"/>
            <a:ext cx="693402" cy="0"/>
          </a:xfrm>
          <a:custGeom>
            <a:avLst/>
            <a:gdLst/>
            <a:ahLst/>
            <a:cxnLst/>
            <a:rect l="l" t="t" r="r" b="b"/>
            <a:pathLst>
              <a:path w="810895">
                <a:moveTo>
                  <a:pt x="0" y="0"/>
                </a:moveTo>
                <a:lnTo>
                  <a:pt x="810765" y="0"/>
                </a:lnTo>
              </a:path>
            </a:pathLst>
          </a:custGeom>
          <a:ln w="14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25677" y="5419294"/>
            <a:ext cx="244890" cy="399901"/>
          </a:xfrm>
          <a:prstGeom prst="rect">
            <a:avLst/>
          </a:prstGeom>
        </p:spPr>
        <p:txBody>
          <a:bodyPr vert="horz" wrap="square" lIns="0" tIns="15033" rIns="0" bIns="0" rtlCol="0">
            <a:spAutoFit/>
          </a:bodyPr>
          <a:lstStyle/>
          <a:p>
            <a:pPr marL="11135">
              <a:spcBef>
                <a:spcPts val="118"/>
              </a:spcBef>
            </a:pPr>
            <a:r>
              <a:rPr sz="2500" i="1" spc="-44" dirty="0">
                <a:latin typeface="Times New Roman"/>
                <a:cs typeface="Times New Roman"/>
              </a:rPr>
              <a:t>m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92842" y="4957330"/>
            <a:ext cx="704261" cy="399901"/>
          </a:xfrm>
          <a:prstGeom prst="rect">
            <a:avLst/>
          </a:prstGeom>
        </p:spPr>
        <p:txBody>
          <a:bodyPr vert="horz" wrap="square" lIns="0" tIns="15033" rIns="0" bIns="0" rtlCol="0">
            <a:spAutoFit/>
          </a:bodyPr>
          <a:lstStyle/>
          <a:p>
            <a:pPr marL="33406">
              <a:spcBef>
                <a:spcPts val="118"/>
              </a:spcBef>
            </a:pPr>
            <a:r>
              <a:rPr sz="2500" spc="48" dirty="0">
                <a:latin typeface="Times New Roman"/>
                <a:cs typeface="Times New Roman"/>
              </a:rPr>
              <a:t>2</a:t>
            </a:r>
            <a:r>
              <a:rPr sz="2500" i="1" spc="48" dirty="0">
                <a:latin typeface="Times New Roman"/>
                <a:cs typeface="Times New Roman"/>
              </a:rPr>
              <a:t>n</a:t>
            </a:r>
            <a:r>
              <a:rPr sz="2200" i="1" spc="72" baseline="-23569" dirty="0">
                <a:latin typeface="Times New Roman"/>
                <a:cs typeface="Times New Roman"/>
              </a:rPr>
              <a:t>e</a:t>
            </a:r>
            <a:r>
              <a:rPr sz="2200" i="1" spc="-263" baseline="-23569" dirty="0">
                <a:latin typeface="Times New Roman"/>
                <a:cs typeface="Times New Roman"/>
              </a:rPr>
              <a:t> </a:t>
            </a:r>
            <a:r>
              <a:rPr sz="2500" spc="-44" dirty="0">
                <a:latin typeface="FreeSerif"/>
                <a:cs typeface="FreeSerif"/>
              </a:rPr>
              <a:t>Λ</a:t>
            </a:r>
            <a:endParaRPr sz="2500">
              <a:latin typeface="FreeSerif"/>
              <a:cs typeface="Free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05020" y="5382712"/>
            <a:ext cx="131947" cy="227250"/>
          </a:xfrm>
          <a:prstGeom prst="rect">
            <a:avLst/>
          </a:prstGeom>
        </p:spPr>
        <p:txBody>
          <a:bodyPr vert="horz" wrap="square" lIns="0" tIns="11692" rIns="0" bIns="0" rtlCol="0">
            <a:spAutoFit/>
          </a:bodyPr>
          <a:lstStyle/>
          <a:p>
            <a:pPr marL="11135">
              <a:spcBef>
                <a:spcPts val="92"/>
              </a:spcBef>
            </a:pPr>
            <a:r>
              <a:rPr sz="1400" i="1" spc="-44" dirty="0">
                <a:latin typeface="Times New Roman"/>
                <a:cs typeface="Times New Roman"/>
              </a:rPr>
              <a:t>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22572" y="5146174"/>
            <a:ext cx="603265" cy="411353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2600" i="1" spc="-223" dirty="0">
                <a:latin typeface="DejaVu Sans Mono"/>
                <a:cs typeface="DejaVu Sans Mono"/>
              </a:rPr>
              <a:t>λ</a:t>
            </a:r>
            <a:r>
              <a:rPr sz="2600" i="1" spc="373" dirty="0">
                <a:latin typeface="DejaVu Sans Mono"/>
                <a:cs typeface="DejaVu Sans Mono"/>
              </a:rPr>
              <a:t> </a:t>
            </a:r>
            <a:r>
              <a:rPr sz="2500" spc="-44" dirty="0">
                <a:latin typeface="FreeSerif"/>
                <a:cs typeface="FreeSerif"/>
              </a:rPr>
              <a:t>=</a:t>
            </a:r>
            <a:endParaRPr sz="2500">
              <a:latin typeface="FreeSerif"/>
              <a:cs typeface="Free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71060" y="5270630"/>
            <a:ext cx="348058" cy="180521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1100" spc="-9" dirty="0">
                <a:latin typeface="Times New Roman"/>
                <a:cs typeface="Times New Roman"/>
              </a:rPr>
              <a:t>[4-</a:t>
            </a:r>
            <a:r>
              <a:rPr sz="1100" spc="-22" dirty="0">
                <a:latin typeface="Times New Roman"/>
                <a:cs typeface="Times New Roman"/>
              </a:rPr>
              <a:t>33]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1835" y="3428769"/>
            <a:ext cx="7196372" cy="136467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706626" y="5267863"/>
            <a:ext cx="1450334" cy="503686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1600" dirty="0">
                <a:solidFill>
                  <a:srgbClr val="323299"/>
                </a:solidFill>
                <a:latin typeface="Times New Roman"/>
                <a:cs typeface="Times New Roman"/>
              </a:rPr>
              <a:t>Bragg</a:t>
            </a:r>
            <a:r>
              <a:rPr sz="1600" spc="-35" dirty="0">
                <a:solidFill>
                  <a:srgbClr val="323299"/>
                </a:solidFill>
                <a:latin typeface="Times New Roman"/>
                <a:cs typeface="Times New Roman"/>
              </a:rPr>
              <a:t> </a:t>
            </a:r>
            <a:r>
              <a:rPr sz="1600" spc="-9" dirty="0">
                <a:solidFill>
                  <a:srgbClr val="323299"/>
                </a:solidFill>
                <a:latin typeface="Times New Roman"/>
                <a:cs typeface="Times New Roman"/>
              </a:rPr>
              <a:t>wavelength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79182" y="5902030"/>
            <a:ext cx="4693087" cy="564363"/>
          </a:xfrm>
          <a:prstGeom prst="rect">
            <a:avLst/>
          </a:prstGeom>
        </p:spPr>
        <p:txBody>
          <a:bodyPr vert="horz" wrap="square" lIns="0" tIns="12805" rIns="0" bIns="0" rtlCol="0">
            <a:spAutoFit/>
          </a:bodyPr>
          <a:lstStyle/>
          <a:p>
            <a:pPr marL="11135">
              <a:lnSpc>
                <a:spcPts val="1670"/>
              </a:lnSpc>
              <a:spcBef>
                <a:spcPts val="100"/>
              </a:spcBef>
              <a:tabLst>
                <a:tab pos="277827" algn="l"/>
              </a:tabLst>
            </a:pPr>
            <a:r>
              <a:rPr i="1" spc="-44" dirty="0">
                <a:latin typeface="Symbol"/>
                <a:cs typeface="Symbol"/>
              </a:rPr>
              <a:t></a:t>
            </a:r>
            <a:r>
              <a:rPr dirty="0">
                <a:latin typeface="Times New Roman"/>
                <a:cs typeface="Times New Roman"/>
              </a:rPr>
              <a:t>	:</a:t>
            </a:r>
            <a:r>
              <a:rPr spc="-22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effective</a:t>
            </a:r>
            <a:r>
              <a:rPr spc="-4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refractive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index;</a:t>
            </a:r>
            <a:r>
              <a:rPr spc="-39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m</a:t>
            </a:r>
            <a:r>
              <a:rPr i="1" spc="-13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:</a:t>
            </a:r>
            <a:r>
              <a:rPr spc="-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order</a:t>
            </a:r>
            <a:r>
              <a:rPr spc="-31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of</a:t>
            </a:r>
            <a:r>
              <a:rPr spc="-22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13" dirty="0">
                <a:latin typeface="Times New Roman"/>
                <a:cs typeface="Times New Roman"/>
              </a:rPr>
              <a:t> </a:t>
            </a:r>
            <a:r>
              <a:rPr spc="-9" dirty="0">
                <a:latin typeface="Times New Roman"/>
                <a:cs typeface="Times New Roman"/>
              </a:rPr>
              <a:t>grating</a:t>
            </a:r>
            <a:endParaRPr>
              <a:latin typeface="Times New Roman"/>
              <a:cs typeface="Times New Roman"/>
            </a:endParaRPr>
          </a:p>
          <a:p>
            <a:pPr marL="133624">
              <a:lnSpc>
                <a:spcPts val="828"/>
              </a:lnSpc>
            </a:pPr>
            <a:r>
              <a:rPr sz="1100" i="1" spc="-44" dirty="0">
                <a:latin typeface="Times New Roman"/>
                <a:cs typeface="Times New Roman"/>
              </a:rPr>
              <a:t>B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3300" y="534802"/>
            <a:ext cx="5036259" cy="657575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 marR="4454" indent="499421">
              <a:spcBef>
                <a:spcPts val="88"/>
              </a:spcBef>
            </a:pPr>
            <a:r>
              <a:rPr sz="2100" spc="-18" dirty="0">
                <a:solidFill>
                  <a:srgbClr val="323299"/>
                </a:solidFill>
              </a:rPr>
              <a:t>Frequency-</a:t>
            </a:r>
            <a:r>
              <a:rPr sz="2100" dirty="0">
                <a:solidFill>
                  <a:srgbClr val="323299"/>
                </a:solidFill>
              </a:rPr>
              <a:t>Selective</a:t>
            </a:r>
            <a:r>
              <a:rPr sz="2100" spc="-22" dirty="0">
                <a:solidFill>
                  <a:srgbClr val="323299"/>
                </a:solidFill>
              </a:rPr>
              <a:t> </a:t>
            </a:r>
            <a:r>
              <a:rPr sz="2100" dirty="0">
                <a:solidFill>
                  <a:srgbClr val="323299"/>
                </a:solidFill>
              </a:rPr>
              <a:t>laser</a:t>
            </a:r>
            <a:r>
              <a:rPr sz="2100" spc="-22" dirty="0">
                <a:solidFill>
                  <a:srgbClr val="323299"/>
                </a:solidFill>
              </a:rPr>
              <a:t> </a:t>
            </a:r>
            <a:r>
              <a:rPr sz="2100" spc="-9" dirty="0">
                <a:solidFill>
                  <a:srgbClr val="323299"/>
                </a:solidFill>
              </a:rPr>
              <a:t>Diodes: </a:t>
            </a:r>
            <a:r>
              <a:rPr sz="2100" dirty="0">
                <a:solidFill>
                  <a:srgbClr val="323299"/>
                </a:solidFill>
              </a:rPr>
              <a:t>Distributed</a:t>
            </a:r>
            <a:r>
              <a:rPr sz="2100" spc="-66" dirty="0">
                <a:solidFill>
                  <a:srgbClr val="323299"/>
                </a:solidFill>
              </a:rPr>
              <a:t> </a:t>
            </a:r>
            <a:r>
              <a:rPr sz="2100" dirty="0">
                <a:solidFill>
                  <a:srgbClr val="323299"/>
                </a:solidFill>
              </a:rPr>
              <a:t>Feedback</a:t>
            </a:r>
            <a:r>
              <a:rPr sz="2100" spc="-66" dirty="0">
                <a:solidFill>
                  <a:srgbClr val="323299"/>
                </a:solidFill>
              </a:rPr>
              <a:t> </a:t>
            </a:r>
            <a:r>
              <a:rPr sz="2100" dirty="0">
                <a:solidFill>
                  <a:srgbClr val="323299"/>
                </a:solidFill>
              </a:rPr>
              <a:t>Reflector</a:t>
            </a:r>
            <a:r>
              <a:rPr sz="2100" spc="-75" dirty="0">
                <a:solidFill>
                  <a:srgbClr val="323299"/>
                </a:solidFill>
              </a:rPr>
              <a:t> </a:t>
            </a:r>
            <a:r>
              <a:rPr sz="2100" dirty="0">
                <a:solidFill>
                  <a:srgbClr val="323299"/>
                </a:solidFill>
              </a:rPr>
              <a:t>(DBR)</a:t>
            </a:r>
            <a:r>
              <a:rPr sz="2100" spc="-66" dirty="0">
                <a:solidFill>
                  <a:srgbClr val="323299"/>
                </a:solidFill>
              </a:rPr>
              <a:t> </a:t>
            </a:r>
            <a:r>
              <a:rPr sz="2100" spc="-9" dirty="0">
                <a:solidFill>
                  <a:srgbClr val="323299"/>
                </a:solidFill>
              </a:rPr>
              <a:t>laser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408" y="1937760"/>
            <a:ext cx="6776551" cy="35449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001407"/>
          </a:xfrm>
          <a:prstGeom prst="rect">
            <a:avLst/>
          </a:prstGeom>
        </p:spPr>
        <p:txBody>
          <a:bodyPr vert="horz" wrap="square" lIns="0" tIns="229722" rIns="0" bIns="0" rtlCol="0">
            <a:spAutoFit/>
          </a:bodyPr>
          <a:lstStyle/>
          <a:p>
            <a:pPr marL="1321767" marR="4454" indent="-251659">
              <a:spcBef>
                <a:spcPts val="83"/>
              </a:spcBef>
            </a:pPr>
            <a:r>
              <a:rPr sz="2500" spc="-18" dirty="0">
                <a:solidFill>
                  <a:srgbClr val="323299"/>
                </a:solidFill>
              </a:rPr>
              <a:t>Frequency-</a:t>
            </a:r>
            <a:r>
              <a:rPr sz="2500" dirty="0">
                <a:solidFill>
                  <a:srgbClr val="323299"/>
                </a:solidFill>
              </a:rPr>
              <a:t>Selective</a:t>
            </a:r>
            <a:r>
              <a:rPr sz="2500" spc="-13" dirty="0">
                <a:solidFill>
                  <a:srgbClr val="323299"/>
                </a:solidFill>
              </a:rPr>
              <a:t> </a:t>
            </a:r>
            <a:r>
              <a:rPr sz="2500" dirty="0">
                <a:solidFill>
                  <a:srgbClr val="323299"/>
                </a:solidFill>
              </a:rPr>
              <a:t>Laser</a:t>
            </a:r>
            <a:r>
              <a:rPr sz="2500" spc="-9" dirty="0">
                <a:solidFill>
                  <a:srgbClr val="323299"/>
                </a:solidFill>
              </a:rPr>
              <a:t> Diodes: </a:t>
            </a:r>
            <a:r>
              <a:rPr sz="2500" dirty="0">
                <a:solidFill>
                  <a:srgbClr val="323299"/>
                </a:solidFill>
              </a:rPr>
              <a:t>Distributed</a:t>
            </a:r>
            <a:r>
              <a:rPr sz="2500" spc="-70" dirty="0">
                <a:solidFill>
                  <a:srgbClr val="323299"/>
                </a:solidFill>
              </a:rPr>
              <a:t> </a:t>
            </a:r>
            <a:r>
              <a:rPr sz="2500" dirty="0">
                <a:solidFill>
                  <a:srgbClr val="323299"/>
                </a:solidFill>
              </a:rPr>
              <a:t>Reflector</a:t>
            </a:r>
            <a:r>
              <a:rPr sz="2500" spc="-70" dirty="0">
                <a:solidFill>
                  <a:srgbClr val="323299"/>
                </a:solidFill>
              </a:rPr>
              <a:t> </a:t>
            </a:r>
            <a:r>
              <a:rPr sz="2500" dirty="0">
                <a:solidFill>
                  <a:srgbClr val="323299"/>
                </a:solidFill>
              </a:rPr>
              <a:t>(DR)</a:t>
            </a:r>
            <a:r>
              <a:rPr sz="2500" spc="-61" dirty="0">
                <a:solidFill>
                  <a:srgbClr val="323299"/>
                </a:solidFill>
              </a:rPr>
              <a:t> </a:t>
            </a:r>
            <a:r>
              <a:rPr sz="2500" spc="-9" dirty="0">
                <a:solidFill>
                  <a:srgbClr val="323299"/>
                </a:solidFill>
              </a:rPr>
              <a:t>Laser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657" y="2067774"/>
            <a:ext cx="6857348" cy="35103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31597"/>
          </a:xfrm>
          <a:prstGeom prst="rect">
            <a:avLst/>
          </a:prstGeom>
        </p:spPr>
        <p:txBody>
          <a:bodyPr vert="horz" wrap="square" lIns="0" tIns="92089" rIns="0" bIns="0" rtlCol="0">
            <a:spAutoFit/>
          </a:bodyPr>
          <a:lstStyle/>
          <a:p>
            <a:pPr marL="2939735">
              <a:spcBef>
                <a:spcPts val="83"/>
              </a:spcBef>
            </a:pPr>
            <a:r>
              <a:rPr sz="3500" b="1" spc="-9" dirty="0">
                <a:latin typeface="Arial"/>
                <a:cs typeface="Arial"/>
              </a:rPr>
              <a:t>Chirp</a:t>
            </a:r>
            <a:endParaRPr sz="35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386" y="1225449"/>
            <a:ext cx="7428143" cy="48755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3916" y="4599813"/>
            <a:ext cx="6522973" cy="2154907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92642">
              <a:spcBef>
                <a:spcPts val="88"/>
              </a:spcBef>
            </a:pPr>
            <a:r>
              <a:rPr dirty="0">
                <a:latin typeface="Arial"/>
                <a:cs typeface="Arial"/>
              </a:rPr>
              <a:t>A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pulse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can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have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frequency</a:t>
            </a:r>
            <a:r>
              <a:rPr spc="-4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that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varies</a:t>
            </a:r>
            <a:r>
              <a:rPr spc="-3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-9" dirty="0">
                <a:latin typeface="Arial"/>
                <a:cs typeface="Arial"/>
              </a:rPr>
              <a:t> time.</a:t>
            </a:r>
            <a:endParaRPr>
              <a:latin typeface="Arial"/>
              <a:cs typeface="Arial"/>
            </a:endParaRPr>
          </a:p>
          <a:p>
            <a:pPr marL="11135" marR="4454">
              <a:lnSpc>
                <a:spcPct val="220000"/>
              </a:lnSpc>
              <a:spcBef>
                <a:spcPts val="246"/>
              </a:spcBef>
            </a:pPr>
            <a:r>
              <a:rPr dirty="0">
                <a:latin typeface="Arial"/>
                <a:cs typeface="Arial"/>
              </a:rPr>
              <a:t>This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pulse</a:t>
            </a:r>
            <a:r>
              <a:rPr spc="-26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increases</a:t>
            </a:r>
            <a:r>
              <a:rPr spc="-4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its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frequency</a:t>
            </a:r>
            <a:r>
              <a:rPr spc="-57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linearly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time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(from</a:t>
            </a:r>
            <a:r>
              <a:rPr spc="-5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red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18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blue). </a:t>
            </a:r>
            <a:r>
              <a:rPr dirty="0">
                <a:latin typeface="Arial"/>
                <a:cs typeface="Arial"/>
              </a:rPr>
              <a:t>In</a:t>
            </a:r>
            <a:r>
              <a:rPr spc="-3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analogy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bird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sounds,</a:t>
            </a:r>
            <a:r>
              <a:rPr spc="-4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this</a:t>
            </a:r>
            <a:r>
              <a:rPr spc="-18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pulse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is</a:t>
            </a:r>
            <a:r>
              <a:rPr spc="-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called</a:t>
            </a:r>
            <a:r>
              <a:rPr spc="-22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-13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"chirped"</a:t>
            </a:r>
            <a:r>
              <a:rPr spc="-39" dirty="0">
                <a:latin typeface="Arial"/>
                <a:cs typeface="Arial"/>
              </a:rPr>
              <a:t> </a:t>
            </a:r>
            <a:r>
              <a:rPr spc="-9" dirty="0">
                <a:latin typeface="Arial"/>
                <a:cs typeface="Arial"/>
              </a:rPr>
              <a:t>pulse.</a:t>
            </a:r>
            <a:endParaRPr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8341" y="662518"/>
            <a:ext cx="7037188" cy="34578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985202"/>
          </a:xfrm>
          <a:prstGeom prst="rect">
            <a:avLst/>
          </a:prstGeom>
        </p:spPr>
        <p:txBody>
          <a:bodyPr vert="horz" wrap="square" lIns="0" tIns="305114" rIns="0" bIns="0" rtlCol="0">
            <a:spAutoFit/>
          </a:bodyPr>
          <a:lstStyle/>
          <a:p>
            <a:pPr marL="502762">
              <a:spcBef>
                <a:spcPts val="88"/>
              </a:spcBef>
            </a:pPr>
            <a:r>
              <a:rPr dirty="0">
                <a:solidFill>
                  <a:srgbClr val="CC0000"/>
                </a:solidFill>
              </a:rPr>
              <a:t>External</a:t>
            </a:r>
            <a:r>
              <a:rPr spc="-110" dirty="0">
                <a:solidFill>
                  <a:srgbClr val="CC0000"/>
                </a:solidFill>
              </a:rPr>
              <a:t> </a:t>
            </a:r>
            <a:r>
              <a:rPr dirty="0">
                <a:solidFill>
                  <a:srgbClr val="CC0000"/>
                </a:solidFill>
              </a:rPr>
              <a:t>Optical</a:t>
            </a:r>
            <a:r>
              <a:rPr spc="-100" dirty="0">
                <a:solidFill>
                  <a:srgbClr val="CC0000"/>
                </a:solidFill>
              </a:rPr>
              <a:t> </a:t>
            </a:r>
            <a:r>
              <a:rPr spc="-9" dirty="0">
                <a:solidFill>
                  <a:srgbClr val="CC0000"/>
                </a:solidFill>
              </a:rPr>
              <a:t>Modulation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38834" y="1563684"/>
            <a:ext cx="1273318" cy="967036"/>
            <a:chOff x="5190969" y="1722948"/>
            <a:chExt cx="1489075" cy="1065530"/>
          </a:xfrm>
        </p:grpSpPr>
        <p:sp>
          <p:nvSpPr>
            <p:cNvPr id="4" name="object 4"/>
            <p:cNvSpPr/>
            <p:nvPr/>
          </p:nvSpPr>
          <p:spPr>
            <a:xfrm>
              <a:off x="5829734" y="1737198"/>
              <a:ext cx="730250" cy="1005205"/>
            </a:xfrm>
            <a:custGeom>
              <a:avLst/>
              <a:gdLst/>
              <a:ahLst/>
              <a:cxnLst/>
              <a:rect l="l" t="t" r="r" b="b"/>
              <a:pathLst>
                <a:path w="730250" h="1005205">
                  <a:moveTo>
                    <a:pt x="0" y="502553"/>
                  </a:moveTo>
                  <a:lnTo>
                    <a:pt x="2141" y="447794"/>
                  </a:lnTo>
                  <a:lnTo>
                    <a:pt x="8418" y="394743"/>
                  </a:lnTo>
                  <a:lnTo>
                    <a:pt x="18608" y="343707"/>
                  </a:lnTo>
                  <a:lnTo>
                    <a:pt x="32488" y="294992"/>
                  </a:lnTo>
                  <a:lnTo>
                    <a:pt x="49834" y="248904"/>
                  </a:lnTo>
                  <a:lnTo>
                    <a:pt x="70426" y="205751"/>
                  </a:lnTo>
                  <a:lnTo>
                    <a:pt x="94039" y="165839"/>
                  </a:lnTo>
                  <a:lnTo>
                    <a:pt x="120452" y="129474"/>
                  </a:lnTo>
                  <a:lnTo>
                    <a:pt x="149441" y="96963"/>
                  </a:lnTo>
                  <a:lnTo>
                    <a:pt x="180784" y="68613"/>
                  </a:lnTo>
                  <a:lnTo>
                    <a:pt x="214258" y="44729"/>
                  </a:lnTo>
                  <a:lnTo>
                    <a:pt x="249641" y="25620"/>
                  </a:lnTo>
                  <a:lnTo>
                    <a:pt x="286710" y="11591"/>
                  </a:lnTo>
                  <a:lnTo>
                    <a:pt x="325243" y="2948"/>
                  </a:lnTo>
                  <a:lnTo>
                    <a:pt x="365016" y="0"/>
                  </a:lnTo>
                  <a:lnTo>
                    <a:pt x="404788" y="2948"/>
                  </a:lnTo>
                  <a:lnTo>
                    <a:pt x="443320" y="11591"/>
                  </a:lnTo>
                  <a:lnTo>
                    <a:pt x="480388" y="25620"/>
                  </a:lnTo>
                  <a:lnTo>
                    <a:pt x="515770" y="44729"/>
                  </a:lnTo>
                  <a:lnTo>
                    <a:pt x="549243" y="68613"/>
                  </a:lnTo>
                  <a:lnTo>
                    <a:pt x="580585" y="96963"/>
                  </a:lnTo>
                  <a:lnTo>
                    <a:pt x="609573" y="129474"/>
                  </a:lnTo>
                  <a:lnTo>
                    <a:pt x="635984" y="165839"/>
                  </a:lnTo>
                  <a:lnTo>
                    <a:pt x="659596" y="205751"/>
                  </a:lnTo>
                  <a:lnTo>
                    <a:pt x="680186" y="248904"/>
                  </a:lnTo>
                  <a:lnTo>
                    <a:pt x="697531" y="294992"/>
                  </a:lnTo>
                  <a:lnTo>
                    <a:pt x="711410" y="343707"/>
                  </a:lnTo>
                  <a:lnTo>
                    <a:pt x="721598" y="394743"/>
                  </a:lnTo>
                  <a:lnTo>
                    <a:pt x="727875" y="447794"/>
                  </a:lnTo>
                  <a:lnTo>
                    <a:pt x="730016" y="502553"/>
                  </a:lnTo>
                  <a:lnTo>
                    <a:pt x="727875" y="557312"/>
                  </a:lnTo>
                  <a:lnTo>
                    <a:pt x="721598" y="610363"/>
                  </a:lnTo>
                  <a:lnTo>
                    <a:pt x="711410" y="661399"/>
                  </a:lnTo>
                  <a:lnTo>
                    <a:pt x="697531" y="710114"/>
                  </a:lnTo>
                  <a:lnTo>
                    <a:pt x="680186" y="756202"/>
                  </a:lnTo>
                  <a:lnTo>
                    <a:pt x="659596" y="799355"/>
                  </a:lnTo>
                  <a:lnTo>
                    <a:pt x="635984" y="839267"/>
                  </a:lnTo>
                  <a:lnTo>
                    <a:pt x="609573" y="875632"/>
                  </a:lnTo>
                  <a:lnTo>
                    <a:pt x="580585" y="908143"/>
                  </a:lnTo>
                  <a:lnTo>
                    <a:pt x="549243" y="936493"/>
                  </a:lnTo>
                  <a:lnTo>
                    <a:pt x="515770" y="960377"/>
                  </a:lnTo>
                  <a:lnTo>
                    <a:pt x="480388" y="979486"/>
                  </a:lnTo>
                  <a:lnTo>
                    <a:pt x="443320" y="993515"/>
                  </a:lnTo>
                  <a:lnTo>
                    <a:pt x="404788" y="1002158"/>
                  </a:lnTo>
                  <a:lnTo>
                    <a:pt x="365016" y="1005107"/>
                  </a:lnTo>
                  <a:lnTo>
                    <a:pt x="325243" y="1002158"/>
                  </a:lnTo>
                  <a:lnTo>
                    <a:pt x="286710" y="993515"/>
                  </a:lnTo>
                  <a:lnTo>
                    <a:pt x="249641" y="979486"/>
                  </a:lnTo>
                  <a:lnTo>
                    <a:pt x="214258" y="960377"/>
                  </a:lnTo>
                  <a:lnTo>
                    <a:pt x="180784" y="936493"/>
                  </a:lnTo>
                  <a:lnTo>
                    <a:pt x="149441" y="908143"/>
                  </a:lnTo>
                  <a:lnTo>
                    <a:pt x="120452" y="875632"/>
                  </a:lnTo>
                  <a:lnTo>
                    <a:pt x="94039" y="839267"/>
                  </a:lnTo>
                  <a:lnTo>
                    <a:pt x="70426" y="799355"/>
                  </a:lnTo>
                  <a:lnTo>
                    <a:pt x="49834" y="756202"/>
                  </a:lnTo>
                  <a:lnTo>
                    <a:pt x="32488" y="710114"/>
                  </a:lnTo>
                  <a:lnTo>
                    <a:pt x="18608" y="661399"/>
                  </a:lnTo>
                  <a:lnTo>
                    <a:pt x="8418" y="610363"/>
                  </a:lnTo>
                  <a:lnTo>
                    <a:pt x="2141" y="557312"/>
                  </a:lnTo>
                  <a:lnTo>
                    <a:pt x="0" y="502553"/>
                  </a:lnTo>
                  <a:close/>
                </a:path>
              </a:pathLst>
            </a:custGeom>
            <a:ln w="2850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90960" y="2756534"/>
              <a:ext cx="1489075" cy="31750"/>
            </a:xfrm>
            <a:custGeom>
              <a:avLst/>
              <a:gdLst/>
              <a:ahLst/>
              <a:cxnLst/>
              <a:rect l="l" t="t" r="r" b="b"/>
              <a:pathLst>
                <a:path w="1489075" h="31750">
                  <a:moveTo>
                    <a:pt x="1488541" y="0"/>
                  </a:moveTo>
                  <a:lnTo>
                    <a:pt x="0" y="0"/>
                  </a:lnTo>
                  <a:lnTo>
                    <a:pt x="0" y="31318"/>
                  </a:lnTo>
                  <a:lnTo>
                    <a:pt x="1488541" y="31318"/>
                  </a:lnTo>
                  <a:lnTo>
                    <a:pt x="148854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82039" y="1737198"/>
              <a:ext cx="727710" cy="1005205"/>
            </a:xfrm>
            <a:custGeom>
              <a:avLst/>
              <a:gdLst/>
              <a:ahLst/>
              <a:cxnLst/>
              <a:rect l="l" t="t" r="r" b="b"/>
              <a:pathLst>
                <a:path w="727710" h="1005205">
                  <a:moveTo>
                    <a:pt x="0" y="502553"/>
                  </a:moveTo>
                  <a:lnTo>
                    <a:pt x="2133" y="447794"/>
                  </a:lnTo>
                  <a:lnTo>
                    <a:pt x="8385" y="394743"/>
                  </a:lnTo>
                  <a:lnTo>
                    <a:pt x="18535" y="343707"/>
                  </a:lnTo>
                  <a:lnTo>
                    <a:pt x="32360" y="294992"/>
                  </a:lnTo>
                  <a:lnTo>
                    <a:pt x="49639" y="248904"/>
                  </a:lnTo>
                  <a:lnTo>
                    <a:pt x="70149" y="205751"/>
                  </a:lnTo>
                  <a:lnTo>
                    <a:pt x="93670" y="165839"/>
                  </a:lnTo>
                  <a:lnTo>
                    <a:pt x="119979" y="129474"/>
                  </a:lnTo>
                  <a:lnTo>
                    <a:pt x="148854" y="96963"/>
                  </a:lnTo>
                  <a:lnTo>
                    <a:pt x="180074" y="68613"/>
                  </a:lnTo>
                  <a:lnTo>
                    <a:pt x="213417" y="44729"/>
                  </a:lnTo>
                  <a:lnTo>
                    <a:pt x="248661" y="25620"/>
                  </a:lnTo>
                  <a:lnTo>
                    <a:pt x="285585" y="11591"/>
                  </a:lnTo>
                  <a:lnTo>
                    <a:pt x="323965" y="2948"/>
                  </a:lnTo>
                  <a:lnTo>
                    <a:pt x="363582" y="0"/>
                  </a:lnTo>
                  <a:lnTo>
                    <a:pt x="403196" y="2948"/>
                  </a:lnTo>
                  <a:lnTo>
                    <a:pt x="441575" y="11591"/>
                  </a:lnTo>
                  <a:lnTo>
                    <a:pt x="478497" y="25620"/>
                  </a:lnTo>
                  <a:lnTo>
                    <a:pt x="513740" y="44729"/>
                  </a:lnTo>
                  <a:lnTo>
                    <a:pt x="547083" y="68613"/>
                  </a:lnTo>
                  <a:lnTo>
                    <a:pt x="578303" y="96963"/>
                  </a:lnTo>
                  <a:lnTo>
                    <a:pt x="607179" y="129474"/>
                  </a:lnTo>
                  <a:lnTo>
                    <a:pt x="633489" y="165839"/>
                  </a:lnTo>
                  <a:lnTo>
                    <a:pt x="657010" y="205751"/>
                  </a:lnTo>
                  <a:lnTo>
                    <a:pt x="677522" y="248904"/>
                  </a:lnTo>
                  <a:lnTo>
                    <a:pt x="694801" y="294992"/>
                  </a:lnTo>
                  <a:lnTo>
                    <a:pt x="708627" y="343707"/>
                  </a:lnTo>
                  <a:lnTo>
                    <a:pt x="718778" y="394743"/>
                  </a:lnTo>
                  <a:lnTo>
                    <a:pt x="725031" y="447794"/>
                  </a:lnTo>
                  <a:lnTo>
                    <a:pt x="727164" y="502553"/>
                  </a:lnTo>
                  <a:lnTo>
                    <a:pt x="725031" y="557312"/>
                  </a:lnTo>
                  <a:lnTo>
                    <a:pt x="718778" y="610363"/>
                  </a:lnTo>
                  <a:lnTo>
                    <a:pt x="708627" y="661399"/>
                  </a:lnTo>
                  <a:lnTo>
                    <a:pt x="694801" y="710114"/>
                  </a:lnTo>
                  <a:lnTo>
                    <a:pt x="677522" y="756202"/>
                  </a:lnTo>
                  <a:lnTo>
                    <a:pt x="657010" y="799355"/>
                  </a:lnTo>
                  <a:lnTo>
                    <a:pt x="633489" y="839267"/>
                  </a:lnTo>
                  <a:lnTo>
                    <a:pt x="607179" y="875632"/>
                  </a:lnTo>
                  <a:lnTo>
                    <a:pt x="578303" y="908143"/>
                  </a:lnTo>
                  <a:lnTo>
                    <a:pt x="547083" y="936493"/>
                  </a:lnTo>
                  <a:lnTo>
                    <a:pt x="513740" y="960377"/>
                  </a:lnTo>
                  <a:lnTo>
                    <a:pt x="478497" y="979486"/>
                  </a:lnTo>
                  <a:lnTo>
                    <a:pt x="441575" y="993515"/>
                  </a:lnTo>
                  <a:lnTo>
                    <a:pt x="403196" y="1002158"/>
                  </a:lnTo>
                  <a:lnTo>
                    <a:pt x="363582" y="1005107"/>
                  </a:lnTo>
                  <a:lnTo>
                    <a:pt x="323965" y="1002158"/>
                  </a:lnTo>
                  <a:lnTo>
                    <a:pt x="285585" y="993515"/>
                  </a:lnTo>
                  <a:lnTo>
                    <a:pt x="248661" y="979486"/>
                  </a:lnTo>
                  <a:lnTo>
                    <a:pt x="213417" y="960377"/>
                  </a:lnTo>
                  <a:lnTo>
                    <a:pt x="180074" y="936493"/>
                  </a:lnTo>
                  <a:lnTo>
                    <a:pt x="148854" y="908143"/>
                  </a:lnTo>
                  <a:lnTo>
                    <a:pt x="119979" y="875632"/>
                  </a:lnTo>
                  <a:lnTo>
                    <a:pt x="93670" y="839267"/>
                  </a:lnTo>
                  <a:lnTo>
                    <a:pt x="70149" y="799355"/>
                  </a:lnTo>
                  <a:lnTo>
                    <a:pt x="49639" y="756202"/>
                  </a:lnTo>
                  <a:lnTo>
                    <a:pt x="32360" y="710114"/>
                  </a:lnTo>
                  <a:lnTo>
                    <a:pt x="18535" y="661399"/>
                  </a:lnTo>
                  <a:lnTo>
                    <a:pt x="8385" y="610363"/>
                  </a:lnTo>
                  <a:lnTo>
                    <a:pt x="2133" y="557312"/>
                  </a:lnTo>
                  <a:lnTo>
                    <a:pt x="0" y="502553"/>
                  </a:lnTo>
                  <a:close/>
                </a:path>
              </a:pathLst>
            </a:custGeom>
            <a:ln w="2850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2695354" y="2501728"/>
            <a:ext cx="597835" cy="28815"/>
          </a:xfrm>
          <a:custGeom>
            <a:avLst/>
            <a:gdLst/>
            <a:ahLst/>
            <a:cxnLst/>
            <a:rect l="l" t="t" r="r" b="b"/>
            <a:pathLst>
              <a:path w="699135" h="31750">
                <a:moveTo>
                  <a:pt x="0" y="31318"/>
                </a:moveTo>
                <a:lnTo>
                  <a:pt x="698639" y="31318"/>
                </a:lnTo>
                <a:lnTo>
                  <a:pt x="698639" y="0"/>
                </a:lnTo>
                <a:lnTo>
                  <a:pt x="0" y="0"/>
                </a:lnTo>
                <a:lnTo>
                  <a:pt x="0" y="31318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857760" y="2403527"/>
            <a:ext cx="785710" cy="194214"/>
          </a:xfrm>
          <a:custGeom>
            <a:avLst/>
            <a:gdLst/>
            <a:ahLst/>
            <a:cxnLst/>
            <a:rect l="l" t="t" r="r" b="b"/>
            <a:pathLst>
              <a:path w="918845" h="213994">
                <a:moveTo>
                  <a:pt x="510425" y="76885"/>
                </a:moveTo>
                <a:lnTo>
                  <a:pt x="0" y="76885"/>
                </a:lnTo>
                <a:lnTo>
                  <a:pt x="0" y="108204"/>
                </a:lnTo>
                <a:lnTo>
                  <a:pt x="510425" y="108204"/>
                </a:lnTo>
                <a:lnTo>
                  <a:pt x="510425" y="76885"/>
                </a:lnTo>
                <a:close/>
              </a:path>
              <a:path w="918845" h="213994">
                <a:moveTo>
                  <a:pt x="918222" y="91122"/>
                </a:moveTo>
                <a:lnTo>
                  <a:pt x="510438" y="0"/>
                </a:lnTo>
                <a:lnTo>
                  <a:pt x="510438" y="213563"/>
                </a:lnTo>
                <a:lnTo>
                  <a:pt x="918222" y="9112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65800" y="2873846"/>
            <a:ext cx="26064" cy="554979"/>
          </a:xfrm>
          <a:custGeom>
            <a:avLst/>
            <a:gdLst/>
            <a:ahLst/>
            <a:cxnLst/>
            <a:rect l="l" t="t" r="r" b="b"/>
            <a:pathLst>
              <a:path w="30479" h="611504">
                <a:moveTo>
                  <a:pt x="30112" y="611428"/>
                </a:moveTo>
                <a:lnTo>
                  <a:pt x="28514" y="0"/>
                </a:lnTo>
                <a:lnTo>
                  <a:pt x="0" y="0"/>
                </a:lnTo>
                <a:lnTo>
                  <a:pt x="1589" y="611428"/>
                </a:lnTo>
                <a:lnTo>
                  <a:pt x="30112" y="611428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280582" y="2127043"/>
            <a:ext cx="1170693" cy="485224"/>
          </a:xfrm>
          <a:prstGeom prst="rect">
            <a:avLst/>
          </a:prstGeom>
          <a:ln w="28485">
            <a:solidFill>
              <a:srgbClr val="231F20"/>
            </a:solidFill>
          </a:ln>
        </p:spPr>
        <p:txBody>
          <a:bodyPr vert="horz" wrap="square" lIns="0" tIns="190971" rIns="0" bIns="0" rtlCol="0">
            <a:spAutoFit/>
          </a:bodyPr>
          <a:lstStyle/>
          <a:p>
            <a:pPr marL="333504">
              <a:spcBef>
                <a:spcPts val="1504"/>
              </a:spcBef>
            </a:pPr>
            <a:r>
              <a:rPr sz="1900" spc="-22" dirty="0">
                <a:solidFill>
                  <a:srgbClr val="231F20"/>
                </a:solidFill>
                <a:latin typeface="Times New Roman"/>
                <a:cs typeface="Times New Roman"/>
              </a:rPr>
              <a:t>EOM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78405" y="2973082"/>
            <a:ext cx="519101" cy="280232"/>
          </a:xfrm>
          <a:prstGeom prst="rect">
            <a:avLst/>
          </a:prstGeom>
        </p:spPr>
        <p:txBody>
          <a:bodyPr vert="horz" wrap="square" lIns="0" tIns="13362" rIns="0" bIns="0" rtlCol="0">
            <a:spAutoFit/>
          </a:bodyPr>
          <a:lstStyle/>
          <a:p>
            <a:pPr marL="33406">
              <a:spcBef>
                <a:spcPts val="105"/>
              </a:spcBef>
            </a:pPr>
            <a:r>
              <a:rPr sz="1700" spc="48" dirty="0">
                <a:solidFill>
                  <a:srgbClr val="231F20"/>
                </a:solidFill>
                <a:latin typeface="Times New Roman"/>
                <a:cs typeface="Times New Roman"/>
              </a:rPr>
              <a:t>RF</a:t>
            </a:r>
            <a:r>
              <a:rPr sz="1700" spc="-127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600" spc="-32" baseline="-19943" dirty="0">
                <a:solidFill>
                  <a:srgbClr val="231F20"/>
                </a:solidFill>
                <a:latin typeface="Times New Roman"/>
                <a:cs typeface="Times New Roman"/>
              </a:rPr>
              <a:t>in</a:t>
            </a:r>
            <a:endParaRPr sz="2600" baseline="-1994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9511" y="2127043"/>
            <a:ext cx="1170693" cy="869834"/>
          </a:xfrm>
          <a:prstGeom prst="rect">
            <a:avLst/>
          </a:prstGeom>
          <a:ln w="28485">
            <a:solidFill>
              <a:srgbClr val="231F20"/>
            </a:solidFill>
          </a:ln>
        </p:spPr>
        <p:txBody>
          <a:bodyPr vert="horz" wrap="square" lIns="0" tIns="137522" rIns="0" bIns="0" rtlCol="0">
            <a:spAutoFit/>
          </a:bodyPr>
          <a:lstStyle/>
          <a:p>
            <a:pPr marL="179835" marR="186517">
              <a:lnSpc>
                <a:spcPts val="1885"/>
              </a:lnSpc>
              <a:spcBef>
                <a:spcPts val="1083"/>
              </a:spcBef>
            </a:pPr>
            <a:r>
              <a:rPr sz="1900" spc="-9" dirty="0">
                <a:solidFill>
                  <a:srgbClr val="231F20"/>
                </a:solidFill>
                <a:latin typeface="Times New Roman"/>
                <a:cs typeface="Times New Roman"/>
              </a:rPr>
              <a:t>Photo Detector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34660" y="2127043"/>
            <a:ext cx="1173408" cy="850157"/>
          </a:xfrm>
          <a:prstGeom prst="rect">
            <a:avLst/>
          </a:prstGeom>
          <a:ln w="28484">
            <a:solidFill>
              <a:srgbClr val="231F20"/>
            </a:solidFill>
          </a:ln>
        </p:spPr>
        <p:txBody>
          <a:bodyPr vert="horz" wrap="square" lIns="0" tIns="118035" rIns="0" bIns="0" rtlCol="0">
            <a:spAutoFit/>
          </a:bodyPr>
          <a:lstStyle/>
          <a:p>
            <a:pPr marL="316801" marR="292303">
              <a:lnSpc>
                <a:spcPts val="1885"/>
              </a:lnSpc>
              <a:spcBef>
                <a:spcPts val="929"/>
              </a:spcBef>
            </a:pPr>
            <a:r>
              <a:rPr sz="1900" spc="-9" dirty="0">
                <a:solidFill>
                  <a:srgbClr val="231F20"/>
                </a:solidFill>
                <a:latin typeface="Times New Roman"/>
                <a:cs typeface="Times New Roman"/>
              </a:rPr>
              <a:t>Laser Diode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67201" y="2652986"/>
            <a:ext cx="1008534" cy="303631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1900" spc="-18" dirty="0">
                <a:solidFill>
                  <a:srgbClr val="231F20"/>
                </a:solidFill>
                <a:latin typeface="Times New Roman"/>
                <a:cs typeface="Times New Roman"/>
              </a:rPr>
              <a:t>F</a:t>
            </a:r>
            <a:r>
              <a:rPr sz="1900" spc="-193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900" spc="-136" dirty="0">
                <a:solidFill>
                  <a:srgbClr val="231F20"/>
                </a:solidFill>
                <a:latin typeface="Times New Roman"/>
                <a:cs typeface="Times New Roman"/>
              </a:rPr>
              <a:t>ib</a:t>
            </a:r>
            <a:r>
              <a:rPr sz="1900" spc="-289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900" spc="-35" dirty="0">
                <a:solidFill>
                  <a:srgbClr val="231F20"/>
                </a:solidFill>
                <a:latin typeface="Times New Roman"/>
                <a:cs typeface="Times New Roman"/>
              </a:rPr>
              <a:t>re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76673" y="2957911"/>
            <a:ext cx="1243127" cy="303631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>
              <a:spcBef>
                <a:spcPts val="88"/>
              </a:spcBef>
            </a:pPr>
            <a:r>
              <a:rPr sz="1900" dirty="0">
                <a:solidFill>
                  <a:srgbClr val="231F20"/>
                </a:solidFill>
                <a:latin typeface="Times New Roman"/>
                <a:cs typeface="Times New Roman"/>
              </a:rPr>
              <a:t>L</a:t>
            </a:r>
            <a:r>
              <a:rPr sz="1900" spc="-2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900" spc="-79" dirty="0">
                <a:solidFill>
                  <a:srgbClr val="231F20"/>
                </a:solidFill>
                <a:latin typeface="Times New Roman"/>
                <a:cs typeface="Times New Roman"/>
              </a:rPr>
              <a:t>ink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66324" y="2595419"/>
            <a:ext cx="294845" cy="275103"/>
          </a:xfrm>
          <a:prstGeom prst="rect">
            <a:avLst/>
          </a:prstGeom>
        </p:spPr>
        <p:txBody>
          <a:bodyPr vert="horz" wrap="square" lIns="0" tIns="13362" rIns="0" bIns="0" rtlCol="0">
            <a:spAutoFit/>
          </a:bodyPr>
          <a:lstStyle/>
          <a:p>
            <a:pPr marL="11135">
              <a:spcBef>
                <a:spcPts val="105"/>
              </a:spcBef>
            </a:pPr>
            <a:r>
              <a:rPr sz="1700" spc="26" dirty="0">
                <a:solidFill>
                  <a:srgbClr val="231F20"/>
                </a:solidFill>
                <a:latin typeface="Times New Roman"/>
                <a:cs typeface="Times New Roman"/>
              </a:rPr>
              <a:t>RF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24797" y="2721011"/>
            <a:ext cx="271496" cy="256341"/>
          </a:xfrm>
          <a:prstGeom prst="rect">
            <a:avLst/>
          </a:prstGeom>
        </p:spPr>
        <p:txBody>
          <a:bodyPr vert="horz" wrap="square" lIns="0" tIns="10022" rIns="0" bIns="0" rtlCol="0">
            <a:spAutoFit/>
          </a:bodyPr>
          <a:lstStyle/>
          <a:p>
            <a:pPr marL="11135">
              <a:spcBef>
                <a:spcPts val="79"/>
              </a:spcBef>
            </a:pPr>
            <a:r>
              <a:rPr sz="1600" spc="-22" dirty="0">
                <a:solidFill>
                  <a:srgbClr val="231F20"/>
                </a:solidFill>
                <a:latin typeface="Times New Roman"/>
                <a:cs typeface="Times New Roman"/>
              </a:rPr>
              <a:t>out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20194" y="4202857"/>
            <a:ext cx="6532204" cy="2319007"/>
          </a:xfrm>
          <a:prstGeom prst="rect">
            <a:avLst/>
          </a:prstGeom>
        </p:spPr>
        <p:txBody>
          <a:bodyPr vert="horz" wrap="square" lIns="0" tIns="10579" rIns="0" bIns="0" rtlCol="0">
            <a:spAutoFit/>
          </a:bodyPr>
          <a:lstStyle/>
          <a:p>
            <a:pPr marL="311233" indent="-300098">
              <a:spcBef>
                <a:spcPts val="83"/>
              </a:spcBef>
              <a:buChar char="•"/>
              <a:tabLst>
                <a:tab pos="311233" algn="l"/>
              </a:tabLst>
            </a:pPr>
            <a:r>
              <a:rPr sz="2500" dirty="0">
                <a:latin typeface="Arial"/>
                <a:cs typeface="Arial"/>
              </a:rPr>
              <a:t>Modulation</a:t>
            </a:r>
            <a:r>
              <a:rPr sz="2500" spc="-5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and</a:t>
            </a:r>
            <a:r>
              <a:rPr sz="2500" spc="-39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light</a:t>
            </a:r>
            <a:r>
              <a:rPr sz="2500" spc="-6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generation</a:t>
            </a:r>
            <a:r>
              <a:rPr sz="2500" spc="-39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are</a:t>
            </a:r>
            <a:r>
              <a:rPr sz="2500" spc="-53" dirty="0">
                <a:latin typeface="Arial"/>
                <a:cs typeface="Arial"/>
              </a:rPr>
              <a:t> </a:t>
            </a:r>
            <a:r>
              <a:rPr sz="2500" spc="-9" dirty="0">
                <a:latin typeface="Arial"/>
                <a:cs typeface="Arial"/>
              </a:rPr>
              <a:t>separated</a:t>
            </a:r>
            <a:endParaRPr sz="2500">
              <a:latin typeface="Arial"/>
              <a:cs typeface="Arial"/>
            </a:endParaRPr>
          </a:p>
          <a:p>
            <a:pPr marL="311233" indent="-300098">
              <a:buChar char="•"/>
              <a:tabLst>
                <a:tab pos="311233" algn="l"/>
              </a:tabLst>
            </a:pPr>
            <a:r>
              <a:rPr sz="2500" dirty="0">
                <a:latin typeface="Arial"/>
                <a:cs typeface="Arial"/>
              </a:rPr>
              <a:t>Offers</a:t>
            </a:r>
            <a:r>
              <a:rPr sz="2500" spc="-5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much</a:t>
            </a:r>
            <a:r>
              <a:rPr sz="2500" spc="-31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wider</a:t>
            </a:r>
            <a:r>
              <a:rPr sz="2500" spc="-22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bandwidth</a:t>
            </a:r>
            <a:r>
              <a:rPr sz="2500" spc="-13" dirty="0">
                <a:latin typeface="Arial"/>
                <a:cs typeface="Arial"/>
              </a:rPr>
              <a:t> </a:t>
            </a:r>
            <a:r>
              <a:rPr sz="2500" spc="399" dirty="0">
                <a:latin typeface="Noto Sans Symbols2"/>
                <a:cs typeface="Noto Sans Symbols2"/>
              </a:rPr>
              <a:t>🡪</a:t>
            </a:r>
            <a:r>
              <a:rPr sz="2500" spc="-4" dirty="0">
                <a:latin typeface="Noto Sans Symbols2"/>
                <a:cs typeface="Noto Sans Symbols2"/>
              </a:rPr>
              <a:t> </a:t>
            </a:r>
            <a:r>
              <a:rPr sz="2500" dirty="0">
                <a:latin typeface="Arial"/>
                <a:cs typeface="Arial"/>
              </a:rPr>
              <a:t>up</a:t>
            </a:r>
            <a:r>
              <a:rPr sz="2500" spc="-31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to</a:t>
            </a:r>
            <a:r>
              <a:rPr sz="2500" spc="-35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60</a:t>
            </a:r>
            <a:r>
              <a:rPr sz="2500" spc="-31" dirty="0">
                <a:latin typeface="Arial"/>
                <a:cs typeface="Arial"/>
              </a:rPr>
              <a:t> </a:t>
            </a:r>
            <a:r>
              <a:rPr sz="2500" spc="-22" dirty="0">
                <a:latin typeface="Arial"/>
                <a:cs typeface="Arial"/>
              </a:rPr>
              <a:t>GHz</a:t>
            </a:r>
            <a:endParaRPr sz="2500">
              <a:latin typeface="Arial"/>
              <a:cs typeface="Arial"/>
            </a:endParaRPr>
          </a:p>
          <a:p>
            <a:pPr marL="311233" indent="-300098">
              <a:buChar char="•"/>
              <a:tabLst>
                <a:tab pos="311233" algn="l"/>
              </a:tabLst>
            </a:pPr>
            <a:r>
              <a:rPr sz="2500" dirty="0">
                <a:latin typeface="Arial"/>
                <a:cs typeface="Arial"/>
              </a:rPr>
              <a:t>More</a:t>
            </a:r>
            <a:r>
              <a:rPr sz="2500" spc="-5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expensive</a:t>
            </a:r>
            <a:r>
              <a:rPr sz="2500" spc="-5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and</a:t>
            </a:r>
            <a:r>
              <a:rPr sz="2500" spc="-53" dirty="0">
                <a:latin typeface="Arial"/>
                <a:cs typeface="Arial"/>
              </a:rPr>
              <a:t> </a:t>
            </a:r>
            <a:r>
              <a:rPr sz="2500" spc="-9" dirty="0">
                <a:latin typeface="Arial"/>
                <a:cs typeface="Arial"/>
              </a:rPr>
              <a:t>complex</a:t>
            </a:r>
            <a:endParaRPr sz="2500">
              <a:latin typeface="Arial"/>
              <a:cs typeface="Arial"/>
            </a:endParaRPr>
          </a:p>
          <a:p>
            <a:pPr marL="311233" indent="-300098">
              <a:buChar char="•"/>
              <a:tabLst>
                <a:tab pos="311233" algn="l"/>
              </a:tabLst>
            </a:pPr>
            <a:r>
              <a:rPr sz="2500" dirty="0">
                <a:latin typeface="Arial"/>
                <a:cs typeface="Arial"/>
              </a:rPr>
              <a:t>Used</a:t>
            </a:r>
            <a:r>
              <a:rPr sz="2500" spc="-4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in</a:t>
            </a:r>
            <a:r>
              <a:rPr sz="2500" spc="-31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high</a:t>
            </a:r>
            <a:r>
              <a:rPr sz="2500" spc="-22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end</a:t>
            </a:r>
            <a:r>
              <a:rPr sz="2500" spc="-31" dirty="0">
                <a:latin typeface="Arial"/>
                <a:cs typeface="Arial"/>
              </a:rPr>
              <a:t> </a:t>
            </a:r>
            <a:r>
              <a:rPr sz="2500" spc="-9" dirty="0">
                <a:latin typeface="Arial"/>
                <a:cs typeface="Arial"/>
              </a:rPr>
              <a:t>systems</a:t>
            </a:r>
            <a:endParaRPr sz="25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867160" y="3428770"/>
            <a:ext cx="25521" cy="440295"/>
          </a:xfrm>
          <a:custGeom>
            <a:avLst/>
            <a:gdLst/>
            <a:ahLst/>
            <a:cxnLst/>
            <a:rect l="l" t="t" r="r" b="b"/>
            <a:pathLst>
              <a:path w="29845" h="485139">
                <a:moveTo>
                  <a:pt x="29789" y="484753"/>
                </a:moveTo>
                <a:lnTo>
                  <a:pt x="28522" y="0"/>
                </a:lnTo>
                <a:lnTo>
                  <a:pt x="0" y="0"/>
                </a:lnTo>
                <a:lnTo>
                  <a:pt x="1260" y="484753"/>
                </a:lnTo>
                <a:lnTo>
                  <a:pt x="29789" y="484753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985202"/>
          </a:xfrm>
          <a:prstGeom prst="rect">
            <a:avLst/>
          </a:prstGeom>
        </p:spPr>
        <p:txBody>
          <a:bodyPr vert="horz" wrap="square" lIns="0" tIns="305114" rIns="0" bIns="0" rtlCol="0">
            <a:spAutoFit/>
          </a:bodyPr>
          <a:lstStyle/>
          <a:p>
            <a:pPr marL="41758">
              <a:spcBef>
                <a:spcPts val="88"/>
              </a:spcBef>
            </a:pPr>
            <a:r>
              <a:rPr b="1" dirty="0">
                <a:latin typeface="Arial"/>
                <a:cs typeface="Arial"/>
              </a:rPr>
              <a:t>External</a:t>
            </a:r>
            <a:r>
              <a:rPr b="1" spc="-118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Modulated</a:t>
            </a:r>
            <a:r>
              <a:rPr b="1" spc="-118" dirty="0">
                <a:latin typeface="Arial"/>
                <a:cs typeface="Arial"/>
              </a:rPr>
              <a:t> </a:t>
            </a:r>
            <a:r>
              <a:rPr b="1" spc="-9" dirty="0">
                <a:latin typeface="Arial"/>
                <a:cs typeface="Arial"/>
              </a:rPr>
              <a:t>Spectrum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2864" y="1769019"/>
            <a:ext cx="7167506" cy="239280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20194" y="4397048"/>
            <a:ext cx="6757546" cy="1728789"/>
          </a:xfrm>
          <a:prstGeom prst="rect">
            <a:avLst/>
          </a:prstGeom>
        </p:spPr>
        <p:txBody>
          <a:bodyPr vert="horz" wrap="square" lIns="0" tIns="53450" rIns="0" bIns="0" rtlCol="0">
            <a:spAutoFit/>
          </a:bodyPr>
          <a:lstStyle/>
          <a:p>
            <a:pPr marL="311233" indent="-300098">
              <a:spcBef>
                <a:spcPts val="421"/>
              </a:spcBef>
              <a:buChar char="•"/>
              <a:tabLst>
                <a:tab pos="311233" algn="l"/>
              </a:tabLst>
            </a:pPr>
            <a:r>
              <a:rPr sz="2800" dirty="0">
                <a:latin typeface="Arial"/>
                <a:cs typeface="Arial"/>
              </a:rPr>
              <a:t>Typical</a:t>
            </a:r>
            <a:r>
              <a:rPr sz="2800" spc="-53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spectrum</a:t>
            </a:r>
            <a:r>
              <a:rPr sz="2800" spc="-66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is</a:t>
            </a:r>
            <a:r>
              <a:rPr sz="2800" spc="-22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double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side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8" dirty="0">
                <a:latin typeface="Arial"/>
                <a:cs typeface="Arial"/>
              </a:rPr>
              <a:t>band</a:t>
            </a:r>
            <a:endParaRPr sz="2800">
              <a:latin typeface="Arial"/>
              <a:cs typeface="Arial"/>
            </a:endParaRPr>
          </a:p>
          <a:p>
            <a:pPr marL="311233" marR="4454" indent="-300655">
              <a:lnSpc>
                <a:spcPts val="3034"/>
              </a:lnSpc>
              <a:spcBef>
                <a:spcPts val="719"/>
              </a:spcBef>
              <a:buChar char="•"/>
              <a:tabLst>
                <a:tab pos="311233" algn="l"/>
              </a:tabLst>
            </a:pPr>
            <a:r>
              <a:rPr sz="2800" dirty="0">
                <a:latin typeface="Arial"/>
                <a:cs typeface="Arial"/>
              </a:rPr>
              <a:t>However,</a:t>
            </a:r>
            <a:r>
              <a:rPr sz="2800" spc="-57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single</a:t>
            </a:r>
            <a:r>
              <a:rPr sz="2800" spc="-31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side</a:t>
            </a:r>
            <a:r>
              <a:rPr sz="2800" spc="-39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band</a:t>
            </a:r>
            <a:r>
              <a:rPr sz="2800" spc="-31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is</a:t>
            </a:r>
            <a:r>
              <a:rPr sz="2800" spc="-22" dirty="0">
                <a:latin typeface="Arial"/>
                <a:cs typeface="Arial"/>
              </a:rPr>
              <a:t> </a:t>
            </a:r>
            <a:r>
              <a:rPr sz="2800" spc="-9" dirty="0">
                <a:latin typeface="Arial"/>
                <a:cs typeface="Arial"/>
              </a:rPr>
              <a:t>possible </a:t>
            </a:r>
            <a:r>
              <a:rPr sz="2800" dirty="0">
                <a:latin typeface="Arial"/>
                <a:cs typeface="Arial"/>
              </a:rPr>
              <a:t>which</a:t>
            </a:r>
            <a:r>
              <a:rPr sz="2800" spc="-48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is</a:t>
            </a:r>
            <a:r>
              <a:rPr sz="2800" spc="-13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useful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at</a:t>
            </a:r>
            <a:r>
              <a:rPr sz="2800" spc="-18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extreme</a:t>
            </a:r>
            <a:r>
              <a:rPr sz="2800" spc="-31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RF</a:t>
            </a:r>
            <a:r>
              <a:rPr sz="2800" spc="-31" dirty="0">
                <a:latin typeface="Arial"/>
                <a:cs typeface="Arial"/>
              </a:rPr>
              <a:t> </a:t>
            </a:r>
            <a:r>
              <a:rPr sz="2800" spc="-9" dirty="0">
                <a:latin typeface="Arial"/>
                <a:cs typeface="Arial"/>
              </a:rPr>
              <a:t>frequencies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012188"/>
          </a:xfrm>
          <a:prstGeom prst="rect">
            <a:avLst/>
          </a:prstGeom>
        </p:spPr>
        <p:txBody>
          <a:bodyPr vert="horz" wrap="square" lIns="0" tIns="331839" rIns="0" bIns="0" rtlCol="0">
            <a:spAutoFit/>
          </a:bodyPr>
          <a:lstStyle/>
          <a:p>
            <a:pPr marL="176495">
              <a:spcBef>
                <a:spcPts val="88"/>
              </a:spcBef>
            </a:pPr>
            <a:r>
              <a:rPr spc="-18" dirty="0"/>
              <a:t>Mach-</a:t>
            </a:r>
            <a:r>
              <a:rPr dirty="0"/>
              <a:t>Zehnder</a:t>
            </a:r>
            <a:r>
              <a:rPr spc="-114" dirty="0"/>
              <a:t> </a:t>
            </a:r>
            <a:r>
              <a:rPr spc="-9" dirty="0"/>
              <a:t>Interferometers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3822" y="1423237"/>
            <a:ext cx="6059800" cy="49253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985202"/>
          </a:xfrm>
          <a:prstGeom prst="rect">
            <a:avLst/>
          </a:prstGeom>
        </p:spPr>
        <p:txBody>
          <a:bodyPr vert="horz" wrap="square" lIns="0" tIns="305114" rIns="0" bIns="0" rtlCol="0">
            <a:spAutoFit/>
          </a:bodyPr>
          <a:lstStyle/>
          <a:p>
            <a:pPr marL="680370">
              <a:spcBef>
                <a:spcPts val="88"/>
              </a:spcBef>
            </a:pPr>
            <a:r>
              <a:rPr dirty="0"/>
              <a:t>Mach-</a:t>
            </a:r>
            <a:r>
              <a:rPr spc="-114" dirty="0"/>
              <a:t> </a:t>
            </a:r>
            <a:r>
              <a:rPr dirty="0"/>
              <a:t>Zehnder</a:t>
            </a:r>
            <a:r>
              <a:rPr spc="-83" dirty="0"/>
              <a:t> </a:t>
            </a:r>
            <a:r>
              <a:rPr spc="-9" dirty="0"/>
              <a:t>modulator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8663" y="1517290"/>
            <a:ext cx="6385596" cy="44702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985202"/>
          </a:xfrm>
          <a:prstGeom prst="rect">
            <a:avLst/>
          </a:prstGeom>
        </p:spPr>
        <p:txBody>
          <a:bodyPr vert="horz" wrap="square" lIns="0" tIns="305114" rIns="0" bIns="0" rtlCol="0">
            <a:spAutoFit/>
          </a:bodyPr>
          <a:lstStyle/>
          <a:p>
            <a:pPr marL="680370">
              <a:spcBef>
                <a:spcPts val="88"/>
              </a:spcBef>
            </a:pPr>
            <a:r>
              <a:rPr dirty="0"/>
              <a:t>Mach-</a:t>
            </a:r>
            <a:r>
              <a:rPr spc="-114" dirty="0"/>
              <a:t> </a:t>
            </a:r>
            <a:r>
              <a:rPr dirty="0"/>
              <a:t>Zehnder</a:t>
            </a:r>
            <a:r>
              <a:rPr spc="-83" dirty="0"/>
              <a:t> </a:t>
            </a:r>
            <a:r>
              <a:rPr spc="-9" dirty="0"/>
              <a:t>modulator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386" y="1630706"/>
            <a:ext cx="7428143" cy="45518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227" y="1835408"/>
            <a:ext cx="7493302" cy="44038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2546" y="1561550"/>
            <a:ext cx="7111469" cy="4668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365461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428110" marR="4454" indent="-570687">
              <a:spcBef>
                <a:spcPts val="88"/>
              </a:spcBef>
            </a:pPr>
            <a:r>
              <a:rPr dirty="0"/>
              <a:t>Characteristics</a:t>
            </a:r>
            <a:r>
              <a:rPr spc="-127" dirty="0"/>
              <a:t> </a:t>
            </a:r>
            <a:r>
              <a:rPr dirty="0"/>
              <a:t>of</a:t>
            </a:r>
            <a:r>
              <a:rPr spc="-79" dirty="0"/>
              <a:t> </a:t>
            </a:r>
            <a:r>
              <a:rPr spc="-9" dirty="0"/>
              <a:t>Mach- </a:t>
            </a:r>
            <a:r>
              <a:rPr dirty="0"/>
              <a:t>Zehnder</a:t>
            </a:r>
            <a:r>
              <a:rPr spc="-140" dirty="0"/>
              <a:t> </a:t>
            </a:r>
            <a:r>
              <a:rPr spc="-9" dirty="0"/>
              <a:t>modulator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8023" y="2253111"/>
            <a:ext cx="7037188" cy="40802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365461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2409135" marR="4454" indent="-1524987">
              <a:spcBef>
                <a:spcPts val="88"/>
              </a:spcBef>
            </a:pPr>
            <a:r>
              <a:rPr dirty="0"/>
              <a:t>Electro-</a:t>
            </a:r>
            <a:r>
              <a:rPr spc="-149" dirty="0"/>
              <a:t> </a:t>
            </a:r>
            <a:r>
              <a:rPr dirty="0"/>
              <a:t>absorption</a:t>
            </a:r>
            <a:r>
              <a:rPr spc="-136" dirty="0"/>
              <a:t> </a:t>
            </a:r>
            <a:r>
              <a:rPr spc="-18" dirty="0"/>
              <a:t>(EA) </a:t>
            </a:r>
            <a:r>
              <a:rPr spc="-9" dirty="0"/>
              <a:t>modulator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282" y="2183956"/>
            <a:ext cx="7679656" cy="42185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88352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3186940" marR="4454" indent="-3176361">
              <a:spcBef>
                <a:spcPts val="88"/>
              </a:spcBef>
            </a:pPr>
            <a:r>
              <a:rPr dirty="0"/>
              <a:t>Integration</a:t>
            </a:r>
            <a:r>
              <a:rPr spc="-110" dirty="0"/>
              <a:t> </a:t>
            </a:r>
            <a:r>
              <a:rPr dirty="0"/>
              <a:t>of</a:t>
            </a:r>
            <a:r>
              <a:rPr spc="-83" dirty="0"/>
              <a:t> </a:t>
            </a:r>
            <a:r>
              <a:rPr dirty="0"/>
              <a:t>EA</a:t>
            </a:r>
            <a:r>
              <a:rPr spc="-100" dirty="0"/>
              <a:t> </a:t>
            </a:r>
            <a:r>
              <a:rPr dirty="0"/>
              <a:t>modulator</a:t>
            </a:r>
            <a:r>
              <a:rPr spc="-100" dirty="0"/>
              <a:t> </a:t>
            </a:r>
            <a:r>
              <a:rPr spc="-18" dirty="0"/>
              <a:t>with </a:t>
            </a:r>
            <a:r>
              <a:rPr spc="-22" dirty="0"/>
              <a:t>LD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659" y="1937760"/>
            <a:ext cx="7501120" cy="38381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9235" y="5978790"/>
            <a:ext cx="7425428" cy="503686"/>
          </a:xfrm>
          <a:prstGeom prst="rect">
            <a:avLst/>
          </a:prstGeom>
        </p:spPr>
        <p:txBody>
          <a:bodyPr vert="horz" wrap="square" lIns="0" tIns="11135" rIns="0" bIns="0" rtlCol="0">
            <a:spAutoFit/>
          </a:bodyPr>
          <a:lstStyle/>
          <a:p>
            <a:pPr marL="11135" marR="4454">
              <a:spcBef>
                <a:spcPts val="88"/>
              </a:spcBef>
            </a:pPr>
            <a:r>
              <a:rPr sz="1600" dirty="0">
                <a:latin typeface="Arial"/>
                <a:cs typeface="Arial"/>
              </a:rPr>
              <a:t>Quantum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well</a:t>
            </a:r>
            <a:r>
              <a:rPr sz="1600" spc="9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(QW)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Laser:</a:t>
            </a:r>
            <a:r>
              <a:rPr sz="1600" spc="-9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laser</a:t>
            </a:r>
            <a:r>
              <a:rPr sz="1600" spc="-22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diode</a:t>
            </a:r>
            <a:r>
              <a:rPr sz="1600" spc="-9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whose</a:t>
            </a:r>
            <a:r>
              <a:rPr sz="1600" spc="1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active</a:t>
            </a:r>
            <a:r>
              <a:rPr sz="1600" spc="-26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region</a:t>
            </a:r>
            <a:r>
              <a:rPr sz="1600" spc="-13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is</a:t>
            </a:r>
            <a:r>
              <a:rPr sz="1600" spc="-26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so</a:t>
            </a:r>
            <a:r>
              <a:rPr sz="1600" spc="-26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narrow</a:t>
            </a:r>
            <a:r>
              <a:rPr sz="1600" spc="-22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that</a:t>
            </a:r>
            <a:r>
              <a:rPr sz="1600" spc="-22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quantum </a:t>
            </a:r>
            <a:r>
              <a:rPr sz="1600" dirty="0">
                <a:latin typeface="Arial"/>
                <a:cs typeface="Arial"/>
              </a:rPr>
              <a:t>confinement</a:t>
            </a:r>
            <a:r>
              <a:rPr sz="1600" spc="-44" dirty="0">
                <a:latin typeface="Arial"/>
                <a:cs typeface="Arial"/>
              </a:rPr>
              <a:t> </a:t>
            </a:r>
            <a:r>
              <a:rPr sz="1600" spc="-9" dirty="0">
                <a:latin typeface="Arial"/>
                <a:cs typeface="Arial"/>
              </a:rPr>
              <a:t>occurs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985202"/>
          </a:xfrm>
          <a:prstGeom prst="rect">
            <a:avLst/>
          </a:prstGeom>
        </p:spPr>
        <p:txBody>
          <a:bodyPr vert="horz" wrap="square" lIns="0" tIns="305114" rIns="0" bIns="0" rtlCol="0">
            <a:spAutoFit/>
          </a:bodyPr>
          <a:lstStyle/>
          <a:p>
            <a:pPr marL="53450">
              <a:spcBef>
                <a:spcPts val="88"/>
              </a:spcBef>
            </a:pPr>
            <a:r>
              <a:rPr dirty="0"/>
              <a:t>Characteristics</a:t>
            </a:r>
            <a:r>
              <a:rPr spc="-100" dirty="0"/>
              <a:t> </a:t>
            </a:r>
            <a:r>
              <a:rPr dirty="0"/>
              <a:t>of</a:t>
            </a:r>
            <a:r>
              <a:rPr spc="-53" dirty="0"/>
              <a:t> </a:t>
            </a:r>
            <a:r>
              <a:rPr dirty="0"/>
              <a:t>EA</a:t>
            </a:r>
            <a:r>
              <a:rPr spc="-53" dirty="0"/>
              <a:t> </a:t>
            </a:r>
            <a:r>
              <a:rPr spc="-9" dirty="0"/>
              <a:t>modulator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0548" y="1679114"/>
            <a:ext cx="6255278" cy="42669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3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B2223603-52D6-4754-BFF9-1F36B9CA59A6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44</a:t>
            </a:fld>
            <a:endParaRPr lang="en-US" sz="140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04813" y="1524000"/>
            <a:ext cx="8739187" cy="1857375"/>
            <a:chOff x="0" y="0"/>
            <a:chExt cx="5505" cy="1170"/>
          </a:xfrm>
        </p:grpSpPr>
        <p:sp>
          <p:nvSpPr>
            <p:cNvPr id="3076" name="Text Box 3"/>
            <p:cNvSpPr txBox="1">
              <a:spLocks noChangeArrowheads="1"/>
            </p:cNvSpPr>
            <p:nvPr/>
          </p:nvSpPr>
          <p:spPr bwMode="auto">
            <a:xfrm>
              <a:off x="216" y="755"/>
              <a:ext cx="51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zh-CN" altLang="en-US" sz="1600">
                  <a:latin typeface="Times New Roman" pitchFamily="18" charset="0"/>
                  <a:ea typeface="黑体" pitchFamily="1" charset="-122"/>
                </a:rPr>
                <a:t>Light source</a:t>
              </a:r>
            </a:p>
          </p:txBody>
        </p:sp>
        <p:sp>
          <p:nvSpPr>
            <p:cNvPr id="3077" name="Text Box 4"/>
            <p:cNvSpPr txBox="1">
              <a:spLocks noChangeArrowheads="1"/>
            </p:cNvSpPr>
            <p:nvPr/>
          </p:nvSpPr>
          <p:spPr bwMode="auto">
            <a:xfrm>
              <a:off x="843" y="505"/>
              <a:ext cx="672" cy="25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zh-CN" altLang="en-US" sz="140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  <a:ea typeface="黑体" pitchFamily="1" charset="-122"/>
                </a:rPr>
                <a:t>Modulator</a:t>
              </a:r>
            </a:p>
          </p:txBody>
        </p:sp>
        <p:sp>
          <p:nvSpPr>
            <p:cNvPr id="3078" name="Line 5"/>
            <p:cNvSpPr>
              <a:spLocks noChangeShapeType="1"/>
            </p:cNvSpPr>
            <p:nvPr/>
          </p:nvSpPr>
          <p:spPr bwMode="auto">
            <a:xfrm>
              <a:off x="555" y="630"/>
              <a:ext cx="288" cy="0"/>
            </a:xfrm>
            <a:prstGeom prst="line">
              <a:avLst/>
            </a:prstGeom>
            <a:noFill/>
            <a:ln w="28575" cap="sq" cmpd="sng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9" name="Oval 6"/>
            <p:cNvSpPr>
              <a:spLocks noChangeArrowheads="1"/>
            </p:cNvSpPr>
            <p:nvPr/>
          </p:nvSpPr>
          <p:spPr bwMode="auto">
            <a:xfrm>
              <a:off x="342" y="528"/>
              <a:ext cx="213" cy="204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80" name="Line 7"/>
            <p:cNvSpPr>
              <a:spLocks noChangeShapeType="1"/>
            </p:cNvSpPr>
            <p:nvPr/>
          </p:nvSpPr>
          <p:spPr bwMode="auto">
            <a:xfrm>
              <a:off x="348" y="630"/>
              <a:ext cx="207" cy="0"/>
            </a:xfrm>
            <a:prstGeom prst="line">
              <a:avLst/>
            </a:prstGeom>
            <a:noFill/>
            <a:ln w="28575" cap="sq" cmpd="sng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3081" name="Line 8"/>
            <p:cNvSpPr>
              <a:spLocks noChangeShapeType="1"/>
            </p:cNvSpPr>
            <p:nvPr/>
          </p:nvSpPr>
          <p:spPr bwMode="auto">
            <a:xfrm>
              <a:off x="1146" y="333"/>
              <a:ext cx="0" cy="195"/>
            </a:xfrm>
            <a:prstGeom prst="line">
              <a:avLst/>
            </a:prstGeom>
            <a:noFill/>
            <a:ln w="28575" cap="sq" cmpd="sng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3082" name="Line 9"/>
            <p:cNvSpPr>
              <a:spLocks noChangeShapeType="1"/>
            </p:cNvSpPr>
            <p:nvPr/>
          </p:nvSpPr>
          <p:spPr bwMode="auto">
            <a:xfrm>
              <a:off x="444" y="333"/>
              <a:ext cx="0" cy="195"/>
            </a:xfrm>
            <a:prstGeom prst="line">
              <a:avLst/>
            </a:prstGeom>
            <a:noFill/>
            <a:ln w="28575" cap="sq" cmpd="sng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3083" name="Text Box 10"/>
            <p:cNvSpPr txBox="1">
              <a:spLocks noChangeArrowheads="1"/>
            </p:cNvSpPr>
            <p:nvPr/>
          </p:nvSpPr>
          <p:spPr bwMode="auto">
            <a:xfrm>
              <a:off x="0" y="72"/>
              <a:ext cx="843" cy="250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zh-CN" altLang="en-US" sz="160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  <a:ea typeface="黑体" pitchFamily="1" charset="-122"/>
                </a:rPr>
                <a:t>Drive circuit</a:t>
              </a:r>
            </a:p>
          </p:txBody>
        </p:sp>
        <p:grpSp>
          <p:nvGrpSpPr>
            <p:cNvPr id="3" name="Group 12"/>
            <p:cNvGrpSpPr>
              <a:grpSpLocks/>
            </p:cNvGrpSpPr>
            <p:nvPr/>
          </p:nvGrpSpPr>
          <p:grpSpPr bwMode="auto">
            <a:xfrm>
              <a:off x="965" y="165"/>
              <a:ext cx="465" cy="132"/>
              <a:chOff x="0" y="0"/>
              <a:chExt cx="465" cy="132"/>
            </a:xfrm>
          </p:grpSpPr>
          <p:sp>
            <p:nvSpPr>
              <p:cNvPr id="3085" name="Line 12"/>
              <p:cNvSpPr>
                <a:spLocks noChangeShapeType="1"/>
              </p:cNvSpPr>
              <p:nvPr/>
            </p:nvSpPr>
            <p:spPr bwMode="auto">
              <a:xfrm>
                <a:off x="0" y="132"/>
                <a:ext cx="99" cy="0"/>
              </a:xfrm>
              <a:prstGeom prst="line">
                <a:avLst/>
              </a:prstGeom>
              <a:noFill/>
              <a:ln w="38100" cap="sq" cmpd="sng">
                <a:solidFill>
                  <a:srgbClr val="9933FF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086" name="Line 13"/>
              <p:cNvSpPr>
                <a:spLocks noChangeShapeType="1"/>
              </p:cNvSpPr>
              <p:nvPr/>
            </p:nvSpPr>
            <p:spPr bwMode="auto">
              <a:xfrm flipV="1">
                <a:off x="99" y="0"/>
                <a:ext cx="0" cy="132"/>
              </a:xfrm>
              <a:prstGeom prst="line">
                <a:avLst/>
              </a:prstGeom>
              <a:noFill/>
              <a:ln w="38100" cap="sq" cmpd="sng">
                <a:solidFill>
                  <a:srgbClr val="9933FF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087" name="Line 14"/>
              <p:cNvSpPr>
                <a:spLocks noChangeShapeType="1"/>
              </p:cNvSpPr>
              <p:nvPr/>
            </p:nvSpPr>
            <p:spPr bwMode="auto">
              <a:xfrm>
                <a:off x="99" y="0"/>
                <a:ext cx="90" cy="0"/>
              </a:xfrm>
              <a:prstGeom prst="line">
                <a:avLst/>
              </a:prstGeom>
              <a:noFill/>
              <a:ln w="38100" cap="sq" cmpd="sng">
                <a:solidFill>
                  <a:srgbClr val="9933FF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088" name="Line 15"/>
              <p:cNvSpPr>
                <a:spLocks noChangeShapeType="1"/>
              </p:cNvSpPr>
              <p:nvPr/>
            </p:nvSpPr>
            <p:spPr bwMode="auto">
              <a:xfrm>
                <a:off x="189" y="0"/>
                <a:ext cx="0" cy="132"/>
              </a:xfrm>
              <a:prstGeom prst="line">
                <a:avLst/>
              </a:prstGeom>
              <a:noFill/>
              <a:ln w="38100" cap="sq" cmpd="sng">
                <a:solidFill>
                  <a:srgbClr val="9933FF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089" name="Line 16"/>
              <p:cNvSpPr>
                <a:spLocks noChangeShapeType="1"/>
              </p:cNvSpPr>
              <p:nvPr/>
            </p:nvSpPr>
            <p:spPr bwMode="auto">
              <a:xfrm>
                <a:off x="189" y="132"/>
                <a:ext cx="87" cy="0"/>
              </a:xfrm>
              <a:prstGeom prst="line">
                <a:avLst/>
              </a:prstGeom>
              <a:noFill/>
              <a:ln w="38100" cap="sq" cmpd="sng">
                <a:solidFill>
                  <a:srgbClr val="9933FF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090" name="Line 17"/>
              <p:cNvSpPr>
                <a:spLocks noChangeShapeType="1"/>
              </p:cNvSpPr>
              <p:nvPr/>
            </p:nvSpPr>
            <p:spPr bwMode="auto">
              <a:xfrm flipV="1">
                <a:off x="276" y="0"/>
                <a:ext cx="0" cy="132"/>
              </a:xfrm>
              <a:prstGeom prst="line">
                <a:avLst/>
              </a:prstGeom>
              <a:noFill/>
              <a:ln w="38100" cap="sq" cmpd="sng">
                <a:solidFill>
                  <a:srgbClr val="9933FF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091" name="Line 18"/>
              <p:cNvSpPr>
                <a:spLocks noChangeShapeType="1"/>
              </p:cNvSpPr>
              <p:nvPr/>
            </p:nvSpPr>
            <p:spPr bwMode="auto">
              <a:xfrm>
                <a:off x="276" y="0"/>
                <a:ext cx="90" cy="0"/>
              </a:xfrm>
              <a:prstGeom prst="line">
                <a:avLst/>
              </a:prstGeom>
              <a:noFill/>
              <a:ln w="38100" cap="sq" cmpd="sng">
                <a:solidFill>
                  <a:srgbClr val="9933FF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092" name="Line 19"/>
              <p:cNvSpPr>
                <a:spLocks noChangeShapeType="1"/>
              </p:cNvSpPr>
              <p:nvPr/>
            </p:nvSpPr>
            <p:spPr bwMode="auto">
              <a:xfrm>
                <a:off x="366" y="0"/>
                <a:ext cx="0" cy="132"/>
              </a:xfrm>
              <a:prstGeom prst="line">
                <a:avLst/>
              </a:prstGeom>
              <a:noFill/>
              <a:ln w="38100" cap="sq" cmpd="sng">
                <a:solidFill>
                  <a:srgbClr val="9933FF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093" name="Line 20"/>
              <p:cNvSpPr>
                <a:spLocks noChangeShapeType="1"/>
              </p:cNvSpPr>
              <p:nvPr/>
            </p:nvSpPr>
            <p:spPr bwMode="auto">
              <a:xfrm>
                <a:off x="366" y="132"/>
                <a:ext cx="99" cy="0"/>
              </a:xfrm>
              <a:prstGeom prst="line">
                <a:avLst/>
              </a:prstGeom>
              <a:noFill/>
              <a:ln w="38100" cap="sq" cmpd="sng">
                <a:solidFill>
                  <a:srgbClr val="9933FF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3094" name="Line 21"/>
            <p:cNvSpPr>
              <a:spLocks noChangeShapeType="1"/>
            </p:cNvSpPr>
            <p:nvPr/>
          </p:nvSpPr>
          <p:spPr bwMode="auto">
            <a:xfrm>
              <a:off x="1668" y="23"/>
              <a:ext cx="0" cy="1147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GB"/>
            </a:p>
          </p:txBody>
        </p:sp>
        <p:grpSp>
          <p:nvGrpSpPr>
            <p:cNvPr id="4" name="Group 23"/>
            <p:cNvGrpSpPr>
              <a:grpSpLocks/>
            </p:cNvGrpSpPr>
            <p:nvPr/>
          </p:nvGrpSpPr>
          <p:grpSpPr bwMode="auto">
            <a:xfrm>
              <a:off x="5040" y="854"/>
              <a:ext cx="465" cy="132"/>
              <a:chOff x="0" y="0"/>
              <a:chExt cx="465" cy="132"/>
            </a:xfrm>
          </p:grpSpPr>
          <p:sp>
            <p:nvSpPr>
              <p:cNvPr id="3096" name="Line 23"/>
              <p:cNvSpPr>
                <a:spLocks noChangeShapeType="1"/>
              </p:cNvSpPr>
              <p:nvPr/>
            </p:nvSpPr>
            <p:spPr bwMode="auto">
              <a:xfrm>
                <a:off x="0" y="132"/>
                <a:ext cx="99" cy="0"/>
              </a:xfrm>
              <a:prstGeom prst="line">
                <a:avLst/>
              </a:prstGeom>
              <a:noFill/>
              <a:ln w="38100" cap="sq" cmpd="sng">
                <a:solidFill>
                  <a:srgbClr val="9900CC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097" name="Line 24"/>
              <p:cNvSpPr>
                <a:spLocks noChangeShapeType="1"/>
              </p:cNvSpPr>
              <p:nvPr/>
            </p:nvSpPr>
            <p:spPr bwMode="auto">
              <a:xfrm flipV="1">
                <a:off x="99" y="0"/>
                <a:ext cx="0" cy="132"/>
              </a:xfrm>
              <a:prstGeom prst="line">
                <a:avLst/>
              </a:prstGeom>
              <a:noFill/>
              <a:ln w="38100" cap="sq" cmpd="sng">
                <a:solidFill>
                  <a:srgbClr val="9900CC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098" name="Line 25"/>
              <p:cNvSpPr>
                <a:spLocks noChangeShapeType="1"/>
              </p:cNvSpPr>
              <p:nvPr/>
            </p:nvSpPr>
            <p:spPr bwMode="auto">
              <a:xfrm>
                <a:off x="99" y="0"/>
                <a:ext cx="90" cy="0"/>
              </a:xfrm>
              <a:prstGeom prst="line">
                <a:avLst/>
              </a:prstGeom>
              <a:noFill/>
              <a:ln w="38100" cap="sq" cmpd="sng">
                <a:solidFill>
                  <a:srgbClr val="9900CC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099" name="Line 26"/>
              <p:cNvSpPr>
                <a:spLocks noChangeShapeType="1"/>
              </p:cNvSpPr>
              <p:nvPr/>
            </p:nvSpPr>
            <p:spPr bwMode="auto">
              <a:xfrm>
                <a:off x="189" y="0"/>
                <a:ext cx="0" cy="132"/>
              </a:xfrm>
              <a:prstGeom prst="line">
                <a:avLst/>
              </a:prstGeom>
              <a:noFill/>
              <a:ln w="38100" cap="sq" cmpd="sng">
                <a:solidFill>
                  <a:srgbClr val="9900CC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100" name="Line 27"/>
              <p:cNvSpPr>
                <a:spLocks noChangeShapeType="1"/>
              </p:cNvSpPr>
              <p:nvPr/>
            </p:nvSpPr>
            <p:spPr bwMode="auto">
              <a:xfrm>
                <a:off x="189" y="132"/>
                <a:ext cx="87" cy="0"/>
              </a:xfrm>
              <a:prstGeom prst="line">
                <a:avLst/>
              </a:prstGeom>
              <a:noFill/>
              <a:ln w="38100" cap="sq" cmpd="sng">
                <a:solidFill>
                  <a:srgbClr val="9900CC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101" name="Line 28"/>
              <p:cNvSpPr>
                <a:spLocks noChangeShapeType="1"/>
              </p:cNvSpPr>
              <p:nvPr/>
            </p:nvSpPr>
            <p:spPr bwMode="auto">
              <a:xfrm flipV="1">
                <a:off x="276" y="0"/>
                <a:ext cx="0" cy="132"/>
              </a:xfrm>
              <a:prstGeom prst="line">
                <a:avLst/>
              </a:prstGeom>
              <a:noFill/>
              <a:ln w="38100" cap="sq" cmpd="sng">
                <a:solidFill>
                  <a:srgbClr val="9900CC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102" name="Line 29"/>
              <p:cNvSpPr>
                <a:spLocks noChangeShapeType="1"/>
              </p:cNvSpPr>
              <p:nvPr/>
            </p:nvSpPr>
            <p:spPr bwMode="auto">
              <a:xfrm>
                <a:off x="276" y="0"/>
                <a:ext cx="90" cy="0"/>
              </a:xfrm>
              <a:prstGeom prst="line">
                <a:avLst/>
              </a:prstGeom>
              <a:noFill/>
              <a:ln w="38100" cap="sq" cmpd="sng">
                <a:solidFill>
                  <a:srgbClr val="9900CC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103" name="Line 30"/>
              <p:cNvSpPr>
                <a:spLocks noChangeShapeType="1"/>
              </p:cNvSpPr>
              <p:nvPr/>
            </p:nvSpPr>
            <p:spPr bwMode="auto">
              <a:xfrm>
                <a:off x="366" y="0"/>
                <a:ext cx="0" cy="132"/>
              </a:xfrm>
              <a:prstGeom prst="line">
                <a:avLst/>
              </a:prstGeom>
              <a:noFill/>
              <a:ln w="38100" cap="sq" cmpd="sng">
                <a:solidFill>
                  <a:srgbClr val="9900CC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3104" name="Line 31"/>
              <p:cNvSpPr>
                <a:spLocks noChangeShapeType="1"/>
              </p:cNvSpPr>
              <p:nvPr/>
            </p:nvSpPr>
            <p:spPr bwMode="auto">
              <a:xfrm>
                <a:off x="366" y="132"/>
                <a:ext cx="99" cy="0"/>
              </a:xfrm>
              <a:prstGeom prst="line">
                <a:avLst/>
              </a:prstGeom>
              <a:noFill/>
              <a:ln w="38100" cap="sq" cmpd="sng">
                <a:solidFill>
                  <a:srgbClr val="9900CC"/>
                </a:solidFill>
                <a:round/>
                <a:headEnd/>
                <a:tailEnd/>
              </a:ln>
            </p:spPr>
            <p:txBody>
              <a:bodyPr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3105" name="AutoShape 32"/>
            <p:cNvSpPr>
              <a:spLocks noChangeArrowheads="1"/>
            </p:cNvSpPr>
            <p:nvPr/>
          </p:nvSpPr>
          <p:spPr bwMode="auto">
            <a:xfrm rot="5400000">
              <a:off x="3780" y="417"/>
              <a:ext cx="354" cy="426"/>
            </a:xfrm>
            <a:prstGeom prst="triangle">
              <a:avLst>
                <a:gd name="adj" fmla="val 50000"/>
              </a:avLst>
            </a:prstGeom>
            <a:solidFill>
              <a:srgbClr val="9933FF"/>
            </a:solidFill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06" name="Line 33"/>
            <p:cNvSpPr>
              <a:spLocks noChangeShapeType="1"/>
            </p:cNvSpPr>
            <p:nvPr/>
          </p:nvSpPr>
          <p:spPr bwMode="auto">
            <a:xfrm>
              <a:off x="3744" y="630"/>
              <a:ext cx="294" cy="0"/>
            </a:xfrm>
            <a:prstGeom prst="line">
              <a:avLst/>
            </a:prstGeom>
            <a:noFill/>
            <a:ln w="28575" cap="sq" cmpd="sng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3107" name="Line 34"/>
            <p:cNvSpPr>
              <a:spLocks noChangeShapeType="1"/>
            </p:cNvSpPr>
            <p:nvPr/>
          </p:nvSpPr>
          <p:spPr bwMode="auto">
            <a:xfrm>
              <a:off x="4170" y="630"/>
              <a:ext cx="198" cy="0"/>
            </a:xfrm>
            <a:prstGeom prst="line">
              <a:avLst/>
            </a:prstGeom>
            <a:noFill/>
            <a:ln w="28575" cap="sq" cmpd="sng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3108" name="Rectangle 35"/>
            <p:cNvSpPr>
              <a:spLocks noChangeArrowheads="1"/>
            </p:cNvSpPr>
            <p:nvPr/>
          </p:nvSpPr>
          <p:spPr bwMode="auto">
            <a:xfrm>
              <a:off x="4375" y="517"/>
              <a:ext cx="599" cy="25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zh-CN" altLang="en-US" sz="1800">
                  <a:latin typeface="Times New Roman" pitchFamily="18" charset="0"/>
                  <a:ea typeface="黑体" pitchFamily="1" charset="-122"/>
                </a:rPr>
                <a:t>Amplifier</a:t>
              </a:r>
            </a:p>
          </p:txBody>
        </p:sp>
        <p:sp>
          <p:nvSpPr>
            <p:cNvPr id="3109" name="Text Box 36"/>
            <p:cNvSpPr txBox="1">
              <a:spLocks noChangeArrowheads="1"/>
            </p:cNvSpPr>
            <p:nvPr/>
          </p:nvSpPr>
          <p:spPr bwMode="auto">
            <a:xfrm>
              <a:off x="3618" y="63"/>
              <a:ext cx="750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zh-CN" altLang="en-US" sz="1600">
                  <a:latin typeface="Times New Roman" pitchFamily="18" charset="0"/>
                  <a:ea typeface="黑体" pitchFamily="1" charset="-122"/>
                </a:rPr>
                <a:t>Photodiode</a:t>
              </a:r>
            </a:p>
          </p:txBody>
        </p:sp>
        <p:sp>
          <p:nvSpPr>
            <p:cNvPr id="3110" name="Text Box 37"/>
            <p:cNvSpPr txBox="1">
              <a:spLocks noChangeArrowheads="1"/>
            </p:cNvSpPr>
            <p:nvPr/>
          </p:nvSpPr>
          <p:spPr bwMode="auto">
            <a:xfrm>
              <a:off x="4368" y="920"/>
              <a:ext cx="672" cy="250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zh-CN" altLang="en-US" sz="1800">
                  <a:latin typeface="Times New Roman" pitchFamily="18" charset="0"/>
                  <a:ea typeface="黑体" pitchFamily="1" charset="-122"/>
                </a:rPr>
                <a:t>Decision device</a:t>
              </a:r>
            </a:p>
          </p:txBody>
        </p:sp>
        <p:sp>
          <p:nvSpPr>
            <p:cNvPr id="3111" name="Line 38"/>
            <p:cNvSpPr>
              <a:spLocks noChangeShapeType="1"/>
            </p:cNvSpPr>
            <p:nvPr/>
          </p:nvSpPr>
          <p:spPr bwMode="auto">
            <a:xfrm>
              <a:off x="4638" y="767"/>
              <a:ext cx="0" cy="153"/>
            </a:xfrm>
            <a:prstGeom prst="line">
              <a:avLst/>
            </a:prstGeom>
            <a:noFill/>
            <a:ln w="28575" cap="sq" cmpd="sng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3112" name="Line 39"/>
            <p:cNvSpPr>
              <a:spLocks noChangeShapeType="1"/>
            </p:cNvSpPr>
            <p:nvPr/>
          </p:nvSpPr>
          <p:spPr bwMode="auto">
            <a:xfrm>
              <a:off x="5040" y="1051"/>
              <a:ext cx="300" cy="0"/>
            </a:xfrm>
            <a:prstGeom prst="line">
              <a:avLst/>
            </a:prstGeom>
            <a:noFill/>
            <a:ln w="28575" cap="sq" cmpd="sng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3113" name="Line 40"/>
            <p:cNvSpPr>
              <a:spLocks noChangeShapeType="1"/>
            </p:cNvSpPr>
            <p:nvPr/>
          </p:nvSpPr>
          <p:spPr bwMode="auto">
            <a:xfrm flipH="1">
              <a:off x="3624" y="0"/>
              <a:ext cx="0" cy="117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GB"/>
            </a:p>
          </p:txBody>
        </p:sp>
        <p:grpSp>
          <p:nvGrpSpPr>
            <p:cNvPr id="5" name="Group 42"/>
            <p:cNvGrpSpPr>
              <a:grpSpLocks/>
            </p:cNvGrpSpPr>
            <p:nvPr/>
          </p:nvGrpSpPr>
          <p:grpSpPr bwMode="auto">
            <a:xfrm>
              <a:off x="1521" y="232"/>
              <a:ext cx="2223" cy="688"/>
              <a:chOff x="0" y="0"/>
              <a:chExt cx="2223" cy="688"/>
            </a:xfrm>
          </p:grpSpPr>
          <p:sp>
            <p:nvSpPr>
              <p:cNvPr id="3115" name="Oval 42"/>
              <p:cNvSpPr>
                <a:spLocks noChangeArrowheads="1"/>
              </p:cNvSpPr>
              <p:nvPr/>
            </p:nvSpPr>
            <p:spPr bwMode="auto">
              <a:xfrm>
                <a:off x="279" y="81"/>
                <a:ext cx="168" cy="297"/>
              </a:xfrm>
              <a:prstGeom prst="ellipse">
                <a:avLst/>
              </a:prstGeom>
              <a:noFill/>
              <a:ln w="28575" cap="sq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16" name="Oval 43"/>
              <p:cNvSpPr>
                <a:spLocks noChangeArrowheads="1"/>
              </p:cNvSpPr>
              <p:nvPr/>
            </p:nvSpPr>
            <p:spPr bwMode="auto">
              <a:xfrm>
                <a:off x="1755" y="101"/>
                <a:ext cx="168" cy="297"/>
              </a:xfrm>
              <a:prstGeom prst="ellipse">
                <a:avLst/>
              </a:prstGeom>
              <a:noFill/>
              <a:ln w="28575" cap="sq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6" name="Group 45"/>
              <p:cNvGrpSpPr>
                <a:grpSpLocks/>
              </p:cNvGrpSpPr>
              <p:nvPr/>
            </p:nvGrpSpPr>
            <p:grpSpPr bwMode="auto">
              <a:xfrm>
                <a:off x="0" y="0"/>
                <a:ext cx="2223" cy="688"/>
                <a:chOff x="0" y="0"/>
                <a:chExt cx="2223" cy="688"/>
              </a:xfrm>
            </p:grpSpPr>
            <p:sp>
              <p:nvSpPr>
                <p:cNvPr id="3118" name="Line 45"/>
                <p:cNvSpPr>
                  <a:spLocks noChangeShapeType="1"/>
                </p:cNvSpPr>
                <p:nvPr/>
              </p:nvSpPr>
              <p:spPr bwMode="auto">
                <a:xfrm>
                  <a:off x="0" y="398"/>
                  <a:ext cx="2223" cy="0"/>
                </a:xfrm>
                <a:prstGeom prst="line">
                  <a:avLst/>
                </a:prstGeom>
                <a:noFill/>
                <a:ln w="28575" cap="sq" cmpd="sng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endParaRPr lang="en-GB"/>
                </a:p>
              </p:txBody>
            </p:sp>
            <p:sp>
              <p:nvSpPr>
                <p:cNvPr id="3119" name="Oval 46"/>
                <p:cNvSpPr>
                  <a:spLocks noChangeArrowheads="1"/>
                </p:cNvSpPr>
                <p:nvPr/>
              </p:nvSpPr>
              <p:spPr bwMode="auto">
                <a:xfrm>
                  <a:off x="327" y="81"/>
                  <a:ext cx="168" cy="297"/>
                </a:xfrm>
                <a:prstGeom prst="ellipse">
                  <a:avLst/>
                </a:prstGeom>
                <a:noFill/>
                <a:ln w="28575" cap="sq" cmpd="sng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20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198" y="418"/>
                  <a:ext cx="498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  <a:buClrTx/>
                    <a:buSzTx/>
                    <a:buFont typeface="Wingdings" pitchFamily="2" charset="2"/>
                    <a:buNone/>
                  </a:pPr>
                  <a:r>
                    <a:rPr lang="zh-CN" altLang="en-US" sz="180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itchFamily="18" charset="0"/>
                      <a:ea typeface="黑体" pitchFamily="1" charset="-122"/>
                    </a:rPr>
                    <a:t>Fiber</a:t>
                  </a:r>
                </a:p>
              </p:txBody>
            </p:sp>
            <p:sp>
              <p:nvSpPr>
                <p:cNvPr id="3121" name="Oval 48"/>
                <p:cNvSpPr>
                  <a:spLocks noChangeArrowheads="1"/>
                </p:cNvSpPr>
                <p:nvPr/>
              </p:nvSpPr>
              <p:spPr bwMode="auto">
                <a:xfrm>
                  <a:off x="1707" y="101"/>
                  <a:ext cx="168" cy="297"/>
                </a:xfrm>
                <a:prstGeom prst="ellipse">
                  <a:avLst/>
                </a:prstGeom>
                <a:noFill/>
                <a:ln w="28575" cap="sq" cmpd="sng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22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1626" y="438"/>
                  <a:ext cx="498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  <a:buClrTx/>
                    <a:buSzTx/>
                    <a:buFont typeface="Wingdings" pitchFamily="2" charset="2"/>
                    <a:buNone/>
                  </a:pPr>
                  <a:r>
                    <a:rPr lang="zh-CN" altLang="en-US" sz="180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itchFamily="18" charset="0"/>
                      <a:ea typeface="黑体" pitchFamily="1" charset="-122"/>
                    </a:rPr>
                    <a:t>Fiber</a:t>
                  </a:r>
                </a:p>
              </p:txBody>
            </p:sp>
            <p:sp>
              <p:nvSpPr>
                <p:cNvPr id="3123" name="AutoShape 50"/>
                <p:cNvSpPr>
                  <a:spLocks noChangeArrowheads="1"/>
                </p:cNvSpPr>
                <p:nvPr/>
              </p:nvSpPr>
              <p:spPr bwMode="auto">
                <a:xfrm rot="5400000">
                  <a:off x="1026" y="244"/>
                  <a:ext cx="295" cy="30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2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24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817" y="0"/>
                  <a:ext cx="722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  <a:buClrTx/>
                    <a:buSzTx/>
                    <a:buFont typeface="Wingdings" pitchFamily="2" charset="2"/>
                    <a:buNone/>
                  </a:pPr>
                  <a:r>
                    <a:rPr lang="zh-CN" altLang="en-US" sz="1800">
                      <a:solidFill>
                        <a:schemeClr val="tx2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itchFamily="18" charset="0"/>
                      <a:ea typeface="黑体" pitchFamily="1" charset="-122"/>
                    </a:rPr>
                    <a:t>Repeater</a:t>
                  </a:r>
                </a:p>
              </p:txBody>
            </p:sp>
          </p:grpSp>
        </p:grpSp>
      </p:grpSp>
      <p:grpSp>
        <p:nvGrpSpPr>
          <p:cNvPr id="7" name="Group 53"/>
          <p:cNvGrpSpPr>
            <a:grpSpLocks/>
          </p:cNvGrpSpPr>
          <p:nvPr/>
        </p:nvGrpSpPr>
        <p:grpSpPr bwMode="auto">
          <a:xfrm>
            <a:off x="304800" y="3276600"/>
            <a:ext cx="6629400" cy="1676400"/>
            <a:chOff x="0" y="0"/>
            <a:chExt cx="4176" cy="1056"/>
          </a:xfrm>
        </p:grpSpPr>
        <p:sp>
          <p:nvSpPr>
            <p:cNvPr id="3126" name="AutoShape 53"/>
            <p:cNvSpPr>
              <a:spLocks noChangeArrowheads="1"/>
            </p:cNvSpPr>
            <p:nvPr/>
          </p:nvSpPr>
          <p:spPr bwMode="auto">
            <a:xfrm>
              <a:off x="0" y="0"/>
              <a:ext cx="1824" cy="1056"/>
            </a:xfrm>
            <a:prstGeom prst="irregularSeal2">
              <a:avLst/>
            </a:prstGeom>
            <a:solidFill>
              <a:schemeClr val="tx2"/>
            </a:solidFill>
            <a:ln w="9525" cmpd="sng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r>
                <a:rPr lang="zh-CN" altLang="en-US" sz="280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Black" pitchFamily="34" charset="0"/>
                  <a:ea typeface="黑体" pitchFamily="1" charset="-122"/>
                </a:rPr>
                <a:t>Optical</a:t>
              </a:r>
            </a:p>
            <a:p>
              <a:pPr algn="ct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r>
                <a:rPr lang="zh-CN" altLang="en-US" sz="280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Black" pitchFamily="34" charset="0"/>
                  <a:ea typeface="黑体" pitchFamily="1" charset="-122"/>
                </a:rPr>
                <a:t>Transmitter</a:t>
              </a:r>
            </a:p>
          </p:txBody>
        </p:sp>
        <p:sp>
          <p:nvSpPr>
            <p:cNvPr id="3127" name="Text Box 54"/>
            <p:cNvSpPr txBox="1">
              <a:spLocks noChangeArrowheads="1"/>
            </p:cNvSpPr>
            <p:nvPr/>
          </p:nvSpPr>
          <p:spPr bwMode="auto">
            <a:xfrm>
              <a:off x="1776" y="576"/>
              <a:ext cx="2400" cy="327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zh-CN" altLang="en-US" sz="1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黑体" pitchFamily="1" charset="-122"/>
                </a:rPr>
                <a:t>electrical signal into optical signal</a:t>
              </a:r>
            </a:p>
          </p:txBody>
        </p:sp>
      </p:grpSp>
      <p:sp>
        <p:nvSpPr>
          <p:cNvPr id="3128" name="Rectangle 2"/>
          <p:cNvSpPr txBox="1">
            <a:spLocks noChangeArrowheads="1"/>
          </p:cNvSpPr>
          <p:nvPr/>
        </p:nvSpPr>
        <p:spPr bwMode="auto">
          <a:xfrm>
            <a:off x="755650" y="215900"/>
            <a:ext cx="8137525" cy="8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zh-CN" altLang="en-US" sz="4000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Laser </a:t>
            </a:r>
            <a:r>
              <a:rPr lang="zh-CN" altLang="en-US" sz="4000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and Optical Transmitter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CB916935-06AC-46E3-8F14-75AD60F6169B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45</a:t>
            </a:fld>
            <a:endParaRPr lang="en-US" sz="140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800" u="sng" dirty="0" smtClean="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The </a:t>
            </a:r>
            <a:r>
              <a:rPr lang="en-US" altLang="en-US" sz="2800" u="sng" dirty="0">
                <a:solidFill>
                  <a:srgbClr val="FF0000"/>
                </a:solidFill>
                <a:latin typeface="Times New Roman" pitchFamily="18" charset="0"/>
                <a:ea typeface="华文新魏" pitchFamily="2" charset="-122"/>
              </a:rPr>
              <a:t>principle of diode lasers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400" dirty="0">
                <a:latin typeface="Times New Roman" pitchFamily="18" charset="0"/>
                <a:ea typeface="华文新魏" pitchFamily="2" charset="-122"/>
              </a:rPr>
              <a:t>    </a:t>
            </a:r>
            <a:r>
              <a:rPr lang="en-US" altLang="en-US" sz="2400" dirty="0" err="1" smtClean="0">
                <a:latin typeface="Times New Roman" pitchFamily="18" charset="0"/>
                <a:ea typeface="华文新魏" pitchFamily="2" charset="-122"/>
              </a:rPr>
              <a:t>Fabry</a:t>
            </a:r>
            <a:r>
              <a:rPr lang="en-US" altLang="en-US" sz="2400" dirty="0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en-US" sz="2400" dirty="0">
                <a:latin typeface="Times New Roman" pitchFamily="18" charset="0"/>
                <a:ea typeface="华文新魏" pitchFamily="2" charset="-122"/>
              </a:rPr>
              <a:t>- Perot lasers (</a:t>
            </a:r>
            <a:r>
              <a:rPr lang="en-US" sz="2400" dirty="0">
                <a:latin typeface="Times New Roman" pitchFamily="18" charset="0"/>
                <a:ea typeface="华文新魏" pitchFamily="2" charset="-122"/>
              </a:rPr>
              <a:t>F-P LD</a:t>
            </a:r>
            <a:r>
              <a:rPr lang="en-US" altLang="en-US" sz="2400" dirty="0">
                <a:latin typeface="Times New Roman" pitchFamily="18" charset="0"/>
                <a:ea typeface="华文新魏" pitchFamily="2" charset="-122"/>
              </a:rPr>
              <a:t>)</a:t>
            </a:r>
            <a:endParaRPr lang="en-US" sz="2400" dirty="0">
              <a:latin typeface="Times New Roman" pitchFamily="18" charset="0"/>
              <a:ea typeface="华文新魏" pitchFamily="2" charset="-12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400" dirty="0">
                <a:latin typeface="Times New Roman" pitchFamily="18" charset="0"/>
                <a:ea typeface="华文新魏" pitchFamily="2" charset="-122"/>
              </a:rPr>
              <a:t>    </a:t>
            </a:r>
            <a:r>
              <a:rPr lang="en-US" altLang="en-US" sz="2400" dirty="0" smtClean="0">
                <a:latin typeface="Times New Roman" pitchFamily="18" charset="0"/>
                <a:ea typeface="华文新魏" pitchFamily="2" charset="-122"/>
              </a:rPr>
              <a:t>Distributed </a:t>
            </a:r>
            <a:r>
              <a:rPr lang="en-US" altLang="en-US" sz="2400" dirty="0">
                <a:latin typeface="Times New Roman" pitchFamily="18" charset="0"/>
                <a:ea typeface="华文新魏" pitchFamily="2" charset="-122"/>
              </a:rPr>
              <a:t>feedback lasers (</a:t>
            </a:r>
            <a:r>
              <a:rPr lang="en-US" sz="2400" dirty="0" err="1">
                <a:latin typeface="Times New Roman" pitchFamily="18" charset="0"/>
                <a:ea typeface="华文新魏" pitchFamily="2" charset="-122"/>
              </a:rPr>
              <a:t>DFB</a:t>
            </a:r>
            <a:r>
              <a:rPr lang="en-US" sz="2400" dirty="0">
                <a:latin typeface="Times New Roman" pitchFamily="18" charset="0"/>
                <a:ea typeface="华文新魏" pitchFamily="2" charset="-122"/>
              </a:rPr>
              <a:t> LD</a:t>
            </a:r>
            <a:r>
              <a:rPr lang="en-US" altLang="en-US" sz="2400" dirty="0">
                <a:latin typeface="Times New Roman" pitchFamily="18" charset="0"/>
                <a:ea typeface="华文新魏" pitchFamily="2" charset="-122"/>
              </a:rPr>
              <a:t>)</a:t>
            </a:r>
            <a:endParaRPr lang="en-US" sz="2400" dirty="0">
              <a:latin typeface="Times New Roman" pitchFamily="18" charset="0"/>
              <a:ea typeface="华文新魏" pitchFamily="2" charset="-12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400" dirty="0">
                <a:latin typeface="Times New Roman" pitchFamily="18" charset="0"/>
                <a:ea typeface="华文新魏" pitchFamily="2" charset="-122"/>
              </a:rPr>
              <a:t>    </a:t>
            </a:r>
            <a:r>
              <a:rPr lang="en-US" altLang="en-US" sz="2400" dirty="0" smtClean="0">
                <a:latin typeface="Times New Roman" pitchFamily="18" charset="0"/>
                <a:ea typeface="华文新魏" pitchFamily="2" charset="-122"/>
              </a:rPr>
              <a:t>Distributed </a:t>
            </a:r>
            <a:r>
              <a:rPr lang="en-US" altLang="en-US" sz="2400" dirty="0">
                <a:latin typeface="Times New Roman" pitchFamily="18" charset="0"/>
                <a:ea typeface="华文新魏" pitchFamily="2" charset="-122"/>
              </a:rPr>
              <a:t>Bragg reflector laser (</a:t>
            </a:r>
            <a:r>
              <a:rPr lang="en-US" sz="2400" dirty="0" err="1">
                <a:latin typeface="Times New Roman" pitchFamily="18" charset="0"/>
                <a:ea typeface="华文新魏" pitchFamily="2" charset="-122"/>
              </a:rPr>
              <a:t>DBR</a:t>
            </a:r>
            <a:r>
              <a:rPr lang="en-US" sz="2400" dirty="0">
                <a:latin typeface="Times New Roman" pitchFamily="18" charset="0"/>
                <a:ea typeface="华文新魏" pitchFamily="2" charset="-122"/>
              </a:rPr>
              <a:t> LD</a:t>
            </a:r>
            <a:r>
              <a:rPr lang="en-US" altLang="en-US" sz="2400" dirty="0">
                <a:latin typeface="Times New Roman" pitchFamily="18" charset="0"/>
                <a:ea typeface="华文新魏" pitchFamily="2" charset="-122"/>
              </a:rPr>
              <a:t>)</a:t>
            </a:r>
            <a:endParaRPr lang="en-US" sz="2400" dirty="0">
              <a:latin typeface="Times New Roman" pitchFamily="18" charset="0"/>
              <a:ea typeface="华文新魏" pitchFamily="2" charset="-12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400" dirty="0">
                <a:latin typeface="Times New Roman" pitchFamily="18" charset="0"/>
                <a:ea typeface="华文新魏" pitchFamily="2" charset="-122"/>
              </a:rPr>
              <a:t>    </a:t>
            </a:r>
            <a:r>
              <a:rPr lang="en-US" altLang="en-US" sz="2400" dirty="0" smtClean="0">
                <a:latin typeface="Times New Roman" pitchFamily="18" charset="0"/>
                <a:ea typeface="华文新魏" pitchFamily="2" charset="-122"/>
              </a:rPr>
              <a:t>Quantum </a:t>
            </a:r>
            <a:r>
              <a:rPr lang="en-US" altLang="en-US" sz="2400" dirty="0">
                <a:latin typeface="Times New Roman" pitchFamily="18" charset="0"/>
                <a:ea typeface="华文新魏" pitchFamily="2" charset="-122"/>
              </a:rPr>
              <a:t>well lasers (</a:t>
            </a:r>
            <a:r>
              <a:rPr lang="en-US" sz="2400" dirty="0" err="1">
                <a:latin typeface="Times New Roman" pitchFamily="18" charset="0"/>
                <a:ea typeface="华文新魏" pitchFamily="2" charset="-122"/>
              </a:rPr>
              <a:t>QW</a:t>
            </a:r>
            <a:r>
              <a:rPr lang="en-US" sz="2400" dirty="0">
                <a:latin typeface="Times New Roman" pitchFamily="18" charset="0"/>
                <a:ea typeface="华文新魏" pitchFamily="2" charset="-122"/>
              </a:rPr>
              <a:t> LD</a:t>
            </a:r>
            <a:r>
              <a:rPr lang="en-US" altLang="en-US" sz="2400" dirty="0">
                <a:latin typeface="Times New Roman" pitchFamily="18" charset="0"/>
                <a:ea typeface="华文新魏" pitchFamily="2" charset="-122"/>
              </a:rPr>
              <a:t>)</a:t>
            </a:r>
            <a:endParaRPr lang="en-US" sz="2400" dirty="0">
              <a:latin typeface="Times New Roman" pitchFamily="18" charset="0"/>
              <a:ea typeface="华文新魏" pitchFamily="2" charset="-12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400" dirty="0">
                <a:latin typeface="Times New Roman" pitchFamily="18" charset="0"/>
                <a:ea typeface="华文新魏" pitchFamily="2" charset="-122"/>
              </a:rPr>
              <a:t>    </a:t>
            </a:r>
            <a:r>
              <a:rPr lang="en-US" altLang="en-US" sz="2400" dirty="0" smtClean="0">
                <a:latin typeface="Times New Roman" pitchFamily="18" charset="0"/>
                <a:ea typeface="华文新魏" pitchFamily="2" charset="-122"/>
              </a:rPr>
              <a:t>Vertical </a:t>
            </a:r>
            <a:r>
              <a:rPr lang="en-US" altLang="en-US" sz="2400" dirty="0">
                <a:latin typeface="Times New Roman" pitchFamily="18" charset="0"/>
                <a:ea typeface="华文新魏" pitchFamily="2" charset="-122"/>
              </a:rPr>
              <a:t>cavity surface emitting lasers (</a:t>
            </a:r>
            <a:r>
              <a:rPr lang="en-US" sz="2400" dirty="0" err="1">
                <a:latin typeface="Times New Roman" pitchFamily="18" charset="0"/>
                <a:ea typeface="华文新魏" pitchFamily="2" charset="-122"/>
              </a:rPr>
              <a:t>VCSEL</a:t>
            </a:r>
            <a:r>
              <a:rPr lang="en-US" altLang="en-US" sz="2400" dirty="0">
                <a:latin typeface="Times New Roman" pitchFamily="18" charset="0"/>
                <a:ea typeface="华文新魏" pitchFamily="2" charset="-122"/>
              </a:rPr>
              <a:t>)</a:t>
            </a:r>
            <a:endParaRPr lang="en-US" sz="2400" dirty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800" dirty="0" smtClean="0">
                <a:latin typeface="Times New Roman" pitchFamily="18" charset="0"/>
                <a:ea typeface="华文新魏" pitchFamily="2" charset="-122"/>
              </a:rPr>
              <a:t>The </a:t>
            </a:r>
            <a:r>
              <a:rPr lang="en-US" altLang="en-US" sz="2800" dirty="0">
                <a:latin typeface="Times New Roman" pitchFamily="18" charset="0"/>
                <a:ea typeface="华文新魏" pitchFamily="2" charset="-122"/>
              </a:rPr>
              <a:t>characteristics of semiconductor lasers</a:t>
            </a:r>
          </a:p>
          <a:p>
            <a:pPr eaLnBrk="1" hangingPunct="1"/>
            <a:endParaRPr lang="en-US" altLang="en-US" sz="2800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A919AF5C-D938-4EED-84A8-3046E1EC108C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46</a:t>
            </a:fld>
            <a:endParaRPr lang="en-US" sz="140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97000" y="188913"/>
            <a:ext cx="6418263" cy="836612"/>
          </a:xfrm>
        </p:spPr>
        <p:txBody>
          <a:bodyPr/>
          <a:lstStyle/>
          <a:p>
            <a:pPr eaLnBrk="1" hangingPunct="1"/>
            <a:r>
              <a:rPr lang="en-US" altLang="en-US" sz="36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Semiconductor </a:t>
            </a:r>
            <a:r>
              <a:rPr lang="en-US" altLang="en-US" sz="36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laser (</a:t>
            </a:r>
            <a:r>
              <a:rPr lang="en-US" sz="36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LD</a:t>
            </a:r>
            <a:r>
              <a:rPr lang="en-US" altLang="en-US" sz="36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)</a:t>
            </a:r>
            <a:endParaRPr lang="en-US" sz="3600" b="1" dirty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Palatino Linotype" pitchFamily="18" charset="0"/>
              <a:ea typeface="华文行楷" pitchFamily="2" charset="-122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1219200"/>
            <a:ext cx="8077200" cy="4724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Laser is regarded as the three great inventions of twentieth Century (semiconductor and atomic energy). Especially, LD caught much attention.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S</a:t>
            </a: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emiconductor lasers (LD) and light-emitting diode (LED)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are</a:t>
            </a: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the most common light source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s.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zh-CN" altLang="en-US" sz="280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>
                <a:latin typeface="华文新魏" pitchFamily="2" charset="-122"/>
                <a:ea typeface="华文新魏" pitchFamily="2" charset="-122"/>
              </a:rPr>
              <a:t>The main difference: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>
                <a:latin typeface="华文新魏" pitchFamily="2" charset="-122"/>
                <a:ea typeface="华文新魏" pitchFamily="2" charset="-122"/>
              </a:rPr>
              <a:t>The output of LED is non-coherent light; 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>
                <a:latin typeface="华文新魏" pitchFamily="2" charset="-122"/>
                <a:ea typeface="华文新魏" pitchFamily="2" charset="-122"/>
              </a:rPr>
              <a:t>The output of LD is coherent light.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4A595AF0-CBCE-4223-B052-52F1445622ED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47</a:t>
            </a:fld>
            <a:endParaRPr lang="en-US" sz="140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73225" y="71438"/>
            <a:ext cx="5797550" cy="836612"/>
          </a:xfrm>
        </p:spPr>
        <p:txBody>
          <a:bodyPr/>
          <a:lstStyle/>
          <a:p>
            <a:pPr eaLnBrk="1" hangingPunct="1"/>
            <a:r>
              <a:rPr lang="en-US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行楷" pitchFamily="2" charset="-122"/>
              </a:rPr>
              <a:t>LED</a:t>
            </a:r>
            <a:endParaRPr lang="en-US" altLang="en-US" b="1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行楷" pitchFamily="2" charset="-122"/>
            </a:endParaRP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258888"/>
            <a:ext cx="8748712" cy="4114800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en-US" altLang="en-US" sz="2800">
                <a:latin typeface="Times New Roman" pitchFamily="18" charset="0"/>
                <a:ea typeface="华文新魏" pitchFamily="2" charset="-122"/>
              </a:rPr>
              <a:t>LED is the best light source</a:t>
            </a: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 for the communication systems, which are made of multi-mode fiber, require only a few tens of watts of input optical power, and the information bit rate is about 100 ~ 200Mb / s.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Compared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with</a:t>
            </a: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the semiconductor laser, LED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doesn't</a:t>
            </a: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need</a:t>
            </a: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heat and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l</a:t>
            </a: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ight stabilizing circuit,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so</a:t>
            </a: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LED is relatively simple, 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and low cost</a:t>
            </a: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B918C790-F7B9-4D10-95FB-9284ACFB4AE8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48</a:t>
            </a:fld>
            <a:endParaRPr lang="en-US" sz="140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1258888"/>
            <a:ext cx="7486650" cy="4114800"/>
          </a:xfrm>
        </p:spPr>
        <p:txBody>
          <a:bodyPr/>
          <a:lstStyle/>
          <a:p>
            <a:pPr eaLnBrk="1" hangingPunct="1"/>
            <a:r>
              <a:rPr lang="en-US" altLang="en-US" sz="2400">
                <a:latin typeface="Times New Roman" pitchFamily="18" charset="0"/>
                <a:ea typeface="华文新魏" pitchFamily="2" charset="-122"/>
              </a:rPr>
              <a:t>Spontaneous emission</a:t>
            </a:r>
            <a:r>
              <a:rPr lang="zh-CN" altLang="en-US" sz="240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en-US" sz="2400">
                <a:latin typeface="Times New Roman" pitchFamily="18" charset="0"/>
                <a:ea typeface="华文新魏" pitchFamily="2" charset="-122"/>
              </a:rPr>
              <a:t>of light</a:t>
            </a:r>
            <a:r>
              <a:rPr lang="zh-CN" altLang="en-US" sz="240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en-US" sz="2400">
                <a:latin typeface="Times New Roman" pitchFamily="18" charset="0"/>
                <a:ea typeface="华文新魏" pitchFamily="2" charset="-122"/>
              </a:rPr>
              <a:t>process is the</a:t>
            </a:r>
            <a:r>
              <a:rPr lang="zh-CN" altLang="en-US" sz="240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en-US" sz="2400">
                <a:latin typeface="Times New Roman" pitchFamily="18" charset="0"/>
                <a:ea typeface="华文新魏" pitchFamily="2" charset="-122"/>
              </a:rPr>
              <a:t>mainly work</a:t>
            </a:r>
            <a:r>
              <a:rPr lang="zh-CN" altLang="en-US" sz="2400">
                <a:latin typeface="Times New Roman" pitchFamily="18" charset="0"/>
                <a:ea typeface="华文新魏" pitchFamily="2" charset="-122"/>
              </a:rPr>
              <a:t>ing</a:t>
            </a:r>
            <a:r>
              <a:rPr lang="en-US" altLang="en-US" sz="2400">
                <a:latin typeface="Times New Roman" pitchFamily="18" charset="0"/>
                <a:ea typeface="华文新魏" pitchFamily="2" charset="-122"/>
              </a:rPr>
              <a:t> principle of LED, which is a kind of </a:t>
            </a:r>
            <a:r>
              <a:rPr lang="en-US" altLang="en-US" sz="24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non coherent light source</a:t>
            </a:r>
            <a:r>
              <a:rPr lang="zh-CN" altLang="en-US" sz="2400" b="1">
                <a:latin typeface="Times New Roman" pitchFamily="18" charset="0"/>
                <a:ea typeface="华文新魏" pitchFamily="2" charset="-122"/>
              </a:rPr>
              <a:t>.</a:t>
            </a:r>
          </a:p>
          <a:p>
            <a:pPr eaLnBrk="1" hangingPunct="1"/>
            <a:r>
              <a:rPr lang="en-US" altLang="en-US" sz="2800">
                <a:latin typeface="Times New Roman" pitchFamily="18" charset="0"/>
                <a:ea typeface="华文新魏" pitchFamily="2" charset="-122"/>
              </a:rPr>
              <a:t>LED </a:t>
            </a: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has a</a:t>
            </a:r>
            <a:r>
              <a:rPr lang="en-US" altLang="en-US" sz="2800">
                <a:latin typeface="Times New Roman" pitchFamily="18" charset="0"/>
                <a:ea typeface="华文新魏" pitchFamily="2" charset="-122"/>
              </a:rPr>
              <a:t> wide</a:t>
            </a: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en-US" sz="2800">
                <a:latin typeface="Times New Roman" pitchFamily="18" charset="0"/>
                <a:ea typeface="华文新魏" pitchFamily="2" charset="-122"/>
              </a:rPr>
              <a:t>spectrum, poor directionality and </a:t>
            </a: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l</a:t>
            </a:r>
            <a:r>
              <a:rPr lang="en-US" altLang="en-US" sz="2800">
                <a:latin typeface="Times New Roman" pitchFamily="18" charset="0"/>
                <a:ea typeface="华文新魏" pitchFamily="2" charset="-122"/>
              </a:rPr>
              <a:t>ow response speed, </a:t>
            </a: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is </a:t>
            </a:r>
            <a:r>
              <a:rPr lang="en-US" altLang="en-US" sz="2800">
                <a:latin typeface="Times New Roman" pitchFamily="18" charset="0"/>
                <a:ea typeface="华文新魏" pitchFamily="2" charset="-122"/>
              </a:rPr>
              <a:t>only </a:t>
            </a: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used in</a:t>
            </a:r>
            <a:r>
              <a:rPr lang="en-US" altLang="en-US" sz="280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en-US" sz="28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the lower rate of a communication system.</a:t>
            </a:r>
          </a:p>
          <a:p>
            <a:pPr eaLnBrk="1" hangingPunct="1"/>
            <a:r>
              <a:rPr lang="en-US" altLang="en-US" sz="2800">
                <a:latin typeface="Times New Roman" pitchFamily="18" charset="0"/>
                <a:ea typeface="华文新魏" pitchFamily="2" charset="-122"/>
              </a:rPr>
              <a:t>In high-speed </a:t>
            </a: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and </a:t>
            </a:r>
            <a:r>
              <a:rPr lang="en-US" altLang="en-US" sz="2800">
                <a:latin typeface="Times New Roman" pitchFamily="18" charset="0"/>
                <a:ea typeface="华文新魏" pitchFamily="2" charset="-122"/>
              </a:rPr>
              <a:t>large-capacity optical fiber communication systems, </a:t>
            </a: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we </a:t>
            </a:r>
            <a:r>
              <a:rPr lang="en-US" altLang="en-US" sz="2800">
                <a:latin typeface="Times New Roman" pitchFamily="18" charset="0"/>
                <a:ea typeface="华文新魏" pitchFamily="2" charset="-122"/>
              </a:rPr>
              <a:t>main</a:t>
            </a: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ly use</a:t>
            </a:r>
            <a:r>
              <a:rPr lang="en-US" altLang="en-US" sz="2800">
                <a:latin typeface="Times New Roman" pitchFamily="18" charset="0"/>
                <a:ea typeface="华文新魏" pitchFamily="2" charset="-122"/>
              </a:rPr>
              <a:t> semiconductor laser as the light source</a:t>
            </a: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.</a:t>
            </a:r>
            <a:endParaRPr lang="en-US" altLang="en-US" sz="280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73225" y="71438"/>
            <a:ext cx="5797550" cy="836612"/>
          </a:xfrm>
        </p:spPr>
        <p:txBody>
          <a:bodyPr/>
          <a:lstStyle/>
          <a:p>
            <a:pPr eaLnBrk="1" hangingPunct="1"/>
            <a:r>
              <a:rPr lang="en-US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行楷" pitchFamily="2" charset="-122"/>
              </a:rPr>
              <a:t>LED</a:t>
            </a:r>
            <a:endParaRPr lang="en-US" altLang="en-US" b="1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3590D82E-0632-4206-BF0D-41AABE20334E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49</a:t>
            </a:fld>
            <a:endParaRPr lang="en-US" sz="140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97000" y="71438"/>
            <a:ext cx="6418263" cy="836612"/>
          </a:xfrm>
        </p:spPr>
        <p:txBody>
          <a:bodyPr/>
          <a:lstStyle/>
          <a:p>
            <a:pPr eaLnBrk="1" hangingPunct="1"/>
            <a:r>
              <a:rPr lang="en-US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行楷" pitchFamily="2" charset="-122"/>
              </a:rPr>
              <a:t>LD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295400"/>
            <a:ext cx="7772400" cy="48006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800">
                <a:solidFill>
                  <a:schemeClr val="hlink"/>
                </a:solidFill>
                <a:latin typeface="华文新魏" pitchFamily="2" charset="-122"/>
                <a:ea typeface="华文新魏" pitchFamily="2" charset="-122"/>
              </a:rPr>
              <a:t>Advantages:</a:t>
            </a:r>
            <a:r>
              <a:rPr lang="en-US" altLang="en-US" sz="2800">
                <a:latin typeface="华文新魏" pitchFamily="2" charset="-122"/>
                <a:ea typeface="华文新魏" pitchFamily="2" charset="-122"/>
              </a:rPr>
              <a:t> small size, high coupling efficiency, fast response, can be directly modulated,</a:t>
            </a:r>
            <a:r>
              <a:rPr lang="zh-CN" altLang="en-US" sz="2800">
                <a:latin typeface="华文新魏" pitchFamily="2" charset="-122"/>
                <a:ea typeface="华文新魏" pitchFamily="2" charset="-122"/>
              </a:rPr>
              <a:t> have</a:t>
            </a:r>
            <a:r>
              <a:rPr lang="en-US" altLang="en-US" sz="2800">
                <a:latin typeface="华文新魏" pitchFamily="2" charset="-122"/>
                <a:ea typeface="华文新魏" pitchFamily="2" charset="-122"/>
              </a:rPr>
              <a:t> a good coherence.</a:t>
            </a:r>
          </a:p>
          <a:p>
            <a:pPr eaLnBrk="1" hangingPunct="1"/>
            <a:r>
              <a:rPr lang="en-US" altLang="en-US" sz="2800">
                <a:solidFill>
                  <a:schemeClr val="hlink"/>
                </a:solidFill>
                <a:latin typeface="华文新魏" pitchFamily="2" charset="-122"/>
                <a:ea typeface="华文新魏" pitchFamily="2" charset="-122"/>
              </a:rPr>
              <a:t>Classification by structure</a:t>
            </a:r>
            <a:r>
              <a:rPr lang="zh-CN" altLang="en-US" sz="2800">
                <a:latin typeface="华文新魏" pitchFamily="2" charset="-122"/>
                <a:ea typeface="华文新魏" pitchFamily="2" charset="-122"/>
              </a:rPr>
              <a:t>:</a:t>
            </a:r>
            <a:r>
              <a:rPr lang="en-US" altLang="en-US" sz="280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sz="2800">
                <a:latin typeface="华文新魏" pitchFamily="2" charset="-122"/>
                <a:ea typeface="华文新魏" pitchFamily="2" charset="-122"/>
              </a:rPr>
              <a:t>F-P LD、 DFB LD、 DBR LD、 QW LD、 VCSEL</a:t>
            </a:r>
          </a:p>
          <a:p>
            <a:pPr eaLnBrk="1" hangingPunct="1"/>
            <a:r>
              <a:rPr lang="en-US" altLang="en-US" sz="2800">
                <a:solidFill>
                  <a:schemeClr val="hlink"/>
                </a:solidFill>
                <a:latin typeface="华文新魏" pitchFamily="2" charset="-122"/>
                <a:ea typeface="华文新魏" pitchFamily="2" charset="-122"/>
              </a:rPr>
              <a:t>Classified by the guide mechanism</a:t>
            </a:r>
            <a:r>
              <a:rPr lang="zh-CN" altLang="en-US" sz="2800">
                <a:latin typeface="华文新魏" pitchFamily="2" charset="-122"/>
                <a:ea typeface="华文新魏" pitchFamily="2" charset="-122"/>
              </a:rPr>
              <a:t>: g</a:t>
            </a:r>
            <a:r>
              <a:rPr lang="en-US" altLang="en-US" sz="2800">
                <a:latin typeface="华文新魏" pitchFamily="2" charset="-122"/>
                <a:ea typeface="华文新魏" pitchFamily="2" charset="-122"/>
              </a:rPr>
              <a:t>ain-guided LD and index-guided LD</a:t>
            </a:r>
          </a:p>
          <a:p>
            <a:pPr eaLnBrk="1" hangingPunct="1"/>
            <a:r>
              <a:rPr lang="zh-CN" altLang="en-US" sz="2800">
                <a:solidFill>
                  <a:schemeClr val="hlink"/>
                </a:solidFill>
                <a:latin typeface="华文新魏" pitchFamily="2" charset="-122"/>
                <a:ea typeface="华文新魏" pitchFamily="2" charset="-122"/>
              </a:rPr>
              <a:t>C</a:t>
            </a:r>
            <a:r>
              <a:rPr lang="en-US" altLang="en-US" sz="2800">
                <a:solidFill>
                  <a:schemeClr val="hlink"/>
                </a:solidFill>
                <a:latin typeface="华文新魏" pitchFamily="2" charset="-122"/>
                <a:ea typeface="华文新魏" pitchFamily="2" charset="-122"/>
              </a:rPr>
              <a:t>lassification </a:t>
            </a:r>
            <a:r>
              <a:rPr lang="zh-CN" altLang="en-US" sz="2800">
                <a:solidFill>
                  <a:schemeClr val="hlink"/>
                </a:solidFill>
                <a:latin typeface="华文新魏" pitchFamily="2" charset="-122"/>
                <a:ea typeface="华文新魏" pitchFamily="2" charset="-122"/>
              </a:rPr>
              <a:t>by </a:t>
            </a:r>
            <a:r>
              <a:rPr lang="en-US" altLang="en-US" sz="2800">
                <a:solidFill>
                  <a:schemeClr val="hlink"/>
                </a:solidFill>
                <a:latin typeface="华文新魏" pitchFamily="2" charset="-122"/>
                <a:ea typeface="华文新魏" pitchFamily="2" charset="-122"/>
              </a:rPr>
              <a:t>performance</a:t>
            </a:r>
            <a:r>
              <a:rPr lang="zh-CN" altLang="en-US" sz="2800">
                <a:latin typeface="华文新魏" pitchFamily="2" charset="-122"/>
                <a:ea typeface="华文新魏" pitchFamily="2" charset="-122"/>
              </a:rPr>
              <a:t>: l</a:t>
            </a:r>
            <a:r>
              <a:rPr lang="en-US" altLang="en-US" sz="2800">
                <a:latin typeface="华文新魏" pitchFamily="2" charset="-122"/>
                <a:ea typeface="华文新魏" pitchFamily="2" charset="-122"/>
              </a:rPr>
              <a:t>ow</a:t>
            </a:r>
            <a:r>
              <a:rPr lang="zh-CN" altLang="en-US" sz="2800">
                <a:latin typeface="华文新魏" pitchFamily="2" charset="-122"/>
                <a:ea typeface="华文新魏" pitchFamily="2" charset="-122"/>
              </a:rPr>
              <a:t>-</a:t>
            </a:r>
            <a:r>
              <a:rPr lang="en-US" altLang="en-US" sz="2800">
                <a:latin typeface="华文新魏" pitchFamily="2" charset="-122"/>
                <a:ea typeface="华文新魏" pitchFamily="2" charset="-122"/>
              </a:rPr>
              <a:t>threshold LD, high speed LD, dynamic single</a:t>
            </a:r>
            <a:r>
              <a:rPr lang="zh-CN" altLang="en-US" sz="2800">
                <a:latin typeface="华文新魏" pitchFamily="2" charset="-122"/>
                <a:ea typeface="华文新魏" pitchFamily="2" charset="-122"/>
              </a:rPr>
              <a:t>-</a:t>
            </a:r>
            <a:r>
              <a:rPr lang="en-US" altLang="en-US" sz="2800">
                <a:latin typeface="华文新魏" pitchFamily="2" charset="-122"/>
                <a:ea typeface="华文新魏" pitchFamily="2" charset="-122"/>
              </a:rPr>
              <a:t>mode LD, high power LD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2F1B6066-A9D0-441D-AC3D-8A2554BDCC50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50</a:t>
            </a:fld>
            <a:endParaRPr lang="en-US" sz="140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58888" y="71438"/>
            <a:ext cx="7489825" cy="836612"/>
          </a:xfrm>
        </p:spPr>
        <p:txBody>
          <a:bodyPr/>
          <a:lstStyle/>
          <a:p>
            <a:pPr eaLnBrk="1" hangingPunct="1"/>
            <a:r>
              <a:rPr lang="en-US" altLang="en-US" sz="3600" b="1" dirty="0" err="1" smtClean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Fabry</a:t>
            </a:r>
            <a:r>
              <a:rPr lang="en-US" altLang="en-US" sz="36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 </a:t>
            </a:r>
            <a:r>
              <a:rPr lang="en-US" altLang="en-US" sz="36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- Perot lasers</a:t>
            </a:r>
            <a:r>
              <a:rPr lang="zh-CN" altLang="en-US" sz="36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 (</a:t>
            </a:r>
            <a:r>
              <a:rPr lang="en-US" sz="36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行楷" pitchFamily="2" charset="-122"/>
              </a:rPr>
              <a:t>F-P LD</a:t>
            </a:r>
            <a:r>
              <a:rPr lang="zh-CN" altLang="en-US" sz="36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行楷" pitchFamily="2" charset="-122"/>
              </a:rPr>
              <a:t>)</a:t>
            </a:r>
            <a:endParaRPr lang="en-US" sz="3600" b="1" dirty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行楷" pitchFamily="2" charset="-122"/>
            </a:endParaRP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052513"/>
            <a:ext cx="8305800" cy="1944687"/>
          </a:xfrm>
        </p:spPr>
        <p:txBody>
          <a:bodyPr/>
          <a:lstStyle/>
          <a:p>
            <a:pPr eaLnBrk="1" hangingPunct="1"/>
            <a:r>
              <a:rPr lang="en-US" altLang="en-US" sz="2000">
                <a:latin typeface="Times New Roman" pitchFamily="18" charset="0"/>
                <a:ea typeface="华文新魏" pitchFamily="2" charset="-122"/>
              </a:rPr>
              <a:t>F-P LD is the most common LD.</a:t>
            </a:r>
          </a:p>
          <a:p>
            <a:pPr eaLnBrk="1" hangingPunct="1"/>
            <a:r>
              <a:rPr lang="zh-CN" altLang="en-US" sz="2000">
                <a:latin typeface="Times New Roman" pitchFamily="18" charset="0"/>
                <a:ea typeface="华文新魏" pitchFamily="2" charset="-122"/>
              </a:rPr>
              <a:t>Consist of t</a:t>
            </a:r>
            <a:r>
              <a:rPr lang="en-US" altLang="en-US" sz="2000">
                <a:latin typeface="Times New Roman" pitchFamily="18" charset="0"/>
                <a:ea typeface="华文新魏" pitchFamily="2" charset="-122"/>
              </a:rPr>
              <a:t>he epitaxial growth of the active layer and the active layer on both sides of the limiting layer</a:t>
            </a:r>
            <a:r>
              <a:rPr lang="zh-CN" altLang="en-US" sz="2000">
                <a:latin typeface="Times New Roman" pitchFamily="18" charset="0"/>
                <a:ea typeface="华文新魏" pitchFamily="2" charset="-122"/>
              </a:rPr>
              <a:t>. R</a:t>
            </a:r>
            <a:r>
              <a:rPr lang="en-US" altLang="en-US" sz="2000">
                <a:latin typeface="Times New Roman" pitchFamily="18" charset="0"/>
                <a:ea typeface="华文新魏" pitchFamily="2" charset="-122"/>
              </a:rPr>
              <a:t>esonant cavity is composed of two cleavage plane of crystal</a:t>
            </a:r>
            <a:r>
              <a:rPr lang="zh-CN" altLang="en-US" sz="2000">
                <a:latin typeface="Times New Roman" pitchFamily="18" charset="0"/>
                <a:ea typeface="华文新魏" pitchFamily="2" charset="-122"/>
              </a:rPr>
              <a:t>, </a:t>
            </a:r>
            <a:r>
              <a:rPr lang="en-US" altLang="en-US" sz="200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sz="2000">
                <a:latin typeface="Times New Roman" pitchFamily="18" charset="0"/>
                <a:ea typeface="华文新魏" pitchFamily="2" charset="-122"/>
              </a:rPr>
              <a:t>u</a:t>
            </a:r>
            <a:r>
              <a:rPr lang="en-US" altLang="en-US" sz="2000">
                <a:latin typeface="Times New Roman" pitchFamily="18" charset="0"/>
                <a:ea typeface="华文新魏" pitchFamily="2" charset="-122"/>
              </a:rPr>
              <a:t>sually </a:t>
            </a:r>
            <a:r>
              <a:rPr lang="zh-CN" altLang="en-US" sz="2000">
                <a:latin typeface="Times New Roman" pitchFamily="18" charset="0"/>
                <a:ea typeface="华文新魏" pitchFamily="2" charset="-122"/>
              </a:rPr>
              <a:t>are </a:t>
            </a:r>
            <a:r>
              <a:rPr lang="en-US" altLang="en-US" sz="2000">
                <a:latin typeface="Times New Roman" pitchFamily="18" charset="0"/>
                <a:ea typeface="华文新魏" pitchFamily="2" charset="-122"/>
              </a:rPr>
              <a:t>double heterostructure (DH) LD.</a:t>
            </a:r>
          </a:p>
          <a:p>
            <a:pPr eaLnBrk="1" hangingPunct="1"/>
            <a:r>
              <a:rPr lang="en-US" altLang="en-US" sz="2000">
                <a:latin typeface="Times New Roman" pitchFamily="18" charset="0"/>
                <a:ea typeface="华文新魏" pitchFamily="2" charset="-122"/>
              </a:rPr>
              <a:t>Laser is essentially a stimulated emission of light oscillation amplifier.</a:t>
            </a:r>
          </a:p>
        </p:txBody>
      </p:sp>
      <p:pic>
        <p:nvPicPr>
          <p:cNvPr id="9221" name="Picture 5" descr="dlas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32363" y="2925763"/>
            <a:ext cx="3808412" cy="3808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2" name="Picture 6" descr="Akty_2b_rys04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997200"/>
            <a:ext cx="5045075" cy="381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2D43871E-A920-456F-81F4-53E3E2B4EDA4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51</a:t>
            </a:fld>
            <a:endParaRPr lang="en-US" sz="140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40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The basic principle of F-P LD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447800"/>
            <a:ext cx="8153400" cy="4191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The four basic conditions of F-P LD:</a:t>
            </a:r>
          </a:p>
          <a:p>
            <a:pPr lvl="1" eaLnBrk="1" hangingPunct="1"/>
            <a:r>
              <a:rPr lang="zh-CN" altLang="en-US">
                <a:latin typeface="Times New Roman" pitchFamily="18" charset="0"/>
                <a:ea typeface="华文新魏" pitchFamily="2" charset="-122"/>
              </a:rPr>
              <a:t>The working substance to achieve electronic and optical field interacting </a:t>
            </a:r>
          </a:p>
          <a:p>
            <a:pPr lvl="1" eaLnBrk="1" hangingPunct="1"/>
            <a:r>
              <a:rPr lang="zh-CN" altLang="en-US">
                <a:latin typeface="Times New Roman" pitchFamily="18" charset="0"/>
                <a:ea typeface="华文新魏" pitchFamily="2" charset="-122"/>
              </a:rPr>
              <a:t>Pump source to inject energy (optical pump or electric pump)</a:t>
            </a:r>
          </a:p>
          <a:p>
            <a:pPr lvl="1" eaLnBrk="1" hangingPunct="1"/>
            <a:r>
              <a:rPr lang="en-US" altLang="en-US">
                <a:latin typeface="Times New Roman" pitchFamily="18" charset="0"/>
                <a:ea typeface="华文新魏" pitchFamily="2" charset="-122"/>
              </a:rPr>
              <a:t>An F-P resonator</a:t>
            </a:r>
          </a:p>
          <a:p>
            <a:pPr lvl="1" eaLnBrk="1" hangingPunct="1"/>
            <a:r>
              <a:rPr lang="en-US" altLang="en-US">
                <a:latin typeface="Times New Roman" pitchFamily="18" charset="0"/>
                <a:ea typeface="华文新魏" pitchFamily="2" charset="-122"/>
              </a:rPr>
              <a:t>To satisfy the condition of oscillation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2065355D-B45D-4AA6-B04C-08977C2B8D60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52</a:t>
            </a:fld>
            <a:endParaRPr lang="en-US" sz="140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28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1. Spontaneous emission, stimulated emission and stimulated absorption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850" y="1196975"/>
            <a:ext cx="8534400" cy="51847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The working substance and the pumping source is the most basic conditions of spontaneous emission, stimulated emission and 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stimulated 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absorption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en-US" sz="280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800" b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sz="2800" b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pontaneous emission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: Many i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 high energy particle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respectively launch wave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 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 a row 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whose 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frequency  = (E2 -E1) /h,  but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there is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no phase fixed relationship between the  light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and </a:t>
            </a:r>
            <a:r>
              <a:rPr lang="zh-CN" altLang="en-US" sz="2800">
                <a:solidFill>
                  <a:schemeClr val="folHlin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they </a:t>
            </a:r>
            <a:r>
              <a:rPr lang="en-US" altLang="en-US" sz="2800">
                <a:solidFill>
                  <a:schemeClr val="folHlin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can have different polarization directions, along all possible directions. The photons are independent of each other.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 b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sz="2800" b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timulated emission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: P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articles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a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 a high level of E2 when subjected to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a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light irradiation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will emit photons the same as incident, and transition to the lower energy level E1. </a:t>
            </a:r>
            <a:r>
              <a:rPr lang="zh-CN" altLang="en-US" sz="2800">
                <a:solidFill>
                  <a:schemeClr val="folHlin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The emission lights have the same direction of polarization and propagation direction.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3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35E58CF7-984B-4E96-920E-DFFFA0194A65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53</a:t>
            </a:fld>
            <a:endParaRPr lang="en-US" sz="1400"/>
          </a:p>
        </p:txBody>
      </p:sp>
      <p:sp>
        <p:nvSpPr>
          <p:cNvPr id="12291" name="Text Box 2"/>
          <p:cNvSpPr txBox="1">
            <a:spLocks noChangeArrowheads="1"/>
          </p:cNvSpPr>
          <p:nvPr/>
        </p:nvSpPr>
        <p:spPr bwMode="auto">
          <a:xfrm>
            <a:off x="1116013" y="336550"/>
            <a:ext cx="79216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zh-CN" altLang="en-US" sz="24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Three kinds of transitions of two-level atom system</a:t>
            </a:r>
          </a:p>
        </p:txBody>
      </p:sp>
      <p:sp>
        <p:nvSpPr>
          <p:cNvPr id="12292" name="Oval 3"/>
          <p:cNvSpPr>
            <a:spLocks noChangeArrowheads="1"/>
          </p:cNvSpPr>
          <p:nvPr/>
        </p:nvSpPr>
        <p:spPr bwMode="auto">
          <a:xfrm>
            <a:off x="2895600" y="25908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362200" y="1905000"/>
            <a:ext cx="1447800" cy="396875"/>
            <a:chOff x="0" y="0"/>
            <a:chExt cx="912" cy="250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288" y="48"/>
              <a:ext cx="624" cy="144"/>
              <a:chOff x="0" y="0"/>
              <a:chExt cx="856" cy="192"/>
            </a:xfrm>
          </p:grpSpPr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>
                <a:off x="0" y="0"/>
                <a:ext cx="576" cy="192"/>
                <a:chOff x="0" y="0"/>
                <a:chExt cx="680" cy="240"/>
              </a:xfrm>
            </p:grpSpPr>
            <p:grpSp>
              <p:nvGrpSpPr>
                <p:cNvPr id="5" name="Group 8"/>
                <p:cNvGrpSpPr>
                  <a:grpSpLocks/>
                </p:cNvGrpSpPr>
                <p:nvPr/>
              </p:nvGrpSpPr>
              <p:grpSpPr bwMode="auto">
                <a:xfrm rot="10800000">
                  <a:off x="411" y="105"/>
                  <a:ext cx="269" cy="135"/>
                  <a:chOff x="0" y="0"/>
                  <a:chExt cx="1152" cy="576"/>
                </a:xfrm>
              </p:grpSpPr>
              <p:sp>
                <p:nvSpPr>
                  <p:cNvPr id="12297" name="Arc 8"/>
                  <p:cNvSpPr>
                    <a:spLocks/>
                  </p:cNvSpPr>
                  <p:nvPr/>
                </p:nvSpPr>
                <p:spPr bwMode="auto">
                  <a:xfrm>
                    <a:off x="576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298" name="Arc 9"/>
                  <p:cNvSpPr>
                    <a:spLocks/>
                  </p:cNvSpPr>
                  <p:nvPr/>
                </p:nvSpPr>
                <p:spPr bwMode="auto">
                  <a:xfrm rot="16200000">
                    <a:off x="0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" name="Group 11"/>
                <p:cNvGrpSpPr>
                  <a:grpSpLocks/>
                </p:cNvGrpSpPr>
                <p:nvPr/>
              </p:nvGrpSpPr>
              <p:grpSpPr bwMode="auto">
                <a:xfrm rot="10800000">
                  <a:off x="0" y="119"/>
                  <a:ext cx="176" cy="73"/>
                  <a:chOff x="0" y="0"/>
                  <a:chExt cx="1152" cy="576"/>
                </a:xfrm>
              </p:grpSpPr>
              <p:sp>
                <p:nvSpPr>
                  <p:cNvPr id="12300" name="Arc 11"/>
                  <p:cNvSpPr>
                    <a:spLocks/>
                  </p:cNvSpPr>
                  <p:nvPr/>
                </p:nvSpPr>
                <p:spPr bwMode="auto">
                  <a:xfrm>
                    <a:off x="576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01" name="Arc 12"/>
                  <p:cNvSpPr>
                    <a:spLocks/>
                  </p:cNvSpPr>
                  <p:nvPr/>
                </p:nvSpPr>
                <p:spPr bwMode="auto">
                  <a:xfrm rot="16200000">
                    <a:off x="0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7" name="Group 14"/>
                <p:cNvGrpSpPr>
                  <a:grpSpLocks/>
                </p:cNvGrpSpPr>
                <p:nvPr/>
              </p:nvGrpSpPr>
              <p:grpSpPr bwMode="auto">
                <a:xfrm>
                  <a:off x="175" y="0"/>
                  <a:ext cx="236" cy="119"/>
                  <a:chOff x="0" y="0"/>
                  <a:chExt cx="1152" cy="576"/>
                </a:xfrm>
              </p:grpSpPr>
              <p:sp>
                <p:nvSpPr>
                  <p:cNvPr id="12303" name="Arc 14"/>
                  <p:cNvSpPr>
                    <a:spLocks/>
                  </p:cNvSpPr>
                  <p:nvPr/>
                </p:nvSpPr>
                <p:spPr bwMode="auto">
                  <a:xfrm>
                    <a:off x="576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04" name="Arc 15"/>
                  <p:cNvSpPr>
                    <a:spLocks/>
                  </p:cNvSpPr>
                  <p:nvPr/>
                </p:nvSpPr>
                <p:spPr bwMode="auto">
                  <a:xfrm rot="16200000">
                    <a:off x="0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2305" name="Line 16"/>
              <p:cNvSpPr>
                <a:spLocks noChangeShapeType="1"/>
              </p:cNvSpPr>
              <p:nvPr/>
            </p:nvSpPr>
            <p:spPr bwMode="auto">
              <a:xfrm>
                <a:off x="576" y="72"/>
                <a:ext cx="280" cy="0"/>
              </a:xfrm>
              <a:prstGeom prst="line">
                <a:avLst/>
              </a:prstGeom>
              <a:noFill/>
              <a:ln w="19050" cap="sq" cmpd="sng">
                <a:solidFill>
                  <a:srgbClr val="008000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12306" name="Text Box 17"/>
            <p:cNvSpPr txBox="1">
              <a:spLocks noChangeArrowheads="1"/>
            </p:cNvSpPr>
            <p:nvPr/>
          </p:nvSpPr>
          <p:spPr bwMode="auto">
            <a:xfrm>
              <a:off x="0" y="0"/>
              <a:ext cx="38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en-US" sz="2000" i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</a:rPr>
                <a:t>h</a:t>
              </a:r>
              <a:r>
                <a:rPr lang="en-US" sz="2000" i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  <a:sym typeface="Symbol" pitchFamily="18" charset="2"/>
                </a:rPr>
                <a:t></a:t>
              </a:r>
              <a:endParaRPr lang="en-US" sz="2000" i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黑体" pitchFamily="1" charset="-122"/>
              </a:endParaRPr>
            </a:p>
          </p:txBody>
        </p:sp>
      </p:grpSp>
      <p:grpSp>
        <p:nvGrpSpPr>
          <p:cNvPr id="8" name="Group 19"/>
          <p:cNvGrpSpPr>
            <a:grpSpLocks/>
          </p:cNvGrpSpPr>
          <p:nvPr/>
        </p:nvGrpSpPr>
        <p:grpSpPr bwMode="auto">
          <a:xfrm>
            <a:off x="1219200" y="1371600"/>
            <a:ext cx="2286000" cy="2119313"/>
            <a:chOff x="0" y="0"/>
            <a:chExt cx="1440" cy="1335"/>
          </a:xfrm>
        </p:grpSpPr>
        <p:sp>
          <p:nvSpPr>
            <p:cNvPr id="12308" name="Line 19"/>
            <p:cNvSpPr>
              <a:spLocks noChangeShapeType="1"/>
            </p:cNvSpPr>
            <p:nvPr/>
          </p:nvSpPr>
          <p:spPr bwMode="auto">
            <a:xfrm>
              <a:off x="48" y="240"/>
              <a:ext cx="1296" cy="0"/>
            </a:xfrm>
            <a:prstGeom prst="line">
              <a:avLst/>
            </a:prstGeom>
            <a:noFill/>
            <a:ln w="38100" cap="sq" cmpd="sng">
              <a:solidFill>
                <a:srgbClr val="FF0000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GB"/>
            </a:p>
          </p:txBody>
        </p:sp>
        <p:sp>
          <p:nvSpPr>
            <p:cNvPr id="12309" name="Oval 20"/>
            <p:cNvSpPr>
              <a:spLocks noChangeArrowheads="1"/>
            </p:cNvSpPr>
            <p:nvPr/>
          </p:nvSpPr>
          <p:spPr bwMode="auto">
            <a:xfrm>
              <a:off x="288" y="144"/>
              <a:ext cx="192" cy="192"/>
            </a:xfrm>
            <a:prstGeom prst="ellipse">
              <a:avLst/>
            </a:prstGeom>
            <a:solidFill>
              <a:srgbClr val="FF0000"/>
            </a:solidFill>
            <a:ln w="12700" cap="sq" cmpd="sng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310" name="Line 21"/>
            <p:cNvSpPr>
              <a:spLocks noChangeShapeType="1"/>
            </p:cNvSpPr>
            <p:nvPr/>
          </p:nvSpPr>
          <p:spPr bwMode="auto">
            <a:xfrm>
              <a:off x="48" y="864"/>
              <a:ext cx="1296" cy="0"/>
            </a:xfrm>
            <a:prstGeom prst="line">
              <a:avLst/>
            </a:prstGeom>
            <a:noFill/>
            <a:ln w="38100" cap="sq" cmpd="sng">
              <a:solidFill>
                <a:schemeClr val="folHlink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GB"/>
            </a:p>
          </p:txBody>
        </p:sp>
        <p:sp>
          <p:nvSpPr>
            <p:cNvPr id="12311" name="Line 22"/>
            <p:cNvSpPr>
              <a:spLocks noChangeShapeType="1"/>
            </p:cNvSpPr>
            <p:nvPr/>
          </p:nvSpPr>
          <p:spPr bwMode="auto">
            <a:xfrm>
              <a:off x="768" y="0"/>
              <a:ext cx="0" cy="1008"/>
            </a:xfrm>
            <a:prstGeom prst="line">
              <a:avLst/>
            </a:prstGeom>
            <a:noFill/>
            <a:ln w="12700" cap="sq" cmpd="sng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12312" name="Text Box 23"/>
            <p:cNvSpPr txBox="1">
              <a:spLocks noChangeArrowheads="1"/>
            </p:cNvSpPr>
            <p:nvPr/>
          </p:nvSpPr>
          <p:spPr bwMode="auto">
            <a:xfrm>
              <a:off x="0" y="0"/>
              <a:ext cx="28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en-US" sz="16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</a:rPr>
                <a:t>E</a:t>
              </a:r>
              <a:r>
                <a:rPr lang="en-US" sz="1600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</a:rPr>
                <a:t>2</a:t>
              </a:r>
              <a:endParaRPr lang="en-US" sz="16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黑体" pitchFamily="1" charset="-122"/>
              </a:endParaRPr>
            </a:p>
          </p:txBody>
        </p:sp>
        <p:sp>
          <p:nvSpPr>
            <p:cNvPr id="12313" name="Text Box 24"/>
            <p:cNvSpPr txBox="1">
              <a:spLocks noChangeArrowheads="1"/>
            </p:cNvSpPr>
            <p:nvPr/>
          </p:nvSpPr>
          <p:spPr bwMode="auto">
            <a:xfrm>
              <a:off x="0" y="624"/>
              <a:ext cx="28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en-US" sz="160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</a:rPr>
                <a:t>E</a:t>
              </a:r>
              <a:r>
                <a:rPr lang="en-US" sz="1600" baseline="-2500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</a:rPr>
                <a:t>1</a:t>
              </a:r>
              <a:endParaRPr lang="en-US" sz="16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黑体" pitchFamily="1" charset="-122"/>
              </a:endParaRPr>
            </a:p>
          </p:txBody>
        </p:sp>
        <p:sp>
          <p:nvSpPr>
            <p:cNvPr id="12314" name="Text Box 25"/>
            <p:cNvSpPr txBox="1">
              <a:spLocks noChangeArrowheads="1"/>
            </p:cNvSpPr>
            <p:nvPr/>
          </p:nvSpPr>
          <p:spPr bwMode="auto">
            <a:xfrm>
              <a:off x="192" y="1104"/>
              <a:ext cx="124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en-US" sz="2400" b="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行楷" pitchFamily="2" charset="-122"/>
                </a:rPr>
                <a:t>Spontaneous emission</a:t>
              </a:r>
            </a:p>
          </p:txBody>
        </p:sp>
      </p:grpSp>
      <p:sp>
        <p:nvSpPr>
          <p:cNvPr id="12315" name="Oval 26"/>
          <p:cNvSpPr>
            <a:spLocks noChangeArrowheads="1"/>
          </p:cNvSpPr>
          <p:nvPr/>
        </p:nvSpPr>
        <p:spPr bwMode="auto">
          <a:xfrm>
            <a:off x="6781800" y="1676400"/>
            <a:ext cx="304800" cy="304800"/>
          </a:xfrm>
          <a:prstGeom prst="ellipse">
            <a:avLst/>
          </a:prstGeom>
          <a:solidFill>
            <a:srgbClr val="FF0000"/>
          </a:solidFill>
          <a:ln w="12700" cap="sq" cmpd="sng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9" name="Group 28"/>
          <p:cNvGrpSpPr>
            <a:grpSpLocks/>
          </p:cNvGrpSpPr>
          <p:nvPr/>
        </p:nvGrpSpPr>
        <p:grpSpPr bwMode="auto">
          <a:xfrm>
            <a:off x="5029200" y="1447800"/>
            <a:ext cx="2286000" cy="1966913"/>
            <a:chOff x="0" y="0"/>
            <a:chExt cx="1440" cy="1239"/>
          </a:xfrm>
        </p:grpSpPr>
        <p:sp>
          <p:nvSpPr>
            <p:cNvPr id="12317" name="Line 28"/>
            <p:cNvSpPr>
              <a:spLocks noChangeShapeType="1"/>
            </p:cNvSpPr>
            <p:nvPr/>
          </p:nvSpPr>
          <p:spPr bwMode="auto">
            <a:xfrm>
              <a:off x="48" y="240"/>
              <a:ext cx="1392" cy="0"/>
            </a:xfrm>
            <a:prstGeom prst="line">
              <a:avLst/>
            </a:prstGeom>
            <a:noFill/>
            <a:ln w="38100" cap="sq" cmpd="sng">
              <a:solidFill>
                <a:srgbClr val="FF0000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12318" name="Line 29"/>
            <p:cNvSpPr>
              <a:spLocks noChangeShapeType="1"/>
            </p:cNvSpPr>
            <p:nvPr/>
          </p:nvSpPr>
          <p:spPr bwMode="auto">
            <a:xfrm>
              <a:off x="48" y="864"/>
              <a:ext cx="1344" cy="0"/>
            </a:xfrm>
            <a:prstGeom prst="line">
              <a:avLst/>
            </a:prstGeom>
            <a:noFill/>
            <a:ln w="38100" cap="sq" cmpd="sng">
              <a:solidFill>
                <a:srgbClr val="003399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12319" name="Oval 30"/>
            <p:cNvSpPr>
              <a:spLocks noChangeArrowheads="1"/>
            </p:cNvSpPr>
            <p:nvPr/>
          </p:nvSpPr>
          <p:spPr bwMode="auto">
            <a:xfrm>
              <a:off x="288" y="768"/>
              <a:ext cx="192" cy="192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320" name="Line 31"/>
            <p:cNvSpPr>
              <a:spLocks noChangeShapeType="1"/>
            </p:cNvSpPr>
            <p:nvPr/>
          </p:nvSpPr>
          <p:spPr bwMode="auto">
            <a:xfrm>
              <a:off x="1008" y="0"/>
              <a:ext cx="0" cy="960"/>
            </a:xfrm>
            <a:prstGeom prst="line">
              <a:avLst/>
            </a:prstGeom>
            <a:noFill/>
            <a:ln w="12700" cap="sq" cmpd="sng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12321" name="Text Box 32"/>
            <p:cNvSpPr txBox="1">
              <a:spLocks noChangeArrowheads="1"/>
            </p:cNvSpPr>
            <p:nvPr/>
          </p:nvSpPr>
          <p:spPr bwMode="auto">
            <a:xfrm>
              <a:off x="0" y="0"/>
              <a:ext cx="28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en-US" sz="16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</a:rPr>
                <a:t>E</a:t>
              </a:r>
              <a:r>
                <a:rPr lang="en-US" sz="1600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</a:rPr>
                <a:t>2</a:t>
              </a:r>
              <a:endParaRPr lang="en-US" sz="16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黑体" pitchFamily="1" charset="-122"/>
              </a:endParaRPr>
            </a:p>
          </p:txBody>
        </p:sp>
        <p:sp>
          <p:nvSpPr>
            <p:cNvPr id="12322" name="Text Box 33"/>
            <p:cNvSpPr txBox="1">
              <a:spLocks noChangeArrowheads="1"/>
            </p:cNvSpPr>
            <p:nvPr/>
          </p:nvSpPr>
          <p:spPr bwMode="auto">
            <a:xfrm>
              <a:off x="0" y="624"/>
              <a:ext cx="28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en-US" sz="1600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</a:rPr>
                <a:t>E</a:t>
              </a:r>
              <a:r>
                <a:rPr lang="en-US" sz="1600" baseline="-25000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</a:rPr>
                <a:t>1</a:t>
              </a:r>
              <a:endParaRPr lang="en-US" sz="160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黑体" pitchFamily="1" charset="-122"/>
              </a:endParaRPr>
            </a:p>
          </p:txBody>
        </p:sp>
        <p:sp>
          <p:nvSpPr>
            <p:cNvPr id="12323" name="Text Box 34"/>
            <p:cNvSpPr txBox="1">
              <a:spLocks noChangeArrowheads="1"/>
            </p:cNvSpPr>
            <p:nvPr/>
          </p:nvSpPr>
          <p:spPr bwMode="auto">
            <a:xfrm>
              <a:off x="192" y="1008"/>
              <a:ext cx="124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zh-CN" altLang="en-US" sz="2400" b="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行楷" pitchFamily="2" charset="-122"/>
                </a:rPr>
                <a:t>S</a:t>
              </a:r>
              <a:r>
                <a:rPr lang="en-US" altLang="en-US" sz="2400" b="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行楷" pitchFamily="2" charset="-122"/>
                </a:rPr>
                <a:t>timulated emission </a:t>
              </a:r>
            </a:p>
          </p:txBody>
        </p:sp>
      </p:grpSp>
      <p:grpSp>
        <p:nvGrpSpPr>
          <p:cNvPr id="10" name="Group 36"/>
          <p:cNvGrpSpPr>
            <a:grpSpLocks/>
          </p:cNvGrpSpPr>
          <p:nvPr/>
        </p:nvGrpSpPr>
        <p:grpSpPr bwMode="auto">
          <a:xfrm>
            <a:off x="5105400" y="2057400"/>
            <a:ext cx="1447800" cy="396875"/>
            <a:chOff x="0" y="0"/>
            <a:chExt cx="912" cy="250"/>
          </a:xfrm>
        </p:grpSpPr>
        <p:sp>
          <p:nvSpPr>
            <p:cNvPr id="12325" name="Text Box 36"/>
            <p:cNvSpPr txBox="1">
              <a:spLocks noChangeArrowheads="1"/>
            </p:cNvSpPr>
            <p:nvPr/>
          </p:nvSpPr>
          <p:spPr bwMode="auto">
            <a:xfrm>
              <a:off x="0" y="0"/>
              <a:ext cx="3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en-US" sz="2000" i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</a:rPr>
                <a:t>h</a:t>
              </a:r>
              <a:r>
                <a:rPr lang="en-US" sz="2000" i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  <a:sym typeface="Symbol" pitchFamily="18" charset="2"/>
                </a:rPr>
                <a:t></a:t>
              </a:r>
              <a:endParaRPr lang="en-US" sz="2000" i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黑体" pitchFamily="1" charset="-122"/>
              </a:endParaRPr>
            </a:p>
          </p:txBody>
        </p:sp>
        <p:grpSp>
          <p:nvGrpSpPr>
            <p:cNvPr id="11" name="Group 38"/>
            <p:cNvGrpSpPr>
              <a:grpSpLocks/>
            </p:cNvGrpSpPr>
            <p:nvPr/>
          </p:nvGrpSpPr>
          <p:grpSpPr bwMode="auto">
            <a:xfrm>
              <a:off x="288" y="96"/>
              <a:ext cx="624" cy="144"/>
              <a:chOff x="0" y="0"/>
              <a:chExt cx="856" cy="192"/>
            </a:xfrm>
          </p:grpSpPr>
          <p:grpSp>
            <p:nvGrpSpPr>
              <p:cNvPr id="12" name="Group 39"/>
              <p:cNvGrpSpPr>
                <a:grpSpLocks/>
              </p:cNvGrpSpPr>
              <p:nvPr/>
            </p:nvGrpSpPr>
            <p:grpSpPr bwMode="auto">
              <a:xfrm>
                <a:off x="0" y="0"/>
                <a:ext cx="576" cy="192"/>
                <a:chOff x="0" y="0"/>
                <a:chExt cx="680" cy="240"/>
              </a:xfrm>
            </p:grpSpPr>
            <p:grpSp>
              <p:nvGrpSpPr>
                <p:cNvPr id="13" name="Group 40"/>
                <p:cNvGrpSpPr>
                  <a:grpSpLocks/>
                </p:cNvGrpSpPr>
                <p:nvPr/>
              </p:nvGrpSpPr>
              <p:grpSpPr bwMode="auto">
                <a:xfrm rot="10800000">
                  <a:off x="411" y="105"/>
                  <a:ext cx="269" cy="135"/>
                  <a:chOff x="0" y="0"/>
                  <a:chExt cx="1152" cy="576"/>
                </a:xfrm>
              </p:grpSpPr>
              <p:sp>
                <p:nvSpPr>
                  <p:cNvPr id="12329" name="Arc 40"/>
                  <p:cNvSpPr>
                    <a:spLocks/>
                  </p:cNvSpPr>
                  <p:nvPr/>
                </p:nvSpPr>
                <p:spPr bwMode="auto">
                  <a:xfrm>
                    <a:off x="576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30" name="Arc 41"/>
                  <p:cNvSpPr>
                    <a:spLocks/>
                  </p:cNvSpPr>
                  <p:nvPr/>
                </p:nvSpPr>
                <p:spPr bwMode="auto">
                  <a:xfrm rot="16200000">
                    <a:off x="0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" name="Group 43"/>
                <p:cNvGrpSpPr>
                  <a:grpSpLocks/>
                </p:cNvGrpSpPr>
                <p:nvPr/>
              </p:nvGrpSpPr>
              <p:grpSpPr bwMode="auto">
                <a:xfrm rot="10800000">
                  <a:off x="0" y="119"/>
                  <a:ext cx="176" cy="73"/>
                  <a:chOff x="0" y="0"/>
                  <a:chExt cx="1152" cy="576"/>
                </a:xfrm>
              </p:grpSpPr>
              <p:sp>
                <p:nvSpPr>
                  <p:cNvPr id="12332" name="Arc 43"/>
                  <p:cNvSpPr>
                    <a:spLocks/>
                  </p:cNvSpPr>
                  <p:nvPr/>
                </p:nvSpPr>
                <p:spPr bwMode="auto">
                  <a:xfrm>
                    <a:off x="576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33" name="Arc 44"/>
                  <p:cNvSpPr>
                    <a:spLocks/>
                  </p:cNvSpPr>
                  <p:nvPr/>
                </p:nvSpPr>
                <p:spPr bwMode="auto">
                  <a:xfrm rot="16200000">
                    <a:off x="0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5" name="Group 46"/>
                <p:cNvGrpSpPr>
                  <a:grpSpLocks/>
                </p:cNvGrpSpPr>
                <p:nvPr/>
              </p:nvGrpSpPr>
              <p:grpSpPr bwMode="auto">
                <a:xfrm>
                  <a:off x="175" y="0"/>
                  <a:ext cx="236" cy="119"/>
                  <a:chOff x="0" y="0"/>
                  <a:chExt cx="1152" cy="576"/>
                </a:xfrm>
              </p:grpSpPr>
              <p:sp>
                <p:nvSpPr>
                  <p:cNvPr id="12335" name="Arc 46"/>
                  <p:cNvSpPr>
                    <a:spLocks/>
                  </p:cNvSpPr>
                  <p:nvPr/>
                </p:nvSpPr>
                <p:spPr bwMode="auto">
                  <a:xfrm>
                    <a:off x="576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36" name="Arc 47"/>
                  <p:cNvSpPr>
                    <a:spLocks/>
                  </p:cNvSpPr>
                  <p:nvPr/>
                </p:nvSpPr>
                <p:spPr bwMode="auto">
                  <a:xfrm rot="16200000">
                    <a:off x="0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2337" name="Line 48"/>
              <p:cNvSpPr>
                <a:spLocks noChangeShapeType="1"/>
              </p:cNvSpPr>
              <p:nvPr/>
            </p:nvSpPr>
            <p:spPr bwMode="auto">
              <a:xfrm>
                <a:off x="576" y="72"/>
                <a:ext cx="280" cy="0"/>
              </a:xfrm>
              <a:prstGeom prst="line">
                <a:avLst/>
              </a:prstGeom>
              <a:noFill/>
              <a:ln w="19050" cap="sq" cmpd="sng">
                <a:solidFill>
                  <a:srgbClr val="008000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GB"/>
              </a:p>
            </p:txBody>
          </p:sp>
        </p:grpSp>
      </p:grpSp>
      <p:grpSp>
        <p:nvGrpSpPr>
          <p:cNvPr id="16" name="Group 50"/>
          <p:cNvGrpSpPr>
            <a:grpSpLocks/>
          </p:cNvGrpSpPr>
          <p:nvPr/>
        </p:nvGrpSpPr>
        <p:grpSpPr bwMode="auto">
          <a:xfrm>
            <a:off x="2667000" y="4267200"/>
            <a:ext cx="1524000" cy="396875"/>
            <a:chOff x="0" y="0"/>
            <a:chExt cx="960" cy="250"/>
          </a:xfrm>
        </p:grpSpPr>
        <p:sp>
          <p:nvSpPr>
            <p:cNvPr id="12339" name="Text Box 50"/>
            <p:cNvSpPr txBox="1">
              <a:spLocks noChangeArrowheads="1"/>
            </p:cNvSpPr>
            <p:nvPr/>
          </p:nvSpPr>
          <p:spPr bwMode="auto">
            <a:xfrm>
              <a:off x="0" y="0"/>
              <a:ext cx="3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en-US" sz="2000" i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</a:rPr>
                <a:t>h</a:t>
              </a:r>
              <a:r>
                <a:rPr lang="en-US" sz="2000" i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  <a:sym typeface="Symbol" pitchFamily="18" charset="2"/>
                </a:rPr>
                <a:t></a:t>
              </a:r>
              <a:endParaRPr lang="en-US" sz="2000" i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黑体" pitchFamily="1" charset="-122"/>
              </a:endParaRPr>
            </a:p>
          </p:txBody>
        </p:sp>
        <p:grpSp>
          <p:nvGrpSpPr>
            <p:cNvPr id="17" name="Group 52"/>
            <p:cNvGrpSpPr>
              <a:grpSpLocks/>
            </p:cNvGrpSpPr>
            <p:nvPr/>
          </p:nvGrpSpPr>
          <p:grpSpPr bwMode="auto">
            <a:xfrm>
              <a:off x="336" y="96"/>
              <a:ext cx="624" cy="144"/>
              <a:chOff x="0" y="0"/>
              <a:chExt cx="856" cy="192"/>
            </a:xfrm>
          </p:grpSpPr>
          <p:grpSp>
            <p:nvGrpSpPr>
              <p:cNvPr id="18" name="Group 53"/>
              <p:cNvGrpSpPr>
                <a:grpSpLocks/>
              </p:cNvGrpSpPr>
              <p:nvPr/>
            </p:nvGrpSpPr>
            <p:grpSpPr bwMode="auto">
              <a:xfrm>
                <a:off x="0" y="0"/>
                <a:ext cx="576" cy="192"/>
                <a:chOff x="0" y="0"/>
                <a:chExt cx="680" cy="240"/>
              </a:xfrm>
            </p:grpSpPr>
            <p:grpSp>
              <p:nvGrpSpPr>
                <p:cNvPr id="19" name="Group 54"/>
                <p:cNvGrpSpPr>
                  <a:grpSpLocks/>
                </p:cNvGrpSpPr>
                <p:nvPr/>
              </p:nvGrpSpPr>
              <p:grpSpPr bwMode="auto">
                <a:xfrm rot="10800000">
                  <a:off x="411" y="105"/>
                  <a:ext cx="269" cy="135"/>
                  <a:chOff x="0" y="0"/>
                  <a:chExt cx="1152" cy="576"/>
                </a:xfrm>
              </p:grpSpPr>
              <p:sp>
                <p:nvSpPr>
                  <p:cNvPr id="12343" name="Arc 54"/>
                  <p:cNvSpPr>
                    <a:spLocks/>
                  </p:cNvSpPr>
                  <p:nvPr/>
                </p:nvSpPr>
                <p:spPr bwMode="auto">
                  <a:xfrm>
                    <a:off x="576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44" name="Arc 55"/>
                  <p:cNvSpPr>
                    <a:spLocks/>
                  </p:cNvSpPr>
                  <p:nvPr/>
                </p:nvSpPr>
                <p:spPr bwMode="auto">
                  <a:xfrm rot="16200000">
                    <a:off x="0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0" name="Group 57"/>
                <p:cNvGrpSpPr>
                  <a:grpSpLocks/>
                </p:cNvGrpSpPr>
                <p:nvPr/>
              </p:nvGrpSpPr>
              <p:grpSpPr bwMode="auto">
                <a:xfrm rot="10800000">
                  <a:off x="0" y="119"/>
                  <a:ext cx="176" cy="73"/>
                  <a:chOff x="0" y="0"/>
                  <a:chExt cx="1152" cy="576"/>
                </a:xfrm>
              </p:grpSpPr>
              <p:sp>
                <p:nvSpPr>
                  <p:cNvPr id="12346" name="Arc 57"/>
                  <p:cNvSpPr>
                    <a:spLocks/>
                  </p:cNvSpPr>
                  <p:nvPr/>
                </p:nvSpPr>
                <p:spPr bwMode="auto">
                  <a:xfrm>
                    <a:off x="576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47" name="Arc 58"/>
                  <p:cNvSpPr>
                    <a:spLocks/>
                  </p:cNvSpPr>
                  <p:nvPr/>
                </p:nvSpPr>
                <p:spPr bwMode="auto">
                  <a:xfrm rot="16200000">
                    <a:off x="0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1" name="Group 60"/>
                <p:cNvGrpSpPr>
                  <a:grpSpLocks/>
                </p:cNvGrpSpPr>
                <p:nvPr/>
              </p:nvGrpSpPr>
              <p:grpSpPr bwMode="auto">
                <a:xfrm>
                  <a:off x="175" y="0"/>
                  <a:ext cx="236" cy="119"/>
                  <a:chOff x="0" y="0"/>
                  <a:chExt cx="1152" cy="576"/>
                </a:xfrm>
              </p:grpSpPr>
              <p:sp>
                <p:nvSpPr>
                  <p:cNvPr id="12349" name="Arc 60"/>
                  <p:cNvSpPr>
                    <a:spLocks/>
                  </p:cNvSpPr>
                  <p:nvPr/>
                </p:nvSpPr>
                <p:spPr bwMode="auto">
                  <a:xfrm>
                    <a:off x="576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50" name="Arc 61"/>
                  <p:cNvSpPr>
                    <a:spLocks/>
                  </p:cNvSpPr>
                  <p:nvPr/>
                </p:nvSpPr>
                <p:spPr bwMode="auto">
                  <a:xfrm rot="16200000">
                    <a:off x="0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2351" name="Line 62"/>
              <p:cNvSpPr>
                <a:spLocks noChangeShapeType="1"/>
              </p:cNvSpPr>
              <p:nvPr/>
            </p:nvSpPr>
            <p:spPr bwMode="auto">
              <a:xfrm>
                <a:off x="576" y="72"/>
                <a:ext cx="280" cy="0"/>
              </a:xfrm>
              <a:prstGeom prst="line">
                <a:avLst/>
              </a:prstGeom>
              <a:noFill/>
              <a:ln w="19050" cap="sq" cmpd="sng">
                <a:solidFill>
                  <a:srgbClr val="008000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GB"/>
              </a:p>
            </p:txBody>
          </p:sp>
        </p:grpSp>
      </p:grpSp>
      <p:sp>
        <p:nvSpPr>
          <p:cNvPr id="12352" name="Oval 63"/>
          <p:cNvSpPr>
            <a:spLocks noChangeArrowheads="1"/>
          </p:cNvSpPr>
          <p:nvPr/>
        </p:nvSpPr>
        <p:spPr bwMode="auto">
          <a:xfrm>
            <a:off x="4724400" y="5105400"/>
            <a:ext cx="304800" cy="304800"/>
          </a:xfrm>
          <a:prstGeom prst="ellipse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2" name="Group 65"/>
          <p:cNvGrpSpPr>
            <a:grpSpLocks/>
          </p:cNvGrpSpPr>
          <p:nvPr/>
        </p:nvGrpSpPr>
        <p:grpSpPr bwMode="auto">
          <a:xfrm>
            <a:off x="3048000" y="3810000"/>
            <a:ext cx="2286000" cy="2043113"/>
            <a:chOff x="0" y="0"/>
            <a:chExt cx="1440" cy="1287"/>
          </a:xfrm>
        </p:grpSpPr>
        <p:sp>
          <p:nvSpPr>
            <p:cNvPr id="12354" name="Line 65"/>
            <p:cNvSpPr>
              <a:spLocks noChangeShapeType="1"/>
            </p:cNvSpPr>
            <p:nvPr/>
          </p:nvSpPr>
          <p:spPr bwMode="auto">
            <a:xfrm>
              <a:off x="48" y="240"/>
              <a:ext cx="1296" cy="0"/>
            </a:xfrm>
            <a:prstGeom prst="line">
              <a:avLst/>
            </a:prstGeom>
            <a:noFill/>
            <a:ln w="38100" cap="sq" cmpd="sng">
              <a:solidFill>
                <a:srgbClr val="FF0000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GB"/>
            </a:p>
          </p:txBody>
        </p:sp>
        <p:sp>
          <p:nvSpPr>
            <p:cNvPr id="12355" name="Oval 66"/>
            <p:cNvSpPr>
              <a:spLocks noChangeArrowheads="1"/>
            </p:cNvSpPr>
            <p:nvPr/>
          </p:nvSpPr>
          <p:spPr bwMode="auto">
            <a:xfrm>
              <a:off x="288" y="144"/>
              <a:ext cx="192" cy="192"/>
            </a:xfrm>
            <a:prstGeom prst="ellipse">
              <a:avLst/>
            </a:prstGeom>
            <a:solidFill>
              <a:srgbClr val="FF0000"/>
            </a:solidFill>
            <a:ln w="12700" cap="sq" cmpd="sng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356" name="Line 67"/>
            <p:cNvSpPr>
              <a:spLocks noChangeShapeType="1"/>
            </p:cNvSpPr>
            <p:nvPr/>
          </p:nvSpPr>
          <p:spPr bwMode="auto">
            <a:xfrm>
              <a:off x="48" y="912"/>
              <a:ext cx="1296" cy="0"/>
            </a:xfrm>
            <a:prstGeom prst="line">
              <a:avLst/>
            </a:prstGeom>
            <a:noFill/>
            <a:ln w="38100" cap="sq" cmpd="sng">
              <a:solidFill>
                <a:srgbClr val="003399"/>
              </a:solidFill>
              <a:round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GB"/>
            </a:p>
          </p:txBody>
        </p:sp>
        <p:sp>
          <p:nvSpPr>
            <p:cNvPr id="12357" name="Line 68"/>
            <p:cNvSpPr>
              <a:spLocks noChangeShapeType="1"/>
            </p:cNvSpPr>
            <p:nvPr/>
          </p:nvSpPr>
          <p:spPr bwMode="auto">
            <a:xfrm>
              <a:off x="768" y="0"/>
              <a:ext cx="0" cy="1008"/>
            </a:xfrm>
            <a:prstGeom prst="line">
              <a:avLst/>
            </a:prstGeom>
            <a:noFill/>
            <a:ln w="12700" cap="sq" cmpd="sng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GB"/>
            </a:p>
          </p:txBody>
        </p:sp>
        <p:sp>
          <p:nvSpPr>
            <p:cNvPr id="12358" name="Text Box 69"/>
            <p:cNvSpPr txBox="1">
              <a:spLocks noChangeArrowheads="1"/>
            </p:cNvSpPr>
            <p:nvPr/>
          </p:nvSpPr>
          <p:spPr bwMode="auto">
            <a:xfrm>
              <a:off x="0" y="0"/>
              <a:ext cx="28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en-US" sz="16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</a:rPr>
                <a:t>E</a:t>
              </a:r>
              <a:r>
                <a:rPr lang="en-US" sz="1600" baseline="-2500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</a:rPr>
                <a:t>2</a:t>
              </a:r>
              <a:endParaRPr lang="en-US" sz="16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黑体" pitchFamily="1" charset="-122"/>
              </a:endParaRPr>
            </a:p>
          </p:txBody>
        </p:sp>
        <p:sp>
          <p:nvSpPr>
            <p:cNvPr id="12359" name="Text Box 70"/>
            <p:cNvSpPr txBox="1">
              <a:spLocks noChangeArrowheads="1"/>
            </p:cNvSpPr>
            <p:nvPr/>
          </p:nvSpPr>
          <p:spPr bwMode="auto">
            <a:xfrm>
              <a:off x="0" y="672"/>
              <a:ext cx="28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en-US" sz="1600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</a:rPr>
                <a:t>E</a:t>
              </a:r>
              <a:r>
                <a:rPr lang="en-US" sz="1600" baseline="-25000">
                  <a:solidFill>
                    <a:srgbClr val="0033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</a:rPr>
                <a:t>1</a:t>
              </a:r>
              <a:endParaRPr lang="en-US" sz="160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黑体" pitchFamily="1" charset="-122"/>
              </a:endParaRPr>
            </a:p>
          </p:txBody>
        </p:sp>
        <p:sp>
          <p:nvSpPr>
            <p:cNvPr id="12360" name="Text Box 71"/>
            <p:cNvSpPr txBox="1">
              <a:spLocks noChangeArrowheads="1"/>
            </p:cNvSpPr>
            <p:nvPr/>
          </p:nvSpPr>
          <p:spPr bwMode="auto">
            <a:xfrm>
              <a:off x="192" y="1056"/>
              <a:ext cx="124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zh-CN" altLang="en-US" sz="2400" b="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行楷" pitchFamily="2" charset="-122"/>
                </a:rPr>
                <a:t>S</a:t>
              </a:r>
              <a:r>
                <a:rPr lang="en-US" altLang="en-US" sz="2400" b="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行楷" pitchFamily="2" charset="-122"/>
                </a:rPr>
                <a:t>timulated absorption</a:t>
              </a:r>
            </a:p>
          </p:txBody>
        </p:sp>
      </p:grpSp>
      <p:grpSp>
        <p:nvGrpSpPr>
          <p:cNvPr id="23" name="Group 73"/>
          <p:cNvGrpSpPr>
            <a:grpSpLocks/>
          </p:cNvGrpSpPr>
          <p:nvPr/>
        </p:nvGrpSpPr>
        <p:grpSpPr bwMode="auto">
          <a:xfrm>
            <a:off x="4191000" y="4267200"/>
            <a:ext cx="1447800" cy="777875"/>
            <a:chOff x="0" y="0"/>
            <a:chExt cx="912" cy="490"/>
          </a:xfrm>
        </p:grpSpPr>
        <p:grpSp>
          <p:nvGrpSpPr>
            <p:cNvPr id="24" name="Group 74"/>
            <p:cNvGrpSpPr>
              <a:grpSpLocks/>
            </p:cNvGrpSpPr>
            <p:nvPr/>
          </p:nvGrpSpPr>
          <p:grpSpPr bwMode="auto">
            <a:xfrm>
              <a:off x="288" y="288"/>
              <a:ext cx="624" cy="144"/>
              <a:chOff x="0" y="0"/>
              <a:chExt cx="856" cy="192"/>
            </a:xfrm>
          </p:grpSpPr>
          <p:grpSp>
            <p:nvGrpSpPr>
              <p:cNvPr id="25" name="Group 75"/>
              <p:cNvGrpSpPr>
                <a:grpSpLocks/>
              </p:cNvGrpSpPr>
              <p:nvPr/>
            </p:nvGrpSpPr>
            <p:grpSpPr bwMode="auto">
              <a:xfrm>
                <a:off x="0" y="0"/>
                <a:ext cx="576" cy="192"/>
                <a:chOff x="0" y="0"/>
                <a:chExt cx="680" cy="240"/>
              </a:xfrm>
            </p:grpSpPr>
            <p:grpSp>
              <p:nvGrpSpPr>
                <p:cNvPr id="26" name="Group 76"/>
                <p:cNvGrpSpPr>
                  <a:grpSpLocks/>
                </p:cNvGrpSpPr>
                <p:nvPr/>
              </p:nvGrpSpPr>
              <p:grpSpPr bwMode="auto">
                <a:xfrm rot="10800000">
                  <a:off x="411" y="105"/>
                  <a:ext cx="269" cy="135"/>
                  <a:chOff x="0" y="0"/>
                  <a:chExt cx="1152" cy="576"/>
                </a:xfrm>
              </p:grpSpPr>
              <p:sp>
                <p:nvSpPr>
                  <p:cNvPr id="12365" name="Arc 76"/>
                  <p:cNvSpPr>
                    <a:spLocks/>
                  </p:cNvSpPr>
                  <p:nvPr/>
                </p:nvSpPr>
                <p:spPr bwMode="auto">
                  <a:xfrm>
                    <a:off x="576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66" name="Arc 77"/>
                  <p:cNvSpPr>
                    <a:spLocks/>
                  </p:cNvSpPr>
                  <p:nvPr/>
                </p:nvSpPr>
                <p:spPr bwMode="auto">
                  <a:xfrm rot="16200000">
                    <a:off x="0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7" name="Group 79"/>
                <p:cNvGrpSpPr>
                  <a:grpSpLocks/>
                </p:cNvGrpSpPr>
                <p:nvPr/>
              </p:nvGrpSpPr>
              <p:grpSpPr bwMode="auto">
                <a:xfrm rot="10800000">
                  <a:off x="0" y="119"/>
                  <a:ext cx="176" cy="73"/>
                  <a:chOff x="0" y="0"/>
                  <a:chExt cx="1152" cy="576"/>
                </a:xfrm>
              </p:grpSpPr>
              <p:sp>
                <p:nvSpPr>
                  <p:cNvPr id="12368" name="Arc 79"/>
                  <p:cNvSpPr>
                    <a:spLocks/>
                  </p:cNvSpPr>
                  <p:nvPr/>
                </p:nvSpPr>
                <p:spPr bwMode="auto">
                  <a:xfrm>
                    <a:off x="576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69" name="Arc 80"/>
                  <p:cNvSpPr>
                    <a:spLocks/>
                  </p:cNvSpPr>
                  <p:nvPr/>
                </p:nvSpPr>
                <p:spPr bwMode="auto">
                  <a:xfrm rot="16200000">
                    <a:off x="0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8" name="Group 82"/>
                <p:cNvGrpSpPr>
                  <a:grpSpLocks/>
                </p:cNvGrpSpPr>
                <p:nvPr/>
              </p:nvGrpSpPr>
              <p:grpSpPr bwMode="auto">
                <a:xfrm>
                  <a:off x="175" y="0"/>
                  <a:ext cx="236" cy="119"/>
                  <a:chOff x="0" y="0"/>
                  <a:chExt cx="1152" cy="576"/>
                </a:xfrm>
              </p:grpSpPr>
              <p:sp>
                <p:nvSpPr>
                  <p:cNvPr id="12371" name="Arc 82"/>
                  <p:cNvSpPr>
                    <a:spLocks/>
                  </p:cNvSpPr>
                  <p:nvPr/>
                </p:nvSpPr>
                <p:spPr bwMode="auto">
                  <a:xfrm>
                    <a:off x="576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72" name="Arc 83"/>
                  <p:cNvSpPr>
                    <a:spLocks/>
                  </p:cNvSpPr>
                  <p:nvPr/>
                </p:nvSpPr>
                <p:spPr bwMode="auto">
                  <a:xfrm rot="16200000">
                    <a:off x="0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2373" name="Line 84"/>
              <p:cNvSpPr>
                <a:spLocks noChangeShapeType="1"/>
              </p:cNvSpPr>
              <p:nvPr/>
            </p:nvSpPr>
            <p:spPr bwMode="auto">
              <a:xfrm>
                <a:off x="576" y="72"/>
                <a:ext cx="280" cy="0"/>
              </a:xfrm>
              <a:prstGeom prst="line">
                <a:avLst/>
              </a:prstGeom>
              <a:noFill/>
              <a:ln w="19050" cap="sq" cmpd="sng">
                <a:solidFill>
                  <a:srgbClr val="008000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12374" name="Text Box 85"/>
            <p:cNvSpPr txBox="1">
              <a:spLocks noChangeArrowheads="1"/>
            </p:cNvSpPr>
            <p:nvPr/>
          </p:nvSpPr>
          <p:spPr bwMode="auto">
            <a:xfrm>
              <a:off x="0" y="240"/>
              <a:ext cx="38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en-US" sz="2000" i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</a:rPr>
                <a:t>h</a:t>
              </a:r>
              <a:r>
                <a:rPr lang="en-US" sz="2000" i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  <a:sym typeface="Symbol" pitchFamily="18" charset="2"/>
                </a:rPr>
                <a:t></a:t>
              </a:r>
              <a:endParaRPr lang="en-US" sz="2000" i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黑体" pitchFamily="1" charset="-122"/>
              </a:endParaRPr>
            </a:p>
          </p:txBody>
        </p:sp>
        <p:sp>
          <p:nvSpPr>
            <p:cNvPr id="12375" name="Text Box 86"/>
            <p:cNvSpPr txBox="1">
              <a:spLocks noChangeArrowheads="1"/>
            </p:cNvSpPr>
            <p:nvPr/>
          </p:nvSpPr>
          <p:spPr bwMode="auto">
            <a:xfrm>
              <a:off x="0" y="0"/>
              <a:ext cx="38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en-US" sz="2000" i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</a:rPr>
                <a:t>h</a:t>
              </a:r>
              <a:r>
                <a:rPr lang="en-US" sz="2000" i="1">
                  <a:solidFill>
                    <a:srgbClr val="008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  <a:ea typeface="黑体" pitchFamily="1" charset="-122"/>
                  <a:sym typeface="Symbol" pitchFamily="18" charset="2"/>
                </a:rPr>
                <a:t></a:t>
              </a:r>
              <a:endParaRPr lang="en-US" sz="2000" i="1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  <a:ea typeface="黑体" pitchFamily="1" charset="-122"/>
              </a:endParaRPr>
            </a:p>
          </p:txBody>
        </p:sp>
        <p:grpSp>
          <p:nvGrpSpPr>
            <p:cNvPr id="29" name="Group 88"/>
            <p:cNvGrpSpPr>
              <a:grpSpLocks/>
            </p:cNvGrpSpPr>
            <p:nvPr/>
          </p:nvGrpSpPr>
          <p:grpSpPr bwMode="auto">
            <a:xfrm>
              <a:off x="288" y="96"/>
              <a:ext cx="624" cy="144"/>
              <a:chOff x="0" y="0"/>
              <a:chExt cx="856" cy="192"/>
            </a:xfrm>
          </p:grpSpPr>
          <p:grpSp>
            <p:nvGrpSpPr>
              <p:cNvPr id="30" name="Group 89"/>
              <p:cNvGrpSpPr>
                <a:grpSpLocks/>
              </p:cNvGrpSpPr>
              <p:nvPr/>
            </p:nvGrpSpPr>
            <p:grpSpPr bwMode="auto">
              <a:xfrm>
                <a:off x="0" y="0"/>
                <a:ext cx="576" cy="192"/>
                <a:chOff x="0" y="0"/>
                <a:chExt cx="680" cy="240"/>
              </a:xfrm>
            </p:grpSpPr>
            <p:grpSp>
              <p:nvGrpSpPr>
                <p:cNvPr id="31" name="Group 90"/>
                <p:cNvGrpSpPr>
                  <a:grpSpLocks/>
                </p:cNvGrpSpPr>
                <p:nvPr/>
              </p:nvGrpSpPr>
              <p:grpSpPr bwMode="auto">
                <a:xfrm rot="10800000">
                  <a:off x="411" y="105"/>
                  <a:ext cx="269" cy="135"/>
                  <a:chOff x="0" y="0"/>
                  <a:chExt cx="1152" cy="576"/>
                </a:xfrm>
              </p:grpSpPr>
              <p:sp>
                <p:nvSpPr>
                  <p:cNvPr id="12379" name="Arc 90"/>
                  <p:cNvSpPr>
                    <a:spLocks/>
                  </p:cNvSpPr>
                  <p:nvPr/>
                </p:nvSpPr>
                <p:spPr bwMode="auto">
                  <a:xfrm>
                    <a:off x="576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80" name="Arc 91"/>
                  <p:cNvSpPr>
                    <a:spLocks/>
                  </p:cNvSpPr>
                  <p:nvPr/>
                </p:nvSpPr>
                <p:spPr bwMode="auto">
                  <a:xfrm rot="16200000">
                    <a:off x="0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2324" name="Group 93"/>
                <p:cNvGrpSpPr>
                  <a:grpSpLocks/>
                </p:cNvGrpSpPr>
                <p:nvPr/>
              </p:nvGrpSpPr>
              <p:grpSpPr bwMode="auto">
                <a:xfrm rot="10800000">
                  <a:off x="0" y="119"/>
                  <a:ext cx="176" cy="73"/>
                  <a:chOff x="0" y="0"/>
                  <a:chExt cx="1152" cy="576"/>
                </a:xfrm>
              </p:grpSpPr>
              <p:sp>
                <p:nvSpPr>
                  <p:cNvPr id="12382" name="Arc 93"/>
                  <p:cNvSpPr>
                    <a:spLocks/>
                  </p:cNvSpPr>
                  <p:nvPr/>
                </p:nvSpPr>
                <p:spPr bwMode="auto">
                  <a:xfrm>
                    <a:off x="576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83" name="Arc 94"/>
                  <p:cNvSpPr>
                    <a:spLocks/>
                  </p:cNvSpPr>
                  <p:nvPr/>
                </p:nvSpPr>
                <p:spPr bwMode="auto">
                  <a:xfrm rot="16200000">
                    <a:off x="0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2326" name="Group 96"/>
                <p:cNvGrpSpPr>
                  <a:grpSpLocks/>
                </p:cNvGrpSpPr>
                <p:nvPr/>
              </p:nvGrpSpPr>
              <p:grpSpPr bwMode="auto">
                <a:xfrm>
                  <a:off x="175" y="0"/>
                  <a:ext cx="236" cy="119"/>
                  <a:chOff x="0" y="0"/>
                  <a:chExt cx="1152" cy="576"/>
                </a:xfrm>
              </p:grpSpPr>
              <p:sp>
                <p:nvSpPr>
                  <p:cNvPr id="12385" name="Arc 96"/>
                  <p:cNvSpPr>
                    <a:spLocks/>
                  </p:cNvSpPr>
                  <p:nvPr/>
                </p:nvSpPr>
                <p:spPr bwMode="auto">
                  <a:xfrm>
                    <a:off x="576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86" name="Arc 97"/>
                  <p:cNvSpPr>
                    <a:spLocks/>
                  </p:cNvSpPr>
                  <p:nvPr/>
                </p:nvSpPr>
                <p:spPr bwMode="auto">
                  <a:xfrm rot="16200000">
                    <a:off x="0" y="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 cap="sq" cmpd="sng">
                    <a:solidFill>
                      <a:srgbClr val="008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2387" name="Line 98"/>
              <p:cNvSpPr>
                <a:spLocks noChangeShapeType="1"/>
              </p:cNvSpPr>
              <p:nvPr/>
            </p:nvSpPr>
            <p:spPr bwMode="auto">
              <a:xfrm>
                <a:off x="576" y="72"/>
                <a:ext cx="280" cy="0"/>
              </a:xfrm>
              <a:prstGeom prst="line">
                <a:avLst/>
              </a:prstGeom>
              <a:noFill/>
              <a:ln w="19050" cap="sq" cmpd="sng">
                <a:solidFill>
                  <a:srgbClr val="008000"/>
                </a:solidFill>
                <a:round/>
                <a:headEnd/>
                <a:tailEnd type="triangle" w="med" len="med"/>
              </a:ln>
            </p:spPr>
            <p:txBody>
              <a:bodyPr wrap="none">
                <a:spAutoFit/>
              </a:bodyPr>
              <a:lstStyle/>
              <a:p>
                <a:endParaRPr lang="en-GB"/>
              </a:p>
            </p:txBody>
          </p:sp>
        </p:grpSp>
      </p:grpSp>
      <p:sp>
        <p:nvSpPr>
          <p:cNvPr id="12388" name="AutoShape 99"/>
          <p:cNvSpPr>
            <a:spLocks noChangeArrowheads="1"/>
          </p:cNvSpPr>
          <p:nvPr/>
        </p:nvSpPr>
        <p:spPr bwMode="auto">
          <a:xfrm>
            <a:off x="5867400" y="3860800"/>
            <a:ext cx="3162300" cy="2520950"/>
          </a:xfrm>
          <a:prstGeom prst="wedgeRectCallout">
            <a:avLst>
              <a:gd name="adj1" fmla="val -65560"/>
              <a:gd name="adj2" fmla="val -16667"/>
            </a:avLst>
          </a:prstGeom>
          <a:solidFill>
            <a:srgbClr val="FFB74D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/>
          <a:p>
            <a:pPr algn="ct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1" charset="-122"/>
              </a:rPr>
              <a:t>Photons of stimulated emission have the same  wavelength, phase, and direction of propagation with the original photon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2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animBg="1" autoUpdateAnimBg="0"/>
      <p:bldP spid="12315" grpId="0" animBg="1" autoUpdateAnimBg="0"/>
      <p:bldP spid="12352" grpId="0" animBg="1" autoUpdateAnimBg="0"/>
      <p:bldP spid="12388" grpId="0" bldLvl="0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52B54ABB-20DD-483F-8D84-EEE9808C5D3A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54</a:t>
            </a:fld>
            <a:endParaRPr lang="en-US" sz="140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60475" y="260350"/>
            <a:ext cx="7848600" cy="8366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The characteristics of spontaneous emission and stimulated emission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19200"/>
            <a:ext cx="83058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400">
                <a:latin typeface="Times New Roman" pitchFamily="18" charset="0"/>
                <a:ea typeface="华文新魏" pitchFamily="2" charset="-122"/>
              </a:rPr>
              <a:t>Spontaneous emission always occurs with stimulated emission.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40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In</a:t>
            </a:r>
            <a:r>
              <a:rPr lang="zh-CN" altLang="en-US" sz="240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sz="240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thermal equilibrium</a:t>
            </a:r>
            <a:r>
              <a:rPr lang="zh-CN" altLang="en-US" sz="2400">
                <a:latin typeface="Times New Roman" pitchFamily="18" charset="0"/>
                <a:ea typeface="华文新魏" pitchFamily="2" charset="-122"/>
              </a:rPr>
              <a:t>, spontaneous emission is larger than stimulated emission.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40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When the external energy to the system</a:t>
            </a:r>
            <a:r>
              <a:rPr lang="zh-CN" altLang="en-US" sz="2400">
                <a:latin typeface="Times New Roman" pitchFamily="18" charset="0"/>
                <a:ea typeface="华文新魏" pitchFamily="2" charset="-122"/>
              </a:rPr>
              <a:t>, such as light (i.e. light pump) or current injection (i.e. electric pump),  the thermal equilibrium state is broken, and a large number of particles are at a high energy level, namely the </a:t>
            </a:r>
            <a:r>
              <a:rPr lang="zh-CN" altLang="en-US" sz="240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population inversion</a:t>
            </a:r>
            <a:r>
              <a:rPr lang="zh-CN" altLang="en-US" sz="2400">
                <a:latin typeface="Times New Roman" pitchFamily="18" charset="0"/>
                <a:ea typeface="华文新魏" pitchFamily="2" charset="-122"/>
              </a:rPr>
              <a:t>. Stimulated emission is larger than spontaneous emission.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400">
                <a:latin typeface="Times New Roman" pitchFamily="18" charset="0"/>
                <a:ea typeface="华文新魏" pitchFamily="2" charset="-122"/>
              </a:rPr>
              <a:t>The first condition of laser emission: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The working substance </a:t>
            </a:r>
            <a:r>
              <a:rPr lang="en-US" altLang="en-US" sz="2400">
                <a:latin typeface="Times New Roman" pitchFamily="18" charset="0"/>
                <a:ea typeface="华文新魏" pitchFamily="2" charset="-122"/>
              </a:rPr>
              <a:t>(crystal materials</a:t>
            </a:r>
            <a:r>
              <a:rPr lang="zh-CN" altLang="en-US" sz="2400">
                <a:latin typeface="Times New Roman" pitchFamily="18" charset="0"/>
                <a:ea typeface="华文新魏" pitchFamily="2" charset="-122"/>
              </a:rPr>
              <a:t> which </a:t>
            </a:r>
            <a:r>
              <a:rPr lang="en-US" altLang="en-US" sz="2400">
                <a:latin typeface="Times New Roman" pitchFamily="18" charset="0"/>
                <a:ea typeface="华文新魏" pitchFamily="2" charset="-122"/>
              </a:rPr>
              <a:t>can achieve  particle transition such as GaAs and InGaAsP)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External supply of energy</a:t>
            </a:r>
            <a:r>
              <a:rPr lang="en-US" altLang="en-US" sz="2400">
                <a:latin typeface="Times New Roman" pitchFamily="18" charset="0"/>
                <a:ea typeface="华文新魏" pitchFamily="2" charset="-122"/>
              </a:rPr>
              <a:t> to meet the </a:t>
            </a:r>
            <a:r>
              <a:rPr lang="en-US" altLang="en-US" sz="240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population inversion</a:t>
            </a:r>
            <a:r>
              <a:rPr lang="en-US" altLang="en-US" sz="2400">
                <a:latin typeface="Times New Roman" pitchFamily="18" charset="0"/>
                <a:ea typeface="华文新魏" pitchFamily="2" charset="-122"/>
              </a:rPr>
              <a:t> (often us</a:t>
            </a:r>
            <a:r>
              <a:rPr lang="zh-CN" altLang="en-US" sz="2400">
                <a:latin typeface="Times New Roman" pitchFamily="18" charset="0"/>
                <a:ea typeface="华文新魏" pitchFamily="2" charset="-122"/>
              </a:rPr>
              <a:t>ing </a:t>
            </a:r>
            <a:r>
              <a:rPr lang="en-US" altLang="en-US" sz="2400">
                <a:latin typeface="Times New Roman" pitchFamily="18" charset="0"/>
                <a:ea typeface="华文新魏" pitchFamily="2" charset="-122"/>
              </a:rPr>
              <a:t>current injection)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C2F1C462-73D6-456B-899F-C05F7E1BA44A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55</a:t>
            </a:fld>
            <a:endParaRPr lang="en-US" sz="140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35113" y="71438"/>
            <a:ext cx="5727700" cy="836612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F-P</a:t>
            </a:r>
            <a:r>
              <a:rPr lang="zh-CN" altLang="en-US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cavity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1524000"/>
            <a:ext cx="4818063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T</a:t>
            </a:r>
            <a:r>
              <a:rPr lang="en-US" altLang="en-US" sz="2800">
                <a:latin typeface="Times New Roman" pitchFamily="18" charset="0"/>
                <a:ea typeface="华文新魏" pitchFamily="2" charset="-122"/>
              </a:rPr>
              <a:t>he gain medium without optical feedback device</a:t>
            </a: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en-US" sz="2800">
                <a:latin typeface="Times New Roman" pitchFamily="18" charset="0"/>
                <a:ea typeface="华文新魏" pitchFamily="2" charset="-122"/>
              </a:rPr>
              <a:t>can not form a laser</a:t>
            </a: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.</a:t>
            </a:r>
            <a:endParaRPr lang="zh-CN" altLang="en-US" sz="240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F</a:t>
            </a:r>
            <a:r>
              <a:rPr lang="zh-CN" altLang="en-US" sz="280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-</a:t>
            </a:r>
            <a:r>
              <a:rPr lang="en-US" altLang="en-US" sz="280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P cavity</a:t>
            </a: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: put the system which has already achieved population inversion distribution between a pair of mirrors </a:t>
            </a:r>
            <a:r>
              <a:rPr lang="zh-CN" altLang="en-US" sz="280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placed strict parallel.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Light amplified during  the process between the two mirrors.</a:t>
            </a:r>
          </a:p>
        </p:txBody>
      </p:sp>
      <p:pic>
        <p:nvPicPr>
          <p:cNvPr id="1434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2275" y="1341438"/>
            <a:ext cx="3641725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4BB7F3DE-2E27-4EE5-B79A-8E550AB52DFF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56</a:t>
            </a:fld>
            <a:endParaRPr lang="en-US" sz="14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95400" y="457200"/>
            <a:ext cx="70866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Oscillation </a:t>
            </a:r>
            <a:r>
              <a:rPr lang="en-US" sz="40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condition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143000"/>
            <a:ext cx="8305800" cy="4114800"/>
          </a:xfrm>
        </p:spPr>
        <p:txBody>
          <a:bodyPr/>
          <a:lstStyle/>
          <a:p>
            <a:pPr eaLnBrk="1" hangingPunct="1"/>
            <a:r>
              <a:rPr lang="en-US" altLang="en-US" sz="2800">
                <a:latin typeface="Times New Roman" pitchFamily="18" charset="0"/>
                <a:ea typeface="华文新魏" pitchFamily="2" charset="-122"/>
              </a:rPr>
              <a:t>When the gain </a:t>
            </a: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between the two mirrors </a:t>
            </a:r>
            <a:r>
              <a:rPr lang="en-US" altLang="en-US" sz="2800">
                <a:latin typeface="Times New Roman" pitchFamily="18" charset="0"/>
                <a:ea typeface="华文新魏" pitchFamily="2" charset="-122"/>
              </a:rPr>
              <a:t>exceeds the total loss</a:t>
            </a: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, </a:t>
            </a:r>
            <a:r>
              <a:rPr lang="en-US" altLang="en-US" sz="2800">
                <a:latin typeface="Times New Roman" pitchFamily="18" charset="0"/>
                <a:ea typeface="华文新魏" pitchFamily="2" charset="-122"/>
              </a:rPr>
              <a:t>the resonant cavity selected</a:t>
            </a: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 the </a:t>
            </a:r>
            <a:r>
              <a:rPr lang="en-US" altLang="en-US" sz="2800">
                <a:latin typeface="Times New Roman" pitchFamily="18" charset="0"/>
                <a:ea typeface="华文新魏" pitchFamily="2" charset="-122"/>
              </a:rPr>
              <a:t>light of</a:t>
            </a: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 s</a:t>
            </a:r>
            <a:r>
              <a:rPr lang="en-US" altLang="en-US" sz="2800">
                <a:latin typeface="Times New Roman" pitchFamily="18" charset="0"/>
                <a:ea typeface="华文新魏" pitchFamily="2" charset="-122"/>
              </a:rPr>
              <a:t>pecific frequenc</a:t>
            </a: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y, f</a:t>
            </a:r>
            <a:r>
              <a:rPr lang="en-US" altLang="en-US" sz="2800">
                <a:latin typeface="Times New Roman" pitchFamily="18" charset="0"/>
                <a:ea typeface="华文新魏" pitchFamily="2" charset="-122"/>
              </a:rPr>
              <a:t>orming laser (coherent light)</a:t>
            </a:r>
            <a:r>
              <a:rPr lang="zh-CN" altLang="en-US" sz="2800">
                <a:latin typeface="Times New Roman" pitchFamily="18" charset="0"/>
                <a:ea typeface="华文新魏" pitchFamily="2" charset="-122"/>
              </a:rPr>
              <a:t>.</a:t>
            </a:r>
          </a:p>
          <a:p>
            <a:pPr eaLnBrk="1" hangingPunct="1"/>
            <a:r>
              <a:rPr lang="en-US" altLang="en-US" sz="2800">
                <a:ea typeface="华文新魏" pitchFamily="2" charset="-122"/>
              </a:rPr>
              <a:t>Amplitude </a:t>
            </a:r>
            <a:r>
              <a:rPr lang="zh-CN" altLang="en-US" sz="2800">
                <a:ea typeface="华文新魏" pitchFamily="2" charset="-122"/>
              </a:rPr>
              <a:t>c</a:t>
            </a:r>
            <a:r>
              <a:rPr lang="en-US" altLang="en-US" sz="2800">
                <a:ea typeface="华文新魏" pitchFamily="2" charset="-122"/>
              </a:rPr>
              <a:t>ondition </a:t>
            </a:r>
          </a:p>
          <a:p>
            <a:pPr eaLnBrk="1" hangingPunct="1"/>
            <a:r>
              <a:rPr lang="en-US" altLang="en-US" sz="2800">
                <a:ea typeface="华文新魏" pitchFamily="2" charset="-122"/>
              </a:rPr>
              <a:t>Phase condition:</a:t>
            </a:r>
          </a:p>
        </p:txBody>
      </p:sp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3851275" y="2997200"/>
          <a:ext cx="2160588" cy="587375"/>
        </p:xfrm>
        <a:graphic>
          <a:graphicData uri="http://schemas.openxmlformats.org/presentationml/2006/ole">
            <p:oleObj spid="_x0000_s1026" r:id="rId3" imgW="648467" imgH="177937" progId="Equation.3">
              <p:embed/>
            </p:oleObj>
          </a:graphicData>
        </a:graphic>
      </p:graphicFrame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6300788" y="2709863"/>
            <a:ext cx="2303462" cy="1189037"/>
          </a:xfrm>
          <a:prstGeom prst="rect">
            <a:avLst/>
          </a:prstGeom>
          <a:solidFill>
            <a:srgbClr val="9BFF9B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en-US" sz="18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</a:rPr>
              <a:t>n-refractive index;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en-US" sz="18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</a:rPr>
              <a:t>L-cavity length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en-US" sz="18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</a:rPr>
              <a:t>m-arbitrary integer;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zh-CN" altLang="en-US" sz="18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altLang="en-US" sz="18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</a:rPr>
              <a:t> - wavelength</a:t>
            </a:r>
            <a:endParaRPr lang="zh-CN" altLang="en-US" sz="18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4860925" y="4149725"/>
            <a:ext cx="4214813" cy="2225675"/>
          </a:xfrm>
          <a:prstGeom prst="rect">
            <a:avLst/>
          </a:prstGeom>
          <a:solidFill>
            <a:srgbClr val="FFCC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SzTx/>
              <a:buFont typeface="Wingdings" pitchFamily="2" charset="2"/>
              <a:buNone/>
            </a:pPr>
            <a:r>
              <a:rPr lang="zh-CN" altLang="en-US" sz="20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华文新魏" pitchFamily="2" charset="-122"/>
              </a:rPr>
              <a:t>The frequencies meeting phase conditions is infinite. Only those frequencies around the center of spectrum can satisfy the amplitude condition. So the oscillation frequency of the laser can only take a finite number of  values.</a:t>
            </a:r>
          </a:p>
        </p:txBody>
      </p:sp>
      <p:pic>
        <p:nvPicPr>
          <p:cNvPr id="15368" name="Picture 8" descr="Optical%20resonating%20cavity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7950" y="4149725"/>
            <a:ext cx="4740275" cy="267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98D43541-D522-416E-9669-B2A18C505EB5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57</a:t>
            </a:fld>
            <a:endParaRPr lang="en-US" sz="1400"/>
          </a:p>
        </p:txBody>
      </p:sp>
      <p:pic>
        <p:nvPicPr>
          <p:cNvPr id="1638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381000"/>
            <a:ext cx="5257800" cy="153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8" name="Text Box 3"/>
          <p:cNvSpPr txBox="1">
            <a:spLocks noChangeArrowheads="1"/>
          </p:cNvSpPr>
          <p:nvPr/>
        </p:nvSpPr>
        <p:spPr bwMode="auto">
          <a:xfrm>
            <a:off x="1219200" y="1905000"/>
            <a:ext cx="617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SzTx/>
              <a:buFont typeface="Wingdings" pitchFamily="2" charset="2"/>
              <a:buNone/>
            </a:pPr>
            <a:r>
              <a:rPr lang="en-US" sz="24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Output spectrum changes as power is applied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371600" y="2590800"/>
            <a:ext cx="5486400" cy="1752600"/>
            <a:chOff x="0" y="0"/>
            <a:chExt cx="3456" cy="1104"/>
          </a:xfrm>
        </p:grpSpPr>
        <p:pic>
          <p:nvPicPr>
            <p:cNvPr id="16390" name="Picture 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0"/>
              <a:ext cx="3456" cy="8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391" name="Text Box 6"/>
            <p:cNvSpPr txBox="1">
              <a:spLocks noChangeArrowheads="1"/>
            </p:cNvSpPr>
            <p:nvPr/>
          </p:nvSpPr>
          <p:spPr bwMode="auto">
            <a:xfrm>
              <a:off x="432" y="816"/>
              <a:ext cx="28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Tx/>
                <a:buSzTx/>
                <a:buFont typeface="Wingdings" pitchFamily="2" charset="2"/>
                <a:buNone/>
              </a:pPr>
              <a:r>
                <a:rPr lang="en-US" sz="240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Typical mode hopping behavior</a:t>
              </a:r>
            </a:p>
          </p:txBody>
        </p:sp>
      </p:grpSp>
      <p:sp>
        <p:nvSpPr>
          <p:cNvPr id="16392" name="Text Box 7"/>
          <p:cNvSpPr txBox="1">
            <a:spLocks noChangeArrowheads="1"/>
          </p:cNvSpPr>
          <p:nvPr/>
        </p:nvSpPr>
        <p:spPr bwMode="auto">
          <a:xfrm>
            <a:off x="381000" y="4419600"/>
            <a:ext cx="8534400" cy="1920875"/>
          </a:xfrm>
          <a:prstGeom prst="rect">
            <a:avLst/>
          </a:prstGeom>
          <a:solidFill>
            <a:srgbClr val="FFCCFF"/>
          </a:solidFill>
          <a:ln w="9525">
            <a:noFill/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SzTx/>
              <a:buFont typeface="Wingdings" pitchFamily="2" charset="2"/>
              <a:buNone/>
            </a:pPr>
            <a:r>
              <a:rPr lang="en-US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1" charset="-122"/>
              </a:rPr>
              <a:t>F-P LD in the condition of high</a:t>
            </a:r>
            <a:r>
              <a:rPr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1" charset="-122"/>
              </a:rPr>
              <a:t>-speed</a:t>
            </a:r>
            <a:r>
              <a:rPr lang="en-US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1" charset="-122"/>
              </a:rPr>
              <a:t> modulation, or the </a:t>
            </a:r>
            <a:r>
              <a:rPr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1" charset="-122"/>
              </a:rPr>
              <a:t>change of </a:t>
            </a:r>
            <a:r>
              <a:rPr lang="en-US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1" charset="-122"/>
              </a:rPr>
              <a:t>injection current </a:t>
            </a:r>
            <a:r>
              <a:rPr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1" charset="-122"/>
              </a:rPr>
              <a:t>and</a:t>
            </a:r>
            <a:r>
              <a:rPr lang="en-US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1" charset="-122"/>
              </a:rPr>
              <a:t> temperature, will appear mode jumping and spectral lines broadening</a:t>
            </a:r>
            <a:r>
              <a:rPr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1" charset="-122"/>
              </a:rPr>
              <a:t>.</a:t>
            </a:r>
            <a:r>
              <a:rPr lang="en-US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1" charset="-122"/>
              </a:rPr>
              <a:t> </a:t>
            </a:r>
            <a:r>
              <a:rPr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1" charset="-122"/>
              </a:rPr>
              <a:t>T</a:t>
            </a:r>
            <a:r>
              <a:rPr lang="en-US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1" charset="-122"/>
              </a:rPr>
              <a:t>his is very adverse to high-speed applications.</a:t>
            </a:r>
            <a:r>
              <a:rPr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1" charset="-122"/>
              </a:rPr>
              <a:t> In order to maintain a single-mode, and reduce the spectral broadening, we need </a:t>
            </a:r>
            <a:r>
              <a:rPr lang="en-US" sz="24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黑体" pitchFamily="1" charset="-122"/>
                <a:sym typeface="Symbol" pitchFamily="18" charset="2"/>
              </a:rPr>
              <a:t>DFB LD</a:t>
            </a:r>
            <a:r>
              <a:rPr lang="zh-CN" altLang="en-US" sz="24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黑体" pitchFamily="1" charset="-122"/>
                <a:sym typeface="Symbol" pitchFamily="18" charset="2"/>
              </a:rPr>
              <a:t> </a:t>
            </a:r>
            <a:r>
              <a:rPr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1" charset="-122"/>
                <a:sym typeface="Symbol" pitchFamily="18" charset="2"/>
              </a:rPr>
              <a:t>and</a:t>
            </a:r>
            <a:r>
              <a:rPr lang="zh-CN" altLang="en-US" sz="24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黑体" pitchFamily="1" charset="-122"/>
                <a:sym typeface="Symbol" pitchFamily="18" charset="2"/>
              </a:rPr>
              <a:t> </a:t>
            </a:r>
            <a:r>
              <a:rPr lang="en-US" sz="24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黑体" pitchFamily="1" charset="-122"/>
                <a:sym typeface="Symbol" pitchFamily="18" charset="2"/>
              </a:rPr>
              <a:t>DBR LD</a:t>
            </a:r>
            <a:r>
              <a:rPr lang="zh-CN" altLang="en-US" sz="240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1" charset="-122"/>
                <a:sym typeface="Symbol" pitchFamily="18" charset="2"/>
              </a:rPr>
              <a:t>.</a:t>
            </a:r>
            <a:endParaRPr lang="zh-CN" altLang="en-US" sz="24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黑体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2" grpId="0" bldLvl="0" animBg="1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FC530A22-6899-43D7-96F0-26AEDF467FC2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58</a:t>
            </a:fld>
            <a:endParaRPr lang="en-US" sz="140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58888" y="73025"/>
            <a:ext cx="7561262" cy="835025"/>
          </a:xfrm>
        </p:spPr>
        <p:txBody>
          <a:bodyPr/>
          <a:lstStyle/>
          <a:p>
            <a:pPr eaLnBrk="1" hangingPunct="1"/>
            <a:r>
              <a:rPr lang="en-US" altLang="en-US" sz="28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Distributed </a:t>
            </a:r>
            <a:r>
              <a:rPr lang="en-US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feedback lasers</a:t>
            </a:r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 (</a:t>
            </a:r>
            <a:r>
              <a:rPr lang="en-US" sz="2800" b="1" dirty="0" err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DFB</a:t>
            </a:r>
            <a:r>
              <a:rPr 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 LD</a:t>
            </a:r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)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19200"/>
            <a:ext cx="8305800" cy="2209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b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The main difference between DFB LD </a:t>
            </a:r>
            <a:r>
              <a:rPr lang="zh-CN" altLang="en-US" sz="2400" b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altLang="en-US" sz="2400" b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 F-P LD：</a:t>
            </a:r>
            <a:r>
              <a:rPr lang="en-US" sz="2400" b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DFB LD</a:t>
            </a:r>
            <a:r>
              <a:rPr lang="zh-CN" altLang="en-US" sz="2400" b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 has n</a:t>
            </a:r>
            <a:r>
              <a:rPr lang="en-US" altLang="en-US" sz="2400" b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o resonator mirror</a:t>
            </a:r>
            <a:r>
              <a:rPr lang="zh-CN" altLang="en-US" sz="2400" b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en-US" sz="2400" b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 and its reflection is provided by a Bragg grating in the active region of the waveguide.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Distributed feedback</a:t>
            </a:r>
            <a:r>
              <a:rPr lang="en-US" altLang="en-US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</a:t>
            </a:r>
            <a:r>
              <a:rPr lang="en-US" altLang="en-US" sz="2400">
                <a:solidFill>
                  <a:schemeClr val="folHlin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good</a:t>
            </a:r>
            <a:r>
              <a:rPr lang="zh-CN" altLang="en-US" sz="2400">
                <a:solidFill>
                  <a:schemeClr val="folHlin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en-US" sz="2400">
                <a:solidFill>
                  <a:schemeClr val="folHlink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monochrome and direction</a:t>
            </a:r>
          </a:p>
        </p:txBody>
      </p:sp>
      <p:pic>
        <p:nvPicPr>
          <p:cNvPr id="17413" name="Picture 5" descr="1140_fig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7813" y="2781300"/>
            <a:ext cx="6296025" cy="3421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2E931619-D0BD-4500-A409-CFE094DCBBDB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59</a:t>
            </a:fld>
            <a:endParaRPr lang="en-US" sz="140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58888" y="73025"/>
            <a:ext cx="7561262" cy="835025"/>
          </a:xfrm>
        </p:spPr>
        <p:txBody>
          <a:bodyPr/>
          <a:lstStyle/>
          <a:p>
            <a:pPr eaLnBrk="1" hangingPunct="1"/>
            <a:r>
              <a:rPr lang="en-US" sz="40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The basic principle of DFB LD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371600"/>
            <a:ext cx="8305800" cy="30051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800" b="1">
                <a:solidFill>
                  <a:schemeClr val="hlink"/>
                </a:solidFill>
                <a:latin typeface="Times New Roman" pitchFamily="18" charset="0"/>
              </a:rPr>
              <a:t>U</a:t>
            </a:r>
            <a:r>
              <a:rPr lang="en-US" altLang="en-US" sz="2800" b="1">
                <a:solidFill>
                  <a:schemeClr val="hlink"/>
                </a:solidFill>
                <a:latin typeface="Times New Roman" pitchFamily="18" charset="0"/>
              </a:rPr>
              <a:t>sing holographic lithography method </a:t>
            </a:r>
            <a:r>
              <a:rPr lang="zh-CN" altLang="en-US" sz="2800" b="1">
                <a:solidFill>
                  <a:schemeClr val="hlink"/>
                </a:solidFill>
                <a:latin typeface="Times New Roman" pitchFamily="18" charset="0"/>
              </a:rPr>
              <a:t>to make </a:t>
            </a:r>
            <a:r>
              <a:rPr lang="en-US" altLang="en-US" sz="2800" b="1">
                <a:solidFill>
                  <a:schemeClr val="hlink"/>
                </a:solidFill>
                <a:latin typeface="Times New Roman" pitchFamily="18" charset="0"/>
              </a:rPr>
              <a:t>periodic corrugat</a:t>
            </a:r>
            <a:r>
              <a:rPr lang="zh-CN" altLang="en-US" sz="2800" b="1">
                <a:solidFill>
                  <a:schemeClr val="hlink"/>
                </a:solidFill>
                <a:latin typeface="Times New Roman" pitchFamily="18" charset="0"/>
              </a:rPr>
              <a:t>ion o</a:t>
            </a:r>
            <a:r>
              <a:rPr lang="en-US" altLang="en-US" sz="2800" b="1">
                <a:solidFill>
                  <a:schemeClr val="hlink"/>
                </a:solidFill>
                <a:latin typeface="Times New Roman" pitchFamily="18" charset="0"/>
              </a:rPr>
              <a:t>n the medium surface</a:t>
            </a:r>
            <a:r>
              <a:rPr lang="zh-CN" altLang="en-US" sz="2800" b="1">
                <a:solidFill>
                  <a:schemeClr val="hlink"/>
                </a:solidFill>
                <a:latin typeface="Times New Roman" pitchFamily="18" charset="0"/>
              </a:rPr>
              <a:t> in </a:t>
            </a:r>
            <a:r>
              <a:rPr lang="en-US" altLang="en-US" sz="2800" b="1">
                <a:solidFill>
                  <a:schemeClr val="hlink"/>
                </a:solidFill>
                <a:latin typeface="Times New Roman" pitchFamily="18" charset="0"/>
              </a:rPr>
              <a:t>active region.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/>
              <a:t>Causing </a:t>
            </a:r>
            <a:r>
              <a:rPr lang="en-US" altLang="en-US" sz="2800"/>
              <a:t>particle number inversion</a:t>
            </a:r>
            <a:r>
              <a:rPr lang="zh-CN" altLang="en-US" sz="2800"/>
              <a:t> w</a:t>
            </a:r>
            <a:r>
              <a:rPr lang="en-US" altLang="en-US" sz="2800"/>
              <a:t>ith the pump excitation.</a:t>
            </a:r>
            <a:endParaRPr lang="en-US" altLang="en-US" sz="2800">
              <a:solidFill>
                <a:srgbClr val="FF0000"/>
              </a:solidFill>
              <a:sym typeface="Symbol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sym typeface="Symbol" pitchFamily="18" charset="2"/>
              </a:rPr>
              <a:t>Only </a:t>
            </a:r>
            <a:r>
              <a:rPr lang="zh-CN" altLang="en-US" sz="2800">
                <a:sym typeface="Symbol" pitchFamily="18" charset="2"/>
              </a:rPr>
              <a:t>the </a:t>
            </a:r>
            <a:r>
              <a:rPr lang="en-US" altLang="en-US" sz="2800">
                <a:sym typeface="Symbol" pitchFamily="18" charset="2"/>
              </a:rPr>
              <a:t>light wavelength meet</a:t>
            </a:r>
            <a:r>
              <a:rPr lang="zh-CN" altLang="en-US" sz="2800">
                <a:sym typeface="Symbol" pitchFamily="18" charset="2"/>
              </a:rPr>
              <a:t>ing</a:t>
            </a:r>
            <a:r>
              <a:rPr lang="en-US" altLang="en-US" sz="2800">
                <a:sym typeface="Symbol" pitchFamily="18" charset="2"/>
              </a:rPr>
              <a:t> </a:t>
            </a:r>
            <a:r>
              <a:rPr lang="zh-CN" altLang="en-US" sz="2800">
                <a:sym typeface="Symbol" pitchFamily="18" charset="2"/>
              </a:rPr>
              <a:t>"</a:t>
            </a:r>
            <a:r>
              <a:rPr lang="en-US" altLang="en-US" sz="2800">
                <a:sym typeface="Symbol" pitchFamily="18" charset="2"/>
              </a:rPr>
              <a:t>Bragg reflection condition" </a:t>
            </a:r>
            <a:r>
              <a:rPr lang="zh-CN" altLang="en-US" sz="2800">
                <a:sym typeface="Symbol" pitchFamily="18" charset="2"/>
              </a:rPr>
              <a:t>can</a:t>
            </a:r>
            <a:r>
              <a:rPr lang="en-US" altLang="en-US" sz="2800">
                <a:sym typeface="Symbol" pitchFamily="18" charset="2"/>
              </a:rPr>
              <a:t> reflect back and forth in the medium, </a:t>
            </a:r>
            <a:r>
              <a:rPr lang="zh-CN" altLang="en-US" sz="2800">
                <a:sym typeface="Symbol" pitchFamily="18" charset="2"/>
              </a:rPr>
              <a:t>and be amplified</a:t>
            </a:r>
            <a:r>
              <a:rPr lang="en-US" altLang="en-US" sz="2800">
                <a:sym typeface="Symbol" pitchFamily="18" charset="2"/>
              </a:rPr>
              <a:t>.</a:t>
            </a:r>
          </a:p>
        </p:txBody>
      </p:sp>
      <p:sp>
        <p:nvSpPr>
          <p:cNvPr id="18437" name="Text Box 4"/>
          <p:cNvSpPr txBox="1">
            <a:spLocks noChangeArrowheads="1"/>
          </p:cNvSpPr>
          <p:nvPr/>
        </p:nvSpPr>
        <p:spPr bwMode="auto">
          <a:xfrm>
            <a:off x="1260475" y="4581525"/>
            <a:ext cx="6324600" cy="1066800"/>
          </a:xfrm>
          <a:prstGeom prst="rect">
            <a:avLst/>
          </a:prstGeom>
          <a:solidFill>
            <a:srgbClr val="FFB74D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SzTx/>
              <a:buFont typeface="Wingdings" pitchFamily="2" charset="2"/>
              <a:buNone/>
            </a:pPr>
            <a:r>
              <a:rPr lang="en-US" altLang="en-US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1" charset="-122"/>
                <a:sym typeface="Symbol" pitchFamily="18" charset="2"/>
              </a:rPr>
              <a:t>DFB LD has become the major laser</a:t>
            </a:r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1" charset="-122"/>
                <a:sym typeface="Symbol" pitchFamily="18" charset="2"/>
              </a:rPr>
              <a:t> in </a:t>
            </a:r>
            <a:r>
              <a:rPr lang="en-US" altLang="en-US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1" charset="-122"/>
                <a:sym typeface="Symbol" pitchFamily="18" charset="2"/>
              </a:rPr>
              <a:t>long-distance </a:t>
            </a:r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黑体" pitchFamily="1" charset="-122"/>
                <a:sym typeface="Symbol" pitchFamily="18" charset="2"/>
              </a:rPr>
              <a:t>transmission.</a:t>
            </a:r>
            <a:endParaRPr lang="en-US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黑体" pitchFamily="1" charset="-122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08FFCD02-F763-4257-861D-92D5CF9C3FE1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60</a:t>
            </a:fld>
            <a:endParaRPr lang="en-US" sz="140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457200"/>
            <a:ext cx="8123238" cy="533400"/>
          </a:xfrm>
        </p:spPr>
        <p:txBody>
          <a:bodyPr/>
          <a:lstStyle/>
          <a:p>
            <a:pPr eaLnBrk="1" hangingPunct="1"/>
            <a:r>
              <a:rPr lang="en-US" altLang="en-US" sz="28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Distributed </a:t>
            </a:r>
            <a:r>
              <a:rPr lang="en-US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Bragg reflector laser</a:t>
            </a:r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 (</a:t>
            </a:r>
            <a:r>
              <a:rPr lang="en-US" sz="2800" b="1" dirty="0" err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DBR</a:t>
            </a:r>
            <a:r>
              <a:rPr 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 LD</a:t>
            </a:r>
            <a:r>
              <a:rPr lang="zh-CN" altLang="en-US" sz="28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)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219200"/>
            <a:ext cx="8305800" cy="2024063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800" b="1">
                <a:latin typeface="Times New Roman" pitchFamily="18" charset="0"/>
                <a:ea typeface="华文新魏" pitchFamily="2" charset="-122"/>
              </a:rPr>
              <a:t>Periodic grooves 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of </a:t>
            </a:r>
            <a:r>
              <a:rPr lang="en-US" altLang="en-US" sz="2800" b="1">
                <a:latin typeface="Times New Roman" pitchFamily="18" charset="0"/>
                <a:ea typeface="华文新魏" pitchFamily="2" charset="-122"/>
              </a:rPr>
              <a:t>DBR LD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en-US" sz="2800" b="1">
                <a:latin typeface="Times New Roman" pitchFamily="18" charset="0"/>
                <a:ea typeface="华文新魏" pitchFamily="2" charset="-122"/>
              </a:rPr>
              <a:t>is in the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en-US" sz="2800" b="1">
                <a:latin typeface="Times New Roman" pitchFamily="18" charset="0"/>
                <a:ea typeface="华文新魏" pitchFamily="2" charset="-122"/>
              </a:rPr>
              <a:t>two passive waveguide layer outside the active layer,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 this two grating waveguides play a role as Bragg reflector. Due to the active waveguide gain and Bragg reflection, only the light whose frequency near Bragg can meet the condition of oscillation.</a:t>
            </a:r>
          </a:p>
        </p:txBody>
      </p:sp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2124075" y="5949950"/>
            <a:ext cx="480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Tx/>
              <a:buSzTx/>
              <a:buFont typeface="Wingdings" pitchFamily="2" charset="2"/>
              <a:buNone/>
            </a:pPr>
            <a:r>
              <a:rPr lang="en-US" sz="2400" i="1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GaAs/AlGaAs DBR</a:t>
            </a:r>
            <a:endParaRPr lang="zh-CN" altLang="en-US" sz="2400" i="1">
              <a:solidFill>
                <a:srgbClr val="FF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pic>
        <p:nvPicPr>
          <p:cNvPr id="19462" name="Picture 6" descr="无标题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3713" y="3502025"/>
            <a:ext cx="5497512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AF3A2591-129E-4A1D-8521-3BD10868E910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61</a:t>
            </a:fld>
            <a:endParaRPr lang="en-US" sz="140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27150" y="73025"/>
            <a:ext cx="7637463" cy="835025"/>
          </a:xfrm>
        </p:spPr>
        <p:txBody>
          <a:bodyPr/>
          <a:lstStyle/>
          <a:p>
            <a:pPr eaLnBrk="1" hangingPunct="1"/>
            <a:r>
              <a:rPr lang="en-US" altLang="en-US" sz="36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Quantum </a:t>
            </a:r>
            <a:r>
              <a:rPr lang="en-US" altLang="en-US" sz="36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well lasers</a:t>
            </a:r>
            <a:r>
              <a:rPr lang="zh-CN" altLang="en-US" sz="36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 </a:t>
            </a:r>
            <a:r>
              <a:rPr lang="en-US" sz="3600" b="1" dirty="0" err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QW</a:t>
            </a:r>
            <a:r>
              <a:rPr lang="en-US" sz="36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 LD</a:t>
            </a:r>
          </a:p>
        </p:txBody>
      </p:sp>
      <p:sp>
        <p:nvSpPr>
          <p:cNvPr id="20484" name="Text Box 3"/>
          <p:cNvSpPr txBox="1">
            <a:spLocks noChangeArrowheads="1"/>
          </p:cNvSpPr>
          <p:nvPr/>
        </p:nvSpPr>
        <p:spPr bwMode="auto">
          <a:xfrm>
            <a:off x="396875" y="3810000"/>
            <a:ext cx="2803525" cy="2225675"/>
          </a:xfrm>
          <a:prstGeom prst="rect">
            <a:avLst/>
          </a:prstGeom>
          <a:solidFill>
            <a:srgbClr val="FFE3B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0"/>
              </a:spcBef>
              <a:buSzTx/>
              <a:buFont typeface="Wingdings" pitchFamily="2" charset="2"/>
              <a:buNone/>
            </a:pPr>
            <a:r>
              <a:rPr lang="zh-CN" altLang="en-US" sz="20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黑体" pitchFamily="1" charset="-122"/>
              </a:rPr>
              <a:t>Characteristic:</a:t>
            </a:r>
          </a:p>
          <a:p>
            <a:pPr>
              <a:spcBef>
                <a:spcPct val="0"/>
              </a:spcBef>
              <a:buSzTx/>
            </a:pPr>
            <a:r>
              <a:rPr lang="zh-CN" altLang="en-US" sz="20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黑体" pitchFamily="1" charset="-122"/>
              </a:rPr>
              <a:t>Low threshold current</a:t>
            </a:r>
          </a:p>
          <a:p>
            <a:pPr>
              <a:spcBef>
                <a:spcPct val="0"/>
              </a:spcBef>
              <a:buSzTx/>
            </a:pPr>
            <a:r>
              <a:rPr lang="zh-CN" altLang="en-US" sz="20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黑体" pitchFamily="1" charset="-122"/>
              </a:rPr>
              <a:t>High output power</a:t>
            </a:r>
          </a:p>
          <a:p>
            <a:pPr>
              <a:spcBef>
                <a:spcPct val="0"/>
              </a:spcBef>
              <a:buSzTx/>
            </a:pPr>
            <a:r>
              <a:rPr lang="zh-CN" altLang="en-US" sz="20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黑体" pitchFamily="1" charset="-122"/>
              </a:rPr>
              <a:t>Narrow linewidth</a:t>
            </a:r>
          </a:p>
          <a:p>
            <a:pPr>
              <a:spcBef>
                <a:spcPct val="0"/>
              </a:spcBef>
              <a:buSzTx/>
            </a:pPr>
            <a:r>
              <a:rPr lang="zh-CN" altLang="en-US" sz="20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黑体" pitchFamily="1" charset="-122"/>
              </a:rPr>
              <a:t> Frequency chirp is improved</a:t>
            </a:r>
          </a:p>
          <a:p>
            <a:pPr>
              <a:spcBef>
                <a:spcPct val="0"/>
              </a:spcBef>
              <a:buSzTx/>
            </a:pPr>
            <a:r>
              <a:rPr lang="zh-CN" altLang="en-US" sz="20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黑体" pitchFamily="1" charset="-122"/>
              </a:rPr>
              <a:t>High modulation rate</a:t>
            </a: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457200" y="1219200"/>
            <a:ext cx="8580438" cy="224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  <a:buClrTx/>
              <a:buSzTx/>
              <a:buFont typeface="Wingdings" pitchFamily="2" charset="2"/>
              <a:buChar char="•"/>
            </a:pP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The thin active region 1~10</a:t>
            </a: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nm（FP</a:t>
            </a: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cavity 100~200</a:t>
            </a: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nm）</a:t>
            </a:r>
          </a:p>
          <a:p>
            <a:pPr>
              <a:lnSpc>
                <a:spcPct val="110000"/>
              </a:lnSpc>
              <a:spcBef>
                <a:spcPct val="10000"/>
              </a:spcBef>
              <a:buClrTx/>
              <a:buSzTx/>
              <a:buFont typeface="Wingdings" pitchFamily="2" charset="2"/>
              <a:buChar char="•"/>
            </a:pP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1" charset="-122"/>
              </a:rPr>
              <a:t> Periodic structure, the thin narrow band gap active region is sandwiched between the wide band gap semiconductor materials, forming potential energy wells.</a:t>
            </a:r>
          </a:p>
          <a:p>
            <a:pPr>
              <a:lnSpc>
                <a:spcPct val="110000"/>
              </a:lnSpc>
              <a:spcBef>
                <a:spcPct val="10000"/>
              </a:spcBef>
              <a:buClrTx/>
              <a:buSzTx/>
              <a:buFont typeface="Wingdings" pitchFamily="2" charset="2"/>
              <a:buChar char="•"/>
            </a:pP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Multiple quantum wells (</a:t>
            </a: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MQW</a:t>
            </a: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), Single quantum wells(</a:t>
            </a: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SQW</a:t>
            </a:r>
            <a:r>
              <a:rPr lang="zh-CN" alt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)</a:t>
            </a:r>
          </a:p>
        </p:txBody>
      </p:sp>
      <p:pic>
        <p:nvPicPr>
          <p:cNvPr id="20486" name="Picture 6" descr="无标题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48038" y="3502025"/>
            <a:ext cx="5734050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5003800" y="6165850"/>
            <a:ext cx="3232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sz="2000">
                <a:latin typeface="Times New Roman" pitchFamily="18" charset="0"/>
              </a:rPr>
              <a:t>The energy band diagram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3EEC2D7B-9AB9-4FCD-BDCB-C6AAE110AB67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62</a:t>
            </a:fld>
            <a:endParaRPr lang="en-US" sz="14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60475" y="188913"/>
            <a:ext cx="7488238" cy="83661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 dirty="0" smtClean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Vertical </a:t>
            </a:r>
            <a:r>
              <a:rPr lang="en-US" altLang="en-US" sz="32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cavity surface emitting lasers</a:t>
            </a:r>
            <a:r>
              <a:rPr lang="zh-CN" altLang="en-US" sz="32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 (</a:t>
            </a:r>
            <a:r>
              <a:rPr lang="en-US" sz="3200" b="1" dirty="0" err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VCSEL</a:t>
            </a:r>
            <a:r>
              <a:rPr lang="zh-CN" altLang="en-US" sz="32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  <a:ea typeface="华文行楷" pitchFamily="2" charset="-122"/>
              </a:rPr>
              <a:t>)</a:t>
            </a:r>
            <a:endParaRPr lang="en-US" sz="3200" b="1" dirty="0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Palatino Linotype" pitchFamily="18" charset="0"/>
              <a:ea typeface="华文行楷" pitchFamily="2" charset="-122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295400"/>
            <a:ext cx="8458200" cy="4800600"/>
          </a:xfrm>
        </p:spPr>
        <p:txBody>
          <a:bodyPr/>
          <a:lstStyle/>
          <a:p>
            <a:pPr eaLnBrk="1" hangingPunct="1"/>
            <a:r>
              <a:rPr lang="en-US" sz="2800"/>
              <a:t>Vertical Cavity Surface Emitting Laser</a:t>
            </a:r>
          </a:p>
          <a:p>
            <a:pPr eaLnBrk="1" hangingPunct="1"/>
            <a:r>
              <a:rPr lang="zh-CN" altLang="en-US" sz="2800"/>
              <a:t>Perpendicular to the substrate emitting laser</a:t>
            </a:r>
          </a:p>
          <a:p>
            <a:pPr eaLnBrk="1" hangingPunct="1"/>
            <a:r>
              <a:rPr lang="zh-CN" altLang="en-US" sz="2800">
                <a:solidFill>
                  <a:schemeClr val="hlink"/>
                </a:solidFill>
              </a:rPr>
              <a:t>Advantages:</a:t>
            </a:r>
          </a:p>
          <a:p>
            <a:pPr lvl="1" eaLnBrk="1" hangingPunct="1"/>
            <a:r>
              <a:rPr lang="zh-CN" altLang="en-US" sz="2400">
                <a:latin typeface="Times New Roman" pitchFamily="18" charset="0"/>
              </a:rPr>
              <a:t>High luminous efficiency(850</a:t>
            </a:r>
            <a:r>
              <a:rPr lang="en-US" sz="2400">
                <a:latin typeface="Times New Roman" pitchFamily="18" charset="0"/>
              </a:rPr>
              <a:t>nm</a:t>
            </a:r>
            <a:r>
              <a:rPr lang="zh-CN" altLang="en-US" sz="2400">
                <a:latin typeface="Times New Roman" pitchFamily="18" charset="0"/>
              </a:rPr>
              <a:t> </a:t>
            </a:r>
            <a:r>
              <a:rPr lang="en-US" sz="2400">
                <a:latin typeface="Times New Roman" pitchFamily="18" charset="0"/>
              </a:rPr>
              <a:t>VCSEL</a:t>
            </a:r>
            <a:r>
              <a:rPr lang="zh-CN" altLang="en-US" sz="2400">
                <a:latin typeface="Times New Roman" pitchFamily="18" charset="0"/>
              </a:rPr>
              <a:t>,</a:t>
            </a:r>
            <a:r>
              <a:rPr lang="en-US" sz="2400">
                <a:latin typeface="Times New Roman" pitchFamily="18" charset="0"/>
              </a:rPr>
              <a:t>10mA</a:t>
            </a:r>
            <a:r>
              <a:rPr lang="zh-CN" altLang="en-US" sz="2400">
                <a:latin typeface="Times New Roman" pitchFamily="18" charset="0"/>
              </a:rPr>
              <a:t> drive,</a:t>
            </a:r>
            <a:r>
              <a:rPr lang="en-US" altLang="en-US" sz="2400">
                <a:latin typeface="Times New Roman" pitchFamily="18" charset="0"/>
              </a:rPr>
              <a:t>1.5</a:t>
            </a:r>
            <a:r>
              <a:rPr lang="en-US" sz="2400">
                <a:latin typeface="Times New Roman" pitchFamily="18" charset="0"/>
              </a:rPr>
              <a:t>mW</a:t>
            </a:r>
            <a:r>
              <a:rPr lang="zh-CN" altLang="en-US" sz="2400">
                <a:latin typeface="Times New Roman" pitchFamily="18" charset="0"/>
              </a:rPr>
              <a:t> output power</a:t>
            </a:r>
            <a:r>
              <a:rPr lang="en-US" altLang="en-US" sz="2400">
                <a:latin typeface="Times New Roman" pitchFamily="18" charset="0"/>
              </a:rPr>
              <a:t>)</a:t>
            </a:r>
          </a:p>
          <a:p>
            <a:pPr lvl="1" eaLnBrk="1" hangingPunct="1"/>
            <a:r>
              <a:rPr lang="en-US" altLang="en-US" sz="2400">
                <a:latin typeface="Times New Roman" pitchFamily="18" charset="0"/>
              </a:rPr>
              <a:t>The threshold is very low</a:t>
            </a:r>
            <a:r>
              <a:rPr lang="zh-CN" altLang="en-US" sz="2400">
                <a:latin typeface="Times New Roman" pitchFamily="18" charset="0"/>
              </a:rPr>
              <a:t> (</a:t>
            </a:r>
            <a:r>
              <a:rPr lang="en-US" altLang="en-US" sz="2400">
                <a:latin typeface="Times New Roman" pitchFamily="18" charset="0"/>
              </a:rPr>
              <a:t>Working current5~15</a:t>
            </a:r>
            <a:r>
              <a:rPr lang="en-US" sz="2400">
                <a:latin typeface="Times New Roman" pitchFamily="18" charset="0"/>
              </a:rPr>
              <a:t>mA</a:t>
            </a:r>
            <a:r>
              <a:rPr lang="zh-CN" altLang="en-US" sz="2400">
                <a:latin typeface="Times New Roman" pitchFamily="18" charset="0"/>
              </a:rPr>
              <a:t>)</a:t>
            </a:r>
          </a:p>
          <a:p>
            <a:pPr lvl="1" eaLnBrk="1" hangingPunct="1"/>
            <a:r>
              <a:rPr lang="en-US" altLang="en-US" sz="2400">
                <a:latin typeface="Times New Roman" pitchFamily="18" charset="0"/>
              </a:rPr>
              <a:t>Single</a:t>
            </a:r>
            <a:r>
              <a:rPr lang="zh-CN" altLang="en-US" sz="2400">
                <a:latin typeface="Times New Roman" pitchFamily="18" charset="0"/>
              </a:rPr>
              <a:t>-</a:t>
            </a:r>
            <a:r>
              <a:rPr lang="en-US" altLang="en-US" sz="2400">
                <a:latin typeface="Times New Roman" pitchFamily="18" charset="0"/>
              </a:rPr>
              <a:t>longitudinal mode </a:t>
            </a:r>
            <a:r>
              <a:rPr lang="zh-CN" altLang="en-US" sz="2400">
                <a:latin typeface="Times New Roman" pitchFamily="18" charset="0"/>
              </a:rPr>
              <a:t>and</a:t>
            </a:r>
            <a:r>
              <a:rPr lang="en-US" altLang="en-US" sz="2400">
                <a:latin typeface="Times New Roman" pitchFamily="18" charset="0"/>
              </a:rPr>
              <a:t> multi</a:t>
            </a:r>
            <a:r>
              <a:rPr lang="zh-CN" altLang="en-US" sz="2400">
                <a:latin typeface="Times New Roman" pitchFamily="18" charset="0"/>
              </a:rPr>
              <a:t>-</a:t>
            </a:r>
            <a:r>
              <a:rPr lang="en-US" altLang="en-US" sz="2400">
                <a:latin typeface="Times New Roman" pitchFamily="18" charset="0"/>
              </a:rPr>
              <a:t>longitudinal mode</a:t>
            </a:r>
            <a:endParaRPr lang="zh-CN" altLang="en-US" sz="2400">
              <a:latin typeface="Times New Roman" pitchFamily="18" charset="0"/>
            </a:endParaRPr>
          </a:p>
          <a:p>
            <a:pPr lvl="1" eaLnBrk="1" hangingPunct="1"/>
            <a:r>
              <a:rPr lang="en-US" altLang="en-US" sz="2400">
                <a:latin typeface="Times New Roman" pitchFamily="18" charset="0"/>
              </a:rPr>
              <a:t>High modulation rate</a:t>
            </a:r>
          </a:p>
          <a:p>
            <a:pPr lvl="1" eaLnBrk="1" hangingPunct="1"/>
            <a:r>
              <a:rPr lang="en-US" altLang="en-US" sz="2400">
                <a:latin typeface="Times New Roman" pitchFamily="18" charset="0"/>
              </a:rPr>
              <a:t>Long service life</a:t>
            </a:r>
          </a:p>
          <a:p>
            <a:pPr lvl="1" eaLnBrk="1" hangingPunct="1"/>
            <a:r>
              <a:rPr lang="en-US" altLang="en-US" sz="2400">
                <a:latin typeface="Times New Roman" pitchFamily="18" charset="0"/>
              </a:rPr>
              <a:t>Low prices, high yield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4FDA2CEA-1A13-4A5C-BBC7-66A4D76AF156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63</a:t>
            </a:fld>
            <a:endParaRPr lang="en-US" sz="14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457200"/>
            <a:ext cx="7772400" cy="5486400"/>
          </a:xfrm>
        </p:spPr>
        <p:txBody>
          <a:bodyPr/>
          <a:lstStyle/>
          <a:p>
            <a:pPr lvl="1" eaLnBrk="1" hangingPunct="1"/>
            <a:r>
              <a:rPr lang="en-US" altLang="en-US">
                <a:latin typeface="Times New Roman" pitchFamily="18" charset="0"/>
              </a:rPr>
              <a:t>Can be arbitrarily </a:t>
            </a:r>
            <a:r>
              <a:rPr lang="zh-CN" altLang="en-US">
                <a:latin typeface="Times New Roman" pitchFamily="18" charset="0"/>
              </a:rPr>
              <a:t>in </a:t>
            </a:r>
            <a:r>
              <a:rPr lang="en-US" altLang="en-US">
                <a:latin typeface="Times New Roman" pitchFamily="18" charset="0"/>
              </a:rPr>
              <a:t>high</a:t>
            </a:r>
            <a:r>
              <a:rPr lang="zh-CN" altLang="en-US">
                <a:latin typeface="Times New Roman" pitchFamily="18" charset="0"/>
              </a:rPr>
              <a:t>-</a:t>
            </a:r>
            <a:r>
              <a:rPr lang="en-US" altLang="en-US">
                <a:latin typeface="Times New Roman" pitchFamily="18" charset="0"/>
              </a:rPr>
              <a:t>density two-dimensional laser arrays.</a:t>
            </a:r>
          </a:p>
        </p:txBody>
      </p:sp>
      <p:pic>
        <p:nvPicPr>
          <p:cNvPr id="2253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188" y="2997200"/>
            <a:ext cx="6096000" cy="319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3" name="AutoShape 4"/>
          <p:cNvSpPr>
            <a:spLocks noChangeArrowheads="1"/>
          </p:cNvSpPr>
          <p:nvPr/>
        </p:nvSpPr>
        <p:spPr bwMode="auto">
          <a:xfrm>
            <a:off x="3997325" y="1485900"/>
            <a:ext cx="2735263" cy="1009650"/>
          </a:xfrm>
          <a:prstGeom prst="wedgeRoundRectCallout">
            <a:avLst>
              <a:gd name="adj1" fmla="val -78861"/>
              <a:gd name="adj2" fmla="val 202778"/>
              <a:gd name="adj3" fmla="val 16667"/>
            </a:avLst>
          </a:prstGeom>
          <a:solidFill>
            <a:srgbClr val="008000"/>
          </a:solidFill>
          <a:ln w="12700" cap="sq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zh-CN" altLang="en-US" sz="2800">
                <a:solidFill>
                  <a:schemeClr val="accent2"/>
                </a:solidFill>
                <a:latin typeface="Times New Roman" pitchFamily="18" charset="0"/>
              </a:rPr>
              <a:t>t</a:t>
            </a:r>
            <a:r>
              <a:rPr lang="en-US" altLang="en-US" sz="2800">
                <a:solidFill>
                  <a:schemeClr val="accent2"/>
                </a:solidFill>
                <a:latin typeface="Times New Roman" pitchFamily="18" charset="0"/>
              </a:rPr>
              <a:t>wo-dimensional</a:t>
            </a:r>
          </a:p>
          <a:p>
            <a:pPr algn="ct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r>
              <a:rPr lang="en-US" altLang="en-US" sz="2800">
                <a:solidFill>
                  <a:schemeClr val="accent2"/>
                </a:solidFill>
                <a:latin typeface="Times New Roman" pitchFamily="18" charset="0"/>
              </a:rPr>
              <a:t> laser arrays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BAD333A2-0328-404D-A2C7-265DCD319DE8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64</a:t>
            </a:fld>
            <a:endParaRPr lang="en-US" sz="1400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58888" y="71438"/>
            <a:ext cx="6142037" cy="836612"/>
          </a:xfrm>
        </p:spPr>
        <p:txBody>
          <a:bodyPr/>
          <a:lstStyle/>
          <a:p>
            <a:pPr eaLnBrk="1" hangingPunct="1"/>
            <a:r>
              <a:rPr lang="en-US" altLang="en-US"/>
              <a:t>Summary</a:t>
            </a:r>
            <a:r>
              <a:rPr lang="zh-CN" altLang="en-US"/>
              <a:t> (1)</a:t>
            </a:r>
            <a:endParaRPr lang="en-US" altLang="en-US"/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95400"/>
            <a:ext cx="8305800" cy="4800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LD and LED are the most common light sources.</a:t>
            </a:r>
          </a:p>
          <a:p>
            <a:pPr eaLnBrk="1" hangingPunct="1">
              <a:lnSpc>
                <a:spcPct val="80000"/>
              </a:lnSpc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LED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 is s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imple, reliable, long life and 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so on. T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he process 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 spontaneous emission, 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so it'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s a non-coherent light source.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 For it's wide l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inewidth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poor directionality, 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slow response speed,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800">
                <a:solidFill>
                  <a:schemeClr val="folHlink"/>
                </a:solidFill>
                <a:latin typeface="Times New Roman" pitchFamily="18" charset="0"/>
                <a:cs typeface="Times New Roman" pitchFamily="18" charset="0"/>
              </a:rPr>
              <a:t>LED is</a:t>
            </a:r>
            <a:r>
              <a:rPr lang="en-US" altLang="en-US" sz="2800">
                <a:solidFill>
                  <a:schemeClr val="folHlink"/>
                </a:solidFill>
                <a:latin typeface="Times New Roman" pitchFamily="18" charset="0"/>
                <a:cs typeface="Times New Roman" pitchFamily="18" charset="0"/>
              </a:rPr>
              <a:t> only suitable for low rate communication systems.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LD are often used in </a:t>
            </a:r>
            <a:r>
              <a:rPr lang="zh-CN" altLang="en-US" sz="2800">
                <a:solidFill>
                  <a:schemeClr val="folHlink"/>
                </a:solidFill>
                <a:latin typeface="Times New Roman" pitchFamily="18" charset="0"/>
                <a:cs typeface="Times New Roman" pitchFamily="18" charset="0"/>
              </a:rPr>
              <a:t>high-speed large-capacity optical fiber communication system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LD is a kind of threshold device, only when the injection current reaches the threshold current, laser began 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to work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 LD must meet the following conditions：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Enough inversion distribution in active region；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A stable oscillation in the cavity。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ct val="0"/>
              </a:spcBef>
              <a:buClrTx/>
              <a:buSzTx/>
              <a:buFont typeface="Wingdings" pitchFamily="2" charset="2"/>
              <a:buNone/>
            </a:pPr>
            <a:fld id="{CD64FB15-085C-45AC-ABF3-4AEB3F5EADB7}" type="slidenum">
              <a:rPr lang="zh-CN" altLang="en-US" sz="1400"/>
              <a:pPr algn="r">
                <a:spcBef>
                  <a:spcPct val="0"/>
                </a:spcBef>
                <a:buClrTx/>
                <a:buSzTx/>
                <a:buFont typeface="Wingdings" pitchFamily="2" charset="2"/>
                <a:buNone/>
              </a:pPr>
              <a:t>65</a:t>
            </a:fld>
            <a:endParaRPr lang="en-US" sz="140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143000"/>
            <a:ext cx="8305800" cy="5029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The transient properties of semiconductor lasers directly affect the quality of modulated optical signal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;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In d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irect modulation, 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there are 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en-US" sz="280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lectro-optic delay </a:t>
            </a:r>
            <a:r>
              <a:rPr lang="zh-CN" altLang="en-US" sz="280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altLang="en-US" sz="280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relaxation oscillation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during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 the transient process；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en-US" sz="280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pattern effect 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will appear in high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speed digital modulation；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For th l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aser is very sensitive to the temperature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nd the thermal effect of current injection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, t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he output will appear </a:t>
            </a:r>
            <a:r>
              <a:rPr lang="en-US" altLang="en-US" sz="280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junction heating effect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；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Some lasers will appear </a:t>
            </a:r>
            <a:r>
              <a:rPr lang="en-US" altLang="en-US" sz="280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self-pulsation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 phenomenon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;</a:t>
            </a:r>
            <a:endParaRPr lang="zh-CN" altLang="en-US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In high-speed optical fiber communication systems, 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often us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en-US" sz="280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 external modulation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Because it is modulated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 after the laser is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formed, it will not affect the 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pectral lines of 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output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258888" y="71438"/>
            <a:ext cx="6142037" cy="836612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Summary</a:t>
            </a:r>
            <a:r>
              <a:rPr lang="zh-CN" altLang="en-US"/>
              <a:t> (2)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3046</Words>
  <Application>Microsoft Office PowerPoint</Application>
  <PresentationFormat>On-screen Show (4:3)</PresentationFormat>
  <Paragraphs>351</Paragraphs>
  <Slides>65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7" baseType="lpstr">
      <vt:lpstr>Office Theme</vt:lpstr>
      <vt:lpstr>Microsoft Equation 3.0</vt:lpstr>
      <vt:lpstr>OPTICAL SOURCES</vt:lpstr>
      <vt:lpstr>Considerations with Optical Sources</vt:lpstr>
      <vt:lpstr>Considerations…</vt:lpstr>
      <vt:lpstr>Semiconductor Light Sources</vt:lpstr>
      <vt:lpstr>LED vs. laser spectral width</vt:lpstr>
      <vt:lpstr>Light-Emitting Diodes (LEDs)</vt:lpstr>
      <vt:lpstr>Surface-Emitting LED</vt:lpstr>
      <vt:lpstr>Edge-Emitting LED</vt:lpstr>
      <vt:lpstr>Slide 9</vt:lpstr>
      <vt:lpstr>Spectral width of LED types</vt:lpstr>
      <vt:lpstr>Drawbacks &amp; Advantages of LED</vt:lpstr>
      <vt:lpstr>LASER (Light Amplification by the Stimulated Emission of Radiation)</vt:lpstr>
      <vt:lpstr>Lasing in a pumped active medium</vt:lpstr>
      <vt:lpstr>Pumped active medium</vt:lpstr>
      <vt:lpstr>Howling Dog Analogy</vt:lpstr>
      <vt:lpstr>In Stimulated Emission incident and stimulated photons will have</vt:lpstr>
      <vt:lpstr>Stimulated Emission</vt:lpstr>
      <vt:lpstr>Slide 18</vt:lpstr>
      <vt:lpstr>Fabry-Perot Resonator</vt:lpstr>
      <vt:lpstr>Mirror Reflections</vt:lpstr>
      <vt:lpstr>How a Laser Works</vt:lpstr>
      <vt:lpstr>Laser Diode</vt:lpstr>
      <vt:lpstr>Laser Diode Characteristics</vt:lpstr>
      <vt:lpstr>DFB(Distributed FeedBack) Lasers</vt:lpstr>
      <vt:lpstr>Laser Operation &amp; Lasing Condition</vt:lpstr>
      <vt:lpstr>Single Mode Laser</vt:lpstr>
      <vt:lpstr>VCSEL</vt:lpstr>
      <vt:lpstr>Slide 28</vt:lpstr>
      <vt:lpstr>Frequency-Selective laser Diodes: Distributed Feedback Reflector (DBR) laser</vt:lpstr>
      <vt:lpstr>Frequency-Selective Laser Diodes: Distributed Reflector (DR) Laser</vt:lpstr>
      <vt:lpstr>Chirp</vt:lpstr>
      <vt:lpstr>Slide 32</vt:lpstr>
      <vt:lpstr>External Optical Modulation</vt:lpstr>
      <vt:lpstr>External Modulated Spectrum</vt:lpstr>
      <vt:lpstr>Mach-Zehnder Interferometers</vt:lpstr>
      <vt:lpstr>Mach- Zehnder modulator</vt:lpstr>
      <vt:lpstr>Mach- Zehnder modulator</vt:lpstr>
      <vt:lpstr>Slide 38</vt:lpstr>
      <vt:lpstr>Slide 39</vt:lpstr>
      <vt:lpstr>Characteristics of Mach- Zehnder modulator</vt:lpstr>
      <vt:lpstr>Electro- absorption (EA) modulator</vt:lpstr>
      <vt:lpstr>Integration of EA modulator with LD</vt:lpstr>
      <vt:lpstr>Characteristics of EA modulator</vt:lpstr>
      <vt:lpstr>Slide 44</vt:lpstr>
      <vt:lpstr>Slide 45</vt:lpstr>
      <vt:lpstr>Semiconductor laser (LD)</vt:lpstr>
      <vt:lpstr>LED</vt:lpstr>
      <vt:lpstr>LED</vt:lpstr>
      <vt:lpstr>LD</vt:lpstr>
      <vt:lpstr>Fabry - Perot lasers (F-P LD)</vt:lpstr>
      <vt:lpstr>The basic principle of F-P LD</vt:lpstr>
      <vt:lpstr>1. Spontaneous emission, stimulated emission and stimulated absorption</vt:lpstr>
      <vt:lpstr>Slide 53</vt:lpstr>
      <vt:lpstr>The characteristics of spontaneous emission and stimulated emission</vt:lpstr>
      <vt:lpstr>F-P cavity</vt:lpstr>
      <vt:lpstr>Oscillation condition</vt:lpstr>
      <vt:lpstr>Slide 57</vt:lpstr>
      <vt:lpstr>Distributed feedback lasers (DFB LD)</vt:lpstr>
      <vt:lpstr>The basic principle of DFB LD</vt:lpstr>
      <vt:lpstr>Distributed Bragg reflector laser (DBR LD)</vt:lpstr>
      <vt:lpstr>Quantum well lasers QW LD</vt:lpstr>
      <vt:lpstr>Vertical cavity surface emitting lasers (VCSEL)</vt:lpstr>
      <vt:lpstr>Slide 63</vt:lpstr>
      <vt:lpstr>Summary (1)</vt:lpstr>
      <vt:lpstr>Summary (2)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OPTICAL SOURCES</dc:title>
  <dc:creator>user</dc:creator>
  <cp:lastModifiedBy>Windows User</cp:lastModifiedBy>
  <cp:revision>2</cp:revision>
  <dcterms:created xsi:type="dcterms:W3CDTF">2006-08-16T00:00:00Z</dcterms:created>
  <dcterms:modified xsi:type="dcterms:W3CDTF">2024-12-04T11:44:16Z</dcterms:modified>
</cp:coreProperties>
</file>