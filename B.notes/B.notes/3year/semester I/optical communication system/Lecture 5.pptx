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7" r:id="rId3"/>
    <p:sldId id="257" r:id="rId4"/>
    <p:sldId id="258" r:id="rId5"/>
    <p:sldId id="259" r:id="rId6"/>
    <p:sldId id="260" r:id="rId7"/>
    <p:sldId id="261" r:id="rId8"/>
    <p:sldId id="262" r:id="rId9"/>
    <p:sldId id="263" r:id="rId10"/>
    <p:sldId id="264" r:id="rId11"/>
    <p:sldId id="270" r:id="rId12"/>
    <p:sldId id="298" r:id="rId13"/>
    <p:sldId id="299" r:id="rId14"/>
    <p:sldId id="271" r:id="rId15"/>
    <p:sldId id="272" r:id="rId16"/>
    <p:sldId id="273" r:id="rId17"/>
    <p:sldId id="274" r:id="rId18"/>
    <p:sldId id="275" r:id="rId19"/>
    <p:sldId id="276" r:id="rId20"/>
    <p:sldId id="277" r:id="rId21"/>
    <p:sldId id="300" r:id="rId22"/>
    <p:sldId id="301" r:id="rId23"/>
    <p:sldId id="278" r:id="rId24"/>
    <p:sldId id="279" r:id="rId25"/>
    <p:sldId id="280" r:id="rId26"/>
    <p:sldId id="288" r:id="rId27"/>
    <p:sldId id="290" r:id="rId28"/>
    <p:sldId id="291" r:id="rId29"/>
    <p:sldId id="294" r:id="rId30"/>
    <p:sldId id="295" r:id="rId31"/>
    <p:sldId id="302"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oleObject" Target="../embeddings/oleObject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OPTICAL RECEIVERS</a:t>
            </a:r>
            <a:endParaRPr lang="en-GB" dirty="0"/>
          </a:p>
        </p:txBody>
      </p:sp>
      <p:sp>
        <p:nvSpPr>
          <p:cNvPr id="3" name="Subtitle 2"/>
          <p:cNvSpPr>
            <a:spLocks noGrp="1"/>
          </p:cNvSpPr>
          <p:nvPr>
            <p:ph type="subTitle" idx="1"/>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3"/>
          <p:cNvSpPr txBox="1">
            <a:spLocks noGrp="1" noChangeArrowheads="1"/>
          </p:cNvSpPr>
          <p:nvPr/>
        </p:nvSpPr>
        <p:spPr bwMode="auto">
          <a:xfrm>
            <a:off x="7164388" y="6310313"/>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032C8C87-7F6D-4BE0-8840-436AC8169379}" type="slidenum">
              <a:rPr lang="zh-CN" altLang="en-US" sz="1400"/>
              <a:pPr algn="r">
                <a:spcBef>
                  <a:spcPct val="0"/>
                </a:spcBef>
                <a:buClrTx/>
                <a:buSzTx/>
                <a:buFont typeface="Wingdings" pitchFamily="2" charset="2"/>
                <a:buNone/>
              </a:pPr>
              <a:t>2</a:t>
            </a:fld>
            <a:endParaRPr lang="en-US" sz="1400"/>
          </a:p>
        </p:txBody>
      </p:sp>
      <p:grpSp>
        <p:nvGrpSpPr>
          <p:cNvPr id="2" name="Group 3"/>
          <p:cNvGrpSpPr>
            <a:grpSpLocks/>
          </p:cNvGrpSpPr>
          <p:nvPr/>
        </p:nvGrpSpPr>
        <p:grpSpPr bwMode="auto">
          <a:xfrm>
            <a:off x="404813" y="1371600"/>
            <a:ext cx="8739187" cy="1857375"/>
            <a:chOff x="0" y="0"/>
            <a:chExt cx="5505" cy="1170"/>
          </a:xfrm>
        </p:grpSpPr>
        <p:sp>
          <p:nvSpPr>
            <p:cNvPr id="3076" name="Text Box 3"/>
            <p:cNvSpPr txBox="1">
              <a:spLocks noChangeArrowheads="1"/>
            </p:cNvSpPr>
            <p:nvPr/>
          </p:nvSpPr>
          <p:spPr bwMode="auto">
            <a:xfrm>
              <a:off x="216" y="755"/>
              <a:ext cx="510" cy="250"/>
            </a:xfrm>
            <a:prstGeom prst="rect">
              <a:avLst/>
            </a:prstGeom>
            <a:noFill/>
            <a:ln w="9525">
              <a:noFill/>
              <a:miter lim="800000"/>
              <a:headEnd/>
              <a:tailEnd/>
            </a:ln>
          </p:spPr>
          <p:txBody>
            <a:bodyPr>
              <a:spAutoFit/>
            </a:bodyPr>
            <a:lstStyle/>
            <a:p>
              <a:pPr algn="ctr">
                <a:spcBef>
                  <a:spcPct val="50000"/>
                </a:spcBef>
                <a:buClrTx/>
                <a:buSzTx/>
                <a:buFont typeface="Wingdings" pitchFamily="2" charset="2"/>
                <a:buNone/>
              </a:pPr>
              <a:r>
                <a:rPr lang="zh-CN" altLang="en-US" sz="1600">
                  <a:latin typeface="Times New Roman" pitchFamily="18" charset="0"/>
                  <a:ea typeface="黑体" pitchFamily="1" charset="-122"/>
                </a:rPr>
                <a:t>Light source</a:t>
              </a:r>
            </a:p>
          </p:txBody>
        </p:sp>
        <p:sp>
          <p:nvSpPr>
            <p:cNvPr id="3077" name="Text Box 4"/>
            <p:cNvSpPr txBox="1">
              <a:spLocks noChangeArrowheads="1"/>
            </p:cNvSpPr>
            <p:nvPr/>
          </p:nvSpPr>
          <p:spPr bwMode="auto">
            <a:xfrm>
              <a:off x="843" y="505"/>
              <a:ext cx="672" cy="250"/>
            </a:xfrm>
            <a:prstGeom prst="rect">
              <a:avLst/>
            </a:prstGeom>
            <a:solidFill>
              <a:srgbClr val="CCFFCC"/>
            </a:solidFill>
            <a:ln w="9525">
              <a:noFill/>
              <a:miter lim="800000"/>
              <a:headEnd/>
              <a:tailEnd/>
            </a:ln>
          </p:spPr>
          <p:txBody>
            <a:bodyPr>
              <a:spAutoFit/>
            </a:bodyPr>
            <a:lstStyle/>
            <a:p>
              <a:pPr algn="ctr">
                <a:spcBef>
                  <a:spcPct val="50000"/>
                </a:spcBef>
                <a:buClrTx/>
                <a:buSzTx/>
                <a:buFont typeface="Wingdings" pitchFamily="2" charset="2"/>
                <a:buNone/>
              </a:pPr>
              <a:r>
                <a:rPr lang="zh-CN" altLang="en-US" sz="1400">
                  <a:effectLst>
                    <a:outerShdw blurRad="38100" dist="38100" dir="2700000" algn="tl">
                      <a:srgbClr val="FFFFFF"/>
                    </a:outerShdw>
                  </a:effectLst>
                  <a:latin typeface="Times New Roman" pitchFamily="18" charset="0"/>
                  <a:ea typeface="黑体" pitchFamily="1" charset="-122"/>
                </a:rPr>
                <a:t>Modulator</a:t>
              </a:r>
            </a:p>
          </p:txBody>
        </p:sp>
        <p:sp>
          <p:nvSpPr>
            <p:cNvPr id="3078" name="Line 5"/>
            <p:cNvSpPr>
              <a:spLocks noChangeShapeType="1"/>
            </p:cNvSpPr>
            <p:nvPr/>
          </p:nvSpPr>
          <p:spPr bwMode="auto">
            <a:xfrm>
              <a:off x="555" y="630"/>
              <a:ext cx="288" cy="0"/>
            </a:xfrm>
            <a:prstGeom prst="line">
              <a:avLst/>
            </a:prstGeom>
            <a:noFill/>
            <a:ln w="28575" cap="sq" cmpd="sng">
              <a:solidFill>
                <a:schemeClr val="tx2"/>
              </a:solidFill>
              <a:round/>
              <a:headEnd/>
              <a:tailEnd type="triangle" w="med" len="med"/>
            </a:ln>
          </p:spPr>
          <p:txBody>
            <a:bodyPr wrap="none"/>
            <a:lstStyle/>
            <a:p>
              <a:endParaRPr lang="en-GB"/>
            </a:p>
          </p:txBody>
        </p:sp>
        <p:sp>
          <p:nvSpPr>
            <p:cNvPr id="3079" name="Oval 6"/>
            <p:cNvSpPr>
              <a:spLocks noChangeArrowheads="1"/>
            </p:cNvSpPr>
            <p:nvPr/>
          </p:nvSpPr>
          <p:spPr bwMode="auto">
            <a:xfrm>
              <a:off x="342" y="528"/>
              <a:ext cx="213" cy="204"/>
            </a:xfrm>
            <a:prstGeom prst="ellipse">
              <a:avLst/>
            </a:prstGeom>
            <a:solidFill>
              <a:srgbClr val="FF0000"/>
            </a:solidFill>
            <a:ln w="9525">
              <a:noFill/>
              <a:round/>
              <a:headEnd/>
              <a:tailEnd/>
            </a:ln>
          </p:spPr>
          <p:txBody>
            <a:bodyPr anchor="ctr">
              <a:spAutoFit/>
            </a:bodyPr>
            <a:lstStyle/>
            <a:p>
              <a:endParaRPr lang="zh-CN" altLang="en-US"/>
            </a:p>
          </p:txBody>
        </p:sp>
        <p:sp>
          <p:nvSpPr>
            <p:cNvPr id="3080" name="Line 7"/>
            <p:cNvSpPr>
              <a:spLocks noChangeShapeType="1"/>
            </p:cNvSpPr>
            <p:nvPr/>
          </p:nvSpPr>
          <p:spPr bwMode="auto">
            <a:xfrm>
              <a:off x="348" y="630"/>
              <a:ext cx="207" cy="0"/>
            </a:xfrm>
            <a:prstGeom prst="line">
              <a:avLst/>
            </a:prstGeom>
            <a:noFill/>
            <a:ln w="28575" cap="sq" cmpd="sng">
              <a:solidFill>
                <a:schemeClr val="tx2"/>
              </a:solidFill>
              <a:round/>
              <a:headEnd/>
              <a:tailEnd type="triangle" w="med" len="med"/>
            </a:ln>
          </p:spPr>
          <p:txBody>
            <a:bodyPr>
              <a:spAutoFit/>
            </a:bodyPr>
            <a:lstStyle/>
            <a:p>
              <a:endParaRPr lang="en-GB"/>
            </a:p>
          </p:txBody>
        </p:sp>
        <p:sp>
          <p:nvSpPr>
            <p:cNvPr id="3081" name="Line 8"/>
            <p:cNvSpPr>
              <a:spLocks noChangeShapeType="1"/>
            </p:cNvSpPr>
            <p:nvPr/>
          </p:nvSpPr>
          <p:spPr bwMode="auto">
            <a:xfrm>
              <a:off x="1146" y="333"/>
              <a:ext cx="0" cy="195"/>
            </a:xfrm>
            <a:prstGeom prst="line">
              <a:avLst/>
            </a:prstGeom>
            <a:noFill/>
            <a:ln w="28575" cap="sq" cmpd="sng">
              <a:solidFill>
                <a:schemeClr val="tx2"/>
              </a:solidFill>
              <a:round/>
              <a:headEnd/>
              <a:tailEnd type="triangle" w="med" len="med"/>
            </a:ln>
          </p:spPr>
          <p:txBody>
            <a:bodyPr>
              <a:spAutoFit/>
            </a:bodyPr>
            <a:lstStyle/>
            <a:p>
              <a:endParaRPr lang="en-GB"/>
            </a:p>
          </p:txBody>
        </p:sp>
        <p:sp>
          <p:nvSpPr>
            <p:cNvPr id="3082" name="Line 9"/>
            <p:cNvSpPr>
              <a:spLocks noChangeShapeType="1"/>
            </p:cNvSpPr>
            <p:nvPr/>
          </p:nvSpPr>
          <p:spPr bwMode="auto">
            <a:xfrm>
              <a:off x="444" y="333"/>
              <a:ext cx="0" cy="195"/>
            </a:xfrm>
            <a:prstGeom prst="line">
              <a:avLst/>
            </a:prstGeom>
            <a:noFill/>
            <a:ln w="28575" cap="sq" cmpd="sng">
              <a:solidFill>
                <a:schemeClr val="tx2"/>
              </a:solidFill>
              <a:round/>
              <a:headEnd/>
              <a:tailEnd type="triangle" w="med" len="med"/>
            </a:ln>
          </p:spPr>
          <p:txBody>
            <a:bodyPr>
              <a:spAutoFit/>
            </a:bodyPr>
            <a:lstStyle/>
            <a:p>
              <a:endParaRPr lang="en-GB"/>
            </a:p>
          </p:txBody>
        </p:sp>
        <p:sp>
          <p:nvSpPr>
            <p:cNvPr id="3083" name="Text Box 10"/>
            <p:cNvSpPr txBox="1">
              <a:spLocks noChangeArrowheads="1"/>
            </p:cNvSpPr>
            <p:nvPr/>
          </p:nvSpPr>
          <p:spPr bwMode="auto">
            <a:xfrm>
              <a:off x="0" y="72"/>
              <a:ext cx="843" cy="250"/>
            </a:xfrm>
            <a:prstGeom prst="rect">
              <a:avLst/>
            </a:prstGeom>
            <a:solidFill>
              <a:srgbClr val="FFCCFF"/>
            </a:solidFill>
            <a:ln w="9525">
              <a:noFill/>
              <a:miter lim="800000"/>
              <a:headEnd/>
              <a:tailEnd/>
            </a:ln>
          </p:spPr>
          <p:txBody>
            <a:bodyPr>
              <a:spAutoFit/>
            </a:bodyPr>
            <a:lstStyle/>
            <a:p>
              <a:pPr algn="ctr">
                <a:spcBef>
                  <a:spcPct val="50000"/>
                </a:spcBef>
                <a:buClrTx/>
                <a:buSzTx/>
                <a:buFont typeface="Wingdings" pitchFamily="2" charset="2"/>
                <a:buNone/>
              </a:pPr>
              <a:r>
                <a:rPr lang="zh-CN" altLang="en-US" sz="1600">
                  <a:effectLst>
                    <a:outerShdw blurRad="38100" dist="38100" dir="2700000" algn="tl">
                      <a:srgbClr val="FFFFFF"/>
                    </a:outerShdw>
                  </a:effectLst>
                  <a:latin typeface="Times New Roman" pitchFamily="18" charset="0"/>
                  <a:ea typeface="黑体" pitchFamily="1" charset="-122"/>
                </a:rPr>
                <a:t>Drive circuit</a:t>
              </a:r>
            </a:p>
          </p:txBody>
        </p:sp>
        <p:grpSp>
          <p:nvGrpSpPr>
            <p:cNvPr id="3" name="Group 12"/>
            <p:cNvGrpSpPr>
              <a:grpSpLocks/>
            </p:cNvGrpSpPr>
            <p:nvPr/>
          </p:nvGrpSpPr>
          <p:grpSpPr bwMode="auto">
            <a:xfrm>
              <a:off x="965" y="165"/>
              <a:ext cx="465" cy="132"/>
              <a:chOff x="0" y="0"/>
              <a:chExt cx="465" cy="132"/>
            </a:xfrm>
          </p:grpSpPr>
          <p:sp>
            <p:nvSpPr>
              <p:cNvPr id="3085" name="Line 12"/>
              <p:cNvSpPr>
                <a:spLocks noChangeShapeType="1"/>
              </p:cNvSpPr>
              <p:nvPr/>
            </p:nvSpPr>
            <p:spPr bwMode="auto">
              <a:xfrm>
                <a:off x="0" y="132"/>
                <a:ext cx="99" cy="0"/>
              </a:xfrm>
              <a:prstGeom prst="line">
                <a:avLst/>
              </a:prstGeom>
              <a:noFill/>
              <a:ln w="38100" cap="sq" cmpd="sng">
                <a:solidFill>
                  <a:srgbClr val="9933FF"/>
                </a:solidFill>
                <a:round/>
                <a:headEnd/>
                <a:tailEnd/>
              </a:ln>
            </p:spPr>
            <p:txBody>
              <a:bodyPr>
                <a:spAutoFit/>
              </a:bodyPr>
              <a:lstStyle/>
              <a:p>
                <a:endParaRPr lang="en-GB"/>
              </a:p>
            </p:txBody>
          </p:sp>
          <p:sp>
            <p:nvSpPr>
              <p:cNvPr id="3086" name="Line 13"/>
              <p:cNvSpPr>
                <a:spLocks noChangeShapeType="1"/>
              </p:cNvSpPr>
              <p:nvPr/>
            </p:nvSpPr>
            <p:spPr bwMode="auto">
              <a:xfrm flipV="1">
                <a:off x="99" y="0"/>
                <a:ext cx="0" cy="132"/>
              </a:xfrm>
              <a:prstGeom prst="line">
                <a:avLst/>
              </a:prstGeom>
              <a:noFill/>
              <a:ln w="38100" cap="sq" cmpd="sng">
                <a:solidFill>
                  <a:srgbClr val="9933FF"/>
                </a:solidFill>
                <a:round/>
                <a:headEnd/>
                <a:tailEnd/>
              </a:ln>
            </p:spPr>
            <p:txBody>
              <a:bodyPr>
                <a:spAutoFit/>
              </a:bodyPr>
              <a:lstStyle/>
              <a:p>
                <a:endParaRPr lang="en-GB"/>
              </a:p>
            </p:txBody>
          </p:sp>
          <p:sp>
            <p:nvSpPr>
              <p:cNvPr id="3087" name="Line 14"/>
              <p:cNvSpPr>
                <a:spLocks noChangeShapeType="1"/>
              </p:cNvSpPr>
              <p:nvPr/>
            </p:nvSpPr>
            <p:spPr bwMode="auto">
              <a:xfrm>
                <a:off x="99" y="0"/>
                <a:ext cx="90" cy="0"/>
              </a:xfrm>
              <a:prstGeom prst="line">
                <a:avLst/>
              </a:prstGeom>
              <a:noFill/>
              <a:ln w="38100" cap="sq" cmpd="sng">
                <a:solidFill>
                  <a:srgbClr val="9933FF"/>
                </a:solidFill>
                <a:round/>
                <a:headEnd/>
                <a:tailEnd/>
              </a:ln>
            </p:spPr>
            <p:txBody>
              <a:bodyPr>
                <a:spAutoFit/>
              </a:bodyPr>
              <a:lstStyle/>
              <a:p>
                <a:endParaRPr lang="en-GB"/>
              </a:p>
            </p:txBody>
          </p:sp>
          <p:sp>
            <p:nvSpPr>
              <p:cNvPr id="3088" name="Line 15"/>
              <p:cNvSpPr>
                <a:spLocks noChangeShapeType="1"/>
              </p:cNvSpPr>
              <p:nvPr/>
            </p:nvSpPr>
            <p:spPr bwMode="auto">
              <a:xfrm>
                <a:off x="189" y="0"/>
                <a:ext cx="0" cy="132"/>
              </a:xfrm>
              <a:prstGeom prst="line">
                <a:avLst/>
              </a:prstGeom>
              <a:noFill/>
              <a:ln w="38100" cap="sq" cmpd="sng">
                <a:solidFill>
                  <a:srgbClr val="9933FF"/>
                </a:solidFill>
                <a:round/>
                <a:headEnd/>
                <a:tailEnd/>
              </a:ln>
            </p:spPr>
            <p:txBody>
              <a:bodyPr>
                <a:spAutoFit/>
              </a:bodyPr>
              <a:lstStyle/>
              <a:p>
                <a:endParaRPr lang="en-GB"/>
              </a:p>
            </p:txBody>
          </p:sp>
          <p:sp>
            <p:nvSpPr>
              <p:cNvPr id="3089" name="Line 16"/>
              <p:cNvSpPr>
                <a:spLocks noChangeShapeType="1"/>
              </p:cNvSpPr>
              <p:nvPr/>
            </p:nvSpPr>
            <p:spPr bwMode="auto">
              <a:xfrm>
                <a:off x="189" y="132"/>
                <a:ext cx="87" cy="0"/>
              </a:xfrm>
              <a:prstGeom prst="line">
                <a:avLst/>
              </a:prstGeom>
              <a:noFill/>
              <a:ln w="38100" cap="sq" cmpd="sng">
                <a:solidFill>
                  <a:srgbClr val="9933FF"/>
                </a:solidFill>
                <a:round/>
                <a:headEnd/>
                <a:tailEnd/>
              </a:ln>
            </p:spPr>
            <p:txBody>
              <a:bodyPr>
                <a:spAutoFit/>
              </a:bodyPr>
              <a:lstStyle/>
              <a:p>
                <a:endParaRPr lang="en-GB"/>
              </a:p>
            </p:txBody>
          </p:sp>
          <p:sp>
            <p:nvSpPr>
              <p:cNvPr id="3090" name="Line 17"/>
              <p:cNvSpPr>
                <a:spLocks noChangeShapeType="1"/>
              </p:cNvSpPr>
              <p:nvPr/>
            </p:nvSpPr>
            <p:spPr bwMode="auto">
              <a:xfrm flipV="1">
                <a:off x="276" y="0"/>
                <a:ext cx="0" cy="132"/>
              </a:xfrm>
              <a:prstGeom prst="line">
                <a:avLst/>
              </a:prstGeom>
              <a:noFill/>
              <a:ln w="38100" cap="sq" cmpd="sng">
                <a:solidFill>
                  <a:srgbClr val="9933FF"/>
                </a:solidFill>
                <a:round/>
                <a:headEnd/>
                <a:tailEnd/>
              </a:ln>
            </p:spPr>
            <p:txBody>
              <a:bodyPr>
                <a:spAutoFit/>
              </a:bodyPr>
              <a:lstStyle/>
              <a:p>
                <a:endParaRPr lang="en-GB"/>
              </a:p>
            </p:txBody>
          </p:sp>
          <p:sp>
            <p:nvSpPr>
              <p:cNvPr id="3091" name="Line 18"/>
              <p:cNvSpPr>
                <a:spLocks noChangeShapeType="1"/>
              </p:cNvSpPr>
              <p:nvPr/>
            </p:nvSpPr>
            <p:spPr bwMode="auto">
              <a:xfrm>
                <a:off x="276" y="0"/>
                <a:ext cx="90" cy="0"/>
              </a:xfrm>
              <a:prstGeom prst="line">
                <a:avLst/>
              </a:prstGeom>
              <a:noFill/>
              <a:ln w="38100" cap="sq" cmpd="sng">
                <a:solidFill>
                  <a:srgbClr val="9933FF"/>
                </a:solidFill>
                <a:round/>
                <a:headEnd/>
                <a:tailEnd/>
              </a:ln>
            </p:spPr>
            <p:txBody>
              <a:bodyPr>
                <a:spAutoFit/>
              </a:bodyPr>
              <a:lstStyle/>
              <a:p>
                <a:endParaRPr lang="en-GB"/>
              </a:p>
            </p:txBody>
          </p:sp>
          <p:sp>
            <p:nvSpPr>
              <p:cNvPr id="3092" name="Line 19"/>
              <p:cNvSpPr>
                <a:spLocks noChangeShapeType="1"/>
              </p:cNvSpPr>
              <p:nvPr/>
            </p:nvSpPr>
            <p:spPr bwMode="auto">
              <a:xfrm>
                <a:off x="366" y="0"/>
                <a:ext cx="0" cy="132"/>
              </a:xfrm>
              <a:prstGeom prst="line">
                <a:avLst/>
              </a:prstGeom>
              <a:noFill/>
              <a:ln w="38100" cap="sq" cmpd="sng">
                <a:solidFill>
                  <a:srgbClr val="9933FF"/>
                </a:solidFill>
                <a:round/>
                <a:headEnd/>
                <a:tailEnd/>
              </a:ln>
            </p:spPr>
            <p:txBody>
              <a:bodyPr>
                <a:spAutoFit/>
              </a:bodyPr>
              <a:lstStyle/>
              <a:p>
                <a:endParaRPr lang="en-GB"/>
              </a:p>
            </p:txBody>
          </p:sp>
          <p:sp>
            <p:nvSpPr>
              <p:cNvPr id="3093" name="Line 20"/>
              <p:cNvSpPr>
                <a:spLocks noChangeShapeType="1"/>
              </p:cNvSpPr>
              <p:nvPr/>
            </p:nvSpPr>
            <p:spPr bwMode="auto">
              <a:xfrm>
                <a:off x="366" y="132"/>
                <a:ext cx="99" cy="0"/>
              </a:xfrm>
              <a:prstGeom prst="line">
                <a:avLst/>
              </a:prstGeom>
              <a:noFill/>
              <a:ln w="38100" cap="sq" cmpd="sng">
                <a:solidFill>
                  <a:srgbClr val="9933FF"/>
                </a:solidFill>
                <a:round/>
                <a:headEnd/>
                <a:tailEnd/>
              </a:ln>
            </p:spPr>
            <p:txBody>
              <a:bodyPr>
                <a:spAutoFit/>
              </a:bodyPr>
              <a:lstStyle/>
              <a:p>
                <a:endParaRPr lang="en-GB"/>
              </a:p>
            </p:txBody>
          </p:sp>
        </p:grpSp>
        <p:sp>
          <p:nvSpPr>
            <p:cNvPr id="3094" name="Line 21"/>
            <p:cNvSpPr>
              <a:spLocks noChangeShapeType="1"/>
            </p:cNvSpPr>
            <p:nvPr/>
          </p:nvSpPr>
          <p:spPr bwMode="auto">
            <a:xfrm>
              <a:off x="1668" y="23"/>
              <a:ext cx="0" cy="1147"/>
            </a:xfrm>
            <a:prstGeom prst="line">
              <a:avLst/>
            </a:prstGeom>
            <a:noFill/>
            <a:ln w="28575" cmpd="sng">
              <a:solidFill>
                <a:schemeClr val="tx1"/>
              </a:solidFill>
              <a:prstDash val="dash"/>
              <a:round/>
              <a:headEnd/>
              <a:tailEnd/>
            </a:ln>
          </p:spPr>
          <p:txBody>
            <a:bodyPr>
              <a:spAutoFit/>
            </a:bodyPr>
            <a:lstStyle/>
            <a:p>
              <a:endParaRPr lang="en-GB"/>
            </a:p>
          </p:txBody>
        </p:sp>
        <p:grpSp>
          <p:nvGrpSpPr>
            <p:cNvPr id="4" name="Group 23"/>
            <p:cNvGrpSpPr>
              <a:grpSpLocks/>
            </p:cNvGrpSpPr>
            <p:nvPr/>
          </p:nvGrpSpPr>
          <p:grpSpPr bwMode="auto">
            <a:xfrm>
              <a:off x="5040" y="854"/>
              <a:ext cx="465" cy="132"/>
              <a:chOff x="0" y="0"/>
              <a:chExt cx="465" cy="132"/>
            </a:xfrm>
          </p:grpSpPr>
          <p:sp>
            <p:nvSpPr>
              <p:cNvPr id="3096" name="Line 23"/>
              <p:cNvSpPr>
                <a:spLocks noChangeShapeType="1"/>
              </p:cNvSpPr>
              <p:nvPr/>
            </p:nvSpPr>
            <p:spPr bwMode="auto">
              <a:xfrm>
                <a:off x="0" y="132"/>
                <a:ext cx="99" cy="0"/>
              </a:xfrm>
              <a:prstGeom prst="line">
                <a:avLst/>
              </a:prstGeom>
              <a:noFill/>
              <a:ln w="38100" cap="sq" cmpd="sng">
                <a:solidFill>
                  <a:srgbClr val="9900CC"/>
                </a:solidFill>
                <a:round/>
                <a:headEnd/>
                <a:tailEnd/>
              </a:ln>
            </p:spPr>
            <p:txBody>
              <a:bodyPr>
                <a:spAutoFit/>
              </a:bodyPr>
              <a:lstStyle/>
              <a:p>
                <a:endParaRPr lang="en-GB"/>
              </a:p>
            </p:txBody>
          </p:sp>
          <p:sp>
            <p:nvSpPr>
              <p:cNvPr id="3097" name="Line 24"/>
              <p:cNvSpPr>
                <a:spLocks noChangeShapeType="1"/>
              </p:cNvSpPr>
              <p:nvPr/>
            </p:nvSpPr>
            <p:spPr bwMode="auto">
              <a:xfrm flipV="1">
                <a:off x="99" y="0"/>
                <a:ext cx="0" cy="132"/>
              </a:xfrm>
              <a:prstGeom prst="line">
                <a:avLst/>
              </a:prstGeom>
              <a:noFill/>
              <a:ln w="38100" cap="sq" cmpd="sng">
                <a:solidFill>
                  <a:srgbClr val="9900CC"/>
                </a:solidFill>
                <a:round/>
                <a:headEnd/>
                <a:tailEnd/>
              </a:ln>
            </p:spPr>
            <p:txBody>
              <a:bodyPr>
                <a:spAutoFit/>
              </a:bodyPr>
              <a:lstStyle/>
              <a:p>
                <a:endParaRPr lang="en-GB"/>
              </a:p>
            </p:txBody>
          </p:sp>
          <p:sp>
            <p:nvSpPr>
              <p:cNvPr id="3098" name="Line 25"/>
              <p:cNvSpPr>
                <a:spLocks noChangeShapeType="1"/>
              </p:cNvSpPr>
              <p:nvPr/>
            </p:nvSpPr>
            <p:spPr bwMode="auto">
              <a:xfrm>
                <a:off x="99" y="0"/>
                <a:ext cx="90" cy="0"/>
              </a:xfrm>
              <a:prstGeom prst="line">
                <a:avLst/>
              </a:prstGeom>
              <a:noFill/>
              <a:ln w="38100" cap="sq" cmpd="sng">
                <a:solidFill>
                  <a:srgbClr val="9900CC"/>
                </a:solidFill>
                <a:round/>
                <a:headEnd/>
                <a:tailEnd/>
              </a:ln>
            </p:spPr>
            <p:txBody>
              <a:bodyPr>
                <a:spAutoFit/>
              </a:bodyPr>
              <a:lstStyle/>
              <a:p>
                <a:endParaRPr lang="en-GB"/>
              </a:p>
            </p:txBody>
          </p:sp>
          <p:sp>
            <p:nvSpPr>
              <p:cNvPr id="3099" name="Line 26"/>
              <p:cNvSpPr>
                <a:spLocks noChangeShapeType="1"/>
              </p:cNvSpPr>
              <p:nvPr/>
            </p:nvSpPr>
            <p:spPr bwMode="auto">
              <a:xfrm>
                <a:off x="189" y="0"/>
                <a:ext cx="0" cy="132"/>
              </a:xfrm>
              <a:prstGeom prst="line">
                <a:avLst/>
              </a:prstGeom>
              <a:noFill/>
              <a:ln w="38100" cap="sq" cmpd="sng">
                <a:solidFill>
                  <a:srgbClr val="9900CC"/>
                </a:solidFill>
                <a:round/>
                <a:headEnd/>
                <a:tailEnd/>
              </a:ln>
            </p:spPr>
            <p:txBody>
              <a:bodyPr>
                <a:spAutoFit/>
              </a:bodyPr>
              <a:lstStyle/>
              <a:p>
                <a:endParaRPr lang="en-GB"/>
              </a:p>
            </p:txBody>
          </p:sp>
          <p:sp>
            <p:nvSpPr>
              <p:cNvPr id="3100" name="Line 27"/>
              <p:cNvSpPr>
                <a:spLocks noChangeShapeType="1"/>
              </p:cNvSpPr>
              <p:nvPr/>
            </p:nvSpPr>
            <p:spPr bwMode="auto">
              <a:xfrm>
                <a:off x="189" y="132"/>
                <a:ext cx="87" cy="0"/>
              </a:xfrm>
              <a:prstGeom prst="line">
                <a:avLst/>
              </a:prstGeom>
              <a:noFill/>
              <a:ln w="38100" cap="sq" cmpd="sng">
                <a:solidFill>
                  <a:srgbClr val="9900CC"/>
                </a:solidFill>
                <a:round/>
                <a:headEnd/>
                <a:tailEnd/>
              </a:ln>
            </p:spPr>
            <p:txBody>
              <a:bodyPr>
                <a:spAutoFit/>
              </a:bodyPr>
              <a:lstStyle/>
              <a:p>
                <a:endParaRPr lang="en-GB"/>
              </a:p>
            </p:txBody>
          </p:sp>
          <p:sp>
            <p:nvSpPr>
              <p:cNvPr id="3101" name="Line 28"/>
              <p:cNvSpPr>
                <a:spLocks noChangeShapeType="1"/>
              </p:cNvSpPr>
              <p:nvPr/>
            </p:nvSpPr>
            <p:spPr bwMode="auto">
              <a:xfrm flipV="1">
                <a:off x="276" y="0"/>
                <a:ext cx="0" cy="132"/>
              </a:xfrm>
              <a:prstGeom prst="line">
                <a:avLst/>
              </a:prstGeom>
              <a:noFill/>
              <a:ln w="38100" cap="sq" cmpd="sng">
                <a:solidFill>
                  <a:srgbClr val="9900CC"/>
                </a:solidFill>
                <a:round/>
                <a:headEnd/>
                <a:tailEnd/>
              </a:ln>
            </p:spPr>
            <p:txBody>
              <a:bodyPr>
                <a:spAutoFit/>
              </a:bodyPr>
              <a:lstStyle/>
              <a:p>
                <a:endParaRPr lang="en-GB"/>
              </a:p>
            </p:txBody>
          </p:sp>
          <p:sp>
            <p:nvSpPr>
              <p:cNvPr id="3102" name="Line 29"/>
              <p:cNvSpPr>
                <a:spLocks noChangeShapeType="1"/>
              </p:cNvSpPr>
              <p:nvPr/>
            </p:nvSpPr>
            <p:spPr bwMode="auto">
              <a:xfrm>
                <a:off x="276" y="0"/>
                <a:ext cx="90" cy="0"/>
              </a:xfrm>
              <a:prstGeom prst="line">
                <a:avLst/>
              </a:prstGeom>
              <a:noFill/>
              <a:ln w="38100" cap="sq" cmpd="sng">
                <a:solidFill>
                  <a:srgbClr val="9900CC"/>
                </a:solidFill>
                <a:round/>
                <a:headEnd/>
                <a:tailEnd/>
              </a:ln>
            </p:spPr>
            <p:txBody>
              <a:bodyPr>
                <a:spAutoFit/>
              </a:bodyPr>
              <a:lstStyle/>
              <a:p>
                <a:endParaRPr lang="en-GB"/>
              </a:p>
            </p:txBody>
          </p:sp>
          <p:sp>
            <p:nvSpPr>
              <p:cNvPr id="3103" name="Line 30"/>
              <p:cNvSpPr>
                <a:spLocks noChangeShapeType="1"/>
              </p:cNvSpPr>
              <p:nvPr/>
            </p:nvSpPr>
            <p:spPr bwMode="auto">
              <a:xfrm>
                <a:off x="366" y="0"/>
                <a:ext cx="0" cy="132"/>
              </a:xfrm>
              <a:prstGeom prst="line">
                <a:avLst/>
              </a:prstGeom>
              <a:noFill/>
              <a:ln w="38100" cap="sq" cmpd="sng">
                <a:solidFill>
                  <a:srgbClr val="9900CC"/>
                </a:solidFill>
                <a:round/>
                <a:headEnd/>
                <a:tailEnd/>
              </a:ln>
            </p:spPr>
            <p:txBody>
              <a:bodyPr>
                <a:spAutoFit/>
              </a:bodyPr>
              <a:lstStyle/>
              <a:p>
                <a:endParaRPr lang="en-GB"/>
              </a:p>
            </p:txBody>
          </p:sp>
          <p:sp>
            <p:nvSpPr>
              <p:cNvPr id="3104" name="Line 31"/>
              <p:cNvSpPr>
                <a:spLocks noChangeShapeType="1"/>
              </p:cNvSpPr>
              <p:nvPr/>
            </p:nvSpPr>
            <p:spPr bwMode="auto">
              <a:xfrm>
                <a:off x="366" y="132"/>
                <a:ext cx="99" cy="0"/>
              </a:xfrm>
              <a:prstGeom prst="line">
                <a:avLst/>
              </a:prstGeom>
              <a:noFill/>
              <a:ln w="38100" cap="sq" cmpd="sng">
                <a:solidFill>
                  <a:srgbClr val="9900CC"/>
                </a:solidFill>
                <a:round/>
                <a:headEnd/>
                <a:tailEnd/>
              </a:ln>
            </p:spPr>
            <p:txBody>
              <a:bodyPr>
                <a:spAutoFit/>
              </a:bodyPr>
              <a:lstStyle/>
              <a:p>
                <a:endParaRPr lang="en-GB"/>
              </a:p>
            </p:txBody>
          </p:sp>
        </p:grpSp>
        <p:sp>
          <p:nvSpPr>
            <p:cNvPr id="3105" name="AutoShape 32"/>
            <p:cNvSpPr>
              <a:spLocks noChangeArrowheads="1"/>
            </p:cNvSpPr>
            <p:nvPr/>
          </p:nvSpPr>
          <p:spPr bwMode="auto">
            <a:xfrm rot="5400000">
              <a:off x="3780" y="417"/>
              <a:ext cx="354" cy="426"/>
            </a:xfrm>
            <a:prstGeom prst="triangle">
              <a:avLst>
                <a:gd name="adj" fmla="val 50000"/>
              </a:avLst>
            </a:prstGeom>
            <a:solidFill>
              <a:srgbClr val="9933FF"/>
            </a:solidFill>
            <a:ln w="9525">
              <a:noFill/>
              <a:miter lim="800000"/>
              <a:headEnd/>
              <a:tailEnd/>
            </a:ln>
          </p:spPr>
          <p:txBody>
            <a:bodyPr anchor="ctr">
              <a:spAutoFit/>
            </a:bodyPr>
            <a:lstStyle/>
            <a:p>
              <a:endParaRPr lang="zh-CN" altLang="en-US"/>
            </a:p>
          </p:txBody>
        </p:sp>
        <p:sp>
          <p:nvSpPr>
            <p:cNvPr id="3106" name="Line 33"/>
            <p:cNvSpPr>
              <a:spLocks noChangeShapeType="1"/>
            </p:cNvSpPr>
            <p:nvPr/>
          </p:nvSpPr>
          <p:spPr bwMode="auto">
            <a:xfrm>
              <a:off x="3744" y="630"/>
              <a:ext cx="294" cy="0"/>
            </a:xfrm>
            <a:prstGeom prst="line">
              <a:avLst/>
            </a:prstGeom>
            <a:noFill/>
            <a:ln w="28575" cap="sq" cmpd="sng">
              <a:solidFill>
                <a:schemeClr val="tx2"/>
              </a:solidFill>
              <a:round/>
              <a:headEnd/>
              <a:tailEnd type="triangle" w="med" len="med"/>
            </a:ln>
          </p:spPr>
          <p:txBody>
            <a:bodyPr>
              <a:spAutoFit/>
            </a:bodyPr>
            <a:lstStyle/>
            <a:p>
              <a:endParaRPr lang="en-GB"/>
            </a:p>
          </p:txBody>
        </p:sp>
        <p:sp>
          <p:nvSpPr>
            <p:cNvPr id="3107" name="Line 34"/>
            <p:cNvSpPr>
              <a:spLocks noChangeShapeType="1"/>
            </p:cNvSpPr>
            <p:nvPr/>
          </p:nvSpPr>
          <p:spPr bwMode="auto">
            <a:xfrm>
              <a:off x="4170" y="630"/>
              <a:ext cx="198" cy="0"/>
            </a:xfrm>
            <a:prstGeom prst="line">
              <a:avLst/>
            </a:prstGeom>
            <a:noFill/>
            <a:ln w="28575" cap="sq" cmpd="sng">
              <a:solidFill>
                <a:schemeClr val="tx2"/>
              </a:solidFill>
              <a:round/>
              <a:headEnd/>
              <a:tailEnd type="triangle" w="med" len="med"/>
            </a:ln>
          </p:spPr>
          <p:txBody>
            <a:bodyPr>
              <a:spAutoFit/>
            </a:bodyPr>
            <a:lstStyle/>
            <a:p>
              <a:endParaRPr lang="en-GB"/>
            </a:p>
          </p:txBody>
        </p:sp>
        <p:sp>
          <p:nvSpPr>
            <p:cNvPr id="3108" name="Rectangle 35"/>
            <p:cNvSpPr>
              <a:spLocks noChangeArrowheads="1"/>
            </p:cNvSpPr>
            <p:nvPr/>
          </p:nvSpPr>
          <p:spPr bwMode="auto">
            <a:xfrm>
              <a:off x="4375" y="517"/>
              <a:ext cx="599" cy="250"/>
            </a:xfrm>
            <a:prstGeom prst="rect">
              <a:avLst/>
            </a:prstGeom>
            <a:solidFill>
              <a:srgbClr val="CCFFCC"/>
            </a:solidFill>
            <a:ln w="9525">
              <a:noFill/>
              <a:miter lim="800000"/>
              <a:headEnd/>
              <a:tailEnd/>
            </a:ln>
          </p:spPr>
          <p:txBody>
            <a:bodyPr wrap="none" anchor="ctr">
              <a:spAutoFit/>
            </a:bodyPr>
            <a:lstStyle/>
            <a:p>
              <a:pPr algn="ctr">
                <a:spcBef>
                  <a:spcPct val="50000"/>
                </a:spcBef>
                <a:buClrTx/>
                <a:buSzTx/>
                <a:buFont typeface="Wingdings" pitchFamily="2" charset="2"/>
                <a:buNone/>
              </a:pPr>
              <a:r>
                <a:rPr lang="zh-CN" altLang="en-US" sz="2000">
                  <a:latin typeface="Times New Roman" pitchFamily="18" charset="0"/>
                  <a:ea typeface="黑体" pitchFamily="1" charset="-122"/>
                </a:rPr>
                <a:t>Amplifier</a:t>
              </a:r>
            </a:p>
          </p:txBody>
        </p:sp>
        <p:sp>
          <p:nvSpPr>
            <p:cNvPr id="3109" name="Text Box 36"/>
            <p:cNvSpPr txBox="1">
              <a:spLocks noChangeArrowheads="1"/>
            </p:cNvSpPr>
            <p:nvPr/>
          </p:nvSpPr>
          <p:spPr bwMode="auto">
            <a:xfrm>
              <a:off x="3618" y="63"/>
              <a:ext cx="750" cy="442"/>
            </a:xfrm>
            <a:prstGeom prst="rect">
              <a:avLst/>
            </a:prstGeom>
            <a:noFill/>
            <a:ln w="9525">
              <a:noFill/>
              <a:miter lim="800000"/>
              <a:headEnd/>
              <a:tailEnd/>
            </a:ln>
          </p:spPr>
          <p:txBody>
            <a:bodyPr>
              <a:spAutoFit/>
            </a:bodyPr>
            <a:lstStyle/>
            <a:p>
              <a:pPr algn="ctr">
                <a:spcBef>
                  <a:spcPct val="50000"/>
                </a:spcBef>
                <a:buClrTx/>
                <a:buSzTx/>
                <a:buFont typeface="Wingdings" pitchFamily="2" charset="2"/>
                <a:buNone/>
              </a:pPr>
              <a:r>
                <a:rPr lang="zh-CN" altLang="en-US" sz="1600">
                  <a:latin typeface="Times New Roman" pitchFamily="18" charset="0"/>
                  <a:ea typeface="黑体" pitchFamily="1" charset="-122"/>
                </a:rPr>
                <a:t>Photodiode</a:t>
              </a:r>
            </a:p>
          </p:txBody>
        </p:sp>
        <p:sp>
          <p:nvSpPr>
            <p:cNvPr id="3110" name="Text Box 37"/>
            <p:cNvSpPr txBox="1">
              <a:spLocks noChangeArrowheads="1"/>
            </p:cNvSpPr>
            <p:nvPr/>
          </p:nvSpPr>
          <p:spPr bwMode="auto">
            <a:xfrm>
              <a:off x="4368" y="920"/>
              <a:ext cx="672" cy="250"/>
            </a:xfrm>
            <a:prstGeom prst="rect">
              <a:avLst/>
            </a:prstGeom>
            <a:solidFill>
              <a:srgbClr val="CCFFCC"/>
            </a:solidFill>
            <a:ln w="9525">
              <a:noFill/>
              <a:miter lim="800000"/>
              <a:headEnd/>
              <a:tailEnd/>
            </a:ln>
          </p:spPr>
          <p:txBody>
            <a:bodyPr>
              <a:spAutoFit/>
            </a:bodyPr>
            <a:lstStyle/>
            <a:p>
              <a:pPr algn="ctr">
                <a:spcBef>
                  <a:spcPct val="50000"/>
                </a:spcBef>
                <a:buClrTx/>
                <a:buSzTx/>
                <a:buFont typeface="Wingdings" pitchFamily="2" charset="2"/>
                <a:buNone/>
              </a:pPr>
              <a:r>
                <a:rPr lang="zh-CN" altLang="en-US" sz="2000">
                  <a:latin typeface="Times New Roman" pitchFamily="18" charset="0"/>
                  <a:ea typeface="黑体" pitchFamily="1" charset="-122"/>
                </a:rPr>
                <a:t>Decider</a:t>
              </a:r>
            </a:p>
          </p:txBody>
        </p:sp>
        <p:sp>
          <p:nvSpPr>
            <p:cNvPr id="3111" name="Line 38"/>
            <p:cNvSpPr>
              <a:spLocks noChangeShapeType="1"/>
            </p:cNvSpPr>
            <p:nvPr/>
          </p:nvSpPr>
          <p:spPr bwMode="auto">
            <a:xfrm>
              <a:off x="4638" y="767"/>
              <a:ext cx="0" cy="153"/>
            </a:xfrm>
            <a:prstGeom prst="line">
              <a:avLst/>
            </a:prstGeom>
            <a:noFill/>
            <a:ln w="28575" cap="sq" cmpd="sng">
              <a:solidFill>
                <a:schemeClr val="tx2"/>
              </a:solidFill>
              <a:round/>
              <a:headEnd/>
              <a:tailEnd type="triangle" w="med" len="med"/>
            </a:ln>
          </p:spPr>
          <p:txBody>
            <a:bodyPr>
              <a:spAutoFit/>
            </a:bodyPr>
            <a:lstStyle/>
            <a:p>
              <a:endParaRPr lang="en-GB"/>
            </a:p>
          </p:txBody>
        </p:sp>
        <p:sp>
          <p:nvSpPr>
            <p:cNvPr id="3112" name="Line 39"/>
            <p:cNvSpPr>
              <a:spLocks noChangeShapeType="1"/>
            </p:cNvSpPr>
            <p:nvPr/>
          </p:nvSpPr>
          <p:spPr bwMode="auto">
            <a:xfrm>
              <a:off x="5040" y="1051"/>
              <a:ext cx="300" cy="0"/>
            </a:xfrm>
            <a:prstGeom prst="line">
              <a:avLst/>
            </a:prstGeom>
            <a:noFill/>
            <a:ln w="28575" cap="sq" cmpd="sng">
              <a:solidFill>
                <a:schemeClr val="tx2"/>
              </a:solidFill>
              <a:round/>
              <a:headEnd/>
              <a:tailEnd type="triangle" w="med" len="med"/>
            </a:ln>
          </p:spPr>
          <p:txBody>
            <a:bodyPr>
              <a:spAutoFit/>
            </a:bodyPr>
            <a:lstStyle/>
            <a:p>
              <a:endParaRPr lang="en-GB"/>
            </a:p>
          </p:txBody>
        </p:sp>
        <p:sp>
          <p:nvSpPr>
            <p:cNvPr id="3113" name="Line 40"/>
            <p:cNvSpPr>
              <a:spLocks noChangeShapeType="1"/>
            </p:cNvSpPr>
            <p:nvPr/>
          </p:nvSpPr>
          <p:spPr bwMode="auto">
            <a:xfrm flipH="1">
              <a:off x="3624" y="0"/>
              <a:ext cx="0" cy="1170"/>
            </a:xfrm>
            <a:prstGeom prst="line">
              <a:avLst/>
            </a:prstGeom>
            <a:noFill/>
            <a:ln w="28575" cmpd="sng">
              <a:solidFill>
                <a:schemeClr val="tx1"/>
              </a:solidFill>
              <a:prstDash val="dash"/>
              <a:round/>
              <a:headEnd/>
              <a:tailEnd/>
            </a:ln>
          </p:spPr>
          <p:txBody>
            <a:bodyPr>
              <a:spAutoFit/>
            </a:bodyPr>
            <a:lstStyle/>
            <a:p>
              <a:endParaRPr lang="en-GB"/>
            </a:p>
          </p:txBody>
        </p:sp>
        <p:grpSp>
          <p:nvGrpSpPr>
            <p:cNvPr id="5" name="Group 42"/>
            <p:cNvGrpSpPr>
              <a:grpSpLocks/>
            </p:cNvGrpSpPr>
            <p:nvPr/>
          </p:nvGrpSpPr>
          <p:grpSpPr bwMode="auto">
            <a:xfrm>
              <a:off x="1521" y="232"/>
              <a:ext cx="2223" cy="688"/>
              <a:chOff x="0" y="0"/>
              <a:chExt cx="2223" cy="688"/>
            </a:xfrm>
          </p:grpSpPr>
          <p:sp>
            <p:nvSpPr>
              <p:cNvPr id="3115" name="Oval 42"/>
              <p:cNvSpPr>
                <a:spLocks noChangeArrowheads="1"/>
              </p:cNvSpPr>
              <p:nvPr/>
            </p:nvSpPr>
            <p:spPr bwMode="auto">
              <a:xfrm>
                <a:off x="279" y="81"/>
                <a:ext cx="168" cy="297"/>
              </a:xfrm>
              <a:prstGeom prst="ellipse">
                <a:avLst/>
              </a:prstGeom>
              <a:noFill/>
              <a:ln w="28575" cap="sq" cmpd="sng">
                <a:solidFill>
                  <a:srgbClr val="FF0000"/>
                </a:solidFill>
                <a:round/>
                <a:headEnd/>
                <a:tailEnd/>
              </a:ln>
            </p:spPr>
            <p:txBody>
              <a:bodyPr anchor="ctr">
                <a:spAutoFit/>
              </a:bodyPr>
              <a:lstStyle/>
              <a:p>
                <a:endParaRPr lang="zh-CN" altLang="en-US"/>
              </a:p>
            </p:txBody>
          </p:sp>
          <p:sp>
            <p:nvSpPr>
              <p:cNvPr id="3116" name="Oval 43"/>
              <p:cNvSpPr>
                <a:spLocks noChangeArrowheads="1"/>
              </p:cNvSpPr>
              <p:nvPr/>
            </p:nvSpPr>
            <p:spPr bwMode="auto">
              <a:xfrm>
                <a:off x="1755" y="101"/>
                <a:ext cx="168" cy="297"/>
              </a:xfrm>
              <a:prstGeom prst="ellipse">
                <a:avLst/>
              </a:prstGeom>
              <a:noFill/>
              <a:ln w="28575" cap="sq" cmpd="sng">
                <a:solidFill>
                  <a:srgbClr val="FF0000"/>
                </a:solidFill>
                <a:round/>
                <a:headEnd/>
                <a:tailEnd/>
              </a:ln>
            </p:spPr>
            <p:txBody>
              <a:bodyPr anchor="ctr">
                <a:spAutoFit/>
              </a:bodyPr>
              <a:lstStyle/>
              <a:p>
                <a:endParaRPr lang="zh-CN" altLang="en-US"/>
              </a:p>
            </p:txBody>
          </p:sp>
          <p:grpSp>
            <p:nvGrpSpPr>
              <p:cNvPr id="6" name="Group 45"/>
              <p:cNvGrpSpPr>
                <a:grpSpLocks/>
              </p:cNvGrpSpPr>
              <p:nvPr/>
            </p:nvGrpSpPr>
            <p:grpSpPr bwMode="auto">
              <a:xfrm>
                <a:off x="0" y="0"/>
                <a:ext cx="2223" cy="688"/>
                <a:chOff x="0" y="0"/>
                <a:chExt cx="2223" cy="688"/>
              </a:xfrm>
            </p:grpSpPr>
            <p:sp>
              <p:nvSpPr>
                <p:cNvPr id="3118" name="Line 45"/>
                <p:cNvSpPr>
                  <a:spLocks noChangeShapeType="1"/>
                </p:cNvSpPr>
                <p:nvPr/>
              </p:nvSpPr>
              <p:spPr bwMode="auto">
                <a:xfrm>
                  <a:off x="0" y="398"/>
                  <a:ext cx="2223" cy="0"/>
                </a:xfrm>
                <a:prstGeom prst="line">
                  <a:avLst/>
                </a:prstGeom>
                <a:noFill/>
                <a:ln w="28575" cap="sq" cmpd="sng">
                  <a:solidFill>
                    <a:srgbClr val="FF0000"/>
                  </a:solidFill>
                  <a:round/>
                  <a:headEnd/>
                  <a:tailEnd/>
                </a:ln>
              </p:spPr>
              <p:txBody>
                <a:bodyPr>
                  <a:spAutoFit/>
                </a:bodyPr>
                <a:lstStyle/>
                <a:p>
                  <a:endParaRPr lang="en-GB"/>
                </a:p>
              </p:txBody>
            </p:sp>
            <p:sp>
              <p:nvSpPr>
                <p:cNvPr id="3119" name="Oval 46"/>
                <p:cNvSpPr>
                  <a:spLocks noChangeArrowheads="1"/>
                </p:cNvSpPr>
                <p:nvPr/>
              </p:nvSpPr>
              <p:spPr bwMode="auto">
                <a:xfrm>
                  <a:off x="327" y="81"/>
                  <a:ext cx="168" cy="297"/>
                </a:xfrm>
                <a:prstGeom prst="ellipse">
                  <a:avLst/>
                </a:prstGeom>
                <a:noFill/>
                <a:ln w="28575" cap="sq" cmpd="sng">
                  <a:solidFill>
                    <a:srgbClr val="FF0000"/>
                  </a:solidFill>
                  <a:round/>
                  <a:headEnd/>
                  <a:tailEnd/>
                </a:ln>
              </p:spPr>
              <p:txBody>
                <a:bodyPr anchor="ctr">
                  <a:spAutoFit/>
                </a:bodyPr>
                <a:lstStyle/>
                <a:p>
                  <a:endParaRPr lang="zh-CN" altLang="en-US"/>
                </a:p>
              </p:txBody>
            </p:sp>
            <p:sp>
              <p:nvSpPr>
                <p:cNvPr id="3120" name="Text Box 47"/>
                <p:cNvSpPr txBox="1">
                  <a:spLocks noChangeArrowheads="1"/>
                </p:cNvSpPr>
                <p:nvPr/>
              </p:nvSpPr>
              <p:spPr bwMode="auto">
                <a:xfrm>
                  <a:off x="198" y="418"/>
                  <a:ext cx="498" cy="250"/>
                </a:xfrm>
                <a:prstGeom prst="rect">
                  <a:avLst/>
                </a:prstGeom>
                <a:noFill/>
                <a:ln w="9525">
                  <a:noFill/>
                  <a:miter lim="800000"/>
                  <a:headEnd/>
                  <a:tailEnd/>
                </a:ln>
              </p:spPr>
              <p:txBody>
                <a:bodyPr>
                  <a:spAutoFit/>
                </a:bodyPr>
                <a:lstStyle/>
                <a:p>
                  <a:pPr algn="ctr">
                    <a:spcBef>
                      <a:spcPct val="50000"/>
                    </a:spcBef>
                    <a:buClrTx/>
                    <a:buSzTx/>
                    <a:buFont typeface="Wingdings" pitchFamily="2" charset="2"/>
                    <a:buNone/>
                  </a:pPr>
                  <a:r>
                    <a:rPr lang="zh-CN" altLang="en-US" sz="2000">
                      <a:effectLst>
                        <a:outerShdw blurRad="38100" dist="38100" dir="2700000" algn="tl">
                          <a:srgbClr val="C0C0C0"/>
                        </a:outerShdw>
                      </a:effectLst>
                      <a:latin typeface="Times New Roman" pitchFamily="18" charset="0"/>
                      <a:ea typeface="黑体" pitchFamily="1" charset="-122"/>
                    </a:rPr>
                    <a:t>Fiber</a:t>
                  </a:r>
                </a:p>
              </p:txBody>
            </p:sp>
            <p:sp>
              <p:nvSpPr>
                <p:cNvPr id="3121" name="Oval 48"/>
                <p:cNvSpPr>
                  <a:spLocks noChangeArrowheads="1"/>
                </p:cNvSpPr>
                <p:nvPr/>
              </p:nvSpPr>
              <p:spPr bwMode="auto">
                <a:xfrm>
                  <a:off x="1707" y="101"/>
                  <a:ext cx="168" cy="297"/>
                </a:xfrm>
                <a:prstGeom prst="ellipse">
                  <a:avLst/>
                </a:prstGeom>
                <a:noFill/>
                <a:ln w="28575" cap="sq" cmpd="sng">
                  <a:solidFill>
                    <a:srgbClr val="FF0000"/>
                  </a:solidFill>
                  <a:round/>
                  <a:headEnd/>
                  <a:tailEnd/>
                </a:ln>
              </p:spPr>
              <p:txBody>
                <a:bodyPr anchor="ctr">
                  <a:spAutoFit/>
                </a:bodyPr>
                <a:lstStyle/>
                <a:p>
                  <a:endParaRPr lang="zh-CN" altLang="en-US"/>
                </a:p>
              </p:txBody>
            </p:sp>
            <p:sp>
              <p:nvSpPr>
                <p:cNvPr id="3122" name="Text Box 49"/>
                <p:cNvSpPr txBox="1">
                  <a:spLocks noChangeArrowheads="1"/>
                </p:cNvSpPr>
                <p:nvPr/>
              </p:nvSpPr>
              <p:spPr bwMode="auto">
                <a:xfrm>
                  <a:off x="1626" y="438"/>
                  <a:ext cx="498" cy="250"/>
                </a:xfrm>
                <a:prstGeom prst="rect">
                  <a:avLst/>
                </a:prstGeom>
                <a:noFill/>
                <a:ln w="9525">
                  <a:noFill/>
                  <a:miter lim="800000"/>
                  <a:headEnd/>
                  <a:tailEnd/>
                </a:ln>
              </p:spPr>
              <p:txBody>
                <a:bodyPr>
                  <a:spAutoFit/>
                </a:bodyPr>
                <a:lstStyle/>
                <a:p>
                  <a:pPr algn="ctr">
                    <a:spcBef>
                      <a:spcPct val="50000"/>
                    </a:spcBef>
                    <a:buClrTx/>
                    <a:buSzTx/>
                    <a:buFont typeface="Wingdings" pitchFamily="2" charset="2"/>
                    <a:buNone/>
                  </a:pPr>
                  <a:r>
                    <a:rPr lang="zh-CN" altLang="en-US" sz="2000">
                      <a:effectLst>
                        <a:outerShdw blurRad="38100" dist="38100" dir="2700000" algn="tl">
                          <a:srgbClr val="C0C0C0"/>
                        </a:outerShdw>
                      </a:effectLst>
                      <a:latin typeface="Times New Roman" pitchFamily="18" charset="0"/>
                      <a:ea typeface="黑体" pitchFamily="1" charset="-122"/>
                    </a:rPr>
                    <a:t>Fiber</a:t>
                  </a:r>
                </a:p>
              </p:txBody>
            </p:sp>
            <p:sp>
              <p:nvSpPr>
                <p:cNvPr id="3123" name="AutoShape 50"/>
                <p:cNvSpPr>
                  <a:spLocks noChangeArrowheads="1"/>
                </p:cNvSpPr>
                <p:nvPr/>
              </p:nvSpPr>
              <p:spPr bwMode="auto">
                <a:xfrm rot="5400000">
                  <a:off x="1027" y="245"/>
                  <a:ext cx="295" cy="300"/>
                </a:xfrm>
                <a:prstGeom prst="triangle">
                  <a:avLst>
                    <a:gd name="adj" fmla="val 50000"/>
                  </a:avLst>
                </a:prstGeom>
                <a:solidFill>
                  <a:schemeClr val="tx2"/>
                </a:solidFill>
                <a:ln w="9525">
                  <a:noFill/>
                  <a:miter lim="800000"/>
                  <a:headEnd/>
                  <a:tailEnd/>
                </a:ln>
              </p:spPr>
              <p:txBody>
                <a:bodyPr anchor="ctr">
                  <a:spAutoFit/>
                </a:bodyPr>
                <a:lstStyle/>
                <a:p>
                  <a:endParaRPr lang="zh-CN" altLang="en-US"/>
                </a:p>
              </p:txBody>
            </p:sp>
            <p:sp>
              <p:nvSpPr>
                <p:cNvPr id="3124" name="Text Box 51"/>
                <p:cNvSpPr txBox="1">
                  <a:spLocks noChangeArrowheads="1"/>
                </p:cNvSpPr>
                <p:nvPr/>
              </p:nvSpPr>
              <p:spPr bwMode="auto">
                <a:xfrm>
                  <a:off x="817" y="0"/>
                  <a:ext cx="722" cy="250"/>
                </a:xfrm>
                <a:prstGeom prst="rect">
                  <a:avLst/>
                </a:prstGeom>
                <a:noFill/>
                <a:ln w="9525">
                  <a:noFill/>
                  <a:miter lim="800000"/>
                  <a:headEnd/>
                  <a:tailEnd/>
                </a:ln>
              </p:spPr>
              <p:txBody>
                <a:bodyPr>
                  <a:spAutoFit/>
                </a:bodyPr>
                <a:lstStyle/>
                <a:p>
                  <a:pPr algn="ctr">
                    <a:spcBef>
                      <a:spcPct val="50000"/>
                    </a:spcBef>
                    <a:buClrTx/>
                    <a:buSzTx/>
                    <a:buFont typeface="Wingdings" pitchFamily="2" charset="2"/>
                    <a:buNone/>
                  </a:pPr>
                  <a:r>
                    <a:rPr lang="zh-CN" altLang="en-US" sz="1800">
                      <a:solidFill>
                        <a:schemeClr val="tx2"/>
                      </a:solidFill>
                      <a:effectLst>
                        <a:outerShdw blurRad="38100" dist="38100" dir="2700000" algn="tl">
                          <a:srgbClr val="C0C0C0"/>
                        </a:outerShdw>
                      </a:effectLst>
                      <a:latin typeface="Times New Roman" pitchFamily="18" charset="0"/>
                      <a:ea typeface="黑体" pitchFamily="1" charset="-122"/>
                    </a:rPr>
                    <a:t>Repeater</a:t>
                  </a:r>
                </a:p>
              </p:txBody>
            </p:sp>
          </p:grpSp>
        </p:grpSp>
      </p:grpSp>
      <p:grpSp>
        <p:nvGrpSpPr>
          <p:cNvPr id="7" name="Group 53"/>
          <p:cNvGrpSpPr>
            <a:grpSpLocks/>
          </p:cNvGrpSpPr>
          <p:nvPr/>
        </p:nvGrpSpPr>
        <p:grpSpPr bwMode="auto">
          <a:xfrm>
            <a:off x="612775" y="3286125"/>
            <a:ext cx="8054975" cy="2663825"/>
            <a:chOff x="0" y="0"/>
            <a:chExt cx="4848" cy="1537"/>
          </a:xfrm>
        </p:grpSpPr>
        <p:sp>
          <p:nvSpPr>
            <p:cNvPr id="3126" name="Text Box 53"/>
            <p:cNvSpPr txBox="1">
              <a:spLocks noChangeArrowheads="1"/>
            </p:cNvSpPr>
            <p:nvPr/>
          </p:nvSpPr>
          <p:spPr bwMode="auto">
            <a:xfrm>
              <a:off x="0" y="672"/>
              <a:ext cx="3792" cy="865"/>
            </a:xfrm>
            <a:prstGeom prst="rect">
              <a:avLst/>
            </a:prstGeom>
            <a:solidFill>
              <a:schemeClr val="folHlink"/>
            </a:solidFill>
            <a:ln w="9525">
              <a:noFill/>
              <a:miter lim="800000"/>
              <a:headEnd/>
              <a:tailEnd/>
            </a:ln>
            <a:effectLst>
              <a:outerShdw dist="89803" dir="2700000" algn="ctr" rotWithShape="0">
                <a:schemeClr val="bg2"/>
              </a:outerShdw>
            </a:effectLst>
          </p:spPr>
          <p:txBody>
            <a:bodyPr>
              <a:spAutoFit/>
            </a:bodyPr>
            <a:lstStyle/>
            <a:p>
              <a:pPr>
                <a:spcBef>
                  <a:spcPct val="50000"/>
                </a:spcBef>
                <a:buClrTx/>
                <a:buSzTx/>
                <a:buFont typeface="Wingdings" pitchFamily="2" charset="2"/>
                <a:buNone/>
              </a:pPr>
              <a:r>
                <a:rPr lang="zh-CN" altLang="en-US" sz="2400">
                  <a:solidFill>
                    <a:srgbClr val="FFFF00"/>
                  </a:solidFill>
                  <a:effectLst>
                    <a:outerShdw blurRad="38100" dist="38100" dir="2700000" algn="tl">
                      <a:srgbClr val="000000"/>
                    </a:outerShdw>
                  </a:effectLst>
                  <a:latin typeface="Times New Roman" pitchFamily="18" charset="0"/>
                  <a:ea typeface="黑体" pitchFamily="1" charset="-122"/>
                </a:rPr>
                <a:t>The optical receiver is an important part of the optical fiber communication systems, and its role is to convert the optical signals back to electrical signals</a:t>
              </a:r>
            </a:p>
          </p:txBody>
        </p:sp>
        <p:sp>
          <p:nvSpPr>
            <p:cNvPr id="3127" name="AutoShape 54"/>
            <p:cNvSpPr>
              <a:spLocks noChangeArrowheads="1"/>
            </p:cNvSpPr>
            <p:nvPr/>
          </p:nvSpPr>
          <p:spPr bwMode="auto">
            <a:xfrm>
              <a:off x="3264" y="0"/>
              <a:ext cx="1584" cy="864"/>
            </a:xfrm>
            <a:prstGeom prst="irregularSeal1">
              <a:avLst/>
            </a:prstGeom>
            <a:solidFill>
              <a:schemeClr val="folHlink"/>
            </a:solidFill>
            <a:ln w="9525" cmpd="sng">
              <a:solidFill>
                <a:schemeClr val="tx1"/>
              </a:solidFill>
              <a:miter lim="800000"/>
              <a:headEnd/>
              <a:tailEnd/>
            </a:ln>
            <a:effectLst>
              <a:outerShdw dist="89803" dir="2700000" algn="ctr" rotWithShape="0">
                <a:schemeClr val="bg2"/>
              </a:outerShdw>
            </a:effectLst>
          </p:spPr>
          <p:txBody>
            <a:bodyPr wrap="none" anchor="ctr"/>
            <a:lstStyle/>
            <a:p>
              <a:pPr algn="ctr">
                <a:spcBef>
                  <a:spcPct val="0"/>
                </a:spcBef>
                <a:buClrTx/>
                <a:buSzTx/>
                <a:buFont typeface="Wingdings" pitchFamily="2" charset="2"/>
                <a:buNone/>
              </a:pPr>
              <a:r>
                <a:rPr lang="zh-CN" altLang="en-US" sz="2800">
                  <a:solidFill>
                    <a:srgbClr val="FFFF00"/>
                  </a:solidFill>
                  <a:effectLst>
                    <a:outerShdw blurRad="38100" dist="38100" dir="2700000" algn="tl">
                      <a:srgbClr val="000000"/>
                    </a:outerShdw>
                  </a:effectLst>
                  <a:latin typeface="Times New Roman" pitchFamily="18" charset="0"/>
                  <a:ea typeface="黑体" pitchFamily="1" charset="-122"/>
                </a:rPr>
                <a:t>Optical </a:t>
              </a:r>
            </a:p>
            <a:p>
              <a:pPr algn="ctr">
                <a:spcBef>
                  <a:spcPct val="0"/>
                </a:spcBef>
                <a:buClrTx/>
                <a:buSzTx/>
                <a:buFont typeface="Wingdings" pitchFamily="2" charset="2"/>
                <a:buNone/>
              </a:pPr>
              <a:r>
                <a:rPr lang="zh-CN" altLang="en-US" sz="2800">
                  <a:solidFill>
                    <a:srgbClr val="FFFF00"/>
                  </a:solidFill>
                  <a:effectLst>
                    <a:outerShdw blurRad="38100" dist="38100" dir="2700000" algn="tl">
                      <a:srgbClr val="000000"/>
                    </a:outerShdw>
                  </a:effectLst>
                  <a:latin typeface="Times New Roman" pitchFamily="18" charset="0"/>
                  <a:ea typeface="黑体" pitchFamily="1" charset="-122"/>
                </a:rPr>
                <a:t>Receiver</a:t>
              </a:r>
            </a:p>
          </p:txBody>
        </p:sp>
      </p:grpSp>
      <p:sp>
        <p:nvSpPr>
          <p:cNvPr id="3128" name="Rectangle 2"/>
          <p:cNvSpPr txBox="1">
            <a:spLocks noChangeArrowheads="1"/>
          </p:cNvSpPr>
          <p:nvPr/>
        </p:nvSpPr>
        <p:spPr bwMode="auto">
          <a:xfrm>
            <a:off x="971550" y="188913"/>
            <a:ext cx="8137525" cy="693737"/>
          </a:xfrm>
          <a:prstGeom prst="rect">
            <a:avLst/>
          </a:prstGeom>
          <a:noFill/>
          <a:ln w="9525">
            <a:noFill/>
            <a:miter lim="800000"/>
            <a:headEnd/>
            <a:tailEnd/>
          </a:ln>
        </p:spPr>
        <p:txBody>
          <a:bodyPr/>
          <a:lstStyle/>
          <a:p>
            <a:pPr marL="342900" indent="-342900">
              <a:buSzTx/>
              <a:buFont typeface="Wingdings" pitchFamily="2" charset="2"/>
              <a:buNone/>
            </a:pPr>
            <a:r>
              <a:rPr lang="zh-CN" altLang="en-US" sz="2800" dirty="0" smtClean="0">
                <a:solidFill>
                  <a:schemeClr val="folHlink"/>
                </a:solidFill>
                <a:latin typeface="Palatino Linotype" pitchFamily="18" charset="0"/>
                <a:ea typeface="黑体" pitchFamily="1" charset="-122"/>
              </a:rPr>
              <a:t>Optical </a:t>
            </a:r>
            <a:r>
              <a:rPr lang="zh-CN" altLang="en-US" sz="2800" dirty="0">
                <a:solidFill>
                  <a:schemeClr val="folHlink"/>
                </a:solidFill>
                <a:latin typeface="Palatino Linotype" pitchFamily="18" charset="0"/>
                <a:ea typeface="黑体" pitchFamily="1" charset="-122"/>
              </a:rPr>
              <a:t>Detector and Optical Receiver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GB" dirty="0" smtClean="0"/>
              <a:t>Introduction </a:t>
            </a:r>
            <a:endParaRPr lang="en-GB" dirty="0"/>
          </a:p>
        </p:txBody>
      </p:sp>
      <p:sp>
        <p:nvSpPr>
          <p:cNvPr id="3" name="Content Placeholder 2"/>
          <p:cNvSpPr>
            <a:spLocks noGrp="1"/>
          </p:cNvSpPr>
          <p:nvPr>
            <p:ph idx="1"/>
          </p:nvPr>
        </p:nvSpPr>
        <p:spPr>
          <a:xfrm>
            <a:off x="457200" y="990600"/>
            <a:ext cx="8229600" cy="5562600"/>
          </a:xfrm>
        </p:spPr>
        <p:txBody>
          <a:bodyPr>
            <a:normAutofit fontScale="85000" lnSpcReduction="10000"/>
          </a:bodyPr>
          <a:lstStyle/>
          <a:p>
            <a:pPr algn="just"/>
            <a:r>
              <a:rPr lang="en-GB" dirty="0" smtClean="0"/>
              <a:t>The role of an optical receiver is to convert the optical signal back into electrical </a:t>
            </a:r>
            <a:r>
              <a:rPr lang="en-GB" dirty="0" smtClean="0"/>
              <a:t>form and </a:t>
            </a:r>
            <a:r>
              <a:rPr lang="en-GB" dirty="0" smtClean="0"/>
              <a:t>recover the data transmitted through the </a:t>
            </a:r>
            <a:r>
              <a:rPr lang="en-GB" dirty="0" err="1" smtClean="0"/>
              <a:t>lightwave</a:t>
            </a:r>
            <a:r>
              <a:rPr lang="en-GB" dirty="0" smtClean="0"/>
              <a:t> system. </a:t>
            </a:r>
            <a:endParaRPr lang="en-GB" dirty="0" smtClean="0"/>
          </a:p>
          <a:p>
            <a:pPr algn="just"/>
            <a:r>
              <a:rPr lang="en-GB" dirty="0" smtClean="0"/>
              <a:t>Its </a:t>
            </a:r>
            <a:r>
              <a:rPr lang="en-GB" dirty="0" smtClean="0"/>
              <a:t>main component </a:t>
            </a:r>
            <a:r>
              <a:rPr lang="en-GB" dirty="0" smtClean="0"/>
              <a:t>is a </a:t>
            </a:r>
            <a:r>
              <a:rPr lang="en-GB" dirty="0" err="1" smtClean="0"/>
              <a:t>photodetector</a:t>
            </a:r>
            <a:r>
              <a:rPr lang="en-GB" dirty="0" smtClean="0"/>
              <a:t> that converts light into electricity through the photoelectric effect. </a:t>
            </a:r>
            <a:endParaRPr lang="en-GB" dirty="0" smtClean="0"/>
          </a:p>
          <a:p>
            <a:pPr algn="just"/>
            <a:r>
              <a:rPr lang="en-GB" dirty="0" smtClean="0"/>
              <a:t>The requirements </a:t>
            </a:r>
            <a:r>
              <a:rPr lang="en-GB" dirty="0" smtClean="0"/>
              <a:t>for a </a:t>
            </a:r>
            <a:r>
              <a:rPr lang="en-GB" dirty="0" err="1" smtClean="0"/>
              <a:t>photodetector</a:t>
            </a:r>
            <a:r>
              <a:rPr lang="en-GB" dirty="0" smtClean="0"/>
              <a:t> are similar to those of an optical source. </a:t>
            </a:r>
            <a:endParaRPr lang="en-GB" dirty="0" smtClean="0"/>
          </a:p>
          <a:p>
            <a:pPr algn="just"/>
            <a:r>
              <a:rPr lang="en-GB" dirty="0" smtClean="0"/>
              <a:t>It should have </a:t>
            </a:r>
            <a:r>
              <a:rPr lang="en-GB" dirty="0" smtClean="0"/>
              <a:t>high sensitivity, fast response, low noise, low cost, and high reliability. </a:t>
            </a:r>
            <a:endParaRPr lang="en-GB" dirty="0" smtClean="0"/>
          </a:p>
          <a:p>
            <a:pPr algn="just"/>
            <a:r>
              <a:rPr lang="en-GB" dirty="0" smtClean="0"/>
              <a:t>Its size should </a:t>
            </a:r>
            <a:r>
              <a:rPr lang="en-GB" dirty="0" smtClean="0"/>
              <a:t>be compatible with the fiber-core size. These requirements are best met by </a:t>
            </a:r>
            <a:r>
              <a:rPr lang="en-GB" dirty="0" err="1" smtClean="0"/>
              <a:t>photodetectors</a:t>
            </a:r>
            <a:r>
              <a:rPr lang="en-GB" dirty="0" smtClean="0"/>
              <a:t> made </a:t>
            </a:r>
            <a:r>
              <a:rPr lang="en-GB" dirty="0" smtClean="0"/>
              <a:t>of semiconductor materials.</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Optical receiver characteristics</a:t>
            </a:r>
            <a:endParaRPr lang="en-GB" dirty="0"/>
          </a:p>
        </p:txBody>
      </p:sp>
      <p:sp>
        <p:nvSpPr>
          <p:cNvPr id="3" name="Content Placeholder 2"/>
          <p:cNvSpPr>
            <a:spLocks noGrp="1"/>
          </p:cNvSpPr>
          <p:nvPr>
            <p:ph idx="1"/>
          </p:nvPr>
        </p:nvSpPr>
        <p:spPr/>
        <p:txBody>
          <a:bodyPr/>
          <a:lstStyle/>
          <a:p>
            <a:r>
              <a:rPr lang="en-GB" dirty="0" err="1" smtClean="0"/>
              <a:t>Responsivity</a:t>
            </a:r>
            <a:r>
              <a:rPr lang="en-GB" dirty="0" smtClean="0"/>
              <a:t>, </a:t>
            </a:r>
            <a:endParaRPr lang="en-GB" dirty="0" smtClean="0"/>
          </a:p>
          <a:p>
            <a:r>
              <a:rPr lang="en-GB" dirty="0" smtClean="0"/>
              <a:t>Quantum </a:t>
            </a:r>
            <a:r>
              <a:rPr lang="en-GB" dirty="0" smtClean="0"/>
              <a:t>efficiency, </a:t>
            </a:r>
            <a:endParaRPr lang="en-GB" dirty="0" smtClean="0"/>
          </a:p>
          <a:p>
            <a:r>
              <a:rPr lang="en-GB" dirty="0" smtClean="0"/>
              <a:t>Rise time</a:t>
            </a:r>
            <a:r>
              <a:rPr lang="en-GB" dirty="0" smtClean="0"/>
              <a:t>, </a:t>
            </a:r>
            <a:endParaRPr lang="en-GB" dirty="0" smtClean="0"/>
          </a:p>
          <a:p>
            <a:r>
              <a:rPr lang="en-GB" dirty="0" smtClean="0"/>
              <a:t>Bandwidth</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GB" b="1" dirty="0" err="1" smtClean="0"/>
              <a:t>Responsivity</a:t>
            </a:r>
            <a:r>
              <a:rPr lang="en-GB" b="1" dirty="0" smtClean="0"/>
              <a:t> and Quantum Efficiency</a:t>
            </a:r>
            <a:endParaRPr lang="en-GB" b="1" dirty="0"/>
          </a:p>
        </p:txBody>
      </p:sp>
      <p:sp>
        <p:nvSpPr>
          <p:cNvPr id="3" name="Content Placeholder 2"/>
          <p:cNvSpPr>
            <a:spLocks noGrp="1"/>
          </p:cNvSpPr>
          <p:nvPr>
            <p:ph idx="1"/>
          </p:nvPr>
        </p:nvSpPr>
        <p:spPr>
          <a:xfrm>
            <a:off x="457200" y="1066800"/>
            <a:ext cx="4114800" cy="5059363"/>
          </a:xfrm>
        </p:spPr>
        <p:txBody>
          <a:bodyPr>
            <a:normAutofit fontScale="92500" lnSpcReduction="20000"/>
          </a:bodyPr>
          <a:lstStyle/>
          <a:p>
            <a:pPr algn="just"/>
            <a:r>
              <a:rPr lang="en-GB" dirty="0" smtClean="0"/>
              <a:t>If the energy </a:t>
            </a:r>
            <a:r>
              <a:rPr lang="en-GB" i="1" dirty="0" err="1" smtClean="0"/>
              <a:t>hv</a:t>
            </a:r>
            <a:r>
              <a:rPr lang="en-GB" i="1" dirty="0" smtClean="0"/>
              <a:t> </a:t>
            </a:r>
            <a:r>
              <a:rPr lang="en-GB" i="1" dirty="0" smtClean="0"/>
              <a:t>of </a:t>
            </a:r>
            <a:r>
              <a:rPr lang="en-GB" dirty="0" smtClean="0"/>
              <a:t>incident </a:t>
            </a:r>
            <a:r>
              <a:rPr lang="en-GB" dirty="0" smtClean="0"/>
              <a:t>photons exceeds the </a:t>
            </a:r>
            <a:r>
              <a:rPr lang="en-GB" dirty="0" err="1" smtClean="0"/>
              <a:t>bandgap</a:t>
            </a:r>
            <a:r>
              <a:rPr lang="en-GB" dirty="0" smtClean="0"/>
              <a:t> energy, an electron-hole pair is generated </a:t>
            </a:r>
            <a:r>
              <a:rPr lang="en-GB" dirty="0" smtClean="0"/>
              <a:t>each time </a:t>
            </a:r>
            <a:r>
              <a:rPr lang="en-GB" dirty="0" smtClean="0"/>
              <a:t>a photon is absorbed by the semiconductor</a:t>
            </a:r>
            <a:r>
              <a:rPr lang="en-GB" dirty="0" smtClean="0"/>
              <a:t>.</a:t>
            </a:r>
          </a:p>
          <a:p>
            <a:pPr algn="just"/>
            <a:r>
              <a:rPr lang="en-GB" dirty="0" smtClean="0"/>
              <a:t>The </a:t>
            </a:r>
            <a:r>
              <a:rPr lang="en-GB" dirty="0" smtClean="0"/>
              <a:t>photocurrent </a:t>
            </a:r>
            <a:r>
              <a:rPr lang="en-GB" i="1" dirty="0" err="1" smtClean="0"/>
              <a:t>Ip</a:t>
            </a:r>
            <a:r>
              <a:rPr lang="en-GB" i="1" dirty="0" smtClean="0"/>
              <a:t> is directly proportional </a:t>
            </a:r>
            <a:r>
              <a:rPr lang="en-GB" i="1" dirty="0" smtClean="0"/>
              <a:t>to </a:t>
            </a:r>
            <a:r>
              <a:rPr lang="en-GB" dirty="0" smtClean="0"/>
              <a:t>the incident optical power </a:t>
            </a:r>
            <a:r>
              <a:rPr lang="en-GB" i="1" dirty="0" smtClean="0"/>
              <a:t>Pin.</a:t>
            </a:r>
            <a:endParaRPr lang="en-GB" dirty="0"/>
          </a:p>
        </p:txBody>
      </p:sp>
      <p:pic>
        <p:nvPicPr>
          <p:cNvPr id="1027" name="Picture 3"/>
          <p:cNvPicPr>
            <a:picLocks noChangeAspect="1" noChangeArrowheads="1"/>
          </p:cNvPicPr>
          <p:nvPr/>
        </p:nvPicPr>
        <p:blipFill>
          <a:blip r:embed="rId2"/>
          <a:srcRect/>
          <a:stretch>
            <a:fillRect/>
          </a:stretch>
        </p:blipFill>
        <p:spPr bwMode="auto">
          <a:xfrm>
            <a:off x="609600" y="5876846"/>
            <a:ext cx="2895600" cy="981154"/>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5029201" y="1752600"/>
            <a:ext cx="3505200" cy="31146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algn="just"/>
            <a:r>
              <a:rPr lang="en-GB" dirty="0" smtClean="0"/>
              <a:t>The constant </a:t>
            </a:r>
            <a:r>
              <a:rPr lang="en-GB" i="1" dirty="0" smtClean="0"/>
              <a:t>Rd </a:t>
            </a:r>
            <a:r>
              <a:rPr lang="en-GB" i="1" dirty="0" smtClean="0"/>
              <a:t>is referred to as the </a:t>
            </a:r>
            <a:r>
              <a:rPr lang="en-GB" i="1" dirty="0" err="1" smtClean="0"/>
              <a:t>responsivity</a:t>
            </a:r>
            <a:r>
              <a:rPr lang="en-GB" i="1" dirty="0" smtClean="0"/>
              <a:t> of the </a:t>
            </a:r>
            <a:r>
              <a:rPr lang="en-GB" i="1" dirty="0" err="1" smtClean="0"/>
              <a:t>photodetector</a:t>
            </a:r>
            <a:r>
              <a:rPr lang="en-GB" i="1" dirty="0" smtClean="0"/>
              <a:t> because </a:t>
            </a:r>
            <a:r>
              <a:rPr lang="en-GB" i="1" dirty="0" smtClean="0"/>
              <a:t>more </a:t>
            </a:r>
            <a:r>
              <a:rPr lang="en-GB" dirty="0" smtClean="0"/>
              <a:t>current </a:t>
            </a:r>
            <a:r>
              <a:rPr lang="en-GB" dirty="0" smtClean="0"/>
              <a:t>is produced at a given input power for larger values of </a:t>
            </a:r>
            <a:r>
              <a:rPr lang="en-GB" i="1" dirty="0" smtClean="0"/>
              <a:t>Rd </a:t>
            </a:r>
          </a:p>
          <a:p>
            <a:pPr algn="just"/>
            <a:r>
              <a:rPr lang="en-GB" i="1" dirty="0" smtClean="0"/>
              <a:t>It </a:t>
            </a:r>
            <a:r>
              <a:rPr lang="en-GB" i="1" dirty="0" smtClean="0"/>
              <a:t>is expressed </a:t>
            </a:r>
            <a:r>
              <a:rPr lang="en-GB" i="1" dirty="0" smtClean="0"/>
              <a:t>in </a:t>
            </a:r>
            <a:r>
              <a:rPr lang="en-GB" dirty="0" smtClean="0"/>
              <a:t>units </a:t>
            </a:r>
            <a:r>
              <a:rPr lang="en-GB" dirty="0" smtClean="0"/>
              <a:t>of ampere/watts (</a:t>
            </a:r>
            <a:r>
              <a:rPr lang="en-GB" dirty="0" smtClean="0"/>
              <a:t>A/W).</a:t>
            </a:r>
          </a:p>
          <a:p>
            <a:pPr algn="just"/>
            <a:r>
              <a:rPr lang="en-GB" dirty="0" smtClean="0"/>
              <a:t>The </a:t>
            </a:r>
            <a:r>
              <a:rPr lang="en-GB" dirty="0" err="1" smtClean="0"/>
              <a:t>responsivity</a:t>
            </a:r>
            <a:r>
              <a:rPr lang="en-GB" dirty="0" smtClean="0"/>
              <a:t> </a:t>
            </a:r>
            <a:r>
              <a:rPr lang="en-GB" i="1" dirty="0" smtClean="0"/>
              <a:t>Rd can be expressed in terms of a fundamental </a:t>
            </a:r>
            <a:r>
              <a:rPr lang="en-GB" i="1" dirty="0" smtClean="0"/>
              <a:t>quantity, called </a:t>
            </a:r>
            <a:r>
              <a:rPr lang="en-GB" dirty="0" smtClean="0"/>
              <a:t>the </a:t>
            </a:r>
            <a:r>
              <a:rPr lang="en-GB" i="1" dirty="0" smtClean="0"/>
              <a:t>quantum efficiency and defined as</a:t>
            </a:r>
            <a:endParaRPr lang="en-GB" dirty="0"/>
          </a:p>
        </p:txBody>
      </p:sp>
      <p:pic>
        <p:nvPicPr>
          <p:cNvPr id="2050" name="Picture 2"/>
          <p:cNvPicPr>
            <a:picLocks noChangeAspect="1" noChangeArrowheads="1"/>
          </p:cNvPicPr>
          <p:nvPr/>
        </p:nvPicPr>
        <p:blipFill>
          <a:blip r:embed="rId2"/>
          <a:srcRect/>
          <a:stretch>
            <a:fillRect/>
          </a:stretch>
        </p:blipFill>
        <p:spPr bwMode="auto">
          <a:xfrm>
            <a:off x="2133600" y="5334000"/>
            <a:ext cx="5880100" cy="9906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GB" dirty="0" err="1" smtClean="0"/>
              <a:t>Responsivity</a:t>
            </a:r>
            <a:r>
              <a:rPr lang="en-GB" dirty="0" smtClean="0"/>
              <a:t> is given by</a:t>
            </a:r>
          </a:p>
          <a:p>
            <a:endParaRPr lang="en-GB" dirty="0" smtClean="0"/>
          </a:p>
          <a:p>
            <a:endParaRPr lang="en-GB" dirty="0" smtClean="0"/>
          </a:p>
          <a:p>
            <a:r>
              <a:rPr lang="en-GB" dirty="0" smtClean="0"/>
              <a:t>The </a:t>
            </a:r>
            <a:r>
              <a:rPr lang="en-GB" dirty="0" err="1" smtClean="0"/>
              <a:t>responsivity</a:t>
            </a:r>
            <a:r>
              <a:rPr lang="en-GB" dirty="0" smtClean="0"/>
              <a:t> of a </a:t>
            </a:r>
            <a:r>
              <a:rPr lang="en-GB" dirty="0" err="1" smtClean="0"/>
              <a:t>photodetector</a:t>
            </a:r>
            <a:r>
              <a:rPr lang="en-GB" dirty="0" smtClean="0"/>
              <a:t> </a:t>
            </a:r>
            <a:r>
              <a:rPr lang="en-GB" dirty="0" smtClean="0"/>
              <a:t>increases with </a:t>
            </a:r>
            <a:r>
              <a:rPr lang="en-GB" dirty="0" smtClean="0"/>
              <a:t>the wavelength A simply because more photons are present for the </a:t>
            </a:r>
            <a:r>
              <a:rPr lang="en-GB" dirty="0" smtClean="0"/>
              <a:t>same optical </a:t>
            </a:r>
            <a:r>
              <a:rPr lang="en-GB" dirty="0" smtClean="0"/>
              <a:t>power.</a:t>
            </a:r>
            <a:endParaRPr lang="en-GB" dirty="0"/>
          </a:p>
        </p:txBody>
      </p:sp>
      <p:pic>
        <p:nvPicPr>
          <p:cNvPr id="3074" name="Picture 2"/>
          <p:cNvPicPr>
            <a:picLocks noChangeAspect="1" noChangeArrowheads="1"/>
          </p:cNvPicPr>
          <p:nvPr/>
        </p:nvPicPr>
        <p:blipFill>
          <a:blip r:embed="rId2"/>
          <a:srcRect/>
          <a:stretch>
            <a:fillRect/>
          </a:stretch>
        </p:blipFill>
        <p:spPr bwMode="auto">
          <a:xfrm>
            <a:off x="2667000" y="1143000"/>
            <a:ext cx="2895600" cy="1019369"/>
          </a:xfrm>
          <a:prstGeom prst="rect">
            <a:avLst/>
          </a:prstGeom>
          <a:noFill/>
          <a:ln w="9525">
            <a:noFill/>
            <a:miter lim="800000"/>
            <a:headEnd/>
            <a:tailEnd/>
          </a:ln>
          <a:effectLst/>
        </p:spPr>
      </p:pic>
      <p:sp>
        <p:nvSpPr>
          <p:cNvPr id="5" name="Text Box 8"/>
          <p:cNvSpPr txBox="1">
            <a:spLocks noChangeArrowheads="1"/>
          </p:cNvSpPr>
          <p:nvPr/>
        </p:nvSpPr>
        <p:spPr bwMode="auto">
          <a:xfrm>
            <a:off x="228600" y="4114800"/>
            <a:ext cx="8686800" cy="2497138"/>
          </a:xfrm>
          <a:prstGeom prst="rect">
            <a:avLst/>
          </a:prstGeom>
          <a:noFill/>
          <a:ln w="28575" cmpd="sng">
            <a:solidFill>
              <a:srgbClr val="FF9933"/>
            </a:solidFill>
            <a:miter lim="800000"/>
            <a:headEnd/>
            <a:tailEnd/>
          </a:ln>
        </p:spPr>
        <p:txBody>
          <a:bodyPr>
            <a:spAutoFit/>
          </a:bodyPr>
          <a:lstStyle/>
          <a:p>
            <a:pPr>
              <a:spcBef>
                <a:spcPct val="50000"/>
              </a:spcBef>
              <a:buClrTx/>
              <a:buSzTx/>
              <a:buFont typeface="Wingdings" pitchFamily="2" charset="2"/>
              <a:buNone/>
            </a:pPr>
            <a:r>
              <a:rPr lang="en-US" altLang="en-US" sz="2600" dirty="0">
                <a:effectLst>
                  <a:outerShdw blurRad="38100" dist="38100" dir="2700000" algn="tl">
                    <a:srgbClr val="C0C0C0"/>
                  </a:outerShdw>
                </a:effectLst>
                <a:latin typeface="Times New Roman" pitchFamily="18" charset="0"/>
                <a:ea typeface="黑体" pitchFamily="1" charset="-122"/>
              </a:rPr>
              <a:t>In photoelectric diode, quantum efficiency range is 30%~95%. In order to get a higher quantum efficiency,</a:t>
            </a:r>
            <a:r>
              <a:rPr lang="zh-CN" altLang="en-US" sz="2600" dirty="0">
                <a:effectLst>
                  <a:outerShdw blurRad="38100" dist="38100" dir="2700000" algn="tl">
                    <a:srgbClr val="C0C0C0"/>
                  </a:outerShdw>
                </a:effectLst>
                <a:latin typeface="Times New Roman" pitchFamily="18" charset="0"/>
                <a:ea typeface="黑体" pitchFamily="1" charset="-122"/>
              </a:rPr>
              <a:t> </a:t>
            </a:r>
            <a:r>
              <a:rPr lang="en-US" altLang="en-US" sz="2600" dirty="0">
                <a:effectLst>
                  <a:outerShdw blurRad="38100" dist="38100" dir="2700000" algn="tl">
                    <a:srgbClr val="C0C0C0"/>
                  </a:outerShdw>
                </a:effectLst>
                <a:latin typeface="Times New Roman" pitchFamily="18" charset="0"/>
                <a:ea typeface="黑体" pitchFamily="1" charset="-122"/>
              </a:rPr>
              <a:t>we must increase the thickness of the depletion region. However, the thicker the depletion region, the slower the response speed of the photodiode</a:t>
            </a:r>
            <a:r>
              <a:rPr lang="zh-CN" altLang="en-US" sz="2600" dirty="0">
                <a:effectLst>
                  <a:outerShdw blurRad="38100" dist="38100" dir="2700000" algn="tl">
                    <a:srgbClr val="C0C0C0"/>
                  </a:outerShdw>
                </a:effectLst>
                <a:latin typeface="Times New Roman" pitchFamily="18" charset="0"/>
                <a:ea typeface="黑体" pitchFamily="1" charset="-122"/>
              </a:rPr>
              <a:t>. So we must make a compromise between the response and quantum efficiency.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Rise Time and Bandwidth</a:t>
            </a:r>
            <a:endParaRPr lang="en-GB" dirty="0"/>
          </a:p>
        </p:txBody>
      </p:sp>
      <p:sp>
        <p:nvSpPr>
          <p:cNvPr id="3" name="Content Placeholder 2"/>
          <p:cNvSpPr>
            <a:spLocks noGrp="1"/>
          </p:cNvSpPr>
          <p:nvPr>
            <p:ph idx="1"/>
          </p:nvPr>
        </p:nvSpPr>
        <p:spPr/>
        <p:txBody>
          <a:bodyPr>
            <a:normAutofit lnSpcReduction="10000"/>
          </a:bodyPr>
          <a:lstStyle/>
          <a:p>
            <a:pPr algn="just"/>
            <a:r>
              <a:rPr lang="en-GB" b="1" dirty="0" smtClean="0"/>
              <a:t>The </a:t>
            </a:r>
            <a:r>
              <a:rPr lang="en-GB" b="1" i="1" dirty="0" smtClean="0"/>
              <a:t>bandwidth </a:t>
            </a:r>
            <a:r>
              <a:rPr lang="en-GB" i="1" dirty="0" smtClean="0"/>
              <a:t>of a </a:t>
            </a:r>
            <a:r>
              <a:rPr lang="en-GB" i="1" dirty="0" err="1" smtClean="0"/>
              <a:t>photodetector</a:t>
            </a:r>
            <a:r>
              <a:rPr lang="en-GB" i="1" dirty="0" smtClean="0"/>
              <a:t> is determined by the speed with which it </a:t>
            </a:r>
            <a:r>
              <a:rPr lang="en-GB" i="1" dirty="0" smtClean="0"/>
              <a:t>responds </a:t>
            </a:r>
            <a:r>
              <a:rPr lang="en-GB" dirty="0" smtClean="0"/>
              <a:t>to </a:t>
            </a:r>
            <a:r>
              <a:rPr lang="en-GB" dirty="0" smtClean="0"/>
              <a:t>variations in the incident optical </a:t>
            </a:r>
            <a:r>
              <a:rPr lang="en-GB" dirty="0" smtClean="0"/>
              <a:t>power</a:t>
            </a:r>
          </a:p>
          <a:p>
            <a:pPr algn="just"/>
            <a:r>
              <a:rPr lang="en-GB" b="1" i="1" dirty="0" smtClean="0"/>
              <a:t>Rise time </a:t>
            </a:r>
            <a:r>
              <a:rPr lang="en-GB" b="1" i="1" dirty="0" err="1" smtClean="0"/>
              <a:t>Tr</a:t>
            </a:r>
            <a:r>
              <a:rPr lang="en-GB" b="1" i="1" dirty="0" smtClean="0"/>
              <a:t>, </a:t>
            </a:r>
            <a:r>
              <a:rPr lang="en-GB" i="1" dirty="0" smtClean="0"/>
              <a:t>defined as the time over which the current builds up from 10 to 90% of its </a:t>
            </a:r>
            <a:r>
              <a:rPr lang="en-GB" i="1" dirty="0" smtClean="0"/>
              <a:t>final </a:t>
            </a:r>
            <a:r>
              <a:rPr lang="en-GB" dirty="0" smtClean="0"/>
              <a:t>value </a:t>
            </a:r>
            <a:r>
              <a:rPr lang="en-GB" dirty="0" smtClean="0"/>
              <a:t>when the incident optical power is changed </a:t>
            </a:r>
            <a:r>
              <a:rPr lang="en-GB" dirty="0" smtClean="0"/>
              <a:t>abruptly.</a:t>
            </a:r>
          </a:p>
          <a:p>
            <a:r>
              <a:rPr lang="en-GB" dirty="0" smtClean="0"/>
              <a:t>rise time </a:t>
            </a:r>
            <a:r>
              <a:rPr lang="en-GB" dirty="0" smtClean="0"/>
              <a:t>is found </a:t>
            </a:r>
            <a:r>
              <a:rPr lang="en-GB" dirty="0" smtClean="0"/>
              <a:t>to be given by</a:t>
            </a:r>
            <a:endParaRPr lang="en-GB" dirty="0"/>
          </a:p>
        </p:txBody>
      </p:sp>
      <p:pic>
        <p:nvPicPr>
          <p:cNvPr id="4098" name="Picture 2"/>
          <p:cNvPicPr>
            <a:picLocks noChangeAspect="1" noChangeArrowheads="1"/>
          </p:cNvPicPr>
          <p:nvPr/>
        </p:nvPicPr>
        <p:blipFill>
          <a:blip r:embed="rId2"/>
          <a:srcRect/>
          <a:stretch>
            <a:fillRect/>
          </a:stretch>
        </p:blipFill>
        <p:spPr bwMode="auto">
          <a:xfrm>
            <a:off x="1066799" y="6019800"/>
            <a:ext cx="3786809" cy="6858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smtClean="0"/>
              <a:t>The rise time of a </a:t>
            </a:r>
            <a:r>
              <a:rPr lang="en-GB" dirty="0" err="1" smtClean="0"/>
              <a:t>photodetector</a:t>
            </a:r>
            <a:r>
              <a:rPr lang="en-GB" dirty="0" smtClean="0"/>
              <a:t> can be written by </a:t>
            </a:r>
            <a:r>
              <a:rPr lang="en-GB" dirty="0" smtClean="0"/>
              <a:t>extending</a:t>
            </a:r>
          </a:p>
          <a:p>
            <a:endParaRPr lang="en-GB" dirty="0" smtClean="0"/>
          </a:p>
          <a:p>
            <a:endParaRPr lang="en-GB" dirty="0" smtClean="0"/>
          </a:p>
          <a:p>
            <a:r>
              <a:rPr lang="en-GB" dirty="0" smtClean="0"/>
              <a:t>where </a:t>
            </a:r>
            <a:r>
              <a:rPr lang="en-GB" i="1" dirty="0" smtClean="0"/>
              <a:t>the value in </a:t>
            </a:r>
            <a:r>
              <a:rPr lang="en-GB" i="1" dirty="0" err="1" smtClean="0"/>
              <a:t>blacke</a:t>
            </a:r>
            <a:r>
              <a:rPr lang="en-GB" i="1" dirty="0" smtClean="0"/>
              <a:t> t are </a:t>
            </a:r>
            <a:r>
              <a:rPr lang="en-GB" i="1" dirty="0" smtClean="0"/>
              <a:t>the transit time and </a:t>
            </a:r>
            <a:r>
              <a:rPr lang="en-GB" i="1" dirty="0" smtClean="0"/>
              <a:t>time </a:t>
            </a:r>
            <a:r>
              <a:rPr lang="en-GB" i="1" dirty="0" smtClean="0"/>
              <a:t>constant of the equivalent RC </a:t>
            </a:r>
            <a:r>
              <a:rPr lang="en-GB" i="1" dirty="0" smtClean="0"/>
              <a:t>circuit respectively.</a:t>
            </a:r>
            <a:endParaRPr lang="en-GB" dirty="0"/>
          </a:p>
        </p:txBody>
      </p:sp>
      <p:pic>
        <p:nvPicPr>
          <p:cNvPr id="5122" name="Picture 2"/>
          <p:cNvPicPr>
            <a:picLocks noChangeAspect="1" noChangeArrowheads="1"/>
          </p:cNvPicPr>
          <p:nvPr/>
        </p:nvPicPr>
        <p:blipFill>
          <a:blip r:embed="rId2"/>
          <a:srcRect/>
          <a:stretch>
            <a:fillRect/>
          </a:stretch>
        </p:blipFill>
        <p:spPr bwMode="auto">
          <a:xfrm>
            <a:off x="3124200" y="2971800"/>
            <a:ext cx="2938462" cy="649982"/>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Common </a:t>
            </a:r>
            <a:r>
              <a:rPr lang="en-GB" dirty="0" err="1" smtClean="0"/>
              <a:t>Photodetectors</a:t>
            </a:r>
            <a:endParaRPr lang="en-GB" dirty="0"/>
          </a:p>
        </p:txBody>
      </p:sp>
      <p:sp>
        <p:nvSpPr>
          <p:cNvPr id="3" name="Content Placeholder 2"/>
          <p:cNvSpPr>
            <a:spLocks noGrp="1"/>
          </p:cNvSpPr>
          <p:nvPr>
            <p:ph idx="1"/>
          </p:nvPr>
        </p:nvSpPr>
        <p:spPr/>
        <p:txBody>
          <a:bodyPr/>
          <a:lstStyle/>
          <a:p>
            <a:r>
              <a:rPr lang="en-GB" dirty="0" smtClean="0"/>
              <a:t>There are main four common </a:t>
            </a:r>
            <a:r>
              <a:rPr lang="en-GB" dirty="0" err="1" smtClean="0"/>
              <a:t>photodetectors</a:t>
            </a:r>
            <a:r>
              <a:rPr lang="en-GB" dirty="0" smtClean="0"/>
              <a:t> used.</a:t>
            </a:r>
          </a:p>
          <a:p>
            <a:r>
              <a:rPr lang="en-GB" dirty="0" err="1" smtClean="0"/>
              <a:t>PN</a:t>
            </a:r>
            <a:r>
              <a:rPr lang="en-GB" dirty="0" smtClean="0"/>
              <a:t> – </a:t>
            </a:r>
            <a:r>
              <a:rPr lang="en-GB" dirty="0" err="1" smtClean="0"/>
              <a:t>Photodetectors</a:t>
            </a:r>
            <a:endParaRPr lang="en-GB" dirty="0" smtClean="0"/>
          </a:p>
          <a:p>
            <a:r>
              <a:rPr lang="en-GB" dirty="0" smtClean="0"/>
              <a:t>PIN – </a:t>
            </a:r>
            <a:r>
              <a:rPr lang="en-GB" dirty="0" err="1" smtClean="0"/>
              <a:t>Photodetectors</a:t>
            </a:r>
            <a:endParaRPr lang="en-GB" dirty="0" smtClean="0"/>
          </a:p>
          <a:p>
            <a:r>
              <a:rPr lang="en-GB" dirty="0" err="1" smtClean="0"/>
              <a:t>APD</a:t>
            </a:r>
            <a:r>
              <a:rPr lang="en-GB" dirty="0" smtClean="0"/>
              <a:t> – </a:t>
            </a:r>
            <a:r>
              <a:rPr lang="en-GB" dirty="0" err="1" smtClean="0"/>
              <a:t>Photodetectors</a:t>
            </a:r>
            <a:endParaRPr lang="en-GB" dirty="0" smtClean="0"/>
          </a:p>
          <a:p>
            <a:r>
              <a:rPr lang="en-GB" dirty="0" err="1" smtClean="0"/>
              <a:t>MSM</a:t>
            </a:r>
            <a:r>
              <a:rPr lang="en-GB" dirty="0" smtClean="0"/>
              <a:t> - </a:t>
            </a:r>
            <a:r>
              <a:rPr lang="en-GB" dirty="0" err="1" smtClean="0"/>
              <a:t>Photodetectors</a:t>
            </a: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txBox="1">
            <a:spLocks noGrp="1" noChangeArrowheads="1"/>
          </p:cNvSpPr>
          <p:nvPr/>
        </p:nvSpPr>
        <p:spPr bwMode="auto">
          <a:xfrm>
            <a:off x="7019925" y="6237288"/>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45691324-5461-4E50-AC64-B7D1B8A12C27}" type="slidenum">
              <a:rPr lang="zh-CN" altLang="en-US" sz="1400"/>
              <a:pPr algn="r">
                <a:spcBef>
                  <a:spcPct val="0"/>
                </a:spcBef>
                <a:buClrTx/>
                <a:buSzTx/>
                <a:buFont typeface="Wingdings" pitchFamily="2" charset="2"/>
                <a:buNone/>
              </a:pPr>
              <a:t>11</a:t>
            </a:fld>
            <a:endParaRPr lang="en-US" sz="1400"/>
          </a:p>
        </p:txBody>
      </p:sp>
      <p:sp>
        <p:nvSpPr>
          <p:cNvPr id="7171" name="Rectangle 2"/>
          <p:cNvSpPr>
            <a:spLocks noGrp="1" noChangeArrowheads="1"/>
          </p:cNvSpPr>
          <p:nvPr>
            <p:ph type="title" idx="4294967295"/>
          </p:nvPr>
        </p:nvSpPr>
        <p:spPr>
          <a:xfrm>
            <a:off x="1835150" y="381000"/>
            <a:ext cx="6699250" cy="533400"/>
          </a:xfrm>
        </p:spPr>
        <p:txBody>
          <a:bodyPr anchor="ctr">
            <a:normAutofit fontScale="90000"/>
          </a:bodyPr>
          <a:lstStyle/>
          <a:p>
            <a:pPr eaLnBrk="1" hangingPunct="1"/>
            <a:r>
              <a:rPr lang="en-US" sz="3200" b="1" dirty="0" smtClean="0">
                <a:solidFill>
                  <a:schemeClr val="folHlink"/>
                </a:solidFill>
                <a:effectLst>
                  <a:outerShdw blurRad="38100" dist="38100" dir="2700000" algn="tl">
                    <a:srgbClr val="C0C0C0"/>
                  </a:outerShdw>
                </a:effectLst>
                <a:latin typeface="Palatino Linotype" pitchFamily="18" charset="0"/>
                <a:ea typeface="华文行楷" pitchFamily="2" charset="-122"/>
              </a:rPr>
              <a:t>1. </a:t>
            </a:r>
            <a:r>
              <a:rPr lang="en-US" sz="3200" b="1" dirty="0" err="1" smtClean="0">
                <a:solidFill>
                  <a:schemeClr val="folHlink"/>
                </a:solidFill>
                <a:effectLst>
                  <a:outerShdw blurRad="38100" dist="38100" dir="2700000" algn="tl">
                    <a:srgbClr val="C0C0C0"/>
                  </a:outerShdw>
                </a:effectLst>
                <a:latin typeface="Palatino Linotype" pitchFamily="18" charset="0"/>
                <a:ea typeface="华文行楷" pitchFamily="2" charset="-122"/>
              </a:rPr>
              <a:t>PN</a:t>
            </a:r>
            <a:r>
              <a:rPr lang="en-US" altLang="en-US" sz="3200" b="1" dirty="0" smtClean="0">
                <a:solidFill>
                  <a:schemeClr val="folHlink"/>
                </a:solidFill>
                <a:effectLst>
                  <a:outerShdw blurRad="38100" dist="38100" dir="2700000" algn="tl">
                    <a:srgbClr val="C0C0C0"/>
                  </a:outerShdw>
                </a:effectLst>
                <a:latin typeface="Palatino Linotype" pitchFamily="18" charset="0"/>
                <a:ea typeface="华文行楷" pitchFamily="2" charset="-122"/>
              </a:rPr>
              <a:t> </a:t>
            </a:r>
            <a:r>
              <a:rPr lang="en-US" altLang="en-US" sz="3200" b="1" dirty="0">
                <a:solidFill>
                  <a:schemeClr val="folHlink"/>
                </a:solidFill>
                <a:effectLst>
                  <a:outerShdw blurRad="38100" dist="38100" dir="2700000" algn="tl">
                    <a:srgbClr val="C0C0C0"/>
                  </a:outerShdw>
                </a:effectLst>
                <a:latin typeface="Palatino Linotype" pitchFamily="18" charset="0"/>
                <a:ea typeface="华文行楷" pitchFamily="2" charset="-122"/>
              </a:rPr>
              <a:t>photodiode</a:t>
            </a:r>
          </a:p>
        </p:txBody>
      </p:sp>
      <p:sp>
        <p:nvSpPr>
          <p:cNvPr id="7172" name="Text Box 4"/>
          <p:cNvSpPr txBox="1">
            <a:spLocks noChangeArrowheads="1"/>
          </p:cNvSpPr>
          <p:nvPr/>
        </p:nvSpPr>
        <p:spPr bwMode="auto">
          <a:xfrm>
            <a:off x="323850" y="1143000"/>
            <a:ext cx="5040313" cy="2651125"/>
          </a:xfrm>
          <a:prstGeom prst="rect">
            <a:avLst/>
          </a:prstGeom>
          <a:noFill/>
          <a:ln w="9525">
            <a:noFill/>
            <a:miter lim="800000"/>
            <a:headEnd/>
            <a:tailEnd/>
          </a:ln>
        </p:spPr>
        <p:txBody>
          <a:bodyPr>
            <a:spAutoFit/>
          </a:bodyPr>
          <a:lstStyle/>
          <a:p>
            <a:pPr>
              <a:spcBef>
                <a:spcPct val="50000"/>
              </a:spcBef>
              <a:buClrTx/>
              <a:buSzTx/>
              <a:buFont typeface="Wingdings" pitchFamily="2" charset="2"/>
              <a:buChar char="•"/>
            </a:pPr>
            <a:r>
              <a:rPr lang="zh-CN" altLang="en-US" sz="2400">
                <a:solidFill>
                  <a:schemeClr val="folHlink"/>
                </a:solidFill>
                <a:latin typeface="Times New Roman" pitchFamily="18" charset="0"/>
                <a:ea typeface="黑体" pitchFamily="1" charset="-122"/>
              </a:rPr>
              <a:t>Principle: </a:t>
            </a:r>
            <a:r>
              <a:rPr lang="zh-CN" altLang="en-US" sz="2400">
                <a:latin typeface="Times New Roman" pitchFamily="18" charset="0"/>
                <a:ea typeface="黑体" pitchFamily="1" charset="-122"/>
              </a:rPr>
              <a:t>the incident light from the side of P, </a:t>
            </a:r>
            <a:r>
              <a:rPr lang="en-US" altLang="en-US" sz="2400">
                <a:latin typeface="Times New Roman" pitchFamily="18" charset="0"/>
              </a:rPr>
              <a:t>absorpted in the depletion region</a:t>
            </a:r>
            <a:r>
              <a:rPr lang="zh-CN" altLang="en-US" sz="2400">
                <a:latin typeface="Times New Roman" pitchFamily="18" charset="0"/>
              </a:rPr>
              <a:t>,</a:t>
            </a:r>
            <a:r>
              <a:rPr lang="en-US" altLang="en-US" sz="2400">
                <a:latin typeface="Times New Roman" pitchFamily="18" charset="0"/>
              </a:rPr>
              <a:t> generates an electron-hole pairs</a:t>
            </a:r>
            <a:r>
              <a:rPr lang="zh-CN" altLang="en-US" sz="2400">
                <a:latin typeface="Times New Roman" pitchFamily="18" charset="0"/>
              </a:rPr>
              <a:t>. </a:t>
            </a:r>
            <a:r>
              <a:rPr lang="en-US" altLang="en-US" sz="2400">
                <a:latin typeface="Times New Roman" pitchFamily="18" charset="0"/>
              </a:rPr>
              <a:t>Under the influence of an external electric field, electrons and holes transit and form the photocurrent</a:t>
            </a:r>
            <a:r>
              <a:rPr lang="zh-CN" altLang="en-US" sz="2400">
                <a:latin typeface="Times New Roman" pitchFamily="18" charset="0"/>
              </a:rPr>
              <a:t>.</a:t>
            </a:r>
            <a:endParaRPr lang="en-US" altLang="en-US" sz="2400">
              <a:latin typeface="Times New Roman" pitchFamily="18" charset="0"/>
            </a:endParaRPr>
          </a:p>
        </p:txBody>
      </p:sp>
      <p:sp>
        <p:nvSpPr>
          <p:cNvPr id="7173" name="Text Box 5"/>
          <p:cNvSpPr txBox="1">
            <a:spLocks noChangeArrowheads="1"/>
          </p:cNvSpPr>
          <p:nvPr/>
        </p:nvSpPr>
        <p:spPr bwMode="auto">
          <a:xfrm>
            <a:off x="323850" y="3860800"/>
            <a:ext cx="5256213" cy="1555750"/>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zh-CN" altLang="en-US" sz="2400">
                <a:solidFill>
                  <a:schemeClr val="hlink"/>
                </a:solidFill>
                <a:effectLst>
                  <a:outerShdw blurRad="38100" dist="38100" dir="2700000" algn="tl">
                    <a:srgbClr val="C0C0C0"/>
                  </a:outerShdw>
                </a:effectLst>
                <a:latin typeface="Times New Roman" pitchFamily="18" charset="0"/>
                <a:ea typeface="黑体" pitchFamily="1" charset="-122"/>
              </a:rPr>
              <a:t>Response time:</a:t>
            </a:r>
            <a:r>
              <a:rPr lang="zh-CN" altLang="en-US" sz="2400">
                <a:effectLst>
                  <a:outerShdw blurRad="38100" dist="38100" dir="2700000" algn="tl">
                    <a:srgbClr val="C0C0C0"/>
                  </a:outerShdw>
                </a:effectLst>
                <a:latin typeface="Times New Roman" pitchFamily="18" charset="0"/>
                <a:ea typeface="黑体" pitchFamily="1" charset="-122"/>
              </a:rPr>
              <a:t> the delay of transformation from input to output, is mainly determined by the transit time of the depletion region.</a:t>
            </a:r>
          </a:p>
        </p:txBody>
      </p:sp>
      <p:graphicFrame>
        <p:nvGraphicFramePr>
          <p:cNvPr id="7174" name="Object 6"/>
          <p:cNvGraphicFramePr>
            <a:graphicFrameLocks noChangeAspect="1"/>
          </p:cNvGraphicFramePr>
          <p:nvPr/>
        </p:nvGraphicFramePr>
        <p:xfrm>
          <a:off x="1908175" y="5589588"/>
          <a:ext cx="2514600" cy="655637"/>
        </p:xfrm>
        <a:graphic>
          <a:graphicData uri="http://schemas.openxmlformats.org/presentationml/2006/ole">
            <p:oleObj spid="_x0000_s7170" r:id="rId3" imgW="610447" imgH="229116" progId="Equation.3">
              <p:embed/>
            </p:oleObj>
          </a:graphicData>
        </a:graphic>
      </p:graphicFrame>
      <p:pic>
        <p:nvPicPr>
          <p:cNvPr id="7175" name="Picture 7" descr="无标题"/>
          <p:cNvPicPr>
            <a:picLocks noChangeAspect="1" noChangeArrowheads="1"/>
          </p:cNvPicPr>
          <p:nvPr/>
        </p:nvPicPr>
        <p:blipFill>
          <a:blip r:embed="rId4"/>
          <a:srcRect/>
          <a:stretch>
            <a:fillRect/>
          </a:stretch>
        </p:blipFill>
        <p:spPr bwMode="auto">
          <a:xfrm>
            <a:off x="5364163" y="1054100"/>
            <a:ext cx="3621087" cy="520065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800"/>
          </a:xfrm>
        </p:spPr>
        <p:txBody>
          <a:bodyPr>
            <a:normAutofit fontScale="85000" lnSpcReduction="20000"/>
          </a:bodyPr>
          <a:lstStyle/>
          <a:p>
            <a:pPr algn="just"/>
            <a:r>
              <a:rPr lang="en-GB" dirty="0" smtClean="0"/>
              <a:t>A reverse-biased </a:t>
            </a:r>
            <a:r>
              <a:rPr lang="en-GB" i="1" dirty="0" smtClean="0"/>
              <a:t>p-n junction consists of a region, known as the depletion </a:t>
            </a:r>
            <a:r>
              <a:rPr lang="en-GB" i="1" dirty="0" smtClean="0"/>
              <a:t>region, </a:t>
            </a:r>
            <a:r>
              <a:rPr lang="en-GB" dirty="0" smtClean="0"/>
              <a:t>that </a:t>
            </a:r>
            <a:r>
              <a:rPr lang="en-GB" dirty="0" smtClean="0"/>
              <a:t>is essentially devoid of free charge carriers and where a large built-in electric </a:t>
            </a:r>
            <a:r>
              <a:rPr lang="en-GB" dirty="0" smtClean="0"/>
              <a:t>field opposes </a:t>
            </a:r>
            <a:r>
              <a:rPr lang="en-GB" dirty="0" smtClean="0"/>
              <a:t>flow of electrons from the n-side to the p-side (and of holes from </a:t>
            </a:r>
            <a:r>
              <a:rPr lang="en-GB" i="1" dirty="0" smtClean="0"/>
              <a:t>p to n). </a:t>
            </a:r>
            <a:endParaRPr lang="en-GB" i="1" dirty="0" smtClean="0"/>
          </a:p>
          <a:p>
            <a:pPr algn="just"/>
            <a:r>
              <a:rPr lang="en-GB" i="1" dirty="0" smtClean="0"/>
              <a:t>When </a:t>
            </a:r>
            <a:r>
              <a:rPr lang="en-GB" dirty="0" smtClean="0"/>
              <a:t>such </a:t>
            </a:r>
            <a:r>
              <a:rPr lang="en-GB" dirty="0" smtClean="0"/>
              <a:t>a </a:t>
            </a:r>
            <a:r>
              <a:rPr lang="en-GB" i="1" dirty="0" smtClean="0"/>
              <a:t>p-n junction is illuminated with light on one side, say the </a:t>
            </a:r>
            <a:r>
              <a:rPr lang="en-GB" i="1" dirty="0" smtClean="0"/>
              <a:t>p-side</a:t>
            </a:r>
            <a:r>
              <a:rPr lang="en-GB" dirty="0" smtClean="0"/>
              <a:t>, </a:t>
            </a:r>
            <a:r>
              <a:rPr lang="en-GB" dirty="0" smtClean="0"/>
              <a:t>electron-hole pairs are created through absorption. </a:t>
            </a:r>
            <a:endParaRPr lang="en-GB" dirty="0" smtClean="0"/>
          </a:p>
          <a:p>
            <a:pPr algn="just"/>
            <a:r>
              <a:rPr lang="en-GB" dirty="0" smtClean="0"/>
              <a:t>Because </a:t>
            </a:r>
            <a:r>
              <a:rPr lang="en-GB" dirty="0" smtClean="0"/>
              <a:t>of the large </a:t>
            </a:r>
            <a:r>
              <a:rPr lang="en-GB" dirty="0" smtClean="0"/>
              <a:t>built-in electric </a:t>
            </a:r>
            <a:r>
              <a:rPr lang="en-GB" dirty="0" smtClean="0"/>
              <a:t>field, electrons and holes generated inside the depletion region accelerate </a:t>
            </a:r>
            <a:r>
              <a:rPr lang="en-GB" dirty="0" smtClean="0"/>
              <a:t>in opposite </a:t>
            </a:r>
            <a:r>
              <a:rPr lang="en-GB" dirty="0" smtClean="0"/>
              <a:t>directions and drift to the </a:t>
            </a:r>
            <a:r>
              <a:rPr lang="en-GB" i="1" dirty="0" smtClean="0"/>
              <a:t>n- and p-sides, respectively. </a:t>
            </a:r>
            <a:endParaRPr lang="en-GB" i="1" dirty="0" smtClean="0"/>
          </a:p>
          <a:p>
            <a:pPr algn="just"/>
            <a:r>
              <a:rPr lang="en-GB" i="1" dirty="0" smtClean="0"/>
              <a:t>The </a:t>
            </a:r>
            <a:r>
              <a:rPr lang="en-GB" i="1" dirty="0" smtClean="0"/>
              <a:t>resulting flow </a:t>
            </a:r>
            <a:r>
              <a:rPr lang="en-GB" i="1" dirty="0" smtClean="0"/>
              <a:t>of </a:t>
            </a:r>
            <a:r>
              <a:rPr lang="en-GB" dirty="0" smtClean="0"/>
              <a:t>current </a:t>
            </a:r>
            <a:r>
              <a:rPr lang="en-GB" dirty="0" smtClean="0"/>
              <a:t>is proportional to the incident optical power. </a:t>
            </a:r>
            <a:endParaRPr lang="en-GB" dirty="0" smtClean="0"/>
          </a:p>
          <a:p>
            <a:pPr algn="just"/>
            <a:r>
              <a:rPr lang="en-GB" dirty="0" smtClean="0"/>
              <a:t>Thus </a:t>
            </a:r>
            <a:r>
              <a:rPr lang="en-GB" dirty="0" smtClean="0"/>
              <a:t>a reverse-biased p-n </a:t>
            </a:r>
            <a:r>
              <a:rPr lang="en-GB" dirty="0" smtClean="0"/>
              <a:t>junction acts </a:t>
            </a:r>
            <a:r>
              <a:rPr lang="en-GB" dirty="0" smtClean="0"/>
              <a:t>as a </a:t>
            </a:r>
            <a:r>
              <a:rPr lang="en-GB" dirty="0" err="1" smtClean="0"/>
              <a:t>photodetector</a:t>
            </a:r>
            <a:r>
              <a:rPr lang="en-GB" dirty="0" smtClean="0"/>
              <a:t> and is referred to as the </a:t>
            </a:r>
            <a:r>
              <a:rPr lang="en-GB" i="1" dirty="0" smtClean="0"/>
              <a:t>p-n photodiode.</a:t>
            </a:r>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GB" dirty="0" smtClean="0"/>
              <a:t>The </a:t>
            </a:r>
            <a:r>
              <a:rPr lang="en-GB" dirty="0" err="1" smtClean="0"/>
              <a:t>responsivity</a:t>
            </a:r>
            <a:r>
              <a:rPr lang="en-GB" dirty="0" smtClean="0"/>
              <a:t> of </a:t>
            </a:r>
            <a:r>
              <a:rPr lang="en-GB" dirty="0" smtClean="0"/>
              <a:t>a photodiode </a:t>
            </a:r>
            <a:r>
              <a:rPr lang="en-GB" dirty="0" smtClean="0"/>
              <a:t>is quite high </a:t>
            </a:r>
            <a:r>
              <a:rPr lang="en-GB" i="1" dirty="0" smtClean="0"/>
              <a:t>(R ~ 1 </a:t>
            </a:r>
            <a:r>
              <a:rPr lang="en-GB" i="1" dirty="0" smtClean="0"/>
              <a:t>A/W) </a:t>
            </a:r>
            <a:r>
              <a:rPr lang="en-GB" i="1" dirty="0" smtClean="0"/>
              <a:t>because of a high quantum efficiency.</a:t>
            </a:r>
          </a:p>
          <a:p>
            <a:r>
              <a:rPr lang="en-GB" dirty="0" smtClean="0"/>
              <a:t>The bandwidth of a </a:t>
            </a:r>
            <a:r>
              <a:rPr lang="en-GB" i="1" dirty="0" smtClean="0"/>
              <a:t>p-n photodiode is often limited by the transit time </a:t>
            </a:r>
          </a:p>
          <a:p>
            <a:r>
              <a:rPr lang="en-GB" dirty="0" smtClean="0"/>
              <a:t>If </a:t>
            </a:r>
            <a:r>
              <a:rPr lang="en-GB" i="1" dirty="0" smtClean="0"/>
              <a:t>W is the width of the depletion region and </a:t>
            </a:r>
            <a:r>
              <a:rPr lang="en-GB" i="1" dirty="0" err="1" smtClean="0"/>
              <a:t>vd</a:t>
            </a:r>
            <a:r>
              <a:rPr lang="en-GB" i="1" dirty="0" smtClean="0"/>
              <a:t> is the drift velocity, the </a:t>
            </a:r>
            <a:r>
              <a:rPr lang="en-GB" i="1" dirty="0" smtClean="0"/>
              <a:t>transit </a:t>
            </a:r>
            <a:r>
              <a:rPr lang="en-GB" dirty="0" smtClean="0"/>
              <a:t>time </a:t>
            </a:r>
            <a:r>
              <a:rPr lang="en-GB" dirty="0" smtClean="0"/>
              <a:t>is given by</a:t>
            </a:r>
            <a:endParaRPr lang="en-GB" dirty="0"/>
          </a:p>
        </p:txBody>
      </p:sp>
      <p:pic>
        <p:nvPicPr>
          <p:cNvPr id="13314" name="Picture 2"/>
          <p:cNvPicPr>
            <a:picLocks noChangeAspect="1" noChangeArrowheads="1"/>
          </p:cNvPicPr>
          <p:nvPr/>
        </p:nvPicPr>
        <p:blipFill>
          <a:blip r:embed="rId2"/>
          <a:srcRect/>
          <a:stretch>
            <a:fillRect/>
          </a:stretch>
        </p:blipFill>
        <p:spPr bwMode="auto">
          <a:xfrm>
            <a:off x="3276600" y="4724400"/>
            <a:ext cx="3276600" cy="1330349"/>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无标题"/>
          <p:cNvPicPr>
            <a:picLocks noChangeAspect="1" noChangeArrowheads="1"/>
          </p:cNvPicPr>
          <p:nvPr/>
        </p:nvPicPr>
        <p:blipFill>
          <a:blip r:embed="rId2"/>
          <a:srcRect/>
          <a:stretch>
            <a:fillRect/>
          </a:stretch>
        </p:blipFill>
        <p:spPr bwMode="auto">
          <a:xfrm>
            <a:off x="4427538" y="1054100"/>
            <a:ext cx="3621087" cy="3028950"/>
          </a:xfrm>
          <a:prstGeom prst="rect">
            <a:avLst/>
          </a:prstGeom>
          <a:noFill/>
          <a:ln w="9525">
            <a:noFill/>
            <a:miter lim="800000"/>
            <a:headEnd/>
            <a:tailEnd/>
          </a:ln>
        </p:spPr>
      </p:pic>
      <p:sp>
        <p:nvSpPr>
          <p:cNvPr id="8195" name="灯片编号占位符 5"/>
          <p:cNvSpPr txBox="1">
            <a:spLocks noGrp="1" noChangeArrowheads="1"/>
          </p:cNvSpPr>
          <p:nvPr/>
        </p:nvSpPr>
        <p:spPr bwMode="auto">
          <a:xfrm>
            <a:off x="6948488" y="6094413"/>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3150CE03-0C7F-4618-8CCA-6CCCC720BB03}" type="slidenum">
              <a:rPr lang="zh-CN" altLang="en-US" sz="1400"/>
              <a:pPr algn="r">
                <a:spcBef>
                  <a:spcPct val="0"/>
                </a:spcBef>
                <a:buClrTx/>
                <a:buSzTx/>
                <a:buFont typeface="Wingdings" pitchFamily="2" charset="2"/>
                <a:buNone/>
              </a:pPr>
              <a:t>14</a:t>
            </a:fld>
            <a:endParaRPr lang="en-US" sz="1400"/>
          </a:p>
        </p:txBody>
      </p:sp>
      <p:sp>
        <p:nvSpPr>
          <p:cNvPr id="8197" name="Text Box 4"/>
          <p:cNvSpPr txBox="1">
            <a:spLocks noChangeArrowheads="1"/>
          </p:cNvSpPr>
          <p:nvPr/>
        </p:nvSpPr>
        <p:spPr bwMode="auto">
          <a:xfrm>
            <a:off x="250825" y="1365250"/>
            <a:ext cx="3711575" cy="3776663"/>
          </a:xfrm>
          <a:prstGeom prst="rect">
            <a:avLst/>
          </a:prstGeom>
          <a:noFill/>
          <a:ln w="28575" cap="sq" cmpd="sng">
            <a:solidFill>
              <a:srgbClr val="FF99FF"/>
            </a:solidFill>
            <a:miter lim="800000"/>
            <a:headEnd/>
            <a:tailEnd/>
          </a:ln>
        </p:spPr>
        <p:txBody>
          <a:bodyPr>
            <a:spAutoFit/>
          </a:bodyPr>
          <a:lstStyle/>
          <a:p>
            <a:pPr>
              <a:spcBef>
                <a:spcPct val="0"/>
              </a:spcBef>
              <a:buClrTx/>
              <a:buSzTx/>
              <a:buFont typeface="Wingdings" pitchFamily="2" charset="2"/>
              <a:buNone/>
            </a:pPr>
            <a:r>
              <a:rPr lang="en-US" altLang="en-US" sz="2400">
                <a:solidFill>
                  <a:schemeClr val="folHlink"/>
                </a:solidFill>
                <a:effectLst>
                  <a:outerShdw blurRad="38100" dist="38100" dir="2700000" algn="tl">
                    <a:srgbClr val="C0C0C0"/>
                  </a:outerShdw>
                </a:effectLst>
                <a:latin typeface="Times New Roman" pitchFamily="18" charset="0"/>
                <a:ea typeface="黑体" pitchFamily="1" charset="-122"/>
              </a:rPr>
              <a:t>The main factors </a:t>
            </a:r>
            <a:r>
              <a:rPr lang="zh-CN" altLang="en-US" sz="2400">
                <a:solidFill>
                  <a:schemeClr val="folHlink"/>
                </a:solidFill>
                <a:effectLst>
                  <a:outerShdw blurRad="38100" dist="38100" dir="2700000" algn="tl">
                    <a:srgbClr val="C0C0C0"/>
                  </a:outerShdw>
                </a:effectLst>
                <a:latin typeface="Times New Roman" pitchFamily="18" charset="0"/>
                <a:ea typeface="黑体" pitchFamily="1" charset="-122"/>
              </a:rPr>
              <a:t>of </a:t>
            </a:r>
            <a:r>
              <a:rPr lang="en-US" altLang="en-US" sz="2400">
                <a:solidFill>
                  <a:schemeClr val="folHlink"/>
                </a:solidFill>
                <a:effectLst>
                  <a:outerShdw blurRad="38100" dist="38100" dir="2700000" algn="tl">
                    <a:srgbClr val="C0C0C0"/>
                  </a:outerShdw>
                </a:effectLst>
                <a:latin typeface="Times New Roman" pitchFamily="18" charset="0"/>
                <a:ea typeface="黑体" pitchFamily="1" charset="-122"/>
              </a:rPr>
              <a:t>bandwidth limit</a:t>
            </a:r>
            <a:r>
              <a:rPr lang="zh-CN" altLang="en-US" sz="2400">
                <a:solidFill>
                  <a:schemeClr val="folHlink"/>
                </a:solidFill>
                <a:effectLst>
                  <a:outerShdw blurRad="38100" dist="38100" dir="2700000" algn="tl">
                    <a:srgbClr val="C0C0C0"/>
                  </a:outerShdw>
                </a:effectLst>
                <a:latin typeface="Times New Roman" pitchFamily="18" charset="0"/>
                <a:ea typeface="黑体" pitchFamily="1" charset="-122"/>
              </a:rPr>
              <a:t>ion</a:t>
            </a:r>
            <a:r>
              <a:rPr lang="en-US" altLang="en-US" sz="2400">
                <a:solidFill>
                  <a:schemeClr val="folHlink"/>
                </a:solidFill>
                <a:effectLst>
                  <a:outerShdw blurRad="38100" dist="38100" dir="2700000" algn="tl">
                    <a:srgbClr val="C0C0C0"/>
                  </a:outerShdw>
                </a:effectLst>
                <a:latin typeface="Times New Roman" pitchFamily="18" charset="0"/>
                <a:ea typeface="黑体" pitchFamily="1" charset="-122"/>
              </a:rPr>
              <a:t>:</a:t>
            </a:r>
            <a:r>
              <a:rPr lang="en-US" altLang="en-US" sz="2400">
                <a:effectLst>
                  <a:outerShdw blurRad="38100" dist="38100" dir="2700000" algn="tl">
                    <a:srgbClr val="C0C0C0"/>
                  </a:outerShdw>
                </a:effectLst>
                <a:latin typeface="Times New Roman" pitchFamily="18" charset="0"/>
                <a:ea typeface="黑体" pitchFamily="1" charset="-122"/>
              </a:rPr>
              <a:t> the presence of the diffuse component </a:t>
            </a:r>
            <a:r>
              <a:rPr lang="zh-CN" altLang="en-US" sz="2400">
                <a:effectLst>
                  <a:outerShdw blurRad="38100" dist="38100" dir="2700000" algn="tl">
                    <a:srgbClr val="C0C0C0"/>
                  </a:outerShdw>
                </a:effectLst>
                <a:latin typeface="Times New Roman" pitchFamily="18" charset="0"/>
                <a:ea typeface="黑体" pitchFamily="1" charset="-122"/>
              </a:rPr>
              <a:t>in</a:t>
            </a:r>
            <a:r>
              <a:rPr lang="en-US" altLang="en-US" sz="2400">
                <a:effectLst>
                  <a:outerShdw blurRad="38100" dist="38100" dir="2700000" algn="tl">
                    <a:srgbClr val="C0C0C0"/>
                  </a:outerShdw>
                </a:effectLst>
                <a:latin typeface="Times New Roman" pitchFamily="18" charset="0"/>
                <a:ea typeface="黑体" pitchFamily="1" charset="-122"/>
              </a:rPr>
              <a:t> the photocurrent</a:t>
            </a:r>
            <a:r>
              <a:rPr lang="zh-CN" altLang="en-US" sz="2400">
                <a:effectLst>
                  <a:outerShdw blurRad="38100" dist="38100" dir="2700000" algn="tl">
                    <a:srgbClr val="C0C0C0"/>
                  </a:outerShdw>
                </a:effectLst>
                <a:latin typeface="Times New Roman" pitchFamily="18" charset="0"/>
                <a:ea typeface="黑体" pitchFamily="1" charset="-122"/>
              </a:rPr>
              <a:t>. It's ralated to optical absorption in the depletion region. It let the trailing output of  lengthen, and influence the response speed</a:t>
            </a:r>
          </a:p>
        </p:txBody>
      </p:sp>
      <p:sp>
        <p:nvSpPr>
          <p:cNvPr id="8198" name="Text Box 5"/>
          <p:cNvSpPr txBox="1">
            <a:spLocks noChangeArrowheads="1"/>
          </p:cNvSpPr>
          <p:nvPr/>
        </p:nvSpPr>
        <p:spPr bwMode="auto">
          <a:xfrm>
            <a:off x="4286250" y="4565650"/>
            <a:ext cx="3814763" cy="1704975"/>
          </a:xfrm>
          <a:prstGeom prst="rect">
            <a:avLst/>
          </a:prstGeom>
          <a:solidFill>
            <a:srgbClr val="9BFBCB"/>
          </a:solidFill>
          <a:ln w="28575" cap="sq" cmpd="sng">
            <a:solidFill>
              <a:srgbClr val="63F9AE"/>
            </a:solidFill>
            <a:miter lim="800000"/>
            <a:headEnd/>
            <a:tailEnd/>
          </a:ln>
        </p:spPr>
        <p:txBody>
          <a:bodyPr>
            <a:spAutoFit/>
          </a:bodyPr>
          <a:lstStyle/>
          <a:p>
            <a:pPr>
              <a:spcBef>
                <a:spcPct val="0"/>
              </a:spcBef>
              <a:buClrTx/>
              <a:buSzTx/>
              <a:buFont typeface="Wingdings" pitchFamily="2" charset="2"/>
              <a:buNone/>
            </a:pPr>
            <a:r>
              <a:rPr lang="en-US" altLang="en-US" sz="2600">
                <a:effectLst>
                  <a:outerShdw blurRad="38100" dist="38100" dir="2700000" algn="tl">
                    <a:srgbClr val="FFFFFF"/>
                  </a:outerShdw>
                </a:effectLst>
                <a:latin typeface="Times New Roman" pitchFamily="18" charset="0"/>
                <a:ea typeface="黑体" pitchFamily="1" charset="-122"/>
              </a:rPr>
              <a:t>Solution: reduce </a:t>
            </a:r>
            <a:r>
              <a:rPr lang="zh-CN" altLang="en-US" sz="2600">
                <a:effectLst>
                  <a:outerShdw blurRad="38100" dist="38100" dir="2700000" algn="tl">
                    <a:srgbClr val="FFFFFF"/>
                  </a:outerShdw>
                </a:effectLst>
                <a:latin typeface="Times New Roman" pitchFamily="18" charset="0"/>
                <a:ea typeface="黑体" pitchFamily="1" charset="-122"/>
              </a:rPr>
              <a:t>the </a:t>
            </a:r>
            <a:r>
              <a:rPr lang="en-US" altLang="en-US" sz="2600">
                <a:effectLst>
                  <a:outerShdw blurRad="38100" dist="38100" dir="2700000" algn="tl">
                    <a:srgbClr val="FFFFFF"/>
                  </a:outerShdw>
                </a:effectLst>
                <a:latin typeface="Times New Roman" pitchFamily="18" charset="0"/>
                <a:ea typeface="黑体" pitchFamily="1" charset="-122"/>
              </a:rPr>
              <a:t>thickness</a:t>
            </a:r>
            <a:r>
              <a:rPr lang="zh-CN" altLang="en-US" sz="2600">
                <a:effectLst>
                  <a:outerShdw blurRad="38100" dist="38100" dir="2700000" algn="tl">
                    <a:srgbClr val="FFFFFF"/>
                  </a:outerShdw>
                </a:effectLst>
                <a:latin typeface="Times New Roman" pitchFamily="18" charset="0"/>
                <a:ea typeface="黑体" pitchFamily="1" charset="-122"/>
              </a:rPr>
              <a:t> of </a:t>
            </a:r>
            <a:r>
              <a:rPr lang="en-US" altLang="en-US" sz="2600">
                <a:effectLst>
                  <a:outerShdw blurRad="38100" dist="38100" dir="2700000" algn="tl">
                    <a:srgbClr val="FFFFFF"/>
                  </a:outerShdw>
                </a:effectLst>
                <a:latin typeface="Times New Roman" pitchFamily="18" charset="0"/>
                <a:ea typeface="黑体" pitchFamily="1" charset="-122"/>
              </a:rPr>
              <a:t>P, N </a:t>
            </a:r>
            <a:r>
              <a:rPr lang="zh-CN" altLang="en-US" sz="2600">
                <a:effectLst>
                  <a:outerShdw blurRad="38100" dist="38100" dir="2700000" algn="tl">
                    <a:srgbClr val="FFFFFF"/>
                  </a:outerShdw>
                </a:effectLst>
                <a:latin typeface="Times New Roman" pitchFamily="18" charset="0"/>
                <a:ea typeface="黑体" pitchFamily="1" charset="-122"/>
              </a:rPr>
              <a:t>region</a:t>
            </a:r>
            <a:r>
              <a:rPr lang="en-US" altLang="en-US" sz="2600">
                <a:effectLst>
                  <a:outerShdw blurRad="38100" dist="38100" dir="2700000" algn="tl">
                    <a:srgbClr val="FFFFFF"/>
                  </a:outerShdw>
                </a:effectLst>
                <a:latin typeface="Times New Roman" pitchFamily="18" charset="0"/>
                <a:ea typeface="黑体" pitchFamily="1" charset="-122"/>
              </a:rPr>
              <a:t>, </a:t>
            </a:r>
            <a:r>
              <a:rPr lang="zh-CN" altLang="en-US" sz="2600">
                <a:effectLst>
                  <a:outerShdw blurRad="38100" dist="38100" dir="2700000" algn="tl">
                    <a:srgbClr val="FFFFFF"/>
                  </a:outerShdw>
                </a:effectLst>
                <a:latin typeface="Times New Roman" pitchFamily="18" charset="0"/>
                <a:ea typeface="黑体" pitchFamily="1" charset="-122"/>
              </a:rPr>
              <a:t>and </a:t>
            </a:r>
            <a:r>
              <a:rPr lang="en-US" altLang="en-US" sz="2600">
                <a:effectLst>
                  <a:outerShdw blurRad="38100" dist="38100" dir="2700000" algn="tl">
                    <a:srgbClr val="FFFFFF"/>
                  </a:outerShdw>
                </a:effectLst>
                <a:latin typeface="Times New Roman" pitchFamily="18" charset="0"/>
                <a:ea typeface="黑体" pitchFamily="1" charset="-122"/>
              </a:rPr>
              <a:t>increas</a:t>
            </a:r>
            <a:r>
              <a:rPr lang="zh-CN" altLang="en-US" sz="2600">
                <a:effectLst>
                  <a:outerShdw blurRad="38100" dist="38100" dir="2700000" algn="tl">
                    <a:srgbClr val="FFFFFF"/>
                  </a:outerShdw>
                </a:effectLst>
                <a:latin typeface="Times New Roman" pitchFamily="18" charset="0"/>
                <a:ea typeface="黑体" pitchFamily="1" charset="-122"/>
              </a:rPr>
              <a:t>e</a:t>
            </a:r>
            <a:r>
              <a:rPr lang="en-US" altLang="en-US" sz="2600">
                <a:effectLst>
                  <a:outerShdw blurRad="38100" dist="38100" dir="2700000" algn="tl">
                    <a:srgbClr val="FFFFFF"/>
                  </a:outerShdw>
                </a:effectLst>
                <a:latin typeface="Times New Roman" pitchFamily="18" charset="0"/>
                <a:ea typeface="黑体" pitchFamily="1" charset="-122"/>
              </a:rPr>
              <a:t> the width of the depletion region</a:t>
            </a:r>
            <a:r>
              <a:rPr lang="en-US" sz="2600">
                <a:effectLst>
                  <a:outerShdw blurRad="38100" dist="38100" dir="2700000" algn="tl">
                    <a:srgbClr val="FFFFFF"/>
                  </a:outerShdw>
                </a:effectLst>
                <a:latin typeface="Times New Roman" pitchFamily="18" charset="0"/>
                <a:ea typeface="黑体" pitchFamily="1" charset="-122"/>
              </a:rPr>
              <a:t>--PIN</a:t>
            </a:r>
          </a:p>
        </p:txBody>
      </p:sp>
      <p:sp>
        <p:nvSpPr>
          <p:cNvPr id="8199" name="Text Box 6"/>
          <p:cNvSpPr txBox="1">
            <a:spLocks noChangeArrowheads="1"/>
          </p:cNvSpPr>
          <p:nvPr/>
        </p:nvSpPr>
        <p:spPr bwMode="auto">
          <a:xfrm>
            <a:off x="4038600" y="4032250"/>
            <a:ext cx="4926013" cy="304800"/>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1400">
                <a:effectLst>
                  <a:outerShdw blurRad="38100" dist="38100" dir="2700000" algn="tl">
                    <a:srgbClr val="C0C0C0"/>
                  </a:outerShdw>
                </a:effectLst>
                <a:latin typeface="Arial Black" pitchFamily="34" charset="0"/>
                <a:ea typeface="黑体" pitchFamily="1" charset="-122"/>
              </a:rPr>
              <a:t>PN photodiode response to a rectangular pulse</a:t>
            </a:r>
          </a:p>
        </p:txBody>
      </p:sp>
      <p:sp>
        <p:nvSpPr>
          <p:cNvPr id="8200" name="AutoShape 7"/>
          <p:cNvSpPr>
            <a:spLocks noChangeArrowheads="1"/>
          </p:cNvSpPr>
          <p:nvPr/>
        </p:nvSpPr>
        <p:spPr bwMode="auto">
          <a:xfrm>
            <a:off x="7308850" y="981075"/>
            <a:ext cx="1654175" cy="2087563"/>
          </a:xfrm>
          <a:prstGeom prst="wedgeRectCallout">
            <a:avLst>
              <a:gd name="adj1" fmla="val -61421"/>
              <a:gd name="adj2" fmla="val 80505"/>
            </a:avLst>
          </a:prstGeom>
          <a:solidFill>
            <a:srgbClr val="FFB66D"/>
          </a:solidFill>
          <a:ln w="9525">
            <a:noFill/>
            <a:miter lim="800000"/>
            <a:headEnd/>
            <a:tailEnd/>
          </a:ln>
        </p:spPr>
        <p:txBody>
          <a:bodyPr/>
          <a:lstStyle/>
          <a:p>
            <a:pPr algn="ctr">
              <a:spcBef>
                <a:spcPct val="0"/>
              </a:spcBef>
              <a:buClrTx/>
              <a:buSzTx/>
              <a:buFont typeface="Wingdings" pitchFamily="2" charset="2"/>
              <a:buNone/>
            </a:pPr>
            <a:r>
              <a:rPr lang="zh-CN" altLang="en-US" sz="1800">
                <a:effectLst>
                  <a:outerShdw blurRad="38100" dist="38100" dir="2700000" algn="tl">
                    <a:srgbClr val="FFFFFF"/>
                  </a:outerShdw>
                </a:effectLst>
                <a:latin typeface="Times New Roman" pitchFamily="18" charset="0"/>
                <a:ea typeface="黑体" pitchFamily="1" charset="-122"/>
              </a:rPr>
              <a:t>Diffusion component leads to distortion of the transient response of the photodiode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198"/>
                                        </p:tgtEl>
                                        <p:attrNameLst>
                                          <p:attrName>style.visibility</p:attrName>
                                        </p:attrNameLst>
                                      </p:cBhvr>
                                      <p:to>
                                        <p:strVal val="visible"/>
                                      </p:to>
                                    </p:set>
                                    <p:anim calcmode="lin" valueType="num">
                                      <p:cBhvr>
                                        <p:cTn id="7" dur="500" fill="hold"/>
                                        <p:tgtEl>
                                          <p:spTgt spid="8198"/>
                                        </p:tgtEl>
                                        <p:attrNameLst>
                                          <p:attrName>ppt_w</p:attrName>
                                        </p:attrNameLst>
                                      </p:cBhvr>
                                      <p:tavLst>
                                        <p:tav tm="0">
                                          <p:val>
                                            <p:fltVal val="0"/>
                                          </p:val>
                                        </p:tav>
                                        <p:tav tm="100000">
                                          <p:val>
                                            <p:strVal val="#ppt_w"/>
                                          </p:val>
                                        </p:tav>
                                      </p:tavLst>
                                    </p:anim>
                                    <p:anim calcmode="lin" valueType="num">
                                      <p:cBhvr>
                                        <p:cTn id="8" dur="500" fill="hold"/>
                                        <p:tgtEl>
                                          <p:spTgt spid="819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无标题"/>
          <p:cNvPicPr>
            <a:picLocks noChangeAspect="1" noChangeArrowheads="1"/>
          </p:cNvPicPr>
          <p:nvPr/>
        </p:nvPicPr>
        <p:blipFill>
          <a:blip r:embed="rId2"/>
          <a:srcRect/>
          <a:stretch>
            <a:fillRect/>
          </a:stretch>
        </p:blipFill>
        <p:spPr bwMode="auto">
          <a:xfrm>
            <a:off x="4860925" y="2997200"/>
            <a:ext cx="3895725" cy="2867025"/>
          </a:xfrm>
          <a:prstGeom prst="rect">
            <a:avLst/>
          </a:prstGeom>
          <a:noFill/>
          <a:ln w="9525">
            <a:noFill/>
            <a:miter lim="800000"/>
            <a:headEnd/>
            <a:tailEnd/>
          </a:ln>
        </p:spPr>
      </p:pic>
      <p:sp>
        <p:nvSpPr>
          <p:cNvPr id="9219" name="灯片编号占位符 5"/>
          <p:cNvSpPr txBox="1">
            <a:spLocks noGrp="1" noChangeArrowheads="1"/>
          </p:cNvSpPr>
          <p:nvPr/>
        </p:nvSpPr>
        <p:spPr bwMode="auto">
          <a:xfrm>
            <a:off x="7019925" y="6237288"/>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05F7A206-8051-47AF-B7B4-AF82D95697E3}" type="slidenum">
              <a:rPr lang="zh-CN" altLang="en-US" sz="1400"/>
              <a:pPr algn="r">
                <a:spcBef>
                  <a:spcPct val="0"/>
                </a:spcBef>
                <a:buClrTx/>
                <a:buSzTx/>
                <a:buFont typeface="Wingdings" pitchFamily="2" charset="2"/>
                <a:buNone/>
              </a:pPr>
              <a:t>15</a:t>
            </a:fld>
            <a:endParaRPr lang="en-US" sz="1400"/>
          </a:p>
        </p:txBody>
      </p:sp>
      <p:sp>
        <p:nvSpPr>
          <p:cNvPr id="9220" name="Rectangle 2"/>
          <p:cNvSpPr>
            <a:spLocks noGrp="1" noChangeArrowheads="1"/>
          </p:cNvSpPr>
          <p:nvPr>
            <p:ph type="title" idx="4294967295"/>
          </p:nvPr>
        </p:nvSpPr>
        <p:spPr>
          <a:xfrm>
            <a:off x="457200" y="274638"/>
            <a:ext cx="8229600" cy="792162"/>
          </a:xfrm>
        </p:spPr>
        <p:txBody>
          <a:bodyPr anchor="ctr"/>
          <a:lstStyle/>
          <a:p>
            <a:pPr eaLnBrk="1" hangingPunct="1"/>
            <a:r>
              <a:rPr lang="en-US" sz="3600" b="1" dirty="0" smtClean="0">
                <a:solidFill>
                  <a:schemeClr val="folHlink"/>
                </a:solidFill>
                <a:effectLst>
                  <a:outerShdw blurRad="38100" dist="38100" dir="2700000" algn="tl">
                    <a:srgbClr val="C0C0C0"/>
                  </a:outerShdw>
                </a:effectLst>
                <a:latin typeface="Palatino Linotype" pitchFamily="18" charset="0"/>
                <a:ea typeface="华文行楷" pitchFamily="2" charset="-122"/>
              </a:rPr>
              <a:t>2. PIN</a:t>
            </a:r>
            <a:r>
              <a:rPr lang="en-US" altLang="en-US" sz="3600" b="1" dirty="0" smtClean="0">
                <a:solidFill>
                  <a:schemeClr val="folHlink"/>
                </a:solidFill>
                <a:effectLst>
                  <a:outerShdw blurRad="38100" dist="38100" dir="2700000" algn="tl">
                    <a:srgbClr val="C0C0C0"/>
                  </a:outerShdw>
                </a:effectLst>
                <a:latin typeface="Palatino Linotype" pitchFamily="18" charset="0"/>
                <a:ea typeface="华文行楷" pitchFamily="2" charset="-122"/>
              </a:rPr>
              <a:t> </a:t>
            </a:r>
            <a:r>
              <a:rPr lang="en-US" altLang="en-US" sz="3600" b="1" dirty="0">
                <a:solidFill>
                  <a:schemeClr val="folHlink"/>
                </a:solidFill>
                <a:effectLst>
                  <a:outerShdw blurRad="38100" dist="38100" dir="2700000" algn="tl">
                    <a:srgbClr val="C0C0C0"/>
                  </a:outerShdw>
                </a:effectLst>
                <a:latin typeface="Palatino Linotype" pitchFamily="18" charset="0"/>
                <a:ea typeface="华文行楷" pitchFamily="2" charset="-122"/>
              </a:rPr>
              <a:t>photodiode</a:t>
            </a:r>
          </a:p>
        </p:txBody>
      </p:sp>
      <p:sp>
        <p:nvSpPr>
          <p:cNvPr id="9221" name="Rectangle 3"/>
          <p:cNvSpPr>
            <a:spLocks noGrp="1" noChangeArrowheads="1"/>
          </p:cNvSpPr>
          <p:nvPr>
            <p:ph type="body" idx="4294967295"/>
          </p:nvPr>
        </p:nvSpPr>
        <p:spPr>
          <a:xfrm>
            <a:off x="457200" y="1125538"/>
            <a:ext cx="8305800" cy="2232025"/>
          </a:xfrm>
        </p:spPr>
        <p:txBody>
          <a:bodyPr/>
          <a:lstStyle/>
          <a:p>
            <a:pPr eaLnBrk="1" hangingPunct="1">
              <a:lnSpc>
                <a:spcPct val="90000"/>
              </a:lnSpc>
            </a:pPr>
            <a:r>
              <a:rPr lang="en-US" sz="2400" dirty="0">
                <a:latin typeface="Times New Roman" pitchFamily="18" charset="0"/>
              </a:rPr>
              <a:t>Inserting a layer of non doped or low doped semiconductor material between the </a:t>
            </a:r>
            <a:r>
              <a:rPr lang="en-US" sz="2400" dirty="0" err="1">
                <a:latin typeface="Times New Roman" pitchFamily="18" charset="0"/>
              </a:rPr>
              <a:t>PN</a:t>
            </a:r>
            <a:r>
              <a:rPr lang="en-US" sz="2400" dirty="0">
                <a:latin typeface="Times New Roman" pitchFamily="18" charset="0"/>
              </a:rPr>
              <a:t> junctions, in order to increase the depletion region width of W, to decrease the effect of diffusion, and improve the response. Because the semiconductor material between the </a:t>
            </a:r>
            <a:r>
              <a:rPr lang="en-US" sz="2400" dirty="0" err="1">
                <a:latin typeface="Times New Roman" pitchFamily="18" charset="0"/>
              </a:rPr>
              <a:t>PN</a:t>
            </a:r>
            <a:r>
              <a:rPr lang="en-US" sz="2400" dirty="0">
                <a:latin typeface="Times New Roman" pitchFamily="18" charset="0"/>
              </a:rPr>
              <a:t> junctions is like intrinsic semiconductor, we call this photodiode PIN photodiode.</a:t>
            </a:r>
            <a:endParaRPr lang="en-US" sz="2400" dirty="0">
              <a:solidFill>
                <a:schemeClr val="hlink"/>
              </a:solidFill>
              <a:latin typeface="Times New Roman" pitchFamily="18" charset="0"/>
            </a:endParaRPr>
          </a:p>
        </p:txBody>
      </p:sp>
      <p:sp>
        <p:nvSpPr>
          <p:cNvPr id="9222" name="AutoShape 5"/>
          <p:cNvSpPr>
            <a:spLocks noChangeArrowheads="1"/>
          </p:cNvSpPr>
          <p:nvPr/>
        </p:nvSpPr>
        <p:spPr bwMode="auto">
          <a:xfrm>
            <a:off x="755650" y="4294188"/>
            <a:ext cx="3352800" cy="1066800"/>
          </a:xfrm>
          <a:prstGeom prst="cloudCallout">
            <a:avLst>
              <a:gd name="adj1" fmla="val 74574"/>
              <a:gd name="adj2" fmla="val -1338"/>
            </a:avLst>
          </a:prstGeom>
          <a:noFill/>
          <a:ln w="12700" cap="sq" cmpd="sng">
            <a:solidFill>
              <a:schemeClr val="folHlink"/>
            </a:solidFill>
            <a:round/>
            <a:headEnd/>
            <a:tailEnd/>
          </a:ln>
        </p:spPr>
        <p:txBody>
          <a:bodyPr/>
          <a:lstStyle/>
          <a:p>
            <a:pPr algn="ctr">
              <a:spcBef>
                <a:spcPct val="0"/>
              </a:spcBef>
              <a:buClrTx/>
              <a:buSzTx/>
              <a:buFont typeface="Wingdings" pitchFamily="2" charset="2"/>
              <a:buNone/>
            </a:pPr>
            <a:r>
              <a:rPr lang="zh-CN" altLang="en-US" sz="2000">
                <a:solidFill>
                  <a:schemeClr val="folHlink"/>
                </a:solidFill>
                <a:effectLst>
                  <a:outerShdw blurRad="38100" dist="38100" dir="2700000" algn="tl">
                    <a:srgbClr val="C0C0C0"/>
                  </a:outerShdw>
                </a:effectLst>
                <a:latin typeface="Times New Roman" pitchFamily="18" charset="0"/>
                <a:ea typeface="黑体" pitchFamily="1" charset="-122"/>
              </a:rPr>
              <a:t>V</a:t>
            </a:r>
            <a:r>
              <a:rPr lang="en-US" altLang="en-US" sz="2000">
                <a:solidFill>
                  <a:schemeClr val="folHlink"/>
                </a:solidFill>
                <a:effectLst>
                  <a:outerShdw blurRad="38100" dist="38100" dir="2700000" algn="tl">
                    <a:srgbClr val="C0C0C0"/>
                  </a:outerShdw>
                </a:effectLst>
                <a:latin typeface="Times New Roman" pitchFamily="18" charset="0"/>
                <a:ea typeface="黑体" pitchFamily="1" charset="-122"/>
              </a:rPr>
              <a:t>oltage basically fall </a:t>
            </a:r>
            <a:r>
              <a:rPr lang="zh-CN" altLang="en-US" sz="2000">
                <a:solidFill>
                  <a:schemeClr val="folHlink"/>
                </a:solidFill>
                <a:effectLst>
                  <a:outerShdw blurRad="38100" dist="38100" dir="2700000" algn="tl">
                    <a:srgbClr val="C0C0C0"/>
                  </a:outerShdw>
                </a:effectLst>
                <a:latin typeface="Times New Roman" pitchFamily="18" charset="0"/>
                <a:ea typeface="黑体" pitchFamily="1" charset="-122"/>
              </a:rPr>
              <a:t>in </a:t>
            </a:r>
            <a:r>
              <a:rPr lang="en-US" altLang="en-US" sz="2000">
                <a:solidFill>
                  <a:schemeClr val="folHlink"/>
                </a:solidFill>
                <a:effectLst>
                  <a:outerShdw blurRad="38100" dist="38100" dir="2700000" algn="tl">
                    <a:srgbClr val="C0C0C0"/>
                  </a:outerShdw>
                </a:effectLst>
                <a:latin typeface="Times New Roman" pitchFamily="18" charset="0"/>
                <a:ea typeface="黑体" pitchFamily="1" charset="-122"/>
              </a:rPr>
              <a:t>I </a:t>
            </a:r>
            <a:r>
              <a:rPr lang="zh-CN" altLang="en-US" sz="2000">
                <a:solidFill>
                  <a:schemeClr val="folHlink"/>
                </a:solidFill>
                <a:effectLst>
                  <a:outerShdw blurRad="38100" dist="38100" dir="2700000" algn="tl">
                    <a:srgbClr val="C0C0C0"/>
                  </a:outerShdw>
                </a:effectLst>
                <a:latin typeface="Times New Roman" pitchFamily="18" charset="0"/>
                <a:ea typeface="黑体" pitchFamily="1" charset="-122"/>
              </a:rPr>
              <a:t>region</a:t>
            </a:r>
          </a:p>
        </p:txBody>
      </p:sp>
      <p:sp>
        <p:nvSpPr>
          <p:cNvPr id="9223" name="Text Box 6"/>
          <p:cNvSpPr txBox="1">
            <a:spLocks noChangeArrowheads="1"/>
          </p:cNvSpPr>
          <p:nvPr/>
        </p:nvSpPr>
        <p:spPr bwMode="auto">
          <a:xfrm>
            <a:off x="5003800" y="5876925"/>
            <a:ext cx="3671888" cy="366713"/>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1800" i="1">
                <a:solidFill>
                  <a:srgbClr val="008000"/>
                </a:solidFill>
                <a:effectLst>
                  <a:outerShdw blurRad="38100" dist="38100" dir="2700000" algn="tl">
                    <a:srgbClr val="C0C0C0"/>
                  </a:outerShdw>
                </a:effectLst>
                <a:latin typeface="Times New Roman" pitchFamily="18" charset="0"/>
                <a:ea typeface="黑体" pitchFamily="1" charset="-122"/>
              </a:rPr>
              <a:t>Field distribution of PIN photodiode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noChangeArrowheads="1"/>
          </p:cNvSpPr>
          <p:nvPr/>
        </p:nvSpPr>
        <p:spPr bwMode="auto">
          <a:xfrm>
            <a:off x="7019925" y="6165850"/>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A4B75439-CD3B-42C3-87F7-91264196B5BF}" type="slidenum">
              <a:rPr lang="zh-CN" altLang="en-US" sz="1400"/>
              <a:pPr algn="r">
                <a:spcBef>
                  <a:spcPct val="0"/>
                </a:spcBef>
                <a:buClrTx/>
                <a:buSzTx/>
                <a:buFont typeface="Wingdings" pitchFamily="2" charset="2"/>
                <a:buNone/>
              </a:pPr>
              <a:t>16</a:t>
            </a:fld>
            <a:endParaRPr lang="en-US" sz="1400"/>
          </a:p>
        </p:txBody>
      </p:sp>
      <p:sp>
        <p:nvSpPr>
          <p:cNvPr id="10243" name="Rectangle 2"/>
          <p:cNvSpPr>
            <a:spLocks noGrp="1" noChangeArrowheads="1"/>
          </p:cNvSpPr>
          <p:nvPr>
            <p:ph type="title" idx="4294967295"/>
          </p:nvPr>
        </p:nvSpPr>
        <p:spPr/>
        <p:txBody>
          <a:bodyPr anchor="ctr"/>
          <a:lstStyle/>
          <a:p>
            <a:pPr eaLnBrk="1" hangingPunct="1"/>
            <a:r>
              <a:rPr lang="en-US" sz="3600" b="1" dirty="0" smtClean="0">
                <a:solidFill>
                  <a:schemeClr val="folHlink"/>
                </a:solidFill>
                <a:effectLst>
                  <a:outerShdw blurRad="38100" dist="38100" dir="2700000" algn="tl">
                    <a:srgbClr val="C0C0C0"/>
                  </a:outerShdw>
                </a:effectLst>
                <a:latin typeface="Palatino Linotype" pitchFamily="18" charset="0"/>
                <a:ea typeface="华文行楷" pitchFamily="2" charset="-122"/>
              </a:rPr>
              <a:t> </a:t>
            </a:r>
            <a:r>
              <a:rPr lang="en-US" sz="3600" b="1" dirty="0">
                <a:solidFill>
                  <a:schemeClr val="folHlink"/>
                </a:solidFill>
                <a:effectLst>
                  <a:outerShdw blurRad="38100" dist="38100" dir="2700000" algn="tl">
                    <a:srgbClr val="C0C0C0"/>
                  </a:outerShdw>
                </a:effectLst>
                <a:latin typeface="Palatino Linotype" pitchFamily="18" charset="0"/>
                <a:ea typeface="华文行楷" pitchFamily="2" charset="-122"/>
              </a:rPr>
              <a:t>PIN</a:t>
            </a:r>
            <a:r>
              <a:rPr lang="en-US" altLang="en-US" sz="3600" b="1" dirty="0">
                <a:solidFill>
                  <a:schemeClr val="folHlink"/>
                </a:solidFill>
                <a:effectLst>
                  <a:outerShdw blurRad="38100" dist="38100" dir="2700000" algn="tl">
                    <a:srgbClr val="C0C0C0"/>
                  </a:outerShdw>
                </a:effectLst>
                <a:latin typeface="Palatino Linotype" pitchFamily="18" charset="0"/>
                <a:ea typeface="华文行楷" pitchFamily="2" charset="-122"/>
              </a:rPr>
              <a:t> photodiode</a:t>
            </a:r>
          </a:p>
        </p:txBody>
      </p:sp>
      <p:sp>
        <p:nvSpPr>
          <p:cNvPr id="10244" name="Text Box 4"/>
          <p:cNvSpPr txBox="1">
            <a:spLocks noChangeArrowheads="1"/>
          </p:cNvSpPr>
          <p:nvPr/>
        </p:nvSpPr>
        <p:spPr bwMode="auto">
          <a:xfrm>
            <a:off x="4343400" y="5791200"/>
            <a:ext cx="4114800" cy="396875"/>
          </a:xfrm>
          <a:prstGeom prst="rect">
            <a:avLst/>
          </a:prstGeom>
          <a:noFill/>
          <a:ln w="9525">
            <a:noFill/>
            <a:miter lim="800000"/>
            <a:headEnd/>
            <a:tailEnd/>
          </a:ln>
        </p:spPr>
        <p:txBody>
          <a:bodyPr>
            <a:spAutoFit/>
          </a:bodyPr>
          <a:lstStyle/>
          <a:p>
            <a:pPr algn="ctr">
              <a:spcBef>
                <a:spcPct val="50000"/>
              </a:spcBef>
              <a:buClrTx/>
              <a:buSzTx/>
              <a:buFont typeface="Wingdings" pitchFamily="2" charset="2"/>
              <a:buNone/>
            </a:pPr>
            <a:r>
              <a:rPr lang="en-US" sz="2000">
                <a:solidFill>
                  <a:srgbClr val="008000"/>
                </a:solidFill>
                <a:effectLst>
                  <a:outerShdw blurRad="38100" dist="38100" dir="2700000" algn="tl">
                    <a:srgbClr val="C0C0C0"/>
                  </a:outerShdw>
                </a:effectLst>
                <a:latin typeface="Arial Black" pitchFamily="34" charset="0"/>
                <a:ea typeface="黑体" pitchFamily="1" charset="-122"/>
              </a:rPr>
              <a:t>InGaAs PIN </a:t>
            </a:r>
            <a:r>
              <a:rPr lang="zh-CN" altLang="en-US" sz="2000">
                <a:solidFill>
                  <a:srgbClr val="008000"/>
                </a:solidFill>
                <a:effectLst>
                  <a:outerShdw blurRad="38100" dist="38100" dir="2700000" algn="tl">
                    <a:srgbClr val="C0C0C0"/>
                  </a:outerShdw>
                </a:effectLst>
                <a:latin typeface="Arial Black" pitchFamily="34" charset="0"/>
                <a:ea typeface="黑体" pitchFamily="1" charset="-122"/>
              </a:rPr>
              <a:t>photodiode</a:t>
            </a:r>
          </a:p>
        </p:txBody>
      </p:sp>
      <p:sp>
        <p:nvSpPr>
          <p:cNvPr id="10245" name="Rectangle 5"/>
          <p:cNvSpPr>
            <a:spLocks noChangeArrowheads="1"/>
          </p:cNvSpPr>
          <p:nvPr/>
        </p:nvSpPr>
        <p:spPr bwMode="auto">
          <a:xfrm>
            <a:off x="466725" y="1485900"/>
            <a:ext cx="3419475" cy="3422650"/>
          </a:xfrm>
          <a:prstGeom prst="rect">
            <a:avLst/>
          </a:prstGeom>
          <a:solidFill>
            <a:srgbClr val="FFFFCC"/>
          </a:solidFill>
          <a:ln w="38100" cap="rnd" cmpd="sng">
            <a:solidFill>
              <a:srgbClr val="FF9966"/>
            </a:solidFill>
            <a:prstDash val="sysDot"/>
            <a:miter lim="800000"/>
            <a:headEnd/>
            <a:tailEnd/>
          </a:ln>
        </p:spPr>
        <p:txBody>
          <a:bodyPr>
            <a:spAutoFit/>
          </a:bodyPr>
          <a:lstStyle/>
          <a:p>
            <a:pPr>
              <a:spcBef>
                <a:spcPct val="50000"/>
              </a:spcBef>
              <a:buClrTx/>
              <a:buSzTx/>
              <a:buFont typeface="Wingdings" pitchFamily="2" charset="2"/>
              <a:buNone/>
            </a:pPr>
            <a:r>
              <a:rPr lang="zh-CN" altLang="en-US" sz="2400">
                <a:solidFill>
                  <a:schemeClr val="hlink"/>
                </a:solidFill>
                <a:effectLst>
                  <a:outerShdw blurRad="38100" dist="38100" dir="2700000" algn="tl">
                    <a:srgbClr val="000000"/>
                  </a:outerShdw>
                </a:effectLst>
                <a:latin typeface="Times New Roman" pitchFamily="18" charset="0"/>
                <a:cs typeface="Times New Roman" pitchFamily="18" charset="0"/>
              </a:rPr>
              <a:t>Double heterojunction structure:</a:t>
            </a:r>
          </a:p>
          <a:p>
            <a:pPr>
              <a:spcBef>
                <a:spcPct val="50000"/>
              </a:spcBef>
              <a:buClrTx/>
              <a:buSzTx/>
              <a:buFont typeface="Wingdings" pitchFamily="2" charset="2"/>
              <a:buNone/>
            </a:pPr>
            <a:r>
              <a:rPr lang="en-US" altLang="en-US" sz="2400">
                <a:effectLst>
                  <a:outerShdw blurRad="38100" dist="38100" dir="2700000" algn="tl">
                    <a:srgbClr val="FFFFFF"/>
                  </a:outerShdw>
                </a:effectLst>
                <a:latin typeface="Times New Roman" pitchFamily="18" charset="0"/>
                <a:cs typeface="Times New Roman" pitchFamily="18" charset="0"/>
              </a:rPr>
              <a:t>N and P region: InP, transparent</a:t>
            </a:r>
            <a:r>
              <a:rPr lang="zh-CN" altLang="en-US" sz="2400">
                <a:effectLst>
                  <a:outerShdw blurRad="38100" dist="38100" dir="2700000" algn="tl">
                    <a:srgbClr val="FFFFFF"/>
                  </a:outerShdw>
                </a:effectLst>
                <a:latin typeface="Times New Roman" pitchFamily="18" charset="0"/>
                <a:cs typeface="Times New Roman" pitchFamily="18" charset="0"/>
              </a:rPr>
              <a:t> </a:t>
            </a:r>
            <a:r>
              <a:rPr lang="en-US" altLang="en-US" sz="2400">
                <a:effectLst>
                  <a:outerShdw blurRad="38100" dist="38100" dir="2700000" algn="tl">
                    <a:srgbClr val="FFFFFF"/>
                  </a:outerShdw>
                </a:effectLst>
                <a:latin typeface="Times New Roman" pitchFamily="18" charset="0"/>
                <a:cs typeface="Times New Roman" pitchFamily="18" charset="0"/>
              </a:rPr>
              <a:t>for</a:t>
            </a:r>
            <a:r>
              <a:rPr lang="zh-CN" altLang="en-US" sz="2400">
                <a:effectLst>
                  <a:outerShdw blurRad="38100" dist="38100" dir="2700000" algn="tl">
                    <a:srgbClr val="FFFFFF"/>
                  </a:outerShdw>
                </a:effectLst>
                <a:latin typeface="Times New Roman" pitchFamily="18" charset="0"/>
                <a:cs typeface="Times New Roman" pitchFamily="18" charset="0"/>
              </a:rPr>
              <a:t> the</a:t>
            </a:r>
            <a:r>
              <a:rPr lang="en-US" altLang="en-US" sz="2400">
                <a:effectLst>
                  <a:outerShdw blurRad="38100" dist="38100" dir="2700000" algn="tl">
                    <a:srgbClr val="FFFFFF"/>
                  </a:outerShdw>
                </a:effectLst>
                <a:latin typeface="Times New Roman" pitchFamily="18" charset="0"/>
                <a:cs typeface="Times New Roman" pitchFamily="18" charset="0"/>
              </a:rPr>
              <a:t> light </a:t>
            </a:r>
            <a:r>
              <a:rPr lang="zh-CN" altLang="en-US" sz="2400">
                <a:effectLst>
                  <a:outerShdw blurRad="38100" dist="38100" dir="2700000" algn="tl">
                    <a:srgbClr val="FFFFFF"/>
                  </a:outerShdw>
                </a:effectLst>
                <a:latin typeface="Times New Roman" pitchFamily="18" charset="0"/>
                <a:cs typeface="Times New Roman" pitchFamily="18" charset="0"/>
                <a:sym typeface="Symbol" pitchFamily="18" charset="2"/>
              </a:rPr>
              <a:t></a:t>
            </a:r>
            <a:r>
              <a:rPr lang="en-US" altLang="en-US" sz="2400">
                <a:effectLst>
                  <a:outerShdw blurRad="38100" dist="38100" dir="2700000" algn="tl">
                    <a:srgbClr val="FFFFFF"/>
                  </a:outerShdw>
                </a:effectLst>
                <a:latin typeface="Times New Roman" pitchFamily="18" charset="0"/>
                <a:cs typeface="Times New Roman" pitchFamily="18" charset="0"/>
              </a:rPr>
              <a:t>&gt; 920nm </a:t>
            </a:r>
            <a:r>
              <a:rPr lang="zh-CN" altLang="en-US" sz="2400">
                <a:effectLst>
                  <a:outerShdw blurRad="38100" dist="38100" dir="2700000" algn="tl">
                    <a:srgbClr val="FFFFFF"/>
                  </a:outerShdw>
                </a:effectLst>
                <a:latin typeface="Times New Roman" pitchFamily="18" charset="0"/>
                <a:cs typeface="Times New Roman" pitchFamily="18" charset="0"/>
                <a:sym typeface="Symbol" pitchFamily="18" charset="2"/>
              </a:rPr>
              <a:t>；</a:t>
            </a:r>
          </a:p>
          <a:p>
            <a:pPr>
              <a:spcBef>
                <a:spcPct val="50000"/>
              </a:spcBef>
              <a:buClrTx/>
              <a:buSzTx/>
              <a:buFont typeface="Wingdings" pitchFamily="2" charset="2"/>
              <a:buNone/>
            </a:pPr>
            <a:r>
              <a:rPr lang="en-US" sz="2400">
                <a:effectLst>
                  <a:outerShdw blurRad="38100" dist="38100" dir="2700000" algn="tl">
                    <a:srgbClr val="FFFFFF"/>
                  </a:outerShdw>
                </a:effectLst>
                <a:latin typeface="Times New Roman" pitchFamily="18" charset="0"/>
                <a:cs typeface="Times New Roman" pitchFamily="18" charset="0"/>
                <a:sym typeface="Symbol" pitchFamily="18" charset="2"/>
              </a:rPr>
              <a:t>I</a:t>
            </a:r>
            <a:r>
              <a:rPr lang="zh-CN" altLang="en-US" sz="2400">
                <a:effectLst>
                  <a:outerShdw blurRad="38100" dist="38100" dir="2700000" algn="tl">
                    <a:srgbClr val="FFFFFF"/>
                  </a:outerShdw>
                </a:effectLst>
                <a:latin typeface="Times New Roman" pitchFamily="18" charset="0"/>
                <a:cs typeface="Times New Roman" pitchFamily="18" charset="0"/>
                <a:sym typeface="Symbol" pitchFamily="18" charset="2"/>
              </a:rPr>
              <a:t> </a:t>
            </a:r>
            <a:r>
              <a:rPr lang="en-US" altLang="en-US" sz="2400">
                <a:effectLst>
                  <a:outerShdw blurRad="38100" dist="38100" dir="2700000" algn="tl">
                    <a:srgbClr val="FFFFFF"/>
                  </a:outerShdw>
                </a:effectLst>
                <a:latin typeface="Times New Roman" pitchFamily="18" charset="0"/>
                <a:cs typeface="Times New Roman" pitchFamily="18" charset="0"/>
              </a:rPr>
              <a:t>region</a:t>
            </a:r>
            <a:r>
              <a:rPr lang="en-US" sz="2400">
                <a:effectLst>
                  <a:outerShdw blurRad="38100" dist="38100" dir="2700000" algn="tl">
                    <a:srgbClr val="FFFFFF"/>
                  </a:outerShdw>
                </a:effectLst>
                <a:latin typeface="Times New Roman" pitchFamily="18" charset="0"/>
                <a:cs typeface="Times New Roman" pitchFamily="18" charset="0"/>
                <a:sym typeface="Symbol" pitchFamily="18" charset="2"/>
              </a:rPr>
              <a:t>: InGaAs</a:t>
            </a:r>
            <a:r>
              <a:rPr lang="zh-CN" altLang="en-US" sz="2400">
                <a:effectLst>
                  <a:outerShdw blurRad="38100" dist="38100" dir="2700000" algn="tl">
                    <a:srgbClr val="FFFFFF"/>
                  </a:outerShdw>
                </a:effectLst>
                <a:latin typeface="Times New Roman" pitchFamily="18" charset="0"/>
                <a:cs typeface="Times New Roman" pitchFamily="18" charset="0"/>
                <a:sym typeface="Symbol" pitchFamily="18" charset="2"/>
              </a:rPr>
              <a:t>；</a:t>
            </a:r>
            <a:r>
              <a:rPr lang="zh-CN" altLang="en-US" sz="2400">
                <a:effectLst>
                  <a:outerShdw blurRad="38100" dist="38100" dir="2700000" algn="tl">
                    <a:srgbClr val="FFFFFF"/>
                  </a:outerShdw>
                </a:effectLst>
                <a:latin typeface="Times New Roman" pitchFamily="18" charset="0"/>
                <a:cs typeface="Times New Roman" pitchFamily="18" charset="0"/>
              </a:rPr>
              <a:t> </a:t>
            </a:r>
            <a:r>
              <a:rPr lang="zh-CN" altLang="en-US" sz="2400">
                <a:effectLst>
                  <a:outerShdw blurRad="38100" dist="38100" dir="2700000" algn="tl">
                    <a:srgbClr val="FFFFFF"/>
                  </a:outerShdw>
                </a:effectLst>
                <a:latin typeface="Times New Roman" pitchFamily="18" charset="0"/>
                <a:cs typeface="Times New Roman" pitchFamily="18" charset="0"/>
                <a:sym typeface="Symbol" pitchFamily="18" charset="2"/>
              </a:rPr>
              <a:t>absorb the light </a:t>
            </a:r>
            <a:r>
              <a:rPr lang="en-US" sz="2400">
                <a:effectLst>
                  <a:outerShdw blurRad="38100" dist="38100" dir="2700000" algn="tl">
                    <a:srgbClr val="FFFFFF"/>
                  </a:outerShdw>
                </a:effectLst>
                <a:latin typeface="Times New Roman" pitchFamily="18" charset="0"/>
                <a:cs typeface="Times New Roman" pitchFamily="18" charset="0"/>
                <a:sym typeface="Symbol" pitchFamily="18" charset="2"/>
              </a:rPr>
              <a:t>=1300~1600nm  </a:t>
            </a:r>
            <a:r>
              <a:rPr lang="en-US" sz="2400">
                <a:effectLst>
                  <a:outerShdw blurRad="38100" dist="38100" dir="2700000" algn="tl">
                    <a:srgbClr val="FFFFFF"/>
                  </a:outerShdw>
                </a:effectLst>
                <a:latin typeface="Arial Black" pitchFamily="34" charset="0"/>
                <a:ea typeface="黑体" pitchFamily="1" charset="-122"/>
                <a:sym typeface="Symbol" pitchFamily="18" charset="2"/>
              </a:rPr>
              <a:t>    </a:t>
            </a:r>
            <a:endParaRPr lang="zh-CN" altLang="en-US" sz="2400">
              <a:effectLst>
                <a:outerShdw blurRad="38100" dist="38100" dir="2700000" algn="tl">
                  <a:srgbClr val="FFFFFF"/>
                </a:outerShdw>
              </a:effectLst>
              <a:latin typeface="Arial Black" pitchFamily="34" charset="0"/>
              <a:ea typeface="黑体" pitchFamily="1" charset="-122"/>
              <a:sym typeface="Symbol" pitchFamily="18" charset="2"/>
            </a:endParaRPr>
          </a:p>
        </p:txBody>
      </p:sp>
      <p:pic>
        <p:nvPicPr>
          <p:cNvPr id="10246" name="Picture 6" descr="无标题"/>
          <p:cNvPicPr>
            <a:picLocks noChangeAspect="1" noChangeArrowheads="1"/>
          </p:cNvPicPr>
          <p:nvPr/>
        </p:nvPicPr>
        <p:blipFill>
          <a:blip r:embed="rId2"/>
          <a:srcRect/>
          <a:stretch>
            <a:fillRect/>
          </a:stretch>
        </p:blipFill>
        <p:spPr bwMode="auto">
          <a:xfrm>
            <a:off x="4284663" y="1125538"/>
            <a:ext cx="4343400" cy="45339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noChangeArrowheads="1"/>
          </p:cNvSpPr>
          <p:nvPr/>
        </p:nvSpPr>
        <p:spPr bwMode="auto">
          <a:xfrm>
            <a:off x="7019925" y="6165850"/>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B2AF21B7-2C62-4B9A-B706-4B2B5E1A2176}" type="slidenum">
              <a:rPr lang="zh-CN" altLang="en-US" sz="1400"/>
              <a:pPr algn="r">
                <a:spcBef>
                  <a:spcPct val="0"/>
                </a:spcBef>
                <a:buClrTx/>
                <a:buSzTx/>
                <a:buFont typeface="Wingdings" pitchFamily="2" charset="2"/>
                <a:buNone/>
              </a:pPr>
              <a:t>17</a:t>
            </a:fld>
            <a:endParaRPr lang="en-US" sz="1400"/>
          </a:p>
        </p:txBody>
      </p:sp>
      <p:sp>
        <p:nvSpPr>
          <p:cNvPr id="11267" name="Rectangle 2"/>
          <p:cNvSpPr>
            <a:spLocks noGrp="1" noChangeArrowheads="1"/>
          </p:cNvSpPr>
          <p:nvPr>
            <p:ph type="title" idx="4294967295"/>
          </p:nvPr>
        </p:nvSpPr>
        <p:spPr/>
        <p:txBody>
          <a:bodyPr anchor="ctr"/>
          <a:lstStyle/>
          <a:p>
            <a:pPr eaLnBrk="1" hangingPunct="1"/>
            <a:r>
              <a:rPr lang="en-US" sz="3600" b="1">
                <a:solidFill>
                  <a:schemeClr val="folHlink"/>
                </a:solidFill>
                <a:effectLst>
                  <a:outerShdw blurRad="38100" dist="38100" dir="2700000" algn="tl">
                    <a:srgbClr val="C0C0C0"/>
                  </a:outerShdw>
                </a:effectLst>
                <a:latin typeface="Palatino Linotype" pitchFamily="18" charset="0"/>
                <a:ea typeface="华文行楷" pitchFamily="2" charset="-122"/>
              </a:rPr>
              <a:t>  Quantum Efficiency</a:t>
            </a:r>
          </a:p>
        </p:txBody>
      </p:sp>
      <p:sp>
        <p:nvSpPr>
          <p:cNvPr id="11268" name="Rectangle 3"/>
          <p:cNvSpPr>
            <a:spLocks noGrp="1" noChangeArrowheads="1"/>
          </p:cNvSpPr>
          <p:nvPr>
            <p:ph type="body" idx="4294967295"/>
          </p:nvPr>
        </p:nvSpPr>
        <p:spPr>
          <a:xfrm>
            <a:off x="179388" y="1125538"/>
            <a:ext cx="8785225" cy="1066800"/>
          </a:xfrm>
        </p:spPr>
        <p:txBody>
          <a:bodyPr>
            <a:normAutofit fontScale="92500"/>
          </a:bodyPr>
          <a:lstStyle/>
          <a:p>
            <a:pPr eaLnBrk="1" hangingPunct="1"/>
            <a:r>
              <a:rPr lang="en-US" sz="2400">
                <a:latin typeface="Times New Roman" pitchFamily="18" charset="0"/>
              </a:rPr>
              <a:t>The ratio of the number of photons can be converted to a current to the total number of photons of incident light is called the quantum efficiency.</a:t>
            </a:r>
          </a:p>
        </p:txBody>
      </p:sp>
      <p:grpSp>
        <p:nvGrpSpPr>
          <p:cNvPr id="2" name="Group 5"/>
          <p:cNvGrpSpPr>
            <a:grpSpLocks/>
          </p:cNvGrpSpPr>
          <p:nvPr/>
        </p:nvGrpSpPr>
        <p:grpSpPr bwMode="auto">
          <a:xfrm>
            <a:off x="1044575" y="2276475"/>
            <a:ext cx="6562725" cy="1028700"/>
            <a:chOff x="0" y="0"/>
            <a:chExt cx="3771" cy="648"/>
          </a:xfrm>
        </p:grpSpPr>
        <p:graphicFrame>
          <p:nvGraphicFramePr>
            <p:cNvPr id="11270" name="Object 6"/>
            <p:cNvGraphicFramePr>
              <a:graphicFrameLocks noChangeAspect="1"/>
            </p:cNvGraphicFramePr>
            <p:nvPr/>
          </p:nvGraphicFramePr>
          <p:xfrm>
            <a:off x="0" y="0"/>
            <a:ext cx="3771" cy="648"/>
          </p:xfrm>
          <a:graphic>
            <a:graphicData uri="http://schemas.openxmlformats.org/presentationml/2006/ole">
              <p:oleObj spid="_x0000_s8194" r:id="rId3" imgW="2235517" imgH="457517" progId="Equation.3">
                <p:embed/>
              </p:oleObj>
            </a:graphicData>
          </a:graphic>
        </p:graphicFrame>
        <p:sp>
          <p:nvSpPr>
            <p:cNvPr id="11271" name="Text Box 6"/>
            <p:cNvSpPr txBox="1">
              <a:spLocks noChangeArrowheads="1"/>
            </p:cNvSpPr>
            <p:nvPr/>
          </p:nvSpPr>
          <p:spPr bwMode="auto">
            <a:xfrm>
              <a:off x="367" y="0"/>
              <a:ext cx="2496" cy="288"/>
            </a:xfrm>
            <a:prstGeom prst="rect">
              <a:avLst/>
            </a:prstGeom>
            <a:solidFill>
              <a:srgbClr val="CCFFFF"/>
            </a:solidFill>
            <a:ln w="9525">
              <a:noFill/>
              <a:miter lim="800000"/>
              <a:headEnd/>
              <a:tailEnd/>
            </a:ln>
          </p:spPr>
          <p:txBody>
            <a:bodyPr>
              <a:spAutoFit/>
            </a:bodyPr>
            <a:lstStyle/>
            <a:p>
              <a:pPr>
                <a:spcBef>
                  <a:spcPct val="50000"/>
                </a:spcBef>
                <a:buClrTx/>
                <a:buSzTx/>
                <a:buFont typeface="Wingdings" pitchFamily="2" charset="2"/>
                <a:buNone/>
              </a:pPr>
              <a:r>
                <a:rPr lang="zh-CN" altLang="en-US" sz="1800">
                  <a:effectLst>
                    <a:outerShdw blurRad="38100" dist="38100" dir="2700000" algn="tl">
                      <a:srgbClr val="FFFFFF"/>
                    </a:outerShdw>
                  </a:effectLst>
                  <a:latin typeface="Times New Roman" pitchFamily="18" charset="0"/>
                  <a:ea typeface="黑体" pitchFamily="1" charset="-122"/>
                </a:rPr>
                <a:t>The number of electron-hole pairs</a:t>
              </a:r>
            </a:p>
          </p:txBody>
        </p:sp>
        <p:sp>
          <p:nvSpPr>
            <p:cNvPr id="11272" name="Text Box 7"/>
            <p:cNvSpPr txBox="1">
              <a:spLocks noChangeArrowheads="1"/>
            </p:cNvSpPr>
            <p:nvPr/>
          </p:nvSpPr>
          <p:spPr bwMode="auto">
            <a:xfrm>
              <a:off x="895" y="336"/>
              <a:ext cx="1920" cy="288"/>
            </a:xfrm>
            <a:prstGeom prst="rect">
              <a:avLst/>
            </a:prstGeom>
            <a:solidFill>
              <a:srgbClr val="CCFFFF"/>
            </a:solidFill>
            <a:ln w="9525">
              <a:noFill/>
              <a:miter lim="800000"/>
              <a:headEnd/>
              <a:tailEnd/>
            </a:ln>
          </p:spPr>
          <p:txBody>
            <a:bodyPr>
              <a:spAutoFit/>
            </a:bodyPr>
            <a:lstStyle/>
            <a:p>
              <a:pPr>
                <a:spcBef>
                  <a:spcPct val="50000"/>
                </a:spcBef>
                <a:buClrTx/>
                <a:buSzTx/>
                <a:buFont typeface="Wingdings" pitchFamily="2" charset="2"/>
                <a:buNone/>
              </a:pPr>
              <a:endParaRPr lang="en-US" sz="1800">
                <a:latin typeface="Times New Roman" pitchFamily="18" charset="0"/>
              </a:endParaRPr>
            </a:p>
          </p:txBody>
        </p:sp>
      </p:grpSp>
      <p:sp>
        <p:nvSpPr>
          <p:cNvPr id="11273" name="Text Box 8"/>
          <p:cNvSpPr txBox="1">
            <a:spLocks noChangeArrowheads="1"/>
          </p:cNvSpPr>
          <p:nvPr/>
        </p:nvSpPr>
        <p:spPr bwMode="auto">
          <a:xfrm>
            <a:off x="323850" y="3429000"/>
            <a:ext cx="8686800" cy="2497138"/>
          </a:xfrm>
          <a:prstGeom prst="rect">
            <a:avLst/>
          </a:prstGeom>
          <a:noFill/>
          <a:ln w="28575" cmpd="sng">
            <a:solidFill>
              <a:srgbClr val="FF9933"/>
            </a:solidFill>
            <a:miter lim="800000"/>
            <a:headEnd/>
            <a:tailEnd/>
          </a:ln>
        </p:spPr>
        <p:txBody>
          <a:bodyPr>
            <a:spAutoFit/>
          </a:bodyPr>
          <a:lstStyle/>
          <a:p>
            <a:pPr>
              <a:spcBef>
                <a:spcPct val="50000"/>
              </a:spcBef>
              <a:buClrTx/>
              <a:buSzTx/>
              <a:buFont typeface="Wingdings" pitchFamily="2" charset="2"/>
              <a:buNone/>
            </a:pPr>
            <a:r>
              <a:rPr lang="en-US" altLang="en-US" sz="2600" dirty="0">
                <a:effectLst>
                  <a:outerShdw blurRad="38100" dist="38100" dir="2700000" algn="tl">
                    <a:srgbClr val="C0C0C0"/>
                  </a:outerShdw>
                </a:effectLst>
                <a:latin typeface="Times New Roman" pitchFamily="18" charset="0"/>
                <a:ea typeface="黑体" pitchFamily="1" charset="-122"/>
              </a:rPr>
              <a:t>In photoelectric diode, quantum efficiency range is 30%~95%. In order to get a higher quantum efficiency,</a:t>
            </a:r>
            <a:r>
              <a:rPr lang="zh-CN" altLang="en-US" sz="2600" dirty="0">
                <a:effectLst>
                  <a:outerShdw blurRad="38100" dist="38100" dir="2700000" algn="tl">
                    <a:srgbClr val="C0C0C0"/>
                  </a:outerShdw>
                </a:effectLst>
                <a:latin typeface="Times New Roman" pitchFamily="18" charset="0"/>
                <a:ea typeface="黑体" pitchFamily="1" charset="-122"/>
              </a:rPr>
              <a:t> </a:t>
            </a:r>
            <a:r>
              <a:rPr lang="en-US" altLang="en-US" sz="2600" dirty="0">
                <a:effectLst>
                  <a:outerShdw blurRad="38100" dist="38100" dir="2700000" algn="tl">
                    <a:srgbClr val="C0C0C0"/>
                  </a:outerShdw>
                </a:effectLst>
                <a:latin typeface="Times New Roman" pitchFamily="18" charset="0"/>
                <a:ea typeface="黑体" pitchFamily="1" charset="-122"/>
              </a:rPr>
              <a:t>we must increase the thickness of the depletion region. However, the thicker the depletion region, the slower the response speed of the photodiode</a:t>
            </a:r>
            <a:r>
              <a:rPr lang="zh-CN" altLang="en-US" sz="2600" dirty="0">
                <a:effectLst>
                  <a:outerShdw blurRad="38100" dist="38100" dir="2700000" algn="tl">
                    <a:srgbClr val="C0C0C0"/>
                  </a:outerShdw>
                </a:effectLst>
                <a:latin typeface="Times New Roman" pitchFamily="18" charset="0"/>
                <a:ea typeface="黑体" pitchFamily="1" charset="-122"/>
              </a:rPr>
              <a:t>. So we must make a compromise between the response and quantum efficiency.</a:t>
            </a:r>
          </a:p>
        </p:txBody>
      </p:sp>
      <p:sp>
        <p:nvSpPr>
          <p:cNvPr id="11274" name="Text Box 10"/>
          <p:cNvSpPr txBox="1">
            <a:spLocks noChangeArrowheads="1"/>
          </p:cNvSpPr>
          <p:nvPr/>
        </p:nvSpPr>
        <p:spPr bwMode="auto">
          <a:xfrm>
            <a:off x="1692275" y="2854325"/>
            <a:ext cx="4233863" cy="365125"/>
          </a:xfrm>
          <a:prstGeom prst="rect">
            <a:avLst/>
          </a:prstGeom>
          <a:noFill/>
          <a:ln w="9525">
            <a:noFill/>
            <a:miter lim="800000"/>
            <a:headEnd/>
            <a:tailEnd/>
          </a:ln>
        </p:spPr>
        <p:txBody>
          <a:bodyPr wrap="none">
            <a:spAutoFit/>
          </a:bodyPr>
          <a:lstStyle/>
          <a:p>
            <a:pPr>
              <a:buFont typeface="Wingdings" pitchFamily="2" charset="2"/>
              <a:buNone/>
            </a:pPr>
            <a:r>
              <a:rPr lang="zh-CN" altLang="en-US" sz="1800">
                <a:latin typeface="Times New Roman" pitchFamily="18" charset="0"/>
                <a:ea typeface="黑体" pitchFamily="1" charset="-122"/>
              </a:rPr>
              <a:t>The total photon number of </a:t>
            </a:r>
            <a:r>
              <a:rPr lang="en-US" altLang="en-US" sz="1800">
                <a:latin typeface="Times New Roman" pitchFamily="18" charset="0"/>
              </a:rPr>
              <a:t>incident light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1273"/>
                                        </p:tgtEl>
                                        <p:attrNameLst>
                                          <p:attrName>style.visibility</p:attrName>
                                        </p:attrNameLst>
                                      </p:cBhvr>
                                      <p:to>
                                        <p:strVal val="visible"/>
                                      </p:to>
                                    </p:set>
                                    <p:anim calcmode="lin" valueType="num">
                                      <p:cBhvr>
                                        <p:cTn id="7" dur="500" fill="hold"/>
                                        <p:tgtEl>
                                          <p:spTgt spid="11273"/>
                                        </p:tgtEl>
                                        <p:attrNameLst>
                                          <p:attrName>ppt_w</p:attrName>
                                        </p:attrNameLst>
                                      </p:cBhvr>
                                      <p:tavLst>
                                        <p:tav tm="0">
                                          <p:val>
                                            <p:fltVal val="0"/>
                                          </p:val>
                                        </p:tav>
                                        <p:tav tm="100000">
                                          <p:val>
                                            <p:strVal val="#ppt_w"/>
                                          </p:val>
                                        </p:tav>
                                      </p:tavLst>
                                    </p:anim>
                                    <p:anim calcmode="lin" valueType="num">
                                      <p:cBhvr>
                                        <p:cTn id="8" dur="500" fill="hold"/>
                                        <p:tgtEl>
                                          <p:spTgt spid="112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3"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txBox="1">
            <a:spLocks noGrp="1" noChangeArrowheads="1"/>
          </p:cNvSpPr>
          <p:nvPr/>
        </p:nvSpPr>
        <p:spPr bwMode="auto">
          <a:xfrm>
            <a:off x="7019925" y="6165850"/>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84D5827F-F7E5-48BD-B32C-D0495AAA3153}" type="slidenum">
              <a:rPr lang="zh-CN" altLang="en-US" sz="1400"/>
              <a:pPr algn="r">
                <a:spcBef>
                  <a:spcPct val="0"/>
                </a:spcBef>
                <a:buClrTx/>
                <a:buSzTx/>
                <a:buFont typeface="Wingdings" pitchFamily="2" charset="2"/>
                <a:buNone/>
              </a:pPr>
              <a:t>18</a:t>
            </a:fld>
            <a:endParaRPr lang="en-US" sz="1400"/>
          </a:p>
        </p:txBody>
      </p:sp>
      <p:sp>
        <p:nvSpPr>
          <p:cNvPr id="12291" name="Rectangle 2"/>
          <p:cNvSpPr>
            <a:spLocks noGrp="1" noChangeArrowheads="1"/>
          </p:cNvSpPr>
          <p:nvPr>
            <p:ph type="title" idx="4294967295"/>
          </p:nvPr>
        </p:nvSpPr>
        <p:spPr>
          <a:xfrm>
            <a:off x="1258888" y="71438"/>
            <a:ext cx="5618162" cy="836612"/>
          </a:xfrm>
        </p:spPr>
        <p:txBody>
          <a:bodyPr anchor="ctr"/>
          <a:lstStyle/>
          <a:p>
            <a:pPr eaLnBrk="1" hangingPunct="1"/>
            <a:r>
              <a:rPr lang="en-US" sz="3600" b="1">
                <a:solidFill>
                  <a:schemeClr val="folHlink"/>
                </a:solidFill>
                <a:effectLst>
                  <a:outerShdw blurRad="38100" dist="38100" dir="2700000" algn="tl">
                    <a:srgbClr val="C0C0C0"/>
                  </a:outerShdw>
                </a:effectLst>
                <a:latin typeface="Palatino Linotype" pitchFamily="18" charset="0"/>
                <a:ea typeface="华文行楷" pitchFamily="2" charset="-122"/>
              </a:rPr>
              <a:t> Spectral Response</a:t>
            </a:r>
          </a:p>
        </p:txBody>
      </p:sp>
      <p:sp>
        <p:nvSpPr>
          <p:cNvPr id="12292" name="Rectangle 3"/>
          <p:cNvSpPr>
            <a:spLocks noGrp="1" noChangeArrowheads="1"/>
          </p:cNvSpPr>
          <p:nvPr>
            <p:ph type="body" idx="4294967295"/>
          </p:nvPr>
        </p:nvSpPr>
        <p:spPr>
          <a:xfrm>
            <a:off x="107950" y="1219200"/>
            <a:ext cx="8785225" cy="3581400"/>
          </a:xfrm>
        </p:spPr>
        <p:txBody>
          <a:bodyPr>
            <a:normAutofit lnSpcReduction="10000"/>
          </a:bodyPr>
          <a:lstStyle/>
          <a:p>
            <a:pPr eaLnBrk="1" hangingPunct="1">
              <a:lnSpc>
                <a:spcPct val="90000"/>
              </a:lnSpc>
            </a:pPr>
            <a:r>
              <a:rPr lang="en-US" altLang="en-US" sz="2800" b="1">
                <a:latin typeface="Times New Roman" pitchFamily="18" charset="0"/>
                <a:cs typeface="Times New Roman" pitchFamily="18" charset="0"/>
              </a:rPr>
              <a:t>For a given material, there will be a </a:t>
            </a:r>
            <a:r>
              <a:rPr lang="en-US" altLang="en-US" sz="2800" b="1">
                <a:solidFill>
                  <a:schemeClr val="hlink"/>
                </a:solidFill>
                <a:latin typeface="Times New Roman" pitchFamily="18" charset="0"/>
                <a:cs typeface="Times New Roman" pitchFamily="18" charset="0"/>
              </a:rPr>
              <a:t>maximum wavelength (</a:t>
            </a:r>
            <a:r>
              <a:rPr lang="en-US" altLang="en-US" sz="2800" b="1">
                <a:solidFill>
                  <a:schemeClr val="hlink"/>
                </a:solidFill>
                <a:latin typeface="Times New Roman" pitchFamily="18" charset="0"/>
                <a:cs typeface="Times New Roman" pitchFamily="18" charset="0"/>
                <a:sym typeface="Symbol" pitchFamily="18" charset="2"/>
              </a:rPr>
              <a:t></a:t>
            </a:r>
            <a:r>
              <a:rPr lang="en-US" sz="2800" b="1" baseline="-25000">
                <a:solidFill>
                  <a:schemeClr val="hlink"/>
                </a:solidFill>
                <a:latin typeface="Times New Roman" pitchFamily="18" charset="0"/>
                <a:cs typeface="Times New Roman" pitchFamily="18" charset="0"/>
                <a:sym typeface="Symbol" pitchFamily="18" charset="2"/>
              </a:rPr>
              <a:t>C</a:t>
            </a:r>
            <a:r>
              <a:rPr lang="en-US" altLang="en-US" sz="2800" b="1">
                <a:solidFill>
                  <a:schemeClr val="hlink"/>
                </a:solidFill>
                <a:latin typeface="Times New Roman" pitchFamily="18" charset="0"/>
                <a:cs typeface="Times New Roman" pitchFamily="18" charset="0"/>
              </a:rPr>
              <a:t>) </a:t>
            </a:r>
            <a:r>
              <a:rPr lang="en-US" altLang="en-US" sz="2800" b="1">
                <a:latin typeface="Times New Roman" pitchFamily="18" charset="0"/>
                <a:cs typeface="Times New Roman" pitchFamily="18" charset="0"/>
              </a:rPr>
              <a:t>of light can be detected. For the light larger than this limit wavelength can not be detected.</a:t>
            </a:r>
            <a:endParaRPr lang="en-US" altLang="en-US" b="1">
              <a:latin typeface="Times New Roman" pitchFamily="18" charset="0"/>
              <a:cs typeface="Times New Roman" pitchFamily="18" charset="0"/>
            </a:endParaRPr>
          </a:p>
          <a:p>
            <a:pPr eaLnBrk="1" hangingPunct="1">
              <a:lnSpc>
                <a:spcPct val="90000"/>
              </a:lnSpc>
            </a:pPr>
            <a:r>
              <a:rPr lang="en-US" altLang="en-US" sz="2800" b="1">
                <a:latin typeface="Times New Roman" pitchFamily="18" charset="0"/>
                <a:cs typeface="Times New Roman" pitchFamily="18" charset="0"/>
              </a:rPr>
              <a:t>When the photon energy (</a:t>
            </a:r>
            <a:r>
              <a:rPr lang="en-US" sz="2800" b="1" i="1">
                <a:latin typeface="Times New Roman" pitchFamily="18" charset="0"/>
                <a:cs typeface="Times New Roman" pitchFamily="18" charset="0"/>
              </a:rPr>
              <a:t>h</a:t>
            </a:r>
            <a:r>
              <a:rPr lang="en-US" sz="2800" b="1" i="1">
                <a:latin typeface="Times New Roman" pitchFamily="18" charset="0"/>
                <a:cs typeface="Times New Roman" pitchFamily="18" charset="0"/>
                <a:sym typeface="Symbol" pitchFamily="18" charset="2"/>
              </a:rPr>
              <a:t></a:t>
            </a:r>
            <a:r>
              <a:rPr lang="en-US" altLang="en-US" sz="2800" b="1">
                <a:latin typeface="Times New Roman" pitchFamily="18" charset="0"/>
                <a:cs typeface="Times New Roman" pitchFamily="18" charset="0"/>
              </a:rPr>
              <a:t>) is larger than the band gap (</a:t>
            </a:r>
            <a:r>
              <a:rPr lang="en-US" sz="2800" b="1" i="1">
                <a:latin typeface="Times New Roman" pitchFamily="18" charset="0"/>
                <a:cs typeface="Times New Roman" pitchFamily="18" charset="0"/>
              </a:rPr>
              <a:t>E</a:t>
            </a:r>
            <a:r>
              <a:rPr lang="en-US" sz="2800" b="1" i="1" baseline="-25000">
                <a:latin typeface="Times New Roman" pitchFamily="18" charset="0"/>
                <a:cs typeface="Times New Roman" pitchFamily="18" charset="0"/>
              </a:rPr>
              <a:t>g</a:t>
            </a:r>
            <a:r>
              <a:rPr lang="en-US" altLang="en-US" sz="2800" b="1">
                <a:latin typeface="Times New Roman" pitchFamily="18" charset="0"/>
                <a:cs typeface="Times New Roman" pitchFamily="18" charset="0"/>
              </a:rPr>
              <a:t>) of the semiconductor material, valence band electron can absorb a photon transition to the conduction band, otherwise no matter how strong the incident light is, the photoelectric effect will never occur.</a:t>
            </a:r>
            <a:r>
              <a:rPr lang="en-US" altLang="en-US" sz="2800" b="1" i="1">
                <a:latin typeface="Times New Roman" pitchFamily="18" charset="0"/>
                <a:cs typeface="Times New Roman" pitchFamily="18" charset="0"/>
                <a:sym typeface="Symbol" pitchFamily="18" charset="2"/>
              </a:rPr>
              <a:t> </a:t>
            </a:r>
            <a:endParaRPr lang="en-US" altLang="en-US" sz="2800" b="1" i="1">
              <a:solidFill>
                <a:schemeClr val="hlink"/>
              </a:solidFill>
              <a:latin typeface="Times New Roman" pitchFamily="18" charset="0"/>
              <a:cs typeface="Times New Roman" pitchFamily="18" charset="0"/>
              <a:sym typeface="Symbol" pitchFamily="18" charset="2"/>
            </a:endParaRPr>
          </a:p>
        </p:txBody>
      </p:sp>
      <p:graphicFrame>
        <p:nvGraphicFramePr>
          <p:cNvPr id="12293" name="Object 5"/>
          <p:cNvGraphicFramePr>
            <a:graphicFrameLocks noChangeAspect="1"/>
          </p:cNvGraphicFramePr>
          <p:nvPr/>
        </p:nvGraphicFramePr>
        <p:xfrm>
          <a:off x="1219200" y="4800600"/>
          <a:ext cx="6781800" cy="1143000"/>
        </p:xfrm>
        <a:graphic>
          <a:graphicData uri="http://schemas.openxmlformats.org/presentationml/2006/ole">
            <p:oleObj spid="_x0000_s9218" r:id="rId3" imgW="1510961" imgH="444624" progId="Equation.3">
              <p:embed/>
            </p:oleObj>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txBox="1">
            <a:spLocks noGrp="1" noChangeArrowheads="1"/>
          </p:cNvSpPr>
          <p:nvPr/>
        </p:nvSpPr>
        <p:spPr bwMode="auto">
          <a:xfrm>
            <a:off x="7092950" y="6237288"/>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16A718E1-B1E0-4613-AEA7-D8E0205E9F60}" type="slidenum">
              <a:rPr lang="zh-CN" altLang="en-US" sz="1400"/>
              <a:pPr algn="r">
                <a:spcBef>
                  <a:spcPct val="0"/>
                </a:spcBef>
                <a:buClrTx/>
                <a:buSzTx/>
                <a:buFont typeface="Wingdings" pitchFamily="2" charset="2"/>
                <a:buNone/>
              </a:pPr>
              <a:t>19</a:t>
            </a:fld>
            <a:endParaRPr lang="en-US" sz="1400"/>
          </a:p>
        </p:txBody>
      </p:sp>
      <p:sp>
        <p:nvSpPr>
          <p:cNvPr id="13315" name="Text Box 3"/>
          <p:cNvSpPr txBox="1">
            <a:spLocks noChangeArrowheads="1"/>
          </p:cNvSpPr>
          <p:nvPr/>
        </p:nvSpPr>
        <p:spPr bwMode="auto">
          <a:xfrm>
            <a:off x="539750" y="1270000"/>
            <a:ext cx="3600450" cy="2679700"/>
          </a:xfrm>
          <a:prstGeom prst="rect">
            <a:avLst/>
          </a:prstGeom>
          <a:noFill/>
          <a:ln w="28575" cmpd="sng">
            <a:solidFill>
              <a:srgbClr val="66FFFF"/>
            </a:solidFill>
            <a:miter lim="800000"/>
            <a:headEnd/>
            <a:tailEnd/>
          </a:ln>
        </p:spPr>
        <p:txBody>
          <a:bodyPr>
            <a:spAutoFit/>
          </a:bodyPr>
          <a:lstStyle/>
          <a:p>
            <a:pPr>
              <a:spcBef>
                <a:spcPct val="50000"/>
              </a:spcBef>
              <a:buClrTx/>
              <a:buSzTx/>
              <a:buFont typeface="Wingdings" pitchFamily="2" charset="2"/>
              <a:buNone/>
            </a:pPr>
            <a:r>
              <a:rPr lang="zh-CN" altLang="en-US" sz="2400">
                <a:solidFill>
                  <a:schemeClr val="hlink"/>
                </a:solidFill>
                <a:effectLst>
                  <a:outerShdw blurRad="38100" dist="38100" dir="2700000" algn="tl">
                    <a:srgbClr val="C0C0C0"/>
                  </a:outerShdw>
                </a:effectLst>
                <a:latin typeface="Times New Roman" pitchFamily="18" charset="0"/>
                <a:ea typeface="黑体" pitchFamily="1" charset="-122"/>
              </a:rPr>
              <a:t>In the short wavelength section,</a:t>
            </a:r>
            <a:r>
              <a:rPr lang="zh-CN" altLang="en-US" sz="2400">
                <a:effectLst>
                  <a:outerShdw blurRad="38100" dist="38100" dir="2700000" algn="tl">
                    <a:srgbClr val="C0C0C0"/>
                  </a:outerShdw>
                </a:effectLst>
                <a:latin typeface="Times New Roman" pitchFamily="18" charset="0"/>
                <a:ea typeface="黑体" pitchFamily="1" charset="-122"/>
              </a:rPr>
              <a:t> the absorption coefficient of the materials becomes very large. So each material has a range of wavelength can be detected. </a:t>
            </a:r>
          </a:p>
        </p:txBody>
      </p:sp>
      <p:sp>
        <p:nvSpPr>
          <p:cNvPr id="13316" name="Text Box 4"/>
          <p:cNvSpPr txBox="1">
            <a:spLocks noChangeArrowheads="1"/>
          </p:cNvSpPr>
          <p:nvPr/>
        </p:nvSpPr>
        <p:spPr bwMode="auto">
          <a:xfrm>
            <a:off x="466725" y="5013325"/>
            <a:ext cx="6248400" cy="1387475"/>
          </a:xfrm>
          <a:prstGeom prst="rect">
            <a:avLst/>
          </a:prstGeom>
          <a:solidFill>
            <a:srgbClr val="FFCB97"/>
          </a:solidFill>
          <a:ln w="28575" cmpd="sng">
            <a:solidFill>
              <a:srgbClr val="FFB66D"/>
            </a:solidFill>
            <a:miter lim="800000"/>
            <a:headEnd/>
            <a:tailEnd/>
          </a:ln>
        </p:spPr>
        <p:txBody>
          <a:bodyPr>
            <a:spAutoFit/>
          </a:bodyPr>
          <a:lstStyle/>
          <a:p>
            <a:pPr>
              <a:lnSpc>
                <a:spcPct val="110000"/>
              </a:lnSpc>
              <a:buFont typeface="Wingdings" pitchFamily="2" charset="2"/>
              <a:buNone/>
            </a:pPr>
            <a:r>
              <a:rPr lang="en-US" sz="2400">
                <a:effectLst>
                  <a:outerShdw blurRad="38100" dist="38100" dir="2700000" algn="tl">
                    <a:srgbClr val="FFFFFF"/>
                  </a:outerShdw>
                </a:effectLst>
                <a:latin typeface="Times New Roman" pitchFamily="18" charset="0"/>
                <a:ea typeface="黑体" pitchFamily="1" charset="-122"/>
              </a:rPr>
              <a:t>Si</a:t>
            </a:r>
            <a:r>
              <a:rPr lang="zh-CN" altLang="en-US" sz="2400">
                <a:effectLst>
                  <a:outerShdw blurRad="38100" dist="38100" dir="2700000" algn="tl">
                    <a:srgbClr val="FFFFFF"/>
                  </a:outerShdw>
                </a:effectLst>
                <a:latin typeface="Times New Roman" pitchFamily="18" charset="0"/>
                <a:ea typeface="黑体" pitchFamily="1" charset="-122"/>
              </a:rPr>
              <a:t>：</a:t>
            </a:r>
            <a:r>
              <a:rPr lang="zh-CN" altLang="en-US" sz="2400">
                <a:effectLst>
                  <a:outerShdw blurRad="38100" dist="38100" dir="2700000" algn="tl">
                    <a:srgbClr val="FFFFFF"/>
                  </a:outerShdw>
                </a:effectLst>
                <a:latin typeface="Times New Roman" pitchFamily="18" charset="0"/>
                <a:ea typeface="黑体" pitchFamily="1" charset="-122"/>
                <a:sym typeface="Symbol" pitchFamily="18" charset="2"/>
              </a:rPr>
              <a:t></a:t>
            </a:r>
            <a:r>
              <a:rPr lang="en-US" sz="2400" baseline="-25000">
                <a:effectLst>
                  <a:outerShdw blurRad="38100" dist="38100" dir="2700000" algn="tl">
                    <a:srgbClr val="FFFFFF"/>
                  </a:outerShdw>
                </a:effectLst>
                <a:latin typeface="Times New Roman" pitchFamily="18" charset="0"/>
                <a:ea typeface="黑体" pitchFamily="1" charset="-122"/>
                <a:sym typeface="Symbol" pitchFamily="18" charset="2"/>
              </a:rPr>
              <a:t>C</a:t>
            </a:r>
            <a:r>
              <a:rPr lang="en-US" sz="2400">
                <a:effectLst>
                  <a:outerShdw blurRad="38100" dist="38100" dir="2700000" algn="tl">
                    <a:srgbClr val="FFFFFF"/>
                  </a:outerShdw>
                </a:effectLst>
                <a:latin typeface="Times New Roman" pitchFamily="18" charset="0"/>
                <a:ea typeface="黑体" pitchFamily="1" charset="-122"/>
                <a:sym typeface="Symbol" pitchFamily="18" charset="2"/>
              </a:rPr>
              <a:t>=1.06m</a:t>
            </a:r>
            <a:r>
              <a:rPr lang="zh-CN" altLang="en-US" sz="2400">
                <a:effectLst>
                  <a:outerShdw blurRad="38100" dist="38100" dir="2700000" algn="tl">
                    <a:srgbClr val="FFFFFF"/>
                  </a:outerShdw>
                </a:effectLst>
                <a:latin typeface="Times New Roman" pitchFamily="18" charset="0"/>
                <a:ea typeface="黑体" pitchFamily="1" charset="-122"/>
                <a:sym typeface="Symbol" pitchFamily="18" charset="2"/>
              </a:rPr>
              <a:t>, range：</a:t>
            </a:r>
            <a:r>
              <a:rPr lang="en-US" sz="2400">
                <a:effectLst>
                  <a:outerShdw blurRad="38100" dist="38100" dir="2700000" algn="tl">
                    <a:srgbClr val="FFFFFF"/>
                  </a:outerShdw>
                </a:effectLst>
                <a:latin typeface="Times New Roman" pitchFamily="18" charset="0"/>
                <a:ea typeface="黑体" pitchFamily="1" charset="-122"/>
                <a:sym typeface="Symbol" pitchFamily="18" charset="2"/>
              </a:rPr>
              <a:t>0.5~1.0 </a:t>
            </a:r>
            <a:r>
              <a:rPr lang="zh-CN" altLang="en-US" sz="2400">
                <a:effectLst>
                  <a:outerShdw blurRad="38100" dist="38100" dir="2700000" algn="tl">
                    <a:srgbClr val="FFFFFF"/>
                  </a:outerShdw>
                </a:effectLst>
                <a:latin typeface="Times New Roman" pitchFamily="18" charset="0"/>
                <a:ea typeface="黑体" pitchFamily="1" charset="-122"/>
                <a:sym typeface="Symbol" pitchFamily="18" charset="2"/>
              </a:rPr>
              <a:t></a:t>
            </a:r>
            <a:r>
              <a:rPr lang="en-US" sz="2400">
                <a:effectLst>
                  <a:outerShdw blurRad="38100" dist="38100" dir="2700000" algn="tl">
                    <a:srgbClr val="FFFFFF"/>
                  </a:outerShdw>
                </a:effectLst>
                <a:latin typeface="Times New Roman" pitchFamily="18" charset="0"/>
                <a:ea typeface="黑体" pitchFamily="1" charset="-122"/>
                <a:sym typeface="Symbol" pitchFamily="18" charset="2"/>
              </a:rPr>
              <a:t>m</a:t>
            </a:r>
          </a:p>
          <a:p>
            <a:pPr>
              <a:lnSpc>
                <a:spcPct val="110000"/>
              </a:lnSpc>
              <a:spcBef>
                <a:spcPct val="0"/>
              </a:spcBef>
              <a:buClrTx/>
              <a:buSzTx/>
              <a:buFont typeface="Wingdings" pitchFamily="2" charset="2"/>
              <a:buNone/>
            </a:pPr>
            <a:r>
              <a:rPr lang="en-US" sz="2400">
                <a:effectLst>
                  <a:outerShdw blurRad="38100" dist="38100" dir="2700000" algn="tl">
                    <a:srgbClr val="FFFFFF"/>
                  </a:outerShdw>
                </a:effectLst>
                <a:latin typeface="Times New Roman" pitchFamily="18" charset="0"/>
                <a:ea typeface="黑体" pitchFamily="1" charset="-122"/>
                <a:sym typeface="Symbol" pitchFamily="18" charset="2"/>
              </a:rPr>
              <a:t>Ge</a:t>
            </a:r>
            <a:r>
              <a:rPr lang="zh-CN" altLang="en-US" sz="2400">
                <a:effectLst>
                  <a:outerShdw blurRad="38100" dist="38100" dir="2700000" algn="tl">
                    <a:srgbClr val="FFFFFF"/>
                  </a:outerShdw>
                </a:effectLst>
                <a:latin typeface="Times New Roman" pitchFamily="18" charset="0"/>
                <a:ea typeface="黑体" pitchFamily="1" charset="-122"/>
                <a:sym typeface="Symbol" pitchFamily="18" charset="2"/>
              </a:rPr>
              <a:t>： </a:t>
            </a:r>
            <a:r>
              <a:rPr lang="en-US" sz="2400" baseline="-25000">
                <a:effectLst>
                  <a:outerShdw blurRad="38100" dist="38100" dir="2700000" algn="tl">
                    <a:srgbClr val="FFFFFF"/>
                  </a:outerShdw>
                </a:effectLst>
                <a:latin typeface="Times New Roman" pitchFamily="18" charset="0"/>
                <a:ea typeface="黑体" pitchFamily="1" charset="-122"/>
                <a:sym typeface="Symbol" pitchFamily="18" charset="2"/>
              </a:rPr>
              <a:t>C</a:t>
            </a:r>
            <a:r>
              <a:rPr lang="en-US" sz="2400">
                <a:effectLst>
                  <a:outerShdw blurRad="38100" dist="38100" dir="2700000" algn="tl">
                    <a:srgbClr val="FFFFFF"/>
                  </a:outerShdw>
                </a:effectLst>
                <a:latin typeface="Times New Roman" pitchFamily="18" charset="0"/>
                <a:ea typeface="黑体" pitchFamily="1" charset="-122"/>
                <a:sym typeface="Symbol" pitchFamily="18" charset="2"/>
              </a:rPr>
              <a:t>=1.6m</a:t>
            </a:r>
            <a:r>
              <a:rPr lang="zh-CN" altLang="en-US" sz="2400">
                <a:effectLst>
                  <a:outerShdw blurRad="38100" dist="38100" dir="2700000" algn="tl">
                    <a:srgbClr val="FFFFFF"/>
                  </a:outerShdw>
                </a:effectLst>
                <a:latin typeface="Times New Roman" pitchFamily="18" charset="0"/>
                <a:ea typeface="黑体" pitchFamily="1" charset="-122"/>
                <a:sym typeface="Symbol" pitchFamily="18" charset="2"/>
              </a:rPr>
              <a:t>, range：</a:t>
            </a:r>
            <a:r>
              <a:rPr lang="en-US" sz="2400">
                <a:effectLst>
                  <a:outerShdw blurRad="38100" dist="38100" dir="2700000" algn="tl">
                    <a:srgbClr val="FFFFFF"/>
                  </a:outerShdw>
                </a:effectLst>
                <a:latin typeface="Times New Roman" pitchFamily="18" charset="0"/>
                <a:ea typeface="黑体" pitchFamily="1" charset="-122"/>
                <a:sym typeface="Symbol" pitchFamily="18" charset="2"/>
              </a:rPr>
              <a:t>1.1~1.6 </a:t>
            </a:r>
            <a:r>
              <a:rPr lang="zh-CN" altLang="en-US" sz="2400">
                <a:effectLst>
                  <a:outerShdw blurRad="38100" dist="38100" dir="2700000" algn="tl">
                    <a:srgbClr val="FFFFFF"/>
                  </a:outerShdw>
                </a:effectLst>
                <a:latin typeface="Times New Roman" pitchFamily="18" charset="0"/>
                <a:ea typeface="黑体" pitchFamily="1" charset="-122"/>
                <a:sym typeface="Symbol" pitchFamily="18" charset="2"/>
              </a:rPr>
              <a:t></a:t>
            </a:r>
            <a:r>
              <a:rPr lang="en-US" sz="2400">
                <a:effectLst>
                  <a:outerShdw blurRad="38100" dist="38100" dir="2700000" algn="tl">
                    <a:srgbClr val="FFFFFF"/>
                  </a:outerShdw>
                </a:effectLst>
                <a:latin typeface="Times New Roman" pitchFamily="18" charset="0"/>
                <a:ea typeface="黑体" pitchFamily="1" charset="-122"/>
                <a:sym typeface="Symbol" pitchFamily="18" charset="2"/>
              </a:rPr>
              <a:t>m</a:t>
            </a:r>
          </a:p>
          <a:p>
            <a:pPr>
              <a:lnSpc>
                <a:spcPct val="110000"/>
              </a:lnSpc>
              <a:spcBef>
                <a:spcPct val="0"/>
              </a:spcBef>
              <a:buClrTx/>
              <a:buSzTx/>
              <a:buFont typeface="Wingdings" pitchFamily="2" charset="2"/>
              <a:buNone/>
            </a:pPr>
            <a:r>
              <a:rPr lang="en-US" sz="2400">
                <a:effectLst>
                  <a:outerShdw blurRad="38100" dist="38100" dir="2700000" algn="tl">
                    <a:srgbClr val="FFFFFF"/>
                  </a:outerShdw>
                </a:effectLst>
                <a:latin typeface="Times New Roman" pitchFamily="18" charset="0"/>
                <a:ea typeface="黑体" pitchFamily="1" charset="-122"/>
                <a:sym typeface="Symbol" pitchFamily="18" charset="2"/>
              </a:rPr>
              <a:t>InGaAs</a:t>
            </a:r>
            <a:r>
              <a:rPr lang="zh-CN" altLang="en-US" sz="2400">
                <a:effectLst>
                  <a:outerShdw blurRad="38100" dist="38100" dir="2700000" algn="tl">
                    <a:srgbClr val="FFFFFF"/>
                  </a:outerShdw>
                </a:effectLst>
                <a:latin typeface="Times New Roman" pitchFamily="18" charset="0"/>
                <a:ea typeface="黑体" pitchFamily="1" charset="-122"/>
                <a:sym typeface="Symbol" pitchFamily="18" charset="2"/>
              </a:rPr>
              <a:t>： </a:t>
            </a:r>
            <a:r>
              <a:rPr lang="en-US" sz="2400" baseline="-25000">
                <a:effectLst>
                  <a:outerShdw blurRad="38100" dist="38100" dir="2700000" algn="tl">
                    <a:srgbClr val="FFFFFF"/>
                  </a:outerShdw>
                </a:effectLst>
                <a:latin typeface="Times New Roman" pitchFamily="18" charset="0"/>
                <a:ea typeface="黑体" pitchFamily="1" charset="-122"/>
                <a:sym typeface="Symbol" pitchFamily="18" charset="2"/>
              </a:rPr>
              <a:t>C</a:t>
            </a:r>
            <a:r>
              <a:rPr lang="en-US" sz="2400">
                <a:effectLst>
                  <a:outerShdw blurRad="38100" dist="38100" dir="2700000" algn="tl">
                    <a:srgbClr val="FFFFFF"/>
                  </a:outerShdw>
                </a:effectLst>
                <a:latin typeface="Times New Roman" pitchFamily="18" charset="0"/>
                <a:ea typeface="黑体" pitchFamily="1" charset="-122"/>
                <a:sym typeface="Symbol" pitchFamily="18" charset="2"/>
              </a:rPr>
              <a:t>=1.6m</a:t>
            </a:r>
            <a:r>
              <a:rPr lang="zh-CN" altLang="en-US" sz="2400">
                <a:effectLst>
                  <a:outerShdw blurRad="38100" dist="38100" dir="2700000" algn="tl">
                    <a:srgbClr val="FFFFFF"/>
                  </a:outerShdw>
                </a:effectLst>
                <a:latin typeface="Times New Roman" pitchFamily="18" charset="0"/>
                <a:ea typeface="黑体" pitchFamily="1" charset="-122"/>
                <a:sym typeface="Symbol" pitchFamily="18" charset="2"/>
              </a:rPr>
              <a:t>, range：</a:t>
            </a:r>
            <a:r>
              <a:rPr lang="en-US" sz="2400">
                <a:effectLst>
                  <a:outerShdw blurRad="38100" dist="38100" dir="2700000" algn="tl">
                    <a:srgbClr val="FFFFFF"/>
                  </a:outerShdw>
                </a:effectLst>
                <a:latin typeface="Times New Roman" pitchFamily="18" charset="0"/>
                <a:ea typeface="黑体" pitchFamily="1" charset="-122"/>
                <a:sym typeface="Symbol" pitchFamily="18" charset="2"/>
              </a:rPr>
              <a:t>1.1~1.6 </a:t>
            </a:r>
            <a:r>
              <a:rPr lang="zh-CN" altLang="en-US" sz="2400">
                <a:effectLst>
                  <a:outerShdw blurRad="38100" dist="38100" dir="2700000" algn="tl">
                    <a:srgbClr val="FFFFFF"/>
                  </a:outerShdw>
                </a:effectLst>
                <a:latin typeface="Times New Roman" pitchFamily="18" charset="0"/>
                <a:ea typeface="黑体" pitchFamily="1" charset="-122"/>
                <a:sym typeface="Symbol" pitchFamily="18" charset="2"/>
              </a:rPr>
              <a:t></a:t>
            </a:r>
            <a:r>
              <a:rPr lang="en-US" sz="2400">
                <a:effectLst>
                  <a:outerShdw blurRad="38100" dist="38100" dir="2700000" algn="tl">
                    <a:srgbClr val="FFFFFF"/>
                  </a:outerShdw>
                </a:effectLst>
                <a:latin typeface="Times New Roman" pitchFamily="18" charset="0"/>
                <a:ea typeface="黑体" pitchFamily="1" charset="-122"/>
                <a:sym typeface="Symbol" pitchFamily="18" charset="2"/>
              </a:rPr>
              <a:t>m</a:t>
            </a:r>
          </a:p>
        </p:txBody>
      </p:sp>
      <p:pic>
        <p:nvPicPr>
          <p:cNvPr id="13317" name="Picture 5" descr="无标题"/>
          <p:cNvPicPr>
            <a:picLocks noChangeAspect="1" noChangeArrowheads="1"/>
          </p:cNvPicPr>
          <p:nvPr/>
        </p:nvPicPr>
        <p:blipFill>
          <a:blip r:embed="rId2"/>
          <a:srcRect/>
          <a:stretch>
            <a:fillRect/>
          </a:stretch>
        </p:blipFill>
        <p:spPr bwMode="auto">
          <a:xfrm>
            <a:off x="4500563" y="333375"/>
            <a:ext cx="4543425" cy="4048125"/>
          </a:xfrm>
          <a:prstGeom prst="rect">
            <a:avLst/>
          </a:prstGeom>
          <a:noFill/>
          <a:ln w="9525">
            <a:noFill/>
            <a:miter lim="800000"/>
            <a:headEnd/>
            <a:tailEnd/>
          </a:ln>
        </p:spPr>
      </p:pic>
      <p:sp>
        <p:nvSpPr>
          <p:cNvPr id="13318" name="Text Box 6"/>
          <p:cNvSpPr txBox="1">
            <a:spLocks noChangeArrowheads="1"/>
          </p:cNvSpPr>
          <p:nvPr/>
        </p:nvSpPr>
        <p:spPr bwMode="auto">
          <a:xfrm>
            <a:off x="3563938" y="4149725"/>
            <a:ext cx="5400675" cy="701675"/>
          </a:xfrm>
          <a:prstGeom prst="rect">
            <a:avLst/>
          </a:prstGeom>
          <a:noFill/>
          <a:ln w="9525">
            <a:noFill/>
            <a:miter lim="800000"/>
            <a:headEnd/>
            <a:tailEnd/>
          </a:ln>
        </p:spPr>
        <p:txBody>
          <a:bodyPr>
            <a:spAutoFit/>
          </a:bodyPr>
          <a:lstStyle/>
          <a:p>
            <a:pPr>
              <a:buFont typeface="Wingdings" pitchFamily="2" charset="2"/>
              <a:buNone/>
            </a:pPr>
            <a:r>
              <a:rPr lang="zh-CN" altLang="en-US" sz="2000">
                <a:latin typeface="Times New Roman" pitchFamily="18" charset="0"/>
              </a:rPr>
              <a:t>The r</a:t>
            </a:r>
            <a:r>
              <a:rPr lang="en-US" altLang="en-US" sz="2000">
                <a:latin typeface="Times New Roman" pitchFamily="18" charset="0"/>
              </a:rPr>
              <a:t>elationship between the absorption coefficient</a:t>
            </a:r>
            <a:r>
              <a:rPr lang="zh-CN" altLang="en-US" sz="2000">
                <a:latin typeface="Times New Roman" pitchFamily="18" charset="0"/>
              </a:rPr>
              <a:t> </a:t>
            </a:r>
            <a:r>
              <a:rPr lang="en-US" altLang="en-US" sz="2000">
                <a:latin typeface="Times New Roman" pitchFamily="18" charset="0"/>
              </a:rPr>
              <a:t>of semiconductor and the wavelength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 calcmode="lin" valueType="num">
                                      <p:cBhvr>
                                        <p:cTn id="7" dur="500" fill="hold"/>
                                        <p:tgtEl>
                                          <p:spTgt spid="13316"/>
                                        </p:tgtEl>
                                        <p:attrNameLst>
                                          <p:attrName>ppt_w</p:attrName>
                                        </p:attrNameLst>
                                      </p:cBhvr>
                                      <p:tavLst>
                                        <p:tav tm="0">
                                          <p:val>
                                            <p:fltVal val="0"/>
                                          </p:val>
                                        </p:tav>
                                        <p:tav tm="100000">
                                          <p:val>
                                            <p:strVal val="#ppt_w"/>
                                          </p:val>
                                        </p:tav>
                                      </p:tavLst>
                                    </p:anim>
                                    <p:anim calcmode="lin" valueType="num">
                                      <p:cBhvr>
                                        <p:cTn id="8" dur="500" fill="hold"/>
                                        <p:tgtEl>
                                          <p:spTgt spid="133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bldLvl="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noChangeArrowheads="1"/>
          </p:cNvSpPr>
          <p:nvPr/>
        </p:nvSpPr>
        <p:spPr bwMode="auto">
          <a:xfrm>
            <a:off x="7019925" y="6237288"/>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AC1AD6DE-CEEE-4DFE-82D8-188C85D4471B}" type="slidenum">
              <a:rPr lang="zh-CN" altLang="en-US" sz="1400"/>
              <a:pPr algn="r">
                <a:spcBef>
                  <a:spcPct val="0"/>
                </a:spcBef>
                <a:buClrTx/>
                <a:buSzTx/>
                <a:buFont typeface="Wingdings" pitchFamily="2" charset="2"/>
                <a:buNone/>
              </a:pPr>
              <a:t>20</a:t>
            </a:fld>
            <a:endParaRPr lang="en-US" sz="1400"/>
          </a:p>
        </p:txBody>
      </p:sp>
      <p:sp>
        <p:nvSpPr>
          <p:cNvPr id="14339" name="Rectangle 2"/>
          <p:cNvSpPr>
            <a:spLocks noGrp="1" noChangeArrowheads="1"/>
          </p:cNvSpPr>
          <p:nvPr>
            <p:ph type="title" idx="4294967295"/>
          </p:nvPr>
        </p:nvSpPr>
        <p:spPr>
          <a:xfrm>
            <a:off x="1260475" y="73025"/>
            <a:ext cx="7704138" cy="836613"/>
          </a:xfrm>
        </p:spPr>
        <p:txBody>
          <a:bodyPr anchor="ctr"/>
          <a:lstStyle/>
          <a:p>
            <a:pPr eaLnBrk="1" hangingPunct="1"/>
            <a:r>
              <a:rPr lang="en-US" altLang="en-US" sz="3600" b="1" dirty="0" smtClean="0">
                <a:solidFill>
                  <a:schemeClr val="folHlink"/>
                </a:solidFill>
                <a:effectLst>
                  <a:outerShdw blurRad="38100" dist="38100" dir="2700000" algn="tl">
                    <a:srgbClr val="C0C0C0"/>
                  </a:outerShdw>
                </a:effectLst>
                <a:latin typeface="Palatino Linotype" pitchFamily="18" charset="0"/>
                <a:ea typeface="华文行楷" pitchFamily="2" charset="-122"/>
              </a:rPr>
              <a:t>Avalanche </a:t>
            </a:r>
            <a:r>
              <a:rPr lang="en-US" altLang="en-US" sz="3600" b="1" dirty="0">
                <a:solidFill>
                  <a:schemeClr val="folHlink"/>
                </a:solidFill>
                <a:effectLst>
                  <a:outerShdw blurRad="38100" dist="38100" dir="2700000" algn="tl">
                    <a:srgbClr val="C0C0C0"/>
                  </a:outerShdw>
                </a:effectLst>
                <a:latin typeface="Palatino Linotype" pitchFamily="18" charset="0"/>
                <a:ea typeface="华文行楷" pitchFamily="2" charset="-122"/>
              </a:rPr>
              <a:t>photodiodes (</a:t>
            </a:r>
            <a:r>
              <a:rPr lang="en-US" sz="3600" b="1" dirty="0" err="1">
                <a:solidFill>
                  <a:schemeClr val="folHlink"/>
                </a:solidFill>
                <a:effectLst>
                  <a:outerShdw blurRad="38100" dist="38100" dir="2700000" algn="tl">
                    <a:srgbClr val="C0C0C0"/>
                  </a:outerShdw>
                </a:effectLst>
                <a:latin typeface="Palatino Linotype" pitchFamily="18" charset="0"/>
                <a:ea typeface="华文行楷" pitchFamily="2" charset="-122"/>
              </a:rPr>
              <a:t>APD</a:t>
            </a:r>
            <a:r>
              <a:rPr lang="en-US" altLang="en-US" sz="3600" b="1" dirty="0">
                <a:solidFill>
                  <a:schemeClr val="folHlink"/>
                </a:solidFill>
                <a:effectLst>
                  <a:outerShdw blurRad="38100" dist="38100" dir="2700000" algn="tl">
                    <a:srgbClr val="C0C0C0"/>
                  </a:outerShdw>
                </a:effectLst>
                <a:latin typeface="Palatino Linotype" pitchFamily="18" charset="0"/>
                <a:ea typeface="华文行楷" pitchFamily="2" charset="-122"/>
              </a:rPr>
              <a:t>)</a:t>
            </a:r>
            <a:endParaRPr lang="en-US" sz="3600" b="1" dirty="0">
              <a:solidFill>
                <a:schemeClr val="folHlink"/>
              </a:solidFill>
              <a:effectLst>
                <a:outerShdw blurRad="38100" dist="38100" dir="2700000" algn="tl">
                  <a:srgbClr val="C0C0C0"/>
                </a:outerShdw>
              </a:effectLst>
              <a:latin typeface="Palatino Linotype" pitchFamily="18" charset="0"/>
              <a:ea typeface="华文行楷" pitchFamily="2" charset="-122"/>
            </a:endParaRPr>
          </a:p>
        </p:txBody>
      </p:sp>
      <p:sp>
        <p:nvSpPr>
          <p:cNvPr id="14340" name="Rectangle 3"/>
          <p:cNvSpPr>
            <a:spLocks noGrp="1" noChangeArrowheads="1"/>
          </p:cNvSpPr>
          <p:nvPr>
            <p:ph type="body" idx="4294967295"/>
          </p:nvPr>
        </p:nvSpPr>
        <p:spPr>
          <a:xfrm>
            <a:off x="457200" y="1219200"/>
            <a:ext cx="8534400" cy="1219200"/>
          </a:xfrm>
        </p:spPr>
        <p:txBody>
          <a:bodyPr/>
          <a:lstStyle/>
          <a:p>
            <a:pPr eaLnBrk="1" hangingPunct="1">
              <a:lnSpc>
                <a:spcPct val="80000"/>
              </a:lnSpc>
              <a:spcBef>
                <a:spcPct val="0"/>
              </a:spcBef>
              <a:buClrTx/>
              <a:buFont typeface="Wingdings" pitchFamily="2" charset="2"/>
              <a:buChar char="•"/>
            </a:pPr>
            <a:r>
              <a:rPr lang="en-US" sz="2800">
                <a:solidFill>
                  <a:schemeClr val="hlink"/>
                </a:solidFill>
                <a:latin typeface="Times New Roman" pitchFamily="18" charset="0"/>
              </a:rPr>
              <a:t>PIN:</a:t>
            </a:r>
            <a:r>
              <a:rPr lang="en-US" altLang="en-US" sz="2800">
                <a:solidFill>
                  <a:schemeClr val="hlink"/>
                </a:solidFill>
                <a:latin typeface="Times New Roman" pitchFamily="18" charset="0"/>
              </a:rPr>
              <a:t> </a:t>
            </a:r>
            <a:r>
              <a:rPr lang="en-US" altLang="en-US" sz="2800">
                <a:latin typeface="Times New Roman" pitchFamily="18" charset="0"/>
              </a:rPr>
              <a:t>One photon--one pair of electron-hole, </a:t>
            </a:r>
            <a:r>
              <a:rPr lang="en-US" altLang="en-US" sz="2800" b="1">
                <a:solidFill>
                  <a:schemeClr val="folHlink"/>
                </a:solidFill>
                <a:latin typeface="Times New Roman" pitchFamily="18" charset="0"/>
              </a:rPr>
              <a:t>no gain</a:t>
            </a:r>
          </a:p>
          <a:p>
            <a:pPr eaLnBrk="1" hangingPunct="1">
              <a:lnSpc>
                <a:spcPct val="80000"/>
              </a:lnSpc>
              <a:spcBef>
                <a:spcPct val="0"/>
              </a:spcBef>
              <a:buClrTx/>
              <a:buFont typeface="Wingdings" pitchFamily="2" charset="2"/>
              <a:buChar char="•"/>
            </a:pPr>
            <a:r>
              <a:rPr lang="en-US" sz="2800">
                <a:solidFill>
                  <a:schemeClr val="hlink"/>
                </a:solidFill>
                <a:latin typeface="Times New Roman" pitchFamily="18" charset="0"/>
              </a:rPr>
              <a:t>APD:</a:t>
            </a:r>
            <a:r>
              <a:rPr lang="en-US" sz="2800" b="1">
                <a:latin typeface="Times New Roman" pitchFamily="18" charset="0"/>
              </a:rPr>
              <a:t>The use of ionizing collisions,</a:t>
            </a:r>
            <a:r>
              <a:rPr lang="en-US" altLang="en-US" sz="2800">
                <a:latin typeface="Times New Roman" pitchFamily="18" charset="0"/>
              </a:rPr>
              <a:t> one photon--many electron-hole pairs, </a:t>
            </a:r>
            <a:r>
              <a:rPr lang="en-US" altLang="en-US" sz="2800" b="1">
                <a:solidFill>
                  <a:schemeClr val="folHlink"/>
                </a:solidFill>
                <a:latin typeface="Times New Roman" pitchFamily="18" charset="0"/>
              </a:rPr>
              <a:t>gain</a:t>
            </a:r>
          </a:p>
        </p:txBody>
      </p:sp>
      <p:sp>
        <p:nvSpPr>
          <p:cNvPr id="14341" name="Text Box 5"/>
          <p:cNvSpPr txBox="1">
            <a:spLocks noChangeArrowheads="1"/>
          </p:cNvSpPr>
          <p:nvPr/>
        </p:nvSpPr>
        <p:spPr bwMode="auto">
          <a:xfrm>
            <a:off x="466725" y="2420938"/>
            <a:ext cx="8482013" cy="4114800"/>
          </a:xfrm>
          <a:prstGeom prst="rect">
            <a:avLst/>
          </a:prstGeom>
          <a:noFill/>
          <a:ln w="9525">
            <a:noFill/>
            <a:miter lim="800000"/>
            <a:headEnd/>
            <a:tailEnd/>
          </a:ln>
        </p:spPr>
        <p:txBody>
          <a:bodyPr>
            <a:spAutoFit/>
          </a:bodyPr>
          <a:lstStyle/>
          <a:p>
            <a:pPr>
              <a:buFont typeface="Wingdings" pitchFamily="2" charset="2"/>
              <a:buNone/>
            </a:pPr>
            <a:r>
              <a:rPr lang="en-US" sz="2400">
                <a:solidFill>
                  <a:schemeClr val="hlink"/>
                </a:solidFill>
                <a:latin typeface="Times New Roman" pitchFamily="18" charset="0"/>
                <a:cs typeface="Times New Roman" pitchFamily="18" charset="0"/>
              </a:rPr>
              <a:t>1</a:t>
            </a:r>
            <a:r>
              <a:rPr lang="zh-CN" altLang="en-US" sz="2400">
                <a:solidFill>
                  <a:schemeClr val="hlink"/>
                </a:solidFill>
                <a:latin typeface="Times New Roman" pitchFamily="18" charset="0"/>
                <a:cs typeface="Times New Roman" pitchFamily="18" charset="0"/>
              </a:rPr>
              <a:t>.</a:t>
            </a:r>
            <a:r>
              <a:rPr lang="en-US" altLang="en-US" sz="2400">
                <a:solidFill>
                  <a:schemeClr val="hlink"/>
                </a:solidFill>
                <a:latin typeface="Times New Roman" pitchFamily="18" charset="0"/>
                <a:cs typeface="Times New Roman" pitchFamily="18" charset="0"/>
              </a:rPr>
              <a:t>Multiplication factor</a:t>
            </a:r>
            <a:r>
              <a:rPr lang="zh-CN" altLang="en-US" sz="2400">
                <a:solidFill>
                  <a:schemeClr val="hlink"/>
                </a:solidFill>
                <a:latin typeface="Times New Roman" pitchFamily="18" charset="0"/>
                <a:cs typeface="Times New Roman" pitchFamily="18" charset="0"/>
              </a:rPr>
              <a:t>:</a:t>
            </a:r>
            <a:r>
              <a:rPr lang="en-US" altLang="en-US" sz="2400">
                <a:solidFill>
                  <a:srgbClr val="FFFF00"/>
                </a:solidFill>
                <a:latin typeface="Times New Roman" pitchFamily="18" charset="0"/>
                <a:cs typeface="Times New Roman" pitchFamily="18" charset="0"/>
              </a:rPr>
              <a:t>  </a:t>
            </a:r>
            <a:r>
              <a:rPr lang="en-US" sz="2400" i="1">
                <a:latin typeface="Times New Roman" pitchFamily="18" charset="0"/>
                <a:cs typeface="Times New Roman" pitchFamily="18" charset="0"/>
              </a:rPr>
              <a:t>M </a:t>
            </a:r>
            <a:r>
              <a:rPr lang="en-US" sz="2400">
                <a:latin typeface="Times New Roman" pitchFamily="18" charset="0"/>
                <a:cs typeface="Times New Roman" pitchFamily="18" charset="0"/>
              </a:rPr>
              <a:t>= </a:t>
            </a:r>
            <a:r>
              <a:rPr lang="en-US" sz="2400" i="1">
                <a:latin typeface="Times New Roman" pitchFamily="18" charset="0"/>
                <a:cs typeface="Times New Roman" pitchFamily="18" charset="0"/>
              </a:rPr>
              <a:t>I</a:t>
            </a:r>
            <a:r>
              <a:rPr lang="en-US" sz="2400" i="1" baseline="-25000">
                <a:latin typeface="Times New Roman" pitchFamily="18" charset="0"/>
                <a:cs typeface="Times New Roman" pitchFamily="18" charset="0"/>
              </a:rPr>
              <a:t>p </a:t>
            </a:r>
            <a:r>
              <a:rPr lang="en-US" sz="2400" i="1">
                <a:latin typeface="Times New Roman" pitchFamily="18" charset="0"/>
                <a:cs typeface="Times New Roman" pitchFamily="18" charset="0"/>
              </a:rPr>
              <a:t>/ I</a:t>
            </a:r>
            <a:r>
              <a:rPr lang="en-US" sz="2400" i="1" baseline="-25000">
                <a:latin typeface="Times New Roman" pitchFamily="18" charset="0"/>
                <a:cs typeface="Times New Roman" pitchFamily="18" charset="0"/>
              </a:rPr>
              <a:t>0</a:t>
            </a:r>
            <a:r>
              <a:rPr lang="en-US" sz="2400" baseline="-25000">
                <a:latin typeface="Times New Roman" pitchFamily="18" charset="0"/>
                <a:cs typeface="Times New Roman" pitchFamily="18" charset="0"/>
              </a:rPr>
              <a:t>      </a:t>
            </a:r>
            <a:r>
              <a:rPr lang="en-US" sz="2400" i="1" baseline="-25000">
                <a:latin typeface="Times New Roman" pitchFamily="18" charset="0"/>
                <a:cs typeface="Times New Roman" pitchFamily="18" charset="0"/>
              </a:rPr>
              <a:t> </a:t>
            </a:r>
            <a:r>
              <a:rPr lang="en-US" sz="2400" i="1">
                <a:latin typeface="Times New Roman" pitchFamily="18" charset="0"/>
                <a:cs typeface="Times New Roman" pitchFamily="18" charset="0"/>
              </a:rPr>
              <a:t>I</a:t>
            </a:r>
            <a:r>
              <a:rPr lang="en-US" sz="2400" i="1" baseline="-25000">
                <a:latin typeface="Times New Roman" pitchFamily="18" charset="0"/>
                <a:cs typeface="Times New Roman" pitchFamily="18" charset="0"/>
              </a:rPr>
              <a:t>P</a:t>
            </a:r>
            <a:r>
              <a:rPr lang="en-US" sz="2400">
                <a:latin typeface="Times New Roman" pitchFamily="18" charset="0"/>
                <a:cs typeface="Times New Roman" pitchFamily="18" charset="0"/>
              </a:rPr>
              <a:t>--</a:t>
            </a:r>
            <a:r>
              <a:rPr lang="en-US" altLang="en-US" sz="2400">
                <a:latin typeface="Times New Roman" pitchFamily="18" charset="0"/>
                <a:cs typeface="Times New Roman" pitchFamily="18" charset="0"/>
              </a:rPr>
              <a:t>The average output current,</a:t>
            </a:r>
          </a:p>
          <a:p>
            <a:pPr>
              <a:buFont typeface="Wingdings" pitchFamily="2" charset="2"/>
              <a:buNone/>
            </a:pPr>
            <a:r>
              <a:rPr lang="zh-CN" altLang="en-US" sz="2400">
                <a:latin typeface="Times New Roman" pitchFamily="18" charset="0"/>
              </a:rPr>
              <a:t>                   </a:t>
            </a:r>
            <a:r>
              <a:rPr lang="en-US" altLang="en-US" sz="2400" i="1">
                <a:latin typeface="Times New Roman" pitchFamily="18" charset="0"/>
                <a:cs typeface="Times New Roman" pitchFamily="18" charset="0"/>
              </a:rPr>
              <a:t>                                      </a:t>
            </a:r>
            <a:r>
              <a:rPr lang="zh-CN" altLang="en-US" sz="2400" i="1">
                <a:latin typeface="Times New Roman" pitchFamily="18" charset="0"/>
              </a:rPr>
              <a:t>  </a:t>
            </a:r>
            <a:r>
              <a:rPr lang="en-US" sz="2400" i="1">
                <a:latin typeface="Times New Roman" pitchFamily="18" charset="0"/>
                <a:cs typeface="Times New Roman" pitchFamily="18" charset="0"/>
              </a:rPr>
              <a:t>I</a:t>
            </a:r>
            <a:r>
              <a:rPr lang="en-US" sz="2400" i="1" baseline="-25000">
                <a:latin typeface="Times New Roman" pitchFamily="18" charset="0"/>
                <a:cs typeface="Times New Roman" pitchFamily="18" charset="0"/>
              </a:rPr>
              <a:t>0</a:t>
            </a:r>
            <a:r>
              <a:rPr lang="en-US" sz="2400">
                <a:latin typeface="Times New Roman" pitchFamily="18" charset="0"/>
                <a:cs typeface="Times New Roman" pitchFamily="18" charset="0"/>
              </a:rPr>
              <a:t>--</a:t>
            </a:r>
            <a:r>
              <a:rPr lang="zh-CN" altLang="en-US" sz="2400">
                <a:latin typeface="Times New Roman" pitchFamily="18" charset="0"/>
                <a:cs typeface="Times New Roman" pitchFamily="18" charset="0"/>
              </a:rPr>
              <a:t>P</a:t>
            </a:r>
            <a:r>
              <a:rPr lang="en-US" altLang="en-US" sz="2400">
                <a:latin typeface="Times New Roman" pitchFamily="18" charset="0"/>
                <a:cs typeface="Times New Roman" pitchFamily="18" charset="0"/>
              </a:rPr>
              <a:t>hotocurrent</a:t>
            </a:r>
            <a:endParaRPr lang="en-US" altLang="en-US" sz="2000">
              <a:latin typeface="Times New Roman" pitchFamily="18" charset="0"/>
              <a:cs typeface="Times New Roman" pitchFamily="18" charset="0"/>
            </a:endParaRPr>
          </a:p>
          <a:p>
            <a:pPr>
              <a:buFont typeface="Wingdings" pitchFamily="2" charset="2"/>
              <a:buNone/>
            </a:pPr>
            <a:r>
              <a:rPr lang="en-US" altLang="en-US" sz="2400" i="1">
                <a:latin typeface="Times New Roman" pitchFamily="18" charset="0"/>
                <a:cs typeface="Times New Roman" pitchFamily="18" charset="0"/>
              </a:rPr>
              <a:t>        </a:t>
            </a:r>
            <a:r>
              <a:rPr lang="en-US" sz="2400" i="1">
                <a:latin typeface="Times New Roman" pitchFamily="18" charset="0"/>
                <a:cs typeface="Times New Roman" pitchFamily="18" charset="0"/>
              </a:rPr>
              <a:t>I</a:t>
            </a:r>
            <a:r>
              <a:rPr lang="en-US" sz="2400" i="1" baseline="-25000">
                <a:latin typeface="Times New Roman" pitchFamily="18" charset="0"/>
                <a:cs typeface="Times New Roman" pitchFamily="18" charset="0"/>
              </a:rPr>
              <a:t>P</a:t>
            </a:r>
            <a:r>
              <a:rPr lang="en-US" sz="2400">
                <a:latin typeface="Times New Roman" pitchFamily="18" charset="0"/>
                <a:cs typeface="Times New Roman" pitchFamily="18" charset="0"/>
              </a:rPr>
              <a:t> </a:t>
            </a:r>
            <a:r>
              <a:rPr lang="en-US" altLang="en-US" sz="2400">
                <a:latin typeface="Times New Roman" pitchFamily="18" charset="0"/>
                <a:cs typeface="Times New Roman" pitchFamily="18" charset="0"/>
              </a:rPr>
              <a:t>＝</a:t>
            </a:r>
            <a:r>
              <a:rPr lang="en-US" sz="2400" i="1">
                <a:latin typeface="Times New Roman" pitchFamily="18" charset="0"/>
                <a:cs typeface="Times New Roman" pitchFamily="18" charset="0"/>
              </a:rPr>
              <a:t>M</a:t>
            </a:r>
            <a:r>
              <a:rPr lang="en-US" sz="2400">
                <a:latin typeface="Times New Roman" pitchFamily="18" charset="0"/>
                <a:cs typeface="Times New Roman" pitchFamily="18" charset="0"/>
              </a:rPr>
              <a:t> </a:t>
            </a:r>
            <a:r>
              <a:rPr lang="en-US" sz="2400" i="1">
                <a:latin typeface="Times New Roman" pitchFamily="18" charset="0"/>
                <a:cs typeface="Times New Roman" pitchFamily="18" charset="0"/>
              </a:rPr>
              <a:t>I</a:t>
            </a:r>
            <a:r>
              <a:rPr lang="en-US" sz="2400" i="1" baseline="-25000">
                <a:latin typeface="Times New Roman" pitchFamily="18" charset="0"/>
                <a:cs typeface="Times New Roman" pitchFamily="18" charset="0"/>
              </a:rPr>
              <a:t>0</a:t>
            </a:r>
            <a:r>
              <a:rPr lang="en-US" sz="2400">
                <a:latin typeface="Times New Roman" pitchFamily="18" charset="0"/>
                <a:cs typeface="Times New Roman" pitchFamily="18" charset="0"/>
              </a:rPr>
              <a:t> </a:t>
            </a:r>
            <a:r>
              <a:rPr lang="en-US" altLang="en-US" sz="2400">
                <a:latin typeface="Times New Roman" pitchFamily="18" charset="0"/>
                <a:cs typeface="Times New Roman" pitchFamily="18" charset="0"/>
              </a:rPr>
              <a:t>＝</a:t>
            </a:r>
            <a:r>
              <a:rPr lang="en-US" sz="2400" i="1">
                <a:latin typeface="Times New Roman" pitchFamily="18" charset="0"/>
                <a:cs typeface="Times New Roman" pitchFamily="18" charset="0"/>
              </a:rPr>
              <a:t>MRP</a:t>
            </a:r>
            <a:r>
              <a:rPr lang="en-US" sz="2400" i="1" baseline="-25000">
                <a:latin typeface="Times New Roman" pitchFamily="18" charset="0"/>
                <a:cs typeface="Times New Roman" pitchFamily="18" charset="0"/>
              </a:rPr>
              <a:t>in</a:t>
            </a:r>
            <a:endParaRPr lang="en-US" sz="2000" i="1" baseline="-25000">
              <a:latin typeface="Times New Roman" pitchFamily="18" charset="0"/>
              <a:cs typeface="Times New Roman" pitchFamily="18" charset="0"/>
            </a:endParaRPr>
          </a:p>
          <a:p>
            <a:pPr>
              <a:buFont typeface="Wingdings" pitchFamily="2" charset="2"/>
              <a:buNone/>
            </a:pPr>
            <a:r>
              <a:rPr lang="en-US" sz="2400">
                <a:latin typeface="Times New Roman" pitchFamily="18" charset="0"/>
                <a:cs typeface="Times New Roman" pitchFamily="18" charset="0"/>
              </a:rPr>
              <a:t>      </a:t>
            </a:r>
            <a:r>
              <a:rPr lang="en-US" altLang="en-US" sz="2400">
                <a:latin typeface="Times New Roman" pitchFamily="18" charset="0"/>
                <a:cs typeface="Times New Roman" pitchFamily="18" charset="0"/>
              </a:rPr>
              <a:t>Multiplication factor</a:t>
            </a:r>
            <a:r>
              <a:rPr lang="zh-CN" altLang="en-US" sz="2400">
                <a:latin typeface="Times New Roman" pitchFamily="18" charset="0"/>
              </a:rPr>
              <a:t> is ralated to</a:t>
            </a:r>
            <a:r>
              <a:rPr lang="en-US" altLang="en-US" sz="2400">
                <a:latin typeface="Times New Roman" pitchFamily="18" charset="0"/>
                <a:cs typeface="Times New Roman" pitchFamily="18" charset="0"/>
              </a:rPr>
              <a:t> </a:t>
            </a:r>
            <a:r>
              <a:rPr lang="zh-CN" altLang="en-US" sz="2400">
                <a:latin typeface="Times New Roman" pitchFamily="18" charset="0"/>
              </a:rPr>
              <a:t>the </a:t>
            </a:r>
            <a:r>
              <a:rPr lang="en-US" altLang="en-US" sz="2400">
                <a:latin typeface="Times New Roman" pitchFamily="18" charset="0"/>
                <a:cs typeface="Times New Roman" pitchFamily="18" charset="0"/>
              </a:rPr>
              <a:t>ionization coefficient and</a:t>
            </a:r>
            <a:r>
              <a:rPr lang="zh-CN" altLang="en-US" sz="2400">
                <a:latin typeface="Times New Roman" pitchFamily="18" charset="0"/>
              </a:rPr>
              <a:t> the</a:t>
            </a:r>
            <a:r>
              <a:rPr lang="en-US" altLang="en-US" sz="2400">
                <a:latin typeface="Times New Roman" pitchFamily="18" charset="0"/>
                <a:cs typeface="Times New Roman" pitchFamily="18" charset="0"/>
              </a:rPr>
              <a:t> thickness </a:t>
            </a:r>
            <a:r>
              <a:rPr lang="zh-CN" altLang="en-US" sz="2400">
                <a:latin typeface="Times New Roman" pitchFamily="18" charset="0"/>
              </a:rPr>
              <a:t>of </a:t>
            </a:r>
            <a:r>
              <a:rPr lang="en-US" altLang="en-US" sz="2400">
                <a:latin typeface="Times New Roman" pitchFamily="18" charset="0"/>
                <a:cs typeface="Times New Roman" pitchFamily="18" charset="0"/>
              </a:rPr>
              <a:t>gain region.</a:t>
            </a:r>
          </a:p>
          <a:p>
            <a:pPr>
              <a:buFont typeface="Wingdings" pitchFamily="2" charset="2"/>
              <a:buNone/>
            </a:pPr>
            <a:r>
              <a:rPr lang="zh-CN" altLang="en-US" sz="2400">
                <a:solidFill>
                  <a:schemeClr val="hlink"/>
                </a:solidFill>
                <a:latin typeface="Times New Roman" pitchFamily="18" charset="0"/>
              </a:rPr>
              <a:t>2.Excess noise factor (F) </a:t>
            </a:r>
          </a:p>
          <a:p>
            <a:pPr>
              <a:buFont typeface="Wingdings" pitchFamily="2" charset="2"/>
              <a:buNone/>
            </a:pPr>
            <a:r>
              <a:rPr lang="en-US" altLang="en-US" sz="2400">
                <a:latin typeface="Times New Roman" pitchFamily="18" charset="0"/>
                <a:cs typeface="Times New Roman" pitchFamily="18" charset="0"/>
              </a:rPr>
              <a:t>      In APD, the amplification process is random, which will lead to fluctuations </a:t>
            </a:r>
            <a:r>
              <a:rPr lang="zh-CN" altLang="en-US" sz="2400">
                <a:latin typeface="Times New Roman" pitchFamily="18" charset="0"/>
              </a:rPr>
              <a:t>of</a:t>
            </a:r>
            <a:r>
              <a:rPr lang="en-US" altLang="en-US" sz="2400">
                <a:latin typeface="Times New Roman" pitchFamily="18" charset="0"/>
                <a:cs typeface="Times New Roman" pitchFamily="18" charset="0"/>
              </a:rPr>
              <a:t> the gain multiplier, </a:t>
            </a:r>
            <a:r>
              <a:rPr lang="zh-CN" altLang="en-US" sz="2400">
                <a:latin typeface="Times New Roman" pitchFamily="18" charset="0"/>
              </a:rPr>
              <a:t>and these </a:t>
            </a:r>
            <a:r>
              <a:rPr lang="en-US" altLang="en-US" sz="2400">
                <a:latin typeface="Times New Roman" pitchFamily="18" charset="0"/>
                <a:cs typeface="Times New Roman" pitchFamily="18" charset="0"/>
              </a:rPr>
              <a:t>fluctuations</a:t>
            </a:r>
            <a:r>
              <a:rPr lang="zh-CN" altLang="en-US" sz="2400">
                <a:latin typeface="Times New Roman" pitchFamily="18" charset="0"/>
              </a:rPr>
              <a:t> are</a:t>
            </a:r>
            <a:r>
              <a:rPr lang="en-US" altLang="en-US" sz="2400">
                <a:latin typeface="Times New Roman" pitchFamily="18" charset="0"/>
                <a:cs typeface="Times New Roman" pitchFamily="18" charset="0"/>
              </a:rPr>
              <a:t> the main source of multiplication noise. Often us</a:t>
            </a:r>
            <a:r>
              <a:rPr lang="zh-CN" altLang="en-US" sz="2400">
                <a:latin typeface="Times New Roman" pitchFamily="18" charset="0"/>
              </a:rPr>
              <a:t>e</a:t>
            </a:r>
            <a:r>
              <a:rPr lang="en-US" altLang="en-US" sz="2400">
                <a:latin typeface="Times New Roman" pitchFamily="18" charset="0"/>
                <a:cs typeface="Times New Roman" pitchFamily="18" charset="0"/>
              </a:rPr>
              <a:t> </a:t>
            </a:r>
            <a:r>
              <a:rPr lang="zh-CN" altLang="en-US" sz="2400">
                <a:latin typeface="Times New Roman" pitchFamily="18" charset="0"/>
              </a:rPr>
              <a:t>excess</a:t>
            </a:r>
            <a:r>
              <a:rPr lang="en-US" altLang="en-US" sz="2400">
                <a:latin typeface="Times New Roman" pitchFamily="18" charset="0"/>
                <a:cs typeface="Times New Roman" pitchFamily="18" charset="0"/>
              </a:rPr>
              <a:t> noise factor </a:t>
            </a:r>
            <a:r>
              <a:rPr lang="zh-CN" altLang="en-US" sz="2400">
                <a:latin typeface="Times New Roman" pitchFamily="18" charset="0"/>
              </a:rPr>
              <a:t>(</a:t>
            </a:r>
            <a:r>
              <a:rPr lang="en-US" altLang="en-US" sz="2400">
                <a:latin typeface="Times New Roman" pitchFamily="18" charset="0"/>
                <a:cs typeface="Times New Roman" pitchFamily="18" charset="0"/>
              </a:rPr>
              <a:t>F</a:t>
            </a:r>
            <a:r>
              <a:rPr lang="zh-CN" altLang="en-US" sz="2400">
                <a:latin typeface="Times New Roman" pitchFamily="18" charset="0"/>
              </a:rPr>
              <a:t>)</a:t>
            </a:r>
            <a:r>
              <a:rPr lang="en-US" altLang="en-US" sz="2400">
                <a:latin typeface="Times New Roman" pitchFamily="18" charset="0"/>
                <a:cs typeface="Times New Roman" pitchFamily="18" charset="0"/>
              </a:rPr>
              <a:t> </a:t>
            </a:r>
            <a:r>
              <a:rPr lang="zh-CN" altLang="en-US" sz="2400">
                <a:latin typeface="Times New Roman" pitchFamily="18" charset="0"/>
              </a:rPr>
              <a:t>to represent</a:t>
            </a:r>
            <a:r>
              <a:rPr lang="en-US" altLang="en-US" sz="2400">
                <a:latin typeface="Times New Roman" pitchFamily="18" charset="0"/>
                <a:cs typeface="Times New Roman" pitchFamily="18" charset="0"/>
              </a:rPr>
              <a:t> this multiplication noise.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10000"/>
          </a:bodyPr>
          <a:lstStyle/>
          <a:p>
            <a:pPr algn="just"/>
            <a:r>
              <a:rPr lang="en-GB" dirty="0" smtClean="0"/>
              <a:t>All detectors require a certain minimum current to operate reliably. </a:t>
            </a:r>
            <a:endParaRPr lang="en-GB" dirty="0" smtClean="0"/>
          </a:p>
          <a:p>
            <a:pPr algn="just"/>
            <a:r>
              <a:rPr lang="en-GB" dirty="0" smtClean="0"/>
              <a:t>The </a:t>
            </a:r>
            <a:r>
              <a:rPr lang="en-GB" dirty="0" smtClean="0"/>
              <a:t>current </a:t>
            </a:r>
            <a:r>
              <a:rPr lang="en-GB" dirty="0" smtClean="0"/>
              <a:t>requirement translates </a:t>
            </a:r>
            <a:r>
              <a:rPr lang="en-GB" dirty="0" smtClean="0"/>
              <a:t>into a minimum power </a:t>
            </a:r>
            <a:r>
              <a:rPr lang="en-GB" dirty="0" smtClean="0"/>
              <a:t>requirement.</a:t>
            </a:r>
          </a:p>
          <a:p>
            <a:pPr algn="just"/>
            <a:r>
              <a:rPr lang="en-GB" dirty="0" smtClean="0"/>
              <a:t>Avalanche photodiode (</a:t>
            </a:r>
            <a:r>
              <a:rPr lang="en-GB" dirty="0" err="1" smtClean="0"/>
              <a:t>APDs</a:t>
            </a:r>
            <a:r>
              <a:rPr lang="en-GB" dirty="0" smtClean="0"/>
              <a:t>) can have much larger </a:t>
            </a:r>
            <a:r>
              <a:rPr lang="en-GB" dirty="0" smtClean="0"/>
              <a:t>values of </a:t>
            </a:r>
            <a:r>
              <a:rPr lang="en-GB" i="1" dirty="0" smtClean="0"/>
              <a:t>Rd, as they are designed to provide an internal current gain in a way similar </a:t>
            </a:r>
            <a:r>
              <a:rPr lang="en-GB" i="1" dirty="0" smtClean="0"/>
              <a:t>to </a:t>
            </a:r>
            <a:r>
              <a:rPr lang="en-GB" dirty="0" smtClean="0"/>
              <a:t>photomultiplier tubes.</a:t>
            </a:r>
          </a:p>
          <a:p>
            <a:pPr algn="just"/>
            <a:r>
              <a:rPr lang="en-GB" dirty="0" smtClean="0"/>
              <a:t>They </a:t>
            </a:r>
            <a:r>
              <a:rPr lang="en-GB" dirty="0" smtClean="0"/>
              <a:t>are used when the amount of optical power that can </a:t>
            </a:r>
            <a:r>
              <a:rPr lang="en-GB" dirty="0" smtClean="0"/>
              <a:t>be spared </a:t>
            </a:r>
            <a:r>
              <a:rPr lang="en-GB" dirty="0" smtClean="0"/>
              <a:t>for the receiver is limited</a:t>
            </a:r>
            <a:r>
              <a:rPr lang="en-GB" dirty="0" smtClean="0"/>
              <a:t>.</a:t>
            </a:r>
          </a:p>
          <a:p>
            <a:pPr algn="just"/>
            <a:r>
              <a:rPr lang="en-GB" dirty="0" smtClean="0"/>
              <a:t>The physical phenomenon behind the internal current gain is known as the </a:t>
            </a:r>
            <a:r>
              <a:rPr lang="en-GB" i="1" dirty="0" smtClean="0"/>
              <a:t>impact ionization</a:t>
            </a:r>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lgn="just"/>
            <a:r>
              <a:rPr lang="en-GB" dirty="0" smtClean="0"/>
              <a:t>The </a:t>
            </a:r>
            <a:r>
              <a:rPr lang="en-GB" dirty="0" smtClean="0"/>
              <a:t>energetic electron gives a part of its kinetic energy to another electron in the </a:t>
            </a:r>
            <a:r>
              <a:rPr lang="en-GB" dirty="0" smtClean="0"/>
              <a:t>valence band </a:t>
            </a:r>
            <a:r>
              <a:rPr lang="en-GB" dirty="0" smtClean="0"/>
              <a:t>that ends up in the conduction band, leaving behind a hole. </a:t>
            </a:r>
            <a:endParaRPr lang="en-GB" dirty="0" smtClean="0"/>
          </a:p>
          <a:p>
            <a:pPr algn="just"/>
            <a:r>
              <a:rPr lang="en-GB" dirty="0" smtClean="0"/>
              <a:t>The </a:t>
            </a:r>
            <a:r>
              <a:rPr lang="en-GB" dirty="0" smtClean="0"/>
              <a:t>net </a:t>
            </a:r>
            <a:r>
              <a:rPr lang="en-GB" dirty="0" smtClean="0"/>
              <a:t>result of </a:t>
            </a:r>
            <a:r>
              <a:rPr lang="en-GB" dirty="0" smtClean="0"/>
              <a:t>impact ionization is that a single primary electron, generated through absorption of </a:t>
            </a:r>
            <a:r>
              <a:rPr lang="en-GB" dirty="0" smtClean="0"/>
              <a:t>a photon</a:t>
            </a:r>
            <a:r>
              <a:rPr lang="en-GB" dirty="0" smtClean="0"/>
              <a:t>, creates many secondary electrons and holes, all of which contribute to the </a:t>
            </a:r>
            <a:r>
              <a:rPr lang="en-GB" dirty="0" smtClean="0"/>
              <a:t>photodiode current</a:t>
            </a:r>
            <a:r>
              <a:rPr lang="en-GB" dirty="0" smtClean="0"/>
              <a:t>.</a:t>
            </a:r>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noChangeArrowheads="1"/>
          </p:cNvSpPr>
          <p:nvPr/>
        </p:nvSpPr>
        <p:spPr bwMode="auto">
          <a:xfrm>
            <a:off x="7092950" y="6310313"/>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403C615D-6C32-4E08-B8E8-357D7BD3FC36}" type="slidenum">
              <a:rPr lang="zh-CN" altLang="en-US" sz="1400"/>
              <a:pPr algn="r">
                <a:spcBef>
                  <a:spcPct val="0"/>
                </a:spcBef>
                <a:buClrTx/>
                <a:buSzTx/>
                <a:buFont typeface="Wingdings" pitchFamily="2" charset="2"/>
                <a:buNone/>
              </a:pPr>
              <a:t>23</a:t>
            </a:fld>
            <a:endParaRPr lang="en-US" sz="1400"/>
          </a:p>
        </p:txBody>
      </p:sp>
      <p:sp>
        <p:nvSpPr>
          <p:cNvPr id="15363" name="Rectangle 2"/>
          <p:cNvSpPr>
            <a:spLocks noGrp="1" noChangeArrowheads="1"/>
          </p:cNvSpPr>
          <p:nvPr>
            <p:ph type="title" idx="4294967295"/>
          </p:nvPr>
        </p:nvSpPr>
        <p:spPr>
          <a:xfrm>
            <a:off x="1397000" y="73025"/>
            <a:ext cx="7208838" cy="835025"/>
          </a:xfrm>
        </p:spPr>
        <p:txBody>
          <a:bodyPr anchor="ctr"/>
          <a:lstStyle/>
          <a:p>
            <a:pPr eaLnBrk="1" hangingPunct="1"/>
            <a:r>
              <a:rPr lang="en-US" sz="3600" b="1">
                <a:solidFill>
                  <a:schemeClr val="folHlink"/>
                </a:solidFill>
                <a:effectLst>
                  <a:outerShdw blurRad="38100" dist="38100" dir="2700000" algn="tl">
                    <a:srgbClr val="C0C0C0"/>
                  </a:outerShdw>
                </a:effectLst>
                <a:latin typeface="Palatino Linotype" pitchFamily="18" charset="0"/>
                <a:ea typeface="华文行楷" pitchFamily="2" charset="-122"/>
              </a:rPr>
              <a:t>Comparison of the photodetector</a:t>
            </a:r>
          </a:p>
        </p:txBody>
      </p:sp>
      <p:graphicFrame>
        <p:nvGraphicFramePr>
          <p:cNvPr id="15364" name="Group 4"/>
          <p:cNvGraphicFramePr>
            <a:graphicFrameLocks noGrp="1"/>
          </p:cNvGraphicFramePr>
          <p:nvPr>
            <p:ph type="tbl" idx="4294967295"/>
          </p:nvPr>
        </p:nvGraphicFramePr>
        <p:xfrm>
          <a:off x="539750" y="1628775"/>
          <a:ext cx="8207375" cy="4302126"/>
        </p:xfrm>
        <a:graphic>
          <a:graphicData uri="http://schemas.openxmlformats.org/drawingml/2006/table">
            <a:tbl>
              <a:tblPr/>
              <a:tblGrid>
                <a:gridCol w="1452563"/>
                <a:gridCol w="1138237"/>
                <a:gridCol w="1023938"/>
                <a:gridCol w="1655762"/>
                <a:gridCol w="1431925"/>
                <a:gridCol w="1504950"/>
              </a:tblGrid>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Parameter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Symbol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Unit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Si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Ge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InGaAs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r>
              <a:tr h="427038">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800" b="0" i="0" u="none" strike="noStrike" cap="none" normalizeH="0" baseline="0" smtClean="0">
                          <a:ln>
                            <a:noFill/>
                          </a:ln>
                          <a:solidFill>
                            <a:schemeClr val="tx1"/>
                          </a:solidFill>
                          <a:effectLst/>
                          <a:latin typeface="Times New Roman" pitchFamily="18" charset="0"/>
                          <a:ea typeface="宋体" pitchFamily="2" charset="-122"/>
                        </a:rPr>
                        <a:t>Wavelength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sym typeface="Symbol" pitchFamily="18" charset="2"/>
                        </a:rPr>
                        <a:t></a:t>
                      </a:r>
                      <a:endParaRPr kumimoji="0" lang="en-US" sz="22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nm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400~1100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800~1650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1100~1700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r>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800" b="0" i="0" u="none" strike="noStrike" cap="none" normalizeH="0" baseline="0" smtClean="0">
                          <a:ln>
                            <a:noFill/>
                          </a:ln>
                          <a:solidFill>
                            <a:schemeClr val="tx1"/>
                          </a:solidFill>
                          <a:effectLst/>
                          <a:latin typeface="Times New Roman" pitchFamily="18" charset="0"/>
                          <a:ea typeface="宋体" pitchFamily="2" charset="-122"/>
                        </a:rPr>
                        <a:t>Responsivity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A/W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0.4~0.6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0.4~0.5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0.75~0.95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r>
              <a:tr h="76200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Dark Current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I</a:t>
                      </a:r>
                      <a:r>
                        <a:rPr kumimoji="0" lang="en-US" sz="2200" b="0" i="0" u="none" strike="noStrike" cap="none" normalizeH="0" baseline="-25000" smtClean="0">
                          <a:ln>
                            <a:noFill/>
                          </a:ln>
                          <a:solidFill>
                            <a:schemeClr val="tx1"/>
                          </a:solidFill>
                          <a:effectLst/>
                          <a:latin typeface="Times New Roman" pitchFamily="18" charset="0"/>
                          <a:ea typeface="宋体" pitchFamily="2" charset="-122"/>
                        </a:rPr>
                        <a:t>D</a:t>
                      </a:r>
                      <a:endParaRPr kumimoji="0" lang="en-US" sz="22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50~500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0.5~2.0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r>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Rise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en-US" sz="2200" b="0" i="0" u="none" strike="noStrike" cap="none" normalizeH="0" baseline="0" smtClean="0">
                          <a:ln>
                            <a:noFill/>
                          </a:ln>
                          <a:solidFill>
                            <a:schemeClr val="tx1"/>
                          </a:solidFill>
                          <a:effectLst/>
                          <a:latin typeface="Times New Roman" pitchFamily="18" charset="0"/>
                          <a:ea typeface="宋体" pitchFamily="2" charset="-122"/>
                          <a:sym typeface="Symbol" pitchFamily="18" charset="2"/>
                        </a:rPr>
                        <a:t></a:t>
                      </a:r>
                      <a:r>
                        <a:rPr kumimoji="0" lang="en-US" sz="2200" b="0" i="0" u="none" strike="noStrike" cap="none" normalizeH="0" baseline="-25000" smtClean="0">
                          <a:ln>
                            <a:noFill/>
                          </a:ln>
                          <a:solidFill>
                            <a:schemeClr val="tx1"/>
                          </a:solidFill>
                          <a:effectLst/>
                          <a:latin typeface="Times New Roman" pitchFamily="18" charset="0"/>
                          <a:ea typeface="宋体" pitchFamily="2" charset="-122"/>
                          <a:sym typeface="Symbol" pitchFamily="18" charset="2"/>
                        </a:rPr>
                        <a:t>r</a:t>
                      </a:r>
                      <a:endParaRPr kumimoji="0" lang="en-US" sz="22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0.5~1.0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0.1~0.5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0.05~0.5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r>
              <a:tr h="588963">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Bandwidth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GHz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0.3~0.7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0.5~3.0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1.0~2.0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r>
              <a:tr h="76200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Bias voltage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V</a:t>
                      </a:r>
                      <a:r>
                        <a:rPr kumimoji="0" lang="en-US" sz="2200" b="0" i="0" u="none" strike="noStrike" cap="none" normalizeH="0" baseline="-25000" smtClean="0">
                          <a:ln>
                            <a:noFill/>
                          </a:ln>
                          <a:solidFill>
                            <a:schemeClr val="tx1"/>
                          </a:solidFill>
                          <a:effectLst/>
                          <a:latin typeface="Times New Roman" pitchFamily="18" charset="0"/>
                          <a:ea typeface="宋体" pitchFamily="2" charset="-122"/>
                        </a:rPr>
                        <a:t>B</a:t>
                      </a:r>
                      <a:endParaRPr kumimoji="0" lang="en-US" sz="22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5~10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r>
            </a:tbl>
          </a:graphicData>
        </a:graphic>
      </p:graphicFrame>
      <p:sp>
        <p:nvSpPr>
          <p:cNvPr id="15422" name="Text Box 61"/>
          <p:cNvSpPr txBox="1">
            <a:spLocks noChangeArrowheads="1"/>
          </p:cNvSpPr>
          <p:nvPr/>
        </p:nvSpPr>
        <p:spPr bwMode="auto">
          <a:xfrm>
            <a:off x="1044575" y="1196975"/>
            <a:ext cx="7497763" cy="396875"/>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2000">
                <a:solidFill>
                  <a:srgbClr val="008000"/>
                </a:solidFill>
                <a:effectLst>
                  <a:outerShdw blurRad="38100" dist="38100" dir="2700000" algn="tl">
                    <a:srgbClr val="C0C0C0"/>
                  </a:outerShdw>
                </a:effectLst>
                <a:latin typeface="Times New Roman" pitchFamily="18" charset="0"/>
                <a:ea typeface="黑体" pitchFamily="1" charset="-122"/>
              </a:rPr>
              <a:t>Si</a:t>
            </a:r>
            <a:r>
              <a:rPr lang="zh-CN" altLang="en-US" sz="2000">
                <a:solidFill>
                  <a:srgbClr val="008000"/>
                </a:solidFill>
                <a:effectLst>
                  <a:outerShdw blurRad="38100" dist="38100" dir="2700000" algn="tl">
                    <a:srgbClr val="C0C0C0"/>
                  </a:outerShdw>
                </a:effectLst>
                <a:latin typeface="Times New Roman" pitchFamily="18" charset="0"/>
                <a:ea typeface="黑体" pitchFamily="1" charset="-122"/>
              </a:rPr>
              <a:t>、</a:t>
            </a:r>
            <a:r>
              <a:rPr lang="en-US" sz="2000">
                <a:solidFill>
                  <a:srgbClr val="008000"/>
                </a:solidFill>
                <a:effectLst>
                  <a:outerShdw blurRad="38100" dist="38100" dir="2700000" algn="tl">
                    <a:srgbClr val="C0C0C0"/>
                  </a:outerShdw>
                </a:effectLst>
                <a:latin typeface="Times New Roman" pitchFamily="18" charset="0"/>
                <a:ea typeface="黑体" pitchFamily="1" charset="-122"/>
              </a:rPr>
              <a:t>Ge</a:t>
            </a:r>
            <a:r>
              <a:rPr lang="zh-CN" altLang="en-US" sz="2000">
                <a:solidFill>
                  <a:srgbClr val="008000"/>
                </a:solidFill>
                <a:effectLst>
                  <a:outerShdw blurRad="38100" dist="38100" dir="2700000" algn="tl">
                    <a:srgbClr val="C0C0C0"/>
                  </a:outerShdw>
                </a:effectLst>
                <a:latin typeface="Times New Roman" pitchFamily="18" charset="0"/>
                <a:ea typeface="黑体" pitchFamily="1" charset="-122"/>
              </a:rPr>
              <a:t>、</a:t>
            </a:r>
            <a:r>
              <a:rPr lang="en-US" sz="2000">
                <a:solidFill>
                  <a:srgbClr val="008000"/>
                </a:solidFill>
                <a:effectLst>
                  <a:outerShdw blurRad="38100" dist="38100" dir="2700000" algn="tl">
                    <a:srgbClr val="C0C0C0"/>
                  </a:outerShdw>
                </a:effectLst>
                <a:latin typeface="Times New Roman" pitchFamily="18" charset="0"/>
                <a:ea typeface="黑体" pitchFamily="1" charset="-122"/>
              </a:rPr>
              <a:t>InGaAs </a:t>
            </a:r>
            <a:r>
              <a:rPr lang="en-US" sz="2000" i="1">
                <a:solidFill>
                  <a:srgbClr val="008000"/>
                </a:solidFill>
                <a:effectLst>
                  <a:outerShdw blurRad="38100" dist="38100" dir="2700000" algn="tl">
                    <a:srgbClr val="C0C0C0"/>
                  </a:outerShdw>
                </a:effectLst>
                <a:latin typeface="Times New Roman" pitchFamily="18" charset="0"/>
                <a:ea typeface="黑体" pitchFamily="1" charset="-122"/>
              </a:rPr>
              <a:t>pin</a:t>
            </a:r>
            <a:r>
              <a:rPr lang="zh-CN" altLang="en-US" sz="2000">
                <a:solidFill>
                  <a:srgbClr val="008000"/>
                </a:solidFill>
                <a:effectLst>
                  <a:outerShdw blurRad="38100" dist="38100" dir="2700000" algn="tl">
                    <a:srgbClr val="C0C0C0"/>
                  </a:outerShdw>
                </a:effectLst>
                <a:latin typeface="Times New Roman" pitchFamily="18" charset="0"/>
                <a:ea typeface="黑体" pitchFamily="1" charset="-122"/>
              </a:rPr>
              <a:t> photodiodes common working parameters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noChangeArrowheads="1"/>
          </p:cNvSpPr>
          <p:nvPr/>
        </p:nvSpPr>
        <p:spPr bwMode="auto">
          <a:xfrm>
            <a:off x="6988175" y="5661025"/>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F370D8FF-E8CD-473B-B5AC-12793E61C7F4}" type="slidenum">
              <a:rPr lang="zh-CN" altLang="en-US" sz="1400"/>
              <a:pPr algn="r">
                <a:spcBef>
                  <a:spcPct val="0"/>
                </a:spcBef>
                <a:buClrTx/>
                <a:buSzTx/>
                <a:buFont typeface="Wingdings" pitchFamily="2" charset="2"/>
                <a:buNone/>
              </a:pPr>
              <a:t>24</a:t>
            </a:fld>
            <a:endParaRPr lang="en-US" sz="1400"/>
          </a:p>
        </p:txBody>
      </p:sp>
      <p:sp>
        <p:nvSpPr>
          <p:cNvPr id="16387" name="Rectangle 2"/>
          <p:cNvSpPr>
            <a:spLocks noGrp="1" noChangeArrowheads="1"/>
          </p:cNvSpPr>
          <p:nvPr>
            <p:ph type="title" idx="4294967295"/>
          </p:nvPr>
        </p:nvSpPr>
        <p:spPr>
          <a:xfrm>
            <a:off x="1397000" y="73025"/>
            <a:ext cx="7208838" cy="835025"/>
          </a:xfrm>
        </p:spPr>
        <p:txBody>
          <a:bodyPr anchor="ctr"/>
          <a:lstStyle/>
          <a:p>
            <a:pPr eaLnBrk="1" hangingPunct="1"/>
            <a:r>
              <a:rPr lang="en-US" sz="3600" b="1">
                <a:solidFill>
                  <a:schemeClr val="folHlink"/>
                </a:solidFill>
                <a:effectLst>
                  <a:outerShdw blurRad="38100" dist="38100" dir="2700000" algn="tl">
                    <a:srgbClr val="C0C0C0"/>
                  </a:outerShdw>
                </a:effectLst>
                <a:latin typeface="Palatino Linotype" pitchFamily="18" charset="0"/>
                <a:ea typeface="华文行楷" pitchFamily="2" charset="-122"/>
              </a:rPr>
              <a:t>Comparison of the photodetector</a:t>
            </a:r>
          </a:p>
        </p:txBody>
      </p:sp>
      <p:graphicFrame>
        <p:nvGraphicFramePr>
          <p:cNvPr id="16388" name="Group 4"/>
          <p:cNvGraphicFramePr>
            <a:graphicFrameLocks noGrp="1"/>
          </p:cNvGraphicFramePr>
          <p:nvPr>
            <p:ph type="tbl" idx="4294967295"/>
          </p:nvPr>
        </p:nvGraphicFramePr>
        <p:xfrm>
          <a:off x="466725" y="1412875"/>
          <a:ext cx="8458200" cy="4973956"/>
        </p:xfrm>
        <a:graphic>
          <a:graphicData uri="http://schemas.openxmlformats.org/drawingml/2006/table">
            <a:tbl>
              <a:tblPr/>
              <a:tblGrid>
                <a:gridCol w="1600200"/>
                <a:gridCol w="1108075"/>
                <a:gridCol w="1016000"/>
                <a:gridCol w="1708150"/>
                <a:gridCol w="1473200"/>
                <a:gridCol w="1552575"/>
              </a:tblGrid>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Parameter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Symbol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Unit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Si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Ge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InGaAs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r>
              <a:tr h="588963">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Wavelength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sym typeface="Symbol" pitchFamily="18" charset="2"/>
                        </a:rPr>
                        <a:t></a:t>
                      </a:r>
                      <a:endParaRPr kumimoji="0" lang="en-US" sz="22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nm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400~1100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800~1650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1100~1700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r>
              <a:tr h="763588">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Avalanche gain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20~400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50~200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10~40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r>
              <a:tr h="762000">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Dark Current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I</a:t>
                      </a:r>
                      <a:r>
                        <a:rPr kumimoji="0" lang="en-US" sz="2200" b="0" i="0" u="none" strike="noStrike" cap="none" normalizeH="0" baseline="-25000" smtClean="0">
                          <a:ln>
                            <a:noFill/>
                          </a:ln>
                          <a:solidFill>
                            <a:schemeClr val="tx1"/>
                          </a:solidFill>
                          <a:effectLst/>
                          <a:latin typeface="Times New Roman" pitchFamily="18" charset="0"/>
                          <a:ea typeface="宋体" pitchFamily="2" charset="-122"/>
                        </a:rPr>
                        <a:t>D</a:t>
                      </a:r>
                      <a:endParaRPr kumimoji="0" lang="en-US" sz="22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50~500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10~50</a:t>
                      </a:r>
                    </a:p>
                    <a:p>
                      <a:pPr marL="0" marR="0" lvl="0" indent="0" algn="ctr" defTabSz="914400" rtl="0" eaLnBrk="1" fontAlgn="base" latinLnBrk="0" hangingPunct="1">
                        <a:lnSpc>
                          <a:spcPct val="100000"/>
                        </a:lnSpc>
                        <a:spcBef>
                          <a:spcPct val="0"/>
                        </a:spcBef>
                        <a:spcAft>
                          <a:spcPct val="0"/>
                        </a:spcAft>
                        <a:buClr>
                          <a:schemeClr val="folHlink"/>
                        </a:buClr>
                        <a:buSzTx/>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ea typeface="宋体" pitchFamily="2" charset="-122"/>
                        </a:rPr>
                        <a:t>@M=10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r>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Rise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en-US" sz="2200" b="0" i="0" u="none" strike="noStrike" cap="none" normalizeH="0" baseline="0" smtClean="0">
                          <a:ln>
                            <a:noFill/>
                          </a:ln>
                          <a:solidFill>
                            <a:schemeClr val="tx1"/>
                          </a:solidFill>
                          <a:effectLst/>
                          <a:latin typeface="Times New Roman" pitchFamily="18" charset="0"/>
                          <a:ea typeface="宋体" pitchFamily="2" charset="-122"/>
                          <a:sym typeface="Symbol" pitchFamily="18" charset="2"/>
                        </a:rPr>
                        <a:t></a:t>
                      </a:r>
                      <a:r>
                        <a:rPr kumimoji="0" lang="en-US" sz="2200" b="0" i="0" u="none" strike="noStrike" cap="none" normalizeH="0" baseline="-25000" smtClean="0">
                          <a:ln>
                            <a:noFill/>
                          </a:ln>
                          <a:solidFill>
                            <a:schemeClr val="tx1"/>
                          </a:solidFill>
                          <a:effectLst/>
                          <a:latin typeface="Times New Roman" pitchFamily="18" charset="0"/>
                          <a:ea typeface="宋体" pitchFamily="2" charset="-122"/>
                          <a:sym typeface="Symbol" pitchFamily="18" charset="2"/>
                        </a:rPr>
                        <a:t>r</a:t>
                      </a:r>
                      <a:endParaRPr kumimoji="0" lang="en-US" sz="22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0.5~0.8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0.1~0.5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FFF3"/>
                    </a:solidFill>
                  </a:tcPr>
                </a:tc>
              </a:tr>
              <a:tr h="1096963">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Gain Bandwidth Product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M</a:t>
                      </a:r>
                      <a:r>
                        <a:rPr kumimoji="0" lang="en-US" sz="2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0" lang="en-US" sz="2200" b="0" i="0" u="none" strike="noStrike" cap="none" normalizeH="0" baseline="0" smtClean="0">
                          <a:ln>
                            <a:noFill/>
                          </a:ln>
                          <a:solidFill>
                            <a:schemeClr val="tx1"/>
                          </a:solidFill>
                          <a:effectLst/>
                          <a:latin typeface="Times New Roman" pitchFamily="18"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GHz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100~400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2~10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20~250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FFFA"/>
                    </a:solidFill>
                  </a:tcPr>
                </a:tc>
              </a:tr>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Bias voltage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V</a:t>
                      </a:r>
                      <a:r>
                        <a:rPr kumimoji="0" lang="en-US" sz="2200" b="0" i="0" u="none" strike="noStrike" cap="none" normalizeH="0" baseline="-25000" smtClean="0">
                          <a:ln>
                            <a:noFill/>
                          </a:ln>
                          <a:solidFill>
                            <a:schemeClr val="tx1"/>
                          </a:solidFill>
                          <a:effectLst/>
                          <a:latin typeface="Times New Roman" pitchFamily="18" charset="0"/>
                          <a:ea typeface="宋体" pitchFamily="2" charset="-122"/>
                        </a:rPr>
                        <a:t>B</a:t>
                      </a:r>
                      <a:endParaRPr kumimoji="0" lang="en-US" sz="22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150~400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20~40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200" b="0" i="0" u="none" strike="noStrike" cap="none" normalizeH="0" baseline="0" smtClean="0">
                          <a:ln>
                            <a:noFill/>
                          </a:ln>
                          <a:solidFill>
                            <a:schemeClr val="tx1"/>
                          </a:solidFill>
                          <a:effectLst/>
                          <a:latin typeface="Times New Roman" pitchFamily="18" charset="0"/>
                          <a:ea typeface="宋体" pitchFamily="2" charset="-122"/>
                        </a:rPr>
                        <a:t>20~30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1FFF3"/>
                    </a:solidFill>
                  </a:tcPr>
                </a:tc>
              </a:tr>
            </a:tbl>
          </a:graphicData>
        </a:graphic>
      </p:graphicFrame>
      <p:sp>
        <p:nvSpPr>
          <p:cNvPr id="16446" name="Text Box 61"/>
          <p:cNvSpPr txBox="1">
            <a:spLocks noChangeArrowheads="1"/>
          </p:cNvSpPr>
          <p:nvPr/>
        </p:nvSpPr>
        <p:spPr bwMode="auto">
          <a:xfrm>
            <a:off x="1260475" y="909638"/>
            <a:ext cx="6048375" cy="395287"/>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2000">
                <a:solidFill>
                  <a:srgbClr val="008000"/>
                </a:solidFill>
                <a:effectLst>
                  <a:outerShdw blurRad="38100" dist="38100" dir="2700000" algn="tl">
                    <a:srgbClr val="C0C0C0"/>
                  </a:outerShdw>
                </a:effectLst>
                <a:latin typeface="Times New Roman" pitchFamily="18" charset="0"/>
                <a:ea typeface="黑体" pitchFamily="1" charset="-122"/>
              </a:rPr>
              <a:t>Si</a:t>
            </a:r>
            <a:r>
              <a:rPr lang="zh-CN" altLang="en-US" sz="2000">
                <a:solidFill>
                  <a:srgbClr val="008000"/>
                </a:solidFill>
                <a:effectLst>
                  <a:outerShdw blurRad="38100" dist="38100" dir="2700000" algn="tl">
                    <a:srgbClr val="C0C0C0"/>
                  </a:outerShdw>
                </a:effectLst>
                <a:latin typeface="Times New Roman" pitchFamily="18" charset="0"/>
                <a:ea typeface="黑体" pitchFamily="1" charset="-122"/>
              </a:rPr>
              <a:t>、</a:t>
            </a:r>
            <a:r>
              <a:rPr lang="en-US" sz="2000">
                <a:solidFill>
                  <a:srgbClr val="008000"/>
                </a:solidFill>
                <a:effectLst>
                  <a:outerShdw blurRad="38100" dist="38100" dir="2700000" algn="tl">
                    <a:srgbClr val="C0C0C0"/>
                  </a:outerShdw>
                </a:effectLst>
                <a:latin typeface="Times New Roman" pitchFamily="18" charset="0"/>
                <a:ea typeface="黑体" pitchFamily="1" charset="-122"/>
              </a:rPr>
              <a:t>Ge</a:t>
            </a:r>
            <a:r>
              <a:rPr lang="zh-CN" altLang="en-US" sz="2000">
                <a:solidFill>
                  <a:srgbClr val="008000"/>
                </a:solidFill>
                <a:effectLst>
                  <a:outerShdw blurRad="38100" dist="38100" dir="2700000" algn="tl">
                    <a:srgbClr val="C0C0C0"/>
                  </a:outerShdw>
                </a:effectLst>
                <a:latin typeface="Times New Roman" pitchFamily="18" charset="0"/>
                <a:ea typeface="黑体" pitchFamily="1" charset="-122"/>
              </a:rPr>
              <a:t>、</a:t>
            </a:r>
            <a:r>
              <a:rPr lang="en-US" sz="2000">
                <a:solidFill>
                  <a:srgbClr val="008000"/>
                </a:solidFill>
                <a:effectLst>
                  <a:outerShdw blurRad="38100" dist="38100" dir="2700000" algn="tl">
                    <a:srgbClr val="C0C0C0"/>
                  </a:outerShdw>
                </a:effectLst>
                <a:latin typeface="Times New Roman" pitchFamily="18" charset="0"/>
                <a:ea typeface="黑体" pitchFamily="1" charset="-122"/>
              </a:rPr>
              <a:t>InGaAs </a:t>
            </a:r>
            <a:r>
              <a:rPr lang="zh-CN" altLang="en-US" sz="2000">
                <a:solidFill>
                  <a:srgbClr val="008000"/>
                </a:solidFill>
                <a:effectLst>
                  <a:outerShdw blurRad="38100" dist="38100" dir="2700000" algn="tl">
                    <a:srgbClr val="C0C0C0"/>
                  </a:outerShdw>
                </a:effectLst>
                <a:latin typeface="Times New Roman" pitchFamily="18" charset="0"/>
                <a:ea typeface="黑体" pitchFamily="1" charset="-122"/>
              </a:rPr>
              <a:t>APD common working parameters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txBox="1">
            <a:spLocks noGrp="1" noChangeArrowheads="1"/>
          </p:cNvSpPr>
          <p:nvPr/>
        </p:nvSpPr>
        <p:spPr bwMode="auto">
          <a:xfrm>
            <a:off x="7019925" y="6094413"/>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C2921274-8782-46CB-ACAD-A229B53A5BF0}" type="slidenum">
              <a:rPr lang="zh-CN" altLang="en-US" sz="1400"/>
              <a:pPr algn="r">
                <a:spcBef>
                  <a:spcPct val="0"/>
                </a:spcBef>
                <a:buClrTx/>
                <a:buSzTx/>
                <a:buFont typeface="Wingdings" pitchFamily="2" charset="2"/>
                <a:buNone/>
              </a:pPr>
              <a:t>25</a:t>
            </a:fld>
            <a:endParaRPr lang="en-US" sz="1400"/>
          </a:p>
        </p:txBody>
      </p:sp>
      <p:sp>
        <p:nvSpPr>
          <p:cNvPr id="17411" name="Rectangle 2"/>
          <p:cNvSpPr>
            <a:spLocks noGrp="1" noChangeArrowheads="1"/>
          </p:cNvSpPr>
          <p:nvPr>
            <p:ph type="title" idx="4294967295"/>
          </p:nvPr>
        </p:nvSpPr>
        <p:spPr>
          <a:xfrm>
            <a:off x="1258888" y="73025"/>
            <a:ext cx="7345362" cy="835025"/>
          </a:xfrm>
        </p:spPr>
        <p:txBody>
          <a:bodyPr anchor="ctr"/>
          <a:lstStyle/>
          <a:p>
            <a:pPr eaLnBrk="1" hangingPunct="1"/>
            <a:r>
              <a:rPr lang="en-US" sz="3600" b="1">
                <a:solidFill>
                  <a:schemeClr val="folHlink"/>
                </a:solidFill>
                <a:effectLst>
                  <a:outerShdw blurRad="38100" dist="38100" dir="2700000" algn="tl">
                    <a:srgbClr val="C0C0C0"/>
                  </a:outerShdw>
                </a:effectLst>
                <a:latin typeface="Palatino Linotype" pitchFamily="18" charset="0"/>
                <a:ea typeface="华文行楷" pitchFamily="2" charset="-122"/>
              </a:rPr>
              <a:t>Comparison of the photodetector</a:t>
            </a:r>
          </a:p>
        </p:txBody>
      </p:sp>
      <p:sp>
        <p:nvSpPr>
          <p:cNvPr id="17412" name="Rectangle 3"/>
          <p:cNvSpPr>
            <a:spLocks noGrp="1" noChangeArrowheads="1"/>
          </p:cNvSpPr>
          <p:nvPr>
            <p:ph type="body" idx="4294967295"/>
          </p:nvPr>
        </p:nvSpPr>
        <p:spPr>
          <a:xfrm>
            <a:off x="533400" y="1449388"/>
            <a:ext cx="8610600" cy="4716462"/>
          </a:xfrm>
        </p:spPr>
        <p:txBody>
          <a:bodyPr/>
          <a:lstStyle/>
          <a:p>
            <a:pPr eaLnBrk="1" hangingPunct="1">
              <a:lnSpc>
                <a:spcPct val="120000"/>
              </a:lnSpc>
              <a:spcBef>
                <a:spcPct val="30000"/>
              </a:spcBef>
            </a:pPr>
            <a:r>
              <a:rPr lang="en-US" altLang="en-US" sz="2400">
                <a:latin typeface="Times New Roman" pitchFamily="18" charset="0"/>
              </a:rPr>
              <a:t>In the short-distance applications, working in 850nm window, often use Si </a:t>
            </a:r>
            <a:r>
              <a:rPr lang="en-US" altLang="en-US" sz="2400">
                <a:latin typeface="Times New Roman" pitchFamily="18" charset="0"/>
                <a:ea typeface="黑体" pitchFamily="1" charset="-122"/>
              </a:rPr>
              <a:t>photodiodes.</a:t>
            </a:r>
            <a:endParaRPr lang="en-US" altLang="en-US" sz="2800">
              <a:latin typeface="Times New Roman" pitchFamily="18" charset="0"/>
              <a:ea typeface="黑体" pitchFamily="1" charset="-122"/>
            </a:endParaRPr>
          </a:p>
          <a:p>
            <a:pPr eaLnBrk="1" hangingPunct="1">
              <a:lnSpc>
                <a:spcPct val="120000"/>
              </a:lnSpc>
              <a:spcBef>
                <a:spcPct val="30000"/>
              </a:spcBef>
            </a:pPr>
            <a:r>
              <a:rPr lang="en-US" altLang="en-US" sz="2400">
                <a:latin typeface="Times New Roman" pitchFamily="18" charset="0"/>
              </a:rPr>
              <a:t>In the short-distance applications, working in 1330nm and 1550nm window, often use Si </a:t>
            </a:r>
            <a:r>
              <a:rPr lang="en-US" altLang="en-US" sz="2400">
                <a:latin typeface="Times New Roman" pitchFamily="18" charset="0"/>
                <a:ea typeface="黑体" pitchFamily="1" charset="-122"/>
              </a:rPr>
              <a:t>photodiodes, often use </a:t>
            </a:r>
            <a:r>
              <a:rPr lang="en-US" sz="2400">
                <a:latin typeface="Times New Roman" pitchFamily="18" charset="0"/>
              </a:rPr>
              <a:t>InGaAs</a:t>
            </a:r>
            <a:r>
              <a:rPr lang="en-US" altLang="en-US" sz="2400">
                <a:latin typeface="Times New Roman" pitchFamily="18" charset="0"/>
              </a:rPr>
              <a:t> </a:t>
            </a:r>
            <a:r>
              <a:rPr lang="en-US" altLang="en-US" sz="2400">
                <a:latin typeface="Times New Roman" pitchFamily="18" charset="0"/>
                <a:ea typeface="黑体" pitchFamily="1" charset="-122"/>
              </a:rPr>
              <a:t>photodiodes.</a:t>
            </a:r>
          </a:p>
          <a:p>
            <a:pPr eaLnBrk="1" hangingPunct="1">
              <a:lnSpc>
                <a:spcPct val="120000"/>
              </a:lnSpc>
              <a:spcBef>
                <a:spcPct val="30000"/>
              </a:spcBef>
            </a:pPr>
            <a:r>
              <a:rPr lang="en-US" altLang="en-US" sz="2400" b="1">
                <a:solidFill>
                  <a:schemeClr val="hlink"/>
                </a:solidFill>
                <a:effectLst>
                  <a:outerShdw blurRad="38100" dist="38100" dir="2700000" algn="tl">
                    <a:srgbClr val="C0C0C0"/>
                  </a:outerShdw>
                </a:effectLst>
                <a:latin typeface="Times New Roman" pitchFamily="18" charset="0"/>
              </a:rPr>
              <a:t>Compared with </a:t>
            </a:r>
            <a:r>
              <a:rPr lang="en-US" sz="2400" b="1">
                <a:solidFill>
                  <a:schemeClr val="hlink"/>
                </a:solidFill>
                <a:effectLst>
                  <a:outerShdw blurRad="38100" dist="38100" dir="2700000" algn="tl">
                    <a:srgbClr val="C0C0C0"/>
                  </a:outerShdw>
                </a:effectLst>
                <a:latin typeface="Times New Roman" pitchFamily="18" charset="0"/>
              </a:rPr>
              <a:t>PIN</a:t>
            </a:r>
            <a:r>
              <a:rPr lang="en-US" altLang="en-US" sz="2400" b="1">
                <a:solidFill>
                  <a:schemeClr val="hlink"/>
                </a:solidFill>
                <a:effectLst>
                  <a:outerShdw blurRad="38100" dist="38100" dir="2700000" algn="tl">
                    <a:srgbClr val="C0C0C0"/>
                  </a:outerShdw>
                </a:effectLst>
                <a:latin typeface="Times New Roman" pitchFamily="18" charset="0"/>
              </a:rPr>
              <a:t> </a:t>
            </a:r>
            <a:r>
              <a:rPr lang="en-US" altLang="en-US" sz="2400" b="1">
                <a:solidFill>
                  <a:schemeClr val="hlink"/>
                </a:solidFill>
                <a:effectLst>
                  <a:outerShdw blurRad="38100" dist="38100" dir="2700000" algn="tl">
                    <a:srgbClr val="C0C0C0"/>
                  </a:outerShdw>
                </a:effectLst>
                <a:latin typeface="Times New Roman" pitchFamily="18" charset="0"/>
                <a:ea typeface="黑体" pitchFamily="1" charset="-122"/>
              </a:rPr>
              <a:t>photodiodes, </a:t>
            </a:r>
            <a:r>
              <a:rPr lang="en-US" altLang="en-US" sz="2400" b="1">
                <a:solidFill>
                  <a:schemeClr val="hlink"/>
                </a:solidFill>
                <a:effectLst>
                  <a:outerShdw blurRad="38100" dist="38100" dir="2700000" algn="tl">
                    <a:srgbClr val="C0C0C0"/>
                  </a:outerShdw>
                </a:effectLst>
                <a:latin typeface="Times New Roman" pitchFamily="18" charset="0"/>
              </a:rPr>
              <a:t>APD has a multiplier effect of the carrier, the detection sensitivity is particularly high, but requires a higher bias voltage and temperature compensation circuitry.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灯片编号占位符 5"/>
          <p:cNvSpPr txBox="1">
            <a:spLocks noGrp="1" noChangeArrowheads="1"/>
          </p:cNvSpPr>
          <p:nvPr/>
        </p:nvSpPr>
        <p:spPr bwMode="auto">
          <a:xfrm>
            <a:off x="6988175" y="5661025"/>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4223E4F0-ADCF-4629-ACFB-44BB63BFB81E}" type="slidenum">
              <a:rPr lang="zh-CN" altLang="en-US" sz="1400"/>
              <a:pPr algn="r">
                <a:spcBef>
                  <a:spcPct val="0"/>
                </a:spcBef>
                <a:buClrTx/>
                <a:buSzTx/>
                <a:buFont typeface="Wingdings" pitchFamily="2" charset="2"/>
                <a:buNone/>
              </a:pPr>
              <a:t>26</a:t>
            </a:fld>
            <a:endParaRPr lang="en-US" sz="1400"/>
          </a:p>
        </p:txBody>
      </p:sp>
      <p:sp>
        <p:nvSpPr>
          <p:cNvPr id="25603" name="Rectangle 2"/>
          <p:cNvSpPr>
            <a:spLocks noGrp="1" noChangeArrowheads="1"/>
          </p:cNvSpPr>
          <p:nvPr>
            <p:ph type="title" idx="4294967295"/>
          </p:nvPr>
        </p:nvSpPr>
        <p:spPr>
          <a:xfrm>
            <a:off x="1044575" y="117475"/>
            <a:ext cx="8099425" cy="836613"/>
          </a:xfrm>
        </p:spPr>
        <p:txBody>
          <a:bodyPr anchor="ctr"/>
          <a:lstStyle/>
          <a:p>
            <a:pPr eaLnBrk="1" hangingPunct="1"/>
            <a:r>
              <a:rPr lang="en-US" sz="3200" b="1" u="sng" dirty="0" smtClean="0">
                <a:solidFill>
                  <a:schemeClr val="folHlink"/>
                </a:solidFill>
                <a:effectLst>
                  <a:outerShdw blurRad="38100" dist="38100" dir="2700000" algn="tl">
                    <a:srgbClr val="C0C0C0"/>
                  </a:outerShdw>
                </a:effectLst>
                <a:latin typeface="Palatino Linotype" pitchFamily="18" charset="0"/>
                <a:ea typeface="华文行楷" pitchFamily="2" charset="-122"/>
              </a:rPr>
              <a:t> </a:t>
            </a:r>
            <a:r>
              <a:rPr lang="en-US" altLang="en-US" sz="3200" b="1" u="sng" dirty="0">
                <a:solidFill>
                  <a:schemeClr val="folHlink"/>
                </a:solidFill>
                <a:latin typeface="Palatino Linotype" pitchFamily="18" charset="0"/>
              </a:rPr>
              <a:t>Noise characteristics of optical receiver </a:t>
            </a:r>
          </a:p>
        </p:txBody>
      </p:sp>
      <p:sp>
        <p:nvSpPr>
          <p:cNvPr id="25604" name="Rectangle 3"/>
          <p:cNvSpPr>
            <a:spLocks noGrp="1" noChangeArrowheads="1"/>
          </p:cNvSpPr>
          <p:nvPr>
            <p:ph type="body" idx="4294967295"/>
          </p:nvPr>
        </p:nvSpPr>
        <p:spPr>
          <a:xfrm>
            <a:off x="381000" y="1295400"/>
            <a:ext cx="8305800" cy="1501775"/>
          </a:xfrm>
        </p:spPr>
        <p:txBody>
          <a:bodyPr/>
          <a:lstStyle/>
          <a:p>
            <a:pPr eaLnBrk="1" hangingPunct="1">
              <a:lnSpc>
                <a:spcPct val="80000"/>
              </a:lnSpc>
            </a:pPr>
            <a:r>
              <a:rPr lang="en-US" sz="2600"/>
              <a:t>Noise will affect SNR and the communication quality. Noise mainly come from photodetector and preamplifier, and is divided into two types: the shot noise and thermal noise.</a:t>
            </a:r>
          </a:p>
        </p:txBody>
      </p:sp>
      <p:grpSp>
        <p:nvGrpSpPr>
          <p:cNvPr id="2" name="Group 5"/>
          <p:cNvGrpSpPr>
            <a:grpSpLocks/>
          </p:cNvGrpSpPr>
          <p:nvPr/>
        </p:nvGrpSpPr>
        <p:grpSpPr bwMode="auto">
          <a:xfrm>
            <a:off x="468313" y="2819400"/>
            <a:ext cx="7913687" cy="3130550"/>
            <a:chOff x="0" y="0"/>
            <a:chExt cx="4800" cy="1862"/>
          </a:xfrm>
        </p:grpSpPr>
        <p:grpSp>
          <p:nvGrpSpPr>
            <p:cNvPr id="3" name="Group 6"/>
            <p:cNvGrpSpPr>
              <a:grpSpLocks/>
            </p:cNvGrpSpPr>
            <p:nvPr/>
          </p:nvGrpSpPr>
          <p:grpSpPr bwMode="auto">
            <a:xfrm>
              <a:off x="816" y="240"/>
              <a:ext cx="3648" cy="912"/>
              <a:chOff x="0" y="0"/>
              <a:chExt cx="3648" cy="912"/>
            </a:xfrm>
          </p:grpSpPr>
          <p:sp>
            <p:nvSpPr>
              <p:cNvPr id="25607" name="Text Box 6"/>
              <p:cNvSpPr txBox="1">
                <a:spLocks noChangeArrowheads="1"/>
              </p:cNvSpPr>
              <p:nvPr/>
            </p:nvSpPr>
            <p:spPr bwMode="auto">
              <a:xfrm>
                <a:off x="672" y="192"/>
                <a:ext cx="1008" cy="294"/>
              </a:xfrm>
              <a:prstGeom prst="rect">
                <a:avLst/>
              </a:prstGeom>
              <a:solidFill>
                <a:srgbClr val="97FF97"/>
              </a:solidFill>
              <a:ln w="9525" cmpd="sng">
                <a:solidFill>
                  <a:srgbClr val="63F9AE"/>
                </a:solidFill>
                <a:miter lim="800000"/>
                <a:headEnd/>
                <a:tailEnd/>
              </a:ln>
            </p:spPr>
            <p:txBody>
              <a:bodyPr>
                <a:spAutoFit/>
              </a:bodyPr>
              <a:lstStyle/>
              <a:p>
                <a:pPr algn="ctr">
                  <a:spcBef>
                    <a:spcPct val="50000"/>
                  </a:spcBef>
                  <a:buClrTx/>
                  <a:buSzTx/>
                  <a:buFont typeface="Wingdings" pitchFamily="2" charset="2"/>
                  <a:buNone/>
                </a:pPr>
                <a:r>
                  <a:rPr lang="en-US" sz="1800">
                    <a:latin typeface="Times New Roman" pitchFamily="18" charset="0"/>
                  </a:rPr>
                  <a:t>photodetector</a:t>
                </a:r>
              </a:p>
            </p:txBody>
          </p:sp>
          <p:sp>
            <p:nvSpPr>
              <p:cNvPr id="25608" name="AutoShape 7"/>
              <p:cNvSpPr>
                <a:spLocks noChangeArrowheads="1"/>
              </p:cNvSpPr>
              <p:nvPr/>
            </p:nvSpPr>
            <p:spPr bwMode="auto">
              <a:xfrm>
                <a:off x="0" y="240"/>
                <a:ext cx="663" cy="192"/>
              </a:xfrm>
              <a:prstGeom prst="rightArrow">
                <a:avLst>
                  <a:gd name="adj1" fmla="val 50000"/>
                  <a:gd name="adj2" fmla="val 86328"/>
                </a:avLst>
              </a:prstGeom>
              <a:solidFill>
                <a:srgbClr val="FF9966"/>
              </a:solidFill>
              <a:ln w="9525" cmpd="sng">
                <a:solidFill>
                  <a:srgbClr val="FF4949"/>
                </a:solidFill>
                <a:miter lim="800000"/>
                <a:headEnd/>
                <a:tailEnd/>
              </a:ln>
            </p:spPr>
            <p:txBody>
              <a:bodyPr wrap="none" anchor="ctr"/>
              <a:lstStyle/>
              <a:p>
                <a:endParaRPr lang="zh-CN" altLang="en-US"/>
              </a:p>
            </p:txBody>
          </p:sp>
          <p:sp>
            <p:nvSpPr>
              <p:cNvPr id="25609" name="Line 8"/>
              <p:cNvSpPr>
                <a:spLocks noChangeShapeType="1"/>
              </p:cNvSpPr>
              <p:nvPr/>
            </p:nvSpPr>
            <p:spPr bwMode="auto">
              <a:xfrm>
                <a:off x="1680" y="336"/>
                <a:ext cx="1056" cy="0"/>
              </a:xfrm>
              <a:prstGeom prst="line">
                <a:avLst/>
              </a:prstGeom>
              <a:noFill/>
              <a:ln w="28575" cmpd="sng">
                <a:solidFill>
                  <a:srgbClr val="FF4949"/>
                </a:solidFill>
                <a:round/>
                <a:headEnd/>
                <a:tailEnd/>
              </a:ln>
            </p:spPr>
            <p:txBody>
              <a:bodyPr wrap="none"/>
              <a:lstStyle/>
              <a:p>
                <a:endParaRPr lang="en-GB"/>
              </a:p>
            </p:txBody>
          </p:sp>
          <p:sp>
            <p:nvSpPr>
              <p:cNvPr id="25610" name="Text Box 9"/>
              <p:cNvSpPr txBox="1">
                <a:spLocks noChangeArrowheads="1"/>
              </p:cNvSpPr>
              <p:nvPr/>
            </p:nvSpPr>
            <p:spPr bwMode="auto">
              <a:xfrm>
                <a:off x="2736" y="192"/>
                <a:ext cx="912" cy="294"/>
              </a:xfrm>
              <a:prstGeom prst="rect">
                <a:avLst/>
              </a:prstGeom>
              <a:solidFill>
                <a:srgbClr val="97FF97"/>
              </a:solidFill>
              <a:ln w="9525" cmpd="sng">
                <a:solidFill>
                  <a:srgbClr val="63F9AE"/>
                </a:solidFill>
                <a:miter lim="800000"/>
                <a:headEnd/>
                <a:tailEnd/>
              </a:ln>
            </p:spPr>
            <p:txBody>
              <a:bodyPr>
                <a:spAutoFit/>
              </a:bodyPr>
              <a:lstStyle/>
              <a:p>
                <a:pPr algn="ctr">
                  <a:spcBef>
                    <a:spcPct val="50000"/>
                  </a:spcBef>
                  <a:buClrTx/>
                  <a:buSzTx/>
                  <a:buFont typeface="Wingdings" pitchFamily="2" charset="2"/>
                  <a:buNone/>
                </a:pPr>
                <a:r>
                  <a:rPr lang="zh-CN" altLang="en-US" sz="2000">
                    <a:latin typeface="Times New Roman" pitchFamily="18" charset="0"/>
                  </a:rPr>
                  <a:t>A</a:t>
                </a:r>
                <a:r>
                  <a:rPr lang="en-US" altLang="en-US" sz="2000">
                    <a:latin typeface="Times New Roman" pitchFamily="18" charset="0"/>
                  </a:rPr>
                  <a:t>mplifier</a:t>
                </a:r>
              </a:p>
            </p:txBody>
          </p:sp>
          <p:sp>
            <p:nvSpPr>
              <p:cNvPr id="25611" name="Text Box 10"/>
              <p:cNvSpPr txBox="1">
                <a:spLocks noChangeArrowheads="1"/>
              </p:cNvSpPr>
              <p:nvPr/>
            </p:nvSpPr>
            <p:spPr bwMode="auto">
              <a:xfrm>
                <a:off x="1728" y="0"/>
                <a:ext cx="1008" cy="250"/>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zh-CN" altLang="en-US" sz="2000">
                    <a:solidFill>
                      <a:schemeClr val="folHlink"/>
                    </a:solidFill>
                    <a:effectLst>
                      <a:outerShdw blurRad="38100" dist="38100" dir="2700000" algn="tl">
                        <a:srgbClr val="C0C0C0"/>
                      </a:outerShdw>
                    </a:effectLst>
                    <a:latin typeface="Times New Roman" pitchFamily="18" charset="0"/>
                    <a:ea typeface="黑体" pitchFamily="1" charset="-122"/>
                  </a:rPr>
                  <a:t>Bias resistor</a:t>
                </a:r>
              </a:p>
            </p:txBody>
          </p:sp>
          <p:sp>
            <p:nvSpPr>
              <p:cNvPr id="25612" name="Text Box 11"/>
              <p:cNvSpPr txBox="1">
                <a:spLocks noChangeArrowheads="1"/>
              </p:cNvSpPr>
              <p:nvPr/>
            </p:nvSpPr>
            <p:spPr bwMode="auto">
              <a:xfrm>
                <a:off x="48" y="48"/>
                <a:ext cx="768" cy="250"/>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zh-CN" altLang="en-US" sz="2000">
                    <a:solidFill>
                      <a:schemeClr val="hlink"/>
                    </a:solidFill>
                    <a:effectLst>
                      <a:outerShdw blurRad="38100" dist="38100" dir="2700000" algn="tl">
                        <a:srgbClr val="C0C0C0"/>
                      </a:outerShdw>
                    </a:effectLst>
                    <a:ea typeface="黑体" pitchFamily="1" charset="-122"/>
                  </a:rPr>
                  <a:t>Photon</a:t>
                </a:r>
              </a:p>
            </p:txBody>
          </p:sp>
          <p:sp>
            <p:nvSpPr>
              <p:cNvPr id="25613" name="Text Box 12"/>
              <p:cNvSpPr txBox="1">
                <a:spLocks noChangeArrowheads="1"/>
              </p:cNvSpPr>
              <p:nvPr/>
            </p:nvSpPr>
            <p:spPr bwMode="auto">
              <a:xfrm>
                <a:off x="144" y="384"/>
                <a:ext cx="480" cy="250"/>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2000">
                    <a:solidFill>
                      <a:schemeClr val="hlink"/>
                    </a:solidFill>
                    <a:effectLst>
                      <a:outerShdw blurRad="38100" dist="38100" dir="2700000" algn="tl">
                        <a:srgbClr val="C0C0C0"/>
                      </a:outerShdw>
                    </a:effectLst>
                    <a:ea typeface="黑体" pitchFamily="1" charset="-122"/>
                  </a:rPr>
                  <a:t>h</a:t>
                </a:r>
                <a:r>
                  <a:rPr lang="en-US" sz="2000">
                    <a:solidFill>
                      <a:schemeClr val="hlink"/>
                    </a:solidFill>
                    <a:effectLst>
                      <a:outerShdw blurRad="38100" dist="38100" dir="2700000" algn="tl">
                        <a:srgbClr val="C0C0C0"/>
                      </a:outerShdw>
                    </a:effectLst>
                    <a:ea typeface="黑体" pitchFamily="1" charset="-122"/>
                    <a:sym typeface="Symbol" pitchFamily="18" charset="2"/>
                  </a:rPr>
                  <a:t></a:t>
                </a:r>
                <a:endParaRPr lang="en-US" sz="2000">
                  <a:solidFill>
                    <a:schemeClr val="hlink"/>
                  </a:solidFill>
                  <a:effectLst>
                    <a:outerShdw blurRad="38100" dist="38100" dir="2700000" algn="tl">
                      <a:srgbClr val="C0C0C0"/>
                    </a:outerShdw>
                  </a:effectLst>
                  <a:ea typeface="黑体" pitchFamily="1" charset="-122"/>
                </a:endParaRPr>
              </a:p>
            </p:txBody>
          </p:sp>
          <p:sp>
            <p:nvSpPr>
              <p:cNvPr id="25614" name="Text Box 13"/>
              <p:cNvSpPr txBox="1">
                <a:spLocks noChangeArrowheads="1"/>
              </p:cNvSpPr>
              <p:nvPr/>
            </p:nvSpPr>
            <p:spPr bwMode="auto">
              <a:xfrm>
                <a:off x="2256" y="480"/>
                <a:ext cx="432" cy="250"/>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2000">
                    <a:solidFill>
                      <a:schemeClr val="folHlink"/>
                    </a:solidFill>
                    <a:effectLst>
                      <a:outerShdw blurRad="38100" dist="38100" dir="2700000" algn="tl">
                        <a:srgbClr val="C0C0C0"/>
                      </a:outerShdw>
                    </a:effectLst>
                    <a:ea typeface="黑体" pitchFamily="1" charset="-122"/>
                  </a:rPr>
                  <a:t>R</a:t>
                </a:r>
                <a:r>
                  <a:rPr lang="en-US" sz="2000" baseline="-25000">
                    <a:solidFill>
                      <a:schemeClr val="folHlink"/>
                    </a:solidFill>
                    <a:effectLst>
                      <a:outerShdw blurRad="38100" dist="38100" dir="2700000" algn="tl">
                        <a:srgbClr val="C0C0C0"/>
                      </a:outerShdw>
                    </a:effectLst>
                    <a:ea typeface="黑体" pitchFamily="1" charset="-122"/>
                  </a:rPr>
                  <a:t>L</a:t>
                </a:r>
                <a:endParaRPr lang="en-US" sz="2000">
                  <a:solidFill>
                    <a:schemeClr val="folHlink"/>
                  </a:solidFill>
                  <a:effectLst>
                    <a:outerShdw blurRad="38100" dist="38100" dir="2700000" algn="tl">
                      <a:srgbClr val="C0C0C0"/>
                    </a:outerShdw>
                  </a:effectLst>
                  <a:ea typeface="黑体" pitchFamily="1" charset="-122"/>
                </a:endParaRPr>
              </a:p>
            </p:txBody>
          </p:sp>
          <p:sp>
            <p:nvSpPr>
              <p:cNvPr id="25615" name="Line 14"/>
              <p:cNvSpPr>
                <a:spLocks noChangeShapeType="1"/>
              </p:cNvSpPr>
              <p:nvPr/>
            </p:nvSpPr>
            <p:spPr bwMode="auto">
              <a:xfrm>
                <a:off x="2208" y="336"/>
                <a:ext cx="0" cy="240"/>
              </a:xfrm>
              <a:prstGeom prst="line">
                <a:avLst/>
              </a:prstGeom>
              <a:noFill/>
              <a:ln w="28575" cmpd="sng">
                <a:solidFill>
                  <a:srgbClr val="FF4949"/>
                </a:solidFill>
                <a:round/>
                <a:headEnd/>
                <a:tailEnd/>
              </a:ln>
            </p:spPr>
            <p:txBody>
              <a:bodyPr wrap="none"/>
              <a:lstStyle/>
              <a:p>
                <a:endParaRPr lang="en-GB"/>
              </a:p>
            </p:txBody>
          </p:sp>
          <p:sp>
            <p:nvSpPr>
              <p:cNvPr id="25616" name="Rectangle 15"/>
              <p:cNvSpPr>
                <a:spLocks noChangeArrowheads="1"/>
              </p:cNvSpPr>
              <p:nvPr/>
            </p:nvSpPr>
            <p:spPr bwMode="auto">
              <a:xfrm>
                <a:off x="2160" y="480"/>
                <a:ext cx="96" cy="240"/>
              </a:xfrm>
              <a:prstGeom prst="rect">
                <a:avLst/>
              </a:prstGeom>
              <a:solidFill>
                <a:schemeClr val="folHlink"/>
              </a:solidFill>
              <a:ln w="9525" cmpd="sng">
                <a:solidFill>
                  <a:srgbClr val="000099"/>
                </a:solidFill>
                <a:miter lim="800000"/>
                <a:headEnd/>
                <a:tailEnd/>
              </a:ln>
            </p:spPr>
            <p:txBody>
              <a:bodyPr wrap="none" anchor="ctr"/>
              <a:lstStyle/>
              <a:p>
                <a:endParaRPr lang="zh-CN" altLang="en-US"/>
              </a:p>
            </p:txBody>
          </p:sp>
          <p:sp>
            <p:nvSpPr>
              <p:cNvPr id="25617" name="Line 16"/>
              <p:cNvSpPr>
                <a:spLocks noChangeShapeType="1"/>
              </p:cNvSpPr>
              <p:nvPr/>
            </p:nvSpPr>
            <p:spPr bwMode="auto">
              <a:xfrm>
                <a:off x="2208" y="720"/>
                <a:ext cx="0" cy="192"/>
              </a:xfrm>
              <a:prstGeom prst="line">
                <a:avLst/>
              </a:prstGeom>
              <a:noFill/>
              <a:ln w="28575" cmpd="sng">
                <a:solidFill>
                  <a:srgbClr val="FF4949"/>
                </a:solidFill>
                <a:round/>
                <a:headEnd/>
                <a:tailEnd/>
              </a:ln>
            </p:spPr>
            <p:txBody>
              <a:bodyPr wrap="none"/>
              <a:lstStyle/>
              <a:p>
                <a:endParaRPr lang="en-GB"/>
              </a:p>
            </p:txBody>
          </p:sp>
          <p:sp>
            <p:nvSpPr>
              <p:cNvPr id="25618" name="Line 17"/>
              <p:cNvSpPr>
                <a:spLocks noChangeShapeType="1"/>
              </p:cNvSpPr>
              <p:nvPr/>
            </p:nvSpPr>
            <p:spPr bwMode="auto">
              <a:xfrm>
                <a:off x="2112" y="912"/>
                <a:ext cx="192" cy="0"/>
              </a:xfrm>
              <a:prstGeom prst="line">
                <a:avLst/>
              </a:prstGeom>
              <a:noFill/>
              <a:ln w="28575" cmpd="sng">
                <a:solidFill>
                  <a:srgbClr val="FF4949"/>
                </a:solidFill>
                <a:round/>
                <a:headEnd/>
                <a:tailEnd/>
              </a:ln>
            </p:spPr>
            <p:txBody>
              <a:bodyPr wrap="none"/>
              <a:lstStyle/>
              <a:p>
                <a:endParaRPr lang="en-GB"/>
              </a:p>
            </p:txBody>
          </p:sp>
        </p:grpSp>
        <p:grpSp>
          <p:nvGrpSpPr>
            <p:cNvPr id="4" name="Group 19"/>
            <p:cNvGrpSpPr>
              <a:grpSpLocks/>
            </p:cNvGrpSpPr>
            <p:nvPr/>
          </p:nvGrpSpPr>
          <p:grpSpPr bwMode="auto">
            <a:xfrm>
              <a:off x="528" y="1152"/>
              <a:ext cx="4272" cy="710"/>
              <a:chOff x="0" y="0"/>
              <a:chExt cx="4272" cy="710"/>
            </a:xfrm>
          </p:grpSpPr>
          <p:grpSp>
            <p:nvGrpSpPr>
              <p:cNvPr id="5" name="Group 20"/>
              <p:cNvGrpSpPr>
                <a:grpSpLocks/>
              </p:cNvGrpSpPr>
              <p:nvPr/>
            </p:nvGrpSpPr>
            <p:grpSpPr bwMode="auto">
              <a:xfrm>
                <a:off x="0" y="0"/>
                <a:ext cx="2160" cy="710"/>
                <a:chOff x="0" y="0"/>
                <a:chExt cx="2160" cy="710"/>
              </a:xfrm>
            </p:grpSpPr>
            <p:sp>
              <p:nvSpPr>
                <p:cNvPr id="25621" name="Text Box 20"/>
                <p:cNvSpPr txBox="1">
                  <a:spLocks noChangeArrowheads="1"/>
                </p:cNvSpPr>
                <p:nvPr/>
              </p:nvSpPr>
              <p:spPr bwMode="auto">
                <a:xfrm>
                  <a:off x="0" y="0"/>
                  <a:ext cx="912" cy="250"/>
                </a:xfrm>
                <a:prstGeom prst="rect">
                  <a:avLst/>
                </a:prstGeom>
                <a:noFill/>
                <a:ln w="9525">
                  <a:noFill/>
                  <a:miter lim="800000"/>
                  <a:headEnd/>
                  <a:tailEnd/>
                </a:ln>
              </p:spPr>
              <p:txBody>
                <a:bodyPr>
                  <a:spAutoFit/>
                </a:bodyPr>
                <a:lstStyle/>
                <a:p>
                  <a:pPr>
                    <a:buClrTx/>
                    <a:buSzTx/>
                    <a:buFont typeface="Wingdings" pitchFamily="2" charset="2"/>
                    <a:buChar char="•"/>
                  </a:pPr>
                  <a:r>
                    <a:rPr lang="zh-CN" altLang="en-US" sz="2000">
                      <a:effectLst>
                        <a:outerShdw blurRad="38100" dist="38100" dir="2700000" algn="tl">
                          <a:srgbClr val="C0C0C0"/>
                        </a:outerShdw>
                      </a:effectLst>
                      <a:latin typeface="Times New Roman" pitchFamily="18" charset="0"/>
                      <a:ea typeface="黑体" pitchFamily="1" charset="-122"/>
                    </a:rPr>
                    <a:t>Quantum noise</a:t>
                  </a:r>
                </a:p>
              </p:txBody>
            </p:sp>
            <p:sp>
              <p:nvSpPr>
                <p:cNvPr id="25622" name="Text Box 21"/>
                <p:cNvSpPr txBox="1">
                  <a:spLocks noChangeArrowheads="1"/>
                </p:cNvSpPr>
                <p:nvPr/>
              </p:nvSpPr>
              <p:spPr bwMode="auto">
                <a:xfrm>
                  <a:off x="960" y="0"/>
                  <a:ext cx="1200" cy="710"/>
                </a:xfrm>
                <a:prstGeom prst="rect">
                  <a:avLst/>
                </a:prstGeom>
                <a:noFill/>
                <a:ln w="9525">
                  <a:noFill/>
                  <a:miter lim="800000"/>
                  <a:headEnd/>
                  <a:tailEnd/>
                </a:ln>
              </p:spPr>
              <p:txBody>
                <a:bodyPr>
                  <a:spAutoFit/>
                </a:bodyPr>
                <a:lstStyle/>
                <a:p>
                  <a:pPr>
                    <a:buClrTx/>
                    <a:buSzTx/>
                    <a:buFont typeface="Wingdings" pitchFamily="2" charset="2"/>
                    <a:buChar char="•"/>
                  </a:pPr>
                  <a:r>
                    <a:rPr lang="zh-CN" altLang="en-US" sz="1600">
                      <a:effectLst>
                        <a:outerShdw blurRad="38100" dist="38100" dir="2700000" algn="tl">
                          <a:srgbClr val="C0C0C0"/>
                        </a:outerShdw>
                      </a:effectLst>
                      <a:latin typeface="Times New Roman" pitchFamily="18" charset="0"/>
                      <a:ea typeface="黑体" pitchFamily="1" charset="-122"/>
                    </a:rPr>
                    <a:t>Dark current noise</a:t>
                  </a:r>
                </a:p>
                <a:p>
                  <a:pPr>
                    <a:buClrTx/>
                    <a:buSzTx/>
                    <a:buFont typeface="Wingdings" pitchFamily="2" charset="2"/>
                    <a:buChar char="•"/>
                  </a:pPr>
                  <a:r>
                    <a:rPr lang="en-US" altLang="en-US" sz="1600">
                      <a:effectLst>
                        <a:outerShdw blurRad="38100" dist="38100" dir="2700000" algn="tl">
                          <a:srgbClr val="C0C0C0"/>
                        </a:outerShdw>
                      </a:effectLst>
                      <a:latin typeface="Times New Roman" pitchFamily="18" charset="0"/>
                      <a:ea typeface="黑体" pitchFamily="1" charset="-122"/>
                    </a:rPr>
                    <a:t>APD multiplication noise</a:t>
                  </a:r>
                </a:p>
              </p:txBody>
            </p:sp>
          </p:grpSp>
          <p:grpSp>
            <p:nvGrpSpPr>
              <p:cNvPr id="6" name="Group 23"/>
              <p:cNvGrpSpPr>
                <a:grpSpLocks/>
              </p:cNvGrpSpPr>
              <p:nvPr/>
            </p:nvGrpSpPr>
            <p:grpSpPr bwMode="auto">
              <a:xfrm>
                <a:off x="2256" y="0"/>
                <a:ext cx="2016" cy="250"/>
                <a:chOff x="0" y="0"/>
                <a:chExt cx="2016" cy="250"/>
              </a:xfrm>
            </p:grpSpPr>
            <p:sp>
              <p:nvSpPr>
                <p:cNvPr id="25624" name="Text Box 23"/>
                <p:cNvSpPr txBox="1">
                  <a:spLocks noChangeArrowheads="1"/>
                </p:cNvSpPr>
                <p:nvPr/>
              </p:nvSpPr>
              <p:spPr bwMode="auto">
                <a:xfrm>
                  <a:off x="0" y="0"/>
                  <a:ext cx="672" cy="250"/>
                </a:xfrm>
                <a:prstGeom prst="rect">
                  <a:avLst/>
                </a:prstGeom>
                <a:noFill/>
                <a:ln w="9525">
                  <a:noFill/>
                  <a:miter lim="800000"/>
                  <a:headEnd/>
                  <a:tailEnd/>
                </a:ln>
              </p:spPr>
              <p:txBody>
                <a:bodyPr>
                  <a:spAutoFit/>
                </a:bodyPr>
                <a:lstStyle/>
                <a:p>
                  <a:pPr>
                    <a:spcBef>
                      <a:spcPct val="50000"/>
                    </a:spcBef>
                    <a:buClrTx/>
                    <a:buSzTx/>
                    <a:buFont typeface="Wingdings" pitchFamily="2" charset="2"/>
                    <a:buChar char="•"/>
                  </a:pPr>
                  <a:r>
                    <a:rPr lang="zh-CN" altLang="en-US" sz="1600">
                      <a:effectLst>
                        <a:outerShdw blurRad="38100" dist="38100" dir="2700000" algn="tl">
                          <a:srgbClr val="C0C0C0"/>
                        </a:outerShdw>
                      </a:effectLst>
                      <a:latin typeface="Times New Roman" pitchFamily="18" charset="0"/>
                      <a:ea typeface="黑体" pitchFamily="1" charset="-122"/>
                    </a:rPr>
                    <a:t>Thermal noise</a:t>
                  </a:r>
                </a:p>
              </p:txBody>
            </p:sp>
            <p:sp>
              <p:nvSpPr>
                <p:cNvPr id="25625" name="Text Box 24"/>
                <p:cNvSpPr txBox="1">
                  <a:spLocks noChangeArrowheads="1"/>
                </p:cNvSpPr>
                <p:nvPr/>
              </p:nvSpPr>
              <p:spPr bwMode="auto">
                <a:xfrm>
                  <a:off x="912" y="0"/>
                  <a:ext cx="1104" cy="250"/>
                </a:xfrm>
                <a:prstGeom prst="rect">
                  <a:avLst/>
                </a:prstGeom>
                <a:noFill/>
                <a:ln w="9525">
                  <a:noFill/>
                  <a:miter lim="800000"/>
                  <a:headEnd/>
                  <a:tailEnd/>
                </a:ln>
              </p:spPr>
              <p:txBody>
                <a:bodyPr>
                  <a:spAutoFit/>
                </a:bodyPr>
                <a:lstStyle/>
                <a:p>
                  <a:pPr>
                    <a:spcBef>
                      <a:spcPct val="50000"/>
                    </a:spcBef>
                    <a:buClrTx/>
                    <a:buSzTx/>
                    <a:buFont typeface="Wingdings" pitchFamily="2" charset="2"/>
                    <a:buChar char="•"/>
                  </a:pPr>
                  <a:r>
                    <a:rPr lang="zh-CN" altLang="en-US" sz="2000">
                      <a:effectLst>
                        <a:outerShdw blurRad="38100" dist="38100" dir="2700000" algn="tl">
                          <a:srgbClr val="C0C0C0"/>
                        </a:outerShdw>
                      </a:effectLst>
                      <a:latin typeface="Times New Roman" pitchFamily="18" charset="0"/>
                      <a:ea typeface="黑体" pitchFamily="1" charset="-122"/>
                    </a:rPr>
                    <a:t>Amplifier noise</a:t>
                  </a:r>
                </a:p>
              </p:txBody>
            </p:sp>
          </p:grpSp>
        </p:grpSp>
        <p:sp>
          <p:nvSpPr>
            <p:cNvPr id="25626" name="Text Box 25"/>
            <p:cNvSpPr txBox="1">
              <a:spLocks noChangeArrowheads="1"/>
            </p:cNvSpPr>
            <p:nvPr/>
          </p:nvSpPr>
          <p:spPr bwMode="auto">
            <a:xfrm>
              <a:off x="0" y="0"/>
              <a:ext cx="1728" cy="250"/>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zh-CN" altLang="en-US" sz="2000">
                  <a:solidFill>
                    <a:schemeClr val="accent1"/>
                  </a:solidFill>
                  <a:effectLst>
                    <a:outerShdw blurRad="38100" dist="38100" dir="2700000" algn="tl">
                      <a:srgbClr val="C0C0C0"/>
                    </a:outerShdw>
                  </a:effectLst>
                  <a:latin typeface="Times New Roman" pitchFamily="18" charset="0"/>
                  <a:ea typeface="黑体" pitchFamily="1" charset="-122"/>
                </a:rPr>
                <a:t>Receiver noise and distribution:</a:t>
              </a:r>
            </a:p>
          </p:txBody>
        </p:sp>
      </p:grpSp>
      <p:grpSp>
        <p:nvGrpSpPr>
          <p:cNvPr id="7" name="Group 27"/>
          <p:cNvGrpSpPr>
            <a:grpSpLocks/>
          </p:cNvGrpSpPr>
          <p:nvPr/>
        </p:nvGrpSpPr>
        <p:grpSpPr bwMode="auto">
          <a:xfrm>
            <a:off x="468313" y="4365625"/>
            <a:ext cx="4568825" cy="1966913"/>
            <a:chOff x="0" y="0"/>
            <a:chExt cx="2688" cy="1152"/>
          </a:xfrm>
        </p:grpSpPr>
        <p:sp>
          <p:nvSpPr>
            <p:cNvPr id="25628" name="Text Box 27"/>
            <p:cNvSpPr txBox="1">
              <a:spLocks noChangeArrowheads="1"/>
            </p:cNvSpPr>
            <p:nvPr/>
          </p:nvSpPr>
          <p:spPr bwMode="auto">
            <a:xfrm>
              <a:off x="48" y="624"/>
              <a:ext cx="1008" cy="288"/>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zh-CN" altLang="en-US" sz="2400">
                  <a:solidFill>
                    <a:schemeClr val="hlink"/>
                  </a:solidFill>
                  <a:effectLst>
                    <a:outerShdw blurRad="38100" dist="38100" dir="2700000" algn="tl">
                      <a:srgbClr val="C0C0C0"/>
                    </a:outerShdw>
                  </a:effectLst>
                  <a:latin typeface="Times New Roman" pitchFamily="18" charset="0"/>
                  <a:ea typeface="黑体" pitchFamily="1" charset="-122"/>
                </a:rPr>
                <a:t>Shot Noise</a:t>
              </a:r>
            </a:p>
          </p:txBody>
        </p:sp>
        <p:grpSp>
          <p:nvGrpSpPr>
            <p:cNvPr id="8" name="Group 29"/>
            <p:cNvGrpSpPr>
              <a:grpSpLocks/>
            </p:cNvGrpSpPr>
            <p:nvPr/>
          </p:nvGrpSpPr>
          <p:grpSpPr bwMode="auto">
            <a:xfrm>
              <a:off x="0" y="0"/>
              <a:ext cx="2688" cy="1152"/>
              <a:chOff x="0" y="0"/>
              <a:chExt cx="2688" cy="1152"/>
            </a:xfrm>
          </p:grpSpPr>
          <p:sp>
            <p:nvSpPr>
              <p:cNvPr id="25630" name="Oval 29"/>
              <p:cNvSpPr>
                <a:spLocks noChangeArrowheads="1"/>
              </p:cNvSpPr>
              <p:nvPr/>
            </p:nvSpPr>
            <p:spPr bwMode="auto">
              <a:xfrm>
                <a:off x="288" y="0"/>
                <a:ext cx="2400" cy="1152"/>
              </a:xfrm>
              <a:prstGeom prst="ellipse">
                <a:avLst/>
              </a:prstGeom>
              <a:noFill/>
              <a:ln w="28575" cmpd="sng">
                <a:solidFill>
                  <a:schemeClr val="hlink"/>
                </a:solidFill>
                <a:prstDash val="sysDot"/>
                <a:round/>
                <a:headEnd/>
                <a:tailEnd/>
              </a:ln>
            </p:spPr>
            <p:txBody>
              <a:bodyPr wrap="none" anchor="ctr"/>
              <a:lstStyle/>
              <a:p>
                <a:endParaRPr lang="zh-CN" altLang="en-US"/>
              </a:p>
            </p:txBody>
          </p:sp>
          <p:sp>
            <p:nvSpPr>
              <p:cNvPr id="25631" name="Oval 30"/>
              <p:cNvSpPr>
                <a:spLocks noChangeArrowheads="1"/>
              </p:cNvSpPr>
              <p:nvPr/>
            </p:nvSpPr>
            <p:spPr bwMode="auto">
              <a:xfrm>
                <a:off x="0" y="576"/>
                <a:ext cx="960" cy="384"/>
              </a:xfrm>
              <a:prstGeom prst="ellipse">
                <a:avLst/>
              </a:prstGeom>
              <a:noFill/>
              <a:ln w="28575" cmpd="sng">
                <a:solidFill>
                  <a:schemeClr val="hlink"/>
                </a:solidFill>
                <a:prstDash val="sysDot"/>
                <a:round/>
                <a:headEnd/>
                <a:tailEnd/>
              </a:ln>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无标题"/>
          <p:cNvPicPr>
            <a:picLocks noChangeAspect="1" noChangeArrowheads="1"/>
          </p:cNvPicPr>
          <p:nvPr/>
        </p:nvPicPr>
        <p:blipFill>
          <a:blip r:embed="rId2"/>
          <a:srcRect/>
          <a:stretch>
            <a:fillRect/>
          </a:stretch>
        </p:blipFill>
        <p:spPr bwMode="auto">
          <a:xfrm>
            <a:off x="5364163" y="2349500"/>
            <a:ext cx="3654425" cy="4246563"/>
          </a:xfrm>
          <a:prstGeom prst="rect">
            <a:avLst/>
          </a:prstGeom>
          <a:noFill/>
          <a:ln w="9525">
            <a:noFill/>
            <a:miter lim="800000"/>
            <a:headEnd/>
            <a:tailEnd/>
          </a:ln>
        </p:spPr>
      </p:pic>
      <p:sp>
        <p:nvSpPr>
          <p:cNvPr id="27651" name="灯片编号占位符 5"/>
          <p:cNvSpPr txBox="1">
            <a:spLocks noGrp="1" noChangeArrowheads="1"/>
          </p:cNvSpPr>
          <p:nvPr/>
        </p:nvSpPr>
        <p:spPr bwMode="auto">
          <a:xfrm>
            <a:off x="7092950" y="6237288"/>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CECDE7B4-6EEE-45DC-867F-908F69D4D938}" type="slidenum">
              <a:rPr lang="zh-CN" altLang="en-US" sz="1400"/>
              <a:pPr algn="r">
                <a:spcBef>
                  <a:spcPct val="0"/>
                </a:spcBef>
                <a:buClrTx/>
                <a:buSzTx/>
                <a:buFont typeface="Wingdings" pitchFamily="2" charset="2"/>
                <a:buNone/>
              </a:pPr>
              <a:t>27</a:t>
            </a:fld>
            <a:endParaRPr lang="en-US" sz="1400"/>
          </a:p>
        </p:txBody>
      </p:sp>
      <p:sp>
        <p:nvSpPr>
          <p:cNvPr id="27652" name="Rectangle 2"/>
          <p:cNvSpPr>
            <a:spLocks noGrp="1" noChangeArrowheads="1"/>
          </p:cNvSpPr>
          <p:nvPr>
            <p:ph type="title" idx="4294967295"/>
          </p:nvPr>
        </p:nvSpPr>
        <p:spPr/>
        <p:txBody>
          <a:bodyPr anchor="ctr"/>
          <a:lstStyle/>
          <a:p>
            <a:pPr eaLnBrk="1" hangingPunct="1"/>
            <a:r>
              <a:rPr lang="en-US" sz="3200" b="1" dirty="0" smtClean="0">
                <a:solidFill>
                  <a:schemeClr val="folHlink"/>
                </a:solidFill>
                <a:effectLst>
                  <a:outerShdw blurRad="38100" dist="38100" dir="2700000" algn="tl">
                    <a:srgbClr val="C0C0C0"/>
                  </a:outerShdw>
                </a:effectLst>
                <a:latin typeface="Palatino Linotype" pitchFamily="18" charset="0"/>
                <a:ea typeface="华文行楷" pitchFamily="2" charset="-122"/>
              </a:rPr>
              <a:t> </a:t>
            </a:r>
            <a:r>
              <a:rPr lang="en-US" altLang="en-US" sz="3200" b="1" dirty="0">
                <a:solidFill>
                  <a:schemeClr val="folHlink"/>
                </a:solidFill>
                <a:latin typeface="Palatino Linotype" pitchFamily="18" charset="0"/>
              </a:rPr>
              <a:t>Sensitivity of optical receiver </a:t>
            </a:r>
          </a:p>
        </p:txBody>
      </p:sp>
      <p:sp>
        <p:nvSpPr>
          <p:cNvPr id="27653" name="Rectangle 3"/>
          <p:cNvSpPr>
            <a:spLocks noGrp="1" noChangeArrowheads="1"/>
          </p:cNvSpPr>
          <p:nvPr>
            <p:ph type="body" idx="4294967295"/>
          </p:nvPr>
        </p:nvSpPr>
        <p:spPr>
          <a:xfrm>
            <a:off x="685800" y="1143000"/>
            <a:ext cx="8001000" cy="3733800"/>
          </a:xfrm>
        </p:spPr>
        <p:txBody>
          <a:bodyPr/>
          <a:lstStyle/>
          <a:p>
            <a:pPr eaLnBrk="1" hangingPunct="1"/>
            <a:r>
              <a:rPr lang="en-US" altLang="en-US" sz="2800">
                <a:solidFill>
                  <a:schemeClr val="hlink"/>
                </a:solidFill>
                <a:latin typeface="Times New Roman" pitchFamily="18" charset="0"/>
              </a:rPr>
              <a:t>Sensitivity: </a:t>
            </a:r>
            <a:r>
              <a:rPr lang="en-US" altLang="en-US" sz="2800">
                <a:latin typeface="Times New Roman" pitchFamily="18" charset="0"/>
              </a:rPr>
              <a:t>the minimum average optical power received, when the receiver work at a certain bit error rate.</a:t>
            </a:r>
          </a:p>
          <a:p>
            <a:pPr eaLnBrk="1" hangingPunct="1"/>
            <a:r>
              <a:rPr lang="en-US" altLang="en-US" sz="2800">
                <a:solidFill>
                  <a:schemeClr val="hlink"/>
                </a:solidFill>
                <a:latin typeface="Times New Roman" pitchFamily="18" charset="0"/>
              </a:rPr>
              <a:t>Bit error rate(</a:t>
            </a:r>
            <a:r>
              <a:rPr lang="en-US" sz="2800">
                <a:solidFill>
                  <a:schemeClr val="hlink"/>
                </a:solidFill>
                <a:latin typeface="Times New Roman" pitchFamily="18" charset="0"/>
              </a:rPr>
              <a:t>BER</a:t>
            </a:r>
            <a:r>
              <a:rPr lang="en-US" altLang="en-US" sz="2800">
                <a:solidFill>
                  <a:schemeClr val="hlink"/>
                </a:solidFill>
                <a:latin typeface="Times New Roman" pitchFamily="18" charset="0"/>
              </a:rPr>
              <a:t>):</a:t>
            </a:r>
            <a:r>
              <a:rPr lang="en-US" altLang="en-US" sz="2800">
                <a:latin typeface="Times New Roman" pitchFamily="18" charset="0"/>
              </a:rPr>
              <a:t> </a:t>
            </a:r>
          </a:p>
          <a:p>
            <a:pPr eaLnBrk="1" hangingPunct="1">
              <a:buFont typeface="Wingdings" pitchFamily="2" charset="2"/>
              <a:buNone/>
            </a:pPr>
            <a:r>
              <a:rPr lang="en-US" altLang="en-US" sz="2800">
                <a:latin typeface="Times New Roman" pitchFamily="18" charset="0"/>
              </a:rPr>
              <a:t>   the rate that the receiver decision </a:t>
            </a:r>
          </a:p>
          <a:p>
            <a:pPr eaLnBrk="1" hangingPunct="1">
              <a:buFont typeface="Wingdings" pitchFamily="2" charset="2"/>
              <a:buNone/>
            </a:pPr>
            <a:r>
              <a:rPr lang="en-US" altLang="en-US" sz="2800">
                <a:latin typeface="Times New Roman" pitchFamily="18" charset="0"/>
              </a:rPr>
              <a:t>circuit makes a error bit.</a:t>
            </a:r>
          </a:p>
          <a:p>
            <a:pPr eaLnBrk="1" hangingPunct="1">
              <a:spcBef>
                <a:spcPct val="0"/>
              </a:spcBef>
              <a:buClrTx/>
              <a:buFont typeface="Wingdings" pitchFamily="2" charset="2"/>
              <a:buNone/>
            </a:pPr>
            <a:endParaRPr lang="en-US" altLang="en-US" sz="2400"/>
          </a:p>
        </p:txBody>
      </p:sp>
      <p:sp>
        <p:nvSpPr>
          <p:cNvPr id="27654" name="Text Box 3"/>
          <p:cNvSpPr txBox="1">
            <a:spLocks noChangeArrowheads="1"/>
          </p:cNvSpPr>
          <p:nvPr/>
        </p:nvSpPr>
        <p:spPr bwMode="auto">
          <a:xfrm>
            <a:off x="684213" y="4437063"/>
            <a:ext cx="4608512" cy="1554162"/>
          </a:xfrm>
          <a:prstGeom prst="rect">
            <a:avLst/>
          </a:prstGeom>
          <a:solidFill>
            <a:srgbClr val="FFDAB5"/>
          </a:solidFill>
          <a:ln w="9525">
            <a:noFill/>
            <a:miter lim="800000"/>
            <a:headEnd/>
            <a:tailEnd/>
          </a:ln>
          <a:effectLst>
            <a:outerShdw dist="53882" dir="2700000" algn="ctr" rotWithShape="0">
              <a:schemeClr val="bg2"/>
            </a:outerShdw>
          </a:effectLst>
        </p:spPr>
        <p:txBody>
          <a:bodyPr>
            <a:spAutoFit/>
          </a:bodyPr>
          <a:lstStyle/>
          <a:p>
            <a:pPr>
              <a:spcBef>
                <a:spcPct val="0"/>
              </a:spcBef>
              <a:buClrTx/>
              <a:buSzTx/>
              <a:buFont typeface="Wingdings" pitchFamily="2" charset="2"/>
              <a:buNone/>
            </a:pPr>
            <a:r>
              <a:rPr lang="en-US" altLang="en-US" sz="2400">
                <a:effectLst>
                  <a:outerShdw blurRad="38100" dist="38100" dir="2700000" algn="tl">
                    <a:srgbClr val="FFFFFF"/>
                  </a:outerShdw>
                </a:effectLst>
                <a:latin typeface="Times New Roman" pitchFamily="18" charset="0"/>
              </a:rPr>
              <a:t>Q is widely used to describe the characteristics of the receiver.</a:t>
            </a:r>
          </a:p>
          <a:p>
            <a:pPr>
              <a:spcBef>
                <a:spcPct val="0"/>
              </a:spcBef>
              <a:buClrTx/>
              <a:buSzTx/>
              <a:buFont typeface="Wingdings" pitchFamily="2" charset="2"/>
              <a:buNone/>
            </a:pPr>
            <a:r>
              <a:rPr lang="en-US" sz="2400">
                <a:effectLst>
                  <a:outerShdw blurRad="38100" dist="38100" dir="2700000" algn="tl">
                    <a:srgbClr val="FFFFFF"/>
                  </a:outerShdw>
                </a:effectLst>
                <a:latin typeface="Times New Roman" pitchFamily="18" charset="0"/>
              </a:rPr>
              <a:t>Q=6</a:t>
            </a:r>
            <a:r>
              <a:rPr lang="zh-CN" altLang="en-US" sz="2400">
                <a:effectLst>
                  <a:outerShdw blurRad="38100" dist="38100" dir="2700000" algn="tl">
                    <a:srgbClr val="FFFFFF"/>
                  </a:outerShdw>
                </a:effectLst>
                <a:latin typeface="Times New Roman" pitchFamily="18" charset="0"/>
              </a:rPr>
              <a:t>，</a:t>
            </a:r>
            <a:r>
              <a:rPr lang="en-US" sz="2400">
                <a:effectLst>
                  <a:outerShdw blurRad="38100" dist="38100" dir="2700000" algn="tl">
                    <a:srgbClr val="FFFFFF"/>
                  </a:outerShdw>
                </a:effectLst>
                <a:latin typeface="Times New Roman" pitchFamily="18" charset="0"/>
              </a:rPr>
              <a:t>BER=10E-9</a:t>
            </a:r>
          </a:p>
          <a:p>
            <a:pPr>
              <a:spcBef>
                <a:spcPct val="0"/>
              </a:spcBef>
              <a:buClrTx/>
              <a:buSzTx/>
              <a:buFont typeface="Wingdings" pitchFamily="2" charset="2"/>
              <a:buNone/>
            </a:pPr>
            <a:r>
              <a:rPr lang="en-US" sz="2400">
                <a:effectLst>
                  <a:outerShdw blurRad="38100" dist="38100" dir="2700000" algn="tl">
                    <a:srgbClr val="FFFFFF"/>
                  </a:outerShdw>
                </a:effectLst>
                <a:latin typeface="Times New Roman" pitchFamily="18" charset="0"/>
              </a:rPr>
              <a:t>Q&gt;7</a:t>
            </a:r>
            <a:r>
              <a:rPr lang="zh-CN" altLang="en-US" sz="2400">
                <a:effectLst>
                  <a:outerShdw blurRad="38100" dist="38100" dir="2700000" algn="tl">
                    <a:srgbClr val="FFFFFF"/>
                  </a:outerShdw>
                </a:effectLst>
                <a:latin typeface="Times New Roman" pitchFamily="18" charset="0"/>
              </a:rPr>
              <a:t>， </a:t>
            </a:r>
            <a:r>
              <a:rPr lang="en-US" sz="2400">
                <a:effectLst>
                  <a:outerShdw blurRad="38100" dist="38100" dir="2700000" algn="tl">
                    <a:srgbClr val="FFFFFF"/>
                  </a:outerShdw>
                </a:effectLst>
                <a:latin typeface="Times New Roman" pitchFamily="18" charset="0"/>
              </a:rPr>
              <a:t>BER&lt;10E-12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txBox="1">
            <a:spLocks noGrp="1" noChangeArrowheads="1"/>
          </p:cNvSpPr>
          <p:nvPr/>
        </p:nvSpPr>
        <p:spPr bwMode="auto">
          <a:xfrm>
            <a:off x="7092950" y="6094413"/>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C6BF3409-6805-4B62-B985-B04D1FE325EC}" type="slidenum">
              <a:rPr lang="zh-CN" altLang="en-US" sz="1400"/>
              <a:pPr algn="r">
                <a:spcBef>
                  <a:spcPct val="0"/>
                </a:spcBef>
                <a:buClrTx/>
                <a:buSzTx/>
                <a:buFont typeface="Wingdings" pitchFamily="2" charset="2"/>
                <a:buNone/>
              </a:pPr>
              <a:t>28</a:t>
            </a:fld>
            <a:endParaRPr lang="en-US" sz="1400"/>
          </a:p>
        </p:txBody>
      </p:sp>
      <p:sp>
        <p:nvSpPr>
          <p:cNvPr id="28676" name="Rectangle 3"/>
          <p:cNvSpPr>
            <a:spLocks noGrp="1" noChangeArrowheads="1"/>
          </p:cNvSpPr>
          <p:nvPr>
            <p:ph type="body" idx="4294967295"/>
          </p:nvPr>
        </p:nvSpPr>
        <p:spPr>
          <a:xfrm>
            <a:off x="457200" y="1447800"/>
            <a:ext cx="8305800" cy="4114800"/>
          </a:xfrm>
        </p:spPr>
        <p:txBody>
          <a:bodyPr/>
          <a:lstStyle/>
          <a:p>
            <a:pPr eaLnBrk="1" hangingPunct="1"/>
            <a:r>
              <a:rPr lang="en-US">
                <a:latin typeface="Times New Roman" pitchFamily="18" charset="0"/>
              </a:rPr>
              <a:t>The optical signal optical transmitter sends out is not the ideal bit flow, and may deform in the optical fiber transmission process. In the non ideal condition, the sensitivity of the receiver increases, and the increased power is called the </a:t>
            </a:r>
            <a:r>
              <a:rPr lang="en-US">
                <a:solidFill>
                  <a:schemeClr val="hlink"/>
                </a:solidFill>
                <a:latin typeface="Times New Roman" pitchFamily="18" charset="0"/>
              </a:rPr>
              <a:t>powerpenalty</a:t>
            </a:r>
            <a:r>
              <a:rPr lang="en-US">
                <a:latin typeface="Times New Roman" pitchFamily="18" charset="0"/>
              </a:rPr>
              <a:t>, also known as the</a:t>
            </a:r>
            <a:r>
              <a:rPr lang="en-US">
                <a:solidFill>
                  <a:schemeClr val="hlink"/>
                </a:solidFill>
                <a:latin typeface="Times New Roman" pitchFamily="18" charset="0"/>
              </a:rPr>
              <a:t> sensitivity degradation.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txBox="1">
            <a:spLocks noGrp="1" noChangeArrowheads="1"/>
          </p:cNvSpPr>
          <p:nvPr/>
        </p:nvSpPr>
        <p:spPr bwMode="auto">
          <a:xfrm>
            <a:off x="7092950" y="6165850"/>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7A9E2CE4-4AE2-4FDE-BE02-1D0A313F8AFA}" type="slidenum">
              <a:rPr lang="zh-CN" altLang="en-US" sz="1400"/>
              <a:pPr algn="r">
                <a:spcBef>
                  <a:spcPct val="0"/>
                </a:spcBef>
                <a:buClrTx/>
                <a:buSzTx/>
                <a:buFont typeface="Wingdings" pitchFamily="2" charset="2"/>
                <a:buNone/>
              </a:pPr>
              <a:t>29</a:t>
            </a:fld>
            <a:endParaRPr lang="en-US" sz="1400"/>
          </a:p>
        </p:txBody>
      </p:sp>
      <p:sp>
        <p:nvSpPr>
          <p:cNvPr id="31747" name="Rectangle 2"/>
          <p:cNvSpPr>
            <a:spLocks noGrp="1" noChangeArrowheads="1"/>
          </p:cNvSpPr>
          <p:nvPr>
            <p:ph type="title" idx="4294967295"/>
          </p:nvPr>
        </p:nvSpPr>
        <p:spPr>
          <a:xfrm>
            <a:off x="1260475" y="117475"/>
            <a:ext cx="7704138" cy="835025"/>
          </a:xfrm>
        </p:spPr>
        <p:txBody>
          <a:bodyPr anchor="ctr"/>
          <a:lstStyle/>
          <a:p>
            <a:pPr eaLnBrk="1" hangingPunct="1"/>
            <a:r>
              <a:rPr lang="en-US" sz="2800" b="1" u="sng" dirty="0" smtClean="0">
                <a:solidFill>
                  <a:schemeClr val="folHlink"/>
                </a:solidFill>
                <a:latin typeface="Palatino Linotype" pitchFamily="18" charset="0"/>
              </a:rPr>
              <a:t> </a:t>
            </a:r>
            <a:r>
              <a:rPr lang="en-US" sz="2800" b="1" u="sng" dirty="0">
                <a:solidFill>
                  <a:schemeClr val="folHlink"/>
                </a:solidFill>
                <a:latin typeface="Palatino Linotype" pitchFamily="18" charset="0"/>
              </a:rPr>
              <a:t>Performance evaluation of optical receiver</a:t>
            </a:r>
          </a:p>
        </p:txBody>
      </p:sp>
      <p:sp>
        <p:nvSpPr>
          <p:cNvPr id="31748" name="Rectangle 3"/>
          <p:cNvSpPr>
            <a:spLocks noGrp="1" noChangeArrowheads="1"/>
          </p:cNvSpPr>
          <p:nvPr>
            <p:ph type="body" idx="4294967295"/>
          </p:nvPr>
        </p:nvSpPr>
        <p:spPr>
          <a:xfrm>
            <a:off x="685800" y="1066800"/>
            <a:ext cx="7924800" cy="2290763"/>
          </a:xfrm>
        </p:spPr>
        <p:txBody>
          <a:bodyPr>
            <a:normAutofit fontScale="85000" lnSpcReduction="10000"/>
          </a:bodyPr>
          <a:lstStyle/>
          <a:p>
            <a:pPr eaLnBrk="1" hangingPunct="1">
              <a:lnSpc>
                <a:spcPct val="120000"/>
              </a:lnSpc>
              <a:spcBef>
                <a:spcPct val="0"/>
              </a:spcBef>
            </a:pPr>
            <a:r>
              <a:rPr lang="en-US" sz="2400" b="1">
                <a:latin typeface="Times New Roman" pitchFamily="18" charset="0"/>
              </a:rPr>
              <a:t>1.</a:t>
            </a:r>
            <a:r>
              <a:rPr lang="en-US" sz="2400" b="1">
                <a:solidFill>
                  <a:schemeClr val="hlink"/>
                </a:solidFill>
                <a:latin typeface="Times New Roman" pitchFamily="18" charset="0"/>
              </a:rPr>
              <a:t>The bit error rate curve</a:t>
            </a:r>
          </a:p>
          <a:p>
            <a:pPr eaLnBrk="1" hangingPunct="1">
              <a:lnSpc>
                <a:spcPct val="120000"/>
              </a:lnSpc>
              <a:spcBef>
                <a:spcPct val="0"/>
              </a:spcBef>
            </a:pPr>
            <a:r>
              <a:rPr lang="en-US" sz="2400" b="1">
                <a:latin typeface="Times New Roman" pitchFamily="18" charset="0"/>
              </a:rPr>
              <a:t>2.</a:t>
            </a:r>
            <a:r>
              <a:rPr lang="en-US" sz="2400" b="1">
                <a:solidFill>
                  <a:schemeClr val="hlink"/>
                </a:solidFill>
                <a:latin typeface="Times New Roman" pitchFamily="18" charset="0"/>
              </a:rPr>
              <a:t>The code length effect</a:t>
            </a:r>
          </a:p>
          <a:p>
            <a:pPr eaLnBrk="1" hangingPunct="1">
              <a:lnSpc>
                <a:spcPct val="120000"/>
              </a:lnSpc>
              <a:spcBef>
                <a:spcPct val="0"/>
              </a:spcBef>
            </a:pPr>
            <a:r>
              <a:rPr lang="en-US" sz="2400" b="1">
                <a:latin typeface="Times New Roman" pitchFamily="18" charset="0"/>
              </a:rPr>
              <a:t>3.</a:t>
            </a:r>
            <a:r>
              <a:rPr lang="en-US" sz="2400" b="1">
                <a:solidFill>
                  <a:schemeClr val="hlink"/>
                </a:solidFill>
                <a:latin typeface="Times New Roman" pitchFamily="18" charset="0"/>
              </a:rPr>
              <a:t>Eye diagram:</a:t>
            </a:r>
            <a:r>
              <a:rPr lang="en-US" sz="2400" b="1">
                <a:latin typeface="Times New Roman" pitchFamily="18" charset="0"/>
              </a:rPr>
              <a:t> The most intuitive and simple method</a:t>
            </a:r>
          </a:p>
          <a:p>
            <a:pPr eaLnBrk="1" hangingPunct="1">
              <a:lnSpc>
                <a:spcPct val="120000"/>
              </a:lnSpc>
              <a:spcBef>
                <a:spcPct val="0"/>
              </a:spcBef>
              <a:buFont typeface="Wingdings" pitchFamily="2" charset="2"/>
              <a:buNone/>
            </a:pPr>
            <a:r>
              <a:rPr lang="en-US" sz="2400" b="1">
                <a:solidFill>
                  <a:schemeClr val="hlink"/>
                </a:solidFill>
                <a:latin typeface="Times New Roman" pitchFamily="18" charset="0"/>
              </a:rPr>
              <a:t>              Formation: Eye diagram is a comprehensive reflection that repeated random signal added together during the scanning</a:t>
            </a:r>
          </a:p>
          <a:p>
            <a:pPr eaLnBrk="1" hangingPunct="1">
              <a:lnSpc>
                <a:spcPct val="120000"/>
              </a:lnSpc>
              <a:spcBef>
                <a:spcPct val="0"/>
              </a:spcBef>
              <a:buFont typeface="Wingdings" pitchFamily="2" charset="2"/>
              <a:buNone/>
            </a:pPr>
            <a:r>
              <a:rPr lang="en-US" sz="2400" b="1">
                <a:solidFill>
                  <a:schemeClr val="hlink"/>
                </a:solidFill>
                <a:latin typeface="Times New Roman" pitchFamily="18" charset="0"/>
              </a:rPr>
              <a:t>     process.</a:t>
            </a:r>
          </a:p>
        </p:txBody>
      </p:sp>
      <p:pic>
        <p:nvPicPr>
          <p:cNvPr id="31749" name="Picture 4"/>
          <p:cNvPicPr>
            <a:picLocks noChangeAspect="1" noChangeArrowheads="1"/>
          </p:cNvPicPr>
          <p:nvPr/>
        </p:nvPicPr>
        <p:blipFill>
          <a:blip r:embed="rId2"/>
          <a:srcRect/>
          <a:stretch>
            <a:fillRect/>
          </a:stretch>
        </p:blipFill>
        <p:spPr bwMode="auto">
          <a:xfrm>
            <a:off x="3779838" y="3429000"/>
            <a:ext cx="4648200" cy="304165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txBox="1">
            <a:spLocks noGrp="1" noChangeArrowheads="1"/>
          </p:cNvSpPr>
          <p:nvPr/>
        </p:nvSpPr>
        <p:spPr bwMode="auto">
          <a:xfrm>
            <a:off x="7092950" y="6237288"/>
            <a:ext cx="1905000" cy="457200"/>
          </a:xfrm>
          <a:prstGeom prst="rect">
            <a:avLst/>
          </a:prstGeom>
          <a:noFill/>
          <a:ln w="9525">
            <a:noFill/>
            <a:miter lim="800000"/>
            <a:headEnd/>
            <a:tailEnd/>
          </a:ln>
        </p:spPr>
        <p:txBody>
          <a:bodyPr anchor="b"/>
          <a:lstStyle/>
          <a:p>
            <a:pPr algn="r">
              <a:spcBef>
                <a:spcPct val="0"/>
              </a:spcBef>
              <a:buClrTx/>
              <a:buSzTx/>
              <a:buFont typeface="Wingdings" pitchFamily="2" charset="2"/>
              <a:buNone/>
            </a:pPr>
            <a:fld id="{872197EF-5640-4A08-8303-4CBF6BD6197E}" type="slidenum">
              <a:rPr lang="zh-CN" altLang="en-US" sz="1400"/>
              <a:pPr algn="r">
                <a:spcBef>
                  <a:spcPct val="0"/>
                </a:spcBef>
                <a:buClrTx/>
                <a:buSzTx/>
                <a:buFont typeface="Wingdings" pitchFamily="2" charset="2"/>
                <a:buNone/>
              </a:pPr>
              <a:t>30</a:t>
            </a:fld>
            <a:endParaRPr lang="en-US" sz="1400"/>
          </a:p>
        </p:txBody>
      </p:sp>
      <p:sp>
        <p:nvSpPr>
          <p:cNvPr id="32771" name="Rectangle 2"/>
          <p:cNvSpPr>
            <a:spLocks noGrp="1" noChangeArrowheads="1"/>
          </p:cNvSpPr>
          <p:nvPr>
            <p:ph type="title" idx="4294967295"/>
          </p:nvPr>
        </p:nvSpPr>
        <p:spPr/>
        <p:txBody>
          <a:bodyPr anchor="ctr"/>
          <a:lstStyle/>
          <a:p>
            <a:pPr eaLnBrk="1" hangingPunct="1"/>
            <a:r>
              <a:rPr lang="en-US" sz="3600" b="1">
                <a:solidFill>
                  <a:schemeClr val="folHlink"/>
                </a:solidFill>
                <a:effectLst>
                  <a:outerShdw blurRad="38100" dist="38100" dir="2700000" algn="tl">
                    <a:srgbClr val="C0C0C0"/>
                  </a:outerShdw>
                </a:effectLst>
                <a:latin typeface="Palatino Linotype" pitchFamily="18" charset="0"/>
                <a:ea typeface="华文行楷" pitchFamily="2" charset="-122"/>
              </a:rPr>
              <a:t>Eye diagram analysis</a:t>
            </a:r>
          </a:p>
        </p:txBody>
      </p:sp>
      <p:sp>
        <p:nvSpPr>
          <p:cNvPr id="32772" name="Rectangle 3"/>
          <p:cNvSpPr>
            <a:spLocks noGrp="1" noChangeArrowheads="1"/>
          </p:cNvSpPr>
          <p:nvPr>
            <p:ph type="body" idx="4294967295"/>
          </p:nvPr>
        </p:nvSpPr>
        <p:spPr>
          <a:xfrm>
            <a:off x="755650" y="3502025"/>
            <a:ext cx="7696200" cy="2952750"/>
          </a:xfrm>
        </p:spPr>
        <p:txBody>
          <a:bodyPr/>
          <a:lstStyle/>
          <a:p>
            <a:pPr eaLnBrk="1" hangingPunct="1">
              <a:lnSpc>
                <a:spcPct val="150000"/>
              </a:lnSpc>
              <a:spcBef>
                <a:spcPct val="0"/>
              </a:spcBef>
              <a:buFont typeface="Wingdings" pitchFamily="2" charset="2"/>
              <a:buNone/>
            </a:pPr>
            <a:r>
              <a:rPr lang="en-US" sz="2400">
                <a:latin typeface="Times New Roman" pitchFamily="18" charset="0"/>
              </a:rPr>
              <a:t>1. </a:t>
            </a:r>
            <a:r>
              <a:rPr lang="en-US" altLang="en-US" sz="2400">
                <a:latin typeface="Times New Roman" pitchFamily="18" charset="0"/>
                <a:sym typeface="Symbol" pitchFamily="18" charset="2"/>
              </a:rPr>
              <a:t>The best moment of judgment</a:t>
            </a:r>
          </a:p>
          <a:p>
            <a:pPr eaLnBrk="1" hangingPunct="1">
              <a:lnSpc>
                <a:spcPct val="150000"/>
              </a:lnSpc>
              <a:spcBef>
                <a:spcPct val="0"/>
              </a:spcBef>
              <a:buFont typeface="Wingdings" pitchFamily="2" charset="2"/>
              <a:buNone/>
            </a:pPr>
            <a:r>
              <a:rPr lang="en-US" sz="2400">
                <a:latin typeface="Times New Roman" pitchFamily="18" charset="0"/>
                <a:sym typeface="Symbol" pitchFamily="18" charset="2"/>
              </a:rPr>
              <a:t>2. </a:t>
            </a:r>
            <a:r>
              <a:rPr lang="en-US" altLang="en-US" sz="2400">
                <a:latin typeface="Times New Roman" pitchFamily="18" charset="0"/>
                <a:sym typeface="Symbol" pitchFamily="18" charset="2"/>
              </a:rPr>
              <a:t>Noise tolerance </a:t>
            </a:r>
          </a:p>
          <a:p>
            <a:pPr eaLnBrk="1" hangingPunct="1">
              <a:lnSpc>
                <a:spcPct val="150000"/>
              </a:lnSpc>
              <a:spcBef>
                <a:spcPct val="0"/>
              </a:spcBef>
              <a:buFont typeface="Wingdings" pitchFamily="2" charset="2"/>
              <a:buNone/>
            </a:pPr>
            <a:endParaRPr lang="en-US" altLang="en-US" sz="2800">
              <a:latin typeface="Times New Roman" pitchFamily="18" charset="0"/>
              <a:sym typeface="Symbol" pitchFamily="18" charset="2"/>
            </a:endParaRPr>
          </a:p>
          <a:p>
            <a:pPr eaLnBrk="1" hangingPunct="1">
              <a:lnSpc>
                <a:spcPct val="150000"/>
              </a:lnSpc>
              <a:spcBef>
                <a:spcPct val="0"/>
              </a:spcBef>
              <a:buFont typeface="Wingdings" pitchFamily="2" charset="2"/>
              <a:buNone/>
            </a:pPr>
            <a:r>
              <a:rPr lang="en-US" sz="2400">
                <a:latin typeface="Times New Roman" pitchFamily="18" charset="0"/>
                <a:sym typeface="Symbol" pitchFamily="18" charset="2"/>
              </a:rPr>
              <a:t>3. </a:t>
            </a:r>
            <a:r>
              <a:rPr lang="en-US" altLang="en-US" sz="2400">
                <a:latin typeface="Times New Roman" pitchFamily="18" charset="0"/>
              </a:rPr>
              <a:t>Clock jitter</a:t>
            </a:r>
            <a:endParaRPr lang="en-US" altLang="en-US" sz="2800">
              <a:latin typeface="Times New Roman" pitchFamily="18" charset="0"/>
            </a:endParaRPr>
          </a:p>
          <a:p>
            <a:pPr eaLnBrk="1" hangingPunct="1">
              <a:lnSpc>
                <a:spcPct val="150000"/>
              </a:lnSpc>
              <a:spcBef>
                <a:spcPct val="0"/>
              </a:spcBef>
              <a:buFont typeface="Wingdings" pitchFamily="2" charset="2"/>
              <a:buNone/>
            </a:pPr>
            <a:r>
              <a:rPr lang="en-US" sz="2400">
                <a:latin typeface="Times New Roman" pitchFamily="18" charset="0"/>
              </a:rPr>
              <a:t>4. </a:t>
            </a:r>
            <a:r>
              <a:rPr lang="en-US" altLang="en-US" sz="2400">
                <a:latin typeface="Times New Roman" pitchFamily="18" charset="0"/>
              </a:rPr>
              <a:t>The thickness reflects the noise </a:t>
            </a:r>
          </a:p>
        </p:txBody>
      </p:sp>
      <p:graphicFrame>
        <p:nvGraphicFramePr>
          <p:cNvPr id="32773" name="Object 5"/>
          <p:cNvGraphicFramePr>
            <a:graphicFrameLocks noChangeAspect="1"/>
          </p:cNvGraphicFramePr>
          <p:nvPr/>
        </p:nvGraphicFramePr>
        <p:xfrm>
          <a:off x="3419475" y="4149725"/>
          <a:ext cx="1676400" cy="704850"/>
        </p:xfrm>
        <a:graphic>
          <a:graphicData uri="http://schemas.openxmlformats.org/presentationml/2006/ole">
            <p:oleObj spid="_x0000_s12290" r:id="rId3" imgW="661004" imgH="381482" progId="Equation.3">
              <p:embed/>
            </p:oleObj>
          </a:graphicData>
        </a:graphic>
      </p:graphicFrame>
      <p:graphicFrame>
        <p:nvGraphicFramePr>
          <p:cNvPr id="32774" name="Object 6"/>
          <p:cNvGraphicFramePr>
            <a:graphicFrameLocks noChangeAspect="1"/>
          </p:cNvGraphicFramePr>
          <p:nvPr/>
        </p:nvGraphicFramePr>
        <p:xfrm>
          <a:off x="3348038" y="5086350"/>
          <a:ext cx="1905000" cy="809625"/>
        </p:xfrm>
        <a:graphic>
          <a:graphicData uri="http://schemas.openxmlformats.org/presentationml/2006/ole">
            <p:oleObj spid="_x0000_s12291" r:id="rId4" imgW="610182" imgH="381482" progId="Equation.3">
              <p:embed/>
            </p:oleObj>
          </a:graphicData>
        </a:graphic>
      </p:graphicFrame>
      <p:grpSp>
        <p:nvGrpSpPr>
          <p:cNvPr id="2" name="Group 7"/>
          <p:cNvGrpSpPr>
            <a:grpSpLocks/>
          </p:cNvGrpSpPr>
          <p:nvPr/>
        </p:nvGrpSpPr>
        <p:grpSpPr bwMode="auto">
          <a:xfrm>
            <a:off x="2052638" y="836613"/>
            <a:ext cx="5873750" cy="2516187"/>
            <a:chOff x="0" y="0"/>
            <a:chExt cx="3072" cy="1728"/>
          </a:xfrm>
        </p:grpSpPr>
        <p:grpSp>
          <p:nvGrpSpPr>
            <p:cNvPr id="3" name="Group 8"/>
            <p:cNvGrpSpPr>
              <a:grpSpLocks/>
            </p:cNvGrpSpPr>
            <p:nvPr/>
          </p:nvGrpSpPr>
          <p:grpSpPr bwMode="auto">
            <a:xfrm>
              <a:off x="672" y="0"/>
              <a:ext cx="2400" cy="1392"/>
              <a:chOff x="0" y="0"/>
              <a:chExt cx="2400" cy="1392"/>
            </a:xfrm>
          </p:grpSpPr>
          <p:sp>
            <p:nvSpPr>
              <p:cNvPr id="32777" name="AutoShape 9"/>
              <p:cNvSpPr>
                <a:spLocks noChangeArrowheads="1"/>
              </p:cNvSpPr>
              <p:nvPr/>
            </p:nvSpPr>
            <p:spPr bwMode="auto">
              <a:xfrm>
                <a:off x="144" y="528"/>
                <a:ext cx="1584" cy="861"/>
              </a:xfrm>
              <a:prstGeom prst="diamond">
                <a:avLst/>
              </a:prstGeom>
              <a:solidFill>
                <a:srgbClr val="00CC00"/>
              </a:solidFill>
              <a:ln w="9525">
                <a:noFill/>
                <a:miter lim="800000"/>
                <a:headEnd/>
                <a:tailEnd/>
              </a:ln>
            </p:spPr>
            <p:txBody>
              <a:bodyPr wrap="none" anchor="ctr"/>
              <a:lstStyle/>
              <a:p>
                <a:endParaRPr lang="zh-CN" altLang="en-US"/>
              </a:p>
            </p:txBody>
          </p:sp>
          <p:sp>
            <p:nvSpPr>
              <p:cNvPr id="32778" name="AutoShape 10"/>
              <p:cNvSpPr>
                <a:spLocks noChangeArrowheads="1"/>
              </p:cNvSpPr>
              <p:nvPr/>
            </p:nvSpPr>
            <p:spPr bwMode="auto">
              <a:xfrm>
                <a:off x="453" y="693"/>
                <a:ext cx="950" cy="517"/>
              </a:xfrm>
              <a:prstGeom prst="diamond">
                <a:avLst/>
              </a:prstGeom>
              <a:solidFill>
                <a:srgbClr val="EBFFFA"/>
              </a:solidFill>
              <a:ln w="9525">
                <a:noFill/>
                <a:miter lim="800000"/>
                <a:headEnd/>
                <a:tailEnd/>
              </a:ln>
            </p:spPr>
            <p:txBody>
              <a:bodyPr wrap="none" anchor="ctr"/>
              <a:lstStyle/>
              <a:p>
                <a:endParaRPr lang="zh-CN" altLang="en-US"/>
              </a:p>
            </p:txBody>
          </p:sp>
          <p:sp>
            <p:nvSpPr>
              <p:cNvPr id="32779" name="Line 11"/>
              <p:cNvSpPr>
                <a:spLocks noChangeShapeType="1"/>
              </p:cNvSpPr>
              <p:nvPr/>
            </p:nvSpPr>
            <p:spPr bwMode="auto">
              <a:xfrm flipV="1">
                <a:off x="455" y="432"/>
                <a:ext cx="0" cy="528"/>
              </a:xfrm>
              <a:prstGeom prst="line">
                <a:avLst/>
              </a:prstGeom>
              <a:noFill/>
              <a:ln w="12700" cmpd="sng">
                <a:solidFill>
                  <a:schemeClr val="folHlink"/>
                </a:solidFill>
                <a:prstDash val="dash"/>
                <a:round/>
                <a:headEnd/>
                <a:tailEnd/>
              </a:ln>
            </p:spPr>
            <p:txBody>
              <a:bodyPr wrap="none"/>
              <a:lstStyle/>
              <a:p>
                <a:endParaRPr lang="en-GB"/>
              </a:p>
            </p:txBody>
          </p:sp>
          <p:sp>
            <p:nvSpPr>
              <p:cNvPr id="32780" name="Line 12"/>
              <p:cNvSpPr>
                <a:spLocks noChangeShapeType="1"/>
              </p:cNvSpPr>
              <p:nvPr/>
            </p:nvSpPr>
            <p:spPr bwMode="auto">
              <a:xfrm flipV="1">
                <a:off x="1414" y="432"/>
                <a:ext cx="0" cy="528"/>
              </a:xfrm>
              <a:prstGeom prst="line">
                <a:avLst/>
              </a:prstGeom>
              <a:noFill/>
              <a:ln w="12700" cmpd="sng">
                <a:solidFill>
                  <a:schemeClr val="folHlink"/>
                </a:solidFill>
                <a:prstDash val="dash"/>
                <a:round/>
                <a:headEnd/>
                <a:tailEnd/>
              </a:ln>
            </p:spPr>
            <p:txBody>
              <a:bodyPr wrap="none"/>
              <a:lstStyle/>
              <a:p>
                <a:endParaRPr lang="en-GB"/>
              </a:p>
            </p:txBody>
          </p:sp>
          <p:sp>
            <p:nvSpPr>
              <p:cNvPr id="32781" name="Line 13"/>
              <p:cNvSpPr>
                <a:spLocks noChangeShapeType="1"/>
              </p:cNvSpPr>
              <p:nvPr/>
            </p:nvSpPr>
            <p:spPr bwMode="auto">
              <a:xfrm flipV="1">
                <a:off x="144" y="192"/>
                <a:ext cx="0" cy="768"/>
              </a:xfrm>
              <a:prstGeom prst="line">
                <a:avLst/>
              </a:prstGeom>
              <a:noFill/>
              <a:ln w="12700" cmpd="sng">
                <a:solidFill>
                  <a:schemeClr val="folHlink"/>
                </a:solidFill>
                <a:prstDash val="dash"/>
                <a:round/>
                <a:headEnd/>
                <a:tailEnd/>
              </a:ln>
            </p:spPr>
            <p:txBody>
              <a:bodyPr wrap="none"/>
              <a:lstStyle/>
              <a:p>
                <a:endParaRPr lang="en-GB"/>
              </a:p>
            </p:txBody>
          </p:sp>
          <p:sp>
            <p:nvSpPr>
              <p:cNvPr id="32782" name="Line 14"/>
              <p:cNvSpPr>
                <a:spLocks noChangeShapeType="1"/>
              </p:cNvSpPr>
              <p:nvPr/>
            </p:nvSpPr>
            <p:spPr bwMode="auto">
              <a:xfrm flipV="1">
                <a:off x="1728" y="192"/>
                <a:ext cx="0" cy="768"/>
              </a:xfrm>
              <a:prstGeom prst="line">
                <a:avLst/>
              </a:prstGeom>
              <a:noFill/>
              <a:ln w="12700" cmpd="sng">
                <a:solidFill>
                  <a:schemeClr val="folHlink"/>
                </a:solidFill>
                <a:prstDash val="dash"/>
                <a:round/>
                <a:headEnd/>
                <a:tailEnd/>
              </a:ln>
            </p:spPr>
            <p:txBody>
              <a:bodyPr wrap="none"/>
              <a:lstStyle/>
              <a:p>
                <a:endParaRPr lang="en-GB"/>
              </a:p>
            </p:txBody>
          </p:sp>
          <p:sp>
            <p:nvSpPr>
              <p:cNvPr id="32783" name="Line 15"/>
              <p:cNvSpPr>
                <a:spLocks noChangeShapeType="1"/>
              </p:cNvSpPr>
              <p:nvPr/>
            </p:nvSpPr>
            <p:spPr bwMode="auto">
              <a:xfrm>
                <a:off x="455" y="432"/>
                <a:ext cx="960" cy="0"/>
              </a:xfrm>
              <a:prstGeom prst="line">
                <a:avLst/>
              </a:prstGeom>
              <a:noFill/>
              <a:ln w="12700" cap="sq" cmpd="sng">
                <a:solidFill>
                  <a:schemeClr val="folHlink"/>
                </a:solidFill>
                <a:round/>
                <a:headEnd type="triangle" w="med" len="med"/>
                <a:tailEnd type="triangle" w="med" len="med"/>
              </a:ln>
            </p:spPr>
            <p:txBody>
              <a:bodyPr wrap="none"/>
              <a:lstStyle/>
              <a:p>
                <a:endParaRPr lang="en-GB"/>
              </a:p>
            </p:txBody>
          </p:sp>
          <p:sp>
            <p:nvSpPr>
              <p:cNvPr id="32784" name="Text Box 16"/>
              <p:cNvSpPr txBox="1">
                <a:spLocks noChangeArrowheads="1"/>
              </p:cNvSpPr>
              <p:nvPr/>
            </p:nvSpPr>
            <p:spPr bwMode="auto">
              <a:xfrm>
                <a:off x="816" y="192"/>
                <a:ext cx="288" cy="231"/>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1800">
                    <a:solidFill>
                      <a:schemeClr val="folHlink"/>
                    </a:solidFill>
                    <a:effectLst>
                      <a:outerShdw blurRad="38100" dist="38100" dir="2700000" algn="tl">
                        <a:srgbClr val="C0C0C0"/>
                      </a:outerShdw>
                    </a:effectLst>
                    <a:latin typeface="Arial Black" pitchFamily="34" charset="0"/>
                  </a:rPr>
                  <a:t>t</a:t>
                </a:r>
                <a:r>
                  <a:rPr lang="en-US" sz="1800" baseline="-25000">
                    <a:solidFill>
                      <a:schemeClr val="folHlink"/>
                    </a:solidFill>
                    <a:effectLst>
                      <a:outerShdw blurRad="38100" dist="38100" dir="2700000" algn="tl">
                        <a:srgbClr val="C0C0C0"/>
                      </a:outerShdw>
                    </a:effectLst>
                    <a:latin typeface="Arial Black" pitchFamily="34" charset="0"/>
                  </a:rPr>
                  <a:t>1</a:t>
                </a:r>
                <a:endParaRPr lang="en-US" sz="1800">
                  <a:solidFill>
                    <a:schemeClr val="folHlink"/>
                  </a:solidFill>
                  <a:effectLst>
                    <a:outerShdw blurRad="38100" dist="38100" dir="2700000" algn="tl">
                      <a:srgbClr val="C0C0C0"/>
                    </a:outerShdw>
                  </a:effectLst>
                  <a:latin typeface="Arial Black" pitchFamily="34" charset="0"/>
                </a:endParaRPr>
              </a:p>
            </p:txBody>
          </p:sp>
          <p:sp>
            <p:nvSpPr>
              <p:cNvPr id="32785" name="Line 17"/>
              <p:cNvSpPr>
                <a:spLocks noChangeShapeType="1"/>
              </p:cNvSpPr>
              <p:nvPr/>
            </p:nvSpPr>
            <p:spPr bwMode="auto">
              <a:xfrm>
                <a:off x="144" y="240"/>
                <a:ext cx="1584" cy="0"/>
              </a:xfrm>
              <a:prstGeom prst="line">
                <a:avLst/>
              </a:prstGeom>
              <a:noFill/>
              <a:ln w="12700" cap="sq" cmpd="sng">
                <a:solidFill>
                  <a:schemeClr val="folHlink"/>
                </a:solidFill>
                <a:round/>
                <a:headEnd type="triangle" w="med" len="med"/>
                <a:tailEnd type="triangle" w="med" len="med"/>
              </a:ln>
            </p:spPr>
            <p:txBody>
              <a:bodyPr wrap="none"/>
              <a:lstStyle/>
              <a:p>
                <a:endParaRPr lang="en-GB"/>
              </a:p>
            </p:txBody>
          </p:sp>
          <p:sp>
            <p:nvSpPr>
              <p:cNvPr id="32786" name="Text Box 18"/>
              <p:cNvSpPr txBox="1">
                <a:spLocks noChangeArrowheads="1"/>
              </p:cNvSpPr>
              <p:nvPr/>
            </p:nvSpPr>
            <p:spPr bwMode="auto">
              <a:xfrm>
                <a:off x="816" y="0"/>
                <a:ext cx="288" cy="231"/>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1800">
                    <a:solidFill>
                      <a:schemeClr val="folHlink"/>
                    </a:solidFill>
                    <a:effectLst>
                      <a:outerShdw blurRad="38100" dist="38100" dir="2700000" algn="tl">
                        <a:srgbClr val="C0C0C0"/>
                      </a:outerShdw>
                    </a:effectLst>
                    <a:latin typeface="Arial Black" pitchFamily="34" charset="0"/>
                  </a:rPr>
                  <a:t>t</a:t>
                </a:r>
                <a:r>
                  <a:rPr lang="en-US" sz="1800" baseline="-25000">
                    <a:solidFill>
                      <a:schemeClr val="folHlink"/>
                    </a:solidFill>
                    <a:effectLst>
                      <a:outerShdw blurRad="38100" dist="38100" dir="2700000" algn="tl">
                        <a:srgbClr val="C0C0C0"/>
                      </a:outerShdw>
                    </a:effectLst>
                    <a:latin typeface="Arial Black" pitchFamily="34" charset="0"/>
                  </a:rPr>
                  <a:t>2</a:t>
                </a:r>
                <a:endParaRPr lang="en-US" sz="1800">
                  <a:solidFill>
                    <a:schemeClr val="folHlink"/>
                  </a:solidFill>
                  <a:effectLst>
                    <a:outerShdw blurRad="38100" dist="38100" dir="2700000" algn="tl">
                      <a:srgbClr val="C0C0C0"/>
                    </a:outerShdw>
                  </a:effectLst>
                  <a:latin typeface="Arial Black" pitchFamily="34" charset="0"/>
                </a:endParaRPr>
              </a:p>
            </p:txBody>
          </p:sp>
          <p:sp>
            <p:nvSpPr>
              <p:cNvPr id="32787" name="Line 19"/>
              <p:cNvSpPr>
                <a:spLocks noChangeShapeType="1"/>
              </p:cNvSpPr>
              <p:nvPr/>
            </p:nvSpPr>
            <p:spPr bwMode="auto">
              <a:xfrm flipV="1">
                <a:off x="0" y="528"/>
                <a:ext cx="2304" cy="2"/>
              </a:xfrm>
              <a:prstGeom prst="line">
                <a:avLst/>
              </a:prstGeom>
              <a:noFill/>
              <a:ln w="12700" cap="sq" cmpd="sng">
                <a:solidFill>
                  <a:srgbClr val="00CC00"/>
                </a:solidFill>
                <a:round/>
                <a:headEnd/>
                <a:tailEnd/>
              </a:ln>
            </p:spPr>
            <p:txBody>
              <a:bodyPr wrap="none"/>
              <a:lstStyle/>
              <a:p>
                <a:endParaRPr lang="en-GB"/>
              </a:p>
            </p:txBody>
          </p:sp>
          <p:sp>
            <p:nvSpPr>
              <p:cNvPr id="32788" name="Line 20"/>
              <p:cNvSpPr>
                <a:spLocks noChangeShapeType="1"/>
              </p:cNvSpPr>
              <p:nvPr/>
            </p:nvSpPr>
            <p:spPr bwMode="auto">
              <a:xfrm>
                <a:off x="0" y="1392"/>
                <a:ext cx="2256" cy="0"/>
              </a:xfrm>
              <a:prstGeom prst="line">
                <a:avLst/>
              </a:prstGeom>
              <a:noFill/>
              <a:ln w="12700" cap="sq" cmpd="sng">
                <a:solidFill>
                  <a:srgbClr val="00CC00"/>
                </a:solidFill>
                <a:round/>
                <a:headEnd/>
                <a:tailEnd/>
              </a:ln>
            </p:spPr>
            <p:txBody>
              <a:bodyPr wrap="none"/>
              <a:lstStyle/>
              <a:p>
                <a:endParaRPr lang="en-GB"/>
              </a:p>
            </p:txBody>
          </p:sp>
          <p:sp>
            <p:nvSpPr>
              <p:cNvPr id="32789" name="Line 21"/>
              <p:cNvSpPr>
                <a:spLocks noChangeShapeType="1"/>
              </p:cNvSpPr>
              <p:nvPr/>
            </p:nvSpPr>
            <p:spPr bwMode="auto">
              <a:xfrm>
                <a:off x="912" y="693"/>
                <a:ext cx="960" cy="0"/>
              </a:xfrm>
              <a:prstGeom prst="line">
                <a:avLst/>
              </a:prstGeom>
              <a:noFill/>
              <a:ln w="12700" cmpd="sng">
                <a:solidFill>
                  <a:schemeClr val="folHlink"/>
                </a:solidFill>
                <a:prstDash val="dash"/>
                <a:round/>
                <a:headEnd/>
                <a:tailEnd/>
              </a:ln>
            </p:spPr>
            <p:txBody>
              <a:bodyPr wrap="none"/>
              <a:lstStyle/>
              <a:p>
                <a:endParaRPr lang="en-GB"/>
              </a:p>
            </p:txBody>
          </p:sp>
          <p:sp>
            <p:nvSpPr>
              <p:cNvPr id="32790" name="Line 22"/>
              <p:cNvSpPr>
                <a:spLocks noChangeShapeType="1"/>
              </p:cNvSpPr>
              <p:nvPr/>
            </p:nvSpPr>
            <p:spPr bwMode="auto">
              <a:xfrm>
                <a:off x="912" y="1208"/>
                <a:ext cx="960" cy="0"/>
              </a:xfrm>
              <a:prstGeom prst="line">
                <a:avLst/>
              </a:prstGeom>
              <a:noFill/>
              <a:ln w="12700" cmpd="sng">
                <a:solidFill>
                  <a:schemeClr val="folHlink"/>
                </a:solidFill>
                <a:prstDash val="dash"/>
                <a:round/>
                <a:headEnd/>
                <a:tailEnd/>
              </a:ln>
            </p:spPr>
            <p:txBody>
              <a:bodyPr wrap="none"/>
              <a:lstStyle/>
              <a:p>
                <a:endParaRPr lang="en-GB"/>
              </a:p>
            </p:txBody>
          </p:sp>
          <p:sp>
            <p:nvSpPr>
              <p:cNvPr id="32791" name="Line 23"/>
              <p:cNvSpPr>
                <a:spLocks noChangeShapeType="1"/>
              </p:cNvSpPr>
              <p:nvPr/>
            </p:nvSpPr>
            <p:spPr bwMode="auto">
              <a:xfrm>
                <a:off x="1824" y="672"/>
                <a:ext cx="0" cy="528"/>
              </a:xfrm>
              <a:prstGeom prst="line">
                <a:avLst/>
              </a:prstGeom>
              <a:noFill/>
              <a:ln w="12700" cap="sq" cmpd="sng">
                <a:solidFill>
                  <a:schemeClr val="folHlink"/>
                </a:solidFill>
                <a:round/>
                <a:headEnd type="triangle" w="med" len="med"/>
                <a:tailEnd type="triangle" w="med" len="med"/>
              </a:ln>
            </p:spPr>
            <p:txBody>
              <a:bodyPr wrap="none"/>
              <a:lstStyle/>
              <a:p>
                <a:endParaRPr lang="en-GB"/>
              </a:p>
            </p:txBody>
          </p:sp>
          <p:sp>
            <p:nvSpPr>
              <p:cNvPr id="32792" name="Text Box 24"/>
              <p:cNvSpPr txBox="1">
                <a:spLocks noChangeArrowheads="1"/>
              </p:cNvSpPr>
              <p:nvPr/>
            </p:nvSpPr>
            <p:spPr bwMode="auto">
              <a:xfrm>
                <a:off x="1776" y="864"/>
                <a:ext cx="336" cy="231"/>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1800">
                    <a:solidFill>
                      <a:schemeClr val="folHlink"/>
                    </a:solidFill>
                    <a:effectLst>
                      <a:outerShdw blurRad="38100" dist="38100" dir="2700000" algn="tl">
                        <a:srgbClr val="C0C0C0"/>
                      </a:outerShdw>
                    </a:effectLst>
                    <a:latin typeface="Arial Black" pitchFamily="34" charset="0"/>
                  </a:rPr>
                  <a:t>V</a:t>
                </a:r>
                <a:r>
                  <a:rPr lang="en-US" sz="1800" baseline="-25000">
                    <a:solidFill>
                      <a:schemeClr val="folHlink"/>
                    </a:solidFill>
                    <a:effectLst>
                      <a:outerShdw blurRad="38100" dist="38100" dir="2700000" algn="tl">
                        <a:srgbClr val="C0C0C0"/>
                      </a:outerShdw>
                    </a:effectLst>
                    <a:latin typeface="Arial Black" pitchFamily="34" charset="0"/>
                  </a:rPr>
                  <a:t>1</a:t>
                </a:r>
                <a:endParaRPr lang="en-US" sz="1800">
                  <a:solidFill>
                    <a:schemeClr val="folHlink"/>
                  </a:solidFill>
                  <a:effectLst>
                    <a:outerShdw blurRad="38100" dist="38100" dir="2700000" algn="tl">
                      <a:srgbClr val="C0C0C0"/>
                    </a:outerShdw>
                  </a:effectLst>
                  <a:latin typeface="Arial Black" pitchFamily="34" charset="0"/>
                </a:endParaRPr>
              </a:p>
            </p:txBody>
          </p:sp>
          <p:sp>
            <p:nvSpPr>
              <p:cNvPr id="32793" name="Line 25"/>
              <p:cNvSpPr>
                <a:spLocks noChangeShapeType="1"/>
              </p:cNvSpPr>
              <p:nvPr/>
            </p:nvSpPr>
            <p:spPr bwMode="auto">
              <a:xfrm>
                <a:off x="2064" y="528"/>
                <a:ext cx="0" cy="864"/>
              </a:xfrm>
              <a:prstGeom prst="line">
                <a:avLst/>
              </a:prstGeom>
              <a:noFill/>
              <a:ln w="12700" cap="sq" cmpd="sng">
                <a:solidFill>
                  <a:schemeClr val="folHlink"/>
                </a:solidFill>
                <a:round/>
                <a:headEnd type="triangle" w="med" len="med"/>
                <a:tailEnd type="triangle" w="med" len="med"/>
              </a:ln>
            </p:spPr>
            <p:txBody>
              <a:bodyPr wrap="none"/>
              <a:lstStyle/>
              <a:p>
                <a:endParaRPr lang="en-GB"/>
              </a:p>
            </p:txBody>
          </p:sp>
          <p:sp>
            <p:nvSpPr>
              <p:cNvPr id="32794" name="Text Box 26"/>
              <p:cNvSpPr txBox="1">
                <a:spLocks noChangeArrowheads="1"/>
              </p:cNvSpPr>
              <p:nvPr/>
            </p:nvSpPr>
            <p:spPr bwMode="auto">
              <a:xfrm>
                <a:off x="2016" y="864"/>
                <a:ext cx="384" cy="231"/>
              </a:xfrm>
              <a:prstGeom prst="rect">
                <a:avLst/>
              </a:prstGeom>
              <a:noFill/>
              <a:ln w="9525">
                <a:noFill/>
                <a:miter lim="800000"/>
                <a:headEnd/>
                <a:tailEnd/>
              </a:ln>
            </p:spPr>
            <p:txBody>
              <a:bodyPr>
                <a:spAutoFit/>
              </a:bodyPr>
              <a:lstStyle/>
              <a:p>
                <a:pPr>
                  <a:spcBef>
                    <a:spcPct val="50000"/>
                  </a:spcBef>
                  <a:buClrTx/>
                  <a:buSzTx/>
                  <a:buFont typeface="Wingdings" pitchFamily="2" charset="2"/>
                  <a:buNone/>
                </a:pPr>
                <a:r>
                  <a:rPr lang="en-US" sz="1800">
                    <a:solidFill>
                      <a:schemeClr val="folHlink"/>
                    </a:solidFill>
                    <a:effectLst>
                      <a:outerShdw blurRad="38100" dist="38100" dir="2700000" algn="tl">
                        <a:srgbClr val="C0C0C0"/>
                      </a:outerShdw>
                    </a:effectLst>
                    <a:latin typeface="Arial Black" pitchFamily="34" charset="0"/>
                  </a:rPr>
                  <a:t>V</a:t>
                </a:r>
                <a:r>
                  <a:rPr lang="en-US" sz="1800" baseline="-25000">
                    <a:solidFill>
                      <a:schemeClr val="folHlink"/>
                    </a:solidFill>
                    <a:effectLst>
                      <a:outerShdw blurRad="38100" dist="38100" dir="2700000" algn="tl">
                        <a:srgbClr val="C0C0C0"/>
                      </a:outerShdw>
                    </a:effectLst>
                    <a:latin typeface="Arial Black" pitchFamily="34" charset="0"/>
                  </a:rPr>
                  <a:t>2</a:t>
                </a:r>
                <a:endParaRPr lang="en-US" sz="1800">
                  <a:solidFill>
                    <a:schemeClr val="folHlink"/>
                  </a:solidFill>
                  <a:effectLst>
                    <a:outerShdw blurRad="38100" dist="38100" dir="2700000" algn="tl">
                      <a:srgbClr val="C0C0C0"/>
                    </a:outerShdw>
                  </a:effectLst>
                  <a:latin typeface="Arial Black" pitchFamily="34" charset="0"/>
                </a:endParaRPr>
              </a:p>
            </p:txBody>
          </p:sp>
        </p:grpSp>
        <p:sp>
          <p:nvSpPr>
            <p:cNvPr id="32795" name="Line 27"/>
            <p:cNvSpPr>
              <a:spLocks noChangeShapeType="1"/>
            </p:cNvSpPr>
            <p:nvPr/>
          </p:nvSpPr>
          <p:spPr bwMode="auto">
            <a:xfrm>
              <a:off x="96" y="960"/>
              <a:ext cx="2400" cy="0"/>
            </a:xfrm>
            <a:prstGeom prst="line">
              <a:avLst/>
            </a:prstGeom>
            <a:noFill/>
            <a:ln w="9525" cmpd="sng">
              <a:solidFill>
                <a:srgbClr val="000099"/>
              </a:solidFill>
              <a:prstDash val="dash"/>
              <a:round/>
              <a:headEnd/>
              <a:tailEnd/>
            </a:ln>
          </p:spPr>
          <p:txBody>
            <a:bodyPr wrap="none"/>
            <a:lstStyle/>
            <a:p>
              <a:endParaRPr lang="en-GB"/>
            </a:p>
          </p:txBody>
        </p:sp>
        <p:sp>
          <p:nvSpPr>
            <p:cNvPr id="32796" name="Text Box 28"/>
            <p:cNvSpPr txBox="1">
              <a:spLocks noChangeArrowheads="1"/>
            </p:cNvSpPr>
            <p:nvPr/>
          </p:nvSpPr>
          <p:spPr bwMode="auto">
            <a:xfrm>
              <a:off x="0" y="672"/>
              <a:ext cx="528" cy="288"/>
            </a:xfrm>
            <a:prstGeom prst="rect">
              <a:avLst/>
            </a:prstGeom>
            <a:noFill/>
            <a:ln w="9525">
              <a:noFill/>
              <a:miter lim="800000"/>
              <a:headEnd/>
              <a:tailEnd/>
            </a:ln>
          </p:spPr>
          <p:txBody>
            <a:bodyPr>
              <a:spAutoFit/>
            </a:bodyPr>
            <a:lstStyle/>
            <a:p>
              <a:pPr>
                <a:spcBef>
                  <a:spcPct val="50000"/>
                </a:spcBef>
                <a:buClrTx/>
                <a:buSzTx/>
                <a:buFont typeface="Wingdings" pitchFamily="2" charset="2"/>
                <a:buNone/>
              </a:pPr>
              <a:endParaRPr lang="zh-CN" altLang="en-US" sz="2400">
                <a:solidFill>
                  <a:schemeClr val="hlink"/>
                </a:solidFill>
                <a:effectLst>
                  <a:outerShdw blurRad="38100" dist="38100" dir="2700000" algn="tl">
                    <a:srgbClr val="C0C0C0"/>
                  </a:outerShdw>
                </a:effectLst>
                <a:latin typeface="Times New Roman" pitchFamily="18" charset="0"/>
                <a:ea typeface="黑体" pitchFamily="1" charset="-122"/>
              </a:endParaRPr>
            </a:p>
          </p:txBody>
        </p:sp>
        <p:sp>
          <p:nvSpPr>
            <p:cNvPr id="32797" name="Line 29"/>
            <p:cNvSpPr>
              <a:spLocks noChangeShapeType="1"/>
            </p:cNvSpPr>
            <p:nvPr/>
          </p:nvSpPr>
          <p:spPr bwMode="auto">
            <a:xfrm flipV="1">
              <a:off x="1609" y="1392"/>
              <a:ext cx="0" cy="288"/>
            </a:xfrm>
            <a:prstGeom prst="line">
              <a:avLst/>
            </a:prstGeom>
            <a:noFill/>
            <a:ln w="28575" cmpd="sng">
              <a:solidFill>
                <a:schemeClr val="hlink"/>
              </a:solidFill>
              <a:round/>
              <a:headEnd/>
              <a:tailEnd type="triangle" w="med" len="med"/>
            </a:ln>
          </p:spPr>
          <p:txBody>
            <a:bodyPr wrap="none"/>
            <a:lstStyle/>
            <a:p>
              <a:endParaRPr lang="en-GB"/>
            </a:p>
          </p:txBody>
        </p:sp>
        <p:sp>
          <p:nvSpPr>
            <p:cNvPr id="32798" name="Text Box 30"/>
            <p:cNvSpPr txBox="1">
              <a:spLocks noChangeArrowheads="1"/>
            </p:cNvSpPr>
            <p:nvPr/>
          </p:nvSpPr>
          <p:spPr bwMode="auto">
            <a:xfrm>
              <a:off x="288" y="1440"/>
              <a:ext cx="1344" cy="288"/>
            </a:xfrm>
            <a:prstGeom prst="rect">
              <a:avLst/>
            </a:prstGeom>
            <a:noFill/>
            <a:ln w="9525">
              <a:noFill/>
              <a:miter lim="800000"/>
              <a:headEnd/>
              <a:tailEnd/>
            </a:ln>
          </p:spPr>
          <p:txBody>
            <a:bodyPr>
              <a:spAutoFit/>
            </a:bodyPr>
            <a:lstStyle/>
            <a:p>
              <a:pPr>
                <a:spcBef>
                  <a:spcPct val="50000"/>
                </a:spcBef>
                <a:buClrTx/>
                <a:buSzTx/>
                <a:buFont typeface="Wingdings" pitchFamily="2" charset="2"/>
                <a:buNone/>
              </a:pPr>
              <a:endParaRPr lang="zh-CN" altLang="en-US" sz="2400">
                <a:solidFill>
                  <a:schemeClr val="hlink"/>
                </a:solidFill>
                <a:effectLst>
                  <a:outerShdw blurRad="38100" dist="38100" dir="2700000" algn="tl">
                    <a:srgbClr val="C0C0C0"/>
                  </a:outerShdw>
                </a:effectLst>
                <a:ea typeface="黑体" pitchFamily="1" charset="-122"/>
              </a:endParaRPr>
            </a:p>
          </p:txBody>
        </p:sp>
      </p:grpSp>
      <p:sp>
        <p:nvSpPr>
          <p:cNvPr id="32799" name="Text Box 31"/>
          <p:cNvSpPr txBox="1">
            <a:spLocks noChangeArrowheads="1"/>
          </p:cNvSpPr>
          <p:nvPr/>
        </p:nvSpPr>
        <p:spPr bwMode="auto">
          <a:xfrm>
            <a:off x="1265238" y="1774825"/>
            <a:ext cx="1579562" cy="457200"/>
          </a:xfrm>
          <a:prstGeom prst="rect">
            <a:avLst/>
          </a:prstGeom>
          <a:noFill/>
          <a:ln w="9525">
            <a:noFill/>
            <a:miter lim="800000"/>
            <a:headEnd/>
            <a:tailEnd/>
          </a:ln>
        </p:spPr>
        <p:txBody>
          <a:bodyPr>
            <a:spAutoFit/>
          </a:bodyPr>
          <a:lstStyle/>
          <a:p>
            <a:pPr>
              <a:buFont typeface="Wingdings" pitchFamily="2" charset="2"/>
              <a:buNone/>
            </a:pPr>
            <a:r>
              <a:rPr lang="zh-CN" altLang="en-US" sz="2400">
                <a:solidFill>
                  <a:schemeClr val="hlink"/>
                </a:solidFill>
                <a:effectLst>
                  <a:outerShdw blurRad="38100" dist="38100" dir="2700000" algn="tl">
                    <a:srgbClr val="C0C0C0"/>
                  </a:outerShdw>
                </a:effectLst>
                <a:latin typeface="Times New Roman" pitchFamily="18" charset="0"/>
                <a:ea typeface="黑体" pitchFamily="1" charset="-122"/>
              </a:rPr>
              <a:t>Threshold</a:t>
            </a:r>
          </a:p>
        </p:txBody>
      </p:sp>
      <p:sp>
        <p:nvSpPr>
          <p:cNvPr id="32800" name="Text Box 32"/>
          <p:cNvSpPr txBox="1">
            <a:spLocks noChangeArrowheads="1"/>
          </p:cNvSpPr>
          <p:nvPr/>
        </p:nvSpPr>
        <p:spPr bwMode="auto">
          <a:xfrm>
            <a:off x="3276600" y="3141663"/>
            <a:ext cx="4608513" cy="395287"/>
          </a:xfrm>
          <a:prstGeom prst="rect">
            <a:avLst/>
          </a:prstGeom>
          <a:noFill/>
          <a:ln w="9525">
            <a:noFill/>
            <a:miter lim="800000"/>
            <a:headEnd/>
            <a:tailEnd/>
          </a:ln>
        </p:spPr>
        <p:txBody>
          <a:bodyPr>
            <a:spAutoFit/>
          </a:bodyPr>
          <a:lstStyle/>
          <a:p>
            <a:pPr>
              <a:buFont typeface="Wingdings" pitchFamily="2" charset="2"/>
              <a:buNone/>
            </a:pPr>
            <a:r>
              <a:rPr lang="zh-CN" altLang="en-US" sz="2000">
                <a:solidFill>
                  <a:schemeClr val="hlink"/>
                </a:solidFill>
                <a:effectLst>
                  <a:outerShdw blurRad="38100" dist="38100" dir="2700000" algn="tl">
                    <a:srgbClr val="C0C0C0"/>
                  </a:outerShdw>
                </a:effectLst>
                <a:ea typeface="黑体" pitchFamily="1" charset="-122"/>
              </a:rPr>
              <a:t>The best moment of judgment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0"/>
            <a:ext cx="8229600" cy="1143000"/>
          </a:xfrm>
        </p:spPr>
        <p:txBody>
          <a:bodyPr/>
          <a:lstStyle/>
          <a:p>
            <a:r>
              <a:rPr lang="en-GB" dirty="0" smtClean="0"/>
              <a:t>END</a:t>
            </a:r>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1886</Words>
  <Application>Microsoft Office PowerPoint</Application>
  <PresentationFormat>On-screen Show (4:3)</PresentationFormat>
  <Paragraphs>256</Paragraphs>
  <Slides>31</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3" baseType="lpstr">
      <vt:lpstr>Office Theme</vt:lpstr>
      <vt:lpstr>Microsoft Equation 3.0</vt:lpstr>
      <vt:lpstr>OPTICAL RECEIVERS</vt:lpstr>
      <vt:lpstr>Slide 2</vt:lpstr>
      <vt:lpstr>Introduction </vt:lpstr>
      <vt:lpstr>Optical receiver characteristics</vt:lpstr>
      <vt:lpstr>Responsivity and Quantum Efficiency</vt:lpstr>
      <vt:lpstr>Slide 6</vt:lpstr>
      <vt:lpstr>Slide 7</vt:lpstr>
      <vt:lpstr>Rise Time and Bandwidth</vt:lpstr>
      <vt:lpstr>Slide 9</vt:lpstr>
      <vt:lpstr>Common Photodetectors</vt:lpstr>
      <vt:lpstr>1. PN photodiode</vt:lpstr>
      <vt:lpstr>Slide 12</vt:lpstr>
      <vt:lpstr>Slide 13</vt:lpstr>
      <vt:lpstr>Slide 14</vt:lpstr>
      <vt:lpstr>2. PIN photodiode</vt:lpstr>
      <vt:lpstr> PIN photodiode</vt:lpstr>
      <vt:lpstr>  Quantum Efficiency</vt:lpstr>
      <vt:lpstr> Spectral Response</vt:lpstr>
      <vt:lpstr>Slide 19</vt:lpstr>
      <vt:lpstr>Avalanche photodiodes (APD)</vt:lpstr>
      <vt:lpstr>Slide 21</vt:lpstr>
      <vt:lpstr>Slide 22</vt:lpstr>
      <vt:lpstr>Comparison of the photodetector</vt:lpstr>
      <vt:lpstr>Comparison of the photodetector</vt:lpstr>
      <vt:lpstr>Comparison of the photodetector</vt:lpstr>
      <vt:lpstr> Noise characteristics of optical receiver </vt:lpstr>
      <vt:lpstr> Sensitivity of optical receiver </vt:lpstr>
      <vt:lpstr>Slide 28</vt:lpstr>
      <vt:lpstr> Performance evaluation of optical receiver</vt:lpstr>
      <vt:lpstr>Eye diagram analysis</vt:lpstr>
      <vt:lpstr>END</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OPTICAL RECEIVERS</dc:title>
  <dc:creator>user</dc:creator>
  <cp:lastModifiedBy>Windows User</cp:lastModifiedBy>
  <cp:revision>5</cp:revision>
  <dcterms:created xsi:type="dcterms:W3CDTF">2006-08-16T00:00:00Z</dcterms:created>
  <dcterms:modified xsi:type="dcterms:W3CDTF">2025-01-08T10:19:35Z</dcterms:modified>
</cp:coreProperties>
</file>