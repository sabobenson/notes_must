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67" r:id="rId3"/>
    <p:sldId id="268" r:id="rId4"/>
    <p:sldId id="269" r:id="rId5"/>
    <p:sldId id="270" r:id="rId6"/>
    <p:sldId id="271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272" r:id="rId15"/>
    <p:sldId id="276" r:id="rId16"/>
    <p:sldId id="277" r:id="rId17"/>
    <p:sldId id="323" r:id="rId18"/>
    <p:sldId id="278" r:id="rId19"/>
    <p:sldId id="279" r:id="rId20"/>
    <p:sldId id="280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2" r:id="rId42"/>
    <p:sldId id="293" r:id="rId43"/>
    <p:sldId id="294" r:id="rId44"/>
    <p:sldId id="295" r:id="rId45"/>
    <p:sldId id="31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33.png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32.png"/><Relationship Id="rId2" Type="http://schemas.openxmlformats.org/officeDocument/2006/relationships/image" Target="../media/image37.wmf"/><Relationship Id="rId16" Type="http://schemas.openxmlformats.org/officeDocument/2006/relationships/image" Target="../media/image51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ACA42-49F0-434D-802B-9CB1A680FC0C}" type="datetimeFigureOut">
              <a:rPr lang="en-US" smtClean="0"/>
              <a:t>11/20/2024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85CE-87C0-4FF7-8EC7-7CD50DBA5DAC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C2A165-15B6-49C1-A242-7FD2A229507A}" type="slidenum">
              <a:rPr lang="en-US"/>
              <a:pPr/>
              <a:t>15</a:t>
            </a:fld>
            <a:endParaRPr lang="en-US"/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87D9CB0-742E-4392-8181-A0DDD7CD28D9}" type="slidenum">
              <a:rPr lang="en-US"/>
              <a:pPr/>
              <a:t>19</a:t>
            </a:fld>
            <a:endParaRPr lang="en-US"/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16204CA-BBB2-4C81-8805-84AD983F5E46}" type="slidenum">
              <a:rPr lang="en-US"/>
              <a:pPr/>
              <a:t>20</a:t>
            </a:fld>
            <a:endParaRPr lang="en-US"/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 eaLnBrk="1" hangingPunct="1"/>
            <a:r>
              <a:rPr lang="en-US" sz="1200">
                <a:latin typeface="Calibri" pitchFamily="34" charset="0"/>
              </a:rPr>
              <a:t>5</a:t>
            </a: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696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9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 eaLnBrk="1" hangingPunct="1"/>
            <a:r>
              <a:rPr lang="en-US" sz="1200">
                <a:latin typeface="Calibri" pitchFamily="34" charset="0"/>
              </a:rPr>
              <a:t>6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Calibri" pitchFamily="34" charset="0"/>
            </a:endParaRPr>
          </a:p>
        </p:txBody>
      </p:sp>
      <p:sp>
        <p:nvSpPr>
          <p:cNvPr id="706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7BFB0AB-E396-40E9-A47B-C32B25D4BC2A}" type="slidenum">
              <a:rPr lang="en-US"/>
              <a:pPr/>
              <a:t>34</a:t>
            </a:fld>
            <a:endParaRPr lang="en-US"/>
          </a:p>
        </p:txBody>
      </p:sp>
      <p:sp>
        <p:nvSpPr>
          <p:cNvPr id="71683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F2B6FF6-440B-4C9A-91C1-0B8A16FEBE88}" type="slidenum">
              <a:rPr lang="en-US"/>
              <a:pPr/>
              <a:t>35</a:t>
            </a:fld>
            <a:endParaRPr lang="en-US"/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IN">
              <a:cs typeface="Arial" charset="0"/>
            </a:endParaRP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 eaLnBrk="1" hangingPunct="1"/>
            <a:r>
              <a:rPr lang="en-US" sz="1200">
                <a:cs typeface="Arial" charset="0"/>
              </a:rPr>
              <a:t>7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IN">
              <a:cs typeface="Arial" charset="0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IN">
              <a:cs typeface="Arial" charset="0"/>
            </a:endParaRPr>
          </a:p>
        </p:txBody>
      </p:sp>
      <p:sp>
        <p:nvSpPr>
          <p:cNvPr id="737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2CAEF2F-4E06-4309-8AE9-702B61C44BB9}" type="slidenum">
              <a:rPr lang="en-US"/>
              <a:pPr/>
              <a:t>37</a:t>
            </a:fld>
            <a:endParaRPr lang="en-US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0D4560-0750-43CF-82C8-A9687A2D97B6}" type="slidenum">
              <a:rPr lang="en-US"/>
              <a:pPr/>
              <a:t>41</a:t>
            </a:fld>
            <a:endParaRPr lang="en-US"/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8EF4396-F8B2-4F86-B2AE-35F395CE4735}" type="slidenum">
              <a:rPr lang="en-US"/>
              <a:pPr/>
              <a:t>42</a:t>
            </a:fld>
            <a:endParaRPr lang="en-US"/>
          </a:p>
        </p:txBody>
      </p:sp>
      <p:sp>
        <p:nvSpPr>
          <p:cNvPr id="7885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347AC9A-8E40-4A2B-9938-30CAA6100C4F}" type="slidenum">
              <a:rPr lang="en-US"/>
              <a:pPr/>
              <a:t>43</a:t>
            </a:fld>
            <a:endParaRPr lang="en-US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C3A7682-7417-414B-8A41-17045B8C4FF6}" type="slidenum">
              <a:rPr lang="en-US"/>
              <a:pPr/>
              <a:t>44</a:t>
            </a:fld>
            <a:endParaRPr lang="en-US"/>
          </a:p>
        </p:txBody>
      </p:sp>
      <p:sp>
        <p:nvSpPr>
          <p:cNvPr id="8089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2.bin"/><Relationship Id="rId18" Type="http://schemas.openxmlformats.org/officeDocument/2006/relationships/oleObject" Target="../embeddings/oleObject17.bin"/><Relationship Id="rId3" Type="http://schemas.openxmlformats.org/officeDocument/2006/relationships/notesSlide" Target="../notesSlides/notesSlide10.xml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9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10.bin"/><Relationship Id="rId24" Type="http://schemas.openxmlformats.org/officeDocument/2006/relationships/oleObject" Target="../embeddings/oleObject23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22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8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2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SIGNAL DEGRADATION IN </a:t>
            </a:r>
            <a:r>
              <a:rPr lang="en-GB" dirty="0" err="1" smtClean="0"/>
              <a:t>FIBER</a:t>
            </a:r>
            <a:r>
              <a:rPr lang="en-GB" dirty="0" smtClean="0"/>
              <a:t> OPTICS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IN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Key Elements of Optical Fiber Systems</a:t>
            </a:r>
            <a:endParaRPr lang="en-IN" smtClean="0">
              <a:solidFill>
                <a:srgbClr val="1A0FF1"/>
              </a:solidFill>
            </a:endParaRPr>
          </a:p>
        </p:txBody>
      </p:sp>
      <p:sp>
        <p:nvSpPr>
          <p:cNvPr id="1638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IN" sz="1800" smtClean="0"/>
          </a:p>
        </p:txBody>
      </p:sp>
      <p:pic>
        <p:nvPicPr>
          <p:cNvPr id="16388" name="Picture 3" descr="F:\user\S-72.227 Digital Communication Systems\lectures spring 2000\fibre optics\fiber optic link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1930400"/>
            <a:ext cx="6761560" cy="426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8397" y="609600"/>
            <a:ext cx="6447234" cy="13208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1A0FF1"/>
                </a:solidFill>
              </a:rPr>
              <a:t>A Fiber-Optic System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943100" y="2362200"/>
            <a:ext cx="1314450" cy="9906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Transmitter</a:t>
            </a:r>
          </a:p>
        </p:txBody>
      </p:sp>
      <p:sp>
        <p:nvSpPr>
          <p:cNvPr id="17412" name="Rectangle 7"/>
          <p:cNvSpPr>
            <a:spLocks noChangeArrowheads="1"/>
          </p:cNvSpPr>
          <p:nvPr/>
        </p:nvSpPr>
        <p:spPr bwMode="auto">
          <a:xfrm>
            <a:off x="6286500" y="2362200"/>
            <a:ext cx="1028700" cy="9906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Receiver</a:t>
            </a:r>
          </a:p>
        </p:txBody>
      </p:sp>
      <p:sp>
        <p:nvSpPr>
          <p:cNvPr id="17413" name="Line 10"/>
          <p:cNvSpPr>
            <a:spLocks noChangeShapeType="1"/>
          </p:cNvSpPr>
          <p:nvPr/>
        </p:nvSpPr>
        <p:spPr bwMode="auto">
          <a:xfrm>
            <a:off x="3257550" y="2895600"/>
            <a:ext cx="29718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66"/>
            </a:extrusionClr>
          </a:sp3d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17414" name="Line 11"/>
          <p:cNvSpPr>
            <a:spLocks noChangeShapeType="1"/>
          </p:cNvSpPr>
          <p:nvPr/>
        </p:nvSpPr>
        <p:spPr bwMode="auto">
          <a:xfrm>
            <a:off x="5314950" y="2895600"/>
            <a:ext cx="85725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66"/>
            </a:extrusionClr>
          </a:sp3d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17415" name="AutoShape 17"/>
          <p:cNvSpPr>
            <a:spLocks noChangeArrowheads="1"/>
          </p:cNvSpPr>
          <p:nvPr/>
        </p:nvSpPr>
        <p:spPr bwMode="auto">
          <a:xfrm>
            <a:off x="3371850" y="1600200"/>
            <a:ext cx="685800" cy="609600"/>
          </a:xfrm>
          <a:prstGeom prst="wedgeRoundRectCallout">
            <a:avLst>
              <a:gd name="adj1" fmla="val -347"/>
              <a:gd name="adj2" fmla="val 16094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fiber</a:t>
            </a:r>
          </a:p>
        </p:txBody>
      </p:sp>
      <p:sp>
        <p:nvSpPr>
          <p:cNvPr id="17416" name="Rectangle 5"/>
          <p:cNvSpPr>
            <a:spLocks noChangeArrowheads="1"/>
          </p:cNvSpPr>
          <p:nvPr/>
        </p:nvSpPr>
        <p:spPr bwMode="auto">
          <a:xfrm>
            <a:off x="4200525" y="2273300"/>
            <a:ext cx="1143000" cy="9906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 wrap="none" anchor="ctr">
            <a:flatTx/>
          </a:bodyPr>
          <a:lstStyle/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Optical</a:t>
            </a:r>
          </a:p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Amplifier</a:t>
            </a:r>
          </a:p>
        </p:txBody>
      </p:sp>
      <p:sp>
        <p:nvSpPr>
          <p:cNvPr id="17417" name="AutoShape 19"/>
          <p:cNvSpPr>
            <a:spLocks noChangeArrowheads="1"/>
          </p:cNvSpPr>
          <p:nvPr/>
        </p:nvSpPr>
        <p:spPr bwMode="auto">
          <a:xfrm>
            <a:off x="5600700" y="3429000"/>
            <a:ext cx="914400" cy="609600"/>
          </a:xfrm>
          <a:prstGeom prst="wedgeRectCallout">
            <a:avLst>
              <a:gd name="adj1" fmla="val -90236"/>
              <a:gd name="adj2" fmla="val -103125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>
                <a:latin typeface="Calibri" pitchFamily="34" charset="0"/>
                <a:cs typeface="Arial" charset="0"/>
              </a:rPr>
              <a:t>Optional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8397" y="425451"/>
            <a:ext cx="6447234" cy="682625"/>
          </a:xfrm>
        </p:spPr>
        <p:txBody>
          <a:bodyPr/>
          <a:lstStyle/>
          <a:p>
            <a:pPr eaLnBrk="1" hangingPunct="1"/>
            <a:r>
              <a:rPr lang="en-US" sz="32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Advantages of Optical Fiber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775" y="1108075"/>
            <a:ext cx="6787754" cy="534352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Enormous </a:t>
            </a:r>
            <a:r>
              <a:rPr lang="en-US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</a:t>
            </a: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Cables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equipment have </a:t>
            </a: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size and weight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fibers fit easily into an optical cable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special environments as in aircrafts, satellites, ships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Immunity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interference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power plants, hospitals, EMP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pulse) resistive systems </a:t>
            </a:r>
            <a:b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(installations for defense)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hazardous environments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negligible crosstalk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banking, computer networks, military systems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Silica fibers have </a:t>
            </a:r>
            <a:r>
              <a:rPr lang="en-US" sz="1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abundant raw material</a:t>
            </a:r>
          </a:p>
        </p:txBody>
      </p:sp>
      <p:pic>
        <p:nvPicPr>
          <p:cNvPr id="18436" name="Picture 3" descr="fiber-optic submarine cables &amp; accessor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4754" y="3603626"/>
            <a:ext cx="1050131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5467350" y="5475289"/>
            <a:ext cx="1404938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n-US" sz="1200">
                <a:cs typeface="Arial" charset="0"/>
              </a:rPr>
              <a:t>Corning’s standard submarine cables can have up to 144 fibers in a single cable housing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97" y="166689"/>
            <a:ext cx="6447234" cy="5159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>
                <a:solidFill>
                  <a:srgbClr val="1A0F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Ranges of Components</a:t>
            </a:r>
            <a:endParaRPr lang="en-IN" dirty="0">
              <a:solidFill>
                <a:srgbClr val="1A0FF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59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36984" y="1295400"/>
            <a:ext cx="7135416" cy="5257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2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Optical Fiber as a Communication Channel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sz="1800" smtClean="0"/>
              <a:t>Basic Laws and Definitions: Refractive Index, Reflection &amp; Refraction</a:t>
            </a:r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938463"/>
            <a:ext cx="4496991" cy="310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Acceptance Angle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This </a:t>
            </a:r>
            <a:r>
              <a:rPr lang="en-GB" dirty="0" smtClean="0"/>
              <a:t>is the maximum angle to the </a:t>
            </a:r>
            <a:r>
              <a:rPr lang="en-GB" dirty="0" smtClean="0"/>
              <a:t>centre axis of </a:t>
            </a:r>
            <a:r>
              <a:rPr lang="en-GB" dirty="0" err="1" smtClean="0"/>
              <a:t>fiber</a:t>
            </a:r>
            <a:r>
              <a:rPr lang="en-GB" dirty="0" smtClean="0"/>
              <a:t> at </a:t>
            </a:r>
            <a:r>
              <a:rPr lang="en-GB" dirty="0" smtClean="0"/>
              <a:t>which light may enter the </a:t>
            </a:r>
            <a:r>
              <a:rPr lang="en-GB" dirty="0" err="1" smtClean="0"/>
              <a:t>fiber</a:t>
            </a:r>
            <a:r>
              <a:rPr lang="en-GB" dirty="0" smtClean="0"/>
              <a:t> in order to be propagated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505200"/>
            <a:ext cx="7086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Numerical </a:t>
            </a:r>
            <a:r>
              <a:rPr lang="en-GB" dirty="0" err="1" smtClean="0"/>
              <a:t>Apperture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 is important to </a:t>
            </a:r>
            <a:r>
              <a:rPr lang="en-GB" dirty="0" smtClean="0"/>
              <a:t>obtain a relationship between </a:t>
            </a:r>
            <a:r>
              <a:rPr lang="en-GB" dirty="0" smtClean="0"/>
              <a:t>the acceptance </a:t>
            </a:r>
            <a:r>
              <a:rPr lang="en-GB" dirty="0" smtClean="0"/>
              <a:t>angle and the refractive indices of the three media involved, namely the </a:t>
            </a:r>
            <a:r>
              <a:rPr lang="en-GB" dirty="0" smtClean="0"/>
              <a:t>core, cladding </a:t>
            </a:r>
            <a:r>
              <a:rPr lang="en-GB" dirty="0" smtClean="0"/>
              <a:t>and air.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886200"/>
            <a:ext cx="66770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GB" dirty="0" smtClean="0"/>
              <a:t>Assuming the entrance face at </a:t>
            </a:r>
            <a:r>
              <a:rPr lang="en-GB" dirty="0" smtClean="0"/>
              <a:t>the </a:t>
            </a:r>
            <a:r>
              <a:rPr lang="en-GB" dirty="0" err="1" smtClean="0"/>
              <a:t>fiber</a:t>
            </a:r>
            <a:r>
              <a:rPr lang="en-GB" dirty="0" smtClean="0"/>
              <a:t> </a:t>
            </a:r>
            <a:r>
              <a:rPr lang="en-GB" dirty="0" smtClean="0"/>
              <a:t>core to be normal to the axis, then considering the refraction at the air–core </a:t>
            </a:r>
            <a:r>
              <a:rPr lang="en-GB" dirty="0" smtClean="0"/>
              <a:t>interface and </a:t>
            </a:r>
            <a:r>
              <a:rPr lang="en-GB" dirty="0" smtClean="0"/>
              <a:t>using Snell’s </a:t>
            </a:r>
            <a:r>
              <a:rPr lang="en-GB" dirty="0" smtClean="0"/>
              <a:t>law</a:t>
            </a:r>
          </a:p>
          <a:p>
            <a:endParaRPr lang="en-GB" dirty="0" smtClean="0"/>
          </a:p>
          <a:p>
            <a:r>
              <a:rPr lang="en-GB" dirty="0" smtClean="0"/>
              <a:t>Considering the right-angled triangle </a:t>
            </a:r>
            <a:r>
              <a:rPr lang="en-GB" i="1" dirty="0" smtClean="0"/>
              <a:t>ABC indicated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2362200"/>
            <a:ext cx="2895600" cy="64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4495800"/>
            <a:ext cx="1981200" cy="1071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4648200"/>
            <a:ext cx="31591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6800" y="5715000"/>
            <a:ext cx="375631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GB" dirty="0" smtClean="0"/>
              <a:t>When the limiting case for total internal reflection is considered, φ becomes equal to </a:t>
            </a:r>
            <a:r>
              <a:rPr lang="en-GB" dirty="0" smtClean="0"/>
              <a:t>the critical </a:t>
            </a:r>
            <a:r>
              <a:rPr lang="en-GB" dirty="0" smtClean="0"/>
              <a:t>angle for the core–cladding </a:t>
            </a:r>
            <a:r>
              <a:rPr lang="en-GB" dirty="0" smtClean="0"/>
              <a:t>interface</a:t>
            </a:r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Also in this </a:t>
            </a:r>
            <a:r>
              <a:rPr lang="en-GB" dirty="0" smtClean="0"/>
              <a:t>limiting case </a:t>
            </a:r>
            <a:r>
              <a:rPr lang="en-GB" dirty="0" smtClean="0"/>
              <a:t>θ1 becomes the acceptance angle for the </a:t>
            </a:r>
            <a:r>
              <a:rPr lang="en-GB" dirty="0" err="1" smtClean="0"/>
              <a:t>fiber</a:t>
            </a:r>
            <a:r>
              <a:rPr lang="en-GB" dirty="0" smtClean="0"/>
              <a:t> </a:t>
            </a:r>
            <a:r>
              <a:rPr lang="en-GB" dirty="0" err="1" smtClean="0"/>
              <a:t>θa</a:t>
            </a:r>
            <a:r>
              <a:rPr lang="en-GB" dirty="0" smtClean="0"/>
              <a:t>.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2514600"/>
            <a:ext cx="2743200" cy="120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5181600"/>
            <a:ext cx="3657600" cy="896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Autofit/>
          </a:bodyPr>
          <a:lstStyle/>
          <a:p>
            <a:r>
              <a:rPr lang="en-GB" sz="2400" b="1" i="1" dirty="0" smtClean="0"/>
              <a:t>Numerical aperture (NA) </a:t>
            </a:r>
            <a:r>
              <a:rPr lang="en-GB" sz="2400" dirty="0" smtClean="0"/>
              <a:t>is the parameter which relates the </a:t>
            </a:r>
            <a:r>
              <a:rPr lang="en-GB" sz="2400" dirty="0" smtClean="0"/>
              <a:t>acceptance angle to the refractive </a:t>
            </a:r>
            <a:r>
              <a:rPr lang="en-GB" sz="2400" dirty="0" smtClean="0"/>
              <a:t>indices of core and cladding.</a:t>
            </a:r>
          </a:p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The </a:t>
            </a:r>
            <a:r>
              <a:rPr lang="en-GB" sz="2400" i="1" dirty="0" smtClean="0"/>
              <a:t>NA may also be given in terms of the relative refractive index difference Δ </a:t>
            </a:r>
            <a:r>
              <a:rPr lang="en-GB" sz="2400" i="1" dirty="0" smtClean="0"/>
              <a:t>between </a:t>
            </a:r>
            <a:r>
              <a:rPr lang="en-GB" sz="2400" dirty="0" smtClean="0"/>
              <a:t>the </a:t>
            </a:r>
            <a:r>
              <a:rPr lang="en-GB" sz="2400" dirty="0" smtClean="0"/>
              <a:t>core and the </a:t>
            </a:r>
            <a:r>
              <a:rPr lang="en-GB" sz="2400" dirty="0" smtClean="0"/>
              <a:t>cladding</a:t>
            </a:r>
          </a:p>
          <a:p>
            <a:endParaRPr lang="en-GB" sz="24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pPr>
              <a:buNone/>
            </a:pPr>
            <a:endParaRPr lang="en-GB" sz="2400" dirty="0" smtClean="0"/>
          </a:p>
          <a:p>
            <a:r>
              <a:rPr lang="en-GB" sz="2400" dirty="0" smtClean="0"/>
              <a:t>Numerical </a:t>
            </a:r>
            <a:r>
              <a:rPr lang="en-GB" sz="2400" dirty="0" smtClean="0"/>
              <a:t>aperture </a:t>
            </a:r>
            <a:r>
              <a:rPr lang="en-GB" sz="2400" dirty="0" smtClean="0"/>
              <a:t>is very useful measure </a:t>
            </a:r>
            <a:r>
              <a:rPr lang="en-GB" sz="2400" dirty="0" smtClean="0"/>
              <a:t>of the light-collecting ability of a </a:t>
            </a:r>
            <a:r>
              <a:rPr lang="en-GB" sz="2400" dirty="0" err="1" smtClean="0"/>
              <a:t>fiber</a:t>
            </a:r>
            <a:r>
              <a:rPr lang="en-GB" sz="2400" dirty="0" smtClean="0"/>
              <a:t>.</a:t>
            </a:r>
            <a:endParaRPr lang="en-GB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752600"/>
            <a:ext cx="33528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4038600"/>
            <a:ext cx="3048000" cy="1626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0" y="4419600"/>
            <a:ext cx="217932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silica optical </a:t>
            </a:r>
            <a:r>
              <a:rPr lang="en-GB" dirty="0" err="1" smtClean="0"/>
              <a:t>fiber</a:t>
            </a:r>
            <a:r>
              <a:rPr lang="en-GB" dirty="0" smtClean="0"/>
              <a:t> with a core diameter large enough to be considered by ray </a:t>
            </a:r>
            <a:r>
              <a:rPr lang="en-GB" dirty="0" smtClean="0"/>
              <a:t>theory analysis </a:t>
            </a:r>
            <a:r>
              <a:rPr lang="en-GB" dirty="0" smtClean="0"/>
              <a:t>has a core refractive index of 1.50 and a cladding refractive index of </a:t>
            </a:r>
            <a:r>
              <a:rPr lang="en-GB" dirty="0" smtClean="0"/>
              <a:t>1.47. </a:t>
            </a:r>
            <a:r>
              <a:rPr lang="en-GB" i="1" dirty="0" smtClean="0"/>
              <a:t>Determine</a:t>
            </a:r>
            <a:r>
              <a:rPr lang="en-GB" i="1" dirty="0" smtClean="0"/>
              <a:t>: </a:t>
            </a:r>
            <a:endParaRPr lang="en-GB" i="1" dirty="0" smtClean="0"/>
          </a:p>
          <a:p>
            <a:r>
              <a:rPr lang="en-GB" i="1" dirty="0" smtClean="0"/>
              <a:t>(</a:t>
            </a:r>
            <a:r>
              <a:rPr lang="en-GB" i="1" dirty="0" smtClean="0"/>
              <a:t>a) the critical angle at the core–cladding interface; </a:t>
            </a:r>
            <a:endParaRPr lang="en-GB" i="1" dirty="0" smtClean="0"/>
          </a:p>
          <a:p>
            <a:r>
              <a:rPr lang="en-GB" i="1" dirty="0" smtClean="0"/>
              <a:t>(</a:t>
            </a:r>
            <a:r>
              <a:rPr lang="en-GB" i="1" dirty="0" smtClean="0"/>
              <a:t>b) the NA for </a:t>
            </a:r>
            <a:r>
              <a:rPr lang="en-GB" i="1" dirty="0" smtClean="0"/>
              <a:t>the </a:t>
            </a:r>
            <a:r>
              <a:rPr lang="en-GB" dirty="0" err="1" smtClean="0"/>
              <a:t>fiber</a:t>
            </a:r>
            <a:r>
              <a:rPr lang="en-GB" dirty="0" smtClean="0"/>
              <a:t>; </a:t>
            </a:r>
            <a:endParaRPr lang="en-GB" dirty="0" smtClean="0"/>
          </a:p>
          <a:p>
            <a:r>
              <a:rPr lang="en-GB" dirty="0" smtClean="0"/>
              <a:t>(</a:t>
            </a:r>
            <a:r>
              <a:rPr lang="en-GB" dirty="0" smtClean="0"/>
              <a:t>c) the acceptance angle in air for the </a:t>
            </a:r>
            <a:r>
              <a:rPr lang="en-GB" dirty="0" err="1" smtClean="0"/>
              <a:t>fiber</a:t>
            </a:r>
            <a:r>
              <a:rPr lang="en-GB" dirty="0" smtClean="0"/>
              <a:t>.</a:t>
            </a:r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(a)Critical angle</a:t>
            </a:r>
          </a:p>
          <a:p>
            <a:r>
              <a:rPr lang="en-GB" dirty="0" smtClean="0"/>
              <a:t> </a:t>
            </a:r>
          </a:p>
          <a:p>
            <a:r>
              <a:rPr lang="en-GB" dirty="0" smtClean="0"/>
              <a:t>(b) Numerical Aperture</a:t>
            </a:r>
          </a:p>
          <a:p>
            <a:endParaRPr lang="en-GB" dirty="0" smtClean="0"/>
          </a:p>
          <a:p>
            <a:r>
              <a:rPr lang="en-GB" dirty="0" smtClean="0"/>
              <a:t>(c)Acceptance Angle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524000"/>
            <a:ext cx="23336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3124200"/>
            <a:ext cx="31146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5181600"/>
            <a:ext cx="26098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2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Optical Fiber Modes and Configurations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08397" y="1546225"/>
            <a:ext cx="6447234" cy="5099050"/>
          </a:xfrm>
        </p:spPr>
        <p:txBody>
          <a:bodyPr/>
          <a:lstStyle/>
          <a:p>
            <a:pPr eaLnBrk="1" hangingPunct="1"/>
            <a:r>
              <a:rPr lang="en-IN" sz="1800" smtClean="0"/>
              <a:t>Fiber Types</a:t>
            </a:r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  <a:p>
            <a:pPr eaLnBrk="1" hangingPunct="1"/>
            <a:endParaRPr lang="en-IN" sz="1800" smtClean="0"/>
          </a:p>
        </p:txBody>
      </p:sp>
      <p:pic>
        <p:nvPicPr>
          <p:cNvPr id="21508" name="Picture 6" descr="fiber typ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0176" y="2160588"/>
            <a:ext cx="5555456" cy="434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3438" y="466725"/>
            <a:ext cx="7477125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2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Signal Degradation in Optical Fibers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508397" y="1443039"/>
            <a:ext cx="6447234" cy="4598987"/>
          </a:xfrm>
        </p:spPr>
        <p:txBody>
          <a:bodyPr/>
          <a:lstStyle/>
          <a:p>
            <a:pPr eaLnBrk="1" hangingPunct="1"/>
            <a:r>
              <a:rPr lang="en-IN" sz="1800" b="1" smtClean="0"/>
              <a:t>ATTENUATION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25" y="1722439"/>
            <a:ext cx="6426994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GB" dirty="0" smtClean="0"/>
              <a:t>A number of mechanisms are responsible for the signal attenuation within </a:t>
            </a:r>
            <a:r>
              <a:rPr lang="en-GB" dirty="0" smtClean="0"/>
              <a:t>optical </a:t>
            </a:r>
            <a:r>
              <a:rPr lang="en-GB" dirty="0" err="1" smtClean="0"/>
              <a:t>fibers</a:t>
            </a:r>
            <a:r>
              <a:rPr lang="en-GB" dirty="0" smtClean="0"/>
              <a:t>. </a:t>
            </a:r>
            <a:endParaRPr lang="en-GB" dirty="0" smtClean="0"/>
          </a:p>
          <a:p>
            <a:pPr algn="just">
              <a:lnSpc>
                <a:spcPct val="160000"/>
              </a:lnSpc>
            </a:pPr>
            <a:r>
              <a:rPr lang="en-GB" dirty="0" smtClean="0"/>
              <a:t>These </a:t>
            </a:r>
            <a:r>
              <a:rPr lang="en-GB" dirty="0" smtClean="0"/>
              <a:t>mechanisms are influenced by the material composition, the preparation </a:t>
            </a:r>
            <a:r>
              <a:rPr lang="en-GB" dirty="0" smtClean="0"/>
              <a:t>and purification </a:t>
            </a:r>
            <a:r>
              <a:rPr lang="en-GB" dirty="0" smtClean="0"/>
              <a:t>technique, and the waveguide structure. </a:t>
            </a:r>
            <a:endParaRPr lang="en-GB" dirty="0" smtClean="0"/>
          </a:p>
          <a:p>
            <a:pPr algn="just">
              <a:lnSpc>
                <a:spcPct val="160000"/>
              </a:lnSpc>
            </a:pPr>
            <a:r>
              <a:rPr lang="en-GB" dirty="0" smtClean="0"/>
              <a:t>They </a:t>
            </a:r>
            <a:r>
              <a:rPr lang="en-GB" dirty="0" smtClean="0"/>
              <a:t>may be categorized within </a:t>
            </a:r>
            <a:r>
              <a:rPr lang="en-GB" dirty="0" smtClean="0"/>
              <a:t>several major </a:t>
            </a:r>
            <a:r>
              <a:rPr lang="en-GB" dirty="0" smtClean="0"/>
              <a:t>areas which include </a:t>
            </a:r>
            <a:r>
              <a:rPr lang="en-GB" b="1" i="1" dirty="0" smtClean="0"/>
              <a:t>material absorption</a:t>
            </a:r>
            <a:r>
              <a:rPr lang="en-GB" dirty="0" smtClean="0"/>
              <a:t>, </a:t>
            </a:r>
            <a:r>
              <a:rPr lang="en-GB" b="1" i="1" dirty="0" smtClean="0"/>
              <a:t>material scattering (linear and </a:t>
            </a:r>
            <a:r>
              <a:rPr lang="en-GB" b="1" i="1" dirty="0" smtClean="0"/>
              <a:t>nonlinear scattering</a:t>
            </a:r>
            <a:r>
              <a:rPr lang="en-GB" b="1" i="1" dirty="0" smtClean="0"/>
              <a:t>), curve and </a:t>
            </a:r>
            <a:r>
              <a:rPr lang="en-GB" b="1" i="1" dirty="0" err="1" smtClean="0"/>
              <a:t>microbending</a:t>
            </a:r>
            <a:r>
              <a:rPr lang="en-GB" b="1" i="1" dirty="0" smtClean="0"/>
              <a:t> losses</a:t>
            </a:r>
            <a:r>
              <a:rPr lang="en-GB" dirty="0" smtClean="0"/>
              <a:t>, </a:t>
            </a:r>
            <a:r>
              <a:rPr lang="en-GB" b="1" i="1" dirty="0" smtClean="0"/>
              <a:t>mode coupling radiation losses </a:t>
            </a:r>
            <a:r>
              <a:rPr lang="en-GB" dirty="0" smtClean="0"/>
              <a:t>and </a:t>
            </a:r>
            <a:r>
              <a:rPr lang="en-GB" dirty="0" smtClean="0"/>
              <a:t>losses due </a:t>
            </a:r>
            <a:r>
              <a:rPr lang="en-GB" dirty="0" smtClean="0"/>
              <a:t>to leaky modes. </a:t>
            </a:r>
            <a:endParaRPr lang="en-GB" dirty="0" smtClean="0"/>
          </a:p>
          <a:p>
            <a:pPr algn="just">
              <a:lnSpc>
                <a:spcPct val="160000"/>
              </a:lnSpc>
            </a:pPr>
            <a:r>
              <a:rPr lang="en-GB" dirty="0" smtClean="0"/>
              <a:t>There </a:t>
            </a:r>
            <a:r>
              <a:rPr lang="en-GB" dirty="0" smtClean="0"/>
              <a:t>are also losses at </a:t>
            </a:r>
            <a:r>
              <a:rPr lang="en-GB" b="1" i="1" dirty="0" smtClean="0"/>
              <a:t>connectors and </a:t>
            </a:r>
            <a:r>
              <a:rPr lang="en-GB" b="1" i="1" dirty="0" smtClean="0"/>
              <a:t>splices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IN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sz="1800" smtClean="0"/>
              <a:t>Absorption</a:t>
            </a:r>
          </a:p>
          <a:p>
            <a:pPr eaLnBrk="1" hangingPunct="1"/>
            <a:r>
              <a:rPr lang="en-IN" sz="1800" smtClean="0"/>
              <a:t>Scattering</a:t>
            </a:r>
          </a:p>
          <a:p>
            <a:pPr eaLnBrk="1" hangingPunct="1"/>
            <a:r>
              <a:rPr lang="en-IN" sz="1800" smtClean="0"/>
              <a:t>Bending </a:t>
            </a:r>
          </a:p>
        </p:txBody>
      </p:sp>
      <p:pic>
        <p:nvPicPr>
          <p:cNvPr id="27652" name="Picture 4" descr="attenuation in optical fibre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0400" y="1143001"/>
            <a:ext cx="343852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>
                <a:solidFill>
                  <a:schemeClr val="bg1"/>
                </a:solidFill>
                <a:latin typeface="Trebuchet MS" pitchFamily="34" charset="0"/>
              </a:rPr>
              <a:t>Signal Degradation in the Optical Fiber</a:t>
            </a: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2438400" y="914400"/>
            <a:ext cx="3886200" cy="579438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Trebuchet MS" pitchFamily="34" charset="0"/>
              </a:rPr>
              <a:t>Signal Attenuation</a:t>
            </a:r>
          </a:p>
        </p:txBody>
      </p:sp>
      <p:sp>
        <p:nvSpPr>
          <p:cNvPr id="28676" name="Text Box 7"/>
          <p:cNvSpPr txBox="1">
            <a:spLocks noChangeArrowheads="1"/>
          </p:cNvSpPr>
          <p:nvPr/>
        </p:nvSpPr>
        <p:spPr bwMode="auto">
          <a:xfrm>
            <a:off x="2438400" y="3429000"/>
            <a:ext cx="3886200" cy="579438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Trebuchet MS" pitchFamily="34" charset="0"/>
              </a:rPr>
              <a:t>Signal Distortion</a:t>
            </a:r>
          </a:p>
        </p:txBody>
      </p:sp>
      <p:sp>
        <p:nvSpPr>
          <p:cNvPr id="28677" name="Text Box 14"/>
          <p:cNvSpPr txBox="1">
            <a:spLocks noChangeArrowheads="1"/>
          </p:cNvSpPr>
          <p:nvPr/>
        </p:nvSpPr>
        <p:spPr bwMode="auto">
          <a:xfrm>
            <a:off x="457200" y="1676400"/>
            <a:ext cx="8153400" cy="1754326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latin typeface="Trebuchet MS" pitchFamily="34" charset="0"/>
              </a:rPr>
              <a:t>It </a:t>
            </a:r>
            <a:r>
              <a:rPr lang="en-US" sz="2400" b="1" u="sng">
                <a:latin typeface="Trebuchet MS" pitchFamily="34" charset="0"/>
              </a:rPr>
              <a:t>determines</a:t>
            </a:r>
            <a:r>
              <a:rPr lang="en-US" sz="2400" b="1">
                <a:latin typeface="Trebuchet MS" pitchFamily="34" charset="0"/>
              </a:rPr>
              <a:t> the maximum unamplified  or repeaterless </a:t>
            </a:r>
            <a:r>
              <a:rPr lang="en-US" sz="2400" b="1" u="sng">
                <a:latin typeface="Trebuchet MS" pitchFamily="34" charset="0"/>
              </a:rPr>
              <a:t>distance between transmitter and receiver.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b="1" u="sng">
                <a:latin typeface="Trebuchet MS" pitchFamily="34" charset="0"/>
              </a:rPr>
              <a:t>Has large influence on system cost.</a:t>
            </a:r>
          </a:p>
        </p:txBody>
      </p:sp>
      <p:sp>
        <p:nvSpPr>
          <p:cNvPr id="28678" name="Text Box 15"/>
          <p:cNvSpPr txBox="1">
            <a:spLocks noChangeArrowheads="1"/>
          </p:cNvSpPr>
          <p:nvPr/>
        </p:nvSpPr>
        <p:spPr bwMode="auto">
          <a:xfrm>
            <a:off x="457200" y="4191000"/>
            <a:ext cx="8153400" cy="19939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400" b="1">
                <a:latin typeface="Trebuchet MS" pitchFamily="34" charset="0"/>
              </a:rPr>
              <a:t>Causes optical pulses broaden.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400" b="1">
                <a:latin typeface="Trebuchet MS" pitchFamily="34" charset="0"/>
              </a:rPr>
              <a:t>Overlapping with neighboring pulses, creating errors in the receiver output.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400" b="1" u="sng">
                <a:latin typeface="Trebuchet MS" pitchFamily="34" charset="0"/>
              </a:rPr>
              <a:t>It limits the information carrying capacity of a fiber.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4400" b="1">
                <a:solidFill>
                  <a:schemeClr val="bg1"/>
                </a:solidFill>
                <a:latin typeface="Trebuchet MS" pitchFamily="34" charset="0"/>
              </a:rPr>
              <a:t>Attenuation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304800" y="1143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 dirty="0">
                <a:latin typeface="Trebuchet MS" pitchFamily="34" charset="0"/>
              </a:rPr>
              <a:t>The Basic attenuation mechanisms in a fiber:</a:t>
            </a:r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457200" y="1752600"/>
            <a:ext cx="807720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Tx/>
              <a:buAutoNum type="arabicPeriod"/>
            </a:pPr>
            <a:r>
              <a:rPr lang="en-US" sz="2400" b="1" dirty="0">
                <a:latin typeface="Trebuchet MS" pitchFamily="34" charset="0"/>
              </a:rPr>
              <a:t>Absorption:</a:t>
            </a:r>
          </a:p>
          <a:p>
            <a:pPr marL="342900" indent="-342900" eaLnBrk="1" hangingPunct="1">
              <a:spcBef>
                <a:spcPct val="50000"/>
              </a:spcBef>
            </a:pPr>
            <a:r>
              <a:rPr lang="en-US" sz="2400" dirty="0">
                <a:latin typeface="Trebuchet MS" pitchFamily="34" charset="0"/>
              </a:rPr>
              <a:t>			</a:t>
            </a:r>
            <a:r>
              <a:rPr lang="en-US" sz="2000" dirty="0">
                <a:latin typeface="Trebuchet MS" pitchFamily="34" charset="0"/>
              </a:rPr>
              <a:t>It is related to the fiber material(atomic defects, extrinsic absorption by impurity atoms in glass or intrinsic absorption by basic constituents atoms of fiber material).</a:t>
            </a:r>
          </a:p>
          <a:p>
            <a:pPr marL="342900" indent="-342900" eaLnBrk="1" hangingPunct="1">
              <a:spcBef>
                <a:spcPct val="50000"/>
              </a:spcBef>
            </a:pPr>
            <a:endParaRPr lang="en-US" sz="2000" dirty="0">
              <a:latin typeface="Trebuchet MS" pitchFamily="34" charset="0"/>
            </a:endParaRPr>
          </a:p>
        </p:txBody>
      </p:sp>
      <p:sp>
        <p:nvSpPr>
          <p:cNvPr id="29701" name="Text Box 7"/>
          <p:cNvSpPr txBox="1">
            <a:spLocks noChangeArrowheads="1"/>
          </p:cNvSpPr>
          <p:nvPr/>
        </p:nvSpPr>
        <p:spPr bwMode="auto">
          <a:xfrm>
            <a:off x="533400" y="2971800"/>
            <a:ext cx="7848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2400" b="1">
              <a:latin typeface="Trebuchet MS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sz="2400" b="1">
                <a:latin typeface="Trebuchet MS" pitchFamily="34" charset="0"/>
              </a:rPr>
              <a:t>2. Scattering: </a:t>
            </a:r>
            <a:r>
              <a:rPr lang="en-US" sz="2400">
                <a:latin typeface="Trebuchet MS" pitchFamily="34" charset="0"/>
              </a:rPr>
              <a:t>It is associated both with the fiber material                                              	and with the structural imperfections in the optical waveguide.</a:t>
            </a:r>
          </a:p>
        </p:txBody>
      </p:sp>
      <p:sp>
        <p:nvSpPr>
          <p:cNvPr id="29702" name="Text Box 8"/>
          <p:cNvSpPr txBox="1">
            <a:spLocks noChangeArrowheads="1"/>
          </p:cNvSpPr>
          <p:nvPr/>
        </p:nvSpPr>
        <p:spPr bwMode="auto">
          <a:xfrm>
            <a:off x="609600" y="5029200"/>
            <a:ext cx="8077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latin typeface="Trebuchet MS" pitchFamily="34" charset="0"/>
              </a:rPr>
              <a:t>3. Radiative losses/ Bending losses: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latin typeface="Trebuchet MS" pitchFamily="34" charset="0"/>
              </a:rPr>
              <a:t>		It originates from perturbation (both microscopic and macroscopic) of the fiber geometry.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Material absorption losses in silica glass </a:t>
            </a:r>
            <a:r>
              <a:rPr lang="en-GB" b="1" dirty="0" err="1" smtClean="0"/>
              <a:t>fibers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b="1" i="1" dirty="0" smtClean="0"/>
              <a:t>Material absorption </a:t>
            </a:r>
            <a:r>
              <a:rPr lang="en-GB" dirty="0" smtClean="0"/>
              <a:t>is a loss mechanism related to the material composition and the </a:t>
            </a:r>
            <a:r>
              <a:rPr lang="en-GB" dirty="0" smtClean="0"/>
              <a:t>fabrication process </a:t>
            </a:r>
            <a:r>
              <a:rPr lang="en-GB" dirty="0" smtClean="0"/>
              <a:t>for the </a:t>
            </a:r>
            <a:r>
              <a:rPr lang="en-GB" dirty="0" err="1" smtClean="0"/>
              <a:t>fiber</a:t>
            </a:r>
            <a:r>
              <a:rPr lang="en-GB" dirty="0" smtClean="0"/>
              <a:t>, which results in the dissipation of some of the </a:t>
            </a:r>
            <a:r>
              <a:rPr lang="en-GB" dirty="0" smtClean="0"/>
              <a:t>transmitted optical </a:t>
            </a:r>
            <a:r>
              <a:rPr lang="en-GB" dirty="0" smtClean="0"/>
              <a:t>power as heat in the waveguide. </a:t>
            </a:r>
            <a:endParaRPr lang="en-GB" dirty="0" smtClean="0"/>
          </a:p>
          <a:p>
            <a:pPr algn="just">
              <a:lnSpc>
                <a:spcPct val="150000"/>
              </a:lnSpc>
            </a:pPr>
            <a:r>
              <a:rPr lang="en-GB" dirty="0" smtClean="0"/>
              <a:t>The </a:t>
            </a:r>
            <a:r>
              <a:rPr lang="en-GB" dirty="0" smtClean="0"/>
              <a:t>absorption of the light may be </a:t>
            </a:r>
            <a:r>
              <a:rPr lang="en-GB" b="1" i="1" dirty="0" smtClean="0"/>
              <a:t>intrinsic </a:t>
            </a:r>
            <a:r>
              <a:rPr lang="en-GB" dirty="0" smtClean="0"/>
              <a:t>(caused </a:t>
            </a:r>
            <a:r>
              <a:rPr lang="en-GB" dirty="0" smtClean="0"/>
              <a:t>by the interaction with one or more of the major components of the glass) </a:t>
            </a:r>
            <a:r>
              <a:rPr lang="en-GB" dirty="0" smtClean="0"/>
              <a:t>or </a:t>
            </a:r>
            <a:r>
              <a:rPr lang="en-GB" b="1" i="1" dirty="0" smtClean="0"/>
              <a:t>extrinsic</a:t>
            </a:r>
            <a:r>
              <a:rPr lang="en-GB" dirty="0" smtClean="0"/>
              <a:t> </a:t>
            </a:r>
            <a:r>
              <a:rPr lang="en-GB" dirty="0" smtClean="0"/>
              <a:t>(caused by impurities within the glass).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Linear scattering losses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GB" dirty="0" smtClean="0"/>
              <a:t>Linear scattering mechanisms cause the transfer of some or all of the optical power </a:t>
            </a:r>
            <a:r>
              <a:rPr lang="en-GB" dirty="0" smtClean="0"/>
              <a:t>contained within </a:t>
            </a:r>
            <a:r>
              <a:rPr lang="en-GB" dirty="0" smtClean="0"/>
              <a:t>one propagating mode to be transferred linearly (proportionally to the </a:t>
            </a:r>
            <a:r>
              <a:rPr lang="en-GB" dirty="0" smtClean="0"/>
              <a:t>mode power</a:t>
            </a:r>
            <a:r>
              <a:rPr lang="en-GB" dirty="0" smtClean="0"/>
              <a:t>) into a different mode. </a:t>
            </a:r>
            <a:endParaRPr lang="en-GB" dirty="0" smtClean="0"/>
          </a:p>
          <a:p>
            <a:pPr algn="just"/>
            <a:r>
              <a:rPr lang="en-GB" dirty="0" smtClean="0"/>
              <a:t>This </a:t>
            </a:r>
            <a:r>
              <a:rPr lang="en-GB" dirty="0" smtClean="0"/>
              <a:t>process tends to result in attenuation of the </a:t>
            </a:r>
            <a:r>
              <a:rPr lang="en-GB" dirty="0" smtClean="0"/>
              <a:t>transmitted light </a:t>
            </a:r>
            <a:r>
              <a:rPr lang="en-GB" dirty="0" smtClean="0"/>
              <a:t>as the transfer may be to a leaky or radiation mode which does not continue to </a:t>
            </a:r>
            <a:r>
              <a:rPr lang="en-GB" dirty="0" smtClean="0"/>
              <a:t>propagate within </a:t>
            </a:r>
            <a:r>
              <a:rPr lang="en-GB" dirty="0" smtClean="0"/>
              <a:t>the </a:t>
            </a:r>
            <a:r>
              <a:rPr lang="en-GB" dirty="0" err="1" smtClean="0"/>
              <a:t>fiber</a:t>
            </a:r>
            <a:r>
              <a:rPr lang="en-GB" dirty="0" smtClean="0"/>
              <a:t> core, but is radiated from the </a:t>
            </a:r>
            <a:r>
              <a:rPr lang="en-GB" dirty="0" err="1" smtClean="0"/>
              <a:t>fiber</a:t>
            </a:r>
            <a:r>
              <a:rPr lang="en-GB" dirty="0" smtClean="0"/>
              <a:t>.</a:t>
            </a:r>
          </a:p>
          <a:p>
            <a:pPr algn="just"/>
            <a:r>
              <a:rPr lang="en-GB" dirty="0" smtClean="0"/>
              <a:t>Linear scattering may be categorized into two major types: </a:t>
            </a:r>
            <a:r>
              <a:rPr lang="en-GB" b="1" i="1" dirty="0" smtClean="0"/>
              <a:t>Rayleigh and Mie scattering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Rayleigh scattering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2666999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Rayleigh scattering is the dominant intrinsic loss mechanism in the low-absorption </a:t>
            </a:r>
            <a:r>
              <a:rPr lang="en-GB" dirty="0" smtClean="0"/>
              <a:t>window between </a:t>
            </a:r>
            <a:r>
              <a:rPr lang="en-GB" dirty="0" smtClean="0"/>
              <a:t>the ultraviolet and infrared absorption tails.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 smtClean="0"/>
              <a:t>results </a:t>
            </a:r>
            <a:r>
              <a:rPr lang="en-GB" dirty="0" smtClean="0"/>
              <a:t>from </a:t>
            </a:r>
            <a:r>
              <a:rPr lang="en-GB" dirty="0" err="1" smtClean="0"/>
              <a:t>inhomogeneities</a:t>
            </a:r>
            <a:r>
              <a:rPr lang="en-GB" dirty="0" smtClean="0"/>
              <a:t> of </a:t>
            </a:r>
            <a:r>
              <a:rPr lang="en-GB" dirty="0" smtClean="0"/>
              <a:t>a random nature occurring on a small scale compared with the wavelength of the light</a:t>
            </a:r>
            <a:r>
              <a:rPr lang="en-GB" dirty="0" smtClean="0"/>
              <a:t>.</a:t>
            </a:r>
          </a:p>
          <a:p>
            <a:r>
              <a:rPr lang="en-GB" dirty="0" smtClean="0"/>
              <a:t>For a single-component glass this is given by</a:t>
            </a:r>
            <a:endParaRPr lang="en-GB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3657600"/>
            <a:ext cx="3048000" cy="115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7200" y="4953000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where </a:t>
            </a:r>
            <a:r>
              <a:rPr lang="en-GB" dirty="0" err="1" smtClean="0"/>
              <a:t>γR</a:t>
            </a:r>
            <a:r>
              <a:rPr lang="en-GB" dirty="0" smtClean="0"/>
              <a:t> is the Rayleigh scattering coefficient, λ is the optical wavelength, </a:t>
            </a:r>
            <a:r>
              <a:rPr lang="en-GB" i="1" dirty="0" smtClean="0"/>
              <a:t>n is the </a:t>
            </a:r>
            <a:r>
              <a:rPr lang="en-GB" i="1" dirty="0" smtClean="0"/>
              <a:t>refractive </a:t>
            </a:r>
            <a:r>
              <a:rPr lang="en-GB" dirty="0" smtClean="0"/>
              <a:t>index </a:t>
            </a:r>
            <a:r>
              <a:rPr lang="en-GB" dirty="0" smtClean="0"/>
              <a:t>of the medium, </a:t>
            </a:r>
            <a:r>
              <a:rPr lang="en-GB" i="1" dirty="0" smtClean="0"/>
              <a:t>p is the average </a:t>
            </a:r>
            <a:r>
              <a:rPr lang="en-GB" i="1" dirty="0" err="1" smtClean="0"/>
              <a:t>photoelastic</a:t>
            </a:r>
            <a:r>
              <a:rPr lang="en-GB" i="1" dirty="0" smtClean="0"/>
              <a:t> coefficient, </a:t>
            </a:r>
            <a:r>
              <a:rPr lang="en-GB" i="1" dirty="0" err="1" smtClean="0"/>
              <a:t>βc</a:t>
            </a:r>
            <a:r>
              <a:rPr lang="en-GB" i="1" dirty="0" smtClean="0"/>
              <a:t> is the </a:t>
            </a:r>
            <a:r>
              <a:rPr lang="en-GB" i="1" dirty="0" smtClean="0"/>
              <a:t>isothermal </a:t>
            </a:r>
            <a:r>
              <a:rPr lang="en-GB" dirty="0" smtClean="0"/>
              <a:t>compressibility </a:t>
            </a:r>
            <a:r>
              <a:rPr lang="en-GB" dirty="0" smtClean="0"/>
              <a:t>at a fictive temperature </a:t>
            </a:r>
            <a:r>
              <a:rPr lang="en-GB" i="1" dirty="0" err="1" smtClean="0"/>
              <a:t>TF</a:t>
            </a:r>
            <a:r>
              <a:rPr lang="en-GB" i="1" dirty="0" smtClean="0"/>
              <a:t>, and K is Boltzmann’s constant. </a:t>
            </a:r>
            <a:endParaRPr lang="en-GB" i="1" dirty="0" smtClean="0"/>
          </a:p>
          <a:p>
            <a:pPr>
              <a:buFont typeface="Arial" pitchFamily="34" charset="0"/>
              <a:buChar char="•"/>
            </a:pPr>
            <a:r>
              <a:rPr lang="en-GB" i="1" dirty="0" smtClean="0"/>
              <a:t>The fictive </a:t>
            </a:r>
            <a:r>
              <a:rPr lang="en-GB" dirty="0" smtClean="0"/>
              <a:t>temperature </a:t>
            </a:r>
            <a:r>
              <a:rPr lang="en-GB" dirty="0" smtClean="0"/>
              <a:t>is defined as the temperature at which the glass can reach a state of </a:t>
            </a:r>
            <a:r>
              <a:rPr lang="en-GB" dirty="0" smtClean="0"/>
              <a:t>thermal equilibrium </a:t>
            </a:r>
            <a:r>
              <a:rPr lang="en-GB" dirty="0" smtClean="0"/>
              <a:t>and is closely related to the anneal temperature.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Mie scattering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 smtClean="0"/>
              <a:t>This is the </a:t>
            </a:r>
            <a:r>
              <a:rPr lang="en-GB" dirty="0" smtClean="0"/>
              <a:t>scattering </a:t>
            </a:r>
            <a:r>
              <a:rPr lang="en-GB" dirty="0" smtClean="0"/>
              <a:t>created by </a:t>
            </a:r>
            <a:r>
              <a:rPr lang="en-GB" dirty="0" err="1" smtClean="0"/>
              <a:t>inhomogeneities</a:t>
            </a:r>
            <a:r>
              <a:rPr lang="en-GB" dirty="0" smtClean="0"/>
              <a:t> which are comparable in size with </a:t>
            </a:r>
            <a:r>
              <a:rPr lang="en-GB" dirty="0" smtClean="0"/>
              <a:t>the guided wavelength</a:t>
            </a:r>
            <a:r>
              <a:rPr lang="en-GB" dirty="0" smtClean="0"/>
              <a:t> </a:t>
            </a:r>
            <a:r>
              <a:rPr lang="en-GB" dirty="0" smtClean="0"/>
              <a:t>due to </a:t>
            </a:r>
            <a:r>
              <a:rPr lang="en-GB" dirty="0" err="1" smtClean="0"/>
              <a:t>nonperfect</a:t>
            </a:r>
            <a:r>
              <a:rPr lang="en-GB" dirty="0" smtClean="0"/>
              <a:t> </a:t>
            </a:r>
            <a:r>
              <a:rPr lang="en-GB" dirty="0" smtClean="0"/>
              <a:t>cylindrical structure of the </a:t>
            </a:r>
            <a:r>
              <a:rPr lang="en-GB" dirty="0" smtClean="0"/>
              <a:t>waveguide.</a:t>
            </a:r>
          </a:p>
          <a:p>
            <a:pPr algn="just"/>
            <a:r>
              <a:rPr lang="en-GB" dirty="0" smtClean="0"/>
              <a:t>The </a:t>
            </a:r>
            <a:r>
              <a:rPr lang="en-GB" dirty="0" err="1" smtClean="0"/>
              <a:t>inhomogeneities</a:t>
            </a:r>
            <a:r>
              <a:rPr lang="en-GB" dirty="0" smtClean="0"/>
              <a:t> may be reduced by:</a:t>
            </a:r>
          </a:p>
          <a:p>
            <a:pPr algn="just"/>
            <a:r>
              <a:rPr lang="en-GB" dirty="0" smtClean="0"/>
              <a:t>(a) removing imperfections due to the glass manufacturing process;</a:t>
            </a:r>
          </a:p>
          <a:p>
            <a:pPr algn="just"/>
            <a:r>
              <a:rPr lang="en-GB" dirty="0" smtClean="0"/>
              <a:t>(b) carefully controlled extrusion and coating of the </a:t>
            </a:r>
            <a:r>
              <a:rPr lang="en-GB" dirty="0" err="1" smtClean="0"/>
              <a:t>fiber</a:t>
            </a:r>
            <a:r>
              <a:rPr lang="en-GB" dirty="0" smtClean="0"/>
              <a:t>;</a:t>
            </a:r>
          </a:p>
          <a:p>
            <a:pPr algn="just"/>
            <a:r>
              <a:rPr lang="en-GB" dirty="0" smtClean="0"/>
              <a:t>(c) increasing the </a:t>
            </a:r>
            <a:r>
              <a:rPr lang="en-GB" dirty="0" err="1" smtClean="0"/>
              <a:t>fiber</a:t>
            </a:r>
            <a:r>
              <a:rPr lang="en-GB" dirty="0" smtClean="0"/>
              <a:t> guidance by increasing the relative refractive index difference.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Nonlinear scattering losses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 smtClean="0"/>
              <a:t>Optical waveguides do not always behave as completely linear channels whose increase </a:t>
            </a:r>
            <a:r>
              <a:rPr lang="en-GB" dirty="0" smtClean="0"/>
              <a:t>in output </a:t>
            </a:r>
            <a:r>
              <a:rPr lang="en-GB" dirty="0" smtClean="0"/>
              <a:t>optical power is directly proportional to the input optical power. </a:t>
            </a:r>
            <a:endParaRPr lang="en-GB" dirty="0" smtClean="0"/>
          </a:p>
          <a:p>
            <a:pPr algn="just"/>
            <a:r>
              <a:rPr lang="en-GB" dirty="0" smtClean="0"/>
              <a:t>Several nonlinear effects </a:t>
            </a:r>
            <a:r>
              <a:rPr lang="en-GB" dirty="0" smtClean="0"/>
              <a:t>occur, which in the case of scattering cause disproportionate attenuation, usually </a:t>
            </a:r>
            <a:r>
              <a:rPr lang="en-GB" dirty="0" smtClean="0"/>
              <a:t>at high </a:t>
            </a:r>
            <a:r>
              <a:rPr lang="en-GB" dirty="0" smtClean="0"/>
              <a:t>optical power </a:t>
            </a:r>
            <a:r>
              <a:rPr lang="en-GB" dirty="0" smtClean="0"/>
              <a:t>levels</a:t>
            </a:r>
          </a:p>
          <a:p>
            <a:pPr algn="just"/>
            <a:r>
              <a:rPr lang="en-GB" dirty="0" smtClean="0"/>
              <a:t>The most important types of nonlinear scattering within optical </a:t>
            </a:r>
            <a:r>
              <a:rPr lang="en-GB" dirty="0" err="1" smtClean="0"/>
              <a:t>fibers</a:t>
            </a:r>
            <a:r>
              <a:rPr lang="en-GB" dirty="0" smtClean="0"/>
              <a:t> are </a:t>
            </a:r>
            <a:r>
              <a:rPr lang="en-GB" b="1" i="1" dirty="0" smtClean="0"/>
              <a:t>stimulated </a:t>
            </a:r>
            <a:r>
              <a:rPr lang="en-GB" b="1" i="1" dirty="0" err="1" smtClean="0"/>
              <a:t>Brillouin</a:t>
            </a:r>
            <a:r>
              <a:rPr lang="en-GB" b="1" i="1" dirty="0" smtClean="0"/>
              <a:t> </a:t>
            </a:r>
            <a:r>
              <a:rPr lang="en-GB" dirty="0" smtClean="0"/>
              <a:t>and </a:t>
            </a:r>
            <a:r>
              <a:rPr lang="en-GB" b="1" i="1" dirty="0" smtClean="0"/>
              <a:t>Raman scattering</a:t>
            </a:r>
            <a:endParaRPr lang="en-GB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Stimulated </a:t>
            </a:r>
            <a:r>
              <a:rPr lang="en-GB" dirty="0" err="1" smtClean="0"/>
              <a:t>Brillouin</a:t>
            </a:r>
            <a:r>
              <a:rPr lang="en-GB" dirty="0" smtClean="0"/>
              <a:t> scattering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 smtClean="0"/>
              <a:t>Stimulated </a:t>
            </a:r>
            <a:r>
              <a:rPr lang="en-GB" dirty="0" err="1" smtClean="0"/>
              <a:t>Brillouin</a:t>
            </a:r>
            <a:r>
              <a:rPr lang="en-GB" dirty="0" smtClean="0"/>
              <a:t> scattering (</a:t>
            </a:r>
            <a:r>
              <a:rPr lang="en-GB" dirty="0" err="1" smtClean="0"/>
              <a:t>SBS</a:t>
            </a:r>
            <a:r>
              <a:rPr lang="en-GB" dirty="0" smtClean="0"/>
              <a:t>) may be regarded as the modulation of light </a:t>
            </a:r>
            <a:r>
              <a:rPr lang="en-GB" dirty="0" smtClean="0"/>
              <a:t>through thermal </a:t>
            </a:r>
            <a:r>
              <a:rPr lang="en-GB" dirty="0" smtClean="0"/>
              <a:t>molecular vibrations within the </a:t>
            </a:r>
            <a:r>
              <a:rPr lang="en-GB" dirty="0" err="1" smtClean="0"/>
              <a:t>fiber</a:t>
            </a:r>
            <a:r>
              <a:rPr lang="en-GB" dirty="0" smtClean="0"/>
              <a:t>. </a:t>
            </a:r>
            <a:endParaRPr lang="en-GB" dirty="0" smtClean="0"/>
          </a:p>
          <a:p>
            <a:pPr algn="just"/>
            <a:r>
              <a:rPr lang="en-GB" dirty="0" smtClean="0"/>
              <a:t>The </a:t>
            </a:r>
            <a:r>
              <a:rPr lang="en-GB" dirty="0" smtClean="0"/>
              <a:t>scattered light appears as upper </a:t>
            </a:r>
            <a:r>
              <a:rPr lang="en-GB" dirty="0" smtClean="0"/>
              <a:t>and lower </a:t>
            </a:r>
            <a:r>
              <a:rPr lang="en-GB" dirty="0" smtClean="0"/>
              <a:t>sidebands which are separated from the incident light by the modulation frequency</a:t>
            </a:r>
            <a:r>
              <a:rPr lang="en-GB" dirty="0" smtClean="0"/>
              <a:t>.</a:t>
            </a:r>
          </a:p>
          <a:p>
            <a:pPr algn="just"/>
            <a:r>
              <a:rPr lang="en-GB" dirty="0" err="1" smtClean="0"/>
              <a:t>Brillouin</a:t>
            </a:r>
            <a:r>
              <a:rPr lang="en-GB" dirty="0" smtClean="0"/>
              <a:t> scattering is only significant above a threshold </a:t>
            </a:r>
            <a:r>
              <a:rPr lang="en-GB" dirty="0" smtClean="0"/>
              <a:t>power density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fontScale="92500"/>
          </a:bodyPr>
          <a:lstStyle/>
          <a:p>
            <a:pPr algn="just"/>
            <a:r>
              <a:rPr lang="en-GB" dirty="0" smtClean="0"/>
              <a:t>It is important to determine the threshold power to be launched in </a:t>
            </a:r>
            <a:r>
              <a:rPr lang="en-GB" dirty="0" err="1" smtClean="0"/>
              <a:t>fiber</a:t>
            </a:r>
            <a:r>
              <a:rPr lang="en-GB" dirty="0" smtClean="0"/>
              <a:t> before </a:t>
            </a:r>
            <a:r>
              <a:rPr lang="en-GB" dirty="0" err="1" smtClean="0"/>
              <a:t>SBS</a:t>
            </a:r>
            <a:r>
              <a:rPr lang="en-GB" dirty="0" smtClean="0"/>
              <a:t> occur.</a:t>
            </a:r>
          </a:p>
          <a:p>
            <a:pPr algn="just"/>
            <a:endParaRPr lang="en-GB" dirty="0" smtClean="0"/>
          </a:p>
          <a:p>
            <a:pPr algn="just"/>
            <a:endParaRPr lang="en-GB" dirty="0" smtClean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where </a:t>
            </a:r>
            <a:r>
              <a:rPr lang="en-GB" i="1" dirty="0" smtClean="0"/>
              <a:t>d and λ are the </a:t>
            </a:r>
            <a:r>
              <a:rPr lang="en-GB" i="1" dirty="0" err="1" smtClean="0"/>
              <a:t>fiber</a:t>
            </a:r>
            <a:r>
              <a:rPr lang="en-GB" i="1" dirty="0" smtClean="0"/>
              <a:t> core diameter and the operating wavelength, respectively, </a:t>
            </a:r>
            <a:r>
              <a:rPr lang="en-GB" i="1" dirty="0" smtClean="0"/>
              <a:t>both </a:t>
            </a:r>
            <a:r>
              <a:rPr lang="en-GB" dirty="0" smtClean="0"/>
              <a:t>measured </a:t>
            </a:r>
            <a:r>
              <a:rPr lang="en-GB" dirty="0" smtClean="0"/>
              <a:t>in micrometers, </a:t>
            </a:r>
            <a:r>
              <a:rPr lang="en-GB" dirty="0" err="1" smtClean="0"/>
              <a:t>αdB</a:t>
            </a:r>
            <a:r>
              <a:rPr lang="en-GB" dirty="0" smtClean="0"/>
              <a:t> is the </a:t>
            </a:r>
            <a:r>
              <a:rPr lang="en-GB" dirty="0" err="1" smtClean="0"/>
              <a:t>fiber</a:t>
            </a:r>
            <a:r>
              <a:rPr lang="en-GB" dirty="0" smtClean="0"/>
              <a:t> attenuation in decibels per </a:t>
            </a:r>
            <a:r>
              <a:rPr lang="en-GB" dirty="0" err="1" smtClean="0"/>
              <a:t>kilometer</a:t>
            </a:r>
            <a:r>
              <a:rPr lang="en-GB" dirty="0" smtClean="0"/>
              <a:t> and ν is </a:t>
            </a:r>
            <a:r>
              <a:rPr lang="en-GB" dirty="0" smtClean="0"/>
              <a:t>the source </a:t>
            </a:r>
            <a:r>
              <a:rPr lang="en-GB" dirty="0" smtClean="0"/>
              <a:t>bandwidth (i.e. injection laser) in gigahertz</a:t>
            </a: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209800"/>
            <a:ext cx="4392083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Stimulated Raman scattering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dirty="0" smtClean="0"/>
              <a:t>Stimulated Raman scattering (SRS) is </a:t>
            </a:r>
            <a:r>
              <a:rPr lang="en-GB" dirty="0" smtClean="0"/>
              <a:t>a scattering where </a:t>
            </a:r>
            <a:r>
              <a:rPr lang="en-GB" dirty="0" smtClean="0"/>
              <a:t>high-frequency </a:t>
            </a:r>
            <a:r>
              <a:rPr lang="en-GB" dirty="0" smtClean="0"/>
              <a:t>optical phonon generated </a:t>
            </a:r>
            <a:r>
              <a:rPr lang="en-GB" dirty="0" smtClean="0"/>
              <a:t>in the scattering process. </a:t>
            </a:r>
            <a:endParaRPr lang="en-GB" dirty="0" smtClean="0"/>
          </a:p>
          <a:p>
            <a:pPr algn="just">
              <a:lnSpc>
                <a:spcPct val="150000"/>
              </a:lnSpc>
            </a:pPr>
            <a:r>
              <a:rPr lang="en-GB" dirty="0" smtClean="0"/>
              <a:t>SRS can </a:t>
            </a:r>
            <a:r>
              <a:rPr lang="en-GB" dirty="0" smtClean="0"/>
              <a:t>occur in both the forward and backward directions in an optical </a:t>
            </a:r>
            <a:r>
              <a:rPr lang="en-GB" dirty="0" err="1" smtClean="0"/>
              <a:t>fiber</a:t>
            </a:r>
            <a:r>
              <a:rPr lang="en-GB" dirty="0" smtClean="0"/>
              <a:t>, and may have </a:t>
            </a:r>
            <a:r>
              <a:rPr lang="en-GB" dirty="0" smtClean="0"/>
              <a:t>an optical </a:t>
            </a:r>
            <a:r>
              <a:rPr lang="en-GB" dirty="0" smtClean="0"/>
              <a:t>power threshold of up to three orders of magnitude higher than the </a:t>
            </a:r>
            <a:r>
              <a:rPr lang="en-GB" dirty="0" err="1" smtClean="0"/>
              <a:t>Brillouin</a:t>
            </a:r>
            <a:r>
              <a:rPr lang="en-GB" dirty="0" smtClean="0"/>
              <a:t> threshold </a:t>
            </a:r>
            <a:r>
              <a:rPr lang="en-GB" dirty="0" smtClean="0"/>
              <a:t>in a particular </a:t>
            </a:r>
            <a:r>
              <a:rPr lang="en-GB" dirty="0" err="1" smtClean="0"/>
              <a:t>fiber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Threshold </a:t>
            </a:r>
            <a:r>
              <a:rPr lang="en-GB" dirty="0" smtClean="0"/>
              <a:t>optical power for SRS </a:t>
            </a:r>
            <a:r>
              <a:rPr lang="en-GB" i="1" dirty="0" smtClean="0"/>
              <a:t>P</a:t>
            </a:r>
            <a:r>
              <a:rPr lang="en-GB" sz="1600" i="1" dirty="0" smtClean="0"/>
              <a:t>R</a:t>
            </a:r>
            <a:r>
              <a:rPr lang="en-GB" i="1" dirty="0" smtClean="0"/>
              <a:t> in a </a:t>
            </a:r>
            <a:r>
              <a:rPr lang="en-GB" i="1" dirty="0" smtClean="0"/>
              <a:t>long </a:t>
            </a:r>
            <a:r>
              <a:rPr lang="en-GB" dirty="0" smtClean="0"/>
              <a:t>single-mode </a:t>
            </a:r>
            <a:r>
              <a:rPr lang="en-GB" dirty="0" err="1" smtClean="0"/>
              <a:t>fiber</a:t>
            </a:r>
            <a:r>
              <a:rPr lang="en-GB" dirty="0" smtClean="0"/>
              <a:t> is given by: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3962400"/>
            <a:ext cx="471692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Dispersion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 smtClean="0"/>
              <a:t>This is the optical pulse broadening as it travel through the optical </a:t>
            </a:r>
            <a:r>
              <a:rPr lang="en-GB" sz="2400" dirty="0" err="1" smtClean="0"/>
              <a:t>fiber</a:t>
            </a:r>
            <a:endParaRPr lang="en-GB" sz="2400" dirty="0" smtClean="0"/>
          </a:p>
          <a:p>
            <a:pPr algn="just">
              <a:lnSpc>
                <a:spcPct val="150000"/>
              </a:lnSpc>
            </a:pPr>
            <a:r>
              <a:rPr lang="en-GB" sz="2400" dirty="0" smtClean="0"/>
              <a:t>For no overlapping of light pulses down on an optical </a:t>
            </a:r>
            <a:r>
              <a:rPr lang="en-GB" sz="2400" dirty="0" err="1" smtClean="0"/>
              <a:t>fiber</a:t>
            </a:r>
            <a:r>
              <a:rPr lang="en-GB" sz="2400" dirty="0" smtClean="0"/>
              <a:t> link the digital bit rate </a:t>
            </a:r>
            <a:r>
              <a:rPr lang="en-GB" sz="2400" i="1" dirty="0" smtClean="0"/>
              <a:t>BT </a:t>
            </a:r>
            <a:r>
              <a:rPr lang="en-GB" sz="2400" dirty="0" smtClean="0"/>
              <a:t>must </a:t>
            </a:r>
            <a:r>
              <a:rPr lang="en-GB" sz="2400" dirty="0" smtClean="0"/>
              <a:t>be less than the reciprocal of the broadened (through dispersion) pulse duration (2τ).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4876800"/>
            <a:ext cx="23622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09599"/>
            <a:ext cx="8153400" cy="580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Trebuchet MS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Trebuchet MS" pitchFamily="34" charset="0"/>
            </a:endParaRP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508397" y="609600"/>
            <a:ext cx="6447234" cy="1320800"/>
          </a:xfrm>
        </p:spPr>
        <p:txBody>
          <a:bodyPr/>
          <a:lstStyle/>
          <a:p>
            <a:pPr algn="ctr" eaLnBrk="1" hangingPunct="1"/>
            <a:r>
              <a:rPr lang="en-US" sz="2800" smtClean="0"/>
              <a:t> </a:t>
            </a:r>
            <a:r>
              <a:rPr lang="en-US" sz="28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Power loss in a curved fiber</a:t>
            </a:r>
          </a:p>
        </p:txBody>
      </p:sp>
      <p:pic>
        <p:nvPicPr>
          <p:cNvPr id="3072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828800"/>
            <a:ext cx="632460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Trebuchet MS" pitchFamily="34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latin typeface="Trebuchet MS" pitchFamily="34" charset="0"/>
            </a:endParaRP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xfrm>
            <a:off x="508397" y="609600"/>
            <a:ext cx="6447234" cy="1320800"/>
          </a:xfrm>
        </p:spPr>
        <p:txBody>
          <a:bodyPr/>
          <a:lstStyle/>
          <a:p>
            <a:pPr algn="ctr" eaLnBrk="1" hangingPunct="1"/>
            <a:r>
              <a:rPr lang="en-US" sz="28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Microbending losses</a:t>
            </a: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710" y="1624013"/>
            <a:ext cx="6248400" cy="411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990600"/>
            <a:ext cx="6219825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1828800" y="6248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400">
                <a:solidFill>
                  <a:srgbClr val="1A0FF1"/>
                </a:solidFill>
                <a:latin typeface="Trebuchet MS" pitchFamily="34" charset="0"/>
              </a:rPr>
              <a:t>Pressure causes loss at the bends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Signal Distortion in Fibers</a:t>
            </a:r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0" y="609600"/>
            <a:ext cx="9144000" cy="946150"/>
          </a:xfrm>
          <a:prstGeom prst="rect">
            <a:avLst/>
          </a:prstGeom>
          <a:solidFill>
            <a:srgbClr val="008000">
              <a:alpha val="38823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800" b="1">
                <a:latin typeface="Trebuchet MS" pitchFamily="34" charset="0"/>
              </a:rPr>
              <a:t>Optical signal weakens from attenuation mechanisms and broadens due to distortion effects.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228600" y="2036763"/>
            <a:ext cx="8610600" cy="4247317"/>
          </a:xfrm>
          <a:prstGeom prst="rect">
            <a:avLst/>
          </a:prstGeom>
          <a:noFill/>
          <a:ln w="152400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sz="3600">
                <a:latin typeface="Trebuchet MS" pitchFamily="34" charset="0"/>
              </a:rPr>
              <a:t>Eventually these two factors will cause </a:t>
            </a:r>
            <a:r>
              <a:rPr lang="en-US" sz="3600" b="1">
                <a:latin typeface="Trebuchet MS" pitchFamily="34" charset="0"/>
              </a:rPr>
              <a:t>neighboring pulses to overlap</a:t>
            </a:r>
            <a:r>
              <a:rPr lang="en-US" sz="3600">
                <a:latin typeface="Trebuchet MS" pitchFamily="34" charset="0"/>
              </a:rPr>
              <a:t>.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sz="3600">
                <a:latin typeface="Trebuchet MS" pitchFamily="34" charset="0"/>
              </a:rPr>
              <a:t>After a certain amount of overlap occurs, the receiver can no longer distinguish the individual adjacent pulses and error arise when interpreting the received signal.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657350" y="6248400"/>
            <a:ext cx="142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IN">
              <a:cs typeface="Arial" charset="0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486150" y="6248400"/>
            <a:ext cx="217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IN">
              <a:cs typeface="Arial" charset="0"/>
            </a:endParaRP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1657350" y="609600"/>
            <a:ext cx="5829300" cy="609600"/>
          </a:xfrm>
        </p:spPr>
        <p:txBody>
          <a:bodyPr/>
          <a:lstStyle/>
          <a:p>
            <a:pPr algn="ctr" eaLnBrk="1" hangingPunct="1"/>
            <a:r>
              <a:rPr lang="en-US" sz="28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Pulse broadening and attenuation</a:t>
            </a:r>
          </a:p>
        </p:txBody>
      </p:sp>
      <p:pic>
        <p:nvPicPr>
          <p:cNvPr id="3482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3100" y="1371600"/>
            <a:ext cx="5029200" cy="481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ChangeArrowheads="1"/>
          </p:cNvSpPr>
          <p:nvPr/>
        </p:nvSpPr>
        <p:spPr bwMode="auto">
          <a:xfrm>
            <a:off x="0" y="152401"/>
            <a:ext cx="7567613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endParaRPr lang="en-US" b="1">
              <a:latin typeface="Times New Roman" pitchFamily="18" charset="0"/>
            </a:endParaRPr>
          </a:p>
        </p:txBody>
      </p:sp>
      <p:graphicFrame>
        <p:nvGraphicFramePr>
          <p:cNvPr id="58371" name="Object 2"/>
          <p:cNvGraphicFramePr>
            <a:graphicFrameLocks noChangeAspect="1"/>
          </p:cNvGraphicFramePr>
          <p:nvPr/>
        </p:nvGraphicFramePr>
        <p:xfrm>
          <a:off x="365523" y="2616200"/>
          <a:ext cx="339328" cy="1379538"/>
        </p:xfrm>
        <a:graphic>
          <a:graphicData uri="http://schemas.openxmlformats.org/presentationml/2006/ole">
            <p:oleObj spid="_x0000_s1026" name="CorelPhotoPaint.Image.9" r:id="rId4" imgW="1358730" imgH="800000" progId="CorelPhotoPaint.Image.9">
              <p:embed/>
            </p:oleObj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66850" y="2520950"/>
            <a:ext cx="3414713" cy="1601788"/>
            <a:chOff x="1776" y="1620"/>
            <a:chExt cx="3120" cy="1003"/>
          </a:xfrm>
        </p:grpSpPr>
        <p:sp>
          <p:nvSpPr>
            <p:cNvPr id="1040" name="Rectangle 5"/>
            <p:cNvSpPr>
              <a:spLocks noChangeArrowheads="1"/>
            </p:cNvSpPr>
            <p:nvPr/>
          </p:nvSpPr>
          <p:spPr bwMode="auto">
            <a:xfrm>
              <a:off x="1885" y="1632"/>
              <a:ext cx="3008" cy="974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FFFFCC"/>
                </a:gs>
                <a:gs pos="100000">
                  <a:srgbClr val="FFFFFF"/>
                </a:gs>
              </a:gsLst>
              <a:lin ang="5400000" scaled="1"/>
            </a:gradFill>
            <a:ln w="317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>
                <a:latin typeface="Trebuchet MS" pitchFamily="34" charset="0"/>
              </a:endParaRPr>
            </a:p>
          </p:txBody>
        </p:sp>
        <p:sp>
          <p:nvSpPr>
            <p:cNvPr id="1041" name="Line 6"/>
            <p:cNvSpPr>
              <a:spLocks noChangeShapeType="1"/>
            </p:cNvSpPr>
            <p:nvPr/>
          </p:nvSpPr>
          <p:spPr bwMode="auto">
            <a:xfrm>
              <a:off x="1916" y="1620"/>
              <a:ext cx="2969" cy="0"/>
            </a:xfrm>
            <a:prstGeom prst="line">
              <a:avLst/>
            </a:prstGeom>
            <a:noFill/>
            <a:ln w="3175">
              <a:solidFill>
                <a:srgbClr val="1F1A17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2" name="Line 7"/>
            <p:cNvSpPr>
              <a:spLocks noChangeShapeType="1"/>
            </p:cNvSpPr>
            <p:nvPr/>
          </p:nvSpPr>
          <p:spPr bwMode="auto">
            <a:xfrm>
              <a:off x="1927" y="2623"/>
              <a:ext cx="2969" cy="0"/>
            </a:xfrm>
            <a:prstGeom prst="line">
              <a:avLst/>
            </a:prstGeom>
            <a:noFill/>
            <a:ln w="3175">
              <a:solidFill>
                <a:srgbClr val="1F1A17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3" name="Oval 8"/>
            <p:cNvSpPr>
              <a:spLocks noChangeArrowheads="1"/>
            </p:cNvSpPr>
            <p:nvPr/>
          </p:nvSpPr>
          <p:spPr bwMode="auto">
            <a:xfrm>
              <a:off x="1776" y="1620"/>
              <a:ext cx="254" cy="1003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>
                <a:latin typeface="Trebuchet MS" pitchFamily="34" charset="0"/>
              </a:endParaRPr>
            </a:p>
          </p:txBody>
        </p:sp>
        <p:sp>
          <p:nvSpPr>
            <p:cNvPr id="1044" name="Oval 9"/>
            <p:cNvSpPr>
              <a:spLocks noChangeArrowheads="1"/>
            </p:cNvSpPr>
            <p:nvPr/>
          </p:nvSpPr>
          <p:spPr bwMode="auto">
            <a:xfrm>
              <a:off x="1822" y="1812"/>
              <a:ext cx="159" cy="57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>
                <a:latin typeface="Trebuchet MS" pitchFamily="34" charset="0"/>
              </a:endParaRPr>
            </a:p>
          </p:txBody>
        </p:sp>
        <p:sp>
          <p:nvSpPr>
            <p:cNvPr id="1045" name="Line 10"/>
            <p:cNvSpPr>
              <a:spLocks noChangeShapeType="1"/>
            </p:cNvSpPr>
            <p:nvPr/>
          </p:nvSpPr>
          <p:spPr bwMode="auto">
            <a:xfrm>
              <a:off x="1922" y="1817"/>
              <a:ext cx="2969" cy="0"/>
            </a:xfrm>
            <a:prstGeom prst="line">
              <a:avLst/>
            </a:prstGeom>
            <a:noFill/>
            <a:ln w="3175" cap="rnd">
              <a:solidFill>
                <a:srgbClr val="1F1A17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6" name="Line 11"/>
            <p:cNvSpPr>
              <a:spLocks noChangeShapeType="1"/>
            </p:cNvSpPr>
            <p:nvPr/>
          </p:nvSpPr>
          <p:spPr bwMode="auto">
            <a:xfrm>
              <a:off x="1916" y="2401"/>
              <a:ext cx="2972" cy="2"/>
            </a:xfrm>
            <a:prstGeom prst="line">
              <a:avLst/>
            </a:prstGeom>
            <a:noFill/>
            <a:ln w="3175" cap="rnd">
              <a:solidFill>
                <a:srgbClr val="1F1A17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586163" y="2490788"/>
            <a:ext cx="2775347" cy="1701800"/>
            <a:chOff x="2199" y="2534"/>
            <a:chExt cx="2535" cy="1066"/>
          </a:xfrm>
        </p:grpSpPr>
        <p:sp>
          <p:nvSpPr>
            <p:cNvPr id="1037" name="Line 13"/>
            <p:cNvSpPr>
              <a:spLocks noChangeShapeType="1"/>
            </p:cNvSpPr>
            <p:nvPr/>
          </p:nvSpPr>
          <p:spPr bwMode="auto">
            <a:xfrm rot="-3371461">
              <a:off x="1988" y="2745"/>
              <a:ext cx="1066" cy="64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auto">
            <a:xfrm>
              <a:off x="3080" y="2806"/>
              <a:ext cx="1232" cy="592"/>
            </a:xfrm>
            <a:custGeom>
              <a:avLst/>
              <a:gdLst>
                <a:gd name="T0" fmla="*/ 0 w 1232"/>
                <a:gd name="T1" fmla="*/ 19 h 592"/>
                <a:gd name="T2" fmla="*/ 11 w 1232"/>
                <a:gd name="T3" fmla="*/ 0 h 592"/>
                <a:gd name="T4" fmla="*/ 1232 w 1232"/>
                <a:gd name="T5" fmla="*/ 573 h 592"/>
                <a:gd name="T6" fmla="*/ 1221 w 1232"/>
                <a:gd name="T7" fmla="*/ 592 h 592"/>
                <a:gd name="T8" fmla="*/ 0 w 1232"/>
                <a:gd name="T9" fmla="*/ 19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2"/>
                <a:gd name="T16" fmla="*/ 0 h 592"/>
                <a:gd name="T17" fmla="*/ 1232 w 1232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2" h="592">
                  <a:moveTo>
                    <a:pt x="0" y="19"/>
                  </a:moveTo>
                  <a:lnTo>
                    <a:pt x="11" y="0"/>
                  </a:lnTo>
                  <a:lnTo>
                    <a:pt x="1232" y="573"/>
                  </a:lnTo>
                  <a:lnTo>
                    <a:pt x="1221" y="59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 rot="-3371461">
              <a:off x="4314" y="3110"/>
              <a:ext cx="540" cy="30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58384" name="Object 3"/>
          <p:cNvGraphicFramePr>
            <a:graphicFrameLocks noChangeAspect="1"/>
          </p:cNvGraphicFramePr>
          <p:nvPr/>
        </p:nvGraphicFramePr>
        <p:xfrm>
          <a:off x="6609160" y="3038476"/>
          <a:ext cx="846534" cy="804863"/>
        </p:xfrm>
        <a:graphic>
          <a:graphicData uri="http://schemas.openxmlformats.org/presentationml/2006/ole">
            <p:oleObj spid="_x0000_s1027" name="CorelPhotoPaint.Image.9" r:id="rId5" imgW="1269841" imgH="800000" progId="CorelPhotoPaint.Image.9">
              <p:embed/>
            </p:oleObj>
          </a:graphicData>
        </a:graphic>
      </p:graphicFrame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033713" y="2889251"/>
            <a:ext cx="2680097" cy="944563"/>
            <a:chOff x="1911" y="1829"/>
            <a:chExt cx="2449" cy="592"/>
          </a:xfrm>
        </p:grpSpPr>
        <p:sp>
          <p:nvSpPr>
            <p:cNvPr id="1033" name="Line 18"/>
            <p:cNvSpPr>
              <a:spLocks noChangeShapeType="1"/>
            </p:cNvSpPr>
            <p:nvPr/>
          </p:nvSpPr>
          <p:spPr bwMode="auto">
            <a:xfrm>
              <a:off x="3369" y="1829"/>
              <a:ext cx="711" cy="571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4" name="Line 19"/>
            <p:cNvSpPr>
              <a:spLocks noChangeShapeType="1"/>
            </p:cNvSpPr>
            <p:nvPr/>
          </p:nvSpPr>
          <p:spPr bwMode="auto">
            <a:xfrm flipV="1">
              <a:off x="4072" y="2176"/>
              <a:ext cx="288" cy="221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5" name="Line 20"/>
            <p:cNvSpPr>
              <a:spLocks noChangeShapeType="1"/>
            </p:cNvSpPr>
            <p:nvPr/>
          </p:nvSpPr>
          <p:spPr bwMode="auto">
            <a:xfrm>
              <a:off x="1911" y="1848"/>
              <a:ext cx="737" cy="573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6" name="Line 21"/>
            <p:cNvSpPr>
              <a:spLocks noChangeShapeType="1"/>
            </p:cNvSpPr>
            <p:nvPr/>
          </p:nvSpPr>
          <p:spPr bwMode="auto">
            <a:xfrm flipV="1">
              <a:off x="2648" y="1829"/>
              <a:ext cx="721" cy="592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32" name="Rectangle 24"/>
          <p:cNvSpPr>
            <a:spLocks noChangeArrowheads="1"/>
          </p:cNvSpPr>
          <p:nvPr/>
        </p:nvSpPr>
        <p:spPr bwMode="auto">
          <a:xfrm>
            <a:off x="76200" y="76200"/>
            <a:ext cx="2667000" cy="60960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Trebuchet MS" pitchFamily="34" charset="0"/>
              </a:rPr>
              <a:t>Dispersion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IN" smtClean="0"/>
              <a:t>Dispersion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IN" sz="2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Intermodal Dispersion</a:t>
            </a:r>
          </a:p>
          <a:p>
            <a:pPr eaLnBrk="1" hangingPunct="1">
              <a:lnSpc>
                <a:spcPct val="150000"/>
              </a:lnSpc>
            </a:pPr>
            <a:r>
              <a:rPr lang="en-IN" sz="2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Intramodal or Chromatic Dispersion:</a:t>
            </a:r>
          </a:p>
          <a:p>
            <a:pPr lvl="1" eaLnBrk="1" hangingPunct="1">
              <a:lnSpc>
                <a:spcPct val="150000"/>
              </a:lnSpc>
            </a:pPr>
            <a:r>
              <a:rPr lang="en-IN" sz="2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Material Dispersion</a:t>
            </a:r>
          </a:p>
          <a:p>
            <a:pPr lvl="1" eaLnBrk="1" hangingPunct="1">
              <a:lnSpc>
                <a:spcPct val="150000"/>
              </a:lnSpc>
            </a:pPr>
            <a:r>
              <a:rPr lang="en-IN" sz="2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Waveguide Disperion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algn="ctr" eaLnBrk="1" hangingPunct="1"/>
            <a:r>
              <a:rPr lang="en-US" sz="3200" smtClean="0">
                <a:solidFill>
                  <a:srgbClr val="1A0FF1"/>
                </a:solidFill>
                <a:latin typeface="Times New Roman" pitchFamily="18" charset="0"/>
                <a:cs typeface="Times New Roman" pitchFamily="18" charset="0"/>
              </a:rPr>
              <a:t>SM-Fiber Dispersions</a:t>
            </a:r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524000"/>
            <a:ext cx="5157788" cy="462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algn="ctr" eaLnBrk="1" hangingPunct="1"/>
            <a:r>
              <a:rPr lang="en-US" sz="2800" smtClean="0"/>
              <a:t>SM-fiber dispersions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67056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7" name="Object 2"/>
          <p:cNvGraphicFramePr>
            <a:graphicFrameLocks noChangeAspect="1"/>
          </p:cNvGraphicFramePr>
          <p:nvPr/>
        </p:nvGraphicFramePr>
        <p:xfrm>
          <a:off x="3037285" y="1712914"/>
          <a:ext cx="4444603" cy="1519237"/>
        </p:xfrm>
        <a:graphic>
          <a:graphicData uri="http://schemas.openxmlformats.org/presentationml/2006/ole">
            <p:oleObj spid="_x0000_s2050" name="CorelDRAW" r:id="rId4" imgW="914400" imgH="914400" progId="CorelDRAW.Graphic.9">
              <p:embed/>
            </p:oleObj>
          </a:graphicData>
        </a:graphic>
      </p:graphicFrame>
      <p:graphicFrame>
        <p:nvGraphicFramePr>
          <p:cNvPr id="72708" name="Object 3"/>
          <p:cNvGraphicFramePr>
            <a:graphicFrameLocks noChangeAspect="1"/>
          </p:cNvGraphicFramePr>
          <p:nvPr/>
        </p:nvGraphicFramePr>
        <p:xfrm>
          <a:off x="3063478" y="2065338"/>
          <a:ext cx="517922" cy="882650"/>
        </p:xfrm>
        <a:graphic>
          <a:graphicData uri="http://schemas.openxmlformats.org/presentationml/2006/ole">
            <p:oleObj spid="_x0000_s2051" name="CorelDRAW" r:id="rId5" imgW="457200" imgH="457200" progId="CorelDRAW.Graphic.9">
              <p:embed/>
            </p:oleObj>
          </a:graphicData>
        </a:graphic>
      </p:graphicFrame>
      <p:graphicFrame>
        <p:nvGraphicFramePr>
          <p:cNvPr id="72709" name="Object 4"/>
          <p:cNvGraphicFramePr>
            <a:graphicFrameLocks noChangeAspect="1"/>
          </p:cNvGraphicFramePr>
          <p:nvPr/>
        </p:nvGraphicFramePr>
        <p:xfrm>
          <a:off x="3062288" y="2354263"/>
          <a:ext cx="4394597" cy="334962"/>
        </p:xfrm>
        <a:graphic>
          <a:graphicData uri="http://schemas.openxmlformats.org/presentationml/2006/ole">
            <p:oleObj spid="_x0000_s2052" name="CorelDRAW" r:id="rId6" imgW="914400" imgH="914400" progId="CorelDRAW.Graphic.9">
              <p:embed/>
            </p:oleObj>
          </a:graphicData>
        </a:graphic>
      </p:graphicFrame>
      <p:graphicFrame>
        <p:nvGraphicFramePr>
          <p:cNvPr id="72710" name="Object 5"/>
          <p:cNvGraphicFramePr>
            <a:graphicFrameLocks noChangeAspect="1"/>
          </p:cNvGraphicFramePr>
          <p:nvPr/>
        </p:nvGraphicFramePr>
        <p:xfrm>
          <a:off x="3234929" y="2225676"/>
          <a:ext cx="4046934" cy="606425"/>
        </p:xfrm>
        <a:graphic>
          <a:graphicData uri="http://schemas.openxmlformats.org/presentationml/2006/ole">
            <p:oleObj spid="_x0000_s2053" name="CorelDRAW" r:id="rId7" imgW="914400" imgH="914400" progId="CorelDRAW.Graphic.9">
              <p:embed/>
            </p:oleObj>
          </a:graphicData>
        </a:graphic>
      </p:graphicFrame>
      <p:graphicFrame>
        <p:nvGraphicFramePr>
          <p:cNvPr id="72711" name="Object 6"/>
          <p:cNvGraphicFramePr>
            <a:graphicFrameLocks noChangeAspect="1"/>
          </p:cNvGraphicFramePr>
          <p:nvPr/>
        </p:nvGraphicFramePr>
        <p:xfrm>
          <a:off x="3030142" y="2222500"/>
          <a:ext cx="3679031" cy="609600"/>
        </p:xfrm>
        <a:graphic>
          <a:graphicData uri="http://schemas.openxmlformats.org/presentationml/2006/ole">
            <p:oleObj spid="_x0000_s2054" name="CorelDRAW" r:id="rId8" imgW="914400" imgH="914400" progId="CorelDRAW.Graphic.9">
              <p:embed/>
            </p:oleObj>
          </a:graphicData>
        </a:graphic>
      </p:graphicFrame>
      <p:graphicFrame>
        <p:nvGraphicFramePr>
          <p:cNvPr id="72712" name="Object 7"/>
          <p:cNvGraphicFramePr>
            <a:graphicFrameLocks noChangeAspect="1"/>
          </p:cNvGraphicFramePr>
          <p:nvPr/>
        </p:nvGraphicFramePr>
        <p:xfrm>
          <a:off x="3048000" y="2197101"/>
          <a:ext cx="3986213" cy="608013"/>
        </p:xfrm>
        <a:graphic>
          <a:graphicData uri="http://schemas.openxmlformats.org/presentationml/2006/ole">
            <p:oleObj spid="_x0000_s2055" name="CorelDRAW" r:id="rId9" imgW="914400" imgH="914400" progId="CorelDRAW.Graphic.9">
              <p:embed/>
            </p:oleObj>
          </a:graphicData>
        </a:graphic>
      </p:graphicFrame>
      <p:graphicFrame>
        <p:nvGraphicFramePr>
          <p:cNvPr id="72713" name="Object 8"/>
          <p:cNvGraphicFramePr>
            <a:graphicFrameLocks noChangeAspect="1"/>
          </p:cNvGraphicFramePr>
          <p:nvPr/>
        </p:nvGraphicFramePr>
        <p:xfrm>
          <a:off x="6635354" y="1905001"/>
          <a:ext cx="828675" cy="365125"/>
        </p:xfrm>
        <a:graphic>
          <a:graphicData uri="http://schemas.openxmlformats.org/presentationml/2006/ole">
            <p:oleObj spid="_x0000_s2056" name="CorelDRAW" r:id="rId10" imgW="304800" imgH="304800" progId="CorelDRAW.Graphic.9">
              <p:embed/>
            </p:oleObj>
          </a:graphicData>
        </a:graphic>
      </p:graphicFrame>
      <p:graphicFrame>
        <p:nvGraphicFramePr>
          <p:cNvPr id="72714" name="Object 9"/>
          <p:cNvGraphicFramePr>
            <a:graphicFrameLocks noChangeAspect="1"/>
          </p:cNvGraphicFramePr>
          <p:nvPr/>
        </p:nvGraphicFramePr>
        <p:xfrm>
          <a:off x="1062038" y="1905000"/>
          <a:ext cx="723900" cy="1162050"/>
        </p:xfrm>
        <a:graphic>
          <a:graphicData uri="http://schemas.openxmlformats.org/presentationml/2006/ole">
            <p:oleObj spid="_x0000_s2057" name="CorelDRAW" r:id="rId11" imgW="914400" imgH="914400" progId="CorelDRAW.Graphic.9">
              <p:embed/>
            </p:oleObj>
          </a:graphicData>
        </a:graphic>
      </p:graphicFrame>
      <p:graphicFrame>
        <p:nvGraphicFramePr>
          <p:cNvPr id="72715" name="Object 10"/>
          <p:cNvGraphicFramePr>
            <a:graphicFrameLocks noChangeAspect="1"/>
          </p:cNvGraphicFramePr>
          <p:nvPr/>
        </p:nvGraphicFramePr>
        <p:xfrm>
          <a:off x="1766888" y="1828801"/>
          <a:ext cx="1295400" cy="1274763"/>
        </p:xfrm>
        <a:graphic>
          <a:graphicData uri="http://schemas.openxmlformats.org/presentationml/2006/ole">
            <p:oleObj spid="_x0000_s2058" name="CorelDRAW" r:id="rId12" imgW="914400" imgH="914400" progId="CorelDRAW.Graphic.9">
              <p:embed/>
            </p:oleObj>
          </a:graphicData>
        </a:graphic>
      </p:graphicFrame>
      <p:graphicFrame>
        <p:nvGraphicFramePr>
          <p:cNvPr id="72716" name="Object 11"/>
          <p:cNvGraphicFramePr>
            <a:graphicFrameLocks noChangeAspect="1"/>
          </p:cNvGraphicFramePr>
          <p:nvPr/>
        </p:nvGraphicFramePr>
        <p:xfrm>
          <a:off x="3015854" y="4448176"/>
          <a:ext cx="4441031" cy="1520825"/>
        </p:xfrm>
        <a:graphic>
          <a:graphicData uri="http://schemas.openxmlformats.org/presentationml/2006/ole">
            <p:oleObj spid="_x0000_s2059" name="CorelDRAW" r:id="rId13" imgW="914400" imgH="914400" progId="CorelDRAW.Graphic.9">
              <p:embed/>
            </p:oleObj>
          </a:graphicData>
        </a:graphic>
      </p:graphicFrame>
      <p:graphicFrame>
        <p:nvGraphicFramePr>
          <p:cNvPr id="72717" name="Object 12"/>
          <p:cNvGraphicFramePr>
            <a:graphicFrameLocks noChangeAspect="1"/>
          </p:cNvGraphicFramePr>
          <p:nvPr/>
        </p:nvGraphicFramePr>
        <p:xfrm>
          <a:off x="3057525" y="5099051"/>
          <a:ext cx="4410075" cy="334963"/>
        </p:xfrm>
        <a:graphic>
          <a:graphicData uri="http://schemas.openxmlformats.org/presentationml/2006/ole">
            <p:oleObj spid="_x0000_s2060" name="CorelDRAW" r:id="rId14" imgW="914400" imgH="914400" progId="CorelDRAW.Graphic.9">
              <p:embed/>
            </p:oleObj>
          </a:graphicData>
        </a:graphic>
      </p:graphicFrame>
      <p:graphicFrame>
        <p:nvGraphicFramePr>
          <p:cNvPr id="72718" name="Object 13"/>
          <p:cNvGraphicFramePr>
            <a:graphicFrameLocks noChangeAspect="1"/>
          </p:cNvGraphicFramePr>
          <p:nvPr/>
        </p:nvGraphicFramePr>
        <p:xfrm>
          <a:off x="3039666" y="4991101"/>
          <a:ext cx="4391025" cy="473075"/>
        </p:xfrm>
        <a:graphic>
          <a:graphicData uri="http://schemas.openxmlformats.org/presentationml/2006/ole">
            <p:oleObj spid="_x0000_s2061" name="CorelDRAW" r:id="rId15" imgW="914400" imgH="914400" progId="CorelDRAW.Graphic.9">
              <p:embed/>
            </p:oleObj>
          </a:graphicData>
        </a:graphic>
      </p:graphicFrame>
      <p:graphicFrame>
        <p:nvGraphicFramePr>
          <p:cNvPr id="72719" name="Object 14"/>
          <p:cNvGraphicFramePr>
            <a:graphicFrameLocks noChangeAspect="1"/>
          </p:cNvGraphicFramePr>
          <p:nvPr/>
        </p:nvGraphicFramePr>
        <p:xfrm>
          <a:off x="3068241" y="4905375"/>
          <a:ext cx="4242197" cy="647700"/>
        </p:xfrm>
        <a:graphic>
          <a:graphicData uri="http://schemas.openxmlformats.org/presentationml/2006/ole">
            <p:oleObj spid="_x0000_s2062" name="CorelDRAW" r:id="rId16" imgW="914400" imgH="914400" progId="CorelDRAW.Graphic.9">
              <p:embed/>
            </p:oleObj>
          </a:graphicData>
        </a:graphic>
      </p:graphicFrame>
      <p:graphicFrame>
        <p:nvGraphicFramePr>
          <p:cNvPr id="72720" name="Object 15"/>
          <p:cNvGraphicFramePr>
            <a:graphicFrameLocks noChangeAspect="1"/>
          </p:cNvGraphicFramePr>
          <p:nvPr/>
        </p:nvGraphicFramePr>
        <p:xfrm>
          <a:off x="3039666" y="5062539"/>
          <a:ext cx="4388644" cy="460375"/>
        </p:xfrm>
        <a:graphic>
          <a:graphicData uri="http://schemas.openxmlformats.org/presentationml/2006/ole">
            <p:oleObj spid="_x0000_s2063" name="CorelDRAW" r:id="rId17" imgW="914400" imgH="914400" progId="CorelDRAW.Graphic.9">
              <p:embed/>
            </p:oleObj>
          </a:graphicData>
        </a:graphic>
      </p:graphicFrame>
      <p:graphicFrame>
        <p:nvGraphicFramePr>
          <p:cNvPr id="72721" name="Object 16"/>
          <p:cNvGraphicFramePr>
            <a:graphicFrameLocks noChangeAspect="1"/>
          </p:cNvGraphicFramePr>
          <p:nvPr/>
        </p:nvGraphicFramePr>
        <p:xfrm>
          <a:off x="3119438" y="4973639"/>
          <a:ext cx="4232672" cy="638175"/>
        </p:xfrm>
        <a:graphic>
          <a:graphicData uri="http://schemas.openxmlformats.org/presentationml/2006/ole">
            <p:oleObj spid="_x0000_s2064" name="CorelDRAW" r:id="rId18" imgW="914400" imgH="914400" progId="CorelDRAW.Graphic.9">
              <p:embed/>
            </p:oleObj>
          </a:graphicData>
        </a:graphic>
      </p:graphicFrame>
      <p:graphicFrame>
        <p:nvGraphicFramePr>
          <p:cNvPr id="72722" name="Object 17"/>
          <p:cNvGraphicFramePr>
            <a:graphicFrameLocks noChangeAspect="1"/>
          </p:cNvGraphicFramePr>
          <p:nvPr/>
        </p:nvGraphicFramePr>
        <p:xfrm>
          <a:off x="6949679" y="4635500"/>
          <a:ext cx="507206" cy="381000"/>
        </p:xfrm>
        <a:graphic>
          <a:graphicData uri="http://schemas.openxmlformats.org/presentationml/2006/ole">
            <p:oleObj spid="_x0000_s2065" name="CorelDRAW" r:id="rId19" imgW="228600" imgH="228600" progId="CorelDRAW.Graphic.9">
              <p:embed/>
            </p:oleObj>
          </a:graphicData>
        </a:graphic>
      </p:graphicFrame>
      <p:graphicFrame>
        <p:nvGraphicFramePr>
          <p:cNvPr id="72723" name="Object 18"/>
          <p:cNvGraphicFramePr>
            <a:graphicFrameLocks noChangeAspect="1"/>
          </p:cNvGraphicFramePr>
          <p:nvPr/>
        </p:nvGraphicFramePr>
        <p:xfrm>
          <a:off x="1752600" y="4579938"/>
          <a:ext cx="1295400" cy="1274762"/>
        </p:xfrm>
        <a:graphic>
          <a:graphicData uri="http://schemas.openxmlformats.org/presentationml/2006/ole">
            <p:oleObj spid="_x0000_s2066" name="CorelDRAW" r:id="rId20" imgW="914400" imgH="914400" progId="CorelDRAW.Graphic.9">
              <p:embed/>
            </p:oleObj>
          </a:graphicData>
        </a:graphic>
      </p:graphicFrame>
      <p:graphicFrame>
        <p:nvGraphicFramePr>
          <p:cNvPr id="72725" name="Object 19"/>
          <p:cNvGraphicFramePr>
            <a:graphicFrameLocks noChangeAspect="1"/>
          </p:cNvGraphicFramePr>
          <p:nvPr/>
        </p:nvGraphicFramePr>
        <p:xfrm>
          <a:off x="1062038" y="4624388"/>
          <a:ext cx="723900" cy="1162050"/>
        </p:xfrm>
        <a:graphic>
          <a:graphicData uri="http://schemas.openxmlformats.org/presentationml/2006/ole">
            <p:oleObj spid="_x0000_s2067" name="CorelDRAW" r:id="rId21" imgW="914400" imgH="914400" progId="CorelDRAW.Graphic.9">
              <p:embed/>
            </p:oleObj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6200" y="1709738"/>
            <a:ext cx="8991600" cy="1376362"/>
            <a:chOff x="864" y="1077"/>
            <a:chExt cx="5664" cy="867"/>
          </a:xfrm>
        </p:grpSpPr>
        <p:graphicFrame>
          <p:nvGraphicFramePr>
            <p:cNvPr id="2070" name="Object 22"/>
            <p:cNvGraphicFramePr>
              <a:graphicFrameLocks noChangeAspect="1"/>
            </p:cNvGraphicFramePr>
            <p:nvPr/>
          </p:nvGraphicFramePr>
          <p:xfrm>
            <a:off x="864" y="1077"/>
            <a:ext cx="308" cy="864"/>
          </p:xfrm>
          <a:graphic>
            <a:graphicData uri="http://schemas.openxmlformats.org/presentationml/2006/ole">
              <p:oleObj spid="_x0000_s2070" name="CorelPhotoPaint.Image.9" r:id="rId22" imgW="1358730" imgH="800000" progId="CorelPhotoPaint.Image.9">
                <p:embed/>
              </p:oleObj>
            </a:graphicData>
          </a:graphic>
        </p:graphicFrame>
        <p:graphicFrame>
          <p:nvGraphicFramePr>
            <p:cNvPr id="2071" name="Object 23"/>
            <p:cNvGraphicFramePr>
              <a:graphicFrameLocks noChangeAspect="1"/>
            </p:cNvGraphicFramePr>
            <p:nvPr/>
          </p:nvGraphicFramePr>
          <p:xfrm>
            <a:off x="5760" y="1536"/>
            <a:ext cx="768" cy="408"/>
          </p:xfrm>
          <a:graphic>
            <a:graphicData uri="http://schemas.openxmlformats.org/presentationml/2006/ole">
              <p:oleObj spid="_x0000_s2071" name="CorelPhotoPaint.Image.9" r:id="rId23" imgW="1269841" imgH="800000" progId="CorelPhotoPaint.Image.9">
                <p:embed/>
              </p:oleObj>
            </a:graphicData>
          </a:graphic>
        </p:graphicFrame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76200" y="4371975"/>
            <a:ext cx="8849916" cy="1398588"/>
            <a:chOff x="864" y="2754"/>
            <a:chExt cx="5575" cy="881"/>
          </a:xfrm>
        </p:grpSpPr>
        <p:graphicFrame>
          <p:nvGraphicFramePr>
            <p:cNvPr id="2068" name="Object 20"/>
            <p:cNvGraphicFramePr>
              <a:graphicFrameLocks noChangeAspect="1"/>
            </p:cNvGraphicFramePr>
            <p:nvPr/>
          </p:nvGraphicFramePr>
          <p:xfrm>
            <a:off x="864" y="2754"/>
            <a:ext cx="308" cy="864"/>
          </p:xfrm>
          <a:graphic>
            <a:graphicData uri="http://schemas.openxmlformats.org/presentationml/2006/ole">
              <p:oleObj spid="_x0000_s2068" name="CorelPhotoPaint.Image.9" r:id="rId24" imgW="1358730" imgH="800000" progId="CorelPhotoPaint.Image.9">
                <p:embed/>
              </p:oleObj>
            </a:graphicData>
          </a:graphic>
        </p:graphicFrame>
        <p:graphicFrame>
          <p:nvGraphicFramePr>
            <p:cNvPr id="2069" name="Object 21"/>
            <p:cNvGraphicFramePr>
              <a:graphicFrameLocks noChangeAspect="1"/>
            </p:cNvGraphicFramePr>
            <p:nvPr/>
          </p:nvGraphicFramePr>
          <p:xfrm>
            <a:off x="5849" y="2939"/>
            <a:ext cx="590" cy="696"/>
          </p:xfrm>
          <a:graphic>
            <a:graphicData uri="http://schemas.openxmlformats.org/presentationml/2006/ole">
              <p:oleObj spid="_x0000_s2069" name="CorelPhotoPaint.Image.9" r:id="rId25" imgW="1269841" imgH="800000" progId="CorelPhotoPaint.Image.9">
                <p:embed/>
              </p:oleObj>
            </a:graphicData>
          </a:graphic>
        </p:graphicFrame>
      </p:grpSp>
      <p:sp>
        <p:nvSpPr>
          <p:cNvPr id="72732" name="Text Box 28"/>
          <p:cNvSpPr txBox="1">
            <a:spLocks noChangeArrowheads="1"/>
          </p:cNvSpPr>
          <p:nvPr/>
        </p:nvSpPr>
        <p:spPr bwMode="auto">
          <a:xfrm>
            <a:off x="2286000" y="3429000"/>
            <a:ext cx="541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Step Index Multi-mode </a:t>
            </a:r>
          </a:p>
        </p:txBody>
      </p:sp>
      <p:sp>
        <p:nvSpPr>
          <p:cNvPr id="72733" name="Text Box 29"/>
          <p:cNvSpPr txBox="1">
            <a:spLocks noChangeArrowheads="1"/>
          </p:cNvSpPr>
          <p:nvPr/>
        </p:nvSpPr>
        <p:spPr bwMode="auto">
          <a:xfrm>
            <a:off x="2514600" y="6096000"/>
            <a:ext cx="541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Graded Index Multi-mode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2" grpId="0" autoUpdateAnimBg="0"/>
      <p:bldP spid="7273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76200" y="76200"/>
            <a:ext cx="7239000" cy="457200"/>
          </a:xfrm>
          <a:prstGeom prst="rect">
            <a:avLst/>
          </a:prstGeom>
          <a:solidFill>
            <a:srgbClr val="A50021">
              <a:alpha val="90979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solidFill>
                  <a:schemeClr val="bg1"/>
                </a:solidFill>
                <a:latin typeface="Trebuchet MS" pitchFamily="34" charset="0"/>
              </a:rPr>
              <a:t>Intramodal Dispersion or Chromatic Dispersion</a:t>
            </a:r>
          </a:p>
        </p:txBody>
      </p:sp>
      <p:sp>
        <p:nvSpPr>
          <p:cNvPr id="40963" name="Text Box 5"/>
          <p:cNvSpPr txBox="1">
            <a:spLocks noChangeArrowheads="1"/>
          </p:cNvSpPr>
          <p:nvPr/>
        </p:nvSpPr>
        <p:spPr bwMode="auto">
          <a:xfrm>
            <a:off x="152400" y="838200"/>
            <a:ext cx="3276600" cy="4572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solidFill>
                  <a:schemeClr val="bg1"/>
                </a:solidFill>
                <a:latin typeface="Trebuchet MS" pitchFamily="34" charset="0"/>
              </a:rPr>
              <a:t>Material Dispersion:</a:t>
            </a:r>
          </a:p>
        </p:txBody>
      </p:sp>
      <p:sp>
        <p:nvSpPr>
          <p:cNvPr id="40964" name="Text Box 8"/>
          <p:cNvSpPr txBox="1">
            <a:spLocks noChangeArrowheads="1"/>
          </p:cNvSpPr>
          <p:nvPr/>
        </p:nvSpPr>
        <p:spPr bwMode="auto">
          <a:xfrm>
            <a:off x="152400" y="1371600"/>
            <a:ext cx="8534400" cy="2363788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sz="2400">
                <a:latin typeface="Trebuchet MS" pitchFamily="34" charset="0"/>
              </a:rPr>
              <a:t>This refractive index property causes  a wavelength dependence of the group velocity of a given mode; that is,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sz="2800" b="1">
                <a:solidFill>
                  <a:srgbClr val="FF5050"/>
                </a:solidFill>
                <a:latin typeface="Trebuchet MS" pitchFamily="34" charset="0"/>
              </a:rPr>
              <a:t>Pulse spreading occurs even when different wavelength follow the same path</a:t>
            </a:r>
            <a:r>
              <a:rPr lang="en-US" sz="2800">
                <a:latin typeface="Trebuchet MS" pitchFamily="34" charset="0"/>
              </a:rPr>
              <a:t>.</a:t>
            </a:r>
          </a:p>
        </p:txBody>
      </p:sp>
      <p:sp>
        <p:nvSpPr>
          <p:cNvPr id="40965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458200" cy="2246769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b="1">
                <a:latin typeface="Trebuchet MS" pitchFamily="34" charset="0"/>
              </a:rPr>
              <a:t>Material dispersion can be reduced: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800">
                <a:latin typeface="Trebuchet MS" pitchFamily="34" charset="0"/>
              </a:rPr>
              <a:t>Either by choosing sources with narrower spectral output widths OR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800">
                <a:latin typeface="Trebuchet MS" pitchFamily="34" charset="0"/>
              </a:rPr>
              <a:t>By operating at longer wavelengths.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" y="914400"/>
            <a:ext cx="7972425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381000" y="5791201"/>
            <a:ext cx="8458200" cy="708025"/>
          </a:xfrm>
          <a:prstGeom prst="rect">
            <a:avLst/>
          </a:prstGeom>
          <a:noFill/>
          <a:ln w="76200">
            <a:solidFill>
              <a:srgbClr val="80808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000">
                <a:latin typeface="Trebuchet MS" pitchFamily="34" charset="0"/>
              </a:rPr>
              <a:t>LASER source will produce far less </a:t>
            </a:r>
            <a:r>
              <a:rPr lang="en-US" sz="2000" b="1">
                <a:latin typeface="Trebuchet MS" pitchFamily="34" charset="0"/>
              </a:rPr>
              <a:t>spectral dispersion or intramodal dispersion</a:t>
            </a:r>
            <a:r>
              <a:rPr lang="en-US" sz="2000">
                <a:latin typeface="Trebuchet MS" pitchFamily="34" charset="0"/>
              </a:rPr>
              <a:t> than an LED source since it is more nearly monochromatic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 flipH="1">
            <a:off x="3124200" y="4803776"/>
            <a:ext cx="771525" cy="835025"/>
          </a:xfrm>
          <a:prstGeom prst="rect">
            <a:avLst/>
          </a:prstGeom>
          <a:noFill/>
          <a:ln w="285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Absorption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 in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Infrared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region</a:t>
            </a:r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 flipH="1">
            <a:off x="3914775" y="2952750"/>
            <a:ext cx="881063" cy="573088"/>
          </a:xfrm>
          <a:prstGeom prst="rect">
            <a:avLst/>
          </a:prstGeom>
          <a:noFill/>
          <a:ln w="28575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Trebuchet MS" pitchFamily="34" charset="0"/>
              </a:rPr>
              <a:t>Absorption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 flipH="1">
            <a:off x="4818460" y="3835400"/>
            <a:ext cx="725090" cy="615950"/>
          </a:xfrm>
          <a:prstGeom prst="rect">
            <a:avLst/>
          </a:prstGeom>
          <a:noFill/>
          <a:ln w="2857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Atomic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Defects</a:t>
            </a:r>
          </a:p>
        </p:txBody>
      </p:sp>
      <p:sp>
        <p:nvSpPr>
          <p:cNvPr id="43013" name="Rectangle 6"/>
          <p:cNvSpPr>
            <a:spLocks noChangeArrowheads="1"/>
          </p:cNvSpPr>
          <p:nvPr/>
        </p:nvSpPr>
        <p:spPr bwMode="auto">
          <a:xfrm flipH="1">
            <a:off x="3981450" y="3835400"/>
            <a:ext cx="747713" cy="615950"/>
          </a:xfrm>
          <a:prstGeom prst="rect">
            <a:avLst/>
          </a:prstGeom>
          <a:noFill/>
          <a:ln w="2857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Extrinsic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(Impurity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 atoms)</a:t>
            </a:r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 flipH="1">
            <a:off x="3124200" y="3835400"/>
            <a:ext cx="725091" cy="615950"/>
          </a:xfrm>
          <a:prstGeom prst="rect">
            <a:avLst/>
          </a:prstGeom>
          <a:noFill/>
          <a:ln w="2857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Intrinsic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Absorption</a:t>
            </a:r>
          </a:p>
        </p:txBody>
      </p:sp>
      <p:sp>
        <p:nvSpPr>
          <p:cNvPr id="43015" name="Rectangle 8"/>
          <p:cNvSpPr>
            <a:spLocks noChangeArrowheads="1"/>
          </p:cNvSpPr>
          <p:nvPr/>
        </p:nvSpPr>
        <p:spPr bwMode="auto">
          <a:xfrm flipH="1">
            <a:off x="3981450" y="4803776"/>
            <a:ext cx="772716" cy="835025"/>
          </a:xfrm>
          <a:prstGeom prst="rect">
            <a:avLst/>
          </a:prstGeom>
          <a:noFill/>
          <a:ln w="285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Absorption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in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Ultraviolet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region</a:t>
            </a:r>
          </a:p>
        </p:txBody>
      </p:sp>
      <p:sp>
        <p:nvSpPr>
          <p:cNvPr id="43016" name="Line 9"/>
          <p:cNvSpPr>
            <a:spLocks noChangeShapeType="1"/>
          </p:cNvSpPr>
          <p:nvPr/>
        </p:nvSpPr>
        <p:spPr bwMode="auto">
          <a:xfrm flipH="1">
            <a:off x="3519488" y="3659189"/>
            <a:ext cx="16287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17" name="Line 10"/>
          <p:cNvSpPr>
            <a:spLocks noChangeShapeType="1"/>
          </p:cNvSpPr>
          <p:nvPr/>
        </p:nvSpPr>
        <p:spPr bwMode="auto">
          <a:xfrm flipH="1">
            <a:off x="5148263" y="3659188"/>
            <a:ext cx="0" cy="1762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18" name="Line 11"/>
          <p:cNvSpPr>
            <a:spLocks noChangeShapeType="1"/>
          </p:cNvSpPr>
          <p:nvPr/>
        </p:nvSpPr>
        <p:spPr bwMode="auto">
          <a:xfrm flipH="1">
            <a:off x="3519488" y="3659188"/>
            <a:ext cx="1191" cy="1762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19" name="Line 12"/>
          <p:cNvSpPr>
            <a:spLocks noChangeShapeType="1"/>
          </p:cNvSpPr>
          <p:nvPr/>
        </p:nvSpPr>
        <p:spPr bwMode="auto">
          <a:xfrm flipH="1">
            <a:off x="4377929" y="3525838"/>
            <a:ext cx="2381" cy="309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0" name="Line 13"/>
          <p:cNvSpPr>
            <a:spLocks noChangeShapeType="1"/>
          </p:cNvSpPr>
          <p:nvPr/>
        </p:nvSpPr>
        <p:spPr bwMode="auto">
          <a:xfrm flipH="1">
            <a:off x="3343275" y="4627564"/>
            <a:ext cx="1100138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1" name="Line 14"/>
          <p:cNvSpPr>
            <a:spLocks noChangeShapeType="1"/>
          </p:cNvSpPr>
          <p:nvPr/>
        </p:nvSpPr>
        <p:spPr bwMode="auto">
          <a:xfrm flipH="1">
            <a:off x="4443413" y="4627563"/>
            <a:ext cx="1191" cy="1762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2" name="Line 15"/>
          <p:cNvSpPr>
            <a:spLocks noChangeShapeType="1"/>
          </p:cNvSpPr>
          <p:nvPr/>
        </p:nvSpPr>
        <p:spPr bwMode="auto">
          <a:xfrm flipH="1">
            <a:off x="3343275" y="4627563"/>
            <a:ext cx="1191" cy="1762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3" name="Line 16"/>
          <p:cNvSpPr>
            <a:spLocks noChangeShapeType="1"/>
          </p:cNvSpPr>
          <p:nvPr/>
        </p:nvSpPr>
        <p:spPr bwMode="auto">
          <a:xfrm flipH="1">
            <a:off x="3519488" y="4451351"/>
            <a:ext cx="1191" cy="1762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4" name="Rectangle 17"/>
          <p:cNvSpPr>
            <a:spLocks noChangeArrowheads="1"/>
          </p:cNvSpPr>
          <p:nvPr/>
        </p:nvSpPr>
        <p:spPr bwMode="auto">
          <a:xfrm flipH="1">
            <a:off x="5648325" y="1609726"/>
            <a:ext cx="1472804" cy="600075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Trebuchet MS" pitchFamily="34" charset="0"/>
              </a:rPr>
              <a:t>Attenuation</a:t>
            </a:r>
          </a:p>
        </p:txBody>
      </p:sp>
      <p:sp>
        <p:nvSpPr>
          <p:cNvPr id="43025" name="Rectangle 18"/>
          <p:cNvSpPr>
            <a:spLocks noChangeArrowheads="1"/>
          </p:cNvSpPr>
          <p:nvPr/>
        </p:nvSpPr>
        <p:spPr bwMode="auto">
          <a:xfrm flipH="1">
            <a:off x="6016228" y="2887663"/>
            <a:ext cx="842963" cy="588962"/>
          </a:xfrm>
          <a:prstGeom prst="rect">
            <a:avLst/>
          </a:prstGeom>
          <a:noFill/>
          <a:ln w="28575" algn="ctr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Trebuchet MS" pitchFamily="34" charset="0"/>
              </a:rPr>
              <a:t>Scattering </a:t>
            </a:r>
          </a:p>
          <a:p>
            <a:pPr algn="ctr" eaLnBrk="1" hangingPunct="1"/>
            <a:r>
              <a:rPr lang="en-US" b="1">
                <a:latin typeface="Trebuchet MS" pitchFamily="34" charset="0"/>
              </a:rPr>
              <a:t>Losses</a:t>
            </a:r>
          </a:p>
        </p:txBody>
      </p:sp>
      <p:sp>
        <p:nvSpPr>
          <p:cNvPr id="43026" name="Rectangle 19"/>
          <p:cNvSpPr>
            <a:spLocks noChangeArrowheads="1"/>
          </p:cNvSpPr>
          <p:nvPr/>
        </p:nvSpPr>
        <p:spPr bwMode="auto">
          <a:xfrm flipH="1">
            <a:off x="6248401" y="4721226"/>
            <a:ext cx="956072" cy="917575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Compositional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fluctuations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 in material</a:t>
            </a:r>
          </a:p>
        </p:txBody>
      </p:sp>
      <p:sp>
        <p:nvSpPr>
          <p:cNvPr id="43027" name="Rectangle 20"/>
          <p:cNvSpPr>
            <a:spLocks noChangeArrowheads="1"/>
          </p:cNvSpPr>
          <p:nvPr/>
        </p:nvSpPr>
        <p:spPr bwMode="auto">
          <a:xfrm flipH="1">
            <a:off x="5029200" y="4721226"/>
            <a:ext cx="1047750" cy="917575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Inhomogeneities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 or defects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in fiber</a:t>
            </a:r>
          </a:p>
        </p:txBody>
      </p:sp>
      <p:sp>
        <p:nvSpPr>
          <p:cNvPr id="43028" name="Line 21"/>
          <p:cNvSpPr>
            <a:spLocks noChangeShapeType="1"/>
          </p:cNvSpPr>
          <p:nvPr/>
        </p:nvSpPr>
        <p:spPr bwMode="auto">
          <a:xfrm flipH="1">
            <a:off x="5715000" y="3886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29" name="Line 22"/>
          <p:cNvSpPr>
            <a:spLocks noChangeShapeType="1"/>
          </p:cNvSpPr>
          <p:nvPr/>
        </p:nvSpPr>
        <p:spPr bwMode="auto">
          <a:xfrm flipH="1">
            <a:off x="6781800" y="3870325"/>
            <a:ext cx="0" cy="85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0" name="Line 23"/>
          <p:cNvSpPr>
            <a:spLocks noChangeShapeType="1"/>
          </p:cNvSpPr>
          <p:nvPr/>
        </p:nvSpPr>
        <p:spPr bwMode="auto">
          <a:xfrm flipH="1">
            <a:off x="5715000" y="3886201"/>
            <a:ext cx="0" cy="83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1" name="Line 24"/>
          <p:cNvSpPr>
            <a:spLocks noChangeShapeType="1"/>
          </p:cNvSpPr>
          <p:nvPr/>
        </p:nvSpPr>
        <p:spPr bwMode="auto">
          <a:xfrm flipH="1">
            <a:off x="6491287" y="3476625"/>
            <a:ext cx="0" cy="393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2" name="Rectangle 25"/>
          <p:cNvSpPr>
            <a:spLocks noChangeArrowheads="1"/>
          </p:cNvSpPr>
          <p:nvPr/>
        </p:nvSpPr>
        <p:spPr bwMode="auto">
          <a:xfrm flipH="1">
            <a:off x="7805738" y="2952750"/>
            <a:ext cx="865585" cy="590550"/>
          </a:xfrm>
          <a:prstGeom prst="rect">
            <a:avLst/>
          </a:prstGeom>
          <a:noFill/>
          <a:ln w="28575" algn="ctr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Trebuchet MS" pitchFamily="34" charset="0"/>
              </a:rPr>
              <a:t>Radiative </a:t>
            </a:r>
          </a:p>
          <a:p>
            <a:pPr algn="ctr" eaLnBrk="1" hangingPunct="1"/>
            <a:r>
              <a:rPr lang="en-US" b="1">
                <a:latin typeface="Trebuchet MS" pitchFamily="34" charset="0"/>
              </a:rPr>
              <a:t>losses</a:t>
            </a:r>
          </a:p>
        </p:txBody>
      </p:sp>
      <p:sp>
        <p:nvSpPr>
          <p:cNvPr id="43033" name="Rectangle 26"/>
          <p:cNvSpPr>
            <a:spLocks noChangeArrowheads="1"/>
          </p:cNvSpPr>
          <p:nvPr/>
        </p:nvSpPr>
        <p:spPr bwMode="auto">
          <a:xfrm flipH="1">
            <a:off x="8229600" y="4737100"/>
            <a:ext cx="838200" cy="901700"/>
          </a:xfrm>
          <a:prstGeom prst="rect">
            <a:avLst/>
          </a:prstGeom>
          <a:noFill/>
          <a:ln w="28575" algn="ctr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Macroscopic 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bends</a:t>
            </a:r>
          </a:p>
        </p:txBody>
      </p:sp>
      <p:sp>
        <p:nvSpPr>
          <p:cNvPr id="43034" name="Rectangle 27"/>
          <p:cNvSpPr>
            <a:spLocks noChangeArrowheads="1"/>
          </p:cNvSpPr>
          <p:nvPr/>
        </p:nvSpPr>
        <p:spPr bwMode="auto">
          <a:xfrm flipH="1">
            <a:off x="7315200" y="4737100"/>
            <a:ext cx="781050" cy="901700"/>
          </a:xfrm>
          <a:prstGeom prst="rect">
            <a:avLst/>
          </a:prstGeom>
          <a:noFill/>
          <a:ln w="28575" algn="ctr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000" b="1">
                <a:latin typeface="Trebuchet MS" pitchFamily="34" charset="0"/>
              </a:rPr>
              <a:t>Microscopic</a:t>
            </a:r>
          </a:p>
          <a:p>
            <a:pPr algn="ctr" eaLnBrk="1" hangingPunct="1"/>
            <a:r>
              <a:rPr lang="en-US" sz="1000" b="1">
                <a:latin typeface="Trebuchet MS" pitchFamily="34" charset="0"/>
              </a:rPr>
              <a:t> bends</a:t>
            </a:r>
          </a:p>
        </p:txBody>
      </p:sp>
      <p:sp>
        <p:nvSpPr>
          <p:cNvPr id="43035" name="Line 28"/>
          <p:cNvSpPr>
            <a:spLocks noChangeShapeType="1"/>
          </p:cNvSpPr>
          <p:nvPr/>
        </p:nvSpPr>
        <p:spPr bwMode="auto">
          <a:xfrm flipH="1">
            <a:off x="7696200" y="3935413"/>
            <a:ext cx="105608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6" name="Line 29"/>
          <p:cNvSpPr>
            <a:spLocks noChangeShapeType="1"/>
          </p:cNvSpPr>
          <p:nvPr/>
        </p:nvSpPr>
        <p:spPr bwMode="auto">
          <a:xfrm flipH="1">
            <a:off x="8752285" y="3935413"/>
            <a:ext cx="0" cy="785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7" name="Line 30"/>
          <p:cNvSpPr>
            <a:spLocks noChangeShapeType="1"/>
          </p:cNvSpPr>
          <p:nvPr/>
        </p:nvSpPr>
        <p:spPr bwMode="auto">
          <a:xfrm flipH="1">
            <a:off x="7696200" y="3935413"/>
            <a:ext cx="0" cy="785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8" name="Line 31"/>
          <p:cNvSpPr>
            <a:spLocks noChangeShapeType="1"/>
          </p:cNvSpPr>
          <p:nvPr/>
        </p:nvSpPr>
        <p:spPr bwMode="auto">
          <a:xfrm flipH="1">
            <a:off x="8278416" y="3543300"/>
            <a:ext cx="0" cy="369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39" name="Line 32"/>
          <p:cNvSpPr>
            <a:spLocks noChangeShapeType="1"/>
          </p:cNvSpPr>
          <p:nvPr/>
        </p:nvSpPr>
        <p:spPr bwMode="auto">
          <a:xfrm flipH="1">
            <a:off x="4386263" y="2625725"/>
            <a:ext cx="394454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0" name="Line 33"/>
          <p:cNvSpPr>
            <a:spLocks noChangeShapeType="1"/>
          </p:cNvSpPr>
          <p:nvPr/>
        </p:nvSpPr>
        <p:spPr bwMode="auto">
          <a:xfrm flipH="1">
            <a:off x="8330804" y="2625726"/>
            <a:ext cx="0" cy="327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1" name="Line 34"/>
          <p:cNvSpPr>
            <a:spLocks noChangeShapeType="1"/>
          </p:cNvSpPr>
          <p:nvPr/>
        </p:nvSpPr>
        <p:spPr bwMode="auto">
          <a:xfrm flipH="1">
            <a:off x="4386263" y="2625726"/>
            <a:ext cx="1191" cy="327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2" name="Rectangle 37"/>
          <p:cNvSpPr>
            <a:spLocks noChangeArrowheads="1"/>
          </p:cNvSpPr>
          <p:nvPr/>
        </p:nvSpPr>
        <p:spPr bwMode="auto">
          <a:xfrm>
            <a:off x="609600" y="1676400"/>
            <a:ext cx="2133600" cy="685800"/>
          </a:xfrm>
          <a:prstGeom prst="rect">
            <a:avLst/>
          </a:prstGeom>
          <a:noFill/>
          <a:ln w="57150" algn="ctr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Trebuchet MS" pitchFamily="34" charset="0"/>
              </a:rPr>
              <a:t>Signal Distortion/</a:t>
            </a:r>
          </a:p>
          <a:p>
            <a:pPr algn="ctr" eaLnBrk="1" hangingPunct="1"/>
            <a:r>
              <a:rPr lang="en-US" b="1">
                <a:latin typeface="Trebuchet MS" pitchFamily="34" charset="0"/>
              </a:rPr>
              <a:t>Dispersion</a:t>
            </a:r>
          </a:p>
        </p:txBody>
      </p:sp>
      <p:sp>
        <p:nvSpPr>
          <p:cNvPr id="43043" name="Rectangle 38"/>
          <p:cNvSpPr>
            <a:spLocks noChangeArrowheads="1"/>
          </p:cNvSpPr>
          <p:nvPr/>
        </p:nvSpPr>
        <p:spPr bwMode="auto">
          <a:xfrm>
            <a:off x="2151460" y="3348039"/>
            <a:ext cx="820340" cy="909637"/>
          </a:xfrm>
          <a:prstGeom prst="rect">
            <a:avLst/>
          </a:prstGeom>
          <a:noFill/>
          <a:ln w="38100" algn="ctr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Polarization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-mode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Dispersion</a:t>
            </a:r>
          </a:p>
        </p:txBody>
      </p:sp>
      <p:sp>
        <p:nvSpPr>
          <p:cNvPr id="43044" name="Rectangle 39"/>
          <p:cNvSpPr>
            <a:spLocks noChangeArrowheads="1"/>
          </p:cNvSpPr>
          <p:nvPr/>
        </p:nvSpPr>
        <p:spPr bwMode="auto">
          <a:xfrm>
            <a:off x="1141810" y="3348039"/>
            <a:ext cx="840581" cy="909637"/>
          </a:xfrm>
          <a:prstGeom prst="rect">
            <a:avLst/>
          </a:prstGeom>
          <a:noFill/>
          <a:ln w="38100" algn="ctr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Intramodal 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Dispersion/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Chromatic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 Dispersion</a:t>
            </a:r>
          </a:p>
        </p:txBody>
      </p:sp>
      <p:sp>
        <p:nvSpPr>
          <p:cNvPr id="43045" name="Line 40"/>
          <p:cNvSpPr>
            <a:spLocks noChangeShapeType="1"/>
          </p:cNvSpPr>
          <p:nvPr/>
        </p:nvSpPr>
        <p:spPr bwMode="auto">
          <a:xfrm>
            <a:off x="565548" y="2973388"/>
            <a:ext cx="194548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6" name="Line 41"/>
          <p:cNvSpPr>
            <a:spLocks noChangeShapeType="1"/>
          </p:cNvSpPr>
          <p:nvPr/>
        </p:nvSpPr>
        <p:spPr bwMode="auto">
          <a:xfrm>
            <a:off x="565547" y="2973388"/>
            <a:ext cx="0" cy="374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7" name="Line 42"/>
          <p:cNvSpPr>
            <a:spLocks noChangeShapeType="1"/>
          </p:cNvSpPr>
          <p:nvPr/>
        </p:nvSpPr>
        <p:spPr bwMode="auto">
          <a:xfrm>
            <a:off x="2511029" y="2973388"/>
            <a:ext cx="0" cy="374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8" name="Line 43"/>
          <p:cNvSpPr>
            <a:spLocks noChangeShapeType="1"/>
          </p:cNvSpPr>
          <p:nvPr/>
        </p:nvSpPr>
        <p:spPr bwMode="auto">
          <a:xfrm>
            <a:off x="1525191" y="2362200"/>
            <a:ext cx="0" cy="9858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49" name="Rectangle 44"/>
          <p:cNvSpPr>
            <a:spLocks noChangeArrowheads="1"/>
          </p:cNvSpPr>
          <p:nvPr/>
        </p:nvSpPr>
        <p:spPr bwMode="auto">
          <a:xfrm>
            <a:off x="152400" y="3348039"/>
            <a:ext cx="820341" cy="909637"/>
          </a:xfrm>
          <a:prstGeom prst="rect">
            <a:avLst/>
          </a:prstGeom>
          <a:noFill/>
          <a:ln w="38100" algn="ctr">
            <a:solidFill>
              <a:srgbClr val="9933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Intermodal 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Delay/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Modal Delay</a:t>
            </a:r>
          </a:p>
        </p:txBody>
      </p:sp>
      <p:sp>
        <p:nvSpPr>
          <p:cNvPr id="43050" name="Rectangle 45"/>
          <p:cNvSpPr>
            <a:spLocks noChangeArrowheads="1"/>
          </p:cNvSpPr>
          <p:nvPr/>
        </p:nvSpPr>
        <p:spPr bwMode="auto">
          <a:xfrm>
            <a:off x="609600" y="4578350"/>
            <a:ext cx="867966" cy="908050"/>
          </a:xfrm>
          <a:prstGeom prst="rect">
            <a:avLst/>
          </a:prstGeom>
          <a:noFill/>
          <a:ln w="38100" algn="ctr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Material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 Dispersion</a:t>
            </a:r>
          </a:p>
        </p:txBody>
      </p:sp>
      <p:sp>
        <p:nvSpPr>
          <p:cNvPr id="43051" name="Rectangle 46"/>
          <p:cNvSpPr>
            <a:spLocks noChangeArrowheads="1"/>
          </p:cNvSpPr>
          <p:nvPr/>
        </p:nvSpPr>
        <p:spPr bwMode="auto">
          <a:xfrm>
            <a:off x="1622823" y="4578350"/>
            <a:ext cx="815578" cy="908050"/>
          </a:xfrm>
          <a:prstGeom prst="rect">
            <a:avLst/>
          </a:prstGeom>
          <a:noFill/>
          <a:ln w="38100" algn="ctr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Waveguide</a:t>
            </a:r>
          </a:p>
          <a:p>
            <a:pPr marL="342900" indent="-342900" algn="ctr" eaLnBrk="1" hangingPunct="1">
              <a:spcBef>
                <a:spcPct val="50000"/>
              </a:spcBef>
            </a:pPr>
            <a:r>
              <a:rPr lang="en-US" sz="1000" b="1">
                <a:latin typeface="Trebuchet MS" pitchFamily="34" charset="0"/>
              </a:rPr>
              <a:t> Dispersion</a:t>
            </a:r>
          </a:p>
        </p:txBody>
      </p:sp>
      <p:sp>
        <p:nvSpPr>
          <p:cNvPr id="43052" name="Line 47"/>
          <p:cNvSpPr>
            <a:spLocks noChangeShapeType="1"/>
          </p:cNvSpPr>
          <p:nvPr/>
        </p:nvSpPr>
        <p:spPr bwMode="auto">
          <a:xfrm>
            <a:off x="1165623" y="4418013"/>
            <a:ext cx="69651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3" name="Line 48"/>
          <p:cNvSpPr>
            <a:spLocks noChangeShapeType="1"/>
          </p:cNvSpPr>
          <p:nvPr/>
        </p:nvSpPr>
        <p:spPr bwMode="auto">
          <a:xfrm>
            <a:off x="1165622" y="4418014"/>
            <a:ext cx="0" cy="160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4" name="Line 49"/>
          <p:cNvSpPr>
            <a:spLocks noChangeShapeType="1"/>
          </p:cNvSpPr>
          <p:nvPr/>
        </p:nvSpPr>
        <p:spPr bwMode="auto">
          <a:xfrm>
            <a:off x="1862138" y="4418014"/>
            <a:ext cx="0" cy="160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5" name="Line 50"/>
          <p:cNvSpPr>
            <a:spLocks noChangeShapeType="1"/>
          </p:cNvSpPr>
          <p:nvPr/>
        </p:nvSpPr>
        <p:spPr bwMode="auto">
          <a:xfrm>
            <a:off x="1525191" y="4257675"/>
            <a:ext cx="0" cy="160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6" name="Rectangle 51"/>
          <p:cNvSpPr>
            <a:spLocks noChangeArrowheads="1"/>
          </p:cNvSpPr>
          <p:nvPr/>
        </p:nvSpPr>
        <p:spPr bwMode="auto">
          <a:xfrm>
            <a:off x="3124200" y="381000"/>
            <a:ext cx="2819400" cy="762000"/>
          </a:xfrm>
          <a:prstGeom prst="rect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sz="2400" b="1">
              <a:latin typeface="Trebuchet MS" pitchFamily="34" charset="0"/>
            </a:endParaRPr>
          </a:p>
          <a:p>
            <a:pPr algn="ctr" eaLnBrk="1" hangingPunct="1"/>
            <a:r>
              <a:rPr lang="en-US" b="1">
                <a:latin typeface="Trebuchet MS" pitchFamily="34" charset="0"/>
              </a:rPr>
              <a:t>Signal Degradation</a:t>
            </a:r>
          </a:p>
          <a:p>
            <a:pPr algn="ctr" eaLnBrk="1" hangingPunct="1"/>
            <a:r>
              <a:rPr lang="en-US" b="1">
                <a:latin typeface="Trebuchet MS" pitchFamily="34" charset="0"/>
              </a:rPr>
              <a:t> in the Optical Fiber</a:t>
            </a:r>
          </a:p>
          <a:p>
            <a:pPr algn="ctr" eaLnBrk="1" hangingPunct="1"/>
            <a:endParaRPr lang="en-US" sz="2400" b="1">
              <a:latin typeface="Trebuchet MS" pitchFamily="34" charset="0"/>
            </a:endParaRPr>
          </a:p>
        </p:txBody>
      </p:sp>
      <p:sp>
        <p:nvSpPr>
          <p:cNvPr id="43057" name="Line 52"/>
          <p:cNvSpPr>
            <a:spLocks noChangeShapeType="1"/>
          </p:cNvSpPr>
          <p:nvPr/>
        </p:nvSpPr>
        <p:spPr bwMode="auto">
          <a:xfrm flipV="1">
            <a:off x="6400800" y="22098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8" name="Line 53"/>
          <p:cNvSpPr>
            <a:spLocks noChangeShapeType="1"/>
          </p:cNvSpPr>
          <p:nvPr/>
        </p:nvSpPr>
        <p:spPr bwMode="auto">
          <a:xfrm>
            <a:off x="1447800" y="1371600"/>
            <a:ext cx="487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59" name="Line 54"/>
          <p:cNvSpPr>
            <a:spLocks noChangeShapeType="1"/>
          </p:cNvSpPr>
          <p:nvPr/>
        </p:nvSpPr>
        <p:spPr bwMode="auto">
          <a:xfrm>
            <a:off x="1447800" y="13716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60" name="Line 55"/>
          <p:cNvSpPr>
            <a:spLocks noChangeShapeType="1"/>
          </p:cNvSpPr>
          <p:nvPr/>
        </p:nvSpPr>
        <p:spPr bwMode="auto">
          <a:xfrm>
            <a:off x="6324600" y="1371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61" name="Line 56"/>
          <p:cNvSpPr>
            <a:spLocks noChangeShapeType="1"/>
          </p:cNvSpPr>
          <p:nvPr/>
        </p:nvSpPr>
        <p:spPr bwMode="auto">
          <a:xfrm>
            <a:off x="4419600" y="1143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1752600" y="3200400"/>
            <a:ext cx="6447234" cy="1320800"/>
          </a:xfrm>
        </p:spPr>
        <p:txBody>
          <a:bodyPr/>
          <a:lstStyle/>
          <a:p>
            <a:pPr algn="ctr" eaLnBrk="1" hangingPunct="1"/>
            <a:r>
              <a:rPr lang="en-IN" b="1" dirty="0" smtClean="0">
                <a:solidFill>
                  <a:schemeClr val="tx1"/>
                </a:solidFill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1504</Words>
  <Application>Microsoft Office PowerPoint</Application>
  <PresentationFormat>On-screen Show (4:3)</PresentationFormat>
  <Paragraphs>224</Paragraphs>
  <Slides>45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Office Theme</vt:lpstr>
      <vt:lpstr>Corel PHOTO-PAINT 9.0 Image</vt:lpstr>
      <vt:lpstr>CorelDRAW 9.0 Graphic</vt:lpstr>
      <vt:lpstr>SIGNAL DEGRADATION IN FIBER OPTICS</vt:lpstr>
      <vt:lpstr>Key Elements of Optical Fiber Systems</vt:lpstr>
      <vt:lpstr>A Fiber-Optic System</vt:lpstr>
      <vt:lpstr>Advantages of Optical Fiber</vt:lpstr>
      <vt:lpstr>Operating Ranges of Components</vt:lpstr>
      <vt:lpstr>Optical Fiber as a Communication Channel</vt:lpstr>
      <vt:lpstr>Acceptance Angle</vt:lpstr>
      <vt:lpstr>Numerical Apperture</vt:lpstr>
      <vt:lpstr>Slide 9</vt:lpstr>
      <vt:lpstr>Slide 10</vt:lpstr>
      <vt:lpstr>Slide 11</vt:lpstr>
      <vt:lpstr>Example 1</vt:lpstr>
      <vt:lpstr>Solution </vt:lpstr>
      <vt:lpstr>Optical Fiber Modes and Configurations</vt:lpstr>
      <vt:lpstr>Slide 15</vt:lpstr>
      <vt:lpstr>Signal Degradation in Optical Fibers</vt:lpstr>
      <vt:lpstr>Slide 17</vt:lpstr>
      <vt:lpstr>Slide 18</vt:lpstr>
      <vt:lpstr>Slide 19</vt:lpstr>
      <vt:lpstr>Slide 20</vt:lpstr>
      <vt:lpstr>Material absorption losses in silica glass fibers</vt:lpstr>
      <vt:lpstr>Linear scattering losses</vt:lpstr>
      <vt:lpstr>Rayleigh scattering</vt:lpstr>
      <vt:lpstr>Mie scattering</vt:lpstr>
      <vt:lpstr>Nonlinear scattering losses</vt:lpstr>
      <vt:lpstr>Stimulated Brillouin scattering</vt:lpstr>
      <vt:lpstr>Slide 27</vt:lpstr>
      <vt:lpstr>Stimulated Raman scattering</vt:lpstr>
      <vt:lpstr>Slide 29</vt:lpstr>
      <vt:lpstr>Dispersion</vt:lpstr>
      <vt:lpstr>Slide 31</vt:lpstr>
      <vt:lpstr> Power loss in a curved fiber</vt:lpstr>
      <vt:lpstr>Microbending losses</vt:lpstr>
      <vt:lpstr>Slide 34</vt:lpstr>
      <vt:lpstr>Slide 35</vt:lpstr>
      <vt:lpstr>Pulse broadening and attenuation</vt:lpstr>
      <vt:lpstr>Slide 37</vt:lpstr>
      <vt:lpstr>Dispersion</vt:lpstr>
      <vt:lpstr>SM-Fiber Dispersions</vt:lpstr>
      <vt:lpstr>SM-fiber dispersions</vt:lpstr>
      <vt:lpstr>Slide 41</vt:lpstr>
      <vt:lpstr>Slide 42</vt:lpstr>
      <vt:lpstr>Slide 43</vt:lpstr>
      <vt:lpstr>Slide 44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DEGRADATION IN FIBER OPTICS</dc:title>
  <dc:creator>user</dc:creator>
  <cp:lastModifiedBy>Windows User</cp:lastModifiedBy>
  <cp:revision>2</cp:revision>
  <dcterms:created xsi:type="dcterms:W3CDTF">2006-08-16T00:00:00Z</dcterms:created>
  <dcterms:modified xsi:type="dcterms:W3CDTF">2024-11-20T11:27:07Z</dcterms:modified>
</cp:coreProperties>
</file>