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1"/>
  </p:notes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80" r:id="rId14"/>
    <p:sldId id="279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1" r:id="rId25"/>
    <p:sldId id="290" r:id="rId26"/>
    <p:sldId id="292" r:id="rId27"/>
    <p:sldId id="295" r:id="rId28"/>
    <p:sldId id="293" r:id="rId29"/>
    <p:sldId id="266" r:id="rId30"/>
  </p:sldIdLst>
  <p:sldSz cx="9144000" cy="6858000" type="screen4x3"/>
  <p:notesSz cx="6858000" cy="9144000"/>
  <p:defaultTextStyle>
    <a:defPPr>
      <a:defRPr lang="en-T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03D97D0-7425-4EED-B638-A2BFF299D73F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80"/>
            <p14:sldId id="279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1"/>
            <p14:sldId id="290"/>
            <p14:sldId id="292"/>
            <p14:sldId id="295"/>
            <p14:sldId id="293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 W N E R" initials="OWNER" lastIdx="1" clrIdx="0">
    <p:extLst>
      <p:ext uri="{19B8F6BF-5375-455C-9EA6-DF929625EA0E}">
        <p15:presenceInfo xmlns:p15="http://schemas.microsoft.com/office/powerpoint/2012/main" userId="O W N E 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8A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364" autoAdjust="0"/>
  </p:normalViewPr>
  <p:slideViewPr>
    <p:cSldViewPr snapToGrid="0">
      <p:cViewPr varScale="1">
        <p:scale>
          <a:sx n="67" d="100"/>
          <a:sy n="67" d="100"/>
        </p:scale>
        <p:origin x="15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7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6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61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6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6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6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42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90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34290" indent="0" algn="r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9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50A14-3483-4285-B5AA-931AE0651600}" type="datetime1">
              <a:rPr lang="en-US" smtClean="0"/>
              <a:t>12/19/2023</a:t>
            </a:fld>
            <a:endParaRPr lang="en-US"/>
          </a:p>
        </p:txBody>
      </p:sp>
      <p:sp>
        <p:nvSpPr>
          <p:cNvPr id="104869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D15ED53B-996B-4378-9C91-896BD38502A8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8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6AE6F-A67B-44C9-9AC6-50088D371ABA}" type="datetime1">
              <a:rPr lang="en-US" smtClean="0"/>
              <a:t>12/19/2023</a:t>
            </a:fld>
            <a:endParaRPr lang="en-US"/>
          </a:p>
        </p:txBody>
      </p:sp>
      <p:sp>
        <p:nvSpPr>
          <p:cNvPr id="104858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42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20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1650">
                <a:solidFill>
                  <a:schemeClr val="tx1"/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1641B-6EDB-4D53-8E2C-9A5FEF4070D9}" type="datetime1">
              <a:rPr lang="en-US" smtClean="0"/>
              <a:t>12/19/2023</a:t>
            </a:fld>
            <a:endParaRPr lang="en-US"/>
          </a:p>
        </p:txBody>
      </p:sp>
      <p:sp>
        <p:nvSpPr>
          <p:cNvPr id="104872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1ABFF248-A989-4D8D-B05F-37617110CFF0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7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48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195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49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195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5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DD27E-6919-4D02-A73B-49222A03FCC1}" type="datetime1">
              <a:rPr lang="en-US" smtClean="0"/>
              <a:t>12/19/2023</a:t>
            </a:fld>
            <a:endParaRPr lang="en-US"/>
          </a:p>
        </p:txBody>
      </p:sp>
      <p:sp>
        <p:nvSpPr>
          <p:cNvPr id="1048751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52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0793-B774-4696-A8C6-8B6889409F16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25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18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6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1859759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18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7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28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514600"/>
            <a:ext cx="4041775" cy="3845720"/>
          </a:xfrm>
        </p:spPr>
        <p:txBody>
          <a:bodyPr tIns="0"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29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7AAEB-6E84-4244-ABAD-B2263C3CF1FF}" type="datetime1">
              <a:rPr lang="en-US" smtClean="0"/>
              <a:t>12/19/2023</a:t>
            </a:fld>
            <a:endParaRPr lang="en-US"/>
          </a:p>
        </p:txBody>
      </p:sp>
      <p:sp>
        <p:nvSpPr>
          <p:cNvPr id="1048730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31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8298E-17EE-419C-B1DA-2E7036F0130C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375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9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69A88-7CB7-4212-B83C-03F933A21110}" type="datetime1">
              <a:rPr lang="en-US" smtClean="0"/>
              <a:t>12/19/2023</a:t>
            </a:fld>
            <a:endParaRPr lang="en-US"/>
          </a:p>
        </p:txBody>
      </p:sp>
      <p:sp>
        <p:nvSpPr>
          <p:cNvPr id="104869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35066-385A-4712-B3B6-9A5B1321A3AC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33CB-A137-449F-A226-775613DC0A71}" type="datetime1">
              <a:rPr lang="en-US" smtClean="0"/>
              <a:t>12/19/2023</a:t>
            </a:fld>
            <a:endParaRPr lang="en-US"/>
          </a:p>
        </p:txBody>
      </p:sp>
      <p:sp>
        <p:nvSpPr>
          <p:cNvPr id="104873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3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D2C9E-88E8-43DD-9653-6C1943F77BB4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3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195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54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050"/>
            </a:lvl1pPr>
            <a:lvl2pPr indent="0" algn="l">
              <a:buNone/>
              <a:defRPr sz="900"/>
            </a:lvl2pPr>
            <a:lvl3pPr indent="0" algn="l">
              <a:buNone/>
              <a:defRPr sz="750"/>
            </a:lvl3pPr>
            <a:lvl4pPr indent="0" algn="l">
              <a:buNone/>
              <a:defRPr sz="675"/>
            </a:lvl4pPr>
            <a:lvl5pPr indent="0" algn="l">
              <a:buNone/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55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100"/>
            </a:lvl1pPr>
            <a:lvl2pPr>
              <a:defRPr sz="1950"/>
            </a:lvl2pPr>
            <a:lvl3pPr>
              <a:defRPr sz="1800"/>
            </a:lvl3pPr>
            <a:lvl4pPr>
              <a:defRPr sz="1500"/>
            </a:lvl4pPr>
            <a:lvl5pPr>
              <a:defRPr sz="13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56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44A7-F6EB-437F-8AB7-57EF0FDCE1F8}" type="datetime1">
              <a:rPr lang="en-US" smtClean="0"/>
              <a:t>12/19/2023</a:t>
            </a:fld>
            <a:endParaRPr lang="en-US"/>
          </a:p>
        </p:txBody>
      </p:sp>
      <p:sp>
        <p:nvSpPr>
          <p:cNvPr id="1048757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5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B7BB-B9B6-4EC6-A38E-4F4D80B3AFA3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Snip and Round Single Corner Rectangle 13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en-US" sz="1350"/>
          </a:p>
        </p:txBody>
      </p:sp>
      <p:sp>
        <p:nvSpPr>
          <p:cNvPr id="1048710" name="Right Triangle 5"/>
          <p:cNvSpPr/>
          <p:nvPr/>
        </p:nvSpPr>
        <p:spPr>
          <a:xfrm rot="420000" flipV="1">
            <a:off x="8004176" y="5359402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en-US" sz="1350"/>
          </a:p>
        </p:txBody>
      </p:sp>
      <p:sp>
        <p:nvSpPr>
          <p:cNvPr id="1048711" name="Freeform 15"/>
          <p:cNvSpPr/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/>
            <a:endParaRPr lang="en-US" sz="1350">
              <a:latin typeface="+mn-lt"/>
            </a:endParaRPr>
          </a:p>
        </p:txBody>
      </p:sp>
      <p:sp>
        <p:nvSpPr>
          <p:cNvPr id="1048712" name="Freeform 16"/>
          <p:cNvSpPr/>
          <p:nvPr/>
        </p:nvSpPr>
        <p:spPr bwMode="auto">
          <a:xfrm flipV="1">
            <a:off x="4381500" y="6219827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/>
            <a:endParaRPr lang="en-US" sz="1350">
              <a:latin typeface="+mn-lt"/>
            </a:endParaRPr>
          </a:p>
        </p:txBody>
      </p:sp>
      <p:sp>
        <p:nvSpPr>
          <p:cNvPr id="1048713" name="Title 1"/>
          <p:cNvSpPr>
            <a:spLocks noGrp="1"/>
          </p:cNvSpPr>
          <p:nvPr>
            <p:ph type="title"/>
          </p:nvPr>
        </p:nvSpPr>
        <p:spPr>
          <a:xfrm>
            <a:off x="609600" y="1176998"/>
            <a:ext cx="2212848" cy="1582621"/>
          </a:xfrm>
        </p:spPr>
        <p:txBody>
          <a:bodyPr lIns="45720" rIns="45720" bIns="45720"/>
          <a:lstStyle>
            <a:lvl1pPr algn="l">
              <a:buNone/>
              <a:defRPr sz="15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1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188"/>
              </a:spcBef>
              <a:buFontTx/>
              <a:buNone/>
              <a:defRPr sz="975"/>
            </a:lvl1pPr>
            <a:lvl2pPr>
              <a:defRPr sz="900"/>
            </a:lvl2pPr>
            <a:lvl3pPr>
              <a:defRPr sz="750"/>
            </a:lvl3pPr>
            <a:lvl4pPr>
              <a:defRPr sz="675"/>
            </a:lvl4pPr>
            <a:lvl5pPr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5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4871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10B45-595E-4E97-A9CB-DDD48AA7C440}" type="datetime1">
              <a:rPr lang="en-US" smtClean="0"/>
              <a:t>12/19/2023</a:t>
            </a:fld>
            <a:endParaRPr lang="en-US"/>
          </a:p>
        </p:txBody>
      </p:sp>
      <p:sp>
        <p:nvSpPr>
          <p:cNvPr id="104871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1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2"/>
            <a:ext cx="609600" cy="365125"/>
          </a:xfrm>
        </p:spPr>
        <p:txBody>
          <a:bodyPr/>
          <a:lstStyle/>
          <a:p>
            <a:fld id="{43B8A962-D83D-4897-A8B5-1C7B73F65C11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4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4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8CA0B-8DCD-4AE3-9E5D-30F930874C94}" type="datetime1">
              <a:rPr lang="en-US" smtClean="0"/>
              <a:t>12/19/2023</a:t>
            </a:fld>
            <a:endParaRPr lang="en-US"/>
          </a:p>
        </p:txBody>
      </p:sp>
      <p:sp>
        <p:nvSpPr>
          <p:cNvPr id="104874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4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F36CE-58F5-40DE-B895-8959E01F79F2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2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0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2"/>
            <a:ext cx="6019800" cy="5211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6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35C7E-6C26-4562-95EB-6C3403AAB1AB}" type="datetime1">
              <a:rPr lang="en-US" smtClean="0"/>
              <a:t>12/19/2023</a:t>
            </a:fld>
            <a:endParaRPr lang="en-US"/>
          </a:p>
        </p:txBody>
      </p:sp>
      <p:sp>
        <p:nvSpPr>
          <p:cNvPr id="1048707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05E5-C8A0-4DDF-A1E8-013BBAD9731E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36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7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8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90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9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1E302-3999-4873-BE4B-33FFE6A45501}" type="datetime1">
              <a:rPr lang="en-US" smtClean="0"/>
              <a:t>12/19/2023</a:t>
            </a:fld>
            <a:endParaRPr lang="en-US"/>
          </a:p>
        </p:txBody>
      </p:sp>
      <p:sp>
        <p:nvSpPr>
          <p:cNvPr id="1048740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41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301D2-5FDB-428E-B6DC-2B2A69C1266C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99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0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1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D97EF-51D5-45D5-AD6D-B3E5703E720E}" type="datetime1">
              <a:rPr lang="en-US" smtClean="0"/>
              <a:t>12/19/2023</a:t>
            </a:fld>
            <a:endParaRPr lang="en-US"/>
          </a:p>
        </p:txBody>
      </p:sp>
      <p:sp>
        <p:nvSpPr>
          <p:cNvPr id="1048702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3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597DA-B642-4C4B-93B6-CE1E2C30D462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Freeform 6"/>
          <p:cNvSpPr/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/>
            <a:endParaRPr lang="en-US" sz="1350">
              <a:latin typeface="+mn-lt"/>
            </a:endParaRPr>
          </a:p>
        </p:txBody>
      </p:sp>
      <p:sp>
        <p:nvSpPr>
          <p:cNvPr id="1048577" name="Freeform 7"/>
          <p:cNvSpPr/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/>
            <a:endParaRPr lang="en-US" sz="1350">
              <a:latin typeface="+mn-lt"/>
            </a:endParaRPr>
          </a:p>
        </p:txBody>
      </p:sp>
      <p:sp>
        <p:nvSpPr>
          <p:cNvPr id="104857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TZ"/>
              <a:t>Click to edit Master title style</a:t>
            </a:r>
          </a:p>
        </p:txBody>
      </p:sp>
      <p:sp>
        <p:nvSpPr>
          <p:cNvPr id="104857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5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TZ"/>
              <a:t>Click to edit Master text styles</a:t>
            </a:r>
          </a:p>
          <a:p>
            <a:pPr lvl="1"/>
            <a:r>
              <a:rPr lang="en-US" altLang="en-TZ"/>
              <a:t>Second level</a:t>
            </a:r>
          </a:p>
          <a:p>
            <a:pPr lvl="2"/>
            <a:r>
              <a:rPr lang="en-US" altLang="en-TZ"/>
              <a:t>Third level</a:t>
            </a:r>
          </a:p>
          <a:p>
            <a:pPr lvl="3"/>
            <a:r>
              <a:rPr lang="en-US" altLang="en-TZ"/>
              <a:t>Fourth level</a:t>
            </a:r>
          </a:p>
          <a:p>
            <a:pPr lvl="4"/>
            <a:r>
              <a:rPr lang="en-US" altLang="en-TZ"/>
              <a:t>Fifth level</a:t>
            </a:r>
          </a:p>
        </p:txBody>
      </p:sp>
      <p:sp>
        <p:nvSpPr>
          <p:cNvPr id="104858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900">
                <a:solidFill>
                  <a:schemeClr val="tx2">
                    <a:shade val="90000"/>
                  </a:schemeClr>
                </a:solidFill>
                <a:latin typeface="Arial" charset="0"/>
              </a:defRPr>
            </a:lvl1pPr>
          </a:lstStyle>
          <a:p>
            <a:fld id="{0695FB56-EA84-4844-9BFB-327161247F83}" type="datetime1">
              <a:rPr lang="en-US" smtClean="0"/>
              <a:t>12/19/2023</a:t>
            </a:fld>
            <a:endParaRPr lang="en-US"/>
          </a:p>
        </p:txBody>
      </p:sp>
      <p:sp>
        <p:nvSpPr>
          <p:cNvPr id="1048581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2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900">
                <a:solidFill>
                  <a:schemeClr val="tx2">
                    <a:shade val="90000"/>
                  </a:schemeClr>
                </a:solidFill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48582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2"/>
            <a:ext cx="762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045C75"/>
                </a:solidFill>
              </a:defRPr>
            </a:lvl1pPr>
          </a:lstStyle>
          <a:p>
            <a:fld id="{F2709C22-77CA-47A0-B90A-4ACEF2B64A71}" type="slidenum">
              <a:rPr lang="en-US" altLang="en-TZ"/>
              <a:t>‹#›</a:t>
            </a:fld>
            <a:endParaRPr lang="en-US" altLang="en-TZ"/>
          </a:p>
        </p:txBody>
      </p:sp>
      <p:grpSp>
        <p:nvGrpSpPr>
          <p:cNvPr id="12" name="Group 1"/>
          <p:cNvGrpSpPr/>
          <p:nvPr/>
        </p:nvGrpSpPr>
        <p:grpSpPr bwMode="auto">
          <a:xfrm>
            <a:off x="-19049" y="203200"/>
            <a:ext cx="9180513" cy="647700"/>
            <a:chOff x="-19045" y="216550"/>
            <a:chExt cx="9180548" cy="649224"/>
          </a:xfrm>
        </p:grpSpPr>
        <p:sp>
          <p:nvSpPr>
            <p:cNvPr id="1048583" name="Freeform 11"/>
            <p:cNvSpPr/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16000">
                    <a:schemeClr val="accent2">
                      <a:shade val="75000"/>
                      <a:alpha val="56000"/>
                    </a:schemeClr>
                  </a:gs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/>
              <a:endParaRPr lang="en-US" sz="1350">
                <a:latin typeface="Arial" charset="0"/>
              </a:endParaRPr>
            </a:p>
          </p:txBody>
        </p:sp>
        <p:sp>
          <p:nvSpPr>
            <p:cNvPr id="1048584" name="Freeform 12"/>
            <p:cNvSpPr/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33000">
                    <a:schemeClr val="accent2">
                      <a:alpha val="56000"/>
                    </a:schemeClr>
                  </a:gs>
                  <a:gs pos="44000">
                    <a:schemeClr val="accent1"/>
                  </a:gs>
                  <a:gs pos="74000">
                    <a:schemeClr val="accent4"/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/>
              <a:endParaRPr lang="en-US" sz="1350">
                <a:latin typeface="Arial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75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9pPr>
    </p:titleStyle>
    <p:bodyStyle>
      <a:lvl1pPr marL="204788" indent="-204788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79822" indent="-184547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4547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890588" indent="-157163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096566" indent="-157163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303020" indent="-157734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indent="-13716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2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645920" indent="-137160" algn="l" rtl="0" eaLnBrk="1" latinLnBrk="0" hangingPunct="1">
        <a:spcBef>
          <a:spcPct val="20000"/>
        </a:spcBef>
        <a:buClr>
          <a:schemeClr val="tx2"/>
        </a:buClr>
        <a:buChar char="•"/>
        <a:defRPr kumimoji="0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51660" indent="-13716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05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4A83E-CEF9-42CD-AF42-1788A4C99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144000" cy="6857999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TRANSIENT OF AN ELECTRICAL CIRCUIT.</a:t>
            </a:r>
          </a:p>
          <a:p>
            <a:r>
              <a:rPr lang="en-US" sz="3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Whenever the electrical power supplied to a</a:t>
            </a:r>
          </a:p>
          <a:p>
            <a:r>
              <a:rPr lang="en-US" sz="3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circuit changes momentarily over a short duration of time, it is called </a:t>
            </a:r>
            <a:r>
              <a:rPr lang="en-US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transients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almost this effect may occur in an electrical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circuit due to capacitive coupling, inductor coupling or conducted noise.</a:t>
            </a:r>
          </a:p>
          <a:p>
            <a:pPr algn="l"/>
            <a:r>
              <a:rPr lang="en-US" sz="3200" b="1" i="1" u="none" strike="noStrike" baseline="0" dirty="0">
                <a:solidFill>
                  <a:srgbClr val="000000"/>
                </a:solidFill>
                <a:latin typeface="ItcKabel-Book"/>
              </a:rPr>
              <a:t>The </a:t>
            </a:r>
            <a:r>
              <a:rPr lang="en-US" sz="3200" b="1" i="1" u="none" strike="noStrike" baseline="0" dirty="0">
                <a:solidFill>
                  <a:srgbClr val="009E70"/>
                </a:solidFill>
                <a:latin typeface="ItcKabel-Medium"/>
              </a:rPr>
              <a:t>transient response </a:t>
            </a:r>
            <a:r>
              <a:rPr lang="en-US" sz="3200" b="1" i="1" u="none" strike="noStrike" baseline="0" dirty="0">
                <a:solidFill>
                  <a:srgbClr val="000000"/>
                </a:solidFill>
                <a:latin typeface="ItcKabel-Book"/>
              </a:rPr>
              <a:t>is the circuit’s temporary response that will die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ItcKabel-Book"/>
              </a:rPr>
              <a:t> </a:t>
            </a:r>
            <a:r>
              <a:rPr lang="en-US" sz="3200" b="1" i="1" u="none" strike="noStrike" baseline="0" dirty="0">
                <a:solidFill>
                  <a:srgbClr val="000000"/>
                </a:solidFill>
                <a:latin typeface="ItcKabel-Book"/>
              </a:rPr>
              <a:t>out with time.</a:t>
            </a:r>
          </a:p>
          <a:p>
            <a:r>
              <a:rPr lang="en-US" sz="3200" b="1" i="1" u="none" strike="noStrike" baseline="0" dirty="0">
                <a:solidFill>
                  <a:srgbClr val="000000"/>
                </a:solidFill>
                <a:latin typeface="ItcKabel-Book"/>
              </a:rPr>
              <a:t>The </a:t>
            </a:r>
            <a:r>
              <a:rPr lang="en-US" sz="3200" b="1" i="1" u="none" strike="noStrike" baseline="0" dirty="0">
                <a:solidFill>
                  <a:srgbClr val="009E70"/>
                </a:solidFill>
                <a:latin typeface="ItcKabel-Medium"/>
              </a:rPr>
              <a:t>steady-state response </a:t>
            </a:r>
            <a:r>
              <a:rPr lang="en-US" sz="3200" b="1" i="1" u="none" strike="noStrike" baseline="0" dirty="0">
                <a:solidFill>
                  <a:srgbClr val="000000"/>
                </a:solidFill>
                <a:latin typeface="ItcKabel-Book"/>
              </a:rPr>
              <a:t>is the behavior of the circuit in a long time after an external excitation is applied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ItcKabel-Book"/>
              </a:rPr>
              <a:t>.</a:t>
            </a:r>
            <a:endParaRPr lang="en-US" sz="32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b="0" i="0" u="none" strike="noStrike" baseline="0" dirty="0">
              <a:solidFill>
                <a:srgbClr val="000000"/>
              </a:solidFill>
              <a:latin typeface="ItcKabel-Book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3DAAFC-637F-4D7D-8646-726AF61B7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427596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3C343-6B36-4AD4-917E-22E5F0938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17418"/>
            <a:ext cx="9144000" cy="6040581"/>
          </a:xfrm>
        </p:spPr>
        <p:txBody>
          <a:bodyPr/>
          <a:lstStyle/>
          <a:p>
            <a:r>
              <a:rPr lang="en-US" sz="4000" b="0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Transients are categorized as either </a:t>
            </a:r>
            <a:r>
              <a:rPr lang="en-US" sz="40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impulse</a:t>
            </a:r>
            <a:r>
              <a:rPr lang="en-US" sz="4000" b="0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40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oscillatory</a:t>
            </a:r>
            <a:r>
              <a:rPr lang="en-US" sz="4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40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Impulse transients-</a:t>
            </a:r>
            <a:r>
              <a:rPr lang="en-US" sz="4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transients typically have a fast rise time, a fairly rapid decay, and a high energy content,</a:t>
            </a:r>
          </a:p>
          <a:p>
            <a:r>
              <a:rPr lang="en-US" sz="4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rising to hundreds and even thousands of</a:t>
            </a:r>
          </a:p>
          <a:p>
            <a:r>
              <a:rPr lang="en-US" sz="4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volts. Their duration can be from a few microseconds up to 200 microseconds</a:t>
            </a:r>
            <a:r>
              <a:rPr lang="en-US" sz="3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b="1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A43B90-210E-4454-9C4E-3C89F4F19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2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3605414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78E27-56F8-4DE6-8584-07C772EC2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1273"/>
            <a:ext cx="9144000" cy="6026727"/>
          </a:xfrm>
        </p:spPr>
        <p:txBody>
          <a:bodyPr/>
          <a:lstStyle/>
          <a:p>
            <a:r>
              <a:rPr lang="en-US" sz="44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Oscillatory transients-</a:t>
            </a:r>
            <a:r>
              <a:rPr lang="en-US" sz="440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Sometimes</a:t>
            </a:r>
            <a:r>
              <a:rPr lang="en-US" sz="44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called ring wave transients, this type of disturbance has a fast rise time, oscillations that decay exponentially, and lower energy content than impulse transients (250V to 2,500V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AC90D0-252F-4CA9-8E38-1A5CA2711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3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2195135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6E205-3BBE-4FB3-9005-1D5D0592E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144000" cy="6857999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6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Sources of transients.</a:t>
            </a:r>
          </a:p>
          <a:p>
            <a:pPr marL="514350" indent="-514350">
              <a:buFont typeface="+mj-lt"/>
              <a:buAutoNum type="romanUcPeriod"/>
            </a:pPr>
            <a:endParaRPr lang="en-US" sz="1800" b="0" i="0" u="none" strike="noStrike" baseline="0" dirty="0">
              <a:solidFill>
                <a:srgbClr val="13B70E"/>
              </a:solidFill>
              <a:latin typeface="ItcKabel-Medium"/>
            </a:endParaRPr>
          </a:p>
          <a:p>
            <a:pPr marL="514350" indent="-514350">
              <a:buFont typeface="+mj-lt"/>
              <a:buAutoNum type="romanUcPeriod"/>
            </a:pPr>
            <a:r>
              <a:rPr lang="en-US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Source-Free RC Circuit</a:t>
            </a:r>
          </a:p>
          <a:p>
            <a:pPr algn="l"/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A source-free </a:t>
            </a:r>
            <a:r>
              <a:rPr lang="en-US" sz="3200" b="0" i="1" u="none" strike="noStrike" baseline="0" dirty="0">
                <a:latin typeface="Times New Roman" panose="02020603050405020304" pitchFamily="18" charset="0"/>
              </a:rPr>
              <a:t>RC 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circuit occurs when its dc source is suddenly disconnected.</a:t>
            </a:r>
          </a:p>
          <a:p>
            <a:pPr algn="l"/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The energy already stored in the capacitor is released to the Resistor.</a:t>
            </a:r>
          </a:p>
          <a:p>
            <a:pPr algn="l"/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Consider a series combination of a resistor and an initially charged capacitor, as shown in Fig 01. below. </a:t>
            </a:r>
          </a:p>
          <a:p>
            <a:pPr algn="l"/>
            <a:r>
              <a:rPr lang="en-US" sz="3200" b="1" i="1" u="none" strike="noStrike" baseline="0" dirty="0">
                <a:latin typeface="Times New Roman" panose="02020603050405020304" pitchFamily="18" charset="0"/>
              </a:rPr>
              <a:t>A source-free RC circuit.</a:t>
            </a:r>
          </a:p>
          <a:p>
            <a:pPr marL="0" indent="0" algn="l">
              <a:buNone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74CB8D-6A54-4B25-8A30-B1D937E8F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4</a:t>
            </a:fld>
            <a:endParaRPr lang="en-US" altLang="en-TZ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74D89C-E56B-4E66-B645-2506E31C1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821381"/>
            <a:ext cx="4114800" cy="1900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103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7A9940-7CBD-4EDD-931D-144A63236F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858982"/>
                <a:ext cx="9144000" cy="5999017"/>
              </a:xfrm>
            </p:spPr>
            <p:txBody>
              <a:bodyPr/>
              <a:lstStyle/>
              <a:p>
                <a:pPr algn="l"/>
                <a:r>
                  <a:rPr lang="en-US" sz="3200" b="0" i="0" u="none" strike="noStrike" baseline="0" dirty="0">
                    <a:latin typeface="Times New Roman" panose="02020603050405020304" pitchFamily="18" charset="0"/>
                  </a:rPr>
                  <a:t>Our objective is to determine the circuit</a:t>
                </a:r>
              </a:p>
              <a:p>
                <a:pPr algn="l"/>
                <a:r>
                  <a:rPr lang="en-US" sz="3200" b="0" i="0" u="none" strike="noStrike" baseline="0" dirty="0">
                    <a:latin typeface="Times New Roman" panose="02020603050405020304" pitchFamily="18" charset="0"/>
                  </a:rPr>
                  <a:t>response, which, for pedagogic reasons, we assume to be the voltage V(t) cross the capacitor. Since the capacitor is initially charged, we can assume that at time t=0, the initial voltage is</a:t>
                </a:r>
              </a:p>
              <a:p>
                <a:pPr algn="l"/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V(0)=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32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200" dirty="0"/>
                  <a:t>…………………. 1</a:t>
                </a:r>
              </a:p>
              <a:p>
                <a:pPr algn="l"/>
                <a:r>
                  <a:rPr lang="en-US" sz="3200" b="0" i="0" u="none" strike="noStrike" baseline="0" dirty="0">
                    <a:latin typeface="Times New Roman" panose="02020603050405020304" pitchFamily="18" charset="0"/>
                  </a:rPr>
                  <a:t>with the corresponding value of the energy stored as</a:t>
                </a:r>
                <a:r>
                  <a:rPr lang="en-US" sz="3200" b="0" i="0" u="none" strike="noStrike" dirty="0">
                    <a:latin typeface="Times New Roman" panose="02020603050405020304" pitchFamily="18" charset="0"/>
                  </a:rPr>
                  <a:t> </a:t>
                </a:r>
                <a:r>
                  <a:rPr lang="en-US" sz="3200" b="0" i="0" u="none" strike="noStrike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W(0)=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3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bSup>
                      <m:sSubSupPr>
                        <m:ctrlPr>
                          <a:rPr lang="en-US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32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200" dirty="0">
                    <a:solidFill>
                      <a:srgbClr val="FF0000"/>
                    </a:solidFill>
                  </a:rPr>
                  <a:t>,…………… 2</a:t>
                </a:r>
              </a:p>
              <a:p>
                <a:r>
                  <a:rPr lang="en-US" sz="3200" b="0" i="0" u="none" strike="noStrike" baseline="0" dirty="0">
                    <a:latin typeface="Times New Roman" panose="02020603050405020304" pitchFamily="18" charset="0"/>
                  </a:rPr>
                  <a:t>Applying KCL at the top node of the circuit in Fig 01. above</a:t>
                </a:r>
                <a:r>
                  <a:rPr lang="en-US" sz="3200" b="0" i="0" u="none" strike="noStrike" baseline="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.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e>
                      <m:sub>
                        <m:r>
                          <a:rPr lang="en-US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3200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32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e>
                      <m:sub>
                        <m:r>
                          <a:rPr lang="en-US" sz="3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rgbClr val="FF0000"/>
                    </a:solidFill>
                  </a:rPr>
                  <a:t> = 0 …….3</a:t>
                </a: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7A9940-7CBD-4EDD-931D-144A63236F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58982"/>
                <a:ext cx="9144000" cy="5999017"/>
              </a:xfrm>
              <a:blipFill>
                <a:blip r:embed="rId2"/>
                <a:stretch>
                  <a:fillRect l="-1200" t="-14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271729-69F1-44FF-AD64-0E057E161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5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4243066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475A6F-04CB-4D7E-81ED-516E44176E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1" y="845127"/>
                <a:ext cx="9144001" cy="6012873"/>
              </a:xfrm>
            </p:spPr>
            <p:txBody>
              <a:bodyPr/>
              <a:lstStyle/>
              <a:p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definition 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en-US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𝒅𝒗</m:t>
                        </m:r>
                      </m:num>
                      <m:den>
                        <m: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</m:oMath>
                </a14:m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32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𝒍</m:t>
                            </m:r>
                          </m:e>
                        </m:acc>
                      </m:e>
                      <m:sub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num>
                      <m:den>
                        <m: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den>
                    </m:f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substitute into eqn 3 above..</a:t>
                </a:r>
              </a:p>
              <a:p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𝒅𝒗</m:t>
                        </m:r>
                      </m:num>
                      <m:den>
                        <m: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num>
                      <m:den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den>
                    </m:f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𝒅𝒗</m:t>
                        </m:r>
                      </m:num>
                      <m:den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</m:oMath>
                </a14:m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num>
                      <m:den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𝑪𝑹</m:t>
                        </m:r>
                      </m:den>
                    </m:f>
                  </m:oMath>
                </a14:m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</a:t>
                </a: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𝒅𝒗</m:t>
                        </m:r>
                      </m:num>
                      <m:den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den>
                    </m:f>
                  </m:oMath>
                </a14:m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𝒅𝒕</m:t>
                        </m:r>
                      </m:num>
                      <m:den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𝑪𝑹</m:t>
                        </m:r>
                      </m:den>
                    </m:f>
                  </m:oMath>
                </a14:m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</a:t>
                </a:r>
                <a14:m>
                  <m:oMath xmlns:m="http://schemas.openxmlformats.org/officeDocument/2006/math">
                    <m:r>
                      <a:rPr lang="en-US" sz="3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𝒅𝒗</m:t>
                        </m:r>
                      </m:num>
                      <m:den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den>
                    </m:f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𝒅𝒕</m:t>
                        </m:r>
                      </m:num>
                      <m:den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𝑪𝑹</m:t>
                        </m:r>
                      </m:den>
                    </m:f>
                  </m:oMath>
                </a14:m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Integrating both sides, we get. </a:t>
                </a:r>
              </a:p>
              <a:p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ln </a:t>
                </a:r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v=</a:t>
                </a: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num>
                      <m:den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𝑪𝑹</m:t>
                        </m:r>
                      </m:den>
                    </m:f>
                  </m:oMath>
                </a14:m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+in A .</a:t>
                </a:r>
              </a:p>
              <a:p>
                <a:r>
                  <a:rPr lang="en-US" sz="3200" b="1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by </a:t>
                </a: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A,</a:t>
                </a:r>
                <a:r>
                  <a:rPr lang="en-US" sz="3200" b="1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integration constant. Thus; </a:t>
                </a:r>
              </a:p>
              <a:p>
                <a:r>
                  <a:rPr lang="en-US" sz="3200" b="1" i="0" u="none" strike="noStrike" baseline="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num>
                      <m:den>
                        <m: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den>
                    </m:f>
                  </m:oMath>
                </a14:m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</a:t>
                </a: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num>
                      <m:den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𝑪𝑹</m:t>
                        </m:r>
                      </m:den>
                    </m:f>
                  </m:oMath>
                </a14:m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</a:t>
                </a:r>
                <a:r>
                  <a:rPr lang="en-US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Apply natural logarithm  from both side we get;</a:t>
                </a:r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V(t)=Ae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num>
                          <m:den>
                            <m:r>
                              <a:rPr lang="en-US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𝑪𝑹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endParaRPr lang="en-US" i="1" dirty="0"/>
              </a:p>
              <a:p>
                <a:endParaRPr lang="en-US" i="1" dirty="0"/>
              </a:p>
              <a:p>
                <a:endParaRPr lang="en-US" i="1" dirty="0"/>
              </a:p>
              <a:p>
                <a:endParaRPr lang="en-US" i="1" dirty="0"/>
              </a:p>
              <a:p>
                <a:endParaRPr lang="en-US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475A6F-04CB-4D7E-81ED-516E44176E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" y="845127"/>
                <a:ext cx="9144001" cy="6012873"/>
              </a:xfrm>
              <a:blipFill>
                <a:blip r:embed="rId2"/>
                <a:stretch>
                  <a:fillRect l="-1200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0BDE18-1CD0-4EF3-A5B9-97E1FC2F5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6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625378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E840D5-92EC-47FB-824E-8CF9BD64F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803564"/>
                <a:ext cx="9144000" cy="6054435"/>
              </a:xfrm>
            </p:spPr>
            <p:txBody>
              <a:bodyPr/>
              <a:lstStyle/>
              <a:p>
                <a:r>
                  <a:rPr lang="en-US" sz="3200" b="1" i="0" u="none" strike="noStrike" baseline="0" dirty="0">
                    <a:latin typeface="Times New Roman" panose="02020603050405020304" pitchFamily="18" charset="0"/>
                  </a:rPr>
                  <a:t>But from the initial conditions .</a:t>
                </a:r>
                <a:r>
                  <a:rPr lang="en-US" sz="3200" b="1" i="1" u="none" strike="noStrike" baseline="0" dirty="0">
                    <a:latin typeface="NewCenturySchlbk-Italic"/>
                  </a:rPr>
                  <a:t> v</a:t>
                </a:r>
                <a:r>
                  <a:rPr lang="en-US" sz="3200" b="1" i="0" u="none" strike="noStrike" baseline="0" dirty="0">
                    <a:latin typeface="Times New Roman" panose="02020603050405020304" pitchFamily="18" charset="0"/>
                  </a:rPr>
                  <a:t>(0)= A=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u="none" strike="noStrike" baseline="0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3200" b="1" i="1" u="none" strike="noStrike" baseline="0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3200" b="1" dirty="0"/>
                  <a:t>  Hence, </a:t>
                </a:r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V(t)=</a:t>
                </a:r>
                <a:r>
                  <a:rPr lang="en-US" sz="32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32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num>
                          <m:den>
                            <m:r>
                              <a:rPr lang="en-US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𝑪𝑹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algn="l"/>
                <a:r>
                  <a:rPr lang="en-US" sz="3200" b="0" i="0" u="none" strike="noStrike" baseline="0" dirty="0">
                    <a:latin typeface="Times New Roman" panose="02020603050405020304" pitchFamily="18" charset="0"/>
                  </a:rPr>
                  <a:t>This shows that the voltage response of the </a:t>
                </a:r>
                <a:r>
                  <a:rPr lang="en-US" sz="3200" b="0" i="1" u="none" strike="noStrike" baseline="0" dirty="0">
                    <a:latin typeface="Times New Roman" panose="02020603050405020304" pitchFamily="18" charset="0"/>
                  </a:rPr>
                  <a:t>RC </a:t>
                </a:r>
                <a:r>
                  <a:rPr lang="en-US" sz="3200" b="0" i="0" u="none" strike="noStrike" baseline="0" dirty="0">
                    <a:latin typeface="Times New Roman" panose="02020603050405020304" pitchFamily="18" charset="0"/>
                  </a:rPr>
                  <a:t>circuit is an exponential</a:t>
                </a:r>
              </a:p>
              <a:p>
                <a:pPr algn="l"/>
                <a:r>
                  <a:rPr lang="en-US" sz="3200" b="0" i="0" u="none" strike="noStrike" baseline="0" dirty="0">
                    <a:latin typeface="Times New Roman" panose="02020603050405020304" pitchFamily="18" charset="0"/>
                  </a:rPr>
                  <a:t>decay of the initial voltage. Since the response is due to the initial energy stored and the physical characteristics of the circuit and </a:t>
                </a:r>
                <a:r>
                  <a:rPr lang="en-US" sz="3200" b="0" i="0" u="none" strike="noStrike" baseline="0">
                    <a:latin typeface="Times New Roman" panose="02020603050405020304" pitchFamily="18" charset="0"/>
                  </a:rPr>
                  <a:t>not due to </a:t>
                </a:r>
                <a:r>
                  <a:rPr lang="en-US" sz="3200" b="0" i="0" u="none" strike="noStrike" baseline="0" dirty="0">
                    <a:latin typeface="Times New Roman" panose="02020603050405020304" pitchFamily="18" charset="0"/>
                  </a:rPr>
                  <a:t>some external voltage or current source, it is called </a:t>
                </a:r>
                <a:r>
                  <a:rPr lang="en-US" sz="3200" b="1" i="0" u="none" strike="noStrike" baseline="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the </a:t>
                </a:r>
                <a:r>
                  <a:rPr lang="en-US" sz="3200" b="1" i="1" u="none" strike="noStrike" baseline="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natural response </a:t>
                </a:r>
                <a:r>
                  <a:rPr lang="en-US" sz="3200" b="1" i="0" u="none" strike="noStrike" baseline="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of the circuit.</a:t>
                </a:r>
                <a:endParaRPr lang="en-US" sz="32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E840D5-92EC-47FB-824E-8CF9BD64F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03564"/>
                <a:ext cx="9144000" cy="6054435"/>
              </a:xfrm>
              <a:blipFill>
                <a:blip r:embed="rId2"/>
                <a:stretch>
                  <a:fillRect l="-1200" t="-1511" r="-1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013B49-6022-43A2-A09F-97FE9F22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7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500764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86C3D-A07C-4695-804D-7F552F494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2109"/>
            <a:ext cx="9144000" cy="5915890"/>
          </a:xfrm>
        </p:spPr>
        <p:txBody>
          <a:bodyPr/>
          <a:lstStyle/>
          <a:p>
            <a:pPr algn="l"/>
            <a:r>
              <a:rPr lang="en-US" sz="3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b="0" i="1" u="none" strike="noStrike" baseline="0" dirty="0">
                <a:solidFill>
                  <a:srgbClr val="009E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 response </a:t>
            </a:r>
            <a:r>
              <a:rPr lang="en-US" sz="3200" b="0" i="1" u="none" strike="noStrike" baseline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a circuit refers </a:t>
            </a:r>
            <a:r>
              <a:rPr lang="en-US" sz="32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the</a:t>
            </a:r>
          </a:p>
          <a:p>
            <a:pPr algn="l"/>
            <a:r>
              <a:rPr lang="en-US" sz="32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behavior (in terms of voltages and currents) .</a:t>
            </a:r>
          </a:p>
          <a:p>
            <a:pPr algn="l"/>
            <a:r>
              <a:rPr lang="en-US" sz="32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circuit itself, with no external sources of</a:t>
            </a:r>
          </a:p>
          <a:p>
            <a:pPr algn="l"/>
            <a:r>
              <a:rPr lang="en-US" sz="32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excitation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The natural response is illustrated graphically in Fig. </a:t>
            </a:r>
            <a:r>
              <a:rPr lang="en-US" sz="3200" dirty="0">
                <a:latin typeface="Times New Roman" panose="02020603050405020304" pitchFamily="18" charset="0"/>
              </a:rPr>
              <a:t>below.</a:t>
            </a:r>
          </a:p>
          <a:p>
            <a:pPr marL="0" indent="0" algn="l">
              <a:buNone/>
            </a:pPr>
            <a:endParaRPr lang="en-US" sz="3200" dirty="0">
              <a:latin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US" sz="1800" b="0" i="0" u="none" strike="noStrike" baseline="0" dirty="0">
              <a:latin typeface="Times New Roman" panose="02020603050405020304" pitchFamily="18" charset="0"/>
            </a:endParaRPr>
          </a:p>
          <a:p>
            <a:pPr algn="l"/>
            <a:endParaRPr lang="en-US" sz="1800" dirty="0">
              <a:latin typeface="Times New Roman" panose="02020603050405020304" pitchFamily="18" charset="0"/>
            </a:endParaRPr>
          </a:p>
          <a:p>
            <a:pPr algn="l"/>
            <a:endParaRPr lang="en-US" sz="1800" b="0" i="0" u="none" strike="noStrike" baseline="0" dirty="0">
              <a:latin typeface="Times New Roman" panose="02020603050405020304" pitchFamily="18" charset="0"/>
            </a:endParaRPr>
          </a:p>
          <a:p>
            <a:pPr algn="l"/>
            <a:endParaRPr lang="en-US" sz="1800" dirty="0">
              <a:latin typeface="Times New Roman" panose="02020603050405020304" pitchFamily="18" charset="0"/>
            </a:endParaRPr>
          </a:p>
          <a:p>
            <a:pPr algn="l"/>
            <a:endParaRPr lang="en-US" sz="1800" b="0" i="0" u="none" strike="noStrike" baseline="0" dirty="0">
              <a:latin typeface="Times New Roman" panose="02020603050405020304" pitchFamily="18" charset="0"/>
            </a:endParaRPr>
          </a:p>
          <a:p>
            <a:pPr algn="l"/>
            <a:endParaRPr lang="en-US" sz="1800" dirty="0">
              <a:latin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116187-493C-4675-8B98-752395E09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8</a:t>
            </a:fld>
            <a:endParaRPr lang="en-US" altLang="en-TZ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0FC8F1-2BB7-4B99-A3B6-CCAE3FE2D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64" y="4112345"/>
            <a:ext cx="4887624" cy="242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533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7FB47-3D8F-46A9-8572-C5D9D662B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20437"/>
            <a:ext cx="9144000" cy="6137564"/>
          </a:xfrm>
        </p:spPr>
        <p:txBody>
          <a:bodyPr/>
          <a:lstStyle/>
          <a:p>
            <a:pPr algn="l"/>
            <a:r>
              <a:rPr lang="en-US" sz="3600" b="1" i="0" u="none" strike="noStrike" baseline="0" dirty="0">
                <a:latin typeface="Times New Roman" panose="02020603050405020304" pitchFamily="18" charset="0"/>
              </a:rPr>
              <a:t>Note that at t=0,</a:t>
            </a:r>
          </a:p>
          <a:p>
            <a:pPr algn="l"/>
            <a:r>
              <a:rPr lang="en-US" sz="3600" b="1" i="0" u="none" strike="noStrike" baseline="0" dirty="0">
                <a:latin typeface="Times New Roman" panose="02020603050405020304" pitchFamily="18" charset="0"/>
              </a:rPr>
              <a:t>we have the correct initial condition as in Eq. </a:t>
            </a:r>
            <a:r>
              <a:rPr lang="en-US" sz="3600" b="1" dirty="0">
                <a:latin typeface="Times New Roman" panose="02020603050405020304" pitchFamily="18" charset="0"/>
              </a:rPr>
              <a:t>1</a:t>
            </a:r>
            <a:r>
              <a:rPr lang="en-US" sz="3600" b="1" i="0" u="none" strike="noStrike" baseline="0" dirty="0">
                <a:latin typeface="Times New Roman" panose="02020603050405020304" pitchFamily="18" charset="0"/>
              </a:rPr>
              <a:t>. As </a:t>
            </a:r>
            <a:r>
              <a:rPr lang="en-US" sz="3600" b="1" i="1" u="none" strike="noStrike" baseline="0" dirty="0">
                <a:latin typeface="Times New Roman" panose="02020603050405020304" pitchFamily="18" charset="0"/>
              </a:rPr>
              <a:t>t </a:t>
            </a:r>
            <a:r>
              <a:rPr lang="en-US" sz="3600" b="1" i="0" u="none" strike="noStrike" baseline="0" dirty="0">
                <a:latin typeface="Times New Roman" panose="02020603050405020304" pitchFamily="18" charset="0"/>
              </a:rPr>
              <a:t> increases, the voltage decreases toward</a:t>
            </a:r>
          </a:p>
          <a:p>
            <a:pPr algn="l"/>
            <a:r>
              <a:rPr lang="en-US" sz="3600" b="1" i="0" u="none" strike="noStrike" baseline="0" dirty="0">
                <a:latin typeface="Times New Roman" panose="02020603050405020304" pitchFamily="18" charset="0"/>
              </a:rPr>
              <a:t> zero. The rapidity with which the voltage</a:t>
            </a:r>
          </a:p>
          <a:p>
            <a:pPr algn="l"/>
            <a:r>
              <a:rPr lang="en-US" sz="3600" b="1" i="0" u="none" strike="noStrike" baseline="0" dirty="0">
                <a:latin typeface="Times New Roman" panose="02020603050405020304" pitchFamily="18" charset="0"/>
              </a:rPr>
              <a:t> decreases is expressed in terms of the </a:t>
            </a:r>
            <a:r>
              <a:rPr lang="en-US" sz="3600" b="1" i="1" u="none" strike="noStrike" baseline="0" dirty="0">
                <a:latin typeface="Times New Roman" panose="02020603050405020304" pitchFamily="18" charset="0"/>
              </a:rPr>
              <a:t>time constant.</a:t>
            </a:r>
          </a:p>
          <a:p>
            <a:pPr algn="l"/>
            <a:r>
              <a:rPr lang="en-US" sz="3600" b="1" i="0" u="none" strike="noStrike" baseline="0" dirty="0">
                <a:latin typeface="Times New Roman" panose="02020603050405020304" pitchFamily="18" charset="0"/>
              </a:rPr>
              <a:t>denoted by </a:t>
            </a:r>
            <a:r>
              <a:rPr lang="el-G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ᴦ</a:t>
            </a:r>
            <a:r>
              <a:rPr lang="en-US" sz="3600" b="1" i="0" u="none" strike="noStrike" baseline="0" dirty="0">
                <a:latin typeface="Times New Roman" panose="02020603050405020304" pitchFamily="18" charset="0"/>
              </a:rPr>
              <a:t>, </a:t>
            </a:r>
            <a:r>
              <a:rPr lang="en-US" sz="3600" b="1" i="1" u="none" strike="noStrike" baseline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lowercase Greek letter tau</a:t>
            </a:r>
            <a:r>
              <a:rPr lang="en-US" sz="3600" b="0" i="0" u="none" strike="noStrike" baseline="0" dirty="0">
                <a:latin typeface="Times New Roman" panose="02020603050405020304" pitchFamily="18" charset="0"/>
              </a:rPr>
              <a:t>.</a:t>
            </a:r>
          </a:p>
          <a:p>
            <a:pPr marL="0" indent="0" algn="l">
              <a:buNone/>
            </a:pPr>
            <a:endParaRPr lang="en-US" sz="3200" i="1" dirty="0">
              <a:latin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8A5DBD-D876-4523-A54C-F05171FC9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9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2744493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596F94-3864-441A-ADDD-67D2B165E2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789709"/>
                <a:ext cx="9144000" cy="6068291"/>
              </a:xfrm>
            </p:spPr>
            <p:txBody>
              <a:bodyPr/>
              <a:lstStyle/>
              <a:p>
                <a:r>
                  <a:rPr lang="en-US" sz="3200" i="0" u="none" strike="noStrike" baseline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3200" i="1" u="none" strike="noStrike" baseline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 </a:t>
                </a:r>
                <a:r>
                  <a:rPr lang="en-US" sz="3200" i="1" u="none" strike="noStrike" baseline="0" dirty="0">
                    <a:solidFill>
                      <a:srgbClr val="009E7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constant </a:t>
                </a:r>
                <a:r>
                  <a:rPr lang="en-US" sz="3200" i="1" u="none" strike="noStrike" baseline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a circuit </a:t>
                </a:r>
                <a:r>
                  <a:rPr lang="en-US" sz="3200" i="0" u="none" strike="noStrike" baseline="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time required for</a:t>
                </a:r>
              </a:p>
              <a:p>
                <a:r>
                  <a:rPr lang="en-US" sz="3200" i="0" u="none" strike="noStrike" baseline="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response to decay to a factor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u="none" strike="noStrike" baseline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 u="none" strike="noStrike" baseline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i="1" u="none" strike="noStrike" baseline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lang="en-US" sz="3200" i="0" u="none" strike="noStrike" baseline="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 36.8 percent </a:t>
                </a:r>
              </a:p>
              <a:p>
                <a:pPr algn="l"/>
                <a:r>
                  <a:rPr lang="en-US" sz="3200" i="0" u="none" strike="noStrike" baseline="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its initial value.</a:t>
                </a:r>
              </a:p>
              <a:p>
                <a:r>
                  <a:rPr lang="en-US" sz="320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implies that at t= </a:t>
                </a:r>
                <a:r>
                  <a:rPr lang="el-GR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ᴦ</a:t>
                </a: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  </a:t>
                </a:r>
              </a:p>
              <a:p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i="1" u="none" strike="noStrike" baseline="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3200" i="0" u="none" strike="noStrike" baseline="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14:m>
                  <m:oMath xmlns:m="http://schemas.openxmlformats.org/officeDocument/2006/math">
                    <m:r>
                      <a:rPr lang="en-US" sz="3200" i="0" u="none" strike="noStrike" baseline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ⅇ</m:t>
                    </m:r>
                    <m:f>
                      <m:fPr>
                        <m:type m:val="skw"/>
                        <m:ctrlPr>
                          <a:rPr lang="en-US" sz="3200" i="1" u="none" strike="noStrike" baseline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0" u="none" strike="noStrike" baseline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l-GR" sz="3200" b="1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ᴦ</m:t>
                        </m:r>
                      </m:num>
                      <m:den>
                        <m:sSub>
                          <m:sSubPr>
                            <m:ctrlPr>
                              <a:rPr lang="en-US" sz="3200" i="1" u="none" strike="noStrike" baseline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0" u="none" strike="noStrike" baseline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3200" i="0" u="none" strike="noStrike" baseline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den>
                    </m:f>
                    <m:r>
                      <a:rPr lang="en-US" sz="3200" i="0" u="none" strike="noStrike" baseline="0" smtClean="0">
                        <a:solidFill>
                          <a:srgbClr val="0092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i="0" u="none" strike="noStrike" baseline="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sSup>
                      <m:sSupPr>
                        <m:ctrlP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p>
                        <m: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0.368</a:t>
                </a: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,  </a:t>
                </a:r>
                <a:r>
                  <a:rPr lang="el-GR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ᴦ</a:t>
                </a: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RC.</a:t>
                </a:r>
              </a:p>
              <a:p>
                <a:endParaRPr lang="en-US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 In terms of time  constant the equation can be expressed as,</a:t>
                </a:r>
              </a:p>
              <a:p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V(t)=</a:t>
                </a: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l-GR" sz="3200" b="1" dirty="0">
                                <a:solidFill>
                                  <a:srgbClr val="FF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ᴦ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sz="18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8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32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32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3200" b="0" i="0" u="none" strike="noStrike" baseline="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l">
                  <a:buNone/>
                </a:pPr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596F94-3864-441A-ADDD-67D2B165E2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789709"/>
                <a:ext cx="9144000" cy="6068291"/>
              </a:xfrm>
              <a:blipFill>
                <a:blip r:embed="rId2"/>
                <a:stretch>
                  <a:fillRect l="-1200" t="-1407" r="-1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614476-0FB7-439E-B43E-28674FEE7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10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3154017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3EDED5-B094-45E8-B5C0-F95753A6AA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748145"/>
                <a:ext cx="9144000" cy="6109855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Examples.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1.</a:t>
                </a:r>
                <a:r>
                  <a:rPr lang="en-US" sz="3200" dirty="0">
                    <a:solidFill>
                      <a:srgbClr val="FF0000"/>
                    </a:solidFill>
                  </a:rPr>
                  <a:t>From the circuit below Let Vc(0)= 30v,  Find Vc, Vx,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>
                    <a:solidFill>
                      <a:srgbClr val="FF0000"/>
                    </a:solidFill>
                  </a:rPr>
                  <a:t>. for  t≥0.</a:t>
                </a:r>
              </a:p>
              <a:p>
                <a:pPr marL="0" indent="0">
                  <a:buNone/>
                </a:pPr>
                <a:endParaRPr lang="en-US" sz="32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sz="3200" dirty="0">
                    <a:solidFill>
                      <a:srgbClr val="FF0000"/>
                    </a:solidFill>
                  </a:rPr>
                  <a:t>2.Let Vc(0)= 45v, obtain Vc, Vx,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>
                    <a:solidFill>
                      <a:srgbClr val="FF0000"/>
                    </a:solidFill>
                  </a:rPr>
                  <a:t>for  t≥0</a:t>
                </a:r>
                <a:r>
                  <a:rPr lang="en-US" dirty="0">
                    <a:solidFill>
                      <a:srgbClr val="FF0000"/>
                    </a:solidFill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3EDED5-B094-45E8-B5C0-F95753A6AA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748145"/>
                <a:ext cx="9144000" cy="6109855"/>
              </a:xfrm>
              <a:blipFill>
                <a:blip r:embed="rId2"/>
                <a:stretch>
                  <a:fillRect l="-1667" t="-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EFBD4C-1164-49DA-8C03-1BA275700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11</a:t>
            </a:fld>
            <a:endParaRPr lang="en-US" altLang="en-TZ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710C11-7B60-4383-91FD-C06A7A4F1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3255" y="1917555"/>
            <a:ext cx="3477490" cy="18855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B448D6-3863-409E-9B59-70C140F31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6327" y="4594802"/>
            <a:ext cx="3366654" cy="176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098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5CDFF2-5308-40A5-BD48-4DC0B25D22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6523"/>
                <a:ext cx="9144000" cy="6721477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3200" b="1" i="0" u="none" strike="noStrike" baseline="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Source-Free RL Circuit.</a:t>
                </a:r>
              </a:p>
              <a:p>
                <a:pPr algn="l"/>
                <a:r>
                  <a:rPr lang="en-US" sz="3200" b="0" i="0" u="none" strike="noStrike" baseline="0" dirty="0">
                    <a:latin typeface="Times New Roman" panose="02020603050405020304" pitchFamily="18" charset="0"/>
                  </a:rPr>
                  <a:t>Consider the series connection of a resistor and an inductor, as shown</a:t>
                </a:r>
              </a:p>
              <a:p>
                <a:pPr algn="l"/>
                <a:r>
                  <a:rPr lang="en-US" sz="3200" b="0" i="0" u="none" strike="noStrike" baseline="0" dirty="0">
                    <a:latin typeface="Times New Roman" panose="02020603050405020304" pitchFamily="18" charset="0"/>
                  </a:rPr>
                  <a:t>in Fig. below. Our goal is to determine the circuit response, which we will assume to be the current i(t)</a:t>
                </a:r>
              </a:p>
              <a:p>
                <a:pPr algn="l"/>
                <a:r>
                  <a:rPr lang="en-US" sz="3200" b="0" i="0" u="none" strike="noStrike" baseline="0" dirty="0">
                    <a:latin typeface="Times New Roman" panose="02020603050405020304" pitchFamily="18" charset="0"/>
                  </a:rPr>
                  <a:t>through the inductor. We select the inductor current </a:t>
                </a:r>
              </a:p>
              <a:p>
                <a:pPr algn="l"/>
                <a:r>
                  <a:rPr lang="en-US" sz="3200" b="0" i="0" u="none" strike="noStrike" baseline="0" dirty="0">
                    <a:latin typeface="Times New Roman" panose="02020603050405020304" pitchFamily="18" charset="0"/>
                  </a:rPr>
                  <a:t>as the response in order to take advantage of the idea</a:t>
                </a:r>
              </a:p>
              <a:p>
                <a:pPr algn="l"/>
                <a:r>
                  <a:rPr lang="en-US" sz="3200" b="0" i="0" u="none" strike="noStrike" baseline="0" dirty="0">
                    <a:latin typeface="Times New Roman" panose="02020603050405020304" pitchFamily="18" charset="0"/>
                  </a:rPr>
                  <a:t>that the inductor current cannot change instantaneously. At we t=0</a:t>
                </a:r>
              </a:p>
              <a:p>
                <a:r>
                  <a:rPr lang="en-US" sz="3200" b="0" i="0" u="none" strike="noStrike" baseline="0" dirty="0">
                    <a:latin typeface="Times New Roman" panose="02020603050405020304" pitchFamily="18" charset="0"/>
                  </a:rPr>
                  <a:t>assume that the inductor has an initial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3200" b="0" i="0" u="none" strike="noStrike" baseline="0" dirty="0">
                    <a:latin typeface="Times New Roman" panose="02020603050405020304" pitchFamily="18" charset="0"/>
                  </a:rPr>
                  <a:t>, or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3200" b="1" i="0" u="none" strike="noStrike" baseline="0" dirty="0">
                    <a:solidFill>
                      <a:srgbClr val="13B70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u="none" strike="noStrike" baseline="0" dirty="0" smtClean="0">
                            <a:solidFill>
                              <a:srgbClr val="13B70E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200" b="1" i="1" u="none" strike="noStrike" baseline="0" dirty="0" smtClean="0">
                            <a:solidFill>
                              <a:srgbClr val="13B70E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𝑰</m:t>
                        </m:r>
                      </m:e>
                      <m:sub>
                        <m:r>
                          <a:rPr lang="en-US" sz="3200" b="1" i="1" u="none" strike="noStrike" baseline="0" dirty="0" smtClean="0">
                            <a:solidFill>
                              <a:srgbClr val="13B70E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3200" b="1" i="0" u="none" strike="noStrike" baseline="0" dirty="0">
                    <a:solidFill>
                      <a:srgbClr val="13B70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sz="3200" b="1" i="0" u="none" strike="noStrike" baseline="0" dirty="0">
                  <a:solidFill>
                    <a:srgbClr val="13B70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5CDFF2-5308-40A5-BD48-4DC0B25D22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6523"/>
                <a:ext cx="9144000" cy="6721477"/>
              </a:xfrm>
              <a:blipFill>
                <a:blip r:embed="rId2"/>
                <a:stretch>
                  <a:fillRect l="-1333" t="-1269" r="-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99D0AD-22F5-4977-8C9F-F3E6EF7E3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12</a:t>
            </a:fld>
            <a:endParaRPr lang="en-US" altLang="en-TZ" dirty="0"/>
          </a:p>
        </p:txBody>
      </p:sp>
    </p:spTree>
    <p:extLst>
      <p:ext uri="{BB962C8B-B14F-4D97-AF65-F5344CB8AC3E}">
        <p14:creationId xmlns:p14="http://schemas.microsoft.com/office/powerpoint/2010/main" val="857522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0449AA-5E05-4761-AA9D-9A6FCAB06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13</a:t>
            </a:fld>
            <a:endParaRPr lang="en-US" altLang="en-TZ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409E0A7-5556-4655-9D23-D191692CE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"/>
            <a:ext cx="9144000" cy="6857999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3200" b="1" i="1" u="none" strike="noStrike" baseline="0" dirty="0">
                <a:solidFill>
                  <a:srgbClr val="008A3E"/>
                </a:solidFill>
                <a:latin typeface="Times New Roman" panose="02020603050405020304" pitchFamily="18" charset="0"/>
              </a:rPr>
              <a:t>A source-free RL circuit</a:t>
            </a:r>
          </a:p>
          <a:p>
            <a:endParaRPr lang="en-US" sz="3200" b="1" dirty="0">
              <a:latin typeface="Times New Roman" panose="02020603050405020304" pitchFamily="18" charset="0"/>
            </a:endParaRPr>
          </a:p>
          <a:p>
            <a:endParaRPr lang="en-US" sz="3200" b="1" i="0" u="none" strike="noStrike" baseline="0" dirty="0">
              <a:latin typeface="Times New Roman" panose="02020603050405020304" pitchFamily="18" charset="0"/>
            </a:endParaRPr>
          </a:p>
          <a:p>
            <a:endParaRPr lang="en-US" sz="3200" b="1" dirty="0">
              <a:latin typeface="Times New Roman" panose="02020603050405020304" pitchFamily="18" charset="0"/>
            </a:endParaRPr>
          </a:p>
          <a:p>
            <a:endParaRPr lang="en-US" sz="3200" b="1" i="0" u="none" strike="noStrike" baseline="0" dirty="0">
              <a:latin typeface="Times New Roman" panose="02020603050405020304" pitchFamily="18" charset="0"/>
            </a:endParaRPr>
          </a:p>
          <a:p>
            <a:endParaRPr lang="en-US" sz="3200" b="1" dirty="0">
              <a:latin typeface="Times New Roman" panose="02020603050405020304" pitchFamily="18" charset="0"/>
            </a:endParaRPr>
          </a:p>
          <a:p>
            <a:endParaRPr lang="en-US" sz="3200" b="1" i="0" u="none" strike="noStrike" baseline="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.</a:t>
            </a:r>
          </a:p>
          <a:p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with the corresponding energy stored in the inductor as;</a:t>
            </a:r>
            <a:endParaRPr lang="en-US" sz="3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B4748B-81F5-4B9A-9130-41F97363B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418" y="1862136"/>
            <a:ext cx="5278582" cy="311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33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F998D2-BB84-414D-871B-54EF0F0FDC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886691"/>
                <a:ext cx="9144000" cy="5971309"/>
              </a:xfrm>
            </p:spPr>
            <p:txBody>
              <a:bodyPr/>
              <a:lstStyle/>
              <a:p>
                <a:r>
                  <a:rPr lang="en-US" sz="3200" b="1" i="0" u="none" strike="noStrike" baseline="0" dirty="0">
                    <a:solidFill>
                      <a:srgbClr val="13B70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W(</a:t>
                </a:r>
                <a14:m>
                  <m:oMath xmlns:m="http://schemas.openxmlformats.org/officeDocument/2006/math">
                    <m:r>
                      <a:rPr lang="en-US" sz="3200" b="1" i="1" u="none" strike="noStrike" baseline="0" dirty="0" smtClean="0">
                        <a:solidFill>
                          <a:srgbClr val="13B70E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US" sz="3200" b="1" i="0" u="none" strike="noStrike" baseline="0" dirty="0">
                    <a:solidFill>
                      <a:srgbClr val="13B70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u="none" strike="noStrike" baseline="0" dirty="0" smtClean="0">
                            <a:solidFill>
                              <a:srgbClr val="13B70E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3200" b="0" i="1" u="none" strike="noStrike" baseline="0" dirty="0" smtClean="0">
                            <a:solidFill>
                              <a:srgbClr val="13B70E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b="0" i="1" u="none" strike="noStrike" baseline="0" dirty="0" smtClean="0">
                            <a:solidFill>
                              <a:srgbClr val="13B70E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3200" dirty="0"/>
                  <a:t>L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200" dirty="0"/>
                  <a:t>,   from KVL.. In figure above …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rgbClr val="FF0000"/>
                    </a:solidFill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rgbClr val="FF0000"/>
                    </a:solidFill>
                  </a:rPr>
                  <a:t> = </a:t>
                </a: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0</a:t>
                </a:r>
                <a:r>
                  <a:rPr lang="en-US" sz="3200" b="1" dirty="0">
                    <a:latin typeface="Times New Roman" panose="02020603050405020304" pitchFamily="18" charset="0"/>
                  </a:rPr>
                  <a:t>……………….1.</a:t>
                </a:r>
              </a:p>
              <a:p>
                <a:r>
                  <a:rPr lang="en-US" sz="3200" b="1" dirty="0">
                    <a:latin typeface="Times New Roman" panose="02020603050405020304" pitchFamily="18" charset="0"/>
                  </a:rPr>
                  <a:t>But we know that,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rgbClr val="FF0000"/>
                    </a:solidFill>
                  </a:rPr>
                  <a:t>=</a:t>
                </a:r>
                <a:r>
                  <a:rPr lang="en-US" sz="3200" b="1" dirty="0">
                    <a:solidFill>
                      <a:srgbClr val="FF0000"/>
                    </a:solidFill>
                  </a:rPr>
                  <a:t> L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num>
                      <m:den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rgbClr val="FF0000"/>
                    </a:solidFill>
                  </a:rPr>
                  <a:t> =iR ,</a:t>
                </a:r>
              </a:p>
              <a:p>
                <a:r>
                  <a:rPr lang="en-US" sz="3200" dirty="0">
                    <a:solidFill>
                      <a:schemeClr val="tx2"/>
                    </a:solidFill>
                  </a:rPr>
                  <a:t>Substitute into equation 1.</a:t>
                </a:r>
              </a:p>
              <a:p>
                <a:r>
                  <a:rPr lang="en-US" sz="3200" b="1" dirty="0">
                    <a:solidFill>
                      <a:srgbClr val="FF0000"/>
                    </a:solidFill>
                  </a:rPr>
                  <a:t>L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num>
                      <m:den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</m:oMath>
                </a14:m>
                <a:r>
                  <a:rPr lang="en-US" sz="3200" dirty="0">
                    <a:solidFill>
                      <a:srgbClr val="FF0000"/>
                    </a:solidFill>
                  </a:rPr>
                  <a:t>+ iR =</a:t>
                </a: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 0</a:t>
                </a:r>
                <a:r>
                  <a:rPr lang="en-US" sz="3200" b="1" dirty="0">
                    <a:latin typeface="Times New Roman" panose="02020603050405020304" pitchFamily="18" charset="0"/>
                  </a:rPr>
                  <a:t>……………….2</a:t>
                </a: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.(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Rearranging terms and integrating gives)</a:t>
                </a:r>
                <a:endPara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3200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num>
                      <m:den>
                        <m: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den>
                    </m:f>
                  </m:oMath>
                </a14:m>
                <a:r>
                  <a:rPr lang="en-US" sz="3200" dirty="0">
                    <a:solidFill>
                      <a:srgbClr val="FF0000"/>
                    </a:solidFill>
                  </a:rPr>
                  <a:t> +</a:t>
                </a:r>
                <a:r>
                  <a:rPr lang="en-US" sz="32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num>
                      <m:den>
                        <m: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den>
                    </m:f>
                  </m:oMath>
                </a14:m>
                <a:r>
                  <a:rPr lang="en-US" sz="3200" dirty="0">
                    <a:solidFill>
                      <a:srgbClr val="FF0000"/>
                    </a:solidFill>
                  </a:rPr>
                  <a:t>dt=</a:t>
                </a: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 0  </a:t>
                </a:r>
                <a:r>
                  <a:rPr lang="en-US" sz="3200" b="1" dirty="0">
                    <a:solidFill>
                      <a:srgbClr val="FF0066"/>
                    </a:solidFill>
                    <a:latin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𝒅𝒊</m:t>
                        </m:r>
                      </m:num>
                      <m:den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den>
                    </m:f>
                  </m:oMath>
                </a14:m>
                <a:r>
                  <a:rPr lang="en-US" sz="3200" dirty="0">
                    <a:solidFill>
                      <a:srgbClr val="FF0000"/>
                    </a:solidFill>
                  </a:rPr>
                  <a:t> =-</a:t>
                </a:r>
                <a:r>
                  <a:rPr lang="en-US" sz="32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num>
                      <m:den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den>
                    </m:f>
                  </m:oMath>
                </a14:m>
                <a:r>
                  <a:rPr lang="en-US" sz="3200" dirty="0">
                    <a:solidFill>
                      <a:srgbClr val="FF0000"/>
                    </a:solidFill>
                  </a:rPr>
                  <a:t> .  </a:t>
                </a:r>
                <a:endParaRPr 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  <a:p>
                <a:endParaRPr lang="en-US" sz="32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F998D2-BB84-414D-871B-54EF0F0FDC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86691"/>
                <a:ext cx="9144000" cy="5971309"/>
              </a:xfrm>
              <a:blipFill>
                <a:blip r:embed="rId2"/>
                <a:stretch>
                  <a:fillRect l="-1200" r="-1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28744B-5A88-4997-8CBB-C66A3672F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14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3848260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FE4A55-F004-4985-8FA1-6094ECD4B0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886691"/>
                <a:ext cx="9144000" cy="5971309"/>
              </a:xfrm>
            </p:spPr>
            <p:txBody>
              <a:bodyPr/>
              <a:lstStyle/>
              <a:p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𝑖𝑡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𝐼𝑜</m:t>
                        </m:r>
                      </m:den>
                    </m:f>
                  </m:oMath>
                </a14:m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)=-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t  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Taking the powers of </a:t>
                </a: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we get,</a:t>
                </a:r>
              </a:p>
              <a:p>
                <a:r>
                  <a:rPr lang="en-US" sz="3200" u="sng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(t) =I(0)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u="sng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u="sng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sz="3200" i="1" u="sng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i="1" u="sng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i="1" u="sng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num>
                          <m:den>
                            <m:r>
                              <a:rPr lang="en-US" sz="3200" i="1" u="sng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3200" u="sng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  <m:r>
                          <m:rPr>
                            <m:nor/>
                          </m:rPr>
                          <a:rPr lang="en-US" sz="3200" u="sng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sz="32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sz="3200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r>
                  <a:rPr lang="en-US" sz="3200" b="0" i="0" u="none" strike="noStrike" baseline="0" dirty="0">
                    <a:latin typeface="Times New Roman" panose="02020603050405020304" pitchFamily="18" charset="0"/>
                  </a:rPr>
                  <a:t>This shows that the natural response of the </a:t>
                </a:r>
                <a:r>
                  <a:rPr lang="en-US" sz="3200" b="0" i="1" u="none" strike="noStrike" baseline="0" dirty="0">
                    <a:latin typeface="Times New Roman" panose="02020603050405020304" pitchFamily="18" charset="0"/>
                  </a:rPr>
                  <a:t>RL </a:t>
                </a:r>
                <a:r>
                  <a:rPr lang="en-US" sz="3200" b="0" i="0" u="none" strike="noStrike" baseline="0" dirty="0">
                    <a:latin typeface="Times New Roman" panose="02020603050405020304" pitchFamily="18" charset="0"/>
                  </a:rPr>
                  <a:t>circuit is an exponential</a:t>
                </a:r>
              </a:p>
              <a:p>
                <a:pPr algn="l"/>
                <a:r>
                  <a:rPr lang="en-US" sz="3200" b="0" i="0" u="none" strike="noStrike" baseline="0" dirty="0">
                    <a:latin typeface="Times New Roman" panose="02020603050405020304" pitchFamily="18" charset="0"/>
                  </a:rPr>
                  <a:t>decay of the initial current. The current response is shown in</a:t>
                </a:r>
              </a:p>
              <a:p>
                <a:r>
                  <a:rPr lang="en-US" sz="3200" b="0" i="0" u="none" strike="noStrike" baseline="0" dirty="0">
                    <a:latin typeface="Times New Roman" panose="02020603050405020304" pitchFamily="18" charset="0"/>
                  </a:rPr>
                  <a:t>Fig. below. </a:t>
                </a:r>
                <a:r>
                  <a:rPr lang="en-US" sz="3200" dirty="0">
                    <a:latin typeface="Times New Roman" panose="02020603050405020304" pitchFamily="18" charset="0"/>
                  </a:rPr>
                  <a:t>And the</a:t>
                </a:r>
                <a:r>
                  <a:rPr lang="en-US" sz="3200" b="0" i="0" u="none" strike="noStrike" baseline="0" dirty="0">
                    <a:latin typeface="Times New Roman" panose="02020603050405020304" pitchFamily="18" charset="0"/>
                  </a:rPr>
                  <a:t> time constant for the </a:t>
                </a:r>
                <a:r>
                  <a:rPr lang="en-US" sz="3200" b="0" i="1" u="none" strike="noStrike" baseline="0" dirty="0">
                    <a:latin typeface="Times New Roman" panose="02020603050405020304" pitchFamily="18" charset="0"/>
                  </a:rPr>
                  <a:t>RL </a:t>
                </a:r>
                <a:r>
                  <a:rPr lang="en-US" sz="3200" b="0" i="0" u="none" strike="noStrike" baseline="0" dirty="0">
                    <a:latin typeface="Times New Roman" panose="02020603050405020304" pitchFamily="18" charset="0"/>
                  </a:rPr>
                  <a:t>circuit is</a:t>
                </a:r>
              </a:p>
              <a:p>
                <a:r>
                  <a:rPr lang="el-GR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ᴦ</a:t>
                </a: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32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en-US" sz="3200" dirty="0"/>
                  <a:t>………………………………i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FE4A55-F004-4985-8FA1-6094ECD4B0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86691"/>
                <a:ext cx="9144000" cy="5971309"/>
              </a:xfrm>
              <a:blipFill>
                <a:blip r:embed="rId2"/>
                <a:stretch>
                  <a:fillRect l="-1200" r="-1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A2C448-3BE8-4818-A8C7-7438D9631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15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337199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E8A0AD-8B21-45DF-800B-993B91233E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667042"/>
                <a:ext cx="9144000" cy="619095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</a:p>
              <a:p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I (t) =I(0)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l-GR" sz="3200" b="1" dirty="0">
                                <a:solidFill>
                                  <a:srgbClr val="FF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ᴦ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32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</m:sup>
                    </m:sSup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…………ii</a:t>
                </a:r>
              </a:p>
              <a:p>
                <a:pPr algn="l"/>
                <a:r>
                  <a:rPr lang="en-US" sz="3200" b="0" i="0" u="none" strike="noStrike" baseline="0" dirty="0">
                    <a:latin typeface="Times New Roman" panose="02020603050405020304" pitchFamily="18" charset="0"/>
                  </a:rPr>
                  <a:t>With the current in Eq. </a:t>
                </a:r>
                <a:r>
                  <a:rPr lang="en-US" sz="3200" dirty="0">
                    <a:latin typeface="Times New Roman" panose="02020603050405020304" pitchFamily="18" charset="0"/>
                  </a:rPr>
                  <a:t>ii</a:t>
                </a:r>
                <a:r>
                  <a:rPr lang="en-US" sz="3200" b="0" i="0" u="none" strike="noStrike" baseline="0" dirty="0">
                    <a:latin typeface="Times New Roman" panose="02020603050405020304" pitchFamily="18" charset="0"/>
                  </a:rPr>
                  <a:t>, we can find the voltage across the</a:t>
                </a:r>
              </a:p>
              <a:p>
                <a:pPr algn="l"/>
                <a:r>
                  <a:rPr lang="en-US" sz="3200" b="0" i="0" u="none" strike="noStrike" baseline="0" dirty="0">
                    <a:latin typeface="Times New Roman" panose="02020603050405020304" pitchFamily="18" charset="0"/>
                  </a:rPr>
                  <a:t>resistor as;</a:t>
                </a:r>
              </a:p>
              <a:p>
                <a:pPr algn="l"/>
                <a:r>
                  <a:rPr lang="en-US" sz="3200" b="0" i="1" u="none" strike="noStrike" baseline="0" dirty="0">
                    <a:solidFill>
                      <a:srgbClr val="0092FF"/>
                    </a:solidFill>
                    <a:latin typeface="NewCenturySchlbk-Italic"/>
                  </a:rPr>
                  <a:t>v</a:t>
                </a:r>
                <a:r>
                  <a:rPr lang="en-US" sz="3200" b="0" i="1" u="none" strike="noStrike" baseline="0" dirty="0">
                    <a:solidFill>
                      <a:srgbClr val="0092FF"/>
                    </a:solidFill>
                    <a:latin typeface="Times New Roman" panose="02020603050405020304" pitchFamily="18" charset="0"/>
                  </a:rPr>
                  <a:t>R</a:t>
                </a:r>
                <a:r>
                  <a:rPr lang="en-US" sz="3200" b="0" i="0" u="none" strike="noStrike" baseline="0" dirty="0">
                    <a:solidFill>
                      <a:srgbClr val="0092FF"/>
                    </a:solidFill>
                    <a:latin typeface="Times New Roman" panose="02020603050405020304" pitchFamily="18" charset="0"/>
                  </a:rPr>
                  <a:t>(</a:t>
                </a:r>
                <a:r>
                  <a:rPr lang="en-US" sz="3200" b="0" i="1" u="none" strike="noStrike" baseline="0" dirty="0">
                    <a:solidFill>
                      <a:srgbClr val="0092FF"/>
                    </a:solidFill>
                    <a:latin typeface="Times New Roman" panose="02020603050405020304" pitchFamily="18" charset="0"/>
                  </a:rPr>
                  <a:t>t</a:t>
                </a:r>
                <a:r>
                  <a:rPr lang="en-US" sz="3200" b="0" i="0" u="none" strike="noStrike" baseline="0" dirty="0">
                    <a:solidFill>
                      <a:srgbClr val="0092FF"/>
                    </a:solidFill>
                    <a:latin typeface="Times New Roman" panose="02020603050405020304" pitchFamily="18" charset="0"/>
                  </a:rPr>
                  <a:t>)=</a:t>
                </a:r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 (t) </a:t>
                </a:r>
                <a:r>
                  <a:rPr lang="en-US" sz="3200" dirty="0">
                    <a:solidFill>
                      <a:srgbClr val="0092FF"/>
                    </a:solidFill>
                    <a:latin typeface="Times New Roman" panose="02020603050405020304" pitchFamily="18" charset="0"/>
                  </a:rPr>
                  <a:t>R=</a:t>
                </a:r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RI(0)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l-GR" sz="3200" b="1" dirty="0">
                                <a:solidFill>
                                  <a:srgbClr val="FF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ᴦ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32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</m:sup>
                    </m:sSup>
                  </m:oMath>
                </a14:m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E8A0AD-8B21-45DF-800B-993B91233E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67042"/>
                <a:ext cx="9144000" cy="6190958"/>
              </a:xfrm>
              <a:blipFill>
                <a:blip r:embed="rId2"/>
                <a:stretch>
                  <a:fillRect l="-1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F3815-3BE6-43AE-82A7-75BDFA97A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16</a:t>
            </a:fld>
            <a:endParaRPr lang="en-US" altLang="en-TZ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516D46-7F4B-4CDF-A6F7-7A4C6E7ED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880739"/>
            <a:ext cx="4461163" cy="347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751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9E8A8-E9D8-4CFF-86EF-F455F855B2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762000"/>
                <a:ext cx="9144000" cy="6095999"/>
              </a:xfrm>
            </p:spPr>
            <p:txBody>
              <a:bodyPr/>
              <a:lstStyle/>
              <a:p>
                <a:r>
                  <a:rPr lang="en-US" sz="40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power dissipated in the resistor is; </a:t>
                </a:r>
                <a:r>
                  <a:rPr lang="en-US" sz="4000" b="0" i="1" u="none" strike="noStrike" baseline="0" dirty="0">
                    <a:solidFill>
                      <a:srgbClr val="0092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sz="4000" b="0" i="1" u="none" strike="noStrike" baseline="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</a:t>
                </a:r>
                <a:r>
                  <a:rPr lang="en-US" sz="4000" b="0" i="0" u="none" strike="noStrike" baseline="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sz="4000" b="0" i="1" u="none" strike="noStrike" baseline="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  =</a:t>
                </a:r>
                <a:r>
                  <a:rPr lang="en-US" sz="40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400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sz="40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(0</m:t>
                        </m:r>
                        <m:r>
                          <a:rPr lang="en-US" sz="4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4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4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sz="4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4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4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l-GR" sz="4000" b="1" dirty="0">
                                <a:solidFill>
                                  <a:srgbClr val="FF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ᴦ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40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</m:sup>
                    </m:sSup>
                  </m:oMath>
                </a14:m>
                <a:r>
                  <a:rPr lang="en-US" sz="40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sz="4000" b="0" i="0" u="none" strike="noStrike" baseline="0" dirty="0">
                    <a:latin typeface="Times New Roman" panose="02020603050405020304" pitchFamily="18" charset="0"/>
                  </a:rPr>
                  <a:t>The energy absorbed by the resistor is;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4000" b="0" i="0" u="none" strike="noStrike" baseline="0" dirty="0">
                    <a:solidFill>
                      <a:srgbClr val="0092FF"/>
                    </a:solidFill>
                    <a:latin typeface="Times New Roman" panose="02020603050405020304" pitchFamily="18" charset="0"/>
                  </a:rPr>
                  <a:t>(</a:t>
                </a:r>
                <a:r>
                  <a:rPr lang="en-US" sz="4000" b="0" i="1" u="none" strike="noStrike" baseline="0" dirty="0">
                    <a:solidFill>
                      <a:srgbClr val="0092FF"/>
                    </a:solidFill>
                    <a:latin typeface="Times New Roman" panose="02020603050405020304" pitchFamily="18" charset="0"/>
                  </a:rPr>
                  <a:t>t</a:t>
                </a:r>
                <a:r>
                  <a:rPr lang="en-US" sz="4000" b="0" i="0" u="none" strike="noStrike" baseline="0" dirty="0">
                    <a:solidFill>
                      <a:srgbClr val="0092FF"/>
                    </a:solidFill>
                    <a:latin typeface="Times New Roman" panose="02020603050405020304" pitchFamily="18" charset="0"/>
                  </a:rPr>
                  <a:t>)=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4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4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𝑃𝑑𝑡</m:t>
                        </m:r>
                      </m:e>
                    </m:nary>
                  </m:oMath>
                </a14:m>
                <a:r>
                  <a:rPr lang="en-US" sz="4000" dirty="0"/>
                  <a:t>, </a:t>
                </a:r>
                <a:r>
                  <a:rPr lang="en-US" sz="4000" dirty="0">
                    <a:solidFill>
                      <a:srgbClr val="0092FF"/>
                    </a:solidFill>
                    <a:latin typeface="Times New Roman" panose="02020603050405020304" pitchFamily="18" charset="0"/>
                  </a:rPr>
                  <a:t>=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4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sSup>
                          <m:sSupPr>
                            <m:ctrlPr>
                              <a:rPr lang="en-US" sz="4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4000">
                                <a:solidFill>
                                  <a:srgbClr val="FF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sz="4000" dirty="0">
                                <a:solidFill>
                                  <a:srgbClr val="FF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(0</m:t>
                            </m:r>
                            <m:r>
                              <a:rPr lang="en-US" sz="4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4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40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0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40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4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en-US" sz="4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4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4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l-GR" sz="4000" b="1" dirty="0">
                                    <a:solidFill>
                                      <a:srgbClr val="FF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ᴦ</m:t>
                                </m:r>
                              </m:den>
                            </m:f>
                            <m:r>
                              <m:rPr>
                                <m:nor/>
                              </m:rPr>
                              <a:rPr lang="en-US" sz="4000" dirty="0">
                                <a:solidFill>
                                  <a:srgbClr val="FF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 </m:t>
                            </m:r>
                          </m:sup>
                        </m:sSup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en-US" sz="4000" dirty="0"/>
                  <a:t>, </a:t>
                </a:r>
              </a:p>
              <a:p>
                <a:r>
                  <a:rPr lang="en-US" sz="4000" dirty="0">
                    <a:solidFill>
                      <a:srgbClr val="FFC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40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(</a:t>
                </a:r>
                <a:r>
                  <a:rPr lang="en-US" sz="4000" i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t</a:t>
                </a:r>
                <a:r>
                  <a:rPr lang="en-US" sz="40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) =</a:t>
                </a:r>
                <a:r>
                  <a:rPr lang="en-US" sz="4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4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4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</a:t>
                </a:r>
                <a:r>
                  <a:rPr lang="en-US" sz="40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400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sz="40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(0</m:t>
                        </m:r>
                        <m:r>
                          <a:rPr lang="en-US" sz="4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en-US" sz="40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4000" dirty="0">
                    <a:solidFill>
                      <a:srgbClr val="FF0000"/>
                    </a:solidFill>
                  </a:rPr>
                  <a:t>(1-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sz="4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sz="4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l-GR" sz="4000" b="1" dirty="0">
                                <a:solidFill>
                                  <a:srgbClr val="FF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ᴦ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40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</m:sup>
                    </m:sSup>
                  </m:oMath>
                </a14:m>
                <a:r>
                  <a:rPr lang="en-US" sz="4000" dirty="0">
                    <a:solidFill>
                      <a:srgbClr val="FF0000"/>
                    </a:solidFill>
                  </a:rPr>
                  <a:t>)…………..iii.</a:t>
                </a:r>
                <a:endParaRPr lang="en-US" sz="40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9E8A8-E9D8-4CFF-86EF-F455F855B2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762000"/>
                <a:ext cx="9144000" cy="6095999"/>
              </a:xfrm>
              <a:blipFill>
                <a:blip r:embed="rId2"/>
                <a:stretch>
                  <a:fillRect l="-1800" t="-1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2E5833-6486-4E88-A495-53A951CA0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17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8659219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DE029-0C99-4140-A622-C3BBE3CCE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"/>
            <a:ext cx="9144000" cy="6858000"/>
          </a:xfrm>
        </p:spPr>
        <p:txBody>
          <a:bodyPr/>
          <a:lstStyle/>
          <a:p>
            <a:r>
              <a:rPr lang="en-US" sz="3600" b="0" i="0" u="none" strike="noStrike" baseline="0" dirty="0">
                <a:latin typeface="ItcKabel-Medium"/>
              </a:rPr>
              <a:t>The Source-Free Series RLC Circuit</a:t>
            </a:r>
            <a:r>
              <a:rPr lang="en-US" sz="3600" b="0" i="0" u="none" strike="noStrike" baseline="0" dirty="0">
                <a:solidFill>
                  <a:srgbClr val="13B70E"/>
                </a:solidFill>
                <a:latin typeface="ItcKabel-Medium"/>
              </a:rPr>
              <a:t>.</a:t>
            </a:r>
          </a:p>
          <a:p>
            <a:endParaRPr lang="en-US" sz="1800" b="0" i="0" u="none" strike="noStrike" baseline="0" dirty="0">
              <a:solidFill>
                <a:srgbClr val="13B70E"/>
              </a:solidFill>
              <a:latin typeface="ItcKabel-Medium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circuit shown on Figure 1 is called the series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RLC circuit. We will analyze this circuit in order to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its transient characteristics equation.</a:t>
            </a:r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  <a:p>
            <a:endParaRPr lang="en-US" sz="3200" b="1" dirty="0"/>
          </a:p>
          <a:p>
            <a:pPr marL="0" indent="0">
              <a:buNone/>
            </a:pPr>
            <a:endParaRPr lang="en-US" sz="3200" b="1" i="0" u="none" strike="noStrike" baseline="0" dirty="0">
              <a:latin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A4E8B9-DE85-4A19-8FDF-9620F5339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18</a:t>
            </a:fld>
            <a:endParaRPr lang="en-US" altLang="en-TZ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BE462A-C76B-45E0-9C43-E58FD750C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54" y="2766005"/>
            <a:ext cx="8811491" cy="395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80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26F829-1DED-4B47-B9D9-DCC3C5D566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775855"/>
                <a:ext cx="9144000" cy="6082145"/>
              </a:xfrm>
            </p:spPr>
            <p:txBody>
              <a:bodyPr/>
              <a:lstStyle/>
              <a:p>
                <a:r>
                  <a:rPr lang="en-US" sz="3200" dirty="0"/>
                  <a:t>The equation that describes the response of the system is obtained by applying KVL around the mesh i.e. </a:t>
                </a:r>
              </a:p>
              <a:p>
                <a:r>
                  <a:rPr lang="en-US" sz="3200" dirty="0"/>
                  <a:t>VR + VL + Vc =0 ,………………….i.</a:t>
                </a:r>
              </a:p>
              <a:p>
                <a:r>
                  <a:rPr lang="en-US" sz="3200" dirty="0"/>
                  <a:t>The current flowing in the circuit is </a:t>
                </a:r>
                <a:r>
                  <a:rPr lang="en-US" sz="3200" dirty="0">
                    <a:solidFill>
                      <a:srgbClr val="FF0000"/>
                    </a:solidFill>
                  </a:rPr>
                  <a:t> i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𝒅𝒗𝒄</m:t>
                        </m:r>
                      </m:num>
                      <m:den>
                        <m: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</m:oMath>
                </a14:m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,</a:t>
                </a:r>
              </a:p>
              <a:p>
                <a:r>
                  <a:rPr lang="en-US" sz="3200" dirty="0"/>
                  <a:t>And thus the voltages vR and vL are given by ;</a:t>
                </a:r>
                <a:r>
                  <a:rPr lang="en-US" sz="3200" b="1" dirty="0">
                    <a:latin typeface="Times New Roman" panose="02020603050405020304" pitchFamily="18" charset="0"/>
                  </a:rPr>
                  <a:t> ,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rgbClr val="FF0000"/>
                    </a:solidFill>
                  </a:rPr>
                  <a:t>=</a:t>
                </a:r>
                <a:r>
                  <a:rPr lang="en-US" sz="3200" b="1" dirty="0">
                    <a:solidFill>
                      <a:srgbClr val="FF0000"/>
                    </a:solidFill>
                  </a:rPr>
                  <a:t> L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num>
                      <m:den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rgbClr val="FF0000"/>
                    </a:solidFill>
                  </a:rPr>
                  <a:t> =I R , Vc=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3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𝑡𝑜</m:t>
                        </m:r>
                      </m:sub>
                      <m:sup>
                        <m:r>
                          <a:rPr lang="en-US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  <m:e>
                        <m:r>
                          <a:rPr lang="en-US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𝑖𝑑𝑡</m:t>
                        </m:r>
                      </m:e>
                    </m:nary>
                  </m:oMath>
                </a14:m>
                <a:r>
                  <a:rPr lang="en-US" sz="3200" dirty="0">
                    <a:solidFill>
                      <a:srgbClr val="FF0000"/>
                    </a:solidFill>
                  </a:rPr>
                  <a:t>……………….ii</a:t>
                </a:r>
              </a:p>
              <a:p>
                <a:r>
                  <a:rPr lang="en-US" sz="3200" dirty="0"/>
                  <a:t>Substitute eq(ii).. into equation ….eq(i)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26F829-1DED-4B47-B9D9-DCC3C5D566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775855"/>
                <a:ext cx="9144000" cy="6082145"/>
              </a:xfrm>
              <a:blipFill>
                <a:blip r:embed="rId2"/>
                <a:stretch>
                  <a:fillRect l="-1200" t="-1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78716D-B2A0-4CBD-A4AA-1DC7A7F26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19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11463109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A29052-6442-4E99-8565-0E3CA9CA7B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855"/>
                <a:ext cx="9144000" cy="7342908"/>
              </a:xfrm>
            </p:spPr>
            <p:txBody>
              <a:bodyPr/>
              <a:lstStyle/>
              <a:p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𝒅𝒊</m:t>
                        </m:r>
                      </m:num>
                      <m:den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</m:oMath>
                </a14:m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i R  +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3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3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  <m:sup>
                        <m:r>
                          <a:rPr lang="en-US" sz="3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  <m:e>
                        <m:r>
                          <a:rPr lang="en-US" sz="3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𝑖𝑑𝑡</m:t>
                        </m:r>
                      </m:e>
                    </m:nary>
                    <m:r>
                      <a:rPr lang="en-US" sz="32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=0…………………………..iii</a:t>
                </a:r>
              </a:p>
              <a:p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Differentiate the equation we get:</a:t>
                </a:r>
              </a:p>
              <a:p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num>
                      <m:den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sSup>
                          <m:sSupPr>
                            <m:ctrlP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+R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𝒅𝒊</m:t>
                        </m:r>
                      </m:num>
                      <m:den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</m:oMath>
                </a14:m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 =0</a:t>
                </a:r>
              </a:p>
              <a:p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Our experience with first-order equations might suggest that we at least try the exponential form once more. Thus, we assume that;</a:t>
                </a:r>
              </a:p>
              <a:p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i=A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𝑠𝑡</m:t>
                        </m:r>
                      </m:sup>
                    </m:sSup>
                  </m:oMath>
                </a14:m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……………………………iv.</a:t>
                </a:r>
              </a:p>
              <a:p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3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𝑠𝑡</m:t>
                        </m:r>
                      </m:sup>
                    </m:sSup>
                  </m:oMath>
                </a14:m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RsA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𝑠𝑡</m:t>
                        </m:r>
                      </m:sup>
                    </m:sSup>
                  </m:oMath>
                </a14:m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𝑠𝑡</m:t>
                        </m:r>
                      </m:sup>
                    </m:sSup>
                  </m:oMath>
                </a14:m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=0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=0</a:t>
                </a:r>
              </a:p>
              <a:p>
                <a:endParaRPr lang="en-US" sz="2000" dirty="0">
                  <a:solidFill>
                    <a:srgbClr val="FF0000"/>
                  </a:solidFill>
                </a:endParaRPr>
              </a:p>
              <a:p>
                <a:endParaRPr lang="en-US" sz="2000" dirty="0">
                  <a:solidFill>
                    <a:srgbClr val="FF0000"/>
                  </a:solidFill>
                </a:endParaRPr>
              </a:p>
              <a:p>
                <a:endParaRPr lang="en-US" sz="2000" dirty="0">
                  <a:solidFill>
                    <a:srgbClr val="FF0000"/>
                  </a:solidFill>
                </a:endParaRPr>
              </a:p>
              <a:p>
                <a:endParaRPr lang="en-US" sz="1800" dirty="0">
                  <a:solidFill>
                    <a:srgbClr val="FF0000"/>
                  </a:solidFill>
                </a:endParaRPr>
              </a:p>
              <a:p>
                <a:endParaRPr lang="en-US" sz="2000" dirty="0">
                  <a:solidFill>
                    <a:srgbClr val="FF0000"/>
                  </a:solidFill>
                </a:endParaRPr>
              </a:p>
              <a:p>
                <a:endParaRPr lang="en-US" sz="20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A29052-6442-4E99-8565-0E3CA9CA7B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855"/>
                <a:ext cx="9144000" cy="7342908"/>
              </a:xfrm>
              <a:blipFill>
                <a:blip r:embed="rId2"/>
                <a:stretch>
                  <a:fillRect l="-1200" r="-1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FE1238-A156-43A4-B775-1B0E1BBE4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20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2956925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7D0DC1-7C2C-40C6-88E3-E06701275E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831273"/>
                <a:ext cx="9144000" cy="6026727"/>
              </a:xfrm>
            </p:spPr>
            <p:txBody>
              <a:bodyPr/>
              <a:lstStyle/>
              <a:p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From,</a:t>
                </a:r>
              </a:p>
              <a:p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US" sz="32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320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20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sz="320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32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−4</m:t>
                            </m:r>
                            <m:r>
                              <a:rPr lang="en-US" sz="32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𝑎𝑐</m:t>
                            </m:r>
                          </m:e>
                        </m:rad>
                      </m:num>
                      <m:den>
                        <m:r>
                          <a:rPr lang="en-US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S=</a:t>
                </a:r>
                <a:r>
                  <a:rPr lang="en-US" sz="32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sz="3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32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num>
                              <m:den>
                                <m:r>
                                  <a:rPr lang="en-US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den>
                            </m:f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32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3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</m:e>
                    </m:rad>
                    <m:r>
                      <a:rPr lang="en-US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3200" dirty="0">
                    <a:cs typeface="Times New Roman" panose="02020603050405020304" pitchFamily="18" charset="0"/>
                  </a:rPr>
                  <a:t>   Or</a:t>
                </a:r>
              </a:p>
              <a:p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S=</a:t>
                </a:r>
                <a:r>
                  <a:rPr lang="en-US" sz="32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sz="3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32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num>
                              <m:den>
                                <m:r>
                                  <a:rPr lang="en-US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den>
                            </m:f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32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3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Where by,</a:t>
                </a:r>
              </a:p>
              <a:p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W0=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𝐿𝐶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,     </a:t>
                </a:r>
                <a:r>
                  <a:rPr lang="el-GR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ᾳ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</a:t>
                </a:r>
              </a:p>
              <a:p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7D0DC1-7C2C-40C6-88E3-E06701275E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31273"/>
                <a:ext cx="9144000" cy="6026727"/>
              </a:xfrm>
              <a:blipFill>
                <a:blip r:embed="rId2"/>
                <a:stretch>
                  <a:fillRect l="-1200" t="-14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6B6629-8F6F-457D-AC7C-351BE1BA8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21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24286786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326E9-DC30-4817-921C-D0F632E35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09897"/>
            <a:ext cx="9144000" cy="6048103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roots s1 and s2 are called </a:t>
            </a:r>
            <a:r>
              <a:rPr lang="en-US" sz="3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frequencies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measured in nepers per second 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(Np/s),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they are associated with the natural response of the circuit;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ωo is known as the 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resonant frequency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strictly as the undamped natural frequency, expressed in radians per second 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(rad/s)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and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α is the neper frequency or the 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damping factor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expressed in 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nepers per second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5AC127-C9AF-4A73-97CF-01BA36C9A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22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24136047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29E44-9D5F-4D6D-B448-51723997A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09897"/>
            <a:ext cx="9144000" cy="6048103"/>
          </a:xfrm>
        </p:spPr>
        <p:txBody>
          <a:bodyPr/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roots s1 and s2 we can infer that there are three types of solutions .</a:t>
            </a:r>
          </a:p>
          <a:p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Overdamped Case…………..</a:t>
            </a:r>
            <a:r>
              <a:rPr lang="el-GR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ᾳ</a:t>
            </a:r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&gt;wo.</a:t>
            </a:r>
          </a:p>
          <a:p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Underdamped Case………….</a:t>
            </a:r>
            <a:r>
              <a:rPr lang="el-GR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ᾳ</a:t>
            </a:r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&lt;wo.</a:t>
            </a:r>
          </a:p>
          <a:p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Critically damped Case……….</a:t>
            </a:r>
            <a:r>
              <a:rPr lang="el-GR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ᾳ</a:t>
            </a:r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=wo.</a:t>
            </a:r>
          </a:p>
          <a:p>
            <a:endParaRPr lang="en-US" sz="4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795181-E262-4BB5-AE90-29A064AF7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23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24892871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31465-FB5A-B679-369E-0D36764A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71525"/>
            <a:ext cx="9144000" cy="6086474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for three degrees of damping.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E63FDB-3B5F-F4B6-AA27-10D347019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24</a:t>
            </a:fld>
            <a:endParaRPr lang="en-US" altLang="en-TZ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D1A26D-2711-893C-9AEE-E678741A1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99" y="1971675"/>
            <a:ext cx="7700963" cy="474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7353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97241-39D8-4AD6-B329-8741C9E49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62149"/>
            <a:ext cx="9144000" cy="5995851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circuit in shown figure, if R=40Ω, L=4H, and C=1/4F, Calculate the characteristic roots of the circuit. Is the natural response overdamped, underdamped, or critically damped?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3B9839-3A51-4EAA-8459-840A7887D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25</a:t>
            </a:fld>
            <a:endParaRPr lang="en-US" altLang="en-TZ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75A8BD-8075-4622-BE6E-925047B07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3657055"/>
            <a:ext cx="7014754" cy="210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1616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BDBC8-FC48-98EC-AB80-6FF659D71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250"/>
            <a:ext cx="9144000" cy="6000749"/>
          </a:xfrm>
        </p:spPr>
        <p:txBody>
          <a:bodyPr/>
          <a:lstStyle/>
          <a:p>
            <a:pPr algn="just"/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 CIRCUIT.</a:t>
            </a:r>
          </a:p>
          <a:p>
            <a:pPr algn="just"/>
            <a:r>
              <a:rPr lang="en-US" sz="32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Filter ?</a:t>
            </a:r>
            <a:endParaRPr lang="en-US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filter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circuit that is designed to pass signals with desired frequencies and reject or attenuate other signals.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 a frequency-selective device</a:t>
            </a:r>
            <a:r>
              <a:rPr lang="en-US" sz="32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 filter can be used to limit the frequency spectrum of a signal to some specified band of frequencies. </a:t>
            </a:r>
          </a:p>
          <a:p>
            <a:pPr algn="just"/>
            <a:r>
              <a:rPr lang="en-US" sz="32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Filters are the circuits used in radio and TV receivers to allow us to select one desired signal out of a multitude of broadcast signals in the environment</a:t>
            </a:r>
            <a:r>
              <a:rPr lang="en-US" sz="3200" b="0" i="0" dirty="0">
                <a:solidFill>
                  <a:srgbClr val="242021"/>
                </a:solidFill>
                <a:effectLst/>
                <a:latin typeface="Times-Roman"/>
              </a:rPr>
              <a:t>.</a:t>
            </a:r>
            <a:endParaRPr lang="en-US" sz="3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A8E669-772E-8D0A-8003-7419496D5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26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30857646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2F99D-C419-2B42-420F-693AC5865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71539"/>
            <a:ext cx="9144000" cy="5986462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Filter Circuit can be classified as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 </a:t>
            </a: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Filter 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(ii) </a:t>
            </a:r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Filter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40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filter is a </a:t>
            </a:r>
            <a:r>
              <a:rPr lang="en-US" sz="4000" b="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passive filter </a:t>
            </a:r>
            <a:r>
              <a:rPr lang="en-US" sz="40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it consists of only passive elements </a:t>
            </a:r>
            <a:r>
              <a:rPr lang="en-US" sz="4000" b="0" i="1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40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000" b="0" i="1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4000" b="0" i="1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40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And,</a:t>
            </a:r>
          </a:p>
          <a:p>
            <a:r>
              <a:rPr lang="en-US" sz="40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said to be an </a:t>
            </a:r>
            <a:r>
              <a:rPr lang="en-US" sz="4000" b="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active filter </a:t>
            </a:r>
            <a:r>
              <a:rPr lang="en-US" sz="40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it consists of active elements (such as transistors and Opamps  in addition to passive elements </a:t>
            </a:r>
            <a:r>
              <a:rPr lang="en-US" sz="4000" b="0" i="1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40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000" b="0" i="1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4000" b="0" i="1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4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FBA852-B1AF-1B20-6A90-C4C02AE38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27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18106025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B0514-B918-D73B-45E9-A47C58B31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00075"/>
            <a:ext cx="9144000" cy="6257925"/>
          </a:xfrm>
        </p:spPr>
        <p:txBody>
          <a:bodyPr/>
          <a:lstStyle/>
          <a:p>
            <a:r>
              <a:rPr lang="en-US" sz="3200" b="1" dirty="0">
                <a:solidFill>
                  <a:srgbClr val="242021"/>
                </a:solidFill>
                <a:latin typeface="Times-Roman"/>
              </a:rPr>
              <a:t>T</a:t>
            </a:r>
            <a:r>
              <a:rPr lang="en-US" sz="3200" b="1" i="0" dirty="0">
                <a:solidFill>
                  <a:srgbClr val="242021"/>
                </a:solidFill>
                <a:effectLst/>
                <a:latin typeface="Times-Roman"/>
              </a:rPr>
              <a:t>here are four types of filters whether passive or Active. Which are;</a:t>
            </a:r>
            <a:r>
              <a:rPr lang="en-US" sz="3200" b="1" dirty="0"/>
              <a:t> </a:t>
            </a:r>
          </a:p>
          <a:p>
            <a:r>
              <a:rPr lang="en-US" sz="3200" b="0" i="0" dirty="0">
                <a:solidFill>
                  <a:srgbClr val="242021"/>
                </a:solidFill>
                <a:effectLst/>
                <a:latin typeface="Times-Roman"/>
              </a:rPr>
              <a:t>1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Times-Roman"/>
              </a:rPr>
              <a:t>. A </a:t>
            </a:r>
            <a:r>
              <a:rPr lang="en-US" sz="3200" b="0" i="1" dirty="0">
                <a:solidFill>
                  <a:srgbClr val="FF0000"/>
                </a:solidFill>
                <a:effectLst/>
                <a:latin typeface="Times-Italic"/>
              </a:rPr>
              <a:t>low pass filter</a:t>
            </a:r>
            <a:r>
              <a:rPr lang="en-US" sz="3200" b="0" i="1" dirty="0">
                <a:solidFill>
                  <a:srgbClr val="242021"/>
                </a:solidFill>
                <a:effectLst/>
                <a:latin typeface="Times-Italic"/>
              </a:rPr>
              <a:t> </a:t>
            </a:r>
            <a:r>
              <a:rPr lang="en-US" sz="3200" b="0" i="0" dirty="0">
                <a:solidFill>
                  <a:srgbClr val="242021"/>
                </a:solidFill>
                <a:effectLst/>
                <a:latin typeface="Times-Roman"/>
              </a:rPr>
              <a:t>passes low frequencies and stops high frequencies, </a:t>
            </a:r>
          </a:p>
          <a:p>
            <a:r>
              <a:rPr lang="en-US" sz="3200" b="0" i="0" dirty="0">
                <a:solidFill>
                  <a:srgbClr val="242021"/>
                </a:solidFill>
                <a:effectLst/>
                <a:latin typeface="Times-Roman"/>
              </a:rPr>
              <a:t>2. 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Times-Roman"/>
              </a:rPr>
              <a:t>A </a:t>
            </a:r>
            <a:r>
              <a:rPr lang="en-US" sz="3200" b="0" i="1" dirty="0">
                <a:solidFill>
                  <a:srgbClr val="FF0000"/>
                </a:solidFill>
                <a:effectLst/>
                <a:latin typeface="Times-Italic"/>
              </a:rPr>
              <a:t>high pass filter </a:t>
            </a:r>
            <a:r>
              <a:rPr lang="en-US" sz="3200" b="0" i="0" dirty="0">
                <a:solidFill>
                  <a:srgbClr val="242021"/>
                </a:solidFill>
                <a:effectLst/>
                <a:latin typeface="Times-Roman"/>
              </a:rPr>
              <a:t>passes high frequencies and rejects low frequencies, </a:t>
            </a:r>
          </a:p>
          <a:p>
            <a:r>
              <a:rPr lang="en-US" sz="3200" b="0" i="0" dirty="0">
                <a:solidFill>
                  <a:srgbClr val="242021"/>
                </a:solidFill>
                <a:effectLst/>
                <a:latin typeface="Times-Roman"/>
              </a:rPr>
              <a:t>3. 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Times-Roman"/>
              </a:rPr>
              <a:t>A </a:t>
            </a:r>
            <a:r>
              <a:rPr lang="en-US" sz="3200" b="0" i="1" dirty="0">
                <a:solidFill>
                  <a:srgbClr val="FF0000"/>
                </a:solidFill>
                <a:effectLst/>
                <a:latin typeface="Times-Italic"/>
              </a:rPr>
              <a:t>band pass filter </a:t>
            </a:r>
            <a:r>
              <a:rPr lang="en-US" sz="3200" b="0" i="0" dirty="0">
                <a:solidFill>
                  <a:srgbClr val="242021"/>
                </a:solidFill>
                <a:effectLst/>
                <a:latin typeface="Times-Roman"/>
              </a:rPr>
              <a:t>passes frequencies within a frequency band and blocks or attenuates frequencies outside the band, </a:t>
            </a:r>
          </a:p>
          <a:p>
            <a:r>
              <a:rPr lang="en-US" sz="3200" b="0" i="0" dirty="0">
                <a:solidFill>
                  <a:srgbClr val="242021"/>
                </a:solidFill>
                <a:effectLst/>
                <a:latin typeface="Times-Roman"/>
              </a:rPr>
              <a:t> 4. 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Times-Roman"/>
              </a:rPr>
              <a:t>A </a:t>
            </a:r>
            <a:r>
              <a:rPr lang="en-US" sz="3200" b="0" i="1" dirty="0">
                <a:solidFill>
                  <a:srgbClr val="FF0000"/>
                </a:solidFill>
                <a:effectLst/>
                <a:latin typeface="Times-Italic"/>
              </a:rPr>
              <a:t>band stop filter </a:t>
            </a:r>
            <a:r>
              <a:rPr lang="en-US" sz="3200" b="0" i="0" dirty="0">
                <a:solidFill>
                  <a:srgbClr val="242021"/>
                </a:solidFill>
                <a:effectLst/>
                <a:latin typeface="Times-Roman"/>
              </a:rPr>
              <a:t>passes frequencies outside a frequency band and blocks or attenuates frequencies within the band, as shown ideally</a:t>
            </a:r>
            <a:r>
              <a:rPr lang="en-US" sz="3200" dirty="0"/>
              <a:t> 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87B7AB-CCA1-C329-4E87-42AFB0669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28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18132349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E9C2-6927-4517-BF6F-A3E3D4341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6000" b="1" dirty="0">
                <a:solidFill>
                  <a:srgbClr val="0070C0"/>
                </a:solidFill>
                <a:latin typeface="Algerian" panose="04020705040A02060702" pitchFamily="82" charset="0"/>
              </a:rPr>
              <a:t>………………THE  END OF LECTURE FOUR………..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6000" b="1" dirty="0">
                <a:solidFill>
                  <a:srgbClr val="0070C0"/>
                </a:solidFill>
                <a:latin typeface="Algerian" panose="04020705040A02060702" pitchFamily="82" charset="0"/>
              </a:rPr>
              <a:t>THANK you!!!!!!!!!!!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F54B0F-E38E-40E9-BB2C-3D79B1145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29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38678408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19293</TotalTime>
  <Words>1737</Words>
  <Application>Microsoft Office PowerPoint</Application>
  <PresentationFormat>On-screen Show (4:3)</PresentationFormat>
  <Paragraphs>204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3" baseType="lpstr">
      <vt:lpstr>Algerian</vt:lpstr>
      <vt:lpstr>Arial</vt:lpstr>
      <vt:lpstr>Calibri</vt:lpstr>
      <vt:lpstr>Cambria Math</vt:lpstr>
      <vt:lpstr>Constantia</vt:lpstr>
      <vt:lpstr>ItcKabel-Book</vt:lpstr>
      <vt:lpstr>ItcKabel-Medium</vt:lpstr>
      <vt:lpstr>NewCenturySchlbk-Italic</vt:lpstr>
      <vt:lpstr>Times New Roman</vt:lpstr>
      <vt:lpstr>Times-Italic</vt:lpstr>
      <vt:lpstr>Times-Roman</vt:lpstr>
      <vt:lpstr>Wingdings</vt:lpstr>
      <vt:lpstr>Wingdings 2</vt:lpstr>
      <vt:lpstr>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O W N E R</cp:lastModifiedBy>
  <cp:revision>283</cp:revision>
  <dcterms:created xsi:type="dcterms:W3CDTF">2021-10-12T03:25:19Z</dcterms:created>
  <dcterms:modified xsi:type="dcterms:W3CDTF">2023-12-19T10:46:20Z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4a08b7db7474460c9665e327564f0fd0</vt:lpwstr>
  </property>
</Properties>
</file>