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277" r:id="rId3"/>
    <p:sldId id="27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6858000" type="screen4x3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3D97D0-7425-4EED-B638-A2BFF299D73F}">
          <p14:sldIdLst>
            <p14:sldId id="256"/>
            <p14:sldId id="277"/>
            <p14:sldId id="278"/>
            <p14:sldId id="257"/>
            <p14:sldId id="258"/>
            <p14:sldId id="259"/>
            <p14:sldId id="260"/>
          </p14:sldIdLst>
        </p14:section>
        <p14:section name="Untitled Section" id="{27977348-C97F-4761-9BE0-5A0440F4402A}">
          <p14:sldIdLst>
            <p14:sldId id="261"/>
            <p14:sldId id="262"/>
            <p14:sldId id="263"/>
            <p14:sldId id="264"/>
          </p14:sldIdLst>
        </p14:section>
        <p14:section name="Untitled Section" id="{D6CB29E3-50FC-4CB4-AF74-1CFFE7FF7F5E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8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364" autoAdjust="0"/>
  </p:normalViewPr>
  <p:slideViewPr>
    <p:cSldViewPr snapToGrid="0">
      <p:cViewPr varScale="1">
        <p:scale>
          <a:sx n="63" d="100"/>
          <a:sy n="63" d="100"/>
        </p:scale>
        <p:origin x="16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6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64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42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0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34290" indent="0" algn="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9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0A14-3483-4285-B5AA-931AE0651600}" type="datetime1">
              <a:rPr lang="en-US" smtClean="0"/>
              <a:t>11/7/2023</a:t>
            </a:fld>
            <a:endParaRPr lang="en-US"/>
          </a:p>
        </p:txBody>
      </p:sp>
      <p:sp>
        <p:nvSpPr>
          <p:cNvPr id="104869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D15ED53B-996B-4378-9C91-896BD38502A8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AE6F-A67B-44C9-9AC6-50088D371ABA}" type="datetime1">
              <a:rPr lang="en-US" smtClean="0"/>
              <a:t>11/7/2023</a:t>
            </a:fld>
            <a:endParaRPr lang="en-US"/>
          </a:p>
        </p:txBody>
      </p:sp>
      <p:sp>
        <p:nvSpPr>
          <p:cNvPr id="104858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42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20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1650">
                <a:solidFill>
                  <a:schemeClr val="tx1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641B-6EDB-4D53-8E2C-9A5FEF4070D9}" type="datetime1">
              <a:rPr lang="en-US" smtClean="0"/>
              <a:t>11/7/2023</a:t>
            </a:fld>
            <a:endParaRPr lang="en-US"/>
          </a:p>
        </p:txBody>
      </p:sp>
      <p:sp>
        <p:nvSpPr>
          <p:cNvPr id="10487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1ABFF248-A989-4D8D-B05F-37617110CFF0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4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195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195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D27E-6919-4D02-A73B-49222A03FCC1}" type="datetime1">
              <a:rPr lang="en-US" smtClean="0"/>
              <a:t>11/7/2023</a:t>
            </a:fld>
            <a:endParaRPr lang="en-US"/>
          </a:p>
        </p:txBody>
      </p:sp>
      <p:sp>
        <p:nvSpPr>
          <p:cNvPr id="1048751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2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0793-B774-4696-A8C6-8B6889409F16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2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18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6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859759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18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7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8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514600"/>
            <a:ext cx="4041775" cy="3845720"/>
          </a:xfrm>
        </p:spPr>
        <p:txBody>
          <a:bodyPr tIns="0"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9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7AAEB-6E84-4244-ABAD-B2263C3CF1FF}" type="datetime1">
              <a:rPr lang="en-US" smtClean="0"/>
              <a:t>11/7/2023</a:t>
            </a:fld>
            <a:endParaRPr lang="en-US"/>
          </a:p>
        </p:txBody>
      </p:sp>
      <p:sp>
        <p:nvSpPr>
          <p:cNvPr id="1048730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1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298E-17EE-419C-B1DA-2E7036F0130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375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69A88-7CB7-4212-B83C-03F933A21110}" type="datetime1">
              <a:rPr lang="en-US" smtClean="0"/>
              <a:t>11/7/2023</a:t>
            </a:fld>
            <a:endParaRPr lang="en-US"/>
          </a:p>
        </p:txBody>
      </p:sp>
      <p:sp>
        <p:nvSpPr>
          <p:cNvPr id="104869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5066-385A-4712-B3B6-9A5B1321A3A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33CB-A137-449F-A226-775613DC0A71}" type="datetime1">
              <a:rPr lang="en-US" smtClean="0"/>
              <a:t>11/7/2023</a:t>
            </a:fld>
            <a:endParaRPr lang="en-US"/>
          </a:p>
        </p:txBody>
      </p:sp>
      <p:sp>
        <p:nvSpPr>
          <p:cNvPr id="104873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D2C9E-88E8-43DD-9653-6C1943F77BB4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195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54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050"/>
            </a:lvl1pPr>
            <a:lvl2pPr indent="0" algn="l">
              <a:buNone/>
              <a:defRPr sz="900"/>
            </a:lvl2pPr>
            <a:lvl3pPr indent="0" algn="l">
              <a:buNone/>
              <a:defRPr sz="750"/>
            </a:lvl3pPr>
            <a:lvl4pPr indent="0" algn="l">
              <a:buNone/>
              <a:defRPr sz="675"/>
            </a:lvl4pPr>
            <a:lvl5pPr indent="0" algn="l">
              <a:buNone/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5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100"/>
            </a:lvl1pPr>
            <a:lvl2pPr>
              <a:defRPr sz="1950"/>
            </a:lvl2pPr>
            <a:lvl3pPr>
              <a:defRPr sz="1800"/>
            </a:lvl3pPr>
            <a:lvl4pPr>
              <a:defRPr sz="150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6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44A7-F6EB-437F-8AB7-57EF0FDCE1F8}" type="datetime1">
              <a:rPr lang="en-US" smtClean="0"/>
              <a:t>11/7/2023</a:t>
            </a:fld>
            <a:endParaRPr lang="en-US"/>
          </a:p>
        </p:txBody>
      </p:sp>
      <p:sp>
        <p:nvSpPr>
          <p:cNvPr id="1048757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B7BB-B9B6-4EC6-A38E-4F4D80B3AFA3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Snip and Round Single Corner Rectangle 13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350"/>
          </a:p>
        </p:txBody>
      </p:sp>
      <p:sp>
        <p:nvSpPr>
          <p:cNvPr id="1048710" name="Right Triangle 5"/>
          <p:cNvSpPr/>
          <p:nvPr/>
        </p:nvSpPr>
        <p:spPr>
          <a:xfrm rot="420000" flipV="1">
            <a:off x="8004176" y="5359402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350"/>
          </a:p>
        </p:txBody>
      </p:sp>
      <p:sp>
        <p:nvSpPr>
          <p:cNvPr id="1048711" name="Freeform 15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712" name="Freeform 16"/>
          <p:cNvSpPr/>
          <p:nvPr/>
        </p:nvSpPr>
        <p:spPr bwMode="auto">
          <a:xfrm flipV="1">
            <a:off x="4381500" y="6219827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713" name="Title 1"/>
          <p:cNvSpPr>
            <a:spLocks noGrp="1"/>
          </p:cNvSpPr>
          <p:nvPr>
            <p:ph type="title"/>
          </p:nvPr>
        </p:nvSpPr>
        <p:spPr>
          <a:xfrm>
            <a:off x="609600" y="1176998"/>
            <a:ext cx="2212848" cy="1582621"/>
          </a:xfrm>
        </p:spPr>
        <p:txBody>
          <a:bodyPr lIns="45720" rIns="45720" bIns="45720"/>
          <a:lstStyle>
            <a:lvl1pPr algn="l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188"/>
              </a:spcBef>
              <a:buFontTx/>
              <a:buNone/>
              <a:defRPr sz="975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5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4871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0B45-595E-4E97-A9CB-DDD48AA7C440}" type="datetime1">
              <a:rPr lang="en-US" smtClean="0"/>
              <a:t>11/7/2023</a:t>
            </a:fld>
            <a:endParaRPr lang="en-US"/>
          </a:p>
        </p:txBody>
      </p:sp>
      <p:sp>
        <p:nvSpPr>
          <p:cNvPr id="104871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2"/>
            <a:ext cx="609600" cy="365125"/>
          </a:xfrm>
        </p:spPr>
        <p:txBody>
          <a:bodyPr/>
          <a:lstStyle/>
          <a:p>
            <a:fld id="{43B8A962-D83D-4897-A8B5-1C7B73F65C11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4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8CA0B-8DCD-4AE3-9E5D-30F930874C94}" type="datetime1">
              <a:rPr lang="en-US" smtClean="0"/>
              <a:t>11/7/2023</a:t>
            </a:fld>
            <a:endParaRPr lang="en-US"/>
          </a:p>
        </p:txBody>
      </p:sp>
      <p:sp>
        <p:nvSpPr>
          <p:cNvPr id="104874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F36CE-58F5-40DE-B895-8959E01F79F2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2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0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2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6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5C7E-6C26-4562-95EB-6C3403AAB1AB}" type="datetime1">
              <a:rPr lang="en-US" smtClean="0"/>
              <a:t>11/7/2023</a:t>
            </a:fld>
            <a:endParaRPr lang="en-US"/>
          </a:p>
        </p:txBody>
      </p:sp>
      <p:sp>
        <p:nvSpPr>
          <p:cNvPr id="1048707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05E5-C8A0-4DDF-A1E8-013BBAD9731E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36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7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8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9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E302-3999-4873-BE4B-33FFE6A45501}" type="datetime1">
              <a:rPr lang="en-US" smtClean="0"/>
              <a:t>11/7/2023</a:t>
            </a:fld>
            <a:endParaRPr lang="en-US"/>
          </a:p>
        </p:txBody>
      </p:sp>
      <p:sp>
        <p:nvSpPr>
          <p:cNvPr id="1048740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1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01D2-5FDB-428E-B6DC-2B2A69C1266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99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1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97EF-51D5-45D5-AD6D-B3E5703E720E}" type="datetime1">
              <a:rPr lang="en-US" smtClean="0"/>
              <a:t>11/7/2023</a:t>
            </a:fld>
            <a:endParaRPr lang="en-US"/>
          </a:p>
        </p:txBody>
      </p:sp>
      <p:sp>
        <p:nvSpPr>
          <p:cNvPr id="1048702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3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597DA-B642-4C4B-93B6-CE1E2C30D462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Freeform 6"/>
          <p:cNvSpPr/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577" name="Freeform 7"/>
          <p:cNvSpPr/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57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TZ"/>
              <a:t>Click to edit Master title style</a:t>
            </a:r>
          </a:p>
        </p:txBody>
      </p:sp>
      <p:sp>
        <p:nvSpPr>
          <p:cNvPr id="104857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5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TZ"/>
              <a:t>Click to edit Master text styles</a:t>
            </a:r>
          </a:p>
          <a:p>
            <a:pPr lvl="1"/>
            <a:r>
              <a:rPr lang="en-US" altLang="en-TZ"/>
              <a:t>Second level</a:t>
            </a:r>
          </a:p>
          <a:p>
            <a:pPr lvl="2"/>
            <a:r>
              <a:rPr lang="en-US" altLang="en-TZ"/>
              <a:t>Third level</a:t>
            </a:r>
          </a:p>
          <a:p>
            <a:pPr lvl="3"/>
            <a:r>
              <a:rPr lang="en-US" altLang="en-TZ"/>
              <a:t>Fourth level</a:t>
            </a:r>
          </a:p>
          <a:p>
            <a:pPr lvl="4"/>
            <a:r>
              <a:rPr lang="en-US" altLang="en-TZ"/>
              <a:t>Fifth level</a:t>
            </a:r>
          </a:p>
        </p:txBody>
      </p:sp>
      <p:sp>
        <p:nvSpPr>
          <p:cNvPr id="104858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900">
                <a:solidFill>
                  <a:schemeClr val="tx2">
                    <a:shade val="90000"/>
                  </a:schemeClr>
                </a:solidFill>
                <a:latin typeface="Arial" charset="0"/>
              </a:defRPr>
            </a:lvl1pPr>
          </a:lstStyle>
          <a:p>
            <a:fld id="{0695FB56-EA84-4844-9BFB-327161247F83}" type="datetime1">
              <a:rPr lang="en-US" smtClean="0"/>
              <a:t>11/7/2023</a:t>
            </a:fld>
            <a:endParaRPr lang="en-US"/>
          </a:p>
        </p:txBody>
      </p:sp>
      <p:sp>
        <p:nvSpPr>
          <p:cNvPr id="1048581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2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900">
                <a:solidFill>
                  <a:schemeClr val="tx2">
                    <a:shade val="90000"/>
                  </a:schemeClr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48582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2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045C75"/>
                </a:solidFill>
              </a:defRPr>
            </a:lvl1pPr>
          </a:lstStyle>
          <a:p>
            <a:fld id="{F2709C22-77CA-47A0-B90A-4ACEF2B64A71}" type="slidenum">
              <a:rPr lang="en-US" altLang="en-TZ"/>
              <a:t>‹#›</a:t>
            </a:fld>
            <a:endParaRPr lang="en-US" altLang="en-TZ"/>
          </a:p>
        </p:txBody>
      </p:sp>
      <p:grpSp>
        <p:nvGrpSpPr>
          <p:cNvPr id="12" name="Group 1"/>
          <p:cNvGrpSpPr/>
          <p:nvPr/>
        </p:nvGrpSpPr>
        <p:grpSpPr bwMode="auto">
          <a:xfrm>
            <a:off x="-19049" y="203200"/>
            <a:ext cx="9180513" cy="647700"/>
            <a:chOff x="-19045" y="216550"/>
            <a:chExt cx="9180548" cy="649224"/>
          </a:xfrm>
        </p:grpSpPr>
        <p:sp>
          <p:nvSpPr>
            <p:cNvPr id="1048583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16000">
                    <a:schemeClr val="accent2">
                      <a:shade val="75000"/>
                      <a:alpha val="56000"/>
                    </a:schemeClr>
                  </a:gs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/>
              <a:endParaRPr lang="en-US" sz="1350">
                <a:latin typeface="Arial" charset="0"/>
              </a:endParaRPr>
            </a:p>
          </p:txBody>
        </p:sp>
        <p:sp>
          <p:nvSpPr>
            <p:cNvPr id="1048584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33000">
                    <a:schemeClr val="accent2">
                      <a:alpha val="56000"/>
                    </a:schemeClr>
                  </a:gs>
                  <a:gs pos="44000">
                    <a:schemeClr val="accent1"/>
                  </a:gs>
                  <a:gs pos="74000">
                    <a:schemeClr val="accent4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/>
              <a:endParaRPr lang="en-US" sz="1350">
                <a:latin typeface="Arial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75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9pPr>
    </p:titleStyle>
    <p:bodyStyle>
      <a:lvl1pPr marL="204788" indent="-204788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79822" indent="-184547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454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890588" indent="-157163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096566" indent="-157163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57734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indent="-13716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2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645920" indent="-137160" algn="l" rtl="0" eaLnBrk="1" latinLnBrk="0" hangingPunct="1">
        <a:spcBef>
          <a:spcPct val="20000"/>
        </a:spcBef>
        <a:buClr>
          <a:schemeClr val="tx2"/>
        </a:buClr>
        <a:buChar char="•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51660" indent="-13716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05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>
          <a:xfrm>
            <a:off x="169816" y="-5304"/>
            <a:ext cx="8817428" cy="536713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rgbClr val="FF0066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MBEYA UNIVERSITY OF SCIENCE AND TECHNOLOGY</a:t>
            </a:r>
          </a:p>
        </p:txBody>
      </p:sp>
      <p:sp>
        <p:nvSpPr>
          <p:cNvPr id="1048591" name="Content Placeholder 2"/>
          <p:cNvSpPr>
            <a:spLocks noGrp="1"/>
          </p:cNvSpPr>
          <p:nvPr>
            <p:ph idx="1"/>
          </p:nvPr>
        </p:nvSpPr>
        <p:spPr>
          <a:xfrm>
            <a:off x="0" y="2508068"/>
            <a:ext cx="8987244" cy="434993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0C0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COLLEGE OF ELECTRONICS AND POWER ENGINEERING 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0070C0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(EPE)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Facilitator       </a:t>
            </a:r>
            <a:r>
              <a:rPr lang="en-US" sz="2400" b="1" dirty="0">
                <a:solidFill>
                  <a:srgbClr val="0070C0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: Eng.PHILIPO MNAKA 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70C0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COURSE          : ET8203 CIRCUIT THEORY.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70C0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CREDITY          : 7.0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70C0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COURSE STATUS : Core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z="2000" b="1" smtClean="0">
                <a:latin typeface="Comic Sans MS" panose="030F0702030302020204" pitchFamily="66" charset="0"/>
              </a:rPr>
              <a:t>1</a:t>
            </a:fld>
            <a:endParaRPr lang="en-US" altLang="en-TZ" sz="2000" b="1">
              <a:latin typeface="Comic Sans MS" panose="030F0702030302020204" pitchFamily="66" charset="0"/>
            </a:endParaRPr>
          </a:p>
        </p:txBody>
      </p:sp>
      <p:pic>
        <p:nvPicPr>
          <p:cNvPr id="2097152" name="Picture 3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47253" y="531409"/>
            <a:ext cx="2662555" cy="1976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FD24C-288D-4CFC-8935-B6129413B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9091"/>
            <a:ext cx="9144000" cy="581890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Outcomes;</a:t>
            </a:r>
          </a:p>
          <a:p>
            <a:r>
              <a:rPr 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Upon completion of this course, The student should be able to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DC circuit at steady state using various methods and Techniques.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AC circuits at steady state using various methods and techniques 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Laplace transform technique to analyze AC circuit.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transient conditions of electrical circuit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general filter circuits using the concepts of frequency selective circuit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6A58C-45D4-47D0-8755-7CEA2E03E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4073345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AD118-C204-9525-200F-B183FD005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methods.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course will be assessed through assignment, test, and end of semester examination.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Assessment involves 40%. and the End of the semester examination 60%.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80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Recommended References/Textbooks: </a:t>
            </a:r>
          </a:p>
          <a:p>
            <a:pPr marL="514350" indent="-514350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Alexander, Charles K. and Sadiku Matthew, N.O. (2013) ―Fundamentals of Electric Circuits </a:t>
            </a:r>
          </a:p>
          <a:p>
            <a:pPr marL="514350" indent="-514350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Nilsson, James W. (2015) ―Electric Circuits‖, 10Th Edition, Pearson, 2015, ISBN: 9780133760033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Chakraborty A K, Ghosh, S P,(2010) ―Network Analysis and Synthesis‖, 1St Edition, 2010, McGraw - Hill Education , SBN No.: 9780070144781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6BAE87-BC37-6C35-D82A-4F9E5110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3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179538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87829" y="0"/>
            <a:ext cx="8229600" cy="1181644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 Circuit.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57200" y="1436915"/>
            <a:ext cx="8229600" cy="5284562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circuit theory and electromagnetic theory are the two fundamental theories upon which all branches of electrical engineering are built.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branches of electrical engineering, such as power, electric machines, control, electronics, communications, and instrumentation, are based on electric circuit theory.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4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875587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49" y="737143"/>
            <a:ext cx="8281851" cy="561920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electrical engineering, we are often interested in communicating or transferring energy from one point to another. 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do this requires an interconnection of electrical devices. 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interconnection is referred to as an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circuit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each component of the circuit is known as an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5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1572408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9144000" cy="6858000"/>
          </a:xfrm>
        </p:spPr>
        <p:txBody>
          <a:bodyPr/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An electric circuit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an interconnection of several electrical elements that connected together in such a manner to perform a certain objectives and desired function</a:t>
            </a:r>
            <a:r>
              <a:rPr lang="en-US" sz="3200" dirty="0"/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analysis of a circuit, we mean a study of the behavior of the circuit: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it respond to a given input?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the interconnected elements and devices in the circuit interact?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We commence our study by defining some basic concepts.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6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181707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20319"/>
            <a:ext cx="8229600" cy="6001157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concepts include </a:t>
            </a:r>
            <a:r>
              <a:rPr lang="en-US" sz="32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charge, current, voltage, circuit elements, power, and energy.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defining these concepts,</a:t>
            </a:r>
            <a:r>
              <a:rPr lang="en-US" sz="32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must first establish a system of units that we will use throughout the text as,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7</a:t>
            </a:fld>
            <a:endParaRPr lang="en-US" altLang="en-T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46" y="3303468"/>
            <a:ext cx="825572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947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57646"/>
            <a:ext cx="8229600" cy="692331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15737"/>
            <a:ext cx="8229600" cy="50422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basic quantity in an electric circuit is the electric charge. 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all experience the effect of electric charge when we try to remove our wool sweater and have it stick to our body.</a:t>
            </a:r>
          </a:p>
          <a:p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 is an electrical property of the atomic particles of which matter consists, measured in coulombs (C).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8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879303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1441" y="934632"/>
            <a:ext cx="9144000" cy="5786845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know that the charge e on an electron is negative and equal in magnitude to 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1.602x10</a:t>
            </a:r>
            <a:r>
              <a:rPr lang="en-US" sz="3200" b="1" baseline="30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−19 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C,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a proton carries a positive charge of the same magnitude as the electron. 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presence of equal numbers of protons and electrons leaves an atom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neutrally charged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points should be noted about electric charge.</a:t>
            </a:r>
            <a:endParaRPr lang="en-US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9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737966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31074"/>
            <a:ext cx="8229600" cy="6324015"/>
          </a:xfrm>
        </p:spPr>
        <p:txBody>
          <a:bodyPr/>
          <a:lstStyle/>
          <a:p>
            <a:pPr marL="0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The coulomb is a large unit for charges. In 1 C of charge, there are electrons. Thus realistic or laboratory values of charges are on the order of pC, nC, etc.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According to experimental observations, the only charges that occur in nature are integral multiples of the electronic charge 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law of conservation of charge states that charge can neither be created nor destroyed, only transferred. 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 the algebraic sum of the electric charges in a system does not change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10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240561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280" y="996594"/>
            <a:ext cx="8229600" cy="76028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of electric charges and current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2653" y="2660073"/>
            <a:ext cx="3906365" cy="271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6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63028"/>
            <a:ext cx="8229600" cy="984821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current.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35165"/>
            <a:ext cx="9144000" cy="4922835"/>
          </a:xfrm>
        </p:spPr>
        <p:txBody>
          <a:bodyPr/>
          <a:lstStyle/>
          <a:p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current is the time rate of change of charge, measured in amperes (A).</a:t>
            </a:r>
          </a:p>
          <a:p>
            <a:endParaRPr lang="en-US" sz="32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Note, any large power supply capacitor can store up to 0.5 C of charge.</a:t>
            </a:r>
            <a:endParaRPr lang="en-US" sz="3200" b="1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12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688238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017142"/>
                <a:ext cx="9144000" cy="5840858"/>
              </a:xfrm>
            </p:spPr>
            <p:txBody>
              <a:bodyPr/>
              <a:lstStyle/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Mathematically, the relationship between current i, charge q, and time t is ,</a:t>
                </a:r>
              </a:p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</a:t>
                </a:r>
                <a:r>
                  <a:rPr lang="en-US" sz="3200" dirty="0">
                    <a:solidFill>
                      <a:srgbClr val="FF00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FF0066"/>
                        </a:solidFill>
                        <a:latin typeface="Cambria Math" panose="02040503050406030204" pitchFamily="18" charset="0"/>
                      </a:rPr>
                      <m:t>≜</m:t>
                    </m:r>
                    <m:f>
                      <m:fPr>
                        <m:ctrlPr>
                          <a:rPr lang="en-US" sz="3200" i="1" smtClean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𝑑𝑞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F00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where current is measured in amperes (A), </a:t>
                </a:r>
              </a:p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sz="3200" dirty="0"/>
                  <a:t>1 ampere = 1 coulomb/second</a:t>
                </a:r>
              </a:p>
              <a:p>
                <a:endParaRPr lang="en-US" sz="3200" dirty="0"/>
              </a:p>
              <a:p>
                <a:r>
                  <a:rPr lang="en-US" sz="3200" dirty="0"/>
                  <a:t>The charge transferred between time t1 and t2 is obtained by,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>
                    <a:solidFill>
                      <a:srgbClr val="FF00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Q=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3200" i="1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i="1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200" i="1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200" i="1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US" sz="3200" i="1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𝑖𝑑𝑡</m:t>
                        </m:r>
                      </m:e>
                    </m:nary>
                    <m:r>
                      <a:rPr lang="en-US" sz="3200" i="1">
                        <a:solidFill>
                          <a:srgbClr val="FF006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3200" dirty="0">
                  <a:solidFill>
                    <a:srgbClr val="FF00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17142"/>
                <a:ext cx="9144000" cy="5840858"/>
              </a:xfrm>
              <a:blipFill>
                <a:blip r:embed="rId2"/>
                <a:stretch>
                  <a:fillRect l="-1200" t="-1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13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022585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66652"/>
            <a:ext cx="9143999" cy="599134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common types of current which are: (a) direct current (dc), (b) alternating current (ac).</a:t>
            </a:r>
          </a:p>
          <a:p>
            <a:pPr marL="0" indent="0">
              <a:buNone/>
            </a:pPr>
            <a:endParaRPr lang="en-US" sz="3200" b="1" dirty="0"/>
          </a:p>
          <a:p>
            <a:pPr algn="just"/>
            <a:r>
              <a:rPr lang="en-US" sz="3200" b="1" dirty="0"/>
              <a:t>If the current does not change with time, but remains constant, we call it </a:t>
            </a:r>
            <a:r>
              <a:rPr lang="en-US" sz="3200" b="1" dirty="0">
                <a:solidFill>
                  <a:srgbClr val="0070C0"/>
                </a:solidFill>
              </a:rPr>
              <a:t>a direct current </a:t>
            </a:r>
            <a:r>
              <a:rPr lang="en-US" sz="3200" b="1" dirty="0"/>
              <a:t>(dc).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direct current (dc) is a current that remains constant with time.</a:t>
            </a:r>
          </a:p>
          <a:p>
            <a:endParaRPr lang="en-US" sz="32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212" y="4911047"/>
            <a:ext cx="3863082" cy="166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525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701" y="928298"/>
            <a:ext cx="8748444" cy="5929702"/>
          </a:xfrm>
        </p:spPr>
        <p:txBody>
          <a:bodyPr/>
          <a:lstStyle/>
          <a:p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alternating current (ac) is a current that varies sinusoidally with time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current is used in your household, to run the air conditioner, refrigerator, washing machine, and other electric appliances.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40" y="3893149"/>
            <a:ext cx="5731429" cy="246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26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9144000" cy="7022388"/>
              </a:xfrm>
            </p:spPr>
            <p:txBody>
              <a:bodyPr/>
              <a:lstStyle/>
              <a:p>
                <a:endParaRPr lang="en-US" dirty="0"/>
              </a:p>
              <a:p>
                <a:pPr algn="just"/>
                <a:r>
                  <a:rPr lang="en-US" sz="3200" b="1" dirty="0">
                    <a:solidFill>
                      <a:srgbClr val="FF00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EXAMPLES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How much charge is represented by 00 electrons?</a:t>
                </a:r>
              </a:p>
              <a:p>
                <a:pPr algn="just"/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Calculate the amount of charge represented by THREE million protons.</a:t>
                </a:r>
              </a:p>
              <a:p>
                <a:pPr algn="just"/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The total charge entering a terminal is given by </a:t>
                </a:r>
                <a:r>
                  <a:rPr lang="en-US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q=(3t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l-GR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fName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𝒎𝑪</m:t>
                        </m:r>
                      </m:e>
                    </m:func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Calculate the current at, t=0.1s</a:t>
                </a:r>
              </a:p>
              <a:p>
                <a:pPr algn="just"/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4.If  q=(5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­</m:t>
                    </m:r>
                    <m:r>
                      <a:rPr lang="en-U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)mC. find the current at  t=0.1s,</a:t>
                </a:r>
              </a:p>
              <a:p>
                <a:pPr algn="just"/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Determine the total charge entering a terminal between t=1.0s and t=2.0s  if the current passing the terminal is </a:t>
                </a:r>
                <a:r>
                  <a:rPr lang="en-US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=(3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-t)A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9144000" cy="7022388"/>
              </a:xfrm>
              <a:blipFill>
                <a:blip r:embed="rId3"/>
                <a:stretch>
                  <a:fillRect l="-1200" r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16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698922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6593"/>
            <a:ext cx="9144000" cy="5861407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move the electron in a conductor in a particular direction requires some work or energy transfer. This work is performed by an external electromotive force (emf). This emf is also known as </a:t>
            </a:r>
            <a:r>
              <a:rPr lang="en-US" sz="32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</a:t>
            </a:r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32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</a:p>
          <a:p>
            <a:pPr marL="0" indent="0" algn="just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definition,</a:t>
            </a:r>
            <a:r>
              <a:rPr lang="en-US" sz="3200" dirty="0"/>
              <a:t> Voltage</a:t>
            </a:r>
          </a:p>
          <a:p>
            <a:pPr marL="0" indent="0" algn="just">
              <a:buNone/>
            </a:pPr>
            <a:r>
              <a:rPr lang="en-US" sz="3200" dirty="0"/>
              <a:t> (or potential difference) </a:t>
            </a:r>
            <a:r>
              <a:rPr lang="en-US" sz="3200" dirty="0">
                <a:solidFill>
                  <a:srgbClr val="FF0000"/>
                </a:solidFill>
              </a:rPr>
              <a:t>is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the energy required to move a unit charge through an element, measured in volts (V</a:t>
            </a:r>
            <a:r>
              <a:rPr lang="en-US" sz="3200" b="1" dirty="0">
                <a:solidFill>
                  <a:srgbClr val="FF0000"/>
                </a:solidFill>
              </a:rPr>
              <a:t>)</a:t>
            </a:r>
          </a:p>
          <a:p>
            <a:pPr marL="0" indent="0" algn="just">
              <a:buNone/>
            </a:pPr>
            <a:endParaRPr lang="en-US" sz="32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17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774717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18</a:t>
            </a:fld>
            <a:endParaRPr lang="en-US" altLang="en-TZ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0" y="328774"/>
            <a:ext cx="6092575" cy="6392704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Consider, the voltage across an element (represented by a rectangular block) connected to points a and b. The plus and minus signs are used to define reference direction or voltage polarity.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37" y="760289"/>
            <a:ext cx="2331163" cy="41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31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832207"/>
                <a:ext cx="9144000" cy="602579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4000" b="1" i="1" smtClean="0">
                            <a:latin typeface="Cambria Math" panose="02040503050406030204" pitchFamily="18" charset="0"/>
                          </a:rPr>
                          <m:t>𝒂𝒃</m:t>
                        </m:r>
                      </m:sub>
                    </m:sSub>
                    <m:r>
                      <a:rPr lang="en-US" sz="4000" b="1" i="1" smtClean="0">
                        <a:latin typeface="Cambria Math" panose="02040503050406030204" pitchFamily="18" charset="0"/>
                      </a:rPr>
                      <m:t>≜</m:t>
                    </m:r>
                    <m:box>
                      <m:boxPr>
                        <m:ctrlPr>
                          <a:rPr lang="en-US" sz="4000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  <m:t>𝒅𝒘</m:t>
                            </m:r>
                          </m:num>
                          <m:den>
                            <m: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  <m:t>𝒅𝒒</m:t>
                            </m:r>
                          </m:den>
                        </m:f>
                      </m:e>
                    </m:box>
                    <m:r>
                      <a:rPr lang="en-US" sz="4000" b="1" i="1" smtClean="0">
                        <a:latin typeface="Cambria Math" panose="02040503050406030204" pitchFamily="18" charset="0"/>
                      </a:rPr>
                      <m:t> ,   </m:t>
                    </m:r>
                  </m:oMath>
                </a14:m>
                <a:endParaRPr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w is energy in joules (J) and q is charge in coulombs (C).</a:t>
                </a:r>
              </a:p>
              <a:p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And, 1 volt =1 joule/coulomb = 1 newton-meter/coulomb</a:t>
                </a:r>
                <a:r>
                  <a:rPr lang="en-US" sz="3200" dirty="0"/>
                  <a:t>.</a:t>
                </a:r>
                <a:endPara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2207"/>
                <a:ext cx="9144000" cy="6025793"/>
              </a:xfrm>
              <a:blipFill>
                <a:blip r:embed="rId2"/>
                <a:stretch>
                  <a:fillRect l="-1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19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984138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020765"/>
                <a:ext cx="9144000" cy="5837235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Power and Energy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Power is </a:t>
                </a:r>
                <a:r>
                  <a:rPr lang="en-US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time rate of expending or absorbing energy, measured in watts (W).</a:t>
                </a:r>
              </a:p>
              <a:p>
                <a:pPr marL="0" indent="0">
                  <a:buNone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Mathematically,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≜</m:t>
                    </m:r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𝑑𝑤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p is power in watts (W), w is energy in joules (J), and t is time in second(s).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3200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Deduce that, P=</a:t>
                </a:r>
                <a:r>
                  <a:rPr lang="en-US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𝑑𝑤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3200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……………..(i)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deduced from ,</a:t>
                </a: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vi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𝑑𝑤</m:t>
                        </m:r>
                      </m:num>
                      <m:den>
                        <m:r>
                          <a:rPr lang="en-US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𝑑𝑞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𝑑𝑞</m:t>
                        </m:r>
                      </m:num>
                      <m:den>
                        <m:r>
                          <a:rPr lang="en-US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𝑑𝑤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20765"/>
                <a:ext cx="9144000" cy="5837235"/>
              </a:xfrm>
              <a:blipFill>
                <a:blip r:embed="rId2"/>
                <a:stretch>
                  <a:fillRect l="-1333" t="-1461" r="-1667" b="-1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20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2676674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"/>
                <a:ext cx="9144000" cy="68580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54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</a:t>
                </a:r>
              </a:p>
              <a:p>
                <a:pPr marL="0" indent="0">
                  <a:buNone/>
                </a:pPr>
                <a:r>
                  <a:rPr lang="en-US" sz="5400" i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 </a:t>
                </a:r>
                <a:r>
                  <a:rPr lang="en-US" sz="54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capacity to do work, measured in joules (J).</a:t>
                </a:r>
              </a:p>
              <a:p>
                <a:pPr marL="0" indent="0">
                  <a:buNone/>
                </a:pPr>
                <a:r>
                  <a:rPr lang="en-US" sz="5400" dirty="0"/>
                  <a:t>The energy absorbed or supplied by an element from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5400" dirty="0"/>
                  <a:t> to time t is ,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5400" dirty="0">
                    <a:solidFill>
                      <a:srgbClr val="FF0000"/>
                    </a:solidFill>
                  </a:rPr>
                  <a:t>w=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5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5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5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5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sz="5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𝑝𝑑𝑡</m:t>
                        </m:r>
                        <m:r>
                          <a:rPr lang="en-US" sz="5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sz="5400" dirty="0">
                    <a:solidFill>
                      <a:srgbClr val="FF0000"/>
                    </a:solidFill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5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5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5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  <m:sup>
                        <m:r>
                          <a:rPr lang="en-US" sz="5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sz="5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𝑣𝑖𝑑𝑡</m:t>
                        </m:r>
                      </m:e>
                    </m:nary>
                  </m:oMath>
                </a14:m>
                <a:endParaRPr lang="en-US" sz="5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sz="32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"/>
                <a:ext cx="9144000" cy="6858000"/>
              </a:xfrm>
              <a:blipFill>
                <a:blip r:embed="rId2"/>
                <a:stretch>
                  <a:fillRect l="-3533" t="-2489" b="-1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21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2174316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" y="873303"/>
                <a:ext cx="9144000" cy="5984697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EXAMPLES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energy source forces a constant current of 5 A for 20 s to flow through a lightbulb. If 3.2kJ is given off in the form of light and heat energy, calculate the voltage drop across the bulb.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move charge q from point a to point b requires -60J. Find the voltage drop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𝑎𝑏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if: (a) q=10C, (b)q=5 C.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power delivered to an element at t=6ms, if the current entering its positive terminal is. </a:t>
                </a:r>
                <a:r>
                  <a:rPr 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i=(5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𝟔𝟎</m:t>
                        </m:r>
                        <m:f>
                          <m:fPr>
                            <m:ctrlPr>
                              <a:rPr lang="el-GR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l-GR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𝝅</m:t>
                            </m:r>
                          </m:num>
                          <m:den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func>
                  </m:oMath>
                </a14:m>
                <a:r>
                  <a:rPr 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 and the voltage is (a)v=3i (b)v=3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𝒅𝒊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endPara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AutoNum type="arabicPeriod"/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much energy (KJ) does a 100-W electric bulb consume in two hours? 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stove element draws 15 A when connected to a 240-V line. How long does it take to consume 60 Kj ?</a:t>
                </a:r>
              </a:p>
              <a:p>
                <a:pPr marL="457200" indent="-457200">
                  <a:buAutoNum type="arabicPeriod"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873303"/>
                <a:ext cx="9144000" cy="5984697"/>
              </a:xfrm>
              <a:blipFill>
                <a:blip r:embed="rId2"/>
                <a:stretch>
                  <a:fillRect l="-800" t="-815" r="-1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902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835830"/>
            <a:ext cx="9061806" cy="602217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6000" b="1" i="1" dirty="0">
                <a:solidFill>
                  <a:srgbClr val="7030A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……</a:t>
            </a:r>
            <a:r>
              <a:rPr lang="en-US" sz="7200" b="1" dirty="0">
                <a:solidFill>
                  <a:srgbClr val="7030A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THE END OF LECTURE ONE………</a:t>
            </a:r>
          </a:p>
          <a:p>
            <a:pPr marL="0" indent="0">
              <a:buNone/>
            </a:pPr>
            <a:r>
              <a:rPr lang="en-US" sz="7200" b="1" dirty="0">
                <a:solidFill>
                  <a:srgbClr val="7030A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…..</a:t>
            </a:r>
            <a:r>
              <a:rPr lang="en-US" sz="7200" b="1">
                <a:solidFill>
                  <a:srgbClr val="7030A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THANK you………</a:t>
            </a:r>
            <a:endParaRPr lang="en-US" sz="7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23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2190442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2972</TotalTime>
  <Words>1406</Words>
  <Application>Microsoft Office PowerPoint</Application>
  <PresentationFormat>On-screen Show (4:3)</PresentationFormat>
  <Paragraphs>120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Algerian</vt:lpstr>
      <vt:lpstr>Arial</vt:lpstr>
      <vt:lpstr>Calibri</vt:lpstr>
      <vt:lpstr>Cambria Math</vt:lpstr>
      <vt:lpstr>Comic Sans MS</vt:lpstr>
      <vt:lpstr>Constantia</vt:lpstr>
      <vt:lpstr>Times New Roman</vt:lpstr>
      <vt:lpstr>Wingdings</vt:lpstr>
      <vt:lpstr>Wingdings 2</vt:lpstr>
      <vt:lpstr>Flow</vt:lpstr>
      <vt:lpstr>MBEYA UNIVERSITY OF SCIENCE AND TECHNOLOGY</vt:lpstr>
      <vt:lpstr>PowerPoint Presentation</vt:lpstr>
      <vt:lpstr>PowerPoint Presentation</vt:lpstr>
      <vt:lpstr>                    DC Circuit.</vt:lpstr>
      <vt:lpstr>PowerPoint Presentation</vt:lpstr>
      <vt:lpstr>PowerPoint Presentation</vt:lpstr>
      <vt:lpstr>PowerPoint Presentation</vt:lpstr>
      <vt:lpstr>Charge</vt:lpstr>
      <vt:lpstr>PowerPoint Presentation</vt:lpstr>
      <vt:lpstr>PowerPoint Presentation</vt:lpstr>
      <vt:lpstr>Flow of electric charges and current</vt:lpstr>
      <vt:lpstr>Electric current.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O W N E R</cp:lastModifiedBy>
  <cp:revision>128</cp:revision>
  <dcterms:created xsi:type="dcterms:W3CDTF">2021-10-12T03:25:19Z</dcterms:created>
  <dcterms:modified xsi:type="dcterms:W3CDTF">2023-11-07T12:19:23Z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4a08b7db7474460c9665e327564f0fd0</vt:lpwstr>
  </property>
</Properties>
</file>