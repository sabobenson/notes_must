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57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3825" autoAdjust="0"/>
  </p:normalViewPr>
  <p:slideViewPr>
    <p:cSldViewPr snapToGrid="0">
      <p:cViewPr varScale="1">
        <p:scale>
          <a:sx n="67" d="100"/>
          <a:sy n="67" d="100"/>
        </p:scale>
        <p:origin x="15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11/20/2023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11/20/2023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11/20/2023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11/20/2023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11/20/2023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11/20/2023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11/20/2023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11/20/2023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11/20/2023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11/20/2023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11/20/2023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11/20/2023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11/20/2023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11/20/2023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136522"/>
            <a:ext cx="8686800" cy="6721477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OF ANALYSIS</a:t>
            </a:r>
            <a:r>
              <a:rPr lang="en-US" sz="3200" b="0" i="0" u="none" strike="noStrike" baseline="0" dirty="0">
                <a:solidFill>
                  <a:srgbClr val="0000FF"/>
                </a:solidFill>
                <a:latin typeface="GillSans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</a:t>
            </a:r>
            <a:r>
              <a:rPr lang="en-US" sz="36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</a:t>
            </a:r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are interested in finding the node voltages.</a:t>
            </a:r>
          </a:p>
          <a:p>
            <a:pPr algn="l"/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circuit with </a:t>
            </a:r>
            <a:r>
              <a:rPr lang="en-US" sz="3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without voltage sources, the nodal analysis</a:t>
            </a:r>
          </a:p>
          <a:p>
            <a:pPr algn="l"/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circuit involves taking the following three steps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7558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9C9F-AA03-CD46-FED2-A09755F6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q"/>
            </a:pPr>
            <a:r>
              <a:rPr lang="pt-BR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 e p s  t o  D e t e r m i n e  Node  V o l t a g e s :</a:t>
            </a:r>
          </a:p>
          <a:p>
            <a:pPr algn="l"/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 node as the reference node. Assign voltages </a:t>
            </a:r>
            <a:r>
              <a:rPr lang="en-US" sz="3600" b="0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0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36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0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 , vn</a:t>
            </a:r>
            <a:r>
              <a:rPr lang="en-US" sz="36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 to the remaining </a:t>
            </a:r>
            <a:r>
              <a:rPr lang="en-US" sz="3600" b="0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6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− 1 nodes. The voltages are referenced with respect to the reference node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Apply KCL to each of the </a:t>
            </a:r>
            <a:r>
              <a:rPr lang="en-US" sz="3600" b="0" i="1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6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− 1 non reference nodes. Use Ohm’s law to express the branch currents in terms of node voltages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0" i="0" u="none" strike="noStrike" baseline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simultaneous equations to obtain the unknown node voltages.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C91B4-458B-DC2D-517E-B566CEBA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78596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416573-F13C-3282-FE04-1A3A5645F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6857999"/>
              </a:xfrm>
            </p:spPr>
            <p:txBody>
              <a:bodyPr/>
              <a:lstStyle/>
              <a:p>
                <a:endParaRPr lang="en-US" sz="3200" dirty="0"/>
              </a:p>
              <a:p>
                <a:endParaRPr lang="en-US" sz="3200" dirty="0"/>
              </a:p>
              <a:p>
                <a:r>
                  <a:rPr lang="en-US" sz="3200" b="1" dirty="0"/>
                  <a:t>Examples.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1.</a:t>
                </a:r>
                <a:r>
                  <a:rPr lang="en-US" sz="3200" b="1" i="0" u="none" strike="noStrike" baseline="0" dirty="0">
                    <a:latin typeface="Times New Roman" panose="02020603050405020304" pitchFamily="18" charset="0"/>
                  </a:rPr>
                  <a:t> Determine the voltages at the nodes in a circuit below. (</a:t>
                </a:r>
                <a:r>
                  <a:rPr lang="en-US" sz="3200" b="1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apply nodal analysis</a:t>
                </a:r>
                <a:r>
                  <a:rPr lang="en-US" sz="3200" b="1" i="0" u="none" strike="noStrike" baseline="0" dirty="0">
                    <a:latin typeface="Times New Roman" panose="02020603050405020304" pitchFamily="18" charset="0"/>
                  </a:rPr>
                  <a:t>) then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sz="3200" b="1" i="0" u="none" strike="noStrike" baseline="0" dirty="0">
                  <a:latin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416573-F13C-3282-FE04-1A3A5645F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6857999"/>
              </a:xfrm>
              <a:blipFill>
                <a:blip r:embed="rId2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4E408-48CC-FB3D-2943-85E7A094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70AA-F233-1D57-49E9-BCDE2ACF8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" y="3147058"/>
            <a:ext cx="4632960" cy="29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15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1899-8295-A1A3-7CBE-96AD6A03C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1"/>
            <a:ext cx="9144000" cy="68579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ANALYSIS.</a:t>
            </a:r>
          </a:p>
          <a:p>
            <a:pPr algn="l"/>
            <a:r>
              <a:rPr lang="en-US" sz="3200" b="1" i="1" u="none" strike="noStrike" baseline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quit difference between Nodal analysis and Mesh circuit analysis is that, Nodal analysis applies KCL to find unknown voltages in a given circuit, while mesh analysis applies KVL to find unknown currents</a:t>
            </a:r>
            <a:r>
              <a:rPr lang="en-US" sz="28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is not quite as general as nodal analysis because it is only applicable to a circuit that is </a:t>
            </a:r>
            <a:r>
              <a:rPr lang="en-US" sz="2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planar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planar circuit is one that can be drawn in a plane with no branches crossing one another; otherwise 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nonplanar. </a:t>
            </a:r>
          </a:p>
          <a:p>
            <a:pPr algn="l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 may have crossing branches and still be planar if it can be redrawn such that it has no crossing branches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.</a:t>
            </a: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EB3AC-E940-36DE-68FD-3CA79A00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157093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BB70-DAF4-EB90-F7CF-52E80D81E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en-US" i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Mesh ?</a:t>
            </a:r>
          </a:p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i="0" u="none" strike="noStrike" baseline="0" dirty="0">
                <a:solidFill>
                  <a:srgbClr val="007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loop which does not contain any other loops within it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 consider a circuit below</a:t>
            </a:r>
            <a:r>
              <a:rPr lang="en-US" sz="2800" b="1" dirty="0">
                <a:solidFill>
                  <a:srgbClr val="000000"/>
                </a:solidFill>
                <a:latin typeface="GillSans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A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, paths </a:t>
            </a:r>
            <a:r>
              <a:rPr lang="en-US" sz="2800" b="1" i="1" u="none" strike="noStrike" baseline="0" dirty="0">
                <a:latin typeface="Times New Roman" panose="02020603050405020304" pitchFamily="18" charset="0"/>
              </a:rPr>
              <a:t>abefa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and </a:t>
            </a:r>
            <a:r>
              <a:rPr lang="en-US" sz="2800" b="1" i="1" u="none" strike="noStrike" baseline="0" dirty="0">
                <a:latin typeface="Times New Roman" panose="02020603050405020304" pitchFamily="18" charset="0"/>
              </a:rPr>
              <a:t>bcdeb</a:t>
            </a:r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are meshes, but path</a:t>
            </a:r>
          </a:p>
          <a:p>
            <a:pPr algn="l"/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abcdefa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is not a mesh. 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The current through a mesh is known as </a:t>
            </a:r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mesh</a:t>
            </a:r>
          </a:p>
          <a:p>
            <a:pPr algn="l"/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current.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In mesh analysis, we are interested in applying KVL to find the mesh currents in a given circuit.</a:t>
            </a:r>
            <a:endParaRPr lang="en-US" sz="2800" b="1" dirty="0">
              <a:solidFill>
                <a:srgbClr val="000000"/>
              </a:solidFill>
              <a:latin typeface="GillSans"/>
            </a:endParaRPr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A6E65-44F0-E841-78F4-C966F76F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81AEC-AB27-A711-32BC-03362FF4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" y="4806952"/>
            <a:ext cx="45434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5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29FB-0826-7D06-14B8-72346DED0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l"/>
            <a:endParaRPr lang="pt-BR" sz="1800" b="1" i="0" u="none" strike="noStrike" baseline="0" dirty="0">
              <a:solidFill>
                <a:srgbClr val="007970"/>
              </a:solidFill>
              <a:latin typeface="GillSans-Bold"/>
            </a:endParaRPr>
          </a:p>
          <a:p>
            <a:pPr algn="l"/>
            <a:endParaRPr lang="pt-BR" sz="1800" b="1" dirty="0">
              <a:solidFill>
                <a:srgbClr val="007970"/>
              </a:solidFill>
              <a:latin typeface="GillSans-Bold"/>
            </a:endParaRPr>
          </a:p>
          <a:p>
            <a:pPr algn="l"/>
            <a:endParaRPr lang="pt-BR" sz="1800" b="1" i="0" u="none" strike="noStrike" baseline="0" dirty="0">
              <a:solidFill>
                <a:srgbClr val="007970"/>
              </a:solidFill>
              <a:latin typeface="GillSans-Bold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pt-BR" sz="3200" b="1" i="0" u="none" strike="noStrike" baseline="0" dirty="0">
                <a:solidFill>
                  <a:srgbClr val="007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 e p s  t o  D e t e r m i n e  Mesh  C u r r e n t s </a:t>
            </a:r>
            <a:endParaRPr lang="pt-BR" sz="3200" b="1" i="0" u="none" strike="noStrike" baseline="0" dirty="0">
              <a:solidFill>
                <a:srgbClr val="007970"/>
              </a:solidFill>
              <a:latin typeface="GillSans-Bold"/>
            </a:endParaRPr>
          </a:p>
          <a:p>
            <a:pPr marL="0" indent="0" algn="l">
              <a:buNone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Assign mesh currents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i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, i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, . . . , in 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to the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n 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meshes.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Apply KVL to each of the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n 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meshes. Use Ohm’s law to express the voltages in terms of the mesh currents.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Solve the resulting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MTMI"/>
              </a:rPr>
              <a:t>n 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simultaneous equations to get the mesh currents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343D4-C05A-42A3-CAAC-D0495A44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39013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E2C94-3DDD-53EC-35AC-F749BA5C8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486900" cy="6857999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3200" dirty="0"/>
                  <a:t>.</a:t>
                </a:r>
                <a:r>
                  <a:rPr lang="en-US" sz="3200" dirty="0">
                    <a:solidFill>
                      <a:srgbClr val="FF0000"/>
                    </a:solidFill>
                  </a:rPr>
                  <a:t>Example.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Times New Roman" panose="02020603050405020304" pitchFamily="18" charset="0"/>
                  </a:rPr>
                  <a:t>2.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For the circuit in Fig. below, find the branch currents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b="0" i="1" u="none" strike="noStrike" baseline="0" dirty="0">
                    <a:latin typeface="MTMI"/>
                  </a:rPr>
                  <a:t>, 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, and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  using mesh analysis.</a:t>
                </a:r>
              </a:p>
              <a:p>
                <a:pPr marL="0" indent="0" algn="l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E2C94-3DDD-53EC-35AC-F749BA5C8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486900" cy="6857999"/>
              </a:xfrm>
              <a:blipFill>
                <a:blip r:embed="rId2"/>
                <a:stretch>
                  <a:fillRect l="-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D69E5-7517-7395-C386-BFAD1B05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7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0679A-F6DA-3577-759C-7F8797787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2528886"/>
            <a:ext cx="4414837" cy="28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9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136522"/>
            <a:ext cx="8686800" cy="6721477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0" y="0"/>
            <a:ext cx="9144000" cy="6798195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THEOREMS.</a:t>
            </a:r>
          </a:p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growth in areas of application of electric circuits has led to an evolution from simple to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circuits. 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the complexity, engineers over the years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developed some theorems to simplify circuit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 Such theorems include </a:t>
            </a:r>
            <a:r>
              <a:rPr lang="en-US" sz="3200" b="1" i="0" u="none" strike="noStrike" baseline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and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Norton’s theorems.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these theorems are applicable to </a:t>
            </a:r>
            <a:r>
              <a:rPr lang="en-US" sz="32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circuits, we first discuss the concept of circuit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linearity.</a:t>
            </a:r>
            <a:endParaRPr lang="en-US" sz="3200" b="1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32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8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28606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5A1D8-D7E1-A744-2073-CE2BC6FC5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endParaRPr lang="en-US" sz="18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endParaRPr lang="en-US" sz="1800" b="1" dirty="0">
              <a:solidFill>
                <a:srgbClr val="0000FF"/>
              </a:solidFill>
              <a:latin typeface="GillSans-Bold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6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LINEARITY PROPERTY.</a:t>
            </a:r>
          </a:p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 is the property of an element describing a linear relationship between cause and effect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Although the property applies to many circuit elements,</a:t>
            </a:r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 we shall limit its applicability to resistors in this </a:t>
            </a:r>
            <a:r>
              <a:rPr lang="en-US" sz="3600" b="1" dirty="0">
                <a:latin typeface="Times New Roman" panose="02020603050405020304" pitchFamily="18" charset="0"/>
              </a:rPr>
              <a:t>lecture</a:t>
            </a:r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.</a:t>
            </a:r>
            <a:endParaRPr lang="en-US" sz="3600" b="1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A6CEC-EF54-73D7-CAA2-2533D7A0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50400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AC34-C888-25F7-CBC0-D2CA9F377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5400" b="1" i="1" dirty="0"/>
              <a:t>What is a linear circuit?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5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5400" b="1" i="1" u="none" strike="noStrike" baseline="0" dirty="0">
                <a:solidFill>
                  <a:srgbClr val="007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circuit </a:t>
            </a:r>
            <a:r>
              <a:rPr lang="en-US" sz="5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one whose output is linearly related (or directly proportional) to its input.</a:t>
            </a:r>
            <a:endParaRPr lang="en-US" sz="5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A9C4F-38C1-520D-BDBB-16E8A8B0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535739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20B53-5464-85C9-5A05-1B558516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770"/>
            <a:ext cx="9144000" cy="6821230"/>
          </a:xfrm>
        </p:spPr>
        <p:txBody>
          <a:bodyPr/>
          <a:lstStyle/>
          <a:p>
            <a:endParaRPr lang="en-US" sz="18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endParaRPr lang="en-US" sz="1800" b="1" dirty="0">
              <a:solidFill>
                <a:srgbClr val="0000FF"/>
              </a:solidFill>
              <a:latin typeface="GillSans-Bold"/>
            </a:endParaRPr>
          </a:p>
          <a:p>
            <a:endParaRPr lang="en-US" sz="18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SUPERPOSITION;</a:t>
            </a:r>
          </a:p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If a circuit has two or more independent sources,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one way to determine the value of a specific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variable (voltage or current) is to use nodal or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mesh analysis as in lecture 03. </a:t>
            </a:r>
          </a:p>
          <a:p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Another way is to determine the contribution of each independent source to the variable and then add them up. This approach is known as the </a:t>
            </a:r>
            <a:r>
              <a:rPr lang="en-US" sz="3200" b="1" i="1" u="none" strike="noStrike" baseline="0" dirty="0">
                <a:solidFill>
                  <a:schemeClr val="accent1"/>
                </a:solidFill>
                <a:latin typeface="Times New Roman" panose="02020603050405020304" pitchFamily="18" charset="0"/>
              </a:rPr>
              <a:t>superposition.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59FA8-C25C-46F8-1E28-6D39E540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962418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5682-2CCF-B604-4DAF-E894B64A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GillSans"/>
            </a:endParaRPr>
          </a:p>
          <a:p>
            <a:pPr algn="l"/>
            <a:endParaRPr lang="en-US" sz="1800" dirty="0">
              <a:solidFill>
                <a:srgbClr val="000000"/>
              </a:solidFill>
              <a:latin typeface="GillSans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GillSans"/>
            </a:endParaRPr>
          </a:p>
          <a:p>
            <a:pPr algn="just"/>
            <a:r>
              <a:rPr lang="en-US" sz="40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superposition </a:t>
            </a:r>
            <a:r>
              <a:rPr lang="en-US" sz="4000" b="1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 states that “The voltage across (or current through) an element in a linear circuit is the algebraic sum of the voltages across (or currents through) that element due to each independent source acting alone”</a:t>
            </a:r>
            <a:endParaRPr lang="en-US" sz="40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BE187-212D-E0F9-F2E7-0F856290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168241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68CE-89DA-6C76-E165-5E919C195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l"/>
            <a:endParaRPr lang="pt-BR" sz="1800" b="1" i="0" u="none" strike="noStrike" baseline="0" dirty="0">
              <a:solidFill>
                <a:srgbClr val="007970"/>
              </a:solidFill>
              <a:latin typeface="GillSans-Bold"/>
            </a:endParaRPr>
          </a:p>
          <a:p>
            <a:pPr algn="l"/>
            <a:endParaRPr lang="pt-BR" sz="1800" b="1" dirty="0">
              <a:solidFill>
                <a:srgbClr val="007970"/>
              </a:solidFill>
              <a:latin typeface="GillSans-Bold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3200" b="1" i="0" u="none" strike="noStrike" baseline="0" dirty="0">
                <a:solidFill>
                  <a:srgbClr val="007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 e p s  t o  A p p l y  S u p e r p o s i t i o n  P r i n c i p l e </a:t>
            </a:r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3200" b="1" i="0" u="none" strike="noStrike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3200" b="1" i="0" u="none" strike="noStrike" baseline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off all independent sources except one source. Find the output (voltage or current) due to that active source using nodal or mesh analysis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3200" b="1" i="0" u="none" strike="noStrike" baseline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step 1 for each of the other independent sources.</a:t>
            </a:r>
          </a:p>
          <a:p>
            <a:pPr marL="0" indent="0" algn="just">
              <a:buNone/>
            </a:pP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contribution by adding algebraically all the contributions due to the independent sources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40DD5-DB78-9EB2-2BA2-BF5B844F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92352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9987-A867-A2A4-F2D7-83A66E6B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endParaRPr lang="en-US" dirty="0"/>
          </a:p>
          <a:p>
            <a:r>
              <a:rPr lang="en-US" sz="3200" b="1" dirty="0"/>
              <a:t>Example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1.Use the superposition theorem to find </a:t>
            </a:r>
            <a:r>
              <a:rPr lang="en-US" sz="3200" b="1" i="1" u="none" strike="noStrike" baseline="0" dirty="0">
                <a:latin typeface="MTMI"/>
              </a:rPr>
              <a:t>v </a:t>
            </a: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in the circuit in Fig below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F164D-271C-B528-2D96-80F9FF66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14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A30BC-55C2-A62B-6347-84E2FC055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53" y="2560924"/>
            <a:ext cx="4850478" cy="224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88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A411-5C45-9750-C8DD-86D61688E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i="0" u="none" strike="noStrike" baseline="0" dirty="0">
                <a:solidFill>
                  <a:srgbClr val="0000FF"/>
                </a:solidFill>
                <a:latin typeface="GillSans-Bold"/>
              </a:rPr>
              <a:t>THEVENIN’S THEOREM.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It often occurs in practice that a particular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 element in a circuit is variable (usually called the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3200" b="1" i="1" u="none" strike="noStrike" baseline="0" dirty="0">
                <a:latin typeface="Times New Roman" panose="02020603050405020304" pitchFamily="18" charset="0"/>
              </a:rPr>
              <a:t>load</a:t>
            </a: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) while other elements are fixed. As a typical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example, a household outlet terminal may be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 connected to different appliances constituting a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variable load. Each time the variable element is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changed, the entire circuit has to be analyzed all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over again. To avoid this problem, Thevenin’s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theorem provides a technique by which the fixed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 part of the circuit is replaced by an equivalent</a:t>
            </a:r>
          </a:p>
          <a:p>
            <a:pPr marL="0" indent="0" algn="l">
              <a:buNone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circuit.</a:t>
            </a:r>
            <a:endParaRPr lang="en-US" sz="32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endParaRPr lang="en-US" sz="18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endParaRPr lang="en-US" sz="1800" b="1" i="0" u="none" strike="noStrike" baseline="0" dirty="0">
              <a:solidFill>
                <a:srgbClr val="0000FF"/>
              </a:solidFill>
              <a:latin typeface="GillSans-Bold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96582-A3E4-83F7-008D-341A686B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en-TZ" dirty="0"/>
          </a:p>
          <a:p>
            <a:fld id="{57B95F67-BB5D-4FE4-9B45-5A92AB49FC90}" type="slidenum">
              <a:rPr lang="en-US" altLang="en-TZ" smtClean="0"/>
              <a:t>15</a:t>
            </a:fld>
            <a:endParaRPr lang="en-US" altLang="en-TZ" dirty="0"/>
          </a:p>
        </p:txBody>
      </p:sp>
    </p:spTree>
    <p:extLst>
      <p:ext uri="{BB962C8B-B14F-4D97-AF65-F5344CB8AC3E}">
        <p14:creationId xmlns:p14="http://schemas.microsoft.com/office/powerpoint/2010/main" val="450734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474C-6E09-F969-8D3C-3AC36FCF0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7970"/>
              </a:solidFill>
              <a:latin typeface="GillSans"/>
            </a:endParaRPr>
          </a:p>
          <a:p>
            <a:pPr algn="l"/>
            <a:endParaRPr lang="en-US" sz="1800" dirty="0">
              <a:solidFill>
                <a:srgbClr val="007970"/>
              </a:solidFill>
              <a:latin typeface="GillSans"/>
            </a:endParaRPr>
          </a:p>
          <a:p>
            <a:pPr algn="l"/>
            <a:endParaRPr lang="en-US" sz="1800" b="0" i="0" u="none" strike="noStrike" baseline="0" dirty="0">
              <a:solidFill>
                <a:srgbClr val="007970"/>
              </a:solidFill>
              <a:latin typeface="GillSans"/>
            </a:endParaRPr>
          </a:p>
          <a:p>
            <a:pPr algn="just"/>
            <a:r>
              <a:rPr lang="en-US" sz="3600" b="1" i="1" u="none" strike="noStrike" baseline="0" dirty="0">
                <a:solidFill>
                  <a:srgbClr val="007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</a:t>
            </a:r>
            <a:r>
              <a:rPr lang="en-US" sz="36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that a linear two-terminal circuit can be replaced by an equivalent circuit consisting of a voltage source VTh in series with a resistor RTh, where VTh is the open-circuit voltage at the terminals and RTh is the input or equivalent resistance at the terminals when the independent sources are turned off.</a:t>
            </a:r>
          </a:p>
          <a:p>
            <a:pPr marL="0" indent="0" algn="just">
              <a:buNone/>
            </a:pP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07A06-4A57-79E3-3C81-52F0C0B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05026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B15B-337E-33B2-681D-FE73F719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556"/>
            <a:ext cx="9144000" cy="676944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</a:rPr>
              <a:t>A</a:t>
            </a:r>
            <a:r>
              <a:rPr lang="en-US" sz="3200" i="0" u="none" strike="noStrike" baseline="0" dirty="0">
                <a:latin typeface="Times New Roman" panose="02020603050405020304" pitchFamily="18" charset="0"/>
              </a:rPr>
              <a:t> linear circuit with a variable load can be replaced</a:t>
            </a:r>
          </a:p>
          <a:p>
            <a:pPr marL="0" indent="0" algn="just">
              <a:buNone/>
            </a:pPr>
            <a:r>
              <a:rPr lang="en-US" sz="3200" i="0" u="none" strike="noStrike" baseline="0" dirty="0">
                <a:latin typeface="Times New Roman" panose="02020603050405020304" pitchFamily="18" charset="0"/>
              </a:rPr>
              <a:t>by the Thevenin equivalent, exclusive of the load. The equivalent network behaves the same way externally as the original circuit. Consider a linear circuit terminated by a load </a:t>
            </a:r>
            <a:r>
              <a:rPr lang="en-US" sz="3200" i="1" u="none" strike="noStrike" baseline="0" dirty="0">
                <a:latin typeface="MTMI"/>
              </a:rPr>
              <a:t>RL</a:t>
            </a:r>
            <a:r>
              <a:rPr lang="en-US" sz="3200" i="0" u="none" strike="noStrike" baseline="0" dirty="0">
                <a:latin typeface="Times New Roman" panose="02020603050405020304" pitchFamily="18" charset="0"/>
              </a:rPr>
              <a:t>, as shown in circuit(a).</a:t>
            </a:r>
          </a:p>
          <a:p>
            <a:pPr marL="0" indent="0" algn="just">
              <a:buNone/>
            </a:pPr>
            <a:r>
              <a:rPr lang="en-US" sz="3200" i="0" u="none" strike="noStrike" baseline="0" dirty="0">
                <a:latin typeface="Times New Roman" panose="02020603050405020304" pitchFamily="18" charset="0"/>
              </a:rPr>
              <a:t>The current </a:t>
            </a:r>
            <a:r>
              <a:rPr lang="en-US" sz="3200" i="1" u="none" strike="noStrike" baseline="0" dirty="0">
                <a:latin typeface="MTMI"/>
              </a:rPr>
              <a:t>IL </a:t>
            </a:r>
            <a:r>
              <a:rPr lang="en-US" sz="3200" i="0" u="none" strike="noStrike" baseline="0" dirty="0">
                <a:latin typeface="Times New Roman" panose="02020603050405020304" pitchFamily="18" charset="0"/>
              </a:rPr>
              <a:t>through the load and the voltage </a:t>
            </a:r>
            <a:r>
              <a:rPr lang="en-US" sz="3200" i="1" u="none" strike="noStrike" baseline="0" dirty="0">
                <a:latin typeface="MTMI"/>
              </a:rPr>
              <a:t>VL </a:t>
            </a:r>
            <a:r>
              <a:rPr lang="en-US" sz="3200" i="0" u="none" strike="noStrike" baseline="0" dirty="0">
                <a:latin typeface="Times New Roman" panose="02020603050405020304" pitchFamily="18" charset="0"/>
              </a:rPr>
              <a:t>across the load are easily determined once the Thevenin equivalent of the circuit at the load’s terminals is obtained, as shown in circuit(b). 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0995C-E248-D487-5D1F-F4333D71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044224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BA47-D61B-528A-9159-8A2874B7D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9144000" cy="6858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5B425-A665-9FAB-3FF3-FF684080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18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40D7-5120-7EA7-EFDF-C623AEB6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3" y="781048"/>
            <a:ext cx="6633555" cy="48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3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E7DCA-7FA8-27AB-8B71-30EA3906A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6523"/>
                <a:ext cx="9144000" cy="6721477"/>
              </a:xfrm>
            </p:spPr>
            <p:txBody>
              <a:bodyPr/>
              <a:lstStyle/>
              <a:p>
                <a:pPr algn="l"/>
                <a:endParaRPr lang="en-US" sz="1800" b="0" i="1" u="none" strike="noStrike" baseline="0" dirty="0">
                  <a:latin typeface="MTMI"/>
                </a:endParaRPr>
              </a:p>
              <a:p>
                <a:pPr algn="l"/>
                <a:endParaRPr lang="en-US" sz="1800" i="1" dirty="0">
                  <a:latin typeface="MTMI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US" sz="1800" b="0" i="1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Mathematically.</a:t>
                </a:r>
                <a:endParaRPr lang="en-US" sz="3200" b="1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/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E7DCA-7FA8-27AB-8B71-30EA3906A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6523"/>
                <a:ext cx="9144000" cy="6721477"/>
              </a:xfrm>
              <a:blipFill>
                <a:blip r:embed="rId2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2B530-1AB1-2015-C648-FB66B84C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233640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EA8B0-C48E-7991-8415-D0F2B934A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</a:endParaRPr>
          </a:p>
          <a:p>
            <a:pPr lvl="1"/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 algn="l">
              <a:buNone/>
            </a:pPr>
            <a:r>
              <a:rPr lang="en-US" sz="3200" b="1" i="0" u="none" strike="noStrike" baseline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Find 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Thevenin equivalent circuit of the circuit shown below, to the left of the terminals </a:t>
            </a:r>
            <a:r>
              <a:rPr lang="en-US" sz="3200" b="1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Then find the current through </a:t>
            </a:r>
            <a:r>
              <a:rPr lang="en-US" sz="3200" b="1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6</a:t>
            </a:r>
            <a:r>
              <a:rPr lang="en-US" sz="3200" b="1" i="1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 and 36 Ohms.</a:t>
            </a:r>
          </a:p>
          <a:p>
            <a:pPr marL="0" indent="0" algn="l">
              <a:buNone/>
            </a:pP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664CC-F362-5A80-0EDF-1E3BA12E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20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C78F55-CC5F-E490-D8A0-D3548FE01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4" y="3175461"/>
            <a:ext cx="5253643" cy="24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37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126A-ADC1-4896-9A37-A4C432A77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8365"/>
            <a:ext cx="9144000" cy="59896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6000" dirty="0">
                <a:solidFill>
                  <a:schemeClr val="tx2"/>
                </a:solidFill>
                <a:latin typeface="Algerian" panose="04020705040A02060702" pitchFamily="82" charset="0"/>
              </a:rPr>
              <a:t>………..GOOD LUCK………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6000" dirty="0">
              <a:solidFill>
                <a:schemeClr val="tx2"/>
              </a:soli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6000" dirty="0">
                <a:solidFill>
                  <a:schemeClr val="tx2"/>
                </a:solidFill>
                <a:latin typeface="Algerian" panose="04020705040A02060702" pitchFamily="82" charset="0"/>
              </a:rPr>
              <a:t>THE END OF </a:t>
            </a:r>
            <a:r>
              <a:rPr lang="en-US" sz="6000">
                <a:solidFill>
                  <a:schemeClr val="tx2"/>
                </a:solidFill>
                <a:latin typeface="Algerian" panose="04020705040A02060702" pitchFamily="82" charset="0"/>
              </a:rPr>
              <a:t>LECTURE four.</a:t>
            </a:r>
            <a:endParaRPr lang="en-US" sz="6000" dirty="0">
              <a:solidFill>
                <a:schemeClr val="tx2"/>
              </a:soli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12050-674A-4483-A722-AC1A8EE2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834315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3839</TotalTime>
  <Words>1159</Words>
  <Application>Microsoft Office PowerPoint</Application>
  <PresentationFormat>On-screen Show (4:3)</PresentationFormat>
  <Paragraphs>157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Algerian</vt:lpstr>
      <vt:lpstr>Arial</vt:lpstr>
      <vt:lpstr>Calibri</vt:lpstr>
      <vt:lpstr>Cambria Math</vt:lpstr>
      <vt:lpstr>Constantia</vt:lpstr>
      <vt:lpstr>GillSans</vt:lpstr>
      <vt:lpstr>GillSans-Bold</vt:lpstr>
      <vt:lpstr>MTMI</vt:lpstr>
      <vt:lpstr>Times New Roman</vt:lpstr>
      <vt:lpstr>Wingdings</vt:lpstr>
      <vt:lpstr>Wingdings 2</vt:lpstr>
      <vt:lpstr>Flow</vt:lpstr>
      <vt:lpstr>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199</cp:revision>
  <dcterms:created xsi:type="dcterms:W3CDTF">2021-10-12T03:25:19Z</dcterms:created>
  <dcterms:modified xsi:type="dcterms:W3CDTF">2023-11-20T12:25:44Z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