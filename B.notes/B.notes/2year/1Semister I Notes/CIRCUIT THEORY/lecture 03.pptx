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T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3D97D0-7425-4EED-B638-A2BFF299D73F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8A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32" autoAdjust="0"/>
    <p:restoredTop sz="94364" autoAdjust="0"/>
  </p:normalViewPr>
  <p:slideViewPr>
    <p:cSldViewPr snapToGrid="0">
      <p:cViewPr varScale="1">
        <p:scale>
          <a:sx n="63" d="100"/>
          <a:sy n="63" d="100"/>
        </p:scale>
        <p:origin x="19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7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6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6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6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6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6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42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0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34290" indent="0" algn="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9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50A14-3483-4285-B5AA-931AE0651600}" type="datetime1">
              <a:rPr lang="en-US" smtClean="0"/>
              <a:t>1/5/2024</a:t>
            </a:fld>
            <a:endParaRPr lang="en-US"/>
          </a:p>
        </p:txBody>
      </p:sp>
      <p:sp>
        <p:nvSpPr>
          <p:cNvPr id="104869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D15ED53B-996B-4378-9C91-896BD38502A8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6AE6F-A67B-44C9-9AC6-50088D371ABA}" type="datetime1">
              <a:rPr lang="en-US" smtClean="0"/>
              <a:t>1/5/2024</a:t>
            </a:fld>
            <a:endParaRPr lang="en-US"/>
          </a:p>
        </p:txBody>
      </p:sp>
      <p:sp>
        <p:nvSpPr>
          <p:cNvPr id="104858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42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20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1650">
                <a:solidFill>
                  <a:schemeClr val="tx1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1641B-6EDB-4D53-8E2C-9A5FEF4070D9}" type="datetime1">
              <a:rPr lang="en-US" smtClean="0"/>
              <a:t>1/5/2024</a:t>
            </a:fld>
            <a:endParaRPr lang="en-US"/>
          </a:p>
        </p:txBody>
      </p:sp>
      <p:sp>
        <p:nvSpPr>
          <p:cNvPr id="10487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1ABFF248-A989-4D8D-B05F-37617110CFF0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4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195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195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D27E-6919-4D02-A73B-49222A03FCC1}" type="datetime1">
              <a:rPr lang="en-US" smtClean="0"/>
              <a:t>1/5/2024</a:t>
            </a:fld>
            <a:endParaRPr lang="en-US"/>
          </a:p>
        </p:txBody>
      </p:sp>
      <p:sp>
        <p:nvSpPr>
          <p:cNvPr id="1048751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2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0793-B774-4696-A8C6-8B6889409F16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2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18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6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1859759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18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7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8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514600"/>
            <a:ext cx="4041775" cy="3845720"/>
          </a:xfrm>
        </p:spPr>
        <p:txBody>
          <a:bodyPr tIns="0"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9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7AAEB-6E84-4244-ABAD-B2263C3CF1FF}" type="datetime1">
              <a:rPr lang="en-US" smtClean="0"/>
              <a:t>1/5/2024</a:t>
            </a:fld>
            <a:endParaRPr lang="en-US"/>
          </a:p>
        </p:txBody>
      </p:sp>
      <p:sp>
        <p:nvSpPr>
          <p:cNvPr id="1048730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1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8298E-17EE-419C-B1DA-2E7036F0130C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375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69A88-7CB7-4212-B83C-03F933A21110}" type="datetime1">
              <a:rPr lang="en-US" smtClean="0"/>
              <a:t>1/5/2024</a:t>
            </a:fld>
            <a:endParaRPr lang="en-US"/>
          </a:p>
        </p:txBody>
      </p:sp>
      <p:sp>
        <p:nvSpPr>
          <p:cNvPr id="104869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5066-385A-4712-B3B6-9A5B1321A3AC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33CB-A137-449F-A226-775613DC0A71}" type="datetime1">
              <a:rPr lang="en-US" smtClean="0"/>
              <a:t>1/5/2024</a:t>
            </a:fld>
            <a:endParaRPr lang="en-US"/>
          </a:p>
        </p:txBody>
      </p:sp>
      <p:sp>
        <p:nvSpPr>
          <p:cNvPr id="104873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D2C9E-88E8-43DD-9653-6C1943F77BB4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195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54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050"/>
            </a:lvl1pPr>
            <a:lvl2pPr indent="0" algn="l">
              <a:buNone/>
              <a:defRPr sz="900"/>
            </a:lvl2pPr>
            <a:lvl3pPr indent="0" algn="l">
              <a:buNone/>
              <a:defRPr sz="750"/>
            </a:lvl3pPr>
            <a:lvl4pPr indent="0" algn="l">
              <a:buNone/>
              <a:defRPr sz="675"/>
            </a:lvl4pPr>
            <a:lvl5pPr indent="0" algn="l">
              <a:buNone/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5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100"/>
            </a:lvl1pPr>
            <a:lvl2pPr>
              <a:defRPr sz="1950"/>
            </a:lvl2pPr>
            <a:lvl3pPr>
              <a:defRPr sz="1800"/>
            </a:lvl3pPr>
            <a:lvl4pPr>
              <a:defRPr sz="1500"/>
            </a:lvl4pPr>
            <a:lvl5pPr>
              <a:defRPr sz="13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6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44A7-F6EB-437F-8AB7-57EF0FDCE1F8}" type="datetime1">
              <a:rPr lang="en-US" smtClean="0"/>
              <a:t>1/5/2024</a:t>
            </a:fld>
            <a:endParaRPr lang="en-US"/>
          </a:p>
        </p:txBody>
      </p:sp>
      <p:sp>
        <p:nvSpPr>
          <p:cNvPr id="1048757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B7BB-B9B6-4EC6-A38E-4F4D80B3AFA3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Snip and Round Single Corner Rectangle 13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 sz="1350"/>
          </a:p>
        </p:txBody>
      </p:sp>
      <p:sp>
        <p:nvSpPr>
          <p:cNvPr id="1048710" name="Right Triangle 5"/>
          <p:cNvSpPr/>
          <p:nvPr/>
        </p:nvSpPr>
        <p:spPr>
          <a:xfrm rot="420000" flipV="1">
            <a:off x="8004176" y="5359402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 sz="1350"/>
          </a:p>
        </p:txBody>
      </p:sp>
      <p:sp>
        <p:nvSpPr>
          <p:cNvPr id="1048711" name="Freeform 15"/>
          <p:cNvSpPr/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712" name="Freeform 16"/>
          <p:cNvSpPr/>
          <p:nvPr/>
        </p:nvSpPr>
        <p:spPr bwMode="auto">
          <a:xfrm flipV="1">
            <a:off x="4381500" y="6219827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713" name="Title 1"/>
          <p:cNvSpPr>
            <a:spLocks noGrp="1"/>
          </p:cNvSpPr>
          <p:nvPr>
            <p:ph type="title"/>
          </p:nvPr>
        </p:nvSpPr>
        <p:spPr>
          <a:xfrm>
            <a:off x="609600" y="1176998"/>
            <a:ext cx="2212848" cy="1582621"/>
          </a:xfrm>
        </p:spPr>
        <p:txBody>
          <a:bodyPr lIns="45720" rIns="45720" bIns="45720"/>
          <a:lstStyle>
            <a:lvl1pPr algn="l">
              <a:buNone/>
              <a:defRPr sz="1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1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188"/>
              </a:spcBef>
              <a:buFontTx/>
              <a:buNone/>
              <a:defRPr sz="975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5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4871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0B45-595E-4E97-A9CB-DDD48AA7C440}" type="datetime1">
              <a:rPr lang="en-US" smtClean="0"/>
              <a:t>1/5/2024</a:t>
            </a:fld>
            <a:endParaRPr lang="en-US"/>
          </a:p>
        </p:txBody>
      </p:sp>
      <p:sp>
        <p:nvSpPr>
          <p:cNvPr id="104871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2"/>
            <a:ext cx="609600" cy="365125"/>
          </a:xfrm>
        </p:spPr>
        <p:txBody>
          <a:bodyPr/>
          <a:lstStyle/>
          <a:p>
            <a:fld id="{43B8A962-D83D-4897-A8B5-1C7B73F65C11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4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8CA0B-8DCD-4AE3-9E5D-30F930874C94}" type="datetime1">
              <a:rPr lang="en-US" smtClean="0"/>
              <a:t>1/5/2024</a:t>
            </a:fld>
            <a:endParaRPr lang="en-US"/>
          </a:p>
        </p:txBody>
      </p:sp>
      <p:sp>
        <p:nvSpPr>
          <p:cNvPr id="104874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F36CE-58F5-40DE-B895-8959E01F79F2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2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0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2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6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35C7E-6C26-4562-95EB-6C3403AAB1AB}" type="datetime1">
              <a:rPr lang="en-US" smtClean="0"/>
              <a:t>1/5/2024</a:t>
            </a:fld>
            <a:endParaRPr lang="en-US"/>
          </a:p>
        </p:txBody>
      </p:sp>
      <p:sp>
        <p:nvSpPr>
          <p:cNvPr id="1048707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05E5-C8A0-4DDF-A1E8-013BBAD9731E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36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7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8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90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9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E302-3999-4873-BE4B-33FFE6A45501}" type="datetime1">
              <a:rPr lang="en-US" smtClean="0"/>
              <a:t>1/5/2024</a:t>
            </a:fld>
            <a:endParaRPr lang="en-US"/>
          </a:p>
        </p:txBody>
      </p:sp>
      <p:sp>
        <p:nvSpPr>
          <p:cNvPr id="1048740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1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301D2-5FDB-428E-B6DC-2B2A69C1266C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99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0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1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D97EF-51D5-45D5-AD6D-B3E5703E720E}" type="datetime1">
              <a:rPr lang="en-US" smtClean="0"/>
              <a:t>1/5/2024</a:t>
            </a:fld>
            <a:endParaRPr lang="en-US"/>
          </a:p>
        </p:txBody>
      </p:sp>
      <p:sp>
        <p:nvSpPr>
          <p:cNvPr id="1048702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3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597DA-B642-4C4B-93B6-CE1E2C30D462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Freeform 6"/>
          <p:cNvSpPr/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577" name="Freeform 7"/>
          <p:cNvSpPr/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57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TZ"/>
              <a:t>Click to edit Master title style</a:t>
            </a:r>
          </a:p>
        </p:txBody>
      </p:sp>
      <p:sp>
        <p:nvSpPr>
          <p:cNvPr id="104857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5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TZ"/>
              <a:t>Click to edit Master text styles</a:t>
            </a:r>
          </a:p>
          <a:p>
            <a:pPr lvl="1"/>
            <a:r>
              <a:rPr lang="en-US" altLang="en-TZ"/>
              <a:t>Second level</a:t>
            </a:r>
          </a:p>
          <a:p>
            <a:pPr lvl="2"/>
            <a:r>
              <a:rPr lang="en-US" altLang="en-TZ"/>
              <a:t>Third level</a:t>
            </a:r>
          </a:p>
          <a:p>
            <a:pPr lvl="3"/>
            <a:r>
              <a:rPr lang="en-US" altLang="en-TZ"/>
              <a:t>Fourth level</a:t>
            </a:r>
          </a:p>
          <a:p>
            <a:pPr lvl="4"/>
            <a:r>
              <a:rPr lang="en-US" altLang="en-TZ"/>
              <a:t>Fifth level</a:t>
            </a:r>
          </a:p>
        </p:txBody>
      </p:sp>
      <p:sp>
        <p:nvSpPr>
          <p:cNvPr id="104858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900">
                <a:solidFill>
                  <a:schemeClr val="tx2">
                    <a:shade val="90000"/>
                  </a:schemeClr>
                </a:solidFill>
                <a:latin typeface="Arial" charset="0"/>
              </a:defRPr>
            </a:lvl1pPr>
          </a:lstStyle>
          <a:p>
            <a:fld id="{0695FB56-EA84-4844-9BFB-327161247F83}" type="datetime1">
              <a:rPr lang="en-US" smtClean="0"/>
              <a:t>1/5/2024</a:t>
            </a:fld>
            <a:endParaRPr lang="en-US"/>
          </a:p>
        </p:txBody>
      </p:sp>
      <p:sp>
        <p:nvSpPr>
          <p:cNvPr id="1048581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2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900">
                <a:solidFill>
                  <a:schemeClr val="tx2">
                    <a:shade val="90000"/>
                  </a:schemeClr>
                </a:solidFill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48582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2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045C75"/>
                </a:solidFill>
              </a:defRPr>
            </a:lvl1pPr>
          </a:lstStyle>
          <a:p>
            <a:fld id="{F2709C22-77CA-47A0-B90A-4ACEF2B64A71}" type="slidenum">
              <a:rPr lang="en-US" altLang="en-TZ"/>
              <a:t>‹#›</a:t>
            </a:fld>
            <a:endParaRPr lang="en-US" altLang="en-TZ"/>
          </a:p>
        </p:txBody>
      </p:sp>
      <p:grpSp>
        <p:nvGrpSpPr>
          <p:cNvPr id="12" name="Group 1"/>
          <p:cNvGrpSpPr/>
          <p:nvPr/>
        </p:nvGrpSpPr>
        <p:grpSpPr bwMode="auto">
          <a:xfrm>
            <a:off x="-19049" y="203200"/>
            <a:ext cx="9180513" cy="647700"/>
            <a:chOff x="-19045" y="216550"/>
            <a:chExt cx="9180548" cy="649224"/>
          </a:xfrm>
        </p:grpSpPr>
        <p:sp>
          <p:nvSpPr>
            <p:cNvPr id="1048583" name="Freeform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16000">
                    <a:schemeClr val="accent2">
                      <a:shade val="75000"/>
                      <a:alpha val="56000"/>
                    </a:schemeClr>
                  </a:gs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/>
              <a:endParaRPr lang="en-US" sz="1350">
                <a:latin typeface="Arial" charset="0"/>
              </a:endParaRPr>
            </a:p>
          </p:txBody>
        </p:sp>
        <p:sp>
          <p:nvSpPr>
            <p:cNvPr id="1048584" name="Freeform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33000">
                    <a:schemeClr val="accent2">
                      <a:alpha val="56000"/>
                    </a:schemeClr>
                  </a:gs>
                  <a:gs pos="44000">
                    <a:schemeClr val="accent1"/>
                  </a:gs>
                  <a:gs pos="74000">
                    <a:schemeClr val="accent4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/>
              <a:endParaRPr lang="en-US" sz="1350">
                <a:latin typeface="Arial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75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9pPr>
    </p:titleStyle>
    <p:bodyStyle>
      <a:lvl1pPr marL="204788" indent="-204788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79822" indent="-184547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454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890588" indent="-157163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096566" indent="-157163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303020" indent="-157734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indent="-13716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2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645920" indent="-137160" algn="l" rtl="0" eaLnBrk="1" latinLnBrk="0" hangingPunct="1">
        <a:spcBef>
          <a:spcPct val="20000"/>
        </a:spcBef>
        <a:buClr>
          <a:schemeClr val="tx2"/>
        </a:buClr>
        <a:buChar char="•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51660" indent="-13716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05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87829" y="59805"/>
            <a:ext cx="8229600" cy="1181644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0" y="739801"/>
            <a:ext cx="9144000" cy="6058394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LAPLACE TRANSFORM.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6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600" b="0" i="0" dirty="0">
                <a:solidFill>
                  <a:srgbClr val="00789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Laplace transform </a:t>
            </a:r>
            <a:r>
              <a:rPr lang="en-US" sz="3600" b="1" i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an integral transformation of a function f (t) from the time domain into the complex frequency domain, giving F(s).</a:t>
            </a:r>
            <a:r>
              <a:rPr lang="en-US" sz="3600" b="1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6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table below show the important properties of Laplace transform.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n-US" sz="2800" dirty="0"/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3200" b="0" i="0" dirty="0">
              <a:solidFill>
                <a:srgbClr val="24202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br>
              <a:rPr lang="en-US" sz="2800" dirty="0"/>
            </a:br>
            <a:endParaRPr lang="en-US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32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2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875587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1022652-26A7-43DB-8B9D-3A71F21239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" y="-15240"/>
            <a:ext cx="9494520" cy="68580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255D85-3641-483C-BF67-EE3404403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2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3003900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0F609-3AEA-4CC7-B0BF-74A9A2A8D1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831273"/>
                <a:ext cx="9144000" cy="6026727"/>
              </a:xfrm>
            </p:spPr>
            <p:txBody>
              <a:bodyPr/>
              <a:lstStyle/>
              <a:p>
                <a:r>
                  <a:rPr lang="en-US" sz="4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Examples.</a:t>
                </a:r>
              </a:p>
              <a:p>
                <a:pPr marL="0" indent="0" algn="just">
                  <a:buNone/>
                </a:pPr>
                <a:r>
                  <a:rPr lang="en-US" sz="3600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</a:t>
                </a:r>
                <a:r>
                  <a:rPr lang="en-US" sz="4400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Obtain the Laplace transform of , </a:t>
                </a:r>
              </a:p>
              <a:p>
                <a:pPr marL="0" indent="0">
                  <a:buNone/>
                </a:pPr>
                <a:r>
                  <a:rPr lang="en-US" sz="4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f(t)= d(</a:t>
                </a:r>
                <a:r>
                  <a:rPr lang="en-US" sz="44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t)</a:t>
                </a:r>
                <a:r>
                  <a:rPr lang="en-US" sz="4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</a:t>
                </a:r>
                <a:r>
                  <a:rPr lang="en-US" sz="4400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</a:t>
                </a:r>
                <a:r>
                  <a:rPr lang="en-US" sz="44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4400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44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4400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4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</a:t>
                </a:r>
                <a:r>
                  <a:rPr lang="en-US" sz="4400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4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4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44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</a:t>
                </a:r>
                <a:r>
                  <a:rPr lang="en-US" sz="4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44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4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marL="0" indent="0">
                  <a:buNone/>
                </a:pPr>
                <a:r>
                  <a:rPr lang="en-US" sz="4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</a:t>
                </a:r>
                <a:r>
                  <a:rPr lang="en-US" sz="4400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Laplace transform of</a:t>
                </a:r>
                <a:r>
                  <a:rPr lang="en-US" sz="4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,</a:t>
                </a:r>
              </a:p>
              <a:p>
                <a:pPr marL="0" indent="0">
                  <a:buNone/>
                </a:pPr>
                <a:r>
                  <a:rPr lang="en-US" sz="44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 </a:t>
                </a:r>
                <a:r>
                  <a:rPr lang="en-US" sz="4400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44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4400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</a:t>
                </a:r>
                <a:r>
                  <a:rPr lang="en-US" sz="4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(cos (3</a:t>
                </a:r>
                <a:r>
                  <a:rPr lang="en-US" sz="44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4400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4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</a:t>
                </a:r>
                <a:r>
                  <a:rPr lang="en-US" sz="4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4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sz="4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44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)u</a:t>
                </a:r>
                <a:r>
                  <a:rPr lang="en-US" sz="4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44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4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.</a:t>
                </a:r>
              </a:p>
              <a:p>
                <a:pPr marL="0" indent="0">
                  <a:buNone/>
                </a:pPr>
                <a:r>
                  <a:rPr lang="en-US" sz="4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</a:t>
                </a:r>
                <a:r>
                  <a:rPr lang="en-US" sz="4400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Find the Laplace transform of, </a:t>
                </a:r>
                <a:r>
                  <a:rPr lang="en-US" sz="4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44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sz="4400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44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t) 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4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4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US" sz="44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400" b="0" i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4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(3</m:t>
                        </m:r>
                        <m:r>
                          <a:rPr lang="en-US" sz="4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44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44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</a:t>
                </a:r>
                <a:r>
                  <a:rPr lang="en-US" sz="4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44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4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0" indent="0">
                  <a:buNone/>
                </a:pPr>
                <a:b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sz="3600" dirty="0"/>
                </a:br>
                <a:br>
                  <a:rPr lang="en-US" sz="3600" dirty="0">
                    <a:solidFill>
                      <a:srgbClr val="FF0000"/>
                    </a:solidFill>
                  </a:rPr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0F609-3AEA-4CC7-B0BF-74A9A2A8D1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31273"/>
                <a:ext cx="9144000" cy="6026727"/>
              </a:xfrm>
              <a:blipFill>
                <a:blip r:embed="rId2"/>
                <a:stretch>
                  <a:fillRect l="-2667" t="-1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737BD2-C40B-4F0F-8CEF-AC740634F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3</a:t>
            </a:fld>
            <a:endParaRPr lang="en-US" altLang="en-TZ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A5B8A0D-6AA7-4A7F-844F-83364D6C6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9782" y="198567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419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C9CDB6-B4F5-4C4C-8E90-C78198BB6C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858982"/>
                <a:ext cx="9144000" cy="5999017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US" sz="3600" b="1" i="0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Inverse Laplace Transform</a:t>
                </a:r>
                <a:r>
                  <a:rPr lang="en-US" sz="3600" b="1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:r>
                  <a:rPr lang="en-US" sz="4000" b="1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</a:t>
                </a:r>
                <a:r>
                  <a:rPr lang="en-US" sz="4000" b="1" i="1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4000" b="1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4000" b="1" i="1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4000" b="1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how do we transform it back to the time domain and obtain the corresponding </a:t>
                </a:r>
                <a:r>
                  <a:rPr lang="en-US" sz="4000" b="1" i="1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4000" b="1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4000" b="1" i="1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4000" b="1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sz="4000" b="0" i="0" dirty="0">
                    <a:solidFill>
                      <a:srgbClr val="242021"/>
                    </a:solidFill>
                    <a:effectLst/>
                    <a:latin typeface="Times-Roman"/>
                  </a:rPr>
                  <a:t> Suppose </a:t>
                </a:r>
                <a:r>
                  <a:rPr lang="en-US" sz="4000" b="0" i="1" dirty="0">
                    <a:solidFill>
                      <a:srgbClr val="242021"/>
                    </a:solidFill>
                    <a:effectLst/>
                    <a:latin typeface="Times-Italic"/>
                  </a:rPr>
                  <a:t>F</a:t>
                </a:r>
                <a:r>
                  <a:rPr lang="en-US" sz="4000" b="0" i="0" dirty="0">
                    <a:solidFill>
                      <a:srgbClr val="242021"/>
                    </a:solidFill>
                    <a:effectLst/>
                    <a:latin typeface="Times-Roman"/>
                  </a:rPr>
                  <a:t>(</a:t>
                </a:r>
                <a:r>
                  <a:rPr lang="en-US" sz="4000" b="0" i="1" dirty="0">
                    <a:solidFill>
                      <a:srgbClr val="242021"/>
                    </a:solidFill>
                    <a:effectLst/>
                    <a:latin typeface="Times-Italic"/>
                  </a:rPr>
                  <a:t>s</a:t>
                </a:r>
                <a:r>
                  <a:rPr lang="en-US" sz="4000" b="0" i="0" dirty="0">
                    <a:solidFill>
                      <a:srgbClr val="242021"/>
                    </a:solidFill>
                    <a:effectLst/>
                    <a:latin typeface="Times-Roman"/>
                  </a:rPr>
                  <a:t>) has the general form of ; </a:t>
                </a:r>
                <a:r>
                  <a:rPr lang="en-US" sz="4000" b="0" i="1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4000" b="0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4000" b="0" i="1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4000" b="0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b="0" i="1" smtClean="0">
                            <a:solidFill>
                              <a:srgbClr val="24202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solidFill>
                              <a:srgbClr val="24202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𝑁𝑠</m:t>
                        </m:r>
                      </m:num>
                      <m:den>
                        <m:r>
                          <a:rPr lang="en-US" sz="4000" b="0" i="1" smtClean="0">
                            <a:solidFill>
                              <a:srgbClr val="24202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𝐷𝑠</m:t>
                        </m:r>
                      </m:den>
                    </m:f>
                  </m:oMath>
                </a14:m>
                <a:r>
                  <a:rPr lang="en-US" sz="4000" b="0" i="0" dirty="0">
                    <a:solidFill>
                      <a:srgbClr val="242021"/>
                    </a:solidFill>
                    <a:effectLst/>
                    <a:latin typeface="Times-Roman"/>
                  </a:rPr>
                  <a:t> ,Where by N(s) is numerator polynomial and D(s) is the Denominator Polynomial.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endParaRPr lang="en-US" sz="4000" b="0" i="0" dirty="0">
                  <a:solidFill>
                    <a:srgbClr val="242021"/>
                  </a:solidFill>
                  <a:effectLst/>
                  <a:latin typeface="Times-Roman"/>
                </a:endParaRPr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en-US" sz="3200" b="0" i="0" dirty="0">
                  <a:solidFill>
                    <a:srgbClr val="242021"/>
                  </a:solidFill>
                  <a:effectLst/>
                  <a:latin typeface="Times-Roman"/>
                </a:endParaRPr>
              </a:p>
              <a:p>
                <a:pPr marL="0" indent="0" algn="just">
                  <a:buNone/>
                </a:pPr>
                <a:br>
                  <a:rPr lang="en-US" sz="2800" dirty="0"/>
                </a:br>
                <a:endParaRPr lang="en-US" sz="3200" b="1" i="0" dirty="0">
                  <a:solidFill>
                    <a:srgbClr val="24202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b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C9CDB6-B4F5-4C4C-8E90-C78198BB6C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58982"/>
                <a:ext cx="9144000" cy="5999017"/>
              </a:xfrm>
              <a:blipFill>
                <a:blip r:embed="rId2"/>
                <a:stretch>
                  <a:fillRect l="-2000" t="-1728" r="-2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6D1592-FC45-4746-B577-994C6A458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4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1828446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1F3A69-CC52-4D74-8B9A-26189B691D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817418"/>
                <a:ext cx="9144000" cy="6040581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3200" b="0" i="0" dirty="0">
                    <a:solidFill>
                      <a:srgbClr val="655670"/>
                    </a:solidFill>
                    <a:effectLst/>
                    <a:latin typeface="ItcKabel-Medium"/>
                  </a:rPr>
                  <a:t>Steps to Find the Inverse Laplace Transform</a:t>
                </a:r>
                <a:r>
                  <a:rPr lang="en-US" sz="3200" dirty="0"/>
                  <a:t> ;</a:t>
                </a: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</a:t>
                </a:r>
                <a:r>
                  <a:rPr lang="en-US" sz="2800" b="0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Decompose </a:t>
                </a:r>
                <a:r>
                  <a:rPr lang="en-US" sz="2800" b="0" i="1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800" b="0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b="0" i="1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800" b="0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into simple terms using partial fraction expansion</a:t>
                </a: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2.</a:t>
                </a:r>
                <a:r>
                  <a:rPr lang="en-US" sz="2800" b="0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Find the inverse of each term by matching entries in Table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above.</a:t>
                </a:r>
              </a:p>
              <a:p>
                <a:pPr marL="0" indent="0">
                  <a:buNone/>
                </a:pPr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Examples.</a:t>
                </a:r>
                <a:r>
                  <a:rPr lang="en-US" sz="3200" b="0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Find the inverse Laplace transform of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1.</a:t>
                </a:r>
                <a:r>
                  <a:rPr lang="en-US" sz="3200" b="0" i="1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</a:t>
                </a:r>
                <a:r>
                  <a:rPr lang="en-US" sz="3200" b="0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b="0" i="1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solidFill>
                              <a:srgbClr val="24202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24202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24202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+3</m:t>
                        </m:r>
                      </m:den>
                    </m:f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2.F(s)=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+12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+2)(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+3)</m:t>
                        </m:r>
                      </m:den>
                    </m:f>
                  </m:oMath>
                </a14:m>
                <a:br>
                  <a:rPr lang="en-US" sz="3200" dirty="0"/>
                </a:br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b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1F3A69-CC52-4D74-8B9A-26189B691D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17418"/>
                <a:ext cx="9144000" cy="6040581"/>
              </a:xfrm>
              <a:blipFill>
                <a:blip r:embed="rId2"/>
                <a:stretch>
                  <a:fillRect l="-1333" t="-1312" r="-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3B5C0-6B3B-4A13-9E4F-B7CE18686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5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4162313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AB351-2AE1-457B-B307-5AD023C4F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b="1" i="0" dirty="0">
                <a:solidFill>
                  <a:srgbClr val="BC30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the Laplace Transform.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Laplace transform hel</a:t>
            </a:r>
            <a:r>
              <a:rPr lang="en-US" sz="2800" b="1" dirty="0">
                <a:solidFill>
                  <a:srgbClr val="242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to</a:t>
            </a:r>
            <a:r>
              <a:rPr lang="en-US" sz="2800" b="1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examine and to analyze network stability and network synthesis.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Steps in Applying the Laplace Transform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electrical circuit </a:t>
            </a:r>
            <a:r>
              <a:rPr lang="en-US" sz="280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Element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 the circuit from the time domain to the </a:t>
            </a:r>
            <a:r>
              <a:rPr lang="en-US" sz="2800" b="0" i="1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-domain.</a:t>
            </a:r>
          </a:p>
          <a:p>
            <a:r>
              <a:rPr lang="en-US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Solve the circuit using nodal analysis, mesh analysis, source</a:t>
            </a:r>
          </a:p>
          <a:p>
            <a:pPr marL="0" indent="0">
              <a:buNone/>
            </a:pPr>
            <a:r>
              <a:rPr lang="en-US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transformation, superposition, or any circuit analysis technique</a:t>
            </a:r>
          </a:p>
          <a:p>
            <a:pPr marL="0" indent="0">
              <a:buNone/>
            </a:pPr>
            <a:r>
              <a:rPr lang="en-US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which we are familiar.</a:t>
            </a:r>
          </a:p>
          <a:p>
            <a:pPr marL="0" indent="0">
              <a:buNone/>
            </a:pPr>
            <a:r>
              <a:rPr lang="en-US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Take the inverse transform of the solution and thus obtain the</a:t>
            </a:r>
          </a:p>
          <a:p>
            <a:pPr marL="0" indent="0">
              <a:buNone/>
            </a:pPr>
            <a:r>
              <a:rPr lang="en-US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 in the time domain.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/>
            </a:br>
            <a:endParaRPr lang="en-US" sz="3200" b="1" i="0" dirty="0">
              <a:solidFill>
                <a:srgbClr val="24202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b="1" i="0" dirty="0">
              <a:solidFill>
                <a:srgbClr val="24202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b="1" i="0" dirty="0">
              <a:solidFill>
                <a:srgbClr val="24202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6E071-4DE5-4F58-97D0-9CCF21167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6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1172132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CA3EC1-9A4D-44A2-BB3B-E264A6652D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"/>
                <a:ext cx="9144000" cy="6858000"/>
              </a:xfrm>
            </p:spPr>
            <p:txBody>
              <a:bodyPr/>
              <a:lstStyle/>
              <a:p>
                <a:r>
                  <a:rPr lang="en-US" sz="2800" b="1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we did in phasor analysis, we transform a circuit in the time domain to the frequency or </a:t>
                </a:r>
                <a:r>
                  <a:rPr lang="en-US" sz="2800" b="1" i="1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800" b="1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-domain by Laplace transforming each term in the circuit.</a:t>
                </a:r>
              </a:p>
              <a:p>
                <a:r>
                  <a:rPr lang="en-US" sz="2800" b="1" dirty="0">
                    <a:solidFill>
                      <a:srgbClr val="24202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i.e.</a:t>
                </a:r>
              </a:p>
              <a:p>
                <a:r>
                  <a:rPr lang="en-US" sz="2800" b="1" dirty="0">
                    <a:solidFill>
                      <a:srgbClr val="24202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resistance : </a:t>
                </a:r>
                <a:r>
                  <a:rPr lang="en-US" sz="2800" b="1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b="1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8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</a:t>
                </a:r>
                <a:r>
                  <a:rPr lang="en-US" sz="2800" b="1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</a:t>
                </a:r>
                <a:r>
                  <a:rPr lang="en-US" sz="28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b="1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8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b="1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Taking the Laplace transform, we get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n-US" sz="2800" b="1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b="1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8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en-US" sz="2800" b="1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</a:t>
                </a:r>
                <a:r>
                  <a:rPr lang="en-US" sz="28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b="1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8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</a:t>
                </a:r>
              </a:p>
              <a:p>
                <a:r>
                  <a:rPr lang="en-US" sz="2800" b="1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an inductor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r>
                  <a:rPr lang="en-US" sz="2800" b="1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</a:t>
                </a:r>
                <a:r>
                  <a:rPr lang="en-US" sz="28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b="1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8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</a:t>
                </a:r>
                <a:r>
                  <a:rPr lang="en-US" sz="2800" b="1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𝒅𝒊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</m:oMath>
                </a14:m>
                <a:r>
                  <a:rPr lang="en-US" sz="2800" b="1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i="1" dirty="0">
                    <a:solidFill>
                      <a:srgbClr val="0079C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800" b="1" dirty="0">
                    <a:solidFill>
                      <a:srgbClr val="24202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Taking the Laplace transform, we get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; </a:t>
                </a:r>
                <a:r>
                  <a:rPr lang="en-US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en-US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sLI</a:t>
                </a:r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2800" b="1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capacitor ; </a:t>
                </a:r>
                <a:r>
                  <a:rPr lang="en-US" sz="28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i(t) =C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𝒅𝒗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; </a:t>
                </a:r>
                <a:r>
                  <a:rPr lang="en-US" sz="2800" b="1" dirty="0">
                    <a:solidFill>
                      <a:srgbClr val="24202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Taking the Laplace transform, we get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;                  </a:t>
                </a:r>
              </a:p>
              <a:p>
                <a:r>
                  <a:rPr lang="en-US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𝒔𝒄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I(s).</a:t>
                </a:r>
              </a:p>
              <a:p>
                <a:endParaRPr lang="en-US" sz="1800" b="1" i="0" dirty="0">
                  <a:solidFill>
                    <a:srgbClr val="24202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800" b="0" i="0" dirty="0">
                  <a:solidFill>
                    <a:srgbClr val="0079C1"/>
                  </a:solidFill>
                  <a:effectLst/>
                  <a:latin typeface="Times-Roman"/>
                </a:endParaRPr>
              </a:p>
              <a:p>
                <a:pPr marL="0" indent="0">
                  <a:buNone/>
                </a:pPr>
                <a:r>
                  <a:rPr lang="en-US" sz="1000" dirty="0"/>
                  <a:t> </a:t>
                </a:r>
                <a:br>
                  <a:rPr lang="en-US" sz="1000" dirty="0"/>
                </a:br>
                <a:br>
                  <a:rPr lang="en-US" sz="1050" dirty="0"/>
                </a:br>
                <a:r>
                  <a:rPr lang="en-US" sz="1100" dirty="0"/>
                  <a:t>                                                     </a:t>
                </a:r>
                <a:br>
                  <a:rPr lang="en-US" sz="1100" dirty="0"/>
                </a:br>
                <a:br>
                  <a:rPr lang="en-US" sz="1200" dirty="0"/>
                </a:br>
                <a:br>
                  <a:rPr lang="en-US" sz="1400" dirty="0"/>
                </a:br>
                <a:br>
                  <a:rPr lang="en-US" sz="1600" dirty="0"/>
                </a:br>
                <a:br>
                  <a:rPr lang="en-US" sz="1800" dirty="0"/>
                </a:br>
                <a:endParaRPr lang="en-US" sz="1800" b="0" i="1" dirty="0">
                  <a:solidFill>
                    <a:srgbClr val="0079C1"/>
                  </a:solidFill>
                  <a:effectLst/>
                  <a:latin typeface="Times-Italic"/>
                </a:endParaRPr>
              </a:p>
              <a:p>
                <a:pPr marL="0" indent="0">
                  <a:buNone/>
                </a:pPr>
                <a:endParaRPr lang="en-US" sz="1800" b="0" i="0" dirty="0">
                  <a:solidFill>
                    <a:srgbClr val="0079C1"/>
                  </a:solidFill>
                  <a:effectLst/>
                  <a:latin typeface="Times-Roman"/>
                </a:endParaRPr>
              </a:p>
              <a:p>
                <a:pPr marL="0" indent="0">
                  <a:buNone/>
                </a:pPr>
                <a:br>
                  <a:rPr lang="en-US" dirty="0"/>
                </a:br>
                <a:br>
                  <a:rPr lang="en-US" dirty="0"/>
                </a:br>
                <a:br>
                  <a:rPr lang="en-US" dirty="0">
                    <a:solidFill>
                      <a:srgbClr val="FF0000"/>
                    </a:solidFill>
                  </a:rPr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CA3EC1-9A4D-44A2-BB3B-E264A6652D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"/>
                <a:ext cx="9144000" cy="6858000"/>
              </a:xfrm>
              <a:blipFill>
                <a:blip r:embed="rId2"/>
                <a:stretch>
                  <a:fillRect l="-933" t="-889" r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479D5-5975-4139-9D30-2AF8D26F0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7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1884544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AA8507-4B18-4545-9C9F-8D19B3A012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9144000" cy="6858001"/>
              </a:xfrm>
            </p:spPr>
            <p:txBody>
              <a:bodyPr/>
              <a:lstStyle/>
              <a:p>
                <a:r>
                  <a:rPr lang="en-US" sz="3200" b="1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Also We define the impedance in the </a:t>
                </a:r>
                <a:r>
                  <a:rPr lang="en-US" sz="3200" b="1" i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3200" b="1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-domain as the ratio of the voltage transform to the current transform under zero initial conditions; that is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n-US" sz="3200" b="1" i="1" dirty="0">
                    <a:solidFill>
                      <a:srgbClr val="0079C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sz="3200" b="1" i="0" dirty="0">
                    <a:solidFill>
                      <a:srgbClr val="0079C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b="1" i="1" dirty="0">
                    <a:solidFill>
                      <a:srgbClr val="0079C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s)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sz="3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sz="3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3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sz="3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sz="3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3200" b="1" i="0" dirty="0">
                    <a:solidFill>
                      <a:srgbClr val="0079C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Resistor: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3200" b="1" i="1" dirty="0">
                    <a:solidFill>
                      <a:srgbClr val="0079C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sz="3200" b="1" i="0" dirty="0">
                    <a:solidFill>
                      <a:srgbClr val="0079C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b="1" i="1" dirty="0">
                    <a:solidFill>
                      <a:srgbClr val="0079C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3200" b="1" i="0" dirty="0">
                    <a:solidFill>
                      <a:srgbClr val="0079C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3200" b="1" dirty="0">
                    <a:solidFill>
                      <a:srgbClr val="0079C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3200" b="1" i="1" dirty="0">
                    <a:solidFill>
                      <a:srgbClr val="0079C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;</a:t>
                </a:r>
              </a:p>
              <a:p>
                <a:r>
                  <a:rPr lang="pl-PL" sz="3200" b="1" i="0" dirty="0">
                    <a:solidFill>
                      <a:srgbClr val="0079C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Inductor: </a:t>
                </a:r>
                <a:r>
                  <a:rPr lang="pl-PL" sz="3200" b="1" i="1" dirty="0">
                    <a:solidFill>
                      <a:srgbClr val="0079C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pl-PL" sz="3200" b="1" i="0" dirty="0">
                    <a:solidFill>
                      <a:srgbClr val="0079C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pl-PL" sz="3200" b="1" i="1" dirty="0">
                    <a:solidFill>
                      <a:srgbClr val="0079C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pl-PL" sz="3200" b="1" i="0" dirty="0">
                    <a:solidFill>
                      <a:srgbClr val="0079C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3200" b="1" dirty="0">
                    <a:solidFill>
                      <a:srgbClr val="0079C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pl-PL" sz="3200" b="1" i="0" dirty="0">
                    <a:solidFill>
                      <a:srgbClr val="0079C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l-PL" sz="3200" b="1" i="1" dirty="0">
                    <a:solidFill>
                      <a:srgbClr val="0079C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</a:t>
                </a:r>
                <a:r>
                  <a:rPr lang="pl-PL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br>
                  <a:rPr lang="pl-PL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3200" b="1" i="0" dirty="0">
                    <a:solidFill>
                      <a:srgbClr val="0079C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Capacitor: </a:t>
                </a:r>
                <a:r>
                  <a:rPr lang="en-US" sz="3200" b="1" i="1" dirty="0">
                    <a:solidFill>
                      <a:srgbClr val="0079C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sz="3200" b="1" i="0" dirty="0">
                    <a:solidFill>
                      <a:srgbClr val="0079C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b="1" i="1" dirty="0">
                    <a:solidFill>
                      <a:srgbClr val="0079C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3200" b="1" i="0" dirty="0">
                    <a:solidFill>
                      <a:srgbClr val="0079C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smtClean="0">
                            <a:solidFill>
                              <a:srgbClr val="0079C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smtClean="0">
                            <a:solidFill>
                              <a:srgbClr val="0079C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3200" b="1" i="1" smtClean="0">
                            <a:solidFill>
                              <a:srgbClr val="0079C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𝒔𝒄</m:t>
                        </m:r>
                      </m:den>
                    </m:f>
                  </m:oMath>
                </a14:m>
                <a:endParaRPr lang="en-US" sz="3200" b="1" i="0" dirty="0">
                  <a:solidFill>
                    <a:srgbClr val="0079C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While the </a:t>
                </a:r>
                <a:r>
                  <a:rPr lang="en-US" sz="3200" b="1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admittance in the </a:t>
                </a:r>
                <a:r>
                  <a:rPr lang="en-US" sz="3200" b="1" i="1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3200" b="1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-domain is the reciprocal of the impedance, </a:t>
                </a:r>
                <a:r>
                  <a:rPr lang="en-US" sz="3200" b="1" i="0" dirty="0">
                    <a:solidFill>
                      <a:schemeClr val="accent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Y(s)=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smtClean="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smtClean="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3200" b="1" i="1" smtClean="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𝒁</m:t>
                        </m:r>
                        <m:r>
                          <a:rPr lang="en-US" sz="3200" b="1" i="1" smtClean="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1" i="1" smtClean="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sz="3200" b="1" i="1" smtClean="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sz="2800" b="0" i="0" dirty="0">
                  <a:solidFill>
                    <a:srgbClr val="0079C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AA8507-4B18-4545-9C9F-8D19B3A012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9144000" cy="6858001"/>
              </a:xfrm>
              <a:blipFill>
                <a:blip r:embed="rId2"/>
                <a:stretch>
                  <a:fillRect l="-1667" t="-1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431E2-EA40-4D04-AC34-EB56E732F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8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2777442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94B79B-1BC7-43E7-B811-B5B3B42686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001569"/>
                <a:ext cx="9144000" cy="5856432"/>
              </a:xfrm>
            </p:spPr>
            <p:txBody>
              <a:bodyPr/>
              <a:lstStyle/>
              <a:p>
                <a:r>
                  <a:rPr lang="en-US" sz="3200" dirty="0">
                    <a:solidFill>
                      <a:srgbClr val="FF0000"/>
                    </a:solidFill>
                  </a:rPr>
                  <a:t>Examples;</a:t>
                </a:r>
              </a:p>
              <a:p>
                <a:r>
                  <a:rPr lang="en-US" dirty="0"/>
                  <a:t>1.</a:t>
                </a:r>
                <a:r>
                  <a:rPr lang="en-US" sz="3200" dirty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𝑉𝑜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3200" dirty="0"/>
                  <a:t> assuming zero initial condition</a:t>
                </a:r>
                <a:r>
                  <a:rPr lang="en-US" dirty="0"/>
                  <a:t>;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sz="3200" dirty="0"/>
                  <a:t>Determine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𝑉𝑜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94B79B-1BC7-43E7-B811-B5B3B42686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01569"/>
                <a:ext cx="9144000" cy="5856432"/>
              </a:xfrm>
              <a:blipFill>
                <a:blip r:embed="rId2"/>
                <a:stretch>
                  <a:fillRect l="-1200" t="-1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02F6D3-A5C6-4A72-9EFB-0D5419C57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9</a:t>
            </a:fld>
            <a:endParaRPr lang="en-US" altLang="en-TZ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BA2A25-2D8C-4A5D-A3DA-8C2979736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09220"/>
            <a:ext cx="4259407" cy="21253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74498CB-A3D7-44EA-8DE6-FE4CB4558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3418" y="4334593"/>
            <a:ext cx="5375564" cy="185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834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E9C2-6927-4517-BF6F-A3E3D4341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6000" b="1" dirty="0">
                <a:solidFill>
                  <a:srgbClr val="0070C0"/>
                </a:solidFill>
                <a:latin typeface="Algerian" panose="04020705040A02060702" pitchFamily="82" charset="0"/>
              </a:rPr>
              <a:t>………………THE  END OF LECTURE THREE………..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6000" b="1" dirty="0">
                <a:solidFill>
                  <a:srgbClr val="0070C0"/>
                </a:solidFill>
                <a:latin typeface="Algerian" panose="04020705040A02060702" pitchFamily="82" charset="0"/>
              </a:rPr>
              <a:t>THANK you!!!!!!!!!!!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54B0F-E38E-40E9-BB2C-3D79B1145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10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38678408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12981</TotalTime>
  <Words>619</Words>
  <Application>Microsoft Office PowerPoint</Application>
  <PresentationFormat>On-screen Show (4:3)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Algerian</vt:lpstr>
      <vt:lpstr>Arial</vt:lpstr>
      <vt:lpstr>Calibri</vt:lpstr>
      <vt:lpstr>Cambria Math</vt:lpstr>
      <vt:lpstr>Constantia</vt:lpstr>
      <vt:lpstr>ItcKabel-Medium</vt:lpstr>
      <vt:lpstr>Times New Roman</vt:lpstr>
      <vt:lpstr>Times-Italic</vt:lpstr>
      <vt:lpstr>Times-Roman</vt:lpstr>
      <vt:lpstr>Wingdings</vt:lpstr>
      <vt:lpstr>Wingdings 2</vt:lpstr>
      <vt:lpstr>Flow</vt:lpstr>
      <vt:lpstr> 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O W N E R</cp:lastModifiedBy>
  <cp:revision>191</cp:revision>
  <dcterms:created xsi:type="dcterms:W3CDTF">2021-10-12T03:25:19Z</dcterms:created>
  <dcterms:modified xsi:type="dcterms:W3CDTF">2024-01-07T12:28:48Z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4a08b7db7474460c9665e327564f0fd0</vt:lpwstr>
  </property>
</Properties>
</file>