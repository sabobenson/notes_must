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9"/>
  </p:notesMasterIdLst>
  <p:sldIdLst>
    <p:sldId id="257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4" r:id="rId17"/>
    <p:sldId id="275" r:id="rId18"/>
  </p:sldIdLst>
  <p:sldSz cx="9144000" cy="6858000" type="screen4x3"/>
  <p:notesSz cx="6858000" cy="9144000"/>
  <p:defaultTextStyle>
    <a:defPPr>
      <a:defRPr lang="en-T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A03D97D0-7425-4EED-B638-A2BFF299D73F}">
          <p14:sldIdLst>
            <p14:sldId id="257"/>
            <p14:sldId id="258"/>
            <p14:sldId id="259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8A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603" autoAdjust="0"/>
    <p:restoredTop sz="94364" autoAdjust="0"/>
  </p:normalViewPr>
  <p:slideViewPr>
    <p:cSldViewPr snapToGrid="0">
      <p:cViewPr varScale="1">
        <p:scale>
          <a:sx n="63" d="100"/>
          <a:sy n="63" d="100"/>
        </p:scale>
        <p:origin x="1674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572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9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0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61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62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3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6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tIns="0" rIns="18288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42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0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34290" indent="0" algn="r">
              <a:buNone/>
              <a:defRPr>
                <a:solidFill>
                  <a:schemeClr val="tx1"/>
                </a:solidFill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9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50A14-3483-4285-B5AA-931AE0651600}" type="datetime1">
              <a:rPr lang="en-US" smtClean="0"/>
              <a:t>11/14/2023</a:t>
            </a:fld>
            <a:endParaRPr lang="en-US"/>
          </a:p>
        </p:txBody>
      </p:sp>
      <p:sp>
        <p:nvSpPr>
          <p:cNvPr id="104869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D15ED53B-996B-4378-9C91-896BD38502A8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86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7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F6AE6F-A67B-44C9-9AC6-50088D371ABA}" type="datetime1">
              <a:rPr lang="en-US" smtClean="0"/>
              <a:t>11/14/2023</a:t>
            </a:fld>
            <a:endParaRPr lang="en-US"/>
          </a:p>
        </p:txBody>
      </p:sp>
      <p:sp>
        <p:nvSpPr>
          <p:cNvPr id="1048588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9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tIns="0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42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20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/>
          <a:lstStyle>
            <a:lvl1pPr marL="0" indent="0">
              <a:buNone/>
              <a:defRPr sz="1650">
                <a:solidFill>
                  <a:schemeClr val="tx1"/>
                </a:solidFill>
              </a:defRPr>
            </a:lvl1pPr>
            <a:lvl2pPr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81641B-6EDB-4D53-8E2C-9A5FEF4070D9}" type="datetime1">
              <a:rPr lang="en-US" smtClean="0"/>
              <a:t>11/14/2023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D1EAEE"/>
                </a:solidFill>
              </a:defRPr>
            </a:lvl1pPr>
          </a:lstStyle>
          <a:p>
            <a:fld id="{1ABFF248-A989-4D8D-B05F-37617110CFF0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7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195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0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DD27E-6919-4D02-A73B-49222A03FCC1}" type="datetime1">
              <a:rPr lang="en-US" smtClean="0"/>
              <a:t>11/14/2023</a:t>
            </a:fld>
            <a:endParaRPr lang="en-US"/>
          </a:p>
        </p:txBody>
      </p:sp>
      <p:sp>
        <p:nvSpPr>
          <p:cNvPr id="1048751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2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4B0793-B774-4696-A8C6-8B6889409F16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6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1859759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18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1500" b="1"/>
            </a:lvl2pPr>
            <a:lvl3pPr>
              <a:buNone/>
              <a:defRPr sz="1350" b="1"/>
            </a:lvl3pPr>
            <a:lvl4pPr>
              <a:buNone/>
              <a:defRPr sz="1200" b="1"/>
            </a:lvl4pPr>
            <a:lvl5pPr>
              <a:buNone/>
              <a:defRPr sz="12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27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8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514600"/>
            <a:ext cx="4041775" cy="3845720"/>
          </a:xfrm>
        </p:spPr>
        <p:txBody>
          <a:bodyPr tIns="0"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97AAEB-6E84-4244-ABAD-B2263C3CF1FF}" type="datetime1">
              <a:rPr lang="en-US" smtClean="0"/>
              <a:t>11/14/2023</a:t>
            </a:fld>
            <a:endParaRPr lang="en-US"/>
          </a:p>
        </p:txBody>
      </p:sp>
      <p:sp>
        <p:nvSpPr>
          <p:cNvPr id="104873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08298E-17EE-419C-B1DA-2E7036F0130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37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5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C69A88-7CB7-4212-B83C-03F933A21110}" type="datetime1">
              <a:rPr lang="en-US" smtClean="0"/>
              <a:t>11/14/2023</a:t>
            </a:fld>
            <a:endParaRPr lang="en-US"/>
          </a:p>
        </p:txBody>
      </p:sp>
      <p:sp>
        <p:nvSpPr>
          <p:cNvPr id="1048696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7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35066-385A-4712-B3B6-9A5B1321A3A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F133CB-A137-449F-A226-775613DC0A71}" type="datetime1">
              <a:rPr lang="en-US" smtClean="0"/>
              <a:t>11/14/2023</a:t>
            </a:fld>
            <a:endParaRPr lang="en-US"/>
          </a:p>
        </p:txBody>
      </p:sp>
      <p:sp>
        <p:nvSpPr>
          <p:cNvPr id="104873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D2C9E-88E8-43DD-9653-6C1943F77BB4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3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sz="195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54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050"/>
            </a:lvl1pPr>
            <a:lvl2pPr indent="0" algn="l">
              <a:buNone/>
              <a:defRPr sz="900"/>
            </a:lvl2pPr>
            <a:lvl3pPr indent="0" algn="l">
              <a:buNone/>
              <a:defRPr sz="750"/>
            </a:lvl3pPr>
            <a:lvl4pPr indent="0" algn="l">
              <a:buNone/>
              <a:defRPr sz="675"/>
            </a:lvl4pPr>
            <a:lvl5pPr indent="0" algn="l">
              <a:buNone/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5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100"/>
            </a:lvl1pPr>
            <a:lvl2pPr>
              <a:defRPr sz="1950"/>
            </a:lvl2pPr>
            <a:lvl3pPr>
              <a:defRPr sz="1800"/>
            </a:lvl3pPr>
            <a:lvl4pPr>
              <a:defRPr sz="1500"/>
            </a:lvl4pPr>
            <a:lvl5pPr>
              <a:defRPr sz="13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4844A7-F6EB-437F-8AB7-57EF0FDCE1F8}" type="datetime1">
              <a:rPr lang="en-US" smtClean="0"/>
              <a:t>11/14/2023</a:t>
            </a:fld>
            <a:endParaRPr lang="en-US"/>
          </a:p>
        </p:txBody>
      </p:sp>
      <p:sp>
        <p:nvSpPr>
          <p:cNvPr id="104875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FB7BB-B9B6-4EC6-A38E-4F4D80B3AFA3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9" name="Snip and Round Single Corner Rectangle 13"/>
          <p:cNvSpPr/>
          <p:nvPr/>
        </p:nvSpPr>
        <p:spPr>
          <a:xfrm rot="420000" flipV="1">
            <a:off x="3165475" y="1108075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0" name="Right Triangle 5"/>
          <p:cNvSpPr/>
          <p:nvPr/>
        </p:nvSpPr>
        <p:spPr>
          <a:xfrm rot="420000" flipV="1">
            <a:off x="8004176" y="5359402"/>
            <a:ext cx="155575" cy="155575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/>
            <a:endParaRPr lang="en-US" sz="1350"/>
          </a:p>
        </p:txBody>
      </p:sp>
      <p:sp>
        <p:nvSpPr>
          <p:cNvPr id="1048711" name="Freeform 15"/>
          <p:cNvSpPr/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2" name="Freeform 16"/>
          <p:cNvSpPr/>
          <p:nvPr/>
        </p:nvSpPr>
        <p:spPr bwMode="auto">
          <a:xfrm flipV="1">
            <a:off x="4381500" y="6219827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609600" y="1176998"/>
            <a:ext cx="2212848" cy="1582621"/>
          </a:xfrm>
        </p:spPr>
        <p:txBody>
          <a:bodyPr lIns="45720" rIns="45720" bIns="45720"/>
          <a:lstStyle>
            <a:lvl1pPr algn="l">
              <a:buNone/>
              <a:defRPr sz="1500" b="1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/>
          <a:lstStyle>
            <a:lvl1pPr marL="0" indent="0" algn="l">
              <a:spcBef>
                <a:spcPts val="188"/>
              </a:spcBef>
              <a:buFontTx/>
              <a:buNone/>
              <a:defRPr sz="975"/>
            </a:lvl1pPr>
            <a:lvl2pPr>
              <a:defRPr sz="900"/>
            </a:lvl2pPr>
            <a:lvl3pPr>
              <a:defRPr sz="750"/>
            </a:lvl3pPr>
            <a:lvl4pPr>
              <a:defRPr sz="675"/>
            </a:lvl4pPr>
            <a:lvl5pPr>
              <a:defRPr sz="675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5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048716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10B45-595E-4E97-A9CB-DDD48AA7C440}" type="datetime1">
              <a:rPr lang="en-US" smtClean="0"/>
              <a:t>11/14/2023</a:t>
            </a:fld>
            <a:endParaRPr lang="en-US"/>
          </a:p>
        </p:txBody>
      </p:sp>
      <p:sp>
        <p:nvSpPr>
          <p:cNvPr id="1048717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8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2"/>
            <a:ext cx="609600" cy="365125"/>
          </a:xfrm>
        </p:spPr>
        <p:txBody>
          <a:bodyPr/>
          <a:lstStyle/>
          <a:p>
            <a:fld id="{43B8A962-D83D-4897-A8B5-1C7B73F65C11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8CA0B-8DCD-4AE3-9E5D-30F930874C94}" type="datetime1">
              <a:rPr lang="en-US" smtClean="0"/>
              <a:t>11/14/2023</a:t>
            </a:fld>
            <a:endParaRPr lang="en-US"/>
          </a:p>
        </p:txBody>
      </p:sp>
      <p:sp>
        <p:nvSpPr>
          <p:cNvPr id="104874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4F36CE-58F5-40DE-B895-8959E01F79F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4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2"/>
            <a:ext cx="2057400" cy="52117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5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2"/>
            <a:ext cx="6019800" cy="52117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35C7E-6C26-4562-95EB-6C3403AAB1AB}" type="datetime1">
              <a:rPr lang="en-US" smtClean="0"/>
              <a:t>11/14/2023</a:t>
            </a:fld>
            <a:endParaRPr lang="en-US"/>
          </a:p>
        </p:txBody>
      </p:sp>
      <p:sp>
        <p:nvSpPr>
          <p:cNvPr id="1048707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8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5505E5-C8A0-4DDF-A1E8-013BBAD9731E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5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6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7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8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90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9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1E302-3999-4873-BE4B-33FFE6A45501}" type="datetime1">
              <a:rPr lang="en-US" smtClean="0"/>
              <a:t>11/14/2023</a:t>
            </a:fld>
            <a:endParaRPr lang="en-US"/>
          </a:p>
        </p:txBody>
      </p:sp>
      <p:sp>
        <p:nvSpPr>
          <p:cNvPr id="1048740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1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9301D2-5FDB-428E-B6DC-2B2A69C1266C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9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0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1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4D97EF-51D5-45D5-AD6D-B3E5703E720E}" type="datetime1">
              <a:rPr lang="en-US" smtClean="0"/>
              <a:t>11/14/2023</a:t>
            </a:fld>
            <a:endParaRPr lang="en-US"/>
          </a:p>
        </p:txBody>
      </p:sp>
      <p:sp>
        <p:nvSpPr>
          <p:cNvPr id="1048702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3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4597DA-B642-4C4B-93B6-CE1E2C30D462}" type="slidenum">
              <a:rPr lang="en-US" altLang="en-TZ"/>
              <a:t>‹#›</a:t>
            </a:fld>
            <a:endParaRPr lang="en-US" altLang="en-T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5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Freeform 6"/>
          <p:cNvSpPr/>
          <p:nvPr/>
        </p:nvSpPr>
        <p:spPr bwMode="auto">
          <a:xfrm>
            <a:off x="-9525" y="-7938"/>
            <a:ext cx="9163050" cy="104140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7" name="Freeform 7"/>
          <p:cNvSpPr/>
          <p:nvPr/>
        </p:nvSpPr>
        <p:spPr bwMode="auto">
          <a:xfrm>
            <a:off x="4381500" y="-7938"/>
            <a:ext cx="4762500" cy="6381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hangingPunct="1"/>
            <a:endParaRPr lang="en-US" sz="1350">
              <a:latin typeface="+mn-lt"/>
            </a:endParaRPr>
          </a:p>
        </p:txBody>
      </p:sp>
      <p:sp>
        <p:nvSpPr>
          <p:cNvPr id="1048578" name="Title Placeholder 8"/>
          <p:cNvSpPr>
            <a:spLocks noGrp="1"/>
          </p:cNvSpPr>
          <p:nvPr>
            <p:ph type="title"/>
          </p:nvPr>
        </p:nvSpPr>
        <p:spPr bwMode="auto">
          <a:xfrm>
            <a:off x="457200" y="7048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45720" rIns="0" bIns="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title style</a:t>
            </a:r>
          </a:p>
        </p:txBody>
      </p:sp>
      <p:sp>
        <p:nvSpPr>
          <p:cNvPr id="1048579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935165"/>
            <a:ext cx="8229600" cy="4389437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TZ"/>
              <a:t>Click to edit Master text styles</a:t>
            </a:r>
          </a:p>
          <a:p>
            <a:pPr lvl="1"/>
            <a:r>
              <a:rPr lang="en-US" altLang="en-TZ"/>
              <a:t>Second level</a:t>
            </a:r>
          </a:p>
          <a:p>
            <a:pPr lvl="2"/>
            <a:r>
              <a:rPr lang="en-US" altLang="en-TZ"/>
              <a:t>Third level</a:t>
            </a:r>
          </a:p>
          <a:p>
            <a:pPr lvl="3"/>
            <a:r>
              <a:rPr lang="en-US" altLang="en-TZ"/>
              <a:t>Fourth level</a:t>
            </a:r>
          </a:p>
          <a:p>
            <a:pPr lvl="4"/>
            <a:r>
              <a:rPr lang="en-US" altLang="en-TZ"/>
              <a:t>Fifth level</a:t>
            </a:r>
          </a:p>
        </p:txBody>
      </p:sp>
      <p:sp>
        <p:nvSpPr>
          <p:cNvPr id="104858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fld id="{0695FB56-EA84-4844-9BFB-327161247F83}" type="datetime1">
              <a:rPr lang="en-US" smtClean="0"/>
              <a:t>11/14/2023</a:t>
            </a:fld>
            <a:endParaRPr lang="en-US"/>
          </a:p>
        </p:txBody>
      </p:sp>
      <p:sp>
        <p:nvSpPr>
          <p:cNvPr id="1048581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2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900">
                <a:solidFill>
                  <a:schemeClr val="tx2">
                    <a:shade val="90000"/>
                  </a:schemeClr>
                </a:solidFill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48582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2"/>
            <a:ext cx="762000" cy="365125"/>
          </a:xfrm>
          <a:prstGeom prst="rect">
            <a:avLst/>
          </a:prstGeom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900">
                <a:solidFill>
                  <a:srgbClr val="045C75"/>
                </a:solidFill>
              </a:defRPr>
            </a:lvl1pPr>
          </a:lstStyle>
          <a:p>
            <a:fld id="{F2709C22-77CA-47A0-B90A-4ACEF2B64A71}" type="slidenum">
              <a:rPr lang="en-US" altLang="en-TZ"/>
              <a:t>‹#›</a:t>
            </a:fld>
            <a:endParaRPr lang="en-US" altLang="en-TZ"/>
          </a:p>
        </p:txBody>
      </p:sp>
      <p:grpSp>
        <p:nvGrpSpPr>
          <p:cNvPr id="12" name="Group 1"/>
          <p:cNvGrpSpPr/>
          <p:nvPr/>
        </p:nvGrpSpPr>
        <p:grpSpPr bwMode="auto">
          <a:xfrm>
            <a:off x="-19049" y="203200"/>
            <a:ext cx="9180513" cy="647700"/>
            <a:chOff x="-19045" y="216550"/>
            <a:chExt cx="9180548" cy="649224"/>
          </a:xfrm>
        </p:grpSpPr>
        <p:sp>
          <p:nvSpPr>
            <p:cNvPr id="1048583" name="Freeform 11"/>
            <p:cNvSpPr/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16000">
                    <a:schemeClr val="accent2">
                      <a:shade val="75000"/>
                      <a:alpha val="56000"/>
                    </a:schemeClr>
                  </a:gs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  <p:sp>
          <p:nvSpPr>
            <p:cNvPr id="1048584" name="Freeform 12"/>
            <p:cNvSpPr/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33000">
                    <a:schemeClr val="accent2">
                      <a:alpha val="56000"/>
                    </a:schemeClr>
                  </a:gs>
                  <a:gs pos="44000">
                    <a:schemeClr val="accent1"/>
                  </a:gs>
                  <a:gs pos="74000">
                    <a:schemeClr val="accent4"/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hangingPunct="1"/>
              <a:endParaRPr lang="en-US" sz="1350">
                <a:latin typeface="Arial" charset="0"/>
              </a:endParaRP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75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5pPr>
      <a:lvl6pPr marL="3429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6pPr>
      <a:lvl7pPr marL="6858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7pPr>
      <a:lvl8pPr marL="10287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8pPr>
      <a:lvl9pPr marL="1371600" algn="l" rtl="0" fontAlgn="base">
        <a:spcBef>
          <a:spcPct val="0"/>
        </a:spcBef>
        <a:spcAft>
          <a:spcPct val="0"/>
        </a:spcAft>
        <a:defRPr sz="3750">
          <a:solidFill>
            <a:schemeClr val="tx2"/>
          </a:solidFill>
          <a:latin typeface="Calibri" pitchFamily="34" charset="0"/>
        </a:defRPr>
      </a:lvl9pPr>
    </p:titleStyle>
    <p:bodyStyle>
      <a:lvl1pPr marL="204788" indent="-204788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95000"/>
        <a:buFont typeface="Wingdings 2" panose="05020102010507070707" pitchFamily="18" charset="2"/>
        <a:buChar char=""/>
        <a:defRPr sz="1950" kern="1200">
          <a:solidFill>
            <a:schemeClr val="tx1"/>
          </a:solidFill>
          <a:latin typeface="+mn-lt"/>
          <a:ea typeface="+mn-ea"/>
          <a:cs typeface="+mn-cs"/>
        </a:defRPr>
      </a:lvl1pPr>
      <a:lvl2pPr marL="479822" indent="-184547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85000"/>
        <a:buFont typeface="Wingdings 2" panose="05020102010507070707" pitchFamily="18" charset="2"/>
        <a:buChar char="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84547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 2" panose="05020102010507070707" pitchFamily="18" charset="2"/>
        <a:buChar char="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890588" indent="-157163" algn="l" rtl="0" eaLnBrk="0" fontAlgn="base" hangingPunct="0">
        <a:spcBef>
          <a:spcPct val="20000"/>
        </a:spcBef>
        <a:spcAft>
          <a:spcPct val="0"/>
        </a:spcAft>
        <a:buClr>
          <a:srgbClr val="0BD0D9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096566" indent="-157163" algn="l" rtl="0" eaLnBrk="0" fontAlgn="base" hangingPunct="0">
        <a:spcBef>
          <a:spcPct val="20000"/>
        </a:spcBef>
        <a:spcAft>
          <a:spcPct val="0"/>
        </a:spcAft>
        <a:buClr>
          <a:srgbClr val="10CF9B"/>
        </a:buClr>
        <a:buSzPct val="65000"/>
        <a:buFont typeface="Wingdings 2" panose="05020102010507070707" pitchFamily="18" charset="2"/>
        <a:buChar char="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303020" indent="-157734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indent="-13716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2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645920" indent="-137160" algn="l" rtl="0" eaLnBrk="1" latinLnBrk="0" hangingPunct="1">
        <a:spcBef>
          <a:spcPct val="20000"/>
        </a:spcBef>
        <a:buClr>
          <a:schemeClr val="tx2"/>
        </a:buClr>
        <a:buChar char="•"/>
        <a:defRPr kumimoji="0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1660" indent="-13716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05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587829" y="0"/>
            <a:ext cx="8229600" cy="1181644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0" y="739801"/>
            <a:ext cx="9144000" cy="6058394"/>
          </a:xfrm>
        </p:spPr>
        <p:txBody>
          <a:bodyPr/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sz="3200" dirty="0"/>
              <a:t> </a:t>
            </a:r>
            <a:r>
              <a:rPr lang="en-US" sz="3200" b="1" dirty="0">
                <a:solidFill>
                  <a:srgbClr val="00B0F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Circuits.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sinusoidal current is usually referred to as alternating current (ac). 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current reverses at regular time intervals and has alternately positive and negative values.    Circuits driven by sinusoidal current or voltage sources are called </a:t>
            </a:r>
            <a:r>
              <a:rPr lang="en-US" sz="32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 circuits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200" b="1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875587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928254"/>
                <a:ext cx="9144000" cy="5929745"/>
              </a:xfrm>
            </p:spPr>
            <p:txBody>
              <a:bodyPr/>
              <a:lstStyle/>
              <a:p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sinusoid is a signal that has the form of the sine or cosine function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Consider the sinusoidal voltage,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sub>
                    </m:sSub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Vm sin</a:t>
                </a:r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wt.</a:t>
                </a:r>
              </a:p>
              <a:p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Where by ,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𝒎</m:t>
                        </m:r>
                        <m:r>
                          <a:rPr lang="en-US" sz="32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</m:sub>
                    </m:sSub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amplitude of the sinusoid.</a:t>
                </a:r>
                <a:endParaRPr lang="en-US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w=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angular frequency in radians/s.</a:t>
                </a:r>
                <a:endParaRPr lang="en-US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wt=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argument of the sinusoid.</a:t>
                </a:r>
                <a:endParaRPr lang="en-US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b="1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28254"/>
                <a:ext cx="9144000" cy="5929745"/>
              </a:xfrm>
              <a:blipFill>
                <a:blip r:embed="rId2"/>
                <a:stretch>
                  <a:fillRect l="-1200" t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2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447062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26802"/>
                <a:ext cx="9144000" cy="6031198"/>
              </a:xfrm>
            </p:spPr>
            <p:txBody>
              <a:bodyPr/>
              <a:lstStyle/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sinusoid is shown in Fig.(a) as a function of its argument and in Fig.(b) as a function of time. It is evident that the sinusoid repeats itself every T seconds;thus,T is called the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period 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of the sinusoid</a:t>
                </a: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l-GR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  <m:r>
                          <a:rPr lang="el-GR" sz="32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𝜋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𝑊</m:t>
                        </m:r>
                      </m:den>
                    </m:f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r>
                  <a:rPr lang="en-US" sz="3200" dirty="0"/>
                  <a:t>f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r>
                      <a:rPr lang="en-US" sz="3200" b="0" i="1" smtClean="0">
                        <a:latin typeface="Cambria Math" panose="02040503050406030204" pitchFamily="18" charset="0"/>
                      </a:rPr>
                      <m:t> ,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</a:t>
                </a:r>
                <a14:m>
                  <m:oMath xmlns:m="http://schemas.openxmlformats.org/officeDocument/2006/math">
                    <m:r>
                      <a:rPr lang="en-US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2</m:t>
                    </m:r>
                    <m:r>
                      <a:rPr lang="el-GR" sz="320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𝜋</m:t>
                    </m:r>
                    <m:r>
                      <a:rPr lang="en-US" sz="3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𝑓</m:t>
                    </m:r>
                  </m:oMath>
                </a14:m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26802"/>
                <a:ext cx="9144000" cy="6031198"/>
              </a:xfrm>
              <a:blipFill>
                <a:blip r:embed="rId2"/>
                <a:stretch>
                  <a:fillRect l="-1200" t="-1416" r="-2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3</a:t>
            </a:fld>
            <a:endParaRPr lang="en-US" altLang="en-T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91" y="3810000"/>
            <a:ext cx="8866909" cy="2911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410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76200" y="965347"/>
                <a:ext cx="9067800" cy="5892653"/>
              </a:xfrm>
            </p:spPr>
            <p:txBody>
              <a:bodyPr/>
              <a:lstStyle/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Let us now consider a more general expression for the sinusoid.</a:t>
                </a:r>
              </a:p>
              <a:p>
                <a:r>
                  <a:rPr lang="de-DE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v(t) =Vm sin(wt + Ø) where by , Ø is the phase.</a:t>
                </a:r>
              </a:p>
              <a:p>
                <a:pPr marL="0" indent="0">
                  <a:buNone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Examples.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Find the amplitude, phase, period, and frequency of the sinusoid.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V(t) = 15 cos(60t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514350" indent="-514350">
                  <a:buFont typeface="+mj-lt"/>
                  <a:buAutoNum type="alphaLcParenR"/>
                </a:pPr>
                <a:r>
                  <a:rPr lang="en-US" sz="3200" b="1" i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i(t) = 5 cos(30t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𝟒𝟓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buNone/>
                </a:pPr>
                <a:endParaRPr lang="de-DE" sz="3200" b="1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de-DE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i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6200" y="965347"/>
                <a:ext cx="9067800" cy="5892653"/>
              </a:xfrm>
              <a:blipFill>
                <a:blip r:embed="rId2"/>
                <a:stretch>
                  <a:fillRect l="-1748" t="-1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4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9042319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803564"/>
                <a:ext cx="9144000" cy="6054435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3200" b="1" dirty="0">
                    <a:solidFill>
                      <a:srgbClr val="00B0F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Two sinusoids with different phases</a:t>
                </a:r>
                <a:r>
                  <a:rPr lang="en-US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r>
                  <a:rPr lang="en-US" sz="3200" dirty="0"/>
                  <a:t>shown in Fig. below. The starting point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3200" dirty="0"/>
                  <a:t> occurs first in time. Therefore, we say that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leads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32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3200" dirty="0"/>
                  <a:t>by   Ø or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/>
                  <a:t>lags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sz="3200" b="0" i="1" smtClean="0">
                            <a:latin typeface="Cambria Math" panose="02040503050406030204" pitchFamily="18" charset="0"/>
                          </a:rPr>
                          <m:t>2 </m:t>
                        </m:r>
                      </m:sub>
                    </m:sSub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0" smtClean="0">
                        <a:latin typeface="Cambria Math" panose="02040503050406030204" pitchFamily="18" charset="0"/>
                      </a:rPr>
                      <m:t>𝐛𝐲</m:t>
                    </m:r>
                  </m:oMath>
                </a14:m>
                <a:r>
                  <a:rPr lang="en-US" sz="3200" b="1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  <a:r>
                  <a:rPr lang="en-US" sz="3200" dirty="0"/>
                  <a:t>Ø</a:t>
                </a:r>
                <a:endParaRPr lang="en-US" sz="32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b="1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03564"/>
                <a:ext cx="9144000" cy="6054435"/>
              </a:xfrm>
              <a:blipFill>
                <a:blip r:embed="rId2"/>
                <a:stretch>
                  <a:fillRect l="-1333" t="-1410" r="-27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5</a:t>
            </a:fld>
            <a:endParaRPr lang="en-US" altLang="en-T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43229"/>
            <a:ext cx="9143999" cy="3276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7525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775854"/>
                <a:ext cx="9144000" cy="6082145"/>
              </a:xfrm>
            </p:spPr>
            <p:txBody>
              <a:bodyPr/>
              <a:lstStyle/>
              <a:p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When comparing two sinusoids, it is expedient to express both as either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sine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or </a:t>
                </a:r>
                <a:r>
                  <a:rPr lang="en-US" sz="3200" b="1" i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</a:t>
                </a: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with positive amplitude</a:t>
                </a: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3200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phase angle between </a:t>
                </a:r>
              </a:p>
              <a:p>
                <a:pPr marL="275034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-15 cos(wt +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𝟑𝟎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e>
                      <m:sub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𝟐</m:t>
                        </m:r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a:rPr lang="en-US" sz="3200" b="1" i="0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𝟏𝟓𝐬𝐢𝐧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</m:fName>
                      <m:e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𝒘𝒕</m:t>
                        </m:r>
                        <m:r>
                          <a:rPr lang="en-US" sz="32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­</m:t>
                        </m:r>
                      </m:e>
                    </m:func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­-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𝟏𝟎</m:t>
                        </m:r>
                      </m:e>
                      <m:sup>
                        <m:r>
                          <a:rPr lang="en-US" sz="3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𝟎</m:t>
                        </m:r>
                      </m:sup>
                    </m:sSup>
                  </m:oMath>
                </a14:m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and</a:t>
                </a:r>
              </a:p>
              <a:p>
                <a:pPr marL="275034" lvl="1" indent="0">
                  <a:buNone/>
                </a:pPr>
                <a:r>
                  <a:rPr lang="en-US" sz="32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which sinusoid is leading.</a:t>
                </a:r>
              </a:p>
              <a:p>
                <a:pPr marL="275034" lvl="1" indent="0">
                  <a:buNone/>
                </a:pPr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pPr marL="0" indent="0">
                  <a:buNone/>
                </a:pPr>
                <a:r>
                  <a:rPr lang="en-US" sz="3200" dirty="0"/>
                  <a:t>      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775854"/>
                <a:ext cx="9144000" cy="6082145"/>
              </a:xfrm>
              <a:blipFill>
                <a:blip r:embed="rId2"/>
                <a:stretch>
                  <a:fillRect l="-1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6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680040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249382" y="595315"/>
                <a:ext cx="9144000" cy="5943599"/>
              </a:xfrm>
            </p:spPr>
            <p:txBody>
              <a:bodyPr/>
              <a:lstStyle/>
              <a:p>
                <a:pPr>
                  <a:buFont typeface="Wingdings" panose="05000000000000000000" pitchFamily="2" charset="2"/>
                  <a:buChar char="v"/>
                </a:pPr>
                <a:r>
                  <a:rPr lang="en-US" sz="3200" dirty="0">
                    <a:solidFill>
                      <a:srgbClr val="0070C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Phasors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 phasor is a complex number that represents the amplitude and phase of a sinusoid.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phasors provide a simple means of analyzing linear circuits excited by sinusoidal sources.</a:t>
                </a:r>
              </a:p>
              <a:p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Mathematically.</a:t>
                </a:r>
              </a:p>
              <a:p>
                <a:pPr marL="0" indent="0">
                  <a:buNone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z = x +jy ………………… Rectangular form</a:t>
                </a:r>
              </a:p>
              <a:p>
                <a:pPr marL="0" indent="0">
                  <a:buNone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z =r</a:t>
                </a:r>
                <a14:m>
                  <m:oMath xmlns:m="http://schemas.openxmlformats.org/officeDocument/2006/math">
                    <m:r>
                      <a:rPr lang="en-US" sz="3200" b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Ø  …………….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𝒑𝒐𝒍𝒂𝒓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200" b="1" i="1" smtClean="0">
                        <a:latin typeface="Cambria Math" panose="02040503050406030204" pitchFamily="18" charset="0"/>
                      </a:rPr>
                      <m:t>𝒇𝒐𝒓𝒎</m:t>
                    </m:r>
                  </m:oMath>
                </a14:m>
                <a:endParaRPr lang="en-US" sz="32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z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𝒓𝒆</m:t>
                        </m:r>
                      </m:e>
                      <m:sup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𝒋</m:t>
                        </m:r>
                        <m:r>
                          <a:rPr lang="en-US" sz="3200" b="1" i="1" smtClean="0">
                            <a:latin typeface="Cambria Math" panose="02040503050406030204" pitchFamily="18" charset="0"/>
                          </a:rPr>
                          <m:t>Ø</m:t>
                        </m:r>
                      </m:sup>
                    </m:sSup>
                  </m:oMath>
                </a14:m>
                <a:r>
                  <a:rPr lang="en-US" sz="32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………………….. exponential form</a:t>
                </a:r>
              </a:p>
              <a:p>
                <a:pPr marL="0" indent="0">
                  <a:buNone/>
                </a:pPr>
                <a:r>
                  <a:rPr lang="en-US" sz="32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9382" y="595315"/>
                <a:ext cx="9144000" cy="5943599"/>
              </a:xfrm>
              <a:blipFill>
                <a:blip r:embed="rId2"/>
                <a:stretch>
                  <a:fillRect l="-1400" t="-1436" r="-11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7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067359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4399" y="969818"/>
            <a:ext cx="7633855" cy="5386535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8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163005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983673"/>
                <a:ext cx="9144000" cy="5902036"/>
              </a:xfrm>
            </p:spPr>
            <p:txBody>
              <a:bodyPr/>
              <a:lstStyle/>
              <a:p>
                <a:pPr algn="just"/>
                <a:r>
                  <a:rPr lang="en-US" sz="6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Example.</a:t>
                </a:r>
              </a:p>
              <a:p>
                <a:pPr marL="457200" indent="-457200" algn="just">
                  <a:buFont typeface="+mj-lt"/>
                  <a:buAutoNum type="arabicPeriod"/>
                </a:pPr>
                <a:r>
                  <a:rPr lang="en-US" sz="4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Transform these sinusoids to phasors</a:t>
                </a:r>
                <a:r>
                  <a:rPr lang="en-US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0" indent="0" algn="just">
                  <a:buNone/>
                </a:pPr>
                <a:r>
                  <a:rPr lang="fr-FR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 i= 4 sin(30t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)A ,  V =6 cos(50t +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fr-FR" sz="3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30</m:t>
                        </m:r>
                      </m:e>
                      <m:sup>
                        <m:r>
                          <a:rPr lang="en-US" sz="32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lang="fr-FR" sz="3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V</a:t>
                </a:r>
                <a:endParaRPr lang="en-US" sz="3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983673"/>
                <a:ext cx="9144000" cy="5902036"/>
              </a:xfrm>
              <a:blipFill>
                <a:blip r:embed="rId2"/>
                <a:stretch>
                  <a:fillRect l="-3600" t="-3509" r="-4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9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33708858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8982"/>
            <a:ext cx="9144000" cy="5999017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Phasor Relationships for Circuit Elements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§"/>
            </a:pP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10</a:t>
            </a:fld>
            <a:endParaRPr lang="en-US" altLang="en-TZ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EE933F-1F8C-4BFB-A0D3-2057BED90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782" y="1731818"/>
            <a:ext cx="8146473" cy="4488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131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6C4E3F8-6347-4448-8672-04D59D450D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564" y="431514"/>
            <a:ext cx="9102436" cy="6289963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265930-9F44-491E-AD64-BF3BACACF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11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23342367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119FE-8158-4BBE-9792-A2E2B5A9D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1" y="872836"/>
            <a:ext cx="7952509" cy="5666078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1.Find V(t) and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(t) in the circuit shown below.where by V(s) ₌10Cos4t.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E4E6E6-2325-4DFD-BB25-882FF764C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12</a:t>
            </a:fld>
            <a:endParaRPr lang="en-US" altLang="en-TZ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E8ED1-DE48-497C-AB19-DBFCB58CCE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775" y="2978727"/>
            <a:ext cx="5834280" cy="337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1566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5D3B21-34A4-4EF0-89BE-08CD46B713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1673" y="886691"/>
            <a:ext cx="8922327" cy="5971309"/>
          </a:xfrm>
        </p:spPr>
        <p:txBody>
          <a:bodyPr/>
          <a:lstStyle/>
          <a:p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2.(a) Determine The Input Impedance of the circuit below. Assume that the circuit operates at w=60rad/sec.</a:t>
            </a:r>
          </a:p>
          <a:p>
            <a:endParaRPr lang="en-US" sz="28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8AADB3-8179-4396-A25E-58CEF11D9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13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5089B3E-DDFF-4F00-BADA-2D88C97C6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308" y="2769177"/>
            <a:ext cx="7093528" cy="28159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4686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DEF484-3846-42D2-9198-B5D8D0415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31273"/>
            <a:ext cx="9144000" cy="6026727"/>
          </a:xfrm>
        </p:spPr>
        <p:txBody>
          <a:bodyPr/>
          <a:lstStyle/>
          <a:p>
            <a:r>
              <a:rPr lang="en-US" dirty="0"/>
              <a:t>(b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take w=30rad/sec.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108CC6-0159-4544-AB80-6AAFE1A3A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14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01F631-6ABB-47A8-AAB2-23ABBFFFBF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965" y="2307937"/>
            <a:ext cx="7398326" cy="3067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3538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154FE-8931-4774-9B58-57D1AAC1D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8545" y="872836"/>
            <a:ext cx="9005455" cy="59851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800" b="1" dirty="0">
                <a:solidFill>
                  <a:srgbClr val="FF0000"/>
                </a:solidFill>
              </a:rPr>
              <a:t>Assignment. (group)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1.State the following theorem ;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FF0000"/>
                </a:solidFill>
              </a:rPr>
              <a:t>Thevenin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FF0000"/>
                </a:solidFill>
              </a:rPr>
              <a:t>Norton</a:t>
            </a:r>
          </a:p>
          <a:p>
            <a:pPr marL="571500" indent="-571500">
              <a:buFont typeface="+mj-lt"/>
              <a:buAutoNum type="romanLcPeriod"/>
            </a:pPr>
            <a:r>
              <a:rPr lang="en-US" sz="2800" b="1" dirty="0">
                <a:solidFill>
                  <a:srgbClr val="FF0000"/>
                </a:solidFill>
              </a:rPr>
              <a:t>Superposition.</a:t>
            </a:r>
          </a:p>
          <a:p>
            <a:pPr marL="0" indent="0">
              <a:buNone/>
            </a:pPr>
            <a:r>
              <a:rPr lang="en-US" sz="2800" b="1" dirty="0">
                <a:solidFill>
                  <a:srgbClr val="FF0000"/>
                </a:solidFill>
              </a:rPr>
              <a:t>2.Using Superposition theorem to calculate the value of current in the circuit below.</a:t>
            </a:r>
          </a:p>
          <a:p>
            <a:pPr marL="571500" indent="-571500">
              <a:buFont typeface="+mj-lt"/>
              <a:buAutoNum type="romanLcPeriod"/>
            </a:pPr>
            <a:endParaRPr lang="en-US" sz="2800" b="1" dirty="0">
              <a:solidFill>
                <a:srgbClr val="FF0000"/>
              </a:solidFill>
            </a:endParaRPr>
          </a:p>
          <a:p>
            <a:pPr marL="571500" indent="-571500">
              <a:buFont typeface="+mj-lt"/>
              <a:buAutoNum type="romanLcPeriod"/>
            </a:pPr>
            <a:endParaRPr lang="en-US" sz="2800" b="1" dirty="0">
              <a:solidFill>
                <a:srgbClr val="FF0000"/>
              </a:solidFill>
            </a:endParaRPr>
          </a:p>
          <a:p>
            <a:pPr marL="571500" indent="-571500">
              <a:buFont typeface="+mj-lt"/>
              <a:buAutoNum type="romanLcPeriod"/>
            </a:pPr>
            <a:endParaRPr lang="en-US" sz="2800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sz="2800" b="1" dirty="0">
              <a:solidFill>
                <a:srgbClr val="FF0000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9B7255-97AE-410C-9EEE-C62961D4B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15</a:t>
            </a:fld>
            <a:endParaRPr lang="en-US" altLang="en-TZ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079EC31-CBFC-4DBB-977F-B568B1FDFF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445144"/>
            <a:ext cx="6580909" cy="1788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5679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BC25B-4B9D-485F-B50E-E9FB0953161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845127"/>
                <a:ext cx="9144000" cy="6137564"/>
              </a:xfrm>
            </p:spPr>
            <p:txBody>
              <a:bodyPr/>
              <a:lstStyle/>
              <a:p>
                <a:r>
                  <a:rPr lang="en-US" dirty="0">
                    <a:solidFill>
                      <a:srgbClr val="FF0000"/>
                    </a:solidFill>
                  </a:rPr>
                  <a:t>3.</a:t>
                </a:r>
                <a:r>
                  <a:rPr lang="en-US" sz="1800" b="0" i="0" dirty="0">
                    <a:solidFill>
                      <a:srgbClr val="FF0000"/>
                    </a:solidFill>
                    <a:effectLst/>
                    <a:latin typeface="Times-Roman"/>
                  </a:rPr>
                  <a:t> </a:t>
                </a:r>
                <a:r>
                  <a:rPr lang="en-US" sz="24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Using Thevenin’s theorem, find the equivalent circuit to the left of the terminals in the circuit below to obtain;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𝑻𝑯</m:t>
                        </m:r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,</m:t>
                        </m:r>
                      </m:sub>
                    </m:sSub>
                  </m:oMath>
                </a14:m>
                <a:r>
                  <a:rPr lang="en-US" sz="24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𝑻𝑯</m:t>
                        </m:r>
                      </m:sub>
                    </m:sSub>
                  </m:oMath>
                </a14:m>
                <a:r>
                  <a:rPr lang="en-US" sz="24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Then find </a:t>
                </a:r>
                <a:r>
                  <a:rPr lang="en-US" sz="24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.</a:t>
                </a:r>
              </a:p>
              <a:p>
                <a:pPr marL="0" indent="0">
                  <a:buNone/>
                </a:pPr>
                <a:br>
                  <a:rPr lang="en-US" dirty="0">
                    <a:solidFill>
                      <a:srgbClr val="FF0000"/>
                    </a:solidFill>
                  </a:rPr>
                </a:b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4. </a:t>
                </a: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State maximum power transfer of an electrical circuit of the load.</a:t>
                </a: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Draw its equivalent circuit, </a:t>
                </a: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Sketch the </a:t>
                </a:r>
                <a:r>
                  <a:rPr lang="en-US" sz="2400" b="1" i="0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Power delivered to the load  as a function of </a:t>
                </a:r>
                <a:r>
                  <a:rPr lang="en-US" sz="2400" b="1" i="1" dirty="0">
                    <a:solidFill>
                      <a:srgbClr val="FF0000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RL</a:t>
                </a:r>
                <a:r>
                  <a:rPr lang="en-US" sz="2400" b="1" i="0" dirty="0">
                    <a:solidFill>
                      <a:srgbClr val="24202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  <a:r>
                  <a:rPr lang="en-US" sz="24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  <a:p>
                <a:pPr marL="514350" indent="-514350">
                  <a:buFont typeface="+mj-lt"/>
                  <a:buAutoNum type="romanLcPeriod"/>
                </a:pPr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Show that 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sz="24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𝒎𝒂𝒙</m:t>
                        </m:r>
                      </m:sub>
                    </m:sSub>
                  </m:oMath>
                </a14:m>
                <a:r>
                  <a:rPr lang="en-US" sz="2400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Sup>
                          <m:sSubSupPr>
                            <m:ctrlPr>
                              <a:rPr lang="en-US" sz="2400" b="1" i="1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𝑽</m:t>
                            </m:r>
                          </m:e>
                          <m:sub>
                            <m:r>
                              <a:rPr lang="en-US" sz="2400" b="1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𝑻𝑯</m:t>
                            </m:r>
                          </m:sub>
                          <m:sup>
                            <m:r>
                              <a:rPr lang="en-US" sz="2400" b="1" i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𝟐</m:t>
                            </m:r>
                          </m:sup>
                        </m:sSubSup>
                        <m:r>
                          <m:rPr>
                            <m:nor/>
                          </m:rPr>
                          <a:rPr lang="en-US" sz="2400" b="1">
                            <a:solidFill>
                              <a:srgbClr val="FF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 </m:t>
                        </m:r>
                      </m:num>
                      <m:den>
                        <m:r>
                          <a:rPr lang="en-US" sz="24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𝟒</m:t>
                        </m:r>
                        <m:sSub>
                          <m:sSubPr>
                            <m:ctrlP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𝑹</m:t>
                            </m:r>
                          </m:e>
                          <m:sub>
                            <m:r>
                              <a:rPr lang="en-US" sz="2400" b="1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𝑻𝑯</m:t>
                            </m:r>
                          </m:sub>
                        </m:sSub>
                      </m:den>
                    </m:f>
                  </m:oMath>
                </a14:m>
                <a:br>
                  <a:rPr 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endParaRPr lang="en-US" b="1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14350" indent="-514350">
                  <a:buFont typeface="+mj-lt"/>
                  <a:buAutoNum type="romanLcPeriod"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pPr marL="0" indent="0">
                  <a:buNone/>
                </a:pPr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  <a:p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DCBC25B-4B9D-485F-B50E-E9FB0953161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845127"/>
                <a:ext cx="9144000" cy="6137564"/>
              </a:xfrm>
              <a:blipFill>
                <a:blip r:embed="rId2"/>
                <a:stretch>
                  <a:fillRect l="-800" t="-795" r="-5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279BFC-33A7-4EF6-A57E-4E52B47F3E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16</a:t>
            </a:fld>
            <a:endParaRPr lang="en-US" altLang="en-TZ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BD2607-EB0E-4BF9-8A3B-AE21B15691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06" y="2111951"/>
            <a:ext cx="6429376" cy="221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060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0126A-ADC1-4896-9A37-A4C432A77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868365"/>
            <a:ext cx="9144000" cy="5989635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  <a:p>
            <a:pPr>
              <a:buFont typeface="Wingdings" panose="05000000000000000000" pitchFamily="2" charset="2"/>
              <a:buChar char="v"/>
            </a:pPr>
            <a:r>
              <a:rPr lang="en-US" sz="6000" dirty="0">
                <a:solidFill>
                  <a:schemeClr val="tx2"/>
                </a:solidFill>
                <a:latin typeface="Algerian" panose="04020705040A02060702" pitchFamily="82" charset="0"/>
              </a:rPr>
              <a:t>………..GOOD LUCK………</a:t>
            </a:r>
          </a:p>
          <a:p>
            <a:pPr>
              <a:buFont typeface="Wingdings" panose="05000000000000000000" pitchFamily="2" charset="2"/>
              <a:buChar char="v"/>
            </a:pPr>
            <a:endParaRPr lang="en-US" sz="6000" dirty="0">
              <a:solidFill>
                <a:schemeClr val="tx2"/>
              </a:solidFill>
              <a:latin typeface="Algerian" panose="04020705040A02060702" pitchFamily="82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6000" dirty="0">
                <a:solidFill>
                  <a:schemeClr val="tx2"/>
                </a:solidFill>
                <a:latin typeface="Algerian" panose="04020705040A02060702" pitchFamily="82" charset="0"/>
              </a:rPr>
              <a:t>THE END OF LECTURE TWO.</a:t>
            </a:r>
          </a:p>
          <a:p>
            <a:pPr>
              <a:buFont typeface="Wingdings" panose="05000000000000000000" pitchFamily="2" charset="2"/>
              <a:buChar char="v"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712050-674A-4483-A722-AC1A8EE20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B95F67-BB5D-4FE4-9B45-5A92AB49FC90}" type="slidenum">
              <a:rPr lang="en-US" altLang="en-TZ" smtClean="0"/>
              <a:t>17</a:t>
            </a:fld>
            <a:endParaRPr lang="en-US" altLang="en-TZ"/>
          </a:p>
        </p:txBody>
      </p:sp>
    </p:spTree>
    <p:extLst>
      <p:ext uri="{BB962C8B-B14F-4D97-AF65-F5344CB8AC3E}">
        <p14:creationId xmlns:p14="http://schemas.microsoft.com/office/powerpoint/2010/main" val="402222684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ppt/theme/themeOverride2.xml><?xml version="1.0" encoding="utf-8"?>
<a:themeOverride xmlns:a="http://schemas.openxmlformats.org/drawingml/2006/main">
  <a:clrScheme name="Flow">
    <a:dk1>
      <a:sysClr val="windowText" lastClr="000000"/>
    </a:dk1>
    <a:lt1>
      <a:sysClr val="window" lastClr="FFFFFF"/>
    </a:lt1>
    <a:dk2>
      <a:srgbClr val="04617B"/>
    </a:dk2>
    <a:lt2>
      <a:srgbClr val="DBF5F9"/>
    </a:lt2>
    <a:accent1>
      <a:srgbClr val="0F6FC6"/>
    </a:accent1>
    <a:accent2>
      <a:srgbClr val="009DD9"/>
    </a:accent2>
    <a:accent3>
      <a:srgbClr val="0BD0D9"/>
    </a:accent3>
    <a:accent4>
      <a:srgbClr val="10CF9B"/>
    </a:accent4>
    <a:accent5>
      <a:srgbClr val="7CCA62"/>
    </a:accent5>
    <a:accent6>
      <a:srgbClr val="A5C249"/>
    </a:accent6>
    <a:hlink>
      <a:srgbClr val="E2D700"/>
    </a:hlink>
    <a:folHlink>
      <a:srgbClr val="85DFD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3253</TotalTime>
  <Words>612</Words>
  <Application>Microsoft Office PowerPoint</Application>
  <PresentationFormat>On-screen Show (4:3)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7" baseType="lpstr">
      <vt:lpstr>Algerian</vt:lpstr>
      <vt:lpstr>Arial</vt:lpstr>
      <vt:lpstr>Calibri</vt:lpstr>
      <vt:lpstr>Cambria Math</vt:lpstr>
      <vt:lpstr>Constantia</vt:lpstr>
      <vt:lpstr>Times New Roman</vt:lpstr>
      <vt:lpstr>Times-Roman</vt:lpstr>
      <vt:lpstr>Wingdings</vt:lpstr>
      <vt:lpstr>Wingdings 2</vt:lpstr>
      <vt:lpstr>Flow</vt:lpstr>
      <vt:lpstr>                  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O W N E R</cp:lastModifiedBy>
  <cp:revision>169</cp:revision>
  <dcterms:created xsi:type="dcterms:W3CDTF">2021-10-12T03:25:19Z</dcterms:created>
  <dcterms:modified xsi:type="dcterms:W3CDTF">2023-11-14T11:14:30Z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4a08b7db7474460c9665e327564f0fd0</vt:lpwstr>
  </property>
</Properties>
</file>