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67" r:id="rId2"/>
    <p:sldId id="268" r:id="rId3"/>
    <p:sldId id="269" r:id="rId4"/>
    <p:sldId id="270" r:id="rId5"/>
    <p:sldId id="266" r:id="rId6"/>
  </p:sldIdLst>
  <p:sldSz cx="9144000" cy="6858000" type="screen4x3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3D97D0-7425-4EED-B638-A2BFF299D73F}">
          <p14:sldIdLst>
            <p14:sldId id="267"/>
            <p14:sldId id="268"/>
            <p14:sldId id="269"/>
            <p14:sldId id="270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 W N E R" initials="OWNER" lastIdx="1" clrIdx="0">
    <p:extLst>
      <p:ext uri="{19B8F6BF-5375-455C-9EA6-DF929625EA0E}">
        <p15:presenceInfo xmlns:p15="http://schemas.microsoft.com/office/powerpoint/2012/main" userId="O W N E 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364" autoAdjust="0"/>
  </p:normalViewPr>
  <p:slideViewPr>
    <p:cSldViewPr snapToGrid="0">
      <p:cViewPr varScale="1">
        <p:scale>
          <a:sx n="67" d="100"/>
          <a:sy n="67" d="100"/>
        </p:scale>
        <p:origin x="15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42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0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3429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9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0A14-3483-4285-B5AA-931AE0651600}" type="datetime1">
              <a:rPr lang="en-US" smtClean="0"/>
              <a:t>1/10/2024</a:t>
            </a:fld>
            <a:endParaRPr lang="en-US"/>
          </a:p>
        </p:txBody>
      </p:sp>
      <p:sp>
        <p:nvSpPr>
          <p:cNvPr id="104869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D15ED53B-996B-4378-9C91-896BD38502A8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AE6F-A67B-44C9-9AC6-50088D371ABA}" type="datetime1">
              <a:rPr lang="en-US" smtClean="0"/>
              <a:t>1/10/2024</a:t>
            </a:fld>
            <a:endParaRPr lang="en-US"/>
          </a:p>
        </p:txBody>
      </p:sp>
      <p:sp>
        <p:nvSpPr>
          <p:cNvPr id="104858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42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0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1650">
                <a:solidFill>
                  <a:schemeClr val="tx1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641B-6EDB-4D53-8E2C-9A5FEF4070D9}" type="datetime1">
              <a:rPr lang="en-US" smtClean="0"/>
              <a:t>1/10/2024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1ABFF248-A989-4D8D-B05F-37617110CFF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D27E-6919-4D02-A73B-49222A03FCC1}" type="datetime1">
              <a:rPr lang="en-US" smtClean="0"/>
              <a:t>1/10/2024</a:t>
            </a:fld>
            <a:endParaRPr lang="en-US"/>
          </a:p>
        </p:txBody>
      </p:sp>
      <p:sp>
        <p:nvSpPr>
          <p:cNvPr id="1048751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2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0793-B774-4696-A8C6-8B6889409F16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8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AAEB-6E84-4244-ABAD-B2263C3CF1FF}" type="datetime1">
              <a:rPr lang="en-US" smtClean="0"/>
              <a:t>1/10/2024</a:t>
            </a:fld>
            <a:endParaRPr lang="en-US"/>
          </a:p>
        </p:txBody>
      </p:sp>
      <p:sp>
        <p:nvSpPr>
          <p:cNvPr id="104873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298E-17EE-419C-B1DA-2E7036F0130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7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69A88-7CB7-4212-B83C-03F933A21110}" type="datetime1">
              <a:rPr lang="en-US" smtClean="0"/>
              <a:t>1/10/2024</a:t>
            </a:fld>
            <a:endParaRPr lang="en-US"/>
          </a:p>
        </p:txBody>
      </p:sp>
      <p:sp>
        <p:nvSpPr>
          <p:cNvPr id="104869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5066-385A-4712-B3B6-9A5B1321A3A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33CB-A137-449F-A226-775613DC0A71}" type="datetime1">
              <a:rPr lang="en-US" smtClean="0"/>
              <a:t>1/10/2024</a:t>
            </a:fld>
            <a:endParaRPr lang="en-US"/>
          </a:p>
        </p:txBody>
      </p:sp>
      <p:sp>
        <p:nvSpPr>
          <p:cNvPr id="104873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D2C9E-88E8-43DD-9653-6C1943F77BB4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19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54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050"/>
            </a:lvl1pPr>
            <a:lvl2pPr indent="0" algn="l">
              <a:buNone/>
              <a:defRPr sz="900"/>
            </a:lvl2pPr>
            <a:lvl3pPr indent="0" algn="l">
              <a:buNone/>
              <a:defRPr sz="750"/>
            </a:lvl3pPr>
            <a:lvl4pPr indent="0" algn="l">
              <a:buNone/>
              <a:defRPr sz="675"/>
            </a:lvl4pPr>
            <a:lvl5pPr indent="0" algn="l"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100"/>
            </a:lvl1pPr>
            <a:lvl2pPr>
              <a:defRPr sz="195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44A7-F6EB-437F-8AB7-57EF0FDCE1F8}" type="datetime1">
              <a:rPr lang="en-US" smtClean="0"/>
              <a:t>1/10/2024</a:t>
            </a:fld>
            <a:endParaRPr lang="en-US"/>
          </a:p>
        </p:txBody>
      </p:sp>
      <p:sp>
        <p:nvSpPr>
          <p:cNvPr id="104875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B7BB-B9B6-4EC6-A38E-4F4D80B3AFA3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Snip and Round Single Corner Rectangle 13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0" name="Right Triangle 5"/>
          <p:cNvSpPr/>
          <p:nvPr/>
        </p:nvSpPr>
        <p:spPr>
          <a:xfrm rot="420000" flipV="1">
            <a:off x="8004176" y="5359402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1" name="Freeform 15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2" name="Freeform 16"/>
          <p:cNvSpPr/>
          <p:nvPr/>
        </p:nvSpPr>
        <p:spPr bwMode="auto">
          <a:xfrm flipV="1">
            <a:off x="4381500" y="6219827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lIns="45720" rIns="45720" bIns="45720"/>
          <a:lstStyle>
            <a:lvl1pPr algn="l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188"/>
              </a:spcBef>
              <a:buFontTx/>
              <a:buNone/>
              <a:defRPr sz="975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0B45-595E-4E97-A9CB-DDD48AA7C440}" type="datetime1">
              <a:rPr lang="en-US" smtClean="0"/>
              <a:t>1/10/2024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2"/>
            <a:ext cx="609600" cy="365125"/>
          </a:xfrm>
        </p:spPr>
        <p:txBody>
          <a:bodyPr/>
          <a:lstStyle/>
          <a:p>
            <a:fld id="{43B8A962-D83D-4897-A8B5-1C7B73F65C11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8CA0B-8DCD-4AE3-9E5D-30F930874C94}" type="datetime1">
              <a:rPr lang="en-US" smtClean="0"/>
              <a:t>1/10/2024</a:t>
            </a:fld>
            <a:endParaRPr lang="en-US"/>
          </a:p>
        </p:txBody>
      </p:sp>
      <p:sp>
        <p:nvSpPr>
          <p:cNvPr id="104874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F36CE-58F5-40DE-B895-8959E01F79F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5C7E-6C26-4562-95EB-6C3403AAB1AB}" type="datetime1">
              <a:rPr lang="en-US" smtClean="0"/>
              <a:t>1/10/2024</a:t>
            </a:fld>
            <a:endParaRPr lang="en-US"/>
          </a:p>
        </p:txBody>
      </p:sp>
      <p:sp>
        <p:nvSpPr>
          <p:cNvPr id="104870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05E5-C8A0-4DDF-A1E8-013BBAD9731E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6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7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8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E302-3999-4873-BE4B-33FFE6A45501}" type="datetime1">
              <a:rPr lang="en-US" smtClean="0"/>
              <a:t>1/10/2024</a:t>
            </a:fld>
            <a:endParaRPr lang="en-US"/>
          </a:p>
        </p:txBody>
      </p:sp>
      <p:sp>
        <p:nvSpPr>
          <p:cNvPr id="104874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01D2-5FDB-428E-B6DC-2B2A69C1266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9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1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97EF-51D5-45D5-AD6D-B3E5703E720E}" type="datetime1">
              <a:rPr lang="en-US" smtClean="0"/>
              <a:t>1/10/2024</a:t>
            </a:fld>
            <a:endParaRPr lang="en-US"/>
          </a:p>
        </p:txBody>
      </p:sp>
      <p:sp>
        <p:nvSpPr>
          <p:cNvPr id="104870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3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597DA-B642-4C4B-93B6-CE1E2C30D46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title style</a:t>
            </a:r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5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text styles</a:t>
            </a:r>
          </a:p>
          <a:p>
            <a:pPr lvl="1"/>
            <a:r>
              <a:rPr lang="en-US" altLang="en-TZ"/>
              <a:t>Second level</a:t>
            </a:r>
          </a:p>
          <a:p>
            <a:pPr lvl="2"/>
            <a:r>
              <a:rPr lang="en-US" altLang="en-TZ"/>
              <a:t>Third level</a:t>
            </a:r>
          </a:p>
          <a:p>
            <a:pPr lvl="3"/>
            <a:r>
              <a:rPr lang="en-US" altLang="en-TZ"/>
              <a:t>Fourth level</a:t>
            </a:r>
          </a:p>
          <a:p>
            <a:pPr lvl="4"/>
            <a:r>
              <a:rPr lang="en-US" altLang="en-TZ"/>
              <a:t>Fifth level</a:t>
            </a:r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fld id="{0695FB56-EA84-4844-9BFB-327161247F83}" type="datetime1">
              <a:rPr lang="en-US" smtClean="0"/>
              <a:t>1/10/2024</a:t>
            </a:fld>
            <a:endParaRPr lang="en-US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2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2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045C75"/>
                </a:solidFill>
              </a:defRPr>
            </a:lvl1pPr>
          </a:lstStyle>
          <a:p>
            <a:fld id="{F2709C22-77CA-47A0-B90A-4ACEF2B64A71}" type="slidenum">
              <a:rPr lang="en-US" altLang="en-TZ"/>
              <a:t>‹#›</a:t>
            </a:fld>
            <a:endParaRPr lang="en-US" altLang="en-TZ"/>
          </a:p>
        </p:txBody>
      </p:sp>
      <p:grpSp>
        <p:nvGrpSpPr>
          <p:cNvPr id="12" name="Group 1"/>
          <p:cNvGrpSpPr/>
          <p:nvPr/>
        </p:nvGrpSpPr>
        <p:grpSpPr bwMode="auto">
          <a:xfrm>
            <a:off x="-19049" y="203200"/>
            <a:ext cx="9180513" cy="647700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75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9pPr>
    </p:titleStyle>
    <p:bodyStyle>
      <a:lvl1pPr marL="204788" indent="-204788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18454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454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890588" indent="-157163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096566" indent="-157163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57734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indent="-1371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37160" algn="l" rtl="0" eaLnBrk="1" latinLnBrk="0" hangingPunct="1">
        <a:spcBef>
          <a:spcPct val="20000"/>
        </a:spcBef>
        <a:buClr>
          <a:schemeClr val="tx2"/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1660" indent="-13716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0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55816-79E9-4C24-8DBD-269E7F193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7314"/>
            <a:ext cx="9144000" cy="6030685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 CIRCUIT</a:t>
            </a:r>
            <a:r>
              <a:rPr lang="en-US" sz="3200" dirty="0">
                <a:solidFill>
                  <a:srgbClr val="0070C0"/>
                </a:solidFill>
              </a:rPr>
              <a:t>.</a:t>
            </a:r>
          </a:p>
          <a:p>
            <a:r>
              <a:rPr lang="en-US" sz="3200" i="1" dirty="0">
                <a:solidFill>
                  <a:srgbClr val="0070C0"/>
                </a:solidFill>
              </a:rPr>
              <a:t>What is the Filter ?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  <a:latin typeface="ItcKabel-Book"/>
              </a:rPr>
              <a:t>A </a:t>
            </a:r>
            <a:r>
              <a:rPr lang="en-US" sz="3200" b="1" dirty="0">
                <a:solidFill>
                  <a:srgbClr val="0070C0"/>
                </a:solidFill>
                <a:latin typeface="ItcKabel-Medium"/>
              </a:rPr>
              <a:t>filter </a:t>
            </a:r>
            <a:r>
              <a:rPr lang="en-US" sz="3200" dirty="0">
                <a:solidFill>
                  <a:srgbClr val="FF0000"/>
                </a:solidFill>
                <a:latin typeface="ItcKabel-Book"/>
              </a:rPr>
              <a:t>is a circuit that is designed to pass signals with desired frequencies and reject or attenuate other signals.</a:t>
            </a:r>
            <a:endParaRPr lang="en-US" sz="3200" dirty="0"/>
          </a:p>
          <a:p>
            <a:r>
              <a:rPr lang="en-US" sz="3200" b="1" i="0" dirty="0">
                <a:solidFill>
                  <a:srgbClr val="0070C0"/>
                </a:solidFill>
                <a:effectLst/>
                <a:latin typeface="Times-Roman"/>
              </a:rPr>
              <a:t>As a frequency-selective device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, a filter can be used to limit the frequency spectrum of a signal to some specified band of frequencies. </a:t>
            </a: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Filters are the circuits used in radio and TV receivers to allow us to select one desired signal out of a multitude of broadcast signals in the environment.</a:t>
            </a:r>
            <a:r>
              <a:rPr lang="en-US" sz="3200" dirty="0"/>
              <a:t> </a:t>
            </a:r>
            <a:br>
              <a:rPr lang="en-US" sz="3200" dirty="0"/>
            </a:br>
            <a:br>
              <a:rPr lang="en-US" sz="3200" dirty="0"/>
            </a:br>
            <a:endParaRPr lang="en-US" sz="3200" dirty="0">
              <a:solidFill>
                <a:srgbClr val="0070C0"/>
              </a:solidFill>
            </a:endParaRPr>
          </a:p>
          <a:p>
            <a:endParaRPr lang="en-US" sz="3200" dirty="0"/>
          </a:p>
          <a:p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BBBD9-377B-4A98-B85B-6E49011A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6466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172EB-5A83-44E5-ABC8-BDF3B2FB6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2800"/>
            <a:ext cx="9144000" cy="60451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Filter Circuit can be classified as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Filter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Filter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filter is a </a:t>
            </a:r>
            <a:r>
              <a:rPr lang="en-US" sz="40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passive filter 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it consists of only passive elements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And,</a:t>
            </a:r>
          </a:p>
          <a:p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said to be an </a:t>
            </a:r>
            <a:r>
              <a:rPr lang="en-US" sz="40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filter 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it consists of active elements (such as transistors and Opamps  in addition to passive elements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40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EB9D6-747F-469E-95F3-D76CC1B7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224099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A9CD5-40F3-4386-994F-2A4D0FC30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19314"/>
            <a:ext cx="9144000" cy="6538685"/>
          </a:xfrm>
        </p:spPr>
        <p:txBody>
          <a:bodyPr/>
          <a:lstStyle/>
          <a:p>
            <a:r>
              <a:rPr lang="en-US" sz="3200" dirty="0">
                <a:solidFill>
                  <a:srgbClr val="242021"/>
                </a:solidFill>
                <a:latin typeface="Times-Roman"/>
              </a:rPr>
              <a:t>T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here are four types of filters whether passive or Active. Which are;</a:t>
            </a:r>
            <a:r>
              <a:rPr lang="en-US" sz="3200" dirty="0"/>
              <a:t> </a:t>
            </a: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1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Times-Roman"/>
              </a:rPr>
              <a:t>. A </a:t>
            </a:r>
            <a:r>
              <a:rPr lang="en-US" sz="3200" b="0" i="1" dirty="0">
                <a:solidFill>
                  <a:srgbClr val="FF0000"/>
                </a:solidFill>
                <a:effectLst/>
                <a:latin typeface="Times-Italic"/>
              </a:rPr>
              <a:t>lowpass filter</a:t>
            </a:r>
            <a:r>
              <a:rPr lang="en-US" sz="3200" b="0" i="1" dirty="0">
                <a:solidFill>
                  <a:srgbClr val="242021"/>
                </a:solidFill>
                <a:effectLst/>
                <a:latin typeface="Times-Italic"/>
              </a:rPr>
              <a:t>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passes low frequencies and stops high frequencies, </a:t>
            </a: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2.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Times-Roman"/>
              </a:rPr>
              <a:t>A </a:t>
            </a:r>
            <a:r>
              <a:rPr lang="en-US" sz="3200" b="0" i="1" dirty="0">
                <a:solidFill>
                  <a:srgbClr val="FF0000"/>
                </a:solidFill>
                <a:effectLst/>
                <a:latin typeface="Times-Italic"/>
              </a:rPr>
              <a:t>highpass filter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passes high frequencies and rejects low frequencies, </a:t>
            </a: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3.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Times-Roman"/>
              </a:rPr>
              <a:t>A </a:t>
            </a:r>
            <a:r>
              <a:rPr lang="en-US" sz="3200" b="0" i="1" dirty="0">
                <a:solidFill>
                  <a:srgbClr val="FF0000"/>
                </a:solidFill>
                <a:effectLst/>
                <a:latin typeface="Times-Italic"/>
              </a:rPr>
              <a:t>bandpass filter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passes frequencies within a frequency band and blocks or attenuates frequencies outside the band, </a:t>
            </a: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 4.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Times-Roman"/>
              </a:rPr>
              <a:t>A </a:t>
            </a:r>
            <a:r>
              <a:rPr lang="en-US" sz="3200" b="0" i="1" dirty="0">
                <a:solidFill>
                  <a:srgbClr val="FF0000"/>
                </a:solidFill>
                <a:effectLst/>
                <a:latin typeface="Times-Italic"/>
              </a:rPr>
              <a:t>bandstop filter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passes frequencies outside a frequency band and blocks or attenuates frequencies within the band, as shown ideally</a:t>
            </a:r>
            <a:r>
              <a:rPr lang="en-US" sz="3200" dirty="0"/>
              <a:t> </a:t>
            </a:r>
            <a:br>
              <a:rPr lang="en-US" sz="3200" dirty="0"/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FB597-736E-4561-8391-E9961967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3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41866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D02D0-2F40-4657-B2F7-04ADDBE7E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3771"/>
            <a:ext cx="9144000" cy="60742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655670"/>
                </a:solidFill>
                <a:latin typeface="ItcKabel-Medium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ItcKabel-Medium"/>
              </a:rPr>
              <a:t>Lowpass</a:t>
            </a:r>
            <a:r>
              <a:rPr lang="en-US" sz="3200" b="1" i="0" dirty="0">
                <a:solidFill>
                  <a:schemeClr val="accent1"/>
                </a:solidFill>
                <a:effectLst/>
                <a:latin typeface="ItcKabel-Medium"/>
              </a:rPr>
              <a:t> Filter</a:t>
            </a:r>
            <a:r>
              <a:rPr lang="en-US" sz="3200" b="0" i="0" dirty="0">
                <a:solidFill>
                  <a:srgbClr val="655670"/>
                </a:solidFill>
                <a:effectLst/>
                <a:latin typeface="ItcKabel-Medium"/>
              </a:rPr>
              <a:t>.</a:t>
            </a:r>
            <a:endParaRPr lang="en-US" sz="3200" b="0" i="0" dirty="0">
              <a:solidFill>
                <a:srgbClr val="242021"/>
              </a:solidFill>
              <a:effectLst/>
              <a:latin typeface="Times-Roman"/>
            </a:endParaRPr>
          </a:p>
          <a:p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A typical lowpass filter is formed when the output of an </a:t>
            </a:r>
            <a:r>
              <a:rPr lang="en-US" sz="3200" b="0" i="1" dirty="0">
                <a:solidFill>
                  <a:srgbClr val="242021"/>
                </a:solidFill>
                <a:effectLst/>
                <a:latin typeface="Times-Italic"/>
              </a:rPr>
              <a:t>RC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-Roman"/>
              </a:rPr>
              <a:t>circuit is taken off the capacitor . The transfer function</a:t>
            </a:r>
            <a:r>
              <a:rPr lang="en-US" sz="3200" dirty="0"/>
              <a:t> of the figure below is obtained as;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19866-A989-407F-81C2-6A1FC163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4</a:t>
            </a:fld>
            <a:endParaRPr lang="en-US" altLang="en-TZ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B91193-AF86-4153-BE24-20B1ADEE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68" y="3067276"/>
            <a:ext cx="3120118" cy="150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E9C2-6927-4517-BF6F-A3E3D434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6000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54B0F-E38E-40E9-BB2C-3D79B114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5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8678408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25078</TotalTime>
  <Words>286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Algerian</vt:lpstr>
      <vt:lpstr>Arial</vt:lpstr>
      <vt:lpstr>Calibri</vt:lpstr>
      <vt:lpstr>Constantia</vt:lpstr>
      <vt:lpstr>ItcKabel-Book</vt:lpstr>
      <vt:lpstr>ItcKabel-Medium</vt:lpstr>
      <vt:lpstr>Times New Roman</vt:lpstr>
      <vt:lpstr>Times-Italic</vt:lpstr>
      <vt:lpstr>Times-Roman</vt:lpstr>
      <vt:lpstr>Wingdings</vt:lpstr>
      <vt:lpstr>Wingdings 2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O W N E R</cp:lastModifiedBy>
  <cp:revision>284</cp:revision>
  <dcterms:created xsi:type="dcterms:W3CDTF">2021-10-12T03:25:19Z</dcterms:created>
  <dcterms:modified xsi:type="dcterms:W3CDTF">2024-01-11T06:58:28Z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4a08b7db7474460c9665e327564f0fd0</vt:lpwstr>
  </property>
</Properties>
</file>