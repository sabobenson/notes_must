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2"/>
  </p:sldMasterIdLst>
  <p:notesMasterIdLst>
    <p:notesMasterId r:id="rId25"/>
  </p:notesMasterIdLst>
  <p:handoutMasterIdLst>
    <p:handoutMasterId r:id="rId26"/>
  </p:handoutMasterIdLst>
  <p:sldIdLst>
    <p:sldId id="494" r:id="rId3"/>
    <p:sldId id="497" r:id="rId4"/>
    <p:sldId id="495" r:id="rId5"/>
    <p:sldId id="474" r:id="rId6"/>
    <p:sldId id="477" r:id="rId7"/>
    <p:sldId id="476" r:id="rId8"/>
    <p:sldId id="479" r:id="rId9"/>
    <p:sldId id="484" r:id="rId10"/>
    <p:sldId id="485" r:id="rId11"/>
    <p:sldId id="478" r:id="rId12"/>
    <p:sldId id="480" r:id="rId13"/>
    <p:sldId id="481" r:id="rId14"/>
    <p:sldId id="482" r:id="rId15"/>
    <p:sldId id="483" r:id="rId16"/>
    <p:sldId id="486" r:id="rId17"/>
    <p:sldId id="489" r:id="rId18"/>
    <p:sldId id="490" r:id="rId19"/>
    <p:sldId id="488" r:id="rId20"/>
    <p:sldId id="491" r:id="rId21"/>
    <p:sldId id="492" r:id="rId22"/>
    <p:sldId id="493" r:id="rId23"/>
    <p:sldId id="496" r:id="rId2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5pPr>
    <a:lvl6pPr marL="2286000" algn="r" defTabSz="914400" rtl="1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6pPr>
    <a:lvl7pPr marL="2743200" algn="r" defTabSz="914400" rtl="1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7pPr>
    <a:lvl8pPr marL="3200400" algn="r" defTabSz="914400" rtl="1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8pPr>
    <a:lvl9pPr marL="3657600" algn="r" defTabSz="914400" rtl="1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9535C3C5-BE2C-4086-B0A4-610FE2C96700}">
          <p14:sldIdLst>
            <p14:sldId id="494"/>
            <p14:sldId id="497"/>
            <p14:sldId id="495"/>
          </p14:sldIdLst>
        </p14:section>
        <p14:section name="Untitled Section" id="{EED3F57F-311D-4973-A402-180BCF12FD80}">
          <p14:sldIdLst>
            <p14:sldId id="474"/>
            <p14:sldId id="477"/>
            <p14:sldId id="476"/>
            <p14:sldId id="479"/>
            <p14:sldId id="484"/>
            <p14:sldId id="485"/>
            <p14:sldId id="478"/>
            <p14:sldId id="480"/>
            <p14:sldId id="481"/>
            <p14:sldId id="482"/>
            <p14:sldId id="483"/>
            <p14:sldId id="486"/>
            <p14:sldId id="489"/>
            <p14:sldId id="490"/>
            <p14:sldId id="488"/>
            <p14:sldId id="491"/>
            <p14:sldId id="492"/>
            <p14:sldId id="493"/>
            <p14:sldId id="49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pos="144">
          <p15:clr>
            <a:srgbClr val="A4A3A4"/>
          </p15:clr>
        </p15:guide>
        <p15:guide id="4" pos="561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1074" y="72"/>
      </p:cViewPr>
      <p:guideLst>
        <p:guide orient="horz" pos="2160"/>
        <p:guide pos="2880"/>
        <p:guide pos="144"/>
        <p:guide pos="56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06A07-A8E5-49B1-AF07-1679A98A3D41}" type="datetimeFigureOut">
              <a:rPr lang="en-US" smtClean="0"/>
              <a:pPr/>
              <a:t>12/6/2022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458821-D0FC-41FC-937E-9B55FBE889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81491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638A1086-1DB1-47FB-BE82-79F8F86C00FE}" type="datetimeFigureOut">
              <a:rPr lang="en-US"/>
              <a:pPr>
                <a:defRPr/>
              </a:pPr>
              <a:t>12/6/2022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68A17F8F-E55B-46EF-8931-D3D2997A21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401590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arth Glass against white,loop.wmv">
            <a:hlinkClick r:id="" action="ppaction://media"/>
          </p:cNvPr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286000"/>
            <a:ext cx="68580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11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152400"/>
            <a:ext cx="8686800" cy="1470025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+mj-lt"/>
                <a:cs typeface="mohammad bold art 1" pitchFamily="2" charset="-78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38600" y="3429000"/>
            <a:ext cx="4876800" cy="2209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cs typeface="Khalid Art bold" pitchFamily="2" charset="-7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F7C32F-F083-44E1-9916-DA0B24E25275}" type="datetime1">
              <a:rPr lang="en-US" smtClean="0"/>
              <a:pPr>
                <a:defRPr/>
              </a:pPr>
              <a:t>12/6/2022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Electrical Circuits - Basem ElHalawany</a:t>
            </a: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A7066E-2876-4326-8DCE-B627464C03F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 txBox="1">
            <a:spLocks/>
          </p:cNvSpPr>
          <p:nvPr userDrawn="1"/>
        </p:nvSpPr>
        <p:spPr>
          <a:xfrm>
            <a:off x="2995613" y="6478588"/>
            <a:ext cx="403225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1" eaLnBrk="1" latinLnBrk="0" hangingPunct="1">
              <a:defRPr sz="1800" b="0" kern="1200">
                <a:solidFill>
                  <a:schemeClr val="tx1"/>
                </a:solidFill>
                <a:latin typeface="+mn-lt"/>
                <a:ea typeface="+mn-ea"/>
                <a:cs typeface="Al-Hadith2" pitchFamily="2" charset="-78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ar-EG" dirty="0" smtClean="0"/>
              <a:t>إدارة المشروعات – د.باسم الحلوانى</a:t>
            </a:r>
            <a:endParaRPr lang="en-US" dirty="0"/>
          </a:p>
        </p:txBody>
      </p:sp>
      <p:sp>
        <p:nvSpPr>
          <p:cNvPr id="5" name="Slide Number Placeholder 5"/>
          <p:cNvSpPr txBox="1">
            <a:spLocks/>
          </p:cNvSpPr>
          <p:nvPr userDrawn="1"/>
        </p:nvSpPr>
        <p:spPr>
          <a:xfrm>
            <a:off x="8100393" y="6381750"/>
            <a:ext cx="967408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D103830F-B822-431F-8FF0-1322C9981CF5}" type="slidenum">
              <a:rPr lang="en-US" sz="2000" b="1" smtClean="0"/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2000" b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00012" y="6320630"/>
            <a:ext cx="967408" cy="487363"/>
          </a:xfrm>
        </p:spPr>
        <p:txBody>
          <a:bodyPr/>
          <a:lstStyle>
            <a:lvl1pPr algn="ctr">
              <a:defRPr sz="2400" b="0" i="0"/>
            </a:lvl1pPr>
          </a:lstStyle>
          <a:p>
            <a:pPr>
              <a:defRPr/>
            </a:pPr>
            <a:fld id="{C7BE563A-8C9D-48E8-8107-7FE70A85D56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 txBox="1">
            <a:spLocks/>
          </p:cNvSpPr>
          <p:nvPr userDrawn="1"/>
        </p:nvSpPr>
        <p:spPr>
          <a:xfrm>
            <a:off x="2995613" y="6478588"/>
            <a:ext cx="403225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1" eaLnBrk="1" latinLnBrk="0" hangingPunct="1">
              <a:defRPr sz="1800" b="0" kern="1200">
                <a:solidFill>
                  <a:schemeClr val="tx1"/>
                </a:solidFill>
                <a:latin typeface="+mn-lt"/>
                <a:ea typeface="+mn-ea"/>
                <a:cs typeface="Al-Hadith2" pitchFamily="2" charset="-78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ar-EG" smtClean="0"/>
              <a:t>الدعوة وكسب التأييد</a:t>
            </a:r>
            <a:r>
              <a:rPr lang="en-US" smtClean="0"/>
              <a:t> –</a:t>
            </a:r>
            <a:r>
              <a:rPr lang="ar-EG" smtClean="0"/>
              <a:t>د. أسامة قناوي </a:t>
            </a:r>
            <a:endParaRPr lang="en-US" dirty="0"/>
          </a:p>
        </p:txBody>
      </p:sp>
      <p:sp>
        <p:nvSpPr>
          <p:cNvPr id="5" name="Slide Number Placeholder 5"/>
          <p:cNvSpPr txBox="1">
            <a:spLocks/>
          </p:cNvSpPr>
          <p:nvPr userDrawn="1"/>
        </p:nvSpPr>
        <p:spPr>
          <a:xfrm>
            <a:off x="8685213" y="6381750"/>
            <a:ext cx="382587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78A6D053-35DC-479D-BC4C-F57F258D8A5B}" type="slidenum">
              <a:rPr lang="en-US" smtClean="0"/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709987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209800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657943-8E05-4C6D-A0EC-6E45A31C3EE1}" type="datetime1">
              <a:rPr lang="en-US" smtClean="0"/>
              <a:pPr>
                <a:defRPr/>
              </a:pPr>
              <a:t>12/6/2022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Electrical Circuits - Basem ElHalawany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CAAD42-6451-4917-96F2-92ABC62918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79264" y="1722437"/>
            <a:ext cx="37490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66360" y="1722437"/>
            <a:ext cx="37490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81068F-314C-49A8-B263-EC5E5BBDE0E9}" type="datetime1">
              <a:rPr lang="en-US" smtClean="0"/>
              <a:pPr>
                <a:defRPr/>
              </a:pPr>
              <a:t>12/6/2022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Electrical Circuits - Basem ElHalawany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36CA4F-3CEA-48AD-9853-EFEEDFB79B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3812" y="1722792"/>
            <a:ext cx="3735388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3812" y="2362554"/>
            <a:ext cx="3735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81601" y="1722792"/>
            <a:ext cx="3733800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81601" y="2362554"/>
            <a:ext cx="37338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D47DBE-8099-4D34-826E-25D00670E7B6}" type="datetime1">
              <a:rPr lang="en-US" smtClean="0"/>
              <a:pPr>
                <a:defRPr/>
              </a:pPr>
              <a:t>12/6/2022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Electrical Circuits - Basem ElHalawany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21383F-F779-4E99-895D-7C92CEC3C7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400763-091E-4D55-8B43-972EFEFEC08E}" type="datetime1">
              <a:rPr lang="en-US" smtClean="0"/>
              <a:pPr>
                <a:defRPr/>
              </a:pPr>
              <a:t>12/6/2022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Electrical Circuits - Basem ElHalawany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597F10-55AA-4934-84DD-E9A81DB5BBE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58FE49-F859-467A-84CB-2F5822715941}" type="datetime1">
              <a:rPr lang="en-US" smtClean="0"/>
              <a:pPr>
                <a:defRPr/>
              </a:pPr>
              <a:t>12/6/2022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Electrical Circuits - Basem ElHalawany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F99485-1D6C-46E4-B0F6-43527582D7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arth Glass against white,loop.wmv">
            <a:hlinkClick r:id="" action="ppaction://media"/>
          </p:cNvPr>
          <p:cNvPicPr>
            <a:picLocks noChangeAspect="1"/>
          </p:cNvPicPr>
          <p:nvPr userDrawn="1"/>
        </p:nvPicPr>
        <p:blipFill>
          <a:blip r:embed="rId2" cstate="print"/>
          <a:srcRect t="4839" b="8064"/>
          <a:stretch>
            <a:fillRect/>
          </a:stretch>
        </p:blipFill>
        <p:spPr bwMode="auto">
          <a:xfrm>
            <a:off x="0" y="5486400"/>
            <a:ext cx="23622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1"/>
          <p:cNvPicPr>
            <a:picLocks noChangeAspect="1"/>
          </p:cNvPicPr>
          <p:nvPr userDrawn="1"/>
        </p:nvPicPr>
        <p:blipFill>
          <a:blip r:embed="rId3" cstate="print"/>
          <a:srcRect t="75294"/>
          <a:stretch>
            <a:fillRect/>
          </a:stretch>
        </p:blipFill>
        <p:spPr bwMode="auto">
          <a:xfrm>
            <a:off x="0" y="5164138"/>
            <a:ext cx="9144000" cy="1693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152400"/>
            <a:ext cx="3008313" cy="1162050"/>
          </a:xfrm>
        </p:spPr>
        <p:txBody>
          <a:bodyPr anchor="b"/>
          <a:lstStyle>
            <a:lvl1pPr algn="l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9600" y="152400"/>
            <a:ext cx="4495800" cy="6096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0" y="1314450"/>
            <a:ext cx="3008313" cy="49339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7243CD-2B42-43B1-A975-20A03FC58555}" type="datetime1">
              <a:rPr lang="en-US" smtClean="0"/>
              <a:pPr>
                <a:defRPr/>
              </a:pPr>
              <a:t>12/6/2022</a:t>
            </a:fld>
            <a:endParaRPr lang="en-US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US" dirty="0" smtClean="0"/>
              <a:t>EEDP - </a:t>
            </a:r>
            <a:r>
              <a:rPr lang="en-US" dirty="0" err="1" smtClean="0"/>
              <a:t>Basem</a:t>
            </a:r>
            <a:r>
              <a:rPr lang="en-US" dirty="0" smtClean="0"/>
              <a:t> </a:t>
            </a:r>
            <a:r>
              <a:rPr lang="en-US" dirty="0" err="1" smtClean="0"/>
              <a:t>ElHalawany</a:t>
            </a:r>
            <a:endParaRPr lang="en-US" dirty="0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88424" y="6381328"/>
            <a:ext cx="598611" cy="365125"/>
          </a:xfrm>
        </p:spPr>
        <p:txBody>
          <a:bodyPr/>
          <a:lstStyle>
            <a:lvl1pPr>
              <a:defRPr sz="2000" b="1"/>
            </a:lvl1pPr>
          </a:lstStyle>
          <a:p>
            <a:pPr>
              <a:defRPr/>
            </a:pPr>
            <a:fld id="{88487601-5D24-4365-891A-130B42FD3AC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168757-E658-4D6F-8447-4C416FF21B4C}" type="datetime1">
              <a:rPr lang="en-US" smtClean="0"/>
              <a:pPr>
                <a:defRPr/>
              </a:pPr>
              <a:t>12/6/2022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Electrical Circuits - Basem ElHalawany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5EC554-EE6C-4C63-9219-FBC2DAB3EA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5010F0-7E94-41AF-9002-E73C9CFD6593}" type="datetime1">
              <a:rPr lang="en-US" smtClean="0"/>
              <a:pPr>
                <a:defRPr/>
              </a:pPr>
              <a:t>12/6/2022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Electrical Circuits - Basem ElHalawany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67D080-4B6F-4809-805E-9CB55DEEA2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arth Glass against white,loop.wmv">
            <a:hlinkClick r:id="" action="ppaction://media"/>
          </p:cNvPr>
          <p:cNvPicPr>
            <a:picLocks noChangeAspect="1"/>
          </p:cNvPicPr>
          <p:nvPr userDrawn="1"/>
        </p:nvPicPr>
        <p:blipFill>
          <a:blip r:embed="rId2" cstate="print"/>
          <a:srcRect t="4839" b="8064"/>
          <a:stretch>
            <a:fillRect/>
          </a:stretch>
        </p:blipFill>
        <p:spPr bwMode="auto">
          <a:xfrm>
            <a:off x="0" y="5486400"/>
            <a:ext cx="23622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11"/>
          <p:cNvPicPr>
            <a:picLocks noChangeAspect="1"/>
          </p:cNvPicPr>
          <p:nvPr userDrawn="1"/>
        </p:nvPicPr>
        <p:blipFill>
          <a:blip r:embed="rId3" cstate="print"/>
          <a:srcRect t="75294"/>
          <a:stretch>
            <a:fillRect/>
          </a:stretch>
        </p:blipFill>
        <p:spPr bwMode="auto">
          <a:xfrm>
            <a:off x="0" y="5164138"/>
            <a:ext cx="9144000" cy="1693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97716"/>
            <a:ext cx="2057400" cy="6150684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5000" endPos="45500" dir="5400000" sy="-100000" algn="bl" rotWithShape="0"/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400" y="97716"/>
            <a:ext cx="5486400" cy="615068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8B1479-4773-4AA7-9EED-8F3438A79F83}" type="datetime1">
              <a:rPr lang="en-US" smtClean="0"/>
              <a:pPr>
                <a:defRPr/>
              </a:pPr>
              <a:t>12/6/2022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Electrical Circuits - Basem ElHalawany</a:t>
            </a: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E33A68-FC5D-4886-B89F-6C0270402E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arth Glass against white,loop.wmv">
            <a:hlinkClick r:id="" action="ppaction://media"/>
          </p:cNvPr>
          <p:cNvPicPr>
            <a:picLocks noChangeAspect="1"/>
          </p:cNvPicPr>
          <p:nvPr/>
        </p:nvPicPr>
        <p:blipFill>
          <a:blip r:embed="rId13" cstate="print"/>
          <a:srcRect t="4839" b="8064"/>
          <a:stretch>
            <a:fillRect/>
          </a:stretch>
        </p:blipFill>
        <p:spPr bwMode="auto">
          <a:xfrm>
            <a:off x="0" y="5486400"/>
            <a:ext cx="23622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7"/>
          <p:cNvPicPr>
            <a:picLocks noChangeAspect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26988" y="14288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8600" y="53975"/>
            <a:ext cx="8686800" cy="1057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2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55650" y="1676400"/>
            <a:ext cx="815975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86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C0D559A-631E-40B8-848F-DBA091CC73D3}" type="datetime1">
              <a:rPr lang="en-US" smtClean="0"/>
              <a:pPr>
                <a:defRPr/>
              </a:pPr>
              <a:t>12/6/2022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43213" y="6453188"/>
            <a:ext cx="40322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1" fontAlgn="auto">
              <a:spcBef>
                <a:spcPts val="0"/>
              </a:spcBef>
              <a:spcAft>
                <a:spcPts val="0"/>
              </a:spcAft>
              <a:defRPr sz="1800" b="0" dirty="0" smtClean="0">
                <a:solidFill>
                  <a:schemeClr val="tx1"/>
                </a:solidFill>
                <a:latin typeface="+mn-lt"/>
                <a:cs typeface="Al-Hadith2" pitchFamily="2" charset="-78"/>
              </a:defRPr>
            </a:lvl1pPr>
          </a:lstStyle>
          <a:p>
            <a:pPr>
              <a:defRPr/>
            </a:pPr>
            <a:r>
              <a:rPr lang="en-US" smtClean="0"/>
              <a:t>Electrical Circuits - Basem ElHalawany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2813" y="6356350"/>
            <a:ext cx="3825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0730302-7587-4923-A4B9-168291C7406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971550" y="6308725"/>
            <a:ext cx="8199438" cy="73025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timing>
    <p:tnLst>
      <p:par>
        <p:cTn id="1" dur="indefinite" restart="never" nodeType="tmRoot"/>
      </p:par>
    </p:tnLst>
  </p:timing>
  <p:hf hdr="0" dt="0"/>
  <p:txStyles>
    <p:titleStyle>
      <a:lvl1pPr algn="ctr" rtl="1" fontAlgn="base">
        <a:spcBef>
          <a:spcPct val="0"/>
        </a:spcBef>
        <a:spcAft>
          <a:spcPct val="0"/>
        </a:spcAft>
        <a:defRPr sz="4400" b="1" kern="1200"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5000" endA="300" endPos="45500" dir="5400000" sy="-100000" algn="bl" rotWithShape="0"/>
          </a:effectLst>
          <a:latin typeface="+mj-lt"/>
          <a:ea typeface="+mj-ea"/>
          <a:cs typeface="Khalid Art bold" pitchFamily="2" charset="-78"/>
        </a:defRPr>
      </a:lvl1pPr>
      <a:lvl2pPr algn="ctr" rtl="1" fontAlgn="base">
        <a:spcBef>
          <a:spcPct val="0"/>
        </a:spcBef>
        <a:spcAft>
          <a:spcPct val="0"/>
        </a:spcAft>
        <a:defRPr sz="4400" b="1">
          <a:solidFill>
            <a:schemeClr val="bg1"/>
          </a:solidFill>
          <a:latin typeface="Calibri" pitchFamily="34" charset="0"/>
          <a:cs typeface="Khalid Art bold" pitchFamily="2" charset="-78"/>
        </a:defRPr>
      </a:lvl2pPr>
      <a:lvl3pPr algn="ctr" rtl="1" fontAlgn="base">
        <a:spcBef>
          <a:spcPct val="0"/>
        </a:spcBef>
        <a:spcAft>
          <a:spcPct val="0"/>
        </a:spcAft>
        <a:defRPr sz="4400" b="1">
          <a:solidFill>
            <a:schemeClr val="bg1"/>
          </a:solidFill>
          <a:latin typeface="Calibri" pitchFamily="34" charset="0"/>
          <a:cs typeface="Khalid Art bold" pitchFamily="2" charset="-78"/>
        </a:defRPr>
      </a:lvl3pPr>
      <a:lvl4pPr algn="ctr" rtl="1" fontAlgn="base">
        <a:spcBef>
          <a:spcPct val="0"/>
        </a:spcBef>
        <a:spcAft>
          <a:spcPct val="0"/>
        </a:spcAft>
        <a:defRPr sz="4400" b="1">
          <a:solidFill>
            <a:schemeClr val="bg1"/>
          </a:solidFill>
          <a:latin typeface="Calibri" pitchFamily="34" charset="0"/>
          <a:cs typeface="Khalid Art bold" pitchFamily="2" charset="-78"/>
        </a:defRPr>
      </a:lvl4pPr>
      <a:lvl5pPr algn="ctr" rtl="1" fontAlgn="base">
        <a:spcBef>
          <a:spcPct val="0"/>
        </a:spcBef>
        <a:spcAft>
          <a:spcPct val="0"/>
        </a:spcAft>
        <a:defRPr sz="4400" b="1">
          <a:solidFill>
            <a:schemeClr val="bg1"/>
          </a:solidFill>
          <a:latin typeface="Calibri" pitchFamily="34" charset="0"/>
          <a:cs typeface="Khalid Art bold" pitchFamily="2" charset="-78"/>
        </a:defRPr>
      </a:lvl5pPr>
      <a:lvl6pPr marL="457200" algn="ctr" rtl="1" fontAlgn="base">
        <a:spcBef>
          <a:spcPct val="0"/>
        </a:spcBef>
        <a:spcAft>
          <a:spcPct val="0"/>
        </a:spcAft>
        <a:defRPr sz="4400" b="1">
          <a:solidFill>
            <a:schemeClr val="bg1"/>
          </a:solidFill>
          <a:latin typeface="Calibri" pitchFamily="34" charset="0"/>
          <a:cs typeface="Khalid Art bold" pitchFamily="2" charset="-78"/>
        </a:defRPr>
      </a:lvl6pPr>
      <a:lvl7pPr marL="914400" algn="ctr" rtl="1" fontAlgn="base">
        <a:spcBef>
          <a:spcPct val="0"/>
        </a:spcBef>
        <a:spcAft>
          <a:spcPct val="0"/>
        </a:spcAft>
        <a:defRPr sz="4400" b="1">
          <a:solidFill>
            <a:schemeClr val="bg1"/>
          </a:solidFill>
          <a:latin typeface="Calibri" pitchFamily="34" charset="0"/>
          <a:cs typeface="Khalid Art bold" pitchFamily="2" charset="-78"/>
        </a:defRPr>
      </a:lvl7pPr>
      <a:lvl8pPr marL="1371600" algn="ctr" rtl="1" fontAlgn="base">
        <a:spcBef>
          <a:spcPct val="0"/>
        </a:spcBef>
        <a:spcAft>
          <a:spcPct val="0"/>
        </a:spcAft>
        <a:defRPr sz="4400" b="1">
          <a:solidFill>
            <a:schemeClr val="bg1"/>
          </a:solidFill>
          <a:latin typeface="Calibri" pitchFamily="34" charset="0"/>
          <a:cs typeface="Khalid Art bold" pitchFamily="2" charset="-78"/>
        </a:defRPr>
      </a:lvl8pPr>
      <a:lvl9pPr marL="1828800" algn="ctr" rtl="1" fontAlgn="base">
        <a:spcBef>
          <a:spcPct val="0"/>
        </a:spcBef>
        <a:spcAft>
          <a:spcPct val="0"/>
        </a:spcAft>
        <a:defRPr sz="4400" b="1">
          <a:solidFill>
            <a:schemeClr val="bg1"/>
          </a:solidFill>
          <a:latin typeface="Calibri" pitchFamily="34" charset="0"/>
          <a:cs typeface="Khalid Art bold" pitchFamily="2" charset="-78"/>
        </a:defRPr>
      </a:lvl9pPr>
    </p:titleStyle>
    <p:bodyStyle>
      <a:lvl1pPr marL="342900" indent="-342900" algn="r" rtl="1" fontAlgn="base">
        <a:lnSpc>
          <a:spcPct val="150000"/>
        </a:lnSpc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mohammad bold art 1" pitchFamily="2" charset="-78"/>
        </a:defRPr>
      </a:lvl1pPr>
      <a:lvl2pPr marL="742950" indent="-285750" algn="r" rtl="1" fontAlgn="base">
        <a:lnSpc>
          <a:spcPct val="150000"/>
        </a:lnSpc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mohammad bold art 1" pitchFamily="2" charset="-78"/>
        </a:defRPr>
      </a:lvl2pPr>
      <a:lvl3pPr marL="1143000" indent="-228600" algn="r" rtl="1" fontAlgn="base">
        <a:lnSpc>
          <a:spcPct val="150000"/>
        </a:lnSpc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mohammad bold art 1" pitchFamily="2" charset="-78"/>
        </a:defRPr>
      </a:lvl3pPr>
      <a:lvl4pPr marL="1600200" indent="-228600" algn="r" rtl="1" fontAlgn="base">
        <a:lnSpc>
          <a:spcPct val="150000"/>
        </a:lnSpc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mohammad bold art 1" pitchFamily="2" charset="-78"/>
        </a:defRPr>
      </a:lvl4pPr>
      <a:lvl5pPr marL="2057400" indent="-228600" algn="r" rtl="1" fontAlgn="base">
        <a:lnSpc>
          <a:spcPct val="150000"/>
        </a:lnSpc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mohammad bold art 1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075" y="152400"/>
            <a:ext cx="7543800" cy="1162050"/>
          </a:xfrm>
        </p:spPr>
        <p:txBody>
          <a:bodyPr/>
          <a:lstStyle/>
          <a:p>
            <a:r>
              <a:rPr lang="en-US" sz="4800" smtClean="0"/>
              <a:t>L5</a:t>
            </a:r>
            <a:r>
              <a:rPr lang="en-US" dirty="0" smtClean="0"/>
              <a:t>				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8487601-5D24-4365-891A-130B42FD3AC3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63293" y="1905000"/>
            <a:ext cx="8629186" cy="101566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/>
            <a:r>
              <a:rPr lang="en-US" sz="2000" dirty="0" smtClean="0"/>
              <a:t>		   </a:t>
            </a:r>
            <a:r>
              <a:rPr lang="en-US" sz="6000" dirty="0" smtClean="0"/>
              <a:t>POWER AMPLIFIRS</a:t>
            </a:r>
            <a:endParaRPr lang="en-US"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2400"/>
            <a:ext cx="8991600" cy="6324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8487601-5D24-4365-891A-130B42FD3AC3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8686799" cy="56388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76933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8487601-5D24-4365-891A-130B42FD3AC3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549293" y="87015"/>
            <a:ext cx="3750899" cy="4616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/>
              <a:t>Classification  Of  Amplifiers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89594" y="692696"/>
            <a:ext cx="5164812" cy="46166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b="1" dirty="0" smtClean="0"/>
              <a:t>According </a:t>
            </a:r>
            <a:r>
              <a:rPr lang="en-US" sz="2400" b="1" dirty="0"/>
              <a:t>to frequency capabilities.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9594" y="2996952"/>
            <a:ext cx="5164812" cy="46166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b="1" dirty="0"/>
              <a:t>According to coupling methods.</a:t>
            </a:r>
          </a:p>
        </p:txBody>
      </p:sp>
      <p:sp>
        <p:nvSpPr>
          <p:cNvPr id="2" name="Rectangle 1"/>
          <p:cNvSpPr/>
          <p:nvPr/>
        </p:nvSpPr>
        <p:spPr>
          <a:xfrm>
            <a:off x="248888" y="1765265"/>
            <a:ext cx="8643591" cy="101566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000" b="1" u="sng" dirty="0" smtClean="0"/>
              <a:t>AF Amplifier </a:t>
            </a:r>
            <a:r>
              <a:rPr lang="en-US" sz="2000" dirty="0"/>
              <a:t>are used to amplify the signals </a:t>
            </a:r>
            <a:r>
              <a:rPr lang="en-US" sz="2000" dirty="0" smtClean="0"/>
              <a:t>lying  in </a:t>
            </a:r>
            <a:r>
              <a:rPr lang="en-US" sz="2000" dirty="0"/>
              <a:t>the audio range </a:t>
            </a:r>
            <a:r>
              <a:rPr lang="en-US" sz="2000" dirty="0" smtClean="0"/>
              <a:t>( </a:t>
            </a:r>
            <a:r>
              <a:rPr lang="en-US" sz="2000" dirty="0"/>
              <a:t>i.e.  20 Hz to 20 kHz </a:t>
            </a:r>
            <a:r>
              <a:rPr lang="en-US" sz="2000" dirty="0" smtClean="0"/>
              <a:t>)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b="1" u="sng" dirty="0" smtClean="0"/>
              <a:t>RF amplifiers </a:t>
            </a:r>
            <a:r>
              <a:rPr lang="en-US" sz="2000" dirty="0"/>
              <a:t>are used to amplify signals having very </a:t>
            </a:r>
            <a:r>
              <a:rPr lang="en-US" sz="2000" dirty="0" smtClean="0"/>
              <a:t>high frequency</a:t>
            </a:r>
            <a:r>
              <a:rPr lang="en-US" sz="2000" dirty="0"/>
              <a:t>.</a:t>
            </a:r>
          </a:p>
        </p:txBody>
      </p:sp>
      <p:sp>
        <p:nvSpPr>
          <p:cNvPr id="3" name="Rectangle 2"/>
          <p:cNvSpPr/>
          <p:nvPr/>
        </p:nvSpPr>
        <p:spPr>
          <a:xfrm>
            <a:off x="251520" y="1268760"/>
            <a:ext cx="864095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/>
              <a:t>Amplifiers </a:t>
            </a:r>
            <a:r>
              <a:rPr lang="en-US" sz="2000" dirty="0"/>
              <a:t>are classified as  audio amplifiers ,  radio frequency amplifiers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263293" y="3573016"/>
            <a:ext cx="8629186" cy="101566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000" dirty="0" smtClean="0"/>
              <a:t>R-C </a:t>
            </a:r>
            <a:r>
              <a:rPr lang="en-US" sz="2000" dirty="0"/>
              <a:t>coupled amplifiers, </a:t>
            </a:r>
            <a:endParaRPr lang="en-US" sz="2000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 smtClean="0"/>
              <a:t>Transformer </a:t>
            </a:r>
            <a:r>
              <a:rPr lang="en-US" sz="2000" dirty="0"/>
              <a:t>coupled </a:t>
            </a:r>
            <a:r>
              <a:rPr lang="en-US" sz="2000" dirty="0" smtClean="0"/>
              <a:t>amplifiers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 smtClean="0"/>
              <a:t>Direct Coupled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36527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88424" y="6448251"/>
            <a:ext cx="598611" cy="365125"/>
          </a:xfrm>
        </p:spPr>
        <p:txBody>
          <a:bodyPr/>
          <a:lstStyle/>
          <a:p>
            <a:pPr>
              <a:defRPr/>
            </a:pPr>
            <a:fld id="{88487601-5D24-4365-891A-130B42FD3AC3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483768" y="44624"/>
            <a:ext cx="3750899" cy="4616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/>
              <a:t>Classification  Of  Amplifiers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2938123" y="548680"/>
            <a:ext cx="2842188" cy="46166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400" b="1" dirty="0" smtClean="0"/>
              <a:t>According </a:t>
            </a:r>
            <a:r>
              <a:rPr lang="en-US" sz="2400" b="1" dirty="0"/>
              <a:t>to use.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7504" y="1293728"/>
            <a:ext cx="8928992" cy="163121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000" dirty="0" smtClean="0">
                <a:solidFill>
                  <a:srgbClr val="FF0000"/>
                </a:solidFill>
              </a:rPr>
              <a:t>Amplify </a:t>
            </a:r>
            <a:r>
              <a:rPr lang="en-US" sz="2000" dirty="0">
                <a:solidFill>
                  <a:srgbClr val="FF0000"/>
                </a:solidFill>
              </a:rPr>
              <a:t>the input voltage</a:t>
            </a:r>
            <a:r>
              <a:rPr lang="en-US" sz="2000" dirty="0"/>
              <a:t>, if possible </a:t>
            </a:r>
            <a:r>
              <a:rPr lang="en-US" sz="2000" dirty="0">
                <a:solidFill>
                  <a:srgbClr val="FF0000"/>
                </a:solidFill>
              </a:rPr>
              <a:t>with minimal current at the output. </a:t>
            </a:r>
            <a:endParaRPr lang="en-US" sz="2000" dirty="0" smtClean="0">
              <a:solidFill>
                <a:srgbClr val="FF0000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 smtClean="0"/>
              <a:t>The </a:t>
            </a:r>
            <a:r>
              <a:rPr lang="en-US" sz="2000" dirty="0"/>
              <a:t>power gain of </a:t>
            </a:r>
            <a:r>
              <a:rPr lang="en-US" sz="2000" dirty="0" smtClean="0"/>
              <a:t>the voltage </a:t>
            </a:r>
            <a:r>
              <a:rPr lang="en-US" sz="2000" dirty="0"/>
              <a:t>amplifier is </a:t>
            </a:r>
            <a:r>
              <a:rPr lang="en-US" sz="2000" dirty="0" smtClean="0"/>
              <a:t>low.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</a:rPr>
              <a:t>The main application </a:t>
            </a:r>
            <a:r>
              <a:rPr lang="en-US" sz="2000" dirty="0" smtClean="0">
                <a:solidFill>
                  <a:srgbClr val="FF0000"/>
                </a:solidFill>
              </a:rPr>
              <a:t>is </a:t>
            </a:r>
            <a:r>
              <a:rPr lang="en-US" sz="2000" dirty="0">
                <a:solidFill>
                  <a:srgbClr val="FF0000"/>
                </a:solidFill>
              </a:rPr>
              <a:t>to strengthen the signal </a:t>
            </a:r>
            <a:r>
              <a:rPr lang="en-US" sz="2000" dirty="0"/>
              <a:t>to make it less affected by noise and attenuation. </a:t>
            </a:r>
            <a:endParaRPr lang="en-US" sz="2000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/>
              <a:t>Ideal voltage </a:t>
            </a:r>
            <a:r>
              <a:rPr lang="en-US" sz="2000" dirty="0" smtClean="0"/>
              <a:t>amp. </a:t>
            </a:r>
            <a:r>
              <a:rPr lang="en-US" sz="2000" dirty="0"/>
              <a:t>have infinite input impedance </a:t>
            </a:r>
            <a:r>
              <a:rPr lang="en-US" sz="2000" dirty="0" smtClean="0"/>
              <a:t>&amp; zero </a:t>
            </a:r>
            <a:r>
              <a:rPr lang="en-US" sz="2000" dirty="0"/>
              <a:t>output impedance.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7504" y="836712"/>
            <a:ext cx="2462982" cy="40011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marL="342900" indent="-342900">
              <a:buFont typeface="+mj-lt"/>
              <a:buAutoNum type="alphaLcPeriod"/>
            </a:pPr>
            <a:r>
              <a:rPr lang="en-US" sz="2000" dirty="0" smtClean="0"/>
              <a:t>Voltage </a:t>
            </a:r>
            <a:r>
              <a:rPr lang="en-US" sz="2000" dirty="0"/>
              <a:t>amplifiers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7503" y="3453968"/>
            <a:ext cx="8933257" cy="163121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000" dirty="0" smtClean="0">
                <a:solidFill>
                  <a:srgbClr val="FF0000"/>
                </a:solidFill>
              </a:rPr>
              <a:t>Amplify </a:t>
            </a:r>
            <a:r>
              <a:rPr lang="en-US" sz="2000" dirty="0">
                <a:solidFill>
                  <a:srgbClr val="FF0000"/>
                </a:solidFill>
              </a:rPr>
              <a:t>the input power, if possible with minimal change in the output </a:t>
            </a:r>
            <a:r>
              <a:rPr lang="en-US" sz="2000" dirty="0" smtClean="0">
                <a:solidFill>
                  <a:srgbClr val="FF0000"/>
                </a:solidFill>
              </a:rPr>
              <a:t>voltage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/>
              <a:t>Power </a:t>
            </a:r>
            <a:r>
              <a:rPr lang="en-US" sz="2000" dirty="0" smtClean="0"/>
              <a:t>amp. are </a:t>
            </a:r>
            <a:r>
              <a:rPr lang="en-US" sz="2000" dirty="0"/>
              <a:t>used in devices which require a large power across the </a:t>
            </a:r>
            <a:r>
              <a:rPr lang="en-US" sz="2000" u="sng" dirty="0">
                <a:solidFill>
                  <a:srgbClr val="FF0000"/>
                </a:solidFill>
              </a:rPr>
              <a:t>loads</a:t>
            </a:r>
            <a:r>
              <a:rPr lang="en-US" sz="2000" dirty="0"/>
              <a:t>. </a:t>
            </a:r>
            <a:endParaRPr lang="en-US" sz="2000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 smtClean="0"/>
              <a:t>In </a:t>
            </a:r>
            <a:r>
              <a:rPr lang="en-US" sz="2000" dirty="0"/>
              <a:t>multi stage amplifiers, power amplification is made in the final </a:t>
            </a:r>
            <a:r>
              <a:rPr lang="en-US" sz="2000" dirty="0" smtClean="0"/>
              <a:t>stages</a:t>
            </a:r>
          </a:p>
          <a:p>
            <a:pPr marL="800100" lvl="1" indent="-342900">
              <a:buFont typeface="Wingdings" pitchFamily="2" charset="2"/>
              <a:buChar char="ü"/>
            </a:pPr>
            <a:r>
              <a:rPr lang="en-US" sz="2000" dirty="0"/>
              <a:t>Audio amplifiers and RF amplifiers use </a:t>
            </a:r>
            <a:r>
              <a:rPr lang="en-US" sz="2000" dirty="0" smtClean="0"/>
              <a:t>it to </a:t>
            </a:r>
            <a:r>
              <a:rPr lang="en-US" sz="2000" dirty="0"/>
              <a:t>deliver sufficient power the load. </a:t>
            </a:r>
            <a:endParaRPr lang="en-US" sz="2000" dirty="0" smtClean="0"/>
          </a:p>
          <a:p>
            <a:pPr marL="800100" lvl="1" indent="-342900">
              <a:buFont typeface="Wingdings" pitchFamily="2" charset="2"/>
              <a:buChar char="ü"/>
            </a:pPr>
            <a:r>
              <a:rPr lang="en-US" sz="2000" dirty="0" smtClean="0"/>
              <a:t>Servo </a:t>
            </a:r>
            <a:r>
              <a:rPr lang="en-US" sz="2000" dirty="0"/>
              <a:t>motor controllers </a:t>
            </a:r>
            <a:r>
              <a:rPr lang="en-US" sz="2000" dirty="0" smtClean="0"/>
              <a:t> use </a:t>
            </a:r>
            <a:r>
              <a:rPr lang="en-US" sz="2000" dirty="0"/>
              <a:t>power </a:t>
            </a:r>
            <a:r>
              <a:rPr lang="en-US" sz="2000" dirty="0" smtClean="0"/>
              <a:t>it </a:t>
            </a:r>
            <a:r>
              <a:rPr lang="en-US" sz="2000" dirty="0"/>
              <a:t>to drive the motors.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7504" y="2996952"/>
            <a:ext cx="2340769" cy="40011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marL="342900" indent="-342900">
              <a:buFont typeface="+mj-lt"/>
              <a:buAutoNum type="alphaLcPeriod"/>
            </a:pPr>
            <a:r>
              <a:rPr lang="en-US" sz="2000" dirty="0" smtClean="0"/>
              <a:t>Power amplifiers </a:t>
            </a:r>
            <a:endParaRPr lang="en-US" sz="2000" dirty="0"/>
          </a:p>
        </p:txBody>
      </p:sp>
      <p:sp>
        <p:nvSpPr>
          <p:cNvPr id="9" name="Rectangle 8"/>
          <p:cNvSpPr/>
          <p:nvPr/>
        </p:nvSpPr>
        <p:spPr>
          <a:xfrm>
            <a:off x="1295400" y="5103674"/>
            <a:ext cx="64770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chemeClr val="dk1"/>
                </a:solidFill>
                <a:latin typeface="+mn-lt"/>
                <a:cs typeface="+mn-cs"/>
              </a:rPr>
              <a:t>Attenuation</a:t>
            </a:r>
            <a:r>
              <a:rPr lang="en-US" sz="2000" dirty="0" smtClean="0">
                <a:solidFill>
                  <a:schemeClr val="dk1"/>
                </a:solidFill>
                <a:latin typeface="+mn-lt"/>
                <a:cs typeface="+mn-cs"/>
              </a:rPr>
              <a:t> is a general term that refers to any reduction in the strength of a signal. </a:t>
            </a:r>
            <a:r>
              <a:rPr lang="en-US" sz="2000" b="1" dirty="0" smtClean="0">
                <a:solidFill>
                  <a:schemeClr val="dk1"/>
                </a:solidFill>
                <a:latin typeface="+mn-lt"/>
                <a:cs typeface="+mn-cs"/>
              </a:rPr>
              <a:t>Attenuation</a:t>
            </a:r>
            <a:r>
              <a:rPr lang="en-US" sz="2000" dirty="0" smtClean="0">
                <a:solidFill>
                  <a:schemeClr val="dk1"/>
                </a:solidFill>
                <a:latin typeface="+mn-lt"/>
                <a:cs typeface="+mn-cs"/>
              </a:rPr>
              <a:t> occurs with any type of signal, whether digital or analog. Sometimes called loss, </a:t>
            </a:r>
            <a:r>
              <a:rPr lang="en-US" sz="2000" b="1" dirty="0" smtClean="0">
                <a:solidFill>
                  <a:schemeClr val="dk1"/>
                </a:solidFill>
                <a:latin typeface="+mn-lt"/>
                <a:cs typeface="+mn-cs"/>
              </a:rPr>
              <a:t>attenuation</a:t>
            </a:r>
            <a:r>
              <a:rPr lang="en-US" sz="2000" dirty="0" smtClean="0">
                <a:solidFill>
                  <a:schemeClr val="dk1"/>
                </a:solidFill>
                <a:latin typeface="+mn-lt"/>
                <a:cs typeface="+mn-cs"/>
              </a:rPr>
              <a:t> is a natural consequence of signal transmission over long distances.</a:t>
            </a:r>
            <a:endParaRPr lang="en-US" sz="2000" dirty="0">
              <a:solidFill>
                <a:schemeClr val="dk1"/>
              </a:solidFill>
              <a:latin typeface="+mn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0755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88424" y="6448251"/>
            <a:ext cx="598611" cy="365125"/>
          </a:xfrm>
        </p:spPr>
        <p:txBody>
          <a:bodyPr/>
          <a:lstStyle/>
          <a:p>
            <a:pPr>
              <a:defRPr/>
            </a:pPr>
            <a:fld id="{88487601-5D24-4365-891A-130B42FD3AC3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843808" y="79022"/>
            <a:ext cx="3750899" cy="4616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/>
              <a:t>Classification  Of  Amplifiers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8986106"/>
              </p:ext>
            </p:extLst>
          </p:nvPr>
        </p:nvGraphicFramePr>
        <p:xfrm>
          <a:off x="1043608" y="887906"/>
          <a:ext cx="7272807" cy="42692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42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42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42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45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Voltage amplifiers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Power amplifiers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458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current gain 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low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high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458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Voltage gain 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high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low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458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Heat dissipation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low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high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458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cooling mechanism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not required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required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458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Transistor Size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Small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Large to dissipate</a:t>
                      </a:r>
                      <a:r>
                        <a:rPr lang="en-US" baseline="0" dirty="0" smtClean="0"/>
                        <a:t> heat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458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Base Width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small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Wide</a:t>
                      </a:r>
                      <a:r>
                        <a:rPr lang="en-US" baseline="0" dirty="0" smtClean="0"/>
                        <a:t> to handle higher current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458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Beta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Usually high &gt;100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Low usually &lt; 20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0925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9" y="116632"/>
            <a:ext cx="9036495" cy="66247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88424" y="6448251"/>
            <a:ext cx="598611" cy="365125"/>
          </a:xfrm>
        </p:spPr>
        <p:txBody>
          <a:bodyPr/>
          <a:lstStyle/>
          <a:p>
            <a:pPr>
              <a:defRPr/>
            </a:pPr>
            <a:fld id="{88487601-5D24-4365-891A-130B42FD3AC3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026860" y="140390"/>
            <a:ext cx="3217548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/>
            <a:r>
              <a:rPr lang="en-US" sz="2800" b="1" dirty="0" smtClean="0"/>
              <a:t>(Mode </a:t>
            </a:r>
            <a:r>
              <a:rPr lang="en-US" sz="2800" b="1" dirty="0"/>
              <a:t>of </a:t>
            </a:r>
            <a:r>
              <a:rPr lang="en-US" sz="2800" b="1" dirty="0" smtClean="0"/>
              <a:t>operation)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52860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8487601-5D24-4365-891A-130B42FD3AC3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114" y="-8709"/>
            <a:ext cx="8856984" cy="67316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32335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16632"/>
            <a:ext cx="9036496" cy="6624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88424" y="6520259"/>
            <a:ext cx="598611" cy="365125"/>
          </a:xfrm>
        </p:spPr>
        <p:txBody>
          <a:bodyPr/>
          <a:lstStyle/>
          <a:p>
            <a:pPr>
              <a:defRPr/>
            </a:pPr>
            <a:fld id="{88487601-5D24-4365-891A-130B42FD3AC3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7872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0" y="-10886"/>
            <a:ext cx="9144000" cy="6809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88424" y="6520259"/>
            <a:ext cx="598611" cy="365125"/>
          </a:xfrm>
        </p:spPr>
        <p:txBody>
          <a:bodyPr/>
          <a:lstStyle/>
          <a:p>
            <a:pPr>
              <a:defRPr/>
            </a:pPr>
            <a:fld id="{88487601-5D24-4365-891A-130B42FD3AC3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147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88424" y="6448251"/>
            <a:ext cx="598611" cy="365125"/>
          </a:xfrm>
        </p:spPr>
        <p:txBody>
          <a:bodyPr/>
          <a:lstStyle/>
          <a:p>
            <a:pPr>
              <a:defRPr/>
            </a:pPr>
            <a:fld id="{88487601-5D24-4365-891A-130B42FD3AC3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251520" y="620688"/>
            <a:ext cx="8753745" cy="132343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000" dirty="0" smtClean="0"/>
              <a:t>Class </a:t>
            </a:r>
            <a:r>
              <a:rPr lang="en-US" sz="2000" dirty="0"/>
              <a:t>B </a:t>
            </a:r>
            <a:r>
              <a:rPr lang="en-US" sz="2000" dirty="0" smtClean="0"/>
              <a:t>amplifier: When </a:t>
            </a:r>
            <a:r>
              <a:rPr lang="en-US" sz="2000" dirty="0"/>
              <a:t>an amplifier is biased at cutoff so that it operates in the linear region </a:t>
            </a:r>
            <a:r>
              <a:rPr lang="en-US" sz="2000" dirty="0" smtClean="0"/>
              <a:t>for 180</a:t>
            </a:r>
            <a:r>
              <a:rPr lang="en-US" sz="2000" baseline="30000" dirty="0" smtClean="0"/>
              <a:t>o</a:t>
            </a:r>
            <a:r>
              <a:rPr lang="en-US" sz="2000" dirty="0" smtClean="0"/>
              <a:t>  of the </a:t>
            </a:r>
            <a:r>
              <a:rPr lang="en-US" sz="2000" dirty="0"/>
              <a:t>input cycle and is in cutoff </a:t>
            </a:r>
            <a:r>
              <a:rPr lang="en-US" sz="2000" dirty="0" smtClean="0"/>
              <a:t>for 180</a:t>
            </a:r>
            <a:r>
              <a:rPr lang="en-US" sz="2000" baseline="30000" dirty="0" smtClean="0"/>
              <a:t>o</a:t>
            </a:r>
            <a:r>
              <a:rPr lang="en-US" sz="2000" dirty="0" smtClean="0"/>
              <a:t> 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/>
              <a:t>Class AB </a:t>
            </a:r>
            <a:r>
              <a:rPr lang="en-US" sz="2000" dirty="0" smtClean="0"/>
              <a:t>amplifiers: are biased </a:t>
            </a:r>
            <a:r>
              <a:rPr lang="en-US" sz="2000" dirty="0"/>
              <a:t>to conduct for slightly more than  </a:t>
            </a:r>
            <a:r>
              <a:rPr lang="en-US" sz="2000" dirty="0" smtClean="0"/>
              <a:t>180o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</a:rPr>
              <a:t>Both are more </a:t>
            </a:r>
            <a:r>
              <a:rPr lang="en-US" sz="2000" dirty="0">
                <a:solidFill>
                  <a:srgbClr val="FF0000"/>
                </a:solidFill>
              </a:rPr>
              <a:t>efficient than a </a:t>
            </a:r>
            <a:r>
              <a:rPr lang="en-US" sz="2000" dirty="0" smtClean="0">
                <a:solidFill>
                  <a:srgbClr val="FF0000"/>
                </a:solidFill>
              </a:rPr>
              <a:t>class A </a:t>
            </a:r>
            <a:r>
              <a:rPr lang="en-US" sz="2000" dirty="0">
                <a:solidFill>
                  <a:srgbClr val="FF0000"/>
                </a:solidFill>
              </a:rPr>
              <a:t>amplifier;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986" y="44624"/>
            <a:ext cx="7365255" cy="4775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251519" y="2132856"/>
            <a:ext cx="8753745" cy="163121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000" dirty="0"/>
              <a:t>A </a:t>
            </a:r>
            <a:r>
              <a:rPr lang="en-US" sz="2000" dirty="0" smtClean="0"/>
              <a:t>disadvantage </a:t>
            </a:r>
            <a:r>
              <a:rPr lang="en-US" sz="2000" dirty="0"/>
              <a:t>of class B or class AB is that it is more difficult to implement the circuit in </a:t>
            </a:r>
            <a:r>
              <a:rPr lang="en-US" sz="2000" dirty="0" smtClean="0"/>
              <a:t>order to </a:t>
            </a:r>
            <a:r>
              <a:rPr lang="en-US" sz="2000" dirty="0"/>
              <a:t>get a linear reproduction of the input waveform. </a:t>
            </a:r>
            <a:endParaRPr lang="en-US" sz="2000" dirty="0" smtClean="0"/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 smtClean="0"/>
              <a:t>The </a:t>
            </a:r>
            <a:r>
              <a:rPr lang="en-US" sz="2000" dirty="0"/>
              <a:t>term</a:t>
            </a:r>
            <a:r>
              <a:rPr lang="en-US" sz="2000" b="1" dirty="0">
                <a:solidFill>
                  <a:srgbClr val="FF0000"/>
                </a:solidFill>
              </a:rPr>
              <a:t> push-pull </a:t>
            </a:r>
            <a:r>
              <a:rPr lang="en-US" sz="2000" dirty="0"/>
              <a:t>refers to a </a:t>
            </a:r>
            <a:r>
              <a:rPr lang="en-US" sz="2000" dirty="0" smtClean="0"/>
              <a:t>common </a:t>
            </a:r>
            <a:r>
              <a:rPr lang="en-US" sz="2000" dirty="0"/>
              <a:t>type of class B or class AB amplifier circuit in which two transistors are used on </a:t>
            </a:r>
            <a:r>
              <a:rPr lang="en-US" sz="2000" dirty="0" smtClean="0"/>
              <a:t>alternating </a:t>
            </a:r>
            <a:r>
              <a:rPr lang="en-US" sz="2000" dirty="0"/>
              <a:t>half-cycles to reproduce the input waveform at the output.</a:t>
            </a:r>
          </a:p>
        </p:txBody>
      </p:sp>
    </p:spTree>
    <p:extLst>
      <p:ext uri="{BB962C8B-B14F-4D97-AF65-F5344CB8AC3E}">
        <p14:creationId xmlns:p14="http://schemas.microsoft.com/office/powerpoint/2010/main" val="3924097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0944" y="454695"/>
            <a:ext cx="4047157" cy="15341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2620516"/>
            <a:ext cx="4718074" cy="26806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88424" y="6448251"/>
            <a:ext cx="598611" cy="365125"/>
          </a:xfrm>
        </p:spPr>
        <p:txBody>
          <a:bodyPr/>
          <a:lstStyle/>
          <a:p>
            <a:pPr>
              <a:defRPr/>
            </a:pPr>
            <a:fld id="{88487601-5D24-4365-891A-130B42FD3AC3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116632"/>
            <a:ext cx="2655193" cy="441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251520" y="577617"/>
            <a:ext cx="6336704" cy="40011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000" dirty="0"/>
              <a:t>The class B amplifier is biased at the cutoff point so that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420" y="1124744"/>
            <a:ext cx="3569180" cy="375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248888" y="2001034"/>
            <a:ext cx="8643592" cy="70788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000" dirty="0"/>
              <a:t>It is brought out of cutoff and operates in its linear </a:t>
            </a:r>
            <a:r>
              <a:rPr lang="en-US" sz="2000" dirty="0" smtClean="0"/>
              <a:t>region when </a:t>
            </a:r>
            <a:r>
              <a:rPr lang="en-US" sz="2000" dirty="0"/>
              <a:t>the input signal drives the transistor into conduction.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800686" y="5301208"/>
            <a:ext cx="2658485" cy="40011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000" dirty="0"/>
              <a:t>emitter-follower circuit </a:t>
            </a:r>
          </a:p>
        </p:txBody>
      </p:sp>
      <p:sp>
        <p:nvSpPr>
          <p:cNvPr id="8" name="Rectangle 7"/>
          <p:cNvSpPr/>
          <p:nvPr/>
        </p:nvSpPr>
        <p:spPr>
          <a:xfrm>
            <a:off x="80659" y="3776196"/>
            <a:ext cx="4059294" cy="101566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000" dirty="0" smtClean="0"/>
              <a:t>The Circuit only </a:t>
            </a:r>
            <a:r>
              <a:rPr lang="en-US" sz="2000" dirty="0"/>
              <a:t>conducts for the positive half of the cycle. </a:t>
            </a:r>
            <a:endParaRPr lang="en-US" sz="2000" dirty="0" smtClean="0"/>
          </a:p>
          <a:p>
            <a:pPr marL="457200" indent="-457200">
              <a:buFont typeface="Wingdings" pitchFamily="2" charset="2"/>
              <a:buChar char="Ø"/>
            </a:pPr>
            <a:r>
              <a:rPr lang="en-US" sz="2000" dirty="0" smtClean="0"/>
              <a:t>Can not amplify </a:t>
            </a:r>
            <a:r>
              <a:rPr lang="en-US" sz="2000" dirty="0"/>
              <a:t>the entire </a:t>
            </a:r>
            <a:r>
              <a:rPr lang="en-US" sz="2000" dirty="0" smtClean="0"/>
              <a:t>cycle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78537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88424" y="6448251"/>
            <a:ext cx="598611" cy="365125"/>
          </a:xfrm>
        </p:spPr>
        <p:txBody>
          <a:bodyPr/>
          <a:lstStyle/>
          <a:p>
            <a:pPr>
              <a:defRPr/>
            </a:pPr>
            <a:fld id="{88487601-5D24-4365-891A-130B42FD3AC3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251520" y="577617"/>
            <a:ext cx="8640960" cy="193899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000" dirty="0" smtClean="0"/>
              <a:t>To amplify </a:t>
            </a:r>
            <a:r>
              <a:rPr lang="en-US" sz="2000" dirty="0"/>
              <a:t>the entire cycle, it is necessary to add a second class B amplifier that operates </a:t>
            </a:r>
            <a:r>
              <a:rPr lang="en-US" sz="2000" dirty="0" smtClean="0"/>
              <a:t>on the </a:t>
            </a:r>
            <a:r>
              <a:rPr lang="en-US" sz="2000" dirty="0"/>
              <a:t>negative half of the cycle. </a:t>
            </a:r>
            <a:endParaRPr lang="en-US" sz="2000" dirty="0" smtClean="0"/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 smtClean="0"/>
              <a:t>The </a:t>
            </a:r>
            <a:r>
              <a:rPr lang="en-US" sz="2000" dirty="0"/>
              <a:t>combination of two class B amplifiers working </a:t>
            </a:r>
            <a:r>
              <a:rPr lang="en-US" sz="2000" dirty="0" smtClean="0"/>
              <a:t>together is </a:t>
            </a:r>
            <a:r>
              <a:rPr lang="en-US" sz="2000" dirty="0"/>
              <a:t>called push-pull </a:t>
            </a:r>
            <a:r>
              <a:rPr lang="en-US" sz="2000" dirty="0" smtClean="0"/>
              <a:t>operation 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 smtClean="0"/>
              <a:t>There </a:t>
            </a:r>
            <a:r>
              <a:rPr lang="en-US" sz="2000" dirty="0"/>
              <a:t>are </a:t>
            </a:r>
            <a:r>
              <a:rPr lang="en-US" sz="2000" b="1" dirty="0">
                <a:solidFill>
                  <a:srgbClr val="FF0000"/>
                </a:solidFill>
              </a:rPr>
              <a:t>two common approaches</a:t>
            </a:r>
            <a:r>
              <a:rPr lang="en-US" sz="2000" dirty="0"/>
              <a:t> for using push-pull amplifiers to reproduce the </a:t>
            </a:r>
            <a:r>
              <a:rPr lang="en-US" sz="2000" dirty="0" smtClean="0"/>
              <a:t> entire </a:t>
            </a:r>
            <a:r>
              <a:rPr lang="en-US" sz="2000" dirty="0"/>
              <a:t>waveform.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520" y="2780928"/>
            <a:ext cx="3203848" cy="40011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Transformer Coupling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010" y="116632"/>
            <a:ext cx="3461732" cy="402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0577" y="2564904"/>
            <a:ext cx="5327927" cy="23053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251520" y="3506849"/>
            <a:ext cx="3529057" cy="120032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n-US" dirty="0"/>
              <a:t>The input transformer thus converts the </a:t>
            </a:r>
            <a:r>
              <a:rPr lang="en-US" dirty="0" smtClean="0"/>
              <a:t>input signal </a:t>
            </a:r>
            <a:r>
              <a:rPr lang="en-US" dirty="0"/>
              <a:t>to two out-of-phase signals for the </a:t>
            </a:r>
            <a:r>
              <a:rPr lang="en-US" dirty="0" smtClean="0"/>
              <a:t>two npn transistors</a:t>
            </a:r>
            <a:r>
              <a:rPr lang="en-US" dirty="0"/>
              <a:t>. </a:t>
            </a:r>
          </a:p>
        </p:txBody>
      </p:sp>
      <p:sp>
        <p:nvSpPr>
          <p:cNvPr id="8" name="Rectangle 7"/>
          <p:cNvSpPr/>
          <p:nvPr/>
        </p:nvSpPr>
        <p:spPr>
          <a:xfrm>
            <a:off x="230672" y="4881354"/>
            <a:ext cx="8733816" cy="70788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ü"/>
            </a:pPr>
            <a:r>
              <a:rPr lang="en-US" sz="2000" dirty="0" smtClean="0"/>
              <a:t>The </a:t>
            </a:r>
            <a:r>
              <a:rPr lang="en-US" sz="2000" dirty="0"/>
              <a:t>output transformer combines the signals by </a:t>
            </a:r>
            <a:r>
              <a:rPr lang="en-US" sz="2000" dirty="0" smtClean="0"/>
              <a:t>permitting </a:t>
            </a:r>
            <a:r>
              <a:rPr lang="en-US" sz="2000" dirty="0"/>
              <a:t>current in both directions, even though one transistor is always cut off. </a:t>
            </a:r>
          </a:p>
        </p:txBody>
      </p:sp>
    </p:spTree>
    <p:extLst>
      <p:ext uri="{BB962C8B-B14F-4D97-AF65-F5344CB8AC3E}">
        <p14:creationId xmlns:p14="http://schemas.microsoft.com/office/powerpoint/2010/main" val="2953451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88424" y="6448251"/>
            <a:ext cx="598611" cy="365125"/>
          </a:xfrm>
        </p:spPr>
        <p:txBody>
          <a:bodyPr/>
          <a:lstStyle/>
          <a:p>
            <a:pPr>
              <a:defRPr/>
            </a:pPr>
            <a:fld id="{88487601-5D24-4365-891A-130B42FD3AC3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97687" y="188640"/>
            <a:ext cx="4896544" cy="40011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b="1" dirty="0"/>
              <a:t>Complementary Symmetry Transistors </a:t>
            </a:r>
          </a:p>
        </p:txBody>
      </p:sp>
      <p:sp>
        <p:nvSpPr>
          <p:cNvPr id="2" name="Rectangle 1"/>
          <p:cNvSpPr/>
          <p:nvPr/>
        </p:nvSpPr>
        <p:spPr>
          <a:xfrm>
            <a:off x="188936" y="764704"/>
            <a:ext cx="8703544" cy="163121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n-US" sz="2000" dirty="0" smtClean="0"/>
              <a:t>The figure shows </a:t>
            </a:r>
            <a:r>
              <a:rPr lang="en-US" sz="2000" dirty="0"/>
              <a:t>one of the most </a:t>
            </a:r>
            <a:r>
              <a:rPr lang="en-US" sz="2000" dirty="0" smtClean="0"/>
              <a:t>popular types </a:t>
            </a:r>
            <a:r>
              <a:rPr lang="en-US" sz="2000" dirty="0"/>
              <a:t>of push-pull class B amplifiers using two emitter-followers and both positive </a:t>
            </a:r>
            <a:r>
              <a:rPr lang="en-US" sz="2000" dirty="0" smtClean="0"/>
              <a:t>and negative </a:t>
            </a:r>
            <a:r>
              <a:rPr lang="en-US" sz="2000" dirty="0"/>
              <a:t>power supplies</a:t>
            </a:r>
            <a:r>
              <a:rPr lang="en-US" sz="2000" dirty="0" smtClean="0"/>
              <a:t>.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sz="2000" dirty="0"/>
              <a:t>This is a complementary amplifier because one </a:t>
            </a:r>
            <a:r>
              <a:rPr lang="en-US" sz="2000" dirty="0" smtClean="0"/>
              <a:t>emitter-follower uses </a:t>
            </a:r>
            <a:r>
              <a:rPr lang="en-US" sz="2000" dirty="0"/>
              <a:t>an npn transistor and the other a </a:t>
            </a:r>
            <a:r>
              <a:rPr lang="en-US" sz="2000" dirty="0" smtClean="0"/>
              <a:t>pnp</a:t>
            </a:r>
            <a:r>
              <a:rPr lang="en-US" sz="2000" dirty="0"/>
              <a:t>, which conduct on opposite alternations of </a:t>
            </a:r>
            <a:r>
              <a:rPr lang="en-US" sz="2000" dirty="0" smtClean="0"/>
              <a:t>the input </a:t>
            </a:r>
            <a:r>
              <a:rPr lang="en-US" sz="2000" dirty="0"/>
              <a:t>cycle.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568189"/>
            <a:ext cx="4122631" cy="3237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4270" y="2708920"/>
            <a:ext cx="3942225" cy="3096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59825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88424" y="6448251"/>
            <a:ext cx="598611" cy="365125"/>
          </a:xfrm>
        </p:spPr>
        <p:txBody>
          <a:bodyPr/>
          <a:lstStyle/>
          <a:p>
            <a:pPr>
              <a:defRPr/>
            </a:pPr>
            <a:fld id="{88487601-5D24-4365-891A-130B42FD3AC3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247114" y="692696"/>
            <a:ext cx="8573357" cy="193899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ü"/>
            </a:pPr>
            <a:r>
              <a:rPr lang="en-US" sz="2000" dirty="0"/>
              <a:t>When the dc base voltage is zero, both transistors are off and </a:t>
            </a:r>
            <a:r>
              <a:rPr lang="en-US" sz="2000" dirty="0" smtClean="0"/>
              <a:t>the input </a:t>
            </a:r>
            <a:r>
              <a:rPr lang="en-US" sz="2000" dirty="0"/>
              <a:t>signal voltage must exceed V</a:t>
            </a:r>
            <a:r>
              <a:rPr lang="en-US" sz="1600" dirty="0"/>
              <a:t>BE</a:t>
            </a:r>
            <a:r>
              <a:rPr lang="en-US" sz="2000" dirty="0"/>
              <a:t> before a transistor conducts. </a:t>
            </a:r>
            <a:endParaRPr lang="en-US" sz="2000" dirty="0" smtClean="0"/>
          </a:p>
          <a:p>
            <a:pPr marL="342900" indent="-342900">
              <a:buFont typeface="Wingdings" pitchFamily="2" charset="2"/>
              <a:buChar char="ü"/>
            </a:pPr>
            <a:r>
              <a:rPr lang="en-US" sz="2000" dirty="0" smtClean="0"/>
              <a:t>Because </a:t>
            </a:r>
            <a:r>
              <a:rPr lang="en-US" sz="2000" dirty="0"/>
              <a:t>of this, there </a:t>
            </a:r>
            <a:r>
              <a:rPr lang="en-US" sz="2000" dirty="0" smtClean="0"/>
              <a:t>is a </a:t>
            </a:r>
            <a:r>
              <a:rPr lang="en-US" sz="2000" dirty="0"/>
              <a:t>time interval between the positive and negative alternations of the input when </a:t>
            </a:r>
            <a:r>
              <a:rPr lang="en-US" sz="2000" dirty="0" smtClean="0"/>
              <a:t>neither transistor </a:t>
            </a:r>
            <a:r>
              <a:rPr lang="en-US" sz="2000" dirty="0"/>
              <a:t>is conducting, as shown in </a:t>
            </a:r>
            <a:r>
              <a:rPr lang="en-US" sz="2000" dirty="0" smtClean="0"/>
              <a:t>Figure. 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en-US" sz="2000" dirty="0" smtClean="0"/>
              <a:t>The </a:t>
            </a:r>
            <a:r>
              <a:rPr lang="en-US" sz="2000" dirty="0"/>
              <a:t>resulting distortion in the </a:t>
            </a:r>
            <a:r>
              <a:rPr lang="en-US" sz="2000" dirty="0" smtClean="0"/>
              <a:t>output waveform </a:t>
            </a:r>
            <a:r>
              <a:rPr lang="en-US" sz="2000" dirty="0"/>
              <a:t>is called </a:t>
            </a:r>
            <a:r>
              <a:rPr lang="en-US" sz="2000" b="1" dirty="0">
                <a:solidFill>
                  <a:srgbClr val="FF0000"/>
                </a:solidFill>
              </a:rPr>
              <a:t>crossover distortion</a:t>
            </a:r>
            <a:r>
              <a:rPr lang="en-US" sz="2000" dirty="0"/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3347864" y="188640"/>
            <a:ext cx="2361224" cy="40011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000" dirty="0"/>
              <a:t>Crossover Distortion 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6014" y="2708920"/>
            <a:ext cx="4240481" cy="2913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6960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88424" y="6448251"/>
            <a:ext cx="598611" cy="365125"/>
          </a:xfrm>
        </p:spPr>
        <p:txBody>
          <a:bodyPr/>
          <a:lstStyle/>
          <a:p>
            <a:pPr>
              <a:defRPr/>
            </a:pPr>
            <a:fld id="{88487601-5D24-4365-891A-130B42FD3AC3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247114" y="692696"/>
            <a:ext cx="8573357" cy="163121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ü"/>
            </a:pPr>
            <a:r>
              <a:rPr lang="en-US" sz="2000" dirty="0"/>
              <a:t>To overcome crossover distortion, the biasing is adjusted to just overcome the VBE of </a:t>
            </a:r>
            <a:r>
              <a:rPr lang="en-US" sz="2000" dirty="0" smtClean="0"/>
              <a:t>the transistors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en-US" sz="2000" dirty="0" smtClean="0"/>
              <a:t>In </a:t>
            </a:r>
            <a:r>
              <a:rPr lang="en-US" sz="2000" dirty="0"/>
              <a:t>class AB </a:t>
            </a:r>
            <a:r>
              <a:rPr lang="en-US" sz="2000" dirty="0" smtClean="0"/>
              <a:t>operation</a:t>
            </a:r>
            <a:r>
              <a:rPr lang="en-US" sz="2000" dirty="0"/>
              <a:t>, the push-pull stages are biased into slight conduction, even when no input signal </a:t>
            </a:r>
            <a:r>
              <a:rPr lang="en-US" sz="2000" dirty="0" smtClean="0"/>
              <a:t>is present</a:t>
            </a:r>
            <a:r>
              <a:rPr lang="en-US" sz="2000" dirty="0"/>
              <a:t>. </a:t>
            </a:r>
            <a:endParaRPr lang="en-US" sz="2000" dirty="0" smtClean="0"/>
          </a:p>
          <a:p>
            <a:pPr marL="342900" indent="-342900">
              <a:buFont typeface="Wingdings" pitchFamily="2" charset="2"/>
              <a:buChar char="ü"/>
            </a:pPr>
            <a:r>
              <a:rPr lang="en-US" sz="2000" dirty="0" smtClean="0"/>
              <a:t>This </a:t>
            </a:r>
            <a:r>
              <a:rPr lang="en-US" sz="2000" dirty="0"/>
              <a:t>can be done with a </a:t>
            </a:r>
            <a:r>
              <a:rPr lang="en-US" sz="2000" b="1" dirty="0">
                <a:solidFill>
                  <a:srgbClr val="FF0000"/>
                </a:solidFill>
              </a:rPr>
              <a:t>voltage-divider and diode arrangement</a:t>
            </a:r>
            <a:r>
              <a:rPr lang="en-US" sz="2000" dirty="0"/>
              <a:t>, as shown </a:t>
            </a:r>
          </a:p>
        </p:txBody>
      </p:sp>
      <p:sp>
        <p:nvSpPr>
          <p:cNvPr id="7" name="Rectangle 6"/>
          <p:cNvSpPr/>
          <p:nvPr/>
        </p:nvSpPr>
        <p:spPr>
          <a:xfrm>
            <a:off x="1763688" y="188640"/>
            <a:ext cx="5767733" cy="40011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000" dirty="0"/>
              <a:t>Biasing the Push-Pull Amplifier for </a:t>
            </a:r>
            <a:r>
              <a:rPr lang="en-US" sz="2000" b="1" u="sng" dirty="0">
                <a:solidFill>
                  <a:srgbClr val="FF0000"/>
                </a:solidFill>
              </a:rPr>
              <a:t>Class AB Operation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3836" y="2418889"/>
            <a:ext cx="3120651" cy="3602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87672" y="2564904"/>
            <a:ext cx="5756164" cy="132343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sz="2000" dirty="0" smtClean="0"/>
              <a:t>Using equal values of R1 </a:t>
            </a:r>
            <a:r>
              <a:rPr lang="en-US" sz="2000" dirty="0"/>
              <a:t>and R2 </a:t>
            </a:r>
            <a:r>
              <a:rPr lang="en-US" sz="2000" dirty="0" smtClean="0"/>
              <a:t>the positive </a:t>
            </a:r>
            <a:r>
              <a:rPr lang="en-US" sz="2000" dirty="0"/>
              <a:t>and negative supply </a:t>
            </a:r>
            <a:r>
              <a:rPr lang="en-US" sz="2000" dirty="0" smtClean="0"/>
              <a:t>voltages forces </a:t>
            </a:r>
            <a:r>
              <a:rPr lang="en-US" sz="2000" dirty="0"/>
              <a:t>the voltage at point A  </a:t>
            </a:r>
            <a:r>
              <a:rPr lang="en-US" sz="2000" dirty="0" smtClean="0"/>
              <a:t>to </a:t>
            </a:r>
            <a:r>
              <a:rPr lang="en-US" sz="2000" dirty="0"/>
              <a:t>equal 0 V and eliminates the need for an input coupling capacitor. </a:t>
            </a:r>
          </a:p>
        </p:txBody>
      </p:sp>
      <p:sp>
        <p:nvSpPr>
          <p:cNvPr id="3" name="Rectangle 2"/>
          <p:cNvSpPr/>
          <p:nvPr/>
        </p:nvSpPr>
        <p:spPr>
          <a:xfrm>
            <a:off x="87672" y="3989963"/>
            <a:ext cx="5756164" cy="163121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000" dirty="0"/>
              <a:t>When the diode characteristics of D1 and D2 are closely matched to the </a:t>
            </a:r>
            <a:r>
              <a:rPr lang="en-US" sz="2000" dirty="0" smtClean="0"/>
              <a:t>characteristics </a:t>
            </a:r>
            <a:r>
              <a:rPr lang="en-US" sz="2000" dirty="0"/>
              <a:t>of the </a:t>
            </a:r>
            <a:r>
              <a:rPr lang="en-US" sz="2000" dirty="0">
                <a:solidFill>
                  <a:srgbClr val="FF0000"/>
                </a:solidFill>
              </a:rPr>
              <a:t>transistor </a:t>
            </a:r>
            <a:r>
              <a:rPr lang="en-US" sz="2000" dirty="0" smtClean="0">
                <a:solidFill>
                  <a:srgbClr val="FF0000"/>
                </a:solidFill>
              </a:rPr>
              <a:t>BE </a:t>
            </a:r>
            <a:r>
              <a:rPr lang="en-US" sz="2000" dirty="0">
                <a:solidFill>
                  <a:srgbClr val="FF0000"/>
                </a:solidFill>
              </a:rPr>
              <a:t>junctions</a:t>
            </a:r>
            <a:r>
              <a:rPr lang="en-US" sz="2000" dirty="0"/>
              <a:t>, the current in the diodes and the </a:t>
            </a:r>
            <a:r>
              <a:rPr lang="en-US" sz="2000" dirty="0" smtClean="0"/>
              <a:t>current in </a:t>
            </a:r>
            <a:r>
              <a:rPr lang="en-US" sz="2000" dirty="0"/>
              <a:t>the transistors are the same; </a:t>
            </a:r>
            <a:r>
              <a:rPr lang="en-US" sz="2000" dirty="0" smtClean="0"/>
              <a:t>                    </a:t>
            </a:r>
            <a:r>
              <a:rPr lang="en-US" sz="2000" b="1" u="sng" dirty="0" smtClean="0">
                <a:solidFill>
                  <a:srgbClr val="FF0000"/>
                </a:solidFill>
              </a:rPr>
              <a:t>((current </a:t>
            </a:r>
            <a:r>
              <a:rPr lang="en-US" sz="2000" b="1" u="sng" dirty="0">
                <a:solidFill>
                  <a:srgbClr val="FF0000"/>
                </a:solidFill>
              </a:rPr>
              <a:t>mirror</a:t>
            </a:r>
            <a:r>
              <a:rPr lang="en-US" sz="2000" b="1" u="sng" dirty="0" smtClean="0">
                <a:solidFill>
                  <a:srgbClr val="FF0000"/>
                </a:solidFill>
              </a:rPr>
              <a:t>.))</a:t>
            </a:r>
            <a:endParaRPr lang="en-US" sz="2000" b="1" u="sng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4518" y="5693186"/>
            <a:ext cx="4519186" cy="40011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000" dirty="0" smtClean="0"/>
              <a:t>The </a:t>
            </a:r>
            <a:r>
              <a:rPr lang="en-US" sz="2000" dirty="0"/>
              <a:t>diode current will be the same as </a:t>
            </a:r>
            <a:r>
              <a:rPr lang="en-US" sz="2000" dirty="0" smtClean="0"/>
              <a:t>I</a:t>
            </a:r>
            <a:r>
              <a:rPr lang="en-US" sz="1600" dirty="0" smtClean="0"/>
              <a:t>CQ</a:t>
            </a:r>
            <a:endParaRPr lang="en-US" sz="2000" dirty="0"/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6152158"/>
            <a:ext cx="2049022" cy="638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37129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62192" y="188640"/>
            <a:ext cx="598611" cy="365125"/>
          </a:xfrm>
        </p:spPr>
        <p:txBody>
          <a:bodyPr/>
          <a:lstStyle/>
          <a:p>
            <a:pPr>
              <a:defRPr/>
            </a:pPr>
            <a:fld id="{88487601-5D24-4365-891A-130B42FD3AC3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03239" y="548680"/>
            <a:ext cx="2164506" cy="40011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ü"/>
            </a:pPr>
            <a:r>
              <a:rPr lang="en-US" sz="2000" dirty="0"/>
              <a:t>AC Operation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547664" y="116632"/>
            <a:ext cx="5767733" cy="40011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000" dirty="0"/>
              <a:t>Biasing the Push-Pull Amplifier for </a:t>
            </a:r>
            <a:r>
              <a:rPr lang="en-US" sz="2000" b="1" u="sng" dirty="0">
                <a:solidFill>
                  <a:srgbClr val="FF0000"/>
                </a:solidFill>
              </a:rPr>
              <a:t>Class AB Operation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7504" y="1005696"/>
            <a:ext cx="4324026" cy="163121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000" dirty="0"/>
              <a:t>The Q-point is slightly above cutoff. (In a true class B amplifier, the Q-point is at cutoff</a:t>
            </a:r>
            <a:r>
              <a:rPr lang="en-US" sz="2000" dirty="0" smtClean="0"/>
              <a:t>.)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 smtClean="0"/>
              <a:t>The </a:t>
            </a:r>
            <a:r>
              <a:rPr lang="en-US" sz="2000" dirty="0"/>
              <a:t>ac cutoff voltage </a:t>
            </a:r>
            <a:r>
              <a:rPr lang="en-US" sz="2000" dirty="0" smtClean="0"/>
              <a:t>is </a:t>
            </a:r>
            <a:r>
              <a:rPr lang="en-US" sz="2000" dirty="0"/>
              <a:t>at </a:t>
            </a:r>
            <a:r>
              <a:rPr lang="en-US" sz="2000" dirty="0" smtClean="0"/>
              <a:t>V</a:t>
            </a:r>
            <a:r>
              <a:rPr lang="en-US" sz="1600" dirty="0" smtClean="0"/>
              <a:t>CC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 smtClean="0"/>
              <a:t>The </a:t>
            </a:r>
            <a:r>
              <a:rPr lang="en-US" sz="2000" u="sng" dirty="0" smtClean="0">
                <a:solidFill>
                  <a:srgbClr val="FF0000"/>
                </a:solidFill>
              </a:rPr>
              <a:t>ac</a:t>
            </a:r>
            <a:r>
              <a:rPr lang="en-US" sz="2000" dirty="0" smtClean="0"/>
              <a:t> </a:t>
            </a:r>
            <a:r>
              <a:rPr lang="en-US" sz="2000" dirty="0"/>
              <a:t>saturation current </a:t>
            </a:r>
            <a:r>
              <a:rPr lang="en-US" sz="2000" dirty="0" smtClean="0"/>
              <a:t>is:</a:t>
            </a:r>
            <a:endParaRPr lang="en-US" sz="2000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5" y="2708920"/>
            <a:ext cx="1476995" cy="725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244" y="620688"/>
            <a:ext cx="4339038" cy="3175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107504" y="3501008"/>
            <a:ext cx="8947778" cy="193899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ü"/>
            </a:pPr>
            <a:r>
              <a:rPr lang="en-US" sz="2000" dirty="0"/>
              <a:t>In class </a:t>
            </a:r>
            <a:r>
              <a:rPr lang="en-US" sz="2000" dirty="0" smtClean="0"/>
              <a:t>A , </a:t>
            </a:r>
            <a:r>
              <a:rPr lang="en-US" sz="2000" dirty="0"/>
              <a:t>the Q-point is near the middle and there is significant current in the </a:t>
            </a:r>
            <a:r>
              <a:rPr lang="en-US" sz="2000" dirty="0" smtClean="0"/>
              <a:t>transistors even </a:t>
            </a:r>
            <a:r>
              <a:rPr lang="en-US" sz="2000" dirty="0"/>
              <a:t>with no signal. </a:t>
            </a:r>
            <a:endParaRPr lang="en-US" sz="2000" dirty="0" smtClean="0"/>
          </a:p>
          <a:p>
            <a:pPr marL="342900" indent="-342900">
              <a:buFont typeface="Wingdings" pitchFamily="2" charset="2"/>
              <a:buChar char="ü"/>
            </a:pPr>
            <a:r>
              <a:rPr lang="en-US" sz="2000" dirty="0"/>
              <a:t>I</a:t>
            </a:r>
            <a:r>
              <a:rPr lang="en-US" sz="2000" dirty="0" smtClean="0"/>
              <a:t>n </a:t>
            </a:r>
            <a:r>
              <a:rPr lang="en-US" sz="2000" dirty="0"/>
              <a:t>class B </a:t>
            </a:r>
            <a:r>
              <a:rPr lang="en-US" sz="2000" dirty="0" smtClean="0"/>
              <a:t>, </a:t>
            </a:r>
            <a:r>
              <a:rPr lang="en-US" sz="2000" dirty="0"/>
              <a:t>when there is no signal, the transistors have </a:t>
            </a:r>
            <a:r>
              <a:rPr lang="en-US" sz="2000" dirty="0" smtClean="0"/>
              <a:t>only a </a:t>
            </a:r>
            <a:r>
              <a:rPr lang="en-US" sz="2000" dirty="0"/>
              <a:t>very small current and therefore dissipate very little power. </a:t>
            </a:r>
            <a:endParaRPr lang="en-US" sz="2000" dirty="0" smtClean="0"/>
          </a:p>
          <a:p>
            <a:pPr marL="342900" indent="-342900">
              <a:buFont typeface="Wingdings" pitchFamily="2" charset="2"/>
              <a:buChar char="ü"/>
            </a:pPr>
            <a:r>
              <a:rPr lang="en-US" sz="2000" dirty="0" smtClean="0"/>
              <a:t>Thus</a:t>
            </a:r>
            <a:r>
              <a:rPr lang="en-US" sz="2000" dirty="0"/>
              <a:t>, the efficiency of a </a:t>
            </a:r>
            <a:r>
              <a:rPr lang="en-US" sz="2000" dirty="0" smtClean="0"/>
              <a:t>class B </a:t>
            </a:r>
            <a:r>
              <a:rPr lang="en-US" sz="2000" dirty="0"/>
              <a:t>amplifier can be much higher than a class A amplifier. </a:t>
            </a:r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246" y="5661248"/>
            <a:ext cx="3744794" cy="467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5661248"/>
            <a:ext cx="3264234" cy="4704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936" y="6309320"/>
            <a:ext cx="3782104" cy="3925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4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6247" y="6247356"/>
            <a:ext cx="2599032" cy="5164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22330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4441" y="116632"/>
            <a:ext cx="3962055" cy="34101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8487601-5D24-4365-891A-130B42FD3AC3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82277"/>
            <a:ext cx="4353062" cy="3943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/>
        </p:nvSpPr>
        <p:spPr>
          <a:xfrm>
            <a:off x="243687" y="692696"/>
            <a:ext cx="4572000" cy="132343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000" dirty="0"/>
              <a:t>The circuit operation is the same as </a:t>
            </a:r>
            <a:r>
              <a:rPr lang="en-US" sz="2000" dirty="0" smtClean="0"/>
              <a:t>that described </a:t>
            </a:r>
            <a:r>
              <a:rPr lang="en-US" sz="2000" dirty="0"/>
              <a:t>previously, except the bias is set to force the output emitter voltage to be</a:t>
            </a:r>
          </a:p>
        </p:txBody>
      </p:sp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548" y="2269174"/>
            <a:ext cx="3114853" cy="583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4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658" y="2996952"/>
            <a:ext cx="3039743" cy="752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40916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8487601-5D24-4365-891A-130B42FD3AC3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23528" y="116632"/>
            <a:ext cx="2820452" cy="40011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000" dirty="0"/>
              <a:t>Maximum Output Power 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620688"/>
            <a:ext cx="3114311" cy="4632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404664"/>
            <a:ext cx="3960440" cy="399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916658"/>
            <a:ext cx="4401355" cy="3832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196752"/>
            <a:ext cx="2664296" cy="4933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8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928" y="1700808"/>
            <a:ext cx="6889198" cy="873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7"/>
          <p:cNvSpPr/>
          <p:nvPr/>
        </p:nvSpPr>
        <p:spPr>
          <a:xfrm>
            <a:off x="323528" y="2748704"/>
            <a:ext cx="1808124" cy="40011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000" dirty="0"/>
              <a:t>DC Input Power</a:t>
            </a:r>
          </a:p>
        </p:txBody>
      </p:sp>
      <p:pic>
        <p:nvPicPr>
          <p:cNvPr id="13319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55" y="2730902"/>
            <a:ext cx="5355613" cy="791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20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476" y="3628989"/>
            <a:ext cx="8279980" cy="648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21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0134" y="3980805"/>
            <a:ext cx="1497607" cy="672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22" name="Picture 10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3318" y="4869160"/>
            <a:ext cx="1931237" cy="71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23" name="Picture 11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9682" y="5572091"/>
            <a:ext cx="1419845" cy="764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24" name="Picture 1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7345" y="5733256"/>
            <a:ext cx="3347063" cy="9417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8"/>
          <p:cNvSpPr/>
          <p:nvPr/>
        </p:nvSpPr>
        <p:spPr>
          <a:xfrm>
            <a:off x="294928" y="5417923"/>
            <a:ext cx="1436804" cy="46166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dirty="0"/>
              <a:t>Efficiency </a:t>
            </a:r>
          </a:p>
        </p:txBody>
      </p:sp>
    </p:spTree>
    <p:extLst>
      <p:ext uri="{BB962C8B-B14F-4D97-AF65-F5344CB8AC3E}">
        <p14:creationId xmlns:p14="http://schemas.microsoft.com/office/powerpoint/2010/main" val="3687268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0622" y="4030336"/>
            <a:ext cx="2665874" cy="27610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8487601-5D24-4365-891A-130B42FD3AC3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68172" y="687016"/>
            <a:ext cx="8868324" cy="70788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000" dirty="0"/>
              <a:t>Class C amplifiers are biased so that conduction occurs for much less than  </a:t>
            </a:r>
            <a:r>
              <a:rPr lang="en-US" sz="2000" dirty="0" smtClean="0"/>
              <a:t>180o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 smtClean="0"/>
              <a:t>Class C amplifiers </a:t>
            </a:r>
            <a:r>
              <a:rPr lang="en-US" sz="2000" dirty="0"/>
              <a:t>are more efficient than either class A </a:t>
            </a:r>
            <a:r>
              <a:rPr lang="en-US" sz="2000" dirty="0" smtClean="0"/>
              <a:t>, B, or AB </a:t>
            </a:r>
          </a:p>
        </p:txBody>
      </p:sp>
      <p:sp>
        <p:nvSpPr>
          <p:cNvPr id="8" name="Rectangle 7"/>
          <p:cNvSpPr/>
          <p:nvPr/>
        </p:nvSpPr>
        <p:spPr>
          <a:xfrm>
            <a:off x="3131840" y="159023"/>
            <a:ext cx="2413994" cy="46166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dirty="0"/>
              <a:t>Class C amplifiers 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1990" y="2609617"/>
            <a:ext cx="8868324" cy="132343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000" dirty="0" smtClean="0"/>
              <a:t>The </a:t>
            </a:r>
            <a:r>
              <a:rPr lang="en-US" sz="2000" dirty="0"/>
              <a:t>output </a:t>
            </a:r>
            <a:r>
              <a:rPr lang="en-US" sz="2000" dirty="0" smtClean="0"/>
              <a:t>amplitude </a:t>
            </a:r>
            <a:r>
              <a:rPr lang="en-US" sz="2000" dirty="0"/>
              <a:t>is a nonlinear function of the input, so class C amplifiers are not used for </a:t>
            </a:r>
            <a:r>
              <a:rPr lang="en-US" sz="2000" dirty="0" smtClean="0"/>
              <a:t>linear amplification</a:t>
            </a:r>
            <a:r>
              <a:rPr lang="en-US" sz="2000" dirty="0"/>
              <a:t>. </a:t>
            </a:r>
            <a:endParaRPr lang="en-US" sz="2000" dirty="0" smtClean="0"/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 smtClean="0"/>
              <a:t>They </a:t>
            </a:r>
            <a:r>
              <a:rPr lang="en-US" sz="2000" dirty="0"/>
              <a:t>are generally used in radio frequency (RF) applications, </a:t>
            </a:r>
            <a:r>
              <a:rPr lang="en-US" sz="2000" dirty="0" smtClean="0"/>
              <a:t>including resonance circuits</a:t>
            </a:r>
            <a:endParaRPr lang="en-US" sz="2000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6219" y="1484784"/>
            <a:ext cx="4879865" cy="1080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168172" y="4077072"/>
            <a:ext cx="2600777" cy="40011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000" dirty="0"/>
              <a:t>Basic Class C Operation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1990" y="4611231"/>
            <a:ext cx="6116194" cy="193899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000" dirty="0"/>
              <a:t>A class C amplifier </a:t>
            </a:r>
            <a:r>
              <a:rPr lang="en-US" sz="2000" dirty="0" smtClean="0"/>
              <a:t>is normally </a:t>
            </a:r>
            <a:r>
              <a:rPr lang="en-US" sz="2000" dirty="0"/>
              <a:t>operated with a resonant circuit load, so the resistive load is used only for </a:t>
            </a:r>
            <a:r>
              <a:rPr lang="en-US" sz="2000" dirty="0" smtClean="0"/>
              <a:t>the purpose </a:t>
            </a:r>
            <a:r>
              <a:rPr lang="en-US" sz="2000" dirty="0"/>
              <a:t>of illustrating the concept</a:t>
            </a:r>
            <a:r>
              <a:rPr lang="en-US" sz="2000" dirty="0" smtClean="0"/>
              <a:t>.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000" dirty="0"/>
              <a:t>The ac source voltage has a peak value that </a:t>
            </a:r>
            <a:r>
              <a:rPr lang="en-US" sz="2000" dirty="0" smtClean="0"/>
              <a:t>exceeds </a:t>
            </a:r>
            <a:r>
              <a:rPr lang="en-US" sz="2000" dirty="0"/>
              <a:t>the barrier potential of the base-emitter junction for a short time </a:t>
            </a:r>
            <a:r>
              <a:rPr lang="en-US" sz="2000" dirty="0" smtClean="0"/>
              <a:t>near the </a:t>
            </a:r>
            <a:r>
              <a:rPr lang="en-US" sz="2000" dirty="0"/>
              <a:t>positive peak of each cycle,</a:t>
            </a:r>
          </a:p>
        </p:txBody>
      </p:sp>
    </p:spTree>
    <p:extLst>
      <p:ext uri="{BB962C8B-B14F-4D97-AF65-F5344CB8AC3E}">
        <p14:creationId xmlns:p14="http://schemas.microsoft.com/office/powerpoint/2010/main" val="192984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91851"/>
            <a:ext cx="3389758" cy="3089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8487601-5D24-4365-891A-130B42FD3AC3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3131840" y="159023"/>
            <a:ext cx="2413994" cy="46166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dirty="0"/>
              <a:t>Class C amplifiers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0320" y="620688"/>
            <a:ext cx="2600777" cy="40011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000" dirty="0"/>
              <a:t>Basic Class C Operation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160320" y="1077704"/>
            <a:ext cx="5563808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000" dirty="0"/>
              <a:t> During this short interval, </a:t>
            </a:r>
            <a:r>
              <a:rPr lang="en-US" sz="2000" dirty="0" smtClean="0"/>
              <a:t>the transistor </a:t>
            </a:r>
            <a:r>
              <a:rPr lang="en-US" sz="2000" dirty="0"/>
              <a:t>is turned on. </a:t>
            </a:r>
            <a:endParaRPr lang="en-US" sz="2000" dirty="0" smtClean="0"/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/>
              <a:t>The power dissipation of the transistor in a class C amplifier is low because it is on for </a:t>
            </a:r>
            <a:r>
              <a:rPr lang="en-US" sz="2000" dirty="0" smtClean="0"/>
              <a:t>only a </a:t>
            </a:r>
            <a:r>
              <a:rPr lang="en-US" sz="2000" dirty="0"/>
              <a:t>small percentage of the input cycle</a:t>
            </a:r>
          </a:p>
        </p:txBody>
      </p:sp>
      <p:sp>
        <p:nvSpPr>
          <p:cNvPr id="3" name="Rectangle 2"/>
          <p:cNvSpPr/>
          <p:nvPr/>
        </p:nvSpPr>
        <p:spPr>
          <a:xfrm>
            <a:off x="150692" y="2740858"/>
            <a:ext cx="5047344" cy="40011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000" dirty="0"/>
              <a:t>The power dissipation during the on time is</a:t>
            </a: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3212976"/>
            <a:ext cx="2469471" cy="479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165226" y="3789040"/>
            <a:ext cx="8439222" cy="40011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000" dirty="0"/>
              <a:t> </a:t>
            </a:r>
            <a:r>
              <a:rPr lang="en-US" sz="2000" dirty="0" smtClean="0"/>
              <a:t>The </a:t>
            </a:r>
            <a:r>
              <a:rPr lang="en-US" sz="2000" dirty="0"/>
              <a:t>power dissipation averaged over the </a:t>
            </a:r>
            <a:r>
              <a:rPr lang="en-US" sz="2000" dirty="0" smtClean="0"/>
              <a:t>entire cycle </a:t>
            </a:r>
            <a:r>
              <a:rPr lang="en-US" sz="2000" dirty="0"/>
              <a:t>is</a:t>
            </a:r>
          </a:p>
        </p:txBody>
      </p:sp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06" y="4835191"/>
            <a:ext cx="3698285" cy="531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7065" y="4445876"/>
            <a:ext cx="3948268" cy="18416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35923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8487601-5D24-4365-891A-130B42FD3AC3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659999" y="87015"/>
            <a:ext cx="3210110" cy="46166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dirty="0" smtClean="0"/>
              <a:t>Tuned Class C </a:t>
            </a:r>
            <a:r>
              <a:rPr lang="en-US" sz="2400" dirty="0"/>
              <a:t>Operation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504" y="620688"/>
            <a:ext cx="8856984" cy="132343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000" dirty="0"/>
              <a:t>Because the collector voltage (output) is not a replica of the input, the resistively </a:t>
            </a:r>
            <a:r>
              <a:rPr lang="en-US" sz="2000" dirty="0" smtClean="0"/>
              <a:t>loaded class </a:t>
            </a:r>
            <a:r>
              <a:rPr lang="en-US" sz="2000" dirty="0"/>
              <a:t>C amplifier alone is of no value in linear applications. </a:t>
            </a:r>
            <a:endParaRPr lang="en-US" sz="2000" dirty="0" smtClean="0"/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 smtClean="0"/>
              <a:t>It </a:t>
            </a:r>
            <a:r>
              <a:rPr lang="en-US" sz="2000" dirty="0"/>
              <a:t>is therefore necessary to use </a:t>
            </a:r>
            <a:r>
              <a:rPr lang="en-US" sz="2000" dirty="0" smtClean="0"/>
              <a:t>a class </a:t>
            </a:r>
            <a:r>
              <a:rPr lang="en-US" sz="2000" dirty="0"/>
              <a:t>C amplifier with a parallel resonant circuit (tank), as shown 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3106466"/>
            <a:ext cx="3562573" cy="28904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8"/>
          <p:cNvSpPr/>
          <p:nvPr/>
        </p:nvSpPr>
        <p:spPr>
          <a:xfrm>
            <a:off x="117887" y="2060848"/>
            <a:ext cx="8846601" cy="1015663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000" dirty="0"/>
              <a:t>The </a:t>
            </a:r>
            <a:r>
              <a:rPr lang="en-US" sz="2000" dirty="0" smtClean="0"/>
              <a:t>short pulse </a:t>
            </a:r>
            <a:r>
              <a:rPr lang="en-US" sz="2000" dirty="0"/>
              <a:t>of collector current on each cycle of the input initiates and sustains the oscillation </a:t>
            </a:r>
            <a:r>
              <a:rPr lang="en-US" sz="2000" dirty="0" smtClean="0"/>
              <a:t>of the </a:t>
            </a:r>
            <a:r>
              <a:rPr lang="en-US" sz="2000" dirty="0"/>
              <a:t>tank circuit so that an output sinusoidal voltage is </a:t>
            </a:r>
            <a:r>
              <a:rPr lang="en-US" sz="2000" dirty="0" smtClean="0"/>
              <a:t>produced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89559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EEDP - Basem ElHalawany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8487601-5D24-4365-891A-130B42FD3AC3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152400"/>
            <a:ext cx="8305800" cy="556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resentationPro_ConservationGlobeVideo">
  <a:themeElements>
    <a:clrScheme name="Pushpin">
      <a:dk1>
        <a:sysClr val="windowText" lastClr="000000"/>
      </a:dk1>
      <a:lt1>
        <a:sysClr val="window" lastClr="FFFFFF"/>
      </a:lt1>
      <a:dk2>
        <a:srgbClr val="465E9C"/>
      </a:dk2>
      <a:lt2>
        <a:srgbClr val="CCDDEA"/>
      </a:lt2>
      <a:accent1>
        <a:srgbClr val="FDA023"/>
      </a:accent1>
      <a:accent2>
        <a:srgbClr val="AA2B1E"/>
      </a:accent2>
      <a:accent3>
        <a:srgbClr val="71685C"/>
      </a:accent3>
      <a:accent4>
        <a:srgbClr val="64A73B"/>
      </a:accent4>
      <a:accent5>
        <a:srgbClr val="EB5605"/>
      </a:accent5>
      <a:accent6>
        <a:srgbClr val="B9CA1A"/>
      </a:accent6>
      <a:hlink>
        <a:srgbClr val="D83E2C"/>
      </a:hlink>
      <a:folHlink>
        <a:srgbClr val="ED7D2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68764FC4-B7CA-4029-92FF-166BDEE0009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PresentationPro_ConservationGlobeVideo</Template>
  <TotalTime>17560</TotalTime>
  <Words>1287</Words>
  <Application>Microsoft Office PowerPoint</Application>
  <PresentationFormat>On-screen Show (4:3)</PresentationFormat>
  <Paragraphs>133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Al-Hadith2</vt:lpstr>
      <vt:lpstr>Arial</vt:lpstr>
      <vt:lpstr>Calibri</vt:lpstr>
      <vt:lpstr>Khalid Art bold</vt:lpstr>
      <vt:lpstr>mohammad bold art 1</vt:lpstr>
      <vt:lpstr>Wingdings</vt:lpstr>
      <vt:lpstr>PresentationPro_ConservationGlobeVideo</vt:lpstr>
      <vt:lpstr>L5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 Ossama Kenawy</dc:creator>
  <dc:description>animated 2010 green global template from PresentationPro.com</dc:description>
  <cp:lastModifiedBy>Eng.Siko</cp:lastModifiedBy>
  <cp:revision>855</cp:revision>
  <dcterms:created xsi:type="dcterms:W3CDTF">2013-03-22T05:31:22Z</dcterms:created>
  <dcterms:modified xsi:type="dcterms:W3CDTF">2022-12-06T07:23:03Z</dcterms:modified>
  <cp:category>2010 global</cp:category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TC018813579991</vt:lpwstr>
  </property>
</Properties>
</file>